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124"/>
  </p:notesMasterIdLst>
  <p:sldIdLst>
    <p:sldId id="259" r:id="rId2"/>
    <p:sldId id="260" r:id="rId3"/>
    <p:sldId id="261" r:id="rId4"/>
    <p:sldId id="262" r:id="rId5"/>
    <p:sldId id="263" r:id="rId6"/>
    <p:sldId id="264" r:id="rId7"/>
    <p:sldId id="371" r:id="rId8"/>
    <p:sldId id="265" r:id="rId9"/>
    <p:sldId id="266" r:id="rId10"/>
    <p:sldId id="267" r:id="rId11"/>
    <p:sldId id="268" r:id="rId12"/>
    <p:sldId id="372" r:id="rId13"/>
    <p:sldId id="269" r:id="rId14"/>
    <p:sldId id="270" r:id="rId15"/>
    <p:sldId id="373" r:id="rId16"/>
    <p:sldId id="271" r:id="rId17"/>
    <p:sldId id="272" r:id="rId18"/>
    <p:sldId id="374" r:id="rId19"/>
    <p:sldId id="273" r:id="rId20"/>
    <p:sldId id="375" r:id="rId21"/>
    <p:sldId id="274" r:id="rId22"/>
    <p:sldId id="275" r:id="rId23"/>
    <p:sldId id="276" r:id="rId24"/>
    <p:sldId id="277" r:id="rId25"/>
    <p:sldId id="278" r:id="rId26"/>
    <p:sldId id="279" r:id="rId27"/>
    <p:sldId id="280" r:id="rId28"/>
    <p:sldId id="281" r:id="rId29"/>
    <p:sldId id="282" r:id="rId30"/>
    <p:sldId id="283" r:id="rId31"/>
    <p:sldId id="284" r:id="rId32"/>
    <p:sldId id="285" r:id="rId33"/>
    <p:sldId id="286" r:id="rId34"/>
    <p:sldId id="287" r:id="rId35"/>
    <p:sldId id="288" r:id="rId36"/>
    <p:sldId id="289" r:id="rId37"/>
    <p:sldId id="290" r:id="rId38"/>
    <p:sldId id="291" r:id="rId39"/>
    <p:sldId id="292" r:id="rId40"/>
    <p:sldId id="293" r:id="rId41"/>
    <p:sldId id="294" r:id="rId42"/>
    <p:sldId id="295" r:id="rId43"/>
    <p:sldId id="296" r:id="rId44"/>
    <p:sldId id="297" r:id="rId45"/>
    <p:sldId id="298" r:id="rId46"/>
    <p:sldId id="299" r:id="rId47"/>
    <p:sldId id="300" r:id="rId48"/>
    <p:sldId id="301" r:id="rId49"/>
    <p:sldId id="302" r:id="rId50"/>
    <p:sldId id="303" r:id="rId51"/>
    <p:sldId id="304" r:id="rId52"/>
    <p:sldId id="305" r:id="rId53"/>
    <p:sldId id="306" r:id="rId54"/>
    <p:sldId id="307" r:id="rId55"/>
    <p:sldId id="308" r:id="rId56"/>
    <p:sldId id="309" r:id="rId57"/>
    <p:sldId id="310" r:id="rId58"/>
    <p:sldId id="311" r:id="rId59"/>
    <p:sldId id="312" r:id="rId60"/>
    <p:sldId id="313" r:id="rId61"/>
    <p:sldId id="314" r:id="rId62"/>
    <p:sldId id="315" r:id="rId63"/>
    <p:sldId id="316" r:id="rId64"/>
    <p:sldId id="317" r:id="rId65"/>
    <p:sldId id="318" r:id="rId66"/>
    <p:sldId id="319" r:id="rId67"/>
    <p:sldId id="320" r:id="rId68"/>
    <p:sldId id="321" r:id="rId69"/>
    <p:sldId id="322" r:id="rId70"/>
    <p:sldId id="323" r:id="rId71"/>
    <p:sldId id="324" r:id="rId72"/>
    <p:sldId id="325" r:id="rId73"/>
    <p:sldId id="326" r:id="rId74"/>
    <p:sldId id="327" r:id="rId75"/>
    <p:sldId id="328" r:id="rId76"/>
    <p:sldId id="329" r:id="rId77"/>
    <p:sldId id="330" r:id="rId78"/>
    <p:sldId id="331" r:id="rId79"/>
    <p:sldId id="332" r:id="rId80"/>
    <p:sldId id="333" r:id="rId81"/>
    <p:sldId id="334" r:id="rId82"/>
    <p:sldId id="335" r:id="rId83"/>
    <p:sldId id="336" r:id="rId84"/>
    <p:sldId id="337" r:id="rId85"/>
    <p:sldId id="338" r:id="rId86"/>
    <p:sldId id="339" r:id="rId87"/>
    <p:sldId id="340" r:id="rId88"/>
    <p:sldId id="341" r:id="rId89"/>
    <p:sldId id="342" r:id="rId90"/>
    <p:sldId id="343" r:id="rId91"/>
    <p:sldId id="344" r:id="rId92"/>
    <p:sldId id="345" r:id="rId93"/>
    <p:sldId id="346" r:id="rId94"/>
    <p:sldId id="347" r:id="rId95"/>
    <p:sldId id="348" r:id="rId96"/>
    <p:sldId id="349" r:id="rId97"/>
    <p:sldId id="350" r:id="rId98"/>
    <p:sldId id="351" r:id="rId99"/>
    <p:sldId id="352" r:id="rId100"/>
    <p:sldId id="353" r:id="rId101"/>
    <p:sldId id="354" r:id="rId102"/>
    <p:sldId id="355" r:id="rId103"/>
    <p:sldId id="356" r:id="rId104"/>
    <p:sldId id="357" r:id="rId105"/>
    <p:sldId id="358" r:id="rId106"/>
    <p:sldId id="359" r:id="rId107"/>
    <p:sldId id="360" r:id="rId108"/>
    <p:sldId id="361" r:id="rId109"/>
    <p:sldId id="362" r:id="rId110"/>
    <p:sldId id="363" r:id="rId111"/>
    <p:sldId id="364" r:id="rId112"/>
    <p:sldId id="365" r:id="rId113"/>
    <p:sldId id="366" r:id="rId114"/>
    <p:sldId id="367" r:id="rId115"/>
    <p:sldId id="380" r:id="rId116"/>
    <p:sldId id="368" r:id="rId117"/>
    <p:sldId id="369" r:id="rId118"/>
    <p:sldId id="381" r:id="rId119"/>
    <p:sldId id="376" r:id="rId120"/>
    <p:sldId id="378" r:id="rId121"/>
    <p:sldId id="379" r:id="rId122"/>
    <p:sldId id="370" r:id="rId123"/>
  </p:sldIdLst>
  <p:sldSz cx="9144000" cy="6858000" type="screen4x3"/>
  <p:notesSz cx="6858000" cy="9144000"/>
  <p:kinsoku lang="zh-CN" invalStChars="!),.:;?]}、。—ˇ¨〃々～‖…’”〕〉》」』〗】∶！＂＇），．：；？］｀｜｝·" invalEndChars="([{‘“〔〈《「『〖【（［｛．·"/>
  <p:defaultTextStyle>
    <a:defPPr>
      <a:defRPr lang="en-US"/>
    </a:defPPr>
    <a:lvl1pPr algn="l" rtl="0" fontAlgn="base">
      <a:spcBef>
        <a:spcPct val="20000"/>
      </a:spcBef>
      <a:spcAft>
        <a:spcPct val="0"/>
      </a:spcAft>
      <a:defRPr kumimoji="1" sz="800" b="1" kern="1200">
        <a:solidFill>
          <a:schemeClr val="tx1"/>
        </a:solidFill>
        <a:latin typeface="宋体" panose="02010600030101010101" pitchFamily="2" charset="-122"/>
        <a:ea typeface="宋体" panose="02010600030101010101" pitchFamily="2" charset="-122"/>
        <a:cs typeface="+mn-cs"/>
      </a:defRPr>
    </a:lvl1pPr>
    <a:lvl2pPr marL="457200" algn="l" rtl="0" fontAlgn="base">
      <a:spcBef>
        <a:spcPct val="20000"/>
      </a:spcBef>
      <a:spcAft>
        <a:spcPct val="0"/>
      </a:spcAft>
      <a:defRPr kumimoji="1" sz="800" b="1" kern="1200">
        <a:solidFill>
          <a:schemeClr val="tx1"/>
        </a:solidFill>
        <a:latin typeface="宋体" panose="02010600030101010101" pitchFamily="2" charset="-122"/>
        <a:ea typeface="宋体" panose="02010600030101010101" pitchFamily="2" charset="-122"/>
        <a:cs typeface="+mn-cs"/>
      </a:defRPr>
    </a:lvl2pPr>
    <a:lvl3pPr marL="914400" algn="l" rtl="0" fontAlgn="base">
      <a:spcBef>
        <a:spcPct val="20000"/>
      </a:spcBef>
      <a:spcAft>
        <a:spcPct val="0"/>
      </a:spcAft>
      <a:defRPr kumimoji="1" sz="800" b="1" kern="1200">
        <a:solidFill>
          <a:schemeClr val="tx1"/>
        </a:solidFill>
        <a:latin typeface="宋体" panose="02010600030101010101" pitchFamily="2" charset="-122"/>
        <a:ea typeface="宋体" panose="02010600030101010101" pitchFamily="2" charset="-122"/>
        <a:cs typeface="+mn-cs"/>
      </a:defRPr>
    </a:lvl3pPr>
    <a:lvl4pPr marL="1371600" algn="l" rtl="0" fontAlgn="base">
      <a:spcBef>
        <a:spcPct val="20000"/>
      </a:spcBef>
      <a:spcAft>
        <a:spcPct val="0"/>
      </a:spcAft>
      <a:defRPr kumimoji="1" sz="800" b="1" kern="1200">
        <a:solidFill>
          <a:schemeClr val="tx1"/>
        </a:solidFill>
        <a:latin typeface="宋体" panose="02010600030101010101" pitchFamily="2" charset="-122"/>
        <a:ea typeface="宋体" panose="02010600030101010101" pitchFamily="2" charset="-122"/>
        <a:cs typeface="+mn-cs"/>
      </a:defRPr>
    </a:lvl4pPr>
    <a:lvl5pPr marL="1828800" algn="l" rtl="0" fontAlgn="base">
      <a:spcBef>
        <a:spcPct val="20000"/>
      </a:spcBef>
      <a:spcAft>
        <a:spcPct val="0"/>
      </a:spcAft>
      <a:defRPr kumimoji="1" sz="800" b="1" kern="1200">
        <a:solidFill>
          <a:schemeClr val="tx1"/>
        </a:solidFill>
        <a:latin typeface="宋体" panose="02010600030101010101" pitchFamily="2" charset="-122"/>
        <a:ea typeface="宋体" panose="02010600030101010101" pitchFamily="2" charset="-122"/>
        <a:cs typeface="+mn-cs"/>
      </a:defRPr>
    </a:lvl5pPr>
    <a:lvl6pPr marL="2286000" algn="l" defTabSz="914400" rtl="0" eaLnBrk="1" latinLnBrk="0" hangingPunct="1">
      <a:defRPr kumimoji="1" sz="800" b="1" kern="1200">
        <a:solidFill>
          <a:schemeClr val="tx1"/>
        </a:solidFill>
        <a:latin typeface="宋体" panose="02010600030101010101" pitchFamily="2" charset="-122"/>
        <a:ea typeface="宋体" panose="02010600030101010101" pitchFamily="2" charset="-122"/>
        <a:cs typeface="+mn-cs"/>
      </a:defRPr>
    </a:lvl6pPr>
    <a:lvl7pPr marL="2743200" algn="l" defTabSz="914400" rtl="0" eaLnBrk="1" latinLnBrk="0" hangingPunct="1">
      <a:defRPr kumimoji="1" sz="800" b="1" kern="1200">
        <a:solidFill>
          <a:schemeClr val="tx1"/>
        </a:solidFill>
        <a:latin typeface="宋体" panose="02010600030101010101" pitchFamily="2" charset="-122"/>
        <a:ea typeface="宋体" panose="02010600030101010101" pitchFamily="2" charset="-122"/>
        <a:cs typeface="+mn-cs"/>
      </a:defRPr>
    </a:lvl7pPr>
    <a:lvl8pPr marL="3200400" algn="l" defTabSz="914400" rtl="0" eaLnBrk="1" latinLnBrk="0" hangingPunct="1">
      <a:defRPr kumimoji="1" sz="800" b="1" kern="1200">
        <a:solidFill>
          <a:schemeClr val="tx1"/>
        </a:solidFill>
        <a:latin typeface="宋体" panose="02010600030101010101" pitchFamily="2" charset="-122"/>
        <a:ea typeface="宋体" panose="02010600030101010101" pitchFamily="2" charset="-122"/>
        <a:cs typeface="+mn-cs"/>
      </a:defRPr>
    </a:lvl8pPr>
    <a:lvl9pPr marL="3657600" algn="l" defTabSz="914400" rtl="0" eaLnBrk="1" latinLnBrk="0" hangingPunct="1">
      <a:defRPr kumimoji="1" sz="800" b="1" kern="1200">
        <a:solidFill>
          <a:schemeClr val="tx1"/>
        </a:solidFill>
        <a:latin typeface="宋体" panose="02010600030101010101" pitchFamily="2" charset="-122"/>
        <a:ea typeface="宋体" panose="02010600030101010101" pitchFamily="2" charset="-122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33CC"/>
    <a:srgbClr val="003399"/>
    <a:srgbClr val="3366FF"/>
    <a:srgbClr val="0066FF"/>
    <a:srgbClr val="C28F3E"/>
    <a:srgbClr val="BC7D3E"/>
    <a:srgbClr val="B0753A"/>
    <a:srgbClr val="99663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08" autoAdjust="0"/>
    <p:restoredTop sz="94703" autoAdjust="0"/>
  </p:normalViewPr>
  <p:slideViewPr>
    <p:cSldViewPr>
      <p:cViewPr varScale="1">
        <p:scale>
          <a:sx n="63" d="100"/>
          <a:sy n="63" d="100"/>
        </p:scale>
        <p:origin x="1380" y="48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8172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28" Type="http://schemas.openxmlformats.org/officeDocument/2006/relationships/tableStyles" Target="tableStyles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26" Type="http://schemas.openxmlformats.org/officeDocument/2006/relationships/viewProps" Target="viewProp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16" Type="http://schemas.openxmlformats.org/officeDocument/2006/relationships/slide" Target="slides/slide115.xml"/><Relationship Id="rId124" Type="http://schemas.openxmlformats.org/officeDocument/2006/relationships/notesMaster" Target="notesMasters/notesMaster1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11" Type="http://schemas.openxmlformats.org/officeDocument/2006/relationships/slide" Target="slides/slide110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127" Type="http://schemas.openxmlformats.org/officeDocument/2006/relationships/theme" Target="theme/theme1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presProps" Target="presProps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61" Type="http://schemas.openxmlformats.org/officeDocument/2006/relationships/slide" Target="slides/slide60.xml"/><Relationship Id="rId82" Type="http://schemas.openxmlformats.org/officeDocument/2006/relationships/slide" Target="slides/slide8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200"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1203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200"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71396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51205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noProof="0"/>
              <a:t>单击此处编辑母版文本样式</a:t>
            </a:r>
          </a:p>
          <a:p>
            <a:pPr lvl="1"/>
            <a:r>
              <a:rPr lang="zh-CN" altLang="en-US" noProof="0"/>
              <a:t>第二级</a:t>
            </a:r>
          </a:p>
          <a:p>
            <a:pPr lvl="2"/>
            <a:r>
              <a:rPr lang="zh-CN" altLang="en-US" noProof="0"/>
              <a:t>第三级</a:t>
            </a:r>
          </a:p>
          <a:p>
            <a:pPr lvl="3"/>
            <a:r>
              <a:rPr lang="zh-CN" altLang="en-US" noProof="0"/>
              <a:t>第四级</a:t>
            </a:r>
          </a:p>
          <a:p>
            <a:pPr lvl="4"/>
            <a:r>
              <a:rPr lang="zh-CN" altLang="en-US" noProof="0"/>
              <a:t>第五级</a:t>
            </a:r>
          </a:p>
        </p:txBody>
      </p:sp>
      <p:sp>
        <p:nvSpPr>
          <p:cNvPr id="51206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b" anchorCtr="0" compatLnSpc="1"/>
          <a:lstStyle>
            <a:lvl1pPr>
              <a:defRPr sz="1200"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1207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b" anchorCtr="0" compatLnSpc="1"/>
          <a:lstStyle>
            <a:lvl1pPr algn="r">
              <a:defRPr sz="1200"/>
            </a:lvl1pPr>
          </a:lstStyle>
          <a:p>
            <a:pPr>
              <a:defRPr/>
            </a:pPr>
            <a:fld id="{30550649-FC3D-4FAC-BB2F-54F55FFCF687}" type="slidenum">
              <a:rPr lang="zh-CN" altLang="en-US"/>
              <a:t>‹#›</a:t>
            </a:fld>
            <a:endParaRPr lang="en-US" altLang="zh-CN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宋体" panose="02010600030101010101" pitchFamily="2" charset="-122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宋体" panose="02010600030101010101" pitchFamily="2" charset="-122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宋体" panose="02010600030101010101" pitchFamily="2" charset="-122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宋体" panose="02010600030101010101" pitchFamily="2" charset="-122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anose="02020603050405020304" pitchFamily="18" charset="0"/>
        <a:ea typeface="宋体" panose="02010600030101010101" pitchFamily="2" charset="-122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-1035050" y="1552575"/>
            <a:ext cx="10179050" cy="5305425"/>
            <a:chOff x="-652" y="978"/>
            <a:chExt cx="6412" cy="3342"/>
          </a:xfrm>
        </p:grpSpPr>
        <p:sp>
          <p:nvSpPr>
            <p:cNvPr id="5" name="Freeform 3"/>
            <p:cNvSpPr/>
            <p:nvPr/>
          </p:nvSpPr>
          <p:spPr bwMode="auto">
            <a:xfrm>
              <a:off x="2061" y="1707"/>
              <a:ext cx="3699" cy="2613"/>
            </a:xfrm>
            <a:custGeom>
              <a:avLst/>
              <a:gdLst/>
              <a:ahLst/>
              <a:cxnLst>
                <a:cxn ang="0">
                  <a:pos x="1523" y="2611"/>
                </a:cxn>
                <a:cxn ang="0">
                  <a:pos x="3698" y="2612"/>
                </a:cxn>
                <a:cxn ang="0">
                  <a:pos x="3698" y="2228"/>
                </a:cxn>
                <a:cxn ang="0">
                  <a:pos x="0" y="0"/>
                </a:cxn>
                <a:cxn ang="0">
                  <a:pos x="160" y="118"/>
                </a:cxn>
                <a:cxn ang="0">
                  <a:pos x="292" y="219"/>
                </a:cxn>
                <a:cxn ang="0">
                  <a:pos x="441" y="347"/>
                </a:cxn>
                <a:cxn ang="0">
                  <a:pos x="585" y="482"/>
                </a:cxn>
                <a:cxn ang="0">
                  <a:pos x="796" y="711"/>
                </a:cxn>
                <a:cxn ang="0">
                  <a:pos x="983" y="955"/>
                </a:cxn>
                <a:cxn ang="0">
                  <a:pos x="1119" y="1168"/>
                </a:cxn>
                <a:cxn ang="0">
                  <a:pos x="1238" y="1388"/>
                </a:cxn>
                <a:cxn ang="0">
                  <a:pos x="1331" y="1608"/>
                </a:cxn>
                <a:cxn ang="0">
                  <a:pos x="1400" y="1809"/>
                </a:cxn>
                <a:cxn ang="0">
                  <a:pos x="1447" y="1979"/>
                </a:cxn>
                <a:cxn ang="0">
                  <a:pos x="1490" y="2190"/>
                </a:cxn>
                <a:cxn ang="0">
                  <a:pos x="1511" y="2374"/>
                </a:cxn>
                <a:cxn ang="0">
                  <a:pos x="1523" y="2611"/>
                </a:cxn>
              </a:cxnLst>
              <a:rect l="0" t="0" r="r" b="b"/>
              <a:pathLst>
                <a:path w="3699" h="2613">
                  <a:moveTo>
                    <a:pt x="1523" y="2611"/>
                  </a:moveTo>
                  <a:lnTo>
                    <a:pt x="3698" y="2612"/>
                  </a:lnTo>
                  <a:lnTo>
                    <a:pt x="3698" y="2228"/>
                  </a:lnTo>
                  <a:lnTo>
                    <a:pt x="0" y="0"/>
                  </a:lnTo>
                  <a:lnTo>
                    <a:pt x="160" y="118"/>
                  </a:lnTo>
                  <a:lnTo>
                    <a:pt x="292" y="219"/>
                  </a:lnTo>
                  <a:lnTo>
                    <a:pt x="441" y="347"/>
                  </a:lnTo>
                  <a:lnTo>
                    <a:pt x="585" y="482"/>
                  </a:lnTo>
                  <a:lnTo>
                    <a:pt x="796" y="711"/>
                  </a:lnTo>
                  <a:lnTo>
                    <a:pt x="983" y="955"/>
                  </a:lnTo>
                  <a:lnTo>
                    <a:pt x="1119" y="1168"/>
                  </a:lnTo>
                  <a:lnTo>
                    <a:pt x="1238" y="1388"/>
                  </a:lnTo>
                  <a:lnTo>
                    <a:pt x="1331" y="1608"/>
                  </a:lnTo>
                  <a:lnTo>
                    <a:pt x="1400" y="1809"/>
                  </a:lnTo>
                  <a:lnTo>
                    <a:pt x="1447" y="1979"/>
                  </a:lnTo>
                  <a:lnTo>
                    <a:pt x="1490" y="2190"/>
                  </a:lnTo>
                  <a:lnTo>
                    <a:pt x="1511" y="2374"/>
                  </a:lnTo>
                  <a:lnTo>
                    <a:pt x="1523" y="2611"/>
                  </a:lnTo>
                </a:path>
              </a:pathLst>
            </a:custGeom>
            <a:gradFill rotWithShape="0">
              <a:gsLst>
                <a:gs pos="0">
                  <a:schemeClr val="accent2">
                    <a:gamma/>
                    <a:shade val="46275"/>
                    <a:invGamma/>
                  </a:schemeClr>
                </a:gs>
                <a:gs pos="100000">
                  <a:schemeClr val="accent2"/>
                </a:gs>
              </a:gsLst>
              <a:lin ang="0" scaled="1"/>
            </a:gradFill>
            <a:ln w="9525" cap="rnd">
              <a:noFill/>
              <a:round/>
            </a:ln>
            <a:effectLst/>
          </p:spPr>
          <p:txBody>
            <a:bodyPr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6" name="Arc 4"/>
            <p:cNvSpPr/>
            <p:nvPr/>
          </p:nvSpPr>
          <p:spPr bwMode="auto">
            <a:xfrm>
              <a:off x="-652" y="978"/>
              <a:ext cx="4237" cy="3342"/>
            </a:xfrm>
            <a:custGeom>
              <a:avLst/>
              <a:gdLst>
                <a:gd name="G0" fmla="+- 0 0 0"/>
                <a:gd name="G1" fmla="+- 21231 0 0"/>
                <a:gd name="G2" fmla="+- 21600 0 0"/>
                <a:gd name="T0" fmla="*/ 3977 w 21600"/>
                <a:gd name="T1" fmla="*/ 0 h 21231"/>
                <a:gd name="T2" fmla="*/ 21600 w 21600"/>
                <a:gd name="T3" fmla="*/ 21231 h 21231"/>
                <a:gd name="T4" fmla="*/ 0 w 21600"/>
                <a:gd name="T5" fmla="*/ 21231 h 21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600" h="21231" fill="none" extrusionOk="0">
                  <a:moveTo>
                    <a:pt x="3976" y="0"/>
                  </a:moveTo>
                  <a:cubicBezTo>
                    <a:pt x="14194" y="1914"/>
                    <a:pt x="21600" y="10835"/>
                    <a:pt x="21600" y="21231"/>
                  </a:cubicBezTo>
                </a:path>
                <a:path w="21600" h="21231" stroke="0" extrusionOk="0">
                  <a:moveTo>
                    <a:pt x="3976" y="0"/>
                  </a:moveTo>
                  <a:cubicBezTo>
                    <a:pt x="14194" y="1914"/>
                    <a:pt x="21600" y="10835"/>
                    <a:pt x="21600" y="21231"/>
                  </a:cubicBezTo>
                  <a:lnTo>
                    <a:pt x="0" y="21231"/>
                  </a:lnTo>
                  <a:close/>
                </a:path>
              </a:pathLst>
            </a:custGeom>
            <a:noFill/>
            <a:ln w="12700" cap="rnd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zh-CN" altLang="en-US"/>
            </a:p>
          </p:txBody>
        </p:sp>
      </p:grpSp>
      <p:sp>
        <p:nvSpPr>
          <p:cNvPr id="10245" name="Rectangle 5"/>
          <p:cNvSpPr>
            <a:spLocks noGrp="1" noChangeArrowheads="1"/>
          </p:cNvSpPr>
          <p:nvPr>
            <p:ph type="ctrTitle" sz="quarter"/>
          </p:nvPr>
        </p:nvSpPr>
        <p:spPr>
          <a:xfrm>
            <a:off x="1293813" y="762000"/>
            <a:ext cx="7772400" cy="1143000"/>
          </a:xfrm>
        </p:spPr>
        <p:txBody>
          <a:bodyPr anchor="b"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10246" name="Rectangle 6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685800" y="3429000"/>
            <a:ext cx="6400800" cy="1752600"/>
          </a:xfrm>
        </p:spPr>
        <p:txBody>
          <a:bodyPr lIns="92075" tIns="46038" rIns="92075" bIns="46038" anchor="ctr"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7" name="Rectangle 7"/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8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9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C557D9F-2C5B-48C1-BCBC-773FD3384E57}" type="slidenum">
              <a:rPr lang="zh-CN" altLang="en-US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Rectangle 6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2F6E577-465E-4E12-B30A-BF255CC9195F}" type="slidenum">
              <a:rPr lang="zh-CN" altLang="en-US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Rectangle 6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8B326F6-2E5F-4FE5-B483-9061D400BE70}" type="slidenum">
              <a:rPr lang="zh-CN" altLang="en-US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Rectangle 6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9A44D0F-02FA-440D-A81A-E623C3BAEC7F}" type="slidenum">
              <a:rPr lang="zh-CN" altLang="en-US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8" name="Rectangle 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9" name="Rectangle 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2E95A1E-E181-4687-A685-12B2E68C8115}" type="slidenum">
              <a:rPr lang="zh-CN" altLang="en-US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Rectangle 6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6E7A551-B9DB-42E4-80F4-07C97BEA3022}" type="slidenum">
              <a:rPr lang="zh-CN" altLang="en-US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6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3" name="Rectangle 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FC5D4DA-973C-433F-9B32-C23BE42A2E07}" type="slidenum">
              <a:rPr lang="zh-CN" altLang="en-US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Rectangle 6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D263D7B-4F01-40B5-9AB0-8D00382E3C96}" type="slidenum">
              <a:rPr lang="zh-CN" altLang="en-US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Rectangle 6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F41571C-9CF3-4301-8F68-B96C5CC20932}" type="slidenum">
              <a:rPr lang="zh-CN" altLang="en-US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Rectangle 6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8C22EBF-3BA7-47E0-B421-D14782701C68}" type="slidenum">
              <a:rPr lang="zh-CN" altLang="en-US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515100" y="609600"/>
            <a:ext cx="1943100" cy="5486400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85800" y="609600"/>
            <a:ext cx="5676900" cy="5486400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Rectangle 6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C93DABC-C187-4421-883B-C860F0B5AF30}" type="slidenum">
              <a:rPr lang="zh-CN" altLang="en-US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内容占位符 1"/>
          <p:cNvSpPr>
            <a:spLocks noGrp="1"/>
          </p:cNvSpPr>
          <p:nvPr>
            <p:ph/>
          </p:nvPr>
        </p:nvSpPr>
        <p:spPr>
          <a:xfrm>
            <a:off x="685800" y="609600"/>
            <a:ext cx="7772400" cy="5486400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3" name="Rectangle 6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F049AD7-8C08-48B5-9FB4-670039697B2B}" type="slidenum">
              <a:rPr lang="zh-CN" altLang="en-US"/>
              <a:t>‹#›</a:t>
            </a:fld>
            <a:endParaRPr lang="en-US" altLang="zh-CN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2"/>
            </a:gs>
          </a:gsLst>
          <a:lin ang="27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46" name="Group 2"/>
          <p:cNvGrpSpPr/>
          <p:nvPr/>
        </p:nvGrpSpPr>
        <p:grpSpPr bwMode="auto">
          <a:xfrm>
            <a:off x="0" y="1588"/>
            <a:ext cx="9132888" cy="6845300"/>
            <a:chOff x="0" y="1"/>
            <a:chExt cx="5753" cy="4312"/>
          </a:xfrm>
        </p:grpSpPr>
        <p:sp>
          <p:nvSpPr>
            <p:cNvPr id="9219" name="Freeform 3"/>
            <p:cNvSpPr/>
            <p:nvPr/>
          </p:nvSpPr>
          <p:spPr bwMode="auto">
            <a:xfrm>
              <a:off x="3394" y="999"/>
              <a:ext cx="2359" cy="3314"/>
            </a:xfrm>
            <a:custGeom>
              <a:avLst/>
              <a:gdLst/>
              <a:ahLst/>
              <a:cxnLst>
                <a:cxn ang="0">
                  <a:pos x="1905" y="3312"/>
                </a:cxn>
                <a:cxn ang="0">
                  <a:pos x="2358" y="3313"/>
                </a:cxn>
                <a:cxn ang="0">
                  <a:pos x="2358" y="1437"/>
                </a:cxn>
                <a:cxn ang="0">
                  <a:pos x="0" y="0"/>
                </a:cxn>
                <a:cxn ang="0">
                  <a:pos x="201" y="150"/>
                </a:cxn>
                <a:cxn ang="0">
                  <a:pos x="366" y="279"/>
                </a:cxn>
                <a:cxn ang="0">
                  <a:pos x="552" y="441"/>
                </a:cxn>
                <a:cxn ang="0">
                  <a:pos x="732" y="612"/>
                </a:cxn>
                <a:cxn ang="0">
                  <a:pos x="996" y="903"/>
                </a:cxn>
                <a:cxn ang="0">
                  <a:pos x="1230" y="1212"/>
                </a:cxn>
                <a:cxn ang="0">
                  <a:pos x="1400" y="1482"/>
                </a:cxn>
                <a:cxn ang="0">
                  <a:pos x="1548" y="1761"/>
                </a:cxn>
                <a:cxn ang="0">
                  <a:pos x="1665" y="2040"/>
                </a:cxn>
                <a:cxn ang="0">
                  <a:pos x="1751" y="2295"/>
                </a:cxn>
                <a:cxn ang="0">
                  <a:pos x="1809" y="2511"/>
                </a:cxn>
                <a:cxn ang="0">
                  <a:pos x="1863" y="2778"/>
                </a:cxn>
                <a:cxn ang="0">
                  <a:pos x="1890" y="3012"/>
                </a:cxn>
                <a:cxn ang="0">
                  <a:pos x="1905" y="3312"/>
                </a:cxn>
              </a:cxnLst>
              <a:rect l="0" t="0" r="r" b="b"/>
              <a:pathLst>
                <a:path w="2359" h="3314">
                  <a:moveTo>
                    <a:pt x="1905" y="3312"/>
                  </a:moveTo>
                  <a:lnTo>
                    <a:pt x="2358" y="3313"/>
                  </a:lnTo>
                  <a:lnTo>
                    <a:pt x="2358" y="1437"/>
                  </a:lnTo>
                  <a:lnTo>
                    <a:pt x="0" y="0"/>
                  </a:lnTo>
                  <a:lnTo>
                    <a:pt x="201" y="150"/>
                  </a:lnTo>
                  <a:lnTo>
                    <a:pt x="366" y="279"/>
                  </a:lnTo>
                  <a:lnTo>
                    <a:pt x="552" y="441"/>
                  </a:lnTo>
                  <a:lnTo>
                    <a:pt x="732" y="612"/>
                  </a:lnTo>
                  <a:lnTo>
                    <a:pt x="996" y="903"/>
                  </a:lnTo>
                  <a:lnTo>
                    <a:pt x="1230" y="1212"/>
                  </a:lnTo>
                  <a:lnTo>
                    <a:pt x="1400" y="1482"/>
                  </a:lnTo>
                  <a:lnTo>
                    <a:pt x="1548" y="1761"/>
                  </a:lnTo>
                  <a:lnTo>
                    <a:pt x="1665" y="2040"/>
                  </a:lnTo>
                  <a:lnTo>
                    <a:pt x="1751" y="2295"/>
                  </a:lnTo>
                  <a:lnTo>
                    <a:pt x="1809" y="2511"/>
                  </a:lnTo>
                  <a:lnTo>
                    <a:pt x="1863" y="2778"/>
                  </a:lnTo>
                  <a:lnTo>
                    <a:pt x="1890" y="3012"/>
                  </a:lnTo>
                  <a:lnTo>
                    <a:pt x="1905" y="3312"/>
                  </a:lnTo>
                </a:path>
              </a:pathLst>
            </a:custGeom>
            <a:gradFill rotWithShape="0">
              <a:gsLst>
                <a:gs pos="0">
                  <a:schemeClr val="accent2">
                    <a:gamma/>
                    <a:shade val="46275"/>
                    <a:invGamma/>
                  </a:schemeClr>
                </a:gs>
                <a:gs pos="100000">
                  <a:schemeClr val="accent2"/>
                </a:gs>
              </a:gsLst>
              <a:lin ang="0" scaled="1"/>
            </a:gradFill>
            <a:ln w="9525" cap="rnd">
              <a:noFill/>
              <a:round/>
            </a:ln>
            <a:effectLst/>
          </p:spPr>
          <p:txBody>
            <a:bodyPr/>
            <a:lstStyle/>
            <a:p>
              <a:pPr>
                <a:defRPr/>
              </a:pPr>
              <a:endParaRPr lang="zh-CN" altLang="en-US"/>
            </a:p>
          </p:txBody>
        </p:sp>
        <p:sp>
          <p:nvSpPr>
            <p:cNvPr id="9220" name="Arc 4"/>
            <p:cNvSpPr/>
            <p:nvPr/>
          </p:nvSpPr>
          <p:spPr bwMode="auto">
            <a:xfrm>
              <a:off x="0" y="1"/>
              <a:ext cx="5298" cy="4312"/>
            </a:xfrm>
            <a:custGeom>
              <a:avLst/>
              <a:gdLst>
                <a:gd name="G0" fmla="+- 0 0 0"/>
                <a:gd name="G1" fmla="+- 21600 0 0"/>
                <a:gd name="G2" fmla="+- 21600 0 0"/>
                <a:gd name="T0" fmla="*/ 0 w 21600"/>
                <a:gd name="T1" fmla="*/ 0 h 21600"/>
                <a:gd name="T2" fmla="*/ 21600 w 21600"/>
                <a:gd name="T3" fmla="*/ 21600 h 21600"/>
                <a:gd name="T4" fmla="*/ 0 w 21600"/>
                <a:gd name="T5" fmla="*/ 216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</a:path>
                <a:path w="21600" h="21600" stroke="0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  <a:lnTo>
                    <a:pt x="0" y="21600"/>
                  </a:lnTo>
                  <a:close/>
                </a:path>
              </a:pathLst>
            </a:custGeom>
            <a:noFill/>
            <a:ln w="12700" cap="rnd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zh-CN" altLang="en-US"/>
            </a:p>
          </p:txBody>
        </p:sp>
      </p:grpSp>
      <p:sp>
        <p:nvSpPr>
          <p:cNvPr id="9221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609600"/>
            <a:ext cx="7772400" cy="11430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2075" tIns="46038" rIns="92075" bIns="46038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</a:p>
        </p:txBody>
      </p:sp>
      <p:sp>
        <p:nvSpPr>
          <p:cNvPr id="9222" name="Rectangle 6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2075" tIns="46038" rIns="92075" bIns="46038" numCol="1" anchor="ctr" anchorCtr="0" compatLnSpc="1"/>
          <a:lstStyle>
            <a:lvl1pPr>
              <a:spcBef>
                <a:spcPct val="0"/>
              </a:spcBef>
              <a:defRPr kumimoji="0" sz="1400" b="0">
                <a:latin typeface="+mn-lt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9223" name="Rectangle 7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2075" tIns="46038" rIns="92075" bIns="46038" numCol="1" anchor="ctr" anchorCtr="0" compatLnSpc="1"/>
          <a:lstStyle>
            <a:lvl1pPr algn="ctr">
              <a:spcBef>
                <a:spcPct val="0"/>
              </a:spcBef>
              <a:defRPr kumimoji="0" sz="1400" b="0">
                <a:latin typeface="+mn-lt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9224" name="Rectangle 8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2075" tIns="46038" rIns="92075" bIns="46038" numCol="1" anchor="ctr" anchorCtr="0" compatLnSpc="1"/>
          <a:lstStyle>
            <a:lvl1pPr algn="r">
              <a:spcBef>
                <a:spcPct val="0"/>
              </a:spcBef>
              <a:defRPr kumimoji="0" sz="1400" b="0">
                <a:latin typeface="+mn-lt"/>
              </a:defRPr>
            </a:lvl1pPr>
          </a:lstStyle>
          <a:p>
            <a:pPr>
              <a:defRPr/>
            </a:pPr>
            <a:fld id="{609450D5-E6C3-4252-A487-353504D44C20}" type="slidenum">
              <a:rPr lang="zh-CN" altLang="en-US"/>
              <a:t>‹#›</a:t>
            </a:fld>
            <a:endParaRPr lang="en-US" altLang="zh-CN"/>
          </a:p>
        </p:txBody>
      </p:sp>
      <p:sp>
        <p:nvSpPr>
          <p:cNvPr id="6151" name="Rectangle 9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80000"/>
        <a:buFont typeface="Wingdings" panose="05000000000000000000" pitchFamily="2" charset="2"/>
        <a:buChar char="l"/>
        <a:defRPr kumimoji="1"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90000"/>
        <a:buChar char="–"/>
        <a:defRPr kumimoji="1"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0000"/>
        <a:buFont typeface="Wingdings" panose="05000000000000000000" pitchFamily="2" charset="2"/>
        <a:buChar char="l"/>
        <a:defRPr kumimoji="1"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Char char="–"/>
        <a:defRPr kumimoji="1"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Char char="•"/>
        <a:defRPr kumimoji="1"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Char char="•"/>
        <a:defRPr kumimoji="1"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Char char="•"/>
        <a:defRPr kumimoji="1"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Char char="•"/>
        <a:defRPr kumimoji="1"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Char char="•"/>
        <a:defRPr kumimoji="1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" Target="slide111.xml"/><Relationship Id="rId2" Type="http://schemas.openxmlformats.org/officeDocument/2006/relationships/slide" Target="slide106.xml"/><Relationship Id="rId1" Type="http://schemas.openxmlformats.org/officeDocument/2006/relationships/slideLayout" Target="../slideLayouts/slideLayout2.xml"/><Relationship Id="rId4" Type="http://schemas.openxmlformats.org/officeDocument/2006/relationships/slide" Target="slide3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oleObject" Target="../embeddings/oleObject1.bin"/><Relationship Id="rId1" Type="http://schemas.openxmlformats.org/officeDocument/2006/relationships/slideLayout" Target="../slideLayouts/slideLayout7.xml"/><Relationship Id="rId4" Type="http://schemas.openxmlformats.org/officeDocument/2006/relationships/slide" Target="slide105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oleObject" Target="../embeddings/oleObject2.bin"/><Relationship Id="rId1" Type="http://schemas.openxmlformats.org/officeDocument/2006/relationships/slideLayout" Target="../slideLayouts/slideLayout7.xml"/><Relationship Id="rId4" Type="http://schemas.openxmlformats.org/officeDocument/2006/relationships/slide" Target="slide105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oleObject" Target="../embeddings/oleObject3.bin"/><Relationship Id="rId1" Type="http://schemas.openxmlformats.org/officeDocument/2006/relationships/slideLayout" Target="../slideLayouts/slideLayout7.xml"/><Relationship Id="rId4" Type="http://schemas.openxmlformats.org/officeDocument/2006/relationships/slide" Target="slide105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Relationship Id="rId4" Type="http://schemas.openxmlformats.org/officeDocument/2006/relationships/slide" Target="slide105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4" Type="http://schemas.openxmlformats.org/officeDocument/2006/relationships/slide" Target="slide105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oleObject" Target="../embeddings/oleObject4.bin"/><Relationship Id="rId1" Type="http://schemas.openxmlformats.org/officeDocument/2006/relationships/slideLayout" Target="../slideLayouts/slideLayout7.xml"/><Relationship Id="rId6" Type="http://schemas.openxmlformats.org/officeDocument/2006/relationships/slide" Target="slide105.xml"/><Relationship Id="rId5" Type="http://schemas.openxmlformats.org/officeDocument/2006/relationships/image" Target="../media/image11.png"/><Relationship Id="rId4" Type="http://schemas.openxmlformats.org/officeDocument/2006/relationships/oleObject" Target="../embeddings/oleObject5.bin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slide" Target="slide105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538" name="Rectangle 2"/>
          <p:cNvSpPr>
            <a:spLocks noGrp="1" noChangeArrowheads="1"/>
          </p:cNvSpPr>
          <p:nvPr>
            <p:ph type="title"/>
          </p:nvPr>
        </p:nvSpPr>
        <p:spPr>
          <a:xfrm>
            <a:off x="609600" y="609600"/>
            <a:ext cx="7772400" cy="1143000"/>
          </a:xfrm>
        </p:spPr>
        <p:txBody>
          <a:bodyPr/>
          <a:lstStyle/>
          <a:p>
            <a:pPr eaLnBrk="1" hangingPunct="1">
              <a:defRPr/>
            </a:pPr>
            <a:r>
              <a:rPr lang="zh-CN" altLang="en-US" b="1"/>
              <a:t>第</a:t>
            </a:r>
            <a:r>
              <a:rPr lang="zh-CN" altLang="en-US" b="1">
                <a:latin typeface="Times New Roman" panose="02020603050405020304" pitchFamily="18" charset="0"/>
              </a:rPr>
              <a:t>４</a:t>
            </a:r>
            <a:r>
              <a:rPr lang="zh-CN" altLang="en-US" b="1"/>
              <a:t>章  存 储 器</a:t>
            </a:r>
          </a:p>
        </p:txBody>
      </p:sp>
      <p:sp>
        <p:nvSpPr>
          <p:cNvPr id="105475" name="Text Box 3"/>
          <p:cNvSpPr txBox="1">
            <a:spLocks noChangeArrowheads="1"/>
          </p:cNvSpPr>
          <p:nvPr/>
        </p:nvSpPr>
        <p:spPr bwMode="auto">
          <a:xfrm>
            <a:off x="2901950" y="2022475"/>
            <a:ext cx="25733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  <a:hlinkClick r:id="rId2" action="ppaction://hlinksldjump"/>
              </a:rPr>
              <a:t>4.1  概述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105476" name="Text Box 4"/>
          <p:cNvSpPr txBox="1">
            <a:spLocks noChangeArrowheads="1"/>
          </p:cNvSpPr>
          <p:nvPr/>
        </p:nvSpPr>
        <p:spPr bwMode="auto">
          <a:xfrm>
            <a:off x="2901950" y="3201988"/>
            <a:ext cx="38036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buClr>
                <a:schemeClr val="accent2"/>
              </a:buClr>
              <a:buSzPct val="80000"/>
              <a:buFont typeface="Wingdings" panose="05000000000000000000" pitchFamily="2" charset="2"/>
              <a:buNone/>
            </a:pPr>
            <a:r>
              <a:rPr lang="zh-CN" altLang="en-US" sz="3200">
                <a:latin typeface="Times New Roman" panose="02020603050405020304" pitchFamily="18" charset="0"/>
                <a:hlinkClick r:id="rId3" action="ppaction://hlinksldjump"/>
              </a:rPr>
              <a:t>4.2  主存储器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105477" name="Text Box 5"/>
          <p:cNvSpPr txBox="1">
            <a:spLocks noChangeArrowheads="1"/>
          </p:cNvSpPr>
          <p:nvPr/>
        </p:nvSpPr>
        <p:spPr bwMode="auto">
          <a:xfrm>
            <a:off x="2901950" y="4381500"/>
            <a:ext cx="56483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  <a:hlinkClick r:id="" action="ppaction://noaction"/>
              </a:rPr>
              <a:t>4.3  高速缓冲存储器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105478" name="Text Box 6"/>
          <p:cNvSpPr txBox="1">
            <a:spLocks noChangeArrowheads="1"/>
          </p:cNvSpPr>
          <p:nvPr/>
        </p:nvSpPr>
        <p:spPr bwMode="auto">
          <a:xfrm>
            <a:off x="2901950" y="5561013"/>
            <a:ext cx="441801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  <a:hlinkClick r:id="" action="ppaction://noaction"/>
              </a:rPr>
              <a:t>4.4  辅助存储器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105479" name="AutoShape 8">
            <a:hlinkClick r:id="rId4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6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127000"/>
            <a:ext cx="7772400" cy="1143000"/>
          </a:xfrm>
        </p:spPr>
        <p:txBody>
          <a:bodyPr/>
          <a:lstStyle/>
          <a:p>
            <a:pPr eaLnBrk="1" hangingPunct="1">
              <a:defRPr/>
            </a:pPr>
            <a:r>
              <a:rPr lang="zh-CN" altLang="en-US" b="1"/>
              <a:t>4.1  概  述</a:t>
            </a:r>
          </a:p>
        </p:txBody>
      </p:sp>
      <p:sp>
        <p:nvSpPr>
          <p:cNvPr id="194563" name="Text Box 3"/>
          <p:cNvSpPr txBox="1">
            <a:spLocks noChangeArrowheads="1"/>
          </p:cNvSpPr>
          <p:nvPr/>
        </p:nvSpPr>
        <p:spPr bwMode="auto">
          <a:xfrm>
            <a:off x="446088" y="1227138"/>
            <a:ext cx="3395662" cy="585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0000"/>
              </a:lnSpc>
              <a:buClr>
                <a:schemeClr val="accent2"/>
              </a:buClr>
              <a:buSzPct val="80000"/>
            </a:pPr>
            <a:r>
              <a:rPr lang="zh-CN" altLang="en-US" sz="3600">
                <a:latin typeface="Times New Roman" panose="02020603050405020304" pitchFamily="18" charset="0"/>
              </a:rPr>
              <a:t>一、存储器分类</a:t>
            </a:r>
          </a:p>
        </p:txBody>
      </p:sp>
      <p:sp>
        <p:nvSpPr>
          <p:cNvPr id="194564" name="Text Box 4"/>
          <p:cNvSpPr txBox="1">
            <a:spLocks noChangeArrowheads="1"/>
          </p:cNvSpPr>
          <p:nvPr/>
        </p:nvSpPr>
        <p:spPr bwMode="auto">
          <a:xfrm>
            <a:off x="717550" y="2073275"/>
            <a:ext cx="3559175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0000"/>
              </a:lnSpc>
              <a:buClr>
                <a:schemeClr val="accent2"/>
              </a:buClr>
              <a:buSzPct val="80000"/>
            </a:pPr>
            <a:r>
              <a:rPr lang="zh-CN" altLang="en-US" sz="3200">
                <a:latin typeface="Times New Roman" panose="02020603050405020304" pitchFamily="18" charset="0"/>
              </a:rPr>
              <a:t>1.  按存储介质分类</a:t>
            </a:r>
          </a:p>
        </p:txBody>
      </p:sp>
      <p:sp>
        <p:nvSpPr>
          <p:cNvPr id="194565" name="Text Box 5"/>
          <p:cNvSpPr txBox="1">
            <a:spLocks noChangeArrowheads="1"/>
          </p:cNvSpPr>
          <p:nvPr/>
        </p:nvSpPr>
        <p:spPr bwMode="auto">
          <a:xfrm>
            <a:off x="717550" y="3035300"/>
            <a:ext cx="28321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(1) 半导体存储器</a:t>
            </a:r>
          </a:p>
        </p:txBody>
      </p:sp>
      <p:sp>
        <p:nvSpPr>
          <p:cNvPr id="194566" name="Text Box 6"/>
          <p:cNvSpPr txBox="1">
            <a:spLocks noChangeArrowheads="1"/>
          </p:cNvSpPr>
          <p:nvPr/>
        </p:nvSpPr>
        <p:spPr bwMode="auto">
          <a:xfrm>
            <a:off x="717550" y="3965575"/>
            <a:ext cx="31686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(2) 磁表面存储器</a:t>
            </a:r>
          </a:p>
        </p:txBody>
      </p:sp>
      <p:sp>
        <p:nvSpPr>
          <p:cNvPr id="194567" name="Text Box 7"/>
          <p:cNvSpPr txBox="1">
            <a:spLocks noChangeArrowheads="1"/>
          </p:cNvSpPr>
          <p:nvPr/>
        </p:nvSpPr>
        <p:spPr bwMode="auto">
          <a:xfrm>
            <a:off x="717550" y="4897438"/>
            <a:ext cx="247491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buClr>
                <a:schemeClr val="accent2"/>
              </a:buClr>
              <a:buSzPct val="80000"/>
            </a:pPr>
            <a:r>
              <a:rPr lang="zh-CN" altLang="en-US" sz="2800">
                <a:latin typeface="Times New Roman" panose="02020603050405020304" pitchFamily="18" charset="0"/>
              </a:rPr>
              <a:t>(3) 磁芯存储器</a:t>
            </a:r>
          </a:p>
        </p:txBody>
      </p:sp>
      <p:sp>
        <p:nvSpPr>
          <p:cNvPr id="194568" name="Text Box 8"/>
          <p:cNvSpPr txBox="1">
            <a:spLocks noChangeArrowheads="1"/>
          </p:cNvSpPr>
          <p:nvPr/>
        </p:nvSpPr>
        <p:spPr bwMode="auto">
          <a:xfrm>
            <a:off x="717550" y="5829300"/>
            <a:ext cx="247491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buClr>
                <a:schemeClr val="accent2"/>
              </a:buClr>
              <a:buSzPct val="80000"/>
            </a:pPr>
            <a:r>
              <a:rPr lang="zh-CN" altLang="en-US" sz="2800">
                <a:latin typeface="Times New Roman" panose="02020603050405020304" pitchFamily="18" charset="0"/>
              </a:rPr>
              <a:t>(4) 光盘存储器</a:t>
            </a:r>
          </a:p>
        </p:txBody>
      </p:sp>
      <p:sp>
        <p:nvSpPr>
          <p:cNvPr id="194569" name="Text Box 9"/>
          <p:cNvSpPr txBox="1">
            <a:spLocks noChangeArrowheads="1"/>
          </p:cNvSpPr>
          <p:nvPr/>
        </p:nvSpPr>
        <p:spPr bwMode="auto">
          <a:xfrm>
            <a:off x="7543800" y="2978150"/>
            <a:ext cx="9969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solidFill>
                  <a:srgbClr val="FFFF00"/>
                </a:solidFill>
                <a:latin typeface="Times New Roman" panose="02020603050405020304" pitchFamily="18" charset="0"/>
              </a:rPr>
              <a:t>易失</a:t>
            </a:r>
          </a:p>
        </p:txBody>
      </p:sp>
      <p:sp>
        <p:nvSpPr>
          <p:cNvPr id="194570" name="Text Box 10"/>
          <p:cNvSpPr txBox="1">
            <a:spLocks noChangeArrowheads="1"/>
          </p:cNvSpPr>
          <p:nvPr/>
        </p:nvSpPr>
        <p:spPr bwMode="auto">
          <a:xfrm>
            <a:off x="4108450" y="3035300"/>
            <a:ext cx="21494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2800">
                <a:latin typeface="Times New Roman" panose="02020603050405020304" pitchFamily="18" charset="0"/>
              </a:rPr>
              <a:t>TTL 、MOS</a:t>
            </a:r>
          </a:p>
        </p:txBody>
      </p:sp>
      <p:sp>
        <p:nvSpPr>
          <p:cNvPr id="194571" name="Text Box 11"/>
          <p:cNvSpPr txBox="1">
            <a:spLocks noChangeArrowheads="1"/>
          </p:cNvSpPr>
          <p:nvPr/>
        </p:nvSpPr>
        <p:spPr bwMode="auto">
          <a:xfrm>
            <a:off x="4108450" y="3965575"/>
            <a:ext cx="26733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磁头、载磁体</a:t>
            </a:r>
          </a:p>
        </p:txBody>
      </p:sp>
      <p:sp>
        <p:nvSpPr>
          <p:cNvPr id="194572" name="Text Box 12"/>
          <p:cNvSpPr txBox="1">
            <a:spLocks noChangeArrowheads="1"/>
          </p:cNvSpPr>
          <p:nvPr/>
        </p:nvSpPr>
        <p:spPr bwMode="auto">
          <a:xfrm>
            <a:off x="4108450" y="4902200"/>
            <a:ext cx="339883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buClr>
                <a:schemeClr val="accent2"/>
              </a:buClr>
              <a:buSzPct val="80000"/>
            </a:pPr>
            <a:r>
              <a:rPr lang="zh-CN" altLang="en-US" sz="2800">
                <a:latin typeface="Times New Roman" panose="02020603050405020304" pitchFamily="18" charset="0"/>
              </a:rPr>
              <a:t>硬磁材料、环状元件</a:t>
            </a:r>
          </a:p>
        </p:txBody>
      </p:sp>
      <p:sp>
        <p:nvSpPr>
          <p:cNvPr id="194573" name="Text Box 13"/>
          <p:cNvSpPr txBox="1">
            <a:spLocks noChangeArrowheads="1"/>
          </p:cNvSpPr>
          <p:nvPr/>
        </p:nvSpPr>
        <p:spPr bwMode="auto">
          <a:xfrm>
            <a:off x="4108450" y="5834063"/>
            <a:ext cx="268446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buClr>
                <a:schemeClr val="accent2"/>
              </a:buClr>
              <a:buSzPct val="80000"/>
            </a:pPr>
            <a:r>
              <a:rPr lang="zh-CN" altLang="en-US" sz="2800">
                <a:latin typeface="Times New Roman" panose="02020603050405020304" pitchFamily="18" charset="0"/>
              </a:rPr>
              <a:t>激光、磁光材料</a:t>
            </a:r>
          </a:p>
        </p:txBody>
      </p:sp>
      <p:grpSp>
        <p:nvGrpSpPr>
          <p:cNvPr id="2" name="Group 14"/>
          <p:cNvGrpSpPr/>
          <p:nvPr/>
        </p:nvGrpSpPr>
        <p:grpSpPr bwMode="auto">
          <a:xfrm>
            <a:off x="7543800" y="4191000"/>
            <a:ext cx="960438" cy="2057400"/>
            <a:chOff x="4944" y="2640"/>
            <a:chExt cx="605" cy="1296"/>
          </a:xfrm>
        </p:grpSpPr>
        <p:sp>
          <p:nvSpPr>
            <p:cNvPr id="106512" name="Text Box 15"/>
            <p:cNvSpPr txBox="1">
              <a:spLocks noChangeArrowheads="1"/>
            </p:cNvSpPr>
            <p:nvPr/>
          </p:nvSpPr>
          <p:spPr bwMode="auto">
            <a:xfrm>
              <a:off x="5176" y="2809"/>
              <a:ext cx="373" cy="9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rgbClr val="FFFF00"/>
                  </a:solidFill>
                  <a:latin typeface="Times New Roman" panose="02020603050405020304" pitchFamily="18" charset="0"/>
                </a:rPr>
                <a:t>非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rgbClr val="FFFF00"/>
                  </a:solidFill>
                  <a:latin typeface="Times New Roman" panose="02020603050405020304" pitchFamily="18" charset="0"/>
                </a:rPr>
                <a:t>易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rgbClr val="FFFF00"/>
                  </a:solidFill>
                  <a:latin typeface="Times New Roman" panose="02020603050405020304" pitchFamily="18" charset="0"/>
                </a:rPr>
                <a:t>失</a:t>
              </a:r>
            </a:p>
          </p:txBody>
        </p:sp>
        <p:sp>
          <p:nvSpPr>
            <p:cNvPr id="106513" name="AutoShape 16"/>
            <p:cNvSpPr/>
            <p:nvPr/>
          </p:nvSpPr>
          <p:spPr bwMode="auto">
            <a:xfrm>
              <a:off x="4944" y="2640"/>
              <a:ext cx="242" cy="1296"/>
            </a:xfrm>
            <a:prstGeom prst="rightBrace">
              <a:avLst>
                <a:gd name="adj1" fmla="val 44628"/>
                <a:gd name="adj2" fmla="val 51681"/>
              </a:avLst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sp>
        <p:nvSpPr>
          <p:cNvPr id="106511" name="AutoShape 17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94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94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94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94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945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94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1945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194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194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194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945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945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563" grpId="0" autoUpdateAnimBg="0"/>
      <p:bldP spid="194564" grpId="0" autoUpdateAnimBg="0"/>
      <p:bldP spid="194565" grpId="0" autoUpdateAnimBg="0"/>
      <p:bldP spid="194566" grpId="0" autoUpdateAnimBg="0"/>
      <p:bldP spid="194567" grpId="0" autoUpdateAnimBg="0"/>
      <p:bldP spid="194568" grpId="0" autoUpdateAnimBg="0"/>
      <p:bldP spid="194569" grpId="0" autoUpdateAnimBg="0"/>
      <p:bldP spid="194570" grpId="0" autoUpdateAnimBg="0"/>
      <p:bldP spid="194571" grpId="0" autoUpdateAnimBg="0"/>
      <p:bldP spid="194572" grpId="0" autoUpdateAnimBg="0"/>
      <p:bldP spid="194573" grpId="0" autoUpdateAnimBg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6" name="Text Box 2"/>
          <p:cNvSpPr txBox="1">
            <a:spLocks noChangeArrowheads="1"/>
          </p:cNvSpPr>
          <p:nvPr/>
        </p:nvSpPr>
        <p:spPr bwMode="auto">
          <a:xfrm>
            <a:off x="382588" y="1482725"/>
            <a:ext cx="76787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(1) 存取时间与物理地址无关（随机访问）</a:t>
            </a:r>
          </a:p>
        </p:txBody>
      </p:sp>
      <p:sp>
        <p:nvSpPr>
          <p:cNvPr id="195587" name="Text Box 3"/>
          <p:cNvSpPr txBox="1">
            <a:spLocks noChangeArrowheads="1"/>
          </p:cNvSpPr>
          <p:nvPr/>
        </p:nvSpPr>
        <p:spPr bwMode="auto">
          <a:xfrm>
            <a:off x="863600" y="4740275"/>
            <a:ext cx="40417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Char char="•"/>
            </a:pPr>
            <a:r>
              <a:rPr lang="zh-CN" altLang="en-US" sz="2800">
                <a:latin typeface="Times New Roman" panose="02020603050405020304" pitchFamily="18" charset="0"/>
              </a:rPr>
              <a:t>  顺序存取存储器    磁带</a:t>
            </a:r>
          </a:p>
        </p:txBody>
      </p:sp>
      <p:sp>
        <p:nvSpPr>
          <p:cNvPr id="195588" name="Text Box 4"/>
          <p:cNvSpPr txBox="1">
            <a:spLocks noChangeArrowheads="1"/>
          </p:cNvSpPr>
          <p:nvPr/>
        </p:nvSpPr>
        <p:spPr bwMode="auto">
          <a:xfrm>
            <a:off x="8105775" y="152400"/>
            <a:ext cx="962025" cy="7620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wrap="none">
            <a:spAutoFit/>
          </a:bodyPr>
          <a:lstStyle/>
          <a:p>
            <a:pPr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4.1</a:t>
            </a:r>
          </a:p>
        </p:txBody>
      </p:sp>
      <p:sp>
        <p:nvSpPr>
          <p:cNvPr id="107525" name="Text Box 5"/>
          <p:cNvSpPr txBox="1">
            <a:spLocks noChangeArrowheads="1"/>
          </p:cNvSpPr>
          <p:nvPr/>
        </p:nvSpPr>
        <p:spPr bwMode="auto">
          <a:xfrm>
            <a:off x="369888" y="476250"/>
            <a:ext cx="3967162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2.  按存取方式分类</a:t>
            </a:r>
          </a:p>
        </p:txBody>
      </p:sp>
      <p:sp>
        <p:nvSpPr>
          <p:cNvPr id="195590" name="Text Box 6"/>
          <p:cNvSpPr txBox="1">
            <a:spLocks noChangeArrowheads="1"/>
          </p:cNvSpPr>
          <p:nvPr/>
        </p:nvSpPr>
        <p:spPr bwMode="auto">
          <a:xfrm>
            <a:off x="368300" y="3917950"/>
            <a:ext cx="76946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(2) 存取时间与物理地址有关（串行访问）</a:t>
            </a:r>
          </a:p>
        </p:txBody>
      </p:sp>
      <p:sp>
        <p:nvSpPr>
          <p:cNvPr id="195591" name="Text Box 7"/>
          <p:cNvSpPr txBox="1">
            <a:spLocks noChangeArrowheads="1"/>
          </p:cNvSpPr>
          <p:nvPr/>
        </p:nvSpPr>
        <p:spPr bwMode="auto">
          <a:xfrm>
            <a:off x="863600" y="2362200"/>
            <a:ext cx="3403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Char char="•"/>
            </a:pPr>
            <a:r>
              <a:rPr lang="zh-CN" altLang="en-US" sz="2800">
                <a:latin typeface="Times New Roman" panose="02020603050405020304" pitchFamily="18" charset="0"/>
              </a:rPr>
              <a:t>  随机存储器</a:t>
            </a:r>
            <a:endParaRPr lang="zh-CN" altLang="en-US" sz="28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195592" name="Text Box 8"/>
          <p:cNvSpPr txBox="1">
            <a:spLocks noChangeArrowheads="1"/>
          </p:cNvSpPr>
          <p:nvPr/>
        </p:nvSpPr>
        <p:spPr bwMode="auto">
          <a:xfrm>
            <a:off x="863600" y="3165475"/>
            <a:ext cx="3022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Char char="•"/>
            </a:pPr>
            <a:r>
              <a:rPr lang="zh-CN" altLang="en-US" sz="2800">
                <a:latin typeface="Times New Roman" panose="02020603050405020304" pitchFamily="18" charset="0"/>
              </a:rPr>
              <a:t>  只读存储器</a:t>
            </a:r>
            <a:endParaRPr lang="zh-CN" altLang="en-US" sz="28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195593" name="Text Box 9"/>
          <p:cNvSpPr txBox="1">
            <a:spLocks noChangeArrowheads="1"/>
          </p:cNvSpPr>
          <p:nvPr/>
        </p:nvSpPr>
        <p:spPr bwMode="auto">
          <a:xfrm>
            <a:off x="863600" y="5495925"/>
            <a:ext cx="40417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Char char="•"/>
            </a:pPr>
            <a:r>
              <a:rPr lang="zh-CN" altLang="en-US" sz="2800">
                <a:latin typeface="Times New Roman" panose="02020603050405020304" pitchFamily="18" charset="0"/>
              </a:rPr>
              <a:t>  直接存取存储器    磁盘</a:t>
            </a:r>
          </a:p>
        </p:txBody>
      </p:sp>
      <p:sp>
        <p:nvSpPr>
          <p:cNvPr id="195594" name="Text Box 10"/>
          <p:cNvSpPr txBox="1">
            <a:spLocks noChangeArrowheads="1"/>
          </p:cNvSpPr>
          <p:nvPr/>
        </p:nvSpPr>
        <p:spPr bwMode="auto">
          <a:xfrm>
            <a:off x="3581400" y="2362200"/>
            <a:ext cx="6477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在程序的执行过程中 </a:t>
            </a:r>
            <a:r>
              <a:rPr lang="zh-CN" altLang="en-US" sz="2800">
                <a:latin typeface="Times New Roman" panose="02020603050405020304" pitchFamily="18" charset="0"/>
              </a:rPr>
              <a:t>可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读 </a:t>
            </a:r>
            <a:r>
              <a:rPr lang="zh-CN" altLang="en-US" sz="2800">
                <a:latin typeface="Times New Roman" panose="02020603050405020304" pitchFamily="18" charset="0"/>
              </a:rPr>
              <a:t>可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</a:p>
        </p:txBody>
      </p:sp>
      <p:sp>
        <p:nvSpPr>
          <p:cNvPr id="195595" name="Text Box 11"/>
          <p:cNvSpPr txBox="1">
            <a:spLocks noChangeArrowheads="1"/>
          </p:cNvSpPr>
          <p:nvPr/>
        </p:nvSpPr>
        <p:spPr bwMode="auto">
          <a:xfrm>
            <a:off x="3581400" y="3165475"/>
            <a:ext cx="6477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在程序的执行过程中 </a:t>
            </a:r>
            <a:r>
              <a:rPr lang="zh-CN" altLang="en-US" sz="2800">
                <a:latin typeface="Times New Roman" panose="02020603050405020304" pitchFamily="18" charset="0"/>
              </a:rPr>
              <a:t>只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</a:p>
        </p:txBody>
      </p:sp>
      <p:sp>
        <p:nvSpPr>
          <p:cNvPr id="107532" name="AutoShape 12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95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95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95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955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95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95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195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195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586" grpId="0" autoUpdateAnimBg="0"/>
      <p:bldP spid="195587" grpId="0" autoUpdateAnimBg="0"/>
      <p:bldP spid="195590" grpId="0" autoUpdateAnimBg="0"/>
      <p:bldP spid="195591" grpId="0" autoUpdateAnimBg="0"/>
      <p:bldP spid="195592" grpId="0" autoUpdateAnimBg="0"/>
      <p:bldP spid="195593" grpId="0" autoUpdateAnimBg="0"/>
      <p:bldP spid="195594" grpId="0" autoUpdateAnimBg="0"/>
      <p:bldP spid="195595" grpId="0" autoUpdateAnimBg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10" name="Text Box 2"/>
          <p:cNvSpPr txBox="1">
            <a:spLocks noChangeArrowheads="1"/>
          </p:cNvSpPr>
          <p:nvPr/>
        </p:nvSpPr>
        <p:spPr bwMode="auto">
          <a:xfrm>
            <a:off x="4133850" y="5897563"/>
            <a:ext cx="35623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磁盘、磁带、光盘 </a:t>
            </a:r>
          </a:p>
        </p:txBody>
      </p:sp>
      <p:sp>
        <p:nvSpPr>
          <p:cNvPr id="196611" name="Text Box 3"/>
          <p:cNvSpPr txBox="1">
            <a:spLocks noChangeArrowheads="1"/>
          </p:cNvSpPr>
          <p:nvPr/>
        </p:nvSpPr>
        <p:spPr bwMode="auto">
          <a:xfrm>
            <a:off x="1576388" y="4983163"/>
            <a:ext cx="566261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高速缓冲存储器（</a:t>
            </a:r>
            <a:r>
              <a:rPr lang="en-US" altLang="zh-CN" sz="3200">
                <a:latin typeface="Times New Roman" panose="02020603050405020304" pitchFamily="18" charset="0"/>
              </a:rPr>
              <a:t>Cache）</a:t>
            </a:r>
          </a:p>
        </p:txBody>
      </p:sp>
      <p:sp>
        <p:nvSpPr>
          <p:cNvPr id="196612" name="Text Box 4"/>
          <p:cNvSpPr txBox="1">
            <a:spLocks noChangeArrowheads="1"/>
          </p:cNvSpPr>
          <p:nvPr/>
        </p:nvSpPr>
        <p:spPr bwMode="auto">
          <a:xfrm>
            <a:off x="1576388" y="4090988"/>
            <a:ext cx="375761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3200">
                <a:latin typeface="Times New Roman" panose="02020603050405020304" pitchFamily="18" charset="0"/>
              </a:rPr>
              <a:t>Flash  Memory</a:t>
            </a:r>
          </a:p>
        </p:txBody>
      </p:sp>
      <p:sp>
        <p:nvSpPr>
          <p:cNvPr id="196613" name="Text Box 5"/>
          <p:cNvSpPr txBox="1">
            <a:spLocks noChangeArrowheads="1"/>
          </p:cNvSpPr>
          <p:nvPr/>
        </p:nvSpPr>
        <p:spPr bwMode="auto">
          <a:xfrm>
            <a:off x="349250" y="3500438"/>
            <a:ext cx="592138" cy="1554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存</a:t>
            </a:r>
          </a:p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储</a:t>
            </a:r>
          </a:p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器</a:t>
            </a:r>
          </a:p>
        </p:txBody>
      </p:sp>
      <p:grpSp>
        <p:nvGrpSpPr>
          <p:cNvPr id="2" name="Group 6"/>
          <p:cNvGrpSpPr/>
          <p:nvPr/>
        </p:nvGrpSpPr>
        <p:grpSpPr bwMode="auto">
          <a:xfrm>
            <a:off x="1576388" y="2195513"/>
            <a:ext cx="2216150" cy="4281487"/>
            <a:chOff x="993" y="1383"/>
            <a:chExt cx="1396" cy="2697"/>
          </a:xfrm>
        </p:grpSpPr>
        <p:sp>
          <p:nvSpPr>
            <p:cNvPr id="108569" name="Text Box 7"/>
            <p:cNvSpPr txBox="1">
              <a:spLocks noChangeArrowheads="1"/>
            </p:cNvSpPr>
            <p:nvPr/>
          </p:nvSpPr>
          <p:spPr bwMode="auto">
            <a:xfrm>
              <a:off x="993" y="1383"/>
              <a:ext cx="115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主存储器</a:t>
              </a:r>
            </a:p>
          </p:txBody>
        </p:sp>
        <p:sp>
          <p:nvSpPr>
            <p:cNvPr id="108570" name="Text Box 8"/>
            <p:cNvSpPr txBox="1">
              <a:spLocks noChangeArrowheads="1"/>
            </p:cNvSpPr>
            <p:nvPr/>
          </p:nvSpPr>
          <p:spPr bwMode="auto">
            <a:xfrm>
              <a:off x="993" y="3715"/>
              <a:ext cx="139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辅助存储器</a:t>
              </a:r>
            </a:p>
          </p:txBody>
        </p:sp>
      </p:grpSp>
      <p:sp>
        <p:nvSpPr>
          <p:cNvPr id="196617" name="AutoShape 9"/>
          <p:cNvSpPr/>
          <p:nvPr/>
        </p:nvSpPr>
        <p:spPr bwMode="auto">
          <a:xfrm>
            <a:off x="1092200" y="2460625"/>
            <a:ext cx="431800" cy="3833813"/>
          </a:xfrm>
          <a:prstGeom prst="leftBrace">
            <a:avLst>
              <a:gd name="adj1" fmla="val 73989"/>
              <a:gd name="adj2" fmla="val 50000"/>
            </a:avLst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grpSp>
        <p:nvGrpSpPr>
          <p:cNvPr id="3" name="Group 10"/>
          <p:cNvGrpSpPr/>
          <p:nvPr/>
        </p:nvGrpSpPr>
        <p:grpSpPr bwMode="auto">
          <a:xfrm>
            <a:off x="5318125" y="2379663"/>
            <a:ext cx="3455988" cy="1917700"/>
            <a:chOff x="3350" y="1499"/>
            <a:chExt cx="2177" cy="1208"/>
          </a:xfrm>
        </p:grpSpPr>
        <p:sp>
          <p:nvSpPr>
            <p:cNvPr id="108565" name="Text Box 11"/>
            <p:cNvSpPr txBox="1">
              <a:spLocks noChangeArrowheads="1"/>
            </p:cNvSpPr>
            <p:nvPr/>
          </p:nvSpPr>
          <p:spPr bwMode="auto">
            <a:xfrm>
              <a:off x="3350" y="1499"/>
              <a:ext cx="121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MROM</a:t>
              </a:r>
            </a:p>
          </p:txBody>
        </p:sp>
        <p:sp>
          <p:nvSpPr>
            <p:cNvPr id="108566" name="Text Box 12"/>
            <p:cNvSpPr txBox="1">
              <a:spLocks noChangeArrowheads="1"/>
            </p:cNvSpPr>
            <p:nvPr/>
          </p:nvSpPr>
          <p:spPr bwMode="auto">
            <a:xfrm>
              <a:off x="3350" y="1805"/>
              <a:ext cx="110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PROM</a:t>
              </a:r>
            </a:p>
          </p:txBody>
        </p:sp>
        <p:sp>
          <p:nvSpPr>
            <p:cNvPr id="108567" name="Text Box 13"/>
            <p:cNvSpPr txBox="1">
              <a:spLocks noChangeArrowheads="1"/>
            </p:cNvSpPr>
            <p:nvPr/>
          </p:nvSpPr>
          <p:spPr bwMode="auto">
            <a:xfrm>
              <a:off x="3350" y="2112"/>
              <a:ext cx="131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EPROM</a:t>
              </a:r>
            </a:p>
          </p:txBody>
        </p:sp>
        <p:sp>
          <p:nvSpPr>
            <p:cNvPr id="108568" name="Text Box 14"/>
            <p:cNvSpPr txBox="1">
              <a:spLocks noChangeArrowheads="1"/>
            </p:cNvSpPr>
            <p:nvPr/>
          </p:nvSpPr>
          <p:spPr bwMode="auto">
            <a:xfrm>
              <a:off x="3350" y="2419"/>
              <a:ext cx="217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EEPROM</a:t>
              </a:r>
            </a:p>
          </p:txBody>
        </p:sp>
      </p:grpSp>
      <p:sp>
        <p:nvSpPr>
          <p:cNvPr id="196623" name="AutoShape 15"/>
          <p:cNvSpPr/>
          <p:nvPr/>
        </p:nvSpPr>
        <p:spPr bwMode="auto">
          <a:xfrm>
            <a:off x="5041900" y="2590800"/>
            <a:ext cx="292100" cy="1484313"/>
          </a:xfrm>
          <a:prstGeom prst="leftBrace">
            <a:avLst>
              <a:gd name="adj1" fmla="val 42346"/>
              <a:gd name="adj2" fmla="val 50000"/>
            </a:avLst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grpSp>
        <p:nvGrpSpPr>
          <p:cNvPr id="4" name="Group 16"/>
          <p:cNvGrpSpPr/>
          <p:nvPr/>
        </p:nvGrpSpPr>
        <p:grpSpPr bwMode="auto">
          <a:xfrm>
            <a:off x="3776663" y="1296988"/>
            <a:ext cx="1052512" cy="2347912"/>
            <a:chOff x="2379" y="817"/>
            <a:chExt cx="663" cy="1479"/>
          </a:xfrm>
        </p:grpSpPr>
        <p:sp>
          <p:nvSpPr>
            <p:cNvPr id="108563" name="Text Box 17"/>
            <p:cNvSpPr txBox="1">
              <a:spLocks noChangeArrowheads="1"/>
            </p:cNvSpPr>
            <p:nvPr/>
          </p:nvSpPr>
          <p:spPr bwMode="auto">
            <a:xfrm>
              <a:off x="2379" y="817"/>
              <a:ext cx="65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800">
                  <a:latin typeface="Times New Roman" panose="02020603050405020304" pitchFamily="18" charset="0"/>
                </a:rPr>
                <a:t>RAM</a:t>
              </a:r>
            </a:p>
          </p:txBody>
        </p:sp>
        <p:sp>
          <p:nvSpPr>
            <p:cNvPr id="108564" name="Text Box 18"/>
            <p:cNvSpPr txBox="1">
              <a:spLocks noChangeArrowheads="1"/>
            </p:cNvSpPr>
            <p:nvPr/>
          </p:nvSpPr>
          <p:spPr bwMode="auto">
            <a:xfrm>
              <a:off x="2379" y="1969"/>
              <a:ext cx="663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800">
                  <a:latin typeface="Times New Roman" panose="02020603050405020304" pitchFamily="18" charset="0"/>
                </a:rPr>
                <a:t>ROM</a:t>
              </a:r>
            </a:p>
          </p:txBody>
        </p:sp>
      </p:grpSp>
      <p:sp>
        <p:nvSpPr>
          <p:cNvPr id="196627" name="AutoShape 19"/>
          <p:cNvSpPr/>
          <p:nvPr/>
        </p:nvSpPr>
        <p:spPr bwMode="auto">
          <a:xfrm>
            <a:off x="3462338" y="1535113"/>
            <a:ext cx="271462" cy="1893887"/>
          </a:xfrm>
          <a:prstGeom prst="leftBrace">
            <a:avLst>
              <a:gd name="adj1" fmla="val 58138"/>
              <a:gd name="adj2" fmla="val 50000"/>
            </a:avLst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grpSp>
        <p:nvGrpSpPr>
          <p:cNvPr id="5" name="Group 20"/>
          <p:cNvGrpSpPr/>
          <p:nvPr/>
        </p:nvGrpSpPr>
        <p:grpSpPr bwMode="auto">
          <a:xfrm>
            <a:off x="5254625" y="990600"/>
            <a:ext cx="2311400" cy="1119188"/>
            <a:chOff x="3310" y="624"/>
            <a:chExt cx="1456" cy="705"/>
          </a:xfrm>
        </p:grpSpPr>
        <p:sp>
          <p:nvSpPr>
            <p:cNvPr id="108561" name="Text Box 21"/>
            <p:cNvSpPr txBox="1">
              <a:spLocks noChangeArrowheads="1"/>
            </p:cNvSpPr>
            <p:nvPr/>
          </p:nvSpPr>
          <p:spPr bwMode="auto">
            <a:xfrm>
              <a:off x="3310" y="624"/>
              <a:ext cx="145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静态 </a:t>
              </a:r>
              <a:r>
                <a:rPr lang="en-US" altLang="zh-CN" sz="2400">
                  <a:latin typeface="Times New Roman" panose="02020603050405020304" pitchFamily="18" charset="0"/>
                </a:rPr>
                <a:t>RAM</a:t>
              </a:r>
            </a:p>
          </p:txBody>
        </p:sp>
        <p:sp>
          <p:nvSpPr>
            <p:cNvPr id="108562" name="Text Box 22"/>
            <p:cNvSpPr txBox="1">
              <a:spLocks noChangeArrowheads="1"/>
            </p:cNvSpPr>
            <p:nvPr/>
          </p:nvSpPr>
          <p:spPr bwMode="auto">
            <a:xfrm>
              <a:off x="3310" y="1041"/>
              <a:ext cx="100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动态 </a:t>
              </a:r>
              <a:r>
                <a:rPr lang="en-US" altLang="zh-CN" sz="2400">
                  <a:latin typeface="Times New Roman" panose="02020603050405020304" pitchFamily="18" charset="0"/>
                </a:rPr>
                <a:t>RAM</a:t>
              </a:r>
            </a:p>
          </p:txBody>
        </p:sp>
      </p:grpSp>
      <p:sp>
        <p:nvSpPr>
          <p:cNvPr id="196631" name="AutoShape 23"/>
          <p:cNvSpPr/>
          <p:nvPr/>
        </p:nvSpPr>
        <p:spPr bwMode="auto">
          <a:xfrm>
            <a:off x="5041900" y="1143000"/>
            <a:ext cx="207963" cy="784225"/>
          </a:xfrm>
          <a:prstGeom prst="leftBrace">
            <a:avLst>
              <a:gd name="adj1" fmla="val 31425"/>
              <a:gd name="adj2" fmla="val 50000"/>
            </a:avLst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108558" name="Text Box 24"/>
          <p:cNvSpPr txBox="1">
            <a:spLocks noChangeArrowheads="1"/>
          </p:cNvSpPr>
          <p:nvPr/>
        </p:nvSpPr>
        <p:spPr bwMode="auto">
          <a:xfrm>
            <a:off x="369888" y="273050"/>
            <a:ext cx="5802312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3.  按在计算机中的作用分类</a:t>
            </a:r>
          </a:p>
        </p:txBody>
      </p:sp>
      <p:sp>
        <p:nvSpPr>
          <p:cNvPr id="196633" name="Rectangle 25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4.1</a:t>
            </a:r>
          </a:p>
        </p:txBody>
      </p:sp>
      <p:sp>
        <p:nvSpPr>
          <p:cNvPr id="108560" name="AutoShape 26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966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4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1" dur="500"/>
                                        <p:tgtEl>
                                          <p:spTgt spid="1966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6" presetClass="entr" presetSubtype="4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21" dur="500"/>
                                        <p:tgtEl>
                                          <p:spTgt spid="196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6" presetClass="entr" presetSubtype="4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31" dur="500"/>
                                        <p:tgtEl>
                                          <p:spTgt spid="1966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6" presetClass="entr" presetSubtype="4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41" dur="500"/>
                                        <p:tgtEl>
                                          <p:spTgt spid="196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" dur="500"/>
                                        <p:tgtEl>
                                          <p:spTgt spid="196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" dur="500"/>
                                        <p:tgtEl>
                                          <p:spTgt spid="196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1" dur="500"/>
                                        <p:tgtEl>
                                          <p:spTgt spid="196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6610" grpId="0" autoUpdateAnimBg="0"/>
      <p:bldP spid="196611" grpId="0" autoUpdateAnimBg="0"/>
      <p:bldP spid="196612" grpId="0" autoUpdateAnimBg="0"/>
      <p:bldP spid="196613" grpId="0" autoUpdateAnimBg="0"/>
      <p:bldP spid="196617" grpId="0" animBg="1"/>
      <p:bldP spid="196623" grpId="0" animBg="1"/>
      <p:bldP spid="196627" grpId="0" animBg="1"/>
      <p:bldP spid="196631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Text Box 2"/>
          <p:cNvSpPr txBox="1">
            <a:spLocks noChangeArrowheads="1"/>
          </p:cNvSpPr>
          <p:nvPr/>
        </p:nvSpPr>
        <p:spPr bwMode="auto">
          <a:xfrm>
            <a:off x="8001000" y="2693988"/>
            <a:ext cx="4905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高</a:t>
            </a:r>
          </a:p>
        </p:txBody>
      </p:sp>
      <p:grpSp>
        <p:nvGrpSpPr>
          <p:cNvPr id="2" name="Group 3"/>
          <p:cNvGrpSpPr/>
          <p:nvPr/>
        </p:nvGrpSpPr>
        <p:grpSpPr bwMode="auto">
          <a:xfrm>
            <a:off x="8001000" y="3346450"/>
            <a:ext cx="490538" cy="2566988"/>
            <a:chOff x="5040" y="2108"/>
            <a:chExt cx="309" cy="1617"/>
          </a:xfrm>
        </p:grpSpPr>
        <p:sp>
          <p:nvSpPr>
            <p:cNvPr id="109630" name="Text Box 4"/>
            <p:cNvSpPr txBox="1">
              <a:spLocks noChangeArrowheads="1"/>
            </p:cNvSpPr>
            <p:nvPr/>
          </p:nvSpPr>
          <p:spPr bwMode="auto">
            <a:xfrm>
              <a:off x="5040" y="3437"/>
              <a:ext cx="30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低</a:t>
              </a:r>
            </a:p>
          </p:txBody>
        </p:sp>
        <p:sp>
          <p:nvSpPr>
            <p:cNvPr id="109631" name="Line 5"/>
            <p:cNvSpPr>
              <a:spLocks noChangeShapeType="1"/>
            </p:cNvSpPr>
            <p:nvPr/>
          </p:nvSpPr>
          <p:spPr bwMode="auto">
            <a:xfrm>
              <a:off x="5220" y="2108"/>
              <a:ext cx="0" cy="126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09572" name="Text Box 6"/>
          <p:cNvSpPr txBox="1">
            <a:spLocks noChangeArrowheads="1"/>
          </p:cNvSpPr>
          <p:nvPr/>
        </p:nvSpPr>
        <p:spPr bwMode="auto">
          <a:xfrm>
            <a:off x="-790575" y="5253038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197639" name="Text Box 7"/>
          <p:cNvSpPr txBox="1">
            <a:spLocks noChangeArrowheads="1"/>
          </p:cNvSpPr>
          <p:nvPr/>
        </p:nvSpPr>
        <p:spPr bwMode="auto">
          <a:xfrm>
            <a:off x="6945313" y="2693988"/>
            <a:ext cx="4905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小</a:t>
            </a:r>
          </a:p>
        </p:txBody>
      </p:sp>
      <p:grpSp>
        <p:nvGrpSpPr>
          <p:cNvPr id="3" name="Group 8"/>
          <p:cNvGrpSpPr/>
          <p:nvPr/>
        </p:nvGrpSpPr>
        <p:grpSpPr bwMode="auto">
          <a:xfrm>
            <a:off x="6945313" y="3346450"/>
            <a:ext cx="490537" cy="2566988"/>
            <a:chOff x="4375" y="2108"/>
            <a:chExt cx="309" cy="1617"/>
          </a:xfrm>
        </p:grpSpPr>
        <p:sp>
          <p:nvSpPr>
            <p:cNvPr id="109628" name="Text Box 9"/>
            <p:cNvSpPr txBox="1">
              <a:spLocks noChangeArrowheads="1"/>
            </p:cNvSpPr>
            <p:nvPr/>
          </p:nvSpPr>
          <p:spPr bwMode="auto">
            <a:xfrm>
              <a:off x="4375" y="3437"/>
              <a:ext cx="30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大</a:t>
              </a:r>
            </a:p>
          </p:txBody>
        </p:sp>
        <p:sp>
          <p:nvSpPr>
            <p:cNvPr id="109629" name="Line 10"/>
            <p:cNvSpPr>
              <a:spLocks noChangeShapeType="1"/>
            </p:cNvSpPr>
            <p:nvPr/>
          </p:nvSpPr>
          <p:spPr bwMode="auto">
            <a:xfrm>
              <a:off x="4548" y="2108"/>
              <a:ext cx="0" cy="126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97643" name="Text Box 11"/>
          <p:cNvSpPr txBox="1">
            <a:spLocks noChangeArrowheads="1"/>
          </p:cNvSpPr>
          <p:nvPr/>
        </p:nvSpPr>
        <p:spPr bwMode="auto">
          <a:xfrm>
            <a:off x="5889625" y="2693988"/>
            <a:ext cx="4905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快</a:t>
            </a:r>
          </a:p>
        </p:txBody>
      </p:sp>
      <p:grpSp>
        <p:nvGrpSpPr>
          <p:cNvPr id="4" name="Group 12"/>
          <p:cNvGrpSpPr/>
          <p:nvPr/>
        </p:nvGrpSpPr>
        <p:grpSpPr bwMode="auto">
          <a:xfrm>
            <a:off x="5889625" y="3346450"/>
            <a:ext cx="490538" cy="2566988"/>
            <a:chOff x="3710" y="2108"/>
            <a:chExt cx="309" cy="1617"/>
          </a:xfrm>
        </p:grpSpPr>
        <p:sp>
          <p:nvSpPr>
            <p:cNvPr id="109626" name="Text Box 13"/>
            <p:cNvSpPr txBox="1">
              <a:spLocks noChangeArrowheads="1"/>
            </p:cNvSpPr>
            <p:nvPr/>
          </p:nvSpPr>
          <p:spPr bwMode="auto">
            <a:xfrm>
              <a:off x="3710" y="3437"/>
              <a:ext cx="30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慢</a:t>
              </a:r>
            </a:p>
          </p:txBody>
        </p:sp>
        <p:sp>
          <p:nvSpPr>
            <p:cNvPr id="109627" name="Line 14"/>
            <p:cNvSpPr>
              <a:spLocks noChangeShapeType="1"/>
            </p:cNvSpPr>
            <p:nvPr/>
          </p:nvSpPr>
          <p:spPr bwMode="auto">
            <a:xfrm>
              <a:off x="3852" y="2108"/>
              <a:ext cx="0" cy="126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5" name="Group 15"/>
          <p:cNvGrpSpPr/>
          <p:nvPr/>
        </p:nvGrpSpPr>
        <p:grpSpPr bwMode="auto">
          <a:xfrm>
            <a:off x="4235450" y="4543425"/>
            <a:ext cx="1284288" cy="1287463"/>
            <a:chOff x="2668" y="2862"/>
            <a:chExt cx="809" cy="811"/>
          </a:xfrm>
        </p:grpSpPr>
        <p:sp>
          <p:nvSpPr>
            <p:cNvPr id="109622" name="Text Box 16"/>
            <p:cNvSpPr txBox="1">
              <a:spLocks noChangeArrowheads="1"/>
            </p:cNvSpPr>
            <p:nvPr/>
          </p:nvSpPr>
          <p:spPr bwMode="auto">
            <a:xfrm>
              <a:off x="3026" y="3063"/>
              <a:ext cx="346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辅存</a:t>
              </a:r>
            </a:p>
          </p:txBody>
        </p:sp>
        <p:sp>
          <p:nvSpPr>
            <p:cNvPr id="109623" name="Line 17"/>
            <p:cNvSpPr>
              <a:spLocks noChangeShapeType="1"/>
            </p:cNvSpPr>
            <p:nvPr/>
          </p:nvSpPr>
          <p:spPr bwMode="auto">
            <a:xfrm rot="10800000">
              <a:off x="3180" y="2862"/>
              <a:ext cx="0" cy="20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24" name="Line 18"/>
            <p:cNvSpPr>
              <a:spLocks noChangeShapeType="1"/>
            </p:cNvSpPr>
            <p:nvPr/>
          </p:nvSpPr>
          <p:spPr bwMode="auto">
            <a:xfrm>
              <a:off x="3180" y="3483"/>
              <a:ext cx="0" cy="179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25" name="Freeform 19"/>
            <p:cNvSpPr/>
            <p:nvPr/>
          </p:nvSpPr>
          <p:spPr bwMode="auto">
            <a:xfrm>
              <a:off x="2668" y="3672"/>
              <a:ext cx="809" cy="1"/>
            </a:xfrm>
            <a:custGeom>
              <a:avLst/>
              <a:gdLst>
                <a:gd name="T0" fmla="*/ 0 w 809"/>
                <a:gd name="T1" fmla="*/ 0 h 1"/>
                <a:gd name="T2" fmla="*/ 809 w 809"/>
                <a:gd name="T3" fmla="*/ 0 h 1"/>
                <a:gd name="T4" fmla="*/ 0 60000 65536"/>
                <a:gd name="T5" fmla="*/ 0 60000 65536"/>
                <a:gd name="T6" fmla="*/ 0 w 809"/>
                <a:gd name="T7" fmla="*/ 0 h 1"/>
                <a:gd name="T8" fmla="*/ 809 w 80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09" h="1">
                  <a:moveTo>
                    <a:pt x="0" y="0"/>
                  </a:moveTo>
                  <a:lnTo>
                    <a:pt x="809" y="0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6" name="Group 20"/>
          <p:cNvGrpSpPr/>
          <p:nvPr/>
        </p:nvGrpSpPr>
        <p:grpSpPr bwMode="auto">
          <a:xfrm>
            <a:off x="490538" y="2519363"/>
            <a:ext cx="3810000" cy="3330575"/>
            <a:chOff x="309" y="1587"/>
            <a:chExt cx="2400" cy="2098"/>
          </a:xfrm>
        </p:grpSpPr>
        <p:sp>
          <p:nvSpPr>
            <p:cNvPr id="109606" name="Freeform 21"/>
            <p:cNvSpPr/>
            <p:nvPr/>
          </p:nvSpPr>
          <p:spPr bwMode="auto">
            <a:xfrm>
              <a:off x="618" y="3141"/>
              <a:ext cx="1785" cy="1"/>
            </a:xfrm>
            <a:custGeom>
              <a:avLst/>
              <a:gdLst>
                <a:gd name="T0" fmla="*/ 0 w 1785"/>
                <a:gd name="T1" fmla="*/ 0 h 1"/>
                <a:gd name="T2" fmla="*/ 1785 w 1785"/>
                <a:gd name="T3" fmla="*/ 0 h 1"/>
                <a:gd name="T4" fmla="*/ 0 60000 65536"/>
                <a:gd name="T5" fmla="*/ 0 60000 65536"/>
                <a:gd name="T6" fmla="*/ 0 w 1785"/>
                <a:gd name="T7" fmla="*/ 0 h 1"/>
                <a:gd name="T8" fmla="*/ 1785 w 178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785" h="1">
                  <a:moveTo>
                    <a:pt x="0" y="0"/>
                  </a:moveTo>
                  <a:lnTo>
                    <a:pt x="1785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07" name="Freeform 22"/>
            <p:cNvSpPr/>
            <p:nvPr/>
          </p:nvSpPr>
          <p:spPr bwMode="auto">
            <a:xfrm>
              <a:off x="777" y="2871"/>
              <a:ext cx="1464" cy="1"/>
            </a:xfrm>
            <a:custGeom>
              <a:avLst/>
              <a:gdLst>
                <a:gd name="T0" fmla="*/ 0 w 1464"/>
                <a:gd name="T1" fmla="*/ 0 h 1"/>
                <a:gd name="T2" fmla="*/ 1464 w 1464"/>
                <a:gd name="T3" fmla="*/ 0 h 1"/>
                <a:gd name="T4" fmla="*/ 0 60000 65536"/>
                <a:gd name="T5" fmla="*/ 0 60000 65536"/>
                <a:gd name="T6" fmla="*/ 0 w 1464"/>
                <a:gd name="T7" fmla="*/ 0 h 1"/>
                <a:gd name="T8" fmla="*/ 1464 w 1464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464" h="1">
                  <a:moveTo>
                    <a:pt x="0" y="0"/>
                  </a:moveTo>
                  <a:lnTo>
                    <a:pt x="1464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08" name="Freeform 23"/>
            <p:cNvSpPr/>
            <p:nvPr/>
          </p:nvSpPr>
          <p:spPr bwMode="auto">
            <a:xfrm>
              <a:off x="1065" y="2352"/>
              <a:ext cx="876" cy="3"/>
            </a:xfrm>
            <a:custGeom>
              <a:avLst/>
              <a:gdLst>
                <a:gd name="T0" fmla="*/ 0 w 876"/>
                <a:gd name="T1" fmla="*/ 0 h 3"/>
                <a:gd name="T2" fmla="*/ 876 w 876"/>
                <a:gd name="T3" fmla="*/ 3 h 3"/>
                <a:gd name="T4" fmla="*/ 0 60000 65536"/>
                <a:gd name="T5" fmla="*/ 0 60000 65536"/>
                <a:gd name="T6" fmla="*/ 0 w 876"/>
                <a:gd name="T7" fmla="*/ 0 h 3"/>
                <a:gd name="T8" fmla="*/ 876 w 876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76" h="3">
                  <a:moveTo>
                    <a:pt x="0" y="0"/>
                  </a:moveTo>
                  <a:lnTo>
                    <a:pt x="876" y="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09" name="Text Box 24"/>
            <p:cNvSpPr txBox="1">
              <a:spLocks noChangeArrowheads="1"/>
            </p:cNvSpPr>
            <p:nvPr/>
          </p:nvSpPr>
          <p:spPr bwMode="auto">
            <a:xfrm>
              <a:off x="1148" y="2081"/>
              <a:ext cx="69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寄存器</a:t>
              </a:r>
            </a:p>
          </p:txBody>
        </p:sp>
        <p:sp>
          <p:nvSpPr>
            <p:cNvPr id="109610" name="Text Box 25"/>
            <p:cNvSpPr txBox="1">
              <a:spLocks noChangeArrowheads="1"/>
            </p:cNvSpPr>
            <p:nvPr/>
          </p:nvSpPr>
          <p:spPr bwMode="auto">
            <a:xfrm>
              <a:off x="1244" y="2333"/>
              <a:ext cx="50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缓存</a:t>
              </a:r>
            </a:p>
          </p:txBody>
        </p:sp>
        <p:sp>
          <p:nvSpPr>
            <p:cNvPr id="109611" name="Text Box 26"/>
            <p:cNvSpPr txBox="1">
              <a:spLocks noChangeArrowheads="1"/>
            </p:cNvSpPr>
            <p:nvPr/>
          </p:nvSpPr>
          <p:spPr bwMode="auto">
            <a:xfrm>
              <a:off x="1244" y="2593"/>
              <a:ext cx="50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主存</a:t>
              </a:r>
            </a:p>
          </p:txBody>
        </p:sp>
        <p:sp>
          <p:nvSpPr>
            <p:cNvPr id="109612" name="Text Box 27"/>
            <p:cNvSpPr txBox="1">
              <a:spLocks noChangeArrowheads="1"/>
            </p:cNvSpPr>
            <p:nvPr/>
          </p:nvSpPr>
          <p:spPr bwMode="auto">
            <a:xfrm>
              <a:off x="1244" y="2861"/>
              <a:ext cx="50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磁盘</a:t>
              </a:r>
            </a:p>
          </p:txBody>
        </p:sp>
        <p:sp>
          <p:nvSpPr>
            <p:cNvPr id="109613" name="Text Box 28"/>
            <p:cNvSpPr txBox="1">
              <a:spLocks noChangeArrowheads="1"/>
            </p:cNvSpPr>
            <p:nvPr/>
          </p:nvSpPr>
          <p:spPr bwMode="auto">
            <a:xfrm>
              <a:off x="1244" y="3141"/>
              <a:ext cx="50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光盘</a:t>
              </a:r>
            </a:p>
          </p:txBody>
        </p:sp>
        <p:sp>
          <p:nvSpPr>
            <p:cNvPr id="109614" name="Text Box 29"/>
            <p:cNvSpPr txBox="1">
              <a:spLocks noChangeArrowheads="1"/>
            </p:cNvSpPr>
            <p:nvPr/>
          </p:nvSpPr>
          <p:spPr bwMode="auto">
            <a:xfrm>
              <a:off x="1244" y="3397"/>
              <a:ext cx="50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磁带</a:t>
              </a:r>
            </a:p>
          </p:txBody>
        </p:sp>
        <p:sp>
          <p:nvSpPr>
            <p:cNvPr id="109615" name="Freeform 30"/>
            <p:cNvSpPr/>
            <p:nvPr/>
          </p:nvSpPr>
          <p:spPr bwMode="auto">
            <a:xfrm>
              <a:off x="309" y="3672"/>
              <a:ext cx="2397" cy="1"/>
            </a:xfrm>
            <a:custGeom>
              <a:avLst/>
              <a:gdLst>
                <a:gd name="T0" fmla="*/ 0 w 2397"/>
                <a:gd name="T1" fmla="*/ 0 h 1"/>
                <a:gd name="T2" fmla="*/ 2397 w 2397"/>
                <a:gd name="T3" fmla="*/ 0 h 1"/>
                <a:gd name="T4" fmla="*/ 0 60000 65536"/>
                <a:gd name="T5" fmla="*/ 0 60000 65536"/>
                <a:gd name="T6" fmla="*/ 0 w 2397"/>
                <a:gd name="T7" fmla="*/ 0 h 1"/>
                <a:gd name="T8" fmla="*/ 2397 w 239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397" h="1">
                  <a:moveTo>
                    <a:pt x="0" y="0"/>
                  </a:moveTo>
                  <a:lnTo>
                    <a:pt x="2397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16" name="Freeform 31"/>
            <p:cNvSpPr/>
            <p:nvPr/>
          </p:nvSpPr>
          <p:spPr bwMode="auto">
            <a:xfrm>
              <a:off x="1512" y="1599"/>
              <a:ext cx="1197" cy="2073"/>
            </a:xfrm>
            <a:custGeom>
              <a:avLst/>
              <a:gdLst>
                <a:gd name="T0" fmla="*/ 0 w 1197"/>
                <a:gd name="T1" fmla="*/ 0 h 2073"/>
                <a:gd name="T2" fmla="*/ 1197 w 1197"/>
                <a:gd name="T3" fmla="*/ 2073 h 2073"/>
                <a:gd name="T4" fmla="*/ 0 60000 65536"/>
                <a:gd name="T5" fmla="*/ 0 60000 65536"/>
                <a:gd name="T6" fmla="*/ 0 w 1197"/>
                <a:gd name="T7" fmla="*/ 0 h 2073"/>
                <a:gd name="T8" fmla="*/ 1197 w 1197"/>
                <a:gd name="T9" fmla="*/ 2073 h 207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97" h="2073">
                  <a:moveTo>
                    <a:pt x="0" y="0"/>
                  </a:moveTo>
                  <a:lnTo>
                    <a:pt x="1197" y="207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17" name="Freeform 32"/>
            <p:cNvSpPr/>
            <p:nvPr/>
          </p:nvSpPr>
          <p:spPr bwMode="auto">
            <a:xfrm>
              <a:off x="456" y="3417"/>
              <a:ext cx="2103" cy="3"/>
            </a:xfrm>
            <a:custGeom>
              <a:avLst/>
              <a:gdLst>
                <a:gd name="T0" fmla="*/ 0 w 2103"/>
                <a:gd name="T1" fmla="*/ 0 h 3"/>
                <a:gd name="T2" fmla="*/ 2103 w 2103"/>
                <a:gd name="T3" fmla="*/ 3 h 3"/>
                <a:gd name="T4" fmla="*/ 0 60000 65536"/>
                <a:gd name="T5" fmla="*/ 0 60000 65536"/>
                <a:gd name="T6" fmla="*/ 0 w 2103"/>
                <a:gd name="T7" fmla="*/ 0 h 3"/>
                <a:gd name="T8" fmla="*/ 2103 w 2103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03" h="3">
                  <a:moveTo>
                    <a:pt x="0" y="0"/>
                  </a:moveTo>
                  <a:lnTo>
                    <a:pt x="2103" y="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18" name="Freeform 33"/>
            <p:cNvSpPr/>
            <p:nvPr/>
          </p:nvSpPr>
          <p:spPr bwMode="auto">
            <a:xfrm>
              <a:off x="912" y="2625"/>
              <a:ext cx="1191" cy="1"/>
            </a:xfrm>
            <a:custGeom>
              <a:avLst/>
              <a:gdLst>
                <a:gd name="T0" fmla="*/ 0 w 1191"/>
                <a:gd name="T1" fmla="*/ 0 h 1"/>
                <a:gd name="T2" fmla="*/ 1191 w 1191"/>
                <a:gd name="T3" fmla="*/ 0 h 1"/>
                <a:gd name="T4" fmla="*/ 0 60000 65536"/>
                <a:gd name="T5" fmla="*/ 0 60000 65536"/>
                <a:gd name="T6" fmla="*/ 0 w 1191"/>
                <a:gd name="T7" fmla="*/ 0 h 1"/>
                <a:gd name="T8" fmla="*/ 1191 w 1191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91" h="1">
                  <a:moveTo>
                    <a:pt x="0" y="0"/>
                  </a:moveTo>
                  <a:lnTo>
                    <a:pt x="1191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19" name="Text Box 34"/>
            <p:cNvSpPr txBox="1">
              <a:spLocks noChangeArrowheads="1"/>
            </p:cNvSpPr>
            <p:nvPr/>
          </p:nvSpPr>
          <p:spPr bwMode="auto">
            <a:xfrm>
              <a:off x="1244" y="3141"/>
              <a:ext cx="50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光盘</a:t>
              </a:r>
            </a:p>
          </p:txBody>
        </p:sp>
        <p:sp>
          <p:nvSpPr>
            <p:cNvPr id="109620" name="Text Box 35"/>
            <p:cNvSpPr txBox="1">
              <a:spLocks noChangeArrowheads="1"/>
            </p:cNvSpPr>
            <p:nvPr/>
          </p:nvSpPr>
          <p:spPr bwMode="auto">
            <a:xfrm>
              <a:off x="1244" y="3397"/>
              <a:ext cx="50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磁带</a:t>
              </a:r>
            </a:p>
          </p:txBody>
        </p:sp>
        <p:sp>
          <p:nvSpPr>
            <p:cNvPr id="109621" name="Freeform 36"/>
            <p:cNvSpPr/>
            <p:nvPr/>
          </p:nvSpPr>
          <p:spPr bwMode="auto">
            <a:xfrm>
              <a:off x="309" y="1587"/>
              <a:ext cx="1203" cy="2085"/>
            </a:xfrm>
            <a:custGeom>
              <a:avLst/>
              <a:gdLst>
                <a:gd name="T0" fmla="*/ 1203 w 1203"/>
                <a:gd name="T1" fmla="*/ 0 h 2085"/>
                <a:gd name="T2" fmla="*/ 0 w 1203"/>
                <a:gd name="T3" fmla="*/ 2085 h 2085"/>
                <a:gd name="T4" fmla="*/ 0 60000 65536"/>
                <a:gd name="T5" fmla="*/ 0 60000 65536"/>
                <a:gd name="T6" fmla="*/ 0 w 1203"/>
                <a:gd name="T7" fmla="*/ 0 h 2085"/>
                <a:gd name="T8" fmla="*/ 1203 w 1203"/>
                <a:gd name="T9" fmla="*/ 2085 h 208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203" h="2085">
                  <a:moveTo>
                    <a:pt x="1203" y="0"/>
                  </a:moveTo>
                  <a:lnTo>
                    <a:pt x="0" y="208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7" name="Group 37"/>
          <p:cNvGrpSpPr/>
          <p:nvPr/>
        </p:nvGrpSpPr>
        <p:grpSpPr bwMode="auto">
          <a:xfrm>
            <a:off x="5654675" y="1981200"/>
            <a:ext cx="3392488" cy="541338"/>
            <a:chOff x="3562" y="1248"/>
            <a:chExt cx="2137" cy="341"/>
          </a:xfrm>
        </p:grpSpPr>
        <p:sp>
          <p:nvSpPr>
            <p:cNvPr id="109602" name="Text Box 38"/>
            <p:cNvSpPr txBox="1">
              <a:spLocks noChangeArrowheads="1"/>
            </p:cNvSpPr>
            <p:nvPr/>
          </p:nvSpPr>
          <p:spPr bwMode="auto">
            <a:xfrm>
              <a:off x="3562" y="1261"/>
              <a:ext cx="56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速度</a:t>
              </a:r>
            </a:p>
          </p:txBody>
        </p:sp>
        <p:sp>
          <p:nvSpPr>
            <p:cNvPr id="109603" name="Text Box 39"/>
            <p:cNvSpPr txBox="1">
              <a:spLocks noChangeArrowheads="1"/>
            </p:cNvSpPr>
            <p:nvPr/>
          </p:nvSpPr>
          <p:spPr bwMode="auto">
            <a:xfrm>
              <a:off x="4206" y="1261"/>
              <a:ext cx="56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容量</a:t>
              </a:r>
            </a:p>
          </p:txBody>
        </p:sp>
        <p:sp>
          <p:nvSpPr>
            <p:cNvPr id="109604" name="Text Box 40"/>
            <p:cNvSpPr txBox="1">
              <a:spLocks noChangeArrowheads="1"/>
            </p:cNvSpPr>
            <p:nvPr/>
          </p:nvSpPr>
          <p:spPr bwMode="auto">
            <a:xfrm>
              <a:off x="4796" y="1262"/>
              <a:ext cx="903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价格  位</a:t>
              </a:r>
            </a:p>
          </p:txBody>
        </p:sp>
        <p:sp>
          <p:nvSpPr>
            <p:cNvPr id="109605" name="Text Box 41"/>
            <p:cNvSpPr txBox="1">
              <a:spLocks noChangeArrowheads="1"/>
            </p:cNvSpPr>
            <p:nvPr/>
          </p:nvSpPr>
          <p:spPr bwMode="auto">
            <a:xfrm>
              <a:off x="5199" y="1248"/>
              <a:ext cx="34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／</a:t>
              </a:r>
            </a:p>
          </p:txBody>
        </p:sp>
      </p:grpSp>
      <p:sp>
        <p:nvSpPr>
          <p:cNvPr id="197674" name="Text Box 42"/>
          <p:cNvSpPr txBox="1">
            <a:spLocks noChangeArrowheads="1"/>
          </p:cNvSpPr>
          <p:nvPr/>
        </p:nvSpPr>
        <p:spPr bwMode="auto">
          <a:xfrm>
            <a:off x="919163" y="1274763"/>
            <a:ext cx="5588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buClr>
                <a:schemeClr val="accent2"/>
              </a:buClr>
              <a:buSzPct val="80000"/>
              <a:buFont typeface="Wingdings" panose="05000000000000000000" pitchFamily="2" charset="2"/>
              <a:buNone/>
            </a:pPr>
            <a:r>
              <a:rPr lang="zh-CN" altLang="en-US" sz="3200">
                <a:latin typeface="Times New Roman" panose="02020603050405020304" pitchFamily="18" charset="0"/>
              </a:rPr>
              <a:t>1.  存储器三个主要特性的关系</a:t>
            </a:r>
          </a:p>
        </p:txBody>
      </p:sp>
      <p:sp>
        <p:nvSpPr>
          <p:cNvPr id="109581" name="Text Box 43"/>
          <p:cNvSpPr txBox="1">
            <a:spLocks noChangeArrowheads="1"/>
          </p:cNvSpPr>
          <p:nvPr/>
        </p:nvSpPr>
        <p:spPr bwMode="auto">
          <a:xfrm>
            <a:off x="368300" y="427038"/>
            <a:ext cx="488632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 二、存储器的层次结构</a:t>
            </a:r>
          </a:p>
        </p:txBody>
      </p:sp>
      <p:grpSp>
        <p:nvGrpSpPr>
          <p:cNvPr id="8" name="Group 44"/>
          <p:cNvGrpSpPr/>
          <p:nvPr/>
        </p:nvGrpSpPr>
        <p:grpSpPr bwMode="auto">
          <a:xfrm>
            <a:off x="2413000" y="2527300"/>
            <a:ext cx="1468438" cy="1208088"/>
            <a:chOff x="1520" y="1592"/>
            <a:chExt cx="925" cy="761"/>
          </a:xfrm>
        </p:grpSpPr>
        <p:sp>
          <p:nvSpPr>
            <p:cNvPr id="109597" name="Freeform 45"/>
            <p:cNvSpPr/>
            <p:nvPr/>
          </p:nvSpPr>
          <p:spPr bwMode="auto">
            <a:xfrm>
              <a:off x="1944" y="2352"/>
              <a:ext cx="468" cy="1"/>
            </a:xfrm>
            <a:custGeom>
              <a:avLst/>
              <a:gdLst>
                <a:gd name="T0" fmla="*/ 0 w 468"/>
                <a:gd name="T1" fmla="*/ 0 h 1"/>
                <a:gd name="T2" fmla="*/ 468 w 468"/>
                <a:gd name="T3" fmla="*/ 1 h 1"/>
                <a:gd name="T4" fmla="*/ 0 60000 65536"/>
                <a:gd name="T5" fmla="*/ 0 60000 65536"/>
                <a:gd name="T6" fmla="*/ 0 w 468"/>
                <a:gd name="T7" fmla="*/ 0 h 1"/>
                <a:gd name="T8" fmla="*/ 468 w 46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68" h="1">
                  <a:moveTo>
                    <a:pt x="0" y="0"/>
                  </a:moveTo>
                  <a:lnTo>
                    <a:pt x="468" y="1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598" name="Freeform 46"/>
            <p:cNvSpPr/>
            <p:nvPr/>
          </p:nvSpPr>
          <p:spPr bwMode="auto">
            <a:xfrm>
              <a:off x="2172" y="1592"/>
              <a:ext cx="1" cy="217"/>
            </a:xfrm>
            <a:custGeom>
              <a:avLst/>
              <a:gdLst>
                <a:gd name="T0" fmla="*/ 0 w 1"/>
                <a:gd name="T1" fmla="*/ 217 h 217"/>
                <a:gd name="T2" fmla="*/ 0 w 1"/>
                <a:gd name="T3" fmla="*/ 0 h 217"/>
                <a:gd name="T4" fmla="*/ 0 60000 65536"/>
                <a:gd name="T5" fmla="*/ 0 60000 65536"/>
                <a:gd name="T6" fmla="*/ 0 w 1"/>
                <a:gd name="T7" fmla="*/ 0 h 217"/>
                <a:gd name="T8" fmla="*/ 1 w 1"/>
                <a:gd name="T9" fmla="*/ 217 h 21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17">
                  <a:moveTo>
                    <a:pt x="0" y="217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599" name="Freeform 47"/>
            <p:cNvSpPr/>
            <p:nvPr/>
          </p:nvSpPr>
          <p:spPr bwMode="auto">
            <a:xfrm>
              <a:off x="2184" y="2142"/>
              <a:ext cx="1" cy="201"/>
            </a:xfrm>
            <a:custGeom>
              <a:avLst/>
              <a:gdLst>
                <a:gd name="T0" fmla="*/ 0 w 1"/>
                <a:gd name="T1" fmla="*/ 0 h 201"/>
                <a:gd name="T2" fmla="*/ 1 w 1"/>
                <a:gd name="T3" fmla="*/ 201 h 201"/>
                <a:gd name="T4" fmla="*/ 0 60000 65536"/>
                <a:gd name="T5" fmla="*/ 0 60000 65536"/>
                <a:gd name="T6" fmla="*/ 0 w 1"/>
                <a:gd name="T7" fmla="*/ 0 h 201"/>
                <a:gd name="T8" fmla="*/ 1 w 1"/>
                <a:gd name="T9" fmla="*/ 201 h 20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01">
                  <a:moveTo>
                    <a:pt x="0" y="0"/>
                  </a:moveTo>
                  <a:lnTo>
                    <a:pt x="1" y="201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600" name="Text Box 48"/>
            <p:cNvSpPr txBox="1">
              <a:spLocks noChangeArrowheads="1"/>
            </p:cNvSpPr>
            <p:nvPr/>
          </p:nvSpPr>
          <p:spPr bwMode="auto">
            <a:xfrm>
              <a:off x="1934" y="1826"/>
              <a:ext cx="51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CPU</a:t>
              </a:r>
            </a:p>
          </p:txBody>
        </p:sp>
        <p:sp>
          <p:nvSpPr>
            <p:cNvPr id="109601" name="Line 49"/>
            <p:cNvSpPr>
              <a:spLocks noChangeShapeType="1"/>
            </p:cNvSpPr>
            <p:nvPr/>
          </p:nvSpPr>
          <p:spPr bwMode="auto">
            <a:xfrm>
              <a:off x="1520" y="1593"/>
              <a:ext cx="87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9" name="Group 50"/>
          <p:cNvGrpSpPr/>
          <p:nvPr/>
        </p:nvGrpSpPr>
        <p:grpSpPr bwMode="auto">
          <a:xfrm>
            <a:off x="3284538" y="2509838"/>
            <a:ext cx="1416050" cy="1662112"/>
            <a:chOff x="2069" y="1581"/>
            <a:chExt cx="892" cy="1047"/>
          </a:xfrm>
        </p:grpSpPr>
        <p:sp>
          <p:nvSpPr>
            <p:cNvPr id="109592" name="Freeform 51"/>
            <p:cNvSpPr/>
            <p:nvPr/>
          </p:nvSpPr>
          <p:spPr bwMode="auto">
            <a:xfrm>
              <a:off x="2069" y="2627"/>
              <a:ext cx="882" cy="1"/>
            </a:xfrm>
            <a:custGeom>
              <a:avLst/>
              <a:gdLst>
                <a:gd name="T0" fmla="*/ 0 w 882"/>
                <a:gd name="T1" fmla="*/ 1 h 1"/>
                <a:gd name="T2" fmla="*/ 882 w 882"/>
                <a:gd name="T3" fmla="*/ 0 h 1"/>
                <a:gd name="T4" fmla="*/ 0 60000 65536"/>
                <a:gd name="T5" fmla="*/ 0 60000 65536"/>
                <a:gd name="T6" fmla="*/ 0 w 882"/>
                <a:gd name="T7" fmla="*/ 0 h 1"/>
                <a:gd name="T8" fmla="*/ 882 w 88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82" h="1">
                  <a:moveTo>
                    <a:pt x="0" y="1"/>
                  </a:moveTo>
                  <a:lnTo>
                    <a:pt x="882" y="0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593" name="Line 52"/>
            <p:cNvSpPr>
              <a:spLocks noChangeShapeType="1"/>
            </p:cNvSpPr>
            <p:nvPr/>
          </p:nvSpPr>
          <p:spPr bwMode="auto">
            <a:xfrm rot="10800000">
              <a:off x="2664" y="1581"/>
              <a:ext cx="0" cy="30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594" name="Line 53"/>
            <p:cNvSpPr>
              <a:spLocks noChangeShapeType="1"/>
            </p:cNvSpPr>
            <p:nvPr/>
          </p:nvSpPr>
          <p:spPr bwMode="auto">
            <a:xfrm>
              <a:off x="2676" y="2321"/>
              <a:ext cx="0" cy="30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595" name="Text Box 54"/>
            <p:cNvSpPr txBox="1">
              <a:spLocks noChangeArrowheads="1"/>
            </p:cNvSpPr>
            <p:nvPr/>
          </p:nvSpPr>
          <p:spPr bwMode="auto">
            <a:xfrm>
              <a:off x="2450" y="1982"/>
              <a:ext cx="51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CPU</a:t>
              </a:r>
            </a:p>
          </p:txBody>
        </p:sp>
        <p:sp>
          <p:nvSpPr>
            <p:cNvPr id="109596" name="Line 55"/>
            <p:cNvSpPr>
              <a:spLocks noChangeShapeType="1"/>
            </p:cNvSpPr>
            <p:nvPr/>
          </p:nvSpPr>
          <p:spPr bwMode="auto">
            <a:xfrm>
              <a:off x="2390" y="1593"/>
              <a:ext cx="539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0" name="Group 56"/>
          <p:cNvGrpSpPr/>
          <p:nvPr/>
        </p:nvGrpSpPr>
        <p:grpSpPr bwMode="auto">
          <a:xfrm>
            <a:off x="3573463" y="2514600"/>
            <a:ext cx="1960562" cy="2044700"/>
            <a:chOff x="2251" y="1584"/>
            <a:chExt cx="1235" cy="1288"/>
          </a:xfrm>
        </p:grpSpPr>
        <p:sp>
          <p:nvSpPr>
            <p:cNvPr id="109587" name="Text Box 57"/>
            <p:cNvSpPr txBox="1">
              <a:spLocks noChangeArrowheads="1"/>
            </p:cNvSpPr>
            <p:nvPr/>
          </p:nvSpPr>
          <p:spPr bwMode="auto">
            <a:xfrm>
              <a:off x="3026" y="2011"/>
              <a:ext cx="346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主机</a:t>
              </a:r>
            </a:p>
          </p:txBody>
        </p:sp>
        <p:sp>
          <p:nvSpPr>
            <p:cNvPr id="109588" name="Line 58"/>
            <p:cNvSpPr>
              <a:spLocks noChangeShapeType="1"/>
            </p:cNvSpPr>
            <p:nvPr/>
          </p:nvSpPr>
          <p:spPr bwMode="auto">
            <a:xfrm>
              <a:off x="2251" y="2872"/>
              <a:ext cx="1235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589" name="Line 59"/>
            <p:cNvSpPr>
              <a:spLocks noChangeShapeType="1"/>
            </p:cNvSpPr>
            <p:nvPr/>
          </p:nvSpPr>
          <p:spPr bwMode="auto">
            <a:xfrm rot="10800000">
              <a:off x="3180" y="1584"/>
              <a:ext cx="0" cy="30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590" name="Line 60"/>
            <p:cNvSpPr>
              <a:spLocks noChangeShapeType="1"/>
            </p:cNvSpPr>
            <p:nvPr/>
          </p:nvSpPr>
          <p:spPr bwMode="auto">
            <a:xfrm>
              <a:off x="3180" y="2566"/>
              <a:ext cx="0" cy="30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09591" name="Line 61"/>
            <p:cNvSpPr>
              <a:spLocks noChangeShapeType="1"/>
            </p:cNvSpPr>
            <p:nvPr/>
          </p:nvSpPr>
          <p:spPr bwMode="auto">
            <a:xfrm>
              <a:off x="2917" y="1593"/>
              <a:ext cx="539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97694" name="Rectangle 62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4.1</a:t>
            </a:r>
          </a:p>
        </p:txBody>
      </p:sp>
      <p:sp>
        <p:nvSpPr>
          <p:cNvPr id="109586" name="AutoShape 63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97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197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197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5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1976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6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7634" grpId="0" autoUpdateAnimBg="0"/>
      <p:bldP spid="197639" grpId="0" autoUpdateAnimBg="0"/>
      <p:bldP spid="197643" grpId="0" autoUpdateAnimBg="0"/>
      <p:bldP spid="197674" grpId="0" autoUpdateAnimBg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2800350" y="2187575"/>
            <a:ext cx="1433513" cy="860425"/>
            <a:chOff x="1908" y="1378"/>
            <a:chExt cx="903" cy="603"/>
          </a:xfrm>
        </p:grpSpPr>
        <p:sp>
          <p:nvSpPr>
            <p:cNvPr id="110643" name="Text Box 3"/>
            <p:cNvSpPr txBox="1">
              <a:spLocks noChangeArrowheads="1"/>
            </p:cNvSpPr>
            <p:nvPr/>
          </p:nvSpPr>
          <p:spPr bwMode="auto">
            <a:xfrm>
              <a:off x="2055" y="1478"/>
              <a:ext cx="756" cy="4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缓存</a:t>
              </a:r>
            </a:p>
          </p:txBody>
        </p:sp>
        <p:sp>
          <p:nvSpPr>
            <p:cNvPr id="110644" name="Rectangle 4"/>
            <p:cNvSpPr>
              <a:spLocks noChangeArrowheads="1"/>
            </p:cNvSpPr>
            <p:nvPr/>
          </p:nvSpPr>
          <p:spPr bwMode="auto">
            <a:xfrm>
              <a:off x="1908" y="1378"/>
              <a:ext cx="893" cy="603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grpSp>
        <p:nvGrpSpPr>
          <p:cNvPr id="3" name="Group 5"/>
          <p:cNvGrpSpPr/>
          <p:nvPr/>
        </p:nvGrpSpPr>
        <p:grpSpPr bwMode="auto">
          <a:xfrm>
            <a:off x="565150" y="2187575"/>
            <a:ext cx="5888038" cy="860425"/>
            <a:chOff x="500" y="1378"/>
            <a:chExt cx="3709" cy="603"/>
          </a:xfrm>
        </p:grpSpPr>
        <p:grpSp>
          <p:nvGrpSpPr>
            <p:cNvPr id="110637" name="Group 6"/>
            <p:cNvGrpSpPr/>
            <p:nvPr/>
          </p:nvGrpSpPr>
          <p:grpSpPr bwMode="auto">
            <a:xfrm>
              <a:off x="500" y="1378"/>
              <a:ext cx="893" cy="602"/>
              <a:chOff x="500" y="1378"/>
              <a:chExt cx="893" cy="602"/>
            </a:xfrm>
          </p:grpSpPr>
          <p:sp>
            <p:nvSpPr>
              <p:cNvPr id="110641" name="Text Box 7"/>
              <p:cNvSpPr txBox="1">
                <a:spLocks noChangeArrowheads="1"/>
              </p:cNvSpPr>
              <p:nvPr/>
            </p:nvSpPr>
            <p:spPr bwMode="auto">
              <a:xfrm>
                <a:off x="622" y="1478"/>
                <a:ext cx="770" cy="40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3200">
                    <a:latin typeface="Times New Roman" panose="02020603050405020304" pitchFamily="18" charset="0"/>
                  </a:rPr>
                  <a:t>CPU</a:t>
                </a:r>
              </a:p>
            </p:txBody>
          </p:sp>
          <p:sp>
            <p:nvSpPr>
              <p:cNvPr id="110642" name="Rectangle 8"/>
              <p:cNvSpPr>
                <a:spLocks noChangeArrowheads="1"/>
              </p:cNvSpPr>
              <p:nvPr/>
            </p:nvSpPr>
            <p:spPr bwMode="auto">
              <a:xfrm>
                <a:off x="500" y="1378"/>
                <a:ext cx="893" cy="602"/>
              </a:xfrm>
              <a:prstGeom prst="rect">
                <a:avLst/>
              </a:prstGeom>
              <a:noFill/>
              <a:ln w="38100">
                <a:solidFill>
                  <a:schemeClr val="folHlink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</p:grpSp>
        <p:grpSp>
          <p:nvGrpSpPr>
            <p:cNvPr id="110638" name="Group 9"/>
            <p:cNvGrpSpPr/>
            <p:nvPr/>
          </p:nvGrpSpPr>
          <p:grpSpPr bwMode="auto">
            <a:xfrm>
              <a:off x="3316" y="1378"/>
              <a:ext cx="893" cy="603"/>
              <a:chOff x="3316" y="1378"/>
              <a:chExt cx="893" cy="603"/>
            </a:xfrm>
          </p:grpSpPr>
          <p:sp>
            <p:nvSpPr>
              <p:cNvPr id="110639" name="Text Box 10"/>
              <p:cNvSpPr txBox="1">
                <a:spLocks noChangeArrowheads="1"/>
              </p:cNvSpPr>
              <p:nvPr/>
            </p:nvSpPr>
            <p:spPr bwMode="auto">
              <a:xfrm>
                <a:off x="3453" y="1478"/>
                <a:ext cx="660" cy="40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主存</a:t>
                </a:r>
              </a:p>
            </p:txBody>
          </p:sp>
          <p:sp>
            <p:nvSpPr>
              <p:cNvPr id="110640" name="Rectangle 11"/>
              <p:cNvSpPr>
                <a:spLocks noChangeArrowheads="1"/>
              </p:cNvSpPr>
              <p:nvPr/>
            </p:nvSpPr>
            <p:spPr bwMode="auto">
              <a:xfrm>
                <a:off x="3316" y="1378"/>
                <a:ext cx="893" cy="603"/>
              </a:xfrm>
              <a:prstGeom prst="rect">
                <a:avLst/>
              </a:prstGeom>
              <a:noFill/>
              <a:ln w="38100">
                <a:solidFill>
                  <a:schemeClr val="folHlink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</p:grpSp>
      </p:grpSp>
      <p:grpSp>
        <p:nvGrpSpPr>
          <p:cNvPr id="6" name="Group 12"/>
          <p:cNvGrpSpPr/>
          <p:nvPr/>
        </p:nvGrpSpPr>
        <p:grpSpPr bwMode="auto">
          <a:xfrm>
            <a:off x="7270750" y="2187575"/>
            <a:ext cx="1417638" cy="860425"/>
            <a:chOff x="4724" y="1378"/>
            <a:chExt cx="893" cy="603"/>
          </a:xfrm>
        </p:grpSpPr>
        <p:sp>
          <p:nvSpPr>
            <p:cNvPr id="110635" name="Text Box 13"/>
            <p:cNvSpPr txBox="1">
              <a:spLocks noChangeArrowheads="1"/>
            </p:cNvSpPr>
            <p:nvPr/>
          </p:nvSpPr>
          <p:spPr bwMode="auto">
            <a:xfrm>
              <a:off x="4827" y="1478"/>
              <a:ext cx="756" cy="4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辅存</a:t>
              </a:r>
            </a:p>
          </p:txBody>
        </p:sp>
        <p:sp>
          <p:nvSpPr>
            <p:cNvPr id="110636" name="Rectangle 14"/>
            <p:cNvSpPr>
              <a:spLocks noChangeArrowheads="1"/>
            </p:cNvSpPr>
            <p:nvPr/>
          </p:nvSpPr>
          <p:spPr bwMode="auto">
            <a:xfrm>
              <a:off x="4724" y="1378"/>
              <a:ext cx="893" cy="603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sp>
        <p:nvSpPr>
          <p:cNvPr id="198671" name="Freeform 15"/>
          <p:cNvSpPr/>
          <p:nvPr/>
        </p:nvSpPr>
        <p:spPr bwMode="auto">
          <a:xfrm>
            <a:off x="1268413" y="3048000"/>
            <a:ext cx="4513262" cy="446088"/>
          </a:xfrm>
          <a:custGeom>
            <a:avLst/>
            <a:gdLst>
              <a:gd name="T0" fmla="*/ 0 w 2610"/>
              <a:gd name="T1" fmla="*/ 0 h 282"/>
              <a:gd name="T2" fmla="*/ 0 w 2610"/>
              <a:gd name="T3" fmla="*/ 2147483647 h 282"/>
              <a:gd name="T4" fmla="*/ 2147483647 w 2610"/>
              <a:gd name="T5" fmla="*/ 2147483647 h 282"/>
              <a:gd name="T6" fmla="*/ 2147483647 w 2610"/>
              <a:gd name="T7" fmla="*/ 0 h 282"/>
              <a:gd name="T8" fmla="*/ 0 60000 65536"/>
              <a:gd name="T9" fmla="*/ 0 60000 65536"/>
              <a:gd name="T10" fmla="*/ 0 60000 65536"/>
              <a:gd name="T11" fmla="*/ 0 60000 65536"/>
              <a:gd name="T12" fmla="*/ 0 w 2610"/>
              <a:gd name="T13" fmla="*/ 0 h 282"/>
              <a:gd name="T14" fmla="*/ 2610 w 2610"/>
              <a:gd name="T15" fmla="*/ 282 h 28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10" h="282">
                <a:moveTo>
                  <a:pt x="0" y="0"/>
                </a:moveTo>
                <a:lnTo>
                  <a:pt x="0" y="282"/>
                </a:lnTo>
                <a:lnTo>
                  <a:pt x="2610" y="282"/>
                </a:lnTo>
                <a:lnTo>
                  <a:pt x="2610" y="0"/>
                </a:lnTo>
              </a:path>
            </a:pathLst>
          </a:custGeom>
          <a:noFill/>
          <a:ln w="38100" cmpd="sng">
            <a:solidFill>
              <a:schemeClr val="folHlink"/>
            </a:solidFill>
            <a:rou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98672" name="Freeform 16"/>
          <p:cNvSpPr/>
          <p:nvPr/>
        </p:nvSpPr>
        <p:spPr bwMode="auto">
          <a:xfrm rot="10800000">
            <a:off x="1250950" y="1719263"/>
            <a:ext cx="4511675" cy="447675"/>
          </a:xfrm>
          <a:custGeom>
            <a:avLst/>
            <a:gdLst>
              <a:gd name="T0" fmla="*/ 0 w 2610"/>
              <a:gd name="T1" fmla="*/ 0 h 282"/>
              <a:gd name="T2" fmla="*/ 0 w 2610"/>
              <a:gd name="T3" fmla="*/ 2147483647 h 282"/>
              <a:gd name="T4" fmla="*/ 2147483647 w 2610"/>
              <a:gd name="T5" fmla="*/ 2147483647 h 282"/>
              <a:gd name="T6" fmla="*/ 2147483647 w 2610"/>
              <a:gd name="T7" fmla="*/ 0 h 282"/>
              <a:gd name="T8" fmla="*/ 0 60000 65536"/>
              <a:gd name="T9" fmla="*/ 0 60000 65536"/>
              <a:gd name="T10" fmla="*/ 0 60000 65536"/>
              <a:gd name="T11" fmla="*/ 0 60000 65536"/>
              <a:gd name="T12" fmla="*/ 0 w 2610"/>
              <a:gd name="T13" fmla="*/ 0 h 282"/>
              <a:gd name="T14" fmla="*/ 2610 w 2610"/>
              <a:gd name="T15" fmla="*/ 282 h 28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10" h="282">
                <a:moveTo>
                  <a:pt x="0" y="0"/>
                </a:moveTo>
                <a:lnTo>
                  <a:pt x="0" y="282"/>
                </a:lnTo>
                <a:lnTo>
                  <a:pt x="2610" y="282"/>
                </a:lnTo>
                <a:lnTo>
                  <a:pt x="2610" y="0"/>
                </a:lnTo>
              </a:path>
            </a:pathLst>
          </a:custGeom>
          <a:noFill/>
          <a:ln w="38100" cmpd="sng">
            <a:solidFill>
              <a:schemeClr val="folHlink"/>
            </a:solidFill>
            <a:rou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98673" name="Line 17"/>
          <p:cNvSpPr>
            <a:spLocks noChangeShapeType="1"/>
          </p:cNvSpPr>
          <p:nvPr/>
        </p:nvSpPr>
        <p:spPr bwMode="auto">
          <a:xfrm>
            <a:off x="1989138" y="2490788"/>
            <a:ext cx="817562" cy="0"/>
          </a:xfrm>
          <a:prstGeom prst="line">
            <a:avLst/>
          </a:prstGeom>
          <a:noFill/>
          <a:ln w="38100">
            <a:solidFill>
              <a:schemeClr val="folHlink"/>
            </a:solidFill>
            <a:rou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98674" name="Line 18"/>
          <p:cNvSpPr>
            <a:spLocks noChangeShapeType="1"/>
          </p:cNvSpPr>
          <p:nvPr/>
        </p:nvSpPr>
        <p:spPr bwMode="auto">
          <a:xfrm>
            <a:off x="4217988" y="2509838"/>
            <a:ext cx="817562" cy="0"/>
          </a:xfrm>
          <a:prstGeom prst="line">
            <a:avLst/>
          </a:prstGeom>
          <a:noFill/>
          <a:ln w="38100">
            <a:solidFill>
              <a:schemeClr val="folHlink"/>
            </a:solidFill>
            <a:rou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98675" name="Line 19"/>
          <p:cNvSpPr>
            <a:spLocks noChangeShapeType="1"/>
          </p:cNvSpPr>
          <p:nvPr/>
        </p:nvSpPr>
        <p:spPr bwMode="auto">
          <a:xfrm>
            <a:off x="6465888" y="2509838"/>
            <a:ext cx="817562" cy="0"/>
          </a:xfrm>
          <a:prstGeom prst="line">
            <a:avLst/>
          </a:prstGeom>
          <a:noFill/>
          <a:ln w="38100">
            <a:solidFill>
              <a:schemeClr val="folHlink"/>
            </a:solidFill>
            <a:rou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98676" name="Line 20"/>
          <p:cNvSpPr>
            <a:spLocks noChangeShapeType="1"/>
          </p:cNvSpPr>
          <p:nvPr/>
        </p:nvSpPr>
        <p:spPr bwMode="auto">
          <a:xfrm rot="10800000">
            <a:off x="6446838" y="2795588"/>
            <a:ext cx="817562" cy="0"/>
          </a:xfrm>
          <a:prstGeom prst="line">
            <a:avLst/>
          </a:prstGeom>
          <a:noFill/>
          <a:ln w="38100">
            <a:solidFill>
              <a:schemeClr val="folHlink"/>
            </a:solidFill>
            <a:rou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98677" name="Line 21"/>
          <p:cNvSpPr>
            <a:spLocks noChangeShapeType="1"/>
          </p:cNvSpPr>
          <p:nvPr/>
        </p:nvSpPr>
        <p:spPr bwMode="auto">
          <a:xfrm rot="10800000">
            <a:off x="4217988" y="2795588"/>
            <a:ext cx="817562" cy="0"/>
          </a:xfrm>
          <a:prstGeom prst="line">
            <a:avLst/>
          </a:prstGeom>
          <a:noFill/>
          <a:ln w="38100">
            <a:solidFill>
              <a:schemeClr val="folHlink"/>
            </a:solidFill>
            <a:rou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98678" name="Line 22"/>
          <p:cNvSpPr>
            <a:spLocks noChangeShapeType="1"/>
          </p:cNvSpPr>
          <p:nvPr/>
        </p:nvSpPr>
        <p:spPr bwMode="auto">
          <a:xfrm rot="10800000">
            <a:off x="1970088" y="2795588"/>
            <a:ext cx="817562" cy="0"/>
          </a:xfrm>
          <a:prstGeom prst="line">
            <a:avLst/>
          </a:prstGeom>
          <a:noFill/>
          <a:ln w="38100">
            <a:solidFill>
              <a:schemeClr val="folHlink"/>
            </a:solidFill>
            <a:rou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10605" name="Group 23"/>
          <p:cNvGrpSpPr/>
          <p:nvPr/>
        </p:nvGrpSpPr>
        <p:grpSpPr bwMode="auto">
          <a:xfrm>
            <a:off x="152400" y="463550"/>
            <a:ext cx="7540625" cy="641350"/>
            <a:chOff x="170" y="292"/>
            <a:chExt cx="4750" cy="404"/>
          </a:xfrm>
        </p:grpSpPr>
        <p:sp>
          <p:nvSpPr>
            <p:cNvPr id="110632" name="Text Box 24"/>
            <p:cNvSpPr txBox="1">
              <a:spLocks noChangeArrowheads="1"/>
            </p:cNvSpPr>
            <p:nvPr/>
          </p:nvSpPr>
          <p:spPr bwMode="auto">
            <a:xfrm>
              <a:off x="170" y="292"/>
              <a:ext cx="4750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3600">
                  <a:latin typeface="Times New Roman" panose="02020603050405020304" pitchFamily="18" charset="0"/>
                </a:rPr>
                <a:t>2.  缓存   主存层次和主存    辅存层次</a:t>
              </a:r>
            </a:p>
          </p:txBody>
        </p:sp>
        <p:sp>
          <p:nvSpPr>
            <p:cNvPr id="110633" name="Line 25"/>
            <p:cNvSpPr>
              <a:spLocks noChangeShapeType="1"/>
            </p:cNvSpPr>
            <p:nvPr/>
          </p:nvSpPr>
          <p:spPr bwMode="auto">
            <a:xfrm>
              <a:off x="1188" y="503"/>
              <a:ext cx="20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0634" name="Line 26"/>
            <p:cNvSpPr>
              <a:spLocks noChangeShapeType="1"/>
            </p:cNvSpPr>
            <p:nvPr/>
          </p:nvSpPr>
          <p:spPr bwMode="auto">
            <a:xfrm>
              <a:off x="3438" y="503"/>
              <a:ext cx="20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8" name="Group 27"/>
          <p:cNvGrpSpPr/>
          <p:nvPr/>
        </p:nvGrpSpPr>
        <p:grpSpPr bwMode="auto">
          <a:xfrm>
            <a:off x="3735388" y="4129088"/>
            <a:ext cx="1974850" cy="519112"/>
            <a:chOff x="2353" y="2553"/>
            <a:chExt cx="1244" cy="327"/>
          </a:xfrm>
        </p:grpSpPr>
        <p:sp>
          <p:nvSpPr>
            <p:cNvPr id="110629" name="Text Box 28"/>
            <p:cNvSpPr txBox="1">
              <a:spLocks noChangeArrowheads="1"/>
            </p:cNvSpPr>
            <p:nvPr/>
          </p:nvSpPr>
          <p:spPr bwMode="auto">
            <a:xfrm>
              <a:off x="2353" y="2553"/>
              <a:ext cx="56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 dirty="0">
                  <a:latin typeface="Times New Roman" panose="02020603050405020304" pitchFamily="18" charset="0"/>
                </a:rPr>
                <a:t>缓存</a:t>
              </a:r>
            </a:p>
          </p:txBody>
        </p:sp>
        <p:sp>
          <p:nvSpPr>
            <p:cNvPr id="110630" name="Text Box 29"/>
            <p:cNvSpPr txBox="1">
              <a:spLocks noChangeArrowheads="1"/>
            </p:cNvSpPr>
            <p:nvPr/>
          </p:nvSpPr>
          <p:spPr bwMode="auto">
            <a:xfrm>
              <a:off x="3033" y="2553"/>
              <a:ext cx="56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主存</a:t>
              </a:r>
            </a:p>
          </p:txBody>
        </p:sp>
        <p:sp>
          <p:nvSpPr>
            <p:cNvPr id="110631" name="Line 30"/>
            <p:cNvSpPr>
              <a:spLocks noChangeShapeType="1"/>
            </p:cNvSpPr>
            <p:nvPr/>
          </p:nvSpPr>
          <p:spPr bwMode="auto">
            <a:xfrm>
              <a:off x="2905" y="2717"/>
              <a:ext cx="16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9" name="Group 31"/>
          <p:cNvGrpSpPr/>
          <p:nvPr/>
        </p:nvGrpSpPr>
        <p:grpSpPr bwMode="auto">
          <a:xfrm>
            <a:off x="5907088" y="4129088"/>
            <a:ext cx="2030412" cy="519112"/>
            <a:chOff x="3721" y="2553"/>
            <a:chExt cx="1279" cy="327"/>
          </a:xfrm>
        </p:grpSpPr>
        <p:sp>
          <p:nvSpPr>
            <p:cNvPr id="110626" name="Text Box 32"/>
            <p:cNvSpPr txBox="1">
              <a:spLocks noChangeArrowheads="1"/>
            </p:cNvSpPr>
            <p:nvPr/>
          </p:nvSpPr>
          <p:spPr bwMode="auto">
            <a:xfrm>
              <a:off x="4436" y="2553"/>
              <a:ext cx="56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辅存</a:t>
              </a:r>
            </a:p>
          </p:txBody>
        </p:sp>
        <p:sp>
          <p:nvSpPr>
            <p:cNvPr id="110627" name="Text Box 33"/>
            <p:cNvSpPr txBox="1">
              <a:spLocks noChangeArrowheads="1"/>
            </p:cNvSpPr>
            <p:nvPr/>
          </p:nvSpPr>
          <p:spPr bwMode="auto">
            <a:xfrm>
              <a:off x="3721" y="2553"/>
              <a:ext cx="56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主存</a:t>
              </a:r>
            </a:p>
          </p:txBody>
        </p:sp>
        <p:sp>
          <p:nvSpPr>
            <p:cNvPr id="110628" name="Line 34"/>
            <p:cNvSpPr>
              <a:spLocks noChangeShapeType="1"/>
            </p:cNvSpPr>
            <p:nvPr/>
          </p:nvSpPr>
          <p:spPr bwMode="auto">
            <a:xfrm>
              <a:off x="4275" y="2717"/>
              <a:ext cx="16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0" name="Group 35"/>
          <p:cNvGrpSpPr/>
          <p:nvPr/>
        </p:nvGrpSpPr>
        <p:grpSpPr bwMode="auto">
          <a:xfrm>
            <a:off x="6194425" y="4611688"/>
            <a:ext cx="815975" cy="844550"/>
            <a:chOff x="4021" y="2905"/>
            <a:chExt cx="514" cy="532"/>
          </a:xfrm>
        </p:grpSpPr>
        <p:sp>
          <p:nvSpPr>
            <p:cNvPr id="110624" name="Rectangle 36"/>
            <p:cNvSpPr>
              <a:spLocks noChangeArrowheads="1"/>
            </p:cNvSpPr>
            <p:nvPr/>
          </p:nvSpPr>
          <p:spPr bwMode="auto">
            <a:xfrm>
              <a:off x="4412" y="2905"/>
              <a:ext cx="122" cy="343"/>
            </a:xfrm>
            <a:prstGeom prst="rect">
              <a:avLst/>
            </a:prstGeom>
            <a:solidFill>
              <a:schemeClr val="folHlink"/>
            </a:solidFill>
            <a:ln w="9525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0625" name="AutoShape 37"/>
            <p:cNvSpPr>
              <a:spLocks noChangeArrowheads="1"/>
            </p:cNvSpPr>
            <p:nvPr/>
          </p:nvSpPr>
          <p:spPr bwMode="auto">
            <a:xfrm>
              <a:off x="4021" y="3190"/>
              <a:ext cx="514" cy="247"/>
            </a:xfrm>
            <a:prstGeom prst="leftArrow">
              <a:avLst>
                <a:gd name="adj1" fmla="val 50120"/>
                <a:gd name="adj2" fmla="val 41947"/>
              </a:avLst>
            </a:prstGeom>
            <a:solidFill>
              <a:schemeClr val="folHlink"/>
            </a:solidFill>
            <a:ln w="9525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sp>
        <p:nvSpPr>
          <p:cNvPr id="198694" name="Text Box 38"/>
          <p:cNvSpPr txBox="1">
            <a:spLocks noChangeArrowheads="1"/>
          </p:cNvSpPr>
          <p:nvPr/>
        </p:nvSpPr>
        <p:spPr bwMode="auto">
          <a:xfrm>
            <a:off x="4379913" y="5029200"/>
            <a:ext cx="17160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虚拟存储器</a:t>
            </a:r>
          </a:p>
        </p:txBody>
      </p:sp>
      <p:grpSp>
        <p:nvGrpSpPr>
          <p:cNvPr id="11" name="Group 39"/>
          <p:cNvGrpSpPr/>
          <p:nvPr/>
        </p:nvGrpSpPr>
        <p:grpSpPr bwMode="auto">
          <a:xfrm>
            <a:off x="533400" y="1808163"/>
            <a:ext cx="7232650" cy="396875"/>
            <a:chOff x="445" y="1139"/>
            <a:chExt cx="4556" cy="250"/>
          </a:xfrm>
        </p:grpSpPr>
        <p:sp>
          <p:nvSpPr>
            <p:cNvPr id="110620" name="Text Box 40"/>
            <p:cNvSpPr txBox="1">
              <a:spLocks noChangeArrowheads="1"/>
            </p:cNvSpPr>
            <p:nvPr/>
          </p:nvSpPr>
          <p:spPr bwMode="auto">
            <a:xfrm>
              <a:off x="445" y="1139"/>
              <a:ext cx="46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10 </a:t>
              </a:r>
              <a:r>
                <a:rPr lang="en-US" altLang="zh-CN" sz="2000">
                  <a:latin typeface="Times New Roman" panose="02020603050405020304" pitchFamily="18" charset="0"/>
                </a:rPr>
                <a:t>ns</a:t>
              </a:r>
            </a:p>
          </p:txBody>
        </p:sp>
        <p:sp>
          <p:nvSpPr>
            <p:cNvPr id="110621" name="Text Box 41"/>
            <p:cNvSpPr txBox="1">
              <a:spLocks noChangeArrowheads="1"/>
            </p:cNvSpPr>
            <p:nvPr/>
          </p:nvSpPr>
          <p:spPr bwMode="auto">
            <a:xfrm>
              <a:off x="1834" y="1139"/>
              <a:ext cx="46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20 </a:t>
              </a:r>
              <a:r>
                <a:rPr lang="en-US" altLang="zh-CN" sz="2000">
                  <a:latin typeface="Times New Roman" panose="02020603050405020304" pitchFamily="18" charset="0"/>
                </a:rPr>
                <a:t>ns</a:t>
              </a:r>
            </a:p>
          </p:txBody>
        </p:sp>
        <p:sp>
          <p:nvSpPr>
            <p:cNvPr id="110622" name="Text Box 42"/>
            <p:cNvSpPr txBox="1">
              <a:spLocks noChangeArrowheads="1"/>
            </p:cNvSpPr>
            <p:nvPr/>
          </p:nvSpPr>
          <p:spPr bwMode="auto">
            <a:xfrm>
              <a:off x="3203" y="1139"/>
              <a:ext cx="54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200 </a:t>
              </a:r>
              <a:r>
                <a:rPr lang="en-US" altLang="zh-CN" sz="2000">
                  <a:latin typeface="Times New Roman" panose="02020603050405020304" pitchFamily="18" charset="0"/>
                </a:rPr>
                <a:t>ns</a:t>
              </a:r>
            </a:p>
          </p:txBody>
        </p:sp>
        <p:sp>
          <p:nvSpPr>
            <p:cNvPr id="110623" name="Text Box 43"/>
            <p:cNvSpPr txBox="1">
              <a:spLocks noChangeArrowheads="1"/>
            </p:cNvSpPr>
            <p:nvPr/>
          </p:nvSpPr>
          <p:spPr bwMode="auto">
            <a:xfrm>
              <a:off x="4690" y="1139"/>
              <a:ext cx="31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ms</a:t>
              </a:r>
            </a:p>
          </p:txBody>
        </p:sp>
      </p:grpSp>
      <p:sp>
        <p:nvSpPr>
          <p:cNvPr id="198700" name="AutoShape 44"/>
          <p:cNvSpPr>
            <a:spLocks noChangeArrowheads="1"/>
          </p:cNvSpPr>
          <p:nvPr/>
        </p:nvSpPr>
        <p:spPr bwMode="auto">
          <a:xfrm>
            <a:off x="4379913" y="5576888"/>
            <a:ext cx="1130300" cy="488950"/>
          </a:xfrm>
          <a:prstGeom prst="flowChartAlternateProcess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虚地址</a:t>
            </a:r>
          </a:p>
        </p:txBody>
      </p:sp>
      <p:sp>
        <p:nvSpPr>
          <p:cNvPr id="198701" name="Text Box 45"/>
          <p:cNvSpPr txBox="1">
            <a:spLocks noChangeArrowheads="1"/>
          </p:cNvSpPr>
          <p:nvPr/>
        </p:nvSpPr>
        <p:spPr bwMode="auto">
          <a:xfrm>
            <a:off x="4379913" y="6157913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逻辑地址</a:t>
            </a:r>
          </a:p>
        </p:txBody>
      </p:sp>
      <p:sp>
        <p:nvSpPr>
          <p:cNvPr id="198702" name="Text Box 46"/>
          <p:cNvSpPr txBox="1">
            <a:spLocks noChangeArrowheads="1"/>
          </p:cNvSpPr>
          <p:nvPr/>
        </p:nvSpPr>
        <p:spPr bwMode="auto">
          <a:xfrm>
            <a:off x="2544763" y="5592763"/>
            <a:ext cx="1098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实地址</a:t>
            </a:r>
          </a:p>
        </p:txBody>
      </p:sp>
      <p:sp>
        <p:nvSpPr>
          <p:cNvPr id="198703" name="Text Box 47"/>
          <p:cNvSpPr txBox="1">
            <a:spLocks noChangeArrowheads="1"/>
          </p:cNvSpPr>
          <p:nvPr/>
        </p:nvSpPr>
        <p:spPr bwMode="auto">
          <a:xfrm>
            <a:off x="2544763" y="6157913"/>
            <a:ext cx="14097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物理地址</a:t>
            </a:r>
          </a:p>
        </p:txBody>
      </p:sp>
      <p:sp>
        <p:nvSpPr>
          <p:cNvPr id="198704" name="Text Box 48"/>
          <p:cNvSpPr txBox="1">
            <a:spLocks noChangeArrowheads="1"/>
          </p:cNvSpPr>
          <p:nvPr/>
        </p:nvSpPr>
        <p:spPr bwMode="auto">
          <a:xfrm>
            <a:off x="2544763" y="5029200"/>
            <a:ext cx="14097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 dirty="0">
                <a:latin typeface="Times New Roman" panose="02020603050405020304" pitchFamily="18" charset="0"/>
              </a:rPr>
              <a:t>主存储器</a:t>
            </a:r>
          </a:p>
        </p:txBody>
      </p:sp>
      <p:sp>
        <p:nvSpPr>
          <p:cNvPr id="198705" name="Rectangle 49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4.1</a:t>
            </a:r>
          </a:p>
        </p:txBody>
      </p:sp>
      <p:sp>
        <p:nvSpPr>
          <p:cNvPr id="198706" name="Text Box 50"/>
          <p:cNvSpPr txBox="1">
            <a:spLocks noChangeArrowheads="1"/>
          </p:cNvSpPr>
          <p:nvPr/>
        </p:nvSpPr>
        <p:spPr bwMode="auto">
          <a:xfrm>
            <a:off x="3921125" y="3657600"/>
            <a:ext cx="16065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（速度）</a:t>
            </a:r>
          </a:p>
        </p:txBody>
      </p:sp>
      <p:sp>
        <p:nvSpPr>
          <p:cNvPr id="198707" name="Text Box 51"/>
          <p:cNvSpPr txBox="1">
            <a:spLocks noChangeArrowheads="1"/>
          </p:cNvSpPr>
          <p:nvPr/>
        </p:nvSpPr>
        <p:spPr bwMode="auto">
          <a:xfrm>
            <a:off x="6065838" y="3657600"/>
            <a:ext cx="16065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（容量）</a:t>
            </a:r>
          </a:p>
        </p:txBody>
      </p:sp>
      <p:sp>
        <p:nvSpPr>
          <p:cNvPr id="110619" name="AutoShape 53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2" dur="500"/>
                                        <p:tgtEl>
                                          <p:spTgt spid="1986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6" dur="500"/>
                                        <p:tgtEl>
                                          <p:spTgt spid="1986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6" dur="500"/>
                                        <p:tgtEl>
                                          <p:spTgt spid="198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30" dur="500"/>
                                        <p:tgtEl>
                                          <p:spTgt spid="1986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40" dur="500"/>
                                        <p:tgtEl>
                                          <p:spTgt spid="198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"/>
                            </p:stCondLst>
                            <p:childTnLst>
                              <p:par>
                                <p:cTn id="42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44" dur="500"/>
                                        <p:tgtEl>
                                          <p:spTgt spid="1986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49" dur="500"/>
                                        <p:tgtEl>
                                          <p:spTgt spid="198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"/>
                            </p:stCondLst>
                            <p:childTnLst>
                              <p:par>
                                <p:cTn id="51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53" dur="500"/>
                                        <p:tgtEl>
                                          <p:spTgt spid="1986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3" dur="500"/>
                                        <p:tgtEl>
                                          <p:spTgt spid="1987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8" dur="500"/>
                                        <p:tgtEl>
                                          <p:spTgt spid="1987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8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8" dur="500"/>
                                        <p:tgtEl>
                                          <p:spTgt spid="1986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3" dur="500"/>
                                        <p:tgtEl>
                                          <p:spTgt spid="1987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8" dur="500"/>
                                        <p:tgtEl>
                                          <p:spTgt spid="1987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3" dur="500"/>
                                        <p:tgtEl>
                                          <p:spTgt spid="1987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8" dur="500"/>
                                        <p:tgtEl>
                                          <p:spTgt spid="1987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3" dur="500"/>
                                        <p:tgtEl>
                                          <p:spTgt spid="1987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8671" grpId="0" animBg="1"/>
      <p:bldP spid="198672" grpId="0" animBg="1"/>
      <p:bldP spid="198673" grpId="0" animBg="1"/>
      <p:bldP spid="198674" grpId="0" animBg="1"/>
      <p:bldP spid="198675" grpId="0" animBg="1"/>
      <p:bldP spid="198676" grpId="0" animBg="1"/>
      <p:bldP spid="198677" grpId="0" animBg="1"/>
      <p:bldP spid="198678" grpId="0" animBg="1"/>
      <p:bldP spid="198694" grpId="0" autoUpdateAnimBg="0"/>
      <p:bldP spid="198700" grpId="0" autoUpdateAnimBg="0"/>
      <p:bldP spid="198701" grpId="0" autoUpdateAnimBg="0"/>
      <p:bldP spid="198702" grpId="0" autoUpdateAnimBg="0"/>
      <p:bldP spid="198703" grpId="0" autoUpdateAnimBg="0"/>
      <p:bldP spid="198704" grpId="0" autoUpdateAnimBg="0"/>
      <p:bldP spid="198706" grpId="0" autoUpdateAnimBg="0"/>
      <p:bldP spid="198707" grpId="0" autoUpdateAnimBg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605" name="Group 23"/>
          <p:cNvGrpSpPr/>
          <p:nvPr/>
        </p:nvGrpSpPr>
        <p:grpSpPr bwMode="auto">
          <a:xfrm>
            <a:off x="152400" y="463550"/>
            <a:ext cx="7540625" cy="641350"/>
            <a:chOff x="170" y="292"/>
            <a:chExt cx="4750" cy="404"/>
          </a:xfrm>
        </p:grpSpPr>
        <p:sp>
          <p:nvSpPr>
            <p:cNvPr id="110632" name="Text Box 24"/>
            <p:cNvSpPr txBox="1">
              <a:spLocks noChangeArrowheads="1"/>
            </p:cNvSpPr>
            <p:nvPr/>
          </p:nvSpPr>
          <p:spPr bwMode="auto">
            <a:xfrm>
              <a:off x="170" y="292"/>
              <a:ext cx="4750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3600" dirty="0">
                  <a:latin typeface="Times New Roman" panose="02020603050405020304" pitchFamily="18" charset="0"/>
                </a:rPr>
                <a:t>2.  缓存   主存层次和主存    辅存层次</a:t>
              </a:r>
            </a:p>
          </p:txBody>
        </p:sp>
        <p:sp>
          <p:nvSpPr>
            <p:cNvPr id="110633" name="Line 25"/>
            <p:cNvSpPr>
              <a:spLocks noChangeShapeType="1"/>
            </p:cNvSpPr>
            <p:nvPr/>
          </p:nvSpPr>
          <p:spPr bwMode="auto">
            <a:xfrm>
              <a:off x="1188" y="503"/>
              <a:ext cx="20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0634" name="Line 26"/>
            <p:cNvSpPr>
              <a:spLocks noChangeShapeType="1"/>
            </p:cNvSpPr>
            <p:nvPr/>
          </p:nvSpPr>
          <p:spPr bwMode="auto">
            <a:xfrm>
              <a:off x="3438" y="503"/>
              <a:ext cx="20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98705" name="Rectangle 49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4.1</a:t>
            </a:r>
          </a:p>
        </p:txBody>
      </p:sp>
      <p:sp>
        <p:nvSpPr>
          <p:cNvPr id="53" name="Text Box 28"/>
          <p:cNvSpPr txBox="1">
            <a:spLocks noChangeArrowheads="1"/>
          </p:cNvSpPr>
          <p:nvPr/>
        </p:nvSpPr>
        <p:spPr bwMode="auto">
          <a:xfrm>
            <a:off x="467544" y="1556792"/>
            <a:ext cx="8371656" cy="19495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50000"/>
              </a:lnSpc>
              <a:spcBef>
                <a:spcPct val="0"/>
              </a:spcBef>
            </a:pPr>
            <a:r>
              <a:rPr lang="zh-CN" altLang="en-US" sz="2800" dirty="0">
                <a:latin typeface="Times New Roman" panose="02020603050405020304" pitchFamily="18" charset="0"/>
              </a:rPr>
              <a:t>例：主存</a:t>
            </a:r>
            <a:r>
              <a:rPr lang="en-US" altLang="zh-CN" sz="2800" dirty="0">
                <a:latin typeface="Times New Roman" panose="02020603050405020304" pitchFamily="18" charset="0"/>
              </a:rPr>
              <a:t>---Cache</a:t>
            </a:r>
            <a:r>
              <a:rPr lang="zh-CN" altLang="en-US" sz="2800" dirty="0">
                <a:latin typeface="Times New Roman" panose="02020603050405020304" pitchFamily="18" charset="0"/>
              </a:rPr>
              <a:t>结构中，</a:t>
            </a:r>
            <a:r>
              <a:rPr lang="en-US" altLang="zh-CN" sz="2800" dirty="0">
                <a:latin typeface="Times New Roman" panose="02020603050405020304" pitchFamily="18" charset="0"/>
              </a:rPr>
              <a:t>Cache</a:t>
            </a:r>
            <a:r>
              <a:rPr lang="zh-CN" altLang="en-US" sz="2800" dirty="0">
                <a:latin typeface="Times New Roman" panose="02020603050405020304" pitchFamily="18" charset="0"/>
              </a:rPr>
              <a:t>存取时间为</a:t>
            </a:r>
            <a:r>
              <a:rPr lang="en-US" altLang="zh-CN" sz="2800" dirty="0">
                <a:latin typeface="Times New Roman" panose="02020603050405020304" pitchFamily="18" charset="0"/>
              </a:rPr>
              <a:t>0.01</a:t>
            </a:r>
            <a:r>
              <a:rPr lang="el-GR" altLang="zh-CN" sz="2800" dirty="0">
                <a:latin typeface="Times New Roman" panose="02020603050405020304" pitchFamily="18" charset="0"/>
              </a:rPr>
              <a:t>μ</a:t>
            </a:r>
            <a:r>
              <a:rPr lang="en-US" altLang="zh-CN" sz="2800" dirty="0">
                <a:latin typeface="Times New Roman" panose="02020603050405020304" pitchFamily="18" charset="0"/>
              </a:rPr>
              <a:t>s</a:t>
            </a:r>
            <a:r>
              <a:rPr lang="zh-CN" altLang="en-US" sz="2800" dirty="0">
                <a:latin typeface="Times New Roman" panose="02020603050405020304" pitchFamily="18" charset="0"/>
              </a:rPr>
              <a:t>，主存访问时间</a:t>
            </a:r>
            <a:r>
              <a:rPr lang="en-US" altLang="zh-CN" sz="2800" dirty="0">
                <a:latin typeface="Times New Roman" panose="02020603050405020304" pitchFamily="18" charset="0"/>
              </a:rPr>
              <a:t>0.1</a:t>
            </a:r>
            <a:r>
              <a:rPr lang="el-GR" altLang="zh-CN" sz="2800" dirty="0">
                <a:latin typeface="Times New Roman" panose="02020603050405020304" pitchFamily="18" charset="0"/>
              </a:rPr>
              <a:t> μ</a:t>
            </a:r>
            <a:r>
              <a:rPr lang="en-US" altLang="zh-CN" sz="2800" dirty="0">
                <a:latin typeface="Times New Roman" panose="02020603050405020304" pitchFamily="18" charset="0"/>
              </a:rPr>
              <a:t>s</a:t>
            </a:r>
            <a:r>
              <a:rPr lang="zh-CN" altLang="en-US" sz="2800" dirty="0">
                <a:latin typeface="Times New Roman" panose="02020603050405020304" pitchFamily="18" charset="0"/>
              </a:rPr>
              <a:t>，假设</a:t>
            </a:r>
            <a:r>
              <a:rPr lang="en-US" altLang="zh-CN" sz="2800" dirty="0">
                <a:latin typeface="Times New Roman" panose="02020603050405020304" pitchFamily="18" charset="0"/>
              </a:rPr>
              <a:t>95%</a:t>
            </a:r>
            <a:r>
              <a:rPr lang="zh-CN" altLang="en-US" sz="2800" dirty="0">
                <a:latin typeface="Times New Roman" panose="02020603050405020304" pitchFamily="18" charset="0"/>
              </a:rPr>
              <a:t>访存都能在</a:t>
            </a:r>
            <a:r>
              <a:rPr lang="en-US" altLang="zh-CN" sz="2800" dirty="0">
                <a:latin typeface="Times New Roman" panose="02020603050405020304" pitchFamily="18" charset="0"/>
              </a:rPr>
              <a:t>Cache</a:t>
            </a:r>
            <a:r>
              <a:rPr lang="zh-CN" altLang="en-US" sz="2800" dirty="0">
                <a:latin typeface="Times New Roman" panose="02020603050405020304" pitchFamily="18" charset="0"/>
              </a:rPr>
              <a:t>中命中，问该结构平均访问一个字的存取时间为？</a:t>
            </a:r>
          </a:p>
        </p:txBody>
      </p:sp>
      <p:pic>
        <p:nvPicPr>
          <p:cNvPr id="5122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528" y="3933056"/>
            <a:ext cx="8627459" cy="4320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2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76200"/>
            <a:ext cx="7772400" cy="1143000"/>
          </a:xfrm>
        </p:spPr>
        <p:txBody>
          <a:bodyPr/>
          <a:lstStyle/>
          <a:p>
            <a:pPr eaLnBrk="1" hangingPunct="1">
              <a:defRPr/>
            </a:pPr>
            <a:r>
              <a:rPr lang="zh-CN" altLang="en-US" b="1"/>
              <a:t>4.2 主存储器</a:t>
            </a:r>
          </a:p>
        </p:txBody>
      </p:sp>
      <p:sp>
        <p:nvSpPr>
          <p:cNvPr id="199683" name="Text Box 3"/>
          <p:cNvSpPr txBox="1">
            <a:spLocks noChangeArrowheads="1"/>
          </p:cNvSpPr>
          <p:nvPr/>
        </p:nvSpPr>
        <p:spPr bwMode="auto">
          <a:xfrm>
            <a:off x="460375" y="835025"/>
            <a:ext cx="20129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buClr>
                <a:schemeClr val="accent2"/>
              </a:buClr>
              <a:buSzPct val="80000"/>
              <a:buFont typeface="Wingdings" panose="05000000000000000000" pitchFamily="2" charset="2"/>
              <a:buNone/>
            </a:pPr>
            <a:r>
              <a:rPr lang="zh-CN" altLang="en-US" sz="3600">
                <a:latin typeface="Times New Roman" panose="02020603050405020304" pitchFamily="18" charset="0"/>
              </a:rPr>
              <a:t>一、概述</a:t>
            </a: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199684" name="Text Box 4"/>
          <p:cNvSpPr txBox="1">
            <a:spLocks noChangeArrowheads="1"/>
          </p:cNvSpPr>
          <p:nvPr/>
        </p:nvSpPr>
        <p:spPr bwMode="auto">
          <a:xfrm>
            <a:off x="898525" y="1543050"/>
            <a:ext cx="35480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1.  主存的基本组成</a:t>
            </a:r>
          </a:p>
        </p:txBody>
      </p:sp>
      <p:sp>
        <p:nvSpPr>
          <p:cNvPr id="111621" name="AutoShape 68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grpSp>
        <p:nvGrpSpPr>
          <p:cNvPr id="2" name="Group 83"/>
          <p:cNvGrpSpPr/>
          <p:nvPr/>
        </p:nvGrpSpPr>
        <p:grpSpPr bwMode="auto">
          <a:xfrm>
            <a:off x="1458913" y="2225675"/>
            <a:ext cx="6630987" cy="4467225"/>
            <a:chOff x="919" y="1402"/>
            <a:chExt cx="4177" cy="2814"/>
          </a:xfrm>
        </p:grpSpPr>
        <p:grpSp>
          <p:nvGrpSpPr>
            <p:cNvPr id="111623" name="Group 82"/>
            <p:cNvGrpSpPr/>
            <p:nvPr/>
          </p:nvGrpSpPr>
          <p:grpSpPr bwMode="auto">
            <a:xfrm>
              <a:off x="919" y="1402"/>
              <a:ext cx="4177" cy="2814"/>
              <a:chOff x="919" y="1402"/>
              <a:chExt cx="4177" cy="2814"/>
            </a:xfrm>
          </p:grpSpPr>
          <p:grpSp>
            <p:nvGrpSpPr>
              <p:cNvPr id="111629" name="Group 81"/>
              <p:cNvGrpSpPr/>
              <p:nvPr/>
            </p:nvGrpSpPr>
            <p:grpSpPr bwMode="auto">
              <a:xfrm>
                <a:off x="919" y="1402"/>
                <a:ext cx="4177" cy="2814"/>
                <a:chOff x="919" y="1402"/>
                <a:chExt cx="4177" cy="2814"/>
              </a:xfrm>
            </p:grpSpPr>
            <p:sp>
              <p:nvSpPr>
                <p:cNvPr id="111631" name="Rectangle 7"/>
                <p:cNvSpPr>
                  <a:spLocks noChangeArrowheads="1"/>
                </p:cNvSpPr>
                <p:nvPr/>
              </p:nvSpPr>
              <p:spPr bwMode="auto">
                <a:xfrm>
                  <a:off x="919" y="2609"/>
                  <a:ext cx="1089" cy="271"/>
                </a:xfrm>
                <a:prstGeom prst="rect">
                  <a:avLst/>
                </a:prstGeom>
                <a:noFill/>
                <a:ln w="38100">
                  <a:solidFill>
                    <a:schemeClr val="folHlink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11632" name="Freeform 8"/>
                <p:cNvSpPr/>
                <p:nvPr/>
              </p:nvSpPr>
              <p:spPr bwMode="auto">
                <a:xfrm>
                  <a:off x="1392" y="3912"/>
                  <a:ext cx="190" cy="220"/>
                </a:xfrm>
                <a:custGeom>
                  <a:avLst/>
                  <a:gdLst>
                    <a:gd name="T0" fmla="*/ 0 w 178"/>
                    <a:gd name="T1" fmla="*/ 1 h 328"/>
                    <a:gd name="T2" fmla="*/ 108 w 178"/>
                    <a:gd name="T3" fmla="*/ 1 h 328"/>
                    <a:gd name="T4" fmla="*/ 108 w 178"/>
                    <a:gd name="T5" fmla="*/ 1 h 328"/>
                    <a:gd name="T6" fmla="*/ 333 w 178"/>
                    <a:gd name="T7" fmla="*/ 1 h 328"/>
                    <a:gd name="T8" fmla="*/ 333 w 178"/>
                    <a:gd name="T9" fmla="*/ 1 h 328"/>
                    <a:gd name="T10" fmla="*/ 446 w 178"/>
                    <a:gd name="T11" fmla="*/ 1 h 328"/>
                    <a:gd name="T12" fmla="*/ 217 w 178"/>
                    <a:gd name="T13" fmla="*/ 0 h 328"/>
                    <a:gd name="T14" fmla="*/ 0 w 178"/>
                    <a:gd name="T15" fmla="*/ 1 h 328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78"/>
                    <a:gd name="T25" fmla="*/ 0 h 328"/>
                    <a:gd name="T26" fmla="*/ 178 w 178"/>
                    <a:gd name="T27" fmla="*/ 328 h 328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78" h="328">
                      <a:moveTo>
                        <a:pt x="0" y="80"/>
                      </a:moveTo>
                      <a:lnTo>
                        <a:pt x="43" y="80"/>
                      </a:lnTo>
                      <a:lnTo>
                        <a:pt x="43" y="328"/>
                      </a:lnTo>
                      <a:lnTo>
                        <a:pt x="134" y="328"/>
                      </a:lnTo>
                      <a:lnTo>
                        <a:pt x="134" y="80"/>
                      </a:lnTo>
                      <a:lnTo>
                        <a:pt x="178" y="80"/>
                      </a:lnTo>
                      <a:lnTo>
                        <a:pt x="86" y="0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1633" name="Freeform 9"/>
                <p:cNvSpPr/>
                <p:nvPr/>
              </p:nvSpPr>
              <p:spPr bwMode="auto">
                <a:xfrm>
                  <a:off x="4198" y="1792"/>
                  <a:ext cx="898" cy="164"/>
                </a:xfrm>
                <a:custGeom>
                  <a:avLst/>
                  <a:gdLst>
                    <a:gd name="T0" fmla="*/ 0 w 898"/>
                    <a:gd name="T1" fmla="*/ 80 h 164"/>
                    <a:gd name="T2" fmla="*/ 178 w 898"/>
                    <a:gd name="T3" fmla="*/ 164 h 164"/>
                    <a:gd name="T4" fmla="*/ 178 w 898"/>
                    <a:gd name="T5" fmla="*/ 120 h 164"/>
                    <a:gd name="T6" fmla="*/ 720 w 898"/>
                    <a:gd name="T7" fmla="*/ 120 h 164"/>
                    <a:gd name="T8" fmla="*/ 720 w 898"/>
                    <a:gd name="T9" fmla="*/ 164 h 164"/>
                    <a:gd name="T10" fmla="*/ 898 w 898"/>
                    <a:gd name="T11" fmla="*/ 80 h 164"/>
                    <a:gd name="T12" fmla="*/ 720 w 898"/>
                    <a:gd name="T13" fmla="*/ 0 h 164"/>
                    <a:gd name="T14" fmla="*/ 720 w 898"/>
                    <a:gd name="T15" fmla="*/ 40 h 164"/>
                    <a:gd name="T16" fmla="*/ 178 w 898"/>
                    <a:gd name="T17" fmla="*/ 40 h 164"/>
                    <a:gd name="T18" fmla="*/ 178 w 898"/>
                    <a:gd name="T19" fmla="*/ 0 h 164"/>
                    <a:gd name="T20" fmla="*/ 0 w 898"/>
                    <a:gd name="T21" fmla="*/ 80 h 16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898"/>
                    <a:gd name="T34" fmla="*/ 0 h 164"/>
                    <a:gd name="T35" fmla="*/ 898 w 898"/>
                    <a:gd name="T36" fmla="*/ 164 h 16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898" h="164">
                      <a:moveTo>
                        <a:pt x="0" y="80"/>
                      </a:moveTo>
                      <a:lnTo>
                        <a:pt x="178" y="164"/>
                      </a:lnTo>
                      <a:lnTo>
                        <a:pt x="178" y="120"/>
                      </a:lnTo>
                      <a:lnTo>
                        <a:pt x="720" y="120"/>
                      </a:lnTo>
                      <a:lnTo>
                        <a:pt x="720" y="164"/>
                      </a:lnTo>
                      <a:lnTo>
                        <a:pt x="898" y="80"/>
                      </a:lnTo>
                      <a:lnTo>
                        <a:pt x="720" y="0"/>
                      </a:lnTo>
                      <a:lnTo>
                        <a:pt x="720" y="40"/>
                      </a:lnTo>
                      <a:lnTo>
                        <a:pt x="178" y="40"/>
                      </a:lnTo>
                      <a:lnTo>
                        <a:pt x="178" y="0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1634" name="Rectangle 10"/>
                <p:cNvSpPr>
                  <a:spLocks noChangeArrowheads="1"/>
                </p:cNvSpPr>
                <p:nvPr/>
              </p:nvSpPr>
              <p:spPr bwMode="auto">
                <a:xfrm>
                  <a:off x="2208" y="2828"/>
                  <a:ext cx="1267" cy="300"/>
                </a:xfrm>
                <a:prstGeom prst="rect">
                  <a:avLst/>
                </a:prstGeom>
                <a:noFill/>
                <a:ln w="38100">
                  <a:solidFill>
                    <a:schemeClr val="folHlink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11635" name="Freeform 11"/>
                <p:cNvSpPr/>
                <p:nvPr/>
              </p:nvSpPr>
              <p:spPr bwMode="auto">
                <a:xfrm>
                  <a:off x="2731" y="2383"/>
                  <a:ext cx="240" cy="445"/>
                </a:xfrm>
                <a:custGeom>
                  <a:avLst/>
                  <a:gdLst>
                    <a:gd name="T0" fmla="*/ 0 w 240"/>
                    <a:gd name="T1" fmla="*/ 147 h 445"/>
                    <a:gd name="T2" fmla="*/ 58 w 240"/>
                    <a:gd name="T3" fmla="*/ 147 h 445"/>
                    <a:gd name="T4" fmla="*/ 58 w 240"/>
                    <a:gd name="T5" fmla="*/ 445 h 445"/>
                    <a:gd name="T6" fmla="*/ 178 w 240"/>
                    <a:gd name="T7" fmla="*/ 445 h 445"/>
                    <a:gd name="T8" fmla="*/ 178 w 240"/>
                    <a:gd name="T9" fmla="*/ 147 h 445"/>
                    <a:gd name="T10" fmla="*/ 240 w 240"/>
                    <a:gd name="T11" fmla="*/ 147 h 445"/>
                    <a:gd name="T12" fmla="*/ 120 w 240"/>
                    <a:gd name="T13" fmla="*/ 0 h 445"/>
                    <a:gd name="T14" fmla="*/ 0 w 240"/>
                    <a:gd name="T15" fmla="*/ 147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40"/>
                    <a:gd name="T25" fmla="*/ 0 h 445"/>
                    <a:gd name="T26" fmla="*/ 240 w 240"/>
                    <a:gd name="T27" fmla="*/ 445 h 445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40" h="445">
                      <a:moveTo>
                        <a:pt x="0" y="147"/>
                      </a:moveTo>
                      <a:lnTo>
                        <a:pt x="58" y="147"/>
                      </a:lnTo>
                      <a:lnTo>
                        <a:pt x="58" y="445"/>
                      </a:lnTo>
                      <a:lnTo>
                        <a:pt x="178" y="445"/>
                      </a:lnTo>
                      <a:lnTo>
                        <a:pt x="178" y="147"/>
                      </a:lnTo>
                      <a:lnTo>
                        <a:pt x="240" y="147"/>
                      </a:lnTo>
                      <a:lnTo>
                        <a:pt x="120" y="0"/>
                      </a:lnTo>
                      <a:lnTo>
                        <a:pt x="0" y="147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grpSp>
              <p:nvGrpSpPr>
                <p:cNvPr id="111636" name="Group 12"/>
                <p:cNvGrpSpPr/>
                <p:nvPr/>
              </p:nvGrpSpPr>
              <p:grpSpPr bwMode="auto">
                <a:xfrm>
                  <a:off x="931" y="1410"/>
                  <a:ext cx="1085" cy="943"/>
                  <a:chOff x="931" y="1410"/>
                  <a:chExt cx="1085" cy="943"/>
                </a:xfrm>
              </p:grpSpPr>
              <p:sp>
                <p:nvSpPr>
                  <p:cNvPr id="111667" name="Rectangle 13"/>
                  <p:cNvSpPr>
                    <a:spLocks noChangeArrowheads="1"/>
                  </p:cNvSpPr>
                  <p:nvPr/>
                </p:nvSpPr>
                <p:spPr bwMode="auto">
                  <a:xfrm>
                    <a:off x="931" y="1410"/>
                    <a:ext cx="1085" cy="943"/>
                  </a:xfrm>
                  <a:prstGeom prst="rect">
                    <a:avLst/>
                  </a:prstGeom>
                  <a:noFill/>
                  <a:ln w="38100">
                    <a:solidFill>
                      <a:schemeClr val="folHlink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/>
                  </a:p>
                </p:txBody>
              </p:sp>
              <p:sp>
                <p:nvSpPr>
                  <p:cNvPr id="111668" name="Text Box 1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054" y="1709"/>
                    <a:ext cx="839" cy="34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</a:pPr>
                    <a:r>
                      <a:rPr lang="zh-CN" altLang="en-US" sz="3000">
                        <a:latin typeface="Times New Roman" panose="02020603050405020304" pitchFamily="18" charset="0"/>
                      </a:rPr>
                      <a:t>存储体</a:t>
                    </a:r>
                  </a:p>
                </p:txBody>
              </p:sp>
            </p:grpSp>
            <p:sp>
              <p:nvSpPr>
                <p:cNvPr id="111637" name="Text Box 15"/>
                <p:cNvSpPr txBox="1">
                  <a:spLocks noChangeArrowheads="1"/>
                </p:cNvSpPr>
                <p:nvPr/>
              </p:nvSpPr>
              <p:spPr bwMode="auto">
                <a:xfrm>
                  <a:off x="1140" y="2610"/>
                  <a:ext cx="647" cy="2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2200">
                      <a:latin typeface="Times New Roman" panose="02020603050405020304" pitchFamily="18" charset="0"/>
                    </a:rPr>
                    <a:t>驱动器</a:t>
                  </a:r>
                </a:p>
              </p:txBody>
            </p:sp>
            <p:sp>
              <p:nvSpPr>
                <p:cNvPr id="111638" name="Rectangle 16"/>
                <p:cNvSpPr>
                  <a:spLocks noChangeArrowheads="1"/>
                </p:cNvSpPr>
                <p:nvPr/>
              </p:nvSpPr>
              <p:spPr bwMode="auto">
                <a:xfrm>
                  <a:off x="919" y="3113"/>
                  <a:ext cx="1089" cy="271"/>
                </a:xfrm>
                <a:prstGeom prst="rect">
                  <a:avLst/>
                </a:prstGeom>
                <a:noFill/>
                <a:ln w="38100">
                  <a:solidFill>
                    <a:schemeClr val="folHlink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endParaRPr lang="zh-CN" altLang="en-US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11639" name="Text Box 17"/>
                <p:cNvSpPr txBox="1">
                  <a:spLocks noChangeArrowheads="1"/>
                </p:cNvSpPr>
                <p:nvPr/>
              </p:nvSpPr>
              <p:spPr bwMode="auto">
                <a:xfrm>
                  <a:off x="1140" y="3114"/>
                  <a:ext cx="647" cy="2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2200">
                      <a:latin typeface="Times New Roman" panose="02020603050405020304" pitchFamily="18" charset="0"/>
                    </a:rPr>
                    <a:t>译码器</a:t>
                  </a:r>
                </a:p>
              </p:txBody>
            </p:sp>
            <p:sp>
              <p:nvSpPr>
                <p:cNvPr id="111640" name="Rectangle 18"/>
                <p:cNvSpPr>
                  <a:spLocks noChangeArrowheads="1"/>
                </p:cNvSpPr>
                <p:nvPr/>
              </p:nvSpPr>
              <p:spPr bwMode="auto">
                <a:xfrm>
                  <a:off x="919" y="3628"/>
                  <a:ext cx="1089" cy="271"/>
                </a:xfrm>
                <a:prstGeom prst="rect">
                  <a:avLst/>
                </a:prstGeom>
                <a:noFill/>
                <a:ln w="38100">
                  <a:solidFill>
                    <a:schemeClr val="folHlink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11641" name="Text Box 19"/>
                <p:cNvSpPr txBox="1">
                  <a:spLocks noChangeArrowheads="1"/>
                </p:cNvSpPr>
                <p:nvPr/>
              </p:nvSpPr>
              <p:spPr bwMode="auto">
                <a:xfrm>
                  <a:off x="1195" y="3630"/>
                  <a:ext cx="536" cy="2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200">
                      <a:latin typeface="Times New Roman" panose="02020603050405020304" pitchFamily="18" charset="0"/>
                    </a:rPr>
                    <a:t>MAR</a:t>
                  </a:r>
                </a:p>
              </p:txBody>
            </p:sp>
            <p:sp>
              <p:nvSpPr>
                <p:cNvPr id="111642" name="Text Box 20"/>
                <p:cNvSpPr txBox="1">
                  <a:spLocks noChangeArrowheads="1"/>
                </p:cNvSpPr>
                <p:nvPr/>
              </p:nvSpPr>
              <p:spPr bwMode="auto">
                <a:xfrm>
                  <a:off x="2429" y="2843"/>
                  <a:ext cx="824" cy="2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2200">
                      <a:latin typeface="Times New Roman" panose="02020603050405020304" pitchFamily="18" charset="0"/>
                    </a:rPr>
                    <a:t>控制电路</a:t>
                  </a:r>
                </a:p>
              </p:txBody>
            </p:sp>
            <p:grpSp>
              <p:nvGrpSpPr>
                <p:cNvPr id="111643" name="Group 21"/>
                <p:cNvGrpSpPr/>
                <p:nvPr/>
              </p:nvGrpSpPr>
              <p:grpSpPr bwMode="auto">
                <a:xfrm>
                  <a:off x="2568" y="1402"/>
                  <a:ext cx="547" cy="942"/>
                  <a:chOff x="2568" y="1402"/>
                  <a:chExt cx="547" cy="942"/>
                </a:xfrm>
              </p:grpSpPr>
              <p:sp>
                <p:nvSpPr>
                  <p:cNvPr id="111665" name="Rectangle 22"/>
                  <p:cNvSpPr>
                    <a:spLocks noChangeArrowheads="1"/>
                  </p:cNvSpPr>
                  <p:nvPr/>
                </p:nvSpPr>
                <p:spPr bwMode="auto">
                  <a:xfrm>
                    <a:off x="2568" y="1402"/>
                    <a:ext cx="547" cy="942"/>
                  </a:xfrm>
                  <a:prstGeom prst="rect">
                    <a:avLst/>
                  </a:prstGeom>
                  <a:noFill/>
                  <a:ln w="38100">
                    <a:solidFill>
                      <a:schemeClr val="folHlink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/>
                  </a:p>
                </p:txBody>
              </p:sp>
              <p:sp>
                <p:nvSpPr>
                  <p:cNvPr id="111666" name="Text Box 2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687" y="1421"/>
                    <a:ext cx="309" cy="90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</a:pPr>
                    <a:r>
                      <a:rPr lang="zh-CN" altLang="en-US" sz="2200">
                        <a:latin typeface="Times New Roman" panose="02020603050405020304" pitchFamily="18" charset="0"/>
                      </a:rPr>
                      <a:t>读</a:t>
                    </a:r>
                  </a:p>
                  <a:p>
                    <a:pPr eaLnBrk="1" hangingPunct="1">
                      <a:spcBef>
                        <a:spcPct val="0"/>
                      </a:spcBef>
                    </a:pPr>
                    <a:r>
                      <a:rPr lang="zh-CN" altLang="en-US" sz="2200">
                        <a:latin typeface="Times New Roman" panose="02020603050405020304" pitchFamily="18" charset="0"/>
                      </a:rPr>
                      <a:t>写</a:t>
                    </a:r>
                  </a:p>
                  <a:p>
                    <a:pPr eaLnBrk="1" hangingPunct="1">
                      <a:spcBef>
                        <a:spcPct val="0"/>
                      </a:spcBef>
                    </a:pPr>
                    <a:r>
                      <a:rPr lang="zh-CN" altLang="en-US" sz="2200">
                        <a:latin typeface="Times New Roman" panose="02020603050405020304" pitchFamily="18" charset="0"/>
                      </a:rPr>
                      <a:t>电</a:t>
                    </a:r>
                  </a:p>
                  <a:p>
                    <a:pPr eaLnBrk="1" hangingPunct="1">
                      <a:spcBef>
                        <a:spcPct val="0"/>
                      </a:spcBef>
                    </a:pPr>
                    <a:r>
                      <a:rPr lang="zh-CN" altLang="en-US" sz="2200">
                        <a:latin typeface="Times New Roman" panose="02020603050405020304" pitchFamily="18" charset="0"/>
                      </a:rPr>
                      <a:t>路</a:t>
                    </a:r>
                  </a:p>
                </p:txBody>
              </p:sp>
            </p:grpSp>
            <p:grpSp>
              <p:nvGrpSpPr>
                <p:cNvPr id="111644" name="Group 24"/>
                <p:cNvGrpSpPr/>
                <p:nvPr/>
              </p:nvGrpSpPr>
              <p:grpSpPr bwMode="auto">
                <a:xfrm>
                  <a:off x="3652" y="1410"/>
                  <a:ext cx="553" cy="943"/>
                  <a:chOff x="3652" y="1410"/>
                  <a:chExt cx="553" cy="943"/>
                </a:xfrm>
              </p:grpSpPr>
              <p:sp>
                <p:nvSpPr>
                  <p:cNvPr id="111663" name="Rectangle 25"/>
                  <p:cNvSpPr>
                    <a:spLocks noChangeArrowheads="1"/>
                  </p:cNvSpPr>
                  <p:nvPr/>
                </p:nvSpPr>
                <p:spPr bwMode="auto">
                  <a:xfrm>
                    <a:off x="3652" y="1410"/>
                    <a:ext cx="547" cy="943"/>
                  </a:xfrm>
                  <a:prstGeom prst="rect">
                    <a:avLst/>
                  </a:prstGeom>
                  <a:noFill/>
                  <a:ln w="38100">
                    <a:solidFill>
                      <a:schemeClr val="folHlink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/>
                  </a:p>
                </p:txBody>
              </p:sp>
              <p:sp>
                <p:nvSpPr>
                  <p:cNvPr id="111664" name="Text Box 26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669" y="1747"/>
                    <a:ext cx="536" cy="26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</a:pPr>
                    <a:r>
                      <a:rPr lang="en-US" altLang="zh-CN" sz="2200">
                        <a:latin typeface="Times New Roman" panose="02020603050405020304" pitchFamily="18" charset="0"/>
                      </a:rPr>
                      <a:t>MDR</a:t>
                    </a:r>
                  </a:p>
                </p:txBody>
              </p:sp>
            </p:grpSp>
            <p:sp>
              <p:nvSpPr>
                <p:cNvPr id="111645" name="Line 27"/>
                <p:cNvSpPr>
                  <a:spLocks noChangeShapeType="1"/>
                </p:cNvSpPr>
                <p:nvPr/>
              </p:nvSpPr>
              <p:spPr bwMode="auto">
                <a:xfrm>
                  <a:off x="3114" y="1623"/>
                  <a:ext cx="540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med" len="med"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46" name="Line 28"/>
                <p:cNvSpPr>
                  <a:spLocks noChangeShapeType="1"/>
                </p:cNvSpPr>
                <p:nvPr/>
              </p:nvSpPr>
              <p:spPr bwMode="auto">
                <a:xfrm>
                  <a:off x="3114" y="2163"/>
                  <a:ext cx="540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med" len="med"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47" name="Line 34"/>
                <p:cNvSpPr>
                  <a:spLocks noChangeShapeType="1"/>
                </p:cNvSpPr>
                <p:nvPr/>
              </p:nvSpPr>
              <p:spPr bwMode="auto">
                <a:xfrm>
                  <a:off x="2034" y="1635"/>
                  <a:ext cx="540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med" len="med"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48" name="Line 35"/>
                <p:cNvSpPr>
                  <a:spLocks noChangeShapeType="1"/>
                </p:cNvSpPr>
                <p:nvPr/>
              </p:nvSpPr>
              <p:spPr bwMode="auto">
                <a:xfrm>
                  <a:off x="2034" y="2175"/>
                  <a:ext cx="540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med" len="med"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49" name="Line 41"/>
                <p:cNvSpPr>
                  <a:spLocks noChangeShapeType="1"/>
                </p:cNvSpPr>
                <p:nvPr/>
              </p:nvSpPr>
              <p:spPr bwMode="auto">
                <a:xfrm flipV="1">
                  <a:off x="1110" y="2355"/>
                  <a:ext cx="0" cy="24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50" name="Line 46"/>
                <p:cNvSpPr>
                  <a:spLocks noChangeShapeType="1"/>
                </p:cNvSpPr>
                <p:nvPr/>
              </p:nvSpPr>
              <p:spPr bwMode="auto">
                <a:xfrm flipV="1">
                  <a:off x="1782" y="2367"/>
                  <a:ext cx="0" cy="24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51" name="Line 47"/>
                <p:cNvSpPr>
                  <a:spLocks noChangeShapeType="1"/>
                </p:cNvSpPr>
                <p:nvPr/>
              </p:nvSpPr>
              <p:spPr bwMode="auto">
                <a:xfrm flipV="1">
                  <a:off x="1110" y="2859"/>
                  <a:ext cx="0" cy="24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52" name="Line 52"/>
                <p:cNvSpPr>
                  <a:spLocks noChangeShapeType="1"/>
                </p:cNvSpPr>
                <p:nvPr/>
              </p:nvSpPr>
              <p:spPr bwMode="auto">
                <a:xfrm flipV="1">
                  <a:off x="1782" y="2871"/>
                  <a:ext cx="0" cy="24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53" name="Line 53"/>
                <p:cNvSpPr>
                  <a:spLocks noChangeShapeType="1"/>
                </p:cNvSpPr>
                <p:nvPr/>
              </p:nvSpPr>
              <p:spPr bwMode="auto">
                <a:xfrm flipV="1">
                  <a:off x="1110" y="3375"/>
                  <a:ext cx="0" cy="24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54" name="Line 58"/>
                <p:cNvSpPr>
                  <a:spLocks noChangeShapeType="1"/>
                </p:cNvSpPr>
                <p:nvPr/>
              </p:nvSpPr>
              <p:spPr bwMode="auto">
                <a:xfrm flipV="1">
                  <a:off x="1782" y="3387"/>
                  <a:ext cx="0" cy="24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1655" name="Text Box 59"/>
                <p:cNvSpPr txBox="1">
                  <a:spLocks noChangeArrowheads="1"/>
                </p:cNvSpPr>
                <p:nvPr/>
              </p:nvSpPr>
              <p:spPr bwMode="auto">
                <a:xfrm>
                  <a:off x="1605" y="3928"/>
                  <a:ext cx="888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2400">
                      <a:latin typeface="Times New Roman" panose="02020603050405020304" pitchFamily="18" charset="0"/>
                    </a:rPr>
                    <a:t>地址总线</a:t>
                  </a:r>
                </a:p>
              </p:txBody>
            </p:sp>
            <p:sp>
              <p:nvSpPr>
                <p:cNvPr id="111656" name="Text Box 60"/>
                <p:cNvSpPr txBox="1">
                  <a:spLocks noChangeArrowheads="1"/>
                </p:cNvSpPr>
                <p:nvPr/>
              </p:nvSpPr>
              <p:spPr bwMode="auto">
                <a:xfrm>
                  <a:off x="4224" y="1536"/>
                  <a:ext cx="824" cy="2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2200">
                      <a:latin typeface="Times New Roman" panose="02020603050405020304" pitchFamily="18" charset="0"/>
                    </a:rPr>
                    <a:t>数据总线</a:t>
                  </a:r>
                </a:p>
              </p:txBody>
            </p:sp>
            <p:grpSp>
              <p:nvGrpSpPr>
                <p:cNvPr id="111657" name="Group 61"/>
                <p:cNvGrpSpPr/>
                <p:nvPr/>
              </p:nvGrpSpPr>
              <p:grpSpPr bwMode="auto">
                <a:xfrm>
                  <a:off x="2331" y="3116"/>
                  <a:ext cx="309" cy="670"/>
                  <a:chOff x="2315" y="3116"/>
                  <a:chExt cx="309" cy="670"/>
                </a:xfrm>
              </p:grpSpPr>
              <p:sp>
                <p:nvSpPr>
                  <p:cNvPr id="111661" name="Line 6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70" y="3116"/>
                    <a:ext cx="0" cy="397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tailEnd type="stealth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662" name="Text Box 6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315" y="3498"/>
                    <a:ext cx="309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</a:pPr>
                    <a:r>
                      <a:rPr lang="zh-CN" altLang="en-US" sz="2400">
                        <a:latin typeface="Times New Roman" panose="02020603050405020304" pitchFamily="18" charset="0"/>
                      </a:rPr>
                      <a:t>读</a:t>
                    </a:r>
                  </a:p>
                </p:txBody>
              </p:sp>
            </p:grpSp>
            <p:grpSp>
              <p:nvGrpSpPr>
                <p:cNvPr id="111658" name="Group 64"/>
                <p:cNvGrpSpPr/>
                <p:nvPr/>
              </p:nvGrpSpPr>
              <p:grpSpPr bwMode="auto">
                <a:xfrm>
                  <a:off x="3024" y="3116"/>
                  <a:ext cx="309" cy="670"/>
                  <a:chOff x="2999" y="3116"/>
                  <a:chExt cx="309" cy="670"/>
                </a:xfrm>
              </p:grpSpPr>
              <p:sp>
                <p:nvSpPr>
                  <p:cNvPr id="111659" name="Line 6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54" y="3116"/>
                    <a:ext cx="0" cy="397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tailEnd type="stealth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660" name="Text Box 66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99" y="3498"/>
                    <a:ext cx="309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</a:pPr>
                    <a:r>
                      <a:rPr lang="zh-CN" altLang="en-US" sz="2400">
                        <a:latin typeface="Times New Roman" panose="02020603050405020304" pitchFamily="18" charset="0"/>
                      </a:rPr>
                      <a:t>写</a:t>
                    </a:r>
                  </a:p>
                </p:txBody>
              </p:sp>
            </p:grpSp>
          </p:grpSp>
          <p:sp>
            <p:nvSpPr>
              <p:cNvPr id="111630" name="Line 67"/>
              <p:cNvSpPr>
                <a:spLocks noChangeShapeType="1"/>
              </p:cNvSpPr>
              <p:nvPr/>
            </p:nvSpPr>
            <p:spPr bwMode="auto">
              <a:xfrm>
                <a:off x="1455" y="4128"/>
                <a:ext cx="66" cy="0"/>
              </a:xfrm>
              <a:prstGeom prst="line">
                <a:avLst/>
              </a:prstGeom>
              <a:noFill/>
              <a:ln w="57150">
                <a:solidFill>
                  <a:srgbClr val="000099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11624" name="Text Box 76"/>
            <p:cNvSpPr txBox="1">
              <a:spLocks noChangeArrowheads="1"/>
            </p:cNvSpPr>
            <p:nvPr/>
          </p:nvSpPr>
          <p:spPr bwMode="auto">
            <a:xfrm>
              <a:off x="1292" y="2840"/>
              <a:ext cx="36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en-US" altLang="zh-CN" sz="2000">
                <a:solidFill>
                  <a:schemeClr val="folHlink"/>
                </a:solidFill>
              </a:endParaRPr>
            </a:p>
          </p:txBody>
        </p:sp>
        <p:sp>
          <p:nvSpPr>
            <p:cNvPr id="111625" name="Text Box 77"/>
            <p:cNvSpPr txBox="1">
              <a:spLocks noChangeArrowheads="1"/>
            </p:cNvSpPr>
            <p:nvPr/>
          </p:nvSpPr>
          <p:spPr bwMode="auto">
            <a:xfrm>
              <a:off x="1292" y="3353"/>
              <a:ext cx="36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en-US" altLang="zh-CN" sz="2000">
                <a:solidFill>
                  <a:schemeClr val="folHlink"/>
                </a:solidFill>
              </a:endParaRPr>
            </a:p>
          </p:txBody>
        </p:sp>
        <p:sp>
          <p:nvSpPr>
            <p:cNvPr id="111626" name="Text Box 78"/>
            <p:cNvSpPr txBox="1">
              <a:spLocks noChangeArrowheads="1"/>
            </p:cNvSpPr>
            <p:nvPr/>
          </p:nvSpPr>
          <p:spPr bwMode="auto">
            <a:xfrm>
              <a:off x="1292" y="2333"/>
              <a:ext cx="36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en-US" altLang="zh-CN" sz="2000">
                <a:solidFill>
                  <a:schemeClr val="folHlink"/>
                </a:solidFill>
              </a:endParaRPr>
            </a:p>
          </p:txBody>
        </p:sp>
        <p:sp>
          <p:nvSpPr>
            <p:cNvPr id="111627" name="Text Box 79"/>
            <p:cNvSpPr txBox="1">
              <a:spLocks noChangeArrowheads="1"/>
            </p:cNvSpPr>
            <p:nvPr/>
          </p:nvSpPr>
          <p:spPr bwMode="auto">
            <a:xfrm rot="-5400000">
              <a:off x="2056" y="1726"/>
              <a:ext cx="36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en-US" altLang="zh-CN" sz="2000">
                <a:solidFill>
                  <a:schemeClr val="folHlink"/>
                </a:solidFill>
              </a:endParaRPr>
            </a:p>
          </p:txBody>
        </p:sp>
        <p:sp>
          <p:nvSpPr>
            <p:cNvPr id="111628" name="Text Box 80"/>
            <p:cNvSpPr txBox="1">
              <a:spLocks noChangeArrowheads="1"/>
            </p:cNvSpPr>
            <p:nvPr/>
          </p:nvSpPr>
          <p:spPr bwMode="auto">
            <a:xfrm rot="-5400000">
              <a:off x="3144" y="1726"/>
              <a:ext cx="36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en-US" altLang="zh-CN" sz="2000">
                <a:solidFill>
                  <a:schemeClr val="folHlink"/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99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99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9683" grpId="0" autoUpdateAnimBg="0"/>
      <p:bldP spid="199684" grpId="0" autoUpdateAnimBg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Text Box 2"/>
          <p:cNvSpPr txBox="1">
            <a:spLocks noChangeArrowheads="1"/>
          </p:cNvSpPr>
          <p:nvPr/>
        </p:nvSpPr>
        <p:spPr bwMode="auto">
          <a:xfrm>
            <a:off x="479425" y="463550"/>
            <a:ext cx="46672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2.  主存和 </a:t>
            </a:r>
            <a:r>
              <a:rPr lang="en-US" altLang="zh-CN" sz="3600">
                <a:latin typeface="Times New Roman" panose="02020603050405020304" pitchFamily="18" charset="0"/>
              </a:rPr>
              <a:t>CPU </a:t>
            </a:r>
            <a:r>
              <a:rPr lang="zh-CN" altLang="en-US" sz="3600">
                <a:latin typeface="Times New Roman" panose="02020603050405020304" pitchFamily="18" charset="0"/>
              </a:rPr>
              <a:t>的联系</a:t>
            </a:r>
          </a:p>
        </p:txBody>
      </p:sp>
      <p:grpSp>
        <p:nvGrpSpPr>
          <p:cNvPr id="2" name="Group 3"/>
          <p:cNvGrpSpPr/>
          <p:nvPr/>
        </p:nvGrpSpPr>
        <p:grpSpPr bwMode="auto">
          <a:xfrm>
            <a:off x="1066800" y="1854200"/>
            <a:ext cx="6934200" cy="3556000"/>
            <a:chOff x="672" y="1168"/>
            <a:chExt cx="4368" cy="2240"/>
          </a:xfrm>
        </p:grpSpPr>
        <p:sp>
          <p:nvSpPr>
            <p:cNvPr id="112646" name="Rectangle 4"/>
            <p:cNvSpPr>
              <a:spLocks noChangeArrowheads="1"/>
            </p:cNvSpPr>
            <p:nvPr/>
          </p:nvSpPr>
          <p:spPr bwMode="auto">
            <a:xfrm>
              <a:off x="672" y="1168"/>
              <a:ext cx="1464" cy="2240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grpSp>
          <p:nvGrpSpPr>
            <p:cNvPr id="112647" name="Group 5"/>
            <p:cNvGrpSpPr/>
            <p:nvPr/>
          </p:nvGrpSpPr>
          <p:grpSpPr bwMode="auto">
            <a:xfrm>
              <a:off x="889" y="1433"/>
              <a:ext cx="1031" cy="370"/>
              <a:chOff x="930" y="1433"/>
              <a:chExt cx="1031" cy="370"/>
            </a:xfrm>
          </p:grpSpPr>
          <p:sp>
            <p:nvSpPr>
              <p:cNvPr id="112667" name="Rectangle 6"/>
              <p:cNvSpPr>
                <a:spLocks noChangeArrowheads="1"/>
              </p:cNvSpPr>
              <p:nvPr/>
            </p:nvSpPr>
            <p:spPr bwMode="auto">
              <a:xfrm>
                <a:off x="930" y="1433"/>
                <a:ext cx="1031" cy="370"/>
              </a:xfrm>
              <a:prstGeom prst="rect">
                <a:avLst/>
              </a:prstGeom>
              <a:noFill/>
              <a:ln w="38100">
                <a:solidFill>
                  <a:schemeClr val="folHlink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12668" name="Rectangle 7"/>
              <p:cNvSpPr>
                <a:spLocks noChangeArrowheads="1"/>
              </p:cNvSpPr>
              <p:nvPr/>
            </p:nvSpPr>
            <p:spPr bwMode="auto">
              <a:xfrm>
                <a:off x="1191" y="1471"/>
                <a:ext cx="510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800" b="0">
                    <a:latin typeface="Times New Roman" panose="02020603050405020304" pitchFamily="18" charset="0"/>
                  </a:rPr>
                  <a:t>MDR</a:t>
                </a:r>
                <a:endParaRPr lang="en-US" altLang="zh-CN" sz="2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112648" name="Group 8"/>
            <p:cNvGrpSpPr/>
            <p:nvPr/>
          </p:nvGrpSpPr>
          <p:grpSpPr bwMode="auto">
            <a:xfrm>
              <a:off x="889" y="2736"/>
              <a:ext cx="1031" cy="370"/>
              <a:chOff x="930" y="2938"/>
              <a:chExt cx="1031" cy="370"/>
            </a:xfrm>
          </p:grpSpPr>
          <p:sp>
            <p:nvSpPr>
              <p:cNvPr id="112665" name="Rectangle 9"/>
              <p:cNvSpPr>
                <a:spLocks noChangeArrowheads="1"/>
              </p:cNvSpPr>
              <p:nvPr/>
            </p:nvSpPr>
            <p:spPr bwMode="auto">
              <a:xfrm>
                <a:off x="930" y="2938"/>
                <a:ext cx="1031" cy="370"/>
              </a:xfrm>
              <a:prstGeom prst="rect">
                <a:avLst/>
              </a:prstGeom>
              <a:noFill/>
              <a:ln w="38100">
                <a:solidFill>
                  <a:schemeClr val="folHlink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12666" name="Rectangle 10"/>
              <p:cNvSpPr>
                <a:spLocks noChangeArrowheads="1"/>
              </p:cNvSpPr>
              <p:nvPr/>
            </p:nvSpPr>
            <p:spPr bwMode="auto">
              <a:xfrm>
                <a:off x="1191" y="2975"/>
                <a:ext cx="510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800" b="0">
                    <a:latin typeface="Times New Roman" panose="02020603050405020304" pitchFamily="18" charset="0"/>
                  </a:rPr>
                  <a:t>MAR</a:t>
                </a:r>
                <a:endParaRPr lang="en-US" altLang="zh-CN" sz="28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112649" name="Rectangle 11"/>
            <p:cNvSpPr>
              <a:spLocks noChangeArrowheads="1"/>
            </p:cNvSpPr>
            <p:nvPr/>
          </p:nvSpPr>
          <p:spPr bwMode="auto">
            <a:xfrm>
              <a:off x="1155" y="2135"/>
              <a:ext cx="498" cy="3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3200" b="0">
                  <a:latin typeface="Times New Roman" panose="02020603050405020304" pitchFamily="18" charset="0"/>
                </a:rPr>
                <a:t>CPU</a:t>
              </a:r>
            </a:p>
          </p:txBody>
        </p:sp>
        <p:grpSp>
          <p:nvGrpSpPr>
            <p:cNvPr id="112650" name="Group 12"/>
            <p:cNvGrpSpPr/>
            <p:nvPr/>
          </p:nvGrpSpPr>
          <p:grpSpPr bwMode="auto">
            <a:xfrm>
              <a:off x="3891" y="1168"/>
              <a:ext cx="1149" cy="2240"/>
              <a:chOff x="3891" y="1168"/>
              <a:chExt cx="1149" cy="2240"/>
            </a:xfrm>
          </p:grpSpPr>
          <p:sp>
            <p:nvSpPr>
              <p:cNvPr id="112663" name="Rectangle 13"/>
              <p:cNvSpPr>
                <a:spLocks noChangeArrowheads="1"/>
              </p:cNvSpPr>
              <p:nvPr/>
            </p:nvSpPr>
            <p:spPr bwMode="auto">
              <a:xfrm>
                <a:off x="3891" y="1168"/>
                <a:ext cx="1149" cy="2240"/>
              </a:xfrm>
              <a:prstGeom prst="rect">
                <a:avLst/>
              </a:prstGeom>
              <a:noFill/>
              <a:ln w="38100">
                <a:solidFill>
                  <a:schemeClr val="folHlink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12664" name="Text Box 14"/>
              <p:cNvSpPr txBox="1">
                <a:spLocks noChangeArrowheads="1"/>
              </p:cNvSpPr>
              <p:nvPr/>
            </p:nvSpPr>
            <p:spPr bwMode="auto">
              <a:xfrm>
                <a:off x="4087" y="2095"/>
                <a:ext cx="75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主  存</a:t>
                </a:r>
              </a:p>
            </p:txBody>
          </p:sp>
        </p:grpSp>
        <p:grpSp>
          <p:nvGrpSpPr>
            <p:cNvPr id="112651" name="Group 15"/>
            <p:cNvGrpSpPr/>
            <p:nvPr/>
          </p:nvGrpSpPr>
          <p:grpSpPr bwMode="auto">
            <a:xfrm>
              <a:off x="2143" y="1806"/>
              <a:ext cx="1737" cy="262"/>
              <a:chOff x="2143" y="1806"/>
              <a:chExt cx="1737" cy="262"/>
            </a:xfrm>
          </p:grpSpPr>
          <p:sp>
            <p:nvSpPr>
              <p:cNvPr id="112661" name="Rectangle 16"/>
              <p:cNvSpPr>
                <a:spLocks noChangeArrowheads="1"/>
              </p:cNvSpPr>
              <p:nvPr/>
            </p:nvSpPr>
            <p:spPr bwMode="auto">
              <a:xfrm>
                <a:off x="2915" y="1806"/>
                <a:ext cx="193" cy="2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/>
                  <a:t>读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662" name="Freeform 17"/>
              <p:cNvSpPr/>
              <p:nvPr/>
            </p:nvSpPr>
            <p:spPr bwMode="auto">
              <a:xfrm>
                <a:off x="2143" y="2067"/>
                <a:ext cx="1737" cy="1"/>
              </a:xfrm>
              <a:custGeom>
                <a:avLst/>
                <a:gdLst>
                  <a:gd name="T0" fmla="*/ 0 w 1737"/>
                  <a:gd name="T1" fmla="*/ 0 h 1"/>
                  <a:gd name="T2" fmla="*/ 1737 w 1737"/>
                  <a:gd name="T3" fmla="*/ 0 h 1"/>
                  <a:gd name="T4" fmla="*/ 0 60000 65536"/>
                  <a:gd name="T5" fmla="*/ 0 60000 65536"/>
                  <a:gd name="T6" fmla="*/ 0 w 1737"/>
                  <a:gd name="T7" fmla="*/ 0 h 1"/>
                  <a:gd name="T8" fmla="*/ 1737 w 173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737" h="1">
                    <a:moveTo>
                      <a:pt x="0" y="0"/>
                    </a:moveTo>
                    <a:lnTo>
                      <a:pt x="1737" y="0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12652" name="Group 18"/>
            <p:cNvGrpSpPr/>
            <p:nvPr/>
          </p:nvGrpSpPr>
          <p:grpSpPr bwMode="auto">
            <a:xfrm>
              <a:off x="1920" y="1310"/>
              <a:ext cx="1968" cy="370"/>
              <a:chOff x="1920" y="1310"/>
              <a:chExt cx="1968" cy="370"/>
            </a:xfrm>
          </p:grpSpPr>
          <p:sp>
            <p:nvSpPr>
              <p:cNvPr id="112659" name="Rectangle 19"/>
              <p:cNvSpPr>
                <a:spLocks noChangeArrowheads="1"/>
              </p:cNvSpPr>
              <p:nvPr/>
            </p:nvSpPr>
            <p:spPr bwMode="auto">
              <a:xfrm>
                <a:off x="2626" y="1310"/>
                <a:ext cx="768" cy="2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/>
                  <a:t>数据总线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660" name="AutoShape 20"/>
              <p:cNvSpPr>
                <a:spLocks noChangeArrowheads="1"/>
              </p:cNvSpPr>
              <p:nvPr/>
            </p:nvSpPr>
            <p:spPr bwMode="auto">
              <a:xfrm>
                <a:off x="1920" y="1536"/>
                <a:ext cx="1968" cy="144"/>
              </a:xfrm>
              <a:prstGeom prst="leftRightArrow">
                <a:avLst>
                  <a:gd name="adj1" fmla="val 50000"/>
                  <a:gd name="adj2" fmla="val 131605"/>
                </a:avLst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</p:grpSp>
        <p:grpSp>
          <p:nvGrpSpPr>
            <p:cNvPr id="112653" name="Group 21"/>
            <p:cNvGrpSpPr/>
            <p:nvPr/>
          </p:nvGrpSpPr>
          <p:grpSpPr bwMode="auto">
            <a:xfrm>
              <a:off x="1920" y="2640"/>
              <a:ext cx="1968" cy="348"/>
              <a:chOff x="1920" y="2640"/>
              <a:chExt cx="1968" cy="348"/>
            </a:xfrm>
          </p:grpSpPr>
          <p:sp>
            <p:nvSpPr>
              <p:cNvPr id="112657" name="Rectangle 22"/>
              <p:cNvSpPr>
                <a:spLocks noChangeArrowheads="1"/>
              </p:cNvSpPr>
              <p:nvPr/>
            </p:nvSpPr>
            <p:spPr bwMode="auto">
              <a:xfrm>
                <a:off x="2626" y="2640"/>
                <a:ext cx="768" cy="2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/>
                  <a:t>地址总线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658" name="AutoShape 23"/>
              <p:cNvSpPr>
                <a:spLocks noChangeArrowheads="1"/>
              </p:cNvSpPr>
              <p:nvPr/>
            </p:nvSpPr>
            <p:spPr bwMode="auto">
              <a:xfrm>
                <a:off x="1920" y="2844"/>
                <a:ext cx="1968" cy="144"/>
              </a:xfrm>
              <a:prstGeom prst="rightArrow">
                <a:avLst>
                  <a:gd name="adj1" fmla="val 50000"/>
                  <a:gd name="adj2" fmla="val 129137"/>
                </a:avLst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</p:grpSp>
        <p:grpSp>
          <p:nvGrpSpPr>
            <p:cNvPr id="112654" name="Group 24"/>
            <p:cNvGrpSpPr/>
            <p:nvPr/>
          </p:nvGrpSpPr>
          <p:grpSpPr bwMode="auto">
            <a:xfrm>
              <a:off x="2144" y="2196"/>
              <a:ext cx="1737" cy="260"/>
              <a:chOff x="2144" y="2196"/>
              <a:chExt cx="1737" cy="260"/>
            </a:xfrm>
          </p:grpSpPr>
          <p:sp>
            <p:nvSpPr>
              <p:cNvPr id="112655" name="Rectangle 25"/>
              <p:cNvSpPr>
                <a:spLocks noChangeArrowheads="1"/>
              </p:cNvSpPr>
              <p:nvPr/>
            </p:nvSpPr>
            <p:spPr bwMode="auto">
              <a:xfrm>
                <a:off x="2915" y="2196"/>
                <a:ext cx="193" cy="2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/>
                  <a:t>写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656" name="Freeform 26"/>
              <p:cNvSpPr/>
              <p:nvPr/>
            </p:nvSpPr>
            <p:spPr bwMode="auto">
              <a:xfrm>
                <a:off x="2144" y="2455"/>
                <a:ext cx="1737" cy="1"/>
              </a:xfrm>
              <a:custGeom>
                <a:avLst/>
                <a:gdLst>
                  <a:gd name="T0" fmla="*/ 0 w 1737"/>
                  <a:gd name="T1" fmla="*/ 0 h 1"/>
                  <a:gd name="T2" fmla="*/ 1737 w 1737"/>
                  <a:gd name="T3" fmla="*/ 0 h 1"/>
                  <a:gd name="T4" fmla="*/ 0 60000 65536"/>
                  <a:gd name="T5" fmla="*/ 0 60000 65536"/>
                  <a:gd name="T6" fmla="*/ 0 w 1737"/>
                  <a:gd name="T7" fmla="*/ 0 h 1"/>
                  <a:gd name="T8" fmla="*/ 1737 w 173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737" h="1">
                    <a:moveTo>
                      <a:pt x="0" y="0"/>
                    </a:moveTo>
                    <a:lnTo>
                      <a:pt x="1737" y="0"/>
                    </a:lnTo>
                  </a:path>
                </a:pathLst>
              </a:custGeom>
              <a:noFill/>
              <a:ln w="38100">
                <a:solidFill>
                  <a:schemeClr val="folHlink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sp>
        <p:nvSpPr>
          <p:cNvPr id="200731" name="Rectangle 27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12645" name="AutoShape 28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730" name="Text Box 2"/>
          <p:cNvSpPr txBox="1">
            <a:spLocks noChangeArrowheads="1"/>
          </p:cNvSpPr>
          <p:nvPr/>
        </p:nvSpPr>
        <p:spPr bwMode="auto">
          <a:xfrm>
            <a:off x="304800" y="1524000"/>
            <a:ext cx="385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      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高位字节 </a:t>
            </a:r>
            <a:r>
              <a:rPr lang="zh-CN" altLang="en-US" sz="2400">
                <a:latin typeface="Times New Roman" panose="02020603050405020304" pitchFamily="18" charset="0"/>
              </a:rPr>
              <a:t>地址为字地址</a:t>
            </a:r>
          </a:p>
        </p:txBody>
      </p:sp>
      <p:sp>
        <p:nvSpPr>
          <p:cNvPr id="201731" name="Text Box 3"/>
          <p:cNvSpPr txBox="1">
            <a:spLocks noChangeArrowheads="1"/>
          </p:cNvSpPr>
          <p:nvPr/>
        </p:nvSpPr>
        <p:spPr bwMode="auto">
          <a:xfrm>
            <a:off x="4926013" y="1524000"/>
            <a:ext cx="35528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  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低位字节 </a:t>
            </a:r>
            <a:r>
              <a:rPr lang="zh-CN" altLang="en-US" sz="2400">
                <a:latin typeface="Times New Roman" panose="02020603050405020304" pitchFamily="18" charset="0"/>
              </a:rPr>
              <a:t>地址为字地址</a:t>
            </a:r>
          </a:p>
        </p:txBody>
      </p:sp>
      <p:sp>
        <p:nvSpPr>
          <p:cNvPr id="201732" name="Text Box 4"/>
          <p:cNvSpPr txBox="1">
            <a:spLocks noChangeArrowheads="1"/>
          </p:cNvSpPr>
          <p:nvPr/>
        </p:nvSpPr>
        <p:spPr bwMode="auto">
          <a:xfrm>
            <a:off x="1452563" y="4854575"/>
            <a:ext cx="35004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设地址线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24 </a:t>
            </a:r>
            <a:r>
              <a:rPr lang="zh-CN" altLang="en-US" sz="2400">
                <a:latin typeface="Times New Roman" panose="02020603050405020304" pitchFamily="18" charset="0"/>
              </a:rPr>
              <a:t>根</a:t>
            </a:r>
          </a:p>
        </p:txBody>
      </p:sp>
      <p:sp>
        <p:nvSpPr>
          <p:cNvPr id="201733" name="Text Box 5"/>
          <p:cNvSpPr txBox="1">
            <a:spLocks noChangeArrowheads="1"/>
          </p:cNvSpPr>
          <p:nvPr/>
        </p:nvSpPr>
        <p:spPr bwMode="auto">
          <a:xfrm>
            <a:off x="4198938" y="4854575"/>
            <a:ext cx="23542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按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字节 </a:t>
            </a:r>
            <a:r>
              <a:rPr lang="zh-CN" altLang="en-US" sz="2400">
                <a:latin typeface="Times New Roman" panose="02020603050405020304" pitchFamily="18" charset="0"/>
              </a:rPr>
              <a:t>寻址</a:t>
            </a:r>
            <a:endParaRPr lang="en-US" altLang="zh-CN" sz="24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01734" name="Text Box 6"/>
          <p:cNvSpPr txBox="1">
            <a:spLocks noChangeArrowheads="1"/>
          </p:cNvSpPr>
          <p:nvPr/>
        </p:nvSpPr>
        <p:spPr bwMode="auto">
          <a:xfrm>
            <a:off x="4206875" y="5387975"/>
            <a:ext cx="27273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按  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字</a:t>
            </a:r>
            <a:r>
              <a:rPr lang="zh-CN" altLang="en-US" sz="2400">
                <a:latin typeface="Times New Roman" panose="02020603050405020304" pitchFamily="18" charset="0"/>
              </a:rPr>
              <a:t>   寻址</a:t>
            </a:r>
            <a:endParaRPr lang="en-US" altLang="zh-CN" sz="24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01735" name="Text Box 7"/>
          <p:cNvSpPr txBox="1">
            <a:spLocks noChangeArrowheads="1"/>
          </p:cNvSpPr>
          <p:nvPr/>
        </p:nvSpPr>
        <p:spPr bwMode="auto">
          <a:xfrm>
            <a:off x="1460500" y="5387975"/>
            <a:ext cx="28829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若字长为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16 </a:t>
            </a:r>
            <a:r>
              <a:rPr lang="zh-CN" altLang="en-US" sz="2400">
                <a:latin typeface="Times New Roman" panose="02020603050405020304" pitchFamily="18" charset="0"/>
              </a:rPr>
              <a:t>位</a:t>
            </a:r>
          </a:p>
        </p:txBody>
      </p:sp>
      <p:sp>
        <p:nvSpPr>
          <p:cNvPr id="201736" name="Text Box 8"/>
          <p:cNvSpPr txBox="1">
            <a:spLocks noChangeArrowheads="1"/>
          </p:cNvSpPr>
          <p:nvPr/>
        </p:nvSpPr>
        <p:spPr bwMode="auto">
          <a:xfrm>
            <a:off x="4194175" y="5919788"/>
            <a:ext cx="40354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按  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字</a:t>
            </a:r>
            <a:r>
              <a:rPr lang="zh-CN" altLang="en-US" sz="2400">
                <a:latin typeface="Times New Roman" panose="02020603050405020304" pitchFamily="18" charset="0"/>
              </a:rPr>
              <a:t>   寻址</a:t>
            </a:r>
            <a:endParaRPr lang="en-US" altLang="zh-CN" sz="24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01737" name="Text Box 9"/>
          <p:cNvSpPr txBox="1">
            <a:spLocks noChangeArrowheads="1"/>
          </p:cNvSpPr>
          <p:nvPr/>
        </p:nvSpPr>
        <p:spPr bwMode="auto">
          <a:xfrm>
            <a:off x="1447800" y="5919788"/>
            <a:ext cx="3657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若字长为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32</a:t>
            </a:r>
            <a:r>
              <a:rPr lang="zh-CN" altLang="en-US" sz="2400">
                <a:latin typeface="Times New Roman" panose="02020603050405020304" pitchFamily="18" charset="0"/>
              </a:rPr>
              <a:t> 位</a:t>
            </a:r>
          </a:p>
        </p:txBody>
      </p:sp>
      <p:grpSp>
        <p:nvGrpSpPr>
          <p:cNvPr id="2" name="Group 10"/>
          <p:cNvGrpSpPr/>
          <p:nvPr/>
        </p:nvGrpSpPr>
        <p:grpSpPr bwMode="auto">
          <a:xfrm>
            <a:off x="490538" y="2163763"/>
            <a:ext cx="3852862" cy="2027237"/>
            <a:chOff x="309" y="1296"/>
            <a:chExt cx="2427" cy="1277"/>
          </a:xfrm>
        </p:grpSpPr>
        <p:sp>
          <p:nvSpPr>
            <p:cNvPr id="113702" name="Text Box 11"/>
            <p:cNvSpPr txBox="1">
              <a:spLocks noChangeArrowheads="1"/>
            </p:cNvSpPr>
            <p:nvPr/>
          </p:nvSpPr>
          <p:spPr bwMode="auto">
            <a:xfrm>
              <a:off x="309" y="1392"/>
              <a:ext cx="791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200">
                  <a:latin typeface="Times New Roman" panose="02020603050405020304" pitchFamily="18" charset="0"/>
                </a:rPr>
                <a:t>字地址</a:t>
              </a:r>
            </a:p>
          </p:txBody>
        </p:sp>
        <p:sp>
          <p:nvSpPr>
            <p:cNvPr id="113703" name="Text Box 12"/>
            <p:cNvSpPr txBox="1">
              <a:spLocks noChangeArrowheads="1"/>
            </p:cNvSpPr>
            <p:nvPr/>
          </p:nvSpPr>
          <p:spPr bwMode="auto">
            <a:xfrm>
              <a:off x="1440" y="1296"/>
              <a:ext cx="824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200">
                  <a:latin typeface="Times New Roman" panose="02020603050405020304" pitchFamily="18" charset="0"/>
                </a:rPr>
                <a:t>字节地址</a:t>
              </a:r>
            </a:p>
          </p:txBody>
        </p:sp>
        <p:sp>
          <p:nvSpPr>
            <p:cNvPr id="113704" name="AutoShape 13"/>
            <p:cNvSpPr/>
            <p:nvPr/>
          </p:nvSpPr>
          <p:spPr bwMode="auto">
            <a:xfrm rot="5400000">
              <a:off x="1746" y="719"/>
              <a:ext cx="144" cy="1836"/>
            </a:xfrm>
            <a:prstGeom prst="leftBrace">
              <a:avLst>
                <a:gd name="adj1" fmla="val 106250"/>
                <a:gd name="adj2" fmla="val 50000"/>
              </a:avLst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grpSp>
          <p:nvGrpSpPr>
            <p:cNvPr id="113705" name="Group 14"/>
            <p:cNvGrpSpPr/>
            <p:nvPr/>
          </p:nvGrpSpPr>
          <p:grpSpPr bwMode="auto">
            <a:xfrm>
              <a:off x="912" y="1705"/>
              <a:ext cx="1824" cy="868"/>
              <a:chOff x="912" y="1961"/>
              <a:chExt cx="1824" cy="868"/>
            </a:xfrm>
          </p:grpSpPr>
          <p:sp>
            <p:nvSpPr>
              <p:cNvPr id="113709" name="Rectangle 15"/>
              <p:cNvSpPr>
                <a:spLocks noChangeArrowheads="1"/>
              </p:cNvSpPr>
              <p:nvPr/>
            </p:nvSpPr>
            <p:spPr bwMode="auto">
              <a:xfrm>
                <a:off x="2280" y="2542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11</a:t>
                </a:r>
              </a:p>
            </p:txBody>
          </p:sp>
          <p:sp>
            <p:nvSpPr>
              <p:cNvPr id="113710" name="Rectangle 16"/>
              <p:cNvSpPr>
                <a:spLocks noChangeArrowheads="1"/>
              </p:cNvSpPr>
              <p:nvPr/>
            </p:nvSpPr>
            <p:spPr bwMode="auto">
              <a:xfrm>
                <a:off x="1824" y="2542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10</a:t>
                </a:r>
              </a:p>
            </p:txBody>
          </p:sp>
          <p:sp>
            <p:nvSpPr>
              <p:cNvPr id="113711" name="Rectangle 17"/>
              <p:cNvSpPr>
                <a:spLocks noChangeArrowheads="1"/>
              </p:cNvSpPr>
              <p:nvPr/>
            </p:nvSpPr>
            <p:spPr bwMode="auto">
              <a:xfrm>
                <a:off x="1368" y="2542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9</a:t>
                </a:r>
              </a:p>
            </p:txBody>
          </p:sp>
          <p:sp>
            <p:nvSpPr>
              <p:cNvPr id="113712" name="Rectangle 18"/>
              <p:cNvSpPr>
                <a:spLocks noChangeArrowheads="1"/>
              </p:cNvSpPr>
              <p:nvPr/>
            </p:nvSpPr>
            <p:spPr bwMode="auto">
              <a:xfrm>
                <a:off x="912" y="2542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8</a:t>
                </a:r>
              </a:p>
            </p:txBody>
          </p:sp>
          <p:sp>
            <p:nvSpPr>
              <p:cNvPr id="113713" name="Rectangle 19"/>
              <p:cNvSpPr>
                <a:spLocks noChangeArrowheads="1"/>
              </p:cNvSpPr>
              <p:nvPr/>
            </p:nvSpPr>
            <p:spPr bwMode="auto">
              <a:xfrm>
                <a:off x="2280" y="2255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7</a:t>
                </a:r>
              </a:p>
            </p:txBody>
          </p:sp>
          <p:sp>
            <p:nvSpPr>
              <p:cNvPr id="113714" name="Rectangle 20"/>
              <p:cNvSpPr>
                <a:spLocks noChangeArrowheads="1"/>
              </p:cNvSpPr>
              <p:nvPr/>
            </p:nvSpPr>
            <p:spPr bwMode="auto">
              <a:xfrm>
                <a:off x="1824" y="2255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6</a:t>
                </a:r>
              </a:p>
            </p:txBody>
          </p:sp>
          <p:sp>
            <p:nvSpPr>
              <p:cNvPr id="113715" name="Rectangle 21"/>
              <p:cNvSpPr>
                <a:spLocks noChangeArrowheads="1"/>
              </p:cNvSpPr>
              <p:nvPr/>
            </p:nvSpPr>
            <p:spPr bwMode="auto">
              <a:xfrm>
                <a:off x="1368" y="2255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5</a:t>
                </a:r>
              </a:p>
            </p:txBody>
          </p:sp>
          <p:sp>
            <p:nvSpPr>
              <p:cNvPr id="113716" name="Rectangle 22"/>
              <p:cNvSpPr>
                <a:spLocks noChangeArrowheads="1"/>
              </p:cNvSpPr>
              <p:nvPr/>
            </p:nvSpPr>
            <p:spPr bwMode="auto">
              <a:xfrm>
                <a:off x="912" y="2255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4</a:t>
                </a:r>
              </a:p>
            </p:txBody>
          </p:sp>
          <p:sp>
            <p:nvSpPr>
              <p:cNvPr id="113717" name="Rectangle 23"/>
              <p:cNvSpPr>
                <a:spLocks noChangeArrowheads="1"/>
              </p:cNvSpPr>
              <p:nvPr/>
            </p:nvSpPr>
            <p:spPr bwMode="auto">
              <a:xfrm>
                <a:off x="2280" y="1968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3</a:t>
                </a:r>
              </a:p>
            </p:txBody>
          </p:sp>
          <p:sp>
            <p:nvSpPr>
              <p:cNvPr id="113718" name="Rectangle 24"/>
              <p:cNvSpPr>
                <a:spLocks noChangeArrowheads="1"/>
              </p:cNvSpPr>
              <p:nvPr/>
            </p:nvSpPr>
            <p:spPr bwMode="auto">
              <a:xfrm>
                <a:off x="1824" y="1968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2</a:t>
                </a:r>
              </a:p>
            </p:txBody>
          </p:sp>
          <p:sp>
            <p:nvSpPr>
              <p:cNvPr id="113719" name="Rectangle 25"/>
              <p:cNvSpPr>
                <a:spLocks noChangeArrowheads="1"/>
              </p:cNvSpPr>
              <p:nvPr/>
            </p:nvSpPr>
            <p:spPr bwMode="auto">
              <a:xfrm>
                <a:off x="1368" y="1968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13720" name="Rectangle 2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13721" name="Line 27"/>
              <p:cNvSpPr>
                <a:spLocks noChangeShapeType="1"/>
              </p:cNvSpPr>
              <p:nvPr/>
            </p:nvSpPr>
            <p:spPr bwMode="auto">
              <a:xfrm>
                <a:off x="912" y="2255"/>
                <a:ext cx="182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113722" name="Line 28"/>
              <p:cNvSpPr>
                <a:spLocks noChangeShapeType="1"/>
              </p:cNvSpPr>
              <p:nvPr/>
            </p:nvSpPr>
            <p:spPr bwMode="auto">
              <a:xfrm>
                <a:off x="912" y="2542"/>
                <a:ext cx="182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113723" name="Line 29"/>
              <p:cNvSpPr>
                <a:spLocks noChangeShapeType="1"/>
              </p:cNvSpPr>
              <p:nvPr/>
            </p:nvSpPr>
            <p:spPr bwMode="auto">
              <a:xfrm>
                <a:off x="912" y="2829"/>
                <a:ext cx="1824" cy="0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113724" name="Line 30"/>
              <p:cNvSpPr>
                <a:spLocks noChangeShapeType="1"/>
              </p:cNvSpPr>
              <p:nvPr/>
            </p:nvSpPr>
            <p:spPr bwMode="auto">
              <a:xfrm>
                <a:off x="912" y="1968"/>
                <a:ext cx="0" cy="861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113725" name="Line 31"/>
              <p:cNvSpPr>
                <a:spLocks noChangeShapeType="1"/>
              </p:cNvSpPr>
              <p:nvPr/>
            </p:nvSpPr>
            <p:spPr bwMode="auto">
              <a:xfrm>
                <a:off x="1368" y="1968"/>
                <a:ext cx="0" cy="86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113726" name="Line 32"/>
              <p:cNvSpPr>
                <a:spLocks noChangeShapeType="1"/>
              </p:cNvSpPr>
              <p:nvPr/>
            </p:nvSpPr>
            <p:spPr bwMode="auto">
              <a:xfrm>
                <a:off x="1824" y="1968"/>
                <a:ext cx="0" cy="86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113727" name="Line 33"/>
              <p:cNvSpPr>
                <a:spLocks noChangeShapeType="1"/>
              </p:cNvSpPr>
              <p:nvPr/>
            </p:nvSpPr>
            <p:spPr bwMode="auto">
              <a:xfrm>
                <a:off x="2280" y="1968"/>
                <a:ext cx="0" cy="86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113728" name="Line 34"/>
              <p:cNvSpPr>
                <a:spLocks noChangeShapeType="1"/>
              </p:cNvSpPr>
              <p:nvPr/>
            </p:nvSpPr>
            <p:spPr bwMode="auto">
              <a:xfrm>
                <a:off x="2736" y="1968"/>
                <a:ext cx="0" cy="861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113729" name="Freeform 35"/>
              <p:cNvSpPr/>
              <p:nvPr/>
            </p:nvSpPr>
            <p:spPr bwMode="auto">
              <a:xfrm>
                <a:off x="912" y="1961"/>
                <a:ext cx="1821" cy="5"/>
              </a:xfrm>
              <a:custGeom>
                <a:avLst/>
                <a:gdLst>
                  <a:gd name="T0" fmla="*/ 0 w 1821"/>
                  <a:gd name="T1" fmla="*/ 5 h 5"/>
                  <a:gd name="T2" fmla="*/ 1821 w 1821"/>
                  <a:gd name="T3" fmla="*/ 0 h 5"/>
                  <a:gd name="T4" fmla="*/ 0 60000 65536"/>
                  <a:gd name="T5" fmla="*/ 0 60000 65536"/>
                  <a:gd name="T6" fmla="*/ 0 w 1821"/>
                  <a:gd name="T7" fmla="*/ 0 h 5"/>
                  <a:gd name="T8" fmla="*/ 1821 w 1821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821" h="5">
                    <a:moveTo>
                      <a:pt x="0" y="5"/>
                    </a:moveTo>
                    <a:lnTo>
                      <a:pt x="1821" y="0"/>
                    </a:lnTo>
                  </a:path>
                </a:pathLst>
              </a:custGeom>
              <a:noFill/>
              <a:ln w="28575" cap="sq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</p:grpSp>
        <p:sp>
          <p:nvSpPr>
            <p:cNvPr id="113706" name="Rectangle 36"/>
            <p:cNvSpPr>
              <a:spLocks noChangeArrowheads="1"/>
            </p:cNvSpPr>
            <p:nvPr/>
          </p:nvSpPr>
          <p:spPr bwMode="auto">
            <a:xfrm>
              <a:off x="384" y="2286"/>
              <a:ext cx="45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400">
                  <a:latin typeface="Times New Roman" panose="02020603050405020304" pitchFamily="18" charset="0"/>
                </a:rPr>
                <a:t>8</a:t>
              </a:r>
            </a:p>
          </p:txBody>
        </p:sp>
        <p:sp>
          <p:nvSpPr>
            <p:cNvPr id="113707" name="Rectangle 37"/>
            <p:cNvSpPr>
              <a:spLocks noChangeArrowheads="1"/>
            </p:cNvSpPr>
            <p:nvPr/>
          </p:nvSpPr>
          <p:spPr bwMode="auto">
            <a:xfrm>
              <a:off x="384" y="1999"/>
              <a:ext cx="45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400">
                  <a:latin typeface="Times New Roman" panose="02020603050405020304" pitchFamily="18" charset="0"/>
                </a:rPr>
                <a:t>4</a:t>
              </a:r>
            </a:p>
          </p:txBody>
        </p:sp>
        <p:sp>
          <p:nvSpPr>
            <p:cNvPr id="113708" name="Rectangle 38"/>
            <p:cNvSpPr>
              <a:spLocks noChangeArrowheads="1"/>
            </p:cNvSpPr>
            <p:nvPr/>
          </p:nvSpPr>
          <p:spPr bwMode="auto">
            <a:xfrm>
              <a:off x="384" y="1712"/>
              <a:ext cx="45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400">
                  <a:latin typeface="Times New Roman" panose="02020603050405020304" pitchFamily="18" charset="0"/>
                </a:rPr>
                <a:t>0</a:t>
              </a:r>
            </a:p>
          </p:txBody>
        </p:sp>
      </p:grpSp>
      <p:grpSp>
        <p:nvGrpSpPr>
          <p:cNvPr id="4" name="Group 39"/>
          <p:cNvGrpSpPr/>
          <p:nvPr/>
        </p:nvGrpSpPr>
        <p:grpSpPr bwMode="auto">
          <a:xfrm>
            <a:off x="5562600" y="2163763"/>
            <a:ext cx="2514600" cy="2027237"/>
            <a:chOff x="3504" y="1363"/>
            <a:chExt cx="1584" cy="1277"/>
          </a:xfrm>
        </p:grpSpPr>
        <p:sp>
          <p:nvSpPr>
            <p:cNvPr id="113682" name="Text Box 40"/>
            <p:cNvSpPr txBox="1">
              <a:spLocks noChangeArrowheads="1"/>
            </p:cNvSpPr>
            <p:nvPr/>
          </p:nvSpPr>
          <p:spPr bwMode="auto">
            <a:xfrm>
              <a:off x="4264" y="1363"/>
              <a:ext cx="824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200">
                  <a:latin typeface="Times New Roman" panose="02020603050405020304" pitchFamily="18" charset="0"/>
                </a:rPr>
                <a:t>字节地址</a:t>
              </a:r>
            </a:p>
          </p:txBody>
        </p:sp>
        <p:sp>
          <p:nvSpPr>
            <p:cNvPr id="113683" name="Text Box 41"/>
            <p:cNvSpPr txBox="1">
              <a:spLocks noChangeArrowheads="1"/>
            </p:cNvSpPr>
            <p:nvPr/>
          </p:nvSpPr>
          <p:spPr bwMode="auto">
            <a:xfrm>
              <a:off x="3504" y="1459"/>
              <a:ext cx="791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200">
                  <a:latin typeface="Times New Roman" panose="02020603050405020304" pitchFamily="18" charset="0"/>
                </a:rPr>
                <a:t>字地址</a:t>
              </a:r>
            </a:p>
          </p:txBody>
        </p:sp>
        <p:grpSp>
          <p:nvGrpSpPr>
            <p:cNvPr id="113684" name="Group 42"/>
            <p:cNvGrpSpPr/>
            <p:nvPr/>
          </p:nvGrpSpPr>
          <p:grpSpPr bwMode="auto">
            <a:xfrm>
              <a:off x="4176" y="1776"/>
              <a:ext cx="912" cy="864"/>
              <a:chOff x="4368" y="1968"/>
              <a:chExt cx="912" cy="864"/>
            </a:xfrm>
          </p:grpSpPr>
          <p:sp>
            <p:nvSpPr>
              <p:cNvPr id="113689" name="Rectangle 43"/>
              <p:cNvSpPr>
                <a:spLocks noChangeArrowheads="1"/>
              </p:cNvSpPr>
              <p:nvPr/>
            </p:nvSpPr>
            <p:spPr bwMode="auto">
              <a:xfrm>
                <a:off x="4824" y="2545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4</a:t>
                </a:r>
              </a:p>
            </p:txBody>
          </p:sp>
          <p:sp>
            <p:nvSpPr>
              <p:cNvPr id="113690" name="Rectangle 44"/>
              <p:cNvSpPr>
                <a:spLocks noChangeArrowheads="1"/>
              </p:cNvSpPr>
              <p:nvPr/>
            </p:nvSpPr>
            <p:spPr bwMode="auto">
              <a:xfrm>
                <a:off x="4368" y="2545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5</a:t>
                </a:r>
              </a:p>
            </p:txBody>
          </p:sp>
          <p:sp>
            <p:nvSpPr>
              <p:cNvPr id="113691" name="Rectangle 45"/>
              <p:cNvSpPr>
                <a:spLocks noChangeArrowheads="1"/>
              </p:cNvSpPr>
              <p:nvPr/>
            </p:nvSpPr>
            <p:spPr bwMode="auto">
              <a:xfrm>
                <a:off x="4824" y="2258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2</a:t>
                </a:r>
              </a:p>
            </p:txBody>
          </p:sp>
          <p:sp>
            <p:nvSpPr>
              <p:cNvPr id="113692" name="Rectangle 46"/>
              <p:cNvSpPr>
                <a:spLocks noChangeArrowheads="1"/>
              </p:cNvSpPr>
              <p:nvPr/>
            </p:nvSpPr>
            <p:spPr bwMode="auto">
              <a:xfrm>
                <a:off x="4368" y="2258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3</a:t>
                </a:r>
              </a:p>
            </p:txBody>
          </p:sp>
          <p:sp>
            <p:nvSpPr>
              <p:cNvPr id="113693" name="Rectangle 47"/>
              <p:cNvSpPr>
                <a:spLocks noChangeArrowheads="1"/>
              </p:cNvSpPr>
              <p:nvPr/>
            </p:nvSpPr>
            <p:spPr bwMode="auto">
              <a:xfrm>
                <a:off x="4824" y="1971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13694" name="Rectangle 48"/>
              <p:cNvSpPr>
                <a:spLocks noChangeArrowheads="1"/>
              </p:cNvSpPr>
              <p:nvPr/>
            </p:nvSpPr>
            <p:spPr bwMode="auto">
              <a:xfrm>
                <a:off x="4368" y="1971"/>
                <a:ext cx="456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13695" name="Line 49"/>
              <p:cNvSpPr>
                <a:spLocks noChangeShapeType="1"/>
              </p:cNvSpPr>
              <p:nvPr/>
            </p:nvSpPr>
            <p:spPr bwMode="auto">
              <a:xfrm>
                <a:off x="4368" y="2258"/>
                <a:ext cx="912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113696" name="Line 50"/>
              <p:cNvSpPr>
                <a:spLocks noChangeShapeType="1"/>
              </p:cNvSpPr>
              <p:nvPr/>
            </p:nvSpPr>
            <p:spPr bwMode="auto">
              <a:xfrm>
                <a:off x="4368" y="2545"/>
                <a:ext cx="912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113697" name="Freeform 51"/>
              <p:cNvSpPr/>
              <p:nvPr/>
            </p:nvSpPr>
            <p:spPr bwMode="auto">
              <a:xfrm>
                <a:off x="4368" y="2829"/>
                <a:ext cx="912" cy="3"/>
              </a:xfrm>
              <a:custGeom>
                <a:avLst/>
                <a:gdLst>
                  <a:gd name="T0" fmla="*/ 0 w 912"/>
                  <a:gd name="T1" fmla="*/ 3 h 3"/>
                  <a:gd name="T2" fmla="*/ 912 w 912"/>
                  <a:gd name="T3" fmla="*/ 0 h 3"/>
                  <a:gd name="T4" fmla="*/ 0 60000 65536"/>
                  <a:gd name="T5" fmla="*/ 0 60000 65536"/>
                  <a:gd name="T6" fmla="*/ 0 w 912"/>
                  <a:gd name="T7" fmla="*/ 0 h 3"/>
                  <a:gd name="T8" fmla="*/ 912 w 912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12" h="3">
                    <a:moveTo>
                      <a:pt x="0" y="3"/>
                    </a:moveTo>
                    <a:lnTo>
                      <a:pt x="912" y="0"/>
                    </a:lnTo>
                  </a:path>
                </a:pathLst>
              </a:custGeom>
              <a:noFill/>
              <a:ln w="28575" cap="sq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113698" name="Line 52"/>
              <p:cNvSpPr>
                <a:spLocks noChangeShapeType="1"/>
              </p:cNvSpPr>
              <p:nvPr/>
            </p:nvSpPr>
            <p:spPr bwMode="auto">
              <a:xfrm>
                <a:off x="4368" y="1971"/>
                <a:ext cx="0" cy="861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113699" name="Line 53"/>
              <p:cNvSpPr>
                <a:spLocks noChangeShapeType="1"/>
              </p:cNvSpPr>
              <p:nvPr/>
            </p:nvSpPr>
            <p:spPr bwMode="auto">
              <a:xfrm>
                <a:off x="4824" y="1971"/>
                <a:ext cx="0" cy="86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113700" name="Line 54"/>
              <p:cNvSpPr>
                <a:spLocks noChangeShapeType="1"/>
              </p:cNvSpPr>
              <p:nvPr/>
            </p:nvSpPr>
            <p:spPr bwMode="auto">
              <a:xfrm>
                <a:off x="5280" y="1971"/>
                <a:ext cx="0" cy="861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113701" name="Freeform 55"/>
              <p:cNvSpPr/>
              <p:nvPr/>
            </p:nvSpPr>
            <p:spPr bwMode="auto">
              <a:xfrm>
                <a:off x="4368" y="1968"/>
                <a:ext cx="912" cy="3"/>
              </a:xfrm>
              <a:custGeom>
                <a:avLst/>
                <a:gdLst>
                  <a:gd name="T0" fmla="*/ 0 w 912"/>
                  <a:gd name="T1" fmla="*/ 0 h 3"/>
                  <a:gd name="T2" fmla="*/ 912 w 912"/>
                  <a:gd name="T3" fmla="*/ 3 h 3"/>
                  <a:gd name="T4" fmla="*/ 0 60000 65536"/>
                  <a:gd name="T5" fmla="*/ 0 60000 65536"/>
                  <a:gd name="T6" fmla="*/ 0 w 912"/>
                  <a:gd name="T7" fmla="*/ 0 h 3"/>
                  <a:gd name="T8" fmla="*/ 912 w 912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12" h="3">
                    <a:moveTo>
                      <a:pt x="0" y="0"/>
                    </a:moveTo>
                    <a:lnTo>
                      <a:pt x="912" y="3"/>
                    </a:lnTo>
                  </a:path>
                </a:pathLst>
              </a:custGeom>
              <a:noFill/>
              <a:ln w="28575" cap="sq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</p:grpSp>
        <p:sp>
          <p:nvSpPr>
            <p:cNvPr id="113685" name="Rectangle 56"/>
            <p:cNvSpPr>
              <a:spLocks noChangeArrowheads="1"/>
            </p:cNvSpPr>
            <p:nvPr/>
          </p:nvSpPr>
          <p:spPr bwMode="auto">
            <a:xfrm>
              <a:off x="3600" y="2350"/>
              <a:ext cx="45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400">
                  <a:latin typeface="Times New Roman" panose="02020603050405020304" pitchFamily="18" charset="0"/>
                </a:rPr>
                <a:t>4</a:t>
              </a:r>
            </a:p>
          </p:txBody>
        </p:sp>
        <p:sp>
          <p:nvSpPr>
            <p:cNvPr id="113686" name="Rectangle 57"/>
            <p:cNvSpPr>
              <a:spLocks noChangeArrowheads="1"/>
            </p:cNvSpPr>
            <p:nvPr/>
          </p:nvSpPr>
          <p:spPr bwMode="auto">
            <a:xfrm>
              <a:off x="3600" y="2063"/>
              <a:ext cx="45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400">
                  <a:latin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113687" name="Rectangle 58"/>
            <p:cNvSpPr>
              <a:spLocks noChangeArrowheads="1"/>
            </p:cNvSpPr>
            <p:nvPr/>
          </p:nvSpPr>
          <p:spPr bwMode="auto">
            <a:xfrm>
              <a:off x="3600" y="1776"/>
              <a:ext cx="45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4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13688" name="AutoShape 59"/>
            <p:cNvSpPr/>
            <p:nvPr/>
          </p:nvSpPr>
          <p:spPr bwMode="auto">
            <a:xfrm rot="5400000">
              <a:off x="4560" y="1248"/>
              <a:ext cx="144" cy="912"/>
            </a:xfrm>
            <a:prstGeom prst="leftBrace">
              <a:avLst>
                <a:gd name="adj1" fmla="val 52778"/>
                <a:gd name="adj2" fmla="val 50000"/>
              </a:avLst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sp>
        <p:nvSpPr>
          <p:cNvPr id="113676" name="Text Box 60"/>
          <p:cNvSpPr txBox="1">
            <a:spLocks noChangeArrowheads="1"/>
          </p:cNvSpPr>
          <p:nvPr/>
        </p:nvSpPr>
        <p:spPr bwMode="auto">
          <a:xfrm>
            <a:off x="304800" y="444500"/>
            <a:ext cx="62611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buClr>
                <a:schemeClr val="accent2"/>
              </a:buClr>
              <a:buSzPct val="80000"/>
              <a:buFont typeface="Wingdings" panose="05000000000000000000" pitchFamily="2" charset="2"/>
              <a:buNone/>
            </a:pPr>
            <a:r>
              <a:rPr lang="zh-CN" altLang="en-US" sz="3600">
                <a:latin typeface="Times New Roman" panose="02020603050405020304" pitchFamily="18" charset="0"/>
              </a:rPr>
              <a:t>3.  主存中存储单元地址的分配</a:t>
            </a:r>
          </a:p>
        </p:txBody>
      </p:sp>
      <p:sp>
        <p:nvSpPr>
          <p:cNvPr id="201789" name="Rectangle 61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201790" name="Text Box 62"/>
          <p:cNvSpPr txBox="1">
            <a:spLocks noChangeArrowheads="1"/>
          </p:cNvSpPr>
          <p:nvPr/>
        </p:nvSpPr>
        <p:spPr bwMode="auto">
          <a:xfrm>
            <a:off x="6172200" y="4854575"/>
            <a:ext cx="2209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lang="zh-CN" altLang="en-US" sz="2400" baseline="45000">
                <a:solidFill>
                  <a:schemeClr val="folHlink"/>
                </a:solidFill>
                <a:latin typeface="Times New Roman" panose="02020603050405020304" pitchFamily="18" charset="0"/>
              </a:rPr>
              <a:t>24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 = 16 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M</a:t>
            </a:r>
            <a:endParaRPr lang="zh-CN" altLang="en-US" sz="24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01791" name="Text Box 63"/>
          <p:cNvSpPr txBox="1">
            <a:spLocks noChangeArrowheads="1"/>
          </p:cNvSpPr>
          <p:nvPr/>
        </p:nvSpPr>
        <p:spPr bwMode="auto">
          <a:xfrm>
            <a:off x="7010400" y="5387975"/>
            <a:ext cx="2057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8 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M</a:t>
            </a:r>
            <a:endParaRPr lang="zh-CN" altLang="en-US" sz="2400" b="0">
              <a:latin typeface="Times New Roman" panose="02020603050405020304" pitchFamily="18" charset="0"/>
            </a:endParaRPr>
          </a:p>
        </p:txBody>
      </p:sp>
      <p:sp>
        <p:nvSpPr>
          <p:cNvPr id="201792" name="Text Box 64"/>
          <p:cNvSpPr txBox="1">
            <a:spLocks noChangeArrowheads="1"/>
          </p:cNvSpPr>
          <p:nvPr/>
        </p:nvSpPr>
        <p:spPr bwMode="auto">
          <a:xfrm>
            <a:off x="7010400" y="5919788"/>
            <a:ext cx="2057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4 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M</a:t>
            </a:r>
            <a:endParaRPr lang="zh-CN" altLang="en-US" sz="24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113681" name="AutoShape 65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017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017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017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017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017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2017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201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201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2017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2017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2017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1730" grpId="0" autoUpdateAnimBg="0"/>
      <p:bldP spid="201731" grpId="0" autoUpdateAnimBg="0"/>
      <p:bldP spid="201732" grpId="0" autoUpdateAnimBg="0"/>
      <p:bldP spid="201733" grpId="0" autoUpdateAnimBg="0"/>
      <p:bldP spid="201734" grpId="0" autoUpdateAnimBg="0"/>
      <p:bldP spid="201735" grpId="0" autoUpdateAnimBg="0"/>
      <p:bldP spid="201736" grpId="0" autoUpdateAnimBg="0"/>
      <p:bldP spid="201737" grpId="0" autoUpdateAnimBg="0"/>
      <p:bldP spid="201790" grpId="0" autoUpdateAnimBg="0"/>
      <p:bldP spid="201791" grpId="0" autoUpdateAnimBg="0"/>
      <p:bldP spid="201792" grpId="0" autoUpdateAnimBg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4" name="Text Box 2"/>
          <p:cNvSpPr txBox="1">
            <a:spLocks noChangeArrowheads="1"/>
          </p:cNvSpPr>
          <p:nvPr/>
        </p:nvSpPr>
        <p:spPr bwMode="auto">
          <a:xfrm>
            <a:off x="871538" y="2022475"/>
            <a:ext cx="31670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(2) 存储速度</a:t>
            </a:r>
          </a:p>
        </p:txBody>
      </p:sp>
      <p:sp>
        <p:nvSpPr>
          <p:cNvPr id="114691" name="Text Box 3"/>
          <p:cNvSpPr txBox="1">
            <a:spLocks noChangeArrowheads="1"/>
          </p:cNvSpPr>
          <p:nvPr/>
        </p:nvSpPr>
        <p:spPr bwMode="auto">
          <a:xfrm>
            <a:off x="376238" y="336550"/>
            <a:ext cx="3967162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4.  主存的技术指标</a:t>
            </a:r>
          </a:p>
        </p:txBody>
      </p:sp>
      <p:sp>
        <p:nvSpPr>
          <p:cNvPr id="202756" name="Text Box 4"/>
          <p:cNvSpPr txBox="1">
            <a:spLocks noChangeArrowheads="1"/>
          </p:cNvSpPr>
          <p:nvPr/>
        </p:nvSpPr>
        <p:spPr bwMode="auto">
          <a:xfrm>
            <a:off x="871538" y="1273175"/>
            <a:ext cx="30908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(1) 存储容量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02757" name="Text Box 5"/>
          <p:cNvSpPr txBox="1">
            <a:spLocks noChangeArrowheads="1"/>
          </p:cNvSpPr>
          <p:nvPr/>
        </p:nvSpPr>
        <p:spPr bwMode="auto">
          <a:xfrm>
            <a:off x="871538" y="5791200"/>
            <a:ext cx="41576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(3) 存储器的带宽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02758" name="Text Box 6"/>
          <p:cNvSpPr txBox="1">
            <a:spLocks noChangeArrowheads="1"/>
          </p:cNvSpPr>
          <p:nvPr/>
        </p:nvSpPr>
        <p:spPr bwMode="auto">
          <a:xfrm>
            <a:off x="3575050" y="1301750"/>
            <a:ext cx="52641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主存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存放二进制代码的总位数</a:t>
            </a:r>
            <a:r>
              <a:rPr lang="zh-CN" altLang="en-US" sz="2800"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202759" name="Text Box 7"/>
          <p:cNvSpPr txBox="1">
            <a:spLocks noChangeArrowheads="1"/>
          </p:cNvSpPr>
          <p:nvPr/>
        </p:nvSpPr>
        <p:spPr bwMode="auto">
          <a:xfrm>
            <a:off x="3575050" y="3282950"/>
            <a:ext cx="35845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 读出时间   写入时间 </a:t>
            </a:r>
          </a:p>
        </p:txBody>
      </p:sp>
      <p:sp>
        <p:nvSpPr>
          <p:cNvPr id="202760" name="Text Box 8"/>
          <p:cNvSpPr txBox="1">
            <a:spLocks noChangeArrowheads="1"/>
          </p:cNvSpPr>
          <p:nvPr/>
        </p:nvSpPr>
        <p:spPr bwMode="auto">
          <a:xfrm>
            <a:off x="3575050" y="2692400"/>
            <a:ext cx="32893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 存储器的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访问时间</a:t>
            </a:r>
            <a:r>
              <a:rPr lang="zh-CN" altLang="en-US" sz="2800">
                <a:latin typeface="Times New Roman" panose="02020603050405020304" pitchFamily="18" charset="0"/>
              </a:rPr>
              <a:t> </a:t>
            </a:r>
          </a:p>
        </p:txBody>
      </p:sp>
      <p:grpSp>
        <p:nvGrpSpPr>
          <p:cNvPr id="2" name="Group 9"/>
          <p:cNvGrpSpPr/>
          <p:nvPr/>
        </p:nvGrpSpPr>
        <p:grpSpPr bwMode="auto">
          <a:xfrm>
            <a:off x="1490663" y="2692400"/>
            <a:ext cx="1908175" cy="1814513"/>
            <a:chOff x="939" y="1696"/>
            <a:chExt cx="1202" cy="1143"/>
          </a:xfrm>
        </p:grpSpPr>
        <p:sp>
          <p:nvSpPr>
            <p:cNvPr id="114705" name="Text Box 10"/>
            <p:cNvSpPr txBox="1">
              <a:spLocks noChangeArrowheads="1"/>
            </p:cNvSpPr>
            <p:nvPr/>
          </p:nvSpPr>
          <p:spPr bwMode="auto">
            <a:xfrm>
              <a:off x="939" y="1696"/>
              <a:ext cx="114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Char char="•"/>
              </a:pPr>
              <a:r>
                <a:rPr lang="zh-CN" altLang="en-US" sz="2800">
                  <a:latin typeface="Times New Roman" panose="02020603050405020304" pitchFamily="18" charset="0"/>
                </a:rPr>
                <a:t> 存取时间</a:t>
              </a:r>
            </a:p>
          </p:txBody>
        </p:sp>
        <p:sp>
          <p:nvSpPr>
            <p:cNvPr id="114706" name="Text Box 11"/>
            <p:cNvSpPr txBox="1">
              <a:spLocks noChangeArrowheads="1"/>
            </p:cNvSpPr>
            <p:nvPr/>
          </p:nvSpPr>
          <p:spPr bwMode="auto">
            <a:xfrm>
              <a:off x="939" y="2512"/>
              <a:ext cx="120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Char char="•"/>
              </a:pPr>
              <a:r>
                <a:rPr lang="zh-CN" altLang="en-US" sz="2800">
                  <a:latin typeface="Times New Roman" panose="02020603050405020304" pitchFamily="18" charset="0"/>
                </a:rPr>
                <a:t> 存取周期 </a:t>
              </a:r>
            </a:p>
          </p:txBody>
        </p:sp>
      </p:grpSp>
      <p:sp>
        <p:nvSpPr>
          <p:cNvPr id="202764" name="Text Box 12"/>
          <p:cNvSpPr txBox="1">
            <a:spLocks noChangeArrowheads="1"/>
          </p:cNvSpPr>
          <p:nvPr/>
        </p:nvSpPr>
        <p:spPr bwMode="auto">
          <a:xfrm>
            <a:off x="3575050" y="5187950"/>
            <a:ext cx="39179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 读周期   写周期</a:t>
            </a:r>
          </a:p>
        </p:txBody>
      </p:sp>
      <p:grpSp>
        <p:nvGrpSpPr>
          <p:cNvPr id="3" name="Group 13"/>
          <p:cNvGrpSpPr/>
          <p:nvPr/>
        </p:nvGrpSpPr>
        <p:grpSpPr bwMode="auto">
          <a:xfrm>
            <a:off x="3575050" y="3987800"/>
            <a:ext cx="5568950" cy="1119188"/>
            <a:chOff x="2252" y="2512"/>
            <a:chExt cx="3508" cy="705"/>
          </a:xfrm>
        </p:grpSpPr>
        <p:sp>
          <p:nvSpPr>
            <p:cNvPr id="114703" name="Text Box 14"/>
            <p:cNvSpPr txBox="1">
              <a:spLocks noChangeArrowheads="1"/>
            </p:cNvSpPr>
            <p:nvPr/>
          </p:nvSpPr>
          <p:spPr bwMode="auto">
            <a:xfrm>
              <a:off x="2252" y="2512"/>
              <a:ext cx="350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 </a:t>
              </a: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连续两次独立的存储器操作</a:t>
              </a:r>
            </a:p>
          </p:txBody>
        </p:sp>
        <p:sp>
          <p:nvSpPr>
            <p:cNvPr id="114704" name="Text Box 15"/>
            <p:cNvSpPr txBox="1">
              <a:spLocks noChangeArrowheads="1"/>
            </p:cNvSpPr>
            <p:nvPr/>
          </p:nvSpPr>
          <p:spPr bwMode="auto">
            <a:xfrm>
              <a:off x="2252" y="2890"/>
              <a:ext cx="350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（读或写）所需的 </a:t>
              </a: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最小间隔时间</a:t>
              </a:r>
              <a:r>
                <a:rPr lang="zh-CN" altLang="en-US" sz="2800">
                  <a:latin typeface="Times New Roman" panose="02020603050405020304" pitchFamily="18" charset="0"/>
                </a:rPr>
                <a:t> </a:t>
              </a:r>
            </a:p>
          </p:txBody>
        </p:sp>
      </p:grpSp>
      <p:sp>
        <p:nvSpPr>
          <p:cNvPr id="202768" name="Text Box 16"/>
          <p:cNvSpPr txBox="1">
            <a:spLocks noChangeArrowheads="1"/>
          </p:cNvSpPr>
          <p:nvPr/>
        </p:nvSpPr>
        <p:spPr bwMode="auto">
          <a:xfrm>
            <a:off x="4306888" y="5821363"/>
            <a:ext cx="186531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位/秒</a:t>
            </a:r>
          </a:p>
        </p:txBody>
      </p:sp>
      <p:sp>
        <p:nvSpPr>
          <p:cNvPr id="202769" name="Rectangle 17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14702" name="AutoShape 18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027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02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027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027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027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202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2027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2027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2754" grpId="0" autoUpdateAnimBg="0"/>
      <p:bldP spid="202756" grpId="0" autoUpdateAnimBg="0"/>
      <p:bldP spid="202757" grpId="0" autoUpdateAnimBg="0"/>
      <p:bldP spid="202758" grpId="0" autoUpdateAnimBg="0"/>
      <p:bldP spid="202759" grpId="0" autoUpdateAnimBg="0"/>
      <p:bldP spid="202760" grpId="0" autoUpdateAnimBg="0"/>
      <p:bldP spid="202764" grpId="0" autoUpdateAnimBg="0"/>
      <p:bldP spid="202768" grpId="0" autoUpdateAnimBg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7" name="Text Box 5"/>
          <p:cNvSpPr txBox="1">
            <a:spLocks noChangeArrowheads="1"/>
          </p:cNvSpPr>
          <p:nvPr/>
        </p:nvSpPr>
        <p:spPr bwMode="auto">
          <a:xfrm>
            <a:off x="539552" y="988332"/>
            <a:ext cx="5632648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如何增加存储器的带宽</a:t>
            </a:r>
            <a:endParaRPr lang="zh-CN" altLang="en-US" sz="2800" dirty="0">
              <a:latin typeface="Times New Roman" panose="02020603050405020304" pitchFamily="18" charset="0"/>
            </a:endParaRPr>
          </a:p>
        </p:txBody>
      </p:sp>
      <p:sp>
        <p:nvSpPr>
          <p:cNvPr id="202769" name="Rectangle 17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14702" name="AutoShape 18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19" name="Text Box 2"/>
          <p:cNvSpPr txBox="1">
            <a:spLocks noChangeArrowheads="1"/>
          </p:cNvSpPr>
          <p:nvPr/>
        </p:nvSpPr>
        <p:spPr bwMode="auto">
          <a:xfrm>
            <a:off x="871538" y="2492896"/>
            <a:ext cx="7967662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(2) 增加存储字长，每个存取周期可读</a:t>
            </a:r>
            <a:r>
              <a:rPr lang="en-US" altLang="zh-CN" sz="3200" dirty="0">
                <a:latin typeface="Times New Roman" panose="02020603050405020304" pitchFamily="18" charset="0"/>
              </a:rPr>
              <a:t>/</a:t>
            </a:r>
            <a:r>
              <a:rPr lang="zh-CN" altLang="en-US" sz="3200" dirty="0">
                <a:latin typeface="Times New Roman" panose="02020603050405020304" pitchFamily="18" charset="0"/>
              </a:rPr>
              <a:t>写更多二进制位数</a:t>
            </a:r>
          </a:p>
        </p:txBody>
      </p:sp>
      <p:sp>
        <p:nvSpPr>
          <p:cNvPr id="20" name="Text Box 4"/>
          <p:cNvSpPr txBox="1">
            <a:spLocks noChangeArrowheads="1"/>
          </p:cNvSpPr>
          <p:nvPr/>
        </p:nvSpPr>
        <p:spPr bwMode="auto">
          <a:xfrm>
            <a:off x="871538" y="1743596"/>
            <a:ext cx="5140622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(1</a:t>
            </a:r>
            <a:r>
              <a:rPr lang="en-US" altLang="zh-CN" sz="3200" dirty="0">
                <a:latin typeface="Times New Roman" panose="02020603050405020304" pitchFamily="18" charset="0"/>
              </a:rPr>
              <a:t>)</a:t>
            </a:r>
            <a:r>
              <a:rPr lang="zh-CN" altLang="en-US" sz="3200" dirty="0">
                <a:latin typeface="Times New Roman" panose="02020603050405020304" pitchFamily="18" charset="0"/>
              </a:rPr>
              <a:t>缩短存取周期</a:t>
            </a:r>
            <a:endParaRPr lang="zh-CN" altLang="en-US" sz="2800" dirty="0">
              <a:latin typeface="Times New Roman" panose="02020603050405020304" pitchFamily="18" charset="0"/>
            </a:endParaRPr>
          </a:p>
        </p:txBody>
      </p:sp>
      <p:sp>
        <p:nvSpPr>
          <p:cNvPr id="21" name="Text Box 2"/>
          <p:cNvSpPr txBox="1">
            <a:spLocks noChangeArrowheads="1"/>
          </p:cNvSpPr>
          <p:nvPr/>
        </p:nvSpPr>
        <p:spPr bwMode="auto">
          <a:xfrm>
            <a:off x="871538" y="3605999"/>
            <a:ext cx="7967662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(</a:t>
            </a:r>
            <a:r>
              <a:rPr lang="en-US" altLang="zh-CN" sz="3200" dirty="0">
                <a:latin typeface="Times New Roman" panose="02020603050405020304" pitchFamily="18" charset="0"/>
              </a:rPr>
              <a:t>3</a:t>
            </a:r>
            <a:r>
              <a:rPr lang="zh-CN" altLang="en-US" sz="3200" dirty="0">
                <a:latin typeface="Times New Roman" panose="02020603050405020304" pitchFamily="18" charset="0"/>
              </a:rPr>
              <a:t>) 增加存储体，多体并行读取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027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2757" grpId="0" autoUpdateAnimBg="0"/>
      <p:bldP spid="19" grpId="0" autoUpdateAnimBg="0"/>
      <p:bldP spid="20" grpId="0" autoUpdateAnimBg="0"/>
      <p:bldP spid="21" grpId="0" autoUpdateAnimBg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778" name="Text Box 2"/>
          <p:cNvSpPr txBox="1">
            <a:spLocks noChangeArrowheads="1"/>
          </p:cNvSpPr>
          <p:nvPr/>
        </p:nvSpPr>
        <p:spPr bwMode="auto">
          <a:xfrm>
            <a:off x="6188075" y="4821238"/>
            <a:ext cx="23463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芯片容量</a:t>
            </a:r>
          </a:p>
        </p:txBody>
      </p:sp>
      <p:sp>
        <p:nvSpPr>
          <p:cNvPr id="115715" name="Text Box 3"/>
          <p:cNvSpPr txBox="1">
            <a:spLocks noChangeArrowheads="1"/>
          </p:cNvSpPr>
          <p:nvPr/>
        </p:nvSpPr>
        <p:spPr bwMode="auto">
          <a:xfrm>
            <a:off x="114300" y="381000"/>
            <a:ext cx="5230813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二、半导体存储芯片简介</a:t>
            </a:r>
          </a:p>
        </p:txBody>
      </p:sp>
      <p:sp>
        <p:nvSpPr>
          <p:cNvPr id="203780" name="Text Box 4"/>
          <p:cNvSpPr txBox="1">
            <a:spLocks noChangeArrowheads="1"/>
          </p:cNvSpPr>
          <p:nvPr/>
        </p:nvSpPr>
        <p:spPr bwMode="auto">
          <a:xfrm>
            <a:off x="574675" y="1276350"/>
            <a:ext cx="5588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1.  半导体存储芯片的基本结构</a:t>
            </a:r>
          </a:p>
        </p:txBody>
      </p:sp>
      <p:grpSp>
        <p:nvGrpSpPr>
          <p:cNvPr id="2" name="Group 5"/>
          <p:cNvGrpSpPr/>
          <p:nvPr/>
        </p:nvGrpSpPr>
        <p:grpSpPr bwMode="auto">
          <a:xfrm>
            <a:off x="2268538" y="2063750"/>
            <a:ext cx="4624387" cy="2471738"/>
            <a:chOff x="1429" y="1300"/>
            <a:chExt cx="2913" cy="1557"/>
          </a:xfrm>
        </p:grpSpPr>
        <p:sp>
          <p:nvSpPr>
            <p:cNvPr id="115757" name="Rectangle 6"/>
            <p:cNvSpPr>
              <a:spLocks noChangeArrowheads="1"/>
            </p:cNvSpPr>
            <p:nvPr/>
          </p:nvSpPr>
          <p:spPr bwMode="auto">
            <a:xfrm>
              <a:off x="1429" y="1300"/>
              <a:ext cx="2913" cy="1557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5758" name="Rectangle 7"/>
            <p:cNvSpPr>
              <a:spLocks noChangeArrowheads="1"/>
            </p:cNvSpPr>
            <p:nvPr/>
          </p:nvSpPr>
          <p:spPr bwMode="auto">
            <a:xfrm>
              <a:off x="1584" y="1513"/>
              <a:ext cx="461" cy="1130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5759" name="Rectangle 8"/>
            <p:cNvSpPr>
              <a:spLocks noChangeArrowheads="1"/>
            </p:cNvSpPr>
            <p:nvPr/>
          </p:nvSpPr>
          <p:spPr bwMode="auto">
            <a:xfrm>
              <a:off x="2196" y="1512"/>
              <a:ext cx="1379" cy="1130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5760" name="Rectangle 9"/>
            <p:cNvSpPr>
              <a:spLocks noChangeArrowheads="1"/>
            </p:cNvSpPr>
            <p:nvPr/>
          </p:nvSpPr>
          <p:spPr bwMode="auto">
            <a:xfrm>
              <a:off x="3726" y="1502"/>
              <a:ext cx="461" cy="1129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5761" name="Text Box 10"/>
            <p:cNvSpPr txBox="1">
              <a:spLocks noChangeArrowheads="1"/>
            </p:cNvSpPr>
            <p:nvPr/>
          </p:nvSpPr>
          <p:spPr bwMode="auto">
            <a:xfrm>
              <a:off x="1652" y="1549"/>
              <a:ext cx="325" cy="10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600">
                  <a:latin typeface="Times New Roman" panose="02020603050405020304" pitchFamily="18" charset="0"/>
                </a:rPr>
                <a:t>译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zh-CN" altLang="en-US" sz="2600">
                  <a:latin typeface="Times New Roman" panose="02020603050405020304" pitchFamily="18" charset="0"/>
                </a:rPr>
                <a:t>码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zh-CN" altLang="en-US" sz="2600">
                  <a:latin typeface="Times New Roman" panose="02020603050405020304" pitchFamily="18" charset="0"/>
                </a:rPr>
                <a:t>驱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zh-CN" altLang="en-US" sz="2600">
                  <a:latin typeface="Times New Roman" panose="02020603050405020304" pitchFamily="18" charset="0"/>
                </a:rPr>
                <a:t>动</a:t>
              </a:r>
            </a:p>
          </p:txBody>
        </p:sp>
        <p:sp>
          <p:nvSpPr>
            <p:cNvPr id="115762" name="Text Box 11"/>
            <p:cNvSpPr txBox="1">
              <a:spLocks noChangeArrowheads="1"/>
            </p:cNvSpPr>
            <p:nvPr/>
          </p:nvSpPr>
          <p:spPr bwMode="auto">
            <a:xfrm>
              <a:off x="2715" y="1548"/>
              <a:ext cx="341" cy="10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600">
                  <a:latin typeface="Times New Roman" panose="02020603050405020304" pitchFamily="18" charset="0"/>
                </a:rPr>
                <a:t>存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zh-CN" altLang="en-US" sz="2600">
                  <a:latin typeface="Times New Roman" panose="02020603050405020304" pitchFamily="18" charset="0"/>
                </a:rPr>
                <a:t>储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zh-CN" altLang="en-US" sz="2600">
                  <a:latin typeface="Times New Roman" panose="02020603050405020304" pitchFamily="18" charset="0"/>
                </a:rPr>
                <a:t>矩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zh-CN" altLang="en-US" sz="2600">
                  <a:latin typeface="Times New Roman" panose="02020603050405020304" pitchFamily="18" charset="0"/>
                </a:rPr>
                <a:t>阵</a:t>
              </a:r>
            </a:p>
          </p:txBody>
        </p:sp>
        <p:sp>
          <p:nvSpPr>
            <p:cNvPr id="115763" name="Text Box 12"/>
            <p:cNvSpPr txBox="1">
              <a:spLocks noChangeArrowheads="1"/>
            </p:cNvSpPr>
            <p:nvPr/>
          </p:nvSpPr>
          <p:spPr bwMode="auto">
            <a:xfrm>
              <a:off x="3794" y="1537"/>
              <a:ext cx="325" cy="10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600">
                  <a:latin typeface="Times New Roman" panose="02020603050405020304" pitchFamily="18" charset="0"/>
                </a:rPr>
                <a:t>读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zh-CN" altLang="en-US" sz="2600">
                  <a:latin typeface="Times New Roman" panose="02020603050405020304" pitchFamily="18" charset="0"/>
                </a:rPr>
                <a:t>写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zh-CN" altLang="en-US" sz="2600">
                  <a:latin typeface="Times New Roman" panose="02020603050405020304" pitchFamily="18" charset="0"/>
                </a:rPr>
                <a:t>电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zh-CN" altLang="en-US" sz="2600">
                  <a:latin typeface="Times New Roman" panose="02020603050405020304" pitchFamily="18" charset="0"/>
                </a:rPr>
                <a:t>路</a:t>
              </a:r>
            </a:p>
          </p:txBody>
        </p:sp>
      </p:grpSp>
      <p:sp>
        <p:nvSpPr>
          <p:cNvPr id="203789" name="Text Box 13"/>
          <p:cNvSpPr txBox="1">
            <a:spLocks noChangeArrowheads="1"/>
          </p:cNvSpPr>
          <p:nvPr/>
        </p:nvSpPr>
        <p:spPr bwMode="auto">
          <a:xfrm>
            <a:off x="6248400" y="5299075"/>
            <a:ext cx="1676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1</a:t>
            </a:r>
            <a:r>
              <a:rPr lang="en-US" altLang="zh-CN" sz="2400">
                <a:latin typeface="Times New Roman" panose="02020603050405020304" pitchFamily="18" charset="0"/>
              </a:rPr>
              <a:t>K×4</a:t>
            </a:r>
            <a:r>
              <a:rPr lang="zh-CN" altLang="en-US" sz="2400">
                <a:latin typeface="Times New Roman" panose="02020603050405020304" pitchFamily="18" charset="0"/>
              </a:rPr>
              <a:t>位</a:t>
            </a:r>
          </a:p>
        </p:txBody>
      </p:sp>
      <p:sp>
        <p:nvSpPr>
          <p:cNvPr id="203790" name="Text Box 14"/>
          <p:cNvSpPr txBox="1">
            <a:spLocks noChangeArrowheads="1"/>
          </p:cNvSpPr>
          <p:nvPr/>
        </p:nvSpPr>
        <p:spPr bwMode="auto">
          <a:xfrm>
            <a:off x="6096000" y="5770563"/>
            <a:ext cx="1981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16</a:t>
            </a:r>
            <a:r>
              <a:rPr lang="en-US" altLang="zh-CN" sz="2400">
                <a:latin typeface="Times New Roman" panose="02020603050405020304" pitchFamily="18" charset="0"/>
              </a:rPr>
              <a:t>K×1</a:t>
            </a:r>
            <a:r>
              <a:rPr lang="zh-CN" altLang="en-US" sz="2400">
                <a:latin typeface="Times New Roman" panose="02020603050405020304" pitchFamily="18" charset="0"/>
              </a:rPr>
              <a:t>位</a:t>
            </a:r>
          </a:p>
        </p:txBody>
      </p:sp>
      <p:sp>
        <p:nvSpPr>
          <p:cNvPr id="203791" name="Text Box 15"/>
          <p:cNvSpPr txBox="1">
            <a:spLocks noChangeArrowheads="1"/>
          </p:cNvSpPr>
          <p:nvPr/>
        </p:nvSpPr>
        <p:spPr bwMode="auto">
          <a:xfrm>
            <a:off x="6248400" y="6270625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8</a:t>
            </a:r>
            <a:r>
              <a:rPr lang="en-US" altLang="zh-CN" sz="2400">
                <a:latin typeface="Times New Roman" panose="02020603050405020304" pitchFamily="18" charset="0"/>
              </a:rPr>
              <a:t>K×8</a:t>
            </a:r>
            <a:r>
              <a:rPr lang="zh-CN" altLang="en-US" sz="2400">
                <a:latin typeface="Times New Roman" panose="02020603050405020304" pitchFamily="18" charset="0"/>
              </a:rPr>
              <a:t>位</a:t>
            </a:r>
          </a:p>
        </p:txBody>
      </p:sp>
      <p:grpSp>
        <p:nvGrpSpPr>
          <p:cNvPr id="3" name="Group 16"/>
          <p:cNvGrpSpPr/>
          <p:nvPr/>
        </p:nvGrpSpPr>
        <p:grpSpPr bwMode="auto">
          <a:xfrm>
            <a:off x="422275" y="4010025"/>
            <a:ext cx="1863725" cy="488950"/>
            <a:chOff x="266" y="2526"/>
            <a:chExt cx="1174" cy="308"/>
          </a:xfrm>
        </p:grpSpPr>
        <p:sp>
          <p:nvSpPr>
            <p:cNvPr id="115755" name="Text Box 17"/>
            <p:cNvSpPr txBox="1">
              <a:spLocks noChangeArrowheads="1"/>
            </p:cNvSpPr>
            <p:nvPr/>
          </p:nvSpPr>
          <p:spPr bwMode="auto">
            <a:xfrm>
              <a:off x="266" y="2526"/>
              <a:ext cx="743" cy="3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600">
                  <a:latin typeface="Times New Roman" panose="02020603050405020304" pitchFamily="18" charset="0"/>
                </a:rPr>
                <a:t>片选线</a:t>
              </a:r>
            </a:p>
          </p:txBody>
        </p:sp>
        <p:sp>
          <p:nvSpPr>
            <p:cNvPr id="115756" name="Line 18"/>
            <p:cNvSpPr>
              <a:spLocks noChangeShapeType="1"/>
            </p:cNvSpPr>
            <p:nvPr/>
          </p:nvSpPr>
          <p:spPr bwMode="auto">
            <a:xfrm>
              <a:off x="960" y="2688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4" name="Group 19"/>
          <p:cNvGrpSpPr/>
          <p:nvPr/>
        </p:nvGrpSpPr>
        <p:grpSpPr bwMode="auto">
          <a:xfrm>
            <a:off x="6877050" y="4235450"/>
            <a:ext cx="2068513" cy="488950"/>
            <a:chOff x="4332" y="2668"/>
            <a:chExt cx="1303" cy="308"/>
          </a:xfrm>
        </p:grpSpPr>
        <p:sp>
          <p:nvSpPr>
            <p:cNvPr id="115753" name="Text Box 20"/>
            <p:cNvSpPr txBox="1">
              <a:spLocks noChangeArrowheads="1"/>
            </p:cNvSpPr>
            <p:nvPr/>
          </p:nvSpPr>
          <p:spPr bwMode="auto">
            <a:xfrm>
              <a:off x="4416" y="2668"/>
              <a:ext cx="1219" cy="3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600">
                  <a:latin typeface="Times New Roman" panose="02020603050405020304" pitchFamily="18" charset="0"/>
                </a:rPr>
                <a:t>读/写控制线</a:t>
              </a:r>
            </a:p>
          </p:txBody>
        </p:sp>
        <p:sp>
          <p:nvSpPr>
            <p:cNvPr id="115754" name="Line 21"/>
            <p:cNvSpPr>
              <a:spLocks noChangeShapeType="1"/>
            </p:cNvSpPr>
            <p:nvPr/>
          </p:nvSpPr>
          <p:spPr bwMode="auto">
            <a:xfrm rot="10800000">
              <a:off x="4332" y="2688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5" name="Group 53"/>
          <p:cNvGrpSpPr/>
          <p:nvPr/>
        </p:nvGrpSpPr>
        <p:grpSpPr bwMode="auto">
          <a:xfrm>
            <a:off x="688975" y="2338388"/>
            <a:ext cx="1597025" cy="1547812"/>
            <a:chOff x="434" y="1473"/>
            <a:chExt cx="1006" cy="975"/>
          </a:xfrm>
        </p:grpSpPr>
        <p:sp>
          <p:nvSpPr>
            <p:cNvPr id="115746" name="Freeform 23"/>
            <p:cNvSpPr/>
            <p:nvPr/>
          </p:nvSpPr>
          <p:spPr bwMode="auto">
            <a:xfrm>
              <a:off x="790" y="1473"/>
              <a:ext cx="133" cy="954"/>
            </a:xfrm>
            <a:custGeom>
              <a:avLst/>
              <a:gdLst>
                <a:gd name="T0" fmla="*/ 3345090 w 61"/>
                <a:gd name="T1" fmla="*/ 0 h 930"/>
                <a:gd name="T2" fmla="*/ 2690399 w 61"/>
                <a:gd name="T3" fmla="*/ 9 h 930"/>
                <a:gd name="T4" fmla="*/ 2237875 w 61"/>
                <a:gd name="T5" fmla="*/ 39 h 930"/>
                <a:gd name="T6" fmla="*/ 1811617 w 61"/>
                <a:gd name="T7" fmla="*/ 67 h 930"/>
                <a:gd name="T8" fmla="*/ 1583186 w 61"/>
                <a:gd name="T9" fmla="*/ 110 h 930"/>
                <a:gd name="T10" fmla="*/ 1583186 w 61"/>
                <a:gd name="T11" fmla="*/ 555 h 930"/>
                <a:gd name="T12" fmla="*/ 1583186 w 61"/>
                <a:gd name="T13" fmla="*/ 597 h 930"/>
                <a:gd name="T14" fmla="*/ 1153583 w 61"/>
                <a:gd name="T15" fmla="*/ 630 h 930"/>
                <a:gd name="T16" fmla="*/ 655862 w 61"/>
                <a:gd name="T17" fmla="*/ 652 h 930"/>
                <a:gd name="T18" fmla="*/ 0 w 61"/>
                <a:gd name="T19" fmla="*/ 664 h 930"/>
                <a:gd name="T20" fmla="*/ 655862 w 61"/>
                <a:gd name="T21" fmla="*/ 670 h 930"/>
                <a:gd name="T22" fmla="*/ 1153583 w 61"/>
                <a:gd name="T23" fmla="*/ 695 h 930"/>
                <a:gd name="T24" fmla="*/ 1583186 w 61"/>
                <a:gd name="T25" fmla="*/ 728 h 930"/>
                <a:gd name="T26" fmla="*/ 1583186 w 61"/>
                <a:gd name="T27" fmla="*/ 777 h 930"/>
                <a:gd name="T28" fmla="*/ 1583186 w 61"/>
                <a:gd name="T29" fmla="*/ 1219 h 930"/>
                <a:gd name="T30" fmla="*/ 1811617 w 61"/>
                <a:gd name="T31" fmla="*/ 1260 h 930"/>
                <a:gd name="T32" fmla="*/ 2237875 w 61"/>
                <a:gd name="T33" fmla="*/ 1295 h 930"/>
                <a:gd name="T34" fmla="*/ 2690399 w 61"/>
                <a:gd name="T35" fmla="*/ 1316 h 930"/>
                <a:gd name="T36" fmla="*/ 3345090 w 61"/>
                <a:gd name="T37" fmla="*/ 1329 h 93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61"/>
                <a:gd name="T58" fmla="*/ 0 h 930"/>
                <a:gd name="T59" fmla="*/ 61 w 61"/>
                <a:gd name="T60" fmla="*/ 930 h 93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61" h="930">
                  <a:moveTo>
                    <a:pt x="61" y="0"/>
                  </a:moveTo>
                  <a:lnTo>
                    <a:pt x="49" y="9"/>
                  </a:lnTo>
                  <a:lnTo>
                    <a:pt x="41" y="25"/>
                  </a:lnTo>
                  <a:lnTo>
                    <a:pt x="33" y="49"/>
                  </a:lnTo>
                  <a:lnTo>
                    <a:pt x="29" y="78"/>
                  </a:lnTo>
                  <a:lnTo>
                    <a:pt x="29" y="388"/>
                  </a:lnTo>
                  <a:lnTo>
                    <a:pt x="29" y="417"/>
                  </a:lnTo>
                  <a:lnTo>
                    <a:pt x="21" y="441"/>
                  </a:lnTo>
                  <a:lnTo>
                    <a:pt x="12" y="457"/>
                  </a:lnTo>
                  <a:lnTo>
                    <a:pt x="0" y="465"/>
                  </a:lnTo>
                  <a:lnTo>
                    <a:pt x="12" y="470"/>
                  </a:lnTo>
                  <a:lnTo>
                    <a:pt x="21" y="486"/>
                  </a:lnTo>
                  <a:lnTo>
                    <a:pt x="29" y="510"/>
                  </a:lnTo>
                  <a:lnTo>
                    <a:pt x="29" y="543"/>
                  </a:lnTo>
                  <a:lnTo>
                    <a:pt x="29" y="853"/>
                  </a:lnTo>
                  <a:lnTo>
                    <a:pt x="33" y="881"/>
                  </a:lnTo>
                  <a:lnTo>
                    <a:pt x="41" y="906"/>
                  </a:lnTo>
                  <a:lnTo>
                    <a:pt x="49" y="922"/>
                  </a:lnTo>
                  <a:lnTo>
                    <a:pt x="61" y="930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47" name="Text Box 24"/>
            <p:cNvSpPr txBox="1">
              <a:spLocks noChangeArrowheads="1"/>
            </p:cNvSpPr>
            <p:nvPr/>
          </p:nvSpPr>
          <p:spPr bwMode="auto">
            <a:xfrm>
              <a:off x="434" y="1544"/>
              <a:ext cx="309" cy="8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600">
                  <a:latin typeface="Times New Roman" panose="02020603050405020304" pitchFamily="18" charset="0"/>
                </a:rPr>
                <a:t>地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zh-CN" altLang="en-US" sz="2600">
                  <a:latin typeface="Times New Roman" panose="02020603050405020304" pitchFamily="18" charset="0"/>
                </a:rPr>
                <a:t>址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zh-CN" altLang="en-US" sz="2600">
                  <a:latin typeface="Times New Roman" panose="02020603050405020304" pitchFamily="18" charset="0"/>
                </a:rPr>
                <a:t>线</a:t>
              </a:r>
            </a:p>
          </p:txBody>
        </p:sp>
        <p:sp>
          <p:nvSpPr>
            <p:cNvPr id="115748" name="Line 25"/>
            <p:cNvSpPr>
              <a:spLocks noChangeShapeType="1"/>
            </p:cNvSpPr>
            <p:nvPr/>
          </p:nvSpPr>
          <p:spPr bwMode="auto">
            <a:xfrm>
              <a:off x="960" y="1488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5749" name="Line 26"/>
            <p:cNvSpPr>
              <a:spLocks noChangeShapeType="1"/>
            </p:cNvSpPr>
            <p:nvPr/>
          </p:nvSpPr>
          <p:spPr bwMode="auto">
            <a:xfrm>
              <a:off x="960" y="1632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5750" name="Line 27"/>
            <p:cNvSpPr>
              <a:spLocks noChangeShapeType="1"/>
            </p:cNvSpPr>
            <p:nvPr/>
          </p:nvSpPr>
          <p:spPr bwMode="auto">
            <a:xfrm>
              <a:off x="960" y="2304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5751" name="Line 28"/>
            <p:cNvSpPr>
              <a:spLocks noChangeShapeType="1"/>
            </p:cNvSpPr>
            <p:nvPr/>
          </p:nvSpPr>
          <p:spPr bwMode="auto">
            <a:xfrm>
              <a:off x="960" y="2448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5752" name="Text Box 29"/>
            <p:cNvSpPr txBox="1">
              <a:spLocks noChangeArrowheads="1"/>
            </p:cNvSpPr>
            <p:nvPr/>
          </p:nvSpPr>
          <p:spPr bwMode="auto">
            <a:xfrm>
              <a:off x="1017" y="1791"/>
              <a:ext cx="423" cy="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6" name="Group 52"/>
          <p:cNvGrpSpPr/>
          <p:nvPr/>
        </p:nvGrpSpPr>
        <p:grpSpPr bwMode="auto">
          <a:xfrm>
            <a:off x="6877050" y="2362200"/>
            <a:ext cx="1547813" cy="1528763"/>
            <a:chOff x="4332" y="1488"/>
            <a:chExt cx="975" cy="963"/>
          </a:xfrm>
        </p:grpSpPr>
        <p:sp>
          <p:nvSpPr>
            <p:cNvPr id="115739" name="Freeform 31"/>
            <p:cNvSpPr/>
            <p:nvPr/>
          </p:nvSpPr>
          <p:spPr bwMode="auto">
            <a:xfrm>
              <a:off x="4852" y="1525"/>
              <a:ext cx="101" cy="926"/>
            </a:xfrm>
            <a:custGeom>
              <a:avLst/>
              <a:gdLst>
                <a:gd name="T0" fmla="*/ 0 w 53"/>
                <a:gd name="T1" fmla="*/ 0 h 926"/>
                <a:gd name="T2" fmla="*/ 101059 w 53"/>
                <a:gd name="T3" fmla="*/ 4 h 926"/>
                <a:gd name="T4" fmla="*/ 164748 w 53"/>
                <a:gd name="T5" fmla="*/ 20 h 926"/>
                <a:gd name="T6" fmla="*/ 240666 w 53"/>
                <a:gd name="T7" fmla="*/ 45 h 926"/>
                <a:gd name="T8" fmla="*/ 240666 w 53"/>
                <a:gd name="T9" fmla="*/ 78 h 926"/>
                <a:gd name="T10" fmla="*/ 240666 w 53"/>
                <a:gd name="T11" fmla="*/ 388 h 926"/>
                <a:gd name="T12" fmla="*/ 240666 w 53"/>
                <a:gd name="T13" fmla="*/ 416 h 926"/>
                <a:gd name="T14" fmla="*/ 309575 w 53"/>
                <a:gd name="T15" fmla="*/ 441 h 926"/>
                <a:gd name="T16" fmla="*/ 341822 w 53"/>
                <a:gd name="T17" fmla="*/ 457 h 926"/>
                <a:gd name="T18" fmla="*/ 440190 w 53"/>
                <a:gd name="T19" fmla="*/ 465 h 926"/>
                <a:gd name="T20" fmla="*/ 341822 w 53"/>
                <a:gd name="T21" fmla="*/ 469 h 926"/>
                <a:gd name="T22" fmla="*/ 309575 w 53"/>
                <a:gd name="T23" fmla="*/ 485 h 926"/>
                <a:gd name="T24" fmla="*/ 240666 w 53"/>
                <a:gd name="T25" fmla="*/ 510 h 926"/>
                <a:gd name="T26" fmla="*/ 240666 w 53"/>
                <a:gd name="T27" fmla="*/ 543 h 926"/>
                <a:gd name="T28" fmla="*/ 240666 w 53"/>
                <a:gd name="T29" fmla="*/ 848 h 926"/>
                <a:gd name="T30" fmla="*/ 240666 w 53"/>
                <a:gd name="T31" fmla="*/ 881 h 926"/>
                <a:gd name="T32" fmla="*/ 164748 w 53"/>
                <a:gd name="T33" fmla="*/ 906 h 926"/>
                <a:gd name="T34" fmla="*/ 101059 w 53"/>
                <a:gd name="T35" fmla="*/ 922 h 926"/>
                <a:gd name="T36" fmla="*/ 0 w 53"/>
                <a:gd name="T37" fmla="*/ 926 h 9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3"/>
                <a:gd name="T58" fmla="*/ 0 h 926"/>
                <a:gd name="T59" fmla="*/ 53 w 53"/>
                <a:gd name="T60" fmla="*/ 926 h 92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3" h="926">
                  <a:moveTo>
                    <a:pt x="0" y="0"/>
                  </a:moveTo>
                  <a:lnTo>
                    <a:pt x="12" y="4"/>
                  </a:lnTo>
                  <a:lnTo>
                    <a:pt x="20" y="20"/>
                  </a:lnTo>
                  <a:lnTo>
                    <a:pt x="29" y="45"/>
                  </a:lnTo>
                  <a:lnTo>
                    <a:pt x="29" y="78"/>
                  </a:lnTo>
                  <a:lnTo>
                    <a:pt x="29" y="388"/>
                  </a:lnTo>
                  <a:lnTo>
                    <a:pt x="29" y="416"/>
                  </a:lnTo>
                  <a:lnTo>
                    <a:pt x="37" y="441"/>
                  </a:lnTo>
                  <a:lnTo>
                    <a:pt x="41" y="457"/>
                  </a:lnTo>
                  <a:lnTo>
                    <a:pt x="53" y="465"/>
                  </a:lnTo>
                  <a:lnTo>
                    <a:pt x="41" y="469"/>
                  </a:lnTo>
                  <a:lnTo>
                    <a:pt x="37" y="485"/>
                  </a:lnTo>
                  <a:lnTo>
                    <a:pt x="29" y="510"/>
                  </a:lnTo>
                  <a:lnTo>
                    <a:pt x="29" y="543"/>
                  </a:lnTo>
                  <a:lnTo>
                    <a:pt x="29" y="848"/>
                  </a:lnTo>
                  <a:lnTo>
                    <a:pt x="29" y="881"/>
                  </a:lnTo>
                  <a:lnTo>
                    <a:pt x="20" y="906"/>
                  </a:lnTo>
                  <a:lnTo>
                    <a:pt x="12" y="922"/>
                  </a:lnTo>
                  <a:lnTo>
                    <a:pt x="0" y="926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40" name="Text Box 32"/>
            <p:cNvSpPr txBox="1">
              <a:spLocks noChangeArrowheads="1"/>
            </p:cNvSpPr>
            <p:nvPr/>
          </p:nvSpPr>
          <p:spPr bwMode="auto">
            <a:xfrm>
              <a:off x="4982" y="1592"/>
              <a:ext cx="325" cy="8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600">
                  <a:latin typeface="Times New Roman" panose="02020603050405020304" pitchFamily="18" charset="0"/>
                </a:rPr>
                <a:t>数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zh-CN" altLang="en-US" sz="2600">
                  <a:latin typeface="Times New Roman" panose="02020603050405020304" pitchFamily="18" charset="0"/>
                </a:rPr>
                <a:t>据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zh-CN" altLang="en-US" sz="2600">
                  <a:latin typeface="Times New Roman" panose="02020603050405020304" pitchFamily="18" charset="0"/>
                </a:rPr>
                <a:t>线</a:t>
              </a:r>
            </a:p>
          </p:txBody>
        </p:sp>
        <p:sp>
          <p:nvSpPr>
            <p:cNvPr id="115741" name="Line 33"/>
            <p:cNvSpPr>
              <a:spLocks noChangeShapeType="1"/>
            </p:cNvSpPr>
            <p:nvPr/>
          </p:nvSpPr>
          <p:spPr bwMode="auto">
            <a:xfrm rot="10800000">
              <a:off x="4332" y="2448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5742" name="Line 34"/>
            <p:cNvSpPr>
              <a:spLocks noChangeShapeType="1"/>
            </p:cNvSpPr>
            <p:nvPr/>
          </p:nvSpPr>
          <p:spPr bwMode="auto">
            <a:xfrm rot="10800000">
              <a:off x="4332" y="2304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5743" name="Line 35"/>
            <p:cNvSpPr>
              <a:spLocks noChangeShapeType="1"/>
            </p:cNvSpPr>
            <p:nvPr/>
          </p:nvSpPr>
          <p:spPr bwMode="auto">
            <a:xfrm rot="10800000">
              <a:off x="4332" y="1632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5744" name="Line 36"/>
            <p:cNvSpPr>
              <a:spLocks noChangeShapeType="1"/>
            </p:cNvSpPr>
            <p:nvPr/>
          </p:nvSpPr>
          <p:spPr bwMode="auto">
            <a:xfrm rot="10800000">
              <a:off x="4332" y="1488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5745" name="Text Box 37"/>
            <p:cNvSpPr txBox="1">
              <a:spLocks noChangeArrowheads="1"/>
            </p:cNvSpPr>
            <p:nvPr/>
          </p:nvSpPr>
          <p:spPr bwMode="auto">
            <a:xfrm>
              <a:off x="4425" y="1791"/>
              <a:ext cx="423" cy="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7" name="Group 38"/>
          <p:cNvGrpSpPr/>
          <p:nvPr/>
        </p:nvGrpSpPr>
        <p:grpSpPr bwMode="auto">
          <a:xfrm>
            <a:off x="1371600" y="4821238"/>
            <a:ext cx="2271713" cy="457200"/>
            <a:chOff x="864" y="3037"/>
            <a:chExt cx="1431" cy="288"/>
          </a:xfrm>
        </p:grpSpPr>
        <p:sp>
          <p:nvSpPr>
            <p:cNvPr id="115737" name="Text Box 39"/>
            <p:cNvSpPr txBox="1">
              <a:spLocks noChangeArrowheads="1"/>
            </p:cNvSpPr>
            <p:nvPr/>
          </p:nvSpPr>
          <p:spPr bwMode="auto">
            <a:xfrm>
              <a:off x="864" y="3037"/>
              <a:ext cx="115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地址线</a:t>
              </a:r>
            </a:p>
          </p:txBody>
        </p:sp>
        <p:sp>
          <p:nvSpPr>
            <p:cNvPr id="115738" name="Text Box 40"/>
            <p:cNvSpPr txBox="1">
              <a:spLocks noChangeArrowheads="1"/>
            </p:cNvSpPr>
            <p:nvPr/>
          </p:nvSpPr>
          <p:spPr bwMode="auto">
            <a:xfrm>
              <a:off x="1411" y="3037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（单向）</a:t>
              </a:r>
            </a:p>
          </p:txBody>
        </p:sp>
      </p:grpSp>
      <p:grpSp>
        <p:nvGrpSpPr>
          <p:cNvPr id="8" name="Group 41"/>
          <p:cNvGrpSpPr/>
          <p:nvPr/>
        </p:nvGrpSpPr>
        <p:grpSpPr bwMode="auto">
          <a:xfrm>
            <a:off x="3746500" y="4821238"/>
            <a:ext cx="2654300" cy="457200"/>
            <a:chOff x="2360" y="3037"/>
            <a:chExt cx="1672" cy="288"/>
          </a:xfrm>
        </p:grpSpPr>
        <p:sp>
          <p:nvSpPr>
            <p:cNvPr id="115735" name="Text Box 42"/>
            <p:cNvSpPr txBox="1">
              <a:spLocks noChangeArrowheads="1"/>
            </p:cNvSpPr>
            <p:nvPr/>
          </p:nvSpPr>
          <p:spPr bwMode="auto">
            <a:xfrm>
              <a:off x="2360" y="3037"/>
              <a:ext cx="114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数据线</a:t>
              </a:r>
            </a:p>
          </p:txBody>
        </p:sp>
        <p:sp>
          <p:nvSpPr>
            <p:cNvPr id="115736" name="Text Box 43"/>
            <p:cNvSpPr txBox="1">
              <a:spLocks noChangeArrowheads="1"/>
            </p:cNvSpPr>
            <p:nvPr/>
          </p:nvSpPr>
          <p:spPr bwMode="auto">
            <a:xfrm>
              <a:off x="2908" y="3037"/>
              <a:ext cx="112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（双向）</a:t>
              </a:r>
            </a:p>
          </p:txBody>
        </p:sp>
      </p:grpSp>
      <p:sp>
        <p:nvSpPr>
          <p:cNvPr id="203820" name="Text Box 44"/>
          <p:cNvSpPr txBox="1">
            <a:spLocks noChangeArrowheads="1"/>
          </p:cNvSpPr>
          <p:nvPr/>
        </p:nvSpPr>
        <p:spPr bwMode="auto">
          <a:xfrm>
            <a:off x="2041525" y="5299075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10</a:t>
            </a:r>
          </a:p>
        </p:txBody>
      </p:sp>
      <p:sp>
        <p:nvSpPr>
          <p:cNvPr id="203821" name="Text Box 45"/>
          <p:cNvSpPr txBox="1">
            <a:spLocks noChangeArrowheads="1"/>
          </p:cNvSpPr>
          <p:nvPr/>
        </p:nvSpPr>
        <p:spPr bwMode="auto">
          <a:xfrm>
            <a:off x="4387850" y="5299075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4</a:t>
            </a:r>
          </a:p>
        </p:txBody>
      </p:sp>
      <p:sp>
        <p:nvSpPr>
          <p:cNvPr id="203822" name="Text Box 46"/>
          <p:cNvSpPr txBox="1">
            <a:spLocks noChangeArrowheads="1"/>
          </p:cNvSpPr>
          <p:nvPr/>
        </p:nvSpPr>
        <p:spPr bwMode="auto">
          <a:xfrm>
            <a:off x="2041525" y="5770563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14</a:t>
            </a:r>
          </a:p>
        </p:txBody>
      </p:sp>
      <p:sp>
        <p:nvSpPr>
          <p:cNvPr id="203823" name="Text Box 47"/>
          <p:cNvSpPr txBox="1">
            <a:spLocks noChangeArrowheads="1"/>
          </p:cNvSpPr>
          <p:nvPr/>
        </p:nvSpPr>
        <p:spPr bwMode="auto">
          <a:xfrm>
            <a:off x="4387850" y="5770563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1</a:t>
            </a:r>
          </a:p>
        </p:txBody>
      </p:sp>
      <p:sp>
        <p:nvSpPr>
          <p:cNvPr id="203824" name="Text Box 48"/>
          <p:cNvSpPr txBox="1">
            <a:spLocks noChangeArrowheads="1"/>
          </p:cNvSpPr>
          <p:nvPr/>
        </p:nvSpPr>
        <p:spPr bwMode="auto">
          <a:xfrm>
            <a:off x="2041525" y="6270625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13</a:t>
            </a:r>
          </a:p>
        </p:txBody>
      </p:sp>
      <p:sp>
        <p:nvSpPr>
          <p:cNvPr id="203825" name="Text Box 49"/>
          <p:cNvSpPr txBox="1">
            <a:spLocks noChangeArrowheads="1"/>
          </p:cNvSpPr>
          <p:nvPr/>
        </p:nvSpPr>
        <p:spPr bwMode="auto">
          <a:xfrm>
            <a:off x="4387850" y="6270625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8</a:t>
            </a:r>
          </a:p>
        </p:txBody>
      </p:sp>
      <p:sp>
        <p:nvSpPr>
          <p:cNvPr id="203826" name="Rectangle 50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15734" name="AutoShape 51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037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3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2037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2038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203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2037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203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2038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2037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8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2" dur="500"/>
                                        <p:tgtEl>
                                          <p:spTgt spid="2038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8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7" dur="500"/>
                                        <p:tgtEl>
                                          <p:spTgt spid="2038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2" dur="500"/>
                                        <p:tgtEl>
                                          <p:spTgt spid="203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3778" grpId="0" autoUpdateAnimBg="0"/>
      <p:bldP spid="203780" grpId="0" autoUpdateAnimBg="0"/>
      <p:bldP spid="203789" grpId="0" autoUpdateAnimBg="0"/>
      <p:bldP spid="203790" grpId="0" autoUpdateAnimBg="0"/>
      <p:bldP spid="203791" grpId="0" autoUpdateAnimBg="0"/>
      <p:bldP spid="203820" grpId="0" autoUpdateAnimBg="0"/>
      <p:bldP spid="203821" grpId="0" autoUpdateAnimBg="0"/>
      <p:bldP spid="203822" grpId="0" autoUpdateAnimBg="0"/>
      <p:bldP spid="203823" grpId="0" autoUpdateAnimBg="0"/>
      <p:bldP spid="203824" grpId="0" autoUpdateAnimBg="0"/>
      <p:bldP spid="203825" grpId="0" autoUpdateAnimBg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738" name="Group 60"/>
          <p:cNvGrpSpPr/>
          <p:nvPr/>
        </p:nvGrpSpPr>
        <p:grpSpPr bwMode="auto">
          <a:xfrm>
            <a:off x="114300" y="381000"/>
            <a:ext cx="8845550" cy="4343400"/>
            <a:chOff x="72" y="240"/>
            <a:chExt cx="5572" cy="2736"/>
          </a:xfrm>
        </p:grpSpPr>
        <p:sp>
          <p:nvSpPr>
            <p:cNvPr id="116762" name="Text Box 3"/>
            <p:cNvSpPr txBox="1">
              <a:spLocks noChangeArrowheads="1"/>
            </p:cNvSpPr>
            <p:nvPr/>
          </p:nvSpPr>
          <p:spPr bwMode="auto">
            <a:xfrm>
              <a:off x="72" y="240"/>
              <a:ext cx="3295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600">
                  <a:latin typeface="Times New Roman" panose="02020603050405020304" pitchFamily="18" charset="0"/>
                </a:rPr>
                <a:t>二、半导体存储芯片简介</a:t>
              </a:r>
            </a:p>
          </p:txBody>
        </p:sp>
        <p:sp>
          <p:nvSpPr>
            <p:cNvPr id="116763" name="Text Box 4"/>
            <p:cNvSpPr txBox="1">
              <a:spLocks noChangeArrowheads="1"/>
            </p:cNvSpPr>
            <p:nvPr/>
          </p:nvSpPr>
          <p:spPr bwMode="auto">
            <a:xfrm>
              <a:off x="362" y="804"/>
              <a:ext cx="352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1.  半导体存储芯片的基本结构</a:t>
              </a:r>
            </a:p>
          </p:txBody>
        </p:sp>
        <p:grpSp>
          <p:nvGrpSpPr>
            <p:cNvPr id="116764" name="Group 5"/>
            <p:cNvGrpSpPr/>
            <p:nvPr/>
          </p:nvGrpSpPr>
          <p:grpSpPr bwMode="auto">
            <a:xfrm>
              <a:off x="1429" y="1300"/>
              <a:ext cx="2913" cy="1557"/>
              <a:chOff x="1429" y="1300"/>
              <a:chExt cx="2913" cy="1557"/>
            </a:xfrm>
          </p:grpSpPr>
          <p:sp>
            <p:nvSpPr>
              <p:cNvPr id="116787" name="Rectangle 6"/>
              <p:cNvSpPr>
                <a:spLocks noChangeArrowheads="1"/>
              </p:cNvSpPr>
              <p:nvPr/>
            </p:nvSpPr>
            <p:spPr bwMode="auto">
              <a:xfrm>
                <a:off x="1429" y="1300"/>
                <a:ext cx="2913" cy="1557"/>
              </a:xfrm>
              <a:prstGeom prst="rect">
                <a:avLst/>
              </a:prstGeom>
              <a:noFill/>
              <a:ln w="38100">
                <a:solidFill>
                  <a:schemeClr val="folHlink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16788" name="Rectangle 7"/>
              <p:cNvSpPr>
                <a:spLocks noChangeArrowheads="1"/>
              </p:cNvSpPr>
              <p:nvPr/>
            </p:nvSpPr>
            <p:spPr bwMode="auto">
              <a:xfrm>
                <a:off x="1584" y="1513"/>
                <a:ext cx="461" cy="1130"/>
              </a:xfrm>
              <a:prstGeom prst="rect">
                <a:avLst/>
              </a:prstGeom>
              <a:noFill/>
              <a:ln w="38100">
                <a:solidFill>
                  <a:schemeClr val="folHlink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16789" name="Rectangle 8"/>
              <p:cNvSpPr>
                <a:spLocks noChangeArrowheads="1"/>
              </p:cNvSpPr>
              <p:nvPr/>
            </p:nvSpPr>
            <p:spPr bwMode="auto">
              <a:xfrm>
                <a:off x="2196" y="1512"/>
                <a:ext cx="1379" cy="1130"/>
              </a:xfrm>
              <a:prstGeom prst="rect">
                <a:avLst/>
              </a:prstGeom>
              <a:noFill/>
              <a:ln w="38100">
                <a:solidFill>
                  <a:schemeClr val="folHlink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16790" name="Rectangle 9"/>
              <p:cNvSpPr>
                <a:spLocks noChangeArrowheads="1"/>
              </p:cNvSpPr>
              <p:nvPr/>
            </p:nvSpPr>
            <p:spPr bwMode="auto">
              <a:xfrm>
                <a:off x="3726" y="1502"/>
                <a:ext cx="461" cy="1129"/>
              </a:xfrm>
              <a:prstGeom prst="rect">
                <a:avLst/>
              </a:prstGeom>
              <a:noFill/>
              <a:ln w="38100">
                <a:solidFill>
                  <a:schemeClr val="folHlink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16791" name="Text Box 10"/>
              <p:cNvSpPr txBox="1">
                <a:spLocks noChangeArrowheads="1"/>
              </p:cNvSpPr>
              <p:nvPr/>
            </p:nvSpPr>
            <p:spPr bwMode="auto">
              <a:xfrm>
                <a:off x="1652" y="1549"/>
                <a:ext cx="325" cy="10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600">
                    <a:latin typeface="Times New Roman" panose="02020603050405020304" pitchFamily="18" charset="0"/>
                  </a:rPr>
                  <a:t>译</a:t>
                </a:r>
              </a:p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600">
                    <a:latin typeface="Times New Roman" panose="02020603050405020304" pitchFamily="18" charset="0"/>
                  </a:rPr>
                  <a:t>码</a:t>
                </a:r>
              </a:p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600">
                    <a:latin typeface="Times New Roman" panose="02020603050405020304" pitchFamily="18" charset="0"/>
                  </a:rPr>
                  <a:t>驱</a:t>
                </a:r>
              </a:p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600">
                    <a:latin typeface="Times New Roman" panose="02020603050405020304" pitchFamily="18" charset="0"/>
                  </a:rPr>
                  <a:t>动</a:t>
                </a:r>
              </a:p>
            </p:txBody>
          </p:sp>
          <p:sp>
            <p:nvSpPr>
              <p:cNvPr id="116792" name="Text Box 11"/>
              <p:cNvSpPr txBox="1">
                <a:spLocks noChangeArrowheads="1"/>
              </p:cNvSpPr>
              <p:nvPr/>
            </p:nvSpPr>
            <p:spPr bwMode="auto">
              <a:xfrm>
                <a:off x="2715" y="1548"/>
                <a:ext cx="341" cy="10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600">
                    <a:latin typeface="Times New Roman" panose="02020603050405020304" pitchFamily="18" charset="0"/>
                  </a:rPr>
                  <a:t>存</a:t>
                </a:r>
              </a:p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600">
                    <a:latin typeface="Times New Roman" panose="02020603050405020304" pitchFamily="18" charset="0"/>
                  </a:rPr>
                  <a:t>储</a:t>
                </a:r>
              </a:p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600">
                    <a:latin typeface="Times New Roman" panose="02020603050405020304" pitchFamily="18" charset="0"/>
                  </a:rPr>
                  <a:t>矩</a:t>
                </a:r>
              </a:p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600">
                    <a:latin typeface="Times New Roman" panose="02020603050405020304" pitchFamily="18" charset="0"/>
                  </a:rPr>
                  <a:t>阵</a:t>
                </a:r>
              </a:p>
            </p:txBody>
          </p:sp>
          <p:sp>
            <p:nvSpPr>
              <p:cNvPr id="116793" name="Text Box 12"/>
              <p:cNvSpPr txBox="1">
                <a:spLocks noChangeArrowheads="1"/>
              </p:cNvSpPr>
              <p:nvPr/>
            </p:nvSpPr>
            <p:spPr bwMode="auto">
              <a:xfrm>
                <a:off x="3794" y="1537"/>
                <a:ext cx="325" cy="10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600">
                    <a:latin typeface="Times New Roman" panose="02020603050405020304" pitchFamily="18" charset="0"/>
                  </a:rPr>
                  <a:t>读</a:t>
                </a:r>
              </a:p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600">
                    <a:latin typeface="Times New Roman" panose="02020603050405020304" pitchFamily="18" charset="0"/>
                  </a:rPr>
                  <a:t>写</a:t>
                </a:r>
              </a:p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600">
                    <a:latin typeface="Times New Roman" panose="02020603050405020304" pitchFamily="18" charset="0"/>
                  </a:rPr>
                  <a:t>电</a:t>
                </a:r>
              </a:p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600">
                    <a:latin typeface="Times New Roman" panose="02020603050405020304" pitchFamily="18" charset="0"/>
                  </a:rPr>
                  <a:t>路</a:t>
                </a:r>
              </a:p>
            </p:txBody>
          </p:sp>
        </p:grpSp>
        <p:grpSp>
          <p:nvGrpSpPr>
            <p:cNvPr id="116765" name="Group 13"/>
            <p:cNvGrpSpPr/>
            <p:nvPr/>
          </p:nvGrpSpPr>
          <p:grpSpPr bwMode="auto">
            <a:xfrm>
              <a:off x="257" y="2526"/>
              <a:ext cx="1174" cy="308"/>
              <a:chOff x="266" y="2526"/>
              <a:chExt cx="1174" cy="308"/>
            </a:xfrm>
          </p:grpSpPr>
          <p:sp>
            <p:nvSpPr>
              <p:cNvPr id="116785" name="Text Box 14"/>
              <p:cNvSpPr txBox="1">
                <a:spLocks noChangeArrowheads="1"/>
              </p:cNvSpPr>
              <p:nvPr/>
            </p:nvSpPr>
            <p:spPr bwMode="auto">
              <a:xfrm>
                <a:off x="266" y="2526"/>
                <a:ext cx="743" cy="3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600">
                    <a:latin typeface="Times New Roman" panose="02020603050405020304" pitchFamily="18" charset="0"/>
                  </a:rPr>
                  <a:t>片选线</a:t>
                </a:r>
              </a:p>
            </p:txBody>
          </p:sp>
          <p:sp>
            <p:nvSpPr>
              <p:cNvPr id="116786" name="Line 15"/>
              <p:cNvSpPr>
                <a:spLocks noChangeShapeType="1"/>
              </p:cNvSpPr>
              <p:nvPr/>
            </p:nvSpPr>
            <p:spPr bwMode="auto">
              <a:xfrm>
                <a:off x="960" y="2688"/>
                <a:ext cx="480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16766" name="Group 16"/>
            <p:cNvGrpSpPr/>
            <p:nvPr/>
          </p:nvGrpSpPr>
          <p:grpSpPr bwMode="auto">
            <a:xfrm>
              <a:off x="4341" y="2668"/>
              <a:ext cx="1303" cy="308"/>
              <a:chOff x="4332" y="2668"/>
              <a:chExt cx="1303" cy="308"/>
            </a:xfrm>
          </p:grpSpPr>
          <p:sp>
            <p:nvSpPr>
              <p:cNvPr id="116783" name="Text Box 17"/>
              <p:cNvSpPr txBox="1">
                <a:spLocks noChangeArrowheads="1"/>
              </p:cNvSpPr>
              <p:nvPr/>
            </p:nvSpPr>
            <p:spPr bwMode="auto">
              <a:xfrm>
                <a:off x="4416" y="2668"/>
                <a:ext cx="1219" cy="3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600">
                    <a:latin typeface="Times New Roman" panose="02020603050405020304" pitchFamily="18" charset="0"/>
                  </a:rPr>
                  <a:t>读/写控制线</a:t>
                </a:r>
              </a:p>
            </p:txBody>
          </p:sp>
          <p:sp>
            <p:nvSpPr>
              <p:cNvPr id="116784" name="Line 18"/>
              <p:cNvSpPr>
                <a:spLocks noChangeShapeType="1"/>
              </p:cNvSpPr>
              <p:nvPr/>
            </p:nvSpPr>
            <p:spPr bwMode="auto">
              <a:xfrm rot="10800000">
                <a:off x="4332" y="2688"/>
                <a:ext cx="480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16767" name="Group 58"/>
            <p:cNvGrpSpPr/>
            <p:nvPr/>
          </p:nvGrpSpPr>
          <p:grpSpPr bwMode="auto">
            <a:xfrm>
              <a:off x="434" y="1473"/>
              <a:ext cx="1006" cy="975"/>
              <a:chOff x="434" y="1473"/>
              <a:chExt cx="1006" cy="975"/>
            </a:xfrm>
          </p:grpSpPr>
          <p:sp>
            <p:nvSpPr>
              <p:cNvPr id="116776" name="Freeform 20"/>
              <p:cNvSpPr/>
              <p:nvPr/>
            </p:nvSpPr>
            <p:spPr bwMode="auto">
              <a:xfrm>
                <a:off x="790" y="1473"/>
                <a:ext cx="133" cy="954"/>
              </a:xfrm>
              <a:custGeom>
                <a:avLst/>
                <a:gdLst>
                  <a:gd name="T0" fmla="*/ 3345090 w 61"/>
                  <a:gd name="T1" fmla="*/ 0 h 930"/>
                  <a:gd name="T2" fmla="*/ 2690399 w 61"/>
                  <a:gd name="T3" fmla="*/ 9 h 930"/>
                  <a:gd name="T4" fmla="*/ 2237875 w 61"/>
                  <a:gd name="T5" fmla="*/ 39 h 930"/>
                  <a:gd name="T6" fmla="*/ 1811617 w 61"/>
                  <a:gd name="T7" fmla="*/ 67 h 930"/>
                  <a:gd name="T8" fmla="*/ 1583186 w 61"/>
                  <a:gd name="T9" fmla="*/ 110 h 930"/>
                  <a:gd name="T10" fmla="*/ 1583186 w 61"/>
                  <a:gd name="T11" fmla="*/ 555 h 930"/>
                  <a:gd name="T12" fmla="*/ 1583186 w 61"/>
                  <a:gd name="T13" fmla="*/ 597 h 930"/>
                  <a:gd name="T14" fmla="*/ 1153583 w 61"/>
                  <a:gd name="T15" fmla="*/ 630 h 930"/>
                  <a:gd name="T16" fmla="*/ 655862 w 61"/>
                  <a:gd name="T17" fmla="*/ 652 h 930"/>
                  <a:gd name="T18" fmla="*/ 0 w 61"/>
                  <a:gd name="T19" fmla="*/ 664 h 930"/>
                  <a:gd name="T20" fmla="*/ 655862 w 61"/>
                  <a:gd name="T21" fmla="*/ 670 h 930"/>
                  <a:gd name="T22" fmla="*/ 1153583 w 61"/>
                  <a:gd name="T23" fmla="*/ 695 h 930"/>
                  <a:gd name="T24" fmla="*/ 1583186 w 61"/>
                  <a:gd name="T25" fmla="*/ 728 h 930"/>
                  <a:gd name="T26" fmla="*/ 1583186 w 61"/>
                  <a:gd name="T27" fmla="*/ 777 h 930"/>
                  <a:gd name="T28" fmla="*/ 1583186 w 61"/>
                  <a:gd name="T29" fmla="*/ 1219 h 930"/>
                  <a:gd name="T30" fmla="*/ 1811617 w 61"/>
                  <a:gd name="T31" fmla="*/ 1260 h 930"/>
                  <a:gd name="T32" fmla="*/ 2237875 w 61"/>
                  <a:gd name="T33" fmla="*/ 1295 h 930"/>
                  <a:gd name="T34" fmla="*/ 2690399 w 61"/>
                  <a:gd name="T35" fmla="*/ 1316 h 930"/>
                  <a:gd name="T36" fmla="*/ 3345090 w 61"/>
                  <a:gd name="T37" fmla="*/ 1329 h 93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1"/>
                  <a:gd name="T58" fmla="*/ 0 h 930"/>
                  <a:gd name="T59" fmla="*/ 61 w 61"/>
                  <a:gd name="T60" fmla="*/ 930 h 93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1" h="930">
                    <a:moveTo>
                      <a:pt x="61" y="0"/>
                    </a:moveTo>
                    <a:lnTo>
                      <a:pt x="49" y="9"/>
                    </a:lnTo>
                    <a:lnTo>
                      <a:pt x="41" y="25"/>
                    </a:lnTo>
                    <a:lnTo>
                      <a:pt x="33" y="49"/>
                    </a:lnTo>
                    <a:lnTo>
                      <a:pt x="29" y="78"/>
                    </a:lnTo>
                    <a:lnTo>
                      <a:pt x="29" y="388"/>
                    </a:lnTo>
                    <a:lnTo>
                      <a:pt x="29" y="417"/>
                    </a:lnTo>
                    <a:lnTo>
                      <a:pt x="21" y="441"/>
                    </a:lnTo>
                    <a:lnTo>
                      <a:pt x="12" y="457"/>
                    </a:lnTo>
                    <a:lnTo>
                      <a:pt x="0" y="465"/>
                    </a:lnTo>
                    <a:lnTo>
                      <a:pt x="12" y="470"/>
                    </a:lnTo>
                    <a:lnTo>
                      <a:pt x="21" y="486"/>
                    </a:lnTo>
                    <a:lnTo>
                      <a:pt x="29" y="510"/>
                    </a:lnTo>
                    <a:lnTo>
                      <a:pt x="29" y="543"/>
                    </a:lnTo>
                    <a:lnTo>
                      <a:pt x="29" y="853"/>
                    </a:lnTo>
                    <a:lnTo>
                      <a:pt x="33" y="881"/>
                    </a:lnTo>
                    <a:lnTo>
                      <a:pt x="41" y="906"/>
                    </a:lnTo>
                    <a:lnTo>
                      <a:pt x="49" y="922"/>
                    </a:lnTo>
                    <a:lnTo>
                      <a:pt x="61" y="93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6777" name="Text Box 21"/>
              <p:cNvSpPr txBox="1">
                <a:spLocks noChangeArrowheads="1"/>
              </p:cNvSpPr>
              <p:nvPr/>
            </p:nvSpPr>
            <p:spPr bwMode="auto">
              <a:xfrm>
                <a:off x="434" y="1544"/>
                <a:ext cx="309" cy="8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600">
                    <a:latin typeface="Times New Roman" panose="02020603050405020304" pitchFamily="18" charset="0"/>
                  </a:rPr>
                  <a:t>地</a:t>
                </a:r>
              </a:p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600">
                    <a:latin typeface="Times New Roman" panose="02020603050405020304" pitchFamily="18" charset="0"/>
                  </a:rPr>
                  <a:t>址</a:t>
                </a:r>
              </a:p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600">
                    <a:latin typeface="Times New Roman" panose="02020603050405020304" pitchFamily="18" charset="0"/>
                  </a:rPr>
                  <a:t>线</a:t>
                </a:r>
              </a:p>
            </p:txBody>
          </p:sp>
          <p:sp>
            <p:nvSpPr>
              <p:cNvPr id="116778" name="Line 22"/>
              <p:cNvSpPr>
                <a:spLocks noChangeShapeType="1"/>
              </p:cNvSpPr>
              <p:nvPr/>
            </p:nvSpPr>
            <p:spPr bwMode="auto">
              <a:xfrm>
                <a:off x="960" y="1488"/>
                <a:ext cx="480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6779" name="Line 23"/>
              <p:cNvSpPr>
                <a:spLocks noChangeShapeType="1"/>
              </p:cNvSpPr>
              <p:nvPr/>
            </p:nvSpPr>
            <p:spPr bwMode="auto">
              <a:xfrm>
                <a:off x="960" y="1632"/>
                <a:ext cx="480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6780" name="Line 24"/>
              <p:cNvSpPr>
                <a:spLocks noChangeShapeType="1"/>
              </p:cNvSpPr>
              <p:nvPr/>
            </p:nvSpPr>
            <p:spPr bwMode="auto">
              <a:xfrm>
                <a:off x="960" y="2304"/>
                <a:ext cx="480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6781" name="Line 25"/>
              <p:cNvSpPr>
                <a:spLocks noChangeShapeType="1"/>
              </p:cNvSpPr>
              <p:nvPr/>
            </p:nvSpPr>
            <p:spPr bwMode="auto">
              <a:xfrm>
                <a:off x="960" y="2448"/>
                <a:ext cx="480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6782" name="Text Box 26"/>
              <p:cNvSpPr txBox="1">
                <a:spLocks noChangeArrowheads="1"/>
              </p:cNvSpPr>
              <p:nvPr/>
            </p:nvSpPr>
            <p:spPr bwMode="auto">
              <a:xfrm>
                <a:off x="1017" y="1800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  <p:grpSp>
          <p:nvGrpSpPr>
            <p:cNvPr id="116768" name="Group 59"/>
            <p:cNvGrpSpPr/>
            <p:nvPr/>
          </p:nvGrpSpPr>
          <p:grpSpPr bwMode="auto">
            <a:xfrm>
              <a:off x="4332" y="1488"/>
              <a:ext cx="975" cy="963"/>
              <a:chOff x="4332" y="1488"/>
              <a:chExt cx="975" cy="963"/>
            </a:xfrm>
          </p:grpSpPr>
          <p:sp>
            <p:nvSpPr>
              <p:cNvPr id="116769" name="Freeform 28"/>
              <p:cNvSpPr/>
              <p:nvPr/>
            </p:nvSpPr>
            <p:spPr bwMode="auto">
              <a:xfrm>
                <a:off x="4852" y="1525"/>
                <a:ext cx="101" cy="926"/>
              </a:xfrm>
              <a:custGeom>
                <a:avLst/>
                <a:gdLst>
                  <a:gd name="T0" fmla="*/ 0 w 53"/>
                  <a:gd name="T1" fmla="*/ 0 h 926"/>
                  <a:gd name="T2" fmla="*/ 101059 w 53"/>
                  <a:gd name="T3" fmla="*/ 4 h 926"/>
                  <a:gd name="T4" fmla="*/ 164748 w 53"/>
                  <a:gd name="T5" fmla="*/ 20 h 926"/>
                  <a:gd name="T6" fmla="*/ 240666 w 53"/>
                  <a:gd name="T7" fmla="*/ 45 h 926"/>
                  <a:gd name="T8" fmla="*/ 240666 w 53"/>
                  <a:gd name="T9" fmla="*/ 78 h 926"/>
                  <a:gd name="T10" fmla="*/ 240666 w 53"/>
                  <a:gd name="T11" fmla="*/ 388 h 926"/>
                  <a:gd name="T12" fmla="*/ 240666 w 53"/>
                  <a:gd name="T13" fmla="*/ 416 h 926"/>
                  <a:gd name="T14" fmla="*/ 309575 w 53"/>
                  <a:gd name="T15" fmla="*/ 441 h 926"/>
                  <a:gd name="T16" fmla="*/ 341822 w 53"/>
                  <a:gd name="T17" fmla="*/ 457 h 926"/>
                  <a:gd name="T18" fmla="*/ 440190 w 53"/>
                  <a:gd name="T19" fmla="*/ 465 h 926"/>
                  <a:gd name="T20" fmla="*/ 341822 w 53"/>
                  <a:gd name="T21" fmla="*/ 469 h 926"/>
                  <a:gd name="T22" fmla="*/ 309575 w 53"/>
                  <a:gd name="T23" fmla="*/ 485 h 926"/>
                  <a:gd name="T24" fmla="*/ 240666 w 53"/>
                  <a:gd name="T25" fmla="*/ 510 h 926"/>
                  <a:gd name="T26" fmla="*/ 240666 w 53"/>
                  <a:gd name="T27" fmla="*/ 543 h 926"/>
                  <a:gd name="T28" fmla="*/ 240666 w 53"/>
                  <a:gd name="T29" fmla="*/ 848 h 926"/>
                  <a:gd name="T30" fmla="*/ 240666 w 53"/>
                  <a:gd name="T31" fmla="*/ 881 h 926"/>
                  <a:gd name="T32" fmla="*/ 164748 w 53"/>
                  <a:gd name="T33" fmla="*/ 906 h 926"/>
                  <a:gd name="T34" fmla="*/ 101059 w 53"/>
                  <a:gd name="T35" fmla="*/ 922 h 926"/>
                  <a:gd name="T36" fmla="*/ 0 w 53"/>
                  <a:gd name="T37" fmla="*/ 926 h 92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3"/>
                  <a:gd name="T58" fmla="*/ 0 h 926"/>
                  <a:gd name="T59" fmla="*/ 53 w 53"/>
                  <a:gd name="T60" fmla="*/ 926 h 92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3" h="926">
                    <a:moveTo>
                      <a:pt x="0" y="0"/>
                    </a:moveTo>
                    <a:lnTo>
                      <a:pt x="12" y="4"/>
                    </a:lnTo>
                    <a:lnTo>
                      <a:pt x="20" y="20"/>
                    </a:lnTo>
                    <a:lnTo>
                      <a:pt x="29" y="45"/>
                    </a:lnTo>
                    <a:lnTo>
                      <a:pt x="29" y="78"/>
                    </a:lnTo>
                    <a:lnTo>
                      <a:pt x="29" y="388"/>
                    </a:lnTo>
                    <a:lnTo>
                      <a:pt x="29" y="416"/>
                    </a:lnTo>
                    <a:lnTo>
                      <a:pt x="37" y="441"/>
                    </a:lnTo>
                    <a:lnTo>
                      <a:pt x="41" y="457"/>
                    </a:lnTo>
                    <a:lnTo>
                      <a:pt x="53" y="465"/>
                    </a:lnTo>
                    <a:lnTo>
                      <a:pt x="41" y="469"/>
                    </a:lnTo>
                    <a:lnTo>
                      <a:pt x="37" y="485"/>
                    </a:lnTo>
                    <a:lnTo>
                      <a:pt x="29" y="510"/>
                    </a:lnTo>
                    <a:lnTo>
                      <a:pt x="29" y="543"/>
                    </a:lnTo>
                    <a:lnTo>
                      <a:pt x="29" y="848"/>
                    </a:lnTo>
                    <a:lnTo>
                      <a:pt x="29" y="881"/>
                    </a:lnTo>
                    <a:lnTo>
                      <a:pt x="20" y="906"/>
                    </a:lnTo>
                    <a:lnTo>
                      <a:pt x="12" y="922"/>
                    </a:lnTo>
                    <a:lnTo>
                      <a:pt x="0" y="926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6770" name="Text Box 29"/>
              <p:cNvSpPr txBox="1">
                <a:spLocks noChangeArrowheads="1"/>
              </p:cNvSpPr>
              <p:nvPr/>
            </p:nvSpPr>
            <p:spPr bwMode="auto">
              <a:xfrm>
                <a:off x="4982" y="1592"/>
                <a:ext cx="325" cy="8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600">
                    <a:latin typeface="Times New Roman" panose="02020603050405020304" pitchFamily="18" charset="0"/>
                  </a:rPr>
                  <a:t>数</a:t>
                </a:r>
              </a:p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600">
                    <a:latin typeface="Times New Roman" panose="02020603050405020304" pitchFamily="18" charset="0"/>
                  </a:rPr>
                  <a:t>据</a:t>
                </a:r>
              </a:p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600">
                    <a:latin typeface="Times New Roman" panose="02020603050405020304" pitchFamily="18" charset="0"/>
                  </a:rPr>
                  <a:t>线</a:t>
                </a:r>
              </a:p>
            </p:txBody>
          </p:sp>
          <p:sp>
            <p:nvSpPr>
              <p:cNvPr id="116771" name="Line 30"/>
              <p:cNvSpPr>
                <a:spLocks noChangeShapeType="1"/>
              </p:cNvSpPr>
              <p:nvPr/>
            </p:nvSpPr>
            <p:spPr bwMode="auto">
              <a:xfrm rot="10800000">
                <a:off x="4332" y="2448"/>
                <a:ext cx="480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6772" name="Line 31"/>
              <p:cNvSpPr>
                <a:spLocks noChangeShapeType="1"/>
              </p:cNvSpPr>
              <p:nvPr/>
            </p:nvSpPr>
            <p:spPr bwMode="auto">
              <a:xfrm rot="10800000">
                <a:off x="4332" y="2304"/>
                <a:ext cx="480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6773" name="Line 32"/>
              <p:cNvSpPr>
                <a:spLocks noChangeShapeType="1"/>
              </p:cNvSpPr>
              <p:nvPr/>
            </p:nvSpPr>
            <p:spPr bwMode="auto">
              <a:xfrm rot="10800000">
                <a:off x="4332" y="1632"/>
                <a:ext cx="480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6774" name="Line 33"/>
              <p:cNvSpPr>
                <a:spLocks noChangeShapeType="1"/>
              </p:cNvSpPr>
              <p:nvPr/>
            </p:nvSpPr>
            <p:spPr bwMode="auto">
              <a:xfrm rot="10800000">
                <a:off x="4332" y="1488"/>
                <a:ext cx="480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6775" name="Text Box 34"/>
              <p:cNvSpPr txBox="1">
                <a:spLocks noChangeArrowheads="1"/>
              </p:cNvSpPr>
              <p:nvPr/>
            </p:nvSpPr>
            <p:spPr bwMode="auto">
              <a:xfrm>
                <a:off x="4425" y="1809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</p:grpSp>
      <p:sp>
        <p:nvSpPr>
          <p:cNvPr id="204835" name="Text Box 35"/>
          <p:cNvSpPr txBox="1">
            <a:spLocks noChangeArrowheads="1"/>
          </p:cNvSpPr>
          <p:nvPr/>
        </p:nvSpPr>
        <p:spPr bwMode="auto">
          <a:xfrm>
            <a:off x="1443038" y="4821238"/>
            <a:ext cx="70167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片选线　　　</a:t>
            </a:r>
          </a:p>
        </p:txBody>
      </p:sp>
      <p:sp>
        <p:nvSpPr>
          <p:cNvPr id="204836" name="Text Box 36"/>
          <p:cNvSpPr txBox="1">
            <a:spLocks noChangeArrowheads="1"/>
          </p:cNvSpPr>
          <p:nvPr/>
        </p:nvSpPr>
        <p:spPr bwMode="auto">
          <a:xfrm>
            <a:off x="1443038" y="5516563"/>
            <a:ext cx="2520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读</a:t>
            </a:r>
            <a:r>
              <a:rPr lang="en-US" altLang="zh-CN" sz="2400">
                <a:latin typeface="Times New Roman" panose="02020603050405020304" pitchFamily="18" charset="0"/>
              </a:rPr>
              <a:t>/</a:t>
            </a:r>
            <a:r>
              <a:rPr lang="zh-CN" altLang="en-US" sz="2400">
                <a:latin typeface="Times New Roman" panose="02020603050405020304" pitchFamily="18" charset="0"/>
              </a:rPr>
              <a:t>写控制线</a:t>
            </a:r>
          </a:p>
        </p:txBody>
      </p:sp>
      <p:sp>
        <p:nvSpPr>
          <p:cNvPr id="204837" name="Text Box 37"/>
          <p:cNvSpPr txBox="1">
            <a:spLocks noChangeArrowheads="1"/>
          </p:cNvSpPr>
          <p:nvPr/>
        </p:nvSpPr>
        <p:spPr bwMode="auto">
          <a:xfrm>
            <a:off x="4140200" y="5516563"/>
            <a:ext cx="4216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（低电平写  高电平读）</a:t>
            </a:r>
          </a:p>
        </p:txBody>
      </p:sp>
      <p:sp>
        <p:nvSpPr>
          <p:cNvPr id="204838" name="Text Box 38"/>
          <p:cNvSpPr txBox="1">
            <a:spLocks noChangeArrowheads="1"/>
          </p:cNvSpPr>
          <p:nvPr/>
        </p:nvSpPr>
        <p:spPr bwMode="auto">
          <a:xfrm>
            <a:off x="4140200" y="6067425"/>
            <a:ext cx="22320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（允许读）</a:t>
            </a:r>
          </a:p>
        </p:txBody>
      </p:sp>
      <p:sp>
        <p:nvSpPr>
          <p:cNvPr id="204839" name="Rectangle 39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grpSp>
        <p:nvGrpSpPr>
          <p:cNvPr id="8" name="Group 40"/>
          <p:cNvGrpSpPr/>
          <p:nvPr/>
        </p:nvGrpSpPr>
        <p:grpSpPr bwMode="auto">
          <a:xfrm>
            <a:off x="2843213" y="4868863"/>
            <a:ext cx="4033838" cy="457200"/>
            <a:chOff x="1791" y="3067"/>
            <a:chExt cx="2541" cy="288"/>
          </a:xfrm>
        </p:grpSpPr>
        <p:grpSp>
          <p:nvGrpSpPr>
            <p:cNvPr id="116756" name="Group 41"/>
            <p:cNvGrpSpPr/>
            <p:nvPr/>
          </p:nvGrpSpPr>
          <p:grpSpPr bwMode="auto">
            <a:xfrm>
              <a:off x="1791" y="3067"/>
              <a:ext cx="362" cy="288"/>
              <a:chOff x="2902" y="1440"/>
              <a:chExt cx="362" cy="288"/>
            </a:xfrm>
          </p:grpSpPr>
          <p:sp>
            <p:nvSpPr>
              <p:cNvPr id="116760" name="Text Box 42"/>
              <p:cNvSpPr txBox="1">
                <a:spLocks noChangeArrowheads="1"/>
              </p:cNvSpPr>
              <p:nvPr/>
            </p:nvSpPr>
            <p:spPr bwMode="auto">
              <a:xfrm>
                <a:off x="2902" y="1440"/>
                <a:ext cx="36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CS</a:t>
                </a:r>
              </a:p>
            </p:txBody>
          </p:sp>
          <p:sp>
            <p:nvSpPr>
              <p:cNvPr id="116761" name="Line 43"/>
              <p:cNvSpPr>
                <a:spLocks noChangeShapeType="1"/>
              </p:cNvSpPr>
              <p:nvPr/>
            </p:nvSpPr>
            <p:spPr bwMode="auto">
              <a:xfrm>
                <a:off x="2938" y="1488"/>
                <a:ext cx="288" cy="0"/>
              </a:xfrm>
              <a:prstGeom prst="line">
                <a:avLst/>
              </a:prstGeom>
              <a:noFill/>
              <a:ln w="1905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16757" name="Group 44"/>
            <p:cNvGrpSpPr/>
            <p:nvPr/>
          </p:nvGrpSpPr>
          <p:grpSpPr bwMode="auto">
            <a:xfrm>
              <a:off x="2246" y="3067"/>
              <a:ext cx="2086" cy="288"/>
              <a:chOff x="2246" y="3191"/>
              <a:chExt cx="2086" cy="288"/>
            </a:xfrm>
          </p:grpSpPr>
          <p:sp>
            <p:nvSpPr>
              <p:cNvPr id="116758" name="Text Box 45"/>
              <p:cNvSpPr txBox="1">
                <a:spLocks noChangeArrowheads="1"/>
              </p:cNvSpPr>
              <p:nvPr/>
            </p:nvSpPr>
            <p:spPr bwMode="auto">
              <a:xfrm>
                <a:off x="2246" y="3191"/>
                <a:ext cx="2086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 dirty="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CE    </a:t>
                </a:r>
                <a:r>
                  <a:rPr lang="zh-CN" altLang="en-US" sz="2400" dirty="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用于选中芯片</a:t>
                </a:r>
                <a:endParaRPr lang="en-US" altLang="zh-CN" sz="2400" dirty="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759" name="Line 46"/>
              <p:cNvSpPr>
                <a:spLocks noChangeShapeType="1"/>
              </p:cNvSpPr>
              <p:nvPr/>
            </p:nvSpPr>
            <p:spPr bwMode="auto">
              <a:xfrm>
                <a:off x="2282" y="3239"/>
                <a:ext cx="288" cy="0"/>
              </a:xfrm>
              <a:prstGeom prst="line">
                <a:avLst/>
              </a:prstGeom>
              <a:noFill/>
              <a:ln w="1905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11" name="Group 47"/>
          <p:cNvGrpSpPr/>
          <p:nvPr/>
        </p:nvGrpSpPr>
        <p:grpSpPr bwMode="auto">
          <a:xfrm>
            <a:off x="3565525" y="5535613"/>
            <a:ext cx="692150" cy="457200"/>
            <a:chOff x="2246" y="3487"/>
            <a:chExt cx="436" cy="288"/>
          </a:xfrm>
        </p:grpSpPr>
        <p:sp>
          <p:nvSpPr>
            <p:cNvPr id="116754" name="Text Box 48"/>
            <p:cNvSpPr txBox="1">
              <a:spLocks noChangeArrowheads="1"/>
            </p:cNvSpPr>
            <p:nvPr/>
          </p:nvSpPr>
          <p:spPr bwMode="auto">
            <a:xfrm>
              <a:off x="2246" y="3487"/>
              <a:ext cx="4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WE</a:t>
              </a:r>
            </a:p>
          </p:txBody>
        </p:sp>
        <p:sp>
          <p:nvSpPr>
            <p:cNvPr id="116755" name="Freeform 49"/>
            <p:cNvSpPr/>
            <p:nvPr/>
          </p:nvSpPr>
          <p:spPr bwMode="auto">
            <a:xfrm>
              <a:off x="2288" y="3524"/>
              <a:ext cx="330" cy="2"/>
            </a:xfrm>
            <a:custGeom>
              <a:avLst/>
              <a:gdLst>
                <a:gd name="T0" fmla="*/ 0 w 330"/>
                <a:gd name="T1" fmla="*/ 2 h 2"/>
                <a:gd name="T2" fmla="*/ 330 w 330"/>
                <a:gd name="T3" fmla="*/ 0 h 2"/>
                <a:gd name="T4" fmla="*/ 0 60000 65536"/>
                <a:gd name="T5" fmla="*/ 0 60000 65536"/>
                <a:gd name="T6" fmla="*/ 0 w 330"/>
                <a:gd name="T7" fmla="*/ 0 h 2"/>
                <a:gd name="T8" fmla="*/ 330 w 330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30" h="2">
                  <a:moveTo>
                    <a:pt x="0" y="2"/>
                  </a:moveTo>
                  <a:lnTo>
                    <a:pt x="330" y="0"/>
                  </a:lnTo>
                </a:path>
              </a:pathLst>
            </a:custGeom>
            <a:noFill/>
            <a:ln w="19050" cmpd="sng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204850" name="Text Box 50"/>
          <p:cNvSpPr txBox="1">
            <a:spLocks noChangeArrowheads="1"/>
          </p:cNvSpPr>
          <p:nvPr/>
        </p:nvSpPr>
        <p:spPr bwMode="auto">
          <a:xfrm>
            <a:off x="6227763" y="6067425"/>
            <a:ext cx="22320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（允许写）</a:t>
            </a:r>
          </a:p>
        </p:txBody>
      </p:sp>
      <p:grpSp>
        <p:nvGrpSpPr>
          <p:cNvPr id="12" name="Group 51"/>
          <p:cNvGrpSpPr/>
          <p:nvPr/>
        </p:nvGrpSpPr>
        <p:grpSpPr bwMode="auto">
          <a:xfrm>
            <a:off x="5724525" y="6086475"/>
            <a:ext cx="692150" cy="457200"/>
            <a:chOff x="2382" y="3357"/>
            <a:chExt cx="436" cy="288"/>
          </a:xfrm>
        </p:grpSpPr>
        <p:sp>
          <p:nvSpPr>
            <p:cNvPr id="116752" name="Text Box 52"/>
            <p:cNvSpPr txBox="1">
              <a:spLocks noChangeArrowheads="1"/>
            </p:cNvSpPr>
            <p:nvPr/>
          </p:nvSpPr>
          <p:spPr bwMode="auto">
            <a:xfrm>
              <a:off x="2382" y="3357"/>
              <a:ext cx="4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WE</a:t>
              </a:r>
            </a:p>
          </p:txBody>
        </p:sp>
        <p:sp>
          <p:nvSpPr>
            <p:cNvPr id="116753" name="Freeform 53"/>
            <p:cNvSpPr/>
            <p:nvPr/>
          </p:nvSpPr>
          <p:spPr bwMode="auto">
            <a:xfrm>
              <a:off x="2424" y="3394"/>
              <a:ext cx="330" cy="2"/>
            </a:xfrm>
            <a:custGeom>
              <a:avLst/>
              <a:gdLst>
                <a:gd name="T0" fmla="*/ 0 w 330"/>
                <a:gd name="T1" fmla="*/ 2 h 2"/>
                <a:gd name="T2" fmla="*/ 330 w 330"/>
                <a:gd name="T3" fmla="*/ 0 h 2"/>
                <a:gd name="T4" fmla="*/ 0 60000 65536"/>
                <a:gd name="T5" fmla="*/ 0 60000 65536"/>
                <a:gd name="T6" fmla="*/ 0 w 330"/>
                <a:gd name="T7" fmla="*/ 0 h 2"/>
                <a:gd name="T8" fmla="*/ 330 w 330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30" h="2">
                  <a:moveTo>
                    <a:pt x="0" y="2"/>
                  </a:moveTo>
                  <a:lnTo>
                    <a:pt x="330" y="0"/>
                  </a:lnTo>
                </a:path>
              </a:pathLst>
            </a:custGeom>
            <a:noFill/>
            <a:ln w="19050" cmpd="sng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3" name="Group 54"/>
          <p:cNvGrpSpPr/>
          <p:nvPr/>
        </p:nvGrpSpPr>
        <p:grpSpPr bwMode="auto">
          <a:xfrm>
            <a:off x="3565525" y="6086475"/>
            <a:ext cx="623888" cy="457200"/>
            <a:chOff x="2381" y="3657"/>
            <a:chExt cx="393" cy="288"/>
          </a:xfrm>
        </p:grpSpPr>
        <p:sp>
          <p:nvSpPr>
            <p:cNvPr id="116750" name="Text Box 55"/>
            <p:cNvSpPr txBox="1">
              <a:spLocks noChangeArrowheads="1"/>
            </p:cNvSpPr>
            <p:nvPr/>
          </p:nvSpPr>
          <p:spPr bwMode="auto">
            <a:xfrm>
              <a:off x="2381" y="3657"/>
              <a:ext cx="39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OE</a:t>
              </a:r>
            </a:p>
          </p:txBody>
        </p:sp>
        <p:sp>
          <p:nvSpPr>
            <p:cNvPr id="116751" name="Freeform 56"/>
            <p:cNvSpPr/>
            <p:nvPr/>
          </p:nvSpPr>
          <p:spPr bwMode="auto">
            <a:xfrm>
              <a:off x="2423" y="3694"/>
              <a:ext cx="330" cy="2"/>
            </a:xfrm>
            <a:custGeom>
              <a:avLst/>
              <a:gdLst>
                <a:gd name="T0" fmla="*/ 0 w 330"/>
                <a:gd name="T1" fmla="*/ 2 h 2"/>
                <a:gd name="T2" fmla="*/ 330 w 330"/>
                <a:gd name="T3" fmla="*/ 0 h 2"/>
                <a:gd name="T4" fmla="*/ 0 60000 65536"/>
                <a:gd name="T5" fmla="*/ 0 60000 65536"/>
                <a:gd name="T6" fmla="*/ 0 w 330"/>
                <a:gd name="T7" fmla="*/ 0 h 2"/>
                <a:gd name="T8" fmla="*/ 330 w 330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30" h="2">
                  <a:moveTo>
                    <a:pt x="0" y="2"/>
                  </a:moveTo>
                  <a:lnTo>
                    <a:pt x="330" y="0"/>
                  </a:lnTo>
                </a:path>
              </a:pathLst>
            </a:custGeom>
            <a:noFill/>
            <a:ln w="19050" cmpd="sng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116749" name="AutoShape 57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048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048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048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048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2048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4835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62" name="Text Box 3"/>
          <p:cNvSpPr txBox="1">
            <a:spLocks noChangeArrowheads="1"/>
          </p:cNvSpPr>
          <p:nvPr/>
        </p:nvSpPr>
        <p:spPr bwMode="auto">
          <a:xfrm>
            <a:off x="114300" y="381000"/>
            <a:ext cx="5825852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 dirty="0">
                <a:latin typeface="Times New Roman" panose="02020603050405020304" pitchFamily="18" charset="0"/>
              </a:rPr>
              <a:t>半导体存储芯片封装</a:t>
            </a:r>
          </a:p>
        </p:txBody>
      </p:sp>
      <p:sp>
        <p:nvSpPr>
          <p:cNvPr id="204839" name="Rectangle 39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pic>
        <p:nvPicPr>
          <p:cNvPr id="5123" name="Picture 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0" y="980728"/>
            <a:ext cx="8515672" cy="55828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1419225" y="3370263"/>
            <a:ext cx="7267575" cy="1974850"/>
            <a:chOff x="894" y="2123"/>
            <a:chExt cx="4578" cy="1244"/>
          </a:xfrm>
        </p:grpSpPr>
        <p:grpSp>
          <p:nvGrpSpPr>
            <p:cNvPr id="117851" name="Group 3"/>
            <p:cNvGrpSpPr/>
            <p:nvPr/>
          </p:nvGrpSpPr>
          <p:grpSpPr bwMode="auto">
            <a:xfrm>
              <a:off x="4206" y="2130"/>
              <a:ext cx="1266" cy="1237"/>
              <a:chOff x="3860" y="2130"/>
              <a:chExt cx="1266" cy="1237"/>
            </a:xfrm>
          </p:grpSpPr>
          <p:sp>
            <p:nvSpPr>
              <p:cNvPr id="117882" name="Line 4"/>
              <p:cNvSpPr>
                <a:spLocks noChangeShapeType="1"/>
              </p:cNvSpPr>
              <p:nvPr/>
            </p:nvSpPr>
            <p:spPr bwMode="auto">
              <a:xfrm flipH="1">
                <a:off x="3888" y="2130"/>
                <a:ext cx="1238" cy="1237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83" name="Line 5"/>
              <p:cNvSpPr>
                <a:spLocks noChangeShapeType="1"/>
              </p:cNvSpPr>
              <p:nvPr/>
            </p:nvSpPr>
            <p:spPr bwMode="auto">
              <a:xfrm>
                <a:off x="3860" y="3175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84" name="Line 6"/>
              <p:cNvSpPr>
                <a:spLocks noChangeShapeType="1"/>
              </p:cNvSpPr>
              <p:nvPr/>
            </p:nvSpPr>
            <p:spPr bwMode="auto">
              <a:xfrm>
                <a:off x="4875" y="2174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85" name="Line 7"/>
              <p:cNvSpPr>
                <a:spLocks noChangeShapeType="1"/>
              </p:cNvSpPr>
              <p:nvPr/>
            </p:nvSpPr>
            <p:spPr bwMode="auto">
              <a:xfrm>
                <a:off x="4713" y="2317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86" name="Line 8"/>
              <p:cNvSpPr>
                <a:spLocks noChangeShapeType="1"/>
              </p:cNvSpPr>
              <p:nvPr/>
            </p:nvSpPr>
            <p:spPr bwMode="auto">
              <a:xfrm>
                <a:off x="4593" y="2460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87" name="Line 9"/>
              <p:cNvSpPr>
                <a:spLocks noChangeShapeType="1"/>
              </p:cNvSpPr>
              <p:nvPr/>
            </p:nvSpPr>
            <p:spPr bwMode="auto">
              <a:xfrm>
                <a:off x="4449" y="2603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88" name="Line 10"/>
              <p:cNvSpPr>
                <a:spLocks noChangeShapeType="1"/>
              </p:cNvSpPr>
              <p:nvPr/>
            </p:nvSpPr>
            <p:spPr bwMode="auto">
              <a:xfrm>
                <a:off x="4305" y="2746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89" name="Line 11"/>
              <p:cNvSpPr>
                <a:spLocks noChangeShapeType="1"/>
              </p:cNvSpPr>
              <p:nvPr/>
            </p:nvSpPr>
            <p:spPr bwMode="auto">
              <a:xfrm>
                <a:off x="4149" y="2889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90" name="Line 12"/>
              <p:cNvSpPr>
                <a:spLocks noChangeShapeType="1"/>
              </p:cNvSpPr>
              <p:nvPr/>
            </p:nvSpPr>
            <p:spPr bwMode="auto">
              <a:xfrm>
                <a:off x="4005" y="3032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17852" name="Group 13"/>
            <p:cNvGrpSpPr/>
            <p:nvPr/>
          </p:nvGrpSpPr>
          <p:grpSpPr bwMode="auto">
            <a:xfrm>
              <a:off x="3102" y="2123"/>
              <a:ext cx="1266" cy="1237"/>
              <a:chOff x="3860" y="2130"/>
              <a:chExt cx="1266" cy="1237"/>
            </a:xfrm>
          </p:grpSpPr>
          <p:sp>
            <p:nvSpPr>
              <p:cNvPr id="117873" name="Line 14"/>
              <p:cNvSpPr>
                <a:spLocks noChangeShapeType="1"/>
              </p:cNvSpPr>
              <p:nvPr/>
            </p:nvSpPr>
            <p:spPr bwMode="auto">
              <a:xfrm flipH="1">
                <a:off x="3888" y="2130"/>
                <a:ext cx="1238" cy="1237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74" name="Line 15"/>
              <p:cNvSpPr>
                <a:spLocks noChangeShapeType="1"/>
              </p:cNvSpPr>
              <p:nvPr/>
            </p:nvSpPr>
            <p:spPr bwMode="auto">
              <a:xfrm>
                <a:off x="3860" y="3175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75" name="Line 16"/>
              <p:cNvSpPr>
                <a:spLocks noChangeShapeType="1"/>
              </p:cNvSpPr>
              <p:nvPr/>
            </p:nvSpPr>
            <p:spPr bwMode="auto">
              <a:xfrm>
                <a:off x="4875" y="2174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76" name="Line 17"/>
              <p:cNvSpPr>
                <a:spLocks noChangeShapeType="1"/>
              </p:cNvSpPr>
              <p:nvPr/>
            </p:nvSpPr>
            <p:spPr bwMode="auto">
              <a:xfrm>
                <a:off x="4713" y="2317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77" name="Line 18"/>
              <p:cNvSpPr>
                <a:spLocks noChangeShapeType="1"/>
              </p:cNvSpPr>
              <p:nvPr/>
            </p:nvSpPr>
            <p:spPr bwMode="auto">
              <a:xfrm>
                <a:off x="4593" y="2460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78" name="Line 19"/>
              <p:cNvSpPr>
                <a:spLocks noChangeShapeType="1"/>
              </p:cNvSpPr>
              <p:nvPr/>
            </p:nvSpPr>
            <p:spPr bwMode="auto">
              <a:xfrm>
                <a:off x="4449" y="2603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79" name="Line 20"/>
              <p:cNvSpPr>
                <a:spLocks noChangeShapeType="1"/>
              </p:cNvSpPr>
              <p:nvPr/>
            </p:nvSpPr>
            <p:spPr bwMode="auto">
              <a:xfrm>
                <a:off x="4305" y="2746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80" name="Line 21"/>
              <p:cNvSpPr>
                <a:spLocks noChangeShapeType="1"/>
              </p:cNvSpPr>
              <p:nvPr/>
            </p:nvSpPr>
            <p:spPr bwMode="auto">
              <a:xfrm>
                <a:off x="4149" y="2889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81" name="Line 22"/>
              <p:cNvSpPr>
                <a:spLocks noChangeShapeType="1"/>
              </p:cNvSpPr>
              <p:nvPr/>
            </p:nvSpPr>
            <p:spPr bwMode="auto">
              <a:xfrm>
                <a:off x="4005" y="3032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17853" name="Group 23"/>
            <p:cNvGrpSpPr/>
            <p:nvPr/>
          </p:nvGrpSpPr>
          <p:grpSpPr bwMode="auto">
            <a:xfrm>
              <a:off x="2016" y="2123"/>
              <a:ext cx="1266" cy="1237"/>
              <a:chOff x="3860" y="2130"/>
              <a:chExt cx="1266" cy="1237"/>
            </a:xfrm>
          </p:grpSpPr>
          <p:sp>
            <p:nvSpPr>
              <p:cNvPr id="117864" name="Line 24"/>
              <p:cNvSpPr>
                <a:spLocks noChangeShapeType="1"/>
              </p:cNvSpPr>
              <p:nvPr/>
            </p:nvSpPr>
            <p:spPr bwMode="auto">
              <a:xfrm flipH="1">
                <a:off x="3888" y="2130"/>
                <a:ext cx="1238" cy="1237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65" name="Line 25"/>
              <p:cNvSpPr>
                <a:spLocks noChangeShapeType="1"/>
              </p:cNvSpPr>
              <p:nvPr/>
            </p:nvSpPr>
            <p:spPr bwMode="auto">
              <a:xfrm>
                <a:off x="3860" y="3175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66" name="Line 26"/>
              <p:cNvSpPr>
                <a:spLocks noChangeShapeType="1"/>
              </p:cNvSpPr>
              <p:nvPr/>
            </p:nvSpPr>
            <p:spPr bwMode="auto">
              <a:xfrm>
                <a:off x="4875" y="2174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67" name="Line 27"/>
              <p:cNvSpPr>
                <a:spLocks noChangeShapeType="1"/>
              </p:cNvSpPr>
              <p:nvPr/>
            </p:nvSpPr>
            <p:spPr bwMode="auto">
              <a:xfrm>
                <a:off x="4713" y="2317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68" name="Line 28"/>
              <p:cNvSpPr>
                <a:spLocks noChangeShapeType="1"/>
              </p:cNvSpPr>
              <p:nvPr/>
            </p:nvSpPr>
            <p:spPr bwMode="auto">
              <a:xfrm>
                <a:off x="4593" y="2460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69" name="Line 29"/>
              <p:cNvSpPr>
                <a:spLocks noChangeShapeType="1"/>
              </p:cNvSpPr>
              <p:nvPr/>
            </p:nvSpPr>
            <p:spPr bwMode="auto">
              <a:xfrm>
                <a:off x="4449" y="2603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70" name="Line 30"/>
              <p:cNvSpPr>
                <a:spLocks noChangeShapeType="1"/>
              </p:cNvSpPr>
              <p:nvPr/>
            </p:nvSpPr>
            <p:spPr bwMode="auto">
              <a:xfrm>
                <a:off x="4305" y="2746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71" name="Line 31"/>
              <p:cNvSpPr>
                <a:spLocks noChangeShapeType="1"/>
              </p:cNvSpPr>
              <p:nvPr/>
            </p:nvSpPr>
            <p:spPr bwMode="auto">
              <a:xfrm>
                <a:off x="4149" y="2889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72" name="Line 32"/>
              <p:cNvSpPr>
                <a:spLocks noChangeShapeType="1"/>
              </p:cNvSpPr>
              <p:nvPr/>
            </p:nvSpPr>
            <p:spPr bwMode="auto">
              <a:xfrm>
                <a:off x="4005" y="3032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17854" name="Group 33"/>
            <p:cNvGrpSpPr/>
            <p:nvPr/>
          </p:nvGrpSpPr>
          <p:grpSpPr bwMode="auto">
            <a:xfrm>
              <a:off x="894" y="2123"/>
              <a:ext cx="1266" cy="1237"/>
              <a:chOff x="3860" y="2130"/>
              <a:chExt cx="1266" cy="1237"/>
            </a:xfrm>
          </p:grpSpPr>
          <p:sp>
            <p:nvSpPr>
              <p:cNvPr id="117855" name="Line 34"/>
              <p:cNvSpPr>
                <a:spLocks noChangeShapeType="1"/>
              </p:cNvSpPr>
              <p:nvPr/>
            </p:nvSpPr>
            <p:spPr bwMode="auto">
              <a:xfrm flipH="1">
                <a:off x="3888" y="2130"/>
                <a:ext cx="1238" cy="1237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56" name="Line 35"/>
              <p:cNvSpPr>
                <a:spLocks noChangeShapeType="1"/>
              </p:cNvSpPr>
              <p:nvPr/>
            </p:nvSpPr>
            <p:spPr bwMode="auto">
              <a:xfrm>
                <a:off x="3860" y="3175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57" name="Line 36"/>
              <p:cNvSpPr>
                <a:spLocks noChangeShapeType="1"/>
              </p:cNvSpPr>
              <p:nvPr/>
            </p:nvSpPr>
            <p:spPr bwMode="auto">
              <a:xfrm>
                <a:off x="4875" y="2174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58" name="Line 37"/>
              <p:cNvSpPr>
                <a:spLocks noChangeShapeType="1"/>
              </p:cNvSpPr>
              <p:nvPr/>
            </p:nvSpPr>
            <p:spPr bwMode="auto">
              <a:xfrm>
                <a:off x="4713" y="2317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59" name="Line 38"/>
              <p:cNvSpPr>
                <a:spLocks noChangeShapeType="1"/>
              </p:cNvSpPr>
              <p:nvPr/>
            </p:nvSpPr>
            <p:spPr bwMode="auto">
              <a:xfrm>
                <a:off x="4593" y="2460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60" name="Line 39"/>
              <p:cNvSpPr>
                <a:spLocks noChangeShapeType="1"/>
              </p:cNvSpPr>
              <p:nvPr/>
            </p:nvSpPr>
            <p:spPr bwMode="auto">
              <a:xfrm>
                <a:off x="4449" y="2603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61" name="Line 40"/>
              <p:cNvSpPr>
                <a:spLocks noChangeShapeType="1"/>
              </p:cNvSpPr>
              <p:nvPr/>
            </p:nvSpPr>
            <p:spPr bwMode="auto">
              <a:xfrm>
                <a:off x="4305" y="2746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62" name="Line 41"/>
              <p:cNvSpPr>
                <a:spLocks noChangeShapeType="1"/>
              </p:cNvSpPr>
              <p:nvPr/>
            </p:nvSpPr>
            <p:spPr bwMode="auto">
              <a:xfrm>
                <a:off x="4149" y="2889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7863" name="Line 42"/>
              <p:cNvSpPr>
                <a:spLocks noChangeShapeType="1"/>
              </p:cNvSpPr>
              <p:nvPr/>
            </p:nvSpPr>
            <p:spPr bwMode="auto">
              <a:xfrm>
                <a:off x="4005" y="3032"/>
                <a:ext cx="184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sp>
        <p:nvSpPr>
          <p:cNvPr id="117763" name="Text Box 43"/>
          <p:cNvSpPr txBox="1">
            <a:spLocks noChangeArrowheads="1"/>
          </p:cNvSpPr>
          <p:nvPr/>
        </p:nvSpPr>
        <p:spPr bwMode="auto">
          <a:xfrm>
            <a:off x="355600" y="454025"/>
            <a:ext cx="477202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存储芯片片选线的作用</a:t>
            </a:r>
          </a:p>
        </p:txBody>
      </p:sp>
      <p:sp>
        <p:nvSpPr>
          <p:cNvPr id="205868" name="Text Box 44"/>
          <p:cNvSpPr txBox="1">
            <a:spLocks noChangeArrowheads="1"/>
          </p:cNvSpPr>
          <p:nvPr/>
        </p:nvSpPr>
        <p:spPr bwMode="auto">
          <a:xfrm>
            <a:off x="977900" y="1311275"/>
            <a:ext cx="7785100" cy="488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600">
                <a:latin typeface="Times New Roman" panose="02020603050405020304" pitchFamily="18" charset="0"/>
              </a:rPr>
              <a:t>用 16</a:t>
            </a:r>
            <a:r>
              <a:rPr lang="en-US" altLang="zh-CN" sz="2600">
                <a:latin typeface="Times New Roman" panose="02020603050405020304" pitchFamily="18" charset="0"/>
              </a:rPr>
              <a:t>K </a:t>
            </a:r>
            <a:r>
              <a:rPr lang="en-US" altLang="zh-CN" sz="26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2600">
                <a:latin typeface="Times New Roman" panose="02020603050405020304" pitchFamily="18" charset="0"/>
              </a:rPr>
              <a:t> 1</a:t>
            </a:r>
            <a:r>
              <a:rPr lang="zh-CN" altLang="en-US" sz="2600">
                <a:latin typeface="Times New Roman" panose="02020603050405020304" pitchFamily="18" charset="0"/>
              </a:rPr>
              <a:t>位 的存储芯片组成 64</a:t>
            </a:r>
            <a:r>
              <a:rPr lang="en-US" altLang="zh-CN" sz="2600">
                <a:latin typeface="Times New Roman" panose="02020603050405020304" pitchFamily="18" charset="0"/>
              </a:rPr>
              <a:t>K </a:t>
            </a:r>
            <a:r>
              <a:rPr lang="en-US" altLang="zh-CN" sz="26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2600">
                <a:latin typeface="Times New Roman" panose="02020603050405020304" pitchFamily="18" charset="0"/>
              </a:rPr>
              <a:t> 8</a:t>
            </a:r>
            <a:r>
              <a:rPr lang="zh-CN" altLang="en-US" sz="2600">
                <a:latin typeface="Times New Roman" panose="02020603050405020304" pitchFamily="18" charset="0"/>
              </a:rPr>
              <a:t>位 的存储器</a:t>
            </a:r>
          </a:p>
        </p:txBody>
      </p:sp>
      <p:sp>
        <p:nvSpPr>
          <p:cNvPr id="205869" name="Rectangle 45"/>
          <p:cNvSpPr>
            <a:spLocks noChangeArrowheads="1"/>
          </p:cNvSpPr>
          <p:nvPr/>
        </p:nvSpPr>
        <p:spPr bwMode="auto">
          <a:xfrm>
            <a:off x="2324100" y="2990850"/>
            <a:ext cx="838200" cy="495300"/>
          </a:xfrm>
          <a:prstGeom prst="rect">
            <a:avLst/>
          </a:prstGeom>
          <a:solidFill>
            <a:schemeClr val="folHlink"/>
          </a:solidFill>
          <a:ln w="38100">
            <a:solidFill>
              <a:schemeClr val="bg2"/>
            </a:solidFill>
            <a:miter lim="800000"/>
          </a:ln>
        </p:spPr>
        <p:txBody>
          <a:bodyPr wrap="none" anchor="ctr"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205870" name="Rectangle 46"/>
          <p:cNvSpPr>
            <a:spLocks noChangeArrowheads="1"/>
          </p:cNvSpPr>
          <p:nvPr/>
        </p:nvSpPr>
        <p:spPr bwMode="auto">
          <a:xfrm>
            <a:off x="2095500" y="3222625"/>
            <a:ext cx="838200" cy="495300"/>
          </a:xfrm>
          <a:prstGeom prst="rect">
            <a:avLst/>
          </a:prstGeom>
          <a:solidFill>
            <a:schemeClr val="folHlink"/>
          </a:solidFill>
          <a:ln w="38100">
            <a:solidFill>
              <a:schemeClr val="bg2"/>
            </a:solidFill>
            <a:miter lim="800000"/>
          </a:ln>
        </p:spPr>
        <p:txBody>
          <a:bodyPr wrap="none" anchor="ctr"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205871" name="Rectangle 47"/>
          <p:cNvSpPr>
            <a:spLocks noChangeArrowheads="1"/>
          </p:cNvSpPr>
          <p:nvPr/>
        </p:nvSpPr>
        <p:spPr bwMode="auto">
          <a:xfrm>
            <a:off x="1866900" y="3454400"/>
            <a:ext cx="838200" cy="495300"/>
          </a:xfrm>
          <a:prstGeom prst="rect">
            <a:avLst/>
          </a:prstGeom>
          <a:solidFill>
            <a:schemeClr val="folHlink"/>
          </a:solidFill>
          <a:ln w="38100">
            <a:solidFill>
              <a:schemeClr val="bg2"/>
            </a:solidFill>
            <a:miter lim="800000"/>
          </a:ln>
        </p:spPr>
        <p:txBody>
          <a:bodyPr wrap="none" anchor="ctr"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205872" name="Rectangle 48"/>
          <p:cNvSpPr>
            <a:spLocks noChangeArrowheads="1"/>
          </p:cNvSpPr>
          <p:nvPr/>
        </p:nvSpPr>
        <p:spPr bwMode="auto">
          <a:xfrm>
            <a:off x="1638300" y="3686175"/>
            <a:ext cx="838200" cy="495300"/>
          </a:xfrm>
          <a:prstGeom prst="rect">
            <a:avLst/>
          </a:prstGeom>
          <a:solidFill>
            <a:schemeClr val="folHlink"/>
          </a:solidFill>
          <a:ln w="38100">
            <a:solidFill>
              <a:schemeClr val="bg2"/>
            </a:solidFill>
            <a:miter lim="800000"/>
          </a:ln>
        </p:spPr>
        <p:txBody>
          <a:bodyPr wrap="none" anchor="ctr"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205873" name="Rectangle 49"/>
          <p:cNvSpPr>
            <a:spLocks noChangeArrowheads="1"/>
          </p:cNvSpPr>
          <p:nvPr/>
        </p:nvSpPr>
        <p:spPr bwMode="auto">
          <a:xfrm>
            <a:off x="1409700" y="3916363"/>
            <a:ext cx="838200" cy="495300"/>
          </a:xfrm>
          <a:prstGeom prst="rect">
            <a:avLst/>
          </a:prstGeom>
          <a:solidFill>
            <a:schemeClr val="folHlink"/>
          </a:solidFill>
          <a:ln w="38100">
            <a:solidFill>
              <a:schemeClr val="bg2"/>
            </a:solidFill>
            <a:miter lim="800000"/>
          </a:ln>
        </p:spPr>
        <p:txBody>
          <a:bodyPr wrap="none" anchor="ctr"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205874" name="Rectangle 50"/>
          <p:cNvSpPr>
            <a:spLocks noChangeArrowheads="1"/>
          </p:cNvSpPr>
          <p:nvPr/>
        </p:nvSpPr>
        <p:spPr bwMode="auto">
          <a:xfrm>
            <a:off x="1162050" y="4148138"/>
            <a:ext cx="838200" cy="495300"/>
          </a:xfrm>
          <a:prstGeom prst="rect">
            <a:avLst/>
          </a:prstGeom>
          <a:solidFill>
            <a:schemeClr val="folHlink"/>
          </a:solidFill>
          <a:ln w="38100">
            <a:solidFill>
              <a:schemeClr val="bg2"/>
            </a:solidFill>
            <a:miter lim="800000"/>
          </a:ln>
        </p:spPr>
        <p:txBody>
          <a:bodyPr wrap="none" anchor="ctr"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205875" name="Rectangle 51"/>
          <p:cNvSpPr>
            <a:spLocks noChangeArrowheads="1"/>
          </p:cNvSpPr>
          <p:nvPr/>
        </p:nvSpPr>
        <p:spPr bwMode="auto">
          <a:xfrm>
            <a:off x="914400" y="4379913"/>
            <a:ext cx="838200" cy="495300"/>
          </a:xfrm>
          <a:prstGeom prst="rect">
            <a:avLst/>
          </a:prstGeom>
          <a:solidFill>
            <a:schemeClr val="folHlink"/>
          </a:solidFill>
          <a:ln w="38100">
            <a:solidFill>
              <a:schemeClr val="bg2"/>
            </a:solidFill>
            <a:miter lim="800000"/>
          </a:ln>
        </p:spPr>
        <p:txBody>
          <a:bodyPr wrap="none" anchor="ctr"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205876" name="Rectangle 52"/>
          <p:cNvSpPr>
            <a:spLocks noChangeArrowheads="1"/>
          </p:cNvSpPr>
          <p:nvPr/>
        </p:nvSpPr>
        <p:spPr bwMode="auto">
          <a:xfrm>
            <a:off x="685800" y="4610100"/>
            <a:ext cx="838200" cy="495300"/>
          </a:xfrm>
          <a:prstGeom prst="rect">
            <a:avLst/>
          </a:prstGeom>
          <a:solidFill>
            <a:schemeClr val="folHlink"/>
          </a:solidFill>
          <a:ln w="38100">
            <a:solidFill>
              <a:schemeClr val="bg2"/>
            </a:solidFill>
            <a:miter lim="800000"/>
          </a:ln>
        </p:spPr>
        <p:txBody>
          <a:bodyPr wrap="none" anchor="ctr"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zh-CN" altLang="en-US" sz="2400">
              <a:latin typeface="Times New Roman" panose="02020603050405020304" pitchFamily="18" charset="0"/>
            </a:endParaRPr>
          </a:p>
        </p:txBody>
      </p:sp>
      <p:grpSp>
        <p:nvGrpSpPr>
          <p:cNvPr id="7" name="Group 53"/>
          <p:cNvGrpSpPr/>
          <p:nvPr/>
        </p:nvGrpSpPr>
        <p:grpSpPr bwMode="auto">
          <a:xfrm>
            <a:off x="2362200" y="3009900"/>
            <a:ext cx="2476500" cy="2114550"/>
            <a:chOff x="1344" y="1896"/>
            <a:chExt cx="1560" cy="1332"/>
          </a:xfrm>
        </p:grpSpPr>
        <p:sp>
          <p:nvSpPr>
            <p:cNvPr id="117843" name="Rectangle 54"/>
            <p:cNvSpPr>
              <a:spLocks noChangeArrowheads="1"/>
            </p:cNvSpPr>
            <p:nvPr/>
          </p:nvSpPr>
          <p:spPr bwMode="auto">
            <a:xfrm>
              <a:off x="2376" y="1896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7844" name="Rectangle 55"/>
            <p:cNvSpPr>
              <a:spLocks noChangeArrowheads="1"/>
            </p:cNvSpPr>
            <p:nvPr/>
          </p:nvSpPr>
          <p:spPr bwMode="auto">
            <a:xfrm>
              <a:off x="2232" y="2042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7845" name="Rectangle 56"/>
            <p:cNvSpPr>
              <a:spLocks noChangeArrowheads="1"/>
            </p:cNvSpPr>
            <p:nvPr/>
          </p:nvSpPr>
          <p:spPr bwMode="auto">
            <a:xfrm>
              <a:off x="2088" y="2188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7846" name="Rectangle 57"/>
            <p:cNvSpPr>
              <a:spLocks noChangeArrowheads="1"/>
            </p:cNvSpPr>
            <p:nvPr/>
          </p:nvSpPr>
          <p:spPr bwMode="auto">
            <a:xfrm>
              <a:off x="1944" y="2334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7847" name="Rectangle 58"/>
            <p:cNvSpPr>
              <a:spLocks noChangeArrowheads="1"/>
            </p:cNvSpPr>
            <p:nvPr/>
          </p:nvSpPr>
          <p:spPr bwMode="auto">
            <a:xfrm>
              <a:off x="1800" y="2479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7848" name="Rectangle 59"/>
            <p:cNvSpPr>
              <a:spLocks noChangeArrowheads="1"/>
            </p:cNvSpPr>
            <p:nvPr/>
          </p:nvSpPr>
          <p:spPr bwMode="auto">
            <a:xfrm>
              <a:off x="1644" y="2625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7849" name="Rectangle 60"/>
            <p:cNvSpPr>
              <a:spLocks noChangeArrowheads="1"/>
            </p:cNvSpPr>
            <p:nvPr/>
          </p:nvSpPr>
          <p:spPr bwMode="auto">
            <a:xfrm>
              <a:off x="1488" y="2771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17850" name="Rectangle 61"/>
            <p:cNvSpPr>
              <a:spLocks noChangeArrowheads="1"/>
            </p:cNvSpPr>
            <p:nvPr/>
          </p:nvSpPr>
          <p:spPr bwMode="auto">
            <a:xfrm>
              <a:off x="1344" y="2916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8" name="Group 62"/>
          <p:cNvGrpSpPr/>
          <p:nvPr/>
        </p:nvGrpSpPr>
        <p:grpSpPr bwMode="auto">
          <a:xfrm>
            <a:off x="4162425" y="3009900"/>
            <a:ext cx="2476500" cy="2114550"/>
            <a:chOff x="2220" y="1896"/>
            <a:chExt cx="1560" cy="1332"/>
          </a:xfrm>
        </p:grpSpPr>
        <p:sp>
          <p:nvSpPr>
            <p:cNvPr id="117835" name="Rectangle 63"/>
            <p:cNvSpPr>
              <a:spLocks noChangeArrowheads="1"/>
            </p:cNvSpPr>
            <p:nvPr/>
          </p:nvSpPr>
          <p:spPr bwMode="auto">
            <a:xfrm>
              <a:off x="3252" y="1896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7836" name="Rectangle 64"/>
            <p:cNvSpPr>
              <a:spLocks noChangeArrowheads="1"/>
            </p:cNvSpPr>
            <p:nvPr/>
          </p:nvSpPr>
          <p:spPr bwMode="auto">
            <a:xfrm>
              <a:off x="3108" y="2042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7837" name="Rectangle 65"/>
            <p:cNvSpPr>
              <a:spLocks noChangeArrowheads="1"/>
            </p:cNvSpPr>
            <p:nvPr/>
          </p:nvSpPr>
          <p:spPr bwMode="auto">
            <a:xfrm>
              <a:off x="2964" y="2188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7838" name="Rectangle 66"/>
            <p:cNvSpPr>
              <a:spLocks noChangeArrowheads="1"/>
            </p:cNvSpPr>
            <p:nvPr/>
          </p:nvSpPr>
          <p:spPr bwMode="auto">
            <a:xfrm>
              <a:off x="2820" y="2334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7839" name="Rectangle 67"/>
            <p:cNvSpPr>
              <a:spLocks noChangeArrowheads="1"/>
            </p:cNvSpPr>
            <p:nvPr/>
          </p:nvSpPr>
          <p:spPr bwMode="auto">
            <a:xfrm>
              <a:off x="2676" y="2479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7840" name="Rectangle 68"/>
            <p:cNvSpPr>
              <a:spLocks noChangeArrowheads="1"/>
            </p:cNvSpPr>
            <p:nvPr/>
          </p:nvSpPr>
          <p:spPr bwMode="auto">
            <a:xfrm>
              <a:off x="2520" y="2625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7841" name="Rectangle 69"/>
            <p:cNvSpPr>
              <a:spLocks noChangeArrowheads="1"/>
            </p:cNvSpPr>
            <p:nvPr/>
          </p:nvSpPr>
          <p:spPr bwMode="auto">
            <a:xfrm>
              <a:off x="2364" y="2771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17842" name="Rectangle 70"/>
            <p:cNvSpPr>
              <a:spLocks noChangeArrowheads="1"/>
            </p:cNvSpPr>
            <p:nvPr/>
          </p:nvSpPr>
          <p:spPr bwMode="auto">
            <a:xfrm>
              <a:off x="2220" y="2916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9" name="Group 71"/>
          <p:cNvGrpSpPr/>
          <p:nvPr/>
        </p:nvGrpSpPr>
        <p:grpSpPr bwMode="auto">
          <a:xfrm>
            <a:off x="5845175" y="3048000"/>
            <a:ext cx="2476500" cy="2114550"/>
            <a:chOff x="3228" y="1920"/>
            <a:chExt cx="1560" cy="1332"/>
          </a:xfrm>
        </p:grpSpPr>
        <p:sp>
          <p:nvSpPr>
            <p:cNvPr id="117827" name="Rectangle 72"/>
            <p:cNvSpPr>
              <a:spLocks noChangeArrowheads="1"/>
            </p:cNvSpPr>
            <p:nvPr/>
          </p:nvSpPr>
          <p:spPr bwMode="auto">
            <a:xfrm>
              <a:off x="4260" y="1920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7828" name="Rectangle 73"/>
            <p:cNvSpPr>
              <a:spLocks noChangeArrowheads="1"/>
            </p:cNvSpPr>
            <p:nvPr/>
          </p:nvSpPr>
          <p:spPr bwMode="auto">
            <a:xfrm>
              <a:off x="4116" y="2066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7829" name="Rectangle 74"/>
            <p:cNvSpPr>
              <a:spLocks noChangeArrowheads="1"/>
            </p:cNvSpPr>
            <p:nvPr/>
          </p:nvSpPr>
          <p:spPr bwMode="auto">
            <a:xfrm>
              <a:off x="3972" y="2212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7830" name="Rectangle 75"/>
            <p:cNvSpPr>
              <a:spLocks noChangeArrowheads="1"/>
            </p:cNvSpPr>
            <p:nvPr/>
          </p:nvSpPr>
          <p:spPr bwMode="auto">
            <a:xfrm>
              <a:off x="3828" y="2358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7831" name="Rectangle 76"/>
            <p:cNvSpPr>
              <a:spLocks noChangeArrowheads="1"/>
            </p:cNvSpPr>
            <p:nvPr/>
          </p:nvSpPr>
          <p:spPr bwMode="auto">
            <a:xfrm>
              <a:off x="3684" y="2503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7832" name="Rectangle 77"/>
            <p:cNvSpPr>
              <a:spLocks noChangeArrowheads="1"/>
            </p:cNvSpPr>
            <p:nvPr/>
          </p:nvSpPr>
          <p:spPr bwMode="auto">
            <a:xfrm>
              <a:off x="3528" y="2649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7833" name="Rectangle 78"/>
            <p:cNvSpPr>
              <a:spLocks noChangeArrowheads="1"/>
            </p:cNvSpPr>
            <p:nvPr/>
          </p:nvSpPr>
          <p:spPr bwMode="auto">
            <a:xfrm>
              <a:off x="3372" y="2795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17834" name="Rectangle 79"/>
            <p:cNvSpPr>
              <a:spLocks noChangeArrowheads="1"/>
            </p:cNvSpPr>
            <p:nvPr/>
          </p:nvSpPr>
          <p:spPr bwMode="auto">
            <a:xfrm>
              <a:off x="3228" y="2940"/>
              <a:ext cx="528" cy="31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bg2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endParaRPr lang="zh-CN" altLang="en-US" sz="2400">
                <a:latin typeface="Times New Roman" panose="02020603050405020304" pitchFamily="18" charset="0"/>
              </a:endParaRPr>
            </a:p>
          </p:txBody>
        </p:sp>
      </p:grpSp>
      <p:sp>
        <p:nvSpPr>
          <p:cNvPr id="205904" name="AutoShape 80"/>
          <p:cNvSpPr>
            <a:spLocks noChangeArrowheads="1"/>
          </p:cNvSpPr>
          <p:nvPr/>
        </p:nvSpPr>
        <p:spPr bwMode="auto">
          <a:xfrm>
            <a:off x="590550" y="2295525"/>
            <a:ext cx="1085850" cy="592138"/>
          </a:xfrm>
          <a:prstGeom prst="wedgeRoundRectCallout">
            <a:avLst>
              <a:gd name="adj1" fmla="val 26606"/>
              <a:gd name="adj2" fmla="val -156435"/>
              <a:gd name="adj3" fmla="val 16667"/>
            </a:avLst>
          </a:prstGeom>
          <a:noFill/>
          <a:ln w="38100">
            <a:solidFill>
              <a:schemeClr val="folHlink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126000" rIns="0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900">
                <a:latin typeface="Times New Roman" panose="02020603050405020304" pitchFamily="18" charset="0"/>
              </a:rPr>
              <a:t> </a:t>
            </a:r>
            <a:r>
              <a:rPr lang="zh-CN" altLang="en-US" sz="2800">
                <a:latin typeface="Times New Roman" panose="02020603050405020304" pitchFamily="18" charset="0"/>
              </a:rPr>
              <a:t>32片</a:t>
            </a:r>
          </a:p>
        </p:txBody>
      </p:sp>
      <p:grpSp>
        <p:nvGrpSpPr>
          <p:cNvPr id="10" name="Group 81"/>
          <p:cNvGrpSpPr/>
          <p:nvPr/>
        </p:nvGrpSpPr>
        <p:grpSpPr bwMode="auto">
          <a:xfrm>
            <a:off x="6677025" y="3381375"/>
            <a:ext cx="2009775" cy="1963738"/>
            <a:chOff x="3860" y="2130"/>
            <a:chExt cx="1266" cy="1237"/>
          </a:xfrm>
        </p:grpSpPr>
        <p:sp>
          <p:nvSpPr>
            <p:cNvPr id="117818" name="Line 82"/>
            <p:cNvSpPr>
              <a:spLocks noChangeShapeType="1"/>
            </p:cNvSpPr>
            <p:nvPr/>
          </p:nvSpPr>
          <p:spPr bwMode="auto">
            <a:xfrm flipH="1">
              <a:off x="3888" y="2130"/>
              <a:ext cx="1238" cy="1237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819" name="Line 83"/>
            <p:cNvSpPr>
              <a:spLocks noChangeShapeType="1"/>
            </p:cNvSpPr>
            <p:nvPr/>
          </p:nvSpPr>
          <p:spPr bwMode="auto">
            <a:xfrm>
              <a:off x="3860" y="3175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820" name="Line 84"/>
            <p:cNvSpPr>
              <a:spLocks noChangeShapeType="1"/>
            </p:cNvSpPr>
            <p:nvPr/>
          </p:nvSpPr>
          <p:spPr bwMode="auto">
            <a:xfrm>
              <a:off x="4875" y="2174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821" name="Line 85"/>
            <p:cNvSpPr>
              <a:spLocks noChangeShapeType="1"/>
            </p:cNvSpPr>
            <p:nvPr/>
          </p:nvSpPr>
          <p:spPr bwMode="auto">
            <a:xfrm>
              <a:off x="4713" y="2317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822" name="Line 86"/>
            <p:cNvSpPr>
              <a:spLocks noChangeShapeType="1"/>
            </p:cNvSpPr>
            <p:nvPr/>
          </p:nvSpPr>
          <p:spPr bwMode="auto">
            <a:xfrm>
              <a:off x="4593" y="2460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823" name="Line 87"/>
            <p:cNvSpPr>
              <a:spLocks noChangeShapeType="1"/>
            </p:cNvSpPr>
            <p:nvPr/>
          </p:nvSpPr>
          <p:spPr bwMode="auto">
            <a:xfrm>
              <a:off x="4449" y="2603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824" name="Line 88"/>
            <p:cNvSpPr>
              <a:spLocks noChangeShapeType="1"/>
            </p:cNvSpPr>
            <p:nvPr/>
          </p:nvSpPr>
          <p:spPr bwMode="auto">
            <a:xfrm>
              <a:off x="4305" y="2746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825" name="Line 89"/>
            <p:cNvSpPr>
              <a:spLocks noChangeShapeType="1"/>
            </p:cNvSpPr>
            <p:nvPr/>
          </p:nvSpPr>
          <p:spPr bwMode="auto">
            <a:xfrm>
              <a:off x="4149" y="2889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826" name="Line 90"/>
            <p:cNvSpPr>
              <a:spLocks noChangeShapeType="1"/>
            </p:cNvSpPr>
            <p:nvPr/>
          </p:nvSpPr>
          <p:spPr bwMode="auto">
            <a:xfrm>
              <a:off x="4005" y="3032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1" name="Group 91"/>
          <p:cNvGrpSpPr/>
          <p:nvPr/>
        </p:nvGrpSpPr>
        <p:grpSpPr bwMode="auto">
          <a:xfrm>
            <a:off x="6677025" y="3381375"/>
            <a:ext cx="2009775" cy="1963738"/>
            <a:chOff x="3860" y="2130"/>
            <a:chExt cx="1266" cy="1237"/>
          </a:xfrm>
        </p:grpSpPr>
        <p:sp>
          <p:nvSpPr>
            <p:cNvPr id="117809" name="Line 92"/>
            <p:cNvSpPr>
              <a:spLocks noChangeShapeType="1"/>
            </p:cNvSpPr>
            <p:nvPr/>
          </p:nvSpPr>
          <p:spPr bwMode="auto">
            <a:xfrm flipH="1">
              <a:off x="3888" y="2130"/>
              <a:ext cx="1238" cy="1237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810" name="Line 93"/>
            <p:cNvSpPr>
              <a:spLocks noChangeShapeType="1"/>
            </p:cNvSpPr>
            <p:nvPr/>
          </p:nvSpPr>
          <p:spPr bwMode="auto">
            <a:xfrm>
              <a:off x="3860" y="3175"/>
              <a:ext cx="184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811" name="Line 94"/>
            <p:cNvSpPr>
              <a:spLocks noChangeShapeType="1"/>
            </p:cNvSpPr>
            <p:nvPr/>
          </p:nvSpPr>
          <p:spPr bwMode="auto">
            <a:xfrm>
              <a:off x="4875" y="2174"/>
              <a:ext cx="184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812" name="Line 95"/>
            <p:cNvSpPr>
              <a:spLocks noChangeShapeType="1"/>
            </p:cNvSpPr>
            <p:nvPr/>
          </p:nvSpPr>
          <p:spPr bwMode="auto">
            <a:xfrm>
              <a:off x="4713" y="2317"/>
              <a:ext cx="184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813" name="Line 96"/>
            <p:cNvSpPr>
              <a:spLocks noChangeShapeType="1"/>
            </p:cNvSpPr>
            <p:nvPr/>
          </p:nvSpPr>
          <p:spPr bwMode="auto">
            <a:xfrm>
              <a:off x="4593" y="2460"/>
              <a:ext cx="184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814" name="Line 97"/>
            <p:cNvSpPr>
              <a:spLocks noChangeShapeType="1"/>
            </p:cNvSpPr>
            <p:nvPr/>
          </p:nvSpPr>
          <p:spPr bwMode="auto">
            <a:xfrm>
              <a:off x="4449" y="2603"/>
              <a:ext cx="184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815" name="Line 98"/>
            <p:cNvSpPr>
              <a:spLocks noChangeShapeType="1"/>
            </p:cNvSpPr>
            <p:nvPr/>
          </p:nvSpPr>
          <p:spPr bwMode="auto">
            <a:xfrm>
              <a:off x="4305" y="2746"/>
              <a:ext cx="184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816" name="Line 99"/>
            <p:cNvSpPr>
              <a:spLocks noChangeShapeType="1"/>
            </p:cNvSpPr>
            <p:nvPr/>
          </p:nvSpPr>
          <p:spPr bwMode="auto">
            <a:xfrm>
              <a:off x="4149" y="2889"/>
              <a:ext cx="184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817" name="Line 100"/>
            <p:cNvSpPr>
              <a:spLocks noChangeShapeType="1"/>
            </p:cNvSpPr>
            <p:nvPr/>
          </p:nvSpPr>
          <p:spPr bwMode="auto">
            <a:xfrm>
              <a:off x="4005" y="3032"/>
              <a:ext cx="184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2" name="Group 101"/>
          <p:cNvGrpSpPr/>
          <p:nvPr/>
        </p:nvGrpSpPr>
        <p:grpSpPr bwMode="auto">
          <a:xfrm>
            <a:off x="6677025" y="3381375"/>
            <a:ext cx="2009775" cy="1963738"/>
            <a:chOff x="3860" y="2130"/>
            <a:chExt cx="1266" cy="1237"/>
          </a:xfrm>
        </p:grpSpPr>
        <p:sp>
          <p:nvSpPr>
            <p:cNvPr id="117800" name="Line 102"/>
            <p:cNvSpPr>
              <a:spLocks noChangeShapeType="1"/>
            </p:cNvSpPr>
            <p:nvPr/>
          </p:nvSpPr>
          <p:spPr bwMode="auto">
            <a:xfrm flipH="1">
              <a:off x="3888" y="2130"/>
              <a:ext cx="1238" cy="1237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801" name="Line 103"/>
            <p:cNvSpPr>
              <a:spLocks noChangeShapeType="1"/>
            </p:cNvSpPr>
            <p:nvPr/>
          </p:nvSpPr>
          <p:spPr bwMode="auto">
            <a:xfrm>
              <a:off x="3860" y="3175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802" name="Line 104"/>
            <p:cNvSpPr>
              <a:spLocks noChangeShapeType="1"/>
            </p:cNvSpPr>
            <p:nvPr/>
          </p:nvSpPr>
          <p:spPr bwMode="auto">
            <a:xfrm>
              <a:off x="4875" y="2174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803" name="Line 105"/>
            <p:cNvSpPr>
              <a:spLocks noChangeShapeType="1"/>
            </p:cNvSpPr>
            <p:nvPr/>
          </p:nvSpPr>
          <p:spPr bwMode="auto">
            <a:xfrm>
              <a:off x="4713" y="2317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804" name="Line 106"/>
            <p:cNvSpPr>
              <a:spLocks noChangeShapeType="1"/>
            </p:cNvSpPr>
            <p:nvPr/>
          </p:nvSpPr>
          <p:spPr bwMode="auto">
            <a:xfrm>
              <a:off x="4593" y="2460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805" name="Line 107"/>
            <p:cNvSpPr>
              <a:spLocks noChangeShapeType="1"/>
            </p:cNvSpPr>
            <p:nvPr/>
          </p:nvSpPr>
          <p:spPr bwMode="auto">
            <a:xfrm>
              <a:off x="4449" y="2603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806" name="Line 108"/>
            <p:cNvSpPr>
              <a:spLocks noChangeShapeType="1"/>
            </p:cNvSpPr>
            <p:nvPr/>
          </p:nvSpPr>
          <p:spPr bwMode="auto">
            <a:xfrm>
              <a:off x="4305" y="2746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807" name="Line 109"/>
            <p:cNvSpPr>
              <a:spLocks noChangeShapeType="1"/>
            </p:cNvSpPr>
            <p:nvPr/>
          </p:nvSpPr>
          <p:spPr bwMode="auto">
            <a:xfrm>
              <a:off x="4149" y="2889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808" name="Line 110"/>
            <p:cNvSpPr>
              <a:spLocks noChangeShapeType="1"/>
            </p:cNvSpPr>
            <p:nvPr/>
          </p:nvSpPr>
          <p:spPr bwMode="auto">
            <a:xfrm>
              <a:off x="4005" y="3032"/>
              <a:ext cx="184" cy="0"/>
            </a:xfrm>
            <a:prstGeom prst="line">
              <a:avLst/>
            </a:prstGeom>
            <a:noFill/>
            <a:ln w="38100">
              <a:solidFill>
                <a:srgbClr val="AA7D00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3" name="Group 111"/>
          <p:cNvGrpSpPr/>
          <p:nvPr/>
        </p:nvGrpSpPr>
        <p:grpSpPr bwMode="auto">
          <a:xfrm>
            <a:off x="6677025" y="3381375"/>
            <a:ext cx="2009775" cy="1963738"/>
            <a:chOff x="3860" y="2130"/>
            <a:chExt cx="1266" cy="1237"/>
          </a:xfrm>
        </p:grpSpPr>
        <p:sp>
          <p:nvSpPr>
            <p:cNvPr id="117791" name="Line 112"/>
            <p:cNvSpPr>
              <a:spLocks noChangeShapeType="1"/>
            </p:cNvSpPr>
            <p:nvPr/>
          </p:nvSpPr>
          <p:spPr bwMode="auto">
            <a:xfrm flipH="1">
              <a:off x="3888" y="2130"/>
              <a:ext cx="1238" cy="1237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792" name="Line 113"/>
            <p:cNvSpPr>
              <a:spLocks noChangeShapeType="1"/>
            </p:cNvSpPr>
            <p:nvPr/>
          </p:nvSpPr>
          <p:spPr bwMode="auto">
            <a:xfrm>
              <a:off x="3860" y="3175"/>
              <a:ext cx="184" cy="0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793" name="Line 114"/>
            <p:cNvSpPr>
              <a:spLocks noChangeShapeType="1"/>
            </p:cNvSpPr>
            <p:nvPr/>
          </p:nvSpPr>
          <p:spPr bwMode="auto">
            <a:xfrm>
              <a:off x="4875" y="2174"/>
              <a:ext cx="184" cy="0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794" name="Line 115"/>
            <p:cNvSpPr>
              <a:spLocks noChangeShapeType="1"/>
            </p:cNvSpPr>
            <p:nvPr/>
          </p:nvSpPr>
          <p:spPr bwMode="auto">
            <a:xfrm>
              <a:off x="4713" y="2317"/>
              <a:ext cx="184" cy="0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795" name="Line 116"/>
            <p:cNvSpPr>
              <a:spLocks noChangeShapeType="1"/>
            </p:cNvSpPr>
            <p:nvPr/>
          </p:nvSpPr>
          <p:spPr bwMode="auto">
            <a:xfrm>
              <a:off x="4593" y="2460"/>
              <a:ext cx="184" cy="0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796" name="Line 117"/>
            <p:cNvSpPr>
              <a:spLocks noChangeShapeType="1"/>
            </p:cNvSpPr>
            <p:nvPr/>
          </p:nvSpPr>
          <p:spPr bwMode="auto">
            <a:xfrm>
              <a:off x="4449" y="2603"/>
              <a:ext cx="184" cy="0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797" name="Line 118"/>
            <p:cNvSpPr>
              <a:spLocks noChangeShapeType="1"/>
            </p:cNvSpPr>
            <p:nvPr/>
          </p:nvSpPr>
          <p:spPr bwMode="auto">
            <a:xfrm>
              <a:off x="4305" y="2746"/>
              <a:ext cx="184" cy="0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798" name="Line 119"/>
            <p:cNvSpPr>
              <a:spLocks noChangeShapeType="1"/>
            </p:cNvSpPr>
            <p:nvPr/>
          </p:nvSpPr>
          <p:spPr bwMode="auto">
            <a:xfrm>
              <a:off x="4149" y="2889"/>
              <a:ext cx="184" cy="0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7799" name="Line 120"/>
            <p:cNvSpPr>
              <a:spLocks noChangeShapeType="1"/>
            </p:cNvSpPr>
            <p:nvPr/>
          </p:nvSpPr>
          <p:spPr bwMode="auto">
            <a:xfrm>
              <a:off x="4005" y="3032"/>
              <a:ext cx="184" cy="0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4" name="Group 121"/>
          <p:cNvGrpSpPr/>
          <p:nvPr/>
        </p:nvGrpSpPr>
        <p:grpSpPr bwMode="auto">
          <a:xfrm>
            <a:off x="1420813" y="5334000"/>
            <a:ext cx="6580187" cy="1006475"/>
            <a:chOff x="895" y="3360"/>
            <a:chExt cx="4145" cy="634"/>
          </a:xfrm>
        </p:grpSpPr>
        <p:sp>
          <p:nvSpPr>
            <p:cNvPr id="117789" name="Text Box 122"/>
            <p:cNvSpPr txBox="1">
              <a:spLocks noChangeArrowheads="1"/>
            </p:cNvSpPr>
            <p:nvPr/>
          </p:nvSpPr>
          <p:spPr bwMode="auto">
            <a:xfrm>
              <a:off x="895" y="3667"/>
              <a:ext cx="414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当地址为 65 535 时，此 8 片的片选有效</a:t>
              </a:r>
            </a:p>
          </p:txBody>
        </p:sp>
        <p:sp>
          <p:nvSpPr>
            <p:cNvPr id="117790" name="Freeform 123"/>
            <p:cNvSpPr/>
            <p:nvPr/>
          </p:nvSpPr>
          <p:spPr bwMode="auto">
            <a:xfrm>
              <a:off x="3466" y="3360"/>
              <a:ext cx="564" cy="284"/>
            </a:xfrm>
            <a:custGeom>
              <a:avLst/>
              <a:gdLst>
                <a:gd name="T0" fmla="*/ 0 w 564"/>
                <a:gd name="T1" fmla="*/ 284 h 284"/>
                <a:gd name="T2" fmla="*/ 564 w 564"/>
                <a:gd name="T3" fmla="*/ 0 h 284"/>
                <a:gd name="T4" fmla="*/ 0 60000 65536"/>
                <a:gd name="T5" fmla="*/ 0 60000 65536"/>
                <a:gd name="T6" fmla="*/ 0 w 564"/>
                <a:gd name="T7" fmla="*/ 0 h 284"/>
                <a:gd name="T8" fmla="*/ 564 w 564"/>
                <a:gd name="T9" fmla="*/ 284 h 28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64" h="284">
                  <a:moveTo>
                    <a:pt x="0" y="284"/>
                  </a:moveTo>
                  <a:lnTo>
                    <a:pt x="564" y="0"/>
                  </a:lnTo>
                </a:path>
              </a:pathLst>
            </a:custGeom>
            <a:noFill/>
            <a:ln w="9525">
              <a:solidFill>
                <a:srgbClr val="FFFF00"/>
              </a:solidFill>
              <a:rou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5" name="Group 124"/>
          <p:cNvGrpSpPr/>
          <p:nvPr/>
        </p:nvGrpSpPr>
        <p:grpSpPr bwMode="auto">
          <a:xfrm>
            <a:off x="2244725" y="2076450"/>
            <a:ext cx="6899275" cy="1219200"/>
            <a:chOff x="1414" y="1308"/>
            <a:chExt cx="4346" cy="768"/>
          </a:xfrm>
        </p:grpSpPr>
        <p:sp>
          <p:nvSpPr>
            <p:cNvPr id="117785" name="Text Box 125"/>
            <p:cNvSpPr txBox="1">
              <a:spLocks noChangeArrowheads="1"/>
            </p:cNvSpPr>
            <p:nvPr/>
          </p:nvSpPr>
          <p:spPr bwMode="auto">
            <a:xfrm>
              <a:off x="1414" y="1308"/>
              <a:ext cx="12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      8片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16</a:t>
              </a:r>
              <a:r>
                <a:rPr lang="en-US" altLang="zh-CN" sz="2400">
                  <a:latin typeface="Times New Roman" panose="02020603050405020304" pitchFamily="18" charset="0"/>
                </a:rPr>
                <a:t>K </a:t>
              </a:r>
              <a:r>
                <a:rPr lang="en-US" altLang="zh-CN" sz="2600">
                  <a:latin typeface="Times New Roman" panose="02020603050405020304" pitchFamily="18" charset="0"/>
                  <a:cs typeface="Times New Roman" panose="02020603050405020304" pitchFamily="18" charset="0"/>
                </a:rPr>
                <a:t>×</a:t>
              </a:r>
              <a:r>
                <a:rPr lang="en-US" altLang="zh-CN" sz="2400">
                  <a:latin typeface="Times New Roman" panose="02020603050405020304" pitchFamily="18" charset="0"/>
                </a:rPr>
                <a:t> 1</a:t>
              </a:r>
              <a:r>
                <a:rPr lang="zh-CN" altLang="en-US" sz="2400">
                  <a:latin typeface="Times New Roman" panose="02020603050405020304" pitchFamily="18" charset="0"/>
                </a:rPr>
                <a:t>位</a:t>
              </a:r>
            </a:p>
          </p:txBody>
        </p:sp>
        <p:sp>
          <p:nvSpPr>
            <p:cNvPr id="117786" name="Text Box 126"/>
            <p:cNvSpPr txBox="1">
              <a:spLocks noChangeArrowheads="1"/>
            </p:cNvSpPr>
            <p:nvPr/>
          </p:nvSpPr>
          <p:spPr bwMode="auto">
            <a:xfrm>
              <a:off x="2486" y="1308"/>
              <a:ext cx="1210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     8片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16</a:t>
              </a:r>
              <a:r>
                <a:rPr lang="en-US" altLang="zh-CN" sz="2400">
                  <a:latin typeface="Times New Roman" panose="02020603050405020304" pitchFamily="18" charset="0"/>
                </a:rPr>
                <a:t>K </a:t>
              </a:r>
              <a:r>
                <a:rPr lang="en-US" altLang="zh-CN" sz="2600">
                  <a:latin typeface="Times New Roman" panose="02020603050405020304" pitchFamily="18" charset="0"/>
                  <a:cs typeface="Times New Roman" panose="02020603050405020304" pitchFamily="18" charset="0"/>
                </a:rPr>
                <a:t>×</a:t>
              </a:r>
              <a:r>
                <a:rPr lang="en-US" altLang="zh-CN" sz="2400">
                  <a:latin typeface="Times New Roman" panose="02020603050405020304" pitchFamily="18" charset="0"/>
                </a:rPr>
                <a:t> 1</a:t>
              </a:r>
              <a:r>
                <a:rPr lang="zh-CN" altLang="en-US" sz="2400">
                  <a:latin typeface="Times New Roman" panose="02020603050405020304" pitchFamily="18" charset="0"/>
                </a:rPr>
                <a:t>位</a:t>
              </a:r>
            </a:p>
          </p:txBody>
        </p:sp>
        <p:sp>
          <p:nvSpPr>
            <p:cNvPr id="117787" name="Text Box 127"/>
            <p:cNvSpPr txBox="1">
              <a:spLocks noChangeArrowheads="1"/>
            </p:cNvSpPr>
            <p:nvPr/>
          </p:nvSpPr>
          <p:spPr bwMode="auto">
            <a:xfrm>
              <a:off x="3558" y="1308"/>
              <a:ext cx="1050" cy="7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     8片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16</a:t>
              </a:r>
              <a:r>
                <a:rPr lang="en-US" altLang="zh-CN" sz="2400">
                  <a:latin typeface="Times New Roman" panose="02020603050405020304" pitchFamily="18" charset="0"/>
                </a:rPr>
                <a:t>K </a:t>
              </a:r>
              <a:r>
                <a:rPr lang="en-US" altLang="zh-CN" sz="2600">
                  <a:latin typeface="Times New Roman" panose="02020603050405020304" pitchFamily="18" charset="0"/>
                  <a:cs typeface="Times New Roman" panose="02020603050405020304" pitchFamily="18" charset="0"/>
                </a:rPr>
                <a:t>×</a:t>
              </a:r>
              <a:r>
                <a:rPr lang="en-US" altLang="zh-CN" sz="2400">
                  <a:latin typeface="Times New Roman" panose="02020603050405020304" pitchFamily="18" charset="0"/>
                </a:rPr>
                <a:t> 1</a:t>
              </a:r>
              <a:r>
                <a:rPr lang="zh-CN" altLang="en-US" sz="2400">
                  <a:latin typeface="Times New Roman" panose="02020603050405020304" pitchFamily="18" charset="0"/>
                </a:rPr>
                <a:t>位</a:t>
              </a:r>
            </a:p>
          </p:txBody>
        </p:sp>
        <p:sp>
          <p:nvSpPr>
            <p:cNvPr id="117788" name="Text Box 128"/>
            <p:cNvSpPr txBox="1">
              <a:spLocks noChangeArrowheads="1"/>
            </p:cNvSpPr>
            <p:nvPr/>
          </p:nvSpPr>
          <p:spPr bwMode="auto">
            <a:xfrm>
              <a:off x="4630" y="1308"/>
              <a:ext cx="1130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     8片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16</a:t>
              </a:r>
              <a:r>
                <a:rPr lang="en-US" altLang="zh-CN" sz="2400">
                  <a:latin typeface="Times New Roman" panose="02020603050405020304" pitchFamily="18" charset="0"/>
                </a:rPr>
                <a:t>K </a:t>
              </a:r>
              <a:r>
                <a:rPr lang="en-US" altLang="zh-CN" sz="2600">
                  <a:latin typeface="Times New Roman" panose="02020603050405020304" pitchFamily="18" charset="0"/>
                  <a:cs typeface="Times New Roman" panose="02020603050405020304" pitchFamily="18" charset="0"/>
                </a:rPr>
                <a:t>×</a:t>
              </a:r>
              <a:r>
                <a:rPr lang="en-US" altLang="zh-CN" sz="2400">
                  <a:latin typeface="Times New Roman" panose="02020603050405020304" pitchFamily="18" charset="0"/>
                </a:rPr>
                <a:t> 1</a:t>
              </a:r>
              <a:r>
                <a:rPr lang="zh-CN" altLang="en-US" sz="2400">
                  <a:latin typeface="Times New Roman" panose="02020603050405020304" pitchFamily="18" charset="0"/>
                </a:rPr>
                <a:t>位</a:t>
              </a:r>
            </a:p>
          </p:txBody>
        </p:sp>
      </p:grpSp>
      <p:sp>
        <p:nvSpPr>
          <p:cNvPr id="205953" name="Rectangle 129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17784" name="AutoShape 130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058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2" dur="500"/>
                                        <p:tgtEl>
                                          <p:spTgt spid="2058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16" dur="500"/>
                                        <p:tgtEl>
                                          <p:spTgt spid="2058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20" dur="500"/>
                                        <p:tgtEl>
                                          <p:spTgt spid="2058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24" dur="500"/>
                                        <p:tgtEl>
                                          <p:spTgt spid="2058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28" dur="500"/>
                                        <p:tgtEl>
                                          <p:spTgt spid="2058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32" dur="500"/>
                                        <p:tgtEl>
                                          <p:spTgt spid="2058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36" dur="500"/>
                                        <p:tgtEl>
                                          <p:spTgt spid="205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40" dur="500"/>
                                        <p:tgtEl>
                                          <p:spTgt spid="205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4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5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5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5" dur="500"/>
                                        <p:tgtEl>
                                          <p:spTgt spid="205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7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8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500"/>
                            </p:stCondLst>
                            <p:childTnLst>
                              <p:par>
                                <p:cTn id="82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8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1000"/>
                            </p:stCondLst>
                            <p:childTnLst>
                              <p:par>
                                <p:cTn id="86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8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1500"/>
                            </p:stCondLst>
                            <p:childTnLst>
                              <p:par>
                                <p:cTn id="90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9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5868" grpId="0" autoUpdateAnimBg="0"/>
      <p:bldP spid="205869" grpId="0" animBg="1"/>
      <p:bldP spid="205870" grpId="0" animBg="1"/>
      <p:bldP spid="205871" grpId="0" animBg="1"/>
      <p:bldP spid="205872" grpId="0" animBg="1"/>
      <p:bldP spid="205873" grpId="0" animBg="1"/>
      <p:bldP spid="205874" grpId="0" animBg="1"/>
      <p:bldP spid="205875" grpId="0" animBg="1" autoUpdateAnimBg="0"/>
      <p:bldP spid="205876" grpId="0" animBg="1" autoUpdateAnimBg="0"/>
      <p:bldP spid="205904" grpId="0" animBg="1" autoUpdateAnimBg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98"/>
          <p:cNvGrpSpPr/>
          <p:nvPr/>
        </p:nvGrpSpPr>
        <p:grpSpPr bwMode="auto">
          <a:xfrm>
            <a:off x="801688" y="1906588"/>
            <a:ext cx="6567487" cy="4862512"/>
            <a:chOff x="505" y="1201"/>
            <a:chExt cx="4137" cy="3063"/>
          </a:xfrm>
        </p:grpSpPr>
        <p:grpSp>
          <p:nvGrpSpPr>
            <p:cNvPr id="118826" name="Group 97"/>
            <p:cNvGrpSpPr/>
            <p:nvPr/>
          </p:nvGrpSpPr>
          <p:grpSpPr bwMode="auto">
            <a:xfrm>
              <a:off x="505" y="1201"/>
              <a:ext cx="4137" cy="3063"/>
              <a:chOff x="505" y="1201"/>
              <a:chExt cx="4137" cy="3063"/>
            </a:xfrm>
          </p:grpSpPr>
          <p:sp>
            <p:nvSpPr>
              <p:cNvPr id="118829" name="Rectangle 4"/>
              <p:cNvSpPr>
                <a:spLocks noChangeArrowheads="1"/>
              </p:cNvSpPr>
              <p:nvPr/>
            </p:nvSpPr>
            <p:spPr bwMode="auto">
              <a:xfrm>
                <a:off x="2445" y="1392"/>
                <a:ext cx="585" cy="33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0,0</a:t>
                </a:r>
              </a:p>
            </p:txBody>
          </p:sp>
          <p:sp>
            <p:nvSpPr>
              <p:cNvPr id="118830" name="Rectangle 5"/>
              <p:cNvSpPr>
                <a:spLocks noChangeArrowheads="1"/>
              </p:cNvSpPr>
              <p:nvPr/>
            </p:nvSpPr>
            <p:spPr bwMode="auto">
              <a:xfrm>
                <a:off x="2445" y="2585"/>
                <a:ext cx="585" cy="33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15,0</a:t>
                </a:r>
              </a:p>
            </p:txBody>
          </p:sp>
          <p:sp>
            <p:nvSpPr>
              <p:cNvPr id="118831" name="Rectangle 6"/>
              <p:cNvSpPr>
                <a:spLocks noChangeArrowheads="1"/>
              </p:cNvSpPr>
              <p:nvPr/>
            </p:nvSpPr>
            <p:spPr bwMode="auto">
              <a:xfrm>
                <a:off x="3776" y="2585"/>
                <a:ext cx="585" cy="33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15,7</a:t>
                </a:r>
              </a:p>
            </p:txBody>
          </p:sp>
          <p:sp>
            <p:nvSpPr>
              <p:cNvPr id="118832" name="Rectangle 7"/>
              <p:cNvSpPr>
                <a:spLocks noChangeArrowheads="1"/>
              </p:cNvSpPr>
              <p:nvPr/>
            </p:nvSpPr>
            <p:spPr bwMode="auto">
              <a:xfrm>
                <a:off x="3776" y="1392"/>
                <a:ext cx="585" cy="33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0,7</a:t>
                </a:r>
              </a:p>
            </p:txBody>
          </p:sp>
          <p:grpSp>
            <p:nvGrpSpPr>
              <p:cNvPr id="118833" name="Group 8"/>
              <p:cNvGrpSpPr/>
              <p:nvPr/>
            </p:nvGrpSpPr>
            <p:grpSpPr bwMode="auto">
              <a:xfrm>
                <a:off x="2267" y="3523"/>
                <a:ext cx="2226" cy="404"/>
                <a:chOff x="2267" y="3523"/>
                <a:chExt cx="2226" cy="404"/>
              </a:xfrm>
            </p:grpSpPr>
            <p:sp>
              <p:nvSpPr>
                <p:cNvPr id="118879" name="Rectangle 9"/>
                <p:cNvSpPr>
                  <a:spLocks noChangeArrowheads="1"/>
                </p:cNvSpPr>
                <p:nvPr/>
              </p:nvSpPr>
              <p:spPr bwMode="auto">
                <a:xfrm rot="5400000">
                  <a:off x="3188" y="2622"/>
                  <a:ext cx="384" cy="222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18880" name="Text Box 10"/>
                <p:cNvSpPr txBox="1">
                  <a:spLocks noChangeArrowheads="1"/>
                </p:cNvSpPr>
                <p:nvPr/>
              </p:nvSpPr>
              <p:spPr bwMode="auto">
                <a:xfrm>
                  <a:off x="2449" y="3523"/>
                  <a:ext cx="1775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    </a:t>
                  </a:r>
                  <a:r>
                    <a:rPr lang="zh-CN" altLang="en-US" sz="2400">
                      <a:latin typeface="Times New Roman" panose="02020603050405020304" pitchFamily="18" charset="0"/>
                    </a:rPr>
                    <a:t>读/写控制电路</a:t>
                  </a:r>
                  <a:r>
                    <a:rPr lang="zh-CN" altLang="en-US" sz="3200">
                      <a:latin typeface="Times New Roman" panose="02020603050405020304" pitchFamily="18" charset="0"/>
                    </a:rPr>
                    <a:t>   </a:t>
                  </a:r>
                </a:p>
              </p:txBody>
            </p:sp>
          </p:grpSp>
          <p:sp>
            <p:nvSpPr>
              <p:cNvPr id="118834" name="Rectangle 11"/>
              <p:cNvSpPr>
                <a:spLocks noChangeArrowheads="1"/>
              </p:cNvSpPr>
              <p:nvPr/>
            </p:nvSpPr>
            <p:spPr bwMode="auto">
              <a:xfrm>
                <a:off x="1236" y="1203"/>
                <a:ext cx="384" cy="2227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18835" name="Rectangle 12"/>
              <p:cNvSpPr>
                <a:spLocks noChangeArrowheads="1"/>
              </p:cNvSpPr>
              <p:nvPr/>
            </p:nvSpPr>
            <p:spPr bwMode="auto">
              <a:xfrm>
                <a:off x="2160" y="1201"/>
                <a:ext cx="2482" cy="2058"/>
              </a:xfrm>
              <a:prstGeom prst="rect">
                <a:avLst/>
              </a:prstGeom>
              <a:noFill/>
              <a:ln w="28575">
                <a:solidFill>
                  <a:schemeClr val="tx1"/>
                </a:solidFill>
                <a:prstDash val="lgDashDot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18836" name="Text Box 13"/>
              <p:cNvSpPr txBox="1">
                <a:spLocks noChangeArrowheads="1"/>
              </p:cNvSpPr>
              <p:nvPr/>
            </p:nvSpPr>
            <p:spPr bwMode="auto">
              <a:xfrm>
                <a:off x="1275" y="1680"/>
                <a:ext cx="309" cy="1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地</a:t>
                </a:r>
              </a:p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址</a:t>
                </a:r>
              </a:p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译</a:t>
                </a:r>
              </a:p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码</a:t>
                </a:r>
              </a:p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器</a:t>
                </a:r>
              </a:p>
            </p:txBody>
          </p:sp>
          <p:sp>
            <p:nvSpPr>
              <p:cNvPr id="118837" name="Freeform 14"/>
              <p:cNvSpPr/>
              <p:nvPr/>
            </p:nvSpPr>
            <p:spPr bwMode="auto">
              <a:xfrm>
                <a:off x="1626" y="1715"/>
                <a:ext cx="2406" cy="243"/>
              </a:xfrm>
              <a:custGeom>
                <a:avLst/>
                <a:gdLst>
                  <a:gd name="T0" fmla="*/ 0 w 2406"/>
                  <a:gd name="T1" fmla="*/ 243 h 243"/>
                  <a:gd name="T2" fmla="*/ 2406 w 2406"/>
                  <a:gd name="T3" fmla="*/ 243 h 243"/>
                  <a:gd name="T4" fmla="*/ 2406 w 2406"/>
                  <a:gd name="T5" fmla="*/ 0 h 243"/>
                  <a:gd name="T6" fmla="*/ 0 60000 65536"/>
                  <a:gd name="T7" fmla="*/ 0 60000 65536"/>
                  <a:gd name="T8" fmla="*/ 0 60000 65536"/>
                  <a:gd name="T9" fmla="*/ 0 w 2406"/>
                  <a:gd name="T10" fmla="*/ 0 h 243"/>
                  <a:gd name="T11" fmla="*/ 2406 w 2406"/>
                  <a:gd name="T12" fmla="*/ 243 h 24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06" h="243">
                    <a:moveTo>
                      <a:pt x="0" y="243"/>
                    </a:moveTo>
                    <a:lnTo>
                      <a:pt x="2406" y="243"/>
                    </a:lnTo>
                    <a:lnTo>
                      <a:pt x="240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8838" name="Freeform 15"/>
              <p:cNvSpPr/>
              <p:nvPr/>
            </p:nvSpPr>
            <p:spPr bwMode="auto">
              <a:xfrm>
                <a:off x="2748" y="1728"/>
                <a:ext cx="1" cy="221"/>
              </a:xfrm>
              <a:custGeom>
                <a:avLst/>
                <a:gdLst>
                  <a:gd name="T0" fmla="*/ 0 w 1"/>
                  <a:gd name="T1" fmla="*/ 0 h 221"/>
                  <a:gd name="T2" fmla="*/ 0 w 1"/>
                  <a:gd name="T3" fmla="*/ 221 h 221"/>
                  <a:gd name="T4" fmla="*/ 0 60000 65536"/>
                  <a:gd name="T5" fmla="*/ 0 60000 65536"/>
                  <a:gd name="T6" fmla="*/ 0 w 1"/>
                  <a:gd name="T7" fmla="*/ 0 h 221"/>
                  <a:gd name="T8" fmla="*/ 1 w 1"/>
                  <a:gd name="T9" fmla="*/ 221 h 22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21">
                    <a:moveTo>
                      <a:pt x="0" y="0"/>
                    </a:moveTo>
                    <a:lnTo>
                      <a:pt x="0" y="22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oval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8839" name="Freeform 16"/>
              <p:cNvSpPr/>
              <p:nvPr/>
            </p:nvSpPr>
            <p:spPr bwMode="auto">
              <a:xfrm>
                <a:off x="1631" y="2916"/>
                <a:ext cx="2406" cy="243"/>
              </a:xfrm>
              <a:custGeom>
                <a:avLst/>
                <a:gdLst>
                  <a:gd name="T0" fmla="*/ 0 w 2406"/>
                  <a:gd name="T1" fmla="*/ 243 h 243"/>
                  <a:gd name="T2" fmla="*/ 2406 w 2406"/>
                  <a:gd name="T3" fmla="*/ 243 h 243"/>
                  <a:gd name="T4" fmla="*/ 2406 w 2406"/>
                  <a:gd name="T5" fmla="*/ 0 h 243"/>
                  <a:gd name="T6" fmla="*/ 0 60000 65536"/>
                  <a:gd name="T7" fmla="*/ 0 60000 65536"/>
                  <a:gd name="T8" fmla="*/ 0 60000 65536"/>
                  <a:gd name="T9" fmla="*/ 0 w 2406"/>
                  <a:gd name="T10" fmla="*/ 0 h 243"/>
                  <a:gd name="T11" fmla="*/ 2406 w 2406"/>
                  <a:gd name="T12" fmla="*/ 243 h 24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06" h="243">
                    <a:moveTo>
                      <a:pt x="0" y="243"/>
                    </a:moveTo>
                    <a:lnTo>
                      <a:pt x="2406" y="243"/>
                    </a:lnTo>
                    <a:lnTo>
                      <a:pt x="240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8840" name="Freeform 17"/>
              <p:cNvSpPr/>
              <p:nvPr/>
            </p:nvSpPr>
            <p:spPr bwMode="auto">
              <a:xfrm>
                <a:off x="2748" y="2929"/>
                <a:ext cx="1" cy="221"/>
              </a:xfrm>
              <a:custGeom>
                <a:avLst/>
                <a:gdLst>
                  <a:gd name="T0" fmla="*/ 0 w 1"/>
                  <a:gd name="T1" fmla="*/ 0 h 221"/>
                  <a:gd name="T2" fmla="*/ 0 w 1"/>
                  <a:gd name="T3" fmla="*/ 221 h 221"/>
                  <a:gd name="T4" fmla="*/ 0 60000 65536"/>
                  <a:gd name="T5" fmla="*/ 0 60000 65536"/>
                  <a:gd name="T6" fmla="*/ 0 w 1"/>
                  <a:gd name="T7" fmla="*/ 0 h 221"/>
                  <a:gd name="T8" fmla="*/ 1 w 1"/>
                  <a:gd name="T9" fmla="*/ 221 h 22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21">
                    <a:moveTo>
                      <a:pt x="0" y="0"/>
                    </a:moveTo>
                    <a:lnTo>
                      <a:pt x="0" y="22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oval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8841" name="Text Box 18"/>
              <p:cNvSpPr txBox="1">
                <a:spLocks noChangeArrowheads="1"/>
              </p:cNvSpPr>
              <p:nvPr/>
            </p:nvSpPr>
            <p:spPr bwMode="auto">
              <a:xfrm>
                <a:off x="1599" y="1472"/>
                <a:ext cx="51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 </a:t>
                </a:r>
                <a:r>
                  <a:rPr lang="zh-CN" altLang="en-US" sz="2200">
                    <a:latin typeface="Times New Roman" panose="02020603050405020304" pitchFamily="18" charset="0"/>
                  </a:rPr>
                  <a:t>字线</a:t>
                </a:r>
              </a:p>
            </p:txBody>
          </p:sp>
          <p:sp>
            <p:nvSpPr>
              <p:cNvPr id="118842" name="Text Box 19"/>
              <p:cNvSpPr txBox="1">
                <a:spLocks noChangeArrowheads="1"/>
              </p:cNvSpPr>
              <p:nvPr/>
            </p:nvSpPr>
            <p:spPr bwMode="auto">
              <a:xfrm>
                <a:off x="1779" y="1722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18843" name="Text Box 20"/>
              <p:cNvSpPr txBox="1">
                <a:spLocks noChangeArrowheads="1"/>
              </p:cNvSpPr>
              <p:nvPr/>
            </p:nvSpPr>
            <p:spPr bwMode="auto">
              <a:xfrm>
                <a:off x="1743" y="2896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18844" name="Freeform 21"/>
              <p:cNvSpPr/>
              <p:nvPr/>
            </p:nvSpPr>
            <p:spPr bwMode="auto">
              <a:xfrm>
                <a:off x="2740" y="3248"/>
                <a:ext cx="1" cy="295"/>
              </a:xfrm>
              <a:custGeom>
                <a:avLst/>
                <a:gdLst>
                  <a:gd name="T0" fmla="*/ 0 w 1"/>
                  <a:gd name="T1" fmla="*/ 0 h 295"/>
                  <a:gd name="T2" fmla="*/ 0 w 1"/>
                  <a:gd name="T3" fmla="*/ 295 h 295"/>
                  <a:gd name="T4" fmla="*/ 0 60000 65536"/>
                  <a:gd name="T5" fmla="*/ 0 60000 65536"/>
                  <a:gd name="T6" fmla="*/ 0 w 1"/>
                  <a:gd name="T7" fmla="*/ 0 h 295"/>
                  <a:gd name="T8" fmla="*/ 1 w 1"/>
                  <a:gd name="T9" fmla="*/ 295 h 29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95">
                    <a:moveTo>
                      <a:pt x="0" y="0"/>
                    </a:moveTo>
                    <a:lnTo>
                      <a:pt x="0" y="29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8845" name="Freeform 22"/>
              <p:cNvSpPr/>
              <p:nvPr/>
            </p:nvSpPr>
            <p:spPr bwMode="auto">
              <a:xfrm>
                <a:off x="4032" y="3254"/>
                <a:ext cx="1" cy="295"/>
              </a:xfrm>
              <a:custGeom>
                <a:avLst/>
                <a:gdLst>
                  <a:gd name="T0" fmla="*/ 0 w 1"/>
                  <a:gd name="T1" fmla="*/ 0 h 295"/>
                  <a:gd name="T2" fmla="*/ 0 w 1"/>
                  <a:gd name="T3" fmla="*/ 295 h 295"/>
                  <a:gd name="T4" fmla="*/ 0 60000 65536"/>
                  <a:gd name="T5" fmla="*/ 0 60000 65536"/>
                  <a:gd name="T6" fmla="*/ 0 w 1"/>
                  <a:gd name="T7" fmla="*/ 0 h 295"/>
                  <a:gd name="T8" fmla="*/ 1 w 1"/>
                  <a:gd name="T9" fmla="*/ 295 h 29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95">
                    <a:moveTo>
                      <a:pt x="0" y="0"/>
                    </a:moveTo>
                    <a:lnTo>
                      <a:pt x="0" y="29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8846" name="Text Box 23"/>
              <p:cNvSpPr txBox="1">
                <a:spLocks noChangeArrowheads="1"/>
              </p:cNvSpPr>
              <p:nvPr/>
            </p:nvSpPr>
            <p:spPr bwMode="auto">
              <a:xfrm>
                <a:off x="3080" y="3161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18847" name="Text Box 24"/>
              <p:cNvSpPr txBox="1">
                <a:spLocks noChangeArrowheads="1"/>
              </p:cNvSpPr>
              <p:nvPr/>
            </p:nvSpPr>
            <p:spPr bwMode="auto">
              <a:xfrm rot="5400000">
                <a:off x="1747" y="2263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18848" name="Freeform 25"/>
              <p:cNvSpPr/>
              <p:nvPr/>
            </p:nvSpPr>
            <p:spPr bwMode="auto">
              <a:xfrm>
                <a:off x="2740" y="3917"/>
                <a:ext cx="1" cy="295"/>
              </a:xfrm>
              <a:custGeom>
                <a:avLst/>
                <a:gdLst>
                  <a:gd name="T0" fmla="*/ 0 w 1"/>
                  <a:gd name="T1" fmla="*/ 0 h 295"/>
                  <a:gd name="T2" fmla="*/ 0 w 1"/>
                  <a:gd name="T3" fmla="*/ 295 h 295"/>
                  <a:gd name="T4" fmla="*/ 0 60000 65536"/>
                  <a:gd name="T5" fmla="*/ 0 60000 65536"/>
                  <a:gd name="T6" fmla="*/ 0 w 1"/>
                  <a:gd name="T7" fmla="*/ 0 h 295"/>
                  <a:gd name="T8" fmla="*/ 1 w 1"/>
                  <a:gd name="T9" fmla="*/ 295 h 29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95">
                    <a:moveTo>
                      <a:pt x="0" y="0"/>
                    </a:moveTo>
                    <a:lnTo>
                      <a:pt x="0" y="29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8849" name="Freeform 26"/>
              <p:cNvSpPr/>
              <p:nvPr/>
            </p:nvSpPr>
            <p:spPr bwMode="auto">
              <a:xfrm>
                <a:off x="4032" y="3917"/>
                <a:ext cx="1" cy="295"/>
              </a:xfrm>
              <a:custGeom>
                <a:avLst/>
                <a:gdLst>
                  <a:gd name="T0" fmla="*/ 0 w 1"/>
                  <a:gd name="T1" fmla="*/ 0 h 295"/>
                  <a:gd name="T2" fmla="*/ 0 w 1"/>
                  <a:gd name="T3" fmla="*/ 295 h 295"/>
                  <a:gd name="T4" fmla="*/ 0 60000 65536"/>
                  <a:gd name="T5" fmla="*/ 0 60000 65536"/>
                  <a:gd name="T6" fmla="*/ 0 w 1"/>
                  <a:gd name="T7" fmla="*/ 0 h 295"/>
                  <a:gd name="T8" fmla="*/ 1 w 1"/>
                  <a:gd name="T9" fmla="*/ 295 h 29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95">
                    <a:moveTo>
                      <a:pt x="0" y="0"/>
                    </a:moveTo>
                    <a:lnTo>
                      <a:pt x="0" y="29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8850" name="Text Box 27"/>
              <p:cNvSpPr txBox="1">
                <a:spLocks noChangeArrowheads="1"/>
              </p:cNvSpPr>
              <p:nvPr/>
            </p:nvSpPr>
            <p:spPr bwMode="auto">
              <a:xfrm>
                <a:off x="2960" y="1996"/>
                <a:ext cx="911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200">
                    <a:latin typeface="Times New Roman" panose="02020603050405020304" pitchFamily="18" charset="0"/>
                  </a:rPr>
                  <a:t>16×8矩阵</a:t>
                </a:r>
              </a:p>
            </p:txBody>
          </p:sp>
          <p:sp>
            <p:nvSpPr>
              <p:cNvPr id="118851" name="Text Box 28"/>
              <p:cNvSpPr txBox="1">
                <a:spLocks noChangeArrowheads="1"/>
              </p:cNvSpPr>
              <p:nvPr/>
            </p:nvSpPr>
            <p:spPr bwMode="auto">
              <a:xfrm rot="5400000">
                <a:off x="2637" y="2077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18852" name="Text Box 29"/>
              <p:cNvSpPr txBox="1">
                <a:spLocks noChangeArrowheads="1"/>
              </p:cNvSpPr>
              <p:nvPr/>
            </p:nvSpPr>
            <p:spPr bwMode="auto">
              <a:xfrm rot="5400000">
                <a:off x="3932" y="2077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18853" name="Text Box 30"/>
              <p:cNvSpPr txBox="1">
                <a:spLocks noChangeArrowheads="1"/>
              </p:cNvSpPr>
              <p:nvPr/>
            </p:nvSpPr>
            <p:spPr bwMode="auto">
              <a:xfrm>
                <a:off x="3080" y="3819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18854" name="Text Box 31"/>
              <p:cNvSpPr txBox="1">
                <a:spLocks noChangeArrowheads="1"/>
              </p:cNvSpPr>
              <p:nvPr/>
            </p:nvSpPr>
            <p:spPr bwMode="auto">
              <a:xfrm>
                <a:off x="2501" y="3255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18855" name="Text Box 32"/>
              <p:cNvSpPr txBox="1">
                <a:spLocks noChangeArrowheads="1"/>
              </p:cNvSpPr>
              <p:nvPr/>
            </p:nvSpPr>
            <p:spPr bwMode="auto">
              <a:xfrm>
                <a:off x="3797" y="3266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7</a:t>
                </a:r>
              </a:p>
            </p:txBody>
          </p:sp>
          <p:sp>
            <p:nvSpPr>
              <p:cNvPr id="118856" name="Text Box 33"/>
              <p:cNvSpPr txBox="1">
                <a:spLocks noChangeArrowheads="1"/>
              </p:cNvSpPr>
              <p:nvPr/>
            </p:nvSpPr>
            <p:spPr bwMode="auto">
              <a:xfrm>
                <a:off x="2369" y="3953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18857" name="Text Box 34"/>
              <p:cNvSpPr txBox="1">
                <a:spLocks noChangeArrowheads="1"/>
              </p:cNvSpPr>
              <p:nvPr/>
            </p:nvSpPr>
            <p:spPr bwMode="auto">
              <a:xfrm>
                <a:off x="2528" y="4072"/>
                <a:ext cx="172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14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18858" name="Text Box 35"/>
              <p:cNvSpPr txBox="1">
                <a:spLocks noChangeArrowheads="1"/>
              </p:cNvSpPr>
              <p:nvPr/>
            </p:nvSpPr>
            <p:spPr bwMode="auto">
              <a:xfrm>
                <a:off x="3837" y="4064"/>
                <a:ext cx="172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1400">
                    <a:latin typeface="Times New Roman" panose="02020603050405020304" pitchFamily="18" charset="0"/>
                  </a:rPr>
                  <a:t>7</a:t>
                </a:r>
              </a:p>
            </p:txBody>
          </p:sp>
          <p:sp>
            <p:nvSpPr>
              <p:cNvPr id="118859" name="Text Box 36"/>
              <p:cNvSpPr txBox="1">
                <a:spLocks noChangeArrowheads="1"/>
              </p:cNvSpPr>
              <p:nvPr/>
            </p:nvSpPr>
            <p:spPr bwMode="auto">
              <a:xfrm>
                <a:off x="3665" y="3953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18860" name="Text Box 37"/>
              <p:cNvSpPr txBox="1">
                <a:spLocks noChangeArrowheads="1"/>
              </p:cNvSpPr>
              <p:nvPr/>
            </p:nvSpPr>
            <p:spPr bwMode="auto">
              <a:xfrm>
                <a:off x="4075" y="3293"/>
                <a:ext cx="514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200">
                    <a:latin typeface="Times New Roman" panose="02020603050405020304" pitchFamily="18" charset="0"/>
                  </a:rPr>
                  <a:t> 位线</a:t>
                </a:r>
              </a:p>
            </p:txBody>
          </p:sp>
          <p:sp>
            <p:nvSpPr>
              <p:cNvPr id="118861" name="Line 38"/>
              <p:cNvSpPr>
                <a:spLocks noChangeShapeType="1"/>
              </p:cNvSpPr>
              <p:nvPr/>
            </p:nvSpPr>
            <p:spPr bwMode="auto">
              <a:xfrm>
                <a:off x="1740" y="3727"/>
                <a:ext cx="52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8862" name="Text Box 39"/>
              <p:cNvSpPr txBox="1">
                <a:spLocks noChangeArrowheads="1"/>
              </p:cNvSpPr>
              <p:nvPr/>
            </p:nvSpPr>
            <p:spPr bwMode="auto">
              <a:xfrm>
                <a:off x="673" y="3625"/>
                <a:ext cx="1093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200">
                    <a:latin typeface="Times New Roman" panose="02020603050405020304" pitchFamily="18" charset="0"/>
                  </a:rPr>
                  <a:t>   读 / 写选通</a:t>
                </a:r>
              </a:p>
            </p:txBody>
          </p:sp>
          <p:sp>
            <p:nvSpPr>
              <p:cNvPr id="118863" name="Line 40"/>
              <p:cNvSpPr>
                <a:spLocks noChangeShapeType="1"/>
              </p:cNvSpPr>
              <p:nvPr/>
            </p:nvSpPr>
            <p:spPr bwMode="auto">
              <a:xfrm>
                <a:off x="835" y="1593"/>
                <a:ext cx="39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8864" name="Line 41"/>
              <p:cNvSpPr>
                <a:spLocks noChangeShapeType="1"/>
              </p:cNvSpPr>
              <p:nvPr/>
            </p:nvSpPr>
            <p:spPr bwMode="auto">
              <a:xfrm>
                <a:off x="833" y="2093"/>
                <a:ext cx="39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8865" name="Line 42"/>
              <p:cNvSpPr>
                <a:spLocks noChangeShapeType="1"/>
              </p:cNvSpPr>
              <p:nvPr/>
            </p:nvSpPr>
            <p:spPr bwMode="auto">
              <a:xfrm>
                <a:off x="831" y="2593"/>
                <a:ext cx="39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8866" name="Line 43"/>
              <p:cNvSpPr>
                <a:spLocks noChangeShapeType="1"/>
              </p:cNvSpPr>
              <p:nvPr/>
            </p:nvSpPr>
            <p:spPr bwMode="auto">
              <a:xfrm>
                <a:off x="842" y="3094"/>
                <a:ext cx="39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18867" name="Group 44"/>
              <p:cNvGrpSpPr/>
              <p:nvPr/>
            </p:nvGrpSpPr>
            <p:grpSpPr bwMode="auto">
              <a:xfrm>
                <a:off x="505" y="1440"/>
                <a:ext cx="356" cy="295"/>
                <a:chOff x="457" y="1440"/>
                <a:chExt cx="356" cy="295"/>
              </a:xfrm>
            </p:grpSpPr>
            <p:sp>
              <p:nvSpPr>
                <p:cNvPr id="118877" name="Text Box 45"/>
                <p:cNvSpPr txBox="1">
                  <a:spLocks noChangeArrowheads="1"/>
                </p:cNvSpPr>
                <p:nvPr/>
              </p:nvSpPr>
              <p:spPr bwMode="auto">
                <a:xfrm>
                  <a:off x="457" y="1440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</a:p>
              </p:txBody>
            </p:sp>
            <p:sp>
              <p:nvSpPr>
                <p:cNvPr id="118878" name="Text Box 46"/>
                <p:cNvSpPr txBox="1">
                  <a:spLocks noChangeArrowheads="1"/>
                </p:cNvSpPr>
                <p:nvPr/>
              </p:nvSpPr>
              <p:spPr bwMode="auto">
                <a:xfrm>
                  <a:off x="641" y="1543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1400">
                      <a:latin typeface="Times New Roman" panose="02020603050405020304" pitchFamily="18" charset="0"/>
                    </a:rPr>
                    <a:t>3</a:t>
                  </a:r>
                </a:p>
              </p:txBody>
            </p:sp>
          </p:grpSp>
          <p:grpSp>
            <p:nvGrpSpPr>
              <p:cNvPr id="118868" name="Group 47"/>
              <p:cNvGrpSpPr/>
              <p:nvPr/>
            </p:nvGrpSpPr>
            <p:grpSpPr bwMode="auto">
              <a:xfrm>
                <a:off x="505" y="1936"/>
                <a:ext cx="356" cy="295"/>
                <a:chOff x="445" y="1968"/>
                <a:chExt cx="356" cy="295"/>
              </a:xfrm>
            </p:grpSpPr>
            <p:sp>
              <p:nvSpPr>
                <p:cNvPr id="118875" name="Text Box 48"/>
                <p:cNvSpPr txBox="1">
                  <a:spLocks noChangeArrowheads="1"/>
                </p:cNvSpPr>
                <p:nvPr/>
              </p:nvSpPr>
              <p:spPr bwMode="auto">
                <a:xfrm>
                  <a:off x="445" y="1968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</a:p>
              </p:txBody>
            </p:sp>
            <p:sp>
              <p:nvSpPr>
                <p:cNvPr id="118876" name="Text Box 49"/>
                <p:cNvSpPr txBox="1">
                  <a:spLocks noChangeArrowheads="1"/>
                </p:cNvSpPr>
                <p:nvPr/>
              </p:nvSpPr>
              <p:spPr bwMode="auto">
                <a:xfrm>
                  <a:off x="629" y="2071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1400"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</p:grpSp>
          <p:grpSp>
            <p:nvGrpSpPr>
              <p:cNvPr id="118869" name="Group 50"/>
              <p:cNvGrpSpPr/>
              <p:nvPr/>
            </p:nvGrpSpPr>
            <p:grpSpPr bwMode="auto">
              <a:xfrm>
                <a:off x="505" y="2432"/>
                <a:ext cx="356" cy="295"/>
                <a:chOff x="481" y="2460"/>
                <a:chExt cx="356" cy="295"/>
              </a:xfrm>
            </p:grpSpPr>
            <p:sp>
              <p:nvSpPr>
                <p:cNvPr id="118873" name="Text Box 51"/>
                <p:cNvSpPr txBox="1">
                  <a:spLocks noChangeArrowheads="1"/>
                </p:cNvSpPr>
                <p:nvPr/>
              </p:nvSpPr>
              <p:spPr bwMode="auto">
                <a:xfrm>
                  <a:off x="481" y="2460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</a:p>
              </p:txBody>
            </p:sp>
            <p:sp>
              <p:nvSpPr>
                <p:cNvPr id="118874" name="Text Box 52"/>
                <p:cNvSpPr txBox="1">
                  <a:spLocks noChangeArrowheads="1"/>
                </p:cNvSpPr>
                <p:nvPr/>
              </p:nvSpPr>
              <p:spPr bwMode="auto">
                <a:xfrm>
                  <a:off x="665" y="2563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1400"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</p:grpSp>
          <p:grpSp>
            <p:nvGrpSpPr>
              <p:cNvPr id="118870" name="Group 53"/>
              <p:cNvGrpSpPr/>
              <p:nvPr/>
            </p:nvGrpSpPr>
            <p:grpSpPr bwMode="auto">
              <a:xfrm>
                <a:off x="505" y="2928"/>
                <a:ext cx="356" cy="295"/>
                <a:chOff x="409" y="2928"/>
                <a:chExt cx="356" cy="295"/>
              </a:xfrm>
            </p:grpSpPr>
            <p:sp>
              <p:nvSpPr>
                <p:cNvPr id="118871" name="Text Box 54"/>
                <p:cNvSpPr txBox="1">
                  <a:spLocks noChangeArrowheads="1"/>
                </p:cNvSpPr>
                <p:nvPr/>
              </p:nvSpPr>
              <p:spPr bwMode="auto">
                <a:xfrm>
                  <a:off x="409" y="2928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</a:p>
              </p:txBody>
            </p:sp>
            <p:sp>
              <p:nvSpPr>
                <p:cNvPr id="118872" name="Text Box 55"/>
                <p:cNvSpPr txBox="1">
                  <a:spLocks noChangeArrowheads="1"/>
                </p:cNvSpPr>
                <p:nvPr/>
              </p:nvSpPr>
              <p:spPr bwMode="auto">
                <a:xfrm>
                  <a:off x="593" y="3031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1400"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</p:grpSp>
        </p:grpSp>
        <p:sp>
          <p:nvSpPr>
            <p:cNvPr id="118827" name="Text Box 56"/>
            <p:cNvSpPr txBox="1">
              <a:spLocks noChangeArrowheads="1"/>
            </p:cNvSpPr>
            <p:nvPr/>
          </p:nvSpPr>
          <p:spPr bwMode="auto">
            <a:xfrm>
              <a:off x="3216" y="1392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18828" name="Text Box 57"/>
            <p:cNvSpPr txBox="1">
              <a:spLocks noChangeArrowheads="1"/>
            </p:cNvSpPr>
            <p:nvPr/>
          </p:nvSpPr>
          <p:spPr bwMode="auto">
            <a:xfrm>
              <a:off x="3216" y="2544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118787" name="Text Box 58"/>
          <p:cNvSpPr txBox="1">
            <a:spLocks noChangeArrowheads="1"/>
          </p:cNvSpPr>
          <p:nvPr/>
        </p:nvSpPr>
        <p:spPr bwMode="auto">
          <a:xfrm>
            <a:off x="323528" y="354013"/>
            <a:ext cx="733742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buClr>
                <a:schemeClr val="accent2"/>
              </a:buClr>
              <a:buSzPct val="80000"/>
              <a:buFont typeface="Wingdings" panose="05000000000000000000" pitchFamily="2" charset="2"/>
              <a:buNone/>
            </a:pPr>
            <a:r>
              <a:rPr lang="zh-CN" altLang="en-US" sz="3600" dirty="0">
                <a:latin typeface="Times New Roman" panose="02020603050405020304" pitchFamily="18" charset="0"/>
              </a:rPr>
              <a:t>2. 半导体存储芯片的译码驱动方式</a:t>
            </a:r>
          </a:p>
        </p:txBody>
      </p:sp>
      <p:sp>
        <p:nvSpPr>
          <p:cNvPr id="206907" name="Text Box 59"/>
          <p:cNvSpPr txBox="1">
            <a:spLocks noChangeArrowheads="1"/>
          </p:cNvSpPr>
          <p:nvPr/>
        </p:nvSpPr>
        <p:spPr bwMode="auto">
          <a:xfrm>
            <a:off x="323528" y="1063625"/>
            <a:ext cx="861853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(1) 线选法：一根字线直接选中存储单元的各位</a:t>
            </a:r>
          </a:p>
        </p:txBody>
      </p:sp>
      <p:sp>
        <p:nvSpPr>
          <p:cNvPr id="206908" name="Rectangle 60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grpSp>
        <p:nvGrpSpPr>
          <p:cNvPr id="9" name="Group 61"/>
          <p:cNvGrpSpPr/>
          <p:nvPr/>
        </p:nvGrpSpPr>
        <p:grpSpPr bwMode="auto">
          <a:xfrm>
            <a:off x="1592263" y="2154238"/>
            <a:ext cx="336550" cy="2832100"/>
            <a:chOff x="367" y="1429"/>
            <a:chExt cx="212" cy="1784"/>
          </a:xfrm>
        </p:grpSpPr>
        <p:sp>
          <p:nvSpPr>
            <p:cNvPr id="118822" name="Text Box 62"/>
            <p:cNvSpPr txBox="1">
              <a:spLocks noChangeArrowheads="1"/>
            </p:cNvSpPr>
            <p:nvPr/>
          </p:nvSpPr>
          <p:spPr bwMode="auto">
            <a:xfrm>
              <a:off x="367" y="1429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18823" name="Text Box 63"/>
            <p:cNvSpPr txBox="1">
              <a:spLocks noChangeArrowheads="1"/>
            </p:cNvSpPr>
            <p:nvPr/>
          </p:nvSpPr>
          <p:spPr bwMode="auto">
            <a:xfrm>
              <a:off x="367" y="1927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18824" name="Text Box 64"/>
            <p:cNvSpPr txBox="1">
              <a:spLocks noChangeArrowheads="1"/>
            </p:cNvSpPr>
            <p:nvPr/>
          </p:nvSpPr>
          <p:spPr bwMode="auto">
            <a:xfrm>
              <a:off x="367" y="2426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18825" name="Text Box 65"/>
            <p:cNvSpPr txBox="1">
              <a:spLocks noChangeArrowheads="1"/>
            </p:cNvSpPr>
            <p:nvPr/>
          </p:nvSpPr>
          <p:spPr bwMode="auto">
            <a:xfrm>
              <a:off x="367" y="2925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</p:grpSp>
      <p:grpSp>
        <p:nvGrpSpPr>
          <p:cNvPr id="10" name="Group 66"/>
          <p:cNvGrpSpPr/>
          <p:nvPr/>
        </p:nvGrpSpPr>
        <p:grpSpPr bwMode="auto">
          <a:xfrm>
            <a:off x="3881438" y="2208213"/>
            <a:ext cx="3041650" cy="528637"/>
            <a:chOff x="2445" y="1391"/>
            <a:chExt cx="1916" cy="333"/>
          </a:xfrm>
        </p:grpSpPr>
        <p:grpSp>
          <p:nvGrpSpPr>
            <p:cNvPr id="118818" name="Group 67"/>
            <p:cNvGrpSpPr/>
            <p:nvPr/>
          </p:nvGrpSpPr>
          <p:grpSpPr bwMode="auto">
            <a:xfrm>
              <a:off x="2445" y="1392"/>
              <a:ext cx="1916" cy="332"/>
              <a:chOff x="2445" y="1392"/>
              <a:chExt cx="1916" cy="332"/>
            </a:xfrm>
          </p:grpSpPr>
          <p:sp>
            <p:nvSpPr>
              <p:cNvPr id="118820" name="Rectangle 68"/>
              <p:cNvSpPr>
                <a:spLocks noChangeArrowheads="1"/>
              </p:cNvSpPr>
              <p:nvPr/>
            </p:nvSpPr>
            <p:spPr bwMode="auto">
              <a:xfrm>
                <a:off x="2445" y="1392"/>
                <a:ext cx="585" cy="332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zh-CN" altLang="en-US" sz="24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0,0</a:t>
                </a:r>
              </a:p>
            </p:txBody>
          </p:sp>
          <p:sp>
            <p:nvSpPr>
              <p:cNvPr id="118821" name="Rectangle 69"/>
              <p:cNvSpPr>
                <a:spLocks noChangeArrowheads="1"/>
              </p:cNvSpPr>
              <p:nvPr/>
            </p:nvSpPr>
            <p:spPr bwMode="auto">
              <a:xfrm>
                <a:off x="3776" y="1392"/>
                <a:ext cx="585" cy="332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zh-CN" altLang="en-US" sz="24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0,7</a:t>
                </a:r>
              </a:p>
            </p:txBody>
          </p:sp>
        </p:grpSp>
        <p:sp>
          <p:nvSpPr>
            <p:cNvPr id="118819" name="Text Box 70"/>
            <p:cNvSpPr txBox="1">
              <a:spLocks noChangeArrowheads="1"/>
            </p:cNvSpPr>
            <p:nvPr/>
          </p:nvSpPr>
          <p:spPr bwMode="auto">
            <a:xfrm>
              <a:off x="3216" y="1391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12" name="Group 71"/>
          <p:cNvGrpSpPr/>
          <p:nvPr/>
        </p:nvGrpSpPr>
        <p:grpSpPr bwMode="auto">
          <a:xfrm>
            <a:off x="2581275" y="2722563"/>
            <a:ext cx="3819525" cy="466725"/>
            <a:chOff x="1626" y="1715"/>
            <a:chExt cx="2406" cy="294"/>
          </a:xfrm>
        </p:grpSpPr>
        <p:grpSp>
          <p:nvGrpSpPr>
            <p:cNvPr id="118814" name="Group 72"/>
            <p:cNvGrpSpPr/>
            <p:nvPr/>
          </p:nvGrpSpPr>
          <p:grpSpPr bwMode="auto">
            <a:xfrm>
              <a:off x="1626" y="1715"/>
              <a:ext cx="2406" cy="243"/>
              <a:chOff x="1626" y="1715"/>
              <a:chExt cx="2406" cy="243"/>
            </a:xfrm>
          </p:grpSpPr>
          <p:sp>
            <p:nvSpPr>
              <p:cNvPr id="118816" name="Freeform 73"/>
              <p:cNvSpPr/>
              <p:nvPr/>
            </p:nvSpPr>
            <p:spPr bwMode="auto">
              <a:xfrm>
                <a:off x="1626" y="1715"/>
                <a:ext cx="2406" cy="243"/>
              </a:xfrm>
              <a:custGeom>
                <a:avLst/>
                <a:gdLst>
                  <a:gd name="T0" fmla="*/ 0 w 2406"/>
                  <a:gd name="T1" fmla="*/ 243 h 243"/>
                  <a:gd name="T2" fmla="*/ 2406 w 2406"/>
                  <a:gd name="T3" fmla="*/ 243 h 243"/>
                  <a:gd name="T4" fmla="*/ 2406 w 2406"/>
                  <a:gd name="T5" fmla="*/ 0 h 243"/>
                  <a:gd name="T6" fmla="*/ 0 60000 65536"/>
                  <a:gd name="T7" fmla="*/ 0 60000 65536"/>
                  <a:gd name="T8" fmla="*/ 0 60000 65536"/>
                  <a:gd name="T9" fmla="*/ 0 w 2406"/>
                  <a:gd name="T10" fmla="*/ 0 h 243"/>
                  <a:gd name="T11" fmla="*/ 2406 w 2406"/>
                  <a:gd name="T12" fmla="*/ 243 h 24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06" h="243">
                    <a:moveTo>
                      <a:pt x="0" y="243"/>
                    </a:moveTo>
                    <a:lnTo>
                      <a:pt x="2406" y="243"/>
                    </a:lnTo>
                    <a:lnTo>
                      <a:pt x="2406" y="0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8817" name="Freeform 74"/>
              <p:cNvSpPr/>
              <p:nvPr/>
            </p:nvSpPr>
            <p:spPr bwMode="auto">
              <a:xfrm>
                <a:off x="2748" y="1728"/>
                <a:ext cx="1" cy="221"/>
              </a:xfrm>
              <a:custGeom>
                <a:avLst/>
                <a:gdLst>
                  <a:gd name="T0" fmla="*/ 0 w 1"/>
                  <a:gd name="T1" fmla="*/ 0 h 221"/>
                  <a:gd name="T2" fmla="*/ 0 w 1"/>
                  <a:gd name="T3" fmla="*/ 221 h 221"/>
                  <a:gd name="T4" fmla="*/ 0 60000 65536"/>
                  <a:gd name="T5" fmla="*/ 0 60000 65536"/>
                  <a:gd name="T6" fmla="*/ 0 w 1"/>
                  <a:gd name="T7" fmla="*/ 0 h 221"/>
                  <a:gd name="T8" fmla="*/ 1 w 1"/>
                  <a:gd name="T9" fmla="*/ 221 h 22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21">
                    <a:moveTo>
                      <a:pt x="0" y="0"/>
                    </a:moveTo>
                    <a:lnTo>
                      <a:pt x="0" y="221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18815" name="Text Box 75"/>
            <p:cNvSpPr txBox="1">
              <a:spLocks noChangeArrowheads="1"/>
            </p:cNvSpPr>
            <p:nvPr/>
          </p:nvSpPr>
          <p:spPr bwMode="auto">
            <a:xfrm>
              <a:off x="1779" y="1721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</p:grpSp>
      <p:grpSp>
        <p:nvGrpSpPr>
          <p:cNvPr id="14" name="Group 76"/>
          <p:cNvGrpSpPr/>
          <p:nvPr/>
        </p:nvGrpSpPr>
        <p:grpSpPr bwMode="auto">
          <a:xfrm>
            <a:off x="3970338" y="5018088"/>
            <a:ext cx="2432050" cy="623887"/>
            <a:chOff x="2501" y="3161"/>
            <a:chExt cx="1532" cy="393"/>
          </a:xfrm>
        </p:grpSpPr>
        <p:sp>
          <p:nvSpPr>
            <p:cNvPr id="118809" name="Freeform 77"/>
            <p:cNvSpPr/>
            <p:nvPr/>
          </p:nvSpPr>
          <p:spPr bwMode="auto">
            <a:xfrm>
              <a:off x="2740" y="3248"/>
              <a:ext cx="1" cy="295"/>
            </a:xfrm>
            <a:custGeom>
              <a:avLst/>
              <a:gdLst>
                <a:gd name="T0" fmla="*/ 0 w 1"/>
                <a:gd name="T1" fmla="*/ 0 h 295"/>
                <a:gd name="T2" fmla="*/ 0 w 1"/>
                <a:gd name="T3" fmla="*/ 295 h 295"/>
                <a:gd name="T4" fmla="*/ 0 60000 65536"/>
                <a:gd name="T5" fmla="*/ 0 60000 65536"/>
                <a:gd name="T6" fmla="*/ 0 w 1"/>
                <a:gd name="T7" fmla="*/ 0 h 295"/>
                <a:gd name="T8" fmla="*/ 1 w 1"/>
                <a:gd name="T9" fmla="*/ 295 h 29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95">
                  <a:moveTo>
                    <a:pt x="0" y="0"/>
                  </a:moveTo>
                  <a:lnTo>
                    <a:pt x="0" y="295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8810" name="Freeform 78"/>
            <p:cNvSpPr/>
            <p:nvPr/>
          </p:nvSpPr>
          <p:spPr bwMode="auto">
            <a:xfrm>
              <a:off x="4032" y="3254"/>
              <a:ext cx="1" cy="295"/>
            </a:xfrm>
            <a:custGeom>
              <a:avLst/>
              <a:gdLst>
                <a:gd name="T0" fmla="*/ 0 w 1"/>
                <a:gd name="T1" fmla="*/ 0 h 295"/>
                <a:gd name="T2" fmla="*/ 0 w 1"/>
                <a:gd name="T3" fmla="*/ 295 h 295"/>
                <a:gd name="T4" fmla="*/ 0 60000 65536"/>
                <a:gd name="T5" fmla="*/ 0 60000 65536"/>
                <a:gd name="T6" fmla="*/ 0 w 1"/>
                <a:gd name="T7" fmla="*/ 0 h 295"/>
                <a:gd name="T8" fmla="*/ 1 w 1"/>
                <a:gd name="T9" fmla="*/ 295 h 29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95">
                  <a:moveTo>
                    <a:pt x="0" y="0"/>
                  </a:moveTo>
                  <a:lnTo>
                    <a:pt x="0" y="295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8811" name="Text Box 79"/>
            <p:cNvSpPr txBox="1">
              <a:spLocks noChangeArrowheads="1"/>
            </p:cNvSpPr>
            <p:nvPr/>
          </p:nvSpPr>
          <p:spPr bwMode="auto">
            <a:xfrm>
              <a:off x="3080" y="3161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18812" name="Text Box 80"/>
            <p:cNvSpPr txBox="1">
              <a:spLocks noChangeArrowheads="1"/>
            </p:cNvSpPr>
            <p:nvPr/>
          </p:nvSpPr>
          <p:spPr bwMode="auto">
            <a:xfrm>
              <a:off x="2501" y="3255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18813" name="Text Box 81"/>
            <p:cNvSpPr txBox="1">
              <a:spLocks noChangeArrowheads="1"/>
            </p:cNvSpPr>
            <p:nvPr/>
          </p:nvSpPr>
          <p:spPr bwMode="auto">
            <a:xfrm>
              <a:off x="3797" y="3266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7</a:t>
              </a:r>
            </a:p>
          </p:txBody>
        </p:sp>
      </p:grpSp>
      <p:grpSp>
        <p:nvGrpSpPr>
          <p:cNvPr id="15" name="Group 82"/>
          <p:cNvGrpSpPr/>
          <p:nvPr/>
        </p:nvGrpSpPr>
        <p:grpSpPr bwMode="auto">
          <a:xfrm>
            <a:off x="3760788" y="6062663"/>
            <a:ext cx="2641600" cy="706437"/>
            <a:chOff x="2369" y="3819"/>
            <a:chExt cx="1664" cy="445"/>
          </a:xfrm>
        </p:grpSpPr>
        <p:sp>
          <p:nvSpPr>
            <p:cNvPr id="118802" name="Freeform 83"/>
            <p:cNvSpPr/>
            <p:nvPr/>
          </p:nvSpPr>
          <p:spPr bwMode="auto">
            <a:xfrm>
              <a:off x="2740" y="3917"/>
              <a:ext cx="1" cy="295"/>
            </a:xfrm>
            <a:custGeom>
              <a:avLst/>
              <a:gdLst>
                <a:gd name="T0" fmla="*/ 0 w 1"/>
                <a:gd name="T1" fmla="*/ 0 h 295"/>
                <a:gd name="T2" fmla="*/ 0 w 1"/>
                <a:gd name="T3" fmla="*/ 295 h 295"/>
                <a:gd name="T4" fmla="*/ 0 60000 65536"/>
                <a:gd name="T5" fmla="*/ 0 60000 65536"/>
                <a:gd name="T6" fmla="*/ 0 w 1"/>
                <a:gd name="T7" fmla="*/ 0 h 295"/>
                <a:gd name="T8" fmla="*/ 1 w 1"/>
                <a:gd name="T9" fmla="*/ 295 h 29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95">
                  <a:moveTo>
                    <a:pt x="0" y="0"/>
                  </a:moveTo>
                  <a:lnTo>
                    <a:pt x="0" y="295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8803" name="Freeform 84"/>
            <p:cNvSpPr/>
            <p:nvPr/>
          </p:nvSpPr>
          <p:spPr bwMode="auto">
            <a:xfrm>
              <a:off x="4032" y="3917"/>
              <a:ext cx="1" cy="295"/>
            </a:xfrm>
            <a:custGeom>
              <a:avLst/>
              <a:gdLst>
                <a:gd name="T0" fmla="*/ 0 w 1"/>
                <a:gd name="T1" fmla="*/ 0 h 295"/>
                <a:gd name="T2" fmla="*/ 0 w 1"/>
                <a:gd name="T3" fmla="*/ 295 h 295"/>
                <a:gd name="T4" fmla="*/ 0 60000 65536"/>
                <a:gd name="T5" fmla="*/ 0 60000 65536"/>
                <a:gd name="T6" fmla="*/ 0 w 1"/>
                <a:gd name="T7" fmla="*/ 0 h 295"/>
                <a:gd name="T8" fmla="*/ 1 w 1"/>
                <a:gd name="T9" fmla="*/ 295 h 29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95">
                  <a:moveTo>
                    <a:pt x="0" y="0"/>
                  </a:moveTo>
                  <a:lnTo>
                    <a:pt x="0" y="295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8804" name="Text Box 85"/>
            <p:cNvSpPr txBox="1">
              <a:spLocks noChangeArrowheads="1"/>
            </p:cNvSpPr>
            <p:nvPr/>
          </p:nvSpPr>
          <p:spPr bwMode="auto">
            <a:xfrm>
              <a:off x="3080" y="3819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18805" name="Text Box 86"/>
            <p:cNvSpPr txBox="1">
              <a:spLocks noChangeArrowheads="1"/>
            </p:cNvSpPr>
            <p:nvPr/>
          </p:nvSpPr>
          <p:spPr bwMode="auto">
            <a:xfrm>
              <a:off x="2369" y="3953"/>
              <a:ext cx="2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D</a:t>
              </a:r>
            </a:p>
          </p:txBody>
        </p:sp>
        <p:sp>
          <p:nvSpPr>
            <p:cNvPr id="118806" name="Text Box 87"/>
            <p:cNvSpPr txBox="1">
              <a:spLocks noChangeArrowheads="1"/>
            </p:cNvSpPr>
            <p:nvPr/>
          </p:nvSpPr>
          <p:spPr bwMode="auto">
            <a:xfrm>
              <a:off x="2528" y="4072"/>
              <a:ext cx="17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18807" name="Text Box 88"/>
            <p:cNvSpPr txBox="1">
              <a:spLocks noChangeArrowheads="1"/>
            </p:cNvSpPr>
            <p:nvPr/>
          </p:nvSpPr>
          <p:spPr bwMode="auto">
            <a:xfrm>
              <a:off x="3837" y="4064"/>
              <a:ext cx="17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7</a:t>
              </a:r>
            </a:p>
          </p:txBody>
        </p:sp>
        <p:sp>
          <p:nvSpPr>
            <p:cNvPr id="118808" name="Text Box 89"/>
            <p:cNvSpPr txBox="1">
              <a:spLocks noChangeArrowheads="1"/>
            </p:cNvSpPr>
            <p:nvPr/>
          </p:nvSpPr>
          <p:spPr bwMode="auto">
            <a:xfrm>
              <a:off x="3665" y="3953"/>
              <a:ext cx="2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D</a:t>
              </a:r>
            </a:p>
          </p:txBody>
        </p:sp>
      </p:grpSp>
      <p:grpSp>
        <p:nvGrpSpPr>
          <p:cNvPr id="16" name="Group 90"/>
          <p:cNvGrpSpPr/>
          <p:nvPr/>
        </p:nvGrpSpPr>
        <p:grpSpPr bwMode="auto">
          <a:xfrm>
            <a:off x="1068388" y="5754688"/>
            <a:ext cx="2530475" cy="427037"/>
            <a:chOff x="673" y="3625"/>
            <a:chExt cx="1594" cy="269"/>
          </a:xfrm>
        </p:grpSpPr>
        <p:sp>
          <p:nvSpPr>
            <p:cNvPr id="118800" name="Line 91"/>
            <p:cNvSpPr>
              <a:spLocks noChangeShapeType="1"/>
            </p:cNvSpPr>
            <p:nvPr/>
          </p:nvSpPr>
          <p:spPr bwMode="auto">
            <a:xfrm>
              <a:off x="1740" y="3727"/>
              <a:ext cx="527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18801" name="Text Box 92"/>
            <p:cNvSpPr txBox="1">
              <a:spLocks noChangeArrowheads="1"/>
            </p:cNvSpPr>
            <p:nvPr/>
          </p:nvSpPr>
          <p:spPr bwMode="auto">
            <a:xfrm>
              <a:off x="673" y="3625"/>
              <a:ext cx="1391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  读 / </a:t>
              </a:r>
              <a:r>
                <a:rPr lang="zh-CN" altLang="en-US" sz="2200">
                  <a:latin typeface="Times New Roman" panose="02020603050405020304" pitchFamily="18" charset="0"/>
                </a:rPr>
                <a:t>写</a:t>
              </a:r>
              <a:r>
                <a:rPr lang="zh-CN" altLang="en-US" sz="2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选通</a:t>
              </a:r>
            </a:p>
          </p:txBody>
        </p:sp>
      </p:grpSp>
      <p:grpSp>
        <p:nvGrpSpPr>
          <p:cNvPr id="17" name="Group 93"/>
          <p:cNvGrpSpPr/>
          <p:nvPr/>
        </p:nvGrpSpPr>
        <p:grpSpPr bwMode="auto">
          <a:xfrm>
            <a:off x="3598863" y="5589588"/>
            <a:ext cx="3533775" cy="641350"/>
            <a:chOff x="2267" y="3706"/>
            <a:chExt cx="2226" cy="404"/>
          </a:xfrm>
        </p:grpSpPr>
        <p:sp>
          <p:nvSpPr>
            <p:cNvPr id="118798" name="Rectangle 94"/>
            <p:cNvSpPr>
              <a:spLocks noChangeArrowheads="1"/>
            </p:cNvSpPr>
            <p:nvPr/>
          </p:nvSpPr>
          <p:spPr bwMode="auto">
            <a:xfrm rot="5400000">
              <a:off x="3188" y="2805"/>
              <a:ext cx="384" cy="2226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18799" name="Text Box 95"/>
            <p:cNvSpPr txBox="1">
              <a:spLocks noChangeArrowheads="1"/>
            </p:cNvSpPr>
            <p:nvPr/>
          </p:nvSpPr>
          <p:spPr bwMode="auto">
            <a:xfrm>
              <a:off x="2449" y="3706"/>
              <a:ext cx="1769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   </a:t>
              </a:r>
              <a:r>
                <a:rPr lang="zh-CN" altLang="en-US" sz="2400">
                  <a:solidFill>
                    <a:schemeClr val="bg2"/>
                  </a:solidFill>
                  <a:latin typeface="Times New Roman" panose="02020603050405020304" pitchFamily="18" charset="0"/>
                </a:rPr>
                <a:t>读/写控制电路</a:t>
              </a:r>
              <a:r>
                <a:rPr lang="zh-CN" altLang="en-US" sz="3200">
                  <a:latin typeface="Times New Roman" panose="02020603050405020304" pitchFamily="18" charset="0"/>
                </a:rPr>
                <a:t>   </a:t>
              </a:r>
            </a:p>
          </p:txBody>
        </p:sp>
      </p:grpSp>
      <p:sp>
        <p:nvSpPr>
          <p:cNvPr id="118797" name="AutoShape 96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069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6907" grpId="0" autoUpdateAnimBg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907" name="Text Box 59"/>
          <p:cNvSpPr txBox="1">
            <a:spLocks noChangeArrowheads="1"/>
          </p:cNvSpPr>
          <p:nvPr/>
        </p:nvSpPr>
        <p:spPr bwMode="auto">
          <a:xfrm>
            <a:off x="323528" y="1063625"/>
            <a:ext cx="8536309" cy="45243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50000"/>
              </a:lnSpc>
              <a:spcBef>
                <a:spcPct val="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线选法特点：</a:t>
            </a:r>
            <a:endParaRPr lang="en-US" altLang="zh-CN" sz="3200" dirty="0">
              <a:latin typeface="Times New Roman" panose="02020603050405020304" pitchFamily="18" charset="0"/>
            </a:endParaRPr>
          </a:p>
          <a:p>
            <a:pPr eaLnBrk="1" hangingPunct="1">
              <a:lnSpc>
                <a:spcPct val="150000"/>
              </a:lnSpc>
              <a:spcBef>
                <a:spcPct val="0"/>
              </a:spcBef>
            </a:pPr>
            <a:r>
              <a:rPr lang="en-US" altLang="zh-CN" sz="3200" dirty="0">
                <a:latin typeface="Times New Roman" panose="02020603050405020304" pitchFamily="18" charset="0"/>
              </a:rPr>
              <a:t>1</a:t>
            </a:r>
            <a:r>
              <a:rPr lang="zh-CN" altLang="en-US" sz="3200" dirty="0">
                <a:latin typeface="Times New Roman" panose="02020603050405020304" pitchFamily="18" charset="0"/>
              </a:rPr>
              <a:t>）一根字线直接选中存储单元的各位，结构简单</a:t>
            </a:r>
            <a:endParaRPr lang="en-US" altLang="zh-CN" sz="3200" dirty="0">
              <a:latin typeface="Times New Roman" panose="02020603050405020304" pitchFamily="18" charset="0"/>
            </a:endParaRPr>
          </a:p>
          <a:p>
            <a:pPr eaLnBrk="1" hangingPunct="1">
              <a:lnSpc>
                <a:spcPct val="150000"/>
              </a:lnSpc>
              <a:spcBef>
                <a:spcPct val="0"/>
              </a:spcBef>
            </a:pPr>
            <a:r>
              <a:rPr lang="en-US" altLang="zh-CN" sz="3200" dirty="0">
                <a:latin typeface="Times New Roman" panose="02020603050405020304" pitchFamily="18" charset="0"/>
              </a:rPr>
              <a:t>2</a:t>
            </a:r>
            <a:r>
              <a:rPr lang="zh-CN" altLang="en-US" sz="3200" dirty="0">
                <a:latin typeface="Times New Roman" panose="02020603050405020304" pitchFamily="18" charset="0"/>
              </a:rPr>
              <a:t>）芯片容量大时，字选择线非常多，故常用于小容量芯片</a:t>
            </a:r>
            <a:endParaRPr lang="en-US" altLang="zh-CN" sz="3200" dirty="0">
              <a:latin typeface="Times New Roman" panose="02020603050405020304" pitchFamily="18" charset="0"/>
            </a:endParaRPr>
          </a:p>
          <a:p>
            <a:pPr eaLnBrk="1" hangingPunct="1">
              <a:lnSpc>
                <a:spcPct val="150000"/>
              </a:lnSpc>
              <a:spcBef>
                <a:spcPct val="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例：</a:t>
            </a:r>
            <a:r>
              <a:rPr lang="en-US" altLang="zh-CN" sz="3200" dirty="0">
                <a:latin typeface="Times New Roman" panose="02020603050405020304" pitchFamily="18" charset="0"/>
              </a:rPr>
              <a:t>16M</a:t>
            </a:r>
            <a:r>
              <a:rPr lang="zh-CN" altLang="en-US" sz="3200" dirty="0">
                <a:latin typeface="Times New Roman" panose="02020603050405020304" pitchFamily="18" charset="0"/>
              </a:rPr>
              <a:t>*</a:t>
            </a:r>
            <a:r>
              <a:rPr lang="en-US" altLang="zh-CN" sz="3200" dirty="0">
                <a:latin typeface="Times New Roman" panose="02020603050405020304" pitchFamily="18" charset="0"/>
              </a:rPr>
              <a:t>8</a:t>
            </a:r>
            <a:r>
              <a:rPr lang="zh-CN" altLang="en-US" sz="3200" dirty="0">
                <a:latin typeface="Times New Roman" panose="02020603050405020304" pitchFamily="18" charset="0"/>
              </a:rPr>
              <a:t>，需要字选择线</a:t>
            </a:r>
            <a:r>
              <a:rPr lang="en-US" altLang="zh-CN" sz="3200" dirty="0">
                <a:latin typeface="Times New Roman" panose="02020603050405020304" pitchFamily="18" charset="0"/>
              </a:rPr>
              <a:t>2</a:t>
            </a:r>
            <a:r>
              <a:rPr lang="en-US" altLang="zh-CN" sz="3200" baseline="30000" dirty="0">
                <a:latin typeface="Times New Roman" panose="02020603050405020304" pitchFamily="18" charset="0"/>
              </a:rPr>
              <a:t>24  </a:t>
            </a:r>
            <a:r>
              <a:rPr lang="en-US" altLang="zh-CN" sz="3200" dirty="0">
                <a:latin typeface="Times New Roman" panose="02020603050405020304" pitchFamily="18" charset="0"/>
              </a:rPr>
              <a:t>=16</a:t>
            </a:r>
            <a:r>
              <a:rPr lang="zh-CN" altLang="en-US" sz="3200" dirty="0">
                <a:latin typeface="Times New Roman" panose="02020603050405020304" pitchFamily="18" charset="0"/>
              </a:rPr>
              <a:t>*</a:t>
            </a:r>
            <a:r>
              <a:rPr lang="en-US" altLang="zh-CN" sz="3200" dirty="0">
                <a:latin typeface="Times New Roman" panose="02020603050405020304" pitchFamily="18" charset="0"/>
              </a:rPr>
              <a:t>1024</a:t>
            </a:r>
            <a:r>
              <a:rPr lang="zh-CN" altLang="en-US" sz="3200" dirty="0">
                <a:latin typeface="Times New Roman" panose="02020603050405020304" pitchFamily="18" charset="0"/>
              </a:rPr>
              <a:t>*</a:t>
            </a:r>
            <a:r>
              <a:rPr lang="en-US" altLang="zh-CN" sz="3200" dirty="0">
                <a:latin typeface="Times New Roman" panose="02020603050405020304" pitchFamily="18" charset="0"/>
              </a:rPr>
              <a:t>1024</a:t>
            </a:r>
            <a:endParaRPr lang="zh-CN" altLang="en-US" sz="3200" baseline="30000" dirty="0">
              <a:latin typeface="Times New Roman" panose="02020603050405020304" pitchFamily="18" charset="0"/>
            </a:endParaRPr>
          </a:p>
        </p:txBody>
      </p:sp>
      <p:sp>
        <p:nvSpPr>
          <p:cNvPr id="206908" name="Rectangle 60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18797" name="AutoShape 96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069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6907" grpId="0" autoUpdateAnimBg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0" y="1295400"/>
            <a:ext cx="9047163" cy="5451475"/>
            <a:chOff x="0" y="816"/>
            <a:chExt cx="5699" cy="3434"/>
          </a:xfrm>
        </p:grpSpPr>
        <p:grpSp>
          <p:nvGrpSpPr>
            <p:cNvPr id="119860" name="Group 3"/>
            <p:cNvGrpSpPr/>
            <p:nvPr/>
          </p:nvGrpSpPr>
          <p:grpSpPr bwMode="auto">
            <a:xfrm>
              <a:off x="0" y="1513"/>
              <a:ext cx="729" cy="295"/>
              <a:chOff x="0" y="1513"/>
              <a:chExt cx="729" cy="295"/>
            </a:xfrm>
          </p:grpSpPr>
          <p:sp>
            <p:nvSpPr>
              <p:cNvPr id="119966" name="Line 4"/>
              <p:cNvSpPr>
                <a:spLocks noChangeShapeType="1"/>
              </p:cNvSpPr>
              <p:nvPr/>
            </p:nvSpPr>
            <p:spPr bwMode="auto">
              <a:xfrm>
                <a:off x="331" y="1666"/>
                <a:ext cx="39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19967" name="Group 5"/>
              <p:cNvGrpSpPr/>
              <p:nvPr/>
            </p:nvGrpSpPr>
            <p:grpSpPr bwMode="auto">
              <a:xfrm>
                <a:off x="0" y="1513"/>
                <a:ext cx="357" cy="295"/>
                <a:chOff x="457" y="1440"/>
                <a:chExt cx="356" cy="295"/>
              </a:xfrm>
            </p:grpSpPr>
            <p:sp>
              <p:nvSpPr>
                <p:cNvPr id="119968" name="Text Box 6"/>
                <p:cNvSpPr txBox="1">
                  <a:spLocks noChangeArrowheads="1"/>
                </p:cNvSpPr>
                <p:nvPr/>
              </p:nvSpPr>
              <p:spPr bwMode="auto">
                <a:xfrm>
                  <a:off x="457" y="1440"/>
                  <a:ext cx="254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</a:p>
              </p:txBody>
            </p:sp>
            <p:sp>
              <p:nvSpPr>
                <p:cNvPr id="119969" name="Text Box 7"/>
                <p:cNvSpPr txBox="1">
                  <a:spLocks noChangeArrowheads="1"/>
                </p:cNvSpPr>
                <p:nvPr/>
              </p:nvSpPr>
              <p:spPr bwMode="auto">
                <a:xfrm>
                  <a:off x="641" y="1543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1400">
                      <a:latin typeface="Times New Roman" panose="02020603050405020304" pitchFamily="18" charset="0"/>
                    </a:rPr>
                    <a:t>3</a:t>
                  </a:r>
                </a:p>
              </p:txBody>
            </p:sp>
          </p:grpSp>
        </p:grpSp>
        <p:grpSp>
          <p:nvGrpSpPr>
            <p:cNvPr id="119861" name="Group 8"/>
            <p:cNvGrpSpPr/>
            <p:nvPr/>
          </p:nvGrpSpPr>
          <p:grpSpPr bwMode="auto">
            <a:xfrm>
              <a:off x="0" y="1969"/>
              <a:ext cx="727" cy="295"/>
              <a:chOff x="0" y="1969"/>
              <a:chExt cx="727" cy="295"/>
            </a:xfrm>
          </p:grpSpPr>
          <p:sp>
            <p:nvSpPr>
              <p:cNvPr id="119962" name="Line 9"/>
              <p:cNvSpPr>
                <a:spLocks noChangeShapeType="1"/>
              </p:cNvSpPr>
              <p:nvPr/>
            </p:nvSpPr>
            <p:spPr bwMode="auto">
              <a:xfrm>
                <a:off x="329" y="2126"/>
                <a:ext cx="39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19963" name="Group 10"/>
              <p:cNvGrpSpPr/>
              <p:nvPr/>
            </p:nvGrpSpPr>
            <p:grpSpPr bwMode="auto">
              <a:xfrm>
                <a:off x="0" y="1969"/>
                <a:ext cx="357" cy="295"/>
                <a:chOff x="445" y="1968"/>
                <a:chExt cx="356" cy="295"/>
              </a:xfrm>
            </p:grpSpPr>
            <p:sp>
              <p:nvSpPr>
                <p:cNvPr id="119964" name="Text Box 11"/>
                <p:cNvSpPr txBox="1">
                  <a:spLocks noChangeArrowheads="1"/>
                </p:cNvSpPr>
                <p:nvPr/>
              </p:nvSpPr>
              <p:spPr bwMode="auto">
                <a:xfrm>
                  <a:off x="445" y="1968"/>
                  <a:ext cx="254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</a:p>
              </p:txBody>
            </p:sp>
            <p:sp>
              <p:nvSpPr>
                <p:cNvPr id="119965" name="Text Box 12"/>
                <p:cNvSpPr txBox="1">
                  <a:spLocks noChangeArrowheads="1"/>
                </p:cNvSpPr>
                <p:nvPr/>
              </p:nvSpPr>
              <p:spPr bwMode="auto">
                <a:xfrm>
                  <a:off x="629" y="2071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1400"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</p:grpSp>
        </p:grpSp>
        <p:grpSp>
          <p:nvGrpSpPr>
            <p:cNvPr id="119862" name="Group 13"/>
            <p:cNvGrpSpPr/>
            <p:nvPr/>
          </p:nvGrpSpPr>
          <p:grpSpPr bwMode="auto">
            <a:xfrm>
              <a:off x="0" y="2425"/>
              <a:ext cx="725" cy="295"/>
              <a:chOff x="0" y="2425"/>
              <a:chExt cx="725" cy="295"/>
            </a:xfrm>
          </p:grpSpPr>
          <p:sp>
            <p:nvSpPr>
              <p:cNvPr id="119958" name="Line 14"/>
              <p:cNvSpPr>
                <a:spLocks noChangeShapeType="1"/>
              </p:cNvSpPr>
              <p:nvPr/>
            </p:nvSpPr>
            <p:spPr bwMode="auto">
              <a:xfrm>
                <a:off x="327" y="2587"/>
                <a:ext cx="39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19959" name="Group 15"/>
              <p:cNvGrpSpPr/>
              <p:nvPr/>
            </p:nvGrpSpPr>
            <p:grpSpPr bwMode="auto">
              <a:xfrm>
                <a:off x="0" y="2425"/>
                <a:ext cx="357" cy="295"/>
                <a:chOff x="481" y="2460"/>
                <a:chExt cx="356" cy="294"/>
              </a:xfrm>
            </p:grpSpPr>
            <p:sp>
              <p:nvSpPr>
                <p:cNvPr id="119960" name="Text Box 16"/>
                <p:cNvSpPr txBox="1">
                  <a:spLocks noChangeArrowheads="1"/>
                </p:cNvSpPr>
                <p:nvPr/>
              </p:nvSpPr>
              <p:spPr bwMode="auto">
                <a:xfrm>
                  <a:off x="481" y="2460"/>
                  <a:ext cx="254" cy="2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</a:p>
              </p:txBody>
            </p:sp>
            <p:sp>
              <p:nvSpPr>
                <p:cNvPr id="119961" name="Text Box 17"/>
                <p:cNvSpPr txBox="1">
                  <a:spLocks noChangeArrowheads="1"/>
                </p:cNvSpPr>
                <p:nvPr/>
              </p:nvSpPr>
              <p:spPr bwMode="auto">
                <a:xfrm>
                  <a:off x="665" y="2563"/>
                  <a:ext cx="172" cy="1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1400"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</p:grpSp>
        </p:grpSp>
        <p:grpSp>
          <p:nvGrpSpPr>
            <p:cNvPr id="3" name="Group 18"/>
            <p:cNvGrpSpPr/>
            <p:nvPr/>
          </p:nvGrpSpPr>
          <p:grpSpPr bwMode="auto">
            <a:xfrm>
              <a:off x="0" y="2882"/>
              <a:ext cx="736" cy="295"/>
              <a:chOff x="0" y="2882"/>
              <a:chExt cx="736" cy="295"/>
            </a:xfrm>
          </p:grpSpPr>
          <p:sp>
            <p:nvSpPr>
              <p:cNvPr id="119954" name="Line 19"/>
              <p:cNvSpPr>
                <a:spLocks noChangeShapeType="1"/>
              </p:cNvSpPr>
              <p:nvPr/>
            </p:nvSpPr>
            <p:spPr bwMode="auto">
              <a:xfrm>
                <a:off x="338" y="3048"/>
                <a:ext cx="39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19955" name="Group 20"/>
              <p:cNvGrpSpPr/>
              <p:nvPr/>
            </p:nvGrpSpPr>
            <p:grpSpPr bwMode="auto">
              <a:xfrm>
                <a:off x="0" y="2882"/>
                <a:ext cx="357" cy="295"/>
                <a:chOff x="409" y="2928"/>
                <a:chExt cx="356" cy="295"/>
              </a:xfrm>
            </p:grpSpPr>
            <p:sp>
              <p:nvSpPr>
                <p:cNvPr id="119956" name="Text Box 21"/>
                <p:cNvSpPr txBox="1">
                  <a:spLocks noChangeArrowheads="1"/>
                </p:cNvSpPr>
                <p:nvPr/>
              </p:nvSpPr>
              <p:spPr bwMode="auto">
                <a:xfrm>
                  <a:off x="409" y="2928"/>
                  <a:ext cx="254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</a:p>
              </p:txBody>
            </p:sp>
            <p:sp>
              <p:nvSpPr>
                <p:cNvPr id="119957" name="Text Box 22"/>
                <p:cNvSpPr txBox="1">
                  <a:spLocks noChangeArrowheads="1"/>
                </p:cNvSpPr>
                <p:nvPr/>
              </p:nvSpPr>
              <p:spPr bwMode="auto">
                <a:xfrm>
                  <a:off x="593" y="3031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1400"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</p:grpSp>
        </p:grpSp>
        <p:grpSp>
          <p:nvGrpSpPr>
            <p:cNvPr id="119864" name="Group 23"/>
            <p:cNvGrpSpPr/>
            <p:nvPr/>
          </p:nvGrpSpPr>
          <p:grpSpPr bwMode="auto">
            <a:xfrm>
              <a:off x="24" y="1057"/>
              <a:ext cx="714" cy="295"/>
              <a:chOff x="24" y="1057"/>
              <a:chExt cx="714" cy="295"/>
            </a:xfrm>
          </p:grpSpPr>
          <p:sp>
            <p:nvSpPr>
              <p:cNvPr id="119950" name="Line 24"/>
              <p:cNvSpPr>
                <a:spLocks noChangeShapeType="1"/>
              </p:cNvSpPr>
              <p:nvPr/>
            </p:nvSpPr>
            <p:spPr bwMode="auto">
              <a:xfrm>
                <a:off x="340" y="1210"/>
                <a:ext cx="39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19951" name="Group 25"/>
              <p:cNvGrpSpPr/>
              <p:nvPr/>
            </p:nvGrpSpPr>
            <p:grpSpPr bwMode="auto">
              <a:xfrm>
                <a:off x="24" y="1057"/>
                <a:ext cx="357" cy="295"/>
                <a:chOff x="457" y="1440"/>
                <a:chExt cx="356" cy="295"/>
              </a:xfrm>
            </p:grpSpPr>
            <p:sp>
              <p:nvSpPr>
                <p:cNvPr id="119952" name="Text Box 26"/>
                <p:cNvSpPr txBox="1">
                  <a:spLocks noChangeArrowheads="1"/>
                </p:cNvSpPr>
                <p:nvPr/>
              </p:nvSpPr>
              <p:spPr bwMode="auto">
                <a:xfrm>
                  <a:off x="457" y="1440"/>
                  <a:ext cx="254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</a:p>
              </p:txBody>
            </p:sp>
            <p:sp>
              <p:nvSpPr>
                <p:cNvPr id="119953" name="Text Box 27"/>
                <p:cNvSpPr txBox="1">
                  <a:spLocks noChangeArrowheads="1"/>
                </p:cNvSpPr>
                <p:nvPr/>
              </p:nvSpPr>
              <p:spPr bwMode="auto">
                <a:xfrm>
                  <a:off x="641" y="1543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1400"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</p:grpSp>
        </p:grpSp>
        <p:grpSp>
          <p:nvGrpSpPr>
            <p:cNvPr id="119865" name="Group 28"/>
            <p:cNvGrpSpPr/>
            <p:nvPr/>
          </p:nvGrpSpPr>
          <p:grpSpPr bwMode="auto">
            <a:xfrm>
              <a:off x="733" y="816"/>
              <a:ext cx="4966" cy="3434"/>
              <a:chOff x="733" y="816"/>
              <a:chExt cx="4966" cy="3434"/>
            </a:xfrm>
          </p:grpSpPr>
          <p:sp>
            <p:nvSpPr>
              <p:cNvPr id="119866" name="Rectangle 29"/>
              <p:cNvSpPr>
                <a:spLocks noChangeArrowheads="1"/>
              </p:cNvSpPr>
              <p:nvPr/>
            </p:nvSpPr>
            <p:spPr bwMode="auto">
              <a:xfrm>
                <a:off x="3732" y="1019"/>
                <a:ext cx="587" cy="33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0,31</a:t>
                </a:r>
              </a:p>
            </p:txBody>
          </p:sp>
          <p:sp>
            <p:nvSpPr>
              <p:cNvPr id="119867" name="Rectangle 30"/>
              <p:cNvSpPr>
                <a:spLocks noChangeArrowheads="1"/>
              </p:cNvSpPr>
              <p:nvPr/>
            </p:nvSpPr>
            <p:spPr bwMode="auto">
              <a:xfrm>
                <a:off x="1944" y="1007"/>
                <a:ext cx="587" cy="33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0,0</a:t>
                </a:r>
              </a:p>
            </p:txBody>
          </p:sp>
          <p:sp>
            <p:nvSpPr>
              <p:cNvPr id="119868" name="Rectangle 31"/>
              <p:cNvSpPr>
                <a:spLocks noChangeArrowheads="1"/>
              </p:cNvSpPr>
              <p:nvPr/>
            </p:nvSpPr>
            <p:spPr bwMode="auto">
              <a:xfrm>
                <a:off x="1944" y="2200"/>
                <a:ext cx="587" cy="33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31,0</a:t>
                </a:r>
              </a:p>
            </p:txBody>
          </p:sp>
          <p:sp>
            <p:nvSpPr>
              <p:cNvPr id="119869" name="Rectangle 32"/>
              <p:cNvSpPr>
                <a:spLocks noChangeArrowheads="1"/>
              </p:cNvSpPr>
              <p:nvPr/>
            </p:nvSpPr>
            <p:spPr bwMode="auto">
              <a:xfrm>
                <a:off x="1769" y="816"/>
                <a:ext cx="3077" cy="2059"/>
              </a:xfrm>
              <a:prstGeom prst="rect">
                <a:avLst/>
              </a:prstGeom>
              <a:noFill/>
              <a:ln w="28575">
                <a:solidFill>
                  <a:schemeClr val="tx1"/>
                </a:solidFill>
                <a:prstDash val="lgDashDot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19870" name="Freeform 33"/>
              <p:cNvSpPr/>
              <p:nvPr/>
            </p:nvSpPr>
            <p:spPr bwMode="auto">
              <a:xfrm rot="10800000">
                <a:off x="2539" y="2368"/>
                <a:ext cx="334" cy="1"/>
              </a:xfrm>
              <a:custGeom>
                <a:avLst/>
                <a:gdLst>
                  <a:gd name="T0" fmla="*/ 347 w 333"/>
                  <a:gd name="T1" fmla="*/ 0 h 1"/>
                  <a:gd name="T2" fmla="*/ 0 w 333"/>
                  <a:gd name="T3" fmla="*/ 1 h 1"/>
                  <a:gd name="T4" fmla="*/ 0 60000 65536"/>
                  <a:gd name="T5" fmla="*/ 0 60000 65536"/>
                  <a:gd name="T6" fmla="*/ 0 w 333"/>
                  <a:gd name="T7" fmla="*/ 0 h 1"/>
                  <a:gd name="T8" fmla="*/ 333 w 33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33" h="1">
                    <a:moveTo>
                      <a:pt x="333" y="0"/>
                    </a:moveTo>
                    <a:lnTo>
                      <a:pt x="0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871" name="Rectangle 34"/>
              <p:cNvSpPr>
                <a:spLocks noChangeArrowheads="1"/>
              </p:cNvSpPr>
              <p:nvPr/>
            </p:nvSpPr>
            <p:spPr bwMode="auto">
              <a:xfrm>
                <a:off x="3732" y="2200"/>
                <a:ext cx="587" cy="33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31,31</a:t>
                </a:r>
              </a:p>
            </p:txBody>
          </p:sp>
          <p:sp>
            <p:nvSpPr>
              <p:cNvPr id="119872" name="Rectangle 35"/>
              <p:cNvSpPr>
                <a:spLocks noChangeArrowheads="1"/>
              </p:cNvSpPr>
              <p:nvPr/>
            </p:nvSpPr>
            <p:spPr bwMode="auto">
              <a:xfrm rot="5400000">
                <a:off x="2868" y="2293"/>
                <a:ext cx="384" cy="293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19873" name="Text Box 36"/>
              <p:cNvSpPr txBox="1">
                <a:spLocks noChangeArrowheads="1"/>
              </p:cNvSpPr>
              <p:nvPr/>
            </p:nvSpPr>
            <p:spPr bwMode="auto">
              <a:xfrm>
                <a:off x="1836" y="3559"/>
                <a:ext cx="1903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          </a:t>
                </a:r>
                <a:r>
                  <a:rPr lang="en-US" altLang="zh-CN" sz="2400">
                    <a:latin typeface="Times New Roman" panose="02020603050405020304" pitchFamily="18" charset="0"/>
                  </a:rPr>
                  <a:t>Y </a:t>
                </a:r>
                <a:r>
                  <a:rPr lang="zh-CN" altLang="en-US" sz="2400">
                    <a:latin typeface="Times New Roman" panose="02020603050405020304" pitchFamily="18" charset="0"/>
                  </a:rPr>
                  <a:t>地址译码器</a:t>
                </a:r>
              </a:p>
            </p:txBody>
          </p:sp>
          <p:sp>
            <p:nvSpPr>
              <p:cNvPr id="119874" name="Rectangle 37"/>
              <p:cNvSpPr>
                <a:spLocks noChangeArrowheads="1"/>
              </p:cNvSpPr>
              <p:nvPr/>
            </p:nvSpPr>
            <p:spPr bwMode="auto">
              <a:xfrm>
                <a:off x="733" y="1036"/>
                <a:ext cx="385" cy="222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19875" name="Text Box 38"/>
              <p:cNvSpPr txBox="1">
                <a:spLocks noChangeArrowheads="1"/>
              </p:cNvSpPr>
              <p:nvPr/>
            </p:nvSpPr>
            <p:spPr bwMode="auto">
              <a:xfrm>
                <a:off x="768" y="1394"/>
                <a:ext cx="309" cy="1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2400">
                    <a:latin typeface="Times New Roman" panose="02020603050405020304" pitchFamily="18" charset="0"/>
                  </a:rPr>
                  <a:t>X</a:t>
                </a:r>
              </a:p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地</a:t>
                </a:r>
              </a:p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址</a:t>
                </a:r>
              </a:p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译</a:t>
                </a:r>
              </a:p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码</a:t>
                </a:r>
              </a:p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器</a:t>
                </a:r>
              </a:p>
            </p:txBody>
          </p:sp>
          <p:sp>
            <p:nvSpPr>
              <p:cNvPr id="119876" name="Freeform 39"/>
              <p:cNvSpPr/>
              <p:nvPr/>
            </p:nvSpPr>
            <p:spPr bwMode="auto">
              <a:xfrm>
                <a:off x="1125" y="1347"/>
                <a:ext cx="2907" cy="237"/>
              </a:xfrm>
              <a:custGeom>
                <a:avLst/>
                <a:gdLst>
                  <a:gd name="T0" fmla="*/ 0 w 2907"/>
                  <a:gd name="T1" fmla="*/ 237 h 237"/>
                  <a:gd name="T2" fmla="*/ 2904 w 2907"/>
                  <a:gd name="T3" fmla="*/ 237 h 237"/>
                  <a:gd name="T4" fmla="*/ 2907 w 2907"/>
                  <a:gd name="T5" fmla="*/ 0 h 237"/>
                  <a:gd name="T6" fmla="*/ 0 60000 65536"/>
                  <a:gd name="T7" fmla="*/ 0 60000 65536"/>
                  <a:gd name="T8" fmla="*/ 0 60000 65536"/>
                  <a:gd name="T9" fmla="*/ 0 w 2907"/>
                  <a:gd name="T10" fmla="*/ 0 h 237"/>
                  <a:gd name="T11" fmla="*/ 2907 w 2907"/>
                  <a:gd name="T12" fmla="*/ 237 h 23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907" h="237">
                    <a:moveTo>
                      <a:pt x="0" y="237"/>
                    </a:moveTo>
                    <a:lnTo>
                      <a:pt x="2904" y="237"/>
                    </a:lnTo>
                    <a:lnTo>
                      <a:pt x="2907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877" name="Freeform 40"/>
              <p:cNvSpPr/>
              <p:nvPr/>
            </p:nvSpPr>
            <p:spPr bwMode="auto">
              <a:xfrm>
                <a:off x="2229" y="1344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878" name="Freeform 41"/>
              <p:cNvSpPr/>
              <p:nvPr/>
            </p:nvSpPr>
            <p:spPr bwMode="auto">
              <a:xfrm>
                <a:off x="1129" y="2531"/>
                <a:ext cx="2963" cy="256"/>
              </a:xfrm>
              <a:custGeom>
                <a:avLst/>
                <a:gdLst>
                  <a:gd name="T0" fmla="*/ 0 w 2406"/>
                  <a:gd name="T1" fmla="*/ 505 h 243"/>
                  <a:gd name="T2" fmla="*/ 44403 w 2406"/>
                  <a:gd name="T3" fmla="*/ 505 h 243"/>
                  <a:gd name="T4" fmla="*/ 44403 w 2406"/>
                  <a:gd name="T5" fmla="*/ 0 h 243"/>
                  <a:gd name="T6" fmla="*/ 0 60000 65536"/>
                  <a:gd name="T7" fmla="*/ 0 60000 65536"/>
                  <a:gd name="T8" fmla="*/ 0 60000 65536"/>
                  <a:gd name="T9" fmla="*/ 0 w 2406"/>
                  <a:gd name="T10" fmla="*/ 0 h 243"/>
                  <a:gd name="T11" fmla="*/ 2406 w 2406"/>
                  <a:gd name="T12" fmla="*/ 243 h 24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06" h="243">
                    <a:moveTo>
                      <a:pt x="0" y="243"/>
                    </a:moveTo>
                    <a:lnTo>
                      <a:pt x="2406" y="243"/>
                    </a:lnTo>
                    <a:lnTo>
                      <a:pt x="240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879" name="Freeform 42"/>
              <p:cNvSpPr/>
              <p:nvPr/>
            </p:nvSpPr>
            <p:spPr bwMode="auto">
              <a:xfrm>
                <a:off x="2248" y="2545"/>
                <a:ext cx="1" cy="239"/>
              </a:xfrm>
              <a:custGeom>
                <a:avLst/>
                <a:gdLst>
                  <a:gd name="T0" fmla="*/ 0 w 1"/>
                  <a:gd name="T1" fmla="*/ 0 h 239"/>
                  <a:gd name="T2" fmla="*/ 0 w 1"/>
                  <a:gd name="T3" fmla="*/ 239 h 239"/>
                  <a:gd name="T4" fmla="*/ 0 60000 65536"/>
                  <a:gd name="T5" fmla="*/ 0 60000 65536"/>
                  <a:gd name="T6" fmla="*/ 0 w 1"/>
                  <a:gd name="T7" fmla="*/ 0 h 239"/>
                  <a:gd name="T8" fmla="*/ 1 w 1"/>
                  <a:gd name="T9" fmla="*/ 239 h 23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39">
                    <a:moveTo>
                      <a:pt x="0" y="0"/>
                    </a:moveTo>
                    <a:lnTo>
                      <a:pt x="0" y="239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880" name="Freeform 43"/>
              <p:cNvSpPr/>
              <p:nvPr/>
            </p:nvSpPr>
            <p:spPr bwMode="auto">
              <a:xfrm>
                <a:off x="2132" y="3941"/>
                <a:ext cx="1" cy="295"/>
              </a:xfrm>
              <a:custGeom>
                <a:avLst/>
                <a:gdLst>
                  <a:gd name="T0" fmla="*/ 0 w 1"/>
                  <a:gd name="T1" fmla="*/ 0 h 295"/>
                  <a:gd name="T2" fmla="*/ 0 w 1"/>
                  <a:gd name="T3" fmla="*/ 295 h 295"/>
                  <a:gd name="T4" fmla="*/ 0 60000 65536"/>
                  <a:gd name="T5" fmla="*/ 0 60000 65536"/>
                  <a:gd name="T6" fmla="*/ 0 w 1"/>
                  <a:gd name="T7" fmla="*/ 0 h 295"/>
                  <a:gd name="T8" fmla="*/ 1 w 1"/>
                  <a:gd name="T9" fmla="*/ 295 h 29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95">
                    <a:moveTo>
                      <a:pt x="0" y="0"/>
                    </a:moveTo>
                    <a:lnTo>
                      <a:pt x="0" y="29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stealth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881" name="Freeform 44"/>
              <p:cNvSpPr/>
              <p:nvPr/>
            </p:nvSpPr>
            <p:spPr bwMode="auto">
              <a:xfrm>
                <a:off x="4088" y="3941"/>
                <a:ext cx="1" cy="295"/>
              </a:xfrm>
              <a:custGeom>
                <a:avLst/>
                <a:gdLst>
                  <a:gd name="T0" fmla="*/ 0 w 1"/>
                  <a:gd name="T1" fmla="*/ 0 h 295"/>
                  <a:gd name="T2" fmla="*/ 0 w 1"/>
                  <a:gd name="T3" fmla="*/ 295 h 295"/>
                  <a:gd name="T4" fmla="*/ 0 60000 65536"/>
                  <a:gd name="T5" fmla="*/ 0 60000 65536"/>
                  <a:gd name="T6" fmla="*/ 0 w 1"/>
                  <a:gd name="T7" fmla="*/ 0 h 295"/>
                  <a:gd name="T8" fmla="*/ 1 w 1"/>
                  <a:gd name="T9" fmla="*/ 295 h 29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95">
                    <a:moveTo>
                      <a:pt x="0" y="0"/>
                    </a:moveTo>
                    <a:lnTo>
                      <a:pt x="0" y="29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stealth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882" name="Text Box 45"/>
              <p:cNvSpPr txBox="1">
                <a:spLocks noChangeArrowheads="1"/>
              </p:cNvSpPr>
              <p:nvPr/>
            </p:nvSpPr>
            <p:spPr bwMode="auto">
              <a:xfrm>
                <a:off x="2461" y="1564"/>
                <a:ext cx="1068" cy="5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       </a:t>
                </a:r>
                <a:r>
                  <a:rPr lang="zh-CN" altLang="en-US" sz="2000">
                    <a:latin typeface="Times New Roman" panose="02020603050405020304" pitchFamily="18" charset="0"/>
                  </a:rPr>
                  <a:t>32×32  </a:t>
                </a:r>
              </a:p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           矩阵</a:t>
                </a:r>
              </a:p>
            </p:txBody>
          </p:sp>
          <p:sp>
            <p:nvSpPr>
              <p:cNvPr id="119883" name="Text Box 46"/>
              <p:cNvSpPr txBox="1">
                <a:spLocks noChangeArrowheads="1"/>
              </p:cNvSpPr>
              <p:nvPr/>
            </p:nvSpPr>
            <p:spPr bwMode="auto">
              <a:xfrm rot="5400000">
                <a:off x="2137" y="1692"/>
                <a:ext cx="372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19884" name="Text Box 47"/>
              <p:cNvSpPr txBox="1">
                <a:spLocks noChangeArrowheads="1"/>
              </p:cNvSpPr>
              <p:nvPr/>
            </p:nvSpPr>
            <p:spPr bwMode="auto">
              <a:xfrm rot="5400000">
                <a:off x="3928" y="1704"/>
                <a:ext cx="372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grpSp>
            <p:nvGrpSpPr>
              <p:cNvPr id="119885" name="Group 48"/>
              <p:cNvGrpSpPr/>
              <p:nvPr/>
            </p:nvGrpSpPr>
            <p:grpSpPr bwMode="auto">
              <a:xfrm>
                <a:off x="1808" y="3939"/>
                <a:ext cx="356" cy="311"/>
                <a:chOff x="1808" y="3939"/>
                <a:chExt cx="356" cy="311"/>
              </a:xfrm>
            </p:grpSpPr>
            <p:sp>
              <p:nvSpPr>
                <p:cNvPr id="119948" name="Text Box 49"/>
                <p:cNvSpPr txBox="1">
                  <a:spLocks noChangeArrowheads="1"/>
                </p:cNvSpPr>
                <p:nvPr/>
              </p:nvSpPr>
              <p:spPr bwMode="auto">
                <a:xfrm>
                  <a:off x="1808" y="3939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</a:p>
              </p:txBody>
            </p:sp>
            <p:sp>
              <p:nvSpPr>
                <p:cNvPr id="119949" name="Text Box 50"/>
                <p:cNvSpPr txBox="1">
                  <a:spLocks noChangeArrowheads="1"/>
                </p:cNvSpPr>
                <p:nvPr/>
              </p:nvSpPr>
              <p:spPr bwMode="auto">
                <a:xfrm>
                  <a:off x="1992" y="4058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1400"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</p:grpSp>
          <p:grpSp>
            <p:nvGrpSpPr>
              <p:cNvPr id="119886" name="Group 51"/>
              <p:cNvGrpSpPr/>
              <p:nvPr/>
            </p:nvGrpSpPr>
            <p:grpSpPr bwMode="auto">
              <a:xfrm>
                <a:off x="2031" y="2949"/>
                <a:ext cx="48" cy="243"/>
                <a:chOff x="2031" y="2949"/>
                <a:chExt cx="48" cy="243"/>
              </a:xfrm>
            </p:grpSpPr>
            <p:sp>
              <p:nvSpPr>
                <p:cNvPr id="119946" name="Line 52"/>
                <p:cNvSpPr>
                  <a:spLocks noChangeShapeType="1"/>
                </p:cNvSpPr>
                <p:nvPr/>
              </p:nvSpPr>
              <p:spPr bwMode="auto">
                <a:xfrm rot="-5400000">
                  <a:off x="1909" y="3071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9947" name="Line 53"/>
                <p:cNvSpPr>
                  <a:spLocks noChangeShapeType="1"/>
                </p:cNvSpPr>
                <p:nvPr/>
              </p:nvSpPr>
              <p:spPr bwMode="auto">
                <a:xfrm rot="-5400000">
                  <a:off x="2005" y="307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19887" name="Group 54"/>
              <p:cNvGrpSpPr/>
              <p:nvPr/>
            </p:nvGrpSpPr>
            <p:grpSpPr bwMode="auto">
              <a:xfrm>
                <a:off x="2416" y="2949"/>
                <a:ext cx="49" cy="243"/>
                <a:chOff x="2416" y="2949"/>
                <a:chExt cx="49" cy="243"/>
              </a:xfrm>
            </p:grpSpPr>
            <p:sp>
              <p:nvSpPr>
                <p:cNvPr id="119944" name="Line 55"/>
                <p:cNvSpPr>
                  <a:spLocks noChangeShapeType="1"/>
                </p:cNvSpPr>
                <p:nvPr/>
              </p:nvSpPr>
              <p:spPr bwMode="auto">
                <a:xfrm rot="5400000">
                  <a:off x="2343" y="3071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9945" name="Line 56"/>
                <p:cNvSpPr>
                  <a:spLocks noChangeShapeType="1"/>
                </p:cNvSpPr>
                <p:nvPr/>
              </p:nvSpPr>
              <p:spPr bwMode="auto">
                <a:xfrm rot="5400000">
                  <a:off x="2342" y="3068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19888" name="Group 57"/>
              <p:cNvGrpSpPr/>
              <p:nvPr/>
            </p:nvGrpSpPr>
            <p:grpSpPr bwMode="auto">
              <a:xfrm>
                <a:off x="3832" y="2961"/>
                <a:ext cx="48" cy="243"/>
                <a:chOff x="3832" y="2961"/>
                <a:chExt cx="48" cy="243"/>
              </a:xfrm>
            </p:grpSpPr>
            <p:sp>
              <p:nvSpPr>
                <p:cNvPr id="119942" name="Line 58"/>
                <p:cNvSpPr>
                  <a:spLocks noChangeShapeType="1"/>
                </p:cNvSpPr>
                <p:nvPr/>
              </p:nvSpPr>
              <p:spPr bwMode="auto">
                <a:xfrm rot="-5400000">
                  <a:off x="3710" y="3083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9943" name="Line 59"/>
                <p:cNvSpPr>
                  <a:spLocks noChangeShapeType="1"/>
                </p:cNvSpPr>
                <p:nvPr/>
              </p:nvSpPr>
              <p:spPr bwMode="auto">
                <a:xfrm rot="-5400000">
                  <a:off x="3806" y="3086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19889" name="Group 60"/>
              <p:cNvGrpSpPr/>
              <p:nvPr/>
            </p:nvGrpSpPr>
            <p:grpSpPr bwMode="auto">
              <a:xfrm>
                <a:off x="4217" y="2961"/>
                <a:ext cx="48" cy="243"/>
                <a:chOff x="4217" y="2961"/>
                <a:chExt cx="48" cy="243"/>
              </a:xfrm>
            </p:grpSpPr>
            <p:sp>
              <p:nvSpPr>
                <p:cNvPr id="119940" name="Line 61"/>
                <p:cNvSpPr>
                  <a:spLocks noChangeShapeType="1"/>
                </p:cNvSpPr>
                <p:nvPr/>
              </p:nvSpPr>
              <p:spPr bwMode="auto">
                <a:xfrm rot="5400000">
                  <a:off x="4143" y="3083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9941" name="Line 62"/>
                <p:cNvSpPr>
                  <a:spLocks noChangeShapeType="1"/>
                </p:cNvSpPr>
                <p:nvPr/>
              </p:nvSpPr>
              <p:spPr bwMode="auto">
                <a:xfrm rot="5400000">
                  <a:off x="4143" y="3080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19890" name="Rectangle 63"/>
              <p:cNvSpPr>
                <a:spLocks noChangeArrowheads="1"/>
              </p:cNvSpPr>
              <p:nvPr/>
            </p:nvSpPr>
            <p:spPr bwMode="auto">
              <a:xfrm>
                <a:off x="4834" y="3088"/>
                <a:ext cx="589" cy="36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I/O</a:t>
                </a:r>
              </a:p>
            </p:txBody>
          </p:sp>
          <p:sp>
            <p:nvSpPr>
              <p:cNvPr id="119891" name="Freeform 64"/>
              <p:cNvSpPr/>
              <p:nvPr/>
            </p:nvSpPr>
            <p:spPr bwMode="auto">
              <a:xfrm>
                <a:off x="2465" y="3120"/>
                <a:ext cx="2366" cy="168"/>
              </a:xfrm>
              <a:custGeom>
                <a:avLst/>
                <a:gdLst>
                  <a:gd name="T0" fmla="*/ 0 w 2361"/>
                  <a:gd name="T1" fmla="*/ 0 h 168"/>
                  <a:gd name="T2" fmla="*/ 430 w 2361"/>
                  <a:gd name="T3" fmla="*/ 0 h 168"/>
                  <a:gd name="T4" fmla="*/ 431 w 2361"/>
                  <a:gd name="T5" fmla="*/ 168 h 168"/>
                  <a:gd name="T6" fmla="*/ 2431 w 2361"/>
                  <a:gd name="T7" fmla="*/ 167 h 16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361"/>
                  <a:gd name="T13" fmla="*/ 0 h 168"/>
                  <a:gd name="T14" fmla="*/ 2361 w 2361"/>
                  <a:gd name="T15" fmla="*/ 168 h 16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361" h="168">
                    <a:moveTo>
                      <a:pt x="0" y="0"/>
                    </a:moveTo>
                    <a:lnTo>
                      <a:pt x="416" y="0"/>
                    </a:lnTo>
                    <a:lnTo>
                      <a:pt x="417" y="168"/>
                    </a:lnTo>
                    <a:lnTo>
                      <a:pt x="2361" y="16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892" name="Freeform 65"/>
              <p:cNvSpPr/>
              <p:nvPr/>
            </p:nvSpPr>
            <p:spPr bwMode="auto">
              <a:xfrm>
                <a:off x="1625" y="3123"/>
                <a:ext cx="3207" cy="284"/>
              </a:xfrm>
              <a:custGeom>
                <a:avLst/>
                <a:gdLst>
                  <a:gd name="T0" fmla="*/ 417 w 3200"/>
                  <a:gd name="T1" fmla="*/ 0 h 284"/>
                  <a:gd name="T2" fmla="*/ 0 w 3200"/>
                  <a:gd name="T3" fmla="*/ 0 h 284"/>
                  <a:gd name="T4" fmla="*/ 1 w 3200"/>
                  <a:gd name="T5" fmla="*/ 284 h 284"/>
                  <a:gd name="T6" fmla="*/ 3298 w 3200"/>
                  <a:gd name="T7" fmla="*/ 284 h 28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200"/>
                  <a:gd name="T13" fmla="*/ 0 h 284"/>
                  <a:gd name="T14" fmla="*/ 3200 w 3200"/>
                  <a:gd name="T15" fmla="*/ 284 h 28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200" h="284">
                    <a:moveTo>
                      <a:pt x="403" y="0"/>
                    </a:moveTo>
                    <a:lnTo>
                      <a:pt x="0" y="0"/>
                    </a:lnTo>
                    <a:lnTo>
                      <a:pt x="1" y="284"/>
                    </a:lnTo>
                    <a:lnTo>
                      <a:pt x="3200" y="28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893" name="Freeform 66"/>
              <p:cNvSpPr/>
              <p:nvPr/>
            </p:nvSpPr>
            <p:spPr bwMode="auto">
              <a:xfrm>
                <a:off x="1584" y="1172"/>
                <a:ext cx="445" cy="1852"/>
              </a:xfrm>
              <a:custGeom>
                <a:avLst/>
                <a:gdLst>
                  <a:gd name="T0" fmla="*/ 445 w 445"/>
                  <a:gd name="T1" fmla="*/ 1852 h 1852"/>
                  <a:gd name="T2" fmla="*/ 1 w 445"/>
                  <a:gd name="T3" fmla="*/ 1852 h 1852"/>
                  <a:gd name="T4" fmla="*/ 0 w 445"/>
                  <a:gd name="T5" fmla="*/ 0 h 1852"/>
                  <a:gd name="T6" fmla="*/ 357 w 445"/>
                  <a:gd name="T7" fmla="*/ 1 h 18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45"/>
                  <a:gd name="T13" fmla="*/ 0 h 1852"/>
                  <a:gd name="T14" fmla="*/ 445 w 445"/>
                  <a:gd name="T15" fmla="*/ 1852 h 18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45" h="1852">
                    <a:moveTo>
                      <a:pt x="445" y="1852"/>
                    </a:moveTo>
                    <a:lnTo>
                      <a:pt x="1" y="1852"/>
                    </a:lnTo>
                    <a:lnTo>
                      <a:pt x="0" y="0"/>
                    </a:lnTo>
                    <a:lnTo>
                      <a:pt x="357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894" name="Freeform 67"/>
              <p:cNvSpPr/>
              <p:nvPr/>
            </p:nvSpPr>
            <p:spPr bwMode="auto">
              <a:xfrm>
                <a:off x="2465" y="1178"/>
                <a:ext cx="417" cy="1849"/>
              </a:xfrm>
              <a:custGeom>
                <a:avLst/>
                <a:gdLst>
                  <a:gd name="T0" fmla="*/ 66 w 416"/>
                  <a:gd name="T1" fmla="*/ 0 h 1848"/>
                  <a:gd name="T2" fmla="*/ 428 w 416"/>
                  <a:gd name="T3" fmla="*/ 0 h 1848"/>
                  <a:gd name="T4" fmla="*/ 430 w 416"/>
                  <a:gd name="T5" fmla="*/ 1861 h 1848"/>
                  <a:gd name="T6" fmla="*/ 0 w 416"/>
                  <a:gd name="T7" fmla="*/ 1862 h 184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16"/>
                  <a:gd name="T13" fmla="*/ 0 h 1848"/>
                  <a:gd name="T14" fmla="*/ 416 w 416"/>
                  <a:gd name="T15" fmla="*/ 1848 h 184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16" h="1848">
                    <a:moveTo>
                      <a:pt x="66" y="0"/>
                    </a:moveTo>
                    <a:lnTo>
                      <a:pt x="414" y="0"/>
                    </a:lnTo>
                    <a:lnTo>
                      <a:pt x="416" y="1847"/>
                    </a:lnTo>
                    <a:lnTo>
                      <a:pt x="0" y="1848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895" name="Freeform 68"/>
              <p:cNvSpPr/>
              <p:nvPr/>
            </p:nvSpPr>
            <p:spPr bwMode="auto">
              <a:xfrm>
                <a:off x="2081" y="3073"/>
                <a:ext cx="329" cy="1"/>
              </a:xfrm>
              <a:custGeom>
                <a:avLst/>
                <a:gdLst>
                  <a:gd name="T0" fmla="*/ 0 w 329"/>
                  <a:gd name="T1" fmla="*/ 0 h 1"/>
                  <a:gd name="T2" fmla="*/ 329 w 329"/>
                  <a:gd name="T3" fmla="*/ 1 h 1"/>
                  <a:gd name="T4" fmla="*/ 0 60000 65536"/>
                  <a:gd name="T5" fmla="*/ 0 60000 65536"/>
                  <a:gd name="T6" fmla="*/ 0 w 329"/>
                  <a:gd name="T7" fmla="*/ 0 h 1"/>
                  <a:gd name="T8" fmla="*/ 329 w 32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29" h="1">
                    <a:moveTo>
                      <a:pt x="0" y="0"/>
                    </a:moveTo>
                    <a:lnTo>
                      <a:pt x="329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896" name="Freeform 69"/>
              <p:cNvSpPr/>
              <p:nvPr/>
            </p:nvSpPr>
            <p:spPr bwMode="auto">
              <a:xfrm>
                <a:off x="4263" y="1172"/>
                <a:ext cx="412" cy="1855"/>
              </a:xfrm>
              <a:custGeom>
                <a:avLst/>
                <a:gdLst>
                  <a:gd name="T0" fmla="*/ 63 w 412"/>
                  <a:gd name="T1" fmla="*/ 3 h 1855"/>
                  <a:gd name="T2" fmla="*/ 412 w 412"/>
                  <a:gd name="T3" fmla="*/ 0 h 1855"/>
                  <a:gd name="T4" fmla="*/ 411 w 412"/>
                  <a:gd name="T5" fmla="*/ 1852 h 1855"/>
                  <a:gd name="T6" fmla="*/ 0 w 412"/>
                  <a:gd name="T7" fmla="*/ 1855 h 185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12"/>
                  <a:gd name="T13" fmla="*/ 0 h 1855"/>
                  <a:gd name="T14" fmla="*/ 412 w 412"/>
                  <a:gd name="T15" fmla="*/ 1855 h 185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12" h="1855">
                    <a:moveTo>
                      <a:pt x="63" y="3"/>
                    </a:moveTo>
                    <a:lnTo>
                      <a:pt x="412" y="0"/>
                    </a:lnTo>
                    <a:lnTo>
                      <a:pt x="411" y="1852"/>
                    </a:lnTo>
                    <a:lnTo>
                      <a:pt x="0" y="185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897" name="Freeform 70"/>
              <p:cNvSpPr/>
              <p:nvPr/>
            </p:nvSpPr>
            <p:spPr bwMode="auto">
              <a:xfrm>
                <a:off x="3406" y="1172"/>
                <a:ext cx="415" cy="1852"/>
              </a:xfrm>
              <a:custGeom>
                <a:avLst/>
                <a:gdLst>
                  <a:gd name="T0" fmla="*/ 428 w 414"/>
                  <a:gd name="T1" fmla="*/ 1865 h 1851"/>
                  <a:gd name="T2" fmla="*/ 3 w 414"/>
                  <a:gd name="T3" fmla="*/ 1865 h 1851"/>
                  <a:gd name="T4" fmla="*/ 0 w 414"/>
                  <a:gd name="T5" fmla="*/ 3 h 1851"/>
                  <a:gd name="T6" fmla="*/ 332 w 414"/>
                  <a:gd name="T7" fmla="*/ 0 h 185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14"/>
                  <a:gd name="T13" fmla="*/ 0 h 1851"/>
                  <a:gd name="T14" fmla="*/ 414 w 414"/>
                  <a:gd name="T15" fmla="*/ 1851 h 185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14" h="1851">
                    <a:moveTo>
                      <a:pt x="414" y="1851"/>
                    </a:moveTo>
                    <a:lnTo>
                      <a:pt x="3" y="1851"/>
                    </a:lnTo>
                    <a:lnTo>
                      <a:pt x="0" y="3"/>
                    </a:lnTo>
                    <a:lnTo>
                      <a:pt x="318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898" name="Freeform 71"/>
              <p:cNvSpPr/>
              <p:nvPr/>
            </p:nvSpPr>
            <p:spPr bwMode="auto">
              <a:xfrm>
                <a:off x="2253" y="3069"/>
                <a:ext cx="3" cy="489"/>
              </a:xfrm>
              <a:custGeom>
                <a:avLst/>
                <a:gdLst>
                  <a:gd name="T0" fmla="*/ 3 w 3"/>
                  <a:gd name="T1" fmla="*/ 0 h 489"/>
                  <a:gd name="T2" fmla="*/ 0 w 3"/>
                  <a:gd name="T3" fmla="*/ 489 h 489"/>
                  <a:gd name="T4" fmla="*/ 0 60000 65536"/>
                  <a:gd name="T5" fmla="*/ 0 60000 65536"/>
                  <a:gd name="T6" fmla="*/ 0 w 3"/>
                  <a:gd name="T7" fmla="*/ 0 h 489"/>
                  <a:gd name="T8" fmla="*/ 3 w 3"/>
                  <a:gd name="T9" fmla="*/ 489 h 48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489">
                    <a:moveTo>
                      <a:pt x="3" y="0"/>
                    </a:moveTo>
                    <a:lnTo>
                      <a:pt x="0" y="489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899" name="Freeform 72"/>
              <p:cNvSpPr/>
              <p:nvPr/>
            </p:nvSpPr>
            <p:spPr bwMode="auto">
              <a:xfrm>
                <a:off x="4043" y="3071"/>
                <a:ext cx="2" cy="490"/>
              </a:xfrm>
              <a:custGeom>
                <a:avLst/>
                <a:gdLst>
                  <a:gd name="T0" fmla="*/ 0 w 2"/>
                  <a:gd name="T1" fmla="*/ 0 h 490"/>
                  <a:gd name="T2" fmla="*/ 2 w 2"/>
                  <a:gd name="T3" fmla="*/ 490 h 490"/>
                  <a:gd name="T4" fmla="*/ 0 60000 65536"/>
                  <a:gd name="T5" fmla="*/ 0 60000 65536"/>
                  <a:gd name="T6" fmla="*/ 0 w 2"/>
                  <a:gd name="T7" fmla="*/ 0 h 490"/>
                  <a:gd name="T8" fmla="*/ 2 w 2"/>
                  <a:gd name="T9" fmla="*/ 490 h 49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490">
                    <a:moveTo>
                      <a:pt x="0" y="0"/>
                    </a:moveTo>
                    <a:lnTo>
                      <a:pt x="2" y="49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900" name="Freeform 73"/>
              <p:cNvSpPr/>
              <p:nvPr/>
            </p:nvSpPr>
            <p:spPr bwMode="auto">
              <a:xfrm>
                <a:off x="3885" y="3073"/>
                <a:ext cx="330" cy="1"/>
              </a:xfrm>
              <a:custGeom>
                <a:avLst/>
                <a:gdLst>
                  <a:gd name="T0" fmla="*/ 0 w 329"/>
                  <a:gd name="T1" fmla="*/ 0 h 1"/>
                  <a:gd name="T2" fmla="*/ 343 w 329"/>
                  <a:gd name="T3" fmla="*/ 1 h 1"/>
                  <a:gd name="T4" fmla="*/ 0 60000 65536"/>
                  <a:gd name="T5" fmla="*/ 0 60000 65536"/>
                  <a:gd name="T6" fmla="*/ 0 w 329"/>
                  <a:gd name="T7" fmla="*/ 0 h 1"/>
                  <a:gd name="T8" fmla="*/ 329 w 32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29" h="1">
                    <a:moveTo>
                      <a:pt x="0" y="0"/>
                    </a:moveTo>
                    <a:lnTo>
                      <a:pt x="329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901" name="Freeform 74"/>
              <p:cNvSpPr/>
              <p:nvPr/>
            </p:nvSpPr>
            <p:spPr bwMode="auto">
              <a:xfrm>
                <a:off x="3395" y="3125"/>
                <a:ext cx="430" cy="283"/>
              </a:xfrm>
              <a:custGeom>
                <a:avLst/>
                <a:gdLst>
                  <a:gd name="T0" fmla="*/ 430 w 430"/>
                  <a:gd name="T1" fmla="*/ 0 h 283"/>
                  <a:gd name="T2" fmla="*/ 0 w 430"/>
                  <a:gd name="T3" fmla="*/ 0 h 283"/>
                  <a:gd name="T4" fmla="*/ 4 w 430"/>
                  <a:gd name="T5" fmla="*/ 283 h 283"/>
                  <a:gd name="T6" fmla="*/ 0 60000 65536"/>
                  <a:gd name="T7" fmla="*/ 0 60000 65536"/>
                  <a:gd name="T8" fmla="*/ 0 60000 65536"/>
                  <a:gd name="T9" fmla="*/ 0 w 430"/>
                  <a:gd name="T10" fmla="*/ 0 h 283"/>
                  <a:gd name="T11" fmla="*/ 430 w 430"/>
                  <a:gd name="T12" fmla="*/ 283 h 28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30" h="283">
                    <a:moveTo>
                      <a:pt x="430" y="0"/>
                    </a:moveTo>
                    <a:lnTo>
                      <a:pt x="0" y="0"/>
                    </a:lnTo>
                    <a:lnTo>
                      <a:pt x="4" y="28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902" name="Freeform 75"/>
              <p:cNvSpPr/>
              <p:nvPr/>
            </p:nvSpPr>
            <p:spPr bwMode="auto">
              <a:xfrm>
                <a:off x="4266" y="3122"/>
                <a:ext cx="418" cy="163"/>
              </a:xfrm>
              <a:custGeom>
                <a:avLst/>
                <a:gdLst>
                  <a:gd name="T0" fmla="*/ 0 w 417"/>
                  <a:gd name="T1" fmla="*/ 1 h 163"/>
                  <a:gd name="T2" fmla="*/ 431 w 417"/>
                  <a:gd name="T3" fmla="*/ 0 h 163"/>
                  <a:gd name="T4" fmla="*/ 431 w 417"/>
                  <a:gd name="T5" fmla="*/ 163 h 163"/>
                  <a:gd name="T6" fmla="*/ 0 60000 65536"/>
                  <a:gd name="T7" fmla="*/ 0 60000 65536"/>
                  <a:gd name="T8" fmla="*/ 0 60000 65536"/>
                  <a:gd name="T9" fmla="*/ 0 w 417"/>
                  <a:gd name="T10" fmla="*/ 0 h 163"/>
                  <a:gd name="T11" fmla="*/ 417 w 417"/>
                  <a:gd name="T12" fmla="*/ 163 h 16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17" h="163">
                    <a:moveTo>
                      <a:pt x="0" y="1"/>
                    </a:moveTo>
                    <a:lnTo>
                      <a:pt x="417" y="0"/>
                    </a:lnTo>
                    <a:lnTo>
                      <a:pt x="417" y="16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903" name="Freeform 76"/>
              <p:cNvSpPr/>
              <p:nvPr/>
            </p:nvSpPr>
            <p:spPr bwMode="auto">
              <a:xfrm>
                <a:off x="2621" y="3941"/>
                <a:ext cx="1" cy="295"/>
              </a:xfrm>
              <a:custGeom>
                <a:avLst/>
                <a:gdLst>
                  <a:gd name="T0" fmla="*/ 0 w 1"/>
                  <a:gd name="T1" fmla="*/ 0 h 295"/>
                  <a:gd name="T2" fmla="*/ 0 w 1"/>
                  <a:gd name="T3" fmla="*/ 295 h 295"/>
                  <a:gd name="T4" fmla="*/ 0 60000 65536"/>
                  <a:gd name="T5" fmla="*/ 0 60000 65536"/>
                  <a:gd name="T6" fmla="*/ 0 w 1"/>
                  <a:gd name="T7" fmla="*/ 0 h 295"/>
                  <a:gd name="T8" fmla="*/ 1 w 1"/>
                  <a:gd name="T9" fmla="*/ 295 h 29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95">
                    <a:moveTo>
                      <a:pt x="0" y="0"/>
                    </a:moveTo>
                    <a:lnTo>
                      <a:pt x="0" y="29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stealth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904" name="Freeform 77"/>
              <p:cNvSpPr/>
              <p:nvPr/>
            </p:nvSpPr>
            <p:spPr bwMode="auto">
              <a:xfrm>
                <a:off x="3110" y="3941"/>
                <a:ext cx="1" cy="295"/>
              </a:xfrm>
              <a:custGeom>
                <a:avLst/>
                <a:gdLst>
                  <a:gd name="T0" fmla="*/ 0 w 1"/>
                  <a:gd name="T1" fmla="*/ 0 h 295"/>
                  <a:gd name="T2" fmla="*/ 0 w 1"/>
                  <a:gd name="T3" fmla="*/ 295 h 295"/>
                  <a:gd name="T4" fmla="*/ 0 60000 65536"/>
                  <a:gd name="T5" fmla="*/ 0 60000 65536"/>
                  <a:gd name="T6" fmla="*/ 0 w 1"/>
                  <a:gd name="T7" fmla="*/ 0 h 295"/>
                  <a:gd name="T8" fmla="*/ 1 w 1"/>
                  <a:gd name="T9" fmla="*/ 295 h 29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95">
                    <a:moveTo>
                      <a:pt x="0" y="0"/>
                    </a:moveTo>
                    <a:lnTo>
                      <a:pt x="0" y="29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stealth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905" name="Freeform 78"/>
              <p:cNvSpPr/>
              <p:nvPr/>
            </p:nvSpPr>
            <p:spPr bwMode="auto">
              <a:xfrm>
                <a:off x="3599" y="3941"/>
                <a:ext cx="1" cy="295"/>
              </a:xfrm>
              <a:custGeom>
                <a:avLst/>
                <a:gdLst>
                  <a:gd name="T0" fmla="*/ 0 w 1"/>
                  <a:gd name="T1" fmla="*/ 0 h 295"/>
                  <a:gd name="T2" fmla="*/ 0 w 1"/>
                  <a:gd name="T3" fmla="*/ 295 h 295"/>
                  <a:gd name="T4" fmla="*/ 0 60000 65536"/>
                  <a:gd name="T5" fmla="*/ 0 60000 65536"/>
                  <a:gd name="T6" fmla="*/ 0 w 1"/>
                  <a:gd name="T7" fmla="*/ 0 h 295"/>
                  <a:gd name="T8" fmla="*/ 1 w 1"/>
                  <a:gd name="T9" fmla="*/ 295 h 29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95">
                    <a:moveTo>
                      <a:pt x="0" y="0"/>
                    </a:moveTo>
                    <a:lnTo>
                      <a:pt x="0" y="29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stealth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19906" name="Group 79"/>
              <p:cNvGrpSpPr/>
              <p:nvPr/>
            </p:nvGrpSpPr>
            <p:grpSpPr bwMode="auto">
              <a:xfrm>
                <a:off x="2289" y="3939"/>
                <a:ext cx="356" cy="311"/>
                <a:chOff x="2289" y="3939"/>
                <a:chExt cx="356" cy="311"/>
              </a:xfrm>
            </p:grpSpPr>
            <p:sp>
              <p:nvSpPr>
                <p:cNvPr id="119938" name="Text Box 80"/>
                <p:cNvSpPr txBox="1">
                  <a:spLocks noChangeArrowheads="1"/>
                </p:cNvSpPr>
                <p:nvPr/>
              </p:nvSpPr>
              <p:spPr bwMode="auto">
                <a:xfrm>
                  <a:off x="2289" y="3939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</a:p>
              </p:txBody>
            </p:sp>
            <p:sp>
              <p:nvSpPr>
                <p:cNvPr id="119939" name="Text Box 81"/>
                <p:cNvSpPr txBox="1">
                  <a:spLocks noChangeArrowheads="1"/>
                </p:cNvSpPr>
                <p:nvPr/>
              </p:nvSpPr>
              <p:spPr bwMode="auto">
                <a:xfrm>
                  <a:off x="2473" y="4058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14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</p:grpSp>
          <p:grpSp>
            <p:nvGrpSpPr>
              <p:cNvPr id="119907" name="Group 82"/>
              <p:cNvGrpSpPr/>
              <p:nvPr/>
            </p:nvGrpSpPr>
            <p:grpSpPr bwMode="auto">
              <a:xfrm>
                <a:off x="2782" y="3939"/>
                <a:ext cx="356" cy="311"/>
                <a:chOff x="2782" y="3939"/>
                <a:chExt cx="356" cy="311"/>
              </a:xfrm>
            </p:grpSpPr>
            <p:sp>
              <p:nvSpPr>
                <p:cNvPr id="119936" name="Text Box 83"/>
                <p:cNvSpPr txBox="1">
                  <a:spLocks noChangeArrowheads="1"/>
                </p:cNvSpPr>
                <p:nvPr/>
              </p:nvSpPr>
              <p:spPr bwMode="auto">
                <a:xfrm>
                  <a:off x="2782" y="3939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</a:p>
              </p:txBody>
            </p:sp>
            <p:sp>
              <p:nvSpPr>
                <p:cNvPr id="119937" name="Text Box 84"/>
                <p:cNvSpPr txBox="1">
                  <a:spLocks noChangeArrowheads="1"/>
                </p:cNvSpPr>
                <p:nvPr/>
              </p:nvSpPr>
              <p:spPr bwMode="auto">
                <a:xfrm>
                  <a:off x="2966" y="4058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1400"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</p:grpSp>
          <p:grpSp>
            <p:nvGrpSpPr>
              <p:cNvPr id="119908" name="Group 85"/>
              <p:cNvGrpSpPr/>
              <p:nvPr/>
            </p:nvGrpSpPr>
            <p:grpSpPr bwMode="auto">
              <a:xfrm>
                <a:off x="3757" y="3939"/>
                <a:ext cx="355" cy="311"/>
                <a:chOff x="3757" y="3939"/>
                <a:chExt cx="355" cy="311"/>
              </a:xfrm>
            </p:grpSpPr>
            <p:sp>
              <p:nvSpPr>
                <p:cNvPr id="119934" name="Text Box 86"/>
                <p:cNvSpPr txBox="1">
                  <a:spLocks noChangeArrowheads="1"/>
                </p:cNvSpPr>
                <p:nvPr/>
              </p:nvSpPr>
              <p:spPr bwMode="auto">
                <a:xfrm>
                  <a:off x="3757" y="3939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</a:p>
              </p:txBody>
            </p:sp>
            <p:sp>
              <p:nvSpPr>
                <p:cNvPr id="119935" name="Text Box 87"/>
                <p:cNvSpPr txBox="1">
                  <a:spLocks noChangeArrowheads="1"/>
                </p:cNvSpPr>
                <p:nvPr/>
              </p:nvSpPr>
              <p:spPr bwMode="auto">
                <a:xfrm>
                  <a:off x="3940" y="4058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1400"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</p:grpSp>
          <p:grpSp>
            <p:nvGrpSpPr>
              <p:cNvPr id="119909" name="Group 88"/>
              <p:cNvGrpSpPr/>
              <p:nvPr/>
            </p:nvGrpSpPr>
            <p:grpSpPr bwMode="auto">
              <a:xfrm>
                <a:off x="3275" y="3939"/>
                <a:ext cx="344" cy="303"/>
                <a:chOff x="3275" y="3939"/>
                <a:chExt cx="344" cy="303"/>
              </a:xfrm>
            </p:grpSpPr>
            <p:sp>
              <p:nvSpPr>
                <p:cNvPr id="119932" name="Text Box 89"/>
                <p:cNvSpPr txBox="1">
                  <a:spLocks noChangeArrowheads="1"/>
                </p:cNvSpPr>
                <p:nvPr/>
              </p:nvSpPr>
              <p:spPr bwMode="auto">
                <a:xfrm>
                  <a:off x="3447" y="4050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1400"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sp>
              <p:nvSpPr>
                <p:cNvPr id="119933" name="Text Box 90"/>
                <p:cNvSpPr txBox="1">
                  <a:spLocks noChangeArrowheads="1"/>
                </p:cNvSpPr>
                <p:nvPr/>
              </p:nvSpPr>
              <p:spPr bwMode="auto">
                <a:xfrm>
                  <a:off x="3275" y="3939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</a:p>
              </p:txBody>
            </p:sp>
          </p:grpSp>
          <p:grpSp>
            <p:nvGrpSpPr>
              <p:cNvPr id="119910" name="Group 91"/>
              <p:cNvGrpSpPr/>
              <p:nvPr/>
            </p:nvGrpSpPr>
            <p:grpSpPr bwMode="auto">
              <a:xfrm>
                <a:off x="2025" y="3531"/>
                <a:ext cx="307" cy="311"/>
                <a:chOff x="2025" y="3531"/>
                <a:chExt cx="307" cy="311"/>
              </a:xfrm>
            </p:grpSpPr>
            <p:sp>
              <p:nvSpPr>
                <p:cNvPr id="119930" name="Text Box 92"/>
                <p:cNvSpPr txBox="1">
                  <a:spLocks noChangeArrowheads="1"/>
                </p:cNvSpPr>
                <p:nvPr/>
              </p:nvSpPr>
              <p:spPr bwMode="auto">
                <a:xfrm>
                  <a:off x="2025" y="3531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400">
                      <a:latin typeface="Times New Roman" panose="02020603050405020304" pitchFamily="18" charset="0"/>
                    </a:rPr>
                    <a:t>Y</a:t>
                  </a:r>
                </a:p>
              </p:txBody>
            </p:sp>
            <p:sp>
              <p:nvSpPr>
                <p:cNvPr id="119931" name="Text Box 93"/>
                <p:cNvSpPr txBox="1">
                  <a:spLocks noChangeArrowheads="1"/>
                </p:cNvSpPr>
                <p:nvPr/>
              </p:nvSpPr>
              <p:spPr bwMode="auto">
                <a:xfrm>
                  <a:off x="2160" y="3650"/>
                  <a:ext cx="172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1400"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</p:grpSp>
          <p:grpSp>
            <p:nvGrpSpPr>
              <p:cNvPr id="119911" name="Group 94"/>
              <p:cNvGrpSpPr/>
              <p:nvPr/>
            </p:nvGrpSpPr>
            <p:grpSpPr bwMode="auto">
              <a:xfrm>
                <a:off x="3853" y="3531"/>
                <a:ext cx="359" cy="311"/>
                <a:chOff x="3853" y="3531"/>
                <a:chExt cx="359" cy="311"/>
              </a:xfrm>
            </p:grpSpPr>
            <p:sp>
              <p:nvSpPr>
                <p:cNvPr id="119928" name="Text Box 95"/>
                <p:cNvSpPr txBox="1">
                  <a:spLocks noChangeArrowheads="1"/>
                </p:cNvSpPr>
                <p:nvPr/>
              </p:nvSpPr>
              <p:spPr bwMode="auto">
                <a:xfrm>
                  <a:off x="3853" y="3531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400">
                      <a:latin typeface="Times New Roman" panose="02020603050405020304" pitchFamily="18" charset="0"/>
                    </a:rPr>
                    <a:t>Y</a:t>
                  </a:r>
                </a:p>
              </p:txBody>
            </p:sp>
            <p:sp>
              <p:nvSpPr>
                <p:cNvPr id="119929" name="Text Box 96"/>
                <p:cNvSpPr txBox="1">
                  <a:spLocks noChangeArrowheads="1"/>
                </p:cNvSpPr>
                <p:nvPr/>
              </p:nvSpPr>
              <p:spPr bwMode="auto">
                <a:xfrm>
                  <a:off x="3984" y="3650"/>
                  <a:ext cx="228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1400">
                      <a:latin typeface="Times New Roman" panose="02020603050405020304" pitchFamily="18" charset="0"/>
                    </a:rPr>
                    <a:t>31</a:t>
                  </a:r>
                </a:p>
              </p:txBody>
            </p:sp>
          </p:grpSp>
          <p:grpSp>
            <p:nvGrpSpPr>
              <p:cNvPr id="119912" name="Group 97"/>
              <p:cNvGrpSpPr/>
              <p:nvPr/>
            </p:nvGrpSpPr>
            <p:grpSpPr bwMode="auto">
              <a:xfrm>
                <a:off x="1203" y="1296"/>
                <a:ext cx="365" cy="299"/>
                <a:chOff x="1203" y="1296"/>
                <a:chExt cx="365" cy="299"/>
              </a:xfrm>
            </p:grpSpPr>
            <p:sp>
              <p:nvSpPr>
                <p:cNvPr id="119926" name="Text Box 98"/>
                <p:cNvSpPr txBox="1">
                  <a:spLocks noChangeArrowheads="1"/>
                </p:cNvSpPr>
                <p:nvPr/>
              </p:nvSpPr>
              <p:spPr bwMode="auto">
                <a:xfrm>
                  <a:off x="1203" y="1296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400">
                      <a:latin typeface="Times New Roman" panose="02020603050405020304" pitchFamily="18" charset="0"/>
                    </a:rPr>
                    <a:t>X</a:t>
                  </a:r>
                </a:p>
              </p:txBody>
            </p:sp>
            <p:sp>
              <p:nvSpPr>
                <p:cNvPr id="119927" name="Text Box 99"/>
                <p:cNvSpPr txBox="1">
                  <a:spLocks noChangeArrowheads="1"/>
                </p:cNvSpPr>
                <p:nvPr/>
              </p:nvSpPr>
              <p:spPr bwMode="auto">
                <a:xfrm>
                  <a:off x="1388" y="1383"/>
                  <a:ext cx="180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1600"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</p:grpSp>
          <p:grpSp>
            <p:nvGrpSpPr>
              <p:cNvPr id="119913" name="Group 100"/>
              <p:cNvGrpSpPr/>
              <p:nvPr/>
            </p:nvGrpSpPr>
            <p:grpSpPr bwMode="auto">
              <a:xfrm>
                <a:off x="1203" y="2496"/>
                <a:ext cx="412" cy="295"/>
                <a:chOff x="1203" y="2496"/>
                <a:chExt cx="412" cy="295"/>
              </a:xfrm>
            </p:grpSpPr>
            <p:sp>
              <p:nvSpPr>
                <p:cNvPr id="119924" name="Text Box 101"/>
                <p:cNvSpPr txBox="1">
                  <a:spLocks noChangeArrowheads="1"/>
                </p:cNvSpPr>
                <p:nvPr/>
              </p:nvSpPr>
              <p:spPr bwMode="auto">
                <a:xfrm>
                  <a:off x="1203" y="2496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400">
                      <a:latin typeface="Times New Roman" panose="02020603050405020304" pitchFamily="18" charset="0"/>
                    </a:rPr>
                    <a:t>X</a:t>
                  </a:r>
                </a:p>
              </p:txBody>
            </p:sp>
            <p:sp>
              <p:nvSpPr>
                <p:cNvPr id="119925" name="Text Box 102"/>
                <p:cNvSpPr txBox="1">
                  <a:spLocks noChangeArrowheads="1"/>
                </p:cNvSpPr>
                <p:nvPr/>
              </p:nvSpPr>
              <p:spPr bwMode="auto">
                <a:xfrm>
                  <a:off x="1387" y="2599"/>
                  <a:ext cx="228" cy="1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1400">
                      <a:latin typeface="Times New Roman" panose="02020603050405020304" pitchFamily="18" charset="0"/>
                    </a:rPr>
                    <a:t>31</a:t>
                  </a:r>
                </a:p>
              </p:txBody>
            </p:sp>
          </p:grpSp>
          <p:sp>
            <p:nvSpPr>
              <p:cNvPr id="119914" name="Text Box 103"/>
              <p:cNvSpPr txBox="1">
                <a:spLocks noChangeArrowheads="1"/>
              </p:cNvSpPr>
              <p:nvPr/>
            </p:nvSpPr>
            <p:spPr bwMode="auto">
              <a:xfrm>
                <a:off x="1388" y="1392"/>
                <a:ext cx="116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zh-CN" altLang="en-US" sz="1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915" name="Text Box 104"/>
              <p:cNvSpPr txBox="1">
                <a:spLocks noChangeArrowheads="1"/>
              </p:cNvSpPr>
              <p:nvPr/>
            </p:nvSpPr>
            <p:spPr bwMode="auto">
              <a:xfrm>
                <a:off x="5444" y="2992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19916" name="Freeform 105"/>
              <p:cNvSpPr/>
              <p:nvPr/>
            </p:nvSpPr>
            <p:spPr bwMode="auto">
              <a:xfrm>
                <a:off x="1581" y="2367"/>
                <a:ext cx="365" cy="1"/>
              </a:xfrm>
              <a:custGeom>
                <a:avLst/>
                <a:gdLst>
                  <a:gd name="T0" fmla="*/ 365 w 365"/>
                  <a:gd name="T1" fmla="*/ 1 h 1"/>
                  <a:gd name="T2" fmla="*/ 0 w 365"/>
                  <a:gd name="T3" fmla="*/ 0 h 1"/>
                  <a:gd name="T4" fmla="*/ 0 60000 65536"/>
                  <a:gd name="T5" fmla="*/ 0 60000 65536"/>
                  <a:gd name="T6" fmla="*/ 0 w 365"/>
                  <a:gd name="T7" fmla="*/ 0 h 1"/>
                  <a:gd name="T8" fmla="*/ 365 w 36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65" h="1">
                    <a:moveTo>
                      <a:pt x="365" y="1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917" name="Freeform 106"/>
              <p:cNvSpPr/>
              <p:nvPr/>
            </p:nvSpPr>
            <p:spPr bwMode="auto">
              <a:xfrm>
                <a:off x="5440" y="3306"/>
                <a:ext cx="259" cy="1"/>
              </a:xfrm>
              <a:custGeom>
                <a:avLst/>
                <a:gdLst>
                  <a:gd name="T0" fmla="*/ 0 w 258"/>
                  <a:gd name="T1" fmla="*/ 1 h 1"/>
                  <a:gd name="T2" fmla="*/ 272 w 258"/>
                  <a:gd name="T3" fmla="*/ 0 h 1"/>
                  <a:gd name="T4" fmla="*/ 0 60000 65536"/>
                  <a:gd name="T5" fmla="*/ 0 60000 65536"/>
                  <a:gd name="T6" fmla="*/ 0 w 258"/>
                  <a:gd name="T7" fmla="*/ 0 h 1"/>
                  <a:gd name="T8" fmla="*/ 258 w 25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58" h="1">
                    <a:moveTo>
                      <a:pt x="0" y="1"/>
                    </a:moveTo>
                    <a:lnTo>
                      <a:pt x="258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918" name="Freeform 107"/>
              <p:cNvSpPr/>
              <p:nvPr/>
            </p:nvSpPr>
            <p:spPr bwMode="auto">
              <a:xfrm rot="10800000">
                <a:off x="4331" y="2368"/>
                <a:ext cx="334" cy="1"/>
              </a:xfrm>
              <a:custGeom>
                <a:avLst/>
                <a:gdLst>
                  <a:gd name="T0" fmla="*/ 347 w 333"/>
                  <a:gd name="T1" fmla="*/ 0 h 1"/>
                  <a:gd name="T2" fmla="*/ 0 w 333"/>
                  <a:gd name="T3" fmla="*/ 1 h 1"/>
                  <a:gd name="T4" fmla="*/ 0 60000 65536"/>
                  <a:gd name="T5" fmla="*/ 0 60000 65536"/>
                  <a:gd name="T6" fmla="*/ 0 w 333"/>
                  <a:gd name="T7" fmla="*/ 0 h 1"/>
                  <a:gd name="T8" fmla="*/ 333 w 33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33" h="1">
                    <a:moveTo>
                      <a:pt x="333" y="0"/>
                    </a:moveTo>
                    <a:lnTo>
                      <a:pt x="0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919" name="Freeform 108"/>
              <p:cNvSpPr/>
              <p:nvPr/>
            </p:nvSpPr>
            <p:spPr bwMode="auto">
              <a:xfrm>
                <a:off x="3405" y="2367"/>
                <a:ext cx="321" cy="1"/>
              </a:xfrm>
              <a:custGeom>
                <a:avLst/>
                <a:gdLst>
                  <a:gd name="T0" fmla="*/ 321 w 321"/>
                  <a:gd name="T1" fmla="*/ 0 h 1"/>
                  <a:gd name="T2" fmla="*/ 0 w 321"/>
                  <a:gd name="T3" fmla="*/ 0 h 1"/>
                  <a:gd name="T4" fmla="*/ 0 60000 65536"/>
                  <a:gd name="T5" fmla="*/ 0 60000 65536"/>
                  <a:gd name="T6" fmla="*/ 0 w 321"/>
                  <a:gd name="T7" fmla="*/ 0 h 1"/>
                  <a:gd name="T8" fmla="*/ 321 w 321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21" h="1">
                    <a:moveTo>
                      <a:pt x="321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920" name="Line 109"/>
              <p:cNvSpPr>
                <a:spLocks noChangeShapeType="1"/>
              </p:cNvSpPr>
              <p:nvPr/>
            </p:nvSpPr>
            <p:spPr bwMode="auto">
              <a:xfrm flipV="1">
                <a:off x="5109" y="3444"/>
                <a:ext cx="0" cy="33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921" name="Text Box 110"/>
              <p:cNvSpPr txBox="1">
                <a:spLocks noChangeArrowheads="1"/>
              </p:cNvSpPr>
              <p:nvPr/>
            </p:nvSpPr>
            <p:spPr bwMode="auto">
              <a:xfrm>
                <a:off x="4821" y="3772"/>
                <a:ext cx="747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读/写</a:t>
                </a:r>
              </a:p>
            </p:txBody>
          </p:sp>
          <p:sp>
            <p:nvSpPr>
              <p:cNvPr id="119922" name="Text Box 111"/>
              <p:cNvSpPr txBox="1">
                <a:spLocks noChangeArrowheads="1"/>
              </p:cNvSpPr>
              <p:nvPr/>
            </p:nvSpPr>
            <p:spPr bwMode="auto">
              <a:xfrm>
                <a:off x="3024" y="1034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19923" name="Text Box 112"/>
              <p:cNvSpPr txBox="1">
                <a:spLocks noChangeArrowheads="1"/>
              </p:cNvSpPr>
              <p:nvPr/>
            </p:nvSpPr>
            <p:spPr bwMode="auto">
              <a:xfrm>
                <a:off x="3024" y="2160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</p:grpSp>
      <p:sp>
        <p:nvSpPr>
          <p:cNvPr id="119811" name="Text Box 113"/>
          <p:cNvSpPr txBox="1">
            <a:spLocks noChangeArrowheads="1"/>
          </p:cNvSpPr>
          <p:nvPr/>
        </p:nvSpPr>
        <p:spPr bwMode="auto">
          <a:xfrm>
            <a:off x="566738" y="314325"/>
            <a:ext cx="2208212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(2) 重合法</a:t>
            </a:r>
          </a:p>
        </p:txBody>
      </p:sp>
      <p:sp>
        <p:nvSpPr>
          <p:cNvPr id="207986" name="Rectangle 114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grpSp>
        <p:nvGrpSpPr>
          <p:cNvPr id="27" name="Group 115"/>
          <p:cNvGrpSpPr/>
          <p:nvPr/>
        </p:nvGrpSpPr>
        <p:grpSpPr bwMode="auto">
          <a:xfrm>
            <a:off x="696913" y="1470025"/>
            <a:ext cx="6229350" cy="5376863"/>
            <a:chOff x="439" y="945"/>
            <a:chExt cx="3924" cy="3387"/>
          </a:xfrm>
        </p:grpSpPr>
        <p:grpSp>
          <p:nvGrpSpPr>
            <p:cNvPr id="4" name="Group 116"/>
            <p:cNvGrpSpPr/>
            <p:nvPr/>
          </p:nvGrpSpPr>
          <p:grpSpPr bwMode="auto">
            <a:xfrm>
              <a:off x="2195" y="4044"/>
              <a:ext cx="2168" cy="288"/>
              <a:chOff x="2147" y="3989"/>
              <a:chExt cx="2168" cy="288"/>
            </a:xfrm>
          </p:grpSpPr>
          <p:sp>
            <p:nvSpPr>
              <p:cNvPr id="119855" name="Text Box 117"/>
              <p:cNvSpPr txBox="1">
                <a:spLocks noChangeArrowheads="1"/>
              </p:cNvSpPr>
              <p:nvPr/>
            </p:nvSpPr>
            <p:spPr bwMode="auto">
              <a:xfrm>
                <a:off x="2147" y="3989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19856" name="Text Box 118"/>
              <p:cNvSpPr txBox="1">
                <a:spLocks noChangeArrowheads="1"/>
              </p:cNvSpPr>
              <p:nvPr/>
            </p:nvSpPr>
            <p:spPr bwMode="auto">
              <a:xfrm>
                <a:off x="2642" y="3989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19857" name="Text Box 119"/>
              <p:cNvSpPr txBox="1">
                <a:spLocks noChangeArrowheads="1"/>
              </p:cNvSpPr>
              <p:nvPr/>
            </p:nvSpPr>
            <p:spPr bwMode="auto">
              <a:xfrm>
                <a:off x="3125" y="3989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19858" name="Text Box 120"/>
              <p:cNvSpPr txBox="1">
                <a:spLocks noChangeArrowheads="1"/>
              </p:cNvSpPr>
              <p:nvPr/>
            </p:nvSpPr>
            <p:spPr bwMode="auto">
              <a:xfrm>
                <a:off x="3620" y="3989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19859" name="Text Box 121"/>
              <p:cNvSpPr txBox="1">
                <a:spLocks noChangeArrowheads="1"/>
              </p:cNvSpPr>
              <p:nvPr/>
            </p:nvSpPr>
            <p:spPr bwMode="auto">
              <a:xfrm>
                <a:off x="4103" y="3989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</p:grpSp>
        <p:grpSp>
          <p:nvGrpSpPr>
            <p:cNvPr id="119848" name="Group 122"/>
            <p:cNvGrpSpPr/>
            <p:nvPr/>
          </p:nvGrpSpPr>
          <p:grpSpPr bwMode="auto">
            <a:xfrm>
              <a:off x="439" y="945"/>
              <a:ext cx="224" cy="2120"/>
              <a:chOff x="439" y="757"/>
              <a:chExt cx="224" cy="2120"/>
            </a:xfrm>
          </p:grpSpPr>
          <p:grpSp>
            <p:nvGrpSpPr>
              <p:cNvPr id="5" name="Group 123"/>
              <p:cNvGrpSpPr/>
              <p:nvPr/>
            </p:nvGrpSpPr>
            <p:grpSpPr bwMode="auto">
              <a:xfrm>
                <a:off x="439" y="1203"/>
                <a:ext cx="212" cy="1674"/>
                <a:chOff x="439" y="1203"/>
                <a:chExt cx="212" cy="1674"/>
              </a:xfrm>
            </p:grpSpPr>
            <p:sp>
              <p:nvSpPr>
                <p:cNvPr id="119851" name="Text Box 124"/>
                <p:cNvSpPr txBox="1">
                  <a:spLocks noChangeArrowheads="1"/>
                </p:cNvSpPr>
                <p:nvPr/>
              </p:nvSpPr>
              <p:spPr bwMode="auto">
                <a:xfrm>
                  <a:off x="439" y="1203"/>
                  <a:ext cx="21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24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19852" name="Text Box 125"/>
                <p:cNvSpPr txBox="1">
                  <a:spLocks noChangeArrowheads="1"/>
                </p:cNvSpPr>
                <p:nvPr/>
              </p:nvSpPr>
              <p:spPr bwMode="auto">
                <a:xfrm>
                  <a:off x="439" y="1673"/>
                  <a:ext cx="21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24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19853" name="Text Box 126"/>
                <p:cNvSpPr txBox="1">
                  <a:spLocks noChangeArrowheads="1"/>
                </p:cNvSpPr>
                <p:nvPr/>
              </p:nvSpPr>
              <p:spPr bwMode="auto">
                <a:xfrm>
                  <a:off x="439" y="2119"/>
                  <a:ext cx="21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24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19854" name="Text Box 127"/>
                <p:cNvSpPr txBox="1">
                  <a:spLocks noChangeArrowheads="1"/>
                </p:cNvSpPr>
                <p:nvPr/>
              </p:nvSpPr>
              <p:spPr bwMode="auto">
                <a:xfrm>
                  <a:off x="439" y="2589"/>
                  <a:ext cx="21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24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</p:grpSp>
          <p:sp>
            <p:nvSpPr>
              <p:cNvPr id="119850" name="Text Box 128"/>
              <p:cNvSpPr txBox="1">
                <a:spLocks noChangeArrowheads="1"/>
              </p:cNvSpPr>
              <p:nvPr/>
            </p:nvSpPr>
            <p:spPr bwMode="auto">
              <a:xfrm>
                <a:off x="451" y="757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</p:grpSp>
      </p:grpSp>
      <p:sp>
        <p:nvSpPr>
          <p:cNvPr id="208001" name="Freeform 129"/>
          <p:cNvSpPr/>
          <p:nvPr/>
        </p:nvSpPr>
        <p:spPr bwMode="auto">
          <a:xfrm>
            <a:off x="3924300" y="1862138"/>
            <a:ext cx="660400" cy="2935287"/>
          </a:xfrm>
          <a:custGeom>
            <a:avLst/>
            <a:gdLst>
              <a:gd name="T0" fmla="*/ 2147483647 w 416"/>
              <a:gd name="T1" fmla="*/ 0 h 1849"/>
              <a:gd name="T2" fmla="*/ 2147483647 w 416"/>
              <a:gd name="T3" fmla="*/ 2147483647 h 1849"/>
              <a:gd name="T4" fmla="*/ 2147483647 w 416"/>
              <a:gd name="T5" fmla="*/ 2147483647 h 1849"/>
              <a:gd name="T6" fmla="*/ 0 w 416"/>
              <a:gd name="T7" fmla="*/ 2147483647 h 1849"/>
              <a:gd name="T8" fmla="*/ 0 60000 65536"/>
              <a:gd name="T9" fmla="*/ 0 60000 65536"/>
              <a:gd name="T10" fmla="*/ 0 60000 65536"/>
              <a:gd name="T11" fmla="*/ 0 60000 65536"/>
              <a:gd name="T12" fmla="*/ 0 w 416"/>
              <a:gd name="T13" fmla="*/ 0 h 1849"/>
              <a:gd name="T14" fmla="*/ 416 w 416"/>
              <a:gd name="T15" fmla="*/ 1849 h 184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16" h="1849">
                <a:moveTo>
                  <a:pt x="414" y="0"/>
                </a:moveTo>
                <a:lnTo>
                  <a:pt x="414" y="1"/>
                </a:lnTo>
                <a:lnTo>
                  <a:pt x="416" y="1848"/>
                </a:lnTo>
                <a:lnTo>
                  <a:pt x="0" y="1849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31" name="Group 130"/>
          <p:cNvGrpSpPr/>
          <p:nvPr/>
        </p:nvGrpSpPr>
        <p:grpSpPr bwMode="auto">
          <a:xfrm>
            <a:off x="3090863" y="1600200"/>
            <a:ext cx="3760787" cy="2420938"/>
            <a:chOff x="1947" y="1008"/>
            <a:chExt cx="2369" cy="1525"/>
          </a:xfrm>
        </p:grpSpPr>
        <p:grpSp>
          <p:nvGrpSpPr>
            <p:cNvPr id="119840" name="Group 131"/>
            <p:cNvGrpSpPr/>
            <p:nvPr/>
          </p:nvGrpSpPr>
          <p:grpSpPr bwMode="auto">
            <a:xfrm>
              <a:off x="1947" y="1008"/>
              <a:ext cx="2369" cy="1525"/>
              <a:chOff x="1953" y="1008"/>
              <a:chExt cx="2369" cy="1525"/>
            </a:xfrm>
          </p:grpSpPr>
          <p:grpSp>
            <p:nvGrpSpPr>
              <p:cNvPr id="119842" name="Group 132"/>
              <p:cNvGrpSpPr/>
              <p:nvPr/>
            </p:nvGrpSpPr>
            <p:grpSpPr bwMode="auto">
              <a:xfrm>
                <a:off x="1953" y="1008"/>
                <a:ext cx="2369" cy="1525"/>
                <a:chOff x="1953" y="1008"/>
                <a:chExt cx="2369" cy="1525"/>
              </a:xfrm>
            </p:grpSpPr>
            <p:sp>
              <p:nvSpPr>
                <p:cNvPr id="119844" name="Rectangle 133"/>
                <p:cNvSpPr>
                  <a:spLocks noChangeArrowheads="1"/>
                </p:cNvSpPr>
                <p:nvPr/>
              </p:nvSpPr>
              <p:spPr bwMode="auto">
                <a:xfrm>
                  <a:off x="1953" y="1008"/>
                  <a:ext cx="585" cy="332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</a:pPr>
                  <a:r>
                    <a:rPr lang="zh-CN" altLang="en-US" sz="28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0,0</a:t>
                  </a:r>
                </a:p>
              </p:txBody>
            </p:sp>
            <p:sp>
              <p:nvSpPr>
                <p:cNvPr id="119845" name="Rectangle 134"/>
                <p:cNvSpPr>
                  <a:spLocks noChangeArrowheads="1"/>
                </p:cNvSpPr>
                <p:nvPr/>
              </p:nvSpPr>
              <p:spPr bwMode="auto">
                <a:xfrm>
                  <a:off x="1953" y="2201"/>
                  <a:ext cx="585" cy="332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</a:pPr>
                  <a:r>
                    <a:rPr lang="zh-CN" altLang="en-US" sz="24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31,0</a:t>
                  </a:r>
                </a:p>
              </p:txBody>
            </p:sp>
            <p:sp>
              <p:nvSpPr>
                <p:cNvPr id="119846" name="Rectangle 135"/>
                <p:cNvSpPr>
                  <a:spLocks noChangeArrowheads="1"/>
                </p:cNvSpPr>
                <p:nvPr/>
              </p:nvSpPr>
              <p:spPr bwMode="auto">
                <a:xfrm>
                  <a:off x="3737" y="1020"/>
                  <a:ext cx="585" cy="332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</a:pPr>
                  <a:r>
                    <a:rPr lang="zh-CN" altLang="en-US" sz="24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0,31</a:t>
                  </a:r>
                </a:p>
              </p:txBody>
            </p:sp>
          </p:grpSp>
          <p:sp>
            <p:nvSpPr>
              <p:cNvPr id="119843" name="Text Box 136"/>
              <p:cNvSpPr txBox="1">
                <a:spLocks noChangeArrowheads="1"/>
              </p:cNvSpPr>
              <p:nvPr/>
            </p:nvSpPr>
            <p:spPr bwMode="auto">
              <a:xfrm rot="5400000">
                <a:off x="2145" y="1693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  <p:sp>
          <p:nvSpPr>
            <p:cNvPr id="119841" name="Text Box 137"/>
            <p:cNvSpPr txBox="1">
              <a:spLocks noChangeArrowheads="1"/>
            </p:cNvSpPr>
            <p:nvPr/>
          </p:nvSpPr>
          <p:spPr bwMode="auto">
            <a:xfrm>
              <a:off x="3024" y="1033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119847" name="Group 138"/>
          <p:cNvGrpSpPr/>
          <p:nvPr/>
        </p:nvGrpSpPr>
        <p:grpSpPr bwMode="auto">
          <a:xfrm>
            <a:off x="7677150" y="4749800"/>
            <a:ext cx="1371600" cy="728663"/>
            <a:chOff x="4836" y="2997"/>
            <a:chExt cx="864" cy="459"/>
          </a:xfrm>
        </p:grpSpPr>
        <p:sp>
          <p:nvSpPr>
            <p:cNvPr id="119836" name="Rectangle 139"/>
            <p:cNvSpPr>
              <a:spLocks noChangeArrowheads="1"/>
            </p:cNvSpPr>
            <p:nvPr/>
          </p:nvSpPr>
          <p:spPr bwMode="auto">
            <a:xfrm>
              <a:off x="4836" y="3088"/>
              <a:ext cx="588" cy="368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en-US" altLang="zh-CN" sz="2400">
                  <a:solidFill>
                    <a:schemeClr val="bg2"/>
                  </a:solidFill>
                  <a:latin typeface="Times New Roman" panose="02020603050405020304" pitchFamily="18" charset="0"/>
                </a:rPr>
                <a:t>I/O</a:t>
              </a:r>
            </a:p>
          </p:txBody>
        </p:sp>
        <p:grpSp>
          <p:nvGrpSpPr>
            <p:cNvPr id="119837" name="Group 140"/>
            <p:cNvGrpSpPr/>
            <p:nvPr/>
          </p:nvGrpSpPr>
          <p:grpSpPr bwMode="auto">
            <a:xfrm>
              <a:off x="5441" y="2997"/>
              <a:ext cx="259" cy="315"/>
              <a:chOff x="5441" y="2983"/>
              <a:chExt cx="259" cy="315"/>
            </a:xfrm>
          </p:grpSpPr>
          <p:sp>
            <p:nvSpPr>
              <p:cNvPr id="119838" name="Freeform 141"/>
              <p:cNvSpPr/>
              <p:nvPr/>
            </p:nvSpPr>
            <p:spPr bwMode="auto">
              <a:xfrm>
                <a:off x="5441" y="3297"/>
                <a:ext cx="258" cy="1"/>
              </a:xfrm>
              <a:custGeom>
                <a:avLst/>
                <a:gdLst>
                  <a:gd name="T0" fmla="*/ 0 w 258"/>
                  <a:gd name="T1" fmla="*/ 1 h 1"/>
                  <a:gd name="T2" fmla="*/ 258 w 258"/>
                  <a:gd name="T3" fmla="*/ 0 h 1"/>
                  <a:gd name="T4" fmla="*/ 0 60000 65536"/>
                  <a:gd name="T5" fmla="*/ 0 60000 65536"/>
                  <a:gd name="T6" fmla="*/ 0 w 258"/>
                  <a:gd name="T7" fmla="*/ 0 h 1"/>
                  <a:gd name="T8" fmla="*/ 258 w 25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58" h="1">
                    <a:moveTo>
                      <a:pt x="0" y="1"/>
                    </a:moveTo>
                    <a:lnTo>
                      <a:pt x="258" y="0"/>
                    </a:lnTo>
                  </a:path>
                </a:pathLst>
              </a:custGeom>
              <a:solidFill>
                <a:schemeClr val="folHlink"/>
              </a:solidFill>
              <a:ln w="38100" cmpd="sng">
                <a:solidFill>
                  <a:schemeClr val="folHlink"/>
                </a:solidFill>
                <a:round/>
                <a:headEnd type="triangle" w="med" len="med"/>
                <a:tailEnd type="triangle" w="med" len="med"/>
              </a:ln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839" name="Text Box 142"/>
              <p:cNvSpPr txBox="1">
                <a:spLocks noChangeArrowheads="1"/>
              </p:cNvSpPr>
              <p:nvPr/>
            </p:nvSpPr>
            <p:spPr bwMode="auto">
              <a:xfrm>
                <a:off x="5445" y="2983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</p:grpSp>
      </p:grpSp>
      <p:sp>
        <p:nvSpPr>
          <p:cNvPr id="208015" name="Freeform 143"/>
          <p:cNvSpPr/>
          <p:nvPr/>
        </p:nvSpPr>
        <p:spPr bwMode="auto">
          <a:xfrm>
            <a:off x="3924300" y="4945063"/>
            <a:ext cx="3746500" cy="268287"/>
          </a:xfrm>
          <a:custGeom>
            <a:avLst/>
            <a:gdLst>
              <a:gd name="T0" fmla="*/ 0 w 2360"/>
              <a:gd name="T1" fmla="*/ 0 h 169"/>
              <a:gd name="T2" fmla="*/ 2147483647 w 2360"/>
              <a:gd name="T3" fmla="*/ 2147483647 h 169"/>
              <a:gd name="T4" fmla="*/ 2147483647 w 2360"/>
              <a:gd name="T5" fmla="*/ 2147483647 h 169"/>
              <a:gd name="T6" fmla="*/ 2147483647 w 2360"/>
              <a:gd name="T7" fmla="*/ 2147483647 h 169"/>
              <a:gd name="T8" fmla="*/ 0 60000 65536"/>
              <a:gd name="T9" fmla="*/ 0 60000 65536"/>
              <a:gd name="T10" fmla="*/ 0 60000 65536"/>
              <a:gd name="T11" fmla="*/ 0 60000 65536"/>
              <a:gd name="T12" fmla="*/ 0 w 2360"/>
              <a:gd name="T13" fmla="*/ 0 h 169"/>
              <a:gd name="T14" fmla="*/ 2360 w 2360"/>
              <a:gd name="T15" fmla="*/ 169 h 16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360" h="169">
                <a:moveTo>
                  <a:pt x="0" y="0"/>
                </a:moveTo>
                <a:lnTo>
                  <a:pt x="419" y="2"/>
                </a:lnTo>
                <a:lnTo>
                  <a:pt x="417" y="168"/>
                </a:lnTo>
                <a:lnTo>
                  <a:pt x="2360" y="169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19849" name="Group 144"/>
          <p:cNvGrpSpPr/>
          <p:nvPr/>
        </p:nvGrpSpPr>
        <p:grpSpPr bwMode="auto">
          <a:xfrm>
            <a:off x="1765300" y="2125663"/>
            <a:ext cx="4635500" cy="3522662"/>
            <a:chOff x="1112" y="1339"/>
            <a:chExt cx="2920" cy="2219"/>
          </a:xfrm>
        </p:grpSpPr>
        <p:grpSp>
          <p:nvGrpSpPr>
            <p:cNvPr id="119825" name="Group 145"/>
            <p:cNvGrpSpPr/>
            <p:nvPr/>
          </p:nvGrpSpPr>
          <p:grpSpPr bwMode="auto">
            <a:xfrm>
              <a:off x="1112" y="1339"/>
              <a:ext cx="2920" cy="2219"/>
              <a:chOff x="1112" y="1339"/>
              <a:chExt cx="2920" cy="2219"/>
            </a:xfrm>
          </p:grpSpPr>
          <p:sp>
            <p:nvSpPr>
              <p:cNvPr id="119829" name="Freeform 146"/>
              <p:cNvSpPr/>
              <p:nvPr/>
            </p:nvSpPr>
            <p:spPr bwMode="auto">
              <a:xfrm>
                <a:off x="1112" y="1348"/>
                <a:ext cx="2920" cy="232"/>
              </a:xfrm>
              <a:custGeom>
                <a:avLst/>
                <a:gdLst>
                  <a:gd name="T0" fmla="*/ 0 w 2920"/>
                  <a:gd name="T1" fmla="*/ 232 h 232"/>
                  <a:gd name="T2" fmla="*/ 2920 w 2920"/>
                  <a:gd name="T3" fmla="*/ 232 h 232"/>
                  <a:gd name="T4" fmla="*/ 2920 w 2920"/>
                  <a:gd name="T5" fmla="*/ 0 h 232"/>
                  <a:gd name="T6" fmla="*/ 0 60000 65536"/>
                  <a:gd name="T7" fmla="*/ 0 60000 65536"/>
                  <a:gd name="T8" fmla="*/ 0 60000 65536"/>
                  <a:gd name="T9" fmla="*/ 0 w 2920"/>
                  <a:gd name="T10" fmla="*/ 0 h 232"/>
                  <a:gd name="T11" fmla="*/ 2920 w 2920"/>
                  <a:gd name="T12" fmla="*/ 232 h 23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920" h="232">
                    <a:moveTo>
                      <a:pt x="0" y="232"/>
                    </a:moveTo>
                    <a:lnTo>
                      <a:pt x="2920" y="232"/>
                    </a:lnTo>
                    <a:lnTo>
                      <a:pt x="2920" y="0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830" name="Freeform 147"/>
              <p:cNvSpPr/>
              <p:nvPr/>
            </p:nvSpPr>
            <p:spPr bwMode="auto">
              <a:xfrm>
                <a:off x="2233" y="1339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19831" name="Group 148"/>
              <p:cNvGrpSpPr/>
              <p:nvPr/>
            </p:nvGrpSpPr>
            <p:grpSpPr bwMode="auto">
              <a:xfrm>
                <a:off x="2025" y="2943"/>
                <a:ext cx="49" cy="252"/>
                <a:chOff x="2025" y="2943"/>
                <a:chExt cx="49" cy="252"/>
              </a:xfrm>
            </p:grpSpPr>
            <p:sp>
              <p:nvSpPr>
                <p:cNvPr id="119834" name="Freeform 149"/>
                <p:cNvSpPr/>
                <p:nvPr/>
              </p:nvSpPr>
              <p:spPr bwMode="auto">
                <a:xfrm>
                  <a:off x="2025" y="2943"/>
                  <a:ext cx="1" cy="252"/>
                </a:xfrm>
                <a:custGeom>
                  <a:avLst/>
                  <a:gdLst>
                    <a:gd name="T0" fmla="*/ 0 w 1"/>
                    <a:gd name="T1" fmla="*/ 252 h 252"/>
                    <a:gd name="T2" fmla="*/ 0 w 1"/>
                    <a:gd name="T3" fmla="*/ 0 h 252"/>
                    <a:gd name="T4" fmla="*/ 0 60000 65536"/>
                    <a:gd name="T5" fmla="*/ 0 60000 65536"/>
                    <a:gd name="T6" fmla="*/ 0 w 1"/>
                    <a:gd name="T7" fmla="*/ 0 h 252"/>
                    <a:gd name="T8" fmla="*/ 1 w 1"/>
                    <a:gd name="T9" fmla="*/ 252 h 25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52">
                      <a:moveTo>
                        <a:pt x="0" y="252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5715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19835" name="Freeform 150"/>
                <p:cNvSpPr/>
                <p:nvPr/>
              </p:nvSpPr>
              <p:spPr bwMode="auto">
                <a:xfrm>
                  <a:off x="2073" y="2985"/>
                  <a:ext cx="1" cy="162"/>
                </a:xfrm>
                <a:custGeom>
                  <a:avLst/>
                  <a:gdLst>
                    <a:gd name="T0" fmla="*/ 0 w 1"/>
                    <a:gd name="T1" fmla="*/ 162 h 162"/>
                    <a:gd name="T2" fmla="*/ 0 w 1"/>
                    <a:gd name="T3" fmla="*/ 0 h 162"/>
                    <a:gd name="T4" fmla="*/ 0 60000 65536"/>
                    <a:gd name="T5" fmla="*/ 0 60000 65536"/>
                    <a:gd name="T6" fmla="*/ 0 w 1"/>
                    <a:gd name="T7" fmla="*/ 0 h 162"/>
                    <a:gd name="T8" fmla="*/ 1 w 1"/>
                    <a:gd name="T9" fmla="*/ 162 h 16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2">
                      <a:moveTo>
                        <a:pt x="0" y="162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5715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19832" name="Freeform 151"/>
              <p:cNvSpPr/>
              <p:nvPr/>
            </p:nvSpPr>
            <p:spPr bwMode="auto">
              <a:xfrm>
                <a:off x="2066" y="3068"/>
                <a:ext cx="329" cy="1"/>
              </a:xfrm>
              <a:custGeom>
                <a:avLst/>
                <a:gdLst>
                  <a:gd name="T0" fmla="*/ 0 w 329"/>
                  <a:gd name="T1" fmla="*/ 0 h 1"/>
                  <a:gd name="T2" fmla="*/ 329 w 329"/>
                  <a:gd name="T3" fmla="*/ 1 h 1"/>
                  <a:gd name="T4" fmla="*/ 0 60000 65536"/>
                  <a:gd name="T5" fmla="*/ 0 60000 65536"/>
                  <a:gd name="T6" fmla="*/ 0 w 329"/>
                  <a:gd name="T7" fmla="*/ 0 h 1"/>
                  <a:gd name="T8" fmla="*/ 329 w 32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29" h="1">
                    <a:moveTo>
                      <a:pt x="0" y="0"/>
                    </a:moveTo>
                    <a:lnTo>
                      <a:pt x="329" y="1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833" name="Freeform 152"/>
              <p:cNvSpPr/>
              <p:nvPr/>
            </p:nvSpPr>
            <p:spPr bwMode="auto">
              <a:xfrm>
                <a:off x="2255" y="3063"/>
                <a:ext cx="1" cy="495"/>
              </a:xfrm>
              <a:custGeom>
                <a:avLst/>
                <a:gdLst>
                  <a:gd name="T0" fmla="*/ 0 w 1"/>
                  <a:gd name="T1" fmla="*/ 0 h 495"/>
                  <a:gd name="T2" fmla="*/ 0 w 1"/>
                  <a:gd name="T3" fmla="*/ 495 h 495"/>
                  <a:gd name="T4" fmla="*/ 0 60000 65536"/>
                  <a:gd name="T5" fmla="*/ 0 60000 65536"/>
                  <a:gd name="T6" fmla="*/ 0 w 1"/>
                  <a:gd name="T7" fmla="*/ 0 h 495"/>
                  <a:gd name="T8" fmla="*/ 1 w 1"/>
                  <a:gd name="T9" fmla="*/ 495 h 49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95">
                    <a:moveTo>
                      <a:pt x="0" y="0"/>
                    </a:moveTo>
                    <a:lnTo>
                      <a:pt x="0" y="495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19826" name="Group 153"/>
            <p:cNvGrpSpPr/>
            <p:nvPr/>
          </p:nvGrpSpPr>
          <p:grpSpPr bwMode="auto">
            <a:xfrm>
              <a:off x="2412" y="2946"/>
              <a:ext cx="49" cy="246"/>
              <a:chOff x="2412" y="2946"/>
              <a:chExt cx="49" cy="246"/>
            </a:xfrm>
          </p:grpSpPr>
          <p:sp>
            <p:nvSpPr>
              <p:cNvPr id="119827" name="Freeform 154"/>
              <p:cNvSpPr/>
              <p:nvPr/>
            </p:nvSpPr>
            <p:spPr bwMode="auto">
              <a:xfrm>
                <a:off x="2460" y="2946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19828" name="Freeform 155"/>
              <p:cNvSpPr/>
              <p:nvPr/>
            </p:nvSpPr>
            <p:spPr bwMode="auto">
              <a:xfrm>
                <a:off x="2412" y="2988"/>
                <a:ext cx="1" cy="156"/>
              </a:xfrm>
              <a:custGeom>
                <a:avLst/>
                <a:gdLst>
                  <a:gd name="T0" fmla="*/ 0 w 1"/>
                  <a:gd name="T1" fmla="*/ 0 h 156"/>
                  <a:gd name="T2" fmla="*/ 0 w 1"/>
                  <a:gd name="T3" fmla="*/ 156 h 156"/>
                  <a:gd name="T4" fmla="*/ 0 60000 65536"/>
                  <a:gd name="T5" fmla="*/ 0 60000 65536"/>
                  <a:gd name="T6" fmla="*/ 0 w 1"/>
                  <a:gd name="T7" fmla="*/ 0 h 156"/>
                  <a:gd name="T8" fmla="*/ 1 w 1"/>
                  <a:gd name="T9" fmla="*/ 156 h 15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6">
                    <a:moveTo>
                      <a:pt x="0" y="0"/>
                    </a:moveTo>
                    <a:lnTo>
                      <a:pt x="0" y="156"/>
                    </a:lnTo>
                  </a:path>
                </a:pathLst>
              </a:custGeom>
              <a:noFill/>
              <a:ln w="5715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sp>
        <p:nvSpPr>
          <p:cNvPr id="208028" name="Freeform 156"/>
          <p:cNvSpPr/>
          <p:nvPr/>
        </p:nvSpPr>
        <p:spPr bwMode="auto">
          <a:xfrm>
            <a:off x="4030663" y="1860550"/>
            <a:ext cx="593725" cy="1588"/>
          </a:xfrm>
          <a:custGeom>
            <a:avLst/>
            <a:gdLst>
              <a:gd name="T0" fmla="*/ 0 w 367"/>
              <a:gd name="T1" fmla="*/ 0 h 1"/>
              <a:gd name="T2" fmla="*/ 2147483647 w 367"/>
              <a:gd name="T3" fmla="*/ 0 h 1"/>
              <a:gd name="T4" fmla="*/ 0 60000 65536"/>
              <a:gd name="T5" fmla="*/ 0 60000 65536"/>
              <a:gd name="T6" fmla="*/ 0 w 367"/>
              <a:gd name="T7" fmla="*/ 0 h 1"/>
              <a:gd name="T8" fmla="*/ 367 w 367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7" h="1">
                <a:moveTo>
                  <a:pt x="0" y="0"/>
                </a:moveTo>
                <a:lnTo>
                  <a:pt x="367" y="0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08029" name="Rectangle 157"/>
          <p:cNvSpPr>
            <a:spLocks noChangeArrowheads="1"/>
          </p:cNvSpPr>
          <p:nvPr/>
        </p:nvSpPr>
        <p:spPr bwMode="auto">
          <a:xfrm>
            <a:off x="3086100" y="1600200"/>
            <a:ext cx="931863" cy="527050"/>
          </a:xfrm>
          <a:prstGeom prst="rect">
            <a:avLst/>
          </a:prstGeom>
          <a:solidFill>
            <a:srgbClr val="AA7D00"/>
          </a:solidFill>
          <a:ln w="38100">
            <a:solidFill>
              <a:srgbClr val="AA7D00"/>
            </a:solidFill>
            <a:miter lim="800000"/>
          </a:ln>
        </p:spPr>
        <p:txBody>
          <a:bodyPr wrap="none" anchor="ctr"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zh-CN" altLang="en-US" sz="2400">
                <a:solidFill>
                  <a:schemeClr val="bg2"/>
                </a:solidFill>
                <a:latin typeface="Times New Roman" panose="02020603050405020304" pitchFamily="18" charset="0"/>
              </a:rPr>
              <a:t>0,0</a:t>
            </a:r>
          </a:p>
        </p:txBody>
      </p:sp>
      <p:grpSp>
        <p:nvGrpSpPr>
          <p:cNvPr id="119863" name="Group 158"/>
          <p:cNvGrpSpPr/>
          <p:nvPr/>
        </p:nvGrpSpPr>
        <p:grpSpPr bwMode="auto">
          <a:xfrm>
            <a:off x="7653338" y="5467350"/>
            <a:ext cx="1185862" cy="952500"/>
            <a:chOff x="4821" y="3444"/>
            <a:chExt cx="747" cy="600"/>
          </a:xfrm>
        </p:grpSpPr>
        <p:sp>
          <p:nvSpPr>
            <p:cNvPr id="119823" name="Text Box 159"/>
            <p:cNvSpPr txBox="1">
              <a:spLocks noChangeArrowheads="1"/>
            </p:cNvSpPr>
            <p:nvPr/>
          </p:nvSpPr>
          <p:spPr bwMode="auto">
            <a:xfrm>
              <a:off x="4821" y="3756"/>
              <a:ext cx="74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读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19824" name="Line 160"/>
            <p:cNvSpPr>
              <a:spLocks noChangeShapeType="1"/>
            </p:cNvSpPr>
            <p:nvPr/>
          </p:nvSpPr>
          <p:spPr bwMode="auto">
            <a:xfrm flipV="1">
              <a:off x="5109" y="3444"/>
              <a:ext cx="0" cy="331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19822" name="AutoShape 161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7" dur="500"/>
                                        <p:tgtEl>
                                          <p:spTgt spid="1198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08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2" dur="500"/>
                                        <p:tgtEl>
                                          <p:spTgt spid="119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7" dur="500"/>
                                        <p:tgtEl>
                                          <p:spTgt spid="2080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18" presetClass="entr" presetSubtype="1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41" dur="500"/>
                                        <p:tgtEl>
                                          <p:spTgt spid="2080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0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6" dur="500"/>
                                        <p:tgtEl>
                                          <p:spTgt spid="2080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1" dur="500"/>
                                        <p:tgtEl>
                                          <p:spTgt spid="1198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8001" grpId="0" animBg="1"/>
      <p:bldP spid="208015" grpId="0" animBg="1"/>
      <p:bldP spid="208028" grpId="0" animBg="1"/>
      <p:bldP spid="208029" grpId="0" animBg="1" autoUpdateAnimBg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907" name="Text Box 59"/>
          <p:cNvSpPr txBox="1">
            <a:spLocks noChangeArrowheads="1"/>
          </p:cNvSpPr>
          <p:nvPr/>
        </p:nvSpPr>
        <p:spPr bwMode="auto">
          <a:xfrm>
            <a:off x="328735" y="1063624"/>
            <a:ext cx="8536309" cy="3046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50000"/>
              </a:lnSpc>
              <a:spcBef>
                <a:spcPct val="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采用字选法：</a:t>
            </a:r>
            <a:r>
              <a:rPr lang="en-US" altLang="zh-CN" sz="3200" dirty="0">
                <a:latin typeface="Times New Roman" panose="02020603050405020304" pitchFamily="18" charset="0"/>
              </a:rPr>
              <a:t>2</a:t>
            </a:r>
            <a:r>
              <a:rPr lang="en-US" altLang="zh-CN" sz="3200" baseline="30000" dirty="0">
                <a:latin typeface="Times New Roman" panose="02020603050405020304" pitchFamily="18" charset="0"/>
              </a:rPr>
              <a:t>10</a:t>
            </a:r>
            <a:r>
              <a:rPr lang="en-US" altLang="zh-CN" sz="3200" dirty="0">
                <a:latin typeface="Times New Roman" panose="02020603050405020304" pitchFamily="18" charset="0"/>
              </a:rPr>
              <a:t> </a:t>
            </a:r>
            <a:r>
              <a:rPr lang="zh-CN" altLang="en-US" sz="3200" dirty="0">
                <a:latin typeface="Times New Roman" panose="02020603050405020304" pitchFamily="18" charset="0"/>
              </a:rPr>
              <a:t>根字选择线</a:t>
            </a:r>
            <a:endParaRPr lang="en-US" altLang="zh-CN" sz="3200" dirty="0">
              <a:latin typeface="Times New Roman" panose="02020603050405020304" pitchFamily="18" charset="0"/>
            </a:endParaRPr>
          </a:p>
          <a:p>
            <a:pPr eaLnBrk="1" hangingPunct="1">
              <a:lnSpc>
                <a:spcPct val="150000"/>
              </a:lnSpc>
              <a:spcBef>
                <a:spcPct val="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采用重合法：</a:t>
            </a:r>
            <a:r>
              <a:rPr lang="en-US" altLang="zh-CN" sz="3200" dirty="0">
                <a:latin typeface="Times New Roman" panose="02020603050405020304" pitchFamily="18" charset="0"/>
              </a:rPr>
              <a:t> 2</a:t>
            </a:r>
            <a:r>
              <a:rPr lang="en-US" altLang="zh-CN" sz="3200" baseline="30000" dirty="0">
                <a:latin typeface="Times New Roman" panose="02020603050405020304" pitchFamily="18" charset="0"/>
              </a:rPr>
              <a:t>5</a:t>
            </a:r>
            <a:r>
              <a:rPr lang="en-US" altLang="zh-CN" sz="3200" dirty="0">
                <a:latin typeface="Times New Roman" panose="02020603050405020304" pitchFamily="18" charset="0"/>
              </a:rPr>
              <a:t> +  2</a:t>
            </a:r>
            <a:r>
              <a:rPr lang="en-US" altLang="zh-CN" sz="3200" baseline="30000" dirty="0">
                <a:latin typeface="Times New Roman" panose="02020603050405020304" pitchFamily="18" charset="0"/>
              </a:rPr>
              <a:t>5</a:t>
            </a:r>
            <a:r>
              <a:rPr lang="en-US" altLang="zh-CN" sz="3200" dirty="0">
                <a:latin typeface="Times New Roman" panose="02020603050405020304" pitchFamily="18" charset="0"/>
              </a:rPr>
              <a:t> =64</a:t>
            </a:r>
            <a:r>
              <a:rPr lang="zh-CN" altLang="en-US" sz="3200" dirty="0">
                <a:latin typeface="Times New Roman" panose="02020603050405020304" pitchFamily="18" charset="0"/>
              </a:rPr>
              <a:t>根选择线</a:t>
            </a:r>
            <a:endParaRPr lang="en-US" altLang="zh-CN" sz="3200" dirty="0">
              <a:latin typeface="Times New Roman" panose="02020603050405020304" pitchFamily="18" charset="0"/>
            </a:endParaRPr>
          </a:p>
          <a:p>
            <a:pPr eaLnBrk="1" hangingPunct="1">
              <a:lnSpc>
                <a:spcPct val="150000"/>
              </a:lnSpc>
              <a:spcBef>
                <a:spcPct val="0"/>
              </a:spcBef>
            </a:pPr>
            <a:r>
              <a:rPr lang="zh-CN" altLang="en-US" sz="3200" dirty="0">
                <a:latin typeface="Times New Roman" panose="02020603050405020304" pitchFamily="18" charset="0"/>
              </a:rPr>
              <a:t>重合法节省器材，结构较线选法复杂，大容量芯片普遍采用</a:t>
            </a:r>
            <a:endParaRPr lang="en-US" altLang="zh-CN" sz="3200" dirty="0">
              <a:latin typeface="Times New Roman" panose="02020603050405020304" pitchFamily="18" charset="0"/>
            </a:endParaRPr>
          </a:p>
        </p:txBody>
      </p:sp>
      <p:sp>
        <p:nvSpPr>
          <p:cNvPr id="206908" name="Rectangle 60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18797" name="AutoShape 96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069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6907" grpId="0" autoUpdateAnimBg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Text Box 2"/>
          <p:cNvSpPr txBox="1">
            <a:spLocks noChangeArrowheads="1"/>
          </p:cNvSpPr>
          <p:nvPr/>
        </p:nvSpPr>
        <p:spPr bwMode="auto">
          <a:xfrm>
            <a:off x="457200" y="304800"/>
            <a:ext cx="6224588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 三、随机存取存储器 ( </a:t>
            </a:r>
            <a:r>
              <a:rPr lang="en-US" altLang="zh-CN" sz="3600">
                <a:latin typeface="Times New Roman" panose="02020603050405020304" pitchFamily="18" charset="0"/>
              </a:rPr>
              <a:t>RAM ) </a:t>
            </a:r>
          </a:p>
        </p:txBody>
      </p:sp>
      <p:sp>
        <p:nvSpPr>
          <p:cNvPr id="208899" name="Text Box 3"/>
          <p:cNvSpPr txBox="1">
            <a:spLocks noChangeArrowheads="1"/>
          </p:cNvSpPr>
          <p:nvPr/>
        </p:nvSpPr>
        <p:spPr bwMode="auto">
          <a:xfrm>
            <a:off x="755650" y="1066800"/>
            <a:ext cx="4578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1. 静态 </a:t>
            </a:r>
            <a:r>
              <a:rPr lang="en-US" altLang="zh-CN" sz="3200">
                <a:latin typeface="Times New Roman" panose="02020603050405020304" pitchFamily="18" charset="0"/>
              </a:rPr>
              <a:t>RAM (SRAM) </a:t>
            </a:r>
          </a:p>
        </p:txBody>
      </p:sp>
      <p:sp>
        <p:nvSpPr>
          <p:cNvPr id="208900" name="Text Box 4"/>
          <p:cNvSpPr txBox="1">
            <a:spLocks noChangeArrowheads="1"/>
          </p:cNvSpPr>
          <p:nvPr/>
        </p:nvSpPr>
        <p:spPr bwMode="auto">
          <a:xfrm>
            <a:off x="1219200" y="1752600"/>
            <a:ext cx="5105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 (1) 静态 </a:t>
            </a:r>
            <a:r>
              <a:rPr lang="en-US" altLang="zh-CN" sz="2800">
                <a:latin typeface="Times New Roman" panose="02020603050405020304" pitchFamily="18" charset="0"/>
              </a:rPr>
              <a:t>RAM </a:t>
            </a:r>
            <a:r>
              <a:rPr lang="zh-CN" altLang="en-US" sz="2800">
                <a:latin typeface="Times New Roman" panose="02020603050405020304" pitchFamily="18" charset="0"/>
              </a:rPr>
              <a:t>基本电路</a:t>
            </a:r>
          </a:p>
        </p:txBody>
      </p:sp>
      <p:sp>
        <p:nvSpPr>
          <p:cNvPr id="208901" name="Text Box 5"/>
          <p:cNvSpPr txBox="1">
            <a:spLocks noChangeArrowheads="1"/>
          </p:cNvSpPr>
          <p:nvPr/>
        </p:nvSpPr>
        <p:spPr bwMode="auto">
          <a:xfrm>
            <a:off x="6461125" y="6208713"/>
            <a:ext cx="21669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zh-CN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´ </a:t>
            </a:r>
            <a:r>
              <a:rPr lang="zh-CN" altLang="en-US" sz="2400">
                <a:latin typeface="Times New Roman" panose="02020603050405020304" pitchFamily="18" charset="0"/>
              </a:rPr>
              <a:t>触发器非端</a:t>
            </a:r>
          </a:p>
        </p:txBody>
      </p:sp>
      <p:grpSp>
        <p:nvGrpSpPr>
          <p:cNvPr id="2" name="Group 6"/>
          <p:cNvGrpSpPr/>
          <p:nvPr/>
        </p:nvGrpSpPr>
        <p:grpSpPr bwMode="auto">
          <a:xfrm>
            <a:off x="6324600" y="2332038"/>
            <a:ext cx="2301875" cy="481012"/>
            <a:chOff x="4070" y="1034"/>
            <a:chExt cx="1450" cy="303"/>
          </a:xfrm>
        </p:grpSpPr>
        <p:grpSp>
          <p:nvGrpSpPr>
            <p:cNvPr id="120930" name="Group 7"/>
            <p:cNvGrpSpPr/>
            <p:nvPr/>
          </p:nvGrpSpPr>
          <p:grpSpPr bwMode="auto">
            <a:xfrm>
              <a:off x="4070" y="1034"/>
              <a:ext cx="338" cy="297"/>
              <a:chOff x="4070" y="1034"/>
              <a:chExt cx="338" cy="297"/>
            </a:xfrm>
          </p:grpSpPr>
          <p:sp>
            <p:nvSpPr>
              <p:cNvPr id="120936" name="Rectangle 8"/>
              <p:cNvSpPr>
                <a:spLocks noChangeArrowheads="1"/>
              </p:cNvSpPr>
              <p:nvPr/>
            </p:nvSpPr>
            <p:spPr bwMode="auto">
              <a:xfrm>
                <a:off x="4228" y="1119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16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20937" name="Text Box 9"/>
              <p:cNvSpPr txBox="1">
                <a:spLocks noChangeArrowheads="1"/>
              </p:cNvSpPr>
              <p:nvPr/>
            </p:nvSpPr>
            <p:spPr bwMode="auto">
              <a:xfrm>
                <a:off x="4070" y="1034"/>
                <a:ext cx="24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T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120931" name="Group 10"/>
            <p:cNvGrpSpPr/>
            <p:nvPr/>
          </p:nvGrpSpPr>
          <p:grpSpPr bwMode="auto">
            <a:xfrm>
              <a:off x="4502" y="1040"/>
              <a:ext cx="338" cy="297"/>
              <a:chOff x="4070" y="1034"/>
              <a:chExt cx="338" cy="297"/>
            </a:xfrm>
          </p:grpSpPr>
          <p:sp>
            <p:nvSpPr>
              <p:cNvPr id="120934" name="Rectangle 11"/>
              <p:cNvSpPr>
                <a:spLocks noChangeArrowheads="1"/>
              </p:cNvSpPr>
              <p:nvPr/>
            </p:nvSpPr>
            <p:spPr bwMode="auto">
              <a:xfrm>
                <a:off x="4228" y="1119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1600">
                    <a:latin typeface="Times New Roman" panose="02020603050405020304" pitchFamily="18" charset="0"/>
                  </a:rPr>
                  <a:t>4</a:t>
                </a:r>
              </a:p>
            </p:txBody>
          </p:sp>
          <p:sp>
            <p:nvSpPr>
              <p:cNvPr id="120935" name="Text Box 12"/>
              <p:cNvSpPr txBox="1">
                <a:spLocks noChangeArrowheads="1"/>
              </p:cNvSpPr>
              <p:nvPr/>
            </p:nvSpPr>
            <p:spPr bwMode="auto">
              <a:xfrm>
                <a:off x="4070" y="1034"/>
                <a:ext cx="24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T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120932" name="Text Box 13"/>
            <p:cNvSpPr txBox="1">
              <a:spLocks noChangeArrowheads="1"/>
            </p:cNvSpPr>
            <p:nvPr/>
          </p:nvSpPr>
          <p:spPr bwMode="auto">
            <a:xfrm>
              <a:off x="4358" y="1034"/>
              <a:ext cx="22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 b="0">
                  <a:latin typeface="Times New Roman" panose="02020603050405020304" pitchFamily="18" charset="0"/>
                </a:rPr>
                <a:t>~</a:t>
              </a:r>
              <a:endParaRPr lang="zh-CN" altLang="en-US" sz="2400" b="0">
                <a:latin typeface="Times New Roman" panose="02020603050405020304" pitchFamily="18" charset="0"/>
              </a:endParaRPr>
            </a:p>
          </p:txBody>
        </p:sp>
        <p:sp>
          <p:nvSpPr>
            <p:cNvPr id="120933" name="Text Box 14"/>
            <p:cNvSpPr txBox="1">
              <a:spLocks noChangeArrowheads="1"/>
            </p:cNvSpPr>
            <p:nvPr/>
          </p:nvSpPr>
          <p:spPr bwMode="auto">
            <a:xfrm>
              <a:off x="4825" y="1041"/>
              <a:ext cx="69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触发器</a:t>
              </a:r>
            </a:p>
          </p:txBody>
        </p:sp>
      </p:grpSp>
      <p:grpSp>
        <p:nvGrpSpPr>
          <p:cNvPr id="5" name="Group 15"/>
          <p:cNvGrpSpPr/>
          <p:nvPr/>
        </p:nvGrpSpPr>
        <p:grpSpPr bwMode="auto">
          <a:xfrm>
            <a:off x="6324600" y="3076575"/>
            <a:ext cx="2322513" cy="474663"/>
            <a:chOff x="5881" y="1761"/>
            <a:chExt cx="1463" cy="299"/>
          </a:xfrm>
        </p:grpSpPr>
        <p:grpSp>
          <p:nvGrpSpPr>
            <p:cNvPr id="120922" name="Group 16"/>
            <p:cNvGrpSpPr/>
            <p:nvPr/>
          </p:nvGrpSpPr>
          <p:grpSpPr bwMode="auto">
            <a:xfrm>
              <a:off x="5881" y="1769"/>
              <a:ext cx="338" cy="288"/>
              <a:chOff x="4032" y="1337"/>
              <a:chExt cx="338" cy="288"/>
            </a:xfrm>
          </p:grpSpPr>
          <p:sp>
            <p:nvSpPr>
              <p:cNvPr id="120928" name="Rectangle 17"/>
              <p:cNvSpPr>
                <a:spLocks noChangeArrowheads="1"/>
              </p:cNvSpPr>
              <p:nvPr/>
            </p:nvSpPr>
            <p:spPr bwMode="auto">
              <a:xfrm>
                <a:off x="4190" y="1413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1600">
                    <a:latin typeface="Times New Roman" panose="02020603050405020304" pitchFamily="18" charset="0"/>
                  </a:rPr>
                  <a:t>5</a:t>
                </a:r>
              </a:p>
            </p:txBody>
          </p:sp>
          <p:sp>
            <p:nvSpPr>
              <p:cNvPr id="120929" name="Text Box 18"/>
              <p:cNvSpPr txBox="1">
                <a:spLocks noChangeArrowheads="1"/>
              </p:cNvSpPr>
              <p:nvPr/>
            </p:nvSpPr>
            <p:spPr bwMode="auto">
              <a:xfrm>
                <a:off x="4032" y="1337"/>
                <a:ext cx="24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T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120923" name="Group 19"/>
            <p:cNvGrpSpPr/>
            <p:nvPr/>
          </p:nvGrpSpPr>
          <p:grpSpPr bwMode="auto">
            <a:xfrm>
              <a:off x="6323" y="1769"/>
              <a:ext cx="338" cy="291"/>
              <a:chOff x="4464" y="1337"/>
              <a:chExt cx="338" cy="291"/>
            </a:xfrm>
          </p:grpSpPr>
          <p:sp>
            <p:nvSpPr>
              <p:cNvPr id="120926" name="Text Box 20"/>
              <p:cNvSpPr txBox="1">
                <a:spLocks noChangeArrowheads="1"/>
              </p:cNvSpPr>
              <p:nvPr/>
            </p:nvSpPr>
            <p:spPr bwMode="auto">
              <a:xfrm>
                <a:off x="4464" y="1337"/>
                <a:ext cx="24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T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927" name="Rectangle 21"/>
              <p:cNvSpPr>
                <a:spLocks noChangeArrowheads="1"/>
              </p:cNvSpPr>
              <p:nvPr/>
            </p:nvSpPr>
            <p:spPr bwMode="auto">
              <a:xfrm>
                <a:off x="4622" y="1416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16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sp>
          <p:nvSpPr>
            <p:cNvPr id="120924" name="Text Box 22"/>
            <p:cNvSpPr txBox="1">
              <a:spLocks noChangeArrowheads="1"/>
            </p:cNvSpPr>
            <p:nvPr/>
          </p:nvSpPr>
          <p:spPr bwMode="auto">
            <a:xfrm>
              <a:off x="6169" y="1770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 b="0">
                  <a:latin typeface="Times New Roman" panose="02020603050405020304" pitchFamily="18" charset="0"/>
                </a:rPr>
                <a:t>、</a:t>
              </a:r>
              <a:endParaRPr lang="zh-CN" altLang="en-US" sz="2400" b="0">
                <a:latin typeface="Times New Roman" panose="02020603050405020304" pitchFamily="18" charset="0"/>
              </a:endParaRPr>
            </a:p>
          </p:txBody>
        </p:sp>
        <p:sp>
          <p:nvSpPr>
            <p:cNvPr id="120925" name="Text Box 23"/>
            <p:cNvSpPr txBox="1">
              <a:spLocks noChangeArrowheads="1"/>
            </p:cNvSpPr>
            <p:nvPr/>
          </p:nvSpPr>
          <p:spPr bwMode="auto">
            <a:xfrm>
              <a:off x="6649" y="1761"/>
              <a:ext cx="69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行开关</a:t>
              </a:r>
            </a:p>
          </p:txBody>
        </p:sp>
      </p:grpSp>
      <p:grpSp>
        <p:nvGrpSpPr>
          <p:cNvPr id="8" name="Group 24"/>
          <p:cNvGrpSpPr/>
          <p:nvPr/>
        </p:nvGrpSpPr>
        <p:grpSpPr bwMode="auto">
          <a:xfrm>
            <a:off x="6324600" y="3790950"/>
            <a:ext cx="2322513" cy="474663"/>
            <a:chOff x="4201" y="1857"/>
            <a:chExt cx="1463" cy="299"/>
          </a:xfrm>
        </p:grpSpPr>
        <p:grpSp>
          <p:nvGrpSpPr>
            <p:cNvPr id="120914" name="Group 25"/>
            <p:cNvGrpSpPr/>
            <p:nvPr/>
          </p:nvGrpSpPr>
          <p:grpSpPr bwMode="auto">
            <a:xfrm>
              <a:off x="4201" y="1865"/>
              <a:ext cx="338" cy="288"/>
              <a:chOff x="4032" y="1337"/>
              <a:chExt cx="338" cy="288"/>
            </a:xfrm>
          </p:grpSpPr>
          <p:sp>
            <p:nvSpPr>
              <p:cNvPr id="120920" name="Rectangle 26"/>
              <p:cNvSpPr>
                <a:spLocks noChangeArrowheads="1"/>
              </p:cNvSpPr>
              <p:nvPr/>
            </p:nvSpPr>
            <p:spPr bwMode="auto">
              <a:xfrm>
                <a:off x="4190" y="1413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1600">
                    <a:latin typeface="Times New Roman" panose="02020603050405020304" pitchFamily="18" charset="0"/>
                  </a:rPr>
                  <a:t>7</a:t>
                </a:r>
              </a:p>
            </p:txBody>
          </p:sp>
          <p:sp>
            <p:nvSpPr>
              <p:cNvPr id="120921" name="Text Box 27"/>
              <p:cNvSpPr txBox="1">
                <a:spLocks noChangeArrowheads="1"/>
              </p:cNvSpPr>
              <p:nvPr/>
            </p:nvSpPr>
            <p:spPr bwMode="auto">
              <a:xfrm>
                <a:off x="4032" y="1337"/>
                <a:ext cx="24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T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120915" name="Group 28"/>
            <p:cNvGrpSpPr/>
            <p:nvPr/>
          </p:nvGrpSpPr>
          <p:grpSpPr bwMode="auto">
            <a:xfrm>
              <a:off x="4643" y="1865"/>
              <a:ext cx="338" cy="291"/>
              <a:chOff x="4464" y="1337"/>
              <a:chExt cx="338" cy="291"/>
            </a:xfrm>
          </p:grpSpPr>
          <p:sp>
            <p:nvSpPr>
              <p:cNvPr id="120918" name="Text Box 29"/>
              <p:cNvSpPr txBox="1">
                <a:spLocks noChangeArrowheads="1"/>
              </p:cNvSpPr>
              <p:nvPr/>
            </p:nvSpPr>
            <p:spPr bwMode="auto">
              <a:xfrm>
                <a:off x="4464" y="1337"/>
                <a:ext cx="24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T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919" name="Rectangle 30"/>
              <p:cNvSpPr>
                <a:spLocks noChangeArrowheads="1"/>
              </p:cNvSpPr>
              <p:nvPr/>
            </p:nvSpPr>
            <p:spPr bwMode="auto">
              <a:xfrm>
                <a:off x="4622" y="1416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16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sp>
          <p:nvSpPr>
            <p:cNvPr id="120916" name="Text Box 31"/>
            <p:cNvSpPr txBox="1">
              <a:spLocks noChangeArrowheads="1"/>
            </p:cNvSpPr>
            <p:nvPr/>
          </p:nvSpPr>
          <p:spPr bwMode="auto">
            <a:xfrm>
              <a:off x="4489" y="1866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 b="0">
                  <a:latin typeface="Times New Roman" panose="02020603050405020304" pitchFamily="18" charset="0"/>
                </a:rPr>
                <a:t>、</a:t>
              </a:r>
              <a:endParaRPr lang="zh-CN" altLang="en-US" sz="2400" b="0">
                <a:latin typeface="Times New Roman" panose="02020603050405020304" pitchFamily="18" charset="0"/>
              </a:endParaRPr>
            </a:p>
          </p:txBody>
        </p:sp>
        <p:sp>
          <p:nvSpPr>
            <p:cNvPr id="120917" name="Text Box 32"/>
            <p:cNvSpPr txBox="1">
              <a:spLocks noChangeArrowheads="1"/>
            </p:cNvSpPr>
            <p:nvPr/>
          </p:nvSpPr>
          <p:spPr bwMode="auto">
            <a:xfrm>
              <a:off x="4969" y="1857"/>
              <a:ext cx="69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列开关</a:t>
              </a:r>
            </a:p>
          </p:txBody>
        </p:sp>
      </p:grpSp>
      <p:grpSp>
        <p:nvGrpSpPr>
          <p:cNvPr id="11" name="Group 33"/>
          <p:cNvGrpSpPr/>
          <p:nvPr/>
        </p:nvGrpSpPr>
        <p:grpSpPr bwMode="auto">
          <a:xfrm>
            <a:off x="6324600" y="4505325"/>
            <a:ext cx="2628900" cy="474663"/>
            <a:chOff x="4176" y="2193"/>
            <a:chExt cx="1656" cy="299"/>
          </a:xfrm>
        </p:grpSpPr>
        <p:grpSp>
          <p:nvGrpSpPr>
            <p:cNvPr id="120906" name="Group 34"/>
            <p:cNvGrpSpPr/>
            <p:nvPr/>
          </p:nvGrpSpPr>
          <p:grpSpPr bwMode="auto">
            <a:xfrm>
              <a:off x="4176" y="2201"/>
              <a:ext cx="338" cy="288"/>
              <a:chOff x="4032" y="1337"/>
              <a:chExt cx="338" cy="288"/>
            </a:xfrm>
          </p:grpSpPr>
          <p:sp>
            <p:nvSpPr>
              <p:cNvPr id="120912" name="Rectangle 35"/>
              <p:cNvSpPr>
                <a:spLocks noChangeArrowheads="1"/>
              </p:cNvSpPr>
              <p:nvPr/>
            </p:nvSpPr>
            <p:spPr bwMode="auto">
              <a:xfrm>
                <a:off x="4190" y="1413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1600">
                    <a:latin typeface="Times New Roman" panose="02020603050405020304" pitchFamily="18" charset="0"/>
                  </a:rPr>
                  <a:t>7</a:t>
                </a:r>
              </a:p>
            </p:txBody>
          </p:sp>
          <p:sp>
            <p:nvSpPr>
              <p:cNvPr id="120913" name="Text Box 36"/>
              <p:cNvSpPr txBox="1">
                <a:spLocks noChangeArrowheads="1"/>
              </p:cNvSpPr>
              <p:nvPr/>
            </p:nvSpPr>
            <p:spPr bwMode="auto">
              <a:xfrm>
                <a:off x="4032" y="1337"/>
                <a:ext cx="24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T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120907" name="Group 37"/>
            <p:cNvGrpSpPr/>
            <p:nvPr/>
          </p:nvGrpSpPr>
          <p:grpSpPr bwMode="auto">
            <a:xfrm>
              <a:off x="4618" y="2201"/>
              <a:ext cx="338" cy="291"/>
              <a:chOff x="4464" y="1337"/>
              <a:chExt cx="338" cy="291"/>
            </a:xfrm>
          </p:grpSpPr>
          <p:sp>
            <p:nvSpPr>
              <p:cNvPr id="120910" name="Text Box 38"/>
              <p:cNvSpPr txBox="1">
                <a:spLocks noChangeArrowheads="1"/>
              </p:cNvSpPr>
              <p:nvPr/>
            </p:nvSpPr>
            <p:spPr bwMode="auto">
              <a:xfrm>
                <a:off x="4464" y="1337"/>
                <a:ext cx="24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T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911" name="Rectangle 39"/>
              <p:cNvSpPr>
                <a:spLocks noChangeArrowheads="1"/>
              </p:cNvSpPr>
              <p:nvPr/>
            </p:nvSpPr>
            <p:spPr bwMode="auto">
              <a:xfrm>
                <a:off x="4622" y="1416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16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sp>
          <p:nvSpPr>
            <p:cNvPr id="120908" name="Text Box 40"/>
            <p:cNvSpPr txBox="1">
              <a:spLocks noChangeArrowheads="1"/>
            </p:cNvSpPr>
            <p:nvPr/>
          </p:nvSpPr>
          <p:spPr bwMode="auto">
            <a:xfrm>
              <a:off x="4464" y="2202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 b="0">
                  <a:latin typeface="Times New Roman" panose="02020603050405020304" pitchFamily="18" charset="0"/>
                </a:rPr>
                <a:t>、</a:t>
              </a:r>
              <a:endParaRPr lang="zh-CN" altLang="en-US" sz="2400" b="0">
                <a:latin typeface="Times New Roman" panose="02020603050405020304" pitchFamily="18" charset="0"/>
              </a:endParaRPr>
            </a:p>
          </p:txBody>
        </p:sp>
        <p:sp>
          <p:nvSpPr>
            <p:cNvPr id="120909" name="Text Box 41"/>
            <p:cNvSpPr txBox="1">
              <a:spLocks noChangeArrowheads="1"/>
            </p:cNvSpPr>
            <p:nvPr/>
          </p:nvSpPr>
          <p:spPr bwMode="auto">
            <a:xfrm>
              <a:off x="4944" y="2193"/>
              <a:ext cx="88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一列共用</a:t>
              </a:r>
            </a:p>
          </p:txBody>
        </p:sp>
      </p:grpSp>
      <p:sp>
        <p:nvSpPr>
          <p:cNvPr id="208938" name="Text Box 42"/>
          <p:cNvSpPr txBox="1">
            <a:spLocks noChangeArrowheads="1"/>
          </p:cNvSpPr>
          <p:nvPr/>
        </p:nvSpPr>
        <p:spPr bwMode="auto">
          <a:xfrm>
            <a:off x="6461125" y="5461000"/>
            <a:ext cx="2089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2400">
                <a:latin typeface="Times New Roman" panose="02020603050405020304" pitchFamily="18" charset="0"/>
              </a:rPr>
              <a:t>A </a:t>
            </a:r>
            <a:r>
              <a:rPr lang="en-US" altLang="zh-CN" sz="2400" b="0">
                <a:latin typeface="Times New Roman" panose="02020603050405020304" pitchFamily="18" charset="0"/>
              </a:rPr>
              <a:t> </a:t>
            </a:r>
            <a:r>
              <a:rPr lang="zh-CN" altLang="en-US" sz="2400">
                <a:latin typeface="Times New Roman" panose="02020603050405020304" pitchFamily="18" charset="0"/>
              </a:rPr>
              <a:t>触发器原端</a:t>
            </a:r>
            <a:endParaRPr lang="zh-CN" altLang="en-US" sz="2400" b="0">
              <a:latin typeface="Times New Roman" panose="02020603050405020304" pitchFamily="18" charset="0"/>
            </a:endParaRPr>
          </a:p>
        </p:txBody>
      </p:sp>
      <p:grpSp>
        <p:nvGrpSpPr>
          <p:cNvPr id="14" name="Group 43"/>
          <p:cNvGrpSpPr/>
          <p:nvPr/>
        </p:nvGrpSpPr>
        <p:grpSpPr bwMode="auto">
          <a:xfrm>
            <a:off x="46038" y="2457450"/>
            <a:ext cx="6592887" cy="4278313"/>
            <a:chOff x="29" y="1548"/>
            <a:chExt cx="4153" cy="2695"/>
          </a:xfrm>
        </p:grpSpPr>
        <p:sp>
          <p:nvSpPr>
            <p:cNvPr id="120847" name="Rectangle 44"/>
            <p:cNvSpPr>
              <a:spLocks noChangeArrowheads="1"/>
            </p:cNvSpPr>
            <p:nvPr/>
          </p:nvSpPr>
          <p:spPr bwMode="auto">
            <a:xfrm>
              <a:off x="1431" y="1728"/>
              <a:ext cx="960" cy="38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0848" name="Text Box 45"/>
            <p:cNvSpPr txBox="1">
              <a:spLocks noChangeArrowheads="1"/>
            </p:cNvSpPr>
            <p:nvPr/>
          </p:nvSpPr>
          <p:spPr bwMode="auto">
            <a:xfrm>
              <a:off x="1526" y="1776"/>
              <a:ext cx="77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1</a:t>
              </a:r>
              <a:r>
                <a:rPr lang="en-US" altLang="zh-CN" sz="2400" b="0">
                  <a:latin typeface="Times New Roman" panose="02020603050405020304" pitchFamily="18" charset="0"/>
                </a:rPr>
                <a:t>   ~  </a:t>
              </a:r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4</a:t>
              </a:r>
              <a:endParaRPr lang="zh-CN" altLang="en-US" sz="20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120849" name="Freeform 46"/>
            <p:cNvSpPr/>
            <p:nvPr/>
          </p:nvSpPr>
          <p:spPr bwMode="auto">
            <a:xfrm>
              <a:off x="2391" y="1920"/>
              <a:ext cx="318" cy="141"/>
            </a:xfrm>
            <a:custGeom>
              <a:avLst/>
              <a:gdLst>
                <a:gd name="T0" fmla="*/ 0 w 318"/>
                <a:gd name="T1" fmla="*/ 0 h 141"/>
                <a:gd name="T2" fmla="*/ 315 w 318"/>
                <a:gd name="T3" fmla="*/ 0 h 141"/>
                <a:gd name="T4" fmla="*/ 318 w 318"/>
                <a:gd name="T5" fmla="*/ 141 h 141"/>
                <a:gd name="T6" fmla="*/ 0 60000 65536"/>
                <a:gd name="T7" fmla="*/ 0 60000 65536"/>
                <a:gd name="T8" fmla="*/ 0 60000 65536"/>
                <a:gd name="T9" fmla="*/ 0 w 318"/>
                <a:gd name="T10" fmla="*/ 0 h 141"/>
                <a:gd name="T11" fmla="*/ 318 w 318"/>
                <a:gd name="T12" fmla="*/ 141 h 1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18" h="141">
                  <a:moveTo>
                    <a:pt x="0" y="0"/>
                  </a:moveTo>
                  <a:lnTo>
                    <a:pt x="315" y="0"/>
                  </a:lnTo>
                  <a:lnTo>
                    <a:pt x="318" y="14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0850" name="Freeform 47"/>
            <p:cNvSpPr/>
            <p:nvPr/>
          </p:nvSpPr>
          <p:spPr bwMode="auto">
            <a:xfrm>
              <a:off x="1104" y="1920"/>
              <a:ext cx="327" cy="144"/>
            </a:xfrm>
            <a:custGeom>
              <a:avLst/>
              <a:gdLst>
                <a:gd name="T0" fmla="*/ 327 w 327"/>
                <a:gd name="T1" fmla="*/ 0 h 144"/>
                <a:gd name="T2" fmla="*/ 0 w 327"/>
                <a:gd name="T3" fmla="*/ 0 h 144"/>
                <a:gd name="T4" fmla="*/ 0 w 327"/>
                <a:gd name="T5" fmla="*/ 144 h 144"/>
                <a:gd name="T6" fmla="*/ 0 60000 65536"/>
                <a:gd name="T7" fmla="*/ 0 60000 65536"/>
                <a:gd name="T8" fmla="*/ 0 60000 65536"/>
                <a:gd name="T9" fmla="*/ 0 w 327"/>
                <a:gd name="T10" fmla="*/ 0 h 144"/>
                <a:gd name="T11" fmla="*/ 327 w 327"/>
                <a:gd name="T12" fmla="*/ 144 h 14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27" h="144">
                  <a:moveTo>
                    <a:pt x="327" y="0"/>
                  </a:moveTo>
                  <a:lnTo>
                    <a:pt x="0" y="0"/>
                  </a:lnTo>
                  <a:lnTo>
                    <a:pt x="0" y="14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20851" name="Group 48"/>
            <p:cNvGrpSpPr/>
            <p:nvPr/>
          </p:nvGrpSpPr>
          <p:grpSpPr bwMode="auto">
            <a:xfrm>
              <a:off x="2634" y="2064"/>
              <a:ext cx="243" cy="48"/>
              <a:chOff x="3459" y="1296"/>
              <a:chExt cx="243" cy="48"/>
            </a:xfrm>
          </p:grpSpPr>
          <p:sp>
            <p:nvSpPr>
              <p:cNvPr id="120904" name="Line 49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0905" name="Line 50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20852" name="Group 51"/>
            <p:cNvGrpSpPr/>
            <p:nvPr/>
          </p:nvGrpSpPr>
          <p:grpSpPr bwMode="auto">
            <a:xfrm>
              <a:off x="948" y="2064"/>
              <a:ext cx="243" cy="48"/>
              <a:chOff x="3459" y="1296"/>
              <a:chExt cx="243" cy="48"/>
            </a:xfrm>
          </p:grpSpPr>
          <p:sp>
            <p:nvSpPr>
              <p:cNvPr id="120902" name="Line 52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0903" name="Line 53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20853" name="Group 54"/>
            <p:cNvGrpSpPr/>
            <p:nvPr/>
          </p:nvGrpSpPr>
          <p:grpSpPr bwMode="auto">
            <a:xfrm rot="5400000">
              <a:off x="2917" y="2772"/>
              <a:ext cx="243" cy="48"/>
              <a:chOff x="3459" y="1296"/>
              <a:chExt cx="243" cy="48"/>
            </a:xfrm>
          </p:grpSpPr>
          <p:sp>
            <p:nvSpPr>
              <p:cNvPr id="120900" name="Line 55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0901" name="Line 56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20854" name="Group 57"/>
            <p:cNvGrpSpPr/>
            <p:nvPr/>
          </p:nvGrpSpPr>
          <p:grpSpPr bwMode="auto">
            <a:xfrm rot="-5400000">
              <a:off x="709" y="2772"/>
              <a:ext cx="243" cy="48"/>
              <a:chOff x="3459" y="1296"/>
              <a:chExt cx="243" cy="48"/>
            </a:xfrm>
          </p:grpSpPr>
          <p:sp>
            <p:nvSpPr>
              <p:cNvPr id="120898" name="Line 58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0899" name="Line 59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20855" name="Line 60"/>
            <p:cNvSpPr>
              <a:spLocks noChangeShapeType="1"/>
            </p:cNvSpPr>
            <p:nvPr/>
          </p:nvSpPr>
          <p:spPr bwMode="auto">
            <a:xfrm>
              <a:off x="855" y="2784"/>
              <a:ext cx="216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0856" name="Freeform 61"/>
            <p:cNvSpPr/>
            <p:nvPr/>
          </p:nvSpPr>
          <p:spPr bwMode="auto">
            <a:xfrm>
              <a:off x="3063" y="2832"/>
              <a:ext cx="192" cy="672"/>
            </a:xfrm>
            <a:custGeom>
              <a:avLst/>
              <a:gdLst>
                <a:gd name="T0" fmla="*/ 0 w 192"/>
                <a:gd name="T1" fmla="*/ 0 h 672"/>
                <a:gd name="T2" fmla="*/ 192 w 192"/>
                <a:gd name="T3" fmla="*/ 0 h 672"/>
                <a:gd name="T4" fmla="*/ 192 w 192"/>
                <a:gd name="T5" fmla="*/ 672 h 672"/>
                <a:gd name="T6" fmla="*/ 0 60000 65536"/>
                <a:gd name="T7" fmla="*/ 0 60000 65536"/>
                <a:gd name="T8" fmla="*/ 0 60000 65536"/>
                <a:gd name="T9" fmla="*/ 0 w 192"/>
                <a:gd name="T10" fmla="*/ 0 h 672"/>
                <a:gd name="T11" fmla="*/ 192 w 192"/>
                <a:gd name="T12" fmla="*/ 672 h 67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2" h="672">
                  <a:moveTo>
                    <a:pt x="0" y="0"/>
                  </a:moveTo>
                  <a:lnTo>
                    <a:pt x="192" y="0"/>
                  </a:lnTo>
                  <a:lnTo>
                    <a:pt x="192" y="67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0857" name="AutoShape 62"/>
            <p:cNvSpPr>
              <a:spLocks noChangeArrowheads="1"/>
            </p:cNvSpPr>
            <p:nvPr/>
          </p:nvSpPr>
          <p:spPr bwMode="auto">
            <a:xfrm rot="5400000">
              <a:off x="2055" y="3360"/>
              <a:ext cx="288" cy="288"/>
            </a:xfrm>
            <a:prstGeom prst="triangle">
              <a:avLst>
                <a:gd name="adj" fmla="val 50000"/>
              </a:avLst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grpSp>
          <p:nvGrpSpPr>
            <p:cNvPr id="120858" name="Group 63"/>
            <p:cNvGrpSpPr/>
            <p:nvPr/>
          </p:nvGrpSpPr>
          <p:grpSpPr bwMode="auto">
            <a:xfrm rot="10800000">
              <a:off x="1335" y="3360"/>
              <a:ext cx="384" cy="288"/>
              <a:chOff x="1248" y="3648"/>
              <a:chExt cx="384" cy="288"/>
            </a:xfrm>
          </p:grpSpPr>
          <p:sp>
            <p:nvSpPr>
              <p:cNvPr id="120896" name="AutoShape 64"/>
              <p:cNvSpPr>
                <a:spLocks noChangeArrowheads="1"/>
              </p:cNvSpPr>
              <p:nvPr/>
            </p:nvSpPr>
            <p:spPr bwMode="auto">
              <a:xfrm rot="5400000">
                <a:off x="1248" y="3648"/>
                <a:ext cx="288" cy="288"/>
              </a:xfrm>
              <a:prstGeom prst="triangle">
                <a:avLst>
                  <a:gd name="adj" fmla="val 50000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20897" name="Oval 65"/>
              <p:cNvSpPr>
                <a:spLocks noChangeArrowheads="1"/>
              </p:cNvSpPr>
              <p:nvPr/>
            </p:nvSpPr>
            <p:spPr bwMode="auto">
              <a:xfrm>
                <a:off x="1536" y="3744"/>
                <a:ext cx="96" cy="96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</p:grpSp>
        <p:sp>
          <p:nvSpPr>
            <p:cNvPr id="120859" name="Line 66"/>
            <p:cNvSpPr>
              <a:spLocks noChangeShapeType="1"/>
            </p:cNvSpPr>
            <p:nvPr/>
          </p:nvSpPr>
          <p:spPr bwMode="auto">
            <a:xfrm>
              <a:off x="2343" y="3504"/>
              <a:ext cx="110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0860" name="AutoShape 67"/>
            <p:cNvSpPr>
              <a:spLocks noChangeArrowheads="1"/>
            </p:cNvSpPr>
            <p:nvPr/>
          </p:nvSpPr>
          <p:spPr bwMode="auto">
            <a:xfrm rot="5400000">
              <a:off x="3447" y="3360"/>
              <a:ext cx="288" cy="288"/>
            </a:xfrm>
            <a:prstGeom prst="triangle">
              <a:avLst>
                <a:gd name="adj" fmla="val 50000"/>
              </a:avLst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0861" name="Line 68"/>
            <p:cNvSpPr>
              <a:spLocks noChangeShapeType="1"/>
            </p:cNvSpPr>
            <p:nvPr/>
          </p:nvSpPr>
          <p:spPr bwMode="auto">
            <a:xfrm>
              <a:off x="3735" y="3504"/>
              <a:ext cx="3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0862" name="Line 69"/>
            <p:cNvSpPr>
              <a:spLocks noChangeShapeType="1"/>
            </p:cNvSpPr>
            <p:nvPr/>
          </p:nvSpPr>
          <p:spPr bwMode="auto">
            <a:xfrm>
              <a:off x="1719" y="3504"/>
              <a:ext cx="3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0863" name="Line 70"/>
            <p:cNvSpPr>
              <a:spLocks noChangeShapeType="1"/>
            </p:cNvSpPr>
            <p:nvPr/>
          </p:nvSpPr>
          <p:spPr bwMode="auto">
            <a:xfrm>
              <a:off x="1888" y="3504"/>
              <a:ext cx="0" cy="52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0864" name="Line 71"/>
            <p:cNvSpPr>
              <a:spLocks noChangeShapeType="1"/>
            </p:cNvSpPr>
            <p:nvPr/>
          </p:nvSpPr>
          <p:spPr bwMode="auto">
            <a:xfrm flipV="1">
              <a:off x="2199" y="3576"/>
              <a:ext cx="0" cy="48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0865" name="Freeform 72"/>
            <p:cNvSpPr/>
            <p:nvPr/>
          </p:nvSpPr>
          <p:spPr bwMode="auto">
            <a:xfrm>
              <a:off x="1575" y="3586"/>
              <a:ext cx="624" cy="314"/>
            </a:xfrm>
            <a:custGeom>
              <a:avLst/>
              <a:gdLst>
                <a:gd name="T0" fmla="*/ 2 w 576"/>
                <a:gd name="T1" fmla="*/ 0 h 314"/>
                <a:gd name="T2" fmla="*/ 0 w 576"/>
                <a:gd name="T3" fmla="*/ 314 h 314"/>
                <a:gd name="T4" fmla="*/ 1767 w 576"/>
                <a:gd name="T5" fmla="*/ 314 h 314"/>
                <a:gd name="T6" fmla="*/ 0 60000 65536"/>
                <a:gd name="T7" fmla="*/ 0 60000 65536"/>
                <a:gd name="T8" fmla="*/ 0 60000 65536"/>
                <a:gd name="T9" fmla="*/ 0 w 576"/>
                <a:gd name="T10" fmla="*/ 0 h 314"/>
                <a:gd name="T11" fmla="*/ 576 w 576"/>
                <a:gd name="T12" fmla="*/ 314 h 3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76" h="314">
                  <a:moveTo>
                    <a:pt x="2" y="0"/>
                  </a:moveTo>
                  <a:lnTo>
                    <a:pt x="0" y="314"/>
                  </a:lnTo>
                  <a:lnTo>
                    <a:pt x="576" y="31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stealth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0866" name="Freeform 73"/>
            <p:cNvSpPr/>
            <p:nvPr/>
          </p:nvSpPr>
          <p:spPr bwMode="auto">
            <a:xfrm>
              <a:off x="567" y="2832"/>
              <a:ext cx="768" cy="672"/>
            </a:xfrm>
            <a:custGeom>
              <a:avLst/>
              <a:gdLst>
                <a:gd name="T0" fmla="*/ 240 w 768"/>
                <a:gd name="T1" fmla="*/ 0 h 720"/>
                <a:gd name="T2" fmla="*/ 0 w 768"/>
                <a:gd name="T3" fmla="*/ 0 h 720"/>
                <a:gd name="T4" fmla="*/ 0 w 768"/>
                <a:gd name="T5" fmla="*/ 273 h 720"/>
                <a:gd name="T6" fmla="*/ 768 w 768"/>
                <a:gd name="T7" fmla="*/ 273 h 72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68"/>
                <a:gd name="T13" fmla="*/ 0 h 720"/>
                <a:gd name="T14" fmla="*/ 768 w 768"/>
                <a:gd name="T15" fmla="*/ 720 h 72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68" h="720">
                  <a:moveTo>
                    <a:pt x="240" y="0"/>
                  </a:moveTo>
                  <a:lnTo>
                    <a:pt x="0" y="0"/>
                  </a:lnTo>
                  <a:lnTo>
                    <a:pt x="0" y="720"/>
                  </a:lnTo>
                  <a:lnTo>
                    <a:pt x="768" y="72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0867" name="Freeform 74"/>
            <p:cNvSpPr/>
            <p:nvPr/>
          </p:nvSpPr>
          <p:spPr bwMode="auto">
            <a:xfrm>
              <a:off x="327" y="2112"/>
              <a:ext cx="2425" cy="384"/>
            </a:xfrm>
            <a:custGeom>
              <a:avLst/>
              <a:gdLst>
                <a:gd name="T0" fmla="*/ 505 w 2736"/>
                <a:gd name="T1" fmla="*/ 0 h 240"/>
                <a:gd name="T2" fmla="*/ 505 w 2736"/>
                <a:gd name="T3" fmla="*/ 172741 h 240"/>
                <a:gd name="T4" fmla="*/ 0 w 2736"/>
                <a:gd name="T5" fmla="*/ 172741 h 240"/>
                <a:gd name="T6" fmla="*/ 0 60000 65536"/>
                <a:gd name="T7" fmla="*/ 0 60000 65536"/>
                <a:gd name="T8" fmla="*/ 0 60000 65536"/>
                <a:gd name="T9" fmla="*/ 0 w 2736"/>
                <a:gd name="T10" fmla="*/ 0 h 240"/>
                <a:gd name="T11" fmla="*/ 2736 w 2736"/>
                <a:gd name="T12" fmla="*/ 240 h 2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736" h="240">
                  <a:moveTo>
                    <a:pt x="2736" y="0"/>
                  </a:moveTo>
                  <a:lnTo>
                    <a:pt x="2736" y="240"/>
                  </a:lnTo>
                  <a:lnTo>
                    <a:pt x="0" y="24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0868" name="Freeform 75"/>
            <p:cNvSpPr/>
            <p:nvPr/>
          </p:nvSpPr>
          <p:spPr bwMode="auto">
            <a:xfrm>
              <a:off x="1059" y="2112"/>
              <a:ext cx="2" cy="383"/>
            </a:xfrm>
            <a:custGeom>
              <a:avLst/>
              <a:gdLst>
                <a:gd name="T0" fmla="*/ 0 w 2"/>
                <a:gd name="T1" fmla="*/ 0 h 383"/>
                <a:gd name="T2" fmla="*/ 2 w 2"/>
                <a:gd name="T3" fmla="*/ 383 h 383"/>
                <a:gd name="T4" fmla="*/ 0 60000 65536"/>
                <a:gd name="T5" fmla="*/ 0 60000 65536"/>
                <a:gd name="T6" fmla="*/ 0 w 2"/>
                <a:gd name="T7" fmla="*/ 0 h 383"/>
                <a:gd name="T8" fmla="*/ 2 w 2"/>
                <a:gd name="T9" fmla="*/ 383 h 38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383">
                  <a:moveTo>
                    <a:pt x="0" y="0"/>
                  </a:moveTo>
                  <a:lnTo>
                    <a:pt x="2" y="38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0869" name="Freeform 76"/>
            <p:cNvSpPr/>
            <p:nvPr/>
          </p:nvSpPr>
          <p:spPr bwMode="auto">
            <a:xfrm>
              <a:off x="375" y="2784"/>
              <a:ext cx="1536" cy="384"/>
            </a:xfrm>
            <a:custGeom>
              <a:avLst/>
              <a:gdLst>
                <a:gd name="T0" fmla="*/ 118 w 1872"/>
                <a:gd name="T1" fmla="*/ 0 h 384"/>
                <a:gd name="T2" fmla="*/ 118 w 1872"/>
                <a:gd name="T3" fmla="*/ 384 h 384"/>
                <a:gd name="T4" fmla="*/ 0 w 1872"/>
                <a:gd name="T5" fmla="*/ 384 h 384"/>
                <a:gd name="T6" fmla="*/ 0 60000 65536"/>
                <a:gd name="T7" fmla="*/ 0 60000 65536"/>
                <a:gd name="T8" fmla="*/ 0 60000 65536"/>
                <a:gd name="T9" fmla="*/ 0 w 1872"/>
                <a:gd name="T10" fmla="*/ 0 h 384"/>
                <a:gd name="T11" fmla="*/ 1872 w 1872"/>
                <a:gd name="T12" fmla="*/ 384 h 3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72" h="384">
                  <a:moveTo>
                    <a:pt x="1872" y="0"/>
                  </a:moveTo>
                  <a:lnTo>
                    <a:pt x="1872" y="384"/>
                  </a:lnTo>
                  <a:lnTo>
                    <a:pt x="0" y="38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0870" name="Line 77"/>
            <p:cNvSpPr>
              <a:spLocks noChangeShapeType="1"/>
            </p:cNvSpPr>
            <p:nvPr/>
          </p:nvSpPr>
          <p:spPr bwMode="auto">
            <a:xfrm flipV="1">
              <a:off x="3591" y="3588"/>
              <a:ext cx="0" cy="48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0871" name="Freeform 78"/>
            <p:cNvSpPr/>
            <p:nvPr/>
          </p:nvSpPr>
          <p:spPr bwMode="auto">
            <a:xfrm>
              <a:off x="567" y="1920"/>
              <a:ext cx="459" cy="816"/>
            </a:xfrm>
            <a:custGeom>
              <a:avLst/>
              <a:gdLst>
                <a:gd name="T0" fmla="*/ 459 w 459"/>
                <a:gd name="T1" fmla="*/ 144 h 816"/>
                <a:gd name="T2" fmla="*/ 459 w 459"/>
                <a:gd name="T3" fmla="*/ 0 h 816"/>
                <a:gd name="T4" fmla="*/ 0 w 459"/>
                <a:gd name="T5" fmla="*/ 0 h 816"/>
                <a:gd name="T6" fmla="*/ 0 w 459"/>
                <a:gd name="T7" fmla="*/ 816 h 816"/>
                <a:gd name="T8" fmla="*/ 240 w 459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9"/>
                <a:gd name="T16" fmla="*/ 0 h 816"/>
                <a:gd name="T17" fmla="*/ 459 w 459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9" h="816">
                  <a:moveTo>
                    <a:pt x="459" y="144"/>
                  </a:moveTo>
                  <a:lnTo>
                    <a:pt x="459" y="0"/>
                  </a:lnTo>
                  <a:lnTo>
                    <a:pt x="0" y="0"/>
                  </a:lnTo>
                  <a:lnTo>
                    <a:pt x="0" y="816"/>
                  </a:lnTo>
                  <a:lnTo>
                    <a:pt x="240" y="81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0872" name="Freeform 79"/>
            <p:cNvSpPr/>
            <p:nvPr/>
          </p:nvSpPr>
          <p:spPr bwMode="auto">
            <a:xfrm>
              <a:off x="2793" y="1920"/>
              <a:ext cx="462" cy="818"/>
            </a:xfrm>
            <a:custGeom>
              <a:avLst/>
              <a:gdLst>
                <a:gd name="T0" fmla="*/ 3 w 462"/>
                <a:gd name="T1" fmla="*/ 144 h 818"/>
                <a:gd name="T2" fmla="*/ 0 w 462"/>
                <a:gd name="T3" fmla="*/ 0 h 818"/>
                <a:gd name="T4" fmla="*/ 462 w 462"/>
                <a:gd name="T5" fmla="*/ 0 h 818"/>
                <a:gd name="T6" fmla="*/ 462 w 462"/>
                <a:gd name="T7" fmla="*/ 816 h 818"/>
                <a:gd name="T8" fmla="*/ 272 w 462"/>
                <a:gd name="T9" fmla="*/ 818 h 8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62"/>
                <a:gd name="T16" fmla="*/ 0 h 818"/>
                <a:gd name="T17" fmla="*/ 462 w 462"/>
                <a:gd name="T18" fmla="*/ 818 h 8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62" h="818">
                  <a:moveTo>
                    <a:pt x="3" y="144"/>
                  </a:moveTo>
                  <a:lnTo>
                    <a:pt x="0" y="0"/>
                  </a:lnTo>
                  <a:lnTo>
                    <a:pt x="462" y="0"/>
                  </a:lnTo>
                  <a:lnTo>
                    <a:pt x="462" y="816"/>
                  </a:lnTo>
                  <a:lnTo>
                    <a:pt x="272" y="81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0873" name="Text Box 80"/>
            <p:cNvSpPr txBox="1">
              <a:spLocks noChangeArrowheads="1"/>
            </p:cNvSpPr>
            <p:nvPr/>
          </p:nvSpPr>
          <p:spPr bwMode="auto">
            <a:xfrm>
              <a:off x="733" y="1910"/>
              <a:ext cx="27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15000">
                  <a:latin typeface="Times New Roman" panose="02020603050405020304" pitchFamily="18" charset="0"/>
                </a:rPr>
                <a:t>5</a:t>
              </a:r>
              <a:endParaRPr lang="zh-CN" altLang="en-US" sz="2000" baseline="-15000">
                <a:latin typeface="Times New Roman" panose="02020603050405020304" pitchFamily="18" charset="0"/>
              </a:endParaRPr>
            </a:p>
          </p:txBody>
        </p:sp>
        <p:sp>
          <p:nvSpPr>
            <p:cNvPr id="120874" name="Text Box 81"/>
            <p:cNvSpPr txBox="1">
              <a:spLocks noChangeArrowheads="1"/>
            </p:cNvSpPr>
            <p:nvPr/>
          </p:nvSpPr>
          <p:spPr bwMode="auto">
            <a:xfrm>
              <a:off x="2825" y="1910"/>
              <a:ext cx="27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15000">
                  <a:latin typeface="Times New Roman" panose="02020603050405020304" pitchFamily="18" charset="0"/>
                </a:rPr>
                <a:t>6</a:t>
              </a:r>
              <a:endParaRPr lang="zh-CN" altLang="en-US" sz="2000" baseline="-15000">
                <a:latin typeface="Times New Roman" panose="02020603050405020304" pitchFamily="18" charset="0"/>
              </a:endParaRPr>
            </a:p>
          </p:txBody>
        </p:sp>
        <p:sp>
          <p:nvSpPr>
            <p:cNvPr id="120875" name="Text Box 82"/>
            <p:cNvSpPr txBox="1">
              <a:spLocks noChangeArrowheads="1"/>
            </p:cNvSpPr>
            <p:nvPr/>
          </p:nvSpPr>
          <p:spPr bwMode="auto">
            <a:xfrm>
              <a:off x="816" y="2544"/>
              <a:ext cx="22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20876" name="Text Box 83"/>
            <p:cNvSpPr txBox="1">
              <a:spLocks noChangeArrowheads="1"/>
            </p:cNvSpPr>
            <p:nvPr/>
          </p:nvSpPr>
          <p:spPr bwMode="auto">
            <a:xfrm>
              <a:off x="912" y="2624"/>
              <a:ext cx="17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400">
                  <a:latin typeface="Times New Roman" panose="02020603050405020304" pitchFamily="18" charset="0"/>
                </a:rPr>
                <a:t>7</a:t>
              </a:r>
            </a:p>
          </p:txBody>
        </p:sp>
        <p:sp>
          <p:nvSpPr>
            <p:cNvPr id="120877" name="Text Box 84"/>
            <p:cNvSpPr txBox="1">
              <a:spLocks noChangeArrowheads="1"/>
            </p:cNvSpPr>
            <p:nvPr/>
          </p:nvSpPr>
          <p:spPr bwMode="auto">
            <a:xfrm>
              <a:off x="2753" y="2544"/>
              <a:ext cx="22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20878" name="Text Box 85"/>
            <p:cNvSpPr txBox="1">
              <a:spLocks noChangeArrowheads="1"/>
            </p:cNvSpPr>
            <p:nvPr/>
          </p:nvSpPr>
          <p:spPr bwMode="auto">
            <a:xfrm>
              <a:off x="2875" y="2624"/>
              <a:ext cx="17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400">
                  <a:latin typeface="Times New Roman" panose="02020603050405020304" pitchFamily="18" charset="0"/>
                </a:rPr>
                <a:t>8</a:t>
              </a:r>
            </a:p>
          </p:txBody>
        </p:sp>
        <p:sp>
          <p:nvSpPr>
            <p:cNvPr id="120879" name="Text Box 86"/>
            <p:cNvSpPr txBox="1">
              <a:spLocks noChangeArrowheads="1"/>
            </p:cNvSpPr>
            <p:nvPr/>
          </p:nvSpPr>
          <p:spPr bwMode="auto">
            <a:xfrm>
              <a:off x="1200" y="1680"/>
              <a:ext cx="31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A</a:t>
              </a:r>
              <a:r>
                <a:rPr lang="zh-CN" altLang="en-US" sz="2000">
                  <a:latin typeface="Times New Roman" panose="02020603050405020304" pitchFamily="18" charset="0"/>
                  <a:cs typeface="Times New Roman" panose="02020603050405020304" pitchFamily="18" charset="0"/>
                </a:rPr>
                <a:t>´</a:t>
              </a:r>
            </a:p>
          </p:txBody>
        </p:sp>
        <p:sp>
          <p:nvSpPr>
            <p:cNvPr id="120880" name="Text Box 87"/>
            <p:cNvSpPr txBox="1">
              <a:spLocks noChangeArrowheads="1"/>
            </p:cNvSpPr>
            <p:nvPr/>
          </p:nvSpPr>
          <p:spPr bwMode="auto">
            <a:xfrm>
              <a:off x="2360" y="1680"/>
              <a:ext cx="23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A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20881" name="Text Box 88"/>
            <p:cNvSpPr txBox="1">
              <a:spLocks noChangeArrowheads="1"/>
            </p:cNvSpPr>
            <p:nvPr/>
          </p:nvSpPr>
          <p:spPr bwMode="auto">
            <a:xfrm>
              <a:off x="927" y="3225"/>
              <a:ext cx="6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写放大器</a:t>
              </a:r>
            </a:p>
          </p:txBody>
        </p:sp>
        <p:sp>
          <p:nvSpPr>
            <p:cNvPr id="120882" name="Text Box 89"/>
            <p:cNvSpPr txBox="1">
              <a:spLocks noChangeArrowheads="1"/>
            </p:cNvSpPr>
            <p:nvPr/>
          </p:nvSpPr>
          <p:spPr bwMode="auto">
            <a:xfrm>
              <a:off x="2151" y="3225"/>
              <a:ext cx="6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写放大器</a:t>
              </a:r>
            </a:p>
          </p:txBody>
        </p:sp>
        <p:sp>
          <p:nvSpPr>
            <p:cNvPr id="120883" name="Text Box 90"/>
            <p:cNvSpPr txBox="1">
              <a:spLocks noChangeArrowheads="1"/>
            </p:cNvSpPr>
            <p:nvPr/>
          </p:nvSpPr>
          <p:spPr bwMode="auto">
            <a:xfrm>
              <a:off x="1726" y="3993"/>
              <a:ext cx="34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D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120884" name="Text Box 91"/>
            <p:cNvSpPr txBox="1">
              <a:spLocks noChangeArrowheads="1"/>
            </p:cNvSpPr>
            <p:nvPr/>
          </p:nvSpPr>
          <p:spPr bwMode="auto">
            <a:xfrm>
              <a:off x="2176" y="3936"/>
              <a:ext cx="54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写选择</a:t>
              </a:r>
            </a:p>
          </p:txBody>
        </p:sp>
        <p:sp>
          <p:nvSpPr>
            <p:cNvPr id="120885" name="Text Box 92"/>
            <p:cNvSpPr txBox="1">
              <a:spLocks noChangeArrowheads="1"/>
            </p:cNvSpPr>
            <p:nvPr/>
          </p:nvSpPr>
          <p:spPr bwMode="auto">
            <a:xfrm>
              <a:off x="3040" y="3945"/>
              <a:ext cx="54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读选择</a:t>
              </a:r>
            </a:p>
          </p:txBody>
        </p:sp>
        <p:sp>
          <p:nvSpPr>
            <p:cNvPr id="120886" name="Text Box 93"/>
            <p:cNvSpPr txBox="1">
              <a:spLocks noChangeArrowheads="1"/>
            </p:cNvSpPr>
            <p:nvPr/>
          </p:nvSpPr>
          <p:spPr bwMode="auto">
            <a:xfrm>
              <a:off x="3725" y="3177"/>
              <a:ext cx="45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D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120887" name="Text Box 94"/>
            <p:cNvSpPr txBox="1">
              <a:spLocks noChangeArrowheads="1"/>
            </p:cNvSpPr>
            <p:nvPr/>
          </p:nvSpPr>
          <p:spPr bwMode="auto">
            <a:xfrm>
              <a:off x="3377" y="3129"/>
              <a:ext cx="4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读放</a:t>
              </a:r>
            </a:p>
          </p:txBody>
        </p:sp>
        <p:sp>
          <p:nvSpPr>
            <p:cNvPr id="120888" name="Text Box 95"/>
            <p:cNvSpPr txBox="1">
              <a:spLocks noChangeArrowheads="1"/>
            </p:cNvSpPr>
            <p:nvPr/>
          </p:nvSpPr>
          <p:spPr bwMode="auto">
            <a:xfrm>
              <a:off x="3351" y="1680"/>
              <a:ext cx="50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位线</a:t>
              </a:r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120889" name="Freeform 96"/>
            <p:cNvSpPr/>
            <p:nvPr/>
          </p:nvSpPr>
          <p:spPr bwMode="auto">
            <a:xfrm>
              <a:off x="3284" y="1900"/>
              <a:ext cx="259" cy="260"/>
            </a:xfrm>
            <a:custGeom>
              <a:avLst/>
              <a:gdLst>
                <a:gd name="T0" fmla="*/ 259 w 259"/>
                <a:gd name="T1" fmla="*/ 0 h 260"/>
                <a:gd name="T2" fmla="*/ 0 w 259"/>
                <a:gd name="T3" fmla="*/ 260 h 260"/>
                <a:gd name="T4" fmla="*/ 0 60000 65536"/>
                <a:gd name="T5" fmla="*/ 0 60000 65536"/>
                <a:gd name="T6" fmla="*/ 0 w 259"/>
                <a:gd name="T7" fmla="*/ 0 h 260"/>
                <a:gd name="T8" fmla="*/ 259 w 259"/>
                <a:gd name="T9" fmla="*/ 260 h 26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59" h="260">
                  <a:moveTo>
                    <a:pt x="259" y="0"/>
                  </a:moveTo>
                  <a:lnTo>
                    <a:pt x="0" y="26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0890" name="Text Box 97"/>
            <p:cNvSpPr txBox="1">
              <a:spLocks noChangeArrowheads="1"/>
            </p:cNvSpPr>
            <p:nvPr/>
          </p:nvSpPr>
          <p:spPr bwMode="auto">
            <a:xfrm>
              <a:off x="29" y="1680"/>
              <a:ext cx="50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位线</a:t>
              </a:r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120891" name="Text Box 98"/>
            <p:cNvSpPr txBox="1">
              <a:spLocks noChangeArrowheads="1"/>
            </p:cNvSpPr>
            <p:nvPr/>
          </p:nvSpPr>
          <p:spPr bwMode="auto">
            <a:xfrm>
              <a:off x="413" y="1603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  <a:cs typeface="Times New Roman" panose="02020603050405020304" pitchFamily="18" charset="0"/>
                </a:rPr>
                <a:t>´</a:t>
              </a:r>
            </a:p>
          </p:txBody>
        </p:sp>
        <p:sp>
          <p:nvSpPr>
            <p:cNvPr id="120892" name="Line 99"/>
            <p:cNvSpPr>
              <a:spLocks noChangeShapeType="1"/>
            </p:cNvSpPr>
            <p:nvPr/>
          </p:nvSpPr>
          <p:spPr bwMode="auto">
            <a:xfrm>
              <a:off x="279" y="1920"/>
              <a:ext cx="240" cy="2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0893" name="Text Box 100"/>
            <p:cNvSpPr txBox="1">
              <a:spLocks noChangeArrowheads="1"/>
            </p:cNvSpPr>
            <p:nvPr/>
          </p:nvSpPr>
          <p:spPr bwMode="auto">
            <a:xfrm>
              <a:off x="734" y="2937"/>
              <a:ext cx="83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列地址选择</a:t>
              </a:r>
            </a:p>
          </p:txBody>
        </p:sp>
        <p:sp>
          <p:nvSpPr>
            <p:cNvPr id="120894" name="Text Box 101"/>
            <p:cNvSpPr txBox="1">
              <a:spLocks noChangeArrowheads="1"/>
            </p:cNvSpPr>
            <p:nvPr/>
          </p:nvSpPr>
          <p:spPr bwMode="auto">
            <a:xfrm>
              <a:off x="1325" y="2256"/>
              <a:ext cx="83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行地址选择</a:t>
              </a:r>
            </a:p>
          </p:txBody>
        </p:sp>
        <p:sp>
          <p:nvSpPr>
            <p:cNvPr id="120895" name="Rectangle 102"/>
            <p:cNvSpPr>
              <a:spLocks noChangeArrowheads="1"/>
            </p:cNvSpPr>
            <p:nvPr/>
          </p:nvSpPr>
          <p:spPr bwMode="auto">
            <a:xfrm>
              <a:off x="708" y="1548"/>
              <a:ext cx="2400" cy="72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prstDash val="lgDashDot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sp>
        <p:nvSpPr>
          <p:cNvPr id="208999" name="Rectangle 103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209000" name="Text Box 104"/>
          <p:cNvSpPr txBox="1">
            <a:spLocks noChangeArrowheads="1"/>
          </p:cNvSpPr>
          <p:nvPr/>
        </p:nvSpPr>
        <p:spPr bwMode="auto">
          <a:xfrm>
            <a:off x="2422525" y="2819400"/>
            <a:ext cx="1235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2000">
                <a:solidFill>
                  <a:schemeClr val="folHlink"/>
                </a:solidFill>
                <a:latin typeface="Times New Roman" panose="02020603050405020304" pitchFamily="18" charset="0"/>
              </a:rPr>
              <a:t>T</a:t>
            </a:r>
            <a:r>
              <a:rPr lang="en-US" altLang="zh-CN" sz="20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1</a:t>
            </a:r>
            <a:r>
              <a:rPr lang="en-US" altLang="zh-CN" sz="2400" b="0">
                <a:solidFill>
                  <a:schemeClr val="folHlink"/>
                </a:solidFill>
                <a:latin typeface="Times New Roman" panose="02020603050405020304" pitchFamily="18" charset="0"/>
              </a:rPr>
              <a:t>   ~  </a:t>
            </a:r>
            <a:r>
              <a:rPr lang="en-US" altLang="zh-CN" sz="2000">
                <a:solidFill>
                  <a:schemeClr val="folHlink"/>
                </a:solidFill>
                <a:latin typeface="Times New Roman" panose="02020603050405020304" pitchFamily="18" charset="0"/>
              </a:rPr>
              <a:t>T</a:t>
            </a:r>
            <a:r>
              <a:rPr lang="en-US" altLang="zh-CN" sz="20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4</a:t>
            </a:r>
            <a:endParaRPr lang="zh-CN" altLang="en-US" sz="2000" baseline="-250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120846" name="AutoShape 105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8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088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08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090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2089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2089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8899" grpId="0" autoUpdateAnimBg="0"/>
      <p:bldP spid="208900" grpId="0" autoUpdateAnimBg="0"/>
      <p:bldP spid="208901" grpId="0" autoUpdateAnimBg="0"/>
      <p:bldP spid="208938" grpId="0" autoUpdateAnimBg="0"/>
      <p:bldP spid="209000" grpId="0" autoUpdateAnimBg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0" y="1066800"/>
            <a:ext cx="7388225" cy="5872163"/>
            <a:chOff x="0" y="672"/>
            <a:chExt cx="4654" cy="3699"/>
          </a:xfrm>
        </p:grpSpPr>
        <p:sp>
          <p:nvSpPr>
            <p:cNvPr id="121911" name="Text Box 3"/>
            <p:cNvSpPr txBox="1">
              <a:spLocks noChangeArrowheads="1"/>
            </p:cNvSpPr>
            <p:nvPr/>
          </p:nvSpPr>
          <p:spPr bwMode="auto">
            <a:xfrm>
              <a:off x="1148" y="739"/>
              <a:ext cx="38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A</a:t>
              </a:r>
              <a:r>
                <a:rPr lang="zh-CN" altLang="en-US" sz="3200">
                  <a:latin typeface="Times New Roman" panose="02020603050405020304" pitchFamily="18" charset="0"/>
                  <a:cs typeface="Times New Roman" panose="02020603050405020304" pitchFamily="18" charset="0"/>
                </a:rPr>
                <a:t>´</a:t>
              </a:r>
            </a:p>
          </p:txBody>
        </p:sp>
        <p:sp>
          <p:nvSpPr>
            <p:cNvPr id="121912" name="Rectangle 4"/>
            <p:cNvSpPr>
              <a:spLocks noChangeArrowheads="1"/>
            </p:cNvSpPr>
            <p:nvPr/>
          </p:nvSpPr>
          <p:spPr bwMode="auto">
            <a:xfrm>
              <a:off x="1452" y="866"/>
              <a:ext cx="1046" cy="430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1913" name="Text Box 5"/>
            <p:cNvSpPr txBox="1">
              <a:spLocks noChangeArrowheads="1"/>
            </p:cNvSpPr>
            <p:nvPr/>
          </p:nvSpPr>
          <p:spPr bwMode="auto">
            <a:xfrm>
              <a:off x="1536" y="906"/>
              <a:ext cx="114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T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1</a:t>
              </a:r>
              <a:r>
                <a:rPr lang="en-US" altLang="zh-CN" sz="2800" b="0" baseline="-25000">
                  <a:latin typeface="Times New Roman" panose="02020603050405020304" pitchFamily="18" charset="0"/>
                </a:rPr>
                <a:t> </a:t>
              </a:r>
              <a:r>
                <a:rPr lang="en-US" altLang="zh-CN" sz="2800" b="0">
                  <a:latin typeface="Times New Roman" panose="02020603050405020304" pitchFamily="18" charset="0"/>
                </a:rPr>
                <a:t>  ~  </a:t>
              </a:r>
              <a:r>
                <a:rPr lang="en-US" altLang="zh-CN" sz="2400">
                  <a:latin typeface="Times New Roman" panose="02020603050405020304" pitchFamily="18" charset="0"/>
                </a:rPr>
                <a:t>T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4</a:t>
              </a:r>
              <a:endParaRPr lang="zh-CN" altLang="en-US" sz="24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121914" name="Freeform 6"/>
            <p:cNvSpPr/>
            <p:nvPr/>
          </p:nvSpPr>
          <p:spPr bwMode="auto">
            <a:xfrm>
              <a:off x="2498" y="1109"/>
              <a:ext cx="343" cy="213"/>
            </a:xfrm>
            <a:custGeom>
              <a:avLst/>
              <a:gdLst>
                <a:gd name="T0" fmla="*/ 0 w 336"/>
                <a:gd name="T1" fmla="*/ 0 h 144"/>
                <a:gd name="T2" fmla="*/ 448 w 336"/>
                <a:gd name="T3" fmla="*/ 0 h 144"/>
                <a:gd name="T4" fmla="*/ 448 w 336"/>
                <a:gd name="T5" fmla="*/ 34534 h 144"/>
                <a:gd name="T6" fmla="*/ 0 60000 65536"/>
                <a:gd name="T7" fmla="*/ 0 60000 65536"/>
                <a:gd name="T8" fmla="*/ 0 60000 65536"/>
                <a:gd name="T9" fmla="*/ 0 w 336"/>
                <a:gd name="T10" fmla="*/ 0 h 144"/>
                <a:gd name="T11" fmla="*/ 336 w 336"/>
                <a:gd name="T12" fmla="*/ 144 h 14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144">
                  <a:moveTo>
                    <a:pt x="0" y="0"/>
                  </a:moveTo>
                  <a:lnTo>
                    <a:pt x="336" y="0"/>
                  </a:lnTo>
                  <a:lnTo>
                    <a:pt x="336" y="14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1915" name="Freeform 7"/>
            <p:cNvSpPr/>
            <p:nvPr/>
          </p:nvSpPr>
          <p:spPr bwMode="auto">
            <a:xfrm>
              <a:off x="1105" y="1102"/>
              <a:ext cx="331" cy="226"/>
            </a:xfrm>
            <a:custGeom>
              <a:avLst/>
              <a:gdLst>
                <a:gd name="T0" fmla="*/ 533 w 319"/>
                <a:gd name="T1" fmla="*/ 0 h 184"/>
                <a:gd name="T2" fmla="*/ 0 w 319"/>
                <a:gd name="T3" fmla="*/ 0 h 184"/>
                <a:gd name="T4" fmla="*/ 0 w 319"/>
                <a:gd name="T5" fmla="*/ 3278 h 184"/>
                <a:gd name="T6" fmla="*/ 0 60000 65536"/>
                <a:gd name="T7" fmla="*/ 0 60000 65536"/>
                <a:gd name="T8" fmla="*/ 0 60000 65536"/>
                <a:gd name="T9" fmla="*/ 0 w 319"/>
                <a:gd name="T10" fmla="*/ 0 h 184"/>
                <a:gd name="T11" fmla="*/ 319 w 319"/>
                <a:gd name="T12" fmla="*/ 184 h 1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19" h="184">
                  <a:moveTo>
                    <a:pt x="319" y="0"/>
                  </a:moveTo>
                  <a:lnTo>
                    <a:pt x="0" y="0"/>
                  </a:lnTo>
                  <a:lnTo>
                    <a:pt x="0" y="18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21916" name="Group 8"/>
            <p:cNvGrpSpPr/>
            <p:nvPr/>
          </p:nvGrpSpPr>
          <p:grpSpPr bwMode="auto">
            <a:xfrm>
              <a:off x="2770" y="1328"/>
              <a:ext cx="265" cy="74"/>
              <a:chOff x="3459" y="1296"/>
              <a:chExt cx="243" cy="48"/>
            </a:xfrm>
          </p:grpSpPr>
          <p:sp>
            <p:nvSpPr>
              <p:cNvPr id="121965" name="Line 9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1966" name="Line 10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21917" name="Group 11"/>
            <p:cNvGrpSpPr/>
            <p:nvPr/>
          </p:nvGrpSpPr>
          <p:grpSpPr bwMode="auto">
            <a:xfrm>
              <a:off x="933" y="1328"/>
              <a:ext cx="264" cy="74"/>
              <a:chOff x="3459" y="1296"/>
              <a:chExt cx="243" cy="48"/>
            </a:xfrm>
          </p:grpSpPr>
          <p:sp>
            <p:nvSpPr>
              <p:cNvPr id="121963" name="Line 12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1964" name="Line 13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21918" name="Group 14"/>
            <p:cNvGrpSpPr/>
            <p:nvPr/>
          </p:nvGrpSpPr>
          <p:grpSpPr bwMode="auto">
            <a:xfrm>
              <a:off x="3143" y="2256"/>
              <a:ext cx="76" cy="369"/>
              <a:chOff x="3143" y="2256"/>
              <a:chExt cx="76" cy="369"/>
            </a:xfrm>
          </p:grpSpPr>
          <p:sp>
            <p:nvSpPr>
              <p:cNvPr id="121961" name="Line 15"/>
              <p:cNvSpPr>
                <a:spLocks noChangeShapeType="1"/>
              </p:cNvSpPr>
              <p:nvPr/>
            </p:nvSpPr>
            <p:spPr bwMode="auto">
              <a:xfrm rot="5400000">
                <a:off x="3034" y="2441"/>
                <a:ext cx="36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1962" name="Line 16"/>
              <p:cNvSpPr>
                <a:spLocks noChangeShapeType="1"/>
              </p:cNvSpPr>
              <p:nvPr/>
            </p:nvSpPr>
            <p:spPr bwMode="auto">
              <a:xfrm rot="5400000">
                <a:off x="3031" y="2436"/>
                <a:ext cx="22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21919" name="Group 17"/>
            <p:cNvGrpSpPr/>
            <p:nvPr/>
          </p:nvGrpSpPr>
          <p:grpSpPr bwMode="auto">
            <a:xfrm>
              <a:off x="771" y="2256"/>
              <a:ext cx="76" cy="369"/>
              <a:chOff x="771" y="2256"/>
              <a:chExt cx="76" cy="369"/>
            </a:xfrm>
          </p:grpSpPr>
          <p:sp>
            <p:nvSpPr>
              <p:cNvPr id="121959" name="Line 18"/>
              <p:cNvSpPr>
                <a:spLocks noChangeShapeType="1"/>
              </p:cNvSpPr>
              <p:nvPr/>
            </p:nvSpPr>
            <p:spPr bwMode="auto">
              <a:xfrm rot="-5400000">
                <a:off x="586" y="2441"/>
                <a:ext cx="36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1960" name="Line 19"/>
              <p:cNvSpPr>
                <a:spLocks noChangeShapeType="1"/>
              </p:cNvSpPr>
              <p:nvPr/>
            </p:nvSpPr>
            <p:spPr bwMode="auto">
              <a:xfrm rot="-5400000">
                <a:off x="735" y="2446"/>
                <a:ext cx="22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21920" name="Freeform 20"/>
            <p:cNvSpPr/>
            <p:nvPr/>
          </p:nvSpPr>
          <p:spPr bwMode="auto">
            <a:xfrm>
              <a:off x="860" y="2423"/>
              <a:ext cx="2272" cy="1"/>
            </a:xfrm>
            <a:custGeom>
              <a:avLst/>
              <a:gdLst>
                <a:gd name="T0" fmla="*/ 0 w 2272"/>
                <a:gd name="T1" fmla="*/ 0 h 1"/>
                <a:gd name="T2" fmla="*/ 2272 w 2272"/>
                <a:gd name="T3" fmla="*/ 1 h 1"/>
                <a:gd name="T4" fmla="*/ 0 60000 65536"/>
                <a:gd name="T5" fmla="*/ 0 60000 65536"/>
                <a:gd name="T6" fmla="*/ 0 w 2272"/>
                <a:gd name="T7" fmla="*/ 0 h 1"/>
                <a:gd name="T8" fmla="*/ 2272 w 227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72" h="1">
                  <a:moveTo>
                    <a:pt x="0" y="0"/>
                  </a:moveTo>
                  <a:lnTo>
                    <a:pt x="2272" y="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1921" name="Freeform 21"/>
            <p:cNvSpPr/>
            <p:nvPr/>
          </p:nvSpPr>
          <p:spPr bwMode="auto">
            <a:xfrm>
              <a:off x="3230" y="2495"/>
              <a:ext cx="210" cy="1023"/>
            </a:xfrm>
            <a:custGeom>
              <a:avLst/>
              <a:gdLst>
                <a:gd name="T0" fmla="*/ 0 w 192"/>
                <a:gd name="T1" fmla="*/ 0 h 672"/>
                <a:gd name="T2" fmla="*/ 675 w 192"/>
                <a:gd name="T3" fmla="*/ 0 h 672"/>
                <a:gd name="T4" fmla="*/ 675 w 192"/>
                <a:gd name="T5" fmla="*/ 241195 h 672"/>
                <a:gd name="T6" fmla="*/ 0 60000 65536"/>
                <a:gd name="T7" fmla="*/ 0 60000 65536"/>
                <a:gd name="T8" fmla="*/ 0 60000 65536"/>
                <a:gd name="T9" fmla="*/ 0 w 192"/>
                <a:gd name="T10" fmla="*/ 0 h 672"/>
                <a:gd name="T11" fmla="*/ 192 w 192"/>
                <a:gd name="T12" fmla="*/ 672 h 67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2" h="672">
                  <a:moveTo>
                    <a:pt x="0" y="0"/>
                  </a:moveTo>
                  <a:lnTo>
                    <a:pt x="192" y="0"/>
                  </a:lnTo>
                  <a:lnTo>
                    <a:pt x="192" y="67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1922" name="AutoShape 22"/>
            <p:cNvSpPr>
              <a:spLocks noChangeArrowheads="1"/>
            </p:cNvSpPr>
            <p:nvPr/>
          </p:nvSpPr>
          <p:spPr bwMode="auto">
            <a:xfrm rot="5400000">
              <a:off x="2070" y="3361"/>
              <a:ext cx="437" cy="314"/>
            </a:xfrm>
            <a:prstGeom prst="triangle">
              <a:avLst>
                <a:gd name="adj" fmla="val 50000"/>
              </a:avLst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1923" name="AutoShape 23"/>
            <p:cNvSpPr>
              <a:spLocks noChangeArrowheads="1"/>
            </p:cNvSpPr>
            <p:nvPr/>
          </p:nvSpPr>
          <p:spPr bwMode="auto">
            <a:xfrm rot="-5400000">
              <a:off x="1389" y="3360"/>
              <a:ext cx="437" cy="314"/>
            </a:xfrm>
            <a:prstGeom prst="triangle">
              <a:avLst>
                <a:gd name="adj" fmla="val 50000"/>
              </a:avLst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1924" name="Oval 24"/>
            <p:cNvSpPr>
              <a:spLocks noChangeArrowheads="1"/>
            </p:cNvSpPr>
            <p:nvPr/>
          </p:nvSpPr>
          <p:spPr bwMode="auto">
            <a:xfrm rot="10800000">
              <a:off x="1380" y="3484"/>
              <a:ext cx="68" cy="6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1925" name="Line 25"/>
            <p:cNvSpPr>
              <a:spLocks noChangeShapeType="1"/>
            </p:cNvSpPr>
            <p:nvPr/>
          </p:nvSpPr>
          <p:spPr bwMode="auto">
            <a:xfrm>
              <a:off x="2446" y="3518"/>
              <a:ext cx="120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1926" name="AutoShape 26"/>
            <p:cNvSpPr>
              <a:spLocks noChangeArrowheads="1"/>
            </p:cNvSpPr>
            <p:nvPr/>
          </p:nvSpPr>
          <p:spPr bwMode="auto">
            <a:xfrm rot="5400000">
              <a:off x="3587" y="3361"/>
              <a:ext cx="437" cy="314"/>
            </a:xfrm>
            <a:prstGeom prst="triangle">
              <a:avLst>
                <a:gd name="adj" fmla="val 50000"/>
              </a:avLst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1927" name="Line 27"/>
            <p:cNvSpPr>
              <a:spLocks noChangeShapeType="1"/>
            </p:cNvSpPr>
            <p:nvPr/>
          </p:nvSpPr>
          <p:spPr bwMode="auto">
            <a:xfrm>
              <a:off x="3963" y="3518"/>
              <a:ext cx="36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1928" name="Line 28"/>
            <p:cNvSpPr>
              <a:spLocks noChangeShapeType="1"/>
            </p:cNvSpPr>
            <p:nvPr/>
          </p:nvSpPr>
          <p:spPr bwMode="auto">
            <a:xfrm>
              <a:off x="1766" y="3518"/>
              <a:ext cx="36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1929" name="Freeform 29"/>
            <p:cNvSpPr/>
            <p:nvPr/>
          </p:nvSpPr>
          <p:spPr bwMode="auto">
            <a:xfrm>
              <a:off x="1951" y="3518"/>
              <a:ext cx="1" cy="622"/>
            </a:xfrm>
            <a:custGeom>
              <a:avLst/>
              <a:gdLst>
                <a:gd name="T0" fmla="*/ 0 w 1"/>
                <a:gd name="T1" fmla="*/ 0 h 622"/>
                <a:gd name="T2" fmla="*/ 1 w 1"/>
                <a:gd name="T3" fmla="*/ 622 h 622"/>
                <a:gd name="T4" fmla="*/ 0 60000 65536"/>
                <a:gd name="T5" fmla="*/ 0 60000 65536"/>
                <a:gd name="T6" fmla="*/ 0 w 1"/>
                <a:gd name="T7" fmla="*/ 0 h 622"/>
                <a:gd name="T8" fmla="*/ 1 w 1"/>
                <a:gd name="T9" fmla="*/ 622 h 6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622">
                  <a:moveTo>
                    <a:pt x="0" y="0"/>
                  </a:moveTo>
                  <a:lnTo>
                    <a:pt x="1" y="62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1930" name="Freeform 30"/>
            <p:cNvSpPr/>
            <p:nvPr/>
          </p:nvSpPr>
          <p:spPr bwMode="auto">
            <a:xfrm>
              <a:off x="2267" y="3639"/>
              <a:ext cx="6" cy="498"/>
            </a:xfrm>
            <a:custGeom>
              <a:avLst/>
              <a:gdLst>
                <a:gd name="T0" fmla="*/ 4 w 6"/>
                <a:gd name="T1" fmla="*/ 498 h 498"/>
                <a:gd name="T2" fmla="*/ 0 w 6"/>
                <a:gd name="T3" fmla="*/ 9 h 498"/>
                <a:gd name="T4" fmla="*/ 6 w 6"/>
                <a:gd name="T5" fmla="*/ 0 h 498"/>
                <a:gd name="T6" fmla="*/ 6 w 6"/>
                <a:gd name="T7" fmla="*/ 2 h 49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"/>
                <a:gd name="T13" fmla="*/ 0 h 498"/>
                <a:gd name="T14" fmla="*/ 6 w 6"/>
                <a:gd name="T15" fmla="*/ 498 h 49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" h="498">
                  <a:moveTo>
                    <a:pt x="4" y="498"/>
                  </a:moveTo>
                  <a:lnTo>
                    <a:pt x="0" y="9"/>
                  </a:lnTo>
                  <a:lnTo>
                    <a:pt x="6" y="0"/>
                  </a:lnTo>
                  <a:lnTo>
                    <a:pt x="6" y="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tailEnd type="stealth" w="med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1931" name="Freeform 31"/>
            <p:cNvSpPr/>
            <p:nvPr/>
          </p:nvSpPr>
          <p:spPr bwMode="auto">
            <a:xfrm>
              <a:off x="1596" y="3624"/>
              <a:ext cx="677" cy="312"/>
            </a:xfrm>
            <a:custGeom>
              <a:avLst/>
              <a:gdLst>
                <a:gd name="T0" fmla="*/ 0 w 677"/>
                <a:gd name="T1" fmla="*/ 0 h 312"/>
                <a:gd name="T2" fmla="*/ 0 w 677"/>
                <a:gd name="T3" fmla="*/ 306 h 312"/>
                <a:gd name="T4" fmla="*/ 677 w 677"/>
                <a:gd name="T5" fmla="*/ 312 h 312"/>
                <a:gd name="T6" fmla="*/ 0 60000 65536"/>
                <a:gd name="T7" fmla="*/ 0 60000 65536"/>
                <a:gd name="T8" fmla="*/ 0 60000 65536"/>
                <a:gd name="T9" fmla="*/ 0 w 677"/>
                <a:gd name="T10" fmla="*/ 0 h 312"/>
                <a:gd name="T11" fmla="*/ 677 w 677"/>
                <a:gd name="T12" fmla="*/ 312 h 3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77" h="312">
                  <a:moveTo>
                    <a:pt x="0" y="0"/>
                  </a:moveTo>
                  <a:lnTo>
                    <a:pt x="0" y="306"/>
                  </a:lnTo>
                  <a:lnTo>
                    <a:pt x="677" y="31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stealth" w="med" len="lg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1932" name="Freeform 32"/>
            <p:cNvSpPr/>
            <p:nvPr/>
          </p:nvSpPr>
          <p:spPr bwMode="auto">
            <a:xfrm>
              <a:off x="510" y="2495"/>
              <a:ext cx="862" cy="1023"/>
            </a:xfrm>
            <a:custGeom>
              <a:avLst/>
              <a:gdLst>
                <a:gd name="T0" fmla="*/ 262 w 862"/>
                <a:gd name="T1" fmla="*/ 0 h 1023"/>
                <a:gd name="T2" fmla="*/ 0 w 862"/>
                <a:gd name="T3" fmla="*/ 0 h 1023"/>
                <a:gd name="T4" fmla="*/ 0 w 862"/>
                <a:gd name="T5" fmla="*/ 1023 h 1023"/>
                <a:gd name="T6" fmla="*/ 862 w 862"/>
                <a:gd name="T7" fmla="*/ 1023 h 1023"/>
                <a:gd name="T8" fmla="*/ 838 w 862"/>
                <a:gd name="T9" fmla="*/ 1023 h 10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62"/>
                <a:gd name="T16" fmla="*/ 0 h 1023"/>
                <a:gd name="T17" fmla="*/ 862 w 862"/>
                <a:gd name="T18" fmla="*/ 1023 h 102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62" h="1023">
                  <a:moveTo>
                    <a:pt x="262" y="0"/>
                  </a:moveTo>
                  <a:lnTo>
                    <a:pt x="0" y="0"/>
                  </a:lnTo>
                  <a:lnTo>
                    <a:pt x="0" y="1023"/>
                  </a:lnTo>
                  <a:lnTo>
                    <a:pt x="862" y="1023"/>
                  </a:lnTo>
                  <a:lnTo>
                    <a:pt x="838" y="102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1933" name="Freeform 33"/>
            <p:cNvSpPr/>
            <p:nvPr/>
          </p:nvSpPr>
          <p:spPr bwMode="auto">
            <a:xfrm>
              <a:off x="301" y="2423"/>
              <a:ext cx="1674" cy="583"/>
            </a:xfrm>
            <a:custGeom>
              <a:avLst/>
              <a:gdLst>
                <a:gd name="T0" fmla="*/ 391 w 1872"/>
                <a:gd name="T1" fmla="*/ 0 h 384"/>
                <a:gd name="T2" fmla="*/ 391 w 1872"/>
                <a:gd name="T3" fmla="*/ 132818 h 384"/>
                <a:gd name="T4" fmla="*/ 0 w 1872"/>
                <a:gd name="T5" fmla="*/ 132818 h 384"/>
                <a:gd name="T6" fmla="*/ 0 60000 65536"/>
                <a:gd name="T7" fmla="*/ 0 60000 65536"/>
                <a:gd name="T8" fmla="*/ 0 60000 65536"/>
                <a:gd name="T9" fmla="*/ 0 w 1872"/>
                <a:gd name="T10" fmla="*/ 0 h 384"/>
                <a:gd name="T11" fmla="*/ 1872 w 1872"/>
                <a:gd name="T12" fmla="*/ 384 h 3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72" h="384">
                  <a:moveTo>
                    <a:pt x="1872" y="0"/>
                  </a:moveTo>
                  <a:lnTo>
                    <a:pt x="1872" y="384"/>
                  </a:lnTo>
                  <a:lnTo>
                    <a:pt x="0" y="38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1934" name="Line 34"/>
            <p:cNvSpPr>
              <a:spLocks noChangeShapeType="1"/>
            </p:cNvSpPr>
            <p:nvPr/>
          </p:nvSpPr>
          <p:spPr bwMode="auto">
            <a:xfrm flipV="1">
              <a:off x="3806" y="3641"/>
              <a:ext cx="0" cy="73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1935" name="Freeform 35"/>
            <p:cNvSpPr/>
            <p:nvPr/>
          </p:nvSpPr>
          <p:spPr bwMode="auto">
            <a:xfrm>
              <a:off x="510" y="1091"/>
              <a:ext cx="492" cy="1259"/>
            </a:xfrm>
            <a:custGeom>
              <a:avLst/>
              <a:gdLst>
                <a:gd name="T0" fmla="*/ 492 w 492"/>
                <a:gd name="T1" fmla="*/ 233 h 1259"/>
                <a:gd name="T2" fmla="*/ 492 w 492"/>
                <a:gd name="T3" fmla="*/ 0 h 1259"/>
                <a:gd name="T4" fmla="*/ 1 w 492"/>
                <a:gd name="T5" fmla="*/ 0 h 1259"/>
                <a:gd name="T6" fmla="*/ 0 w 492"/>
                <a:gd name="T7" fmla="*/ 1259 h 1259"/>
                <a:gd name="T8" fmla="*/ 262 w 492"/>
                <a:gd name="T9" fmla="*/ 1259 h 12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2"/>
                <a:gd name="T16" fmla="*/ 0 h 1259"/>
                <a:gd name="T17" fmla="*/ 492 w 492"/>
                <a:gd name="T18" fmla="*/ 1259 h 12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2" h="1259">
                  <a:moveTo>
                    <a:pt x="492" y="233"/>
                  </a:moveTo>
                  <a:lnTo>
                    <a:pt x="492" y="0"/>
                  </a:lnTo>
                  <a:lnTo>
                    <a:pt x="1" y="0"/>
                  </a:lnTo>
                  <a:lnTo>
                    <a:pt x="0" y="1259"/>
                  </a:lnTo>
                  <a:lnTo>
                    <a:pt x="262" y="125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1936" name="Freeform 36"/>
            <p:cNvSpPr/>
            <p:nvPr/>
          </p:nvSpPr>
          <p:spPr bwMode="auto">
            <a:xfrm>
              <a:off x="2942" y="1109"/>
              <a:ext cx="523" cy="1244"/>
            </a:xfrm>
            <a:custGeom>
              <a:avLst/>
              <a:gdLst>
                <a:gd name="T0" fmla="*/ 0 w 523"/>
                <a:gd name="T1" fmla="*/ 219 h 1244"/>
                <a:gd name="T2" fmla="*/ 0 w 523"/>
                <a:gd name="T3" fmla="*/ 0 h 1244"/>
                <a:gd name="T4" fmla="*/ 523 w 523"/>
                <a:gd name="T5" fmla="*/ 0 h 1244"/>
                <a:gd name="T6" fmla="*/ 523 w 523"/>
                <a:gd name="T7" fmla="*/ 1244 h 1244"/>
                <a:gd name="T8" fmla="*/ 278 w 523"/>
                <a:gd name="T9" fmla="*/ 1244 h 1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23"/>
                <a:gd name="T16" fmla="*/ 0 h 1244"/>
                <a:gd name="T17" fmla="*/ 523 w 523"/>
                <a:gd name="T18" fmla="*/ 1244 h 12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23" h="1244">
                  <a:moveTo>
                    <a:pt x="0" y="219"/>
                  </a:moveTo>
                  <a:lnTo>
                    <a:pt x="0" y="0"/>
                  </a:lnTo>
                  <a:lnTo>
                    <a:pt x="523" y="0"/>
                  </a:lnTo>
                  <a:lnTo>
                    <a:pt x="523" y="1244"/>
                  </a:lnTo>
                  <a:lnTo>
                    <a:pt x="278" y="124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1937" name="Text Box 37"/>
            <p:cNvSpPr txBox="1">
              <a:spLocks noChangeArrowheads="1"/>
            </p:cNvSpPr>
            <p:nvPr/>
          </p:nvSpPr>
          <p:spPr bwMode="auto">
            <a:xfrm>
              <a:off x="685" y="1231"/>
              <a:ext cx="27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5</a:t>
              </a:r>
              <a:endParaRPr lang="zh-CN" altLang="en-US" sz="20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121938" name="Text Box 38"/>
            <p:cNvSpPr txBox="1">
              <a:spLocks noChangeArrowheads="1"/>
            </p:cNvSpPr>
            <p:nvPr/>
          </p:nvSpPr>
          <p:spPr bwMode="auto">
            <a:xfrm>
              <a:off x="3037" y="1231"/>
              <a:ext cx="27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6</a:t>
              </a:r>
              <a:endParaRPr lang="zh-CN" altLang="en-US" sz="20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121939" name="Text Box 39"/>
            <p:cNvSpPr txBox="1">
              <a:spLocks noChangeArrowheads="1"/>
            </p:cNvSpPr>
            <p:nvPr/>
          </p:nvSpPr>
          <p:spPr bwMode="auto">
            <a:xfrm>
              <a:off x="824" y="2150"/>
              <a:ext cx="27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7</a:t>
              </a:r>
              <a:endParaRPr lang="zh-CN" altLang="en-US" sz="20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121940" name="Text Box 40"/>
            <p:cNvSpPr txBox="1">
              <a:spLocks noChangeArrowheads="1"/>
            </p:cNvSpPr>
            <p:nvPr/>
          </p:nvSpPr>
          <p:spPr bwMode="auto">
            <a:xfrm>
              <a:off x="2864" y="2150"/>
              <a:ext cx="27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8</a:t>
              </a:r>
              <a:endParaRPr lang="zh-CN" altLang="en-US" sz="20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121941" name="Text Box 41"/>
            <p:cNvSpPr txBox="1">
              <a:spLocks noChangeArrowheads="1"/>
            </p:cNvSpPr>
            <p:nvPr/>
          </p:nvSpPr>
          <p:spPr bwMode="auto">
            <a:xfrm>
              <a:off x="2540" y="816"/>
              <a:ext cx="2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A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21942" name="Freeform 42"/>
            <p:cNvSpPr/>
            <p:nvPr/>
          </p:nvSpPr>
          <p:spPr bwMode="auto">
            <a:xfrm>
              <a:off x="249" y="1402"/>
              <a:ext cx="2642" cy="365"/>
            </a:xfrm>
            <a:custGeom>
              <a:avLst/>
              <a:gdLst>
                <a:gd name="T0" fmla="*/ 1675 w 2736"/>
                <a:gd name="T1" fmla="*/ 0 h 240"/>
                <a:gd name="T2" fmla="*/ 1675 w 2736"/>
                <a:gd name="T3" fmla="*/ 85005 h 240"/>
                <a:gd name="T4" fmla="*/ 0 w 2736"/>
                <a:gd name="T5" fmla="*/ 85005 h 240"/>
                <a:gd name="T6" fmla="*/ 0 60000 65536"/>
                <a:gd name="T7" fmla="*/ 0 60000 65536"/>
                <a:gd name="T8" fmla="*/ 0 60000 65536"/>
                <a:gd name="T9" fmla="*/ 0 w 2736"/>
                <a:gd name="T10" fmla="*/ 0 h 240"/>
                <a:gd name="T11" fmla="*/ 2736 w 2736"/>
                <a:gd name="T12" fmla="*/ 240 h 2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736" h="240">
                  <a:moveTo>
                    <a:pt x="2736" y="0"/>
                  </a:moveTo>
                  <a:lnTo>
                    <a:pt x="2736" y="240"/>
                  </a:lnTo>
                  <a:lnTo>
                    <a:pt x="0" y="24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1943" name="Line 43"/>
            <p:cNvSpPr>
              <a:spLocks noChangeShapeType="1"/>
            </p:cNvSpPr>
            <p:nvPr/>
          </p:nvSpPr>
          <p:spPr bwMode="auto">
            <a:xfrm>
              <a:off x="1045" y="1402"/>
              <a:ext cx="0" cy="36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1944" name="Text Box 44"/>
            <p:cNvSpPr txBox="1">
              <a:spLocks noChangeArrowheads="1"/>
            </p:cNvSpPr>
            <p:nvPr/>
          </p:nvSpPr>
          <p:spPr bwMode="auto">
            <a:xfrm>
              <a:off x="907" y="3230"/>
              <a:ext cx="6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写放大器</a:t>
              </a:r>
            </a:p>
          </p:txBody>
        </p:sp>
        <p:sp>
          <p:nvSpPr>
            <p:cNvPr id="121945" name="Text Box 45"/>
            <p:cNvSpPr txBox="1">
              <a:spLocks noChangeArrowheads="1"/>
            </p:cNvSpPr>
            <p:nvPr/>
          </p:nvSpPr>
          <p:spPr bwMode="auto">
            <a:xfrm>
              <a:off x="2289" y="3225"/>
              <a:ext cx="6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写放大器</a:t>
              </a:r>
            </a:p>
          </p:txBody>
        </p:sp>
        <p:sp>
          <p:nvSpPr>
            <p:cNvPr id="121946" name="Text Box 46"/>
            <p:cNvSpPr txBox="1">
              <a:spLocks noChangeArrowheads="1"/>
            </p:cNvSpPr>
            <p:nvPr/>
          </p:nvSpPr>
          <p:spPr bwMode="auto">
            <a:xfrm>
              <a:off x="1449" y="3993"/>
              <a:ext cx="34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D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121947" name="Text Box 47"/>
            <p:cNvSpPr txBox="1">
              <a:spLocks noChangeArrowheads="1"/>
            </p:cNvSpPr>
            <p:nvPr/>
          </p:nvSpPr>
          <p:spPr bwMode="auto">
            <a:xfrm>
              <a:off x="2290" y="3984"/>
              <a:ext cx="54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写选择</a:t>
              </a:r>
            </a:p>
          </p:txBody>
        </p:sp>
        <p:sp>
          <p:nvSpPr>
            <p:cNvPr id="121948" name="Text Box 48"/>
            <p:cNvSpPr txBox="1">
              <a:spLocks noChangeArrowheads="1"/>
            </p:cNvSpPr>
            <p:nvPr/>
          </p:nvSpPr>
          <p:spPr bwMode="auto">
            <a:xfrm>
              <a:off x="3262" y="3993"/>
              <a:ext cx="54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读选择</a:t>
              </a:r>
            </a:p>
          </p:txBody>
        </p:sp>
        <p:sp>
          <p:nvSpPr>
            <p:cNvPr id="121949" name="Text Box 49"/>
            <p:cNvSpPr txBox="1">
              <a:spLocks noChangeArrowheads="1"/>
            </p:cNvSpPr>
            <p:nvPr/>
          </p:nvSpPr>
          <p:spPr bwMode="auto">
            <a:xfrm>
              <a:off x="3539" y="2976"/>
              <a:ext cx="4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读放</a:t>
              </a:r>
            </a:p>
          </p:txBody>
        </p:sp>
        <p:sp>
          <p:nvSpPr>
            <p:cNvPr id="121950" name="Text Box 50"/>
            <p:cNvSpPr txBox="1">
              <a:spLocks noChangeArrowheads="1"/>
            </p:cNvSpPr>
            <p:nvPr/>
          </p:nvSpPr>
          <p:spPr bwMode="auto">
            <a:xfrm>
              <a:off x="3657" y="729"/>
              <a:ext cx="50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位线</a:t>
              </a:r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121951" name="Line 51"/>
            <p:cNvSpPr>
              <a:spLocks noChangeShapeType="1"/>
            </p:cNvSpPr>
            <p:nvPr/>
          </p:nvSpPr>
          <p:spPr bwMode="auto">
            <a:xfrm flipH="1">
              <a:off x="3513" y="912"/>
              <a:ext cx="288" cy="48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121952" name="Group 52"/>
            <p:cNvGrpSpPr/>
            <p:nvPr/>
          </p:nvGrpSpPr>
          <p:grpSpPr bwMode="auto">
            <a:xfrm>
              <a:off x="0" y="672"/>
              <a:ext cx="628" cy="365"/>
              <a:chOff x="-58" y="1603"/>
              <a:chExt cx="628" cy="365"/>
            </a:xfrm>
          </p:grpSpPr>
          <p:sp>
            <p:nvSpPr>
              <p:cNvPr id="121957" name="Text Box 53"/>
              <p:cNvSpPr txBox="1">
                <a:spLocks noChangeArrowheads="1"/>
              </p:cNvSpPr>
              <p:nvPr/>
            </p:nvSpPr>
            <p:spPr bwMode="auto">
              <a:xfrm>
                <a:off x="-58" y="1680"/>
                <a:ext cx="50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位线</a:t>
                </a:r>
                <a:r>
                  <a:rPr lang="en-US" altLang="zh-CN" sz="1800">
                    <a:latin typeface="Times New Roman" panose="02020603050405020304" pitchFamily="18" charset="0"/>
                  </a:rPr>
                  <a:t>A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1958" name="Text Box 54"/>
              <p:cNvSpPr txBox="1">
                <a:spLocks noChangeArrowheads="1"/>
              </p:cNvSpPr>
              <p:nvPr/>
            </p:nvSpPr>
            <p:spPr bwMode="auto">
              <a:xfrm>
                <a:off x="326" y="1603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´</a:t>
                </a:r>
              </a:p>
            </p:txBody>
          </p:sp>
        </p:grpSp>
        <p:sp>
          <p:nvSpPr>
            <p:cNvPr id="121953" name="Line 55"/>
            <p:cNvSpPr>
              <a:spLocks noChangeShapeType="1"/>
            </p:cNvSpPr>
            <p:nvPr/>
          </p:nvSpPr>
          <p:spPr bwMode="auto">
            <a:xfrm>
              <a:off x="249" y="960"/>
              <a:ext cx="240" cy="2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1954" name="Text Box 56"/>
            <p:cNvSpPr txBox="1">
              <a:spLocks noChangeArrowheads="1"/>
            </p:cNvSpPr>
            <p:nvPr/>
          </p:nvSpPr>
          <p:spPr bwMode="auto">
            <a:xfrm>
              <a:off x="825" y="2736"/>
              <a:ext cx="83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列地址选择</a:t>
              </a:r>
            </a:p>
          </p:txBody>
        </p:sp>
        <p:sp>
          <p:nvSpPr>
            <p:cNvPr id="121955" name="Text Box 57"/>
            <p:cNvSpPr txBox="1">
              <a:spLocks noChangeArrowheads="1"/>
            </p:cNvSpPr>
            <p:nvPr/>
          </p:nvSpPr>
          <p:spPr bwMode="auto">
            <a:xfrm>
              <a:off x="1497" y="1488"/>
              <a:ext cx="83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行地址选择</a:t>
              </a:r>
            </a:p>
          </p:txBody>
        </p:sp>
        <p:sp>
          <p:nvSpPr>
            <p:cNvPr id="121956" name="Text Box 58"/>
            <p:cNvSpPr txBox="1">
              <a:spLocks noChangeArrowheads="1"/>
            </p:cNvSpPr>
            <p:nvPr/>
          </p:nvSpPr>
          <p:spPr bwMode="auto">
            <a:xfrm>
              <a:off x="4122" y="3216"/>
              <a:ext cx="5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D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OUT</a:t>
              </a:r>
            </a:p>
          </p:txBody>
        </p:sp>
      </p:grpSp>
      <p:sp>
        <p:nvSpPr>
          <p:cNvPr id="121859" name="Text Box 59"/>
          <p:cNvSpPr txBox="1">
            <a:spLocks noChangeArrowheads="1"/>
          </p:cNvSpPr>
          <p:nvPr/>
        </p:nvSpPr>
        <p:spPr bwMode="auto">
          <a:xfrm>
            <a:off x="533400" y="381000"/>
            <a:ext cx="70104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① </a:t>
            </a:r>
            <a:r>
              <a:rPr lang="zh-CN" altLang="en-US" sz="3200">
                <a:latin typeface="Times New Roman" panose="02020603050405020304" pitchFamily="18" charset="0"/>
              </a:rPr>
              <a:t>静态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200">
                <a:latin typeface="Times New Roman" panose="02020603050405020304" pitchFamily="18" charset="0"/>
              </a:rPr>
              <a:t>基本电路的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latin typeface="Times New Roman" panose="02020603050405020304" pitchFamily="18" charset="0"/>
              </a:rPr>
              <a:t>操作  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209980" name="Freeform 60"/>
          <p:cNvSpPr/>
          <p:nvPr/>
        </p:nvSpPr>
        <p:spPr bwMode="auto">
          <a:xfrm>
            <a:off x="474663" y="3862388"/>
            <a:ext cx="2657475" cy="925512"/>
          </a:xfrm>
          <a:custGeom>
            <a:avLst/>
            <a:gdLst>
              <a:gd name="T0" fmla="*/ 2147483647 w 1872"/>
              <a:gd name="T1" fmla="*/ 0 h 384"/>
              <a:gd name="T2" fmla="*/ 2147483647 w 1872"/>
              <a:gd name="T3" fmla="*/ 2147483647 h 384"/>
              <a:gd name="T4" fmla="*/ 0 w 1872"/>
              <a:gd name="T5" fmla="*/ 2147483647 h 384"/>
              <a:gd name="T6" fmla="*/ 0 60000 65536"/>
              <a:gd name="T7" fmla="*/ 0 60000 65536"/>
              <a:gd name="T8" fmla="*/ 0 60000 65536"/>
              <a:gd name="T9" fmla="*/ 0 w 1872"/>
              <a:gd name="T10" fmla="*/ 0 h 384"/>
              <a:gd name="T11" fmla="*/ 1872 w 1872"/>
              <a:gd name="T12" fmla="*/ 384 h 38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72" h="384">
                <a:moveTo>
                  <a:pt x="1872" y="0"/>
                </a:moveTo>
                <a:lnTo>
                  <a:pt x="1872" y="384"/>
                </a:lnTo>
                <a:lnTo>
                  <a:pt x="0" y="384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  <a:head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09981" name="Freeform 61"/>
          <p:cNvSpPr/>
          <p:nvPr/>
        </p:nvSpPr>
        <p:spPr bwMode="auto">
          <a:xfrm>
            <a:off x="1331913" y="3867150"/>
            <a:ext cx="3640137" cy="3175"/>
          </a:xfrm>
          <a:custGeom>
            <a:avLst/>
            <a:gdLst>
              <a:gd name="T0" fmla="*/ 0 w 2293"/>
              <a:gd name="T1" fmla="*/ 2147483647 h 2"/>
              <a:gd name="T2" fmla="*/ 2147483647 w 2293"/>
              <a:gd name="T3" fmla="*/ 0 h 2"/>
              <a:gd name="T4" fmla="*/ 0 60000 65536"/>
              <a:gd name="T5" fmla="*/ 0 60000 65536"/>
              <a:gd name="T6" fmla="*/ 0 w 2293"/>
              <a:gd name="T7" fmla="*/ 0 h 2"/>
              <a:gd name="T8" fmla="*/ 2293 w 2293"/>
              <a:gd name="T9" fmla="*/ 2 h 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293" h="2">
                <a:moveTo>
                  <a:pt x="0" y="2"/>
                </a:moveTo>
                <a:lnTo>
                  <a:pt x="2293" y="0"/>
                </a:lnTo>
              </a:path>
            </a:pathLst>
          </a:custGeom>
          <a:noFill/>
          <a:ln w="76200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09982" name="Freeform 62"/>
          <p:cNvSpPr/>
          <p:nvPr/>
        </p:nvSpPr>
        <p:spPr bwMode="auto">
          <a:xfrm>
            <a:off x="3952875" y="1752600"/>
            <a:ext cx="542925" cy="347663"/>
          </a:xfrm>
          <a:custGeom>
            <a:avLst/>
            <a:gdLst>
              <a:gd name="T0" fmla="*/ 0 w 342"/>
              <a:gd name="T1" fmla="*/ 0 h 219"/>
              <a:gd name="T2" fmla="*/ 2147483647 w 342"/>
              <a:gd name="T3" fmla="*/ 0 h 219"/>
              <a:gd name="T4" fmla="*/ 2147483647 w 342"/>
              <a:gd name="T5" fmla="*/ 2147483647 h 219"/>
              <a:gd name="T6" fmla="*/ 0 60000 65536"/>
              <a:gd name="T7" fmla="*/ 0 60000 65536"/>
              <a:gd name="T8" fmla="*/ 0 60000 65536"/>
              <a:gd name="T9" fmla="*/ 0 w 342"/>
              <a:gd name="T10" fmla="*/ 0 h 219"/>
              <a:gd name="T11" fmla="*/ 342 w 342"/>
              <a:gd name="T12" fmla="*/ 219 h 21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42" h="219">
                <a:moveTo>
                  <a:pt x="0" y="0"/>
                </a:moveTo>
                <a:lnTo>
                  <a:pt x="342" y="0"/>
                </a:lnTo>
                <a:lnTo>
                  <a:pt x="342" y="219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  <a:head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8" name="Group 63"/>
          <p:cNvGrpSpPr/>
          <p:nvPr/>
        </p:nvGrpSpPr>
        <p:grpSpPr bwMode="auto">
          <a:xfrm>
            <a:off x="1219200" y="3581400"/>
            <a:ext cx="3886200" cy="585788"/>
            <a:chOff x="768" y="2256"/>
            <a:chExt cx="2448" cy="369"/>
          </a:xfrm>
        </p:grpSpPr>
        <p:grpSp>
          <p:nvGrpSpPr>
            <p:cNvPr id="121905" name="Group 64"/>
            <p:cNvGrpSpPr/>
            <p:nvPr/>
          </p:nvGrpSpPr>
          <p:grpSpPr bwMode="auto">
            <a:xfrm>
              <a:off x="768" y="2256"/>
              <a:ext cx="76" cy="369"/>
              <a:chOff x="768" y="2256"/>
              <a:chExt cx="76" cy="369"/>
            </a:xfrm>
          </p:grpSpPr>
          <p:sp>
            <p:nvSpPr>
              <p:cNvPr id="121909" name="Line 65"/>
              <p:cNvSpPr>
                <a:spLocks noChangeShapeType="1"/>
              </p:cNvSpPr>
              <p:nvPr/>
            </p:nvSpPr>
            <p:spPr bwMode="auto">
              <a:xfrm rot="-5400000">
                <a:off x="583" y="2441"/>
                <a:ext cx="369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1910" name="Line 66"/>
              <p:cNvSpPr>
                <a:spLocks noChangeShapeType="1"/>
              </p:cNvSpPr>
              <p:nvPr/>
            </p:nvSpPr>
            <p:spPr bwMode="auto">
              <a:xfrm rot="-5400000">
                <a:off x="732" y="2446"/>
                <a:ext cx="224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21906" name="Group 67"/>
            <p:cNvGrpSpPr/>
            <p:nvPr/>
          </p:nvGrpSpPr>
          <p:grpSpPr bwMode="auto">
            <a:xfrm>
              <a:off x="3140" y="2256"/>
              <a:ext cx="76" cy="369"/>
              <a:chOff x="3140" y="2256"/>
              <a:chExt cx="76" cy="369"/>
            </a:xfrm>
          </p:grpSpPr>
          <p:sp>
            <p:nvSpPr>
              <p:cNvPr id="121907" name="Line 68"/>
              <p:cNvSpPr>
                <a:spLocks noChangeShapeType="1"/>
              </p:cNvSpPr>
              <p:nvPr/>
            </p:nvSpPr>
            <p:spPr bwMode="auto">
              <a:xfrm rot="5400000">
                <a:off x="3031" y="2441"/>
                <a:ext cx="369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1908" name="Line 69"/>
              <p:cNvSpPr>
                <a:spLocks noChangeShapeType="1"/>
              </p:cNvSpPr>
              <p:nvPr/>
            </p:nvSpPr>
            <p:spPr bwMode="auto">
              <a:xfrm rot="5400000">
                <a:off x="3028" y="2436"/>
                <a:ext cx="224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sp>
        <p:nvSpPr>
          <p:cNvPr id="209990" name="Freeform 70"/>
          <p:cNvSpPr/>
          <p:nvPr/>
        </p:nvSpPr>
        <p:spPr bwMode="auto">
          <a:xfrm>
            <a:off x="5105400" y="3956050"/>
            <a:ext cx="333375" cy="1622425"/>
          </a:xfrm>
          <a:custGeom>
            <a:avLst/>
            <a:gdLst>
              <a:gd name="T0" fmla="*/ 0 w 192"/>
              <a:gd name="T1" fmla="*/ 0 h 672"/>
              <a:gd name="T2" fmla="*/ 2147483647 w 192"/>
              <a:gd name="T3" fmla="*/ 0 h 672"/>
              <a:gd name="T4" fmla="*/ 2147483647 w 192"/>
              <a:gd name="T5" fmla="*/ 2147483647 h 672"/>
              <a:gd name="T6" fmla="*/ 0 60000 65536"/>
              <a:gd name="T7" fmla="*/ 0 60000 65536"/>
              <a:gd name="T8" fmla="*/ 0 60000 65536"/>
              <a:gd name="T9" fmla="*/ 0 w 192"/>
              <a:gd name="T10" fmla="*/ 0 h 672"/>
              <a:gd name="T11" fmla="*/ 192 w 192"/>
              <a:gd name="T12" fmla="*/ 672 h 6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92" h="672">
                <a:moveTo>
                  <a:pt x="0" y="0"/>
                </a:moveTo>
                <a:lnTo>
                  <a:pt x="192" y="0"/>
                </a:lnTo>
                <a:lnTo>
                  <a:pt x="192" y="672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09991" name="Line 71"/>
          <p:cNvSpPr>
            <a:spLocks noChangeShapeType="1"/>
          </p:cNvSpPr>
          <p:nvPr/>
        </p:nvSpPr>
        <p:spPr bwMode="auto">
          <a:xfrm>
            <a:off x="5449888" y="5562600"/>
            <a:ext cx="354012" cy="0"/>
          </a:xfrm>
          <a:prstGeom prst="line">
            <a:avLst/>
          </a:prstGeom>
          <a:noFill/>
          <a:ln w="76200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09992" name="Freeform 72"/>
          <p:cNvSpPr/>
          <p:nvPr/>
        </p:nvSpPr>
        <p:spPr bwMode="auto">
          <a:xfrm>
            <a:off x="6042025" y="5738813"/>
            <a:ext cx="3175" cy="1138237"/>
          </a:xfrm>
          <a:custGeom>
            <a:avLst/>
            <a:gdLst>
              <a:gd name="T0" fmla="*/ 2147483647 w 2"/>
              <a:gd name="T1" fmla="*/ 2147483647 h 717"/>
              <a:gd name="T2" fmla="*/ 0 w 2"/>
              <a:gd name="T3" fmla="*/ 0 h 717"/>
              <a:gd name="T4" fmla="*/ 0 60000 65536"/>
              <a:gd name="T5" fmla="*/ 0 60000 65536"/>
              <a:gd name="T6" fmla="*/ 0 w 2"/>
              <a:gd name="T7" fmla="*/ 0 h 717"/>
              <a:gd name="T8" fmla="*/ 2 w 2"/>
              <a:gd name="T9" fmla="*/ 717 h 71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" h="717">
                <a:moveTo>
                  <a:pt x="2" y="717"/>
                </a:moveTo>
                <a:lnTo>
                  <a:pt x="0" y="0"/>
                </a:lnTo>
              </a:path>
            </a:pathLst>
          </a:custGeom>
          <a:noFill/>
          <a:ln w="76200">
            <a:solidFill>
              <a:schemeClr val="folHlink"/>
            </a:solidFill>
            <a:round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09993" name="AutoShape 73"/>
          <p:cNvSpPr>
            <a:spLocks noChangeArrowheads="1"/>
          </p:cNvSpPr>
          <p:nvPr/>
        </p:nvSpPr>
        <p:spPr bwMode="auto">
          <a:xfrm rot="5400000">
            <a:off x="5676900" y="5372100"/>
            <a:ext cx="685800" cy="457200"/>
          </a:xfrm>
          <a:prstGeom prst="triangle">
            <a:avLst>
              <a:gd name="adj" fmla="val 47912"/>
            </a:avLst>
          </a:prstGeom>
          <a:noFill/>
          <a:ln w="76200">
            <a:solidFill>
              <a:schemeClr val="folHlink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209994" name="Freeform 74"/>
          <p:cNvSpPr/>
          <p:nvPr/>
        </p:nvSpPr>
        <p:spPr bwMode="auto">
          <a:xfrm>
            <a:off x="4648200" y="1743075"/>
            <a:ext cx="830263" cy="1984375"/>
          </a:xfrm>
          <a:custGeom>
            <a:avLst/>
            <a:gdLst>
              <a:gd name="T0" fmla="*/ 2147483647 w 523"/>
              <a:gd name="T1" fmla="*/ 0 h 1250"/>
              <a:gd name="T2" fmla="*/ 0 w 523"/>
              <a:gd name="T3" fmla="*/ 2147483647 h 1250"/>
              <a:gd name="T4" fmla="*/ 2147483647 w 523"/>
              <a:gd name="T5" fmla="*/ 2147483647 h 1250"/>
              <a:gd name="T6" fmla="*/ 2147483647 w 523"/>
              <a:gd name="T7" fmla="*/ 2147483647 h 1250"/>
              <a:gd name="T8" fmla="*/ 2147483647 w 523"/>
              <a:gd name="T9" fmla="*/ 2147483647 h 12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23"/>
              <a:gd name="T16" fmla="*/ 0 h 1250"/>
              <a:gd name="T17" fmla="*/ 523 w 523"/>
              <a:gd name="T18" fmla="*/ 1250 h 12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23" h="1250">
                <a:moveTo>
                  <a:pt x="3" y="0"/>
                </a:moveTo>
                <a:lnTo>
                  <a:pt x="0" y="6"/>
                </a:lnTo>
                <a:lnTo>
                  <a:pt x="523" y="6"/>
                </a:lnTo>
                <a:lnTo>
                  <a:pt x="523" y="1250"/>
                </a:lnTo>
                <a:lnTo>
                  <a:pt x="278" y="1250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1" name="Group 75"/>
          <p:cNvGrpSpPr/>
          <p:nvPr/>
        </p:nvGrpSpPr>
        <p:grpSpPr bwMode="auto">
          <a:xfrm>
            <a:off x="5668963" y="2060575"/>
            <a:ext cx="3155950" cy="579438"/>
            <a:chOff x="3552" y="1344"/>
            <a:chExt cx="1988" cy="365"/>
          </a:xfrm>
        </p:grpSpPr>
        <p:sp>
          <p:nvSpPr>
            <p:cNvPr id="121902" name="Text Box 76"/>
            <p:cNvSpPr txBox="1">
              <a:spLocks noChangeArrowheads="1"/>
            </p:cNvSpPr>
            <p:nvPr/>
          </p:nvSpPr>
          <p:spPr bwMode="auto">
            <a:xfrm>
              <a:off x="3552" y="1344"/>
              <a:ext cx="1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54000" rIns="5400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行选</a:t>
              </a:r>
              <a:r>
                <a:rPr lang="zh-CN" altLang="en-US" sz="3200">
                  <a:latin typeface="Times New Roman" panose="02020603050405020304" pitchFamily="18" charset="0"/>
                </a:rPr>
                <a:t>     </a:t>
              </a:r>
            </a:p>
          </p:txBody>
        </p:sp>
        <p:sp>
          <p:nvSpPr>
            <p:cNvPr id="121903" name="Text Box 77"/>
            <p:cNvSpPr txBox="1">
              <a:spLocks noChangeArrowheads="1"/>
            </p:cNvSpPr>
            <p:nvPr/>
          </p:nvSpPr>
          <p:spPr bwMode="auto">
            <a:xfrm>
              <a:off x="4427" y="1382"/>
              <a:ext cx="111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8000" rIns="1800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T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5</a:t>
              </a:r>
              <a:r>
                <a:rPr lang="en-US" altLang="zh-CN" sz="2400">
                  <a:latin typeface="Times New Roman" panose="02020603050405020304" pitchFamily="18" charset="0"/>
                </a:rPr>
                <a:t>、T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6  </a:t>
              </a:r>
              <a:r>
                <a:rPr lang="zh-CN" altLang="en-US" sz="2400">
                  <a:latin typeface="Times New Roman" panose="02020603050405020304" pitchFamily="18" charset="0"/>
                </a:rPr>
                <a:t>开</a:t>
              </a:r>
            </a:p>
          </p:txBody>
        </p:sp>
        <p:sp>
          <p:nvSpPr>
            <p:cNvPr id="121904" name="Line 78"/>
            <p:cNvSpPr>
              <a:spLocks noChangeShapeType="1"/>
            </p:cNvSpPr>
            <p:nvPr/>
          </p:nvSpPr>
          <p:spPr bwMode="auto">
            <a:xfrm>
              <a:off x="4032" y="1536"/>
              <a:ext cx="30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09999" name="Freeform 79"/>
          <p:cNvSpPr/>
          <p:nvPr/>
        </p:nvSpPr>
        <p:spPr bwMode="auto">
          <a:xfrm>
            <a:off x="4643438" y="1714500"/>
            <a:ext cx="1587" cy="376238"/>
          </a:xfrm>
          <a:custGeom>
            <a:avLst/>
            <a:gdLst>
              <a:gd name="T0" fmla="*/ 0 w 1"/>
              <a:gd name="T1" fmla="*/ 2147483647 h 237"/>
              <a:gd name="T2" fmla="*/ 0 w 1"/>
              <a:gd name="T3" fmla="*/ 0 h 237"/>
              <a:gd name="T4" fmla="*/ 0 60000 65536"/>
              <a:gd name="T5" fmla="*/ 0 60000 65536"/>
              <a:gd name="T6" fmla="*/ 0 w 1"/>
              <a:gd name="T7" fmla="*/ 0 h 237"/>
              <a:gd name="T8" fmla="*/ 1 w 1"/>
              <a:gd name="T9" fmla="*/ 237 h 23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237">
                <a:moveTo>
                  <a:pt x="0" y="237"/>
                </a:moveTo>
                <a:lnTo>
                  <a:pt x="0" y="0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10000" name="Rectangle 80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grpSp>
        <p:nvGrpSpPr>
          <p:cNvPr id="12" name="Group 81"/>
          <p:cNvGrpSpPr/>
          <p:nvPr/>
        </p:nvGrpSpPr>
        <p:grpSpPr bwMode="auto">
          <a:xfrm>
            <a:off x="395288" y="2225675"/>
            <a:ext cx="4194175" cy="579438"/>
            <a:chOff x="249" y="1402"/>
            <a:chExt cx="2642" cy="365"/>
          </a:xfrm>
        </p:grpSpPr>
        <p:sp>
          <p:nvSpPr>
            <p:cNvPr id="121900" name="Freeform 82"/>
            <p:cNvSpPr/>
            <p:nvPr/>
          </p:nvSpPr>
          <p:spPr bwMode="auto">
            <a:xfrm>
              <a:off x="249" y="1402"/>
              <a:ext cx="2642" cy="365"/>
            </a:xfrm>
            <a:custGeom>
              <a:avLst/>
              <a:gdLst>
                <a:gd name="T0" fmla="*/ 1675 w 2736"/>
                <a:gd name="T1" fmla="*/ 0 h 240"/>
                <a:gd name="T2" fmla="*/ 1675 w 2736"/>
                <a:gd name="T3" fmla="*/ 85005 h 240"/>
                <a:gd name="T4" fmla="*/ 0 w 2736"/>
                <a:gd name="T5" fmla="*/ 85005 h 240"/>
                <a:gd name="T6" fmla="*/ 0 60000 65536"/>
                <a:gd name="T7" fmla="*/ 0 60000 65536"/>
                <a:gd name="T8" fmla="*/ 0 60000 65536"/>
                <a:gd name="T9" fmla="*/ 0 w 2736"/>
                <a:gd name="T10" fmla="*/ 0 h 240"/>
                <a:gd name="T11" fmla="*/ 2736 w 2736"/>
                <a:gd name="T12" fmla="*/ 240 h 2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736" h="240">
                  <a:moveTo>
                    <a:pt x="2736" y="0"/>
                  </a:moveTo>
                  <a:lnTo>
                    <a:pt x="2736" y="240"/>
                  </a:lnTo>
                  <a:lnTo>
                    <a:pt x="0" y="240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1901" name="Line 83"/>
            <p:cNvSpPr>
              <a:spLocks noChangeShapeType="1"/>
            </p:cNvSpPr>
            <p:nvPr/>
          </p:nvSpPr>
          <p:spPr bwMode="auto">
            <a:xfrm>
              <a:off x="1056" y="1402"/>
              <a:ext cx="0" cy="365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3" name="Group 84"/>
          <p:cNvGrpSpPr/>
          <p:nvPr/>
        </p:nvGrpSpPr>
        <p:grpSpPr bwMode="auto">
          <a:xfrm>
            <a:off x="1481138" y="2108200"/>
            <a:ext cx="3336925" cy="117475"/>
            <a:chOff x="933" y="1328"/>
            <a:chExt cx="2102" cy="74"/>
          </a:xfrm>
        </p:grpSpPr>
        <p:grpSp>
          <p:nvGrpSpPr>
            <p:cNvPr id="121894" name="Group 85"/>
            <p:cNvGrpSpPr/>
            <p:nvPr/>
          </p:nvGrpSpPr>
          <p:grpSpPr bwMode="auto">
            <a:xfrm>
              <a:off x="933" y="1328"/>
              <a:ext cx="264" cy="74"/>
              <a:chOff x="3459" y="1296"/>
              <a:chExt cx="243" cy="48"/>
            </a:xfrm>
          </p:grpSpPr>
          <p:sp>
            <p:nvSpPr>
              <p:cNvPr id="121898" name="Line 86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1899" name="Line 87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21895" name="Group 88"/>
            <p:cNvGrpSpPr/>
            <p:nvPr/>
          </p:nvGrpSpPr>
          <p:grpSpPr bwMode="auto">
            <a:xfrm>
              <a:off x="2770" y="1328"/>
              <a:ext cx="265" cy="74"/>
              <a:chOff x="3459" y="1296"/>
              <a:chExt cx="243" cy="48"/>
            </a:xfrm>
          </p:grpSpPr>
          <p:sp>
            <p:nvSpPr>
              <p:cNvPr id="121896" name="Line 89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1897" name="Line 90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grpSp>
        <p:nvGrpSpPr>
          <p:cNvPr id="16" name="Group 91"/>
          <p:cNvGrpSpPr/>
          <p:nvPr/>
        </p:nvGrpSpPr>
        <p:grpSpPr bwMode="auto">
          <a:xfrm>
            <a:off x="5745163" y="2746375"/>
            <a:ext cx="3079750" cy="457200"/>
            <a:chOff x="3600" y="1776"/>
            <a:chExt cx="1940" cy="288"/>
          </a:xfrm>
        </p:grpSpPr>
        <p:sp>
          <p:nvSpPr>
            <p:cNvPr id="121891" name="Text Box 92"/>
            <p:cNvSpPr txBox="1">
              <a:spLocks noChangeArrowheads="1"/>
            </p:cNvSpPr>
            <p:nvPr/>
          </p:nvSpPr>
          <p:spPr bwMode="auto">
            <a:xfrm>
              <a:off x="4427" y="1776"/>
              <a:ext cx="111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8000" rIns="1800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T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7</a:t>
              </a:r>
              <a:r>
                <a:rPr lang="en-US" altLang="zh-CN" sz="2400">
                  <a:latin typeface="Times New Roman" panose="02020603050405020304" pitchFamily="18" charset="0"/>
                </a:rPr>
                <a:t>、T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8  </a:t>
              </a:r>
              <a:r>
                <a:rPr lang="zh-CN" altLang="en-US" sz="2400">
                  <a:latin typeface="Times New Roman" panose="02020603050405020304" pitchFamily="18" charset="0"/>
                </a:rPr>
                <a:t>开</a:t>
              </a:r>
            </a:p>
          </p:txBody>
        </p:sp>
        <p:sp>
          <p:nvSpPr>
            <p:cNvPr id="121892" name="Text Box 93"/>
            <p:cNvSpPr txBox="1">
              <a:spLocks noChangeArrowheads="1"/>
            </p:cNvSpPr>
            <p:nvPr/>
          </p:nvSpPr>
          <p:spPr bwMode="auto">
            <a:xfrm>
              <a:off x="3600" y="1776"/>
              <a:ext cx="48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8000" rIns="1800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列选</a:t>
              </a:r>
            </a:p>
          </p:txBody>
        </p:sp>
        <p:sp>
          <p:nvSpPr>
            <p:cNvPr id="121893" name="Line 94"/>
            <p:cNvSpPr>
              <a:spLocks noChangeShapeType="1"/>
            </p:cNvSpPr>
            <p:nvPr/>
          </p:nvSpPr>
          <p:spPr bwMode="auto">
            <a:xfrm>
              <a:off x="4032" y="1929"/>
              <a:ext cx="30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7" name="Group 95"/>
          <p:cNvGrpSpPr/>
          <p:nvPr/>
        </p:nvGrpSpPr>
        <p:grpSpPr bwMode="auto">
          <a:xfrm>
            <a:off x="5734050" y="3871913"/>
            <a:ext cx="4132263" cy="1084262"/>
            <a:chOff x="3612" y="2149"/>
            <a:chExt cx="2603" cy="683"/>
          </a:xfrm>
        </p:grpSpPr>
        <p:sp>
          <p:nvSpPr>
            <p:cNvPr id="121881" name="Text Box 96"/>
            <p:cNvSpPr txBox="1">
              <a:spLocks noChangeArrowheads="1"/>
            </p:cNvSpPr>
            <p:nvPr/>
          </p:nvSpPr>
          <p:spPr bwMode="auto">
            <a:xfrm>
              <a:off x="4416" y="2544"/>
              <a:ext cx="5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8000" rIns="1800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读放</a:t>
              </a:r>
            </a:p>
          </p:txBody>
        </p:sp>
        <p:sp>
          <p:nvSpPr>
            <p:cNvPr id="121882" name="Text Box 97"/>
            <p:cNvSpPr txBox="1">
              <a:spLocks noChangeArrowheads="1"/>
            </p:cNvSpPr>
            <p:nvPr/>
          </p:nvSpPr>
          <p:spPr bwMode="auto">
            <a:xfrm>
              <a:off x="5136" y="2544"/>
              <a:ext cx="107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D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121883" name="Line 98"/>
            <p:cNvSpPr>
              <a:spLocks noChangeShapeType="1"/>
            </p:cNvSpPr>
            <p:nvPr/>
          </p:nvSpPr>
          <p:spPr bwMode="auto">
            <a:xfrm>
              <a:off x="4051" y="2688"/>
              <a:ext cx="30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1884" name="Line 99"/>
            <p:cNvSpPr>
              <a:spLocks noChangeShapeType="1"/>
            </p:cNvSpPr>
            <p:nvPr/>
          </p:nvSpPr>
          <p:spPr bwMode="auto">
            <a:xfrm>
              <a:off x="4850" y="2688"/>
              <a:ext cx="30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21885" name="Group 100"/>
            <p:cNvGrpSpPr/>
            <p:nvPr/>
          </p:nvGrpSpPr>
          <p:grpSpPr bwMode="auto">
            <a:xfrm>
              <a:off x="3612" y="2149"/>
              <a:ext cx="1832" cy="288"/>
              <a:chOff x="3612" y="2149"/>
              <a:chExt cx="1832" cy="288"/>
            </a:xfrm>
          </p:grpSpPr>
          <p:sp>
            <p:nvSpPr>
              <p:cNvPr id="121886" name="Text Box 101"/>
              <p:cNvSpPr txBox="1">
                <a:spLocks noChangeArrowheads="1"/>
              </p:cNvSpPr>
              <p:nvPr/>
            </p:nvSpPr>
            <p:spPr bwMode="auto">
              <a:xfrm>
                <a:off x="3612" y="2149"/>
                <a:ext cx="871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V</a:t>
                </a:r>
                <a:r>
                  <a:rPr lang="en-US" altLang="zh-CN" sz="2400" baseline="-25000">
                    <a:latin typeface="Times New Roman" panose="02020603050405020304" pitchFamily="18" charset="0"/>
                  </a:rPr>
                  <a:t>A</a:t>
                </a:r>
              </a:p>
            </p:txBody>
          </p:sp>
          <p:sp>
            <p:nvSpPr>
              <p:cNvPr id="121887" name="Line 102"/>
              <p:cNvSpPr>
                <a:spLocks noChangeShapeType="1"/>
              </p:cNvSpPr>
              <p:nvPr/>
            </p:nvSpPr>
            <p:spPr bwMode="auto">
              <a:xfrm>
                <a:off x="4051" y="2304"/>
                <a:ext cx="306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1888" name="Line 103"/>
              <p:cNvSpPr>
                <a:spLocks noChangeShapeType="1"/>
              </p:cNvSpPr>
              <p:nvPr/>
            </p:nvSpPr>
            <p:spPr bwMode="auto">
              <a:xfrm>
                <a:off x="4850" y="2304"/>
                <a:ext cx="306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1889" name="Rectangle 104"/>
              <p:cNvSpPr>
                <a:spLocks noChangeArrowheads="1"/>
              </p:cNvSpPr>
              <p:nvPr/>
            </p:nvSpPr>
            <p:spPr bwMode="auto">
              <a:xfrm>
                <a:off x="4446" y="2149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T</a:t>
                </a:r>
                <a:r>
                  <a:rPr lang="en-US" altLang="zh-CN" sz="2400" baseline="-25000">
                    <a:latin typeface="Times New Roman" panose="02020603050405020304" pitchFamily="18" charset="0"/>
                  </a:rPr>
                  <a:t>6</a:t>
                </a:r>
                <a:endParaRPr lang="zh-CN" altLang="en-US" sz="24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1890" name="Rectangle 105"/>
              <p:cNvSpPr>
                <a:spLocks noChangeArrowheads="1"/>
              </p:cNvSpPr>
              <p:nvPr/>
            </p:nvSpPr>
            <p:spPr bwMode="auto">
              <a:xfrm>
                <a:off x="5136" y="2149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T</a:t>
                </a:r>
                <a:r>
                  <a:rPr lang="en-US" altLang="zh-CN" sz="2400" baseline="-25000">
                    <a:latin typeface="Times New Roman" panose="02020603050405020304" pitchFamily="18" charset="0"/>
                  </a:rPr>
                  <a:t>8</a:t>
                </a:r>
                <a:endParaRPr lang="zh-CN" altLang="en-US" sz="2400" baseline="-2500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19" name="Group 106"/>
          <p:cNvGrpSpPr/>
          <p:nvPr/>
        </p:nvGrpSpPr>
        <p:grpSpPr bwMode="auto">
          <a:xfrm>
            <a:off x="6229350" y="5105400"/>
            <a:ext cx="1158875" cy="482600"/>
            <a:chOff x="3924" y="3216"/>
            <a:chExt cx="730" cy="304"/>
          </a:xfrm>
        </p:grpSpPr>
        <p:sp>
          <p:nvSpPr>
            <p:cNvPr id="121879" name="Freeform 107"/>
            <p:cNvSpPr/>
            <p:nvPr/>
          </p:nvSpPr>
          <p:spPr bwMode="auto">
            <a:xfrm>
              <a:off x="3924" y="3519"/>
              <a:ext cx="398" cy="1"/>
            </a:xfrm>
            <a:custGeom>
              <a:avLst/>
              <a:gdLst>
                <a:gd name="T0" fmla="*/ 0 w 398"/>
                <a:gd name="T1" fmla="*/ 0 h 1"/>
                <a:gd name="T2" fmla="*/ 398 w 398"/>
                <a:gd name="T3" fmla="*/ 0 h 1"/>
                <a:gd name="T4" fmla="*/ 0 60000 65536"/>
                <a:gd name="T5" fmla="*/ 0 60000 65536"/>
                <a:gd name="T6" fmla="*/ 0 w 398"/>
                <a:gd name="T7" fmla="*/ 0 h 1"/>
                <a:gd name="T8" fmla="*/ 398 w 39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8" h="1">
                  <a:moveTo>
                    <a:pt x="0" y="0"/>
                  </a:moveTo>
                  <a:lnTo>
                    <a:pt x="398" y="0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tailEnd type="stealth" w="med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1880" name="Text Box 108"/>
            <p:cNvSpPr txBox="1">
              <a:spLocks noChangeArrowheads="1"/>
            </p:cNvSpPr>
            <p:nvPr/>
          </p:nvSpPr>
          <p:spPr bwMode="auto">
            <a:xfrm>
              <a:off x="4122" y="3216"/>
              <a:ext cx="5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D</a:t>
              </a:r>
              <a:r>
                <a:rPr lang="en-US" altLang="zh-CN" sz="2400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OUT</a:t>
              </a:r>
            </a:p>
          </p:txBody>
        </p:sp>
      </p:grpSp>
      <p:sp>
        <p:nvSpPr>
          <p:cNvPr id="210029" name="Text Box 109"/>
          <p:cNvSpPr txBox="1">
            <a:spLocks noChangeArrowheads="1"/>
          </p:cNvSpPr>
          <p:nvPr/>
        </p:nvSpPr>
        <p:spPr bwMode="auto">
          <a:xfrm>
            <a:off x="5676900" y="3322638"/>
            <a:ext cx="26654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读选择有效</a:t>
            </a:r>
          </a:p>
        </p:txBody>
      </p:sp>
      <p:sp>
        <p:nvSpPr>
          <p:cNvPr id="121878" name="AutoShape 110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8" presetClass="entr" presetSubtype="3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1" dur="500"/>
                                        <p:tgtEl>
                                          <p:spTgt spid="2099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5" dur="500"/>
                                        <p:tgtEl>
                                          <p:spTgt spid="2099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000"/>
                            </p:stCondLst>
                            <p:childTnLst>
                              <p:par>
                                <p:cTn id="3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" dur="500"/>
                                        <p:tgtEl>
                                          <p:spTgt spid="210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8" presetClass="entr" presetSubtype="9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49" dur="500"/>
                                        <p:tgtEl>
                                          <p:spTgt spid="2099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9" dur="500"/>
                                        <p:tgtEl>
                                          <p:spTgt spid="2099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8" presetClass="entr" presetSubtype="3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4" dur="500"/>
                                        <p:tgtEl>
                                          <p:spTgt spid="2099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00"/>
                            </p:stCondLst>
                            <p:childTnLst>
                              <p:par>
                                <p:cTn id="66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8" dur="500"/>
                                        <p:tgtEl>
                                          <p:spTgt spid="2099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3" dur="500"/>
                                        <p:tgtEl>
                                          <p:spTgt spid="2099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500"/>
                            </p:stCondLst>
                            <p:childTnLst>
                              <p:par>
                                <p:cTn id="75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7" dur="500"/>
                                        <p:tgtEl>
                                          <p:spTgt spid="2099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1000"/>
                            </p:stCondLst>
                            <p:childTnLst>
                              <p:par>
                                <p:cTn id="79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1" dur="500"/>
                                        <p:tgtEl>
                                          <p:spTgt spid="2099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9980" grpId="0" animBg="1"/>
      <p:bldP spid="209981" grpId="0" animBg="1"/>
      <p:bldP spid="209982" grpId="0" animBg="1"/>
      <p:bldP spid="209990" grpId="0" animBg="1"/>
      <p:bldP spid="209991" grpId="0" animBg="1"/>
      <p:bldP spid="209992" grpId="0" animBg="1"/>
      <p:bldP spid="209993" grpId="0" animBg="1"/>
      <p:bldP spid="209994" grpId="0" animBg="1"/>
      <p:bldP spid="209999" grpId="0" animBg="1"/>
      <p:bldP spid="210029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212725" y="1020763"/>
            <a:ext cx="7202488" cy="5257800"/>
            <a:chOff x="134" y="643"/>
            <a:chExt cx="4537" cy="3312"/>
          </a:xfrm>
        </p:grpSpPr>
        <p:sp>
          <p:nvSpPr>
            <p:cNvPr id="122966" name="Rectangle 3"/>
            <p:cNvSpPr>
              <a:spLocks noChangeArrowheads="1"/>
            </p:cNvSpPr>
            <p:nvPr/>
          </p:nvSpPr>
          <p:spPr bwMode="auto">
            <a:xfrm>
              <a:off x="1413" y="798"/>
              <a:ext cx="1009" cy="40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2967" name="Text Box 4"/>
            <p:cNvSpPr txBox="1">
              <a:spLocks noChangeArrowheads="1"/>
            </p:cNvSpPr>
            <p:nvPr/>
          </p:nvSpPr>
          <p:spPr bwMode="auto">
            <a:xfrm>
              <a:off x="1451" y="801"/>
              <a:ext cx="90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T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1</a:t>
              </a:r>
              <a:r>
                <a:rPr lang="en-US" altLang="zh-CN" sz="2800" b="0">
                  <a:latin typeface="Times New Roman" panose="02020603050405020304" pitchFamily="18" charset="0"/>
                </a:rPr>
                <a:t>   ~  </a:t>
              </a:r>
              <a:r>
                <a:rPr lang="en-US" altLang="zh-CN" sz="2400">
                  <a:latin typeface="Times New Roman" panose="02020603050405020304" pitchFamily="18" charset="0"/>
                </a:rPr>
                <a:t>T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4</a:t>
              </a:r>
              <a:endParaRPr lang="zh-CN" altLang="en-US" sz="24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122968" name="Freeform 5"/>
            <p:cNvSpPr/>
            <p:nvPr/>
          </p:nvSpPr>
          <p:spPr bwMode="auto">
            <a:xfrm>
              <a:off x="2422" y="1034"/>
              <a:ext cx="310" cy="171"/>
            </a:xfrm>
            <a:custGeom>
              <a:avLst/>
              <a:gdLst>
                <a:gd name="T0" fmla="*/ 0 w 310"/>
                <a:gd name="T1" fmla="*/ 1 h 171"/>
                <a:gd name="T2" fmla="*/ 308 w 310"/>
                <a:gd name="T3" fmla="*/ 0 h 171"/>
                <a:gd name="T4" fmla="*/ 310 w 310"/>
                <a:gd name="T5" fmla="*/ 171 h 171"/>
                <a:gd name="T6" fmla="*/ 0 60000 65536"/>
                <a:gd name="T7" fmla="*/ 0 60000 65536"/>
                <a:gd name="T8" fmla="*/ 0 60000 65536"/>
                <a:gd name="T9" fmla="*/ 0 w 310"/>
                <a:gd name="T10" fmla="*/ 0 h 171"/>
                <a:gd name="T11" fmla="*/ 310 w 310"/>
                <a:gd name="T12" fmla="*/ 171 h 17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10" h="171">
                  <a:moveTo>
                    <a:pt x="0" y="1"/>
                  </a:moveTo>
                  <a:lnTo>
                    <a:pt x="308" y="0"/>
                  </a:lnTo>
                  <a:lnTo>
                    <a:pt x="310" y="17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2969" name="Freeform 6"/>
            <p:cNvSpPr/>
            <p:nvPr/>
          </p:nvSpPr>
          <p:spPr bwMode="auto">
            <a:xfrm>
              <a:off x="1106" y="1029"/>
              <a:ext cx="291" cy="179"/>
            </a:xfrm>
            <a:custGeom>
              <a:avLst/>
              <a:gdLst>
                <a:gd name="T0" fmla="*/ 291 w 291"/>
                <a:gd name="T1" fmla="*/ 0 h 179"/>
                <a:gd name="T2" fmla="*/ 0 w 291"/>
                <a:gd name="T3" fmla="*/ 2 h 179"/>
                <a:gd name="T4" fmla="*/ 0 w 291"/>
                <a:gd name="T5" fmla="*/ 179 h 179"/>
                <a:gd name="T6" fmla="*/ 0 60000 65536"/>
                <a:gd name="T7" fmla="*/ 0 60000 65536"/>
                <a:gd name="T8" fmla="*/ 0 60000 65536"/>
                <a:gd name="T9" fmla="*/ 0 w 291"/>
                <a:gd name="T10" fmla="*/ 0 h 179"/>
                <a:gd name="T11" fmla="*/ 291 w 291"/>
                <a:gd name="T12" fmla="*/ 179 h 17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91" h="179">
                  <a:moveTo>
                    <a:pt x="291" y="0"/>
                  </a:moveTo>
                  <a:lnTo>
                    <a:pt x="0" y="2"/>
                  </a:lnTo>
                  <a:lnTo>
                    <a:pt x="0" y="17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22970" name="Group 7"/>
            <p:cNvGrpSpPr/>
            <p:nvPr/>
          </p:nvGrpSpPr>
          <p:grpSpPr bwMode="auto">
            <a:xfrm>
              <a:off x="2673" y="1213"/>
              <a:ext cx="256" cy="60"/>
              <a:chOff x="2673" y="1213"/>
              <a:chExt cx="256" cy="60"/>
            </a:xfrm>
          </p:grpSpPr>
          <p:sp>
            <p:nvSpPr>
              <p:cNvPr id="123018" name="Line 8"/>
              <p:cNvSpPr>
                <a:spLocks noChangeShapeType="1"/>
              </p:cNvSpPr>
              <p:nvPr/>
            </p:nvSpPr>
            <p:spPr bwMode="auto">
              <a:xfrm>
                <a:off x="2673" y="1213"/>
                <a:ext cx="25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3019" name="Line 9"/>
              <p:cNvSpPr>
                <a:spLocks noChangeShapeType="1"/>
              </p:cNvSpPr>
              <p:nvPr/>
            </p:nvSpPr>
            <p:spPr bwMode="auto">
              <a:xfrm>
                <a:off x="2720" y="1273"/>
                <a:ext cx="15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22971" name="Group 10"/>
            <p:cNvGrpSpPr/>
            <p:nvPr/>
          </p:nvGrpSpPr>
          <p:grpSpPr bwMode="auto">
            <a:xfrm>
              <a:off x="941" y="1212"/>
              <a:ext cx="244" cy="62"/>
              <a:chOff x="941" y="1212"/>
              <a:chExt cx="244" cy="62"/>
            </a:xfrm>
          </p:grpSpPr>
          <p:sp>
            <p:nvSpPr>
              <p:cNvPr id="123016" name="Freeform 11"/>
              <p:cNvSpPr/>
              <p:nvPr/>
            </p:nvSpPr>
            <p:spPr bwMode="auto">
              <a:xfrm>
                <a:off x="941" y="1212"/>
                <a:ext cx="244" cy="1"/>
              </a:xfrm>
              <a:custGeom>
                <a:avLst/>
                <a:gdLst>
                  <a:gd name="T0" fmla="*/ 0 w 244"/>
                  <a:gd name="T1" fmla="*/ 1 h 1"/>
                  <a:gd name="T2" fmla="*/ 244 w 244"/>
                  <a:gd name="T3" fmla="*/ 0 h 1"/>
                  <a:gd name="T4" fmla="*/ 0 60000 65536"/>
                  <a:gd name="T5" fmla="*/ 0 60000 65536"/>
                  <a:gd name="T6" fmla="*/ 0 w 244"/>
                  <a:gd name="T7" fmla="*/ 0 h 1"/>
                  <a:gd name="T8" fmla="*/ 244 w 24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44" h="1">
                    <a:moveTo>
                      <a:pt x="0" y="1"/>
                    </a:moveTo>
                    <a:lnTo>
                      <a:pt x="244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3017" name="Freeform 12"/>
              <p:cNvSpPr/>
              <p:nvPr/>
            </p:nvSpPr>
            <p:spPr bwMode="auto">
              <a:xfrm>
                <a:off x="988" y="1273"/>
                <a:ext cx="149" cy="1"/>
              </a:xfrm>
              <a:custGeom>
                <a:avLst/>
                <a:gdLst>
                  <a:gd name="T0" fmla="*/ 0 w 149"/>
                  <a:gd name="T1" fmla="*/ 0 h 1"/>
                  <a:gd name="T2" fmla="*/ 149 w 149"/>
                  <a:gd name="T3" fmla="*/ 1 h 1"/>
                  <a:gd name="T4" fmla="*/ 0 60000 65536"/>
                  <a:gd name="T5" fmla="*/ 0 60000 65536"/>
                  <a:gd name="T6" fmla="*/ 0 w 149"/>
                  <a:gd name="T7" fmla="*/ 0 h 1"/>
                  <a:gd name="T8" fmla="*/ 149 w 14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49" h="1">
                    <a:moveTo>
                      <a:pt x="0" y="0"/>
                    </a:moveTo>
                    <a:lnTo>
                      <a:pt x="149" y="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22972" name="Group 13"/>
            <p:cNvGrpSpPr/>
            <p:nvPr/>
          </p:nvGrpSpPr>
          <p:grpSpPr bwMode="auto">
            <a:xfrm>
              <a:off x="3045" y="1965"/>
              <a:ext cx="75" cy="303"/>
              <a:chOff x="3045" y="1965"/>
              <a:chExt cx="75" cy="303"/>
            </a:xfrm>
          </p:grpSpPr>
          <p:sp>
            <p:nvSpPr>
              <p:cNvPr id="123014" name="Freeform 14"/>
              <p:cNvSpPr/>
              <p:nvPr/>
            </p:nvSpPr>
            <p:spPr bwMode="auto">
              <a:xfrm>
                <a:off x="3119" y="1965"/>
                <a:ext cx="1" cy="303"/>
              </a:xfrm>
              <a:custGeom>
                <a:avLst/>
                <a:gdLst>
                  <a:gd name="T0" fmla="*/ 0 w 1"/>
                  <a:gd name="T1" fmla="*/ 0 h 303"/>
                  <a:gd name="T2" fmla="*/ 0 w 1"/>
                  <a:gd name="T3" fmla="*/ 303 h 303"/>
                  <a:gd name="T4" fmla="*/ 0 60000 65536"/>
                  <a:gd name="T5" fmla="*/ 0 60000 65536"/>
                  <a:gd name="T6" fmla="*/ 0 w 1"/>
                  <a:gd name="T7" fmla="*/ 0 h 303"/>
                  <a:gd name="T8" fmla="*/ 1 w 1"/>
                  <a:gd name="T9" fmla="*/ 303 h 30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303">
                    <a:moveTo>
                      <a:pt x="0" y="0"/>
                    </a:moveTo>
                    <a:lnTo>
                      <a:pt x="0" y="30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3015" name="Freeform 15"/>
              <p:cNvSpPr/>
              <p:nvPr/>
            </p:nvSpPr>
            <p:spPr bwMode="auto">
              <a:xfrm>
                <a:off x="3045" y="2025"/>
                <a:ext cx="1" cy="179"/>
              </a:xfrm>
              <a:custGeom>
                <a:avLst/>
                <a:gdLst>
                  <a:gd name="T0" fmla="*/ 0 w 1"/>
                  <a:gd name="T1" fmla="*/ 0 h 179"/>
                  <a:gd name="T2" fmla="*/ 0 w 1"/>
                  <a:gd name="T3" fmla="*/ 179 h 179"/>
                  <a:gd name="T4" fmla="*/ 0 60000 65536"/>
                  <a:gd name="T5" fmla="*/ 0 60000 65536"/>
                  <a:gd name="T6" fmla="*/ 0 w 1"/>
                  <a:gd name="T7" fmla="*/ 0 h 179"/>
                  <a:gd name="T8" fmla="*/ 1 w 1"/>
                  <a:gd name="T9" fmla="*/ 179 h 17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9">
                    <a:moveTo>
                      <a:pt x="0" y="0"/>
                    </a:moveTo>
                    <a:lnTo>
                      <a:pt x="0" y="179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22973" name="Group 16"/>
            <p:cNvGrpSpPr/>
            <p:nvPr/>
          </p:nvGrpSpPr>
          <p:grpSpPr bwMode="auto">
            <a:xfrm>
              <a:off x="747" y="1968"/>
              <a:ext cx="75" cy="297"/>
              <a:chOff x="747" y="1968"/>
              <a:chExt cx="75" cy="297"/>
            </a:xfrm>
          </p:grpSpPr>
          <p:sp>
            <p:nvSpPr>
              <p:cNvPr id="123012" name="Freeform 17"/>
              <p:cNvSpPr/>
              <p:nvPr/>
            </p:nvSpPr>
            <p:spPr bwMode="auto">
              <a:xfrm>
                <a:off x="747" y="1968"/>
                <a:ext cx="1" cy="297"/>
              </a:xfrm>
              <a:custGeom>
                <a:avLst/>
                <a:gdLst>
                  <a:gd name="T0" fmla="*/ 0 w 1"/>
                  <a:gd name="T1" fmla="*/ 297 h 297"/>
                  <a:gd name="T2" fmla="*/ 0 w 1"/>
                  <a:gd name="T3" fmla="*/ 0 h 297"/>
                  <a:gd name="T4" fmla="*/ 0 60000 65536"/>
                  <a:gd name="T5" fmla="*/ 0 60000 65536"/>
                  <a:gd name="T6" fmla="*/ 0 w 1"/>
                  <a:gd name="T7" fmla="*/ 0 h 297"/>
                  <a:gd name="T8" fmla="*/ 1 w 1"/>
                  <a:gd name="T9" fmla="*/ 297 h 29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97">
                    <a:moveTo>
                      <a:pt x="0" y="297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3013" name="Freeform 18"/>
              <p:cNvSpPr/>
              <p:nvPr/>
            </p:nvSpPr>
            <p:spPr bwMode="auto">
              <a:xfrm>
                <a:off x="821" y="2033"/>
                <a:ext cx="1" cy="180"/>
              </a:xfrm>
              <a:custGeom>
                <a:avLst/>
                <a:gdLst>
                  <a:gd name="T0" fmla="*/ 0 w 1"/>
                  <a:gd name="T1" fmla="*/ 180 h 180"/>
                  <a:gd name="T2" fmla="*/ 1 w 1"/>
                  <a:gd name="T3" fmla="*/ 0 h 180"/>
                  <a:gd name="T4" fmla="*/ 0 60000 65536"/>
                  <a:gd name="T5" fmla="*/ 0 60000 65536"/>
                  <a:gd name="T6" fmla="*/ 0 w 1"/>
                  <a:gd name="T7" fmla="*/ 0 h 180"/>
                  <a:gd name="T8" fmla="*/ 1 w 1"/>
                  <a:gd name="T9" fmla="*/ 180 h 18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80">
                    <a:moveTo>
                      <a:pt x="0" y="180"/>
                    </a:move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22974" name="Freeform 19"/>
            <p:cNvSpPr/>
            <p:nvPr/>
          </p:nvSpPr>
          <p:spPr bwMode="auto">
            <a:xfrm>
              <a:off x="816" y="2112"/>
              <a:ext cx="2217" cy="3"/>
            </a:xfrm>
            <a:custGeom>
              <a:avLst/>
              <a:gdLst>
                <a:gd name="T0" fmla="*/ 0 w 2225"/>
                <a:gd name="T1" fmla="*/ 0 h 3"/>
                <a:gd name="T2" fmla="*/ 2113 w 2225"/>
                <a:gd name="T3" fmla="*/ 3 h 3"/>
                <a:gd name="T4" fmla="*/ 0 60000 65536"/>
                <a:gd name="T5" fmla="*/ 0 60000 65536"/>
                <a:gd name="T6" fmla="*/ 0 w 2225"/>
                <a:gd name="T7" fmla="*/ 0 h 3"/>
                <a:gd name="T8" fmla="*/ 2225 w 2225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5" h="3">
                  <a:moveTo>
                    <a:pt x="0" y="0"/>
                  </a:moveTo>
                  <a:lnTo>
                    <a:pt x="2225" y="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2975" name="Freeform 20"/>
            <p:cNvSpPr/>
            <p:nvPr/>
          </p:nvSpPr>
          <p:spPr bwMode="auto">
            <a:xfrm>
              <a:off x="3128" y="2163"/>
              <a:ext cx="202" cy="832"/>
            </a:xfrm>
            <a:custGeom>
              <a:avLst/>
              <a:gdLst>
                <a:gd name="T0" fmla="*/ 0 w 192"/>
                <a:gd name="T1" fmla="*/ 0 h 672"/>
                <a:gd name="T2" fmla="*/ 392 w 192"/>
                <a:gd name="T3" fmla="*/ 0 h 672"/>
                <a:gd name="T4" fmla="*/ 392 w 192"/>
                <a:gd name="T5" fmla="*/ 13359 h 672"/>
                <a:gd name="T6" fmla="*/ 0 60000 65536"/>
                <a:gd name="T7" fmla="*/ 0 60000 65536"/>
                <a:gd name="T8" fmla="*/ 0 60000 65536"/>
                <a:gd name="T9" fmla="*/ 0 w 192"/>
                <a:gd name="T10" fmla="*/ 0 h 672"/>
                <a:gd name="T11" fmla="*/ 192 w 192"/>
                <a:gd name="T12" fmla="*/ 672 h 67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2" h="672">
                  <a:moveTo>
                    <a:pt x="0" y="0"/>
                  </a:moveTo>
                  <a:lnTo>
                    <a:pt x="192" y="0"/>
                  </a:lnTo>
                  <a:lnTo>
                    <a:pt x="192" y="67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2976" name="AutoShape 21"/>
            <p:cNvSpPr>
              <a:spLocks noChangeArrowheads="1"/>
            </p:cNvSpPr>
            <p:nvPr/>
          </p:nvSpPr>
          <p:spPr bwMode="auto">
            <a:xfrm rot="5400000">
              <a:off x="2024" y="2840"/>
              <a:ext cx="356" cy="302"/>
            </a:xfrm>
            <a:prstGeom prst="triangle">
              <a:avLst>
                <a:gd name="adj" fmla="val 50000"/>
              </a:avLst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2977" name="AutoShape 22"/>
            <p:cNvSpPr>
              <a:spLocks noChangeArrowheads="1"/>
            </p:cNvSpPr>
            <p:nvPr/>
          </p:nvSpPr>
          <p:spPr bwMode="auto">
            <a:xfrm rot="-5400000">
              <a:off x="1404" y="2837"/>
              <a:ext cx="356" cy="302"/>
            </a:xfrm>
            <a:prstGeom prst="triangle">
              <a:avLst>
                <a:gd name="adj" fmla="val 50000"/>
              </a:avLst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2978" name="Oval 23"/>
            <p:cNvSpPr>
              <a:spLocks noChangeArrowheads="1"/>
            </p:cNvSpPr>
            <p:nvPr/>
          </p:nvSpPr>
          <p:spPr bwMode="auto">
            <a:xfrm rot="10800000">
              <a:off x="1343" y="2956"/>
              <a:ext cx="68" cy="6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2979" name="Freeform 24"/>
            <p:cNvSpPr/>
            <p:nvPr/>
          </p:nvSpPr>
          <p:spPr bwMode="auto">
            <a:xfrm>
              <a:off x="2352" y="2987"/>
              <a:ext cx="1181" cy="1"/>
            </a:xfrm>
            <a:custGeom>
              <a:avLst/>
              <a:gdLst>
                <a:gd name="T0" fmla="*/ 0 w 1181"/>
                <a:gd name="T1" fmla="*/ 0 h 1"/>
                <a:gd name="T2" fmla="*/ 1181 w 1181"/>
                <a:gd name="T3" fmla="*/ 1 h 1"/>
                <a:gd name="T4" fmla="*/ 0 60000 65536"/>
                <a:gd name="T5" fmla="*/ 0 60000 65536"/>
                <a:gd name="T6" fmla="*/ 0 w 1181"/>
                <a:gd name="T7" fmla="*/ 0 h 1"/>
                <a:gd name="T8" fmla="*/ 1181 w 1181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81" h="1">
                  <a:moveTo>
                    <a:pt x="0" y="0"/>
                  </a:moveTo>
                  <a:lnTo>
                    <a:pt x="1181" y="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2980" name="AutoShape 25"/>
            <p:cNvSpPr>
              <a:spLocks noChangeArrowheads="1"/>
            </p:cNvSpPr>
            <p:nvPr/>
          </p:nvSpPr>
          <p:spPr bwMode="auto">
            <a:xfrm rot="5400000">
              <a:off x="3506" y="2843"/>
              <a:ext cx="356" cy="303"/>
            </a:xfrm>
            <a:prstGeom prst="triangle">
              <a:avLst>
                <a:gd name="adj" fmla="val 50000"/>
              </a:avLst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2981" name="Line 26"/>
            <p:cNvSpPr>
              <a:spLocks noChangeShapeType="1"/>
            </p:cNvSpPr>
            <p:nvPr/>
          </p:nvSpPr>
          <p:spPr bwMode="auto">
            <a:xfrm>
              <a:off x="3835" y="2995"/>
              <a:ext cx="35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2982" name="Freeform 27"/>
            <p:cNvSpPr/>
            <p:nvPr/>
          </p:nvSpPr>
          <p:spPr bwMode="auto">
            <a:xfrm>
              <a:off x="1731" y="2994"/>
              <a:ext cx="320" cy="2"/>
            </a:xfrm>
            <a:custGeom>
              <a:avLst/>
              <a:gdLst>
                <a:gd name="T0" fmla="*/ 0 w 320"/>
                <a:gd name="T1" fmla="*/ 0 h 2"/>
                <a:gd name="T2" fmla="*/ 320 w 320"/>
                <a:gd name="T3" fmla="*/ 2 h 2"/>
                <a:gd name="T4" fmla="*/ 0 60000 65536"/>
                <a:gd name="T5" fmla="*/ 0 60000 65536"/>
                <a:gd name="T6" fmla="*/ 0 w 320"/>
                <a:gd name="T7" fmla="*/ 0 h 2"/>
                <a:gd name="T8" fmla="*/ 320 w 320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20" h="2">
                  <a:moveTo>
                    <a:pt x="0" y="0"/>
                  </a:moveTo>
                  <a:lnTo>
                    <a:pt x="320" y="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2983" name="Freeform 28"/>
            <p:cNvSpPr/>
            <p:nvPr/>
          </p:nvSpPr>
          <p:spPr bwMode="auto">
            <a:xfrm>
              <a:off x="1880" y="2996"/>
              <a:ext cx="1" cy="649"/>
            </a:xfrm>
            <a:custGeom>
              <a:avLst/>
              <a:gdLst>
                <a:gd name="T0" fmla="*/ 0 w 1"/>
                <a:gd name="T1" fmla="*/ 0 h 649"/>
                <a:gd name="T2" fmla="*/ 0 w 1"/>
                <a:gd name="T3" fmla="*/ 649 h 649"/>
                <a:gd name="T4" fmla="*/ 0 60000 65536"/>
                <a:gd name="T5" fmla="*/ 0 60000 65536"/>
                <a:gd name="T6" fmla="*/ 0 w 1"/>
                <a:gd name="T7" fmla="*/ 0 h 649"/>
                <a:gd name="T8" fmla="*/ 1 w 1"/>
                <a:gd name="T9" fmla="*/ 649 h 64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649">
                  <a:moveTo>
                    <a:pt x="0" y="0"/>
                  </a:moveTo>
                  <a:lnTo>
                    <a:pt x="0" y="649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2984" name="Freeform 29"/>
            <p:cNvSpPr/>
            <p:nvPr/>
          </p:nvSpPr>
          <p:spPr bwMode="auto">
            <a:xfrm>
              <a:off x="2202" y="3074"/>
              <a:ext cx="2" cy="571"/>
            </a:xfrm>
            <a:custGeom>
              <a:avLst/>
              <a:gdLst>
                <a:gd name="T0" fmla="*/ 0 w 2"/>
                <a:gd name="T1" fmla="*/ 571 h 571"/>
                <a:gd name="T2" fmla="*/ 2 w 2"/>
                <a:gd name="T3" fmla="*/ 0 h 571"/>
                <a:gd name="T4" fmla="*/ 0 60000 65536"/>
                <a:gd name="T5" fmla="*/ 0 60000 65536"/>
                <a:gd name="T6" fmla="*/ 0 w 2"/>
                <a:gd name="T7" fmla="*/ 0 h 571"/>
                <a:gd name="T8" fmla="*/ 2 w 2"/>
                <a:gd name="T9" fmla="*/ 571 h 57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571">
                  <a:moveTo>
                    <a:pt x="0" y="571"/>
                  </a:moveTo>
                  <a:lnTo>
                    <a:pt x="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tailEnd type="stealth" w="med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2985" name="Freeform 30"/>
            <p:cNvSpPr/>
            <p:nvPr/>
          </p:nvSpPr>
          <p:spPr bwMode="auto">
            <a:xfrm>
              <a:off x="1553" y="3043"/>
              <a:ext cx="652" cy="377"/>
            </a:xfrm>
            <a:custGeom>
              <a:avLst/>
              <a:gdLst>
                <a:gd name="T0" fmla="*/ 0 w 652"/>
                <a:gd name="T1" fmla="*/ 0 h 377"/>
                <a:gd name="T2" fmla="*/ 1 w 652"/>
                <a:gd name="T3" fmla="*/ 377 h 377"/>
                <a:gd name="T4" fmla="*/ 652 w 652"/>
                <a:gd name="T5" fmla="*/ 374 h 377"/>
                <a:gd name="T6" fmla="*/ 0 60000 65536"/>
                <a:gd name="T7" fmla="*/ 0 60000 65536"/>
                <a:gd name="T8" fmla="*/ 0 60000 65536"/>
                <a:gd name="T9" fmla="*/ 0 w 652"/>
                <a:gd name="T10" fmla="*/ 0 h 377"/>
                <a:gd name="T11" fmla="*/ 652 w 652"/>
                <a:gd name="T12" fmla="*/ 377 h 37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52" h="377">
                  <a:moveTo>
                    <a:pt x="0" y="0"/>
                  </a:moveTo>
                  <a:lnTo>
                    <a:pt x="1" y="377"/>
                  </a:lnTo>
                  <a:lnTo>
                    <a:pt x="652" y="37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stealth" w="med" len="lg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2986" name="Freeform 31"/>
            <p:cNvSpPr/>
            <p:nvPr/>
          </p:nvSpPr>
          <p:spPr bwMode="auto">
            <a:xfrm>
              <a:off x="492" y="2159"/>
              <a:ext cx="858" cy="829"/>
            </a:xfrm>
            <a:custGeom>
              <a:avLst/>
              <a:gdLst>
                <a:gd name="T0" fmla="*/ 266 w 858"/>
                <a:gd name="T1" fmla="*/ 0 h 829"/>
                <a:gd name="T2" fmla="*/ 0 w 858"/>
                <a:gd name="T3" fmla="*/ 0 h 829"/>
                <a:gd name="T4" fmla="*/ 0 w 858"/>
                <a:gd name="T5" fmla="*/ 828 h 829"/>
                <a:gd name="T6" fmla="*/ 858 w 858"/>
                <a:gd name="T7" fmla="*/ 829 h 82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58"/>
                <a:gd name="T13" fmla="*/ 0 h 829"/>
                <a:gd name="T14" fmla="*/ 858 w 858"/>
                <a:gd name="T15" fmla="*/ 829 h 82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58" h="829">
                  <a:moveTo>
                    <a:pt x="266" y="0"/>
                  </a:moveTo>
                  <a:lnTo>
                    <a:pt x="0" y="0"/>
                  </a:lnTo>
                  <a:lnTo>
                    <a:pt x="0" y="828"/>
                  </a:lnTo>
                  <a:lnTo>
                    <a:pt x="858" y="82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2987" name="Freeform 32"/>
            <p:cNvSpPr/>
            <p:nvPr/>
          </p:nvSpPr>
          <p:spPr bwMode="auto">
            <a:xfrm>
              <a:off x="302" y="2104"/>
              <a:ext cx="1615" cy="475"/>
            </a:xfrm>
            <a:custGeom>
              <a:avLst/>
              <a:gdLst>
                <a:gd name="T0" fmla="*/ 236 w 1872"/>
                <a:gd name="T1" fmla="*/ 0 h 384"/>
                <a:gd name="T2" fmla="*/ 236 w 1872"/>
                <a:gd name="T3" fmla="*/ 7541 h 384"/>
                <a:gd name="T4" fmla="*/ 0 w 1872"/>
                <a:gd name="T5" fmla="*/ 7541 h 384"/>
                <a:gd name="T6" fmla="*/ 0 60000 65536"/>
                <a:gd name="T7" fmla="*/ 0 60000 65536"/>
                <a:gd name="T8" fmla="*/ 0 60000 65536"/>
                <a:gd name="T9" fmla="*/ 0 w 1872"/>
                <a:gd name="T10" fmla="*/ 0 h 384"/>
                <a:gd name="T11" fmla="*/ 1872 w 1872"/>
                <a:gd name="T12" fmla="*/ 384 h 3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72" h="384">
                  <a:moveTo>
                    <a:pt x="1872" y="0"/>
                  </a:moveTo>
                  <a:lnTo>
                    <a:pt x="1872" y="384"/>
                  </a:lnTo>
                  <a:lnTo>
                    <a:pt x="0" y="38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2988" name="Freeform 33"/>
            <p:cNvSpPr/>
            <p:nvPr/>
          </p:nvSpPr>
          <p:spPr bwMode="auto">
            <a:xfrm>
              <a:off x="3684" y="3072"/>
              <a:ext cx="1" cy="456"/>
            </a:xfrm>
            <a:custGeom>
              <a:avLst/>
              <a:gdLst>
                <a:gd name="T0" fmla="*/ 0 w 1"/>
                <a:gd name="T1" fmla="*/ 456 h 456"/>
                <a:gd name="T2" fmla="*/ 0 w 1"/>
                <a:gd name="T3" fmla="*/ 0 h 456"/>
                <a:gd name="T4" fmla="*/ 0 60000 65536"/>
                <a:gd name="T5" fmla="*/ 0 60000 65536"/>
                <a:gd name="T6" fmla="*/ 0 w 1"/>
                <a:gd name="T7" fmla="*/ 0 h 456"/>
                <a:gd name="T8" fmla="*/ 1 w 1"/>
                <a:gd name="T9" fmla="*/ 456 h 45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56">
                  <a:moveTo>
                    <a:pt x="0" y="456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tailEnd type="stealth" w="med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2989" name="Freeform 34"/>
            <p:cNvSpPr/>
            <p:nvPr/>
          </p:nvSpPr>
          <p:spPr bwMode="auto">
            <a:xfrm>
              <a:off x="491" y="1040"/>
              <a:ext cx="526" cy="1017"/>
            </a:xfrm>
            <a:custGeom>
              <a:avLst/>
              <a:gdLst>
                <a:gd name="T0" fmla="*/ 526 w 526"/>
                <a:gd name="T1" fmla="*/ 173 h 1017"/>
                <a:gd name="T2" fmla="*/ 526 w 526"/>
                <a:gd name="T3" fmla="*/ 0 h 1017"/>
                <a:gd name="T4" fmla="*/ 1 w 526"/>
                <a:gd name="T5" fmla="*/ 0 h 1017"/>
                <a:gd name="T6" fmla="*/ 0 w 526"/>
                <a:gd name="T7" fmla="*/ 1017 h 1017"/>
                <a:gd name="T8" fmla="*/ 264 w 526"/>
                <a:gd name="T9" fmla="*/ 1017 h 10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26"/>
                <a:gd name="T16" fmla="*/ 0 h 1017"/>
                <a:gd name="T17" fmla="*/ 526 w 526"/>
                <a:gd name="T18" fmla="*/ 1017 h 10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26" h="1017">
                  <a:moveTo>
                    <a:pt x="526" y="173"/>
                  </a:moveTo>
                  <a:lnTo>
                    <a:pt x="526" y="0"/>
                  </a:lnTo>
                  <a:lnTo>
                    <a:pt x="1" y="0"/>
                  </a:lnTo>
                  <a:lnTo>
                    <a:pt x="0" y="1017"/>
                  </a:lnTo>
                  <a:lnTo>
                    <a:pt x="264" y="101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2990" name="Text Box 35"/>
            <p:cNvSpPr txBox="1">
              <a:spLocks noChangeArrowheads="1"/>
            </p:cNvSpPr>
            <p:nvPr/>
          </p:nvSpPr>
          <p:spPr bwMode="auto">
            <a:xfrm>
              <a:off x="685" y="1094"/>
              <a:ext cx="27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5</a:t>
              </a:r>
              <a:endParaRPr lang="zh-CN" altLang="en-US" sz="20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122991" name="Text Box 36"/>
            <p:cNvSpPr txBox="1">
              <a:spLocks noChangeArrowheads="1"/>
            </p:cNvSpPr>
            <p:nvPr/>
          </p:nvSpPr>
          <p:spPr bwMode="auto">
            <a:xfrm>
              <a:off x="2941" y="1094"/>
              <a:ext cx="27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6</a:t>
              </a:r>
              <a:endParaRPr lang="zh-CN" altLang="en-US" sz="20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122992" name="Text Box 37"/>
            <p:cNvSpPr txBox="1">
              <a:spLocks noChangeArrowheads="1"/>
            </p:cNvSpPr>
            <p:nvPr/>
          </p:nvSpPr>
          <p:spPr bwMode="auto">
            <a:xfrm>
              <a:off x="807" y="1838"/>
              <a:ext cx="27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7</a:t>
              </a:r>
              <a:endParaRPr lang="zh-CN" altLang="en-US" sz="20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122993" name="Text Box 38"/>
            <p:cNvSpPr txBox="1">
              <a:spLocks noChangeArrowheads="1"/>
            </p:cNvSpPr>
            <p:nvPr/>
          </p:nvSpPr>
          <p:spPr bwMode="auto">
            <a:xfrm>
              <a:off x="2775" y="1838"/>
              <a:ext cx="27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8</a:t>
              </a:r>
              <a:endParaRPr lang="zh-CN" altLang="en-US" sz="20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122994" name="Text Box 39"/>
            <p:cNvSpPr txBox="1">
              <a:spLocks noChangeArrowheads="1"/>
            </p:cNvSpPr>
            <p:nvPr/>
          </p:nvSpPr>
          <p:spPr bwMode="auto">
            <a:xfrm>
              <a:off x="1104" y="643"/>
              <a:ext cx="38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A</a:t>
              </a:r>
              <a:r>
                <a:rPr lang="zh-CN" altLang="en-US" sz="3200">
                  <a:latin typeface="Times New Roman" panose="02020603050405020304" pitchFamily="18" charset="0"/>
                  <a:cs typeface="Times New Roman" panose="02020603050405020304" pitchFamily="18" charset="0"/>
                </a:rPr>
                <a:t>´</a:t>
              </a:r>
            </a:p>
          </p:txBody>
        </p:sp>
        <p:sp>
          <p:nvSpPr>
            <p:cNvPr id="122995" name="Text Box 40"/>
            <p:cNvSpPr txBox="1">
              <a:spLocks noChangeArrowheads="1"/>
            </p:cNvSpPr>
            <p:nvPr/>
          </p:nvSpPr>
          <p:spPr bwMode="auto">
            <a:xfrm>
              <a:off x="2462" y="711"/>
              <a:ext cx="2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A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22996" name="Freeform 41"/>
            <p:cNvSpPr/>
            <p:nvPr/>
          </p:nvSpPr>
          <p:spPr bwMode="auto">
            <a:xfrm>
              <a:off x="240" y="1273"/>
              <a:ext cx="2549" cy="297"/>
            </a:xfrm>
            <a:custGeom>
              <a:avLst/>
              <a:gdLst>
                <a:gd name="T0" fmla="*/ 1016 w 2736"/>
                <a:gd name="T1" fmla="*/ 0 h 240"/>
                <a:gd name="T2" fmla="*/ 1016 w 2736"/>
                <a:gd name="T3" fmla="*/ 4748 h 240"/>
                <a:gd name="T4" fmla="*/ 0 w 2736"/>
                <a:gd name="T5" fmla="*/ 4748 h 240"/>
                <a:gd name="T6" fmla="*/ 0 60000 65536"/>
                <a:gd name="T7" fmla="*/ 0 60000 65536"/>
                <a:gd name="T8" fmla="*/ 0 60000 65536"/>
                <a:gd name="T9" fmla="*/ 0 w 2736"/>
                <a:gd name="T10" fmla="*/ 0 h 240"/>
                <a:gd name="T11" fmla="*/ 2736 w 2736"/>
                <a:gd name="T12" fmla="*/ 240 h 2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736" h="240">
                  <a:moveTo>
                    <a:pt x="2736" y="0"/>
                  </a:moveTo>
                  <a:lnTo>
                    <a:pt x="2736" y="240"/>
                  </a:lnTo>
                  <a:lnTo>
                    <a:pt x="0" y="24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2997" name="Line 42"/>
            <p:cNvSpPr>
              <a:spLocks noChangeShapeType="1"/>
            </p:cNvSpPr>
            <p:nvPr/>
          </p:nvSpPr>
          <p:spPr bwMode="auto">
            <a:xfrm>
              <a:off x="1068" y="1285"/>
              <a:ext cx="0" cy="28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2998" name="Freeform 43"/>
            <p:cNvSpPr/>
            <p:nvPr/>
          </p:nvSpPr>
          <p:spPr bwMode="auto">
            <a:xfrm>
              <a:off x="2844" y="1031"/>
              <a:ext cx="480" cy="1008"/>
            </a:xfrm>
            <a:custGeom>
              <a:avLst/>
              <a:gdLst>
                <a:gd name="T0" fmla="*/ 0 w 480"/>
                <a:gd name="T1" fmla="*/ 192 h 1008"/>
                <a:gd name="T2" fmla="*/ 0 w 480"/>
                <a:gd name="T3" fmla="*/ 0 h 1008"/>
                <a:gd name="T4" fmla="*/ 480 w 480"/>
                <a:gd name="T5" fmla="*/ 0 h 1008"/>
                <a:gd name="T6" fmla="*/ 480 w 480"/>
                <a:gd name="T7" fmla="*/ 1008 h 1008"/>
                <a:gd name="T8" fmla="*/ 288 w 480"/>
                <a:gd name="T9" fmla="*/ 1008 h 10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0"/>
                <a:gd name="T16" fmla="*/ 0 h 1008"/>
                <a:gd name="T17" fmla="*/ 480 w 480"/>
                <a:gd name="T18" fmla="*/ 1008 h 10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0" h="1008">
                  <a:moveTo>
                    <a:pt x="0" y="192"/>
                  </a:moveTo>
                  <a:lnTo>
                    <a:pt x="0" y="0"/>
                  </a:lnTo>
                  <a:lnTo>
                    <a:pt x="480" y="0"/>
                  </a:lnTo>
                  <a:lnTo>
                    <a:pt x="480" y="1008"/>
                  </a:lnTo>
                  <a:lnTo>
                    <a:pt x="288" y="1008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2999" name="Text Box 44"/>
            <p:cNvSpPr txBox="1">
              <a:spLocks noChangeArrowheads="1"/>
            </p:cNvSpPr>
            <p:nvPr/>
          </p:nvSpPr>
          <p:spPr bwMode="auto">
            <a:xfrm>
              <a:off x="1670" y="3705"/>
              <a:ext cx="34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D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IN</a:t>
              </a:r>
              <a:endParaRPr lang="zh-CN" altLang="en-US" sz="20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123000" name="Text Box 45"/>
            <p:cNvSpPr txBox="1">
              <a:spLocks noChangeArrowheads="1"/>
            </p:cNvSpPr>
            <p:nvPr/>
          </p:nvSpPr>
          <p:spPr bwMode="auto">
            <a:xfrm>
              <a:off x="3312" y="681"/>
              <a:ext cx="50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位线</a:t>
              </a:r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123001" name="Freeform 46"/>
            <p:cNvSpPr/>
            <p:nvPr/>
          </p:nvSpPr>
          <p:spPr bwMode="auto">
            <a:xfrm>
              <a:off x="3360" y="927"/>
              <a:ext cx="221" cy="321"/>
            </a:xfrm>
            <a:custGeom>
              <a:avLst/>
              <a:gdLst>
                <a:gd name="T0" fmla="*/ 221 w 221"/>
                <a:gd name="T1" fmla="*/ 0 h 321"/>
                <a:gd name="T2" fmla="*/ 0 w 221"/>
                <a:gd name="T3" fmla="*/ 321 h 321"/>
                <a:gd name="T4" fmla="*/ 0 60000 65536"/>
                <a:gd name="T5" fmla="*/ 0 60000 65536"/>
                <a:gd name="T6" fmla="*/ 0 w 221"/>
                <a:gd name="T7" fmla="*/ 0 h 321"/>
                <a:gd name="T8" fmla="*/ 221 w 221"/>
                <a:gd name="T9" fmla="*/ 321 h 32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1" h="321">
                  <a:moveTo>
                    <a:pt x="221" y="0"/>
                  </a:moveTo>
                  <a:lnTo>
                    <a:pt x="0" y="32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3002" name="Text Box 47"/>
            <p:cNvSpPr txBox="1">
              <a:spLocks noChangeArrowheads="1"/>
            </p:cNvSpPr>
            <p:nvPr/>
          </p:nvSpPr>
          <p:spPr bwMode="auto">
            <a:xfrm>
              <a:off x="134" y="666"/>
              <a:ext cx="64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位线</a:t>
              </a:r>
              <a:r>
                <a:rPr lang="en-US" altLang="zh-CN" sz="2000">
                  <a:latin typeface="Times New Roman" panose="02020603050405020304" pitchFamily="18" charset="0"/>
                </a:rPr>
                <a:t>A </a:t>
              </a:r>
              <a:r>
                <a:rPr lang="zh-CN" altLang="en-US" sz="2000">
                  <a:latin typeface="Times New Roman" panose="02020603050405020304" pitchFamily="18" charset="0"/>
                  <a:cs typeface="Times New Roman" panose="02020603050405020304" pitchFamily="18" charset="0"/>
                </a:rPr>
                <a:t>´</a:t>
              </a:r>
              <a:endParaRPr lang="en-US" altLang="zh-CN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003" name="Freeform 48"/>
            <p:cNvSpPr/>
            <p:nvPr/>
          </p:nvSpPr>
          <p:spPr bwMode="auto">
            <a:xfrm>
              <a:off x="297" y="900"/>
              <a:ext cx="176" cy="299"/>
            </a:xfrm>
            <a:custGeom>
              <a:avLst/>
              <a:gdLst>
                <a:gd name="T0" fmla="*/ 0 w 176"/>
                <a:gd name="T1" fmla="*/ 0 h 299"/>
                <a:gd name="T2" fmla="*/ 176 w 176"/>
                <a:gd name="T3" fmla="*/ 299 h 299"/>
                <a:gd name="T4" fmla="*/ 0 60000 65536"/>
                <a:gd name="T5" fmla="*/ 0 60000 65536"/>
                <a:gd name="T6" fmla="*/ 0 w 176"/>
                <a:gd name="T7" fmla="*/ 0 h 299"/>
                <a:gd name="T8" fmla="*/ 176 w 176"/>
                <a:gd name="T9" fmla="*/ 299 h 29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76" h="299">
                  <a:moveTo>
                    <a:pt x="0" y="0"/>
                  </a:moveTo>
                  <a:lnTo>
                    <a:pt x="176" y="299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3004" name="Text Box 49"/>
            <p:cNvSpPr txBox="1">
              <a:spLocks noChangeArrowheads="1"/>
            </p:cNvSpPr>
            <p:nvPr/>
          </p:nvSpPr>
          <p:spPr bwMode="auto">
            <a:xfrm>
              <a:off x="902" y="2361"/>
              <a:ext cx="83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列地址选择</a:t>
              </a:r>
            </a:p>
          </p:txBody>
        </p:sp>
        <p:sp>
          <p:nvSpPr>
            <p:cNvPr id="123005" name="Text Box 50"/>
            <p:cNvSpPr txBox="1">
              <a:spLocks noChangeArrowheads="1"/>
            </p:cNvSpPr>
            <p:nvPr/>
          </p:nvSpPr>
          <p:spPr bwMode="auto">
            <a:xfrm>
              <a:off x="1574" y="1353"/>
              <a:ext cx="83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行地址选择</a:t>
              </a:r>
            </a:p>
          </p:txBody>
        </p:sp>
        <p:sp>
          <p:nvSpPr>
            <p:cNvPr id="123006" name="Text Box 51"/>
            <p:cNvSpPr txBox="1">
              <a:spLocks noChangeArrowheads="1"/>
            </p:cNvSpPr>
            <p:nvPr/>
          </p:nvSpPr>
          <p:spPr bwMode="auto">
            <a:xfrm>
              <a:off x="1200" y="2697"/>
              <a:ext cx="4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写放</a:t>
              </a:r>
            </a:p>
          </p:txBody>
        </p:sp>
        <p:sp>
          <p:nvSpPr>
            <p:cNvPr id="123007" name="Text Box 52"/>
            <p:cNvSpPr txBox="1">
              <a:spLocks noChangeArrowheads="1"/>
            </p:cNvSpPr>
            <p:nvPr/>
          </p:nvSpPr>
          <p:spPr bwMode="auto">
            <a:xfrm>
              <a:off x="2138" y="2697"/>
              <a:ext cx="4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写放</a:t>
              </a:r>
            </a:p>
          </p:txBody>
        </p:sp>
        <p:sp>
          <p:nvSpPr>
            <p:cNvPr id="123008" name="Text Box 53"/>
            <p:cNvSpPr txBox="1">
              <a:spLocks noChangeArrowheads="1"/>
            </p:cNvSpPr>
            <p:nvPr/>
          </p:nvSpPr>
          <p:spPr bwMode="auto">
            <a:xfrm>
              <a:off x="3578" y="2649"/>
              <a:ext cx="4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读放</a:t>
              </a:r>
            </a:p>
          </p:txBody>
        </p:sp>
        <p:sp>
          <p:nvSpPr>
            <p:cNvPr id="123009" name="Text Box 54"/>
            <p:cNvSpPr txBox="1">
              <a:spLocks noChangeArrowheads="1"/>
            </p:cNvSpPr>
            <p:nvPr/>
          </p:nvSpPr>
          <p:spPr bwMode="auto">
            <a:xfrm>
              <a:off x="4214" y="3033"/>
              <a:ext cx="45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D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OUT</a:t>
              </a:r>
              <a:endParaRPr lang="zh-CN" altLang="en-US" sz="2000" baseline="-25000">
                <a:latin typeface="Times New Roman" panose="02020603050405020304" pitchFamily="18" charset="0"/>
              </a:endParaRPr>
            </a:p>
          </p:txBody>
        </p:sp>
        <p:sp>
          <p:nvSpPr>
            <p:cNvPr id="123010" name="Text Box 55"/>
            <p:cNvSpPr txBox="1">
              <a:spLocks noChangeArrowheads="1"/>
            </p:cNvSpPr>
            <p:nvPr/>
          </p:nvSpPr>
          <p:spPr bwMode="auto">
            <a:xfrm>
              <a:off x="2208" y="3312"/>
              <a:ext cx="54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写选择</a:t>
              </a:r>
            </a:p>
          </p:txBody>
        </p:sp>
        <p:sp>
          <p:nvSpPr>
            <p:cNvPr id="123011" name="Text Box 56"/>
            <p:cNvSpPr txBox="1">
              <a:spLocks noChangeArrowheads="1"/>
            </p:cNvSpPr>
            <p:nvPr/>
          </p:nvSpPr>
          <p:spPr bwMode="auto">
            <a:xfrm>
              <a:off x="3696" y="3326"/>
              <a:ext cx="54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读选择</a:t>
              </a:r>
            </a:p>
          </p:txBody>
        </p:sp>
      </p:grpSp>
      <p:sp>
        <p:nvSpPr>
          <p:cNvPr id="122883" name="Text Box 57"/>
          <p:cNvSpPr txBox="1">
            <a:spLocks noChangeArrowheads="1"/>
          </p:cNvSpPr>
          <p:nvPr/>
        </p:nvSpPr>
        <p:spPr bwMode="auto">
          <a:xfrm>
            <a:off x="457200" y="381000"/>
            <a:ext cx="70104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zh-CN" altLang="en-US" sz="3200">
                <a:latin typeface="Times New Roman" panose="02020603050405020304" pitchFamily="18" charset="0"/>
              </a:rPr>
              <a:t>静态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200">
                <a:latin typeface="Times New Roman" panose="02020603050405020304" pitchFamily="18" charset="0"/>
              </a:rPr>
              <a:t>基本电路的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latin typeface="Times New Roman" panose="02020603050405020304" pitchFamily="18" charset="0"/>
              </a:rPr>
              <a:t>操作  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grpSp>
        <p:nvGrpSpPr>
          <p:cNvPr id="7" name="Group 58"/>
          <p:cNvGrpSpPr/>
          <p:nvPr/>
        </p:nvGrpSpPr>
        <p:grpSpPr bwMode="auto">
          <a:xfrm>
            <a:off x="381000" y="2039938"/>
            <a:ext cx="4046538" cy="474662"/>
            <a:chOff x="240" y="1285"/>
            <a:chExt cx="2549" cy="299"/>
          </a:xfrm>
        </p:grpSpPr>
        <p:sp>
          <p:nvSpPr>
            <p:cNvPr id="122964" name="Freeform 59"/>
            <p:cNvSpPr/>
            <p:nvPr/>
          </p:nvSpPr>
          <p:spPr bwMode="auto">
            <a:xfrm>
              <a:off x="240" y="1287"/>
              <a:ext cx="2549" cy="297"/>
            </a:xfrm>
            <a:custGeom>
              <a:avLst/>
              <a:gdLst>
                <a:gd name="T0" fmla="*/ 1016 w 2736"/>
                <a:gd name="T1" fmla="*/ 0 h 240"/>
                <a:gd name="T2" fmla="*/ 1016 w 2736"/>
                <a:gd name="T3" fmla="*/ 4748 h 240"/>
                <a:gd name="T4" fmla="*/ 0 w 2736"/>
                <a:gd name="T5" fmla="*/ 4748 h 240"/>
                <a:gd name="T6" fmla="*/ 0 60000 65536"/>
                <a:gd name="T7" fmla="*/ 0 60000 65536"/>
                <a:gd name="T8" fmla="*/ 0 60000 65536"/>
                <a:gd name="T9" fmla="*/ 0 w 2736"/>
                <a:gd name="T10" fmla="*/ 0 h 240"/>
                <a:gd name="T11" fmla="*/ 2736 w 2736"/>
                <a:gd name="T12" fmla="*/ 240 h 2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736" h="240">
                  <a:moveTo>
                    <a:pt x="2736" y="0"/>
                  </a:moveTo>
                  <a:lnTo>
                    <a:pt x="2736" y="240"/>
                  </a:lnTo>
                  <a:lnTo>
                    <a:pt x="0" y="240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2965" name="Line 60"/>
            <p:cNvSpPr>
              <a:spLocks noChangeShapeType="1"/>
            </p:cNvSpPr>
            <p:nvPr/>
          </p:nvSpPr>
          <p:spPr bwMode="auto">
            <a:xfrm>
              <a:off x="1056" y="1285"/>
              <a:ext cx="0" cy="286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11005" name="Freeform 61"/>
          <p:cNvSpPr/>
          <p:nvPr/>
        </p:nvSpPr>
        <p:spPr bwMode="auto">
          <a:xfrm>
            <a:off x="484188" y="3352800"/>
            <a:ext cx="2563812" cy="754063"/>
          </a:xfrm>
          <a:custGeom>
            <a:avLst/>
            <a:gdLst>
              <a:gd name="T0" fmla="*/ 2147483647 w 1872"/>
              <a:gd name="T1" fmla="*/ 0 h 384"/>
              <a:gd name="T2" fmla="*/ 2147483647 w 1872"/>
              <a:gd name="T3" fmla="*/ 2147483647 h 384"/>
              <a:gd name="T4" fmla="*/ 0 w 1872"/>
              <a:gd name="T5" fmla="*/ 2147483647 h 384"/>
              <a:gd name="T6" fmla="*/ 0 60000 65536"/>
              <a:gd name="T7" fmla="*/ 0 60000 65536"/>
              <a:gd name="T8" fmla="*/ 0 60000 65536"/>
              <a:gd name="T9" fmla="*/ 0 w 1872"/>
              <a:gd name="T10" fmla="*/ 0 h 384"/>
              <a:gd name="T11" fmla="*/ 1872 w 1872"/>
              <a:gd name="T12" fmla="*/ 384 h 38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72" h="384">
                <a:moveTo>
                  <a:pt x="1872" y="0"/>
                </a:moveTo>
                <a:lnTo>
                  <a:pt x="1872" y="384"/>
                </a:lnTo>
                <a:lnTo>
                  <a:pt x="0" y="384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  <a:head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11006" name="Freeform 62"/>
          <p:cNvSpPr/>
          <p:nvPr/>
        </p:nvSpPr>
        <p:spPr bwMode="auto">
          <a:xfrm>
            <a:off x="1314450" y="3371850"/>
            <a:ext cx="3524250" cy="1588"/>
          </a:xfrm>
          <a:custGeom>
            <a:avLst/>
            <a:gdLst>
              <a:gd name="T0" fmla="*/ 0 w 2220"/>
              <a:gd name="T1" fmla="*/ 0 h 1"/>
              <a:gd name="T2" fmla="*/ 2147483647 w 2220"/>
              <a:gd name="T3" fmla="*/ 0 h 1"/>
              <a:gd name="T4" fmla="*/ 0 60000 65536"/>
              <a:gd name="T5" fmla="*/ 0 60000 65536"/>
              <a:gd name="T6" fmla="*/ 0 w 2220"/>
              <a:gd name="T7" fmla="*/ 0 h 1"/>
              <a:gd name="T8" fmla="*/ 2220 w 2220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220" h="1">
                <a:moveTo>
                  <a:pt x="0" y="0"/>
                </a:moveTo>
                <a:lnTo>
                  <a:pt x="2220" y="0"/>
                </a:lnTo>
              </a:path>
            </a:pathLst>
          </a:custGeom>
          <a:noFill/>
          <a:ln w="76200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11007" name="Line 63"/>
          <p:cNvSpPr>
            <a:spLocks noChangeShapeType="1"/>
          </p:cNvSpPr>
          <p:nvPr/>
        </p:nvSpPr>
        <p:spPr bwMode="auto">
          <a:xfrm>
            <a:off x="2984500" y="4752975"/>
            <a:ext cx="0" cy="1036638"/>
          </a:xfrm>
          <a:prstGeom prst="line">
            <a:avLst/>
          </a:prstGeom>
          <a:noFill/>
          <a:ln w="76200">
            <a:solidFill>
              <a:schemeClr val="folHlink"/>
            </a:solidFill>
            <a:round/>
            <a:head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8" name="Group 64"/>
          <p:cNvGrpSpPr/>
          <p:nvPr/>
        </p:nvGrpSpPr>
        <p:grpSpPr bwMode="auto">
          <a:xfrm>
            <a:off x="2114550" y="4462463"/>
            <a:ext cx="1619250" cy="566737"/>
            <a:chOff x="1332" y="2811"/>
            <a:chExt cx="1020" cy="357"/>
          </a:xfrm>
        </p:grpSpPr>
        <p:grpSp>
          <p:nvGrpSpPr>
            <p:cNvPr id="122960" name="Group 65"/>
            <p:cNvGrpSpPr/>
            <p:nvPr/>
          </p:nvGrpSpPr>
          <p:grpSpPr bwMode="auto">
            <a:xfrm>
              <a:off x="1332" y="2811"/>
              <a:ext cx="396" cy="356"/>
              <a:chOff x="1332" y="2811"/>
              <a:chExt cx="396" cy="356"/>
            </a:xfrm>
          </p:grpSpPr>
          <p:sp>
            <p:nvSpPr>
              <p:cNvPr id="122962" name="AutoShape 66"/>
              <p:cNvSpPr>
                <a:spLocks noChangeArrowheads="1"/>
              </p:cNvSpPr>
              <p:nvPr/>
            </p:nvSpPr>
            <p:spPr bwMode="auto">
              <a:xfrm rot="-5400000">
                <a:off x="1399" y="2838"/>
                <a:ext cx="356" cy="302"/>
              </a:xfrm>
              <a:prstGeom prst="triangle">
                <a:avLst>
                  <a:gd name="adj" fmla="val 50000"/>
                </a:avLst>
              </a:prstGeom>
              <a:noFill/>
              <a:ln w="76200">
                <a:solidFill>
                  <a:schemeClr val="folHlink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22963" name="Oval 67"/>
              <p:cNvSpPr>
                <a:spLocks noChangeArrowheads="1"/>
              </p:cNvSpPr>
              <p:nvPr/>
            </p:nvSpPr>
            <p:spPr bwMode="auto">
              <a:xfrm rot="10800000">
                <a:off x="1332" y="2958"/>
                <a:ext cx="79" cy="79"/>
              </a:xfrm>
              <a:prstGeom prst="ellipse">
                <a:avLst/>
              </a:prstGeom>
              <a:noFill/>
              <a:ln w="762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</p:grpSp>
        <p:sp>
          <p:nvSpPr>
            <p:cNvPr id="122961" name="AutoShape 68"/>
            <p:cNvSpPr>
              <a:spLocks noChangeArrowheads="1"/>
            </p:cNvSpPr>
            <p:nvPr/>
          </p:nvSpPr>
          <p:spPr bwMode="auto">
            <a:xfrm rot="5400000">
              <a:off x="2023" y="2839"/>
              <a:ext cx="356" cy="302"/>
            </a:xfrm>
            <a:prstGeom prst="triangle">
              <a:avLst>
                <a:gd name="adj" fmla="val 50000"/>
              </a:avLst>
            </a:prstGeom>
            <a:noFill/>
            <a:ln w="76200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grpSp>
        <p:nvGrpSpPr>
          <p:cNvPr id="10" name="Group 69"/>
          <p:cNvGrpSpPr/>
          <p:nvPr/>
        </p:nvGrpSpPr>
        <p:grpSpPr bwMode="auto">
          <a:xfrm>
            <a:off x="742950" y="4741863"/>
            <a:ext cx="4522788" cy="1587"/>
            <a:chOff x="462" y="2987"/>
            <a:chExt cx="2849" cy="1"/>
          </a:xfrm>
        </p:grpSpPr>
        <p:sp>
          <p:nvSpPr>
            <p:cNvPr id="122958" name="Line 70"/>
            <p:cNvSpPr>
              <a:spLocks noChangeShapeType="1"/>
            </p:cNvSpPr>
            <p:nvPr/>
          </p:nvSpPr>
          <p:spPr bwMode="auto">
            <a:xfrm>
              <a:off x="2351" y="2987"/>
              <a:ext cx="960" cy="0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2959" name="Freeform 71"/>
            <p:cNvSpPr/>
            <p:nvPr/>
          </p:nvSpPr>
          <p:spPr bwMode="auto">
            <a:xfrm>
              <a:off x="462" y="2987"/>
              <a:ext cx="845" cy="1"/>
            </a:xfrm>
            <a:custGeom>
              <a:avLst/>
              <a:gdLst>
                <a:gd name="T0" fmla="*/ 833 w 845"/>
                <a:gd name="T1" fmla="*/ 0 h 1"/>
                <a:gd name="T2" fmla="*/ 845 w 845"/>
                <a:gd name="T3" fmla="*/ 1 h 1"/>
                <a:gd name="T4" fmla="*/ 0 w 845"/>
                <a:gd name="T5" fmla="*/ 1 h 1"/>
                <a:gd name="T6" fmla="*/ 0 60000 65536"/>
                <a:gd name="T7" fmla="*/ 0 60000 65536"/>
                <a:gd name="T8" fmla="*/ 0 60000 65536"/>
                <a:gd name="T9" fmla="*/ 0 w 845"/>
                <a:gd name="T10" fmla="*/ 0 h 1"/>
                <a:gd name="T11" fmla="*/ 845 w 845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45" h="1">
                  <a:moveTo>
                    <a:pt x="833" y="0"/>
                  </a:moveTo>
                  <a:lnTo>
                    <a:pt x="845" y="1"/>
                  </a:lnTo>
                  <a:lnTo>
                    <a:pt x="0" y="1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1" name="Group 72"/>
          <p:cNvGrpSpPr/>
          <p:nvPr/>
        </p:nvGrpSpPr>
        <p:grpSpPr bwMode="auto">
          <a:xfrm>
            <a:off x="784225" y="1619250"/>
            <a:ext cx="4481513" cy="1685925"/>
            <a:chOff x="494" y="1020"/>
            <a:chExt cx="2823" cy="1062"/>
          </a:xfrm>
        </p:grpSpPr>
        <p:sp>
          <p:nvSpPr>
            <p:cNvPr id="122956" name="Freeform 73"/>
            <p:cNvSpPr/>
            <p:nvPr/>
          </p:nvSpPr>
          <p:spPr bwMode="auto">
            <a:xfrm>
              <a:off x="494" y="1043"/>
              <a:ext cx="515" cy="1039"/>
            </a:xfrm>
            <a:custGeom>
              <a:avLst/>
              <a:gdLst>
                <a:gd name="T0" fmla="*/ 1 w 515"/>
                <a:gd name="T1" fmla="*/ 1039 h 1039"/>
                <a:gd name="T2" fmla="*/ 0 w 515"/>
                <a:gd name="T3" fmla="*/ 0 h 1039"/>
                <a:gd name="T4" fmla="*/ 515 w 515"/>
                <a:gd name="T5" fmla="*/ 0 h 1039"/>
                <a:gd name="T6" fmla="*/ 515 w 515"/>
                <a:gd name="T7" fmla="*/ 164 h 103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15"/>
                <a:gd name="T13" fmla="*/ 0 h 1039"/>
                <a:gd name="T14" fmla="*/ 515 w 515"/>
                <a:gd name="T15" fmla="*/ 1039 h 103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15" h="1039">
                  <a:moveTo>
                    <a:pt x="1" y="1039"/>
                  </a:moveTo>
                  <a:lnTo>
                    <a:pt x="0" y="0"/>
                  </a:lnTo>
                  <a:lnTo>
                    <a:pt x="515" y="0"/>
                  </a:lnTo>
                  <a:lnTo>
                    <a:pt x="515" y="164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2957" name="Freeform 74"/>
            <p:cNvSpPr/>
            <p:nvPr/>
          </p:nvSpPr>
          <p:spPr bwMode="auto">
            <a:xfrm>
              <a:off x="2835" y="1020"/>
              <a:ext cx="482" cy="1043"/>
            </a:xfrm>
            <a:custGeom>
              <a:avLst/>
              <a:gdLst>
                <a:gd name="T0" fmla="*/ 482 w 482"/>
                <a:gd name="T1" fmla="*/ 1043 h 1043"/>
                <a:gd name="T2" fmla="*/ 482 w 482"/>
                <a:gd name="T3" fmla="*/ 0 h 1043"/>
                <a:gd name="T4" fmla="*/ 0 w 482"/>
                <a:gd name="T5" fmla="*/ 0 h 1043"/>
                <a:gd name="T6" fmla="*/ 0 w 482"/>
                <a:gd name="T7" fmla="*/ 198 h 104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82"/>
                <a:gd name="T13" fmla="*/ 0 h 1043"/>
                <a:gd name="T14" fmla="*/ 482 w 482"/>
                <a:gd name="T15" fmla="*/ 1043 h 104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82" h="1043">
                  <a:moveTo>
                    <a:pt x="482" y="1043"/>
                  </a:moveTo>
                  <a:lnTo>
                    <a:pt x="482" y="0"/>
                  </a:lnTo>
                  <a:lnTo>
                    <a:pt x="0" y="0"/>
                  </a:lnTo>
                  <a:lnTo>
                    <a:pt x="0" y="198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2" name="Group 75"/>
          <p:cNvGrpSpPr/>
          <p:nvPr/>
        </p:nvGrpSpPr>
        <p:grpSpPr bwMode="auto">
          <a:xfrm>
            <a:off x="1752600" y="1633538"/>
            <a:ext cx="2590800" cy="273050"/>
            <a:chOff x="924" y="1029"/>
            <a:chExt cx="1632" cy="172"/>
          </a:xfrm>
        </p:grpSpPr>
        <p:sp>
          <p:nvSpPr>
            <p:cNvPr id="122954" name="Freeform 76"/>
            <p:cNvSpPr/>
            <p:nvPr/>
          </p:nvSpPr>
          <p:spPr bwMode="auto">
            <a:xfrm>
              <a:off x="924" y="1029"/>
              <a:ext cx="281" cy="171"/>
            </a:xfrm>
            <a:custGeom>
              <a:avLst/>
              <a:gdLst>
                <a:gd name="T0" fmla="*/ 54 w 319"/>
                <a:gd name="T1" fmla="*/ 0 h 184"/>
                <a:gd name="T2" fmla="*/ 0 w 319"/>
                <a:gd name="T3" fmla="*/ 0 h 184"/>
                <a:gd name="T4" fmla="*/ 0 w 319"/>
                <a:gd name="T5" fmla="*/ 67 h 184"/>
                <a:gd name="T6" fmla="*/ 0 60000 65536"/>
                <a:gd name="T7" fmla="*/ 0 60000 65536"/>
                <a:gd name="T8" fmla="*/ 0 60000 65536"/>
                <a:gd name="T9" fmla="*/ 0 w 319"/>
                <a:gd name="T10" fmla="*/ 0 h 184"/>
                <a:gd name="T11" fmla="*/ 319 w 319"/>
                <a:gd name="T12" fmla="*/ 184 h 1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19" h="184">
                  <a:moveTo>
                    <a:pt x="319" y="0"/>
                  </a:moveTo>
                  <a:lnTo>
                    <a:pt x="0" y="0"/>
                  </a:lnTo>
                  <a:lnTo>
                    <a:pt x="0" y="184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2955" name="Freeform 77"/>
            <p:cNvSpPr/>
            <p:nvPr/>
          </p:nvSpPr>
          <p:spPr bwMode="auto">
            <a:xfrm>
              <a:off x="2230" y="1036"/>
              <a:ext cx="326" cy="165"/>
            </a:xfrm>
            <a:custGeom>
              <a:avLst/>
              <a:gdLst>
                <a:gd name="T0" fmla="*/ 0 w 336"/>
                <a:gd name="T1" fmla="*/ 0 h 144"/>
                <a:gd name="T2" fmla="*/ 220 w 336"/>
                <a:gd name="T3" fmla="*/ 0 h 144"/>
                <a:gd name="T4" fmla="*/ 220 w 336"/>
                <a:gd name="T5" fmla="*/ 973 h 144"/>
                <a:gd name="T6" fmla="*/ 0 60000 65536"/>
                <a:gd name="T7" fmla="*/ 0 60000 65536"/>
                <a:gd name="T8" fmla="*/ 0 60000 65536"/>
                <a:gd name="T9" fmla="*/ 0 w 336"/>
                <a:gd name="T10" fmla="*/ 0 h 144"/>
                <a:gd name="T11" fmla="*/ 336 w 336"/>
                <a:gd name="T12" fmla="*/ 144 h 14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144">
                  <a:moveTo>
                    <a:pt x="0" y="0"/>
                  </a:moveTo>
                  <a:lnTo>
                    <a:pt x="336" y="0"/>
                  </a:lnTo>
                  <a:lnTo>
                    <a:pt x="336" y="144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11022" name="Line 78"/>
          <p:cNvSpPr>
            <a:spLocks noChangeShapeType="1"/>
          </p:cNvSpPr>
          <p:nvPr/>
        </p:nvSpPr>
        <p:spPr bwMode="auto">
          <a:xfrm flipV="1">
            <a:off x="3494088" y="4879975"/>
            <a:ext cx="0" cy="942975"/>
          </a:xfrm>
          <a:prstGeom prst="line">
            <a:avLst/>
          </a:prstGeom>
          <a:noFill/>
          <a:ln w="76200">
            <a:solidFill>
              <a:schemeClr val="folHlink"/>
            </a:solidFill>
            <a:round/>
            <a:tailEnd type="stealth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11023" name="Freeform 79"/>
          <p:cNvSpPr/>
          <p:nvPr/>
        </p:nvSpPr>
        <p:spPr bwMode="auto">
          <a:xfrm>
            <a:off x="2747963" y="4748213"/>
            <a:ext cx="528637" cy="6350"/>
          </a:xfrm>
          <a:custGeom>
            <a:avLst/>
            <a:gdLst>
              <a:gd name="T0" fmla="*/ 0 w 333"/>
              <a:gd name="T1" fmla="*/ 0 h 4"/>
              <a:gd name="T2" fmla="*/ 2147483647 w 333"/>
              <a:gd name="T3" fmla="*/ 2147483647 h 4"/>
              <a:gd name="T4" fmla="*/ 0 60000 65536"/>
              <a:gd name="T5" fmla="*/ 0 60000 65536"/>
              <a:gd name="T6" fmla="*/ 0 w 333"/>
              <a:gd name="T7" fmla="*/ 0 h 4"/>
              <a:gd name="T8" fmla="*/ 333 w 333"/>
              <a:gd name="T9" fmla="*/ 4 h 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33" h="4">
                <a:moveTo>
                  <a:pt x="0" y="0"/>
                </a:moveTo>
                <a:lnTo>
                  <a:pt x="333" y="4"/>
                </a:lnTo>
              </a:path>
            </a:pathLst>
          </a:custGeom>
          <a:noFill/>
          <a:ln w="76200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3" name="Group 80"/>
          <p:cNvGrpSpPr/>
          <p:nvPr/>
        </p:nvGrpSpPr>
        <p:grpSpPr bwMode="auto">
          <a:xfrm>
            <a:off x="762000" y="3236913"/>
            <a:ext cx="4514850" cy="31750"/>
            <a:chOff x="288" y="2039"/>
            <a:chExt cx="2844" cy="20"/>
          </a:xfrm>
        </p:grpSpPr>
        <p:sp>
          <p:nvSpPr>
            <p:cNvPr id="122952" name="Freeform 81"/>
            <p:cNvSpPr/>
            <p:nvPr/>
          </p:nvSpPr>
          <p:spPr bwMode="auto">
            <a:xfrm>
              <a:off x="288" y="2058"/>
              <a:ext cx="276" cy="1"/>
            </a:xfrm>
            <a:custGeom>
              <a:avLst/>
              <a:gdLst>
                <a:gd name="T0" fmla="*/ 276 w 276"/>
                <a:gd name="T1" fmla="*/ 0 h 1"/>
                <a:gd name="T2" fmla="*/ 0 w 276"/>
                <a:gd name="T3" fmla="*/ 0 h 1"/>
                <a:gd name="T4" fmla="*/ 0 60000 65536"/>
                <a:gd name="T5" fmla="*/ 0 60000 65536"/>
                <a:gd name="T6" fmla="*/ 0 w 276"/>
                <a:gd name="T7" fmla="*/ 0 h 1"/>
                <a:gd name="T8" fmla="*/ 276 w 27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1">
                  <a:moveTo>
                    <a:pt x="276" y="0"/>
                  </a:moveTo>
                  <a:lnTo>
                    <a:pt x="0" y="0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2953" name="Line 82"/>
            <p:cNvSpPr>
              <a:spLocks noChangeShapeType="1"/>
            </p:cNvSpPr>
            <p:nvPr/>
          </p:nvSpPr>
          <p:spPr bwMode="auto">
            <a:xfrm>
              <a:off x="2940" y="2039"/>
              <a:ext cx="192" cy="0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4" name="Group 83"/>
          <p:cNvGrpSpPr/>
          <p:nvPr/>
        </p:nvGrpSpPr>
        <p:grpSpPr bwMode="auto">
          <a:xfrm>
            <a:off x="1190625" y="3124200"/>
            <a:ext cx="3762375" cy="477838"/>
            <a:chOff x="750" y="1968"/>
            <a:chExt cx="2370" cy="301"/>
          </a:xfrm>
        </p:grpSpPr>
        <p:grpSp>
          <p:nvGrpSpPr>
            <p:cNvPr id="122946" name="Group 84"/>
            <p:cNvGrpSpPr/>
            <p:nvPr/>
          </p:nvGrpSpPr>
          <p:grpSpPr bwMode="auto">
            <a:xfrm>
              <a:off x="750" y="1968"/>
              <a:ext cx="74" cy="301"/>
              <a:chOff x="750" y="1968"/>
              <a:chExt cx="74" cy="301"/>
            </a:xfrm>
          </p:grpSpPr>
          <p:sp>
            <p:nvSpPr>
              <p:cNvPr id="122950" name="Line 85"/>
              <p:cNvSpPr>
                <a:spLocks noChangeShapeType="1"/>
              </p:cNvSpPr>
              <p:nvPr/>
            </p:nvSpPr>
            <p:spPr bwMode="auto">
              <a:xfrm rot="-5400000">
                <a:off x="599" y="2119"/>
                <a:ext cx="301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2951" name="Line 86"/>
              <p:cNvSpPr>
                <a:spLocks noChangeShapeType="1"/>
              </p:cNvSpPr>
              <p:nvPr/>
            </p:nvSpPr>
            <p:spPr bwMode="auto">
              <a:xfrm rot="-5400000">
                <a:off x="733" y="2123"/>
                <a:ext cx="182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22947" name="Group 87"/>
            <p:cNvGrpSpPr/>
            <p:nvPr/>
          </p:nvGrpSpPr>
          <p:grpSpPr bwMode="auto">
            <a:xfrm>
              <a:off x="3046" y="1968"/>
              <a:ext cx="74" cy="301"/>
              <a:chOff x="3046" y="1968"/>
              <a:chExt cx="74" cy="301"/>
            </a:xfrm>
          </p:grpSpPr>
          <p:sp>
            <p:nvSpPr>
              <p:cNvPr id="122948" name="Line 88"/>
              <p:cNvSpPr>
                <a:spLocks noChangeShapeType="1"/>
              </p:cNvSpPr>
              <p:nvPr/>
            </p:nvSpPr>
            <p:spPr bwMode="auto">
              <a:xfrm rot="5400000">
                <a:off x="2969" y="2119"/>
                <a:ext cx="301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2949" name="Line 89"/>
              <p:cNvSpPr>
                <a:spLocks noChangeShapeType="1"/>
              </p:cNvSpPr>
              <p:nvPr/>
            </p:nvSpPr>
            <p:spPr bwMode="auto">
              <a:xfrm rot="5400000">
                <a:off x="2955" y="2115"/>
                <a:ext cx="182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grpSp>
        <p:nvGrpSpPr>
          <p:cNvPr id="17" name="Group 90"/>
          <p:cNvGrpSpPr/>
          <p:nvPr/>
        </p:nvGrpSpPr>
        <p:grpSpPr bwMode="auto">
          <a:xfrm>
            <a:off x="1489075" y="1920875"/>
            <a:ext cx="3159125" cy="95250"/>
            <a:chOff x="929" y="1212"/>
            <a:chExt cx="1988" cy="60"/>
          </a:xfrm>
        </p:grpSpPr>
        <p:grpSp>
          <p:nvGrpSpPr>
            <p:cNvPr id="122940" name="Group 91"/>
            <p:cNvGrpSpPr/>
            <p:nvPr/>
          </p:nvGrpSpPr>
          <p:grpSpPr bwMode="auto">
            <a:xfrm>
              <a:off x="929" y="1212"/>
              <a:ext cx="255" cy="60"/>
              <a:chOff x="3459" y="1296"/>
              <a:chExt cx="243" cy="48"/>
            </a:xfrm>
          </p:grpSpPr>
          <p:sp>
            <p:nvSpPr>
              <p:cNvPr id="122944" name="Line 92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2945" name="Line 93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22941" name="Group 94"/>
            <p:cNvGrpSpPr/>
            <p:nvPr/>
          </p:nvGrpSpPr>
          <p:grpSpPr bwMode="auto">
            <a:xfrm>
              <a:off x="2661" y="1212"/>
              <a:ext cx="256" cy="60"/>
              <a:chOff x="3459" y="1296"/>
              <a:chExt cx="243" cy="48"/>
            </a:xfrm>
          </p:grpSpPr>
          <p:sp>
            <p:nvSpPr>
              <p:cNvPr id="122942" name="Line 95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2943" name="Line 96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grpSp>
        <p:nvGrpSpPr>
          <p:cNvPr id="20" name="Group 97"/>
          <p:cNvGrpSpPr/>
          <p:nvPr/>
        </p:nvGrpSpPr>
        <p:grpSpPr bwMode="auto">
          <a:xfrm>
            <a:off x="781050" y="3424238"/>
            <a:ext cx="4492625" cy="1341437"/>
            <a:chOff x="492" y="2157"/>
            <a:chExt cx="2830" cy="845"/>
          </a:xfrm>
        </p:grpSpPr>
        <p:sp>
          <p:nvSpPr>
            <p:cNvPr id="122938" name="Freeform 98"/>
            <p:cNvSpPr/>
            <p:nvPr/>
          </p:nvSpPr>
          <p:spPr bwMode="auto">
            <a:xfrm>
              <a:off x="492" y="2157"/>
              <a:ext cx="251" cy="845"/>
            </a:xfrm>
            <a:custGeom>
              <a:avLst/>
              <a:gdLst>
                <a:gd name="T0" fmla="*/ 251 w 251"/>
                <a:gd name="T1" fmla="*/ 0 h 845"/>
                <a:gd name="T2" fmla="*/ 0 w 251"/>
                <a:gd name="T3" fmla="*/ 0 h 845"/>
                <a:gd name="T4" fmla="*/ 0 w 251"/>
                <a:gd name="T5" fmla="*/ 845 h 845"/>
                <a:gd name="T6" fmla="*/ 0 60000 65536"/>
                <a:gd name="T7" fmla="*/ 0 60000 65536"/>
                <a:gd name="T8" fmla="*/ 0 60000 65536"/>
                <a:gd name="T9" fmla="*/ 0 w 251"/>
                <a:gd name="T10" fmla="*/ 0 h 845"/>
                <a:gd name="T11" fmla="*/ 251 w 251"/>
                <a:gd name="T12" fmla="*/ 845 h 84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51" h="845">
                  <a:moveTo>
                    <a:pt x="251" y="0"/>
                  </a:moveTo>
                  <a:lnTo>
                    <a:pt x="0" y="0"/>
                  </a:lnTo>
                  <a:lnTo>
                    <a:pt x="0" y="845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2939" name="Freeform 99"/>
            <p:cNvSpPr/>
            <p:nvPr/>
          </p:nvSpPr>
          <p:spPr bwMode="auto">
            <a:xfrm>
              <a:off x="3120" y="2160"/>
              <a:ext cx="202" cy="832"/>
            </a:xfrm>
            <a:custGeom>
              <a:avLst/>
              <a:gdLst>
                <a:gd name="T0" fmla="*/ 0 w 192"/>
                <a:gd name="T1" fmla="*/ 0 h 672"/>
                <a:gd name="T2" fmla="*/ 392 w 192"/>
                <a:gd name="T3" fmla="*/ 0 h 672"/>
                <a:gd name="T4" fmla="*/ 392 w 192"/>
                <a:gd name="T5" fmla="*/ 13359 h 672"/>
                <a:gd name="T6" fmla="*/ 0 60000 65536"/>
                <a:gd name="T7" fmla="*/ 0 60000 65536"/>
                <a:gd name="T8" fmla="*/ 0 60000 65536"/>
                <a:gd name="T9" fmla="*/ 0 w 192"/>
                <a:gd name="T10" fmla="*/ 0 h 672"/>
                <a:gd name="T11" fmla="*/ 192 w 192"/>
                <a:gd name="T12" fmla="*/ 672 h 67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2" h="672">
                  <a:moveTo>
                    <a:pt x="0" y="0"/>
                  </a:moveTo>
                  <a:lnTo>
                    <a:pt x="192" y="0"/>
                  </a:lnTo>
                  <a:lnTo>
                    <a:pt x="192" y="672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1" name="Group 100"/>
          <p:cNvGrpSpPr/>
          <p:nvPr/>
        </p:nvGrpSpPr>
        <p:grpSpPr bwMode="auto">
          <a:xfrm>
            <a:off x="5775325" y="1949450"/>
            <a:ext cx="3368675" cy="457200"/>
            <a:chOff x="3638" y="1228"/>
            <a:chExt cx="2122" cy="288"/>
          </a:xfrm>
        </p:grpSpPr>
        <p:sp>
          <p:nvSpPr>
            <p:cNvPr id="122935" name="Text Box 101"/>
            <p:cNvSpPr txBox="1">
              <a:spLocks noChangeArrowheads="1"/>
            </p:cNvSpPr>
            <p:nvPr/>
          </p:nvSpPr>
          <p:spPr bwMode="auto">
            <a:xfrm>
              <a:off x="3638" y="1228"/>
              <a:ext cx="57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54000" rIns="5400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行选</a:t>
              </a:r>
            </a:p>
          </p:txBody>
        </p:sp>
        <p:sp>
          <p:nvSpPr>
            <p:cNvPr id="122936" name="Text Box 102"/>
            <p:cNvSpPr txBox="1">
              <a:spLocks noChangeArrowheads="1"/>
            </p:cNvSpPr>
            <p:nvPr/>
          </p:nvSpPr>
          <p:spPr bwMode="auto">
            <a:xfrm>
              <a:off x="4416" y="1228"/>
              <a:ext cx="134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8000" rIns="1800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T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5</a:t>
              </a:r>
              <a:r>
                <a:rPr lang="en-US" altLang="zh-CN" sz="2400">
                  <a:latin typeface="Times New Roman" panose="02020603050405020304" pitchFamily="18" charset="0"/>
                </a:rPr>
                <a:t>、T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6   </a:t>
              </a:r>
              <a:r>
                <a:rPr lang="zh-CN" altLang="en-US" sz="2400">
                  <a:latin typeface="Times New Roman" panose="02020603050405020304" pitchFamily="18" charset="0"/>
                </a:rPr>
                <a:t>开</a:t>
              </a:r>
            </a:p>
          </p:txBody>
        </p:sp>
        <p:sp>
          <p:nvSpPr>
            <p:cNvPr id="122937" name="Line 103"/>
            <p:cNvSpPr>
              <a:spLocks noChangeShapeType="1"/>
            </p:cNvSpPr>
            <p:nvPr/>
          </p:nvSpPr>
          <p:spPr bwMode="auto">
            <a:xfrm>
              <a:off x="4128" y="1373"/>
              <a:ext cx="2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2" name="Group 104"/>
          <p:cNvGrpSpPr/>
          <p:nvPr/>
        </p:nvGrpSpPr>
        <p:grpSpPr bwMode="auto">
          <a:xfrm>
            <a:off x="5775325" y="3692525"/>
            <a:ext cx="2759075" cy="457200"/>
            <a:chOff x="3638" y="2038"/>
            <a:chExt cx="1738" cy="288"/>
          </a:xfrm>
        </p:grpSpPr>
        <p:sp>
          <p:nvSpPr>
            <p:cNvPr id="122932" name="Text Box 105"/>
            <p:cNvSpPr txBox="1">
              <a:spLocks noChangeArrowheads="1"/>
            </p:cNvSpPr>
            <p:nvPr/>
          </p:nvSpPr>
          <p:spPr bwMode="auto">
            <a:xfrm>
              <a:off x="4368" y="2038"/>
              <a:ext cx="10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8000" rIns="1800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 两个写放 </a:t>
              </a:r>
            </a:p>
          </p:txBody>
        </p:sp>
        <p:sp>
          <p:nvSpPr>
            <p:cNvPr id="122933" name="Line 106"/>
            <p:cNvSpPr>
              <a:spLocks noChangeShapeType="1"/>
            </p:cNvSpPr>
            <p:nvPr/>
          </p:nvSpPr>
          <p:spPr bwMode="auto">
            <a:xfrm>
              <a:off x="4128" y="2208"/>
              <a:ext cx="2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2934" name="Text Box 107"/>
            <p:cNvSpPr txBox="1">
              <a:spLocks noChangeArrowheads="1"/>
            </p:cNvSpPr>
            <p:nvPr/>
          </p:nvSpPr>
          <p:spPr bwMode="auto">
            <a:xfrm>
              <a:off x="3638" y="2038"/>
              <a:ext cx="39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D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IN</a:t>
              </a:r>
            </a:p>
          </p:txBody>
        </p:sp>
      </p:grpSp>
      <p:sp>
        <p:nvSpPr>
          <p:cNvPr id="211052" name="Rectangle 108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211053" name="Freeform 109"/>
          <p:cNvSpPr/>
          <p:nvPr/>
        </p:nvSpPr>
        <p:spPr bwMode="auto">
          <a:xfrm>
            <a:off x="2465388" y="4830763"/>
            <a:ext cx="1035050" cy="598487"/>
          </a:xfrm>
          <a:custGeom>
            <a:avLst/>
            <a:gdLst>
              <a:gd name="T0" fmla="*/ 0 w 652"/>
              <a:gd name="T1" fmla="*/ 0 h 377"/>
              <a:gd name="T2" fmla="*/ 2147483647 w 652"/>
              <a:gd name="T3" fmla="*/ 2147483647 h 377"/>
              <a:gd name="T4" fmla="*/ 2147483647 w 652"/>
              <a:gd name="T5" fmla="*/ 2147483647 h 377"/>
              <a:gd name="T6" fmla="*/ 0 60000 65536"/>
              <a:gd name="T7" fmla="*/ 0 60000 65536"/>
              <a:gd name="T8" fmla="*/ 0 60000 65536"/>
              <a:gd name="T9" fmla="*/ 0 w 652"/>
              <a:gd name="T10" fmla="*/ 0 h 377"/>
              <a:gd name="T11" fmla="*/ 652 w 652"/>
              <a:gd name="T12" fmla="*/ 377 h 37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52" h="377">
                <a:moveTo>
                  <a:pt x="0" y="0"/>
                </a:moveTo>
                <a:lnTo>
                  <a:pt x="1" y="377"/>
                </a:lnTo>
                <a:lnTo>
                  <a:pt x="652" y="374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  <a:headEnd type="stealth" w="med" len="lg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3" name="Group 110"/>
          <p:cNvGrpSpPr/>
          <p:nvPr/>
        </p:nvGrpSpPr>
        <p:grpSpPr bwMode="auto">
          <a:xfrm>
            <a:off x="5775325" y="2571750"/>
            <a:ext cx="3368675" cy="457200"/>
            <a:chOff x="3638" y="1620"/>
            <a:chExt cx="2122" cy="288"/>
          </a:xfrm>
        </p:grpSpPr>
        <p:grpSp>
          <p:nvGrpSpPr>
            <p:cNvPr id="122928" name="Group 111"/>
            <p:cNvGrpSpPr/>
            <p:nvPr/>
          </p:nvGrpSpPr>
          <p:grpSpPr bwMode="auto">
            <a:xfrm>
              <a:off x="3638" y="1620"/>
              <a:ext cx="720" cy="288"/>
              <a:chOff x="3638" y="1620"/>
              <a:chExt cx="720" cy="288"/>
            </a:xfrm>
          </p:grpSpPr>
          <p:sp>
            <p:nvSpPr>
              <p:cNvPr id="122930" name="Text Box 112"/>
              <p:cNvSpPr txBox="1">
                <a:spLocks noChangeArrowheads="1"/>
              </p:cNvSpPr>
              <p:nvPr/>
            </p:nvSpPr>
            <p:spPr bwMode="auto">
              <a:xfrm>
                <a:off x="3638" y="1620"/>
                <a:ext cx="48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18000" rIns="1800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列选</a:t>
                </a:r>
              </a:p>
            </p:txBody>
          </p:sp>
          <p:sp>
            <p:nvSpPr>
              <p:cNvPr id="122931" name="Line 113"/>
              <p:cNvSpPr>
                <a:spLocks noChangeShapeType="1"/>
              </p:cNvSpPr>
              <p:nvPr/>
            </p:nvSpPr>
            <p:spPr bwMode="auto">
              <a:xfrm>
                <a:off x="4118" y="1764"/>
                <a:ext cx="24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22929" name="Text Box 114"/>
            <p:cNvSpPr txBox="1">
              <a:spLocks noChangeArrowheads="1"/>
            </p:cNvSpPr>
            <p:nvPr/>
          </p:nvSpPr>
          <p:spPr bwMode="auto">
            <a:xfrm>
              <a:off x="4416" y="1620"/>
              <a:ext cx="134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8000" rIns="1800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T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7</a:t>
              </a:r>
              <a:r>
                <a:rPr lang="en-US" altLang="zh-CN" sz="2400">
                  <a:latin typeface="Times New Roman" panose="02020603050405020304" pitchFamily="18" charset="0"/>
                </a:rPr>
                <a:t>、T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8   </a:t>
              </a:r>
              <a:r>
                <a:rPr lang="zh-CN" altLang="en-US" sz="2400">
                  <a:latin typeface="Times New Roman" panose="02020603050405020304" pitchFamily="18" charset="0"/>
                </a:rPr>
                <a:t>开</a:t>
              </a:r>
            </a:p>
          </p:txBody>
        </p:sp>
      </p:grpSp>
      <p:grpSp>
        <p:nvGrpSpPr>
          <p:cNvPr id="25" name="Group 115"/>
          <p:cNvGrpSpPr/>
          <p:nvPr/>
        </p:nvGrpSpPr>
        <p:grpSpPr bwMode="auto">
          <a:xfrm>
            <a:off x="3352800" y="5646738"/>
            <a:ext cx="5638800" cy="1038225"/>
            <a:chOff x="2112" y="3609"/>
            <a:chExt cx="3552" cy="654"/>
          </a:xfrm>
        </p:grpSpPr>
        <p:grpSp>
          <p:nvGrpSpPr>
            <p:cNvPr id="122909" name="Group 116"/>
            <p:cNvGrpSpPr/>
            <p:nvPr/>
          </p:nvGrpSpPr>
          <p:grpSpPr bwMode="auto">
            <a:xfrm>
              <a:off x="2112" y="3609"/>
              <a:ext cx="3552" cy="654"/>
              <a:chOff x="2112" y="3609"/>
              <a:chExt cx="3552" cy="654"/>
            </a:xfrm>
          </p:grpSpPr>
          <p:sp>
            <p:nvSpPr>
              <p:cNvPr id="122911" name="Text Box 117"/>
              <p:cNvSpPr txBox="1">
                <a:spLocks noChangeArrowheads="1"/>
              </p:cNvSpPr>
              <p:nvPr/>
            </p:nvSpPr>
            <p:spPr bwMode="auto">
              <a:xfrm>
                <a:off x="2112" y="3609"/>
                <a:ext cx="912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（左）</a:t>
                </a:r>
                <a:r>
                  <a:rPr lang="zh-CN" altLang="en-US" sz="2800">
                    <a:latin typeface="Times New Roman" panose="02020603050405020304" pitchFamily="18" charset="0"/>
                  </a:rPr>
                  <a:t> </a:t>
                </a:r>
              </a:p>
            </p:txBody>
          </p:sp>
          <p:sp>
            <p:nvSpPr>
              <p:cNvPr id="122912" name="Text Box 118"/>
              <p:cNvSpPr txBox="1">
                <a:spLocks noChangeArrowheads="1"/>
              </p:cNvSpPr>
              <p:nvPr/>
            </p:nvSpPr>
            <p:spPr bwMode="auto">
              <a:xfrm>
                <a:off x="3360" y="3628"/>
                <a:ext cx="62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反相</a:t>
                </a:r>
              </a:p>
            </p:txBody>
          </p:sp>
          <p:sp>
            <p:nvSpPr>
              <p:cNvPr id="122913" name="Line 119"/>
              <p:cNvSpPr>
                <a:spLocks noChangeShapeType="1"/>
              </p:cNvSpPr>
              <p:nvPr/>
            </p:nvSpPr>
            <p:spPr bwMode="auto">
              <a:xfrm>
                <a:off x="3120" y="3773"/>
                <a:ext cx="24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2914" name="Line 120"/>
              <p:cNvSpPr>
                <a:spLocks noChangeShapeType="1"/>
              </p:cNvSpPr>
              <p:nvPr/>
            </p:nvSpPr>
            <p:spPr bwMode="auto">
              <a:xfrm>
                <a:off x="3888" y="3773"/>
                <a:ext cx="24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2915" name="Line 121"/>
              <p:cNvSpPr>
                <a:spLocks noChangeShapeType="1"/>
              </p:cNvSpPr>
              <p:nvPr/>
            </p:nvSpPr>
            <p:spPr bwMode="auto">
              <a:xfrm>
                <a:off x="4464" y="3773"/>
                <a:ext cx="24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2916" name="Rectangle 122"/>
              <p:cNvSpPr>
                <a:spLocks noChangeArrowheads="1"/>
              </p:cNvSpPr>
              <p:nvPr/>
            </p:nvSpPr>
            <p:spPr bwMode="auto">
              <a:xfrm>
                <a:off x="4700" y="3641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T</a:t>
                </a:r>
                <a:r>
                  <a:rPr lang="en-US" altLang="zh-CN" sz="2400" baseline="-25000">
                    <a:latin typeface="Times New Roman" panose="02020603050405020304" pitchFamily="18" charset="0"/>
                  </a:rPr>
                  <a:t>5</a:t>
                </a:r>
                <a:endParaRPr lang="zh-CN" altLang="en-US" sz="24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2917" name="Line 123"/>
              <p:cNvSpPr>
                <a:spLocks noChangeShapeType="1"/>
              </p:cNvSpPr>
              <p:nvPr/>
            </p:nvSpPr>
            <p:spPr bwMode="auto">
              <a:xfrm>
                <a:off x="5036" y="3773"/>
                <a:ext cx="24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2918" name="Text Box 124"/>
              <p:cNvSpPr txBox="1">
                <a:spLocks noChangeArrowheads="1"/>
              </p:cNvSpPr>
              <p:nvPr/>
            </p:nvSpPr>
            <p:spPr bwMode="auto">
              <a:xfrm>
                <a:off x="5324" y="3609"/>
                <a:ext cx="336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18000" rIns="1800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A</a:t>
                </a:r>
                <a:r>
                  <a:rPr lang="zh-CN" altLang="en-US" sz="280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´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2919" name="Text Box 125"/>
              <p:cNvSpPr txBox="1">
                <a:spLocks noChangeArrowheads="1"/>
              </p:cNvSpPr>
              <p:nvPr/>
            </p:nvSpPr>
            <p:spPr bwMode="auto">
              <a:xfrm>
                <a:off x="2112" y="3936"/>
                <a:ext cx="864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（右）</a:t>
                </a:r>
                <a:r>
                  <a:rPr lang="zh-CN" altLang="en-US" sz="2800">
                    <a:latin typeface="Times New Roman" panose="02020603050405020304" pitchFamily="18" charset="0"/>
                  </a:rPr>
                  <a:t> </a:t>
                </a:r>
              </a:p>
            </p:txBody>
          </p:sp>
          <p:sp>
            <p:nvSpPr>
              <p:cNvPr id="122920" name="Freeform 126"/>
              <p:cNvSpPr/>
              <p:nvPr/>
            </p:nvSpPr>
            <p:spPr bwMode="auto">
              <a:xfrm>
                <a:off x="3120" y="4101"/>
                <a:ext cx="1014" cy="1"/>
              </a:xfrm>
              <a:custGeom>
                <a:avLst/>
                <a:gdLst>
                  <a:gd name="T0" fmla="*/ 0 w 1014"/>
                  <a:gd name="T1" fmla="*/ 0 h 1"/>
                  <a:gd name="T2" fmla="*/ 1014 w 1014"/>
                  <a:gd name="T3" fmla="*/ 0 h 1"/>
                  <a:gd name="T4" fmla="*/ 0 60000 65536"/>
                  <a:gd name="T5" fmla="*/ 0 60000 65536"/>
                  <a:gd name="T6" fmla="*/ 0 w 1014"/>
                  <a:gd name="T7" fmla="*/ 0 h 1"/>
                  <a:gd name="T8" fmla="*/ 1014 w 101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14" h="1">
                    <a:moveTo>
                      <a:pt x="0" y="0"/>
                    </a:moveTo>
                    <a:lnTo>
                      <a:pt x="1014" y="0"/>
                    </a:ln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2921" name="Rectangle 127"/>
              <p:cNvSpPr>
                <a:spLocks noChangeArrowheads="1"/>
              </p:cNvSpPr>
              <p:nvPr/>
            </p:nvSpPr>
            <p:spPr bwMode="auto">
              <a:xfrm>
                <a:off x="4132" y="3936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T</a:t>
                </a:r>
                <a:r>
                  <a:rPr lang="en-US" altLang="zh-CN" sz="2400" baseline="-25000">
                    <a:latin typeface="Times New Roman" panose="02020603050405020304" pitchFamily="18" charset="0"/>
                  </a:rPr>
                  <a:t>8</a:t>
                </a:r>
                <a:endParaRPr lang="zh-CN" altLang="en-US" sz="24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2922" name="Line 128"/>
              <p:cNvSpPr>
                <a:spLocks noChangeShapeType="1"/>
              </p:cNvSpPr>
              <p:nvPr/>
            </p:nvSpPr>
            <p:spPr bwMode="auto">
              <a:xfrm>
                <a:off x="4468" y="4108"/>
                <a:ext cx="24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2923" name="Rectangle 129"/>
              <p:cNvSpPr>
                <a:spLocks noChangeArrowheads="1"/>
              </p:cNvSpPr>
              <p:nvPr/>
            </p:nvSpPr>
            <p:spPr bwMode="auto">
              <a:xfrm>
                <a:off x="4704" y="3936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T</a:t>
                </a:r>
                <a:r>
                  <a:rPr lang="en-US" altLang="zh-CN" sz="2400" baseline="-25000">
                    <a:latin typeface="Times New Roman" panose="02020603050405020304" pitchFamily="18" charset="0"/>
                  </a:rPr>
                  <a:t>6</a:t>
                </a:r>
                <a:endParaRPr lang="zh-CN" altLang="en-US" sz="24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2924" name="Line 130"/>
              <p:cNvSpPr>
                <a:spLocks noChangeShapeType="1"/>
              </p:cNvSpPr>
              <p:nvPr/>
            </p:nvSpPr>
            <p:spPr bwMode="auto">
              <a:xfrm>
                <a:off x="5040" y="4108"/>
                <a:ext cx="24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2925" name="Text Box 131"/>
              <p:cNvSpPr txBox="1">
                <a:spLocks noChangeArrowheads="1"/>
              </p:cNvSpPr>
              <p:nvPr/>
            </p:nvSpPr>
            <p:spPr bwMode="auto">
              <a:xfrm>
                <a:off x="5328" y="3936"/>
                <a:ext cx="336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18000" rIns="1800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A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2926" name="Text Box 132"/>
              <p:cNvSpPr txBox="1">
                <a:spLocks noChangeArrowheads="1"/>
              </p:cNvSpPr>
              <p:nvPr/>
            </p:nvSpPr>
            <p:spPr bwMode="auto">
              <a:xfrm>
                <a:off x="2736" y="3629"/>
                <a:ext cx="397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  <a:r>
                  <a:rPr lang="en-US" altLang="zh-CN" sz="2400" baseline="-25000">
                    <a:latin typeface="Times New Roman" panose="02020603050405020304" pitchFamily="18" charset="0"/>
                  </a:rPr>
                  <a:t>IN</a:t>
                </a:r>
              </a:p>
            </p:txBody>
          </p:sp>
          <p:sp>
            <p:nvSpPr>
              <p:cNvPr id="122927" name="Text Box 133"/>
              <p:cNvSpPr txBox="1">
                <a:spLocks noChangeArrowheads="1"/>
              </p:cNvSpPr>
              <p:nvPr/>
            </p:nvSpPr>
            <p:spPr bwMode="auto">
              <a:xfrm>
                <a:off x="2736" y="3964"/>
                <a:ext cx="397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  <a:r>
                  <a:rPr lang="en-US" altLang="zh-CN" sz="2400" baseline="-25000">
                    <a:latin typeface="Times New Roman" panose="02020603050405020304" pitchFamily="18" charset="0"/>
                  </a:rPr>
                  <a:t>IN</a:t>
                </a:r>
              </a:p>
            </p:txBody>
          </p:sp>
        </p:grpSp>
        <p:sp>
          <p:nvSpPr>
            <p:cNvPr id="122910" name="Rectangle 134"/>
            <p:cNvSpPr>
              <a:spLocks noChangeArrowheads="1"/>
            </p:cNvSpPr>
            <p:nvPr/>
          </p:nvSpPr>
          <p:spPr bwMode="auto">
            <a:xfrm>
              <a:off x="4156" y="3641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T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7</a:t>
              </a:r>
              <a:endParaRPr lang="zh-CN" altLang="en-US" sz="2400" baseline="-25000">
                <a:latin typeface="Times New Roman" panose="02020603050405020304" pitchFamily="18" charset="0"/>
              </a:endParaRPr>
            </a:p>
          </p:txBody>
        </p:sp>
      </p:grpSp>
      <p:sp>
        <p:nvSpPr>
          <p:cNvPr id="211079" name="Text Box 135"/>
          <p:cNvSpPr txBox="1">
            <a:spLocks noChangeArrowheads="1"/>
          </p:cNvSpPr>
          <p:nvPr/>
        </p:nvSpPr>
        <p:spPr bwMode="auto">
          <a:xfrm>
            <a:off x="5676900" y="3141663"/>
            <a:ext cx="26654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写选择有效</a:t>
            </a:r>
          </a:p>
        </p:txBody>
      </p:sp>
      <p:grpSp>
        <p:nvGrpSpPr>
          <p:cNvPr id="27" name="Group 136"/>
          <p:cNvGrpSpPr/>
          <p:nvPr/>
        </p:nvGrpSpPr>
        <p:grpSpPr bwMode="auto">
          <a:xfrm>
            <a:off x="2243138" y="1266825"/>
            <a:ext cx="1601787" cy="638175"/>
            <a:chOff x="1413" y="798"/>
            <a:chExt cx="1009" cy="402"/>
          </a:xfrm>
        </p:grpSpPr>
        <p:sp>
          <p:nvSpPr>
            <p:cNvPr id="122907" name="Rectangle 137"/>
            <p:cNvSpPr>
              <a:spLocks noChangeArrowheads="1"/>
            </p:cNvSpPr>
            <p:nvPr/>
          </p:nvSpPr>
          <p:spPr bwMode="auto">
            <a:xfrm>
              <a:off x="1413" y="798"/>
              <a:ext cx="1009" cy="402"/>
            </a:xfrm>
            <a:prstGeom prst="rect">
              <a:avLst/>
            </a:prstGeom>
            <a:noFill/>
            <a:ln w="76200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endParaRPr lang="zh-CN" altLang="en-US" sz="2400" b="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2908" name="Text Box 138"/>
            <p:cNvSpPr txBox="1">
              <a:spLocks noChangeArrowheads="1"/>
            </p:cNvSpPr>
            <p:nvPr/>
          </p:nvSpPr>
          <p:spPr bwMode="auto">
            <a:xfrm>
              <a:off x="1451" y="801"/>
              <a:ext cx="90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T</a:t>
              </a:r>
              <a:r>
                <a:rPr lang="en-US" altLang="zh-CN" sz="2400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r>
                <a:rPr lang="en-US" altLang="zh-CN" sz="2800" b="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  ~  </a:t>
              </a: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T</a:t>
              </a:r>
              <a:r>
                <a:rPr lang="en-US" altLang="zh-CN" sz="2400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4</a:t>
              </a:r>
              <a:endParaRPr lang="zh-CN" altLang="en-US" sz="2400" baseline="-25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</p:grpSp>
      <p:sp>
        <p:nvSpPr>
          <p:cNvPr id="122906" name="AutoShape 139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8" presetClass="entr" presetSubtype="3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1" dur="500"/>
                                        <p:tgtEl>
                                          <p:spTgt spid="2110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5" dur="500"/>
                                        <p:tgtEl>
                                          <p:spTgt spid="2110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000"/>
                            </p:stCondLst>
                            <p:childTnLst>
                              <p:par>
                                <p:cTn id="3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" dur="500"/>
                                        <p:tgtEl>
                                          <p:spTgt spid="2110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49" dur="500"/>
                                        <p:tgtEl>
                                          <p:spTgt spid="211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"/>
                            </p:stCondLst>
                            <p:childTnLst>
                              <p:par>
                                <p:cTn id="51" presetID="18" presetClass="entr" presetSubtype="9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53" dur="500"/>
                                        <p:tgtEl>
                                          <p:spTgt spid="2110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8" presetClass="entr" presetSubtype="9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63" dur="500"/>
                                        <p:tgtEl>
                                          <p:spTgt spid="2110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"/>
                            </p:stCondLst>
                            <p:childTnLst>
                              <p:par>
                                <p:cTn id="6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7" dur="500"/>
                                        <p:tgtEl>
                                          <p:spTgt spid="2110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500"/>
                            </p:stCondLst>
                            <p:childTnLst>
                              <p:par>
                                <p:cTn id="79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8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"/>
                            </p:stCondLst>
                            <p:childTnLst>
                              <p:par>
                                <p:cTn id="83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500"/>
                            </p:stCondLst>
                            <p:childTnLst>
                              <p:par>
                                <p:cTn id="92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9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9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1005" grpId="0" animBg="1"/>
      <p:bldP spid="211006" grpId="0" animBg="1"/>
      <p:bldP spid="211007" grpId="0" animBg="1"/>
      <p:bldP spid="211022" grpId="0" animBg="1"/>
      <p:bldP spid="211023" grpId="0" animBg="1"/>
      <p:bldP spid="211053" grpId="0" animBg="1"/>
      <p:bldP spid="211079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Text Box 2"/>
          <p:cNvSpPr txBox="1">
            <a:spLocks noChangeArrowheads="1"/>
          </p:cNvSpPr>
          <p:nvPr/>
        </p:nvSpPr>
        <p:spPr bwMode="auto">
          <a:xfrm>
            <a:off x="533400" y="487363"/>
            <a:ext cx="7924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(2) 静态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200">
                <a:latin typeface="Times New Roman" panose="02020603050405020304" pitchFamily="18" charset="0"/>
              </a:rPr>
              <a:t>芯片举例</a:t>
            </a:r>
          </a:p>
        </p:txBody>
      </p:sp>
      <p:sp>
        <p:nvSpPr>
          <p:cNvPr id="211971" name="Text Box 3"/>
          <p:cNvSpPr txBox="1">
            <a:spLocks noChangeArrowheads="1"/>
          </p:cNvSpPr>
          <p:nvPr/>
        </p:nvSpPr>
        <p:spPr bwMode="auto">
          <a:xfrm>
            <a:off x="1219200" y="1173163"/>
            <a:ext cx="6934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① </a:t>
            </a:r>
            <a:r>
              <a:rPr lang="en-US" altLang="zh-CN" sz="3200">
                <a:latin typeface="Times New Roman" panose="02020603050405020304" pitchFamily="18" charset="0"/>
                <a:ea typeface="楷体_GB2312" pitchFamily="49" charset="-122"/>
              </a:rPr>
              <a:t>Intel 2114 </a:t>
            </a:r>
            <a:r>
              <a:rPr lang="zh-CN" altLang="en-US" sz="3200">
                <a:latin typeface="Times New Roman" panose="02020603050405020304" pitchFamily="18" charset="0"/>
              </a:rPr>
              <a:t>外特性</a:t>
            </a:r>
          </a:p>
        </p:txBody>
      </p:sp>
      <p:sp>
        <p:nvSpPr>
          <p:cNvPr id="211972" name="Text Box 4"/>
          <p:cNvSpPr txBox="1">
            <a:spLocks noChangeArrowheads="1"/>
          </p:cNvSpPr>
          <p:nvPr/>
        </p:nvSpPr>
        <p:spPr bwMode="auto">
          <a:xfrm>
            <a:off x="6613525" y="4953000"/>
            <a:ext cx="1409700" cy="893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05000"/>
              </a:lnSpc>
              <a:spcBef>
                <a:spcPct val="0"/>
              </a:spcBef>
            </a:pPr>
            <a:r>
              <a:rPr lang="zh-CN" altLang="en-US" sz="2400"/>
              <a:t>存储容量</a:t>
            </a:r>
          </a:p>
          <a:p>
            <a:pPr eaLnBrk="1" hangingPunct="1">
              <a:lnSpc>
                <a:spcPct val="105000"/>
              </a:lnSpc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1</a:t>
            </a:r>
            <a:r>
              <a:rPr lang="en-US" altLang="zh-CN" sz="2400">
                <a:latin typeface="Times New Roman" panose="02020603050405020304" pitchFamily="18" charset="0"/>
              </a:rPr>
              <a:t>K</a:t>
            </a:r>
            <a:r>
              <a:rPr lang="en-US" altLang="zh-CN" sz="26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2400">
                <a:latin typeface="Times New Roman" panose="02020603050405020304" pitchFamily="18" charset="0"/>
              </a:rPr>
              <a:t>4</a:t>
            </a:r>
            <a:r>
              <a:rPr lang="en-US" altLang="zh-CN">
                <a:latin typeface="Times New Roman" panose="02020603050405020304" pitchFamily="18" charset="0"/>
              </a:rPr>
              <a:t> </a:t>
            </a:r>
            <a:r>
              <a:rPr lang="zh-CN" altLang="en-US" sz="2400"/>
              <a:t>位</a:t>
            </a:r>
          </a:p>
        </p:txBody>
      </p:sp>
      <p:sp>
        <p:nvSpPr>
          <p:cNvPr id="211973" name="Rectangle 5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23910" name="Rectangle 7"/>
          <p:cNvSpPr>
            <a:spLocks noChangeArrowheads="1"/>
          </p:cNvSpPr>
          <p:nvPr/>
        </p:nvSpPr>
        <p:spPr bwMode="auto">
          <a:xfrm>
            <a:off x="7038975" y="4729163"/>
            <a:ext cx="18415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105000"/>
              </a:lnSpc>
              <a:spcBef>
                <a:spcPct val="0"/>
              </a:spcBef>
            </a:pPr>
            <a:endParaRPr lang="zh-CN" altLang="en-US" sz="2400"/>
          </a:p>
        </p:txBody>
      </p:sp>
      <p:sp>
        <p:nvSpPr>
          <p:cNvPr id="123911" name="AutoShape 57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grpSp>
        <p:nvGrpSpPr>
          <p:cNvPr id="2" name="Group 65"/>
          <p:cNvGrpSpPr/>
          <p:nvPr/>
        </p:nvGrpSpPr>
        <p:grpSpPr bwMode="auto">
          <a:xfrm>
            <a:off x="514350" y="2286000"/>
            <a:ext cx="7407275" cy="4095750"/>
            <a:chOff x="324" y="1440"/>
            <a:chExt cx="4666" cy="2580"/>
          </a:xfrm>
        </p:grpSpPr>
        <p:sp>
          <p:nvSpPr>
            <p:cNvPr id="123913" name="Line 18"/>
            <p:cNvSpPr>
              <a:spLocks noChangeShapeType="1"/>
            </p:cNvSpPr>
            <p:nvPr/>
          </p:nvSpPr>
          <p:spPr bwMode="auto">
            <a:xfrm>
              <a:off x="3792" y="2023"/>
              <a:ext cx="72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3914" name="Line 19"/>
            <p:cNvSpPr>
              <a:spLocks noChangeShapeType="1"/>
            </p:cNvSpPr>
            <p:nvPr/>
          </p:nvSpPr>
          <p:spPr bwMode="auto">
            <a:xfrm>
              <a:off x="3792" y="2263"/>
              <a:ext cx="72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3915" name="Line 20"/>
            <p:cNvSpPr>
              <a:spLocks noChangeShapeType="1"/>
            </p:cNvSpPr>
            <p:nvPr/>
          </p:nvSpPr>
          <p:spPr bwMode="auto">
            <a:xfrm>
              <a:off x="3792" y="2503"/>
              <a:ext cx="72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3916" name="Line 21"/>
            <p:cNvSpPr>
              <a:spLocks noChangeShapeType="1"/>
            </p:cNvSpPr>
            <p:nvPr/>
          </p:nvSpPr>
          <p:spPr bwMode="auto">
            <a:xfrm>
              <a:off x="3792" y="2743"/>
              <a:ext cx="72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123917" name="Group 64"/>
            <p:cNvGrpSpPr/>
            <p:nvPr/>
          </p:nvGrpSpPr>
          <p:grpSpPr bwMode="auto">
            <a:xfrm>
              <a:off x="324" y="1440"/>
              <a:ext cx="4666" cy="2580"/>
              <a:chOff x="324" y="1440"/>
              <a:chExt cx="4666" cy="2580"/>
            </a:xfrm>
          </p:grpSpPr>
          <p:sp>
            <p:nvSpPr>
              <p:cNvPr id="123918" name="Text Box 30"/>
              <p:cNvSpPr txBox="1">
                <a:spLocks noChangeArrowheads="1"/>
              </p:cNvSpPr>
              <p:nvPr/>
            </p:nvSpPr>
            <p:spPr bwMode="auto">
              <a:xfrm>
                <a:off x="4512" y="1856"/>
                <a:ext cx="39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I/O</a:t>
                </a:r>
              </a:p>
            </p:txBody>
          </p:sp>
          <p:sp>
            <p:nvSpPr>
              <p:cNvPr id="123919" name="Text Box 31"/>
              <p:cNvSpPr txBox="1">
                <a:spLocks noChangeArrowheads="1"/>
              </p:cNvSpPr>
              <p:nvPr/>
            </p:nvSpPr>
            <p:spPr bwMode="auto">
              <a:xfrm>
                <a:off x="4800" y="1941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16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23920" name="Text Box 32"/>
              <p:cNvSpPr txBox="1">
                <a:spLocks noChangeArrowheads="1"/>
              </p:cNvSpPr>
              <p:nvPr/>
            </p:nvSpPr>
            <p:spPr bwMode="auto">
              <a:xfrm>
                <a:off x="4522" y="2096"/>
                <a:ext cx="39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I/O</a:t>
                </a:r>
              </a:p>
            </p:txBody>
          </p:sp>
          <p:sp>
            <p:nvSpPr>
              <p:cNvPr id="123921" name="Text Box 33"/>
              <p:cNvSpPr txBox="1">
                <a:spLocks noChangeArrowheads="1"/>
              </p:cNvSpPr>
              <p:nvPr/>
            </p:nvSpPr>
            <p:spPr bwMode="auto">
              <a:xfrm>
                <a:off x="4810" y="2181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1600">
                    <a:latin typeface="Times New Roman" panose="02020603050405020304" pitchFamily="18" charset="0"/>
                  </a:rPr>
                  <a:t>2</a:t>
                </a:r>
              </a:p>
            </p:txBody>
          </p:sp>
          <p:sp>
            <p:nvSpPr>
              <p:cNvPr id="123922" name="Text Box 34"/>
              <p:cNvSpPr txBox="1">
                <a:spLocks noChangeArrowheads="1"/>
              </p:cNvSpPr>
              <p:nvPr/>
            </p:nvSpPr>
            <p:spPr bwMode="auto">
              <a:xfrm>
                <a:off x="4522" y="2336"/>
                <a:ext cx="39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I/O</a:t>
                </a:r>
              </a:p>
            </p:txBody>
          </p:sp>
          <p:sp>
            <p:nvSpPr>
              <p:cNvPr id="123923" name="Text Box 35"/>
              <p:cNvSpPr txBox="1">
                <a:spLocks noChangeArrowheads="1"/>
              </p:cNvSpPr>
              <p:nvPr/>
            </p:nvSpPr>
            <p:spPr bwMode="auto">
              <a:xfrm>
                <a:off x="4810" y="2421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1600">
                    <a:latin typeface="Times New Roman" panose="02020603050405020304" pitchFamily="18" charset="0"/>
                  </a:rPr>
                  <a:t>3</a:t>
                </a:r>
              </a:p>
            </p:txBody>
          </p:sp>
          <p:sp>
            <p:nvSpPr>
              <p:cNvPr id="123924" name="Text Box 36"/>
              <p:cNvSpPr txBox="1">
                <a:spLocks noChangeArrowheads="1"/>
              </p:cNvSpPr>
              <p:nvPr/>
            </p:nvSpPr>
            <p:spPr bwMode="auto">
              <a:xfrm>
                <a:off x="4522" y="2576"/>
                <a:ext cx="39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I/O</a:t>
                </a:r>
              </a:p>
            </p:txBody>
          </p:sp>
          <p:sp>
            <p:nvSpPr>
              <p:cNvPr id="123925" name="Text Box 37"/>
              <p:cNvSpPr txBox="1">
                <a:spLocks noChangeArrowheads="1"/>
              </p:cNvSpPr>
              <p:nvPr/>
            </p:nvSpPr>
            <p:spPr bwMode="auto">
              <a:xfrm>
                <a:off x="4810" y="2661"/>
                <a:ext cx="180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1600">
                    <a:latin typeface="Times New Roman" panose="02020603050405020304" pitchFamily="18" charset="0"/>
                  </a:rPr>
                  <a:t>4</a:t>
                </a:r>
              </a:p>
            </p:txBody>
          </p:sp>
          <p:grpSp>
            <p:nvGrpSpPr>
              <p:cNvPr id="123926" name="Group 63"/>
              <p:cNvGrpSpPr/>
              <p:nvPr/>
            </p:nvGrpSpPr>
            <p:grpSpPr bwMode="auto">
              <a:xfrm>
                <a:off x="324" y="1440"/>
                <a:ext cx="3468" cy="2580"/>
                <a:chOff x="324" y="1440"/>
                <a:chExt cx="3468" cy="2580"/>
              </a:xfrm>
            </p:grpSpPr>
            <p:sp>
              <p:nvSpPr>
                <p:cNvPr id="123927" name="Line 8"/>
                <p:cNvSpPr>
                  <a:spLocks noChangeShapeType="1"/>
                </p:cNvSpPr>
                <p:nvPr/>
              </p:nvSpPr>
              <p:spPr bwMode="auto">
                <a:xfrm>
                  <a:off x="660" y="2023"/>
                  <a:ext cx="720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3928" name="Line 9"/>
                <p:cNvSpPr>
                  <a:spLocks noChangeShapeType="1"/>
                </p:cNvSpPr>
                <p:nvPr/>
              </p:nvSpPr>
              <p:spPr bwMode="auto">
                <a:xfrm>
                  <a:off x="660" y="2263"/>
                  <a:ext cx="720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3929" name="Line 10"/>
                <p:cNvSpPr>
                  <a:spLocks noChangeShapeType="1"/>
                </p:cNvSpPr>
                <p:nvPr/>
              </p:nvSpPr>
              <p:spPr bwMode="auto">
                <a:xfrm>
                  <a:off x="660" y="3127"/>
                  <a:ext cx="720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grpSp>
              <p:nvGrpSpPr>
                <p:cNvPr id="123930" name="Group 22"/>
                <p:cNvGrpSpPr/>
                <p:nvPr/>
              </p:nvGrpSpPr>
              <p:grpSpPr bwMode="auto">
                <a:xfrm>
                  <a:off x="1872" y="1536"/>
                  <a:ext cx="48" cy="336"/>
                  <a:chOff x="1872" y="1462"/>
                  <a:chExt cx="48" cy="336"/>
                </a:xfrm>
              </p:grpSpPr>
              <p:sp>
                <p:nvSpPr>
                  <p:cNvPr id="123955" name="Oval 23"/>
                  <p:cNvSpPr>
                    <a:spLocks noChangeArrowheads="1"/>
                  </p:cNvSpPr>
                  <p:nvPr/>
                </p:nvSpPr>
                <p:spPr bwMode="auto">
                  <a:xfrm>
                    <a:off x="1872" y="1750"/>
                    <a:ext cx="48" cy="48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/>
                  </a:p>
                </p:txBody>
              </p:sp>
              <p:sp>
                <p:nvSpPr>
                  <p:cNvPr id="123956" name="Line 2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97" y="1462"/>
                    <a:ext cx="0" cy="288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23931" name="Group 25"/>
                <p:cNvGrpSpPr/>
                <p:nvPr/>
              </p:nvGrpSpPr>
              <p:grpSpPr bwMode="auto">
                <a:xfrm>
                  <a:off x="3312" y="1536"/>
                  <a:ext cx="48" cy="336"/>
                  <a:chOff x="3312" y="1488"/>
                  <a:chExt cx="48" cy="336"/>
                </a:xfrm>
              </p:grpSpPr>
              <p:sp>
                <p:nvSpPr>
                  <p:cNvPr id="123953" name="Oval 26"/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1776"/>
                    <a:ext cx="48" cy="48"/>
                  </a:xfrm>
                  <a:prstGeom prst="ellips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/>
                  </a:p>
                </p:txBody>
              </p:sp>
              <p:sp>
                <p:nvSpPr>
                  <p:cNvPr id="123954" name="Line 2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7" y="1488"/>
                    <a:ext cx="0" cy="288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23932" name="Text Box 38"/>
                <p:cNvSpPr txBox="1">
                  <a:spLocks noChangeArrowheads="1"/>
                </p:cNvSpPr>
                <p:nvPr/>
              </p:nvSpPr>
              <p:spPr bwMode="auto">
                <a:xfrm>
                  <a:off x="324" y="1809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</a:p>
              </p:txBody>
            </p:sp>
            <p:sp>
              <p:nvSpPr>
                <p:cNvPr id="123933" name="Text Box 39"/>
                <p:cNvSpPr txBox="1">
                  <a:spLocks noChangeArrowheads="1"/>
                </p:cNvSpPr>
                <p:nvPr/>
              </p:nvSpPr>
              <p:spPr bwMode="auto">
                <a:xfrm>
                  <a:off x="480" y="3094"/>
                  <a:ext cx="180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1600"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23934" name="Text Box 40"/>
                <p:cNvSpPr txBox="1">
                  <a:spLocks noChangeArrowheads="1"/>
                </p:cNvSpPr>
                <p:nvPr/>
              </p:nvSpPr>
              <p:spPr bwMode="auto">
                <a:xfrm>
                  <a:off x="324" y="2085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</a:p>
              </p:txBody>
            </p:sp>
            <p:sp>
              <p:nvSpPr>
                <p:cNvPr id="123935" name="Text Box 41"/>
                <p:cNvSpPr txBox="1">
                  <a:spLocks noChangeArrowheads="1"/>
                </p:cNvSpPr>
                <p:nvPr/>
              </p:nvSpPr>
              <p:spPr bwMode="auto">
                <a:xfrm>
                  <a:off x="484" y="2179"/>
                  <a:ext cx="180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16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sp>
              <p:nvSpPr>
                <p:cNvPr id="123936" name="Text Box 42"/>
                <p:cNvSpPr txBox="1">
                  <a:spLocks noChangeArrowheads="1"/>
                </p:cNvSpPr>
                <p:nvPr/>
              </p:nvSpPr>
              <p:spPr bwMode="auto">
                <a:xfrm>
                  <a:off x="324" y="2961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</a:p>
              </p:txBody>
            </p:sp>
            <p:sp>
              <p:nvSpPr>
                <p:cNvPr id="123937" name="Text Box 43"/>
                <p:cNvSpPr txBox="1">
                  <a:spLocks noChangeArrowheads="1"/>
                </p:cNvSpPr>
                <p:nvPr/>
              </p:nvSpPr>
              <p:spPr bwMode="auto">
                <a:xfrm>
                  <a:off x="480" y="1894"/>
                  <a:ext cx="180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1600"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grpSp>
              <p:nvGrpSpPr>
                <p:cNvPr id="123938" name="Group 44"/>
                <p:cNvGrpSpPr/>
                <p:nvPr/>
              </p:nvGrpSpPr>
              <p:grpSpPr bwMode="auto">
                <a:xfrm>
                  <a:off x="1436" y="1440"/>
                  <a:ext cx="436" cy="288"/>
                  <a:chOff x="1436" y="1440"/>
                  <a:chExt cx="436" cy="288"/>
                </a:xfrm>
              </p:grpSpPr>
              <p:sp>
                <p:nvSpPr>
                  <p:cNvPr id="123951" name="Text Box 45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36" y="1440"/>
                    <a:ext cx="436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en-US" altLang="zh-CN" sz="2400">
                        <a:latin typeface="Times New Roman" panose="02020603050405020304" pitchFamily="18" charset="0"/>
                      </a:rPr>
                      <a:t>WE</a:t>
                    </a:r>
                  </a:p>
                </p:txBody>
              </p:sp>
              <p:sp>
                <p:nvSpPr>
                  <p:cNvPr id="123952" name="Freeform 46"/>
                  <p:cNvSpPr/>
                  <p:nvPr/>
                </p:nvSpPr>
                <p:spPr bwMode="auto">
                  <a:xfrm>
                    <a:off x="1484" y="1487"/>
                    <a:ext cx="348" cy="1"/>
                  </a:xfrm>
                  <a:custGeom>
                    <a:avLst/>
                    <a:gdLst>
                      <a:gd name="T0" fmla="*/ 0 w 348"/>
                      <a:gd name="T1" fmla="*/ 0 h 1"/>
                      <a:gd name="T2" fmla="*/ 348 w 348"/>
                      <a:gd name="T3" fmla="*/ 0 h 1"/>
                      <a:gd name="T4" fmla="*/ 0 60000 65536"/>
                      <a:gd name="T5" fmla="*/ 0 60000 65536"/>
                      <a:gd name="T6" fmla="*/ 0 w 348"/>
                      <a:gd name="T7" fmla="*/ 0 h 1"/>
                      <a:gd name="T8" fmla="*/ 348 w 348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348" h="1">
                        <a:moveTo>
                          <a:pt x="0" y="0"/>
                        </a:moveTo>
                        <a:lnTo>
                          <a:pt x="348" y="0"/>
                        </a:ln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23939" name="Group 47"/>
                <p:cNvGrpSpPr/>
                <p:nvPr/>
              </p:nvGrpSpPr>
              <p:grpSpPr bwMode="auto">
                <a:xfrm>
                  <a:off x="2902" y="1440"/>
                  <a:ext cx="362" cy="288"/>
                  <a:chOff x="2902" y="1440"/>
                  <a:chExt cx="362" cy="288"/>
                </a:xfrm>
              </p:grpSpPr>
              <p:sp>
                <p:nvSpPr>
                  <p:cNvPr id="123949" name="Text Box 48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02" y="1440"/>
                    <a:ext cx="362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en-US" altLang="zh-CN" sz="2400">
                        <a:latin typeface="Times New Roman" panose="02020603050405020304" pitchFamily="18" charset="0"/>
                      </a:rPr>
                      <a:t>CS</a:t>
                    </a:r>
                  </a:p>
                </p:txBody>
              </p:sp>
              <p:sp>
                <p:nvSpPr>
                  <p:cNvPr id="123950" name="Line 49"/>
                  <p:cNvSpPr>
                    <a:spLocks noChangeShapeType="1"/>
                  </p:cNvSpPr>
                  <p:nvPr/>
                </p:nvSpPr>
                <p:spPr bwMode="auto">
                  <a:xfrm>
                    <a:off x="2938" y="1488"/>
                    <a:ext cx="288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23940" name="Group 62"/>
                <p:cNvGrpSpPr/>
                <p:nvPr/>
              </p:nvGrpSpPr>
              <p:grpSpPr bwMode="auto">
                <a:xfrm>
                  <a:off x="1715" y="3312"/>
                  <a:ext cx="1910" cy="708"/>
                  <a:chOff x="1715" y="3312"/>
                  <a:chExt cx="1910" cy="708"/>
                </a:xfrm>
              </p:grpSpPr>
              <p:sp>
                <p:nvSpPr>
                  <p:cNvPr id="123945" name="Line 28"/>
                  <p:cNvSpPr>
                    <a:spLocks noChangeShapeType="1"/>
                  </p:cNvSpPr>
                  <p:nvPr/>
                </p:nvSpPr>
                <p:spPr bwMode="auto">
                  <a:xfrm>
                    <a:off x="1920" y="3312"/>
                    <a:ext cx="0" cy="432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23946" name="Line 29"/>
                  <p:cNvSpPr>
                    <a:spLocks noChangeShapeType="1"/>
                  </p:cNvSpPr>
                  <p:nvPr/>
                </p:nvSpPr>
                <p:spPr bwMode="auto">
                  <a:xfrm>
                    <a:off x="3360" y="3312"/>
                    <a:ext cx="0" cy="432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23947" name="Text Box 52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715" y="3732"/>
                    <a:ext cx="394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en-US" altLang="zh-CN" sz="2400" i="1">
                        <a:latin typeface="Times New Roman" panose="02020603050405020304" pitchFamily="18" charset="0"/>
                      </a:rPr>
                      <a:t>V</a:t>
                    </a:r>
                    <a:r>
                      <a:rPr lang="en-US" altLang="zh-CN" sz="2000" baseline="-25000">
                        <a:latin typeface="Times New Roman" panose="02020603050405020304" pitchFamily="18" charset="0"/>
                      </a:rPr>
                      <a:t>CC</a:t>
                    </a:r>
                  </a:p>
                </p:txBody>
              </p:sp>
              <p:sp>
                <p:nvSpPr>
                  <p:cNvPr id="123948" name="Text Box 5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082" y="3732"/>
                    <a:ext cx="543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en-US" altLang="zh-CN" sz="2400">
                        <a:latin typeface="Times New Roman" panose="02020603050405020304" pitchFamily="18" charset="0"/>
                      </a:rPr>
                      <a:t>GND</a:t>
                    </a:r>
                  </a:p>
                </p:txBody>
              </p:sp>
            </p:grpSp>
            <p:grpSp>
              <p:nvGrpSpPr>
                <p:cNvPr id="123941" name="Group 54"/>
                <p:cNvGrpSpPr/>
                <p:nvPr/>
              </p:nvGrpSpPr>
              <p:grpSpPr bwMode="auto">
                <a:xfrm>
                  <a:off x="1392" y="1872"/>
                  <a:ext cx="2400" cy="1447"/>
                  <a:chOff x="1680" y="1968"/>
                  <a:chExt cx="2400" cy="1447"/>
                </a:xfrm>
              </p:grpSpPr>
              <p:sp>
                <p:nvSpPr>
                  <p:cNvPr id="123943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1680" y="1968"/>
                    <a:ext cx="2400" cy="1447"/>
                  </a:xfrm>
                  <a:prstGeom prst="rect">
                    <a:avLst/>
                  </a:prstGeom>
                  <a:noFill/>
                  <a:ln w="38100">
                    <a:solidFill>
                      <a:schemeClr val="folHlink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/>
                  </a:p>
                </p:txBody>
              </p:sp>
              <p:sp>
                <p:nvSpPr>
                  <p:cNvPr id="123944" name="Text Box 56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78" y="2509"/>
                    <a:ext cx="1204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</a:pPr>
                    <a:r>
                      <a:rPr lang="en-US" altLang="zh-CN" sz="3200">
                        <a:latin typeface="Times New Roman" panose="02020603050405020304" pitchFamily="18" charset="0"/>
                      </a:rPr>
                      <a:t>Intel 2114</a:t>
                    </a:r>
                    <a:endParaRPr lang="zh-CN" altLang="en-US" sz="3200">
                      <a:latin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123942" name="Text Box 58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730" y="2468"/>
                  <a:ext cx="363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US" altLang="zh-CN" sz="28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…</a:t>
                  </a:r>
                  <a:endParaRPr lang="en-US" altLang="zh-CN" sz="2800">
                    <a:solidFill>
                      <a:schemeClr val="folHlink"/>
                    </a:solidFill>
                  </a:endParaRPr>
                </a:p>
              </p:txBody>
            </p:sp>
          </p:grp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9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119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9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119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1971" grpId="0" autoUpdateAnimBg="0"/>
      <p:bldP spid="211972" grpId="0" autoUpdateAnimBg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Text Box 2"/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en-US" altLang="zh-CN" sz="3200">
                <a:latin typeface="Times New Roman" panose="02020603050405020304" pitchFamily="18" charset="0"/>
              </a:rPr>
              <a:t>Intel 2114 RAM </a:t>
            </a:r>
            <a:r>
              <a:rPr lang="zh-CN" altLang="en-US" sz="3200">
                <a:latin typeface="Times New Roman" panose="02020603050405020304" pitchFamily="18" charset="0"/>
              </a:rPr>
              <a:t>矩阵 </a:t>
            </a:r>
            <a:r>
              <a:rPr lang="en-US" altLang="zh-CN" sz="3200">
                <a:latin typeface="Times New Roman" panose="02020603050405020304" pitchFamily="18" charset="0"/>
              </a:rPr>
              <a:t>(64 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>
                <a:latin typeface="Times New Roman" panose="02020603050405020304" pitchFamily="18" charset="0"/>
              </a:rPr>
              <a:t> 64)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</a:p>
        </p:txBody>
      </p:sp>
      <p:grpSp>
        <p:nvGrpSpPr>
          <p:cNvPr id="2" name="Group 3"/>
          <p:cNvGrpSpPr/>
          <p:nvPr/>
        </p:nvGrpSpPr>
        <p:grpSpPr bwMode="auto">
          <a:xfrm>
            <a:off x="76200" y="1055688"/>
            <a:ext cx="9105900" cy="5730875"/>
            <a:chOff x="48" y="665"/>
            <a:chExt cx="5736" cy="3610"/>
          </a:xfrm>
        </p:grpSpPr>
        <p:grpSp>
          <p:nvGrpSpPr>
            <p:cNvPr id="124952" name="Group 4"/>
            <p:cNvGrpSpPr/>
            <p:nvPr/>
          </p:nvGrpSpPr>
          <p:grpSpPr bwMode="auto">
            <a:xfrm>
              <a:off x="48" y="665"/>
              <a:ext cx="284" cy="2995"/>
              <a:chOff x="48" y="665"/>
              <a:chExt cx="284" cy="2995"/>
            </a:xfrm>
          </p:grpSpPr>
          <p:sp>
            <p:nvSpPr>
              <p:cNvPr id="125172" name="Text Box 5"/>
              <p:cNvSpPr txBox="1">
                <a:spLocks noChangeArrowheads="1"/>
              </p:cNvSpPr>
              <p:nvPr/>
            </p:nvSpPr>
            <p:spPr bwMode="auto">
              <a:xfrm>
                <a:off x="48" y="1961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3</a:t>
                </a:r>
              </a:p>
            </p:txBody>
          </p:sp>
          <p:sp>
            <p:nvSpPr>
              <p:cNvPr id="125173" name="Text Box 6"/>
              <p:cNvSpPr txBox="1">
                <a:spLocks noChangeArrowheads="1"/>
              </p:cNvSpPr>
              <p:nvPr/>
            </p:nvSpPr>
            <p:spPr bwMode="auto">
              <a:xfrm>
                <a:off x="48" y="1702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sp>
            <p:nvSpPr>
              <p:cNvPr id="125174" name="Text Box 7"/>
              <p:cNvSpPr txBox="1">
                <a:spLocks noChangeArrowheads="1"/>
              </p:cNvSpPr>
              <p:nvPr/>
            </p:nvSpPr>
            <p:spPr bwMode="auto">
              <a:xfrm>
                <a:off x="48" y="1443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5</a:t>
                </a:r>
              </a:p>
            </p:txBody>
          </p:sp>
          <p:sp>
            <p:nvSpPr>
              <p:cNvPr id="125175" name="Text Box 8"/>
              <p:cNvSpPr txBox="1">
                <a:spLocks noChangeArrowheads="1"/>
              </p:cNvSpPr>
              <p:nvPr/>
            </p:nvSpPr>
            <p:spPr bwMode="auto">
              <a:xfrm>
                <a:off x="48" y="1184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sp>
            <p:nvSpPr>
              <p:cNvPr id="125176" name="Text Box 9"/>
              <p:cNvSpPr txBox="1">
                <a:spLocks noChangeArrowheads="1"/>
              </p:cNvSpPr>
              <p:nvPr/>
            </p:nvSpPr>
            <p:spPr bwMode="auto">
              <a:xfrm>
                <a:off x="48" y="925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</a:p>
            </p:txBody>
          </p:sp>
          <p:sp>
            <p:nvSpPr>
              <p:cNvPr id="125177" name="Text Box 10"/>
              <p:cNvSpPr txBox="1">
                <a:spLocks noChangeArrowheads="1"/>
              </p:cNvSpPr>
              <p:nvPr/>
            </p:nvSpPr>
            <p:spPr bwMode="auto">
              <a:xfrm>
                <a:off x="48" y="665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sp>
            <p:nvSpPr>
              <p:cNvPr id="125178" name="Text Box 11"/>
              <p:cNvSpPr txBox="1">
                <a:spLocks noChangeArrowheads="1"/>
              </p:cNvSpPr>
              <p:nvPr/>
            </p:nvSpPr>
            <p:spPr bwMode="auto">
              <a:xfrm>
                <a:off x="48" y="3410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25179" name="Text Box 12"/>
              <p:cNvSpPr txBox="1">
                <a:spLocks noChangeArrowheads="1"/>
              </p:cNvSpPr>
              <p:nvPr/>
            </p:nvSpPr>
            <p:spPr bwMode="auto">
              <a:xfrm>
                <a:off x="48" y="3151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25180" name="Text Box 13"/>
              <p:cNvSpPr txBox="1">
                <a:spLocks noChangeArrowheads="1"/>
              </p:cNvSpPr>
              <p:nvPr/>
            </p:nvSpPr>
            <p:spPr bwMode="auto">
              <a:xfrm>
                <a:off x="48" y="2892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2</a:t>
                </a:r>
              </a:p>
            </p:txBody>
          </p:sp>
          <p:sp>
            <p:nvSpPr>
              <p:cNvPr id="125181" name="Text Box 14"/>
              <p:cNvSpPr txBox="1">
                <a:spLocks noChangeArrowheads="1"/>
              </p:cNvSpPr>
              <p:nvPr/>
            </p:nvSpPr>
            <p:spPr bwMode="auto">
              <a:xfrm>
                <a:off x="48" y="2633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9</a:t>
                </a:r>
              </a:p>
            </p:txBody>
          </p:sp>
        </p:grpSp>
        <p:grpSp>
          <p:nvGrpSpPr>
            <p:cNvPr id="124953" name="Group 15"/>
            <p:cNvGrpSpPr/>
            <p:nvPr/>
          </p:nvGrpSpPr>
          <p:grpSpPr bwMode="auto">
            <a:xfrm>
              <a:off x="164" y="713"/>
              <a:ext cx="5620" cy="3562"/>
              <a:chOff x="164" y="713"/>
              <a:chExt cx="5620" cy="3562"/>
            </a:xfrm>
          </p:grpSpPr>
          <p:sp>
            <p:nvSpPr>
              <p:cNvPr id="124954" name="Rectangle 16"/>
              <p:cNvSpPr>
                <a:spLocks noChangeArrowheads="1"/>
              </p:cNvSpPr>
              <p:nvPr/>
            </p:nvSpPr>
            <p:spPr bwMode="auto">
              <a:xfrm>
                <a:off x="356" y="713"/>
                <a:ext cx="576" cy="316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24955" name="Rectangle 17"/>
              <p:cNvSpPr>
                <a:spLocks noChangeArrowheads="1"/>
              </p:cNvSpPr>
              <p:nvPr/>
            </p:nvSpPr>
            <p:spPr bwMode="auto">
              <a:xfrm>
                <a:off x="1752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24956" name="Text Box 18"/>
              <p:cNvSpPr txBox="1">
                <a:spLocks noChangeArrowheads="1"/>
              </p:cNvSpPr>
              <p:nvPr/>
            </p:nvSpPr>
            <p:spPr bwMode="auto">
              <a:xfrm>
                <a:off x="1432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24957" name="Rectangle 19"/>
              <p:cNvSpPr>
                <a:spLocks noChangeArrowheads="1"/>
              </p:cNvSpPr>
              <p:nvPr/>
            </p:nvSpPr>
            <p:spPr bwMode="auto">
              <a:xfrm>
                <a:off x="1176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24958" name="Rectangle 20"/>
              <p:cNvSpPr>
                <a:spLocks noChangeArrowheads="1"/>
              </p:cNvSpPr>
              <p:nvPr/>
            </p:nvSpPr>
            <p:spPr bwMode="auto">
              <a:xfrm>
                <a:off x="2893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24959" name="Text Box 21"/>
              <p:cNvSpPr txBox="1">
                <a:spLocks noChangeArrowheads="1"/>
              </p:cNvSpPr>
              <p:nvPr/>
            </p:nvSpPr>
            <p:spPr bwMode="auto">
              <a:xfrm>
                <a:off x="2573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24960" name="Rectangle 22"/>
              <p:cNvSpPr>
                <a:spLocks noChangeArrowheads="1"/>
              </p:cNvSpPr>
              <p:nvPr/>
            </p:nvSpPr>
            <p:spPr bwMode="auto">
              <a:xfrm>
                <a:off x="2317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sp>
            <p:nvSpPr>
              <p:cNvPr id="124961" name="Rectangle 23"/>
              <p:cNvSpPr>
                <a:spLocks noChangeArrowheads="1"/>
              </p:cNvSpPr>
              <p:nvPr/>
            </p:nvSpPr>
            <p:spPr bwMode="auto">
              <a:xfrm>
                <a:off x="406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47</a:t>
                </a:r>
              </a:p>
            </p:txBody>
          </p:sp>
          <p:sp>
            <p:nvSpPr>
              <p:cNvPr id="124962" name="Text Box 24"/>
              <p:cNvSpPr txBox="1">
                <a:spLocks noChangeArrowheads="1"/>
              </p:cNvSpPr>
              <p:nvPr/>
            </p:nvSpPr>
            <p:spPr bwMode="auto">
              <a:xfrm>
                <a:off x="374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24963" name="Rectangle 25"/>
              <p:cNvSpPr>
                <a:spLocks noChangeArrowheads="1"/>
              </p:cNvSpPr>
              <p:nvPr/>
            </p:nvSpPr>
            <p:spPr bwMode="auto">
              <a:xfrm>
                <a:off x="3492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32</a:t>
                </a:r>
              </a:p>
            </p:txBody>
          </p:sp>
          <p:sp>
            <p:nvSpPr>
              <p:cNvPr id="124964" name="Rectangle 26"/>
              <p:cNvSpPr>
                <a:spLocks noChangeArrowheads="1"/>
              </p:cNvSpPr>
              <p:nvPr/>
            </p:nvSpPr>
            <p:spPr bwMode="auto">
              <a:xfrm>
                <a:off x="520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63</a:t>
                </a:r>
              </a:p>
            </p:txBody>
          </p:sp>
          <p:sp>
            <p:nvSpPr>
              <p:cNvPr id="124965" name="Text Box 27"/>
              <p:cNvSpPr txBox="1">
                <a:spLocks noChangeArrowheads="1"/>
              </p:cNvSpPr>
              <p:nvPr/>
            </p:nvSpPr>
            <p:spPr bwMode="auto">
              <a:xfrm>
                <a:off x="4884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24966" name="Rectangle 28"/>
              <p:cNvSpPr>
                <a:spLocks noChangeArrowheads="1"/>
              </p:cNvSpPr>
              <p:nvPr/>
            </p:nvSpPr>
            <p:spPr bwMode="auto">
              <a:xfrm>
                <a:off x="462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48</a:t>
                </a:r>
              </a:p>
            </p:txBody>
          </p:sp>
          <p:sp>
            <p:nvSpPr>
              <p:cNvPr id="124967" name="Rectangle 29"/>
              <p:cNvSpPr>
                <a:spLocks noChangeArrowheads="1"/>
              </p:cNvSpPr>
              <p:nvPr/>
            </p:nvSpPr>
            <p:spPr bwMode="auto">
              <a:xfrm>
                <a:off x="1752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24968" name="Rectangle 30"/>
              <p:cNvSpPr>
                <a:spLocks noChangeArrowheads="1"/>
              </p:cNvSpPr>
              <p:nvPr/>
            </p:nvSpPr>
            <p:spPr bwMode="auto">
              <a:xfrm>
                <a:off x="1176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24969" name="Rectangle 31"/>
              <p:cNvSpPr>
                <a:spLocks noChangeArrowheads="1"/>
              </p:cNvSpPr>
              <p:nvPr/>
            </p:nvSpPr>
            <p:spPr bwMode="auto">
              <a:xfrm>
                <a:off x="2893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24970" name="Rectangle 32"/>
              <p:cNvSpPr>
                <a:spLocks noChangeArrowheads="1"/>
              </p:cNvSpPr>
              <p:nvPr/>
            </p:nvSpPr>
            <p:spPr bwMode="auto">
              <a:xfrm>
                <a:off x="2317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sp>
            <p:nvSpPr>
              <p:cNvPr id="124971" name="Rectangle 33"/>
              <p:cNvSpPr>
                <a:spLocks noChangeArrowheads="1"/>
              </p:cNvSpPr>
              <p:nvPr/>
            </p:nvSpPr>
            <p:spPr bwMode="auto">
              <a:xfrm>
                <a:off x="406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47</a:t>
                </a:r>
              </a:p>
            </p:txBody>
          </p:sp>
          <p:sp>
            <p:nvSpPr>
              <p:cNvPr id="124972" name="Rectangle 34"/>
              <p:cNvSpPr>
                <a:spLocks noChangeArrowheads="1"/>
              </p:cNvSpPr>
              <p:nvPr/>
            </p:nvSpPr>
            <p:spPr bwMode="auto">
              <a:xfrm>
                <a:off x="3492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32</a:t>
                </a:r>
              </a:p>
            </p:txBody>
          </p:sp>
          <p:sp>
            <p:nvSpPr>
              <p:cNvPr id="124973" name="Rectangle 35"/>
              <p:cNvSpPr>
                <a:spLocks noChangeArrowheads="1"/>
              </p:cNvSpPr>
              <p:nvPr/>
            </p:nvSpPr>
            <p:spPr bwMode="auto">
              <a:xfrm>
                <a:off x="520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63</a:t>
                </a:r>
              </a:p>
            </p:txBody>
          </p:sp>
          <p:sp>
            <p:nvSpPr>
              <p:cNvPr id="124974" name="Rectangle 36"/>
              <p:cNvSpPr>
                <a:spLocks noChangeArrowheads="1"/>
              </p:cNvSpPr>
              <p:nvPr/>
            </p:nvSpPr>
            <p:spPr bwMode="auto">
              <a:xfrm>
                <a:off x="462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48</a:t>
                </a:r>
              </a:p>
            </p:txBody>
          </p:sp>
          <p:sp>
            <p:nvSpPr>
              <p:cNvPr id="124975" name="Line 37"/>
              <p:cNvSpPr>
                <a:spLocks noChangeShapeType="1"/>
              </p:cNvSpPr>
              <p:nvPr/>
            </p:nvSpPr>
            <p:spPr bwMode="auto">
              <a:xfrm rot="5400000">
                <a:off x="1349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4976" name="Line 38"/>
              <p:cNvSpPr>
                <a:spLocks noChangeShapeType="1"/>
              </p:cNvSpPr>
              <p:nvPr/>
            </p:nvSpPr>
            <p:spPr bwMode="auto">
              <a:xfrm rot="5400000">
                <a:off x="1332" y="271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4977" name="Freeform 39"/>
              <p:cNvSpPr/>
              <p:nvPr/>
            </p:nvSpPr>
            <p:spPr bwMode="auto">
              <a:xfrm>
                <a:off x="1284" y="2709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4978" name="Line 40"/>
              <p:cNvSpPr>
                <a:spLocks noChangeShapeType="1"/>
              </p:cNvSpPr>
              <p:nvPr/>
            </p:nvSpPr>
            <p:spPr bwMode="auto">
              <a:xfrm rot="-5400000">
                <a:off x="1157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4979" name="Line 41"/>
              <p:cNvSpPr>
                <a:spLocks noChangeShapeType="1"/>
              </p:cNvSpPr>
              <p:nvPr/>
            </p:nvSpPr>
            <p:spPr bwMode="auto">
              <a:xfrm rot="-5400000">
                <a:off x="1236" y="2714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4980" name="Freeform 42"/>
              <p:cNvSpPr/>
              <p:nvPr/>
            </p:nvSpPr>
            <p:spPr bwMode="auto">
              <a:xfrm>
                <a:off x="1458" y="2353"/>
                <a:ext cx="112" cy="1"/>
              </a:xfrm>
              <a:custGeom>
                <a:avLst/>
                <a:gdLst>
                  <a:gd name="T0" fmla="*/ 0 w 112"/>
                  <a:gd name="T1" fmla="*/ 0 h 1"/>
                  <a:gd name="T2" fmla="*/ 112 w 112"/>
                  <a:gd name="T3" fmla="*/ 0 h 1"/>
                  <a:gd name="T4" fmla="*/ 0 60000 65536"/>
                  <a:gd name="T5" fmla="*/ 0 60000 65536"/>
                  <a:gd name="T6" fmla="*/ 0 w 112"/>
                  <a:gd name="T7" fmla="*/ 0 h 1"/>
                  <a:gd name="T8" fmla="*/ 112 w 11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2" h="1">
                    <a:moveTo>
                      <a:pt x="0" y="0"/>
                    </a:moveTo>
                    <a:lnTo>
                      <a:pt x="112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4981" name="Freeform 43"/>
              <p:cNvSpPr/>
              <p:nvPr/>
            </p:nvSpPr>
            <p:spPr bwMode="auto">
              <a:xfrm>
                <a:off x="1077" y="1210"/>
                <a:ext cx="158" cy="1468"/>
              </a:xfrm>
              <a:custGeom>
                <a:avLst/>
                <a:gdLst>
                  <a:gd name="T0" fmla="*/ 158 w 158"/>
                  <a:gd name="T1" fmla="*/ 1468 h 1468"/>
                  <a:gd name="T2" fmla="*/ 6 w 158"/>
                  <a:gd name="T3" fmla="*/ 1468 h 1468"/>
                  <a:gd name="T4" fmla="*/ 0 w 158"/>
                  <a:gd name="T5" fmla="*/ 1 h 1468"/>
                  <a:gd name="T6" fmla="*/ 101 w 158"/>
                  <a:gd name="T7" fmla="*/ 0 h 146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8"/>
                  <a:gd name="T14" fmla="*/ 158 w 158"/>
                  <a:gd name="T15" fmla="*/ 1468 h 146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8">
                    <a:moveTo>
                      <a:pt x="158" y="1468"/>
                    </a:moveTo>
                    <a:lnTo>
                      <a:pt x="6" y="1468"/>
                    </a:lnTo>
                    <a:lnTo>
                      <a:pt x="0" y="1"/>
                    </a:lnTo>
                    <a:lnTo>
                      <a:pt x="101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4982" name="Freeform 44"/>
              <p:cNvSpPr/>
              <p:nvPr/>
            </p:nvSpPr>
            <p:spPr bwMode="auto">
              <a:xfrm>
                <a:off x="1079" y="2353"/>
                <a:ext cx="102" cy="1"/>
              </a:xfrm>
              <a:custGeom>
                <a:avLst/>
                <a:gdLst>
                  <a:gd name="T0" fmla="*/ 102 w 102"/>
                  <a:gd name="T1" fmla="*/ 0 h 1"/>
                  <a:gd name="T2" fmla="*/ 0 w 102"/>
                  <a:gd name="T3" fmla="*/ 0 h 1"/>
                  <a:gd name="T4" fmla="*/ 0 60000 65536"/>
                  <a:gd name="T5" fmla="*/ 0 60000 65536"/>
                  <a:gd name="T6" fmla="*/ 0 w 102"/>
                  <a:gd name="T7" fmla="*/ 0 h 1"/>
                  <a:gd name="T8" fmla="*/ 102 w 10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2" h="1">
                    <a:moveTo>
                      <a:pt x="102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4983" name="Line 45"/>
              <p:cNvSpPr>
                <a:spLocks noChangeShapeType="1"/>
              </p:cNvSpPr>
              <p:nvPr/>
            </p:nvSpPr>
            <p:spPr bwMode="auto">
              <a:xfrm rot="5400000">
                <a:off x="1920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4984" name="Line 46"/>
              <p:cNvSpPr>
                <a:spLocks noChangeShapeType="1"/>
              </p:cNvSpPr>
              <p:nvPr/>
            </p:nvSpPr>
            <p:spPr bwMode="auto">
              <a:xfrm rot="5400000">
                <a:off x="1903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4985" name="Freeform 47"/>
              <p:cNvSpPr/>
              <p:nvPr/>
            </p:nvSpPr>
            <p:spPr bwMode="auto">
              <a:xfrm>
                <a:off x="1855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4986" name="Line 48"/>
              <p:cNvSpPr>
                <a:spLocks noChangeShapeType="1"/>
              </p:cNvSpPr>
              <p:nvPr/>
            </p:nvSpPr>
            <p:spPr bwMode="auto">
              <a:xfrm rot="-5400000">
                <a:off x="1728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4987" name="Line 49"/>
              <p:cNvSpPr>
                <a:spLocks noChangeShapeType="1"/>
              </p:cNvSpPr>
              <p:nvPr/>
            </p:nvSpPr>
            <p:spPr bwMode="auto">
              <a:xfrm rot="-5400000">
                <a:off x="1807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4988" name="Freeform 50"/>
              <p:cNvSpPr/>
              <p:nvPr/>
            </p:nvSpPr>
            <p:spPr bwMode="auto">
              <a:xfrm>
                <a:off x="2029" y="2353"/>
                <a:ext cx="103" cy="1"/>
              </a:xfrm>
              <a:custGeom>
                <a:avLst/>
                <a:gdLst>
                  <a:gd name="T0" fmla="*/ 0 w 103"/>
                  <a:gd name="T1" fmla="*/ 0 h 1"/>
                  <a:gd name="T2" fmla="*/ 103 w 103"/>
                  <a:gd name="T3" fmla="*/ 0 h 1"/>
                  <a:gd name="T4" fmla="*/ 0 60000 65536"/>
                  <a:gd name="T5" fmla="*/ 0 60000 65536"/>
                  <a:gd name="T6" fmla="*/ 0 w 103"/>
                  <a:gd name="T7" fmla="*/ 0 h 1"/>
                  <a:gd name="T8" fmla="*/ 103 w 10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3" h="1">
                    <a:moveTo>
                      <a:pt x="0" y="0"/>
                    </a:moveTo>
                    <a:lnTo>
                      <a:pt x="103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4989" name="Freeform 51"/>
              <p:cNvSpPr/>
              <p:nvPr/>
            </p:nvSpPr>
            <p:spPr bwMode="auto">
              <a:xfrm>
                <a:off x="1635" y="2352"/>
                <a:ext cx="113" cy="1"/>
              </a:xfrm>
              <a:custGeom>
                <a:avLst/>
                <a:gdLst>
                  <a:gd name="T0" fmla="*/ 113 w 113"/>
                  <a:gd name="T1" fmla="*/ 1 h 1"/>
                  <a:gd name="T2" fmla="*/ 0 w 113"/>
                  <a:gd name="T3" fmla="*/ 0 h 1"/>
                  <a:gd name="T4" fmla="*/ 0 60000 65536"/>
                  <a:gd name="T5" fmla="*/ 0 60000 65536"/>
                  <a:gd name="T6" fmla="*/ 0 w 113"/>
                  <a:gd name="T7" fmla="*/ 0 h 1"/>
                  <a:gd name="T8" fmla="*/ 113 w 11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3" h="1">
                    <a:moveTo>
                      <a:pt x="113" y="1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4990" name="Line 52"/>
              <p:cNvSpPr>
                <a:spLocks noChangeShapeType="1"/>
              </p:cNvSpPr>
              <p:nvPr/>
            </p:nvSpPr>
            <p:spPr bwMode="auto">
              <a:xfrm rot="5400000">
                <a:off x="2501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4991" name="Line 53"/>
              <p:cNvSpPr>
                <a:spLocks noChangeShapeType="1"/>
              </p:cNvSpPr>
              <p:nvPr/>
            </p:nvSpPr>
            <p:spPr bwMode="auto">
              <a:xfrm rot="5400000">
                <a:off x="2484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4992" name="Freeform 54"/>
              <p:cNvSpPr/>
              <p:nvPr/>
            </p:nvSpPr>
            <p:spPr bwMode="auto">
              <a:xfrm>
                <a:off x="2436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4993" name="Line 55"/>
              <p:cNvSpPr>
                <a:spLocks noChangeShapeType="1"/>
              </p:cNvSpPr>
              <p:nvPr/>
            </p:nvSpPr>
            <p:spPr bwMode="auto">
              <a:xfrm rot="-5400000">
                <a:off x="2309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4994" name="Line 56"/>
              <p:cNvSpPr>
                <a:spLocks noChangeShapeType="1"/>
              </p:cNvSpPr>
              <p:nvPr/>
            </p:nvSpPr>
            <p:spPr bwMode="auto">
              <a:xfrm rot="-5400000">
                <a:off x="2388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4995" name="Freeform 57"/>
              <p:cNvSpPr/>
              <p:nvPr/>
            </p:nvSpPr>
            <p:spPr bwMode="auto">
              <a:xfrm>
                <a:off x="2610" y="2353"/>
                <a:ext cx="109" cy="1"/>
              </a:xfrm>
              <a:custGeom>
                <a:avLst/>
                <a:gdLst>
                  <a:gd name="T0" fmla="*/ 0 w 109"/>
                  <a:gd name="T1" fmla="*/ 0 h 1"/>
                  <a:gd name="T2" fmla="*/ 109 w 109"/>
                  <a:gd name="T3" fmla="*/ 0 h 1"/>
                  <a:gd name="T4" fmla="*/ 0 60000 65536"/>
                  <a:gd name="T5" fmla="*/ 0 60000 65536"/>
                  <a:gd name="T6" fmla="*/ 0 w 109"/>
                  <a:gd name="T7" fmla="*/ 0 h 1"/>
                  <a:gd name="T8" fmla="*/ 109 w 10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9" h="1">
                    <a:moveTo>
                      <a:pt x="0" y="0"/>
                    </a:moveTo>
                    <a:lnTo>
                      <a:pt x="109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4996" name="Freeform 58"/>
              <p:cNvSpPr/>
              <p:nvPr/>
            </p:nvSpPr>
            <p:spPr bwMode="auto">
              <a:xfrm>
                <a:off x="2231" y="2353"/>
                <a:ext cx="89" cy="1"/>
              </a:xfrm>
              <a:custGeom>
                <a:avLst/>
                <a:gdLst>
                  <a:gd name="T0" fmla="*/ 89 w 89"/>
                  <a:gd name="T1" fmla="*/ 0 h 1"/>
                  <a:gd name="T2" fmla="*/ 0 w 89"/>
                  <a:gd name="T3" fmla="*/ 0 h 1"/>
                  <a:gd name="T4" fmla="*/ 0 60000 65536"/>
                  <a:gd name="T5" fmla="*/ 0 60000 65536"/>
                  <a:gd name="T6" fmla="*/ 0 w 89"/>
                  <a:gd name="T7" fmla="*/ 0 h 1"/>
                  <a:gd name="T8" fmla="*/ 89 w 8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9" h="1">
                    <a:moveTo>
                      <a:pt x="89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4997" name="Line 59"/>
              <p:cNvSpPr>
                <a:spLocks noChangeShapeType="1"/>
              </p:cNvSpPr>
              <p:nvPr/>
            </p:nvSpPr>
            <p:spPr bwMode="auto">
              <a:xfrm rot="5400000">
                <a:off x="307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4998" name="Line 60"/>
              <p:cNvSpPr>
                <a:spLocks noChangeShapeType="1"/>
              </p:cNvSpPr>
              <p:nvPr/>
            </p:nvSpPr>
            <p:spPr bwMode="auto">
              <a:xfrm rot="5400000">
                <a:off x="3060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4999" name="Freeform 61"/>
              <p:cNvSpPr/>
              <p:nvPr/>
            </p:nvSpPr>
            <p:spPr bwMode="auto">
              <a:xfrm>
                <a:off x="3012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5000" name="Line 62"/>
              <p:cNvSpPr>
                <a:spLocks noChangeShapeType="1"/>
              </p:cNvSpPr>
              <p:nvPr/>
            </p:nvSpPr>
            <p:spPr bwMode="auto">
              <a:xfrm rot="-5400000">
                <a:off x="2885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5001" name="Line 63"/>
              <p:cNvSpPr>
                <a:spLocks noChangeShapeType="1"/>
              </p:cNvSpPr>
              <p:nvPr/>
            </p:nvSpPr>
            <p:spPr bwMode="auto">
              <a:xfrm rot="-5400000">
                <a:off x="2964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5002" name="Freeform 64"/>
              <p:cNvSpPr/>
              <p:nvPr/>
            </p:nvSpPr>
            <p:spPr bwMode="auto">
              <a:xfrm>
                <a:off x="3186" y="2353"/>
                <a:ext cx="115" cy="1"/>
              </a:xfrm>
              <a:custGeom>
                <a:avLst/>
                <a:gdLst>
                  <a:gd name="T0" fmla="*/ 0 w 115"/>
                  <a:gd name="T1" fmla="*/ 0 h 1"/>
                  <a:gd name="T2" fmla="*/ 115 w 115"/>
                  <a:gd name="T3" fmla="*/ 0 h 1"/>
                  <a:gd name="T4" fmla="*/ 0 60000 65536"/>
                  <a:gd name="T5" fmla="*/ 0 60000 65536"/>
                  <a:gd name="T6" fmla="*/ 0 w 115"/>
                  <a:gd name="T7" fmla="*/ 0 h 1"/>
                  <a:gd name="T8" fmla="*/ 115 w 11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5" h="1">
                    <a:moveTo>
                      <a:pt x="0" y="0"/>
                    </a:moveTo>
                    <a:lnTo>
                      <a:pt x="11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03" name="Freeform 65"/>
              <p:cNvSpPr/>
              <p:nvPr/>
            </p:nvSpPr>
            <p:spPr bwMode="auto">
              <a:xfrm>
                <a:off x="2807" y="2353"/>
                <a:ext cx="90" cy="1"/>
              </a:xfrm>
              <a:custGeom>
                <a:avLst/>
                <a:gdLst>
                  <a:gd name="T0" fmla="*/ 90 w 90"/>
                  <a:gd name="T1" fmla="*/ 0 h 1"/>
                  <a:gd name="T2" fmla="*/ 0 w 90"/>
                  <a:gd name="T3" fmla="*/ 0 h 1"/>
                  <a:gd name="T4" fmla="*/ 0 60000 65536"/>
                  <a:gd name="T5" fmla="*/ 0 60000 65536"/>
                  <a:gd name="T6" fmla="*/ 0 w 90"/>
                  <a:gd name="T7" fmla="*/ 0 h 1"/>
                  <a:gd name="T8" fmla="*/ 90 w 9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0" h="1">
                    <a:moveTo>
                      <a:pt x="90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04" name="Line 66"/>
              <p:cNvSpPr>
                <a:spLocks noChangeShapeType="1"/>
              </p:cNvSpPr>
              <p:nvPr/>
            </p:nvSpPr>
            <p:spPr bwMode="auto">
              <a:xfrm rot="5400000">
                <a:off x="3653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5005" name="Line 67"/>
              <p:cNvSpPr>
                <a:spLocks noChangeShapeType="1"/>
              </p:cNvSpPr>
              <p:nvPr/>
            </p:nvSpPr>
            <p:spPr bwMode="auto">
              <a:xfrm rot="5400000">
                <a:off x="3636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5006" name="Freeform 68"/>
              <p:cNvSpPr/>
              <p:nvPr/>
            </p:nvSpPr>
            <p:spPr bwMode="auto">
              <a:xfrm>
                <a:off x="3588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5007" name="Line 69"/>
              <p:cNvSpPr>
                <a:spLocks noChangeShapeType="1"/>
              </p:cNvSpPr>
              <p:nvPr/>
            </p:nvSpPr>
            <p:spPr bwMode="auto">
              <a:xfrm rot="-5400000">
                <a:off x="3461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5008" name="Line 70"/>
              <p:cNvSpPr>
                <a:spLocks noChangeShapeType="1"/>
              </p:cNvSpPr>
              <p:nvPr/>
            </p:nvSpPr>
            <p:spPr bwMode="auto">
              <a:xfrm rot="-5400000">
                <a:off x="3540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5009" name="Freeform 71"/>
              <p:cNvSpPr/>
              <p:nvPr/>
            </p:nvSpPr>
            <p:spPr bwMode="auto">
              <a:xfrm>
                <a:off x="3775" y="2352"/>
                <a:ext cx="100" cy="1"/>
              </a:xfrm>
              <a:custGeom>
                <a:avLst/>
                <a:gdLst>
                  <a:gd name="T0" fmla="*/ 0 w 100"/>
                  <a:gd name="T1" fmla="*/ 0 h 1"/>
                  <a:gd name="T2" fmla="*/ 100 w 100"/>
                  <a:gd name="T3" fmla="*/ 1 h 1"/>
                  <a:gd name="T4" fmla="*/ 0 60000 65536"/>
                  <a:gd name="T5" fmla="*/ 0 60000 65536"/>
                  <a:gd name="T6" fmla="*/ 0 w 100"/>
                  <a:gd name="T7" fmla="*/ 0 h 1"/>
                  <a:gd name="T8" fmla="*/ 100 w 10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0" h="1">
                    <a:moveTo>
                      <a:pt x="0" y="0"/>
                    </a:moveTo>
                    <a:lnTo>
                      <a:pt x="100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10" name="Freeform 72"/>
              <p:cNvSpPr/>
              <p:nvPr/>
            </p:nvSpPr>
            <p:spPr bwMode="auto">
              <a:xfrm>
                <a:off x="3383" y="2353"/>
                <a:ext cx="108" cy="1"/>
              </a:xfrm>
              <a:custGeom>
                <a:avLst/>
                <a:gdLst>
                  <a:gd name="T0" fmla="*/ 108 w 108"/>
                  <a:gd name="T1" fmla="*/ 0 h 1"/>
                  <a:gd name="T2" fmla="*/ 0 w 108"/>
                  <a:gd name="T3" fmla="*/ 0 h 1"/>
                  <a:gd name="T4" fmla="*/ 0 60000 65536"/>
                  <a:gd name="T5" fmla="*/ 0 60000 65536"/>
                  <a:gd name="T6" fmla="*/ 0 w 108"/>
                  <a:gd name="T7" fmla="*/ 0 h 1"/>
                  <a:gd name="T8" fmla="*/ 108 w 10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8" h="1">
                    <a:moveTo>
                      <a:pt x="10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11" name="Line 73"/>
              <p:cNvSpPr>
                <a:spLocks noChangeShapeType="1"/>
              </p:cNvSpPr>
              <p:nvPr/>
            </p:nvSpPr>
            <p:spPr bwMode="auto">
              <a:xfrm rot="5400000">
                <a:off x="4229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5012" name="Line 74"/>
              <p:cNvSpPr>
                <a:spLocks noChangeShapeType="1"/>
              </p:cNvSpPr>
              <p:nvPr/>
            </p:nvSpPr>
            <p:spPr bwMode="auto">
              <a:xfrm rot="5400000">
                <a:off x="4212" y="2696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5013" name="Freeform 75"/>
              <p:cNvSpPr/>
              <p:nvPr/>
            </p:nvSpPr>
            <p:spPr bwMode="auto">
              <a:xfrm>
                <a:off x="4164" y="2695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5014" name="Line 76"/>
              <p:cNvSpPr>
                <a:spLocks noChangeShapeType="1"/>
              </p:cNvSpPr>
              <p:nvPr/>
            </p:nvSpPr>
            <p:spPr bwMode="auto">
              <a:xfrm rot="-5400000">
                <a:off x="4037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5015" name="Line 77"/>
              <p:cNvSpPr>
                <a:spLocks noChangeShapeType="1"/>
              </p:cNvSpPr>
              <p:nvPr/>
            </p:nvSpPr>
            <p:spPr bwMode="auto">
              <a:xfrm rot="-5400000">
                <a:off x="4116" y="270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5016" name="Freeform 78"/>
              <p:cNvSpPr/>
              <p:nvPr/>
            </p:nvSpPr>
            <p:spPr bwMode="auto">
              <a:xfrm>
                <a:off x="4360" y="2351"/>
                <a:ext cx="90" cy="2"/>
              </a:xfrm>
              <a:custGeom>
                <a:avLst/>
                <a:gdLst>
                  <a:gd name="T0" fmla="*/ 0 w 90"/>
                  <a:gd name="T1" fmla="*/ 0 h 2"/>
                  <a:gd name="T2" fmla="*/ 90 w 90"/>
                  <a:gd name="T3" fmla="*/ 2 h 2"/>
                  <a:gd name="T4" fmla="*/ 0 60000 65536"/>
                  <a:gd name="T5" fmla="*/ 0 60000 65536"/>
                  <a:gd name="T6" fmla="*/ 0 w 90"/>
                  <a:gd name="T7" fmla="*/ 0 h 2"/>
                  <a:gd name="T8" fmla="*/ 90 w 90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0" h="2">
                    <a:moveTo>
                      <a:pt x="0" y="0"/>
                    </a:moveTo>
                    <a:lnTo>
                      <a:pt x="90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17" name="Freeform 79"/>
              <p:cNvSpPr/>
              <p:nvPr/>
            </p:nvSpPr>
            <p:spPr bwMode="auto">
              <a:xfrm>
                <a:off x="3959" y="2353"/>
                <a:ext cx="104" cy="1"/>
              </a:xfrm>
              <a:custGeom>
                <a:avLst/>
                <a:gdLst>
                  <a:gd name="T0" fmla="*/ 104 w 104"/>
                  <a:gd name="T1" fmla="*/ 0 h 1"/>
                  <a:gd name="T2" fmla="*/ 0 w 104"/>
                  <a:gd name="T3" fmla="*/ 0 h 1"/>
                  <a:gd name="T4" fmla="*/ 0 60000 65536"/>
                  <a:gd name="T5" fmla="*/ 0 60000 65536"/>
                  <a:gd name="T6" fmla="*/ 0 w 104"/>
                  <a:gd name="T7" fmla="*/ 0 h 1"/>
                  <a:gd name="T8" fmla="*/ 104 w 10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4" h="1">
                    <a:moveTo>
                      <a:pt x="10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125018" name="Group 80"/>
              <p:cNvGrpSpPr/>
              <p:nvPr/>
            </p:nvGrpSpPr>
            <p:grpSpPr bwMode="auto">
              <a:xfrm>
                <a:off x="4692" y="2634"/>
                <a:ext cx="192" cy="158"/>
                <a:chOff x="4692" y="2634"/>
                <a:chExt cx="192" cy="158"/>
              </a:xfrm>
            </p:grpSpPr>
            <p:grpSp>
              <p:nvGrpSpPr>
                <p:cNvPr id="125165" name="Group 81"/>
                <p:cNvGrpSpPr/>
                <p:nvPr/>
              </p:nvGrpSpPr>
              <p:grpSpPr bwMode="auto">
                <a:xfrm>
                  <a:off x="4836" y="2634"/>
                  <a:ext cx="48" cy="158"/>
                  <a:chOff x="4836" y="2634"/>
                  <a:chExt cx="48" cy="158"/>
                </a:xfrm>
              </p:grpSpPr>
              <p:sp>
                <p:nvSpPr>
                  <p:cNvPr id="125170" name="Line 82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805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5171" name="Line 83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788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25166" name="Freeform 84"/>
                <p:cNvSpPr/>
                <p:nvPr/>
              </p:nvSpPr>
              <p:spPr bwMode="auto">
                <a:xfrm>
                  <a:off x="4740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25167" name="Group 85"/>
                <p:cNvGrpSpPr/>
                <p:nvPr/>
              </p:nvGrpSpPr>
              <p:grpSpPr bwMode="auto">
                <a:xfrm>
                  <a:off x="4692" y="2634"/>
                  <a:ext cx="48" cy="158"/>
                  <a:chOff x="4692" y="2634"/>
                  <a:chExt cx="48" cy="158"/>
                </a:xfrm>
              </p:grpSpPr>
              <p:sp>
                <p:nvSpPr>
                  <p:cNvPr id="125168" name="Line 86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13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5169" name="Line 87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92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125019" name="Freeform 88"/>
              <p:cNvSpPr/>
              <p:nvPr/>
            </p:nvSpPr>
            <p:spPr bwMode="auto">
              <a:xfrm>
                <a:off x="4914" y="2353"/>
                <a:ext cx="107" cy="1"/>
              </a:xfrm>
              <a:custGeom>
                <a:avLst/>
                <a:gdLst>
                  <a:gd name="T0" fmla="*/ 0 w 107"/>
                  <a:gd name="T1" fmla="*/ 0 h 1"/>
                  <a:gd name="T2" fmla="*/ 107 w 107"/>
                  <a:gd name="T3" fmla="*/ 0 h 1"/>
                  <a:gd name="T4" fmla="*/ 0 60000 65536"/>
                  <a:gd name="T5" fmla="*/ 0 60000 65536"/>
                  <a:gd name="T6" fmla="*/ 0 w 107"/>
                  <a:gd name="T7" fmla="*/ 0 h 1"/>
                  <a:gd name="T8" fmla="*/ 107 w 10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7" h="1">
                    <a:moveTo>
                      <a:pt x="0" y="0"/>
                    </a:moveTo>
                    <a:lnTo>
                      <a:pt x="10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20" name="Freeform 89"/>
              <p:cNvSpPr/>
              <p:nvPr/>
            </p:nvSpPr>
            <p:spPr bwMode="auto">
              <a:xfrm>
                <a:off x="4535" y="2353"/>
                <a:ext cx="96" cy="1"/>
              </a:xfrm>
              <a:custGeom>
                <a:avLst/>
                <a:gdLst>
                  <a:gd name="T0" fmla="*/ 96 w 96"/>
                  <a:gd name="T1" fmla="*/ 0 h 1"/>
                  <a:gd name="T2" fmla="*/ 0 w 96"/>
                  <a:gd name="T3" fmla="*/ 0 h 1"/>
                  <a:gd name="T4" fmla="*/ 0 60000 65536"/>
                  <a:gd name="T5" fmla="*/ 0 60000 65536"/>
                  <a:gd name="T6" fmla="*/ 0 w 96"/>
                  <a:gd name="T7" fmla="*/ 0 h 1"/>
                  <a:gd name="T8" fmla="*/ 96 w 96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1">
                    <a:moveTo>
                      <a:pt x="96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125021" name="Group 90"/>
              <p:cNvGrpSpPr/>
              <p:nvPr/>
            </p:nvGrpSpPr>
            <p:grpSpPr bwMode="auto">
              <a:xfrm>
                <a:off x="5259" y="2634"/>
                <a:ext cx="192" cy="158"/>
                <a:chOff x="5259" y="2634"/>
                <a:chExt cx="192" cy="158"/>
              </a:xfrm>
            </p:grpSpPr>
            <p:grpSp>
              <p:nvGrpSpPr>
                <p:cNvPr id="125158" name="Group 91"/>
                <p:cNvGrpSpPr/>
                <p:nvPr/>
              </p:nvGrpSpPr>
              <p:grpSpPr bwMode="auto">
                <a:xfrm>
                  <a:off x="5403" y="2634"/>
                  <a:ext cx="48" cy="158"/>
                  <a:chOff x="5403" y="2634"/>
                  <a:chExt cx="48" cy="158"/>
                </a:xfrm>
              </p:grpSpPr>
              <p:sp>
                <p:nvSpPr>
                  <p:cNvPr id="125163" name="Line 92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72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5164" name="Line 93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55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25159" name="Freeform 94"/>
                <p:cNvSpPr/>
                <p:nvPr/>
              </p:nvSpPr>
              <p:spPr bwMode="auto">
                <a:xfrm>
                  <a:off x="5307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25160" name="Group 95"/>
                <p:cNvGrpSpPr/>
                <p:nvPr/>
              </p:nvGrpSpPr>
              <p:grpSpPr bwMode="auto">
                <a:xfrm>
                  <a:off x="5259" y="2634"/>
                  <a:ext cx="48" cy="158"/>
                  <a:chOff x="5259" y="2634"/>
                  <a:chExt cx="48" cy="158"/>
                </a:xfrm>
              </p:grpSpPr>
              <p:sp>
                <p:nvSpPr>
                  <p:cNvPr id="125161" name="Line 96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180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5162" name="Line 97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259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125022" name="Freeform 98"/>
              <p:cNvSpPr/>
              <p:nvPr/>
            </p:nvSpPr>
            <p:spPr bwMode="auto">
              <a:xfrm>
                <a:off x="5491" y="2351"/>
                <a:ext cx="96" cy="2"/>
              </a:xfrm>
              <a:custGeom>
                <a:avLst/>
                <a:gdLst>
                  <a:gd name="T0" fmla="*/ 0 w 96"/>
                  <a:gd name="T1" fmla="*/ 0 h 2"/>
                  <a:gd name="T2" fmla="*/ 96 w 96"/>
                  <a:gd name="T3" fmla="*/ 2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0"/>
                    </a:moveTo>
                    <a:lnTo>
                      <a:pt x="96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23" name="Freeform 99"/>
              <p:cNvSpPr/>
              <p:nvPr/>
            </p:nvSpPr>
            <p:spPr bwMode="auto">
              <a:xfrm>
                <a:off x="5102" y="2353"/>
                <a:ext cx="101" cy="1"/>
              </a:xfrm>
              <a:custGeom>
                <a:avLst/>
                <a:gdLst>
                  <a:gd name="T0" fmla="*/ 101 w 101"/>
                  <a:gd name="T1" fmla="*/ 0 h 1"/>
                  <a:gd name="T2" fmla="*/ 0 w 101"/>
                  <a:gd name="T3" fmla="*/ 0 h 1"/>
                  <a:gd name="T4" fmla="*/ 0 60000 65536"/>
                  <a:gd name="T5" fmla="*/ 0 60000 65536"/>
                  <a:gd name="T6" fmla="*/ 0 w 101"/>
                  <a:gd name="T7" fmla="*/ 0 h 1"/>
                  <a:gd name="T8" fmla="*/ 101 w 101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1" h="1">
                    <a:moveTo>
                      <a:pt x="101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24" name="Freeform 100"/>
              <p:cNvSpPr/>
              <p:nvPr/>
            </p:nvSpPr>
            <p:spPr bwMode="auto">
              <a:xfrm>
                <a:off x="932" y="856"/>
                <a:ext cx="4419" cy="1"/>
              </a:xfrm>
              <a:custGeom>
                <a:avLst/>
                <a:gdLst>
                  <a:gd name="T0" fmla="*/ 0 w 4419"/>
                  <a:gd name="T1" fmla="*/ 1 h 1"/>
                  <a:gd name="T2" fmla="*/ 4419 w 4419"/>
                  <a:gd name="T3" fmla="*/ 0 h 1"/>
                  <a:gd name="T4" fmla="*/ 0 60000 65536"/>
                  <a:gd name="T5" fmla="*/ 0 60000 65536"/>
                  <a:gd name="T6" fmla="*/ 0 w 4419"/>
                  <a:gd name="T7" fmla="*/ 0 h 1"/>
                  <a:gd name="T8" fmla="*/ 4419 w 441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9" h="1">
                    <a:moveTo>
                      <a:pt x="0" y="1"/>
                    </a:moveTo>
                    <a:lnTo>
                      <a:pt x="441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25" name="Line 101"/>
              <p:cNvSpPr>
                <a:spLocks noChangeShapeType="1"/>
              </p:cNvSpPr>
              <p:nvPr/>
            </p:nvSpPr>
            <p:spPr bwMode="auto">
              <a:xfrm>
                <a:off x="1316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26" name="Line 102"/>
              <p:cNvSpPr>
                <a:spLocks noChangeShapeType="1"/>
              </p:cNvSpPr>
              <p:nvPr/>
            </p:nvSpPr>
            <p:spPr bwMode="auto">
              <a:xfrm>
                <a:off x="189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27" name="Line 103"/>
              <p:cNvSpPr>
                <a:spLocks noChangeShapeType="1"/>
              </p:cNvSpPr>
              <p:nvPr/>
            </p:nvSpPr>
            <p:spPr bwMode="auto">
              <a:xfrm>
                <a:off x="246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28" name="Line 104"/>
              <p:cNvSpPr>
                <a:spLocks noChangeShapeType="1"/>
              </p:cNvSpPr>
              <p:nvPr/>
            </p:nvSpPr>
            <p:spPr bwMode="auto">
              <a:xfrm>
                <a:off x="304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29" name="Line 105"/>
              <p:cNvSpPr>
                <a:spLocks noChangeShapeType="1"/>
              </p:cNvSpPr>
              <p:nvPr/>
            </p:nvSpPr>
            <p:spPr bwMode="auto">
              <a:xfrm>
                <a:off x="3620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30" name="Line 106"/>
              <p:cNvSpPr>
                <a:spLocks noChangeShapeType="1"/>
              </p:cNvSpPr>
              <p:nvPr/>
            </p:nvSpPr>
            <p:spPr bwMode="auto">
              <a:xfrm>
                <a:off x="4196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31" name="Line 107"/>
              <p:cNvSpPr>
                <a:spLocks noChangeShapeType="1"/>
              </p:cNvSpPr>
              <p:nvPr/>
            </p:nvSpPr>
            <p:spPr bwMode="auto">
              <a:xfrm>
                <a:off x="477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32" name="Line 108"/>
              <p:cNvSpPr>
                <a:spLocks noChangeShapeType="1"/>
              </p:cNvSpPr>
              <p:nvPr/>
            </p:nvSpPr>
            <p:spPr bwMode="auto">
              <a:xfrm>
                <a:off x="534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33" name="Freeform 109"/>
              <p:cNvSpPr/>
              <p:nvPr/>
            </p:nvSpPr>
            <p:spPr bwMode="auto">
              <a:xfrm>
                <a:off x="1330" y="2708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34" name="Freeform 110"/>
              <p:cNvSpPr/>
              <p:nvPr/>
            </p:nvSpPr>
            <p:spPr bwMode="auto">
              <a:xfrm>
                <a:off x="1904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7711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35" name="Freeform 111"/>
              <p:cNvSpPr/>
              <p:nvPr/>
            </p:nvSpPr>
            <p:spPr bwMode="auto">
              <a:xfrm>
                <a:off x="2482" y="2708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36" name="Freeform 112"/>
              <p:cNvSpPr/>
              <p:nvPr/>
            </p:nvSpPr>
            <p:spPr bwMode="auto">
              <a:xfrm>
                <a:off x="3630" y="2708"/>
                <a:ext cx="2" cy="175"/>
              </a:xfrm>
              <a:custGeom>
                <a:avLst/>
                <a:gdLst>
                  <a:gd name="T0" fmla="*/ 2 w 2"/>
                  <a:gd name="T1" fmla="*/ 0 h 175"/>
                  <a:gd name="T2" fmla="*/ 0 w 2"/>
                  <a:gd name="T3" fmla="*/ 175 h 175"/>
                  <a:gd name="T4" fmla="*/ 0 60000 65536"/>
                  <a:gd name="T5" fmla="*/ 0 60000 65536"/>
                  <a:gd name="T6" fmla="*/ 0 w 2"/>
                  <a:gd name="T7" fmla="*/ 0 h 175"/>
                  <a:gd name="T8" fmla="*/ 2 w 2"/>
                  <a:gd name="T9" fmla="*/ 175 h 17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75">
                    <a:moveTo>
                      <a:pt x="2" y="0"/>
                    </a:moveTo>
                    <a:lnTo>
                      <a:pt x="0" y="17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37" name="Freeform 113"/>
              <p:cNvSpPr/>
              <p:nvPr/>
            </p:nvSpPr>
            <p:spPr bwMode="auto">
              <a:xfrm>
                <a:off x="4784" y="2697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  <a:gd name="T6" fmla="*/ 0 w 1"/>
                  <a:gd name="T7" fmla="*/ 0 h 176"/>
                  <a:gd name="T8" fmla="*/ 1 w 1"/>
                  <a:gd name="T9" fmla="*/ 176 h 17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38" name="Freeform 114"/>
              <p:cNvSpPr/>
              <p:nvPr/>
            </p:nvSpPr>
            <p:spPr bwMode="auto">
              <a:xfrm>
                <a:off x="932" y="1480"/>
                <a:ext cx="4422" cy="1"/>
              </a:xfrm>
              <a:custGeom>
                <a:avLst/>
                <a:gdLst>
                  <a:gd name="T0" fmla="*/ 0 w 4422"/>
                  <a:gd name="T1" fmla="*/ 1 h 1"/>
                  <a:gd name="T2" fmla="*/ 4422 w 4422"/>
                  <a:gd name="T3" fmla="*/ 0 h 1"/>
                  <a:gd name="T4" fmla="*/ 0 60000 65536"/>
                  <a:gd name="T5" fmla="*/ 0 60000 65536"/>
                  <a:gd name="T6" fmla="*/ 0 w 4422"/>
                  <a:gd name="T7" fmla="*/ 0 h 1"/>
                  <a:gd name="T8" fmla="*/ 4422 w 442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22" h="1">
                    <a:moveTo>
                      <a:pt x="0" y="1"/>
                    </a:moveTo>
                    <a:lnTo>
                      <a:pt x="442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39" name="Line 115"/>
              <p:cNvSpPr>
                <a:spLocks noChangeShapeType="1"/>
              </p:cNvSpPr>
              <p:nvPr/>
            </p:nvSpPr>
            <p:spPr bwMode="auto">
              <a:xfrm>
                <a:off x="1316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40" name="Line 116"/>
              <p:cNvSpPr>
                <a:spLocks noChangeShapeType="1"/>
              </p:cNvSpPr>
              <p:nvPr/>
            </p:nvSpPr>
            <p:spPr bwMode="auto">
              <a:xfrm>
                <a:off x="189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41" name="Line 117"/>
              <p:cNvSpPr>
                <a:spLocks noChangeShapeType="1"/>
              </p:cNvSpPr>
              <p:nvPr/>
            </p:nvSpPr>
            <p:spPr bwMode="auto">
              <a:xfrm>
                <a:off x="246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42" name="Line 118"/>
              <p:cNvSpPr>
                <a:spLocks noChangeShapeType="1"/>
              </p:cNvSpPr>
              <p:nvPr/>
            </p:nvSpPr>
            <p:spPr bwMode="auto">
              <a:xfrm>
                <a:off x="304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43" name="Line 119"/>
              <p:cNvSpPr>
                <a:spLocks noChangeShapeType="1"/>
              </p:cNvSpPr>
              <p:nvPr/>
            </p:nvSpPr>
            <p:spPr bwMode="auto">
              <a:xfrm>
                <a:off x="3620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44" name="Line 120"/>
              <p:cNvSpPr>
                <a:spLocks noChangeShapeType="1"/>
              </p:cNvSpPr>
              <p:nvPr/>
            </p:nvSpPr>
            <p:spPr bwMode="auto">
              <a:xfrm>
                <a:off x="4196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45" name="Line 121"/>
              <p:cNvSpPr>
                <a:spLocks noChangeShapeType="1"/>
              </p:cNvSpPr>
              <p:nvPr/>
            </p:nvSpPr>
            <p:spPr bwMode="auto">
              <a:xfrm>
                <a:off x="477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46" name="Line 122"/>
              <p:cNvSpPr>
                <a:spLocks noChangeShapeType="1"/>
              </p:cNvSpPr>
              <p:nvPr/>
            </p:nvSpPr>
            <p:spPr bwMode="auto">
              <a:xfrm>
                <a:off x="534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47" name="Freeform 123"/>
              <p:cNvSpPr/>
              <p:nvPr/>
            </p:nvSpPr>
            <p:spPr bwMode="auto">
              <a:xfrm>
                <a:off x="932" y="2056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  <a:gd name="T6" fmla="*/ 0 w 4418"/>
                  <a:gd name="T7" fmla="*/ 0 h 1"/>
                  <a:gd name="T8" fmla="*/ 4418 w 441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48" name="Line 124"/>
              <p:cNvSpPr>
                <a:spLocks noChangeShapeType="1"/>
              </p:cNvSpPr>
              <p:nvPr/>
            </p:nvSpPr>
            <p:spPr bwMode="auto">
              <a:xfrm>
                <a:off x="1316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49" name="Line 125"/>
              <p:cNvSpPr>
                <a:spLocks noChangeShapeType="1"/>
              </p:cNvSpPr>
              <p:nvPr/>
            </p:nvSpPr>
            <p:spPr bwMode="auto">
              <a:xfrm>
                <a:off x="189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50" name="Line 126"/>
              <p:cNvSpPr>
                <a:spLocks noChangeShapeType="1"/>
              </p:cNvSpPr>
              <p:nvPr/>
            </p:nvSpPr>
            <p:spPr bwMode="auto">
              <a:xfrm>
                <a:off x="246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51" name="Line 127"/>
              <p:cNvSpPr>
                <a:spLocks noChangeShapeType="1"/>
              </p:cNvSpPr>
              <p:nvPr/>
            </p:nvSpPr>
            <p:spPr bwMode="auto">
              <a:xfrm>
                <a:off x="304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52" name="Line 128"/>
              <p:cNvSpPr>
                <a:spLocks noChangeShapeType="1"/>
              </p:cNvSpPr>
              <p:nvPr/>
            </p:nvSpPr>
            <p:spPr bwMode="auto">
              <a:xfrm>
                <a:off x="3620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53" name="Line 129"/>
              <p:cNvSpPr>
                <a:spLocks noChangeShapeType="1"/>
              </p:cNvSpPr>
              <p:nvPr/>
            </p:nvSpPr>
            <p:spPr bwMode="auto">
              <a:xfrm>
                <a:off x="4196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54" name="Line 130"/>
              <p:cNvSpPr>
                <a:spLocks noChangeShapeType="1"/>
              </p:cNvSpPr>
              <p:nvPr/>
            </p:nvSpPr>
            <p:spPr bwMode="auto">
              <a:xfrm>
                <a:off x="477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55" name="Line 131"/>
              <p:cNvSpPr>
                <a:spLocks noChangeShapeType="1"/>
              </p:cNvSpPr>
              <p:nvPr/>
            </p:nvSpPr>
            <p:spPr bwMode="auto">
              <a:xfrm>
                <a:off x="534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56" name="Freeform 132"/>
              <p:cNvSpPr/>
              <p:nvPr/>
            </p:nvSpPr>
            <p:spPr bwMode="auto">
              <a:xfrm>
                <a:off x="933" y="2879"/>
                <a:ext cx="3860" cy="1"/>
              </a:xfrm>
              <a:custGeom>
                <a:avLst/>
                <a:gdLst>
                  <a:gd name="T0" fmla="*/ 0 w 3860"/>
                  <a:gd name="T1" fmla="*/ 1 h 1"/>
                  <a:gd name="T2" fmla="*/ 3860 w 3860"/>
                  <a:gd name="T3" fmla="*/ 0 h 1"/>
                  <a:gd name="T4" fmla="*/ 0 60000 65536"/>
                  <a:gd name="T5" fmla="*/ 0 60000 65536"/>
                  <a:gd name="T6" fmla="*/ 0 w 3860"/>
                  <a:gd name="T7" fmla="*/ 0 h 1"/>
                  <a:gd name="T8" fmla="*/ 3860 w 386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60" h="1">
                    <a:moveTo>
                      <a:pt x="0" y="1"/>
                    </a:moveTo>
                    <a:lnTo>
                      <a:pt x="386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57" name="Freeform 133"/>
              <p:cNvSpPr/>
              <p:nvPr/>
            </p:nvSpPr>
            <p:spPr bwMode="auto">
              <a:xfrm>
                <a:off x="936" y="3209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  <a:gd name="T6" fmla="*/ 0 w 4418"/>
                  <a:gd name="T7" fmla="*/ 0 h 1"/>
                  <a:gd name="T8" fmla="*/ 4418 w 441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58" name="Rectangle 134"/>
              <p:cNvSpPr>
                <a:spLocks noChangeArrowheads="1"/>
              </p:cNvSpPr>
              <p:nvPr/>
            </p:nvSpPr>
            <p:spPr bwMode="auto">
              <a:xfrm>
                <a:off x="1165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25059" name="Text Box 135"/>
              <p:cNvSpPr txBox="1">
                <a:spLocks noChangeArrowheads="1"/>
              </p:cNvSpPr>
              <p:nvPr/>
            </p:nvSpPr>
            <p:spPr bwMode="auto">
              <a:xfrm>
                <a:off x="1196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  <p:sp>
            <p:nvSpPr>
              <p:cNvPr id="125060" name="Freeform 136"/>
              <p:cNvSpPr/>
              <p:nvPr/>
            </p:nvSpPr>
            <p:spPr bwMode="auto">
              <a:xfrm>
                <a:off x="1426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5"/>
                  <a:gd name="T13" fmla="*/ 0 h 1466"/>
                  <a:gd name="T14" fmla="*/ 145 w 145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61" name="Freeform 137"/>
              <p:cNvSpPr/>
              <p:nvPr/>
            </p:nvSpPr>
            <p:spPr bwMode="auto">
              <a:xfrm>
                <a:off x="1637" y="1211"/>
                <a:ext cx="169" cy="1469"/>
              </a:xfrm>
              <a:custGeom>
                <a:avLst/>
                <a:gdLst>
                  <a:gd name="T0" fmla="*/ 169 w 169"/>
                  <a:gd name="T1" fmla="*/ 1468 h 1469"/>
                  <a:gd name="T2" fmla="*/ 0 w 169"/>
                  <a:gd name="T3" fmla="*/ 1469 h 1469"/>
                  <a:gd name="T4" fmla="*/ 1 w 169"/>
                  <a:gd name="T5" fmla="*/ 0 h 1469"/>
                  <a:gd name="T6" fmla="*/ 105 w 16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9"/>
                  <a:gd name="T13" fmla="*/ 0 h 1469"/>
                  <a:gd name="T14" fmla="*/ 169 w 169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9" h="1469">
                    <a:moveTo>
                      <a:pt x="169" y="1468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62" name="Freeform 138"/>
              <p:cNvSpPr/>
              <p:nvPr/>
            </p:nvSpPr>
            <p:spPr bwMode="auto">
              <a:xfrm>
                <a:off x="1991" y="1211"/>
                <a:ext cx="141" cy="1466"/>
              </a:xfrm>
              <a:custGeom>
                <a:avLst/>
                <a:gdLst>
                  <a:gd name="T0" fmla="*/ 38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1"/>
                  <a:gd name="T13" fmla="*/ 0 h 1466"/>
                  <a:gd name="T14" fmla="*/ 141 w 141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1" h="1466">
                    <a:moveTo>
                      <a:pt x="38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63" name="Freeform 139"/>
              <p:cNvSpPr/>
              <p:nvPr/>
            </p:nvSpPr>
            <p:spPr bwMode="auto">
              <a:xfrm>
                <a:off x="2229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6 w 158"/>
                  <a:gd name="T3" fmla="*/ 1467 h 1467"/>
                  <a:gd name="T4" fmla="*/ 0 w 158"/>
                  <a:gd name="T5" fmla="*/ 0 h 1467"/>
                  <a:gd name="T6" fmla="*/ 92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6" y="1467"/>
                    </a:lnTo>
                    <a:lnTo>
                      <a:pt x="0" y="0"/>
                    </a:lnTo>
                    <a:lnTo>
                      <a:pt x="92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64" name="Freeform 140"/>
              <p:cNvSpPr/>
              <p:nvPr/>
            </p:nvSpPr>
            <p:spPr bwMode="auto">
              <a:xfrm>
                <a:off x="2581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4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2"/>
                  <a:gd name="T13" fmla="*/ 0 h 1466"/>
                  <a:gd name="T14" fmla="*/ 142 w 142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4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65" name="Freeform 141"/>
              <p:cNvSpPr/>
              <p:nvPr/>
            </p:nvSpPr>
            <p:spPr bwMode="auto">
              <a:xfrm>
                <a:off x="2805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6 w 158"/>
                  <a:gd name="T3" fmla="*/ 1467 h 1467"/>
                  <a:gd name="T4" fmla="*/ 0 w 158"/>
                  <a:gd name="T5" fmla="*/ 0 h 1467"/>
                  <a:gd name="T6" fmla="*/ 83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6" y="1467"/>
                    </a:lnTo>
                    <a:lnTo>
                      <a:pt x="0" y="0"/>
                    </a:lnTo>
                    <a:lnTo>
                      <a:pt x="83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66" name="Freeform 142"/>
              <p:cNvSpPr/>
              <p:nvPr/>
            </p:nvSpPr>
            <p:spPr bwMode="auto">
              <a:xfrm>
                <a:off x="3154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5"/>
                  <a:gd name="T13" fmla="*/ 0 h 1466"/>
                  <a:gd name="T14" fmla="*/ 145 w 145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67" name="Freeform 143"/>
              <p:cNvSpPr/>
              <p:nvPr/>
            </p:nvSpPr>
            <p:spPr bwMode="auto">
              <a:xfrm>
                <a:off x="3381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6 w 158"/>
                  <a:gd name="T3" fmla="*/ 1467 h 1467"/>
                  <a:gd name="T4" fmla="*/ 0 w 158"/>
                  <a:gd name="T5" fmla="*/ 0 h 1467"/>
                  <a:gd name="T6" fmla="*/ 106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6" y="1467"/>
                    </a:lnTo>
                    <a:lnTo>
                      <a:pt x="0" y="0"/>
                    </a:lnTo>
                    <a:lnTo>
                      <a:pt x="106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68" name="Freeform 144"/>
              <p:cNvSpPr/>
              <p:nvPr/>
            </p:nvSpPr>
            <p:spPr bwMode="auto">
              <a:xfrm>
                <a:off x="3734" y="1211"/>
                <a:ext cx="141" cy="1466"/>
              </a:xfrm>
              <a:custGeom>
                <a:avLst/>
                <a:gdLst>
                  <a:gd name="T0" fmla="*/ 42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1"/>
                  <a:gd name="T13" fmla="*/ 0 h 1466"/>
                  <a:gd name="T14" fmla="*/ 141 w 141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1" h="1466">
                    <a:moveTo>
                      <a:pt x="42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69" name="Freeform 145"/>
              <p:cNvSpPr/>
              <p:nvPr/>
            </p:nvSpPr>
            <p:spPr bwMode="auto">
              <a:xfrm>
                <a:off x="3957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6 w 158"/>
                  <a:gd name="T3" fmla="*/ 1467 h 1467"/>
                  <a:gd name="T4" fmla="*/ 0 w 158"/>
                  <a:gd name="T5" fmla="*/ 0 h 1467"/>
                  <a:gd name="T6" fmla="*/ 109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6" y="1467"/>
                    </a:lnTo>
                    <a:lnTo>
                      <a:pt x="0" y="0"/>
                    </a:lnTo>
                    <a:lnTo>
                      <a:pt x="109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70" name="Freeform 146"/>
              <p:cNvSpPr/>
              <p:nvPr/>
            </p:nvSpPr>
            <p:spPr bwMode="auto">
              <a:xfrm>
                <a:off x="4304" y="1211"/>
                <a:ext cx="147" cy="1466"/>
              </a:xfrm>
              <a:custGeom>
                <a:avLst/>
                <a:gdLst>
                  <a:gd name="T0" fmla="*/ 51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466"/>
                  <a:gd name="T14" fmla="*/ 147 w 147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466">
                    <a:moveTo>
                      <a:pt x="51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71" name="Freeform 147"/>
              <p:cNvSpPr/>
              <p:nvPr/>
            </p:nvSpPr>
            <p:spPr bwMode="auto">
              <a:xfrm>
                <a:off x="4533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0 w 158"/>
                  <a:gd name="T3" fmla="*/ 1467 h 1467"/>
                  <a:gd name="T4" fmla="*/ 0 w 158"/>
                  <a:gd name="T5" fmla="*/ 0 h 1467"/>
                  <a:gd name="T6" fmla="*/ 95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0" y="1467"/>
                    </a:lnTo>
                    <a:lnTo>
                      <a:pt x="0" y="0"/>
                    </a:lnTo>
                    <a:lnTo>
                      <a:pt x="9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72" name="Freeform 148"/>
              <p:cNvSpPr/>
              <p:nvPr/>
            </p:nvSpPr>
            <p:spPr bwMode="auto">
              <a:xfrm>
                <a:off x="4885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2"/>
                  <a:gd name="T13" fmla="*/ 0 h 1466"/>
                  <a:gd name="T14" fmla="*/ 142 w 142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73" name="Freeform 149"/>
              <p:cNvSpPr/>
              <p:nvPr/>
            </p:nvSpPr>
            <p:spPr bwMode="auto">
              <a:xfrm>
                <a:off x="5093" y="1211"/>
                <a:ext cx="159" cy="1469"/>
              </a:xfrm>
              <a:custGeom>
                <a:avLst/>
                <a:gdLst>
                  <a:gd name="T0" fmla="*/ 159 w 159"/>
                  <a:gd name="T1" fmla="*/ 1467 h 1469"/>
                  <a:gd name="T2" fmla="*/ 0 w 159"/>
                  <a:gd name="T3" fmla="*/ 1469 h 1469"/>
                  <a:gd name="T4" fmla="*/ 1 w 159"/>
                  <a:gd name="T5" fmla="*/ 0 h 1469"/>
                  <a:gd name="T6" fmla="*/ 104 w 15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9"/>
                  <a:gd name="T13" fmla="*/ 0 h 1469"/>
                  <a:gd name="T14" fmla="*/ 159 w 159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9" h="1469">
                    <a:moveTo>
                      <a:pt x="159" y="1467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4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74" name="Freeform 150"/>
              <p:cNvSpPr/>
              <p:nvPr/>
            </p:nvSpPr>
            <p:spPr bwMode="auto">
              <a:xfrm>
                <a:off x="5441" y="1211"/>
                <a:ext cx="147" cy="1466"/>
              </a:xfrm>
              <a:custGeom>
                <a:avLst/>
                <a:gdLst>
                  <a:gd name="T0" fmla="*/ 47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466"/>
                  <a:gd name="T14" fmla="*/ 147 w 147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466">
                    <a:moveTo>
                      <a:pt x="47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75" name="Freeform 151"/>
              <p:cNvSpPr/>
              <p:nvPr/>
            </p:nvSpPr>
            <p:spPr bwMode="auto">
              <a:xfrm>
                <a:off x="1079" y="2738"/>
                <a:ext cx="730" cy="660"/>
              </a:xfrm>
              <a:custGeom>
                <a:avLst/>
                <a:gdLst>
                  <a:gd name="T0" fmla="*/ 160 w 730"/>
                  <a:gd name="T1" fmla="*/ 4 h 660"/>
                  <a:gd name="T2" fmla="*/ 0 w 730"/>
                  <a:gd name="T3" fmla="*/ 3 h 660"/>
                  <a:gd name="T4" fmla="*/ 0 w 730"/>
                  <a:gd name="T5" fmla="*/ 660 h 660"/>
                  <a:gd name="T6" fmla="*/ 558 w 730"/>
                  <a:gd name="T7" fmla="*/ 657 h 660"/>
                  <a:gd name="T8" fmla="*/ 558 w 730"/>
                  <a:gd name="T9" fmla="*/ 0 h 660"/>
                  <a:gd name="T10" fmla="*/ 730 w 730"/>
                  <a:gd name="T11" fmla="*/ 1 h 6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30"/>
                  <a:gd name="T19" fmla="*/ 0 h 660"/>
                  <a:gd name="T20" fmla="*/ 730 w 730"/>
                  <a:gd name="T21" fmla="*/ 660 h 66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30" h="660">
                    <a:moveTo>
                      <a:pt x="160" y="4"/>
                    </a:moveTo>
                    <a:lnTo>
                      <a:pt x="0" y="3"/>
                    </a:lnTo>
                    <a:lnTo>
                      <a:pt x="0" y="660"/>
                    </a:lnTo>
                    <a:lnTo>
                      <a:pt x="558" y="657"/>
                    </a:lnTo>
                    <a:lnTo>
                      <a:pt x="558" y="0"/>
                    </a:lnTo>
                    <a:lnTo>
                      <a:pt x="730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76" name="Freeform 152"/>
              <p:cNvSpPr/>
              <p:nvPr/>
            </p:nvSpPr>
            <p:spPr bwMode="auto">
              <a:xfrm>
                <a:off x="2231" y="2744"/>
                <a:ext cx="729" cy="657"/>
              </a:xfrm>
              <a:custGeom>
                <a:avLst/>
                <a:gdLst>
                  <a:gd name="T0" fmla="*/ 153 w 729"/>
                  <a:gd name="T1" fmla="*/ 0 h 657"/>
                  <a:gd name="T2" fmla="*/ 0 w 729"/>
                  <a:gd name="T3" fmla="*/ 0 h 657"/>
                  <a:gd name="T4" fmla="*/ 0 w 729"/>
                  <a:gd name="T5" fmla="*/ 657 h 657"/>
                  <a:gd name="T6" fmla="*/ 585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7"/>
                  <a:gd name="T20" fmla="*/ 729 w 729"/>
                  <a:gd name="T21" fmla="*/ 657 h 6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7">
                    <a:moveTo>
                      <a:pt x="153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85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77" name="Freeform 153"/>
              <p:cNvSpPr/>
              <p:nvPr/>
            </p:nvSpPr>
            <p:spPr bwMode="auto">
              <a:xfrm>
                <a:off x="3380" y="2744"/>
                <a:ext cx="729" cy="657"/>
              </a:xfrm>
              <a:custGeom>
                <a:avLst/>
                <a:gdLst>
                  <a:gd name="T0" fmla="*/ 158 w 729"/>
                  <a:gd name="T1" fmla="*/ 0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7"/>
                  <a:gd name="T20" fmla="*/ 729 w 729"/>
                  <a:gd name="T21" fmla="*/ 657 h 6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7">
                    <a:moveTo>
                      <a:pt x="158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78" name="Freeform 154"/>
              <p:cNvSpPr/>
              <p:nvPr/>
            </p:nvSpPr>
            <p:spPr bwMode="auto">
              <a:xfrm>
                <a:off x="4532" y="2744"/>
                <a:ext cx="729" cy="657"/>
              </a:xfrm>
              <a:custGeom>
                <a:avLst/>
                <a:gdLst>
                  <a:gd name="T0" fmla="*/ 161 w 729"/>
                  <a:gd name="T1" fmla="*/ 2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7"/>
                  <a:gd name="T20" fmla="*/ 729 w 729"/>
                  <a:gd name="T21" fmla="*/ 657 h 6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7">
                    <a:moveTo>
                      <a:pt x="161" y="2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79" name="Freeform 155"/>
              <p:cNvSpPr/>
              <p:nvPr/>
            </p:nvSpPr>
            <p:spPr bwMode="auto">
              <a:xfrm>
                <a:off x="1424" y="2735"/>
                <a:ext cx="708" cy="570"/>
              </a:xfrm>
              <a:custGeom>
                <a:avLst/>
                <a:gdLst>
                  <a:gd name="T0" fmla="*/ 0 w 708"/>
                  <a:gd name="T1" fmla="*/ 0 h 570"/>
                  <a:gd name="T2" fmla="*/ 132 w 708"/>
                  <a:gd name="T3" fmla="*/ 0 h 570"/>
                  <a:gd name="T4" fmla="*/ 129 w 708"/>
                  <a:gd name="T5" fmla="*/ 570 h 570"/>
                  <a:gd name="T6" fmla="*/ 708 w 708"/>
                  <a:gd name="T7" fmla="*/ 570 h 570"/>
                  <a:gd name="T8" fmla="*/ 708 w 708"/>
                  <a:gd name="T9" fmla="*/ 9 h 570"/>
                  <a:gd name="T10" fmla="*/ 573 w 708"/>
                  <a:gd name="T11" fmla="*/ 9 h 5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08"/>
                  <a:gd name="T19" fmla="*/ 0 h 570"/>
                  <a:gd name="T20" fmla="*/ 708 w 708"/>
                  <a:gd name="T21" fmla="*/ 570 h 57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08" h="570">
                    <a:moveTo>
                      <a:pt x="0" y="0"/>
                    </a:moveTo>
                    <a:lnTo>
                      <a:pt x="132" y="0"/>
                    </a:lnTo>
                    <a:lnTo>
                      <a:pt x="129" y="570"/>
                    </a:lnTo>
                    <a:lnTo>
                      <a:pt x="708" y="570"/>
                    </a:lnTo>
                    <a:lnTo>
                      <a:pt x="708" y="9"/>
                    </a:lnTo>
                    <a:lnTo>
                      <a:pt x="573" y="9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80" name="Freeform 156"/>
              <p:cNvSpPr/>
              <p:nvPr/>
            </p:nvSpPr>
            <p:spPr bwMode="auto">
              <a:xfrm>
                <a:off x="2576" y="2735"/>
                <a:ext cx="726" cy="567"/>
              </a:xfrm>
              <a:custGeom>
                <a:avLst/>
                <a:gdLst>
                  <a:gd name="T0" fmla="*/ 0 w 726"/>
                  <a:gd name="T1" fmla="*/ 0 h 567"/>
                  <a:gd name="T2" fmla="*/ 144 w 726"/>
                  <a:gd name="T3" fmla="*/ 0 h 567"/>
                  <a:gd name="T4" fmla="*/ 147 w 726"/>
                  <a:gd name="T5" fmla="*/ 567 h 567"/>
                  <a:gd name="T6" fmla="*/ 726 w 726"/>
                  <a:gd name="T7" fmla="*/ 567 h 567"/>
                  <a:gd name="T8" fmla="*/ 726 w 726"/>
                  <a:gd name="T9" fmla="*/ 6 h 567"/>
                  <a:gd name="T10" fmla="*/ 579 w 726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6"/>
                  <a:gd name="T19" fmla="*/ 0 h 567"/>
                  <a:gd name="T20" fmla="*/ 726 w 726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6" h="567">
                    <a:moveTo>
                      <a:pt x="0" y="0"/>
                    </a:moveTo>
                    <a:lnTo>
                      <a:pt x="144" y="0"/>
                    </a:lnTo>
                    <a:lnTo>
                      <a:pt x="147" y="567"/>
                    </a:lnTo>
                    <a:lnTo>
                      <a:pt x="726" y="567"/>
                    </a:lnTo>
                    <a:lnTo>
                      <a:pt x="726" y="6"/>
                    </a:lnTo>
                    <a:lnTo>
                      <a:pt x="579" y="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81" name="Freeform 157"/>
              <p:cNvSpPr/>
              <p:nvPr/>
            </p:nvSpPr>
            <p:spPr bwMode="auto">
              <a:xfrm>
                <a:off x="3728" y="2738"/>
                <a:ext cx="714" cy="567"/>
              </a:xfrm>
              <a:custGeom>
                <a:avLst/>
                <a:gdLst>
                  <a:gd name="T0" fmla="*/ 0 w 714"/>
                  <a:gd name="T1" fmla="*/ 0 h 567"/>
                  <a:gd name="T2" fmla="*/ 136 w 714"/>
                  <a:gd name="T3" fmla="*/ 1 h 567"/>
                  <a:gd name="T4" fmla="*/ 135 w 714"/>
                  <a:gd name="T5" fmla="*/ 567 h 567"/>
                  <a:gd name="T6" fmla="*/ 714 w 714"/>
                  <a:gd name="T7" fmla="*/ 567 h 567"/>
                  <a:gd name="T8" fmla="*/ 714 w 714"/>
                  <a:gd name="T9" fmla="*/ 6 h 567"/>
                  <a:gd name="T10" fmla="*/ 576 w 714"/>
                  <a:gd name="T11" fmla="*/ 5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14"/>
                  <a:gd name="T19" fmla="*/ 0 h 567"/>
                  <a:gd name="T20" fmla="*/ 714 w 714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14" h="567">
                    <a:moveTo>
                      <a:pt x="0" y="0"/>
                    </a:moveTo>
                    <a:lnTo>
                      <a:pt x="136" y="1"/>
                    </a:lnTo>
                    <a:lnTo>
                      <a:pt x="135" y="567"/>
                    </a:lnTo>
                    <a:lnTo>
                      <a:pt x="714" y="567"/>
                    </a:lnTo>
                    <a:lnTo>
                      <a:pt x="714" y="6"/>
                    </a:lnTo>
                    <a:lnTo>
                      <a:pt x="576" y="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82" name="Freeform 158"/>
              <p:cNvSpPr/>
              <p:nvPr/>
            </p:nvSpPr>
            <p:spPr bwMode="auto">
              <a:xfrm>
                <a:off x="4883" y="2738"/>
                <a:ext cx="711" cy="567"/>
              </a:xfrm>
              <a:custGeom>
                <a:avLst/>
                <a:gdLst>
                  <a:gd name="T0" fmla="*/ 0 w 711"/>
                  <a:gd name="T1" fmla="*/ 0 h 567"/>
                  <a:gd name="T2" fmla="*/ 136 w 711"/>
                  <a:gd name="T3" fmla="*/ 1 h 567"/>
                  <a:gd name="T4" fmla="*/ 132 w 711"/>
                  <a:gd name="T5" fmla="*/ 567 h 567"/>
                  <a:gd name="T6" fmla="*/ 711 w 711"/>
                  <a:gd name="T7" fmla="*/ 567 h 567"/>
                  <a:gd name="T8" fmla="*/ 711 w 711"/>
                  <a:gd name="T9" fmla="*/ 6 h 567"/>
                  <a:gd name="T10" fmla="*/ 564 w 711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11"/>
                  <a:gd name="T19" fmla="*/ 0 h 567"/>
                  <a:gd name="T20" fmla="*/ 711 w 711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11" h="567">
                    <a:moveTo>
                      <a:pt x="0" y="0"/>
                    </a:moveTo>
                    <a:lnTo>
                      <a:pt x="136" y="1"/>
                    </a:lnTo>
                    <a:lnTo>
                      <a:pt x="132" y="567"/>
                    </a:lnTo>
                    <a:lnTo>
                      <a:pt x="711" y="567"/>
                    </a:lnTo>
                    <a:lnTo>
                      <a:pt x="711" y="6"/>
                    </a:lnTo>
                    <a:lnTo>
                      <a:pt x="564" y="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83" name="Freeform 159"/>
              <p:cNvSpPr/>
              <p:nvPr/>
            </p:nvSpPr>
            <p:spPr bwMode="auto">
              <a:xfrm>
                <a:off x="1346" y="3398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84" name="Freeform 160"/>
              <p:cNvSpPr/>
              <p:nvPr/>
            </p:nvSpPr>
            <p:spPr bwMode="auto">
              <a:xfrm>
                <a:off x="2515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85" name="Freeform 161"/>
              <p:cNvSpPr/>
              <p:nvPr/>
            </p:nvSpPr>
            <p:spPr bwMode="auto">
              <a:xfrm>
                <a:off x="3667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86" name="Freeform 162"/>
              <p:cNvSpPr/>
              <p:nvPr/>
            </p:nvSpPr>
            <p:spPr bwMode="auto">
              <a:xfrm>
                <a:off x="4819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87" name="Freeform 163"/>
              <p:cNvSpPr/>
              <p:nvPr/>
            </p:nvSpPr>
            <p:spPr bwMode="auto">
              <a:xfrm>
                <a:off x="5300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88" name="Freeform 164"/>
              <p:cNvSpPr/>
              <p:nvPr/>
            </p:nvSpPr>
            <p:spPr bwMode="auto">
              <a:xfrm>
                <a:off x="4148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89" name="Freeform 165"/>
              <p:cNvSpPr/>
              <p:nvPr/>
            </p:nvSpPr>
            <p:spPr bwMode="auto">
              <a:xfrm>
                <a:off x="2996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90" name="Freeform 166"/>
              <p:cNvSpPr/>
              <p:nvPr/>
            </p:nvSpPr>
            <p:spPr bwMode="auto">
              <a:xfrm>
                <a:off x="1843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91" name="Freeform 167"/>
              <p:cNvSpPr/>
              <p:nvPr/>
            </p:nvSpPr>
            <p:spPr bwMode="auto">
              <a:xfrm>
                <a:off x="980" y="4025"/>
                <a:ext cx="4317" cy="1"/>
              </a:xfrm>
              <a:custGeom>
                <a:avLst/>
                <a:gdLst>
                  <a:gd name="T0" fmla="*/ 0 w 4317"/>
                  <a:gd name="T1" fmla="*/ 0 h 1"/>
                  <a:gd name="T2" fmla="*/ 4317 w 4317"/>
                  <a:gd name="T3" fmla="*/ 0 h 1"/>
                  <a:gd name="T4" fmla="*/ 0 60000 65536"/>
                  <a:gd name="T5" fmla="*/ 0 60000 65536"/>
                  <a:gd name="T6" fmla="*/ 0 w 4317"/>
                  <a:gd name="T7" fmla="*/ 0 h 1"/>
                  <a:gd name="T8" fmla="*/ 4317 w 431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317" h="1">
                    <a:moveTo>
                      <a:pt x="0" y="0"/>
                    </a:moveTo>
                    <a:lnTo>
                      <a:pt x="431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92" name="Freeform 168"/>
              <p:cNvSpPr/>
              <p:nvPr/>
            </p:nvSpPr>
            <p:spPr bwMode="auto">
              <a:xfrm>
                <a:off x="980" y="4121"/>
                <a:ext cx="3837" cy="1"/>
              </a:xfrm>
              <a:custGeom>
                <a:avLst/>
                <a:gdLst>
                  <a:gd name="T0" fmla="*/ 0 w 3837"/>
                  <a:gd name="T1" fmla="*/ 0 h 1"/>
                  <a:gd name="T2" fmla="*/ 3837 w 3837"/>
                  <a:gd name="T3" fmla="*/ 0 h 1"/>
                  <a:gd name="T4" fmla="*/ 0 60000 65536"/>
                  <a:gd name="T5" fmla="*/ 0 60000 65536"/>
                  <a:gd name="T6" fmla="*/ 0 w 3837"/>
                  <a:gd name="T7" fmla="*/ 0 h 1"/>
                  <a:gd name="T8" fmla="*/ 3837 w 383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37" h="1">
                    <a:moveTo>
                      <a:pt x="0" y="0"/>
                    </a:moveTo>
                    <a:lnTo>
                      <a:pt x="383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93" name="Freeform 169"/>
              <p:cNvSpPr/>
              <p:nvPr/>
            </p:nvSpPr>
            <p:spPr bwMode="auto">
              <a:xfrm>
                <a:off x="1346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94" name="Freeform 170"/>
              <p:cNvSpPr/>
              <p:nvPr/>
            </p:nvSpPr>
            <p:spPr bwMode="auto">
              <a:xfrm>
                <a:off x="2515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95" name="Freeform 171"/>
              <p:cNvSpPr/>
              <p:nvPr/>
            </p:nvSpPr>
            <p:spPr bwMode="auto">
              <a:xfrm>
                <a:off x="3667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96" name="Freeform 172"/>
              <p:cNvSpPr/>
              <p:nvPr/>
            </p:nvSpPr>
            <p:spPr bwMode="auto">
              <a:xfrm>
                <a:off x="4815" y="3881"/>
                <a:ext cx="4" cy="247"/>
              </a:xfrm>
              <a:custGeom>
                <a:avLst/>
                <a:gdLst>
                  <a:gd name="T0" fmla="*/ 4 w 4"/>
                  <a:gd name="T1" fmla="*/ 0 h 247"/>
                  <a:gd name="T2" fmla="*/ 0 w 4"/>
                  <a:gd name="T3" fmla="*/ 247 h 247"/>
                  <a:gd name="T4" fmla="*/ 0 60000 65536"/>
                  <a:gd name="T5" fmla="*/ 0 60000 65536"/>
                  <a:gd name="T6" fmla="*/ 0 w 4"/>
                  <a:gd name="T7" fmla="*/ 0 h 247"/>
                  <a:gd name="T8" fmla="*/ 4 w 4"/>
                  <a:gd name="T9" fmla="*/ 247 h 24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47">
                    <a:moveTo>
                      <a:pt x="4" y="0"/>
                    </a:moveTo>
                    <a:lnTo>
                      <a:pt x="0" y="247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97" name="Freeform 173"/>
              <p:cNvSpPr/>
              <p:nvPr/>
            </p:nvSpPr>
            <p:spPr bwMode="auto">
              <a:xfrm>
                <a:off x="5301" y="3881"/>
                <a:ext cx="1" cy="151"/>
              </a:xfrm>
              <a:custGeom>
                <a:avLst/>
                <a:gdLst>
                  <a:gd name="T0" fmla="*/ 0 w 1"/>
                  <a:gd name="T1" fmla="*/ 0 h 151"/>
                  <a:gd name="T2" fmla="*/ 0 w 1"/>
                  <a:gd name="T3" fmla="*/ 151 h 151"/>
                  <a:gd name="T4" fmla="*/ 0 60000 65536"/>
                  <a:gd name="T5" fmla="*/ 0 60000 65536"/>
                  <a:gd name="T6" fmla="*/ 0 w 1"/>
                  <a:gd name="T7" fmla="*/ 0 h 151"/>
                  <a:gd name="T8" fmla="*/ 1 w 1"/>
                  <a:gd name="T9" fmla="*/ 151 h 15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1">
                    <a:moveTo>
                      <a:pt x="0" y="0"/>
                    </a:moveTo>
                    <a:lnTo>
                      <a:pt x="0" y="15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98" name="Line 174"/>
              <p:cNvSpPr>
                <a:spLocks noChangeShapeType="1"/>
              </p:cNvSpPr>
              <p:nvPr/>
            </p:nvSpPr>
            <p:spPr bwMode="auto">
              <a:xfrm>
                <a:off x="4148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099" name="Line 175"/>
              <p:cNvSpPr>
                <a:spLocks noChangeShapeType="1"/>
              </p:cNvSpPr>
              <p:nvPr/>
            </p:nvSpPr>
            <p:spPr bwMode="auto">
              <a:xfrm>
                <a:off x="2997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100" name="Line 176"/>
              <p:cNvSpPr>
                <a:spLocks noChangeShapeType="1"/>
              </p:cNvSpPr>
              <p:nvPr/>
            </p:nvSpPr>
            <p:spPr bwMode="auto">
              <a:xfrm>
                <a:off x="1844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101" name="Rectangle 177"/>
              <p:cNvSpPr>
                <a:spLocks noChangeArrowheads="1"/>
              </p:cNvSpPr>
              <p:nvPr/>
            </p:nvSpPr>
            <p:spPr bwMode="auto">
              <a:xfrm>
                <a:off x="234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25102" name="Text Box 178"/>
              <p:cNvSpPr txBox="1">
                <a:spLocks noChangeArrowheads="1"/>
              </p:cNvSpPr>
              <p:nvPr/>
            </p:nvSpPr>
            <p:spPr bwMode="auto">
              <a:xfrm>
                <a:off x="2372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  <p:sp>
            <p:nvSpPr>
              <p:cNvPr id="125103" name="Rectangle 179"/>
              <p:cNvSpPr>
                <a:spLocks noChangeArrowheads="1"/>
              </p:cNvSpPr>
              <p:nvPr/>
            </p:nvSpPr>
            <p:spPr bwMode="auto">
              <a:xfrm>
                <a:off x="3493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25104" name="Text Box 180"/>
              <p:cNvSpPr txBox="1">
                <a:spLocks noChangeArrowheads="1"/>
              </p:cNvSpPr>
              <p:nvPr/>
            </p:nvSpPr>
            <p:spPr bwMode="auto">
              <a:xfrm>
                <a:off x="3524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  <p:sp>
            <p:nvSpPr>
              <p:cNvPr id="125105" name="Rectangle 181"/>
              <p:cNvSpPr>
                <a:spLocks noChangeArrowheads="1"/>
              </p:cNvSpPr>
              <p:nvPr/>
            </p:nvSpPr>
            <p:spPr bwMode="auto">
              <a:xfrm>
                <a:off x="4645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25106" name="Text Box 182"/>
              <p:cNvSpPr txBox="1">
                <a:spLocks noChangeArrowheads="1"/>
              </p:cNvSpPr>
              <p:nvPr/>
            </p:nvSpPr>
            <p:spPr bwMode="auto">
              <a:xfrm>
                <a:off x="4676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  <p:sp>
            <p:nvSpPr>
              <p:cNvPr id="125107" name="Line 183"/>
              <p:cNvSpPr>
                <a:spLocks noChangeShapeType="1"/>
              </p:cNvSpPr>
              <p:nvPr/>
            </p:nvSpPr>
            <p:spPr bwMode="auto">
              <a:xfrm>
                <a:off x="1988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108" name="Line 184"/>
              <p:cNvSpPr>
                <a:spLocks noChangeShapeType="1"/>
              </p:cNvSpPr>
              <p:nvPr/>
            </p:nvSpPr>
            <p:spPr bwMode="auto">
              <a:xfrm>
                <a:off x="3168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109" name="Line 185"/>
              <p:cNvSpPr>
                <a:spLocks noChangeShapeType="1"/>
              </p:cNvSpPr>
              <p:nvPr/>
            </p:nvSpPr>
            <p:spPr bwMode="auto">
              <a:xfrm>
                <a:off x="4317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110" name="Line 186"/>
              <p:cNvSpPr>
                <a:spLocks noChangeShapeType="1"/>
              </p:cNvSpPr>
              <p:nvPr/>
            </p:nvSpPr>
            <p:spPr bwMode="auto">
              <a:xfrm>
                <a:off x="54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111" name="Freeform 187"/>
              <p:cNvSpPr/>
              <p:nvPr/>
            </p:nvSpPr>
            <p:spPr bwMode="auto">
              <a:xfrm>
                <a:off x="3057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7711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112" name="Freeform 188"/>
              <p:cNvSpPr/>
              <p:nvPr/>
            </p:nvSpPr>
            <p:spPr bwMode="auto">
              <a:xfrm>
                <a:off x="4209" y="2691"/>
                <a:ext cx="3" cy="522"/>
              </a:xfrm>
              <a:custGeom>
                <a:avLst/>
                <a:gdLst>
                  <a:gd name="T0" fmla="*/ 0 w 3"/>
                  <a:gd name="T1" fmla="*/ 0 h 522"/>
                  <a:gd name="T2" fmla="*/ 3 w 3"/>
                  <a:gd name="T3" fmla="*/ 522 h 522"/>
                  <a:gd name="T4" fmla="*/ 0 60000 65536"/>
                  <a:gd name="T5" fmla="*/ 0 60000 65536"/>
                  <a:gd name="T6" fmla="*/ 0 w 3"/>
                  <a:gd name="T7" fmla="*/ 0 h 522"/>
                  <a:gd name="T8" fmla="*/ 3 w 3"/>
                  <a:gd name="T9" fmla="*/ 522 h 52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522">
                    <a:moveTo>
                      <a:pt x="0" y="0"/>
                    </a:moveTo>
                    <a:lnTo>
                      <a:pt x="3" y="52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113" name="Freeform 189"/>
              <p:cNvSpPr/>
              <p:nvPr/>
            </p:nvSpPr>
            <p:spPr bwMode="auto">
              <a:xfrm>
                <a:off x="5349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7711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114" name="Text Box 190"/>
              <p:cNvSpPr txBox="1">
                <a:spLocks noChangeArrowheads="1"/>
              </p:cNvSpPr>
              <p:nvPr/>
            </p:nvSpPr>
            <p:spPr bwMode="auto">
              <a:xfrm rot="5400000">
                <a:off x="1217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25115" name="Text Box 191"/>
              <p:cNvSpPr txBox="1">
                <a:spLocks noChangeArrowheads="1"/>
              </p:cNvSpPr>
              <p:nvPr/>
            </p:nvSpPr>
            <p:spPr bwMode="auto">
              <a:xfrm rot="5400000">
                <a:off x="1793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25116" name="Text Box 192"/>
              <p:cNvSpPr txBox="1">
                <a:spLocks noChangeArrowheads="1"/>
              </p:cNvSpPr>
              <p:nvPr/>
            </p:nvSpPr>
            <p:spPr bwMode="auto">
              <a:xfrm rot="5400000">
                <a:off x="2369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25117" name="Text Box 193"/>
              <p:cNvSpPr txBox="1">
                <a:spLocks noChangeArrowheads="1"/>
              </p:cNvSpPr>
              <p:nvPr/>
            </p:nvSpPr>
            <p:spPr bwMode="auto">
              <a:xfrm rot="5400000">
                <a:off x="2945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25118" name="Text Box 194"/>
              <p:cNvSpPr txBox="1">
                <a:spLocks noChangeArrowheads="1"/>
              </p:cNvSpPr>
              <p:nvPr/>
            </p:nvSpPr>
            <p:spPr bwMode="auto">
              <a:xfrm rot="5400000">
                <a:off x="3520" y="1627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119" name="Text Box 195"/>
              <p:cNvSpPr txBox="1">
                <a:spLocks noChangeArrowheads="1"/>
              </p:cNvSpPr>
              <p:nvPr/>
            </p:nvSpPr>
            <p:spPr bwMode="auto">
              <a:xfrm rot="5400000">
                <a:off x="4097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120" name="Text Box 196"/>
              <p:cNvSpPr txBox="1">
                <a:spLocks noChangeArrowheads="1"/>
              </p:cNvSpPr>
              <p:nvPr/>
            </p:nvSpPr>
            <p:spPr bwMode="auto">
              <a:xfrm rot="5400000">
                <a:off x="4673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121" name="Text Box 197"/>
              <p:cNvSpPr txBox="1">
                <a:spLocks noChangeArrowheads="1"/>
              </p:cNvSpPr>
              <p:nvPr/>
            </p:nvSpPr>
            <p:spPr bwMode="auto">
              <a:xfrm rot="5400000">
                <a:off x="5268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122" name="Text Box 198"/>
              <p:cNvSpPr txBox="1">
                <a:spLocks noChangeArrowheads="1"/>
              </p:cNvSpPr>
              <p:nvPr/>
            </p:nvSpPr>
            <p:spPr bwMode="auto">
              <a:xfrm>
                <a:off x="684" y="791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25123" name="Text Box 199"/>
              <p:cNvSpPr txBox="1">
                <a:spLocks noChangeArrowheads="1"/>
              </p:cNvSpPr>
              <p:nvPr/>
            </p:nvSpPr>
            <p:spPr bwMode="auto">
              <a:xfrm>
                <a:off x="684" y="1383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25124" name="Text Box 200"/>
              <p:cNvSpPr txBox="1">
                <a:spLocks noChangeArrowheads="1"/>
              </p:cNvSpPr>
              <p:nvPr/>
            </p:nvSpPr>
            <p:spPr bwMode="auto">
              <a:xfrm>
                <a:off x="648" y="19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63</a:t>
                </a:r>
              </a:p>
            </p:txBody>
          </p:sp>
          <p:sp>
            <p:nvSpPr>
              <p:cNvPr id="125125" name="Line 201"/>
              <p:cNvSpPr>
                <a:spLocks noChangeShapeType="1"/>
              </p:cNvSpPr>
              <p:nvPr/>
            </p:nvSpPr>
            <p:spPr bwMode="auto">
              <a:xfrm>
                <a:off x="356" y="2537"/>
                <a:ext cx="57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126" name="Text Box 202"/>
              <p:cNvSpPr txBox="1">
                <a:spLocks noChangeArrowheads="1"/>
              </p:cNvSpPr>
              <p:nvPr/>
            </p:nvSpPr>
            <p:spPr bwMode="auto">
              <a:xfrm>
                <a:off x="684" y="2727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25127" name="Text Box 203"/>
              <p:cNvSpPr txBox="1">
                <a:spLocks noChangeArrowheads="1"/>
              </p:cNvSpPr>
              <p:nvPr/>
            </p:nvSpPr>
            <p:spPr bwMode="auto">
              <a:xfrm>
                <a:off x="648" y="31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25128" name="Text Box 204"/>
              <p:cNvSpPr txBox="1">
                <a:spLocks noChangeArrowheads="1"/>
              </p:cNvSpPr>
              <p:nvPr/>
            </p:nvSpPr>
            <p:spPr bwMode="auto">
              <a:xfrm rot="5400000">
                <a:off x="689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25129" name="Text Box 205"/>
              <p:cNvSpPr txBox="1">
                <a:spLocks noChangeArrowheads="1"/>
              </p:cNvSpPr>
              <p:nvPr/>
            </p:nvSpPr>
            <p:spPr bwMode="auto">
              <a:xfrm rot="5400000">
                <a:off x="689" y="2876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25130" name="Text Box 206"/>
              <p:cNvSpPr txBox="1">
                <a:spLocks noChangeArrowheads="1"/>
              </p:cNvSpPr>
              <p:nvPr/>
            </p:nvSpPr>
            <p:spPr bwMode="auto">
              <a:xfrm>
                <a:off x="372" y="101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行</a:t>
                </a:r>
              </a:p>
            </p:txBody>
          </p:sp>
          <p:sp>
            <p:nvSpPr>
              <p:cNvPr id="125131" name="Text Box 207"/>
              <p:cNvSpPr txBox="1">
                <a:spLocks noChangeArrowheads="1"/>
              </p:cNvSpPr>
              <p:nvPr/>
            </p:nvSpPr>
            <p:spPr bwMode="auto">
              <a:xfrm>
                <a:off x="372" y="126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地</a:t>
                </a:r>
              </a:p>
            </p:txBody>
          </p:sp>
          <p:sp>
            <p:nvSpPr>
              <p:cNvPr id="125132" name="Text Box 208"/>
              <p:cNvSpPr txBox="1">
                <a:spLocks noChangeArrowheads="1"/>
              </p:cNvSpPr>
              <p:nvPr/>
            </p:nvSpPr>
            <p:spPr bwMode="auto">
              <a:xfrm>
                <a:off x="372" y="151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址</a:t>
                </a:r>
              </a:p>
            </p:txBody>
          </p:sp>
          <p:sp>
            <p:nvSpPr>
              <p:cNvPr id="125133" name="Text Box 209"/>
              <p:cNvSpPr txBox="1">
                <a:spLocks noChangeArrowheads="1"/>
              </p:cNvSpPr>
              <p:nvPr/>
            </p:nvSpPr>
            <p:spPr bwMode="auto">
              <a:xfrm>
                <a:off x="372" y="175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译</a:t>
                </a:r>
              </a:p>
            </p:txBody>
          </p:sp>
          <p:sp>
            <p:nvSpPr>
              <p:cNvPr id="125134" name="Text Box 210"/>
              <p:cNvSpPr txBox="1">
                <a:spLocks noChangeArrowheads="1"/>
              </p:cNvSpPr>
              <p:nvPr/>
            </p:nvSpPr>
            <p:spPr bwMode="auto">
              <a:xfrm>
                <a:off x="372" y="200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码</a:t>
                </a:r>
              </a:p>
            </p:txBody>
          </p:sp>
          <p:sp>
            <p:nvSpPr>
              <p:cNvPr id="125135" name="Text Box 211"/>
              <p:cNvSpPr txBox="1">
                <a:spLocks noChangeArrowheads="1"/>
              </p:cNvSpPr>
              <p:nvPr/>
            </p:nvSpPr>
            <p:spPr bwMode="auto">
              <a:xfrm>
                <a:off x="399" y="263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列</a:t>
                </a:r>
              </a:p>
            </p:txBody>
          </p:sp>
          <p:sp>
            <p:nvSpPr>
              <p:cNvPr id="125136" name="Text Box 212"/>
              <p:cNvSpPr txBox="1">
                <a:spLocks noChangeArrowheads="1"/>
              </p:cNvSpPr>
              <p:nvPr/>
            </p:nvSpPr>
            <p:spPr bwMode="auto">
              <a:xfrm>
                <a:off x="399" y="288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地</a:t>
                </a:r>
              </a:p>
            </p:txBody>
          </p:sp>
          <p:sp>
            <p:nvSpPr>
              <p:cNvPr id="125137" name="Text Box 213"/>
              <p:cNvSpPr txBox="1">
                <a:spLocks noChangeArrowheads="1"/>
              </p:cNvSpPr>
              <p:nvPr/>
            </p:nvSpPr>
            <p:spPr bwMode="auto">
              <a:xfrm>
                <a:off x="399" y="313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址</a:t>
                </a:r>
              </a:p>
            </p:txBody>
          </p:sp>
          <p:sp>
            <p:nvSpPr>
              <p:cNvPr id="125138" name="Text Box 214"/>
              <p:cNvSpPr txBox="1">
                <a:spLocks noChangeArrowheads="1"/>
              </p:cNvSpPr>
              <p:nvPr/>
            </p:nvSpPr>
            <p:spPr bwMode="auto">
              <a:xfrm>
                <a:off x="399" y="337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译</a:t>
                </a:r>
              </a:p>
            </p:txBody>
          </p:sp>
          <p:sp>
            <p:nvSpPr>
              <p:cNvPr id="125139" name="Text Box 215"/>
              <p:cNvSpPr txBox="1">
                <a:spLocks noChangeArrowheads="1"/>
              </p:cNvSpPr>
              <p:nvPr/>
            </p:nvSpPr>
            <p:spPr bwMode="auto">
              <a:xfrm>
                <a:off x="399" y="362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码</a:t>
                </a:r>
              </a:p>
            </p:txBody>
          </p:sp>
          <p:sp>
            <p:nvSpPr>
              <p:cNvPr id="125140" name="Text Box 216"/>
              <p:cNvSpPr txBox="1">
                <a:spLocks noChangeArrowheads="1"/>
              </p:cNvSpPr>
              <p:nvPr/>
            </p:nvSpPr>
            <p:spPr bwMode="auto">
              <a:xfrm>
                <a:off x="1968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25141" name="Text Box 217"/>
              <p:cNvSpPr txBox="1">
                <a:spLocks noChangeArrowheads="1"/>
              </p:cNvSpPr>
              <p:nvPr/>
            </p:nvSpPr>
            <p:spPr bwMode="auto">
              <a:xfrm>
                <a:off x="3128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2</a:t>
                </a:r>
              </a:p>
            </p:txBody>
          </p:sp>
          <p:sp>
            <p:nvSpPr>
              <p:cNvPr id="125142" name="Text Box 218"/>
              <p:cNvSpPr txBox="1">
                <a:spLocks noChangeArrowheads="1"/>
              </p:cNvSpPr>
              <p:nvPr/>
            </p:nvSpPr>
            <p:spPr bwMode="auto">
              <a:xfrm>
                <a:off x="4280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3</a:t>
                </a:r>
              </a:p>
            </p:txBody>
          </p:sp>
          <p:sp>
            <p:nvSpPr>
              <p:cNvPr id="125143" name="Text Box 219"/>
              <p:cNvSpPr txBox="1">
                <a:spLocks noChangeArrowheads="1"/>
              </p:cNvSpPr>
              <p:nvPr/>
            </p:nvSpPr>
            <p:spPr bwMode="auto">
              <a:xfrm>
                <a:off x="5438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sp>
            <p:nvSpPr>
              <p:cNvPr id="125144" name="Line 220"/>
              <p:cNvSpPr>
                <a:spLocks noChangeShapeType="1"/>
              </p:cNvSpPr>
              <p:nvPr/>
            </p:nvSpPr>
            <p:spPr bwMode="auto">
              <a:xfrm>
                <a:off x="164" y="905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145" name="Line 221"/>
              <p:cNvSpPr>
                <a:spLocks noChangeShapeType="1"/>
              </p:cNvSpPr>
              <p:nvPr/>
            </p:nvSpPr>
            <p:spPr bwMode="auto">
              <a:xfrm>
                <a:off x="164" y="116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146" name="Line 222"/>
              <p:cNvSpPr>
                <a:spLocks noChangeShapeType="1"/>
              </p:cNvSpPr>
              <p:nvPr/>
            </p:nvSpPr>
            <p:spPr bwMode="auto">
              <a:xfrm>
                <a:off x="164" y="142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147" name="Line 223"/>
              <p:cNvSpPr>
                <a:spLocks noChangeShapeType="1"/>
              </p:cNvSpPr>
              <p:nvPr/>
            </p:nvSpPr>
            <p:spPr bwMode="auto">
              <a:xfrm>
                <a:off x="164" y="168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148" name="Line 224"/>
              <p:cNvSpPr>
                <a:spLocks noChangeShapeType="1"/>
              </p:cNvSpPr>
              <p:nvPr/>
            </p:nvSpPr>
            <p:spPr bwMode="auto">
              <a:xfrm>
                <a:off x="164" y="194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149" name="Line 225"/>
              <p:cNvSpPr>
                <a:spLocks noChangeShapeType="1"/>
              </p:cNvSpPr>
              <p:nvPr/>
            </p:nvSpPr>
            <p:spPr bwMode="auto">
              <a:xfrm>
                <a:off x="164" y="220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150" name="Line 226"/>
              <p:cNvSpPr>
                <a:spLocks noChangeShapeType="1"/>
              </p:cNvSpPr>
              <p:nvPr/>
            </p:nvSpPr>
            <p:spPr bwMode="auto">
              <a:xfrm>
                <a:off x="164" y="287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151" name="Line 227"/>
              <p:cNvSpPr>
                <a:spLocks noChangeShapeType="1"/>
              </p:cNvSpPr>
              <p:nvPr/>
            </p:nvSpPr>
            <p:spPr bwMode="auto">
              <a:xfrm>
                <a:off x="164" y="313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152" name="Line 228"/>
              <p:cNvSpPr>
                <a:spLocks noChangeShapeType="1"/>
              </p:cNvSpPr>
              <p:nvPr/>
            </p:nvSpPr>
            <p:spPr bwMode="auto">
              <a:xfrm>
                <a:off x="164" y="339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153" name="Line 229"/>
              <p:cNvSpPr>
                <a:spLocks noChangeShapeType="1"/>
              </p:cNvSpPr>
              <p:nvPr/>
            </p:nvSpPr>
            <p:spPr bwMode="auto">
              <a:xfrm>
                <a:off x="164" y="365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154" name="Text Box 230"/>
              <p:cNvSpPr txBox="1">
                <a:spLocks noChangeArrowheads="1"/>
              </p:cNvSpPr>
              <p:nvPr/>
            </p:nvSpPr>
            <p:spPr bwMode="auto">
              <a:xfrm>
                <a:off x="672" y="3890"/>
                <a:ext cx="35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800">
                    <a:latin typeface="Times New Roman" panose="02020603050405020304" pitchFamily="18" charset="0"/>
                  </a:rPr>
                  <a:t>WE</a:t>
                </a:r>
              </a:p>
            </p:txBody>
          </p:sp>
          <p:sp>
            <p:nvSpPr>
              <p:cNvPr id="125155" name="Line 231"/>
              <p:cNvSpPr>
                <a:spLocks noChangeShapeType="1"/>
              </p:cNvSpPr>
              <p:nvPr/>
            </p:nvSpPr>
            <p:spPr bwMode="auto">
              <a:xfrm>
                <a:off x="706" y="3923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5156" name="Text Box 232"/>
              <p:cNvSpPr txBox="1">
                <a:spLocks noChangeArrowheads="1"/>
              </p:cNvSpPr>
              <p:nvPr/>
            </p:nvSpPr>
            <p:spPr bwMode="auto">
              <a:xfrm>
                <a:off x="692" y="4025"/>
                <a:ext cx="32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CS</a:t>
                </a:r>
              </a:p>
            </p:txBody>
          </p:sp>
          <p:sp>
            <p:nvSpPr>
              <p:cNvPr id="125157" name="Line 233"/>
              <p:cNvSpPr>
                <a:spLocks noChangeShapeType="1"/>
              </p:cNvSpPr>
              <p:nvPr/>
            </p:nvSpPr>
            <p:spPr bwMode="auto">
              <a:xfrm>
                <a:off x="750" y="4079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11" name="Group 234"/>
          <p:cNvGrpSpPr/>
          <p:nvPr/>
        </p:nvGrpSpPr>
        <p:grpSpPr bwMode="auto">
          <a:xfrm>
            <a:off x="1622425" y="854075"/>
            <a:ext cx="7292975" cy="403225"/>
            <a:chOff x="1022" y="538"/>
            <a:chExt cx="4594" cy="254"/>
          </a:xfrm>
        </p:grpSpPr>
        <p:sp>
          <p:nvSpPr>
            <p:cNvPr id="124935" name="Line 235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4936" name="Freeform 236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4937" name="Line 237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4938" name="Freeform 238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4939" name="Line 239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4940" name="Text Box 240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</a:p>
          </p:txBody>
        </p:sp>
        <p:sp>
          <p:nvSpPr>
            <p:cNvPr id="124941" name="Text Box 241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</a:p>
          </p:txBody>
        </p:sp>
        <p:sp>
          <p:nvSpPr>
            <p:cNvPr id="124942" name="Text Box 242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</a:p>
          </p:txBody>
        </p:sp>
        <p:sp>
          <p:nvSpPr>
            <p:cNvPr id="124943" name="Text Box 243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</a:p>
          </p:txBody>
        </p:sp>
        <p:sp>
          <p:nvSpPr>
            <p:cNvPr id="124944" name="Line 244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4945" name="Line 245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4946" name="Line 246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4947" name="Line 247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4948" name="Line 248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4949" name="Line 249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4950" name="Line 250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4951" name="Line 251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13244" name="Rectangle 252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24934" name="AutoShape 253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954" name="Group 2"/>
          <p:cNvGrpSpPr/>
          <p:nvPr/>
        </p:nvGrpSpPr>
        <p:grpSpPr bwMode="auto">
          <a:xfrm>
            <a:off x="222250" y="1131888"/>
            <a:ext cx="8921750" cy="5654675"/>
            <a:chOff x="140" y="713"/>
            <a:chExt cx="5620" cy="3562"/>
          </a:xfrm>
        </p:grpSpPr>
        <p:sp>
          <p:nvSpPr>
            <p:cNvPr id="125987" name="Rectangle 3"/>
            <p:cNvSpPr>
              <a:spLocks noChangeArrowheads="1"/>
            </p:cNvSpPr>
            <p:nvPr/>
          </p:nvSpPr>
          <p:spPr bwMode="auto">
            <a:xfrm>
              <a:off x="332" y="713"/>
              <a:ext cx="576" cy="316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5988" name="Rectangle 4"/>
            <p:cNvSpPr>
              <a:spLocks noChangeArrowheads="1"/>
            </p:cNvSpPr>
            <p:nvPr/>
          </p:nvSpPr>
          <p:spPr bwMode="auto">
            <a:xfrm>
              <a:off x="172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15</a:t>
              </a:r>
            </a:p>
          </p:txBody>
        </p:sp>
        <p:sp>
          <p:nvSpPr>
            <p:cNvPr id="125989" name="Text Box 5"/>
            <p:cNvSpPr txBox="1">
              <a:spLocks noChangeArrowheads="1"/>
            </p:cNvSpPr>
            <p:nvPr/>
          </p:nvSpPr>
          <p:spPr bwMode="auto">
            <a:xfrm>
              <a:off x="1408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25990" name="Rectangle 6"/>
            <p:cNvSpPr>
              <a:spLocks noChangeArrowheads="1"/>
            </p:cNvSpPr>
            <p:nvPr/>
          </p:nvSpPr>
          <p:spPr bwMode="auto">
            <a:xfrm>
              <a:off x="1152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25991" name="Rectangle 7"/>
            <p:cNvSpPr>
              <a:spLocks noChangeArrowheads="1"/>
            </p:cNvSpPr>
            <p:nvPr/>
          </p:nvSpPr>
          <p:spPr bwMode="auto">
            <a:xfrm>
              <a:off x="2869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31</a:t>
              </a:r>
            </a:p>
          </p:txBody>
        </p:sp>
        <p:sp>
          <p:nvSpPr>
            <p:cNvPr id="125992" name="Text Box 8"/>
            <p:cNvSpPr txBox="1">
              <a:spLocks noChangeArrowheads="1"/>
            </p:cNvSpPr>
            <p:nvPr/>
          </p:nvSpPr>
          <p:spPr bwMode="auto">
            <a:xfrm>
              <a:off x="2549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25993" name="Rectangle 9"/>
            <p:cNvSpPr>
              <a:spLocks noChangeArrowheads="1"/>
            </p:cNvSpPr>
            <p:nvPr/>
          </p:nvSpPr>
          <p:spPr bwMode="auto">
            <a:xfrm>
              <a:off x="2293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25994" name="Rectangle 10"/>
            <p:cNvSpPr>
              <a:spLocks noChangeArrowheads="1"/>
            </p:cNvSpPr>
            <p:nvPr/>
          </p:nvSpPr>
          <p:spPr bwMode="auto">
            <a:xfrm>
              <a:off x="404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47</a:t>
              </a:r>
            </a:p>
          </p:txBody>
        </p:sp>
        <p:sp>
          <p:nvSpPr>
            <p:cNvPr id="125995" name="Text Box 11"/>
            <p:cNvSpPr txBox="1">
              <a:spLocks noChangeArrowheads="1"/>
            </p:cNvSpPr>
            <p:nvPr/>
          </p:nvSpPr>
          <p:spPr bwMode="auto">
            <a:xfrm>
              <a:off x="3724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25996" name="Rectangle 12"/>
            <p:cNvSpPr>
              <a:spLocks noChangeArrowheads="1"/>
            </p:cNvSpPr>
            <p:nvPr/>
          </p:nvSpPr>
          <p:spPr bwMode="auto">
            <a:xfrm>
              <a:off x="346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32</a:t>
              </a:r>
            </a:p>
          </p:txBody>
        </p:sp>
        <p:sp>
          <p:nvSpPr>
            <p:cNvPr id="125997" name="Rectangle 13"/>
            <p:cNvSpPr>
              <a:spLocks noChangeArrowheads="1"/>
            </p:cNvSpPr>
            <p:nvPr/>
          </p:nvSpPr>
          <p:spPr bwMode="auto">
            <a:xfrm>
              <a:off x="5180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63</a:t>
              </a:r>
            </a:p>
          </p:txBody>
        </p:sp>
        <p:sp>
          <p:nvSpPr>
            <p:cNvPr id="125998" name="Text Box 14"/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25999" name="Rectangle 15"/>
            <p:cNvSpPr>
              <a:spLocks noChangeArrowheads="1"/>
            </p:cNvSpPr>
            <p:nvPr/>
          </p:nvSpPr>
          <p:spPr bwMode="auto">
            <a:xfrm>
              <a:off x="460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48</a:t>
              </a:r>
            </a:p>
          </p:txBody>
        </p:sp>
        <p:sp>
          <p:nvSpPr>
            <p:cNvPr id="126000" name="Rectangle 16"/>
            <p:cNvSpPr>
              <a:spLocks noChangeArrowheads="1"/>
            </p:cNvSpPr>
            <p:nvPr/>
          </p:nvSpPr>
          <p:spPr bwMode="auto">
            <a:xfrm>
              <a:off x="172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15</a:t>
              </a:r>
            </a:p>
          </p:txBody>
        </p:sp>
        <p:sp>
          <p:nvSpPr>
            <p:cNvPr id="126001" name="Rectangle 17"/>
            <p:cNvSpPr>
              <a:spLocks noChangeArrowheads="1"/>
            </p:cNvSpPr>
            <p:nvPr/>
          </p:nvSpPr>
          <p:spPr bwMode="auto">
            <a:xfrm>
              <a:off x="1152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26002" name="Rectangle 18"/>
            <p:cNvSpPr>
              <a:spLocks noChangeArrowheads="1"/>
            </p:cNvSpPr>
            <p:nvPr/>
          </p:nvSpPr>
          <p:spPr bwMode="auto">
            <a:xfrm>
              <a:off x="2869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31</a:t>
              </a:r>
            </a:p>
          </p:txBody>
        </p:sp>
        <p:sp>
          <p:nvSpPr>
            <p:cNvPr id="126003" name="Rectangle 19"/>
            <p:cNvSpPr>
              <a:spLocks noChangeArrowheads="1"/>
            </p:cNvSpPr>
            <p:nvPr/>
          </p:nvSpPr>
          <p:spPr bwMode="auto">
            <a:xfrm>
              <a:off x="2293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26004" name="Rectangle 20"/>
            <p:cNvSpPr>
              <a:spLocks noChangeArrowheads="1"/>
            </p:cNvSpPr>
            <p:nvPr/>
          </p:nvSpPr>
          <p:spPr bwMode="auto">
            <a:xfrm>
              <a:off x="404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47</a:t>
              </a:r>
            </a:p>
          </p:txBody>
        </p:sp>
        <p:sp>
          <p:nvSpPr>
            <p:cNvPr id="126005" name="Rectangle 21"/>
            <p:cNvSpPr>
              <a:spLocks noChangeArrowheads="1"/>
            </p:cNvSpPr>
            <p:nvPr/>
          </p:nvSpPr>
          <p:spPr bwMode="auto">
            <a:xfrm>
              <a:off x="346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32</a:t>
              </a:r>
            </a:p>
          </p:txBody>
        </p:sp>
        <p:sp>
          <p:nvSpPr>
            <p:cNvPr id="126006" name="Rectangle 22"/>
            <p:cNvSpPr>
              <a:spLocks noChangeArrowheads="1"/>
            </p:cNvSpPr>
            <p:nvPr/>
          </p:nvSpPr>
          <p:spPr bwMode="auto">
            <a:xfrm>
              <a:off x="5180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63</a:t>
              </a:r>
            </a:p>
          </p:txBody>
        </p:sp>
        <p:sp>
          <p:nvSpPr>
            <p:cNvPr id="126007" name="Rectangle 23"/>
            <p:cNvSpPr>
              <a:spLocks noChangeArrowheads="1"/>
            </p:cNvSpPr>
            <p:nvPr/>
          </p:nvSpPr>
          <p:spPr bwMode="auto">
            <a:xfrm>
              <a:off x="460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48</a:t>
              </a:r>
            </a:p>
          </p:txBody>
        </p:sp>
        <p:sp>
          <p:nvSpPr>
            <p:cNvPr id="126008" name="Line 24"/>
            <p:cNvSpPr>
              <a:spLocks noChangeShapeType="1"/>
            </p:cNvSpPr>
            <p:nvPr/>
          </p:nvSpPr>
          <p:spPr bwMode="auto">
            <a:xfrm rot="5400000">
              <a:off x="1325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09" name="Line 25"/>
            <p:cNvSpPr>
              <a:spLocks noChangeShapeType="1"/>
            </p:cNvSpPr>
            <p:nvPr/>
          </p:nvSpPr>
          <p:spPr bwMode="auto">
            <a:xfrm rot="5400000">
              <a:off x="1308" y="271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10" name="Freeform 26"/>
            <p:cNvSpPr/>
            <p:nvPr/>
          </p:nvSpPr>
          <p:spPr bwMode="auto">
            <a:xfrm>
              <a:off x="1260" y="2709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11" name="Line 27"/>
            <p:cNvSpPr>
              <a:spLocks noChangeShapeType="1"/>
            </p:cNvSpPr>
            <p:nvPr/>
          </p:nvSpPr>
          <p:spPr bwMode="auto">
            <a:xfrm rot="-5400000">
              <a:off x="1133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12" name="Line 28"/>
            <p:cNvSpPr>
              <a:spLocks noChangeShapeType="1"/>
            </p:cNvSpPr>
            <p:nvPr/>
          </p:nvSpPr>
          <p:spPr bwMode="auto">
            <a:xfrm rot="-5400000">
              <a:off x="1212" y="2714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13" name="Freeform 29"/>
            <p:cNvSpPr/>
            <p:nvPr/>
          </p:nvSpPr>
          <p:spPr bwMode="auto">
            <a:xfrm>
              <a:off x="1434" y="2353"/>
              <a:ext cx="112" cy="1"/>
            </a:xfrm>
            <a:custGeom>
              <a:avLst/>
              <a:gdLst>
                <a:gd name="T0" fmla="*/ 0 w 112"/>
                <a:gd name="T1" fmla="*/ 0 h 1"/>
                <a:gd name="T2" fmla="*/ 112 w 112"/>
                <a:gd name="T3" fmla="*/ 0 h 1"/>
                <a:gd name="T4" fmla="*/ 0 60000 65536"/>
                <a:gd name="T5" fmla="*/ 0 60000 65536"/>
                <a:gd name="T6" fmla="*/ 0 w 112"/>
                <a:gd name="T7" fmla="*/ 0 h 1"/>
                <a:gd name="T8" fmla="*/ 112 w 11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2" h="1">
                  <a:moveTo>
                    <a:pt x="0" y="0"/>
                  </a:moveTo>
                  <a:lnTo>
                    <a:pt x="112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14" name="Freeform 30"/>
            <p:cNvSpPr/>
            <p:nvPr/>
          </p:nvSpPr>
          <p:spPr bwMode="auto">
            <a:xfrm>
              <a:off x="1059" y="1209"/>
              <a:ext cx="152" cy="1469"/>
            </a:xfrm>
            <a:custGeom>
              <a:avLst/>
              <a:gdLst>
                <a:gd name="T0" fmla="*/ 152 w 152"/>
                <a:gd name="T1" fmla="*/ 1469 h 1469"/>
                <a:gd name="T2" fmla="*/ 0 w 152"/>
                <a:gd name="T3" fmla="*/ 1469 h 1469"/>
                <a:gd name="T4" fmla="*/ 0 w 152"/>
                <a:gd name="T5" fmla="*/ 0 h 1469"/>
                <a:gd name="T6" fmla="*/ 95 w 152"/>
                <a:gd name="T7" fmla="*/ 1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9"/>
                <a:gd name="T14" fmla="*/ 152 w 152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9">
                  <a:moveTo>
                    <a:pt x="152" y="1469"/>
                  </a:moveTo>
                  <a:lnTo>
                    <a:pt x="0" y="1469"/>
                  </a:lnTo>
                  <a:lnTo>
                    <a:pt x="0" y="0"/>
                  </a:lnTo>
                  <a:lnTo>
                    <a:pt x="95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15" name="Freeform 31"/>
            <p:cNvSpPr/>
            <p:nvPr/>
          </p:nvSpPr>
          <p:spPr bwMode="auto">
            <a:xfrm>
              <a:off x="1055" y="2353"/>
              <a:ext cx="102" cy="1"/>
            </a:xfrm>
            <a:custGeom>
              <a:avLst/>
              <a:gdLst>
                <a:gd name="T0" fmla="*/ 102 w 102"/>
                <a:gd name="T1" fmla="*/ 0 h 1"/>
                <a:gd name="T2" fmla="*/ 0 w 102"/>
                <a:gd name="T3" fmla="*/ 0 h 1"/>
                <a:gd name="T4" fmla="*/ 0 60000 65536"/>
                <a:gd name="T5" fmla="*/ 0 60000 65536"/>
                <a:gd name="T6" fmla="*/ 0 w 102"/>
                <a:gd name="T7" fmla="*/ 0 h 1"/>
                <a:gd name="T8" fmla="*/ 102 w 10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2" h="1">
                  <a:moveTo>
                    <a:pt x="102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16" name="Line 32"/>
            <p:cNvSpPr>
              <a:spLocks noChangeShapeType="1"/>
            </p:cNvSpPr>
            <p:nvPr/>
          </p:nvSpPr>
          <p:spPr bwMode="auto">
            <a:xfrm rot="5400000">
              <a:off x="1896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17" name="Line 33"/>
            <p:cNvSpPr>
              <a:spLocks noChangeShapeType="1"/>
            </p:cNvSpPr>
            <p:nvPr/>
          </p:nvSpPr>
          <p:spPr bwMode="auto">
            <a:xfrm rot="5400000">
              <a:off x="1879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18" name="Freeform 34"/>
            <p:cNvSpPr/>
            <p:nvPr/>
          </p:nvSpPr>
          <p:spPr bwMode="auto">
            <a:xfrm>
              <a:off x="1831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19" name="Line 35"/>
            <p:cNvSpPr>
              <a:spLocks noChangeShapeType="1"/>
            </p:cNvSpPr>
            <p:nvPr/>
          </p:nvSpPr>
          <p:spPr bwMode="auto">
            <a:xfrm rot="-5400000">
              <a:off x="1704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20" name="Line 36"/>
            <p:cNvSpPr>
              <a:spLocks noChangeShapeType="1"/>
            </p:cNvSpPr>
            <p:nvPr/>
          </p:nvSpPr>
          <p:spPr bwMode="auto">
            <a:xfrm rot="-5400000">
              <a:off x="1783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21" name="Freeform 37"/>
            <p:cNvSpPr/>
            <p:nvPr/>
          </p:nvSpPr>
          <p:spPr bwMode="auto">
            <a:xfrm>
              <a:off x="2005" y="2353"/>
              <a:ext cx="103" cy="1"/>
            </a:xfrm>
            <a:custGeom>
              <a:avLst/>
              <a:gdLst>
                <a:gd name="T0" fmla="*/ 0 w 103"/>
                <a:gd name="T1" fmla="*/ 0 h 1"/>
                <a:gd name="T2" fmla="*/ 103 w 103"/>
                <a:gd name="T3" fmla="*/ 0 h 1"/>
                <a:gd name="T4" fmla="*/ 0 60000 65536"/>
                <a:gd name="T5" fmla="*/ 0 60000 65536"/>
                <a:gd name="T6" fmla="*/ 0 w 103"/>
                <a:gd name="T7" fmla="*/ 0 h 1"/>
                <a:gd name="T8" fmla="*/ 103 w 10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3" h="1">
                  <a:moveTo>
                    <a:pt x="0" y="0"/>
                  </a:moveTo>
                  <a:lnTo>
                    <a:pt x="103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22" name="Freeform 38"/>
            <p:cNvSpPr/>
            <p:nvPr/>
          </p:nvSpPr>
          <p:spPr bwMode="auto">
            <a:xfrm>
              <a:off x="1611" y="2352"/>
              <a:ext cx="113" cy="1"/>
            </a:xfrm>
            <a:custGeom>
              <a:avLst/>
              <a:gdLst>
                <a:gd name="T0" fmla="*/ 113 w 113"/>
                <a:gd name="T1" fmla="*/ 1 h 1"/>
                <a:gd name="T2" fmla="*/ 0 w 113"/>
                <a:gd name="T3" fmla="*/ 0 h 1"/>
                <a:gd name="T4" fmla="*/ 0 60000 65536"/>
                <a:gd name="T5" fmla="*/ 0 60000 65536"/>
                <a:gd name="T6" fmla="*/ 0 w 113"/>
                <a:gd name="T7" fmla="*/ 0 h 1"/>
                <a:gd name="T8" fmla="*/ 113 w 11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3" h="1">
                  <a:moveTo>
                    <a:pt x="113" y="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23" name="Line 39"/>
            <p:cNvSpPr>
              <a:spLocks noChangeShapeType="1"/>
            </p:cNvSpPr>
            <p:nvPr/>
          </p:nvSpPr>
          <p:spPr bwMode="auto">
            <a:xfrm rot="5400000">
              <a:off x="247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24" name="Line 40"/>
            <p:cNvSpPr>
              <a:spLocks noChangeShapeType="1"/>
            </p:cNvSpPr>
            <p:nvPr/>
          </p:nvSpPr>
          <p:spPr bwMode="auto">
            <a:xfrm rot="5400000">
              <a:off x="2460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25" name="Freeform 41"/>
            <p:cNvSpPr/>
            <p:nvPr/>
          </p:nvSpPr>
          <p:spPr bwMode="auto">
            <a:xfrm>
              <a:off x="2412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26" name="Line 42"/>
            <p:cNvSpPr>
              <a:spLocks noChangeShapeType="1"/>
            </p:cNvSpPr>
            <p:nvPr/>
          </p:nvSpPr>
          <p:spPr bwMode="auto">
            <a:xfrm rot="-5400000">
              <a:off x="2285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27" name="Line 43"/>
            <p:cNvSpPr>
              <a:spLocks noChangeShapeType="1"/>
            </p:cNvSpPr>
            <p:nvPr/>
          </p:nvSpPr>
          <p:spPr bwMode="auto">
            <a:xfrm rot="-5400000">
              <a:off x="2364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28" name="Freeform 44"/>
            <p:cNvSpPr/>
            <p:nvPr/>
          </p:nvSpPr>
          <p:spPr bwMode="auto">
            <a:xfrm>
              <a:off x="2586" y="2353"/>
              <a:ext cx="109" cy="1"/>
            </a:xfrm>
            <a:custGeom>
              <a:avLst/>
              <a:gdLst>
                <a:gd name="T0" fmla="*/ 0 w 109"/>
                <a:gd name="T1" fmla="*/ 0 h 1"/>
                <a:gd name="T2" fmla="*/ 109 w 109"/>
                <a:gd name="T3" fmla="*/ 0 h 1"/>
                <a:gd name="T4" fmla="*/ 0 60000 65536"/>
                <a:gd name="T5" fmla="*/ 0 60000 65536"/>
                <a:gd name="T6" fmla="*/ 0 w 109"/>
                <a:gd name="T7" fmla="*/ 0 h 1"/>
                <a:gd name="T8" fmla="*/ 109 w 10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9" h="1">
                  <a:moveTo>
                    <a:pt x="0" y="0"/>
                  </a:moveTo>
                  <a:lnTo>
                    <a:pt x="109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29" name="Freeform 45"/>
            <p:cNvSpPr/>
            <p:nvPr/>
          </p:nvSpPr>
          <p:spPr bwMode="auto">
            <a:xfrm>
              <a:off x="2207" y="2353"/>
              <a:ext cx="89" cy="1"/>
            </a:xfrm>
            <a:custGeom>
              <a:avLst/>
              <a:gdLst>
                <a:gd name="T0" fmla="*/ 89 w 89"/>
                <a:gd name="T1" fmla="*/ 0 h 1"/>
                <a:gd name="T2" fmla="*/ 0 w 89"/>
                <a:gd name="T3" fmla="*/ 0 h 1"/>
                <a:gd name="T4" fmla="*/ 0 60000 65536"/>
                <a:gd name="T5" fmla="*/ 0 60000 65536"/>
                <a:gd name="T6" fmla="*/ 0 w 89"/>
                <a:gd name="T7" fmla="*/ 0 h 1"/>
                <a:gd name="T8" fmla="*/ 89 w 8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9" h="1">
                  <a:moveTo>
                    <a:pt x="89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30" name="Line 46"/>
            <p:cNvSpPr>
              <a:spLocks noChangeShapeType="1"/>
            </p:cNvSpPr>
            <p:nvPr/>
          </p:nvSpPr>
          <p:spPr bwMode="auto">
            <a:xfrm rot="5400000">
              <a:off x="3053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31" name="Line 47"/>
            <p:cNvSpPr>
              <a:spLocks noChangeShapeType="1"/>
            </p:cNvSpPr>
            <p:nvPr/>
          </p:nvSpPr>
          <p:spPr bwMode="auto">
            <a:xfrm rot="5400000">
              <a:off x="3036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32" name="Freeform 48"/>
            <p:cNvSpPr/>
            <p:nvPr/>
          </p:nvSpPr>
          <p:spPr bwMode="auto">
            <a:xfrm>
              <a:off x="2988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33" name="Line 49"/>
            <p:cNvSpPr>
              <a:spLocks noChangeShapeType="1"/>
            </p:cNvSpPr>
            <p:nvPr/>
          </p:nvSpPr>
          <p:spPr bwMode="auto">
            <a:xfrm rot="-5400000">
              <a:off x="2861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34" name="Line 50"/>
            <p:cNvSpPr>
              <a:spLocks noChangeShapeType="1"/>
            </p:cNvSpPr>
            <p:nvPr/>
          </p:nvSpPr>
          <p:spPr bwMode="auto">
            <a:xfrm rot="-5400000">
              <a:off x="2940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35" name="Freeform 51"/>
            <p:cNvSpPr/>
            <p:nvPr/>
          </p:nvSpPr>
          <p:spPr bwMode="auto">
            <a:xfrm>
              <a:off x="3162" y="2353"/>
              <a:ext cx="115" cy="1"/>
            </a:xfrm>
            <a:custGeom>
              <a:avLst/>
              <a:gdLst>
                <a:gd name="T0" fmla="*/ 0 w 115"/>
                <a:gd name="T1" fmla="*/ 0 h 1"/>
                <a:gd name="T2" fmla="*/ 115 w 115"/>
                <a:gd name="T3" fmla="*/ 0 h 1"/>
                <a:gd name="T4" fmla="*/ 0 60000 65536"/>
                <a:gd name="T5" fmla="*/ 0 60000 65536"/>
                <a:gd name="T6" fmla="*/ 0 w 115"/>
                <a:gd name="T7" fmla="*/ 0 h 1"/>
                <a:gd name="T8" fmla="*/ 115 w 11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5" h="1">
                  <a:moveTo>
                    <a:pt x="0" y="0"/>
                  </a:moveTo>
                  <a:lnTo>
                    <a:pt x="11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36" name="Freeform 52"/>
            <p:cNvSpPr/>
            <p:nvPr/>
          </p:nvSpPr>
          <p:spPr bwMode="auto">
            <a:xfrm>
              <a:off x="2783" y="2353"/>
              <a:ext cx="90" cy="1"/>
            </a:xfrm>
            <a:custGeom>
              <a:avLst/>
              <a:gdLst>
                <a:gd name="T0" fmla="*/ 90 w 90"/>
                <a:gd name="T1" fmla="*/ 0 h 1"/>
                <a:gd name="T2" fmla="*/ 0 w 90"/>
                <a:gd name="T3" fmla="*/ 0 h 1"/>
                <a:gd name="T4" fmla="*/ 0 60000 65536"/>
                <a:gd name="T5" fmla="*/ 0 60000 65536"/>
                <a:gd name="T6" fmla="*/ 0 w 90"/>
                <a:gd name="T7" fmla="*/ 0 h 1"/>
                <a:gd name="T8" fmla="*/ 90 w 9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0" h="1">
                  <a:moveTo>
                    <a:pt x="90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37" name="Line 53"/>
            <p:cNvSpPr>
              <a:spLocks noChangeShapeType="1"/>
            </p:cNvSpPr>
            <p:nvPr/>
          </p:nvSpPr>
          <p:spPr bwMode="auto">
            <a:xfrm rot="5400000">
              <a:off x="3629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38" name="Line 54"/>
            <p:cNvSpPr>
              <a:spLocks noChangeShapeType="1"/>
            </p:cNvSpPr>
            <p:nvPr/>
          </p:nvSpPr>
          <p:spPr bwMode="auto">
            <a:xfrm rot="5400000">
              <a:off x="3612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39" name="Freeform 55"/>
            <p:cNvSpPr/>
            <p:nvPr/>
          </p:nvSpPr>
          <p:spPr bwMode="auto">
            <a:xfrm>
              <a:off x="3564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40" name="Line 56"/>
            <p:cNvSpPr>
              <a:spLocks noChangeShapeType="1"/>
            </p:cNvSpPr>
            <p:nvPr/>
          </p:nvSpPr>
          <p:spPr bwMode="auto">
            <a:xfrm rot="-5400000">
              <a:off x="343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41" name="Line 57"/>
            <p:cNvSpPr>
              <a:spLocks noChangeShapeType="1"/>
            </p:cNvSpPr>
            <p:nvPr/>
          </p:nvSpPr>
          <p:spPr bwMode="auto">
            <a:xfrm rot="-5400000">
              <a:off x="3516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42" name="Freeform 58"/>
            <p:cNvSpPr/>
            <p:nvPr/>
          </p:nvSpPr>
          <p:spPr bwMode="auto">
            <a:xfrm>
              <a:off x="3751" y="2352"/>
              <a:ext cx="100" cy="1"/>
            </a:xfrm>
            <a:custGeom>
              <a:avLst/>
              <a:gdLst>
                <a:gd name="T0" fmla="*/ 0 w 100"/>
                <a:gd name="T1" fmla="*/ 0 h 1"/>
                <a:gd name="T2" fmla="*/ 100 w 100"/>
                <a:gd name="T3" fmla="*/ 1 h 1"/>
                <a:gd name="T4" fmla="*/ 0 60000 65536"/>
                <a:gd name="T5" fmla="*/ 0 60000 65536"/>
                <a:gd name="T6" fmla="*/ 0 w 100"/>
                <a:gd name="T7" fmla="*/ 0 h 1"/>
                <a:gd name="T8" fmla="*/ 100 w 10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0" h="1">
                  <a:moveTo>
                    <a:pt x="0" y="0"/>
                  </a:moveTo>
                  <a:lnTo>
                    <a:pt x="100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43" name="Freeform 59"/>
            <p:cNvSpPr/>
            <p:nvPr/>
          </p:nvSpPr>
          <p:spPr bwMode="auto">
            <a:xfrm>
              <a:off x="3359" y="2353"/>
              <a:ext cx="108" cy="1"/>
            </a:xfrm>
            <a:custGeom>
              <a:avLst/>
              <a:gdLst>
                <a:gd name="T0" fmla="*/ 108 w 108"/>
                <a:gd name="T1" fmla="*/ 0 h 1"/>
                <a:gd name="T2" fmla="*/ 0 w 108"/>
                <a:gd name="T3" fmla="*/ 0 h 1"/>
                <a:gd name="T4" fmla="*/ 0 60000 65536"/>
                <a:gd name="T5" fmla="*/ 0 60000 65536"/>
                <a:gd name="T6" fmla="*/ 0 w 108"/>
                <a:gd name="T7" fmla="*/ 0 h 1"/>
                <a:gd name="T8" fmla="*/ 108 w 10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8" h="1">
                  <a:moveTo>
                    <a:pt x="108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44" name="Line 60"/>
            <p:cNvSpPr>
              <a:spLocks noChangeShapeType="1"/>
            </p:cNvSpPr>
            <p:nvPr/>
          </p:nvSpPr>
          <p:spPr bwMode="auto">
            <a:xfrm rot="5400000">
              <a:off x="4205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45" name="Line 61"/>
            <p:cNvSpPr>
              <a:spLocks noChangeShapeType="1"/>
            </p:cNvSpPr>
            <p:nvPr/>
          </p:nvSpPr>
          <p:spPr bwMode="auto">
            <a:xfrm rot="5400000">
              <a:off x="4188" y="2696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46" name="Freeform 62"/>
            <p:cNvSpPr/>
            <p:nvPr/>
          </p:nvSpPr>
          <p:spPr bwMode="auto">
            <a:xfrm>
              <a:off x="4140" y="2695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47" name="Line 63"/>
            <p:cNvSpPr>
              <a:spLocks noChangeShapeType="1"/>
            </p:cNvSpPr>
            <p:nvPr/>
          </p:nvSpPr>
          <p:spPr bwMode="auto">
            <a:xfrm rot="-5400000">
              <a:off x="4013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48" name="Line 64"/>
            <p:cNvSpPr>
              <a:spLocks noChangeShapeType="1"/>
            </p:cNvSpPr>
            <p:nvPr/>
          </p:nvSpPr>
          <p:spPr bwMode="auto">
            <a:xfrm rot="-5400000">
              <a:off x="4092" y="270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6049" name="Freeform 65"/>
            <p:cNvSpPr/>
            <p:nvPr/>
          </p:nvSpPr>
          <p:spPr bwMode="auto">
            <a:xfrm>
              <a:off x="4336" y="2351"/>
              <a:ext cx="90" cy="2"/>
            </a:xfrm>
            <a:custGeom>
              <a:avLst/>
              <a:gdLst>
                <a:gd name="T0" fmla="*/ 0 w 90"/>
                <a:gd name="T1" fmla="*/ 0 h 2"/>
                <a:gd name="T2" fmla="*/ 90 w 90"/>
                <a:gd name="T3" fmla="*/ 2 h 2"/>
                <a:gd name="T4" fmla="*/ 0 60000 65536"/>
                <a:gd name="T5" fmla="*/ 0 60000 65536"/>
                <a:gd name="T6" fmla="*/ 0 w 90"/>
                <a:gd name="T7" fmla="*/ 0 h 2"/>
                <a:gd name="T8" fmla="*/ 90 w 90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0" h="2">
                  <a:moveTo>
                    <a:pt x="0" y="0"/>
                  </a:moveTo>
                  <a:lnTo>
                    <a:pt x="90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50" name="Freeform 66"/>
            <p:cNvSpPr/>
            <p:nvPr/>
          </p:nvSpPr>
          <p:spPr bwMode="auto">
            <a:xfrm>
              <a:off x="3935" y="2353"/>
              <a:ext cx="104" cy="1"/>
            </a:xfrm>
            <a:custGeom>
              <a:avLst/>
              <a:gdLst>
                <a:gd name="T0" fmla="*/ 104 w 104"/>
                <a:gd name="T1" fmla="*/ 0 h 1"/>
                <a:gd name="T2" fmla="*/ 0 w 104"/>
                <a:gd name="T3" fmla="*/ 0 h 1"/>
                <a:gd name="T4" fmla="*/ 0 60000 65536"/>
                <a:gd name="T5" fmla="*/ 0 60000 65536"/>
                <a:gd name="T6" fmla="*/ 0 w 104"/>
                <a:gd name="T7" fmla="*/ 0 h 1"/>
                <a:gd name="T8" fmla="*/ 104 w 104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4" h="1">
                  <a:moveTo>
                    <a:pt x="104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126051" name="Group 67"/>
            <p:cNvGrpSpPr/>
            <p:nvPr/>
          </p:nvGrpSpPr>
          <p:grpSpPr bwMode="auto">
            <a:xfrm>
              <a:off x="4668" y="2634"/>
              <a:ext cx="192" cy="158"/>
              <a:chOff x="4692" y="2634"/>
              <a:chExt cx="192" cy="158"/>
            </a:xfrm>
          </p:grpSpPr>
          <p:grpSp>
            <p:nvGrpSpPr>
              <p:cNvPr id="126198" name="Group 68"/>
              <p:cNvGrpSpPr/>
              <p:nvPr/>
            </p:nvGrpSpPr>
            <p:grpSpPr bwMode="auto">
              <a:xfrm>
                <a:off x="4836" y="2634"/>
                <a:ext cx="48" cy="158"/>
                <a:chOff x="4836" y="2634"/>
                <a:chExt cx="48" cy="158"/>
              </a:xfrm>
            </p:grpSpPr>
            <p:sp>
              <p:nvSpPr>
                <p:cNvPr id="126203" name="Line 69"/>
                <p:cNvSpPr>
                  <a:spLocks noChangeShapeType="1"/>
                </p:cNvSpPr>
                <p:nvPr/>
              </p:nvSpPr>
              <p:spPr bwMode="auto">
                <a:xfrm rot="5400000">
                  <a:off x="4805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26204" name="Line 70"/>
                <p:cNvSpPr>
                  <a:spLocks noChangeShapeType="1"/>
                </p:cNvSpPr>
                <p:nvPr/>
              </p:nvSpPr>
              <p:spPr bwMode="auto">
                <a:xfrm rot="5400000">
                  <a:off x="4788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26199" name="Freeform 71"/>
              <p:cNvSpPr/>
              <p:nvPr/>
            </p:nvSpPr>
            <p:spPr bwMode="auto">
              <a:xfrm>
                <a:off x="4740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26200" name="Group 72"/>
              <p:cNvGrpSpPr/>
              <p:nvPr/>
            </p:nvGrpSpPr>
            <p:grpSpPr bwMode="auto">
              <a:xfrm>
                <a:off x="4692" y="2634"/>
                <a:ext cx="48" cy="158"/>
                <a:chOff x="4692" y="2634"/>
                <a:chExt cx="48" cy="158"/>
              </a:xfrm>
            </p:grpSpPr>
            <p:sp>
              <p:nvSpPr>
                <p:cNvPr id="126201" name="Line 73"/>
                <p:cNvSpPr>
                  <a:spLocks noChangeShapeType="1"/>
                </p:cNvSpPr>
                <p:nvPr/>
              </p:nvSpPr>
              <p:spPr bwMode="auto">
                <a:xfrm rot="-5400000">
                  <a:off x="4613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26202" name="Line 74"/>
                <p:cNvSpPr>
                  <a:spLocks noChangeShapeType="1"/>
                </p:cNvSpPr>
                <p:nvPr/>
              </p:nvSpPr>
              <p:spPr bwMode="auto">
                <a:xfrm rot="-5400000">
                  <a:off x="4692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26052" name="Freeform 75"/>
            <p:cNvSpPr/>
            <p:nvPr/>
          </p:nvSpPr>
          <p:spPr bwMode="auto">
            <a:xfrm>
              <a:off x="4890" y="2353"/>
              <a:ext cx="107" cy="1"/>
            </a:xfrm>
            <a:custGeom>
              <a:avLst/>
              <a:gdLst>
                <a:gd name="T0" fmla="*/ 0 w 107"/>
                <a:gd name="T1" fmla="*/ 0 h 1"/>
                <a:gd name="T2" fmla="*/ 107 w 107"/>
                <a:gd name="T3" fmla="*/ 0 h 1"/>
                <a:gd name="T4" fmla="*/ 0 60000 65536"/>
                <a:gd name="T5" fmla="*/ 0 60000 65536"/>
                <a:gd name="T6" fmla="*/ 0 w 107"/>
                <a:gd name="T7" fmla="*/ 0 h 1"/>
                <a:gd name="T8" fmla="*/ 107 w 10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7" h="1">
                  <a:moveTo>
                    <a:pt x="0" y="0"/>
                  </a:moveTo>
                  <a:lnTo>
                    <a:pt x="10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53" name="Freeform 76"/>
            <p:cNvSpPr/>
            <p:nvPr/>
          </p:nvSpPr>
          <p:spPr bwMode="auto">
            <a:xfrm>
              <a:off x="4511" y="2353"/>
              <a:ext cx="96" cy="1"/>
            </a:xfrm>
            <a:custGeom>
              <a:avLst/>
              <a:gdLst>
                <a:gd name="T0" fmla="*/ 96 w 96"/>
                <a:gd name="T1" fmla="*/ 0 h 1"/>
                <a:gd name="T2" fmla="*/ 0 w 96"/>
                <a:gd name="T3" fmla="*/ 0 h 1"/>
                <a:gd name="T4" fmla="*/ 0 60000 65536"/>
                <a:gd name="T5" fmla="*/ 0 60000 65536"/>
                <a:gd name="T6" fmla="*/ 0 w 96"/>
                <a:gd name="T7" fmla="*/ 0 h 1"/>
                <a:gd name="T8" fmla="*/ 96 w 9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1">
                  <a:moveTo>
                    <a:pt x="96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126054" name="Group 77"/>
            <p:cNvGrpSpPr/>
            <p:nvPr/>
          </p:nvGrpSpPr>
          <p:grpSpPr bwMode="auto">
            <a:xfrm>
              <a:off x="5235" y="2634"/>
              <a:ext cx="192" cy="158"/>
              <a:chOff x="5259" y="2634"/>
              <a:chExt cx="192" cy="158"/>
            </a:xfrm>
          </p:grpSpPr>
          <p:grpSp>
            <p:nvGrpSpPr>
              <p:cNvPr id="126191" name="Group 78"/>
              <p:cNvGrpSpPr/>
              <p:nvPr/>
            </p:nvGrpSpPr>
            <p:grpSpPr bwMode="auto">
              <a:xfrm>
                <a:off x="5403" y="2634"/>
                <a:ext cx="48" cy="158"/>
                <a:chOff x="5403" y="2634"/>
                <a:chExt cx="48" cy="158"/>
              </a:xfrm>
            </p:grpSpPr>
            <p:sp>
              <p:nvSpPr>
                <p:cNvPr id="126196" name="Line 79"/>
                <p:cNvSpPr>
                  <a:spLocks noChangeShapeType="1"/>
                </p:cNvSpPr>
                <p:nvPr/>
              </p:nvSpPr>
              <p:spPr bwMode="auto">
                <a:xfrm rot="5400000">
                  <a:off x="5372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26197" name="Line 80"/>
                <p:cNvSpPr>
                  <a:spLocks noChangeShapeType="1"/>
                </p:cNvSpPr>
                <p:nvPr/>
              </p:nvSpPr>
              <p:spPr bwMode="auto">
                <a:xfrm rot="5400000">
                  <a:off x="5355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26192" name="Freeform 81"/>
              <p:cNvSpPr/>
              <p:nvPr/>
            </p:nvSpPr>
            <p:spPr bwMode="auto">
              <a:xfrm>
                <a:off x="5307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26193" name="Group 82"/>
              <p:cNvGrpSpPr/>
              <p:nvPr/>
            </p:nvGrpSpPr>
            <p:grpSpPr bwMode="auto">
              <a:xfrm>
                <a:off x="5259" y="2634"/>
                <a:ext cx="48" cy="158"/>
                <a:chOff x="5259" y="2634"/>
                <a:chExt cx="48" cy="158"/>
              </a:xfrm>
            </p:grpSpPr>
            <p:sp>
              <p:nvSpPr>
                <p:cNvPr id="126194" name="Line 83"/>
                <p:cNvSpPr>
                  <a:spLocks noChangeShapeType="1"/>
                </p:cNvSpPr>
                <p:nvPr/>
              </p:nvSpPr>
              <p:spPr bwMode="auto">
                <a:xfrm rot="-5400000">
                  <a:off x="5180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26195" name="Line 84"/>
                <p:cNvSpPr>
                  <a:spLocks noChangeShapeType="1"/>
                </p:cNvSpPr>
                <p:nvPr/>
              </p:nvSpPr>
              <p:spPr bwMode="auto">
                <a:xfrm rot="-5400000">
                  <a:off x="5259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26055" name="Freeform 85"/>
            <p:cNvSpPr/>
            <p:nvPr/>
          </p:nvSpPr>
          <p:spPr bwMode="auto">
            <a:xfrm>
              <a:off x="5467" y="2351"/>
              <a:ext cx="96" cy="2"/>
            </a:xfrm>
            <a:custGeom>
              <a:avLst/>
              <a:gdLst>
                <a:gd name="T0" fmla="*/ 0 w 96"/>
                <a:gd name="T1" fmla="*/ 0 h 2"/>
                <a:gd name="T2" fmla="*/ 96 w 96"/>
                <a:gd name="T3" fmla="*/ 2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0"/>
                  </a:moveTo>
                  <a:lnTo>
                    <a:pt x="96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56" name="Freeform 86"/>
            <p:cNvSpPr/>
            <p:nvPr/>
          </p:nvSpPr>
          <p:spPr bwMode="auto">
            <a:xfrm>
              <a:off x="5078" y="2353"/>
              <a:ext cx="101" cy="1"/>
            </a:xfrm>
            <a:custGeom>
              <a:avLst/>
              <a:gdLst>
                <a:gd name="T0" fmla="*/ 101 w 101"/>
                <a:gd name="T1" fmla="*/ 0 h 1"/>
                <a:gd name="T2" fmla="*/ 0 w 101"/>
                <a:gd name="T3" fmla="*/ 0 h 1"/>
                <a:gd name="T4" fmla="*/ 0 60000 65536"/>
                <a:gd name="T5" fmla="*/ 0 60000 65536"/>
                <a:gd name="T6" fmla="*/ 0 w 101"/>
                <a:gd name="T7" fmla="*/ 0 h 1"/>
                <a:gd name="T8" fmla="*/ 101 w 101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1" h="1">
                  <a:moveTo>
                    <a:pt x="101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57" name="Freeform 87"/>
            <p:cNvSpPr/>
            <p:nvPr/>
          </p:nvSpPr>
          <p:spPr bwMode="auto">
            <a:xfrm>
              <a:off x="908" y="856"/>
              <a:ext cx="4419" cy="1"/>
            </a:xfrm>
            <a:custGeom>
              <a:avLst/>
              <a:gdLst>
                <a:gd name="T0" fmla="*/ 0 w 4419"/>
                <a:gd name="T1" fmla="*/ 1 h 1"/>
                <a:gd name="T2" fmla="*/ 4419 w 4419"/>
                <a:gd name="T3" fmla="*/ 0 h 1"/>
                <a:gd name="T4" fmla="*/ 0 60000 65536"/>
                <a:gd name="T5" fmla="*/ 0 60000 65536"/>
                <a:gd name="T6" fmla="*/ 0 w 4419"/>
                <a:gd name="T7" fmla="*/ 0 h 1"/>
                <a:gd name="T8" fmla="*/ 4419 w 441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9" h="1">
                  <a:moveTo>
                    <a:pt x="0" y="1"/>
                  </a:moveTo>
                  <a:lnTo>
                    <a:pt x="441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58" name="Line 88"/>
            <p:cNvSpPr>
              <a:spLocks noChangeShapeType="1"/>
            </p:cNvSpPr>
            <p:nvPr/>
          </p:nvSpPr>
          <p:spPr bwMode="auto">
            <a:xfrm>
              <a:off x="129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59" name="Line 89"/>
            <p:cNvSpPr>
              <a:spLocks noChangeShapeType="1"/>
            </p:cNvSpPr>
            <p:nvPr/>
          </p:nvSpPr>
          <p:spPr bwMode="auto">
            <a:xfrm>
              <a:off x="186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60" name="Line 90"/>
            <p:cNvSpPr>
              <a:spLocks noChangeShapeType="1"/>
            </p:cNvSpPr>
            <p:nvPr/>
          </p:nvSpPr>
          <p:spPr bwMode="auto">
            <a:xfrm>
              <a:off x="244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61" name="Line 91"/>
            <p:cNvSpPr>
              <a:spLocks noChangeShapeType="1"/>
            </p:cNvSpPr>
            <p:nvPr/>
          </p:nvSpPr>
          <p:spPr bwMode="auto">
            <a:xfrm>
              <a:off x="3020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62" name="Line 92"/>
            <p:cNvSpPr>
              <a:spLocks noChangeShapeType="1"/>
            </p:cNvSpPr>
            <p:nvPr/>
          </p:nvSpPr>
          <p:spPr bwMode="auto">
            <a:xfrm>
              <a:off x="3596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63" name="Line 93"/>
            <p:cNvSpPr>
              <a:spLocks noChangeShapeType="1"/>
            </p:cNvSpPr>
            <p:nvPr/>
          </p:nvSpPr>
          <p:spPr bwMode="auto">
            <a:xfrm>
              <a:off x="417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64" name="Line 94"/>
            <p:cNvSpPr>
              <a:spLocks noChangeShapeType="1"/>
            </p:cNvSpPr>
            <p:nvPr/>
          </p:nvSpPr>
          <p:spPr bwMode="auto">
            <a:xfrm>
              <a:off x="474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65" name="Line 95"/>
            <p:cNvSpPr>
              <a:spLocks noChangeShapeType="1"/>
            </p:cNvSpPr>
            <p:nvPr/>
          </p:nvSpPr>
          <p:spPr bwMode="auto">
            <a:xfrm>
              <a:off x="532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66" name="Freeform 96"/>
            <p:cNvSpPr/>
            <p:nvPr/>
          </p:nvSpPr>
          <p:spPr bwMode="auto">
            <a:xfrm>
              <a:off x="1305" y="2708"/>
              <a:ext cx="1" cy="166"/>
            </a:xfrm>
            <a:custGeom>
              <a:avLst/>
              <a:gdLst>
                <a:gd name="T0" fmla="*/ 1 w 1"/>
                <a:gd name="T1" fmla="*/ 0 h 166"/>
                <a:gd name="T2" fmla="*/ 0 w 1"/>
                <a:gd name="T3" fmla="*/ 166 h 166"/>
                <a:gd name="T4" fmla="*/ 0 60000 65536"/>
                <a:gd name="T5" fmla="*/ 0 60000 65536"/>
                <a:gd name="T6" fmla="*/ 0 w 1"/>
                <a:gd name="T7" fmla="*/ 0 h 166"/>
                <a:gd name="T8" fmla="*/ 1 w 1"/>
                <a:gd name="T9" fmla="*/ 166 h 16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66">
                  <a:moveTo>
                    <a:pt x="1" y="0"/>
                  </a:moveTo>
                  <a:lnTo>
                    <a:pt x="0" y="1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67" name="Freeform 97"/>
            <p:cNvSpPr/>
            <p:nvPr/>
          </p:nvSpPr>
          <p:spPr bwMode="auto">
            <a:xfrm>
              <a:off x="1880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7711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68" name="Freeform 98"/>
            <p:cNvSpPr/>
            <p:nvPr/>
          </p:nvSpPr>
          <p:spPr bwMode="auto">
            <a:xfrm>
              <a:off x="2454" y="2708"/>
              <a:ext cx="4" cy="166"/>
            </a:xfrm>
            <a:custGeom>
              <a:avLst/>
              <a:gdLst>
                <a:gd name="T0" fmla="*/ 4 w 4"/>
                <a:gd name="T1" fmla="*/ 0 h 166"/>
                <a:gd name="T2" fmla="*/ 0 w 4"/>
                <a:gd name="T3" fmla="*/ 166 h 166"/>
                <a:gd name="T4" fmla="*/ 0 60000 65536"/>
                <a:gd name="T5" fmla="*/ 0 60000 65536"/>
                <a:gd name="T6" fmla="*/ 0 w 4"/>
                <a:gd name="T7" fmla="*/ 0 h 166"/>
                <a:gd name="T8" fmla="*/ 4 w 4"/>
                <a:gd name="T9" fmla="*/ 166 h 16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66">
                  <a:moveTo>
                    <a:pt x="4" y="0"/>
                  </a:moveTo>
                  <a:lnTo>
                    <a:pt x="0" y="1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69" name="Freeform 99"/>
            <p:cNvSpPr/>
            <p:nvPr/>
          </p:nvSpPr>
          <p:spPr bwMode="auto">
            <a:xfrm>
              <a:off x="3606" y="2708"/>
              <a:ext cx="2" cy="175"/>
            </a:xfrm>
            <a:custGeom>
              <a:avLst/>
              <a:gdLst>
                <a:gd name="T0" fmla="*/ 2 w 2"/>
                <a:gd name="T1" fmla="*/ 0 h 175"/>
                <a:gd name="T2" fmla="*/ 0 w 2"/>
                <a:gd name="T3" fmla="*/ 175 h 175"/>
                <a:gd name="T4" fmla="*/ 0 60000 65536"/>
                <a:gd name="T5" fmla="*/ 0 60000 65536"/>
                <a:gd name="T6" fmla="*/ 0 w 2"/>
                <a:gd name="T7" fmla="*/ 0 h 175"/>
                <a:gd name="T8" fmla="*/ 2 w 2"/>
                <a:gd name="T9" fmla="*/ 175 h 17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175">
                  <a:moveTo>
                    <a:pt x="2" y="0"/>
                  </a:moveTo>
                  <a:lnTo>
                    <a:pt x="0" y="17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70" name="Freeform 100"/>
            <p:cNvSpPr/>
            <p:nvPr/>
          </p:nvSpPr>
          <p:spPr bwMode="auto">
            <a:xfrm>
              <a:off x="4760" y="2697"/>
              <a:ext cx="1" cy="176"/>
            </a:xfrm>
            <a:custGeom>
              <a:avLst/>
              <a:gdLst>
                <a:gd name="T0" fmla="*/ 0 w 1"/>
                <a:gd name="T1" fmla="*/ 0 h 176"/>
                <a:gd name="T2" fmla="*/ 0 w 1"/>
                <a:gd name="T3" fmla="*/ 176 h 176"/>
                <a:gd name="T4" fmla="*/ 0 60000 65536"/>
                <a:gd name="T5" fmla="*/ 0 60000 65536"/>
                <a:gd name="T6" fmla="*/ 0 w 1"/>
                <a:gd name="T7" fmla="*/ 0 h 176"/>
                <a:gd name="T8" fmla="*/ 1 w 1"/>
                <a:gd name="T9" fmla="*/ 176 h 17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76">
                  <a:moveTo>
                    <a:pt x="0" y="0"/>
                  </a:moveTo>
                  <a:lnTo>
                    <a:pt x="0" y="17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71" name="Freeform 101"/>
            <p:cNvSpPr/>
            <p:nvPr/>
          </p:nvSpPr>
          <p:spPr bwMode="auto">
            <a:xfrm>
              <a:off x="908" y="1480"/>
              <a:ext cx="4422" cy="1"/>
            </a:xfrm>
            <a:custGeom>
              <a:avLst/>
              <a:gdLst>
                <a:gd name="T0" fmla="*/ 0 w 4422"/>
                <a:gd name="T1" fmla="*/ 1 h 1"/>
                <a:gd name="T2" fmla="*/ 4422 w 4422"/>
                <a:gd name="T3" fmla="*/ 0 h 1"/>
                <a:gd name="T4" fmla="*/ 0 60000 65536"/>
                <a:gd name="T5" fmla="*/ 0 60000 65536"/>
                <a:gd name="T6" fmla="*/ 0 w 4422"/>
                <a:gd name="T7" fmla="*/ 0 h 1"/>
                <a:gd name="T8" fmla="*/ 4422 w 442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22" h="1">
                  <a:moveTo>
                    <a:pt x="0" y="1"/>
                  </a:moveTo>
                  <a:lnTo>
                    <a:pt x="442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72" name="Line 102"/>
            <p:cNvSpPr>
              <a:spLocks noChangeShapeType="1"/>
            </p:cNvSpPr>
            <p:nvPr/>
          </p:nvSpPr>
          <p:spPr bwMode="auto">
            <a:xfrm>
              <a:off x="129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73" name="Line 103"/>
            <p:cNvSpPr>
              <a:spLocks noChangeShapeType="1"/>
            </p:cNvSpPr>
            <p:nvPr/>
          </p:nvSpPr>
          <p:spPr bwMode="auto">
            <a:xfrm>
              <a:off x="186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74" name="Line 104"/>
            <p:cNvSpPr>
              <a:spLocks noChangeShapeType="1"/>
            </p:cNvSpPr>
            <p:nvPr/>
          </p:nvSpPr>
          <p:spPr bwMode="auto">
            <a:xfrm>
              <a:off x="244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75" name="Line 105"/>
            <p:cNvSpPr>
              <a:spLocks noChangeShapeType="1"/>
            </p:cNvSpPr>
            <p:nvPr/>
          </p:nvSpPr>
          <p:spPr bwMode="auto">
            <a:xfrm>
              <a:off x="3020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76" name="Line 106"/>
            <p:cNvSpPr>
              <a:spLocks noChangeShapeType="1"/>
            </p:cNvSpPr>
            <p:nvPr/>
          </p:nvSpPr>
          <p:spPr bwMode="auto">
            <a:xfrm>
              <a:off x="3596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77" name="Line 107"/>
            <p:cNvSpPr>
              <a:spLocks noChangeShapeType="1"/>
            </p:cNvSpPr>
            <p:nvPr/>
          </p:nvSpPr>
          <p:spPr bwMode="auto">
            <a:xfrm>
              <a:off x="417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78" name="Line 108"/>
            <p:cNvSpPr>
              <a:spLocks noChangeShapeType="1"/>
            </p:cNvSpPr>
            <p:nvPr/>
          </p:nvSpPr>
          <p:spPr bwMode="auto">
            <a:xfrm>
              <a:off x="474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79" name="Line 109"/>
            <p:cNvSpPr>
              <a:spLocks noChangeShapeType="1"/>
            </p:cNvSpPr>
            <p:nvPr/>
          </p:nvSpPr>
          <p:spPr bwMode="auto">
            <a:xfrm>
              <a:off x="532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80" name="Freeform 110"/>
            <p:cNvSpPr/>
            <p:nvPr/>
          </p:nvSpPr>
          <p:spPr bwMode="auto">
            <a:xfrm>
              <a:off x="908" y="2056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  <a:gd name="T6" fmla="*/ 0 w 4418"/>
                <a:gd name="T7" fmla="*/ 0 h 1"/>
                <a:gd name="T8" fmla="*/ 4418 w 441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81" name="Line 111"/>
            <p:cNvSpPr>
              <a:spLocks noChangeShapeType="1"/>
            </p:cNvSpPr>
            <p:nvPr/>
          </p:nvSpPr>
          <p:spPr bwMode="auto">
            <a:xfrm>
              <a:off x="129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82" name="Line 112"/>
            <p:cNvSpPr>
              <a:spLocks noChangeShapeType="1"/>
            </p:cNvSpPr>
            <p:nvPr/>
          </p:nvSpPr>
          <p:spPr bwMode="auto">
            <a:xfrm>
              <a:off x="186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83" name="Line 113"/>
            <p:cNvSpPr>
              <a:spLocks noChangeShapeType="1"/>
            </p:cNvSpPr>
            <p:nvPr/>
          </p:nvSpPr>
          <p:spPr bwMode="auto">
            <a:xfrm>
              <a:off x="244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84" name="Line 114"/>
            <p:cNvSpPr>
              <a:spLocks noChangeShapeType="1"/>
            </p:cNvSpPr>
            <p:nvPr/>
          </p:nvSpPr>
          <p:spPr bwMode="auto">
            <a:xfrm>
              <a:off x="3020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85" name="Line 115"/>
            <p:cNvSpPr>
              <a:spLocks noChangeShapeType="1"/>
            </p:cNvSpPr>
            <p:nvPr/>
          </p:nvSpPr>
          <p:spPr bwMode="auto">
            <a:xfrm>
              <a:off x="3596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86" name="Line 116"/>
            <p:cNvSpPr>
              <a:spLocks noChangeShapeType="1"/>
            </p:cNvSpPr>
            <p:nvPr/>
          </p:nvSpPr>
          <p:spPr bwMode="auto">
            <a:xfrm>
              <a:off x="417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87" name="Line 117"/>
            <p:cNvSpPr>
              <a:spLocks noChangeShapeType="1"/>
            </p:cNvSpPr>
            <p:nvPr/>
          </p:nvSpPr>
          <p:spPr bwMode="auto">
            <a:xfrm>
              <a:off x="474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88" name="Line 118"/>
            <p:cNvSpPr>
              <a:spLocks noChangeShapeType="1"/>
            </p:cNvSpPr>
            <p:nvPr/>
          </p:nvSpPr>
          <p:spPr bwMode="auto">
            <a:xfrm>
              <a:off x="532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89" name="Freeform 119"/>
            <p:cNvSpPr/>
            <p:nvPr/>
          </p:nvSpPr>
          <p:spPr bwMode="auto">
            <a:xfrm>
              <a:off x="909" y="2879"/>
              <a:ext cx="3860" cy="1"/>
            </a:xfrm>
            <a:custGeom>
              <a:avLst/>
              <a:gdLst>
                <a:gd name="T0" fmla="*/ 0 w 3860"/>
                <a:gd name="T1" fmla="*/ 1 h 1"/>
                <a:gd name="T2" fmla="*/ 3860 w 3860"/>
                <a:gd name="T3" fmla="*/ 0 h 1"/>
                <a:gd name="T4" fmla="*/ 0 60000 65536"/>
                <a:gd name="T5" fmla="*/ 0 60000 65536"/>
                <a:gd name="T6" fmla="*/ 0 w 3860"/>
                <a:gd name="T7" fmla="*/ 0 h 1"/>
                <a:gd name="T8" fmla="*/ 3860 w 386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860" h="1">
                  <a:moveTo>
                    <a:pt x="0" y="1"/>
                  </a:moveTo>
                  <a:lnTo>
                    <a:pt x="386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90" name="Freeform 120"/>
            <p:cNvSpPr/>
            <p:nvPr/>
          </p:nvSpPr>
          <p:spPr bwMode="auto">
            <a:xfrm>
              <a:off x="912" y="3209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  <a:gd name="T6" fmla="*/ 0 w 4418"/>
                <a:gd name="T7" fmla="*/ 0 h 1"/>
                <a:gd name="T8" fmla="*/ 4418 w 441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91" name="Rectangle 121"/>
            <p:cNvSpPr>
              <a:spLocks noChangeArrowheads="1"/>
            </p:cNvSpPr>
            <p:nvPr/>
          </p:nvSpPr>
          <p:spPr bwMode="auto">
            <a:xfrm>
              <a:off x="114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6092" name="Text Box 122"/>
            <p:cNvSpPr txBox="1">
              <a:spLocks noChangeArrowheads="1"/>
            </p:cNvSpPr>
            <p:nvPr/>
          </p:nvSpPr>
          <p:spPr bwMode="auto">
            <a:xfrm>
              <a:off x="1172" y="3576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</a:p>
          </p:txBody>
        </p:sp>
        <p:sp>
          <p:nvSpPr>
            <p:cNvPr id="126093" name="Freeform 123"/>
            <p:cNvSpPr/>
            <p:nvPr/>
          </p:nvSpPr>
          <p:spPr bwMode="auto">
            <a:xfrm>
              <a:off x="1402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94" name="Freeform 124"/>
            <p:cNvSpPr/>
            <p:nvPr/>
          </p:nvSpPr>
          <p:spPr bwMode="auto">
            <a:xfrm>
              <a:off x="1613" y="1211"/>
              <a:ext cx="169" cy="1469"/>
            </a:xfrm>
            <a:custGeom>
              <a:avLst/>
              <a:gdLst>
                <a:gd name="T0" fmla="*/ 169 w 169"/>
                <a:gd name="T1" fmla="*/ 1468 h 1469"/>
                <a:gd name="T2" fmla="*/ 0 w 169"/>
                <a:gd name="T3" fmla="*/ 1469 h 1469"/>
                <a:gd name="T4" fmla="*/ 1 w 169"/>
                <a:gd name="T5" fmla="*/ 0 h 1469"/>
                <a:gd name="T6" fmla="*/ 105 w 16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9"/>
                <a:gd name="T13" fmla="*/ 0 h 1469"/>
                <a:gd name="T14" fmla="*/ 169 w 169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9" h="1469">
                  <a:moveTo>
                    <a:pt x="169" y="1468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95" name="Freeform 125"/>
            <p:cNvSpPr/>
            <p:nvPr/>
          </p:nvSpPr>
          <p:spPr bwMode="auto">
            <a:xfrm>
              <a:off x="1967" y="1211"/>
              <a:ext cx="141" cy="1466"/>
            </a:xfrm>
            <a:custGeom>
              <a:avLst/>
              <a:gdLst>
                <a:gd name="T0" fmla="*/ 38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1"/>
                <a:gd name="T13" fmla="*/ 0 h 1466"/>
                <a:gd name="T14" fmla="*/ 141 w 141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1" h="1466">
                  <a:moveTo>
                    <a:pt x="38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96" name="Freeform 126"/>
            <p:cNvSpPr/>
            <p:nvPr/>
          </p:nvSpPr>
          <p:spPr bwMode="auto">
            <a:xfrm>
              <a:off x="2208" y="1211"/>
              <a:ext cx="155" cy="1467"/>
            </a:xfrm>
            <a:custGeom>
              <a:avLst/>
              <a:gdLst>
                <a:gd name="T0" fmla="*/ 155 w 155"/>
                <a:gd name="T1" fmla="*/ 1467 h 1467"/>
                <a:gd name="T2" fmla="*/ 3 w 155"/>
                <a:gd name="T3" fmla="*/ 1467 h 1467"/>
                <a:gd name="T4" fmla="*/ 0 w 155"/>
                <a:gd name="T5" fmla="*/ 1 h 1467"/>
                <a:gd name="T6" fmla="*/ 89 w 155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5"/>
                <a:gd name="T13" fmla="*/ 0 h 1467"/>
                <a:gd name="T14" fmla="*/ 155 w 155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5" h="1467">
                  <a:moveTo>
                    <a:pt x="155" y="1467"/>
                  </a:moveTo>
                  <a:lnTo>
                    <a:pt x="3" y="1467"/>
                  </a:lnTo>
                  <a:lnTo>
                    <a:pt x="0" y="1"/>
                  </a:lnTo>
                  <a:lnTo>
                    <a:pt x="89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97" name="Freeform 127"/>
            <p:cNvSpPr/>
            <p:nvPr/>
          </p:nvSpPr>
          <p:spPr bwMode="auto">
            <a:xfrm>
              <a:off x="2557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4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2"/>
                <a:gd name="T13" fmla="*/ 0 h 1466"/>
                <a:gd name="T14" fmla="*/ 142 w 142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4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98" name="Freeform 128"/>
            <p:cNvSpPr/>
            <p:nvPr/>
          </p:nvSpPr>
          <p:spPr bwMode="auto">
            <a:xfrm>
              <a:off x="2787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77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7"/>
                <a:gd name="T14" fmla="*/ 152 w 152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7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099" name="Freeform 129"/>
            <p:cNvSpPr/>
            <p:nvPr/>
          </p:nvSpPr>
          <p:spPr bwMode="auto">
            <a:xfrm>
              <a:off x="3130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00" name="Freeform 130"/>
            <p:cNvSpPr/>
            <p:nvPr/>
          </p:nvSpPr>
          <p:spPr bwMode="auto">
            <a:xfrm>
              <a:off x="3360" y="1209"/>
              <a:ext cx="155" cy="1469"/>
            </a:xfrm>
            <a:custGeom>
              <a:avLst/>
              <a:gdLst>
                <a:gd name="T0" fmla="*/ 155 w 155"/>
                <a:gd name="T1" fmla="*/ 1469 h 1469"/>
                <a:gd name="T2" fmla="*/ 3 w 155"/>
                <a:gd name="T3" fmla="*/ 1469 h 1469"/>
                <a:gd name="T4" fmla="*/ 0 w 155"/>
                <a:gd name="T5" fmla="*/ 0 h 1469"/>
                <a:gd name="T6" fmla="*/ 103 w 155"/>
                <a:gd name="T7" fmla="*/ 2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5"/>
                <a:gd name="T13" fmla="*/ 0 h 1469"/>
                <a:gd name="T14" fmla="*/ 155 w 155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5" h="1469">
                  <a:moveTo>
                    <a:pt x="155" y="1469"/>
                  </a:moveTo>
                  <a:lnTo>
                    <a:pt x="3" y="1469"/>
                  </a:lnTo>
                  <a:lnTo>
                    <a:pt x="0" y="0"/>
                  </a:lnTo>
                  <a:lnTo>
                    <a:pt x="103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01" name="Freeform 131"/>
            <p:cNvSpPr/>
            <p:nvPr/>
          </p:nvSpPr>
          <p:spPr bwMode="auto">
            <a:xfrm>
              <a:off x="3710" y="1211"/>
              <a:ext cx="141" cy="1466"/>
            </a:xfrm>
            <a:custGeom>
              <a:avLst/>
              <a:gdLst>
                <a:gd name="T0" fmla="*/ 42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1"/>
                <a:gd name="T13" fmla="*/ 0 h 1466"/>
                <a:gd name="T14" fmla="*/ 141 w 141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1" h="1466">
                  <a:moveTo>
                    <a:pt x="42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02" name="Freeform 132"/>
            <p:cNvSpPr/>
            <p:nvPr/>
          </p:nvSpPr>
          <p:spPr bwMode="auto">
            <a:xfrm>
              <a:off x="3939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103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7"/>
                <a:gd name="T14" fmla="*/ 152 w 152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103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03" name="Freeform 133"/>
            <p:cNvSpPr/>
            <p:nvPr/>
          </p:nvSpPr>
          <p:spPr bwMode="auto">
            <a:xfrm>
              <a:off x="4280" y="1211"/>
              <a:ext cx="147" cy="1466"/>
            </a:xfrm>
            <a:custGeom>
              <a:avLst/>
              <a:gdLst>
                <a:gd name="T0" fmla="*/ 51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7"/>
                <a:gd name="T13" fmla="*/ 0 h 1466"/>
                <a:gd name="T14" fmla="*/ 147 w 147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7" h="1466">
                  <a:moveTo>
                    <a:pt x="51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04" name="Freeform 134"/>
            <p:cNvSpPr/>
            <p:nvPr/>
          </p:nvSpPr>
          <p:spPr bwMode="auto">
            <a:xfrm>
              <a:off x="4509" y="1211"/>
              <a:ext cx="158" cy="1467"/>
            </a:xfrm>
            <a:custGeom>
              <a:avLst/>
              <a:gdLst>
                <a:gd name="T0" fmla="*/ 158 w 158"/>
                <a:gd name="T1" fmla="*/ 1467 h 1467"/>
                <a:gd name="T2" fmla="*/ 0 w 158"/>
                <a:gd name="T3" fmla="*/ 1467 h 1467"/>
                <a:gd name="T4" fmla="*/ 0 w 158"/>
                <a:gd name="T5" fmla="*/ 0 h 1467"/>
                <a:gd name="T6" fmla="*/ 95 w 158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8"/>
                <a:gd name="T13" fmla="*/ 0 h 1467"/>
                <a:gd name="T14" fmla="*/ 158 w 158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8" h="1467">
                  <a:moveTo>
                    <a:pt x="158" y="1467"/>
                  </a:moveTo>
                  <a:lnTo>
                    <a:pt x="0" y="1467"/>
                  </a:lnTo>
                  <a:lnTo>
                    <a:pt x="0" y="0"/>
                  </a:lnTo>
                  <a:lnTo>
                    <a:pt x="9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05" name="Freeform 135"/>
            <p:cNvSpPr/>
            <p:nvPr/>
          </p:nvSpPr>
          <p:spPr bwMode="auto">
            <a:xfrm>
              <a:off x="4861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2"/>
                <a:gd name="T13" fmla="*/ 0 h 1466"/>
                <a:gd name="T14" fmla="*/ 142 w 142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06" name="Freeform 136"/>
            <p:cNvSpPr/>
            <p:nvPr/>
          </p:nvSpPr>
          <p:spPr bwMode="auto">
            <a:xfrm>
              <a:off x="5069" y="1211"/>
              <a:ext cx="159" cy="1469"/>
            </a:xfrm>
            <a:custGeom>
              <a:avLst/>
              <a:gdLst>
                <a:gd name="T0" fmla="*/ 159 w 159"/>
                <a:gd name="T1" fmla="*/ 1467 h 1469"/>
                <a:gd name="T2" fmla="*/ 0 w 159"/>
                <a:gd name="T3" fmla="*/ 1469 h 1469"/>
                <a:gd name="T4" fmla="*/ 1 w 159"/>
                <a:gd name="T5" fmla="*/ 0 h 1469"/>
                <a:gd name="T6" fmla="*/ 104 w 15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9"/>
                <a:gd name="T13" fmla="*/ 0 h 1469"/>
                <a:gd name="T14" fmla="*/ 159 w 159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9" h="1469">
                  <a:moveTo>
                    <a:pt x="159" y="1467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4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07" name="Freeform 137"/>
            <p:cNvSpPr/>
            <p:nvPr/>
          </p:nvSpPr>
          <p:spPr bwMode="auto">
            <a:xfrm>
              <a:off x="5417" y="1211"/>
              <a:ext cx="147" cy="1466"/>
            </a:xfrm>
            <a:custGeom>
              <a:avLst/>
              <a:gdLst>
                <a:gd name="T0" fmla="*/ 47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7"/>
                <a:gd name="T13" fmla="*/ 0 h 1466"/>
                <a:gd name="T14" fmla="*/ 147 w 147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7" h="1466">
                  <a:moveTo>
                    <a:pt x="47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08" name="Freeform 138"/>
            <p:cNvSpPr/>
            <p:nvPr/>
          </p:nvSpPr>
          <p:spPr bwMode="auto">
            <a:xfrm>
              <a:off x="1055" y="2738"/>
              <a:ext cx="730" cy="660"/>
            </a:xfrm>
            <a:custGeom>
              <a:avLst/>
              <a:gdLst>
                <a:gd name="T0" fmla="*/ 160 w 730"/>
                <a:gd name="T1" fmla="*/ 4 h 660"/>
                <a:gd name="T2" fmla="*/ 0 w 730"/>
                <a:gd name="T3" fmla="*/ 3 h 660"/>
                <a:gd name="T4" fmla="*/ 0 w 730"/>
                <a:gd name="T5" fmla="*/ 660 h 660"/>
                <a:gd name="T6" fmla="*/ 558 w 730"/>
                <a:gd name="T7" fmla="*/ 657 h 660"/>
                <a:gd name="T8" fmla="*/ 558 w 730"/>
                <a:gd name="T9" fmla="*/ 0 h 660"/>
                <a:gd name="T10" fmla="*/ 730 w 730"/>
                <a:gd name="T11" fmla="*/ 1 h 6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30"/>
                <a:gd name="T19" fmla="*/ 0 h 660"/>
                <a:gd name="T20" fmla="*/ 730 w 730"/>
                <a:gd name="T21" fmla="*/ 660 h 6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30" h="660">
                  <a:moveTo>
                    <a:pt x="160" y="4"/>
                  </a:moveTo>
                  <a:lnTo>
                    <a:pt x="0" y="3"/>
                  </a:lnTo>
                  <a:lnTo>
                    <a:pt x="0" y="660"/>
                  </a:lnTo>
                  <a:lnTo>
                    <a:pt x="558" y="657"/>
                  </a:lnTo>
                  <a:lnTo>
                    <a:pt x="558" y="0"/>
                  </a:lnTo>
                  <a:lnTo>
                    <a:pt x="730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09" name="Freeform 139"/>
            <p:cNvSpPr/>
            <p:nvPr/>
          </p:nvSpPr>
          <p:spPr bwMode="auto">
            <a:xfrm>
              <a:off x="2207" y="2744"/>
              <a:ext cx="729" cy="658"/>
            </a:xfrm>
            <a:custGeom>
              <a:avLst/>
              <a:gdLst>
                <a:gd name="T0" fmla="*/ 153 w 729"/>
                <a:gd name="T1" fmla="*/ 0 h 658"/>
                <a:gd name="T2" fmla="*/ 0 w 729"/>
                <a:gd name="T3" fmla="*/ 0 h 658"/>
                <a:gd name="T4" fmla="*/ 0 w 729"/>
                <a:gd name="T5" fmla="*/ 657 h 658"/>
                <a:gd name="T6" fmla="*/ 583 w 729"/>
                <a:gd name="T7" fmla="*/ 658 h 658"/>
                <a:gd name="T8" fmla="*/ 582 w 729"/>
                <a:gd name="T9" fmla="*/ 3 h 658"/>
                <a:gd name="T10" fmla="*/ 729 w 729"/>
                <a:gd name="T11" fmla="*/ 3 h 6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8"/>
                <a:gd name="T20" fmla="*/ 729 w 729"/>
                <a:gd name="T21" fmla="*/ 658 h 65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8">
                  <a:moveTo>
                    <a:pt x="153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83" y="658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10" name="Freeform 140"/>
            <p:cNvSpPr/>
            <p:nvPr/>
          </p:nvSpPr>
          <p:spPr bwMode="auto">
            <a:xfrm>
              <a:off x="3356" y="2744"/>
              <a:ext cx="729" cy="657"/>
            </a:xfrm>
            <a:custGeom>
              <a:avLst/>
              <a:gdLst>
                <a:gd name="T0" fmla="*/ 158 w 729"/>
                <a:gd name="T1" fmla="*/ 0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7"/>
                <a:gd name="T20" fmla="*/ 729 w 729"/>
                <a:gd name="T21" fmla="*/ 657 h 65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7">
                  <a:moveTo>
                    <a:pt x="158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11" name="Freeform 141"/>
            <p:cNvSpPr/>
            <p:nvPr/>
          </p:nvSpPr>
          <p:spPr bwMode="auto">
            <a:xfrm>
              <a:off x="4508" y="2744"/>
              <a:ext cx="729" cy="657"/>
            </a:xfrm>
            <a:custGeom>
              <a:avLst/>
              <a:gdLst>
                <a:gd name="T0" fmla="*/ 161 w 729"/>
                <a:gd name="T1" fmla="*/ 2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7"/>
                <a:gd name="T20" fmla="*/ 729 w 729"/>
                <a:gd name="T21" fmla="*/ 657 h 65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7">
                  <a:moveTo>
                    <a:pt x="161" y="2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12" name="Freeform 142"/>
            <p:cNvSpPr/>
            <p:nvPr/>
          </p:nvSpPr>
          <p:spPr bwMode="auto">
            <a:xfrm>
              <a:off x="1400" y="2735"/>
              <a:ext cx="708" cy="571"/>
            </a:xfrm>
            <a:custGeom>
              <a:avLst/>
              <a:gdLst>
                <a:gd name="T0" fmla="*/ 0 w 708"/>
                <a:gd name="T1" fmla="*/ 0 h 571"/>
                <a:gd name="T2" fmla="*/ 132 w 708"/>
                <a:gd name="T3" fmla="*/ 0 h 571"/>
                <a:gd name="T4" fmla="*/ 133 w 708"/>
                <a:gd name="T5" fmla="*/ 571 h 571"/>
                <a:gd name="T6" fmla="*/ 708 w 708"/>
                <a:gd name="T7" fmla="*/ 570 h 571"/>
                <a:gd name="T8" fmla="*/ 708 w 708"/>
                <a:gd name="T9" fmla="*/ 9 h 571"/>
                <a:gd name="T10" fmla="*/ 573 w 708"/>
                <a:gd name="T11" fmla="*/ 9 h 5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08"/>
                <a:gd name="T19" fmla="*/ 0 h 571"/>
                <a:gd name="T20" fmla="*/ 708 w 708"/>
                <a:gd name="T21" fmla="*/ 571 h 57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08" h="571">
                  <a:moveTo>
                    <a:pt x="0" y="0"/>
                  </a:moveTo>
                  <a:lnTo>
                    <a:pt x="132" y="0"/>
                  </a:lnTo>
                  <a:lnTo>
                    <a:pt x="133" y="571"/>
                  </a:lnTo>
                  <a:lnTo>
                    <a:pt x="708" y="570"/>
                  </a:lnTo>
                  <a:lnTo>
                    <a:pt x="708" y="9"/>
                  </a:lnTo>
                  <a:lnTo>
                    <a:pt x="573" y="9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13" name="Freeform 143"/>
            <p:cNvSpPr/>
            <p:nvPr/>
          </p:nvSpPr>
          <p:spPr bwMode="auto">
            <a:xfrm>
              <a:off x="2552" y="2735"/>
              <a:ext cx="726" cy="567"/>
            </a:xfrm>
            <a:custGeom>
              <a:avLst/>
              <a:gdLst>
                <a:gd name="T0" fmla="*/ 0 w 726"/>
                <a:gd name="T1" fmla="*/ 0 h 567"/>
                <a:gd name="T2" fmla="*/ 148 w 726"/>
                <a:gd name="T3" fmla="*/ 1 h 567"/>
                <a:gd name="T4" fmla="*/ 147 w 726"/>
                <a:gd name="T5" fmla="*/ 567 h 567"/>
                <a:gd name="T6" fmla="*/ 726 w 726"/>
                <a:gd name="T7" fmla="*/ 567 h 567"/>
                <a:gd name="T8" fmla="*/ 726 w 726"/>
                <a:gd name="T9" fmla="*/ 6 h 567"/>
                <a:gd name="T10" fmla="*/ 579 w 726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6"/>
                <a:gd name="T19" fmla="*/ 0 h 567"/>
                <a:gd name="T20" fmla="*/ 726 w 726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6" h="567">
                  <a:moveTo>
                    <a:pt x="0" y="0"/>
                  </a:moveTo>
                  <a:lnTo>
                    <a:pt x="148" y="1"/>
                  </a:lnTo>
                  <a:lnTo>
                    <a:pt x="147" y="567"/>
                  </a:lnTo>
                  <a:lnTo>
                    <a:pt x="726" y="567"/>
                  </a:lnTo>
                  <a:lnTo>
                    <a:pt x="726" y="6"/>
                  </a:lnTo>
                  <a:lnTo>
                    <a:pt x="579" y="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14" name="Freeform 144"/>
            <p:cNvSpPr/>
            <p:nvPr/>
          </p:nvSpPr>
          <p:spPr bwMode="auto">
            <a:xfrm>
              <a:off x="3704" y="2738"/>
              <a:ext cx="714" cy="567"/>
            </a:xfrm>
            <a:custGeom>
              <a:avLst/>
              <a:gdLst>
                <a:gd name="T0" fmla="*/ 0 w 714"/>
                <a:gd name="T1" fmla="*/ 0 h 567"/>
                <a:gd name="T2" fmla="*/ 136 w 714"/>
                <a:gd name="T3" fmla="*/ 1 h 567"/>
                <a:gd name="T4" fmla="*/ 135 w 714"/>
                <a:gd name="T5" fmla="*/ 567 h 567"/>
                <a:gd name="T6" fmla="*/ 714 w 714"/>
                <a:gd name="T7" fmla="*/ 567 h 567"/>
                <a:gd name="T8" fmla="*/ 714 w 714"/>
                <a:gd name="T9" fmla="*/ 6 h 567"/>
                <a:gd name="T10" fmla="*/ 576 w 714"/>
                <a:gd name="T11" fmla="*/ 5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4"/>
                <a:gd name="T19" fmla="*/ 0 h 567"/>
                <a:gd name="T20" fmla="*/ 714 w 714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4" h="567">
                  <a:moveTo>
                    <a:pt x="0" y="0"/>
                  </a:moveTo>
                  <a:lnTo>
                    <a:pt x="136" y="1"/>
                  </a:lnTo>
                  <a:lnTo>
                    <a:pt x="135" y="567"/>
                  </a:lnTo>
                  <a:lnTo>
                    <a:pt x="714" y="567"/>
                  </a:lnTo>
                  <a:lnTo>
                    <a:pt x="714" y="6"/>
                  </a:lnTo>
                  <a:lnTo>
                    <a:pt x="576" y="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15" name="Freeform 145"/>
            <p:cNvSpPr/>
            <p:nvPr/>
          </p:nvSpPr>
          <p:spPr bwMode="auto">
            <a:xfrm>
              <a:off x="4859" y="2738"/>
              <a:ext cx="711" cy="567"/>
            </a:xfrm>
            <a:custGeom>
              <a:avLst/>
              <a:gdLst>
                <a:gd name="T0" fmla="*/ 0 w 711"/>
                <a:gd name="T1" fmla="*/ 0 h 567"/>
                <a:gd name="T2" fmla="*/ 130 w 711"/>
                <a:gd name="T3" fmla="*/ 1 h 567"/>
                <a:gd name="T4" fmla="*/ 132 w 711"/>
                <a:gd name="T5" fmla="*/ 567 h 567"/>
                <a:gd name="T6" fmla="*/ 711 w 711"/>
                <a:gd name="T7" fmla="*/ 567 h 567"/>
                <a:gd name="T8" fmla="*/ 711 w 711"/>
                <a:gd name="T9" fmla="*/ 6 h 567"/>
                <a:gd name="T10" fmla="*/ 564 w 711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1"/>
                <a:gd name="T19" fmla="*/ 0 h 567"/>
                <a:gd name="T20" fmla="*/ 711 w 711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1" h="567">
                  <a:moveTo>
                    <a:pt x="0" y="0"/>
                  </a:moveTo>
                  <a:lnTo>
                    <a:pt x="130" y="1"/>
                  </a:lnTo>
                  <a:lnTo>
                    <a:pt x="132" y="567"/>
                  </a:lnTo>
                  <a:lnTo>
                    <a:pt x="711" y="567"/>
                  </a:lnTo>
                  <a:lnTo>
                    <a:pt x="711" y="6"/>
                  </a:lnTo>
                  <a:lnTo>
                    <a:pt x="564" y="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16" name="Freeform 146"/>
            <p:cNvSpPr/>
            <p:nvPr/>
          </p:nvSpPr>
          <p:spPr bwMode="auto">
            <a:xfrm>
              <a:off x="1322" y="3398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17" name="Freeform 147"/>
            <p:cNvSpPr/>
            <p:nvPr/>
          </p:nvSpPr>
          <p:spPr bwMode="auto">
            <a:xfrm>
              <a:off x="2491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18" name="Freeform 148"/>
            <p:cNvSpPr/>
            <p:nvPr/>
          </p:nvSpPr>
          <p:spPr bwMode="auto">
            <a:xfrm>
              <a:off x="3643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19" name="Freeform 149"/>
            <p:cNvSpPr/>
            <p:nvPr/>
          </p:nvSpPr>
          <p:spPr bwMode="auto">
            <a:xfrm>
              <a:off x="4795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20" name="Freeform 150"/>
            <p:cNvSpPr/>
            <p:nvPr/>
          </p:nvSpPr>
          <p:spPr bwMode="auto">
            <a:xfrm>
              <a:off x="5276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21" name="Freeform 151"/>
            <p:cNvSpPr/>
            <p:nvPr/>
          </p:nvSpPr>
          <p:spPr bwMode="auto">
            <a:xfrm>
              <a:off x="4124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22" name="Freeform 152"/>
            <p:cNvSpPr/>
            <p:nvPr/>
          </p:nvSpPr>
          <p:spPr bwMode="auto">
            <a:xfrm>
              <a:off x="2972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23" name="Freeform 153"/>
            <p:cNvSpPr/>
            <p:nvPr/>
          </p:nvSpPr>
          <p:spPr bwMode="auto">
            <a:xfrm>
              <a:off x="1819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24" name="Freeform 154"/>
            <p:cNvSpPr/>
            <p:nvPr/>
          </p:nvSpPr>
          <p:spPr bwMode="auto">
            <a:xfrm>
              <a:off x="956" y="4025"/>
              <a:ext cx="4317" cy="1"/>
            </a:xfrm>
            <a:custGeom>
              <a:avLst/>
              <a:gdLst>
                <a:gd name="T0" fmla="*/ 0 w 4317"/>
                <a:gd name="T1" fmla="*/ 0 h 1"/>
                <a:gd name="T2" fmla="*/ 4317 w 4317"/>
                <a:gd name="T3" fmla="*/ 0 h 1"/>
                <a:gd name="T4" fmla="*/ 0 60000 65536"/>
                <a:gd name="T5" fmla="*/ 0 60000 65536"/>
                <a:gd name="T6" fmla="*/ 0 w 4317"/>
                <a:gd name="T7" fmla="*/ 0 h 1"/>
                <a:gd name="T8" fmla="*/ 4317 w 431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317" h="1">
                  <a:moveTo>
                    <a:pt x="0" y="0"/>
                  </a:moveTo>
                  <a:lnTo>
                    <a:pt x="431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25" name="Freeform 155"/>
            <p:cNvSpPr/>
            <p:nvPr/>
          </p:nvSpPr>
          <p:spPr bwMode="auto">
            <a:xfrm>
              <a:off x="956" y="4121"/>
              <a:ext cx="3837" cy="1"/>
            </a:xfrm>
            <a:custGeom>
              <a:avLst/>
              <a:gdLst>
                <a:gd name="T0" fmla="*/ 0 w 3837"/>
                <a:gd name="T1" fmla="*/ 0 h 1"/>
                <a:gd name="T2" fmla="*/ 3837 w 3837"/>
                <a:gd name="T3" fmla="*/ 0 h 1"/>
                <a:gd name="T4" fmla="*/ 0 60000 65536"/>
                <a:gd name="T5" fmla="*/ 0 60000 65536"/>
                <a:gd name="T6" fmla="*/ 0 w 3837"/>
                <a:gd name="T7" fmla="*/ 0 h 1"/>
                <a:gd name="T8" fmla="*/ 3837 w 383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837" h="1">
                  <a:moveTo>
                    <a:pt x="0" y="0"/>
                  </a:moveTo>
                  <a:lnTo>
                    <a:pt x="383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26" name="Freeform 156"/>
            <p:cNvSpPr/>
            <p:nvPr/>
          </p:nvSpPr>
          <p:spPr bwMode="auto">
            <a:xfrm>
              <a:off x="1322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27" name="Freeform 157"/>
            <p:cNvSpPr/>
            <p:nvPr/>
          </p:nvSpPr>
          <p:spPr bwMode="auto">
            <a:xfrm>
              <a:off x="2491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28" name="Freeform 158"/>
            <p:cNvSpPr/>
            <p:nvPr/>
          </p:nvSpPr>
          <p:spPr bwMode="auto">
            <a:xfrm>
              <a:off x="3643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29" name="Freeform 159"/>
            <p:cNvSpPr/>
            <p:nvPr/>
          </p:nvSpPr>
          <p:spPr bwMode="auto">
            <a:xfrm>
              <a:off x="4791" y="3881"/>
              <a:ext cx="4" cy="247"/>
            </a:xfrm>
            <a:custGeom>
              <a:avLst/>
              <a:gdLst>
                <a:gd name="T0" fmla="*/ 4 w 4"/>
                <a:gd name="T1" fmla="*/ 0 h 247"/>
                <a:gd name="T2" fmla="*/ 0 w 4"/>
                <a:gd name="T3" fmla="*/ 247 h 247"/>
                <a:gd name="T4" fmla="*/ 0 60000 65536"/>
                <a:gd name="T5" fmla="*/ 0 60000 65536"/>
                <a:gd name="T6" fmla="*/ 0 w 4"/>
                <a:gd name="T7" fmla="*/ 0 h 247"/>
                <a:gd name="T8" fmla="*/ 4 w 4"/>
                <a:gd name="T9" fmla="*/ 247 h 24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247">
                  <a:moveTo>
                    <a:pt x="4" y="0"/>
                  </a:moveTo>
                  <a:lnTo>
                    <a:pt x="0" y="247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30" name="Freeform 160"/>
            <p:cNvSpPr/>
            <p:nvPr/>
          </p:nvSpPr>
          <p:spPr bwMode="auto">
            <a:xfrm>
              <a:off x="5277" y="3881"/>
              <a:ext cx="1" cy="151"/>
            </a:xfrm>
            <a:custGeom>
              <a:avLst/>
              <a:gdLst>
                <a:gd name="T0" fmla="*/ 0 w 1"/>
                <a:gd name="T1" fmla="*/ 0 h 151"/>
                <a:gd name="T2" fmla="*/ 0 w 1"/>
                <a:gd name="T3" fmla="*/ 151 h 151"/>
                <a:gd name="T4" fmla="*/ 0 60000 65536"/>
                <a:gd name="T5" fmla="*/ 0 60000 65536"/>
                <a:gd name="T6" fmla="*/ 0 w 1"/>
                <a:gd name="T7" fmla="*/ 0 h 151"/>
                <a:gd name="T8" fmla="*/ 1 w 1"/>
                <a:gd name="T9" fmla="*/ 151 h 15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1">
                  <a:moveTo>
                    <a:pt x="0" y="0"/>
                  </a:moveTo>
                  <a:lnTo>
                    <a:pt x="0" y="15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31" name="Line 161"/>
            <p:cNvSpPr>
              <a:spLocks noChangeShapeType="1"/>
            </p:cNvSpPr>
            <p:nvPr/>
          </p:nvSpPr>
          <p:spPr bwMode="auto">
            <a:xfrm>
              <a:off x="4124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32" name="Line 162"/>
            <p:cNvSpPr>
              <a:spLocks noChangeShapeType="1"/>
            </p:cNvSpPr>
            <p:nvPr/>
          </p:nvSpPr>
          <p:spPr bwMode="auto">
            <a:xfrm>
              <a:off x="2973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33" name="Line 163"/>
            <p:cNvSpPr>
              <a:spLocks noChangeShapeType="1"/>
            </p:cNvSpPr>
            <p:nvPr/>
          </p:nvSpPr>
          <p:spPr bwMode="auto">
            <a:xfrm>
              <a:off x="1820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34" name="Rectangle 164"/>
            <p:cNvSpPr>
              <a:spLocks noChangeArrowheads="1"/>
            </p:cNvSpPr>
            <p:nvPr/>
          </p:nvSpPr>
          <p:spPr bwMode="auto">
            <a:xfrm>
              <a:off x="2317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6135" name="Text Box 165"/>
            <p:cNvSpPr txBox="1">
              <a:spLocks noChangeArrowheads="1"/>
            </p:cNvSpPr>
            <p:nvPr/>
          </p:nvSpPr>
          <p:spPr bwMode="auto">
            <a:xfrm>
              <a:off x="2348" y="3576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</a:p>
          </p:txBody>
        </p:sp>
        <p:sp>
          <p:nvSpPr>
            <p:cNvPr id="126136" name="Rectangle 166"/>
            <p:cNvSpPr>
              <a:spLocks noChangeArrowheads="1"/>
            </p:cNvSpPr>
            <p:nvPr/>
          </p:nvSpPr>
          <p:spPr bwMode="auto">
            <a:xfrm>
              <a:off x="3469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6137" name="Text Box 167"/>
            <p:cNvSpPr txBox="1">
              <a:spLocks noChangeArrowheads="1"/>
            </p:cNvSpPr>
            <p:nvPr/>
          </p:nvSpPr>
          <p:spPr bwMode="auto">
            <a:xfrm>
              <a:off x="3500" y="3576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</a:p>
          </p:txBody>
        </p:sp>
        <p:sp>
          <p:nvSpPr>
            <p:cNvPr id="126138" name="Rectangle 168"/>
            <p:cNvSpPr>
              <a:spLocks noChangeArrowheads="1"/>
            </p:cNvSpPr>
            <p:nvPr/>
          </p:nvSpPr>
          <p:spPr bwMode="auto">
            <a:xfrm>
              <a:off x="462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6139" name="Text Box 169"/>
            <p:cNvSpPr txBox="1">
              <a:spLocks noChangeArrowheads="1"/>
            </p:cNvSpPr>
            <p:nvPr/>
          </p:nvSpPr>
          <p:spPr bwMode="auto">
            <a:xfrm>
              <a:off x="4652" y="3576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</a:p>
          </p:txBody>
        </p:sp>
        <p:sp>
          <p:nvSpPr>
            <p:cNvPr id="126140" name="Line 170"/>
            <p:cNvSpPr>
              <a:spLocks noChangeShapeType="1"/>
            </p:cNvSpPr>
            <p:nvPr/>
          </p:nvSpPr>
          <p:spPr bwMode="auto">
            <a:xfrm>
              <a:off x="196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41" name="Line 171"/>
            <p:cNvSpPr>
              <a:spLocks noChangeShapeType="1"/>
            </p:cNvSpPr>
            <p:nvPr/>
          </p:nvSpPr>
          <p:spPr bwMode="auto">
            <a:xfrm>
              <a:off x="314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42" name="Line 172"/>
            <p:cNvSpPr>
              <a:spLocks noChangeShapeType="1"/>
            </p:cNvSpPr>
            <p:nvPr/>
          </p:nvSpPr>
          <p:spPr bwMode="auto">
            <a:xfrm>
              <a:off x="4293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43" name="Line 173"/>
            <p:cNvSpPr>
              <a:spLocks noChangeShapeType="1"/>
            </p:cNvSpPr>
            <p:nvPr/>
          </p:nvSpPr>
          <p:spPr bwMode="auto">
            <a:xfrm>
              <a:off x="5420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44" name="Freeform 174"/>
            <p:cNvSpPr/>
            <p:nvPr/>
          </p:nvSpPr>
          <p:spPr bwMode="auto">
            <a:xfrm>
              <a:off x="3033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7711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45" name="Freeform 175"/>
            <p:cNvSpPr/>
            <p:nvPr/>
          </p:nvSpPr>
          <p:spPr bwMode="auto">
            <a:xfrm>
              <a:off x="4185" y="2691"/>
              <a:ext cx="1" cy="525"/>
            </a:xfrm>
            <a:custGeom>
              <a:avLst/>
              <a:gdLst>
                <a:gd name="T0" fmla="*/ 0 w 1"/>
                <a:gd name="T1" fmla="*/ 0 h 525"/>
                <a:gd name="T2" fmla="*/ 0 w 1"/>
                <a:gd name="T3" fmla="*/ 525 h 525"/>
                <a:gd name="T4" fmla="*/ 0 60000 65536"/>
                <a:gd name="T5" fmla="*/ 0 60000 65536"/>
                <a:gd name="T6" fmla="*/ 0 w 1"/>
                <a:gd name="T7" fmla="*/ 0 h 525"/>
                <a:gd name="T8" fmla="*/ 1 w 1"/>
                <a:gd name="T9" fmla="*/ 525 h 52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5">
                  <a:moveTo>
                    <a:pt x="0" y="0"/>
                  </a:moveTo>
                  <a:lnTo>
                    <a:pt x="0" y="52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46" name="Freeform 176"/>
            <p:cNvSpPr/>
            <p:nvPr/>
          </p:nvSpPr>
          <p:spPr bwMode="auto">
            <a:xfrm>
              <a:off x="5325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7711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47" name="Text Box 177"/>
            <p:cNvSpPr txBox="1">
              <a:spLocks noChangeArrowheads="1"/>
            </p:cNvSpPr>
            <p:nvPr/>
          </p:nvSpPr>
          <p:spPr bwMode="auto">
            <a:xfrm rot="5400000">
              <a:off x="1193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26148" name="Text Box 178"/>
            <p:cNvSpPr txBox="1">
              <a:spLocks noChangeArrowheads="1"/>
            </p:cNvSpPr>
            <p:nvPr/>
          </p:nvSpPr>
          <p:spPr bwMode="auto">
            <a:xfrm rot="5400000">
              <a:off x="1769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26149" name="Text Box 179"/>
            <p:cNvSpPr txBox="1">
              <a:spLocks noChangeArrowheads="1"/>
            </p:cNvSpPr>
            <p:nvPr/>
          </p:nvSpPr>
          <p:spPr bwMode="auto">
            <a:xfrm rot="5400000">
              <a:off x="2345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26150" name="Text Box 180"/>
            <p:cNvSpPr txBox="1">
              <a:spLocks noChangeArrowheads="1"/>
            </p:cNvSpPr>
            <p:nvPr/>
          </p:nvSpPr>
          <p:spPr bwMode="auto">
            <a:xfrm rot="5400000">
              <a:off x="2921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26151" name="Text Box 181"/>
            <p:cNvSpPr txBox="1">
              <a:spLocks noChangeArrowheads="1"/>
            </p:cNvSpPr>
            <p:nvPr/>
          </p:nvSpPr>
          <p:spPr bwMode="auto">
            <a:xfrm rot="5400000">
              <a:off x="3496" y="1627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126152" name="Text Box 182"/>
            <p:cNvSpPr txBox="1">
              <a:spLocks noChangeArrowheads="1"/>
            </p:cNvSpPr>
            <p:nvPr/>
          </p:nvSpPr>
          <p:spPr bwMode="auto">
            <a:xfrm rot="5400000">
              <a:off x="4073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126153" name="Text Box 183"/>
            <p:cNvSpPr txBox="1">
              <a:spLocks noChangeArrowheads="1"/>
            </p:cNvSpPr>
            <p:nvPr/>
          </p:nvSpPr>
          <p:spPr bwMode="auto">
            <a:xfrm rot="5400000">
              <a:off x="4649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126154" name="Text Box 184"/>
            <p:cNvSpPr txBox="1">
              <a:spLocks noChangeArrowheads="1"/>
            </p:cNvSpPr>
            <p:nvPr/>
          </p:nvSpPr>
          <p:spPr bwMode="auto">
            <a:xfrm rot="5400000">
              <a:off x="5244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126155" name="Text Box 185"/>
            <p:cNvSpPr txBox="1">
              <a:spLocks noChangeArrowheads="1"/>
            </p:cNvSpPr>
            <p:nvPr/>
          </p:nvSpPr>
          <p:spPr bwMode="auto">
            <a:xfrm>
              <a:off x="660" y="791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26156" name="Text Box 186"/>
            <p:cNvSpPr txBox="1">
              <a:spLocks noChangeArrowheads="1"/>
            </p:cNvSpPr>
            <p:nvPr/>
          </p:nvSpPr>
          <p:spPr bwMode="auto">
            <a:xfrm>
              <a:off x="660" y="1383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26157" name="Text Box 187"/>
            <p:cNvSpPr txBox="1">
              <a:spLocks noChangeArrowheads="1"/>
            </p:cNvSpPr>
            <p:nvPr/>
          </p:nvSpPr>
          <p:spPr bwMode="auto">
            <a:xfrm>
              <a:off x="624" y="1959"/>
              <a:ext cx="2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63</a:t>
              </a:r>
            </a:p>
          </p:txBody>
        </p:sp>
        <p:sp>
          <p:nvSpPr>
            <p:cNvPr id="126158" name="Line 188"/>
            <p:cNvSpPr>
              <a:spLocks noChangeShapeType="1"/>
            </p:cNvSpPr>
            <p:nvPr/>
          </p:nvSpPr>
          <p:spPr bwMode="auto">
            <a:xfrm>
              <a:off x="332" y="2537"/>
              <a:ext cx="57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59" name="Text Box 189"/>
            <p:cNvSpPr txBox="1">
              <a:spLocks noChangeArrowheads="1"/>
            </p:cNvSpPr>
            <p:nvPr/>
          </p:nvSpPr>
          <p:spPr bwMode="auto">
            <a:xfrm>
              <a:off x="660" y="2727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26160" name="Text Box 190"/>
            <p:cNvSpPr txBox="1">
              <a:spLocks noChangeArrowheads="1"/>
            </p:cNvSpPr>
            <p:nvPr/>
          </p:nvSpPr>
          <p:spPr bwMode="auto">
            <a:xfrm>
              <a:off x="624" y="3159"/>
              <a:ext cx="2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15</a:t>
              </a:r>
            </a:p>
          </p:txBody>
        </p:sp>
        <p:sp>
          <p:nvSpPr>
            <p:cNvPr id="126161" name="Text Box 191"/>
            <p:cNvSpPr txBox="1">
              <a:spLocks noChangeArrowheads="1"/>
            </p:cNvSpPr>
            <p:nvPr/>
          </p:nvSpPr>
          <p:spPr bwMode="auto">
            <a:xfrm rot="5400000">
              <a:off x="665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26162" name="Text Box 192"/>
            <p:cNvSpPr txBox="1">
              <a:spLocks noChangeArrowheads="1"/>
            </p:cNvSpPr>
            <p:nvPr/>
          </p:nvSpPr>
          <p:spPr bwMode="auto">
            <a:xfrm rot="5400000">
              <a:off x="665" y="2876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26163" name="Text Box 193"/>
            <p:cNvSpPr txBox="1">
              <a:spLocks noChangeArrowheads="1"/>
            </p:cNvSpPr>
            <p:nvPr/>
          </p:nvSpPr>
          <p:spPr bwMode="auto">
            <a:xfrm>
              <a:off x="348" y="1015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行</a:t>
              </a:r>
            </a:p>
          </p:txBody>
        </p:sp>
        <p:sp>
          <p:nvSpPr>
            <p:cNvPr id="126164" name="Text Box 194"/>
            <p:cNvSpPr txBox="1">
              <a:spLocks noChangeArrowheads="1"/>
            </p:cNvSpPr>
            <p:nvPr/>
          </p:nvSpPr>
          <p:spPr bwMode="auto">
            <a:xfrm>
              <a:off x="348" y="1263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地</a:t>
              </a:r>
            </a:p>
          </p:txBody>
        </p:sp>
        <p:sp>
          <p:nvSpPr>
            <p:cNvPr id="126165" name="Text Box 195"/>
            <p:cNvSpPr txBox="1">
              <a:spLocks noChangeArrowheads="1"/>
            </p:cNvSpPr>
            <p:nvPr/>
          </p:nvSpPr>
          <p:spPr bwMode="auto">
            <a:xfrm>
              <a:off x="348" y="1511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址</a:t>
              </a:r>
            </a:p>
          </p:txBody>
        </p:sp>
        <p:sp>
          <p:nvSpPr>
            <p:cNvPr id="126166" name="Text Box 196"/>
            <p:cNvSpPr txBox="1">
              <a:spLocks noChangeArrowheads="1"/>
            </p:cNvSpPr>
            <p:nvPr/>
          </p:nvSpPr>
          <p:spPr bwMode="auto">
            <a:xfrm>
              <a:off x="348" y="1758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译</a:t>
              </a:r>
            </a:p>
          </p:txBody>
        </p:sp>
        <p:sp>
          <p:nvSpPr>
            <p:cNvPr id="126167" name="Text Box 197"/>
            <p:cNvSpPr txBox="1">
              <a:spLocks noChangeArrowheads="1"/>
            </p:cNvSpPr>
            <p:nvPr/>
          </p:nvSpPr>
          <p:spPr bwMode="auto">
            <a:xfrm>
              <a:off x="348" y="2006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码</a:t>
              </a:r>
            </a:p>
          </p:txBody>
        </p:sp>
        <p:sp>
          <p:nvSpPr>
            <p:cNvPr id="126168" name="Text Box 198"/>
            <p:cNvSpPr txBox="1">
              <a:spLocks noChangeArrowheads="1"/>
            </p:cNvSpPr>
            <p:nvPr/>
          </p:nvSpPr>
          <p:spPr bwMode="auto">
            <a:xfrm>
              <a:off x="375" y="2635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列</a:t>
              </a:r>
            </a:p>
          </p:txBody>
        </p:sp>
        <p:sp>
          <p:nvSpPr>
            <p:cNvPr id="126169" name="Text Box 199"/>
            <p:cNvSpPr txBox="1">
              <a:spLocks noChangeArrowheads="1"/>
            </p:cNvSpPr>
            <p:nvPr/>
          </p:nvSpPr>
          <p:spPr bwMode="auto">
            <a:xfrm>
              <a:off x="375" y="2883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地</a:t>
              </a:r>
            </a:p>
          </p:txBody>
        </p:sp>
        <p:sp>
          <p:nvSpPr>
            <p:cNvPr id="126170" name="Text Box 200"/>
            <p:cNvSpPr txBox="1">
              <a:spLocks noChangeArrowheads="1"/>
            </p:cNvSpPr>
            <p:nvPr/>
          </p:nvSpPr>
          <p:spPr bwMode="auto">
            <a:xfrm>
              <a:off x="375" y="3131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址</a:t>
              </a:r>
            </a:p>
          </p:txBody>
        </p:sp>
        <p:sp>
          <p:nvSpPr>
            <p:cNvPr id="126171" name="Text Box 201"/>
            <p:cNvSpPr txBox="1">
              <a:spLocks noChangeArrowheads="1"/>
            </p:cNvSpPr>
            <p:nvPr/>
          </p:nvSpPr>
          <p:spPr bwMode="auto">
            <a:xfrm>
              <a:off x="375" y="3378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译</a:t>
              </a:r>
            </a:p>
          </p:txBody>
        </p:sp>
        <p:sp>
          <p:nvSpPr>
            <p:cNvPr id="126172" name="Text Box 202"/>
            <p:cNvSpPr txBox="1">
              <a:spLocks noChangeArrowheads="1"/>
            </p:cNvSpPr>
            <p:nvPr/>
          </p:nvSpPr>
          <p:spPr bwMode="auto">
            <a:xfrm>
              <a:off x="375" y="3626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码</a:t>
              </a:r>
            </a:p>
          </p:txBody>
        </p:sp>
        <p:sp>
          <p:nvSpPr>
            <p:cNvPr id="126173" name="Text Box 203"/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26174" name="Text Box 204"/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126175" name="Text Box 205"/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126176" name="Text Box 206"/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4</a:t>
              </a:r>
            </a:p>
          </p:txBody>
        </p:sp>
        <p:sp>
          <p:nvSpPr>
            <p:cNvPr id="126177" name="Line 207"/>
            <p:cNvSpPr>
              <a:spLocks noChangeShapeType="1"/>
            </p:cNvSpPr>
            <p:nvPr/>
          </p:nvSpPr>
          <p:spPr bwMode="auto">
            <a:xfrm>
              <a:off x="140" y="905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78" name="Line 208"/>
            <p:cNvSpPr>
              <a:spLocks noChangeShapeType="1"/>
            </p:cNvSpPr>
            <p:nvPr/>
          </p:nvSpPr>
          <p:spPr bwMode="auto">
            <a:xfrm>
              <a:off x="140" y="1164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79" name="Line 209"/>
            <p:cNvSpPr>
              <a:spLocks noChangeShapeType="1"/>
            </p:cNvSpPr>
            <p:nvPr/>
          </p:nvSpPr>
          <p:spPr bwMode="auto">
            <a:xfrm>
              <a:off x="140" y="1423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80" name="Line 210"/>
            <p:cNvSpPr>
              <a:spLocks noChangeShapeType="1"/>
            </p:cNvSpPr>
            <p:nvPr/>
          </p:nvSpPr>
          <p:spPr bwMode="auto">
            <a:xfrm>
              <a:off x="140" y="168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81" name="Line 211"/>
            <p:cNvSpPr>
              <a:spLocks noChangeShapeType="1"/>
            </p:cNvSpPr>
            <p:nvPr/>
          </p:nvSpPr>
          <p:spPr bwMode="auto">
            <a:xfrm>
              <a:off x="140" y="194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82" name="Line 212"/>
            <p:cNvSpPr>
              <a:spLocks noChangeShapeType="1"/>
            </p:cNvSpPr>
            <p:nvPr/>
          </p:nvSpPr>
          <p:spPr bwMode="auto">
            <a:xfrm>
              <a:off x="140" y="220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83" name="Line 213"/>
            <p:cNvSpPr>
              <a:spLocks noChangeShapeType="1"/>
            </p:cNvSpPr>
            <p:nvPr/>
          </p:nvSpPr>
          <p:spPr bwMode="auto">
            <a:xfrm>
              <a:off x="140" y="28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84" name="Line 214"/>
            <p:cNvSpPr>
              <a:spLocks noChangeShapeType="1"/>
            </p:cNvSpPr>
            <p:nvPr/>
          </p:nvSpPr>
          <p:spPr bwMode="auto">
            <a:xfrm>
              <a:off x="140" y="313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85" name="Line 215"/>
            <p:cNvSpPr>
              <a:spLocks noChangeShapeType="1"/>
            </p:cNvSpPr>
            <p:nvPr/>
          </p:nvSpPr>
          <p:spPr bwMode="auto">
            <a:xfrm>
              <a:off x="140" y="339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86" name="Line 216"/>
            <p:cNvSpPr>
              <a:spLocks noChangeShapeType="1"/>
            </p:cNvSpPr>
            <p:nvPr/>
          </p:nvSpPr>
          <p:spPr bwMode="auto">
            <a:xfrm>
              <a:off x="140" y="365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87" name="Text Box 217"/>
            <p:cNvSpPr txBox="1">
              <a:spLocks noChangeArrowheads="1"/>
            </p:cNvSpPr>
            <p:nvPr/>
          </p:nvSpPr>
          <p:spPr bwMode="auto">
            <a:xfrm>
              <a:off x="648" y="3890"/>
              <a:ext cx="35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WE</a:t>
              </a:r>
            </a:p>
          </p:txBody>
        </p:sp>
        <p:sp>
          <p:nvSpPr>
            <p:cNvPr id="126188" name="Line 218"/>
            <p:cNvSpPr>
              <a:spLocks noChangeShapeType="1"/>
            </p:cNvSpPr>
            <p:nvPr/>
          </p:nvSpPr>
          <p:spPr bwMode="auto">
            <a:xfrm>
              <a:off x="682" y="3923"/>
              <a:ext cx="2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6189" name="Text Box 219"/>
            <p:cNvSpPr txBox="1">
              <a:spLocks noChangeArrowheads="1"/>
            </p:cNvSpPr>
            <p:nvPr/>
          </p:nvSpPr>
          <p:spPr bwMode="auto">
            <a:xfrm>
              <a:off x="668" y="4025"/>
              <a:ext cx="32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CS</a:t>
              </a:r>
            </a:p>
          </p:txBody>
        </p:sp>
        <p:sp>
          <p:nvSpPr>
            <p:cNvPr id="126190" name="Line 220"/>
            <p:cNvSpPr>
              <a:spLocks noChangeShapeType="1"/>
            </p:cNvSpPr>
            <p:nvPr/>
          </p:nvSpPr>
          <p:spPr bwMode="auto">
            <a:xfrm>
              <a:off x="726" y="4079"/>
              <a:ext cx="19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25955" name="Group 221"/>
          <p:cNvGrpSpPr/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125970" name="Line 222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5971" name="Freeform 223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5972" name="Line 224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5973" name="Freeform 225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5974" name="Line 226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5975" name="Text Box 227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</a:p>
          </p:txBody>
        </p:sp>
        <p:sp>
          <p:nvSpPr>
            <p:cNvPr id="125976" name="Text Box 228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</a:p>
          </p:txBody>
        </p:sp>
        <p:sp>
          <p:nvSpPr>
            <p:cNvPr id="125977" name="Text Box 229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</a:p>
          </p:txBody>
        </p:sp>
        <p:sp>
          <p:nvSpPr>
            <p:cNvPr id="125978" name="Text Box 230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</a:p>
          </p:txBody>
        </p:sp>
        <p:sp>
          <p:nvSpPr>
            <p:cNvPr id="125979" name="Line 231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5980" name="Line 232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5981" name="Line 233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5982" name="Line 234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5983" name="Line 235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5984" name="Line 236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5985" name="Line 237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5986" name="Line 238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0" name="Group 239"/>
          <p:cNvGrpSpPr/>
          <p:nvPr/>
        </p:nvGrpSpPr>
        <p:grpSpPr bwMode="auto">
          <a:xfrm>
            <a:off x="222250" y="1069975"/>
            <a:ext cx="311150" cy="4778375"/>
            <a:chOff x="140" y="674"/>
            <a:chExt cx="196" cy="3010"/>
          </a:xfrm>
        </p:grpSpPr>
        <p:sp>
          <p:nvSpPr>
            <p:cNvPr id="125960" name="Text Box 240"/>
            <p:cNvSpPr txBox="1">
              <a:spLocks noChangeArrowheads="1"/>
            </p:cNvSpPr>
            <p:nvPr/>
          </p:nvSpPr>
          <p:spPr bwMode="auto">
            <a:xfrm>
              <a:off x="140" y="67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25961" name="Text Box 241"/>
            <p:cNvSpPr txBox="1">
              <a:spLocks noChangeArrowheads="1"/>
            </p:cNvSpPr>
            <p:nvPr/>
          </p:nvSpPr>
          <p:spPr bwMode="auto">
            <a:xfrm>
              <a:off x="140" y="933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25962" name="Text Box 242"/>
            <p:cNvSpPr txBox="1">
              <a:spLocks noChangeArrowheads="1"/>
            </p:cNvSpPr>
            <p:nvPr/>
          </p:nvSpPr>
          <p:spPr bwMode="auto">
            <a:xfrm>
              <a:off x="140" y="119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25963" name="Text Box 243"/>
            <p:cNvSpPr txBox="1">
              <a:spLocks noChangeArrowheads="1"/>
            </p:cNvSpPr>
            <p:nvPr/>
          </p:nvSpPr>
          <p:spPr bwMode="auto">
            <a:xfrm>
              <a:off x="140" y="145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25964" name="Text Box 244"/>
            <p:cNvSpPr txBox="1">
              <a:spLocks noChangeArrowheads="1"/>
            </p:cNvSpPr>
            <p:nvPr/>
          </p:nvSpPr>
          <p:spPr bwMode="auto">
            <a:xfrm>
              <a:off x="140" y="171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25965" name="Text Box 245"/>
            <p:cNvSpPr txBox="1">
              <a:spLocks noChangeArrowheads="1"/>
            </p:cNvSpPr>
            <p:nvPr/>
          </p:nvSpPr>
          <p:spPr bwMode="auto">
            <a:xfrm>
              <a:off x="140" y="197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25966" name="Text Box 246"/>
            <p:cNvSpPr txBox="1">
              <a:spLocks noChangeArrowheads="1"/>
            </p:cNvSpPr>
            <p:nvPr/>
          </p:nvSpPr>
          <p:spPr bwMode="auto">
            <a:xfrm>
              <a:off x="140" y="2657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25967" name="Text Box 247"/>
            <p:cNvSpPr txBox="1">
              <a:spLocks noChangeArrowheads="1"/>
            </p:cNvSpPr>
            <p:nvPr/>
          </p:nvSpPr>
          <p:spPr bwMode="auto">
            <a:xfrm>
              <a:off x="140" y="2916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25968" name="Text Box 248"/>
            <p:cNvSpPr txBox="1">
              <a:spLocks noChangeArrowheads="1"/>
            </p:cNvSpPr>
            <p:nvPr/>
          </p:nvSpPr>
          <p:spPr bwMode="auto">
            <a:xfrm>
              <a:off x="140" y="3175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25969" name="Text Box 249"/>
            <p:cNvSpPr txBox="1">
              <a:spLocks noChangeArrowheads="1"/>
            </p:cNvSpPr>
            <p:nvPr/>
          </p:nvSpPr>
          <p:spPr bwMode="auto">
            <a:xfrm>
              <a:off x="140" y="343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</p:grpSp>
      <p:sp>
        <p:nvSpPr>
          <p:cNvPr id="214266" name="Rectangle 250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25958" name="Text Box 251"/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en-US" altLang="zh-CN" sz="3200">
                <a:latin typeface="Times New Roman" panose="02020603050405020304" pitchFamily="18" charset="0"/>
              </a:rPr>
              <a:t>Intel 2114 RAM </a:t>
            </a:r>
            <a:r>
              <a:rPr lang="zh-CN" altLang="en-US" sz="3200">
                <a:latin typeface="Times New Roman" panose="02020603050405020304" pitchFamily="18" charset="0"/>
              </a:rPr>
              <a:t>矩阵 </a:t>
            </a:r>
            <a:r>
              <a:rPr lang="en-US" altLang="zh-CN" sz="3200">
                <a:latin typeface="Times New Roman" panose="02020603050405020304" pitchFamily="18" charset="0"/>
              </a:rPr>
              <a:t>(64 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>
                <a:latin typeface="Times New Roman" panose="02020603050405020304" pitchFamily="18" charset="0"/>
              </a:rPr>
              <a:t> 64)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</a:p>
        </p:txBody>
      </p:sp>
      <p:sp>
        <p:nvSpPr>
          <p:cNvPr id="125959" name="AutoShape 252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6978" name="Group 2"/>
          <p:cNvGrpSpPr/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127238" name="Line 3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7239" name="Freeform 4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7240" name="Line 5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7241" name="Freeform 6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7242" name="Line 7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7243" name="Text Box 8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</a:p>
          </p:txBody>
        </p:sp>
        <p:sp>
          <p:nvSpPr>
            <p:cNvPr id="127244" name="Text Box 9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</a:p>
          </p:txBody>
        </p:sp>
        <p:sp>
          <p:nvSpPr>
            <p:cNvPr id="127245" name="Text Box 10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</a:p>
          </p:txBody>
        </p:sp>
        <p:sp>
          <p:nvSpPr>
            <p:cNvPr id="127246" name="Text Box 11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</a:p>
          </p:txBody>
        </p:sp>
        <p:sp>
          <p:nvSpPr>
            <p:cNvPr id="127247" name="Line 12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7248" name="Line 13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7249" name="Line 14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7250" name="Line 15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7251" name="Line 16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7252" name="Line 17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7253" name="Line 18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7254" name="Line 19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26979" name="Group 20"/>
          <p:cNvGrpSpPr/>
          <p:nvPr/>
        </p:nvGrpSpPr>
        <p:grpSpPr bwMode="auto">
          <a:xfrm>
            <a:off x="222250" y="1069975"/>
            <a:ext cx="8921750" cy="5716588"/>
            <a:chOff x="140" y="674"/>
            <a:chExt cx="5620" cy="3601"/>
          </a:xfrm>
        </p:grpSpPr>
        <p:grpSp>
          <p:nvGrpSpPr>
            <p:cNvPr id="127008" name="Group 21"/>
            <p:cNvGrpSpPr/>
            <p:nvPr/>
          </p:nvGrpSpPr>
          <p:grpSpPr bwMode="auto">
            <a:xfrm>
              <a:off x="140" y="713"/>
              <a:ext cx="5620" cy="3562"/>
              <a:chOff x="140" y="713"/>
              <a:chExt cx="5620" cy="3562"/>
            </a:xfrm>
          </p:grpSpPr>
          <p:sp>
            <p:nvSpPr>
              <p:cNvPr id="127020" name="Rectangle 22"/>
              <p:cNvSpPr>
                <a:spLocks noChangeArrowheads="1"/>
              </p:cNvSpPr>
              <p:nvPr/>
            </p:nvSpPr>
            <p:spPr bwMode="auto">
              <a:xfrm>
                <a:off x="332" y="713"/>
                <a:ext cx="576" cy="316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27021" name="Rectangle 23"/>
              <p:cNvSpPr>
                <a:spLocks noChangeArrowheads="1"/>
              </p:cNvSpPr>
              <p:nvPr/>
            </p:nvSpPr>
            <p:spPr bwMode="auto">
              <a:xfrm>
                <a:off x="172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27022" name="Text Box 24"/>
              <p:cNvSpPr txBox="1">
                <a:spLocks noChangeArrowheads="1"/>
              </p:cNvSpPr>
              <p:nvPr/>
            </p:nvSpPr>
            <p:spPr bwMode="auto">
              <a:xfrm>
                <a:off x="140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27023" name="Rectangle 25"/>
              <p:cNvSpPr>
                <a:spLocks noChangeArrowheads="1"/>
              </p:cNvSpPr>
              <p:nvPr/>
            </p:nvSpPr>
            <p:spPr bwMode="auto">
              <a:xfrm>
                <a:off x="1152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27024" name="Rectangle 26"/>
              <p:cNvSpPr>
                <a:spLocks noChangeArrowheads="1"/>
              </p:cNvSpPr>
              <p:nvPr/>
            </p:nvSpPr>
            <p:spPr bwMode="auto">
              <a:xfrm>
                <a:off x="2869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27025" name="Text Box 27"/>
              <p:cNvSpPr txBox="1">
                <a:spLocks noChangeArrowheads="1"/>
              </p:cNvSpPr>
              <p:nvPr/>
            </p:nvSpPr>
            <p:spPr bwMode="auto">
              <a:xfrm>
                <a:off x="2549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27026" name="Rectangle 28"/>
              <p:cNvSpPr>
                <a:spLocks noChangeArrowheads="1"/>
              </p:cNvSpPr>
              <p:nvPr/>
            </p:nvSpPr>
            <p:spPr bwMode="auto">
              <a:xfrm>
                <a:off x="2293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sp>
            <p:nvSpPr>
              <p:cNvPr id="127027" name="Rectangle 29"/>
              <p:cNvSpPr>
                <a:spLocks noChangeArrowheads="1"/>
              </p:cNvSpPr>
              <p:nvPr/>
            </p:nvSpPr>
            <p:spPr bwMode="auto">
              <a:xfrm>
                <a:off x="404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47</a:t>
                </a:r>
              </a:p>
            </p:txBody>
          </p:sp>
          <p:sp>
            <p:nvSpPr>
              <p:cNvPr id="127028" name="Text Box 30"/>
              <p:cNvSpPr txBox="1">
                <a:spLocks noChangeArrowheads="1"/>
              </p:cNvSpPr>
              <p:nvPr/>
            </p:nvSpPr>
            <p:spPr bwMode="auto">
              <a:xfrm>
                <a:off x="3724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27029" name="Rectangle 31"/>
              <p:cNvSpPr>
                <a:spLocks noChangeArrowheads="1"/>
              </p:cNvSpPr>
              <p:nvPr/>
            </p:nvSpPr>
            <p:spPr bwMode="auto">
              <a:xfrm>
                <a:off x="346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32</a:t>
                </a:r>
              </a:p>
            </p:txBody>
          </p:sp>
          <p:sp>
            <p:nvSpPr>
              <p:cNvPr id="127030" name="Rectangle 32"/>
              <p:cNvSpPr>
                <a:spLocks noChangeArrowheads="1"/>
              </p:cNvSpPr>
              <p:nvPr/>
            </p:nvSpPr>
            <p:spPr bwMode="auto">
              <a:xfrm>
                <a:off x="5180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63</a:t>
                </a:r>
              </a:p>
            </p:txBody>
          </p:sp>
          <p:sp>
            <p:nvSpPr>
              <p:cNvPr id="127031" name="Text Box 33"/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27032" name="Rectangle 34"/>
              <p:cNvSpPr>
                <a:spLocks noChangeArrowheads="1"/>
              </p:cNvSpPr>
              <p:nvPr/>
            </p:nvSpPr>
            <p:spPr bwMode="auto">
              <a:xfrm>
                <a:off x="460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48</a:t>
                </a:r>
              </a:p>
            </p:txBody>
          </p:sp>
          <p:sp>
            <p:nvSpPr>
              <p:cNvPr id="127033" name="Rectangle 35"/>
              <p:cNvSpPr>
                <a:spLocks noChangeArrowheads="1"/>
              </p:cNvSpPr>
              <p:nvPr/>
            </p:nvSpPr>
            <p:spPr bwMode="auto">
              <a:xfrm>
                <a:off x="172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27034" name="Rectangle 36"/>
              <p:cNvSpPr>
                <a:spLocks noChangeArrowheads="1"/>
              </p:cNvSpPr>
              <p:nvPr/>
            </p:nvSpPr>
            <p:spPr bwMode="auto">
              <a:xfrm>
                <a:off x="1152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27035" name="Rectangle 37"/>
              <p:cNvSpPr>
                <a:spLocks noChangeArrowheads="1"/>
              </p:cNvSpPr>
              <p:nvPr/>
            </p:nvSpPr>
            <p:spPr bwMode="auto">
              <a:xfrm>
                <a:off x="2869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27036" name="Rectangle 38"/>
              <p:cNvSpPr>
                <a:spLocks noChangeArrowheads="1"/>
              </p:cNvSpPr>
              <p:nvPr/>
            </p:nvSpPr>
            <p:spPr bwMode="auto">
              <a:xfrm>
                <a:off x="2293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sp>
            <p:nvSpPr>
              <p:cNvPr id="127037" name="Rectangle 39"/>
              <p:cNvSpPr>
                <a:spLocks noChangeArrowheads="1"/>
              </p:cNvSpPr>
              <p:nvPr/>
            </p:nvSpPr>
            <p:spPr bwMode="auto">
              <a:xfrm>
                <a:off x="404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47</a:t>
                </a:r>
              </a:p>
            </p:txBody>
          </p:sp>
          <p:sp>
            <p:nvSpPr>
              <p:cNvPr id="127038" name="Rectangle 40"/>
              <p:cNvSpPr>
                <a:spLocks noChangeArrowheads="1"/>
              </p:cNvSpPr>
              <p:nvPr/>
            </p:nvSpPr>
            <p:spPr bwMode="auto">
              <a:xfrm>
                <a:off x="346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32</a:t>
                </a:r>
              </a:p>
            </p:txBody>
          </p:sp>
          <p:sp>
            <p:nvSpPr>
              <p:cNvPr id="127039" name="Rectangle 41"/>
              <p:cNvSpPr>
                <a:spLocks noChangeArrowheads="1"/>
              </p:cNvSpPr>
              <p:nvPr/>
            </p:nvSpPr>
            <p:spPr bwMode="auto">
              <a:xfrm>
                <a:off x="5180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63</a:t>
                </a:r>
              </a:p>
            </p:txBody>
          </p:sp>
          <p:sp>
            <p:nvSpPr>
              <p:cNvPr id="127040" name="Rectangle 42"/>
              <p:cNvSpPr>
                <a:spLocks noChangeArrowheads="1"/>
              </p:cNvSpPr>
              <p:nvPr/>
            </p:nvSpPr>
            <p:spPr bwMode="auto">
              <a:xfrm>
                <a:off x="460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48</a:t>
                </a:r>
              </a:p>
            </p:txBody>
          </p:sp>
          <p:sp>
            <p:nvSpPr>
              <p:cNvPr id="127041" name="Line 43"/>
              <p:cNvSpPr>
                <a:spLocks noChangeShapeType="1"/>
              </p:cNvSpPr>
              <p:nvPr/>
            </p:nvSpPr>
            <p:spPr bwMode="auto">
              <a:xfrm rot="5400000">
                <a:off x="1325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42" name="Line 44"/>
              <p:cNvSpPr>
                <a:spLocks noChangeShapeType="1"/>
              </p:cNvSpPr>
              <p:nvPr/>
            </p:nvSpPr>
            <p:spPr bwMode="auto">
              <a:xfrm rot="5400000">
                <a:off x="1308" y="271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43" name="Freeform 45"/>
              <p:cNvSpPr/>
              <p:nvPr/>
            </p:nvSpPr>
            <p:spPr bwMode="auto">
              <a:xfrm>
                <a:off x="1260" y="2709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44" name="Line 46"/>
              <p:cNvSpPr>
                <a:spLocks noChangeShapeType="1"/>
              </p:cNvSpPr>
              <p:nvPr/>
            </p:nvSpPr>
            <p:spPr bwMode="auto">
              <a:xfrm rot="-5400000">
                <a:off x="1133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45" name="Line 47"/>
              <p:cNvSpPr>
                <a:spLocks noChangeShapeType="1"/>
              </p:cNvSpPr>
              <p:nvPr/>
            </p:nvSpPr>
            <p:spPr bwMode="auto">
              <a:xfrm rot="-5400000">
                <a:off x="1212" y="2714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46" name="Freeform 48"/>
              <p:cNvSpPr/>
              <p:nvPr/>
            </p:nvSpPr>
            <p:spPr bwMode="auto">
              <a:xfrm>
                <a:off x="1434" y="2353"/>
                <a:ext cx="112" cy="1"/>
              </a:xfrm>
              <a:custGeom>
                <a:avLst/>
                <a:gdLst>
                  <a:gd name="T0" fmla="*/ 0 w 112"/>
                  <a:gd name="T1" fmla="*/ 0 h 1"/>
                  <a:gd name="T2" fmla="*/ 112 w 112"/>
                  <a:gd name="T3" fmla="*/ 0 h 1"/>
                  <a:gd name="T4" fmla="*/ 0 60000 65536"/>
                  <a:gd name="T5" fmla="*/ 0 60000 65536"/>
                  <a:gd name="T6" fmla="*/ 0 w 112"/>
                  <a:gd name="T7" fmla="*/ 0 h 1"/>
                  <a:gd name="T8" fmla="*/ 112 w 11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2" h="1">
                    <a:moveTo>
                      <a:pt x="0" y="0"/>
                    </a:moveTo>
                    <a:lnTo>
                      <a:pt x="112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047" name="Freeform 49"/>
              <p:cNvSpPr/>
              <p:nvPr/>
            </p:nvSpPr>
            <p:spPr bwMode="auto">
              <a:xfrm>
                <a:off x="1059" y="1209"/>
                <a:ext cx="152" cy="1469"/>
              </a:xfrm>
              <a:custGeom>
                <a:avLst/>
                <a:gdLst>
                  <a:gd name="T0" fmla="*/ 152 w 152"/>
                  <a:gd name="T1" fmla="*/ 1469 h 1469"/>
                  <a:gd name="T2" fmla="*/ 0 w 152"/>
                  <a:gd name="T3" fmla="*/ 1469 h 1469"/>
                  <a:gd name="T4" fmla="*/ 0 w 152"/>
                  <a:gd name="T5" fmla="*/ 0 h 1469"/>
                  <a:gd name="T6" fmla="*/ 95 w 152"/>
                  <a:gd name="T7" fmla="*/ 1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9"/>
                  <a:gd name="T14" fmla="*/ 152 w 152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9">
                    <a:moveTo>
                      <a:pt x="152" y="1469"/>
                    </a:moveTo>
                    <a:lnTo>
                      <a:pt x="0" y="1469"/>
                    </a:lnTo>
                    <a:lnTo>
                      <a:pt x="0" y="0"/>
                    </a:lnTo>
                    <a:lnTo>
                      <a:pt x="95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048" name="Freeform 50"/>
              <p:cNvSpPr/>
              <p:nvPr/>
            </p:nvSpPr>
            <p:spPr bwMode="auto">
              <a:xfrm>
                <a:off x="1055" y="2353"/>
                <a:ext cx="102" cy="1"/>
              </a:xfrm>
              <a:custGeom>
                <a:avLst/>
                <a:gdLst>
                  <a:gd name="T0" fmla="*/ 102 w 102"/>
                  <a:gd name="T1" fmla="*/ 0 h 1"/>
                  <a:gd name="T2" fmla="*/ 0 w 102"/>
                  <a:gd name="T3" fmla="*/ 0 h 1"/>
                  <a:gd name="T4" fmla="*/ 0 60000 65536"/>
                  <a:gd name="T5" fmla="*/ 0 60000 65536"/>
                  <a:gd name="T6" fmla="*/ 0 w 102"/>
                  <a:gd name="T7" fmla="*/ 0 h 1"/>
                  <a:gd name="T8" fmla="*/ 102 w 10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2" h="1">
                    <a:moveTo>
                      <a:pt x="102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049" name="Line 51"/>
              <p:cNvSpPr>
                <a:spLocks noChangeShapeType="1"/>
              </p:cNvSpPr>
              <p:nvPr/>
            </p:nvSpPr>
            <p:spPr bwMode="auto">
              <a:xfrm rot="5400000">
                <a:off x="1896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50" name="Line 52"/>
              <p:cNvSpPr>
                <a:spLocks noChangeShapeType="1"/>
              </p:cNvSpPr>
              <p:nvPr/>
            </p:nvSpPr>
            <p:spPr bwMode="auto">
              <a:xfrm rot="5400000">
                <a:off x="1879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51" name="Freeform 53"/>
              <p:cNvSpPr/>
              <p:nvPr/>
            </p:nvSpPr>
            <p:spPr bwMode="auto">
              <a:xfrm>
                <a:off x="1831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52" name="Line 54"/>
              <p:cNvSpPr>
                <a:spLocks noChangeShapeType="1"/>
              </p:cNvSpPr>
              <p:nvPr/>
            </p:nvSpPr>
            <p:spPr bwMode="auto">
              <a:xfrm rot="-5400000">
                <a:off x="1704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53" name="Line 55"/>
              <p:cNvSpPr>
                <a:spLocks noChangeShapeType="1"/>
              </p:cNvSpPr>
              <p:nvPr/>
            </p:nvSpPr>
            <p:spPr bwMode="auto">
              <a:xfrm rot="-5400000">
                <a:off x="1783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54" name="Freeform 56"/>
              <p:cNvSpPr/>
              <p:nvPr/>
            </p:nvSpPr>
            <p:spPr bwMode="auto">
              <a:xfrm>
                <a:off x="2005" y="2353"/>
                <a:ext cx="103" cy="1"/>
              </a:xfrm>
              <a:custGeom>
                <a:avLst/>
                <a:gdLst>
                  <a:gd name="T0" fmla="*/ 0 w 103"/>
                  <a:gd name="T1" fmla="*/ 0 h 1"/>
                  <a:gd name="T2" fmla="*/ 103 w 103"/>
                  <a:gd name="T3" fmla="*/ 0 h 1"/>
                  <a:gd name="T4" fmla="*/ 0 60000 65536"/>
                  <a:gd name="T5" fmla="*/ 0 60000 65536"/>
                  <a:gd name="T6" fmla="*/ 0 w 103"/>
                  <a:gd name="T7" fmla="*/ 0 h 1"/>
                  <a:gd name="T8" fmla="*/ 103 w 10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3" h="1">
                    <a:moveTo>
                      <a:pt x="0" y="0"/>
                    </a:moveTo>
                    <a:lnTo>
                      <a:pt x="103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055" name="Freeform 57"/>
              <p:cNvSpPr/>
              <p:nvPr/>
            </p:nvSpPr>
            <p:spPr bwMode="auto">
              <a:xfrm>
                <a:off x="1611" y="2352"/>
                <a:ext cx="113" cy="1"/>
              </a:xfrm>
              <a:custGeom>
                <a:avLst/>
                <a:gdLst>
                  <a:gd name="T0" fmla="*/ 113 w 113"/>
                  <a:gd name="T1" fmla="*/ 1 h 1"/>
                  <a:gd name="T2" fmla="*/ 0 w 113"/>
                  <a:gd name="T3" fmla="*/ 0 h 1"/>
                  <a:gd name="T4" fmla="*/ 0 60000 65536"/>
                  <a:gd name="T5" fmla="*/ 0 60000 65536"/>
                  <a:gd name="T6" fmla="*/ 0 w 113"/>
                  <a:gd name="T7" fmla="*/ 0 h 1"/>
                  <a:gd name="T8" fmla="*/ 113 w 11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3" h="1">
                    <a:moveTo>
                      <a:pt x="113" y="1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056" name="Line 58"/>
              <p:cNvSpPr>
                <a:spLocks noChangeShapeType="1"/>
              </p:cNvSpPr>
              <p:nvPr/>
            </p:nvSpPr>
            <p:spPr bwMode="auto">
              <a:xfrm rot="5400000">
                <a:off x="247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57" name="Line 59"/>
              <p:cNvSpPr>
                <a:spLocks noChangeShapeType="1"/>
              </p:cNvSpPr>
              <p:nvPr/>
            </p:nvSpPr>
            <p:spPr bwMode="auto">
              <a:xfrm rot="5400000">
                <a:off x="2460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58" name="Freeform 60"/>
              <p:cNvSpPr/>
              <p:nvPr/>
            </p:nvSpPr>
            <p:spPr bwMode="auto">
              <a:xfrm>
                <a:off x="2412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59" name="Line 61"/>
              <p:cNvSpPr>
                <a:spLocks noChangeShapeType="1"/>
              </p:cNvSpPr>
              <p:nvPr/>
            </p:nvSpPr>
            <p:spPr bwMode="auto">
              <a:xfrm rot="-5400000">
                <a:off x="2285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60" name="Line 62"/>
              <p:cNvSpPr>
                <a:spLocks noChangeShapeType="1"/>
              </p:cNvSpPr>
              <p:nvPr/>
            </p:nvSpPr>
            <p:spPr bwMode="auto">
              <a:xfrm rot="-5400000">
                <a:off x="2364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61" name="Freeform 63"/>
              <p:cNvSpPr/>
              <p:nvPr/>
            </p:nvSpPr>
            <p:spPr bwMode="auto">
              <a:xfrm>
                <a:off x="2586" y="2353"/>
                <a:ext cx="109" cy="1"/>
              </a:xfrm>
              <a:custGeom>
                <a:avLst/>
                <a:gdLst>
                  <a:gd name="T0" fmla="*/ 0 w 109"/>
                  <a:gd name="T1" fmla="*/ 0 h 1"/>
                  <a:gd name="T2" fmla="*/ 109 w 109"/>
                  <a:gd name="T3" fmla="*/ 0 h 1"/>
                  <a:gd name="T4" fmla="*/ 0 60000 65536"/>
                  <a:gd name="T5" fmla="*/ 0 60000 65536"/>
                  <a:gd name="T6" fmla="*/ 0 w 109"/>
                  <a:gd name="T7" fmla="*/ 0 h 1"/>
                  <a:gd name="T8" fmla="*/ 109 w 10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9" h="1">
                    <a:moveTo>
                      <a:pt x="0" y="0"/>
                    </a:moveTo>
                    <a:lnTo>
                      <a:pt x="109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062" name="Freeform 64"/>
              <p:cNvSpPr/>
              <p:nvPr/>
            </p:nvSpPr>
            <p:spPr bwMode="auto">
              <a:xfrm>
                <a:off x="2207" y="2353"/>
                <a:ext cx="89" cy="1"/>
              </a:xfrm>
              <a:custGeom>
                <a:avLst/>
                <a:gdLst>
                  <a:gd name="T0" fmla="*/ 89 w 89"/>
                  <a:gd name="T1" fmla="*/ 0 h 1"/>
                  <a:gd name="T2" fmla="*/ 0 w 89"/>
                  <a:gd name="T3" fmla="*/ 0 h 1"/>
                  <a:gd name="T4" fmla="*/ 0 60000 65536"/>
                  <a:gd name="T5" fmla="*/ 0 60000 65536"/>
                  <a:gd name="T6" fmla="*/ 0 w 89"/>
                  <a:gd name="T7" fmla="*/ 0 h 1"/>
                  <a:gd name="T8" fmla="*/ 89 w 8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9" h="1">
                    <a:moveTo>
                      <a:pt x="89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063" name="Line 65"/>
              <p:cNvSpPr>
                <a:spLocks noChangeShapeType="1"/>
              </p:cNvSpPr>
              <p:nvPr/>
            </p:nvSpPr>
            <p:spPr bwMode="auto">
              <a:xfrm rot="5400000">
                <a:off x="3053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64" name="Line 66"/>
              <p:cNvSpPr>
                <a:spLocks noChangeShapeType="1"/>
              </p:cNvSpPr>
              <p:nvPr/>
            </p:nvSpPr>
            <p:spPr bwMode="auto">
              <a:xfrm rot="5400000">
                <a:off x="3036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65" name="Freeform 67"/>
              <p:cNvSpPr/>
              <p:nvPr/>
            </p:nvSpPr>
            <p:spPr bwMode="auto">
              <a:xfrm>
                <a:off x="2988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66" name="Line 68"/>
              <p:cNvSpPr>
                <a:spLocks noChangeShapeType="1"/>
              </p:cNvSpPr>
              <p:nvPr/>
            </p:nvSpPr>
            <p:spPr bwMode="auto">
              <a:xfrm rot="-5400000">
                <a:off x="2861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67" name="Line 69"/>
              <p:cNvSpPr>
                <a:spLocks noChangeShapeType="1"/>
              </p:cNvSpPr>
              <p:nvPr/>
            </p:nvSpPr>
            <p:spPr bwMode="auto">
              <a:xfrm rot="-5400000">
                <a:off x="2940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68" name="Freeform 70"/>
              <p:cNvSpPr/>
              <p:nvPr/>
            </p:nvSpPr>
            <p:spPr bwMode="auto">
              <a:xfrm>
                <a:off x="3162" y="2353"/>
                <a:ext cx="115" cy="1"/>
              </a:xfrm>
              <a:custGeom>
                <a:avLst/>
                <a:gdLst>
                  <a:gd name="T0" fmla="*/ 0 w 115"/>
                  <a:gd name="T1" fmla="*/ 0 h 1"/>
                  <a:gd name="T2" fmla="*/ 115 w 115"/>
                  <a:gd name="T3" fmla="*/ 0 h 1"/>
                  <a:gd name="T4" fmla="*/ 0 60000 65536"/>
                  <a:gd name="T5" fmla="*/ 0 60000 65536"/>
                  <a:gd name="T6" fmla="*/ 0 w 115"/>
                  <a:gd name="T7" fmla="*/ 0 h 1"/>
                  <a:gd name="T8" fmla="*/ 115 w 11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5" h="1">
                    <a:moveTo>
                      <a:pt x="0" y="0"/>
                    </a:moveTo>
                    <a:lnTo>
                      <a:pt x="11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069" name="Freeform 71"/>
              <p:cNvSpPr/>
              <p:nvPr/>
            </p:nvSpPr>
            <p:spPr bwMode="auto">
              <a:xfrm>
                <a:off x="2783" y="2353"/>
                <a:ext cx="90" cy="1"/>
              </a:xfrm>
              <a:custGeom>
                <a:avLst/>
                <a:gdLst>
                  <a:gd name="T0" fmla="*/ 90 w 90"/>
                  <a:gd name="T1" fmla="*/ 0 h 1"/>
                  <a:gd name="T2" fmla="*/ 0 w 90"/>
                  <a:gd name="T3" fmla="*/ 0 h 1"/>
                  <a:gd name="T4" fmla="*/ 0 60000 65536"/>
                  <a:gd name="T5" fmla="*/ 0 60000 65536"/>
                  <a:gd name="T6" fmla="*/ 0 w 90"/>
                  <a:gd name="T7" fmla="*/ 0 h 1"/>
                  <a:gd name="T8" fmla="*/ 90 w 9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0" h="1">
                    <a:moveTo>
                      <a:pt x="90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070" name="Line 72"/>
              <p:cNvSpPr>
                <a:spLocks noChangeShapeType="1"/>
              </p:cNvSpPr>
              <p:nvPr/>
            </p:nvSpPr>
            <p:spPr bwMode="auto">
              <a:xfrm rot="5400000">
                <a:off x="3629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71" name="Line 73"/>
              <p:cNvSpPr>
                <a:spLocks noChangeShapeType="1"/>
              </p:cNvSpPr>
              <p:nvPr/>
            </p:nvSpPr>
            <p:spPr bwMode="auto">
              <a:xfrm rot="5400000">
                <a:off x="3612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72" name="Freeform 74"/>
              <p:cNvSpPr/>
              <p:nvPr/>
            </p:nvSpPr>
            <p:spPr bwMode="auto">
              <a:xfrm>
                <a:off x="3564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73" name="Line 75"/>
              <p:cNvSpPr>
                <a:spLocks noChangeShapeType="1"/>
              </p:cNvSpPr>
              <p:nvPr/>
            </p:nvSpPr>
            <p:spPr bwMode="auto">
              <a:xfrm rot="-5400000">
                <a:off x="343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74" name="Line 76"/>
              <p:cNvSpPr>
                <a:spLocks noChangeShapeType="1"/>
              </p:cNvSpPr>
              <p:nvPr/>
            </p:nvSpPr>
            <p:spPr bwMode="auto">
              <a:xfrm rot="-5400000">
                <a:off x="3516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75" name="Freeform 77"/>
              <p:cNvSpPr/>
              <p:nvPr/>
            </p:nvSpPr>
            <p:spPr bwMode="auto">
              <a:xfrm>
                <a:off x="3751" y="2352"/>
                <a:ext cx="100" cy="1"/>
              </a:xfrm>
              <a:custGeom>
                <a:avLst/>
                <a:gdLst>
                  <a:gd name="T0" fmla="*/ 0 w 100"/>
                  <a:gd name="T1" fmla="*/ 0 h 1"/>
                  <a:gd name="T2" fmla="*/ 100 w 100"/>
                  <a:gd name="T3" fmla="*/ 1 h 1"/>
                  <a:gd name="T4" fmla="*/ 0 60000 65536"/>
                  <a:gd name="T5" fmla="*/ 0 60000 65536"/>
                  <a:gd name="T6" fmla="*/ 0 w 100"/>
                  <a:gd name="T7" fmla="*/ 0 h 1"/>
                  <a:gd name="T8" fmla="*/ 100 w 10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0" h="1">
                    <a:moveTo>
                      <a:pt x="0" y="0"/>
                    </a:moveTo>
                    <a:lnTo>
                      <a:pt x="100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076" name="Freeform 78"/>
              <p:cNvSpPr/>
              <p:nvPr/>
            </p:nvSpPr>
            <p:spPr bwMode="auto">
              <a:xfrm>
                <a:off x="3359" y="2353"/>
                <a:ext cx="108" cy="1"/>
              </a:xfrm>
              <a:custGeom>
                <a:avLst/>
                <a:gdLst>
                  <a:gd name="T0" fmla="*/ 108 w 108"/>
                  <a:gd name="T1" fmla="*/ 0 h 1"/>
                  <a:gd name="T2" fmla="*/ 0 w 108"/>
                  <a:gd name="T3" fmla="*/ 0 h 1"/>
                  <a:gd name="T4" fmla="*/ 0 60000 65536"/>
                  <a:gd name="T5" fmla="*/ 0 60000 65536"/>
                  <a:gd name="T6" fmla="*/ 0 w 108"/>
                  <a:gd name="T7" fmla="*/ 0 h 1"/>
                  <a:gd name="T8" fmla="*/ 108 w 10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8" h="1">
                    <a:moveTo>
                      <a:pt x="10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077" name="Line 79"/>
              <p:cNvSpPr>
                <a:spLocks noChangeShapeType="1"/>
              </p:cNvSpPr>
              <p:nvPr/>
            </p:nvSpPr>
            <p:spPr bwMode="auto">
              <a:xfrm rot="5400000">
                <a:off x="4205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78" name="Line 80"/>
              <p:cNvSpPr>
                <a:spLocks noChangeShapeType="1"/>
              </p:cNvSpPr>
              <p:nvPr/>
            </p:nvSpPr>
            <p:spPr bwMode="auto">
              <a:xfrm rot="5400000">
                <a:off x="4188" y="2696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79" name="Freeform 81"/>
              <p:cNvSpPr/>
              <p:nvPr/>
            </p:nvSpPr>
            <p:spPr bwMode="auto">
              <a:xfrm>
                <a:off x="4140" y="2695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80" name="Line 82"/>
              <p:cNvSpPr>
                <a:spLocks noChangeShapeType="1"/>
              </p:cNvSpPr>
              <p:nvPr/>
            </p:nvSpPr>
            <p:spPr bwMode="auto">
              <a:xfrm rot="-5400000">
                <a:off x="4013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81" name="Line 83"/>
              <p:cNvSpPr>
                <a:spLocks noChangeShapeType="1"/>
              </p:cNvSpPr>
              <p:nvPr/>
            </p:nvSpPr>
            <p:spPr bwMode="auto">
              <a:xfrm rot="-5400000">
                <a:off x="4092" y="270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27082" name="Freeform 84"/>
              <p:cNvSpPr/>
              <p:nvPr/>
            </p:nvSpPr>
            <p:spPr bwMode="auto">
              <a:xfrm>
                <a:off x="4336" y="2351"/>
                <a:ext cx="90" cy="2"/>
              </a:xfrm>
              <a:custGeom>
                <a:avLst/>
                <a:gdLst>
                  <a:gd name="T0" fmla="*/ 0 w 90"/>
                  <a:gd name="T1" fmla="*/ 0 h 2"/>
                  <a:gd name="T2" fmla="*/ 90 w 90"/>
                  <a:gd name="T3" fmla="*/ 2 h 2"/>
                  <a:gd name="T4" fmla="*/ 0 60000 65536"/>
                  <a:gd name="T5" fmla="*/ 0 60000 65536"/>
                  <a:gd name="T6" fmla="*/ 0 w 90"/>
                  <a:gd name="T7" fmla="*/ 0 h 2"/>
                  <a:gd name="T8" fmla="*/ 90 w 90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0" h="2">
                    <a:moveTo>
                      <a:pt x="0" y="0"/>
                    </a:moveTo>
                    <a:lnTo>
                      <a:pt x="90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083" name="Freeform 85"/>
              <p:cNvSpPr/>
              <p:nvPr/>
            </p:nvSpPr>
            <p:spPr bwMode="auto">
              <a:xfrm>
                <a:off x="3935" y="2353"/>
                <a:ext cx="104" cy="1"/>
              </a:xfrm>
              <a:custGeom>
                <a:avLst/>
                <a:gdLst>
                  <a:gd name="T0" fmla="*/ 104 w 104"/>
                  <a:gd name="T1" fmla="*/ 0 h 1"/>
                  <a:gd name="T2" fmla="*/ 0 w 104"/>
                  <a:gd name="T3" fmla="*/ 0 h 1"/>
                  <a:gd name="T4" fmla="*/ 0 60000 65536"/>
                  <a:gd name="T5" fmla="*/ 0 60000 65536"/>
                  <a:gd name="T6" fmla="*/ 0 w 104"/>
                  <a:gd name="T7" fmla="*/ 0 h 1"/>
                  <a:gd name="T8" fmla="*/ 104 w 10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4" h="1">
                    <a:moveTo>
                      <a:pt x="10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127084" name="Group 86"/>
              <p:cNvGrpSpPr/>
              <p:nvPr/>
            </p:nvGrpSpPr>
            <p:grpSpPr bwMode="auto">
              <a:xfrm>
                <a:off x="4668" y="2634"/>
                <a:ext cx="192" cy="158"/>
                <a:chOff x="4692" y="2634"/>
                <a:chExt cx="192" cy="158"/>
              </a:xfrm>
            </p:grpSpPr>
            <p:grpSp>
              <p:nvGrpSpPr>
                <p:cNvPr id="127231" name="Group 87"/>
                <p:cNvGrpSpPr/>
                <p:nvPr/>
              </p:nvGrpSpPr>
              <p:grpSpPr bwMode="auto">
                <a:xfrm>
                  <a:off x="4836" y="2634"/>
                  <a:ext cx="48" cy="158"/>
                  <a:chOff x="4836" y="2634"/>
                  <a:chExt cx="48" cy="158"/>
                </a:xfrm>
              </p:grpSpPr>
              <p:sp>
                <p:nvSpPr>
                  <p:cNvPr id="127236" name="Line 88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805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7237" name="Line 89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788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27232" name="Freeform 90"/>
                <p:cNvSpPr/>
                <p:nvPr/>
              </p:nvSpPr>
              <p:spPr bwMode="auto">
                <a:xfrm>
                  <a:off x="4740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27233" name="Group 91"/>
                <p:cNvGrpSpPr/>
                <p:nvPr/>
              </p:nvGrpSpPr>
              <p:grpSpPr bwMode="auto">
                <a:xfrm>
                  <a:off x="4692" y="2634"/>
                  <a:ext cx="48" cy="158"/>
                  <a:chOff x="4692" y="2634"/>
                  <a:chExt cx="48" cy="158"/>
                </a:xfrm>
              </p:grpSpPr>
              <p:sp>
                <p:nvSpPr>
                  <p:cNvPr id="127234" name="Line 92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13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7235" name="Line 93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92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127085" name="Freeform 94"/>
              <p:cNvSpPr/>
              <p:nvPr/>
            </p:nvSpPr>
            <p:spPr bwMode="auto">
              <a:xfrm>
                <a:off x="4890" y="2353"/>
                <a:ext cx="107" cy="1"/>
              </a:xfrm>
              <a:custGeom>
                <a:avLst/>
                <a:gdLst>
                  <a:gd name="T0" fmla="*/ 0 w 107"/>
                  <a:gd name="T1" fmla="*/ 0 h 1"/>
                  <a:gd name="T2" fmla="*/ 107 w 107"/>
                  <a:gd name="T3" fmla="*/ 0 h 1"/>
                  <a:gd name="T4" fmla="*/ 0 60000 65536"/>
                  <a:gd name="T5" fmla="*/ 0 60000 65536"/>
                  <a:gd name="T6" fmla="*/ 0 w 107"/>
                  <a:gd name="T7" fmla="*/ 0 h 1"/>
                  <a:gd name="T8" fmla="*/ 107 w 10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7" h="1">
                    <a:moveTo>
                      <a:pt x="0" y="0"/>
                    </a:moveTo>
                    <a:lnTo>
                      <a:pt x="10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086" name="Freeform 95"/>
              <p:cNvSpPr/>
              <p:nvPr/>
            </p:nvSpPr>
            <p:spPr bwMode="auto">
              <a:xfrm>
                <a:off x="4511" y="2353"/>
                <a:ext cx="96" cy="1"/>
              </a:xfrm>
              <a:custGeom>
                <a:avLst/>
                <a:gdLst>
                  <a:gd name="T0" fmla="*/ 96 w 96"/>
                  <a:gd name="T1" fmla="*/ 0 h 1"/>
                  <a:gd name="T2" fmla="*/ 0 w 96"/>
                  <a:gd name="T3" fmla="*/ 0 h 1"/>
                  <a:gd name="T4" fmla="*/ 0 60000 65536"/>
                  <a:gd name="T5" fmla="*/ 0 60000 65536"/>
                  <a:gd name="T6" fmla="*/ 0 w 96"/>
                  <a:gd name="T7" fmla="*/ 0 h 1"/>
                  <a:gd name="T8" fmla="*/ 96 w 96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1">
                    <a:moveTo>
                      <a:pt x="96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127087" name="Group 96"/>
              <p:cNvGrpSpPr/>
              <p:nvPr/>
            </p:nvGrpSpPr>
            <p:grpSpPr bwMode="auto">
              <a:xfrm>
                <a:off x="5235" y="2634"/>
                <a:ext cx="192" cy="158"/>
                <a:chOff x="5259" y="2634"/>
                <a:chExt cx="192" cy="158"/>
              </a:xfrm>
            </p:grpSpPr>
            <p:grpSp>
              <p:nvGrpSpPr>
                <p:cNvPr id="127224" name="Group 97"/>
                <p:cNvGrpSpPr/>
                <p:nvPr/>
              </p:nvGrpSpPr>
              <p:grpSpPr bwMode="auto">
                <a:xfrm>
                  <a:off x="5403" y="2634"/>
                  <a:ext cx="48" cy="158"/>
                  <a:chOff x="5403" y="2634"/>
                  <a:chExt cx="48" cy="158"/>
                </a:xfrm>
              </p:grpSpPr>
              <p:sp>
                <p:nvSpPr>
                  <p:cNvPr id="127229" name="Line 98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72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7230" name="Line 99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55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27225" name="Freeform 100"/>
                <p:cNvSpPr/>
                <p:nvPr/>
              </p:nvSpPr>
              <p:spPr bwMode="auto">
                <a:xfrm>
                  <a:off x="5307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27226" name="Group 101"/>
                <p:cNvGrpSpPr/>
                <p:nvPr/>
              </p:nvGrpSpPr>
              <p:grpSpPr bwMode="auto">
                <a:xfrm>
                  <a:off x="5259" y="2634"/>
                  <a:ext cx="48" cy="158"/>
                  <a:chOff x="5259" y="2634"/>
                  <a:chExt cx="48" cy="158"/>
                </a:xfrm>
              </p:grpSpPr>
              <p:sp>
                <p:nvSpPr>
                  <p:cNvPr id="127227" name="Line 102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180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7228" name="Line 103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259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127088" name="Freeform 104"/>
              <p:cNvSpPr/>
              <p:nvPr/>
            </p:nvSpPr>
            <p:spPr bwMode="auto">
              <a:xfrm>
                <a:off x="5467" y="2351"/>
                <a:ext cx="96" cy="2"/>
              </a:xfrm>
              <a:custGeom>
                <a:avLst/>
                <a:gdLst>
                  <a:gd name="T0" fmla="*/ 0 w 96"/>
                  <a:gd name="T1" fmla="*/ 0 h 2"/>
                  <a:gd name="T2" fmla="*/ 96 w 96"/>
                  <a:gd name="T3" fmla="*/ 2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0"/>
                    </a:moveTo>
                    <a:lnTo>
                      <a:pt x="96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089" name="Freeform 105"/>
              <p:cNvSpPr/>
              <p:nvPr/>
            </p:nvSpPr>
            <p:spPr bwMode="auto">
              <a:xfrm>
                <a:off x="5078" y="2353"/>
                <a:ext cx="101" cy="1"/>
              </a:xfrm>
              <a:custGeom>
                <a:avLst/>
                <a:gdLst>
                  <a:gd name="T0" fmla="*/ 101 w 101"/>
                  <a:gd name="T1" fmla="*/ 0 h 1"/>
                  <a:gd name="T2" fmla="*/ 0 w 101"/>
                  <a:gd name="T3" fmla="*/ 0 h 1"/>
                  <a:gd name="T4" fmla="*/ 0 60000 65536"/>
                  <a:gd name="T5" fmla="*/ 0 60000 65536"/>
                  <a:gd name="T6" fmla="*/ 0 w 101"/>
                  <a:gd name="T7" fmla="*/ 0 h 1"/>
                  <a:gd name="T8" fmla="*/ 101 w 101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1" h="1">
                    <a:moveTo>
                      <a:pt x="101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090" name="Freeform 106"/>
              <p:cNvSpPr/>
              <p:nvPr/>
            </p:nvSpPr>
            <p:spPr bwMode="auto">
              <a:xfrm>
                <a:off x="908" y="856"/>
                <a:ext cx="4419" cy="1"/>
              </a:xfrm>
              <a:custGeom>
                <a:avLst/>
                <a:gdLst>
                  <a:gd name="T0" fmla="*/ 0 w 4419"/>
                  <a:gd name="T1" fmla="*/ 1 h 1"/>
                  <a:gd name="T2" fmla="*/ 4419 w 4419"/>
                  <a:gd name="T3" fmla="*/ 0 h 1"/>
                  <a:gd name="T4" fmla="*/ 0 60000 65536"/>
                  <a:gd name="T5" fmla="*/ 0 60000 65536"/>
                  <a:gd name="T6" fmla="*/ 0 w 4419"/>
                  <a:gd name="T7" fmla="*/ 0 h 1"/>
                  <a:gd name="T8" fmla="*/ 4419 w 441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9" h="1">
                    <a:moveTo>
                      <a:pt x="0" y="1"/>
                    </a:moveTo>
                    <a:lnTo>
                      <a:pt x="441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091" name="Line 107"/>
              <p:cNvSpPr>
                <a:spLocks noChangeShapeType="1"/>
              </p:cNvSpPr>
              <p:nvPr/>
            </p:nvSpPr>
            <p:spPr bwMode="auto">
              <a:xfrm>
                <a:off x="129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092" name="Line 108"/>
              <p:cNvSpPr>
                <a:spLocks noChangeShapeType="1"/>
              </p:cNvSpPr>
              <p:nvPr/>
            </p:nvSpPr>
            <p:spPr bwMode="auto">
              <a:xfrm>
                <a:off x="186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093" name="Line 109"/>
              <p:cNvSpPr>
                <a:spLocks noChangeShapeType="1"/>
              </p:cNvSpPr>
              <p:nvPr/>
            </p:nvSpPr>
            <p:spPr bwMode="auto">
              <a:xfrm>
                <a:off x="244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094" name="Line 110"/>
              <p:cNvSpPr>
                <a:spLocks noChangeShapeType="1"/>
              </p:cNvSpPr>
              <p:nvPr/>
            </p:nvSpPr>
            <p:spPr bwMode="auto">
              <a:xfrm>
                <a:off x="3020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095" name="Line 111"/>
              <p:cNvSpPr>
                <a:spLocks noChangeShapeType="1"/>
              </p:cNvSpPr>
              <p:nvPr/>
            </p:nvSpPr>
            <p:spPr bwMode="auto">
              <a:xfrm>
                <a:off x="3596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096" name="Line 112"/>
              <p:cNvSpPr>
                <a:spLocks noChangeShapeType="1"/>
              </p:cNvSpPr>
              <p:nvPr/>
            </p:nvSpPr>
            <p:spPr bwMode="auto">
              <a:xfrm>
                <a:off x="417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097" name="Line 113"/>
              <p:cNvSpPr>
                <a:spLocks noChangeShapeType="1"/>
              </p:cNvSpPr>
              <p:nvPr/>
            </p:nvSpPr>
            <p:spPr bwMode="auto">
              <a:xfrm>
                <a:off x="474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098" name="Line 114"/>
              <p:cNvSpPr>
                <a:spLocks noChangeShapeType="1"/>
              </p:cNvSpPr>
              <p:nvPr/>
            </p:nvSpPr>
            <p:spPr bwMode="auto">
              <a:xfrm>
                <a:off x="532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099" name="Freeform 115"/>
              <p:cNvSpPr/>
              <p:nvPr/>
            </p:nvSpPr>
            <p:spPr bwMode="auto">
              <a:xfrm>
                <a:off x="1305" y="2708"/>
                <a:ext cx="1" cy="166"/>
              </a:xfrm>
              <a:custGeom>
                <a:avLst/>
                <a:gdLst>
                  <a:gd name="T0" fmla="*/ 1 w 1"/>
                  <a:gd name="T1" fmla="*/ 0 h 166"/>
                  <a:gd name="T2" fmla="*/ 0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1" y="0"/>
                    </a:moveTo>
                    <a:lnTo>
                      <a:pt x="0" y="1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00" name="Freeform 116"/>
              <p:cNvSpPr/>
              <p:nvPr/>
            </p:nvSpPr>
            <p:spPr bwMode="auto">
              <a:xfrm>
                <a:off x="1880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7711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01" name="Freeform 117"/>
              <p:cNvSpPr/>
              <p:nvPr/>
            </p:nvSpPr>
            <p:spPr bwMode="auto">
              <a:xfrm>
                <a:off x="2454" y="2708"/>
                <a:ext cx="4" cy="166"/>
              </a:xfrm>
              <a:custGeom>
                <a:avLst/>
                <a:gdLst>
                  <a:gd name="T0" fmla="*/ 4 w 4"/>
                  <a:gd name="T1" fmla="*/ 0 h 166"/>
                  <a:gd name="T2" fmla="*/ 0 w 4"/>
                  <a:gd name="T3" fmla="*/ 166 h 166"/>
                  <a:gd name="T4" fmla="*/ 0 60000 65536"/>
                  <a:gd name="T5" fmla="*/ 0 60000 65536"/>
                  <a:gd name="T6" fmla="*/ 0 w 4"/>
                  <a:gd name="T7" fmla="*/ 0 h 166"/>
                  <a:gd name="T8" fmla="*/ 4 w 4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66">
                    <a:moveTo>
                      <a:pt x="4" y="0"/>
                    </a:moveTo>
                    <a:lnTo>
                      <a:pt x="0" y="1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02" name="Freeform 118"/>
              <p:cNvSpPr/>
              <p:nvPr/>
            </p:nvSpPr>
            <p:spPr bwMode="auto">
              <a:xfrm>
                <a:off x="3606" y="2708"/>
                <a:ext cx="2" cy="175"/>
              </a:xfrm>
              <a:custGeom>
                <a:avLst/>
                <a:gdLst>
                  <a:gd name="T0" fmla="*/ 2 w 2"/>
                  <a:gd name="T1" fmla="*/ 0 h 175"/>
                  <a:gd name="T2" fmla="*/ 0 w 2"/>
                  <a:gd name="T3" fmla="*/ 175 h 175"/>
                  <a:gd name="T4" fmla="*/ 0 60000 65536"/>
                  <a:gd name="T5" fmla="*/ 0 60000 65536"/>
                  <a:gd name="T6" fmla="*/ 0 w 2"/>
                  <a:gd name="T7" fmla="*/ 0 h 175"/>
                  <a:gd name="T8" fmla="*/ 2 w 2"/>
                  <a:gd name="T9" fmla="*/ 175 h 17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75">
                    <a:moveTo>
                      <a:pt x="2" y="0"/>
                    </a:moveTo>
                    <a:lnTo>
                      <a:pt x="0" y="17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03" name="Freeform 119"/>
              <p:cNvSpPr/>
              <p:nvPr/>
            </p:nvSpPr>
            <p:spPr bwMode="auto">
              <a:xfrm>
                <a:off x="4760" y="2697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  <a:gd name="T6" fmla="*/ 0 w 1"/>
                  <a:gd name="T7" fmla="*/ 0 h 176"/>
                  <a:gd name="T8" fmla="*/ 1 w 1"/>
                  <a:gd name="T9" fmla="*/ 176 h 17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04" name="Freeform 120"/>
              <p:cNvSpPr/>
              <p:nvPr/>
            </p:nvSpPr>
            <p:spPr bwMode="auto">
              <a:xfrm>
                <a:off x="908" y="1480"/>
                <a:ext cx="4422" cy="1"/>
              </a:xfrm>
              <a:custGeom>
                <a:avLst/>
                <a:gdLst>
                  <a:gd name="T0" fmla="*/ 0 w 4422"/>
                  <a:gd name="T1" fmla="*/ 1 h 1"/>
                  <a:gd name="T2" fmla="*/ 4422 w 4422"/>
                  <a:gd name="T3" fmla="*/ 0 h 1"/>
                  <a:gd name="T4" fmla="*/ 0 60000 65536"/>
                  <a:gd name="T5" fmla="*/ 0 60000 65536"/>
                  <a:gd name="T6" fmla="*/ 0 w 4422"/>
                  <a:gd name="T7" fmla="*/ 0 h 1"/>
                  <a:gd name="T8" fmla="*/ 4422 w 442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22" h="1">
                    <a:moveTo>
                      <a:pt x="0" y="1"/>
                    </a:moveTo>
                    <a:lnTo>
                      <a:pt x="442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05" name="Line 121"/>
              <p:cNvSpPr>
                <a:spLocks noChangeShapeType="1"/>
              </p:cNvSpPr>
              <p:nvPr/>
            </p:nvSpPr>
            <p:spPr bwMode="auto">
              <a:xfrm>
                <a:off x="129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06" name="Line 122"/>
              <p:cNvSpPr>
                <a:spLocks noChangeShapeType="1"/>
              </p:cNvSpPr>
              <p:nvPr/>
            </p:nvSpPr>
            <p:spPr bwMode="auto">
              <a:xfrm>
                <a:off x="186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07" name="Line 123"/>
              <p:cNvSpPr>
                <a:spLocks noChangeShapeType="1"/>
              </p:cNvSpPr>
              <p:nvPr/>
            </p:nvSpPr>
            <p:spPr bwMode="auto">
              <a:xfrm>
                <a:off x="244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08" name="Line 124"/>
              <p:cNvSpPr>
                <a:spLocks noChangeShapeType="1"/>
              </p:cNvSpPr>
              <p:nvPr/>
            </p:nvSpPr>
            <p:spPr bwMode="auto">
              <a:xfrm>
                <a:off x="3020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09" name="Line 125"/>
              <p:cNvSpPr>
                <a:spLocks noChangeShapeType="1"/>
              </p:cNvSpPr>
              <p:nvPr/>
            </p:nvSpPr>
            <p:spPr bwMode="auto">
              <a:xfrm>
                <a:off x="3596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10" name="Line 126"/>
              <p:cNvSpPr>
                <a:spLocks noChangeShapeType="1"/>
              </p:cNvSpPr>
              <p:nvPr/>
            </p:nvSpPr>
            <p:spPr bwMode="auto">
              <a:xfrm>
                <a:off x="417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11" name="Line 127"/>
              <p:cNvSpPr>
                <a:spLocks noChangeShapeType="1"/>
              </p:cNvSpPr>
              <p:nvPr/>
            </p:nvSpPr>
            <p:spPr bwMode="auto">
              <a:xfrm>
                <a:off x="474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12" name="Line 128"/>
              <p:cNvSpPr>
                <a:spLocks noChangeShapeType="1"/>
              </p:cNvSpPr>
              <p:nvPr/>
            </p:nvSpPr>
            <p:spPr bwMode="auto">
              <a:xfrm>
                <a:off x="532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13" name="Freeform 129"/>
              <p:cNvSpPr/>
              <p:nvPr/>
            </p:nvSpPr>
            <p:spPr bwMode="auto">
              <a:xfrm>
                <a:off x="908" y="2056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  <a:gd name="T6" fmla="*/ 0 w 4418"/>
                  <a:gd name="T7" fmla="*/ 0 h 1"/>
                  <a:gd name="T8" fmla="*/ 4418 w 441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14" name="Line 130"/>
              <p:cNvSpPr>
                <a:spLocks noChangeShapeType="1"/>
              </p:cNvSpPr>
              <p:nvPr/>
            </p:nvSpPr>
            <p:spPr bwMode="auto">
              <a:xfrm>
                <a:off x="129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15" name="Line 131"/>
              <p:cNvSpPr>
                <a:spLocks noChangeShapeType="1"/>
              </p:cNvSpPr>
              <p:nvPr/>
            </p:nvSpPr>
            <p:spPr bwMode="auto">
              <a:xfrm>
                <a:off x="186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16" name="Line 132"/>
              <p:cNvSpPr>
                <a:spLocks noChangeShapeType="1"/>
              </p:cNvSpPr>
              <p:nvPr/>
            </p:nvSpPr>
            <p:spPr bwMode="auto">
              <a:xfrm>
                <a:off x="244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17" name="Line 133"/>
              <p:cNvSpPr>
                <a:spLocks noChangeShapeType="1"/>
              </p:cNvSpPr>
              <p:nvPr/>
            </p:nvSpPr>
            <p:spPr bwMode="auto">
              <a:xfrm>
                <a:off x="3020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18" name="Line 134"/>
              <p:cNvSpPr>
                <a:spLocks noChangeShapeType="1"/>
              </p:cNvSpPr>
              <p:nvPr/>
            </p:nvSpPr>
            <p:spPr bwMode="auto">
              <a:xfrm>
                <a:off x="3596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19" name="Line 135"/>
              <p:cNvSpPr>
                <a:spLocks noChangeShapeType="1"/>
              </p:cNvSpPr>
              <p:nvPr/>
            </p:nvSpPr>
            <p:spPr bwMode="auto">
              <a:xfrm>
                <a:off x="417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20" name="Line 136"/>
              <p:cNvSpPr>
                <a:spLocks noChangeShapeType="1"/>
              </p:cNvSpPr>
              <p:nvPr/>
            </p:nvSpPr>
            <p:spPr bwMode="auto">
              <a:xfrm>
                <a:off x="474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21" name="Line 137"/>
              <p:cNvSpPr>
                <a:spLocks noChangeShapeType="1"/>
              </p:cNvSpPr>
              <p:nvPr/>
            </p:nvSpPr>
            <p:spPr bwMode="auto">
              <a:xfrm>
                <a:off x="532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22" name="Freeform 138"/>
              <p:cNvSpPr/>
              <p:nvPr/>
            </p:nvSpPr>
            <p:spPr bwMode="auto">
              <a:xfrm>
                <a:off x="909" y="2879"/>
                <a:ext cx="3860" cy="1"/>
              </a:xfrm>
              <a:custGeom>
                <a:avLst/>
                <a:gdLst>
                  <a:gd name="T0" fmla="*/ 0 w 3860"/>
                  <a:gd name="T1" fmla="*/ 1 h 1"/>
                  <a:gd name="T2" fmla="*/ 3860 w 3860"/>
                  <a:gd name="T3" fmla="*/ 0 h 1"/>
                  <a:gd name="T4" fmla="*/ 0 60000 65536"/>
                  <a:gd name="T5" fmla="*/ 0 60000 65536"/>
                  <a:gd name="T6" fmla="*/ 0 w 3860"/>
                  <a:gd name="T7" fmla="*/ 0 h 1"/>
                  <a:gd name="T8" fmla="*/ 3860 w 386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60" h="1">
                    <a:moveTo>
                      <a:pt x="0" y="1"/>
                    </a:moveTo>
                    <a:lnTo>
                      <a:pt x="386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23" name="Freeform 139"/>
              <p:cNvSpPr/>
              <p:nvPr/>
            </p:nvSpPr>
            <p:spPr bwMode="auto">
              <a:xfrm>
                <a:off x="912" y="3209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  <a:gd name="T6" fmla="*/ 0 w 4418"/>
                  <a:gd name="T7" fmla="*/ 0 h 1"/>
                  <a:gd name="T8" fmla="*/ 4418 w 441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24" name="Rectangle 140"/>
              <p:cNvSpPr>
                <a:spLocks noChangeArrowheads="1"/>
              </p:cNvSpPr>
              <p:nvPr/>
            </p:nvSpPr>
            <p:spPr bwMode="auto">
              <a:xfrm>
                <a:off x="114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27125" name="Text Box 141"/>
              <p:cNvSpPr txBox="1">
                <a:spLocks noChangeArrowheads="1"/>
              </p:cNvSpPr>
              <p:nvPr/>
            </p:nvSpPr>
            <p:spPr bwMode="auto">
              <a:xfrm>
                <a:off x="1172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  <p:sp>
            <p:nvSpPr>
              <p:cNvPr id="127126" name="Freeform 142"/>
              <p:cNvSpPr/>
              <p:nvPr/>
            </p:nvSpPr>
            <p:spPr bwMode="auto">
              <a:xfrm>
                <a:off x="1402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5"/>
                  <a:gd name="T13" fmla="*/ 0 h 1466"/>
                  <a:gd name="T14" fmla="*/ 145 w 145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27" name="Freeform 143"/>
              <p:cNvSpPr/>
              <p:nvPr/>
            </p:nvSpPr>
            <p:spPr bwMode="auto">
              <a:xfrm>
                <a:off x="1613" y="1211"/>
                <a:ext cx="169" cy="1469"/>
              </a:xfrm>
              <a:custGeom>
                <a:avLst/>
                <a:gdLst>
                  <a:gd name="T0" fmla="*/ 169 w 169"/>
                  <a:gd name="T1" fmla="*/ 1468 h 1469"/>
                  <a:gd name="T2" fmla="*/ 0 w 169"/>
                  <a:gd name="T3" fmla="*/ 1469 h 1469"/>
                  <a:gd name="T4" fmla="*/ 1 w 169"/>
                  <a:gd name="T5" fmla="*/ 0 h 1469"/>
                  <a:gd name="T6" fmla="*/ 105 w 16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9"/>
                  <a:gd name="T13" fmla="*/ 0 h 1469"/>
                  <a:gd name="T14" fmla="*/ 169 w 169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9" h="1469">
                    <a:moveTo>
                      <a:pt x="169" y="1468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28" name="Freeform 144"/>
              <p:cNvSpPr/>
              <p:nvPr/>
            </p:nvSpPr>
            <p:spPr bwMode="auto">
              <a:xfrm>
                <a:off x="1967" y="1211"/>
                <a:ext cx="141" cy="1466"/>
              </a:xfrm>
              <a:custGeom>
                <a:avLst/>
                <a:gdLst>
                  <a:gd name="T0" fmla="*/ 38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1"/>
                  <a:gd name="T13" fmla="*/ 0 h 1466"/>
                  <a:gd name="T14" fmla="*/ 141 w 141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1" h="1466">
                    <a:moveTo>
                      <a:pt x="38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29" name="Freeform 145"/>
              <p:cNvSpPr/>
              <p:nvPr/>
            </p:nvSpPr>
            <p:spPr bwMode="auto">
              <a:xfrm>
                <a:off x="2208" y="1211"/>
                <a:ext cx="155" cy="1467"/>
              </a:xfrm>
              <a:custGeom>
                <a:avLst/>
                <a:gdLst>
                  <a:gd name="T0" fmla="*/ 155 w 155"/>
                  <a:gd name="T1" fmla="*/ 1467 h 1467"/>
                  <a:gd name="T2" fmla="*/ 3 w 155"/>
                  <a:gd name="T3" fmla="*/ 1467 h 1467"/>
                  <a:gd name="T4" fmla="*/ 0 w 155"/>
                  <a:gd name="T5" fmla="*/ 1 h 1467"/>
                  <a:gd name="T6" fmla="*/ 89 w 155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5"/>
                  <a:gd name="T13" fmla="*/ 0 h 1467"/>
                  <a:gd name="T14" fmla="*/ 155 w 155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5" h="1467">
                    <a:moveTo>
                      <a:pt x="155" y="1467"/>
                    </a:moveTo>
                    <a:lnTo>
                      <a:pt x="3" y="1467"/>
                    </a:lnTo>
                    <a:lnTo>
                      <a:pt x="0" y="1"/>
                    </a:lnTo>
                    <a:lnTo>
                      <a:pt x="89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30" name="Freeform 146"/>
              <p:cNvSpPr/>
              <p:nvPr/>
            </p:nvSpPr>
            <p:spPr bwMode="auto">
              <a:xfrm>
                <a:off x="2557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4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2"/>
                  <a:gd name="T13" fmla="*/ 0 h 1466"/>
                  <a:gd name="T14" fmla="*/ 142 w 142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4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31" name="Freeform 147"/>
              <p:cNvSpPr/>
              <p:nvPr/>
            </p:nvSpPr>
            <p:spPr bwMode="auto">
              <a:xfrm>
                <a:off x="2787" y="1211"/>
                <a:ext cx="152" cy="1467"/>
              </a:xfrm>
              <a:custGeom>
                <a:avLst/>
                <a:gdLst>
                  <a:gd name="T0" fmla="*/ 152 w 152"/>
                  <a:gd name="T1" fmla="*/ 1467 h 1467"/>
                  <a:gd name="T2" fmla="*/ 0 w 152"/>
                  <a:gd name="T3" fmla="*/ 1467 h 1467"/>
                  <a:gd name="T4" fmla="*/ 0 w 152"/>
                  <a:gd name="T5" fmla="*/ 1 h 1467"/>
                  <a:gd name="T6" fmla="*/ 77 w 152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7"/>
                  <a:gd name="T14" fmla="*/ 152 w 152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7">
                    <a:moveTo>
                      <a:pt x="152" y="1467"/>
                    </a:moveTo>
                    <a:lnTo>
                      <a:pt x="0" y="1467"/>
                    </a:lnTo>
                    <a:lnTo>
                      <a:pt x="0" y="1"/>
                    </a:lnTo>
                    <a:lnTo>
                      <a:pt x="7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32" name="Freeform 148"/>
              <p:cNvSpPr/>
              <p:nvPr/>
            </p:nvSpPr>
            <p:spPr bwMode="auto">
              <a:xfrm>
                <a:off x="3130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5"/>
                  <a:gd name="T13" fmla="*/ 0 h 1466"/>
                  <a:gd name="T14" fmla="*/ 145 w 145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33" name="Freeform 149"/>
              <p:cNvSpPr/>
              <p:nvPr/>
            </p:nvSpPr>
            <p:spPr bwMode="auto">
              <a:xfrm>
                <a:off x="3360" y="1209"/>
                <a:ext cx="155" cy="1469"/>
              </a:xfrm>
              <a:custGeom>
                <a:avLst/>
                <a:gdLst>
                  <a:gd name="T0" fmla="*/ 155 w 155"/>
                  <a:gd name="T1" fmla="*/ 1469 h 1469"/>
                  <a:gd name="T2" fmla="*/ 3 w 155"/>
                  <a:gd name="T3" fmla="*/ 1469 h 1469"/>
                  <a:gd name="T4" fmla="*/ 0 w 155"/>
                  <a:gd name="T5" fmla="*/ 0 h 1469"/>
                  <a:gd name="T6" fmla="*/ 103 w 155"/>
                  <a:gd name="T7" fmla="*/ 2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5"/>
                  <a:gd name="T13" fmla="*/ 0 h 1469"/>
                  <a:gd name="T14" fmla="*/ 155 w 155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5" h="1469">
                    <a:moveTo>
                      <a:pt x="155" y="1469"/>
                    </a:moveTo>
                    <a:lnTo>
                      <a:pt x="3" y="1469"/>
                    </a:lnTo>
                    <a:lnTo>
                      <a:pt x="0" y="0"/>
                    </a:lnTo>
                    <a:lnTo>
                      <a:pt x="103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34" name="Freeform 150"/>
              <p:cNvSpPr/>
              <p:nvPr/>
            </p:nvSpPr>
            <p:spPr bwMode="auto">
              <a:xfrm>
                <a:off x="3710" y="1211"/>
                <a:ext cx="141" cy="1466"/>
              </a:xfrm>
              <a:custGeom>
                <a:avLst/>
                <a:gdLst>
                  <a:gd name="T0" fmla="*/ 42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1"/>
                  <a:gd name="T13" fmla="*/ 0 h 1466"/>
                  <a:gd name="T14" fmla="*/ 141 w 141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1" h="1466">
                    <a:moveTo>
                      <a:pt x="42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35" name="Freeform 151"/>
              <p:cNvSpPr/>
              <p:nvPr/>
            </p:nvSpPr>
            <p:spPr bwMode="auto">
              <a:xfrm>
                <a:off x="3939" y="1211"/>
                <a:ext cx="152" cy="1467"/>
              </a:xfrm>
              <a:custGeom>
                <a:avLst/>
                <a:gdLst>
                  <a:gd name="T0" fmla="*/ 152 w 152"/>
                  <a:gd name="T1" fmla="*/ 1467 h 1467"/>
                  <a:gd name="T2" fmla="*/ 0 w 152"/>
                  <a:gd name="T3" fmla="*/ 1467 h 1467"/>
                  <a:gd name="T4" fmla="*/ 0 w 152"/>
                  <a:gd name="T5" fmla="*/ 1 h 1467"/>
                  <a:gd name="T6" fmla="*/ 103 w 152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7"/>
                  <a:gd name="T14" fmla="*/ 152 w 152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7">
                    <a:moveTo>
                      <a:pt x="152" y="1467"/>
                    </a:moveTo>
                    <a:lnTo>
                      <a:pt x="0" y="1467"/>
                    </a:lnTo>
                    <a:lnTo>
                      <a:pt x="0" y="1"/>
                    </a:lnTo>
                    <a:lnTo>
                      <a:pt x="103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36" name="Freeform 152"/>
              <p:cNvSpPr/>
              <p:nvPr/>
            </p:nvSpPr>
            <p:spPr bwMode="auto">
              <a:xfrm>
                <a:off x="4280" y="1211"/>
                <a:ext cx="147" cy="1466"/>
              </a:xfrm>
              <a:custGeom>
                <a:avLst/>
                <a:gdLst>
                  <a:gd name="T0" fmla="*/ 51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466"/>
                  <a:gd name="T14" fmla="*/ 147 w 147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466">
                    <a:moveTo>
                      <a:pt x="51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37" name="Freeform 153"/>
              <p:cNvSpPr/>
              <p:nvPr/>
            </p:nvSpPr>
            <p:spPr bwMode="auto">
              <a:xfrm>
                <a:off x="4509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0 w 158"/>
                  <a:gd name="T3" fmla="*/ 1467 h 1467"/>
                  <a:gd name="T4" fmla="*/ 0 w 158"/>
                  <a:gd name="T5" fmla="*/ 0 h 1467"/>
                  <a:gd name="T6" fmla="*/ 95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0" y="1467"/>
                    </a:lnTo>
                    <a:lnTo>
                      <a:pt x="0" y="0"/>
                    </a:lnTo>
                    <a:lnTo>
                      <a:pt x="9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38" name="Freeform 154"/>
              <p:cNvSpPr/>
              <p:nvPr/>
            </p:nvSpPr>
            <p:spPr bwMode="auto">
              <a:xfrm>
                <a:off x="4861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2"/>
                  <a:gd name="T13" fmla="*/ 0 h 1466"/>
                  <a:gd name="T14" fmla="*/ 142 w 142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39" name="Freeform 155"/>
              <p:cNvSpPr/>
              <p:nvPr/>
            </p:nvSpPr>
            <p:spPr bwMode="auto">
              <a:xfrm>
                <a:off x="5069" y="1211"/>
                <a:ext cx="159" cy="1469"/>
              </a:xfrm>
              <a:custGeom>
                <a:avLst/>
                <a:gdLst>
                  <a:gd name="T0" fmla="*/ 159 w 159"/>
                  <a:gd name="T1" fmla="*/ 1467 h 1469"/>
                  <a:gd name="T2" fmla="*/ 0 w 159"/>
                  <a:gd name="T3" fmla="*/ 1469 h 1469"/>
                  <a:gd name="T4" fmla="*/ 1 w 159"/>
                  <a:gd name="T5" fmla="*/ 0 h 1469"/>
                  <a:gd name="T6" fmla="*/ 104 w 15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9"/>
                  <a:gd name="T13" fmla="*/ 0 h 1469"/>
                  <a:gd name="T14" fmla="*/ 159 w 159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9" h="1469">
                    <a:moveTo>
                      <a:pt x="159" y="1467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4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40" name="Freeform 156"/>
              <p:cNvSpPr/>
              <p:nvPr/>
            </p:nvSpPr>
            <p:spPr bwMode="auto">
              <a:xfrm>
                <a:off x="5417" y="1211"/>
                <a:ext cx="147" cy="1466"/>
              </a:xfrm>
              <a:custGeom>
                <a:avLst/>
                <a:gdLst>
                  <a:gd name="T0" fmla="*/ 47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466"/>
                  <a:gd name="T14" fmla="*/ 147 w 147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466">
                    <a:moveTo>
                      <a:pt x="47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41" name="Freeform 157"/>
              <p:cNvSpPr/>
              <p:nvPr/>
            </p:nvSpPr>
            <p:spPr bwMode="auto">
              <a:xfrm>
                <a:off x="1055" y="2738"/>
                <a:ext cx="730" cy="660"/>
              </a:xfrm>
              <a:custGeom>
                <a:avLst/>
                <a:gdLst>
                  <a:gd name="T0" fmla="*/ 160 w 730"/>
                  <a:gd name="T1" fmla="*/ 4 h 660"/>
                  <a:gd name="T2" fmla="*/ 0 w 730"/>
                  <a:gd name="T3" fmla="*/ 3 h 660"/>
                  <a:gd name="T4" fmla="*/ 0 w 730"/>
                  <a:gd name="T5" fmla="*/ 660 h 660"/>
                  <a:gd name="T6" fmla="*/ 558 w 730"/>
                  <a:gd name="T7" fmla="*/ 657 h 660"/>
                  <a:gd name="T8" fmla="*/ 558 w 730"/>
                  <a:gd name="T9" fmla="*/ 0 h 660"/>
                  <a:gd name="T10" fmla="*/ 730 w 730"/>
                  <a:gd name="T11" fmla="*/ 1 h 6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30"/>
                  <a:gd name="T19" fmla="*/ 0 h 660"/>
                  <a:gd name="T20" fmla="*/ 730 w 730"/>
                  <a:gd name="T21" fmla="*/ 660 h 66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30" h="660">
                    <a:moveTo>
                      <a:pt x="160" y="4"/>
                    </a:moveTo>
                    <a:lnTo>
                      <a:pt x="0" y="3"/>
                    </a:lnTo>
                    <a:lnTo>
                      <a:pt x="0" y="660"/>
                    </a:lnTo>
                    <a:lnTo>
                      <a:pt x="558" y="657"/>
                    </a:lnTo>
                    <a:lnTo>
                      <a:pt x="558" y="0"/>
                    </a:lnTo>
                    <a:lnTo>
                      <a:pt x="730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42" name="Freeform 158"/>
              <p:cNvSpPr/>
              <p:nvPr/>
            </p:nvSpPr>
            <p:spPr bwMode="auto">
              <a:xfrm>
                <a:off x="2207" y="2744"/>
                <a:ext cx="729" cy="658"/>
              </a:xfrm>
              <a:custGeom>
                <a:avLst/>
                <a:gdLst>
                  <a:gd name="T0" fmla="*/ 153 w 729"/>
                  <a:gd name="T1" fmla="*/ 0 h 658"/>
                  <a:gd name="T2" fmla="*/ 0 w 729"/>
                  <a:gd name="T3" fmla="*/ 0 h 658"/>
                  <a:gd name="T4" fmla="*/ 0 w 729"/>
                  <a:gd name="T5" fmla="*/ 657 h 658"/>
                  <a:gd name="T6" fmla="*/ 583 w 729"/>
                  <a:gd name="T7" fmla="*/ 658 h 658"/>
                  <a:gd name="T8" fmla="*/ 582 w 729"/>
                  <a:gd name="T9" fmla="*/ 3 h 658"/>
                  <a:gd name="T10" fmla="*/ 729 w 729"/>
                  <a:gd name="T11" fmla="*/ 3 h 6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8"/>
                  <a:gd name="T20" fmla="*/ 729 w 729"/>
                  <a:gd name="T21" fmla="*/ 658 h 65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8">
                    <a:moveTo>
                      <a:pt x="153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83" y="658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43" name="Freeform 159"/>
              <p:cNvSpPr/>
              <p:nvPr/>
            </p:nvSpPr>
            <p:spPr bwMode="auto">
              <a:xfrm>
                <a:off x="3356" y="2744"/>
                <a:ext cx="729" cy="657"/>
              </a:xfrm>
              <a:custGeom>
                <a:avLst/>
                <a:gdLst>
                  <a:gd name="T0" fmla="*/ 158 w 729"/>
                  <a:gd name="T1" fmla="*/ 0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7"/>
                  <a:gd name="T20" fmla="*/ 729 w 729"/>
                  <a:gd name="T21" fmla="*/ 657 h 6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7">
                    <a:moveTo>
                      <a:pt x="158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44" name="Freeform 160"/>
              <p:cNvSpPr/>
              <p:nvPr/>
            </p:nvSpPr>
            <p:spPr bwMode="auto">
              <a:xfrm>
                <a:off x="4508" y="2744"/>
                <a:ext cx="729" cy="657"/>
              </a:xfrm>
              <a:custGeom>
                <a:avLst/>
                <a:gdLst>
                  <a:gd name="T0" fmla="*/ 161 w 729"/>
                  <a:gd name="T1" fmla="*/ 2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7"/>
                  <a:gd name="T20" fmla="*/ 729 w 729"/>
                  <a:gd name="T21" fmla="*/ 657 h 6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7">
                    <a:moveTo>
                      <a:pt x="161" y="2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45" name="Freeform 161"/>
              <p:cNvSpPr/>
              <p:nvPr/>
            </p:nvSpPr>
            <p:spPr bwMode="auto">
              <a:xfrm>
                <a:off x="1400" y="2735"/>
                <a:ext cx="708" cy="571"/>
              </a:xfrm>
              <a:custGeom>
                <a:avLst/>
                <a:gdLst>
                  <a:gd name="T0" fmla="*/ 0 w 708"/>
                  <a:gd name="T1" fmla="*/ 0 h 571"/>
                  <a:gd name="T2" fmla="*/ 132 w 708"/>
                  <a:gd name="T3" fmla="*/ 0 h 571"/>
                  <a:gd name="T4" fmla="*/ 133 w 708"/>
                  <a:gd name="T5" fmla="*/ 571 h 571"/>
                  <a:gd name="T6" fmla="*/ 708 w 708"/>
                  <a:gd name="T7" fmla="*/ 570 h 571"/>
                  <a:gd name="T8" fmla="*/ 708 w 708"/>
                  <a:gd name="T9" fmla="*/ 9 h 571"/>
                  <a:gd name="T10" fmla="*/ 573 w 708"/>
                  <a:gd name="T11" fmla="*/ 9 h 5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08"/>
                  <a:gd name="T19" fmla="*/ 0 h 571"/>
                  <a:gd name="T20" fmla="*/ 708 w 708"/>
                  <a:gd name="T21" fmla="*/ 571 h 57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08" h="571">
                    <a:moveTo>
                      <a:pt x="0" y="0"/>
                    </a:moveTo>
                    <a:lnTo>
                      <a:pt x="132" y="0"/>
                    </a:lnTo>
                    <a:lnTo>
                      <a:pt x="133" y="571"/>
                    </a:lnTo>
                    <a:lnTo>
                      <a:pt x="708" y="570"/>
                    </a:lnTo>
                    <a:lnTo>
                      <a:pt x="708" y="9"/>
                    </a:lnTo>
                    <a:lnTo>
                      <a:pt x="573" y="9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46" name="Freeform 162"/>
              <p:cNvSpPr/>
              <p:nvPr/>
            </p:nvSpPr>
            <p:spPr bwMode="auto">
              <a:xfrm>
                <a:off x="2552" y="2735"/>
                <a:ext cx="726" cy="567"/>
              </a:xfrm>
              <a:custGeom>
                <a:avLst/>
                <a:gdLst>
                  <a:gd name="T0" fmla="*/ 0 w 726"/>
                  <a:gd name="T1" fmla="*/ 0 h 567"/>
                  <a:gd name="T2" fmla="*/ 148 w 726"/>
                  <a:gd name="T3" fmla="*/ 1 h 567"/>
                  <a:gd name="T4" fmla="*/ 147 w 726"/>
                  <a:gd name="T5" fmla="*/ 567 h 567"/>
                  <a:gd name="T6" fmla="*/ 726 w 726"/>
                  <a:gd name="T7" fmla="*/ 567 h 567"/>
                  <a:gd name="T8" fmla="*/ 726 w 726"/>
                  <a:gd name="T9" fmla="*/ 6 h 567"/>
                  <a:gd name="T10" fmla="*/ 579 w 726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6"/>
                  <a:gd name="T19" fmla="*/ 0 h 567"/>
                  <a:gd name="T20" fmla="*/ 726 w 726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6" h="567">
                    <a:moveTo>
                      <a:pt x="0" y="0"/>
                    </a:moveTo>
                    <a:lnTo>
                      <a:pt x="148" y="1"/>
                    </a:lnTo>
                    <a:lnTo>
                      <a:pt x="147" y="567"/>
                    </a:lnTo>
                    <a:lnTo>
                      <a:pt x="726" y="567"/>
                    </a:lnTo>
                    <a:lnTo>
                      <a:pt x="726" y="6"/>
                    </a:lnTo>
                    <a:lnTo>
                      <a:pt x="579" y="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47" name="Freeform 163"/>
              <p:cNvSpPr/>
              <p:nvPr/>
            </p:nvSpPr>
            <p:spPr bwMode="auto">
              <a:xfrm>
                <a:off x="3704" y="2738"/>
                <a:ext cx="714" cy="567"/>
              </a:xfrm>
              <a:custGeom>
                <a:avLst/>
                <a:gdLst>
                  <a:gd name="T0" fmla="*/ 0 w 714"/>
                  <a:gd name="T1" fmla="*/ 0 h 567"/>
                  <a:gd name="T2" fmla="*/ 136 w 714"/>
                  <a:gd name="T3" fmla="*/ 1 h 567"/>
                  <a:gd name="T4" fmla="*/ 135 w 714"/>
                  <a:gd name="T5" fmla="*/ 567 h 567"/>
                  <a:gd name="T6" fmla="*/ 714 w 714"/>
                  <a:gd name="T7" fmla="*/ 567 h 567"/>
                  <a:gd name="T8" fmla="*/ 714 w 714"/>
                  <a:gd name="T9" fmla="*/ 6 h 567"/>
                  <a:gd name="T10" fmla="*/ 576 w 714"/>
                  <a:gd name="T11" fmla="*/ 5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14"/>
                  <a:gd name="T19" fmla="*/ 0 h 567"/>
                  <a:gd name="T20" fmla="*/ 714 w 714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14" h="567">
                    <a:moveTo>
                      <a:pt x="0" y="0"/>
                    </a:moveTo>
                    <a:lnTo>
                      <a:pt x="136" y="1"/>
                    </a:lnTo>
                    <a:lnTo>
                      <a:pt x="135" y="567"/>
                    </a:lnTo>
                    <a:lnTo>
                      <a:pt x="714" y="567"/>
                    </a:lnTo>
                    <a:lnTo>
                      <a:pt x="714" y="6"/>
                    </a:lnTo>
                    <a:lnTo>
                      <a:pt x="576" y="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48" name="Freeform 164"/>
              <p:cNvSpPr/>
              <p:nvPr/>
            </p:nvSpPr>
            <p:spPr bwMode="auto">
              <a:xfrm>
                <a:off x="4859" y="2738"/>
                <a:ext cx="711" cy="567"/>
              </a:xfrm>
              <a:custGeom>
                <a:avLst/>
                <a:gdLst>
                  <a:gd name="T0" fmla="*/ 0 w 711"/>
                  <a:gd name="T1" fmla="*/ 0 h 567"/>
                  <a:gd name="T2" fmla="*/ 130 w 711"/>
                  <a:gd name="T3" fmla="*/ 1 h 567"/>
                  <a:gd name="T4" fmla="*/ 132 w 711"/>
                  <a:gd name="T5" fmla="*/ 567 h 567"/>
                  <a:gd name="T6" fmla="*/ 711 w 711"/>
                  <a:gd name="T7" fmla="*/ 567 h 567"/>
                  <a:gd name="T8" fmla="*/ 711 w 711"/>
                  <a:gd name="T9" fmla="*/ 6 h 567"/>
                  <a:gd name="T10" fmla="*/ 564 w 711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11"/>
                  <a:gd name="T19" fmla="*/ 0 h 567"/>
                  <a:gd name="T20" fmla="*/ 711 w 711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11" h="567">
                    <a:moveTo>
                      <a:pt x="0" y="0"/>
                    </a:moveTo>
                    <a:lnTo>
                      <a:pt x="130" y="1"/>
                    </a:lnTo>
                    <a:lnTo>
                      <a:pt x="132" y="567"/>
                    </a:lnTo>
                    <a:lnTo>
                      <a:pt x="711" y="567"/>
                    </a:lnTo>
                    <a:lnTo>
                      <a:pt x="711" y="6"/>
                    </a:lnTo>
                    <a:lnTo>
                      <a:pt x="564" y="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49" name="Freeform 165"/>
              <p:cNvSpPr/>
              <p:nvPr/>
            </p:nvSpPr>
            <p:spPr bwMode="auto">
              <a:xfrm>
                <a:off x="1322" y="3398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50" name="Freeform 166"/>
              <p:cNvSpPr/>
              <p:nvPr/>
            </p:nvSpPr>
            <p:spPr bwMode="auto">
              <a:xfrm>
                <a:off x="2491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51" name="Freeform 167"/>
              <p:cNvSpPr/>
              <p:nvPr/>
            </p:nvSpPr>
            <p:spPr bwMode="auto">
              <a:xfrm>
                <a:off x="3643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52" name="Freeform 168"/>
              <p:cNvSpPr/>
              <p:nvPr/>
            </p:nvSpPr>
            <p:spPr bwMode="auto">
              <a:xfrm>
                <a:off x="4795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53" name="Freeform 169"/>
              <p:cNvSpPr/>
              <p:nvPr/>
            </p:nvSpPr>
            <p:spPr bwMode="auto">
              <a:xfrm>
                <a:off x="5276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54" name="Freeform 170"/>
              <p:cNvSpPr/>
              <p:nvPr/>
            </p:nvSpPr>
            <p:spPr bwMode="auto">
              <a:xfrm>
                <a:off x="4124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55" name="Freeform 171"/>
              <p:cNvSpPr/>
              <p:nvPr/>
            </p:nvSpPr>
            <p:spPr bwMode="auto">
              <a:xfrm>
                <a:off x="2972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56" name="Freeform 172"/>
              <p:cNvSpPr/>
              <p:nvPr/>
            </p:nvSpPr>
            <p:spPr bwMode="auto">
              <a:xfrm>
                <a:off x="1819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57" name="Freeform 173"/>
              <p:cNvSpPr/>
              <p:nvPr/>
            </p:nvSpPr>
            <p:spPr bwMode="auto">
              <a:xfrm>
                <a:off x="956" y="4025"/>
                <a:ext cx="4317" cy="1"/>
              </a:xfrm>
              <a:custGeom>
                <a:avLst/>
                <a:gdLst>
                  <a:gd name="T0" fmla="*/ 0 w 4317"/>
                  <a:gd name="T1" fmla="*/ 0 h 1"/>
                  <a:gd name="T2" fmla="*/ 4317 w 4317"/>
                  <a:gd name="T3" fmla="*/ 0 h 1"/>
                  <a:gd name="T4" fmla="*/ 0 60000 65536"/>
                  <a:gd name="T5" fmla="*/ 0 60000 65536"/>
                  <a:gd name="T6" fmla="*/ 0 w 4317"/>
                  <a:gd name="T7" fmla="*/ 0 h 1"/>
                  <a:gd name="T8" fmla="*/ 4317 w 431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317" h="1">
                    <a:moveTo>
                      <a:pt x="0" y="0"/>
                    </a:moveTo>
                    <a:lnTo>
                      <a:pt x="431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58" name="Freeform 174"/>
              <p:cNvSpPr/>
              <p:nvPr/>
            </p:nvSpPr>
            <p:spPr bwMode="auto">
              <a:xfrm>
                <a:off x="956" y="4121"/>
                <a:ext cx="3837" cy="1"/>
              </a:xfrm>
              <a:custGeom>
                <a:avLst/>
                <a:gdLst>
                  <a:gd name="T0" fmla="*/ 0 w 3837"/>
                  <a:gd name="T1" fmla="*/ 0 h 1"/>
                  <a:gd name="T2" fmla="*/ 3837 w 3837"/>
                  <a:gd name="T3" fmla="*/ 0 h 1"/>
                  <a:gd name="T4" fmla="*/ 0 60000 65536"/>
                  <a:gd name="T5" fmla="*/ 0 60000 65536"/>
                  <a:gd name="T6" fmla="*/ 0 w 3837"/>
                  <a:gd name="T7" fmla="*/ 0 h 1"/>
                  <a:gd name="T8" fmla="*/ 3837 w 383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37" h="1">
                    <a:moveTo>
                      <a:pt x="0" y="0"/>
                    </a:moveTo>
                    <a:lnTo>
                      <a:pt x="383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59" name="Freeform 175"/>
              <p:cNvSpPr/>
              <p:nvPr/>
            </p:nvSpPr>
            <p:spPr bwMode="auto">
              <a:xfrm>
                <a:off x="1322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60" name="Freeform 176"/>
              <p:cNvSpPr/>
              <p:nvPr/>
            </p:nvSpPr>
            <p:spPr bwMode="auto">
              <a:xfrm>
                <a:off x="2491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61" name="Freeform 177"/>
              <p:cNvSpPr/>
              <p:nvPr/>
            </p:nvSpPr>
            <p:spPr bwMode="auto">
              <a:xfrm>
                <a:off x="3643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62" name="Freeform 178"/>
              <p:cNvSpPr/>
              <p:nvPr/>
            </p:nvSpPr>
            <p:spPr bwMode="auto">
              <a:xfrm>
                <a:off x="4791" y="3881"/>
                <a:ext cx="4" cy="247"/>
              </a:xfrm>
              <a:custGeom>
                <a:avLst/>
                <a:gdLst>
                  <a:gd name="T0" fmla="*/ 4 w 4"/>
                  <a:gd name="T1" fmla="*/ 0 h 247"/>
                  <a:gd name="T2" fmla="*/ 0 w 4"/>
                  <a:gd name="T3" fmla="*/ 247 h 247"/>
                  <a:gd name="T4" fmla="*/ 0 60000 65536"/>
                  <a:gd name="T5" fmla="*/ 0 60000 65536"/>
                  <a:gd name="T6" fmla="*/ 0 w 4"/>
                  <a:gd name="T7" fmla="*/ 0 h 247"/>
                  <a:gd name="T8" fmla="*/ 4 w 4"/>
                  <a:gd name="T9" fmla="*/ 247 h 24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47">
                    <a:moveTo>
                      <a:pt x="4" y="0"/>
                    </a:moveTo>
                    <a:lnTo>
                      <a:pt x="0" y="247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63" name="Freeform 179"/>
              <p:cNvSpPr/>
              <p:nvPr/>
            </p:nvSpPr>
            <p:spPr bwMode="auto">
              <a:xfrm>
                <a:off x="5277" y="3881"/>
                <a:ext cx="1" cy="151"/>
              </a:xfrm>
              <a:custGeom>
                <a:avLst/>
                <a:gdLst>
                  <a:gd name="T0" fmla="*/ 0 w 1"/>
                  <a:gd name="T1" fmla="*/ 0 h 151"/>
                  <a:gd name="T2" fmla="*/ 0 w 1"/>
                  <a:gd name="T3" fmla="*/ 151 h 151"/>
                  <a:gd name="T4" fmla="*/ 0 60000 65536"/>
                  <a:gd name="T5" fmla="*/ 0 60000 65536"/>
                  <a:gd name="T6" fmla="*/ 0 w 1"/>
                  <a:gd name="T7" fmla="*/ 0 h 151"/>
                  <a:gd name="T8" fmla="*/ 1 w 1"/>
                  <a:gd name="T9" fmla="*/ 151 h 15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1">
                    <a:moveTo>
                      <a:pt x="0" y="0"/>
                    </a:moveTo>
                    <a:lnTo>
                      <a:pt x="0" y="15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64" name="Line 180"/>
              <p:cNvSpPr>
                <a:spLocks noChangeShapeType="1"/>
              </p:cNvSpPr>
              <p:nvPr/>
            </p:nvSpPr>
            <p:spPr bwMode="auto">
              <a:xfrm>
                <a:off x="4124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65" name="Line 181"/>
              <p:cNvSpPr>
                <a:spLocks noChangeShapeType="1"/>
              </p:cNvSpPr>
              <p:nvPr/>
            </p:nvSpPr>
            <p:spPr bwMode="auto">
              <a:xfrm>
                <a:off x="2973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66" name="Line 182"/>
              <p:cNvSpPr>
                <a:spLocks noChangeShapeType="1"/>
              </p:cNvSpPr>
              <p:nvPr/>
            </p:nvSpPr>
            <p:spPr bwMode="auto">
              <a:xfrm>
                <a:off x="1820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67" name="Rectangle 183"/>
              <p:cNvSpPr>
                <a:spLocks noChangeArrowheads="1"/>
              </p:cNvSpPr>
              <p:nvPr/>
            </p:nvSpPr>
            <p:spPr bwMode="auto">
              <a:xfrm>
                <a:off x="2317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27168" name="Text Box 184"/>
              <p:cNvSpPr txBox="1">
                <a:spLocks noChangeArrowheads="1"/>
              </p:cNvSpPr>
              <p:nvPr/>
            </p:nvSpPr>
            <p:spPr bwMode="auto">
              <a:xfrm>
                <a:off x="2348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  <p:sp>
            <p:nvSpPr>
              <p:cNvPr id="127169" name="Rectangle 185"/>
              <p:cNvSpPr>
                <a:spLocks noChangeArrowheads="1"/>
              </p:cNvSpPr>
              <p:nvPr/>
            </p:nvSpPr>
            <p:spPr bwMode="auto">
              <a:xfrm>
                <a:off x="3469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27170" name="Text Box 186"/>
              <p:cNvSpPr txBox="1">
                <a:spLocks noChangeArrowheads="1"/>
              </p:cNvSpPr>
              <p:nvPr/>
            </p:nvSpPr>
            <p:spPr bwMode="auto">
              <a:xfrm>
                <a:off x="3500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  <p:sp>
            <p:nvSpPr>
              <p:cNvPr id="127171" name="Rectangle 187"/>
              <p:cNvSpPr>
                <a:spLocks noChangeArrowheads="1"/>
              </p:cNvSpPr>
              <p:nvPr/>
            </p:nvSpPr>
            <p:spPr bwMode="auto">
              <a:xfrm>
                <a:off x="462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27172" name="Text Box 188"/>
              <p:cNvSpPr txBox="1">
                <a:spLocks noChangeArrowheads="1"/>
              </p:cNvSpPr>
              <p:nvPr/>
            </p:nvSpPr>
            <p:spPr bwMode="auto">
              <a:xfrm>
                <a:off x="4652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  <p:sp>
            <p:nvSpPr>
              <p:cNvPr id="127173" name="Line 189"/>
              <p:cNvSpPr>
                <a:spLocks noChangeShapeType="1"/>
              </p:cNvSpPr>
              <p:nvPr/>
            </p:nvSpPr>
            <p:spPr bwMode="auto">
              <a:xfrm>
                <a:off x="196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74" name="Line 190"/>
              <p:cNvSpPr>
                <a:spLocks noChangeShapeType="1"/>
              </p:cNvSpPr>
              <p:nvPr/>
            </p:nvSpPr>
            <p:spPr bwMode="auto">
              <a:xfrm>
                <a:off x="31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75" name="Line 191"/>
              <p:cNvSpPr>
                <a:spLocks noChangeShapeType="1"/>
              </p:cNvSpPr>
              <p:nvPr/>
            </p:nvSpPr>
            <p:spPr bwMode="auto">
              <a:xfrm>
                <a:off x="4293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76" name="Line 192"/>
              <p:cNvSpPr>
                <a:spLocks noChangeShapeType="1"/>
              </p:cNvSpPr>
              <p:nvPr/>
            </p:nvSpPr>
            <p:spPr bwMode="auto">
              <a:xfrm>
                <a:off x="5420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77" name="Freeform 193"/>
              <p:cNvSpPr/>
              <p:nvPr/>
            </p:nvSpPr>
            <p:spPr bwMode="auto">
              <a:xfrm>
                <a:off x="3033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7711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78" name="Freeform 194"/>
              <p:cNvSpPr/>
              <p:nvPr/>
            </p:nvSpPr>
            <p:spPr bwMode="auto">
              <a:xfrm>
                <a:off x="4185" y="2691"/>
                <a:ext cx="1" cy="525"/>
              </a:xfrm>
              <a:custGeom>
                <a:avLst/>
                <a:gdLst>
                  <a:gd name="T0" fmla="*/ 0 w 1"/>
                  <a:gd name="T1" fmla="*/ 0 h 525"/>
                  <a:gd name="T2" fmla="*/ 0 w 1"/>
                  <a:gd name="T3" fmla="*/ 525 h 525"/>
                  <a:gd name="T4" fmla="*/ 0 60000 65536"/>
                  <a:gd name="T5" fmla="*/ 0 60000 65536"/>
                  <a:gd name="T6" fmla="*/ 0 w 1"/>
                  <a:gd name="T7" fmla="*/ 0 h 525"/>
                  <a:gd name="T8" fmla="*/ 1 w 1"/>
                  <a:gd name="T9" fmla="*/ 525 h 52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525">
                    <a:moveTo>
                      <a:pt x="0" y="0"/>
                    </a:moveTo>
                    <a:lnTo>
                      <a:pt x="0" y="52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79" name="Freeform 195"/>
              <p:cNvSpPr/>
              <p:nvPr/>
            </p:nvSpPr>
            <p:spPr bwMode="auto">
              <a:xfrm>
                <a:off x="5325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7711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80" name="Text Box 196"/>
              <p:cNvSpPr txBox="1">
                <a:spLocks noChangeArrowheads="1"/>
              </p:cNvSpPr>
              <p:nvPr/>
            </p:nvSpPr>
            <p:spPr bwMode="auto">
              <a:xfrm rot="5400000">
                <a:off x="1193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27181" name="Text Box 197"/>
              <p:cNvSpPr txBox="1">
                <a:spLocks noChangeArrowheads="1"/>
              </p:cNvSpPr>
              <p:nvPr/>
            </p:nvSpPr>
            <p:spPr bwMode="auto">
              <a:xfrm rot="5400000">
                <a:off x="1769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27182" name="Text Box 198"/>
              <p:cNvSpPr txBox="1">
                <a:spLocks noChangeArrowheads="1"/>
              </p:cNvSpPr>
              <p:nvPr/>
            </p:nvSpPr>
            <p:spPr bwMode="auto">
              <a:xfrm rot="5400000">
                <a:off x="2345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27183" name="Text Box 199"/>
              <p:cNvSpPr txBox="1">
                <a:spLocks noChangeArrowheads="1"/>
              </p:cNvSpPr>
              <p:nvPr/>
            </p:nvSpPr>
            <p:spPr bwMode="auto">
              <a:xfrm rot="5400000">
                <a:off x="2921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27184" name="Text Box 200"/>
              <p:cNvSpPr txBox="1">
                <a:spLocks noChangeArrowheads="1"/>
              </p:cNvSpPr>
              <p:nvPr/>
            </p:nvSpPr>
            <p:spPr bwMode="auto">
              <a:xfrm rot="5400000">
                <a:off x="3496" y="1627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185" name="Text Box 201"/>
              <p:cNvSpPr txBox="1">
                <a:spLocks noChangeArrowheads="1"/>
              </p:cNvSpPr>
              <p:nvPr/>
            </p:nvSpPr>
            <p:spPr bwMode="auto">
              <a:xfrm rot="5400000">
                <a:off x="4073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186" name="Text Box 202"/>
              <p:cNvSpPr txBox="1">
                <a:spLocks noChangeArrowheads="1"/>
              </p:cNvSpPr>
              <p:nvPr/>
            </p:nvSpPr>
            <p:spPr bwMode="auto">
              <a:xfrm rot="5400000">
                <a:off x="4649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187" name="Text Box 203"/>
              <p:cNvSpPr txBox="1">
                <a:spLocks noChangeArrowheads="1"/>
              </p:cNvSpPr>
              <p:nvPr/>
            </p:nvSpPr>
            <p:spPr bwMode="auto">
              <a:xfrm rot="5400000">
                <a:off x="5244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188" name="Text Box 204"/>
              <p:cNvSpPr txBox="1">
                <a:spLocks noChangeArrowheads="1"/>
              </p:cNvSpPr>
              <p:nvPr/>
            </p:nvSpPr>
            <p:spPr bwMode="auto">
              <a:xfrm>
                <a:off x="660" y="791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27189" name="Text Box 205"/>
              <p:cNvSpPr txBox="1">
                <a:spLocks noChangeArrowheads="1"/>
              </p:cNvSpPr>
              <p:nvPr/>
            </p:nvSpPr>
            <p:spPr bwMode="auto">
              <a:xfrm>
                <a:off x="660" y="1383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27190" name="Text Box 206"/>
              <p:cNvSpPr txBox="1">
                <a:spLocks noChangeArrowheads="1"/>
              </p:cNvSpPr>
              <p:nvPr/>
            </p:nvSpPr>
            <p:spPr bwMode="auto">
              <a:xfrm>
                <a:off x="624" y="19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63</a:t>
                </a:r>
              </a:p>
            </p:txBody>
          </p:sp>
          <p:sp>
            <p:nvSpPr>
              <p:cNvPr id="127191" name="Line 207"/>
              <p:cNvSpPr>
                <a:spLocks noChangeShapeType="1"/>
              </p:cNvSpPr>
              <p:nvPr/>
            </p:nvSpPr>
            <p:spPr bwMode="auto">
              <a:xfrm>
                <a:off x="332" y="2537"/>
                <a:ext cx="57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192" name="Text Box 208"/>
              <p:cNvSpPr txBox="1">
                <a:spLocks noChangeArrowheads="1"/>
              </p:cNvSpPr>
              <p:nvPr/>
            </p:nvSpPr>
            <p:spPr bwMode="auto">
              <a:xfrm>
                <a:off x="660" y="2727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27193" name="Text Box 209"/>
              <p:cNvSpPr txBox="1">
                <a:spLocks noChangeArrowheads="1"/>
              </p:cNvSpPr>
              <p:nvPr/>
            </p:nvSpPr>
            <p:spPr bwMode="auto">
              <a:xfrm>
                <a:off x="624" y="31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27194" name="Text Box 210"/>
              <p:cNvSpPr txBox="1">
                <a:spLocks noChangeArrowheads="1"/>
              </p:cNvSpPr>
              <p:nvPr/>
            </p:nvSpPr>
            <p:spPr bwMode="auto">
              <a:xfrm rot="5400000">
                <a:off x="665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27195" name="Text Box 211"/>
              <p:cNvSpPr txBox="1">
                <a:spLocks noChangeArrowheads="1"/>
              </p:cNvSpPr>
              <p:nvPr/>
            </p:nvSpPr>
            <p:spPr bwMode="auto">
              <a:xfrm rot="5400000">
                <a:off x="665" y="2876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27196" name="Text Box 212"/>
              <p:cNvSpPr txBox="1">
                <a:spLocks noChangeArrowheads="1"/>
              </p:cNvSpPr>
              <p:nvPr/>
            </p:nvSpPr>
            <p:spPr bwMode="auto">
              <a:xfrm>
                <a:off x="348" y="101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行</a:t>
                </a:r>
              </a:p>
            </p:txBody>
          </p:sp>
          <p:sp>
            <p:nvSpPr>
              <p:cNvPr id="127197" name="Text Box 213"/>
              <p:cNvSpPr txBox="1">
                <a:spLocks noChangeArrowheads="1"/>
              </p:cNvSpPr>
              <p:nvPr/>
            </p:nvSpPr>
            <p:spPr bwMode="auto">
              <a:xfrm>
                <a:off x="348" y="126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地</a:t>
                </a:r>
              </a:p>
            </p:txBody>
          </p:sp>
          <p:sp>
            <p:nvSpPr>
              <p:cNvPr id="127198" name="Text Box 214"/>
              <p:cNvSpPr txBox="1">
                <a:spLocks noChangeArrowheads="1"/>
              </p:cNvSpPr>
              <p:nvPr/>
            </p:nvSpPr>
            <p:spPr bwMode="auto">
              <a:xfrm>
                <a:off x="348" y="151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址</a:t>
                </a:r>
              </a:p>
            </p:txBody>
          </p:sp>
          <p:sp>
            <p:nvSpPr>
              <p:cNvPr id="127199" name="Text Box 215"/>
              <p:cNvSpPr txBox="1">
                <a:spLocks noChangeArrowheads="1"/>
              </p:cNvSpPr>
              <p:nvPr/>
            </p:nvSpPr>
            <p:spPr bwMode="auto">
              <a:xfrm>
                <a:off x="348" y="175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译</a:t>
                </a:r>
              </a:p>
            </p:txBody>
          </p:sp>
          <p:sp>
            <p:nvSpPr>
              <p:cNvPr id="127200" name="Text Box 216"/>
              <p:cNvSpPr txBox="1">
                <a:spLocks noChangeArrowheads="1"/>
              </p:cNvSpPr>
              <p:nvPr/>
            </p:nvSpPr>
            <p:spPr bwMode="auto">
              <a:xfrm>
                <a:off x="348" y="200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码</a:t>
                </a:r>
              </a:p>
            </p:txBody>
          </p:sp>
          <p:sp>
            <p:nvSpPr>
              <p:cNvPr id="127201" name="Text Box 217"/>
              <p:cNvSpPr txBox="1">
                <a:spLocks noChangeArrowheads="1"/>
              </p:cNvSpPr>
              <p:nvPr/>
            </p:nvSpPr>
            <p:spPr bwMode="auto">
              <a:xfrm>
                <a:off x="375" y="263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列</a:t>
                </a:r>
              </a:p>
            </p:txBody>
          </p:sp>
          <p:sp>
            <p:nvSpPr>
              <p:cNvPr id="127202" name="Text Box 218"/>
              <p:cNvSpPr txBox="1">
                <a:spLocks noChangeArrowheads="1"/>
              </p:cNvSpPr>
              <p:nvPr/>
            </p:nvSpPr>
            <p:spPr bwMode="auto">
              <a:xfrm>
                <a:off x="375" y="288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地</a:t>
                </a:r>
              </a:p>
            </p:txBody>
          </p:sp>
          <p:sp>
            <p:nvSpPr>
              <p:cNvPr id="127203" name="Text Box 219"/>
              <p:cNvSpPr txBox="1">
                <a:spLocks noChangeArrowheads="1"/>
              </p:cNvSpPr>
              <p:nvPr/>
            </p:nvSpPr>
            <p:spPr bwMode="auto">
              <a:xfrm>
                <a:off x="375" y="313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址</a:t>
                </a:r>
              </a:p>
            </p:txBody>
          </p:sp>
          <p:sp>
            <p:nvSpPr>
              <p:cNvPr id="127204" name="Text Box 220"/>
              <p:cNvSpPr txBox="1">
                <a:spLocks noChangeArrowheads="1"/>
              </p:cNvSpPr>
              <p:nvPr/>
            </p:nvSpPr>
            <p:spPr bwMode="auto">
              <a:xfrm>
                <a:off x="375" y="337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译</a:t>
                </a:r>
              </a:p>
            </p:txBody>
          </p:sp>
          <p:sp>
            <p:nvSpPr>
              <p:cNvPr id="127205" name="Text Box 221"/>
              <p:cNvSpPr txBox="1">
                <a:spLocks noChangeArrowheads="1"/>
              </p:cNvSpPr>
              <p:nvPr/>
            </p:nvSpPr>
            <p:spPr bwMode="auto">
              <a:xfrm>
                <a:off x="375" y="362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码</a:t>
                </a:r>
              </a:p>
            </p:txBody>
          </p:sp>
          <p:sp>
            <p:nvSpPr>
              <p:cNvPr id="127206" name="Text Box 222"/>
              <p:cNvSpPr txBox="1">
                <a:spLocks noChangeArrowheads="1"/>
              </p:cNvSpPr>
              <p:nvPr/>
            </p:nvSpPr>
            <p:spPr bwMode="auto">
              <a:xfrm>
                <a:off x="194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27207" name="Text Box 223"/>
              <p:cNvSpPr txBox="1">
                <a:spLocks noChangeArrowheads="1"/>
              </p:cNvSpPr>
              <p:nvPr/>
            </p:nvSpPr>
            <p:spPr bwMode="auto">
              <a:xfrm>
                <a:off x="310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2</a:t>
                </a:r>
              </a:p>
            </p:txBody>
          </p:sp>
          <p:sp>
            <p:nvSpPr>
              <p:cNvPr id="127208" name="Text Box 224"/>
              <p:cNvSpPr txBox="1">
                <a:spLocks noChangeArrowheads="1"/>
              </p:cNvSpPr>
              <p:nvPr/>
            </p:nvSpPr>
            <p:spPr bwMode="auto">
              <a:xfrm>
                <a:off x="4256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3</a:t>
                </a:r>
              </a:p>
            </p:txBody>
          </p:sp>
          <p:sp>
            <p:nvSpPr>
              <p:cNvPr id="127209" name="Text Box 225"/>
              <p:cNvSpPr txBox="1">
                <a:spLocks noChangeArrowheads="1"/>
              </p:cNvSpPr>
              <p:nvPr/>
            </p:nvSpPr>
            <p:spPr bwMode="auto">
              <a:xfrm>
                <a:off x="541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sp>
            <p:nvSpPr>
              <p:cNvPr id="127210" name="Line 226"/>
              <p:cNvSpPr>
                <a:spLocks noChangeShapeType="1"/>
              </p:cNvSpPr>
              <p:nvPr/>
            </p:nvSpPr>
            <p:spPr bwMode="auto">
              <a:xfrm>
                <a:off x="140" y="905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211" name="Line 227"/>
              <p:cNvSpPr>
                <a:spLocks noChangeShapeType="1"/>
              </p:cNvSpPr>
              <p:nvPr/>
            </p:nvSpPr>
            <p:spPr bwMode="auto">
              <a:xfrm>
                <a:off x="140" y="116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212" name="Line 228"/>
              <p:cNvSpPr>
                <a:spLocks noChangeShapeType="1"/>
              </p:cNvSpPr>
              <p:nvPr/>
            </p:nvSpPr>
            <p:spPr bwMode="auto">
              <a:xfrm>
                <a:off x="140" y="142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213" name="Line 229"/>
              <p:cNvSpPr>
                <a:spLocks noChangeShapeType="1"/>
              </p:cNvSpPr>
              <p:nvPr/>
            </p:nvSpPr>
            <p:spPr bwMode="auto">
              <a:xfrm>
                <a:off x="140" y="168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214" name="Line 230"/>
              <p:cNvSpPr>
                <a:spLocks noChangeShapeType="1"/>
              </p:cNvSpPr>
              <p:nvPr/>
            </p:nvSpPr>
            <p:spPr bwMode="auto">
              <a:xfrm>
                <a:off x="140" y="194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215" name="Line 231"/>
              <p:cNvSpPr>
                <a:spLocks noChangeShapeType="1"/>
              </p:cNvSpPr>
              <p:nvPr/>
            </p:nvSpPr>
            <p:spPr bwMode="auto">
              <a:xfrm>
                <a:off x="140" y="220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216" name="Line 232"/>
              <p:cNvSpPr>
                <a:spLocks noChangeShapeType="1"/>
              </p:cNvSpPr>
              <p:nvPr/>
            </p:nvSpPr>
            <p:spPr bwMode="auto">
              <a:xfrm>
                <a:off x="140" y="287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217" name="Line 233"/>
              <p:cNvSpPr>
                <a:spLocks noChangeShapeType="1"/>
              </p:cNvSpPr>
              <p:nvPr/>
            </p:nvSpPr>
            <p:spPr bwMode="auto">
              <a:xfrm>
                <a:off x="140" y="313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218" name="Line 234"/>
              <p:cNvSpPr>
                <a:spLocks noChangeShapeType="1"/>
              </p:cNvSpPr>
              <p:nvPr/>
            </p:nvSpPr>
            <p:spPr bwMode="auto">
              <a:xfrm>
                <a:off x="140" y="339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219" name="Line 235"/>
              <p:cNvSpPr>
                <a:spLocks noChangeShapeType="1"/>
              </p:cNvSpPr>
              <p:nvPr/>
            </p:nvSpPr>
            <p:spPr bwMode="auto">
              <a:xfrm>
                <a:off x="140" y="365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220" name="Text Box 236"/>
              <p:cNvSpPr txBox="1">
                <a:spLocks noChangeArrowheads="1"/>
              </p:cNvSpPr>
              <p:nvPr/>
            </p:nvSpPr>
            <p:spPr bwMode="auto">
              <a:xfrm>
                <a:off x="648" y="3890"/>
                <a:ext cx="35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800">
                    <a:latin typeface="Times New Roman" panose="02020603050405020304" pitchFamily="18" charset="0"/>
                  </a:rPr>
                  <a:t>WE</a:t>
                </a:r>
              </a:p>
            </p:txBody>
          </p:sp>
          <p:sp>
            <p:nvSpPr>
              <p:cNvPr id="127221" name="Line 237"/>
              <p:cNvSpPr>
                <a:spLocks noChangeShapeType="1"/>
              </p:cNvSpPr>
              <p:nvPr/>
            </p:nvSpPr>
            <p:spPr bwMode="auto">
              <a:xfrm>
                <a:off x="682" y="3923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27222" name="Text Box 238"/>
              <p:cNvSpPr txBox="1">
                <a:spLocks noChangeArrowheads="1"/>
              </p:cNvSpPr>
              <p:nvPr/>
            </p:nvSpPr>
            <p:spPr bwMode="auto">
              <a:xfrm>
                <a:off x="668" y="4025"/>
                <a:ext cx="32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CS</a:t>
                </a:r>
              </a:p>
            </p:txBody>
          </p:sp>
          <p:sp>
            <p:nvSpPr>
              <p:cNvPr id="127223" name="Line 239"/>
              <p:cNvSpPr>
                <a:spLocks noChangeShapeType="1"/>
              </p:cNvSpPr>
              <p:nvPr/>
            </p:nvSpPr>
            <p:spPr bwMode="auto">
              <a:xfrm>
                <a:off x="726" y="4079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27009" name="Group 240"/>
            <p:cNvGrpSpPr/>
            <p:nvPr/>
          </p:nvGrpSpPr>
          <p:grpSpPr bwMode="auto">
            <a:xfrm>
              <a:off x="140" y="674"/>
              <a:ext cx="196" cy="3010"/>
              <a:chOff x="140" y="674"/>
              <a:chExt cx="196" cy="3010"/>
            </a:xfrm>
          </p:grpSpPr>
          <p:sp>
            <p:nvSpPr>
              <p:cNvPr id="127010" name="Text Box 241"/>
              <p:cNvSpPr txBox="1">
                <a:spLocks noChangeArrowheads="1"/>
              </p:cNvSpPr>
              <p:nvPr/>
            </p:nvSpPr>
            <p:spPr bwMode="auto">
              <a:xfrm>
                <a:off x="140" y="67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27011" name="Text Box 242"/>
              <p:cNvSpPr txBox="1">
                <a:spLocks noChangeArrowheads="1"/>
              </p:cNvSpPr>
              <p:nvPr/>
            </p:nvSpPr>
            <p:spPr bwMode="auto">
              <a:xfrm>
                <a:off x="140" y="933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27012" name="Text Box 243"/>
              <p:cNvSpPr txBox="1">
                <a:spLocks noChangeArrowheads="1"/>
              </p:cNvSpPr>
              <p:nvPr/>
            </p:nvSpPr>
            <p:spPr bwMode="auto">
              <a:xfrm>
                <a:off x="140" y="119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27013" name="Text Box 244"/>
              <p:cNvSpPr txBox="1">
                <a:spLocks noChangeArrowheads="1"/>
              </p:cNvSpPr>
              <p:nvPr/>
            </p:nvSpPr>
            <p:spPr bwMode="auto">
              <a:xfrm>
                <a:off x="140" y="145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27014" name="Text Box 245"/>
              <p:cNvSpPr txBox="1">
                <a:spLocks noChangeArrowheads="1"/>
              </p:cNvSpPr>
              <p:nvPr/>
            </p:nvSpPr>
            <p:spPr bwMode="auto">
              <a:xfrm>
                <a:off x="140" y="171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27015" name="Text Box 246"/>
              <p:cNvSpPr txBox="1">
                <a:spLocks noChangeArrowheads="1"/>
              </p:cNvSpPr>
              <p:nvPr/>
            </p:nvSpPr>
            <p:spPr bwMode="auto">
              <a:xfrm>
                <a:off x="140" y="197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27016" name="Text Box 247"/>
              <p:cNvSpPr txBox="1">
                <a:spLocks noChangeArrowheads="1"/>
              </p:cNvSpPr>
              <p:nvPr/>
            </p:nvSpPr>
            <p:spPr bwMode="auto">
              <a:xfrm>
                <a:off x="140" y="2657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27017" name="Text Box 248"/>
              <p:cNvSpPr txBox="1">
                <a:spLocks noChangeArrowheads="1"/>
              </p:cNvSpPr>
              <p:nvPr/>
            </p:nvSpPr>
            <p:spPr bwMode="auto">
              <a:xfrm>
                <a:off x="140" y="2916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27018" name="Text Box 249"/>
              <p:cNvSpPr txBox="1">
                <a:spLocks noChangeArrowheads="1"/>
              </p:cNvSpPr>
              <p:nvPr/>
            </p:nvSpPr>
            <p:spPr bwMode="auto">
              <a:xfrm>
                <a:off x="140" y="317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27019" name="Text Box 250"/>
              <p:cNvSpPr txBox="1">
                <a:spLocks noChangeArrowheads="1"/>
              </p:cNvSpPr>
              <p:nvPr/>
            </p:nvSpPr>
            <p:spPr bwMode="auto">
              <a:xfrm>
                <a:off x="140" y="343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</p:grpSp>
      </p:grpSp>
      <p:sp>
        <p:nvSpPr>
          <p:cNvPr id="215291" name="Rectangle 251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26981" name="Text Box 252"/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en-US" altLang="zh-CN" sz="3200">
                <a:latin typeface="Times New Roman" panose="02020603050405020304" pitchFamily="18" charset="0"/>
              </a:rPr>
              <a:t>Intel 2114 RAM </a:t>
            </a:r>
            <a:r>
              <a:rPr lang="zh-CN" altLang="en-US" sz="3200">
                <a:latin typeface="Times New Roman" panose="02020603050405020304" pitchFamily="18" charset="0"/>
              </a:rPr>
              <a:t>矩阵 </a:t>
            </a:r>
            <a:r>
              <a:rPr lang="en-US" altLang="zh-CN" sz="3200">
                <a:latin typeface="Times New Roman" panose="02020603050405020304" pitchFamily="18" charset="0"/>
              </a:rPr>
              <a:t>(64 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>
                <a:latin typeface="Times New Roman" panose="02020603050405020304" pitchFamily="18" charset="0"/>
              </a:rPr>
              <a:t> 64)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</a:p>
        </p:txBody>
      </p:sp>
      <p:grpSp>
        <p:nvGrpSpPr>
          <p:cNvPr id="12" name="Group 253"/>
          <p:cNvGrpSpPr/>
          <p:nvPr/>
        </p:nvGrpSpPr>
        <p:grpSpPr bwMode="auto">
          <a:xfrm>
            <a:off x="1431925" y="1360488"/>
            <a:ext cx="7250113" cy="682625"/>
            <a:chOff x="902" y="857"/>
            <a:chExt cx="4567" cy="430"/>
          </a:xfrm>
        </p:grpSpPr>
        <p:grpSp>
          <p:nvGrpSpPr>
            <p:cNvPr id="126984" name="Group 254"/>
            <p:cNvGrpSpPr/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126989" name="Group 255"/>
              <p:cNvGrpSpPr/>
              <p:nvPr/>
            </p:nvGrpSpPr>
            <p:grpSpPr bwMode="auto">
              <a:xfrm>
                <a:off x="1152" y="1013"/>
                <a:ext cx="4317" cy="274"/>
                <a:chOff x="1176" y="1068"/>
                <a:chExt cx="4317" cy="274"/>
              </a:xfrm>
            </p:grpSpPr>
            <p:sp>
              <p:nvSpPr>
                <p:cNvPr id="127000" name="Rectangle 256"/>
                <p:cNvSpPr>
                  <a:spLocks noChangeArrowheads="1"/>
                </p:cNvSpPr>
                <p:nvPr/>
              </p:nvSpPr>
              <p:spPr bwMode="auto">
                <a:xfrm>
                  <a:off x="175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15</a:t>
                  </a:r>
                </a:p>
              </p:txBody>
            </p:sp>
            <p:sp>
              <p:nvSpPr>
                <p:cNvPr id="127001" name="Rectangle 257"/>
                <p:cNvSpPr>
                  <a:spLocks noChangeArrowheads="1"/>
                </p:cNvSpPr>
                <p:nvPr/>
              </p:nvSpPr>
              <p:spPr bwMode="auto">
                <a:xfrm>
                  <a:off x="117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27002" name="Rectangle 258"/>
                <p:cNvSpPr>
                  <a:spLocks noChangeArrowheads="1"/>
                </p:cNvSpPr>
                <p:nvPr/>
              </p:nvSpPr>
              <p:spPr bwMode="auto">
                <a:xfrm>
                  <a:off x="289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31</a:t>
                  </a:r>
                </a:p>
              </p:txBody>
            </p:sp>
            <p:sp>
              <p:nvSpPr>
                <p:cNvPr id="127003" name="Rectangle 259"/>
                <p:cNvSpPr>
                  <a:spLocks noChangeArrowheads="1"/>
                </p:cNvSpPr>
                <p:nvPr/>
              </p:nvSpPr>
              <p:spPr bwMode="auto">
                <a:xfrm>
                  <a:off x="231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16</a:t>
                  </a:r>
                </a:p>
              </p:txBody>
            </p:sp>
            <p:sp>
              <p:nvSpPr>
                <p:cNvPr id="127004" name="Rectangle 260"/>
                <p:cNvSpPr>
                  <a:spLocks noChangeArrowheads="1"/>
                </p:cNvSpPr>
                <p:nvPr/>
              </p:nvSpPr>
              <p:spPr bwMode="auto">
                <a:xfrm>
                  <a:off x="4067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47</a:t>
                  </a:r>
                </a:p>
              </p:txBody>
            </p:sp>
            <p:sp>
              <p:nvSpPr>
                <p:cNvPr id="127005" name="Rectangle 261"/>
                <p:cNvSpPr>
                  <a:spLocks noChangeArrowheads="1"/>
                </p:cNvSpPr>
                <p:nvPr/>
              </p:nvSpPr>
              <p:spPr bwMode="auto">
                <a:xfrm>
                  <a:off x="3491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32</a:t>
                  </a:r>
                </a:p>
              </p:txBody>
            </p:sp>
            <p:sp>
              <p:nvSpPr>
                <p:cNvPr id="127006" name="Rectangle 262"/>
                <p:cNvSpPr>
                  <a:spLocks noChangeArrowheads="1"/>
                </p:cNvSpPr>
                <p:nvPr/>
              </p:nvSpPr>
              <p:spPr bwMode="auto">
                <a:xfrm>
                  <a:off x="5205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63</a:t>
                  </a:r>
                </a:p>
              </p:txBody>
            </p:sp>
            <p:sp>
              <p:nvSpPr>
                <p:cNvPr id="127007" name="Rectangle 263"/>
                <p:cNvSpPr>
                  <a:spLocks noChangeArrowheads="1"/>
                </p:cNvSpPr>
                <p:nvPr/>
              </p:nvSpPr>
              <p:spPr bwMode="auto">
                <a:xfrm>
                  <a:off x="462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48</a:t>
                  </a:r>
                </a:p>
              </p:txBody>
            </p:sp>
          </p:grpSp>
          <p:grpSp>
            <p:nvGrpSpPr>
              <p:cNvPr id="126990" name="Group 264"/>
              <p:cNvGrpSpPr/>
              <p:nvPr/>
            </p:nvGrpSpPr>
            <p:grpSpPr bwMode="auto">
              <a:xfrm>
                <a:off x="902" y="857"/>
                <a:ext cx="4419" cy="145"/>
                <a:chOff x="902" y="857"/>
                <a:chExt cx="4419" cy="145"/>
              </a:xfrm>
            </p:grpSpPr>
            <p:sp>
              <p:nvSpPr>
                <p:cNvPr id="126991" name="Freeform 265"/>
                <p:cNvSpPr/>
                <p:nvPr/>
              </p:nvSpPr>
              <p:spPr bwMode="auto">
                <a:xfrm>
                  <a:off x="902" y="857"/>
                  <a:ext cx="4419" cy="1"/>
                </a:xfrm>
                <a:custGeom>
                  <a:avLst/>
                  <a:gdLst>
                    <a:gd name="T0" fmla="*/ 0 w 4419"/>
                    <a:gd name="T1" fmla="*/ 1 h 1"/>
                    <a:gd name="T2" fmla="*/ 4419 w 4419"/>
                    <a:gd name="T3" fmla="*/ 0 h 1"/>
                    <a:gd name="T4" fmla="*/ 0 60000 65536"/>
                    <a:gd name="T5" fmla="*/ 0 60000 65536"/>
                    <a:gd name="T6" fmla="*/ 0 w 4419"/>
                    <a:gd name="T7" fmla="*/ 0 h 1"/>
                    <a:gd name="T8" fmla="*/ 4419 w 4419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419" h="1">
                      <a:moveTo>
                        <a:pt x="0" y="1"/>
                      </a:moveTo>
                      <a:lnTo>
                        <a:pt x="4419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6992" name="Line 266"/>
                <p:cNvSpPr>
                  <a:spLocks noChangeShapeType="1"/>
                </p:cNvSpPr>
                <p:nvPr/>
              </p:nvSpPr>
              <p:spPr bwMode="auto">
                <a:xfrm>
                  <a:off x="127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6993" name="Line 267"/>
                <p:cNvSpPr>
                  <a:spLocks noChangeShapeType="1"/>
                </p:cNvSpPr>
                <p:nvPr/>
              </p:nvSpPr>
              <p:spPr bwMode="auto">
                <a:xfrm>
                  <a:off x="184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6994" name="Line 268"/>
                <p:cNvSpPr>
                  <a:spLocks noChangeShapeType="1"/>
                </p:cNvSpPr>
                <p:nvPr/>
              </p:nvSpPr>
              <p:spPr bwMode="auto">
                <a:xfrm>
                  <a:off x="242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6995" name="Line 269"/>
                <p:cNvSpPr>
                  <a:spLocks noChangeShapeType="1"/>
                </p:cNvSpPr>
                <p:nvPr/>
              </p:nvSpPr>
              <p:spPr bwMode="auto">
                <a:xfrm>
                  <a:off x="3000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6996" name="Line 270"/>
                <p:cNvSpPr>
                  <a:spLocks noChangeShapeType="1"/>
                </p:cNvSpPr>
                <p:nvPr/>
              </p:nvSpPr>
              <p:spPr bwMode="auto">
                <a:xfrm>
                  <a:off x="3576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6997" name="Line 271"/>
                <p:cNvSpPr>
                  <a:spLocks noChangeShapeType="1"/>
                </p:cNvSpPr>
                <p:nvPr/>
              </p:nvSpPr>
              <p:spPr bwMode="auto">
                <a:xfrm>
                  <a:off x="415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6998" name="Line 272"/>
                <p:cNvSpPr>
                  <a:spLocks noChangeShapeType="1"/>
                </p:cNvSpPr>
                <p:nvPr/>
              </p:nvSpPr>
              <p:spPr bwMode="auto">
                <a:xfrm>
                  <a:off x="472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6999" name="Line 273"/>
                <p:cNvSpPr>
                  <a:spLocks noChangeShapeType="1"/>
                </p:cNvSpPr>
                <p:nvPr/>
              </p:nvSpPr>
              <p:spPr bwMode="auto">
                <a:xfrm>
                  <a:off x="530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26985" name="Text Box 274"/>
            <p:cNvSpPr txBox="1">
              <a:spLocks noChangeArrowheads="1"/>
            </p:cNvSpPr>
            <p:nvPr/>
          </p:nvSpPr>
          <p:spPr bwMode="auto">
            <a:xfrm>
              <a:off x="140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26986" name="Text Box 275"/>
            <p:cNvSpPr txBox="1">
              <a:spLocks noChangeArrowheads="1"/>
            </p:cNvSpPr>
            <p:nvPr/>
          </p:nvSpPr>
          <p:spPr bwMode="auto">
            <a:xfrm>
              <a:off x="254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26987" name="Text Box 276"/>
            <p:cNvSpPr txBox="1">
              <a:spLocks noChangeArrowheads="1"/>
            </p:cNvSpPr>
            <p:nvPr/>
          </p:nvSpPr>
          <p:spPr bwMode="auto">
            <a:xfrm>
              <a:off x="3718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26988" name="Text Box 277"/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126983" name="AutoShape 278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002" name="Group 2"/>
          <p:cNvGrpSpPr/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128310" name="Line 3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311" name="Freeform 4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312" name="Line 5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313" name="Freeform 6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314" name="Line 7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315" name="Text Box 8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</a:p>
          </p:txBody>
        </p:sp>
        <p:sp>
          <p:nvSpPr>
            <p:cNvPr id="128316" name="Text Box 9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</a:p>
          </p:txBody>
        </p:sp>
        <p:sp>
          <p:nvSpPr>
            <p:cNvPr id="128317" name="Text Box 10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</a:p>
          </p:txBody>
        </p:sp>
        <p:sp>
          <p:nvSpPr>
            <p:cNvPr id="128318" name="Text Box 11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</a:p>
          </p:txBody>
        </p:sp>
        <p:sp>
          <p:nvSpPr>
            <p:cNvPr id="128319" name="Line 12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320" name="Line 13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321" name="Line 14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322" name="Line 15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323" name="Line 16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324" name="Line 17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325" name="Line 18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326" name="Line 19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16084" name="Rectangle 20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28004" name="Text Box 21"/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en-US" altLang="zh-CN" sz="3200">
                <a:latin typeface="Times New Roman" panose="02020603050405020304" pitchFamily="18" charset="0"/>
              </a:rPr>
              <a:t>Intel 2114 RAM </a:t>
            </a:r>
            <a:r>
              <a:rPr lang="zh-CN" altLang="en-US" sz="3200">
                <a:latin typeface="Times New Roman" panose="02020603050405020304" pitchFamily="18" charset="0"/>
              </a:rPr>
              <a:t>矩阵 </a:t>
            </a:r>
            <a:r>
              <a:rPr lang="en-US" altLang="zh-CN" sz="3200">
                <a:latin typeface="Times New Roman" panose="02020603050405020304" pitchFamily="18" charset="0"/>
              </a:rPr>
              <a:t>(64 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>
                <a:latin typeface="Times New Roman" panose="02020603050405020304" pitchFamily="18" charset="0"/>
              </a:rPr>
              <a:t> 64)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</a:p>
        </p:txBody>
      </p:sp>
      <p:grpSp>
        <p:nvGrpSpPr>
          <p:cNvPr id="128005" name="Group 22"/>
          <p:cNvGrpSpPr/>
          <p:nvPr/>
        </p:nvGrpSpPr>
        <p:grpSpPr bwMode="auto">
          <a:xfrm>
            <a:off x="222250" y="1131888"/>
            <a:ext cx="8921750" cy="5654675"/>
            <a:chOff x="140" y="713"/>
            <a:chExt cx="5620" cy="3562"/>
          </a:xfrm>
        </p:grpSpPr>
        <p:sp>
          <p:nvSpPr>
            <p:cNvPr id="128092" name="Rectangle 23"/>
            <p:cNvSpPr>
              <a:spLocks noChangeArrowheads="1"/>
            </p:cNvSpPr>
            <p:nvPr/>
          </p:nvSpPr>
          <p:spPr bwMode="auto">
            <a:xfrm>
              <a:off x="332" y="713"/>
              <a:ext cx="576" cy="316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8093" name="Rectangle 24"/>
            <p:cNvSpPr>
              <a:spLocks noChangeArrowheads="1"/>
            </p:cNvSpPr>
            <p:nvPr/>
          </p:nvSpPr>
          <p:spPr bwMode="auto">
            <a:xfrm>
              <a:off x="172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15</a:t>
              </a:r>
            </a:p>
          </p:txBody>
        </p:sp>
        <p:sp>
          <p:nvSpPr>
            <p:cNvPr id="128094" name="Text Box 25"/>
            <p:cNvSpPr txBox="1">
              <a:spLocks noChangeArrowheads="1"/>
            </p:cNvSpPr>
            <p:nvPr/>
          </p:nvSpPr>
          <p:spPr bwMode="auto">
            <a:xfrm>
              <a:off x="1408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28095" name="Rectangle 26"/>
            <p:cNvSpPr>
              <a:spLocks noChangeArrowheads="1"/>
            </p:cNvSpPr>
            <p:nvPr/>
          </p:nvSpPr>
          <p:spPr bwMode="auto">
            <a:xfrm>
              <a:off x="1152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28096" name="Rectangle 27"/>
            <p:cNvSpPr>
              <a:spLocks noChangeArrowheads="1"/>
            </p:cNvSpPr>
            <p:nvPr/>
          </p:nvSpPr>
          <p:spPr bwMode="auto">
            <a:xfrm>
              <a:off x="2869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31</a:t>
              </a:r>
            </a:p>
          </p:txBody>
        </p:sp>
        <p:sp>
          <p:nvSpPr>
            <p:cNvPr id="128097" name="Text Box 28"/>
            <p:cNvSpPr txBox="1">
              <a:spLocks noChangeArrowheads="1"/>
            </p:cNvSpPr>
            <p:nvPr/>
          </p:nvSpPr>
          <p:spPr bwMode="auto">
            <a:xfrm>
              <a:off x="2549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28098" name="Rectangle 29"/>
            <p:cNvSpPr>
              <a:spLocks noChangeArrowheads="1"/>
            </p:cNvSpPr>
            <p:nvPr/>
          </p:nvSpPr>
          <p:spPr bwMode="auto">
            <a:xfrm>
              <a:off x="2293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28099" name="Rectangle 30"/>
            <p:cNvSpPr>
              <a:spLocks noChangeArrowheads="1"/>
            </p:cNvSpPr>
            <p:nvPr/>
          </p:nvSpPr>
          <p:spPr bwMode="auto">
            <a:xfrm>
              <a:off x="404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47</a:t>
              </a:r>
            </a:p>
          </p:txBody>
        </p:sp>
        <p:sp>
          <p:nvSpPr>
            <p:cNvPr id="128100" name="Text Box 31"/>
            <p:cNvSpPr txBox="1">
              <a:spLocks noChangeArrowheads="1"/>
            </p:cNvSpPr>
            <p:nvPr/>
          </p:nvSpPr>
          <p:spPr bwMode="auto">
            <a:xfrm>
              <a:off x="3724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28101" name="Rectangle 32"/>
            <p:cNvSpPr>
              <a:spLocks noChangeArrowheads="1"/>
            </p:cNvSpPr>
            <p:nvPr/>
          </p:nvSpPr>
          <p:spPr bwMode="auto">
            <a:xfrm>
              <a:off x="346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32</a:t>
              </a:r>
            </a:p>
          </p:txBody>
        </p:sp>
        <p:sp>
          <p:nvSpPr>
            <p:cNvPr id="128102" name="Rectangle 33"/>
            <p:cNvSpPr>
              <a:spLocks noChangeArrowheads="1"/>
            </p:cNvSpPr>
            <p:nvPr/>
          </p:nvSpPr>
          <p:spPr bwMode="auto">
            <a:xfrm>
              <a:off x="5180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63</a:t>
              </a:r>
            </a:p>
          </p:txBody>
        </p:sp>
        <p:sp>
          <p:nvSpPr>
            <p:cNvPr id="128103" name="Text Box 34"/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28104" name="Rectangle 35"/>
            <p:cNvSpPr>
              <a:spLocks noChangeArrowheads="1"/>
            </p:cNvSpPr>
            <p:nvPr/>
          </p:nvSpPr>
          <p:spPr bwMode="auto">
            <a:xfrm>
              <a:off x="460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48</a:t>
              </a:r>
            </a:p>
          </p:txBody>
        </p:sp>
        <p:sp>
          <p:nvSpPr>
            <p:cNvPr id="128105" name="Rectangle 36"/>
            <p:cNvSpPr>
              <a:spLocks noChangeArrowheads="1"/>
            </p:cNvSpPr>
            <p:nvPr/>
          </p:nvSpPr>
          <p:spPr bwMode="auto">
            <a:xfrm>
              <a:off x="172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15</a:t>
              </a:r>
            </a:p>
          </p:txBody>
        </p:sp>
        <p:sp>
          <p:nvSpPr>
            <p:cNvPr id="128106" name="Rectangle 37"/>
            <p:cNvSpPr>
              <a:spLocks noChangeArrowheads="1"/>
            </p:cNvSpPr>
            <p:nvPr/>
          </p:nvSpPr>
          <p:spPr bwMode="auto">
            <a:xfrm>
              <a:off x="1152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28107" name="Rectangle 38"/>
            <p:cNvSpPr>
              <a:spLocks noChangeArrowheads="1"/>
            </p:cNvSpPr>
            <p:nvPr/>
          </p:nvSpPr>
          <p:spPr bwMode="auto">
            <a:xfrm>
              <a:off x="2869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31</a:t>
              </a:r>
            </a:p>
          </p:txBody>
        </p:sp>
        <p:sp>
          <p:nvSpPr>
            <p:cNvPr id="128108" name="Rectangle 39"/>
            <p:cNvSpPr>
              <a:spLocks noChangeArrowheads="1"/>
            </p:cNvSpPr>
            <p:nvPr/>
          </p:nvSpPr>
          <p:spPr bwMode="auto">
            <a:xfrm>
              <a:off x="2293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28109" name="Rectangle 40"/>
            <p:cNvSpPr>
              <a:spLocks noChangeArrowheads="1"/>
            </p:cNvSpPr>
            <p:nvPr/>
          </p:nvSpPr>
          <p:spPr bwMode="auto">
            <a:xfrm>
              <a:off x="404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47</a:t>
              </a:r>
            </a:p>
          </p:txBody>
        </p:sp>
        <p:sp>
          <p:nvSpPr>
            <p:cNvPr id="128110" name="Rectangle 41"/>
            <p:cNvSpPr>
              <a:spLocks noChangeArrowheads="1"/>
            </p:cNvSpPr>
            <p:nvPr/>
          </p:nvSpPr>
          <p:spPr bwMode="auto">
            <a:xfrm>
              <a:off x="346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32</a:t>
              </a:r>
            </a:p>
          </p:txBody>
        </p:sp>
        <p:sp>
          <p:nvSpPr>
            <p:cNvPr id="128111" name="Rectangle 42"/>
            <p:cNvSpPr>
              <a:spLocks noChangeArrowheads="1"/>
            </p:cNvSpPr>
            <p:nvPr/>
          </p:nvSpPr>
          <p:spPr bwMode="auto">
            <a:xfrm>
              <a:off x="5180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63</a:t>
              </a:r>
            </a:p>
          </p:txBody>
        </p:sp>
        <p:sp>
          <p:nvSpPr>
            <p:cNvPr id="128112" name="Rectangle 43"/>
            <p:cNvSpPr>
              <a:spLocks noChangeArrowheads="1"/>
            </p:cNvSpPr>
            <p:nvPr/>
          </p:nvSpPr>
          <p:spPr bwMode="auto">
            <a:xfrm>
              <a:off x="460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48</a:t>
              </a:r>
            </a:p>
          </p:txBody>
        </p:sp>
        <p:sp>
          <p:nvSpPr>
            <p:cNvPr id="128113" name="Line 44"/>
            <p:cNvSpPr>
              <a:spLocks noChangeShapeType="1"/>
            </p:cNvSpPr>
            <p:nvPr/>
          </p:nvSpPr>
          <p:spPr bwMode="auto">
            <a:xfrm rot="5400000">
              <a:off x="1325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14" name="Line 45"/>
            <p:cNvSpPr>
              <a:spLocks noChangeShapeType="1"/>
            </p:cNvSpPr>
            <p:nvPr/>
          </p:nvSpPr>
          <p:spPr bwMode="auto">
            <a:xfrm rot="5400000">
              <a:off x="1308" y="271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15" name="Freeform 46"/>
            <p:cNvSpPr/>
            <p:nvPr/>
          </p:nvSpPr>
          <p:spPr bwMode="auto">
            <a:xfrm>
              <a:off x="1260" y="2709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16" name="Line 47"/>
            <p:cNvSpPr>
              <a:spLocks noChangeShapeType="1"/>
            </p:cNvSpPr>
            <p:nvPr/>
          </p:nvSpPr>
          <p:spPr bwMode="auto">
            <a:xfrm rot="-5400000">
              <a:off x="1133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17" name="Line 48"/>
            <p:cNvSpPr>
              <a:spLocks noChangeShapeType="1"/>
            </p:cNvSpPr>
            <p:nvPr/>
          </p:nvSpPr>
          <p:spPr bwMode="auto">
            <a:xfrm rot="-5400000">
              <a:off x="1212" y="2714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18" name="Freeform 49"/>
            <p:cNvSpPr/>
            <p:nvPr/>
          </p:nvSpPr>
          <p:spPr bwMode="auto">
            <a:xfrm>
              <a:off x="1434" y="2353"/>
              <a:ext cx="112" cy="1"/>
            </a:xfrm>
            <a:custGeom>
              <a:avLst/>
              <a:gdLst>
                <a:gd name="T0" fmla="*/ 0 w 112"/>
                <a:gd name="T1" fmla="*/ 0 h 1"/>
                <a:gd name="T2" fmla="*/ 112 w 112"/>
                <a:gd name="T3" fmla="*/ 0 h 1"/>
                <a:gd name="T4" fmla="*/ 0 60000 65536"/>
                <a:gd name="T5" fmla="*/ 0 60000 65536"/>
                <a:gd name="T6" fmla="*/ 0 w 112"/>
                <a:gd name="T7" fmla="*/ 0 h 1"/>
                <a:gd name="T8" fmla="*/ 112 w 11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2" h="1">
                  <a:moveTo>
                    <a:pt x="0" y="0"/>
                  </a:moveTo>
                  <a:lnTo>
                    <a:pt x="112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19" name="Freeform 50"/>
            <p:cNvSpPr/>
            <p:nvPr/>
          </p:nvSpPr>
          <p:spPr bwMode="auto">
            <a:xfrm>
              <a:off x="1059" y="1209"/>
              <a:ext cx="152" cy="1469"/>
            </a:xfrm>
            <a:custGeom>
              <a:avLst/>
              <a:gdLst>
                <a:gd name="T0" fmla="*/ 152 w 152"/>
                <a:gd name="T1" fmla="*/ 1469 h 1469"/>
                <a:gd name="T2" fmla="*/ 0 w 152"/>
                <a:gd name="T3" fmla="*/ 1469 h 1469"/>
                <a:gd name="T4" fmla="*/ 0 w 152"/>
                <a:gd name="T5" fmla="*/ 0 h 1469"/>
                <a:gd name="T6" fmla="*/ 95 w 152"/>
                <a:gd name="T7" fmla="*/ 1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9"/>
                <a:gd name="T14" fmla="*/ 152 w 152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9">
                  <a:moveTo>
                    <a:pt x="152" y="1469"/>
                  </a:moveTo>
                  <a:lnTo>
                    <a:pt x="0" y="1469"/>
                  </a:lnTo>
                  <a:lnTo>
                    <a:pt x="0" y="0"/>
                  </a:lnTo>
                  <a:lnTo>
                    <a:pt x="95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20" name="Freeform 51"/>
            <p:cNvSpPr/>
            <p:nvPr/>
          </p:nvSpPr>
          <p:spPr bwMode="auto">
            <a:xfrm>
              <a:off x="1055" y="2353"/>
              <a:ext cx="102" cy="1"/>
            </a:xfrm>
            <a:custGeom>
              <a:avLst/>
              <a:gdLst>
                <a:gd name="T0" fmla="*/ 102 w 102"/>
                <a:gd name="T1" fmla="*/ 0 h 1"/>
                <a:gd name="T2" fmla="*/ 0 w 102"/>
                <a:gd name="T3" fmla="*/ 0 h 1"/>
                <a:gd name="T4" fmla="*/ 0 60000 65536"/>
                <a:gd name="T5" fmla="*/ 0 60000 65536"/>
                <a:gd name="T6" fmla="*/ 0 w 102"/>
                <a:gd name="T7" fmla="*/ 0 h 1"/>
                <a:gd name="T8" fmla="*/ 102 w 10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2" h="1">
                  <a:moveTo>
                    <a:pt x="102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21" name="Line 52"/>
            <p:cNvSpPr>
              <a:spLocks noChangeShapeType="1"/>
            </p:cNvSpPr>
            <p:nvPr/>
          </p:nvSpPr>
          <p:spPr bwMode="auto">
            <a:xfrm rot="5400000">
              <a:off x="1896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22" name="Line 53"/>
            <p:cNvSpPr>
              <a:spLocks noChangeShapeType="1"/>
            </p:cNvSpPr>
            <p:nvPr/>
          </p:nvSpPr>
          <p:spPr bwMode="auto">
            <a:xfrm rot="5400000">
              <a:off x="1879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23" name="Freeform 54"/>
            <p:cNvSpPr/>
            <p:nvPr/>
          </p:nvSpPr>
          <p:spPr bwMode="auto">
            <a:xfrm>
              <a:off x="1831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24" name="Line 55"/>
            <p:cNvSpPr>
              <a:spLocks noChangeShapeType="1"/>
            </p:cNvSpPr>
            <p:nvPr/>
          </p:nvSpPr>
          <p:spPr bwMode="auto">
            <a:xfrm rot="-5400000">
              <a:off x="1704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25" name="Line 56"/>
            <p:cNvSpPr>
              <a:spLocks noChangeShapeType="1"/>
            </p:cNvSpPr>
            <p:nvPr/>
          </p:nvSpPr>
          <p:spPr bwMode="auto">
            <a:xfrm rot="-5400000">
              <a:off x="1783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26" name="Freeform 57"/>
            <p:cNvSpPr/>
            <p:nvPr/>
          </p:nvSpPr>
          <p:spPr bwMode="auto">
            <a:xfrm>
              <a:off x="2005" y="2353"/>
              <a:ext cx="103" cy="1"/>
            </a:xfrm>
            <a:custGeom>
              <a:avLst/>
              <a:gdLst>
                <a:gd name="T0" fmla="*/ 0 w 103"/>
                <a:gd name="T1" fmla="*/ 0 h 1"/>
                <a:gd name="T2" fmla="*/ 103 w 103"/>
                <a:gd name="T3" fmla="*/ 0 h 1"/>
                <a:gd name="T4" fmla="*/ 0 60000 65536"/>
                <a:gd name="T5" fmla="*/ 0 60000 65536"/>
                <a:gd name="T6" fmla="*/ 0 w 103"/>
                <a:gd name="T7" fmla="*/ 0 h 1"/>
                <a:gd name="T8" fmla="*/ 103 w 10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3" h="1">
                  <a:moveTo>
                    <a:pt x="0" y="0"/>
                  </a:moveTo>
                  <a:lnTo>
                    <a:pt x="103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27" name="Freeform 58"/>
            <p:cNvSpPr/>
            <p:nvPr/>
          </p:nvSpPr>
          <p:spPr bwMode="auto">
            <a:xfrm>
              <a:off x="1611" y="2352"/>
              <a:ext cx="113" cy="1"/>
            </a:xfrm>
            <a:custGeom>
              <a:avLst/>
              <a:gdLst>
                <a:gd name="T0" fmla="*/ 113 w 113"/>
                <a:gd name="T1" fmla="*/ 1 h 1"/>
                <a:gd name="T2" fmla="*/ 0 w 113"/>
                <a:gd name="T3" fmla="*/ 0 h 1"/>
                <a:gd name="T4" fmla="*/ 0 60000 65536"/>
                <a:gd name="T5" fmla="*/ 0 60000 65536"/>
                <a:gd name="T6" fmla="*/ 0 w 113"/>
                <a:gd name="T7" fmla="*/ 0 h 1"/>
                <a:gd name="T8" fmla="*/ 113 w 11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3" h="1">
                  <a:moveTo>
                    <a:pt x="113" y="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28" name="Line 59"/>
            <p:cNvSpPr>
              <a:spLocks noChangeShapeType="1"/>
            </p:cNvSpPr>
            <p:nvPr/>
          </p:nvSpPr>
          <p:spPr bwMode="auto">
            <a:xfrm rot="5400000">
              <a:off x="247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29" name="Line 60"/>
            <p:cNvSpPr>
              <a:spLocks noChangeShapeType="1"/>
            </p:cNvSpPr>
            <p:nvPr/>
          </p:nvSpPr>
          <p:spPr bwMode="auto">
            <a:xfrm rot="5400000">
              <a:off x="2460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30" name="Freeform 61"/>
            <p:cNvSpPr/>
            <p:nvPr/>
          </p:nvSpPr>
          <p:spPr bwMode="auto">
            <a:xfrm>
              <a:off x="2412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31" name="Line 62"/>
            <p:cNvSpPr>
              <a:spLocks noChangeShapeType="1"/>
            </p:cNvSpPr>
            <p:nvPr/>
          </p:nvSpPr>
          <p:spPr bwMode="auto">
            <a:xfrm rot="-5400000">
              <a:off x="2285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32" name="Line 63"/>
            <p:cNvSpPr>
              <a:spLocks noChangeShapeType="1"/>
            </p:cNvSpPr>
            <p:nvPr/>
          </p:nvSpPr>
          <p:spPr bwMode="auto">
            <a:xfrm rot="-5400000">
              <a:off x="2364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33" name="Freeform 64"/>
            <p:cNvSpPr/>
            <p:nvPr/>
          </p:nvSpPr>
          <p:spPr bwMode="auto">
            <a:xfrm>
              <a:off x="2586" y="2353"/>
              <a:ext cx="109" cy="1"/>
            </a:xfrm>
            <a:custGeom>
              <a:avLst/>
              <a:gdLst>
                <a:gd name="T0" fmla="*/ 0 w 109"/>
                <a:gd name="T1" fmla="*/ 0 h 1"/>
                <a:gd name="T2" fmla="*/ 109 w 109"/>
                <a:gd name="T3" fmla="*/ 0 h 1"/>
                <a:gd name="T4" fmla="*/ 0 60000 65536"/>
                <a:gd name="T5" fmla="*/ 0 60000 65536"/>
                <a:gd name="T6" fmla="*/ 0 w 109"/>
                <a:gd name="T7" fmla="*/ 0 h 1"/>
                <a:gd name="T8" fmla="*/ 109 w 10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9" h="1">
                  <a:moveTo>
                    <a:pt x="0" y="0"/>
                  </a:moveTo>
                  <a:lnTo>
                    <a:pt x="109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34" name="Freeform 65"/>
            <p:cNvSpPr/>
            <p:nvPr/>
          </p:nvSpPr>
          <p:spPr bwMode="auto">
            <a:xfrm>
              <a:off x="2207" y="2353"/>
              <a:ext cx="89" cy="1"/>
            </a:xfrm>
            <a:custGeom>
              <a:avLst/>
              <a:gdLst>
                <a:gd name="T0" fmla="*/ 89 w 89"/>
                <a:gd name="T1" fmla="*/ 0 h 1"/>
                <a:gd name="T2" fmla="*/ 0 w 89"/>
                <a:gd name="T3" fmla="*/ 0 h 1"/>
                <a:gd name="T4" fmla="*/ 0 60000 65536"/>
                <a:gd name="T5" fmla="*/ 0 60000 65536"/>
                <a:gd name="T6" fmla="*/ 0 w 89"/>
                <a:gd name="T7" fmla="*/ 0 h 1"/>
                <a:gd name="T8" fmla="*/ 89 w 8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9" h="1">
                  <a:moveTo>
                    <a:pt x="89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35" name="Line 66"/>
            <p:cNvSpPr>
              <a:spLocks noChangeShapeType="1"/>
            </p:cNvSpPr>
            <p:nvPr/>
          </p:nvSpPr>
          <p:spPr bwMode="auto">
            <a:xfrm rot="5400000">
              <a:off x="3053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36" name="Line 67"/>
            <p:cNvSpPr>
              <a:spLocks noChangeShapeType="1"/>
            </p:cNvSpPr>
            <p:nvPr/>
          </p:nvSpPr>
          <p:spPr bwMode="auto">
            <a:xfrm rot="5400000">
              <a:off x="3036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37" name="Freeform 68"/>
            <p:cNvSpPr/>
            <p:nvPr/>
          </p:nvSpPr>
          <p:spPr bwMode="auto">
            <a:xfrm>
              <a:off x="2988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38" name="Line 69"/>
            <p:cNvSpPr>
              <a:spLocks noChangeShapeType="1"/>
            </p:cNvSpPr>
            <p:nvPr/>
          </p:nvSpPr>
          <p:spPr bwMode="auto">
            <a:xfrm rot="-5400000">
              <a:off x="2861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39" name="Line 70"/>
            <p:cNvSpPr>
              <a:spLocks noChangeShapeType="1"/>
            </p:cNvSpPr>
            <p:nvPr/>
          </p:nvSpPr>
          <p:spPr bwMode="auto">
            <a:xfrm rot="-5400000">
              <a:off x="2940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40" name="Freeform 71"/>
            <p:cNvSpPr/>
            <p:nvPr/>
          </p:nvSpPr>
          <p:spPr bwMode="auto">
            <a:xfrm>
              <a:off x="3162" y="2353"/>
              <a:ext cx="115" cy="1"/>
            </a:xfrm>
            <a:custGeom>
              <a:avLst/>
              <a:gdLst>
                <a:gd name="T0" fmla="*/ 0 w 115"/>
                <a:gd name="T1" fmla="*/ 0 h 1"/>
                <a:gd name="T2" fmla="*/ 115 w 115"/>
                <a:gd name="T3" fmla="*/ 0 h 1"/>
                <a:gd name="T4" fmla="*/ 0 60000 65536"/>
                <a:gd name="T5" fmla="*/ 0 60000 65536"/>
                <a:gd name="T6" fmla="*/ 0 w 115"/>
                <a:gd name="T7" fmla="*/ 0 h 1"/>
                <a:gd name="T8" fmla="*/ 115 w 11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5" h="1">
                  <a:moveTo>
                    <a:pt x="0" y="0"/>
                  </a:moveTo>
                  <a:lnTo>
                    <a:pt x="11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41" name="Freeform 72"/>
            <p:cNvSpPr/>
            <p:nvPr/>
          </p:nvSpPr>
          <p:spPr bwMode="auto">
            <a:xfrm>
              <a:off x="2783" y="2353"/>
              <a:ext cx="90" cy="1"/>
            </a:xfrm>
            <a:custGeom>
              <a:avLst/>
              <a:gdLst>
                <a:gd name="T0" fmla="*/ 90 w 90"/>
                <a:gd name="T1" fmla="*/ 0 h 1"/>
                <a:gd name="T2" fmla="*/ 0 w 90"/>
                <a:gd name="T3" fmla="*/ 0 h 1"/>
                <a:gd name="T4" fmla="*/ 0 60000 65536"/>
                <a:gd name="T5" fmla="*/ 0 60000 65536"/>
                <a:gd name="T6" fmla="*/ 0 w 90"/>
                <a:gd name="T7" fmla="*/ 0 h 1"/>
                <a:gd name="T8" fmla="*/ 90 w 9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0" h="1">
                  <a:moveTo>
                    <a:pt x="90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42" name="Line 73"/>
            <p:cNvSpPr>
              <a:spLocks noChangeShapeType="1"/>
            </p:cNvSpPr>
            <p:nvPr/>
          </p:nvSpPr>
          <p:spPr bwMode="auto">
            <a:xfrm rot="5400000">
              <a:off x="3629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43" name="Line 74"/>
            <p:cNvSpPr>
              <a:spLocks noChangeShapeType="1"/>
            </p:cNvSpPr>
            <p:nvPr/>
          </p:nvSpPr>
          <p:spPr bwMode="auto">
            <a:xfrm rot="5400000">
              <a:off x="3612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44" name="Freeform 75"/>
            <p:cNvSpPr/>
            <p:nvPr/>
          </p:nvSpPr>
          <p:spPr bwMode="auto">
            <a:xfrm>
              <a:off x="3564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45" name="Line 76"/>
            <p:cNvSpPr>
              <a:spLocks noChangeShapeType="1"/>
            </p:cNvSpPr>
            <p:nvPr/>
          </p:nvSpPr>
          <p:spPr bwMode="auto">
            <a:xfrm rot="-5400000">
              <a:off x="343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46" name="Line 77"/>
            <p:cNvSpPr>
              <a:spLocks noChangeShapeType="1"/>
            </p:cNvSpPr>
            <p:nvPr/>
          </p:nvSpPr>
          <p:spPr bwMode="auto">
            <a:xfrm rot="-5400000">
              <a:off x="3516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47" name="Freeform 78"/>
            <p:cNvSpPr/>
            <p:nvPr/>
          </p:nvSpPr>
          <p:spPr bwMode="auto">
            <a:xfrm>
              <a:off x="3751" y="2352"/>
              <a:ext cx="100" cy="1"/>
            </a:xfrm>
            <a:custGeom>
              <a:avLst/>
              <a:gdLst>
                <a:gd name="T0" fmla="*/ 0 w 100"/>
                <a:gd name="T1" fmla="*/ 0 h 1"/>
                <a:gd name="T2" fmla="*/ 100 w 100"/>
                <a:gd name="T3" fmla="*/ 1 h 1"/>
                <a:gd name="T4" fmla="*/ 0 60000 65536"/>
                <a:gd name="T5" fmla="*/ 0 60000 65536"/>
                <a:gd name="T6" fmla="*/ 0 w 100"/>
                <a:gd name="T7" fmla="*/ 0 h 1"/>
                <a:gd name="T8" fmla="*/ 100 w 10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0" h="1">
                  <a:moveTo>
                    <a:pt x="0" y="0"/>
                  </a:moveTo>
                  <a:lnTo>
                    <a:pt x="100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48" name="Freeform 79"/>
            <p:cNvSpPr/>
            <p:nvPr/>
          </p:nvSpPr>
          <p:spPr bwMode="auto">
            <a:xfrm>
              <a:off x="3359" y="2353"/>
              <a:ext cx="108" cy="1"/>
            </a:xfrm>
            <a:custGeom>
              <a:avLst/>
              <a:gdLst>
                <a:gd name="T0" fmla="*/ 108 w 108"/>
                <a:gd name="T1" fmla="*/ 0 h 1"/>
                <a:gd name="T2" fmla="*/ 0 w 108"/>
                <a:gd name="T3" fmla="*/ 0 h 1"/>
                <a:gd name="T4" fmla="*/ 0 60000 65536"/>
                <a:gd name="T5" fmla="*/ 0 60000 65536"/>
                <a:gd name="T6" fmla="*/ 0 w 108"/>
                <a:gd name="T7" fmla="*/ 0 h 1"/>
                <a:gd name="T8" fmla="*/ 108 w 10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8" h="1">
                  <a:moveTo>
                    <a:pt x="108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49" name="Line 80"/>
            <p:cNvSpPr>
              <a:spLocks noChangeShapeType="1"/>
            </p:cNvSpPr>
            <p:nvPr/>
          </p:nvSpPr>
          <p:spPr bwMode="auto">
            <a:xfrm rot="5400000">
              <a:off x="4205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50" name="Line 81"/>
            <p:cNvSpPr>
              <a:spLocks noChangeShapeType="1"/>
            </p:cNvSpPr>
            <p:nvPr/>
          </p:nvSpPr>
          <p:spPr bwMode="auto">
            <a:xfrm rot="5400000">
              <a:off x="4188" y="2696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51" name="Freeform 82"/>
            <p:cNvSpPr/>
            <p:nvPr/>
          </p:nvSpPr>
          <p:spPr bwMode="auto">
            <a:xfrm>
              <a:off x="4140" y="2695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52" name="Line 83"/>
            <p:cNvSpPr>
              <a:spLocks noChangeShapeType="1"/>
            </p:cNvSpPr>
            <p:nvPr/>
          </p:nvSpPr>
          <p:spPr bwMode="auto">
            <a:xfrm rot="-5400000">
              <a:off x="4013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53" name="Line 84"/>
            <p:cNvSpPr>
              <a:spLocks noChangeShapeType="1"/>
            </p:cNvSpPr>
            <p:nvPr/>
          </p:nvSpPr>
          <p:spPr bwMode="auto">
            <a:xfrm rot="-5400000">
              <a:off x="4092" y="270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8154" name="Freeform 85"/>
            <p:cNvSpPr/>
            <p:nvPr/>
          </p:nvSpPr>
          <p:spPr bwMode="auto">
            <a:xfrm>
              <a:off x="4336" y="2351"/>
              <a:ext cx="90" cy="2"/>
            </a:xfrm>
            <a:custGeom>
              <a:avLst/>
              <a:gdLst>
                <a:gd name="T0" fmla="*/ 0 w 90"/>
                <a:gd name="T1" fmla="*/ 0 h 2"/>
                <a:gd name="T2" fmla="*/ 90 w 90"/>
                <a:gd name="T3" fmla="*/ 2 h 2"/>
                <a:gd name="T4" fmla="*/ 0 60000 65536"/>
                <a:gd name="T5" fmla="*/ 0 60000 65536"/>
                <a:gd name="T6" fmla="*/ 0 w 90"/>
                <a:gd name="T7" fmla="*/ 0 h 2"/>
                <a:gd name="T8" fmla="*/ 90 w 90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0" h="2">
                  <a:moveTo>
                    <a:pt x="0" y="0"/>
                  </a:moveTo>
                  <a:lnTo>
                    <a:pt x="90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55" name="Freeform 86"/>
            <p:cNvSpPr/>
            <p:nvPr/>
          </p:nvSpPr>
          <p:spPr bwMode="auto">
            <a:xfrm>
              <a:off x="3935" y="2353"/>
              <a:ext cx="104" cy="1"/>
            </a:xfrm>
            <a:custGeom>
              <a:avLst/>
              <a:gdLst>
                <a:gd name="T0" fmla="*/ 104 w 104"/>
                <a:gd name="T1" fmla="*/ 0 h 1"/>
                <a:gd name="T2" fmla="*/ 0 w 104"/>
                <a:gd name="T3" fmla="*/ 0 h 1"/>
                <a:gd name="T4" fmla="*/ 0 60000 65536"/>
                <a:gd name="T5" fmla="*/ 0 60000 65536"/>
                <a:gd name="T6" fmla="*/ 0 w 104"/>
                <a:gd name="T7" fmla="*/ 0 h 1"/>
                <a:gd name="T8" fmla="*/ 104 w 104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4" h="1">
                  <a:moveTo>
                    <a:pt x="104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128156" name="Group 87"/>
            <p:cNvGrpSpPr/>
            <p:nvPr/>
          </p:nvGrpSpPr>
          <p:grpSpPr bwMode="auto">
            <a:xfrm>
              <a:off x="4668" y="2634"/>
              <a:ext cx="192" cy="158"/>
              <a:chOff x="4692" y="2634"/>
              <a:chExt cx="192" cy="158"/>
            </a:xfrm>
          </p:grpSpPr>
          <p:grpSp>
            <p:nvGrpSpPr>
              <p:cNvPr id="128303" name="Group 88"/>
              <p:cNvGrpSpPr/>
              <p:nvPr/>
            </p:nvGrpSpPr>
            <p:grpSpPr bwMode="auto">
              <a:xfrm>
                <a:off x="4836" y="2634"/>
                <a:ext cx="48" cy="158"/>
                <a:chOff x="4836" y="2634"/>
                <a:chExt cx="48" cy="158"/>
              </a:xfrm>
            </p:grpSpPr>
            <p:sp>
              <p:nvSpPr>
                <p:cNvPr id="128308" name="Line 89"/>
                <p:cNvSpPr>
                  <a:spLocks noChangeShapeType="1"/>
                </p:cNvSpPr>
                <p:nvPr/>
              </p:nvSpPr>
              <p:spPr bwMode="auto">
                <a:xfrm rot="5400000">
                  <a:off x="4805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28309" name="Line 90"/>
                <p:cNvSpPr>
                  <a:spLocks noChangeShapeType="1"/>
                </p:cNvSpPr>
                <p:nvPr/>
              </p:nvSpPr>
              <p:spPr bwMode="auto">
                <a:xfrm rot="5400000">
                  <a:off x="4788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28304" name="Freeform 91"/>
              <p:cNvSpPr/>
              <p:nvPr/>
            </p:nvSpPr>
            <p:spPr bwMode="auto">
              <a:xfrm>
                <a:off x="4740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28305" name="Group 92"/>
              <p:cNvGrpSpPr/>
              <p:nvPr/>
            </p:nvGrpSpPr>
            <p:grpSpPr bwMode="auto">
              <a:xfrm>
                <a:off x="4692" y="2634"/>
                <a:ext cx="48" cy="158"/>
                <a:chOff x="4692" y="2634"/>
                <a:chExt cx="48" cy="158"/>
              </a:xfrm>
            </p:grpSpPr>
            <p:sp>
              <p:nvSpPr>
                <p:cNvPr id="128306" name="Line 93"/>
                <p:cNvSpPr>
                  <a:spLocks noChangeShapeType="1"/>
                </p:cNvSpPr>
                <p:nvPr/>
              </p:nvSpPr>
              <p:spPr bwMode="auto">
                <a:xfrm rot="-5400000">
                  <a:off x="4613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28307" name="Line 94"/>
                <p:cNvSpPr>
                  <a:spLocks noChangeShapeType="1"/>
                </p:cNvSpPr>
                <p:nvPr/>
              </p:nvSpPr>
              <p:spPr bwMode="auto">
                <a:xfrm rot="-5400000">
                  <a:off x="4692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28157" name="Freeform 95"/>
            <p:cNvSpPr/>
            <p:nvPr/>
          </p:nvSpPr>
          <p:spPr bwMode="auto">
            <a:xfrm>
              <a:off x="4890" y="2353"/>
              <a:ext cx="107" cy="1"/>
            </a:xfrm>
            <a:custGeom>
              <a:avLst/>
              <a:gdLst>
                <a:gd name="T0" fmla="*/ 0 w 107"/>
                <a:gd name="T1" fmla="*/ 0 h 1"/>
                <a:gd name="T2" fmla="*/ 107 w 107"/>
                <a:gd name="T3" fmla="*/ 0 h 1"/>
                <a:gd name="T4" fmla="*/ 0 60000 65536"/>
                <a:gd name="T5" fmla="*/ 0 60000 65536"/>
                <a:gd name="T6" fmla="*/ 0 w 107"/>
                <a:gd name="T7" fmla="*/ 0 h 1"/>
                <a:gd name="T8" fmla="*/ 107 w 10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7" h="1">
                  <a:moveTo>
                    <a:pt x="0" y="0"/>
                  </a:moveTo>
                  <a:lnTo>
                    <a:pt x="10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58" name="Freeform 96"/>
            <p:cNvSpPr/>
            <p:nvPr/>
          </p:nvSpPr>
          <p:spPr bwMode="auto">
            <a:xfrm>
              <a:off x="4511" y="2353"/>
              <a:ext cx="96" cy="1"/>
            </a:xfrm>
            <a:custGeom>
              <a:avLst/>
              <a:gdLst>
                <a:gd name="T0" fmla="*/ 96 w 96"/>
                <a:gd name="T1" fmla="*/ 0 h 1"/>
                <a:gd name="T2" fmla="*/ 0 w 96"/>
                <a:gd name="T3" fmla="*/ 0 h 1"/>
                <a:gd name="T4" fmla="*/ 0 60000 65536"/>
                <a:gd name="T5" fmla="*/ 0 60000 65536"/>
                <a:gd name="T6" fmla="*/ 0 w 96"/>
                <a:gd name="T7" fmla="*/ 0 h 1"/>
                <a:gd name="T8" fmla="*/ 96 w 9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1">
                  <a:moveTo>
                    <a:pt x="96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128159" name="Group 97"/>
            <p:cNvGrpSpPr/>
            <p:nvPr/>
          </p:nvGrpSpPr>
          <p:grpSpPr bwMode="auto">
            <a:xfrm>
              <a:off x="5235" y="2634"/>
              <a:ext cx="192" cy="158"/>
              <a:chOff x="5259" y="2634"/>
              <a:chExt cx="192" cy="158"/>
            </a:xfrm>
          </p:grpSpPr>
          <p:grpSp>
            <p:nvGrpSpPr>
              <p:cNvPr id="128296" name="Group 98"/>
              <p:cNvGrpSpPr/>
              <p:nvPr/>
            </p:nvGrpSpPr>
            <p:grpSpPr bwMode="auto">
              <a:xfrm>
                <a:off x="5403" y="2634"/>
                <a:ext cx="48" cy="158"/>
                <a:chOff x="5403" y="2634"/>
                <a:chExt cx="48" cy="158"/>
              </a:xfrm>
            </p:grpSpPr>
            <p:sp>
              <p:nvSpPr>
                <p:cNvPr id="128301" name="Line 99"/>
                <p:cNvSpPr>
                  <a:spLocks noChangeShapeType="1"/>
                </p:cNvSpPr>
                <p:nvPr/>
              </p:nvSpPr>
              <p:spPr bwMode="auto">
                <a:xfrm rot="5400000">
                  <a:off x="5372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28302" name="Line 100"/>
                <p:cNvSpPr>
                  <a:spLocks noChangeShapeType="1"/>
                </p:cNvSpPr>
                <p:nvPr/>
              </p:nvSpPr>
              <p:spPr bwMode="auto">
                <a:xfrm rot="5400000">
                  <a:off x="5355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28297" name="Freeform 101"/>
              <p:cNvSpPr/>
              <p:nvPr/>
            </p:nvSpPr>
            <p:spPr bwMode="auto">
              <a:xfrm>
                <a:off x="5307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28298" name="Group 102"/>
              <p:cNvGrpSpPr/>
              <p:nvPr/>
            </p:nvGrpSpPr>
            <p:grpSpPr bwMode="auto">
              <a:xfrm>
                <a:off x="5259" y="2634"/>
                <a:ext cx="48" cy="158"/>
                <a:chOff x="5259" y="2634"/>
                <a:chExt cx="48" cy="158"/>
              </a:xfrm>
            </p:grpSpPr>
            <p:sp>
              <p:nvSpPr>
                <p:cNvPr id="128299" name="Line 103"/>
                <p:cNvSpPr>
                  <a:spLocks noChangeShapeType="1"/>
                </p:cNvSpPr>
                <p:nvPr/>
              </p:nvSpPr>
              <p:spPr bwMode="auto">
                <a:xfrm rot="-5400000">
                  <a:off x="5180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28300" name="Line 104"/>
                <p:cNvSpPr>
                  <a:spLocks noChangeShapeType="1"/>
                </p:cNvSpPr>
                <p:nvPr/>
              </p:nvSpPr>
              <p:spPr bwMode="auto">
                <a:xfrm rot="-5400000">
                  <a:off x="5259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28160" name="Freeform 105"/>
            <p:cNvSpPr/>
            <p:nvPr/>
          </p:nvSpPr>
          <p:spPr bwMode="auto">
            <a:xfrm>
              <a:off x="5467" y="2351"/>
              <a:ext cx="96" cy="2"/>
            </a:xfrm>
            <a:custGeom>
              <a:avLst/>
              <a:gdLst>
                <a:gd name="T0" fmla="*/ 0 w 96"/>
                <a:gd name="T1" fmla="*/ 0 h 2"/>
                <a:gd name="T2" fmla="*/ 96 w 96"/>
                <a:gd name="T3" fmla="*/ 2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0"/>
                  </a:moveTo>
                  <a:lnTo>
                    <a:pt x="96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61" name="Freeform 106"/>
            <p:cNvSpPr/>
            <p:nvPr/>
          </p:nvSpPr>
          <p:spPr bwMode="auto">
            <a:xfrm>
              <a:off x="5078" y="2353"/>
              <a:ext cx="101" cy="1"/>
            </a:xfrm>
            <a:custGeom>
              <a:avLst/>
              <a:gdLst>
                <a:gd name="T0" fmla="*/ 101 w 101"/>
                <a:gd name="T1" fmla="*/ 0 h 1"/>
                <a:gd name="T2" fmla="*/ 0 w 101"/>
                <a:gd name="T3" fmla="*/ 0 h 1"/>
                <a:gd name="T4" fmla="*/ 0 60000 65536"/>
                <a:gd name="T5" fmla="*/ 0 60000 65536"/>
                <a:gd name="T6" fmla="*/ 0 w 101"/>
                <a:gd name="T7" fmla="*/ 0 h 1"/>
                <a:gd name="T8" fmla="*/ 101 w 101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1" h="1">
                  <a:moveTo>
                    <a:pt x="101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62" name="Freeform 107"/>
            <p:cNvSpPr/>
            <p:nvPr/>
          </p:nvSpPr>
          <p:spPr bwMode="auto">
            <a:xfrm>
              <a:off x="908" y="856"/>
              <a:ext cx="4419" cy="1"/>
            </a:xfrm>
            <a:custGeom>
              <a:avLst/>
              <a:gdLst>
                <a:gd name="T0" fmla="*/ 0 w 4419"/>
                <a:gd name="T1" fmla="*/ 1 h 1"/>
                <a:gd name="T2" fmla="*/ 4419 w 4419"/>
                <a:gd name="T3" fmla="*/ 0 h 1"/>
                <a:gd name="T4" fmla="*/ 0 60000 65536"/>
                <a:gd name="T5" fmla="*/ 0 60000 65536"/>
                <a:gd name="T6" fmla="*/ 0 w 4419"/>
                <a:gd name="T7" fmla="*/ 0 h 1"/>
                <a:gd name="T8" fmla="*/ 4419 w 441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9" h="1">
                  <a:moveTo>
                    <a:pt x="0" y="1"/>
                  </a:moveTo>
                  <a:lnTo>
                    <a:pt x="441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63" name="Line 108"/>
            <p:cNvSpPr>
              <a:spLocks noChangeShapeType="1"/>
            </p:cNvSpPr>
            <p:nvPr/>
          </p:nvSpPr>
          <p:spPr bwMode="auto">
            <a:xfrm>
              <a:off x="129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64" name="Line 109"/>
            <p:cNvSpPr>
              <a:spLocks noChangeShapeType="1"/>
            </p:cNvSpPr>
            <p:nvPr/>
          </p:nvSpPr>
          <p:spPr bwMode="auto">
            <a:xfrm>
              <a:off x="186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65" name="Line 110"/>
            <p:cNvSpPr>
              <a:spLocks noChangeShapeType="1"/>
            </p:cNvSpPr>
            <p:nvPr/>
          </p:nvSpPr>
          <p:spPr bwMode="auto">
            <a:xfrm>
              <a:off x="244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66" name="Line 111"/>
            <p:cNvSpPr>
              <a:spLocks noChangeShapeType="1"/>
            </p:cNvSpPr>
            <p:nvPr/>
          </p:nvSpPr>
          <p:spPr bwMode="auto">
            <a:xfrm>
              <a:off x="3020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67" name="Line 112"/>
            <p:cNvSpPr>
              <a:spLocks noChangeShapeType="1"/>
            </p:cNvSpPr>
            <p:nvPr/>
          </p:nvSpPr>
          <p:spPr bwMode="auto">
            <a:xfrm>
              <a:off x="3596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68" name="Line 113"/>
            <p:cNvSpPr>
              <a:spLocks noChangeShapeType="1"/>
            </p:cNvSpPr>
            <p:nvPr/>
          </p:nvSpPr>
          <p:spPr bwMode="auto">
            <a:xfrm>
              <a:off x="417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69" name="Line 114"/>
            <p:cNvSpPr>
              <a:spLocks noChangeShapeType="1"/>
            </p:cNvSpPr>
            <p:nvPr/>
          </p:nvSpPr>
          <p:spPr bwMode="auto">
            <a:xfrm>
              <a:off x="474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70" name="Line 115"/>
            <p:cNvSpPr>
              <a:spLocks noChangeShapeType="1"/>
            </p:cNvSpPr>
            <p:nvPr/>
          </p:nvSpPr>
          <p:spPr bwMode="auto">
            <a:xfrm>
              <a:off x="532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71" name="Freeform 116"/>
            <p:cNvSpPr/>
            <p:nvPr/>
          </p:nvSpPr>
          <p:spPr bwMode="auto">
            <a:xfrm>
              <a:off x="1305" y="2708"/>
              <a:ext cx="1" cy="166"/>
            </a:xfrm>
            <a:custGeom>
              <a:avLst/>
              <a:gdLst>
                <a:gd name="T0" fmla="*/ 1 w 1"/>
                <a:gd name="T1" fmla="*/ 0 h 166"/>
                <a:gd name="T2" fmla="*/ 0 w 1"/>
                <a:gd name="T3" fmla="*/ 166 h 166"/>
                <a:gd name="T4" fmla="*/ 0 60000 65536"/>
                <a:gd name="T5" fmla="*/ 0 60000 65536"/>
                <a:gd name="T6" fmla="*/ 0 w 1"/>
                <a:gd name="T7" fmla="*/ 0 h 166"/>
                <a:gd name="T8" fmla="*/ 1 w 1"/>
                <a:gd name="T9" fmla="*/ 166 h 16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66">
                  <a:moveTo>
                    <a:pt x="1" y="0"/>
                  </a:moveTo>
                  <a:lnTo>
                    <a:pt x="0" y="1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72" name="Freeform 117"/>
            <p:cNvSpPr/>
            <p:nvPr/>
          </p:nvSpPr>
          <p:spPr bwMode="auto">
            <a:xfrm>
              <a:off x="1880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7711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73" name="Freeform 118"/>
            <p:cNvSpPr/>
            <p:nvPr/>
          </p:nvSpPr>
          <p:spPr bwMode="auto">
            <a:xfrm>
              <a:off x="2454" y="2708"/>
              <a:ext cx="4" cy="166"/>
            </a:xfrm>
            <a:custGeom>
              <a:avLst/>
              <a:gdLst>
                <a:gd name="T0" fmla="*/ 4 w 4"/>
                <a:gd name="T1" fmla="*/ 0 h 166"/>
                <a:gd name="T2" fmla="*/ 0 w 4"/>
                <a:gd name="T3" fmla="*/ 166 h 166"/>
                <a:gd name="T4" fmla="*/ 0 60000 65536"/>
                <a:gd name="T5" fmla="*/ 0 60000 65536"/>
                <a:gd name="T6" fmla="*/ 0 w 4"/>
                <a:gd name="T7" fmla="*/ 0 h 166"/>
                <a:gd name="T8" fmla="*/ 4 w 4"/>
                <a:gd name="T9" fmla="*/ 166 h 16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66">
                  <a:moveTo>
                    <a:pt x="4" y="0"/>
                  </a:moveTo>
                  <a:lnTo>
                    <a:pt x="0" y="1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74" name="Freeform 119"/>
            <p:cNvSpPr/>
            <p:nvPr/>
          </p:nvSpPr>
          <p:spPr bwMode="auto">
            <a:xfrm>
              <a:off x="3606" y="2708"/>
              <a:ext cx="2" cy="175"/>
            </a:xfrm>
            <a:custGeom>
              <a:avLst/>
              <a:gdLst>
                <a:gd name="T0" fmla="*/ 2 w 2"/>
                <a:gd name="T1" fmla="*/ 0 h 175"/>
                <a:gd name="T2" fmla="*/ 0 w 2"/>
                <a:gd name="T3" fmla="*/ 175 h 175"/>
                <a:gd name="T4" fmla="*/ 0 60000 65536"/>
                <a:gd name="T5" fmla="*/ 0 60000 65536"/>
                <a:gd name="T6" fmla="*/ 0 w 2"/>
                <a:gd name="T7" fmla="*/ 0 h 175"/>
                <a:gd name="T8" fmla="*/ 2 w 2"/>
                <a:gd name="T9" fmla="*/ 175 h 17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175">
                  <a:moveTo>
                    <a:pt x="2" y="0"/>
                  </a:moveTo>
                  <a:lnTo>
                    <a:pt x="0" y="17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75" name="Freeform 120"/>
            <p:cNvSpPr/>
            <p:nvPr/>
          </p:nvSpPr>
          <p:spPr bwMode="auto">
            <a:xfrm>
              <a:off x="4760" y="2697"/>
              <a:ext cx="1" cy="176"/>
            </a:xfrm>
            <a:custGeom>
              <a:avLst/>
              <a:gdLst>
                <a:gd name="T0" fmla="*/ 0 w 1"/>
                <a:gd name="T1" fmla="*/ 0 h 176"/>
                <a:gd name="T2" fmla="*/ 0 w 1"/>
                <a:gd name="T3" fmla="*/ 176 h 176"/>
                <a:gd name="T4" fmla="*/ 0 60000 65536"/>
                <a:gd name="T5" fmla="*/ 0 60000 65536"/>
                <a:gd name="T6" fmla="*/ 0 w 1"/>
                <a:gd name="T7" fmla="*/ 0 h 176"/>
                <a:gd name="T8" fmla="*/ 1 w 1"/>
                <a:gd name="T9" fmla="*/ 176 h 17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76">
                  <a:moveTo>
                    <a:pt x="0" y="0"/>
                  </a:moveTo>
                  <a:lnTo>
                    <a:pt x="0" y="17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76" name="Freeform 121"/>
            <p:cNvSpPr/>
            <p:nvPr/>
          </p:nvSpPr>
          <p:spPr bwMode="auto">
            <a:xfrm>
              <a:off x="908" y="1480"/>
              <a:ext cx="4422" cy="1"/>
            </a:xfrm>
            <a:custGeom>
              <a:avLst/>
              <a:gdLst>
                <a:gd name="T0" fmla="*/ 0 w 4422"/>
                <a:gd name="T1" fmla="*/ 1 h 1"/>
                <a:gd name="T2" fmla="*/ 4422 w 4422"/>
                <a:gd name="T3" fmla="*/ 0 h 1"/>
                <a:gd name="T4" fmla="*/ 0 60000 65536"/>
                <a:gd name="T5" fmla="*/ 0 60000 65536"/>
                <a:gd name="T6" fmla="*/ 0 w 4422"/>
                <a:gd name="T7" fmla="*/ 0 h 1"/>
                <a:gd name="T8" fmla="*/ 4422 w 442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22" h="1">
                  <a:moveTo>
                    <a:pt x="0" y="1"/>
                  </a:moveTo>
                  <a:lnTo>
                    <a:pt x="442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77" name="Line 122"/>
            <p:cNvSpPr>
              <a:spLocks noChangeShapeType="1"/>
            </p:cNvSpPr>
            <p:nvPr/>
          </p:nvSpPr>
          <p:spPr bwMode="auto">
            <a:xfrm>
              <a:off x="129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78" name="Line 123"/>
            <p:cNvSpPr>
              <a:spLocks noChangeShapeType="1"/>
            </p:cNvSpPr>
            <p:nvPr/>
          </p:nvSpPr>
          <p:spPr bwMode="auto">
            <a:xfrm>
              <a:off x="186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79" name="Line 124"/>
            <p:cNvSpPr>
              <a:spLocks noChangeShapeType="1"/>
            </p:cNvSpPr>
            <p:nvPr/>
          </p:nvSpPr>
          <p:spPr bwMode="auto">
            <a:xfrm>
              <a:off x="244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80" name="Line 125"/>
            <p:cNvSpPr>
              <a:spLocks noChangeShapeType="1"/>
            </p:cNvSpPr>
            <p:nvPr/>
          </p:nvSpPr>
          <p:spPr bwMode="auto">
            <a:xfrm>
              <a:off x="3020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81" name="Line 126"/>
            <p:cNvSpPr>
              <a:spLocks noChangeShapeType="1"/>
            </p:cNvSpPr>
            <p:nvPr/>
          </p:nvSpPr>
          <p:spPr bwMode="auto">
            <a:xfrm>
              <a:off x="3596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82" name="Line 127"/>
            <p:cNvSpPr>
              <a:spLocks noChangeShapeType="1"/>
            </p:cNvSpPr>
            <p:nvPr/>
          </p:nvSpPr>
          <p:spPr bwMode="auto">
            <a:xfrm>
              <a:off x="417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83" name="Line 128"/>
            <p:cNvSpPr>
              <a:spLocks noChangeShapeType="1"/>
            </p:cNvSpPr>
            <p:nvPr/>
          </p:nvSpPr>
          <p:spPr bwMode="auto">
            <a:xfrm>
              <a:off x="474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84" name="Line 129"/>
            <p:cNvSpPr>
              <a:spLocks noChangeShapeType="1"/>
            </p:cNvSpPr>
            <p:nvPr/>
          </p:nvSpPr>
          <p:spPr bwMode="auto">
            <a:xfrm>
              <a:off x="532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85" name="Freeform 130"/>
            <p:cNvSpPr/>
            <p:nvPr/>
          </p:nvSpPr>
          <p:spPr bwMode="auto">
            <a:xfrm>
              <a:off x="908" y="2056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  <a:gd name="T6" fmla="*/ 0 w 4418"/>
                <a:gd name="T7" fmla="*/ 0 h 1"/>
                <a:gd name="T8" fmla="*/ 4418 w 441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86" name="Line 131"/>
            <p:cNvSpPr>
              <a:spLocks noChangeShapeType="1"/>
            </p:cNvSpPr>
            <p:nvPr/>
          </p:nvSpPr>
          <p:spPr bwMode="auto">
            <a:xfrm>
              <a:off x="129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87" name="Line 132"/>
            <p:cNvSpPr>
              <a:spLocks noChangeShapeType="1"/>
            </p:cNvSpPr>
            <p:nvPr/>
          </p:nvSpPr>
          <p:spPr bwMode="auto">
            <a:xfrm>
              <a:off x="186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88" name="Line 133"/>
            <p:cNvSpPr>
              <a:spLocks noChangeShapeType="1"/>
            </p:cNvSpPr>
            <p:nvPr/>
          </p:nvSpPr>
          <p:spPr bwMode="auto">
            <a:xfrm>
              <a:off x="244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89" name="Line 134"/>
            <p:cNvSpPr>
              <a:spLocks noChangeShapeType="1"/>
            </p:cNvSpPr>
            <p:nvPr/>
          </p:nvSpPr>
          <p:spPr bwMode="auto">
            <a:xfrm>
              <a:off x="3020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90" name="Line 135"/>
            <p:cNvSpPr>
              <a:spLocks noChangeShapeType="1"/>
            </p:cNvSpPr>
            <p:nvPr/>
          </p:nvSpPr>
          <p:spPr bwMode="auto">
            <a:xfrm>
              <a:off x="3596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91" name="Line 136"/>
            <p:cNvSpPr>
              <a:spLocks noChangeShapeType="1"/>
            </p:cNvSpPr>
            <p:nvPr/>
          </p:nvSpPr>
          <p:spPr bwMode="auto">
            <a:xfrm>
              <a:off x="417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92" name="Line 137"/>
            <p:cNvSpPr>
              <a:spLocks noChangeShapeType="1"/>
            </p:cNvSpPr>
            <p:nvPr/>
          </p:nvSpPr>
          <p:spPr bwMode="auto">
            <a:xfrm>
              <a:off x="474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93" name="Line 138"/>
            <p:cNvSpPr>
              <a:spLocks noChangeShapeType="1"/>
            </p:cNvSpPr>
            <p:nvPr/>
          </p:nvSpPr>
          <p:spPr bwMode="auto">
            <a:xfrm>
              <a:off x="532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94" name="Freeform 139"/>
            <p:cNvSpPr/>
            <p:nvPr/>
          </p:nvSpPr>
          <p:spPr bwMode="auto">
            <a:xfrm>
              <a:off x="909" y="2879"/>
              <a:ext cx="3860" cy="1"/>
            </a:xfrm>
            <a:custGeom>
              <a:avLst/>
              <a:gdLst>
                <a:gd name="T0" fmla="*/ 0 w 3860"/>
                <a:gd name="T1" fmla="*/ 1 h 1"/>
                <a:gd name="T2" fmla="*/ 3860 w 3860"/>
                <a:gd name="T3" fmla="*/ 0 h 1"/>
                <a:gd name="T4" fmla="*/ 0 60000 65536"/>
                <a:gd name="T5" fmla="*/ 0 60000 65536"/>
                <a:gd name="T6" fmla="*/ 0 w 3860"/>
                <a:gd name="T7" fmla="*/ 0 h 1"/>
                <a:gd name="T8" fmla="*/ 3860 w 386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860" h="1">
                  <a:moveTo>
                    <a:pt x="0" y="1"/>
                  </a:moveTo>
                  <a:lnTo>
                    <a:pt x="386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95" name="Freeform 140"/>
            <p:cNvSpPr/>
            <p:nvPr/>
          </p:nvSpPr>
          <p:spPr bwMode="auto">
            <a:xfrm>
              <a:off x="912" y="3209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  <a:gd name="T6" fmla="*/ 0 w 4418"/>
                <a:gd name="T7" fmla="*/ 0 h 1"/>
                <a:gd name="T8" fmla="*/ 4418 w 441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96" name="Rectangle 141"/>
            <p:cNvSpPr>
              <a:spLocks noChangeArrowheads="1"/>
            </p:cNvSpPr>
            <p:nvPr/>
          </p:nvSpPr>
          <p:spPr bwMode="auto">
            <a:xfrm>
              <a:off x="114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8197" name="Text Box 142"/>
            <p:cNvSpPr txBox="1">
              <a:spLocks noChangeArrowheads="1"/>
            </p:cNvSpPr>
            <p:nvPr/>
          </p:nvSpPr>
          <p:spPr bwMode="auto">
            <a:xfrm>
              <a:off x="1172" y="3576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</a:p>
          </p:txBody>
        </p:sp>
        <p:sp>
          <p:nvSpPr>
            <p:cNvPr id="128198" name="Freeform 143"/>
            <p:cNvSpPr/>
            <p:nvPr/>
          </p:nvSpPr>
          <p:spPr bwMode="auto">
            <a:xfrm>
              <a:off x="1402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199" name="Freeform 144"/>
            <p:cNvSpPr/>
            <p:nvPr/>
          </p:nvSpPr>
          <p:spPr bwMode="auto">
            <a:xfrm>
              <a:off x="1613" y="1211"/>
              <a:ext cx="169" cy="1469"/>
            </a:xfrm>
            <a:custGeom>
              <a:avLst/>
              <a:gdLst>
                <a:gd name="T0" fmla="*/ 169 w 169"/>
                <a:gd name="T1" fmla="*/ 1468 h 1469"/>
                <a:gd name="T2" fmla="*/ 0 w 169"/>
                <a:gd name="T3" fmla="*/ 1469 h 1469"/>
                <a:gd name="T4" fmla="*/ 1 w 169"/>
                <a:gd name="T5" fmla="*/ 0 h 1469"/>
                <a:gd name="T6" fmla="*/ 105 w 16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9"/>
                <a:gd name="T13" fmla="*/ 0 h 1469"/>
                <a:gd name="T14" fmla="*/ 169 w 169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9" h="1469">
                  <a:moveTo>
                    <a:pt x="169" y="1468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00" name="Freeform 145"/>
            <p:cNvSpPr/>
            <p:nvPr/>
          </p:nvSpPr>
          <p:spPr bwMode="auto">
            <a:xfrm>
              <a:off x="1967" y="1211"/>
              <a:ext cx="141" cy="1466"/>
            </a:xfrm>
            <a:custGeom>
              <a:avLst/>
              <a:gdLst>
                <a:gd name="T0" fmla="*/ 38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1"/>
                <a:gd name="T13" fmla="*/ 0 h 1466"/>
                <a:gd name="T14" fmla="*/ 141 w 141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1" h="1466">
                  <a:moveTo>
                    <a:pt x="38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01" name="Freeform 146"/>
            <p:cNvSpPr/>
            <p:nvPr/>
          </p:nvSpPr>
          <p:spPr bwMode="auto">
            <a:xfrm>
              <a:off x="2208" y="1211"/>
              <a:ext cx="155" cy="1467"/>
            </a:xfrm>
            <a:custGeom>
              <a:avLst/>
              <a:gdLst>
                <a:gd name="T0" fmla="*/ 155 w 155"/>
                <a:gd name="T1" fmla="*/ 1467 h 1467"/>
                <a:gd name="T2" fmla="*/ 3 w 155"/>
                <a:gd name="T3" fmla="*/ 1467 h 1467"/>
                <a:gd name="T4" fmla="*/ 0 w 155"/>
                <a:gd name="T5" fmla="*/ 1 h 1467"/>
                <a:gd name="T6" fmla="*/ 89 w 155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5"/>
                <a:gd name="T13" fmla="*/ 0 h 1467"/>
                <a:gd name="T14" fmla="*/ 155 w 155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5" h="1467">
                  <a:moveTo>
                    <a:pt x="155" y="1467"/>
                  </a:moveTo>
                  <a:lnTo>
                    <a:pt x="3" y="1467"/>
                  </a:lnTo>
                  <a:lnTo>
                    <a:pt x="0" y="1"/>
                  </a:lnTo>
                  <a:lnTo>
                    <a:pt x="89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02" name="Freeform 147"/>
            <p:cNvSpPr/>
            <p:nvPr/>
          </p:nvSpPr>
          <p:spPr bwMode="auto">
            <a:xfrm>
              <a:off x="2557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4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2"/>
                <a:gd name="T13" fmla="*/ 0 h 1466"/>
                <a:gd name="T14" fmla="*/ 142 w 142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4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03" name="Freeform 148"/>
            <p:cNvSpPr/>
            <p:nvPr/>
          </p:nvSpPr>
          <p:spPr bwMode="auto">
            <a:xfrm>
              <a:off x="2787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77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7"/>
                <a:gd name="T14" fmla="*/ 152 w 152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7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04" name="Freeform 149"/>
            <p:cNvSpPr/>
            <p:nvPr/>
          </p:nvSpPr>
          <p:spPr bwMode="auto">
            <a:xfrm>
              <a:off x="3130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05" name="Freeform 150"/>
            <p:cNvSpPr/>
            <p:nvPr/>
          </p:nvSpPr>
          <p:spPr bwMode="auto">
            <a:xfrm>
              <a:off x="3360" y="1209"/>
              <a:ext cx="155" cy="1469"/>
            </a:xfrm>
            <a:custGeom>
              <a:avLst/>
              <a:gdLst>
                <a:gd name="T0" fmla="*/ 155 w 155"/>
                <a:gd name="T1" fmla="*/ 1469 h 1469"/>
                <a:gd name="T2" fmla="*/ 3 w 155"/>
                <a:gd name="T3" fmla="*/ 1469 h 1469"/>
                <a:gd name="T4" fmla="*/ 0 w 155"/>
                <a:gd name="T5" fmla="*/ 0 h 1469"/>
                <a:gd name="T6" fmla="*/ 103 w 155"/>
                <a:gd name="T7" fmla="*/ 2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5"/>
                <a:gd name="T13" fmla="*/ 0 h 1469"/>
                <a:gd name="T14" fmla="*/ 155 w 155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5" h="1469">
                  <a:moveTo>
                    <a:pt x="155" y="1469"/>
                  </a:moveTo>
                  <a:lnTo>
                    <a:pt x="3" y="1469"/>
                  </a:lnTo>
                  <a:lnTo>
                    <a:pt x="0" y="0"/>
                  </a:lnTo>
                  <a:lnTo>
                    <a:pt x="103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06" name="Freeform 151"/>
            <p:cNvSpPr/>
            <p:nvPr/>
          </p:nvSpPr>
          <p:spPr bwMode="auto">
            <a:xfrm>
              <a:off x="3710" y="1211"/>
              <a:ext cx="141" cy="1466"/>
            </a:xfrm>
            <a:custGeom>
              <a:avLst/>
              <a:gdLst>
                <a:gd name="T0" fmla="*/ 42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1"/>
                <a:gd name="T13" fmla="*/ 0 h 1466"/>
                <a:gd name="T14" fmla="*/ 141 w 141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1" h="1466">
                  <a:moveTo>
                    <a:pt x="42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07" name="Freeform 152"/>
            <p:cNvSpPr/>
            <p:nvPr/>
          </p:nvSpPr>
          <p:spPr bwMode="auto">
            <a:xfrm>
              <a:off x="3939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103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7"/>
                <a:gd name="T14" fmla="*/ 152 w 152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103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08" name="Freeform 153"/>
            <p:cNvSpPr/>
            <p:nvPr/>
          </p:nvSpPr>
          <p:spPr bwMode="auto">
            <a:xfrm>
              <a:off x="4280" y="1211"/>
              <a:ext cx="147" cy="1466"/>
            </a:xfrm>
            <a:custGeom>
              <a:avLst/>
              <a:gdLst>
                <a:gd name="T0" fmla="*/ 51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7"/>
                <a:gd name="T13" fmla="*/ 0 h 1466"/>
                <a:gd name="T14" fmla="*/ 147 w 147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7" h="1466">
                  <a:moveTo>
                    <a:pt x="51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09" name="Freeform 154"/>
            <p:cNvSpPr/>
            <p:nvPr/>
          </p:nvSpPr>
          <p:spPr bwMode="auto">
            <a:xfrm>
              <a:off x="4509" y="1211"/>
              <a:ext cx="158" cy="1467"/>
            </a:xfrm>
            <a:custGeom>
              <a:avLst/>
              <a:gdLst>
                <a:gd name="T0" fmla="*/ 158 w 158"/>
                <a:gd name="T1" fmla="*/ 1467 h 1467"/>
                <a:gd name="T2" fmla="*/ 0 w 158"/>
                <a:gd name="T3" fmla="*/ 1467 h 1467"/>
                <a:gd name="T4" fmla="*/ 0 w 158"/>
                <a:gd name="T5" fmla="*/ 0 h 1467"/>
                <a:gd name="T6" fmla="*/ 95 w 158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8"/>
                <a:gd name="T13" fmla="*/ 0 h 1467"/>
                <a:gd name="T14" fmla="*/ 158 w 158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8" h="1467">
                  <a:moveTo>
                    <a:pt x="158" y="1467"/>
                  </a:moveTo>
                  <a:lnTo>
                    <a:pt x="0" y="1467"/>
                  </a:lnTo>
                  <a:lnTo>
                    <a:pt x="0" y="0"/>
                  </a:lnTo>
                  <a:lnTo>
                    <a:pt x="9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10" name="Freeform 155"/>
            <p:cNvSpPr/>
            <p:nvPr/>
          </p:nvSpPr>
          <p:spPr bwMode="auto">
            <a:xfrm>
              <a:off x="4861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2"/>
                <a:gd name="T13" fmla="*/ 0 h 1466"/>
                <a:gd name="T14" fmla="*/ 142 w 142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11" name="Freeform 156"/>
            <p:cNvSpPr/>
            <p:nvPr/>
          </p:nvSpPr>
          <p:spPr bwMode="auto">
            <a:xfrm>
              <a:off x="5069" y="1211"/>
              <a:ext cx="159" cy="1469"/>
            </a:xfrm>
            <a:custGeom>
              <a:avLst/>
              <a:gdLst>
                <a:gd name="T0" fmla="*/ 159 w 159"/>
                <a:gd name="T1" fmla="*/ 1467 h 1469"/>
                <a:gd name="T2" fmla="*/ 0 w 159"/>
                <a:gd name="T3" fmla="*/ 1469 h 1469"/>
                <a:gd name="T4" fmla="*/ 1 w 159"/>
                <a:gd name="T5" fmla="*/ 0 h 1469"/>
                <a:gd name="T6" fmla="*/ 104 w 15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9"/>
                <a:gd name="T13" fmla="*/ 0 h 1469"/>
                <a:gd name="T14" fmla="*/ 159 w 159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9" h="1469">
                  <a:moveTo>
                    <a:pt x="159" y="1467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4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12" name="Freeform 157"/>
            <p:cNvSpPr/>
            <p:nvPr/>
          </p:nvSpPr>
          <p:spPr bwMode="auto">
            <a:xfrm>
              <a:off x="5417" y="1211"/>
              <a:ext cx="147" cy="1466"/>
            </a:xfrm>
            <a:custGeom>
              <a:avLst/>
              <a:gdLst>
                <a:gd name="T0" fmla="*/ 47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7"/>
                <a:gd name="T13" fmla="*/ 0 h 1466"/>
                <a:gd name="T14" fmla="*/ 147 w 147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7" h="1466">
                  <a:moveTo>
                    <a:pt x="47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13" name="Freeform 158"/>
            <p:cNvSpPr/>
            <p:nvPr/>
          </p:nvSpPr>
          <p:spPr bwMode="auto">
            <a:xfrm>
              <a:off x="1055" y="2738"/>
              <a:ext cx="730" cy="660"/>
            </a:xfrm>
            <a:custGeom>
              <a:avLst/>
              <a:gdLst>
                <a:gd name="T0" fmla="*/ 160 w 730"/>
                <a:gd name="T1" fmla="*/ 4 h 660"/>
                <a:gd name="T2" fmla="*/ 0 w 730"/>
                <a:gd name="T3" fmla="*/ 3 h 660"/>
                <a:gd name="T4" fmla="*/ 0 w 730"/>
                <a:gd name="T5" fmla="*/ 660 h 660"/>
                <a:gd name="T6" fmla="*/ 558 w 730"/>
                <a:gd name="T7" fmla="*/ 657 h 660"/>
                <a:gd name="T8" fmla="*/ 558 w 730"/>
                <a:gd name="T9" fmla="*/ 0 h 660"/>
                <a:gd name="T10" fmla="*/ 730 w 730"/>
                <a:gd name="T11" fmla="*/ 1 h 6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30"/>
                <a:gd name="T19" fmla="*/ 0 h 660"/>
                <a:gd name="T20" fmla="*/ 730 w 730"/>
                <a:gd name="T21" fmla="*/ 660 h 6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30" h="660">
                  <a:moveTo>
                    <a:pt x="160" y="4"/>
                  </a:moveTo>
                  <a:lnTo>
                    <a:pt x="0" y="3"/>
                  </a:lnTo>
                  <a:lnTo>
                    <a:pt x="0" y="660"/>
                  </a:lnTo>
                  <a:lnTo>
                    <a:pt x="558" y="657"/>
                  </a:lnTo>
                  <a:lnTo>
                    <a:pt x="558" y="0"/>
                  </a:lnTo>
                  <a:lnTo>
                    <a:pt x="730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14" name="Freeform 159"/>
            <p:cNvSpPr/>
            <p:nvPr/>
          </p:nvSpPr>
          <p:spPr bwMode="auto">
            <a:xfrm>
              <a:off x="2207" y="2744"/>
              <a:ext cx="729" cy="658"/>
            </a:xfrm>
            <a:custGeom>
              <a:avLst/>
              <a:gdLst>
                <a:gd name="T0" fmla="*/ 153 w 729"/>
                <a:gd name="T1" fmla="*/ 0 h 658"/>
                <a:gd name="T2" fmla="*/ 0 w 729"/>
                <a:gd name="T3" fmla="*/ 0 h 658"/>
                <a:gd name="T4" fmla="*/ 0 w 729"/>
                <a:gd name="T5" fmla="*/ 657 h 658"/>
                <a:gd name="T6" fmla="*/ 583 w 729"/>
                <a:gd name="T7" fmla="*/ 658 h 658"/>
                <a:gd name="T8" fmla="*/ 582 w 729"/>
                <a:gd name="T9" fmla="*/ 3 h 658"/>
                <a:gd name="T10" fmla="*/ 729 w 729"/>
                <a:gd name="T11" fmla="*/ 3 h 6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8"/>
                <a:gd name="T20" fmla="*/ 729 w 729"/>
                <a:gd name="T21" fmla="*/ 658 h 65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8">
                  <a:moveTo>
                    <a:pt x="153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83" y="658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15" name="Freeform 160"/>
            <p:cNvSpPr/>
            <p:nvPr/>
          </p:nvSpPr>
          <p:spPr bwMode="auto">
            <a:xfrm>
              <a:off x="3356" y="2744"/>
              <a:ext cx="729" cy="657"/>
            </a:xfrm>
            <a:custGeom>
              <a:avLst/>
              <a:gdLst>
                <a:gd name="T0" fmla="*/ 158 w 729"/>
                <a:gd name="T1" fmla="*/ 0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7"/>
                <a:gd name="T20" fmla="*/ 729 w 729"/>
                <a:gd name="T21" fmla="*/ 657 h 65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7">
                  <a:moveTo>
                    <a:pt x="158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16" name="Freeform 161"/>
            <p:cNvSpPr/>
            <p:nvPr/>
          </p:nvSpPr>
          <p:spPr bwMode="auto">
            <a:xfrm>
              <a:off x="4508" y="2744"/>
              <a:ext cx="729" cy="657"/>
            </a:xfrm>
            <a:custGeom>
              <a:avLst/>
              <a:gdLst>
                <a:gd name="T0" fmla="*/ 161 w 729"/>
                <a:gd name="T1" fmla="*/ 2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7"/>
                <a:gd name="T20" fmla="*/ 729 w 729"/>
                <a:gd name="T21" fmla="*/ 657 h 65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7">
                  <a:moveTo>
                    <a:pt x="161" y="2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17" name="Freeform 162"/>
            <p:cNvSpPr/>
            <p:nvPr/>
          </p:nvSpPr>
          <p:spPr bwMode="auto">
            <a:xfrm>
              <a:off x="1400" y="2735"/>
              <a:ext cx="708" cy="571"/>
            </a:xfrm>
            <a:custGeom>
              <a:avLst/>
              <a:gdLst>
                <a:gd name="T0" fmla="*/ 0 w 708"/>
                <a:gd name="T1" fmla="*/ 0 h 571"/>
                <a:gd name="T2" fmla="*/ 132 w 708"/>
                <a:gd name="T3" fmla="*/ 0 h 571"/>
                <a:gd name="T4" fmla="*/ 133 w 708"/>
                <a:gd name="T5" fmla="*/ 571 h 571"/>
                <a:gd name="T6" fmla="*/ 708 w 708"/>
                <a:gd name="T7" fmla="*/ 570 h 571"/>
                <a:gd name="T8" fmla="*/ 708 w 708"/>
                <a:gd name="T9" fmla="*/ 9 h 571"/>
                <a:gd name="T10" fmla="*/ 573 w 708"/>
                <a:gd name="T11" fmla="*/ 9 h 5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08"/>
                <a:gd name="T19" fmla="*/ 0 h 571"/>
                <a:gd name="T20" fmla="*/ 708 w 708"/>
                <a:gd name="T21" fmla="*/ 571 h 57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08" h="571">
                  <a:moveTo>
                    <a:pt x="0" y="0"/>
                  </a:moveTo>
                  <a:lnTo>
                    <a:pt x="132" y="0"/>
                  </a:lnTo>
                  <a:lnTo>
                    <a:pt x="133" y="571"/>
                  </a:lnTo>
                  <a:lnTo>
                    <a:pt x="708" y="570"/>
                  </a:lnTo>
                  <a:lnTo>
                    <a:pt x="708" y="9"/>
                  </a:lnTo>
                  <a:lnTo>
                    <a:pt x="573" y="9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18" name="Freeform 163"/>
            <p:cNvSpPr/>
            <p:nvPr/>
          </p:nvSpPr>
          <p:spPr bwMode="auto">
            <a:xfrm>
              <a:off x="2552" y="2735"/>
              <a:ext cx="726" cy="567"/>
            </a:xfrm>
            <a:custGeom>
              <a:avLst/>
              <a:gdLst>
                <a:gd name="T0" fmla="*/ 0 w 726"/>
                <a:gd name="T1" fmla="*/ 0 h 567"/>
                <a:gd name="T2" fmla="*/ 148 w 726"/>
                <a:gd name="T3" fmla="*/ 1 h 567"/>
                <a:gd name="T4" fmla="*/ 147 w 726"/>
                <a:gd name="T5" fmla="*/ 567 h 567"/>
                <a:gd name="T6" fmla="*/ 726 w 726"/>
                <a:gd name="T7" fmla="*/ 567 h 567"/>
                <a:gd name="T8" fmla="*/ 726 w 726"/>
                <a:gd name="T9" fmla="*/ 6 h 567"/>
                <a:gd name="T10" fmla="*/ 579 w 726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6"/>
                <a:gd name="T19" fmla="*/ 0 h 567"/>
                <a:gd name="T20" fmla="*/ 726 w 726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6" h="567">
                  <a:moveTo>
                    <a:pt x="0" y="0"/>
                  </a:moveTo>
                  <a:lnTo>
                    <a:pt x="148" y="1"/>
                  </a:lnTo>
                  <a:lnTo>
                    <a:pt x="147" y="567"/>
                  </a:lnTo>
                  <a:lnTo>
                    <a:pt x="726" y="567"/>
                  </a:lnTo>
                  <a:lnTo>
                    <a:pt x="726" y="6"/>
                  </a:lnTo>
                  <a:lnTo>
                    <a:pt x="579" y="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19" name="Freeform 164"/>
            <p:cNvSpPr/>
            <p:nvPr/>
          </p:nvSpPr>
          <p:spPr bwMode="auto">
            <a:xfrm>
              <a:off x="3704" y="2738"/>
              <a:ext cx="714" cy="567"/>
            </a:xfrm>
            <a:custGeom>
              <a:avLst/>
              <a:gdLst>
                <a:gd name="T0" fmla="*/ 0 w 714"/>
                <a:gd name="T1" fmla="*/ 0 h 567"/>
                <a:gd name="T2" fmla="*/ 136 w 714"/>
                <a:gd name="T3" fmla="*/ 1 h 567"/>
                <a:gd name="T4" fmla="*/ 135 w 714"/>
                <a:gd name="T5" fmla="*/ 567 h 567"/>
                <a:gd name="T6" fmla="*/ 714 w 714"/>
                <a:gd name="T7" fmla="*/ 567 h 567"/>
                <a:gd name="T8" fmla="*/ 714 w 714"/>
                <a:gd name="T9" fmla="*/ 6 h 567"/>
                <a:gd name="T10" fmla="*/ 576 w 714"/>
                <a:gd name="T11" fmla="*/ 5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4"/>
                <a:gd name="T19" fmla="*/ 0 h 567"/>
                <a:gd name="T20" fmla="*/ 714 w 714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4" h="567">
                  <a:moveTo>
                    <a:pt x="0" y="0"/>
                  </a:moveTo>
                  <a:lnTo>
                    <a:pt x="136" y="1"/>
                  </a:lnTo>
                  <a:lnTo>
                    <a:pt x="135" y="567"/>
                  </a:lnTo>
                  <a:lnTo>
                    <a:pt x="714" y="567"/>
                  </a:lnTo>
                  <a:lnTo>
                    <a:pt x="714" y="6"/>
                  </a:lnTo>
                  <a:lnTo>
                    <a:pt x="576" y="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20" name="Freeform 165"/>
            <p:cNvSpPr/>
            <p:nvPr/>
          </p:nvSpPr>
          <p:spPr bwMode="auto">
            <a:xfrm>
              <a:off x="4859" y="2738"/>
              <a:ext cx="711" cy="567"/>
            </a:xfrm>
            <a:custGeom>
              <a:avLst/>
              <a:gdLst>
                <a:gd name="T0" fmla="*/ 0 w 711"/>
                <a:gd name="T1" fmla="*/ 0 h 567"/>
                <a:gd name="T2" fmla="*/ 130 w 711"/>
                <a:gd name="T3" fmla="*/ 1 h 567"/>
                <a:gd name="T4" fmla="*/ 132 w 711"/>
                <a:gd name="T5" fmla="*/ 567 h 567"/>
                <a:gd name="T6" fmla="*/ 711 w 711"/>
                <a:gd name="T7" fmla="*/ 567 h 567"/>
                <a:gd name="T8" fmla="*/ 711 w 711"/>
                <a:gd name="T9" fmla="*/ 6 h 567"/>
                <a:gd name="T10" fmla="*/ 564 w 711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1"/>
                <a:gd name="T19" fmla="*/ 0 h 567"/>
                <a:gd name="T20" fmla="*/ 711 w 711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1" h="567">
                  <a:moveTo>
                    <a:pt x="0" y="0"/>
                  </a:moveTo>
                  <a:lnTo>
                    <a:pt x="130" y="1"/>
                  </a:lnTo>
                  <a:lnTo>
                    <a:pt x="132" y="567"/>
                  </a:lnTo>
                  <a:lnTo>
                    <a:pt x="711" y="567"/>
                  </a:lnTo>
                  <a:lnTo>
                    <a:pt x="711" y="6"/>
                  </a:lnTo>
                  <a:lnTo>
                    <a:pt x="564" y="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21" name="Freeform 166"/>
            <p:cNvSpPr/>
            <p:nvPr/>
          </p:nvSpPr>
          <p:spPr bwMode="auto">
            <a:xfrm>
              <a:off x="1322" y="3398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22" name="Freeform 167"/>
            <p:cNvSpPr/>
            <p:nvPr/>
          </p:nvSpPr>
          <p:spPr bwMode="auto">
            <a:xfrm>
              <a:off x="2491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23" name="Freeform 168"/>
            <p:cNvSpPr/>
            <p:nvPr/>
          </p:nvSpPr>
          <p:spPr bwMode="auto">
            <a:xfrm>
              <a:off x="3643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24" name="Freeform 169"/>
            <p:cNvSpPr/>
            <p:nvPr/>
          </p:nvSpPr>
          <p:spPr bwMode="auto">
            <a:xfrm>
              <a:off x="4795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25" name="Freeform 170"/>
            <p:cNvSpPr/>
            <p:nvPr/>
          </p:nvSpPr>
          <p:spPr bwMode="auto">
            <a:xfrm>
              <a:off x="5276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26" name="Freeform 171"/>
            <p:cNvSpPr/>
            <p:nvPr/>
          </p:nvSpPr>
          <p:spPr bwMode="auto">
            <a:xfrm>
              <a:off x="4124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27" name="Freeform 172"/>
            <p:cNvSpPr/>
            <p:nvPr/>
          </p:nvSpPr>
          <p:spPr bwMode="auto">
            <a:xfrm>
              <a:off x="2972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28" name="Freeform 173"/>
            <p:cNvSpPr/>
            <p:nvPr/>
          </p:nvSpPr>
          <p:spPr bwMode="auto">
            <a:xfrm>
              <a:off x="1819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29" name="Freeform 174"/>
            <p:cNvSpPr/>
            <p:nvPr/>
          </p:nvSpPr>
          <p:spPr bwMode="auto">
            <a:xfrm>
              <a:off x="956" y="4025"/>
              <a:ext cx="4317" cy="1"/>
            </a:xfrm>
            <a:custGeom>
              <a:avLst/>
              <a:gdLst>
                <a:gd name="T0" fmla="*/ 0 w 4317"/>
                <a:gd name="T1" fmla="*/ 0 h 1"/>
                <a:gd name="T2" fmla="*/ 4317 w 4317"/>
                <a:gd name="T3" fmla="*/ 0 h 1"/>
                <a:gd name="T4" fmla="*/ 0 60000 65536"/>
                <a:gd name="T5" fmla="*/ 0 60000 65536"/>
                <a:gd name="T6" fmla="*/ 0 w 4317"/>
                <a:gd name="T7" fmla="*/ 0 h 1"/>
                <a:gd name="T8" fmla="*/ 4317 w 431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317" h="1">
                  <a:moveTo>
                    <a:pt x="0" y="0"/>
                  </a:moveTo>
                  <a:lnTo>
                    <a:pt x="431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30" name="Freeform 175"/>
            <p:cNvSpPr/>
            <p:nvPr/>
          </p:nvSpPr>
          <p:spPr bwMode="auto">
            <a:xfrm>
              <a:off x="956" y="4121"/>
              <a:ext cx="3837" cy="1"/>
            </a:xfrm>
            <a:custGeom>
              <a:avLst/>
              <a:gdLst>
                <a:gd name="T0" fmla="*/ 0 w 3837"/>
                <a:gd name="T1" fmla="*/ 0 h 1"/>
                <a:gd name="T2" fmla="*/ 3837 w 3837"/>
                <a:gd name="T3" fmla="*/ 0 h 1"/>
                <a:gd name="T4" fmla="*/ 0 60000 65536"/>
                <a:gd name="T5" fmla="*/ 0 60000 65536"/>
                <a:gd name="T6" fmla="*/ 0 w 3837"/>
                <a:gd name="T7" fmla="*/ 0 h 1"/>
                <a:gd name="T8" fmla="*/ 3837 w 383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837" h="1">
                  <a:moveTo>
                    <a:pt x="0" y="0"/>
                  </a:moveTo>
                  <a:lnTo>
                    <a:pt x="383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31" name="Freeform 176"/>
            <p:cNvSpPr/>
            <p:nvPr/>
          </p:nvSpPr>
          <p:spPr bwMode="auto">
            <a:xfrm>
              <a:off x="1322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32" name="Freeform 177"/>
            <p:cNvSpPr/>
            <p:nvPr/>
          </p:nvSpPr>
          <p:spPr bwMode="auto">
            <a:xfrm>
              <a:off x="2491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33" name="Freeform 178"/>
            <p:cNvSpPr/>
            <p:nvPr/>
          </p:nvSpPr>
          <p:spPr bwMode="auto">
            <a:xfrm>
              <a:off x="3643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34" name="Freeform 179"/>
            <p:cNvSpPr/>
            <p:nvPr/>
          </p:nvSpPr>
          <p:spPr bwMode="auto">
            <a:xfrm>
              <a:off x="4791" y="3881"/>
              <a:ext cx="4" cy="247"/>
            </a:xfrm>
            <a:custGeom>
              <a:avLst/>
              <a:gdLst>
                <a:gd name="T0" fmla="*/ 4 w 4"/>
                <a:gd name="T1" fmla="*/ 0 h 247"/>
                <a:gd name="T2" fmla="*/ 0 w 4"/>
                <a:gd name="T3" fmla="*/ 247 h 247"/>
                <a:gd name="T4" fmla="*/ 0 60000 65536"/>
                <a:gd name="T5" fmla="*/ 0 60000 65536"/>
                <a:gd name="T6" fmla="*/ 0 w 4"/>
                <a:gd name="T7" fmla="*/ 0 h 247"/>
                <a:gd name="T8" fmla="*/ 4 w 4"/>
                <a:gd name="T9" fmla="*/ 247 h 24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247">
                  <a:moveTo>
                    <a:pt x="4" y="0"/>
                  </a:moveTo>
                  <a:lnTo>
                    <a:pt x="0" y="247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35" name="Freeform 180"/>
            <p:cNvSpPr/>
            <p:nvPr/>
          </p:nvSpPr>
          <p:spPr bwMode="auto">
            <a:xfrm>
              <a:off x="5277" y="3881"/>
              <a:ext cx="1" cy="151"/>
            </a:xfrm>
            <a:custGeom>
              <a:avLst/>
              <a:gdLst>
                <a:gd name="T0" fmla="*/ 0 w 1"/>
                <a:gd name="T1" fmla="*/ 0 h 151"/>
                <a:gd name="T2" fmla="*/ 0 w 1"/>
                <a:gd name="T3" fmla="*/ 151 h 151"/>
                <a:gd name="T4" fmla="*/ 0 60000 65536"/>
                <a:gd name="T5" fmla="*/ 0 60000 65536"/>
                <a:gd name="T6" fmla="*/ 0 w 1"/>
                <a:gd name="T7" fmla="*/ 0 h 151"/>
                <a:gd name="T8" fmla="*/ 1 w 1"/>
                <a:gd name="T9" fmla="*/ 151 h 15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1">
                  <a:moveTo>
                    <a:pt x="0" y="0"/>
                  </a:moveTo>
                  <a:lnTo>
                    <a:pt x="0" y="15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36" name="Line 181"/>
            <p:cNvSpPr>
              <a:spLocks noChangeShapeType="1"/>
            </p:cNvSpPr>
            <p:nvPr/>
          </p:nvSpPr>
          <p:spPr bwMode="auto">
            <a:xfrm>
              <a:off x="4124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37" name="Line 182"/>
            <p:cNvSpPr>
              <a:spLocks noChangeShapeType="1"/>
            </p:cNvSpPr>
            <p:nvPr/>
          </p:nvSpPr>
          <p:spPr bwMode="auto">
            <a:xfrm>
              <a:off x="2973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38" name="Line 183"/>
            <p:cNvSpPr>
              <a:spLocks noChangeShapeType="1"/>
            </p:cNvSpPr>
            <p:nvPr/>
          </p:nvSpPr>
          <p:spPr bwMode="auto">
            <a:xfrm>
              <a:off x="1820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39" name="Rectangle 184"/>
            <p:cNvSpPr>
              <a:spLocks noChangeArrowheads="1"/>
            </p:cNvSpPr>
            <p:nvPr/>
          </p:nvSpPr>
          <p:spPr bwMode="auto">
            <a:xfrm>
              <a:off x="2317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8240" name="Text Box 185"/>
            <p:cNvSpPr txBox="1">
              <a:spLocks noChangeArrowheads="1"/>
            </p:cNvSpPr>
            <p:nvPr/>
          </p:nvSpPr>
          <p:spPr bwMode="auto">
            <a:xfrm>
              <a:off x="2348" y="3576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</a:p>
          </p:txBody>
        </p:sp>
        <p:sp>
          <p:nvSpPr>
            <p:cNvPr id="128241" name="Rectangle 186"/>
            <p:cNvSpPr>
              <a:spLocks noChangeArrowheads="1"/>
            </p:cNvSpPr>
            <p:nvPr/>
          </p:nvSpPr>
          <p:spPr bwMode="auto">
            <a:xfrm>
              <a:off x="3469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8242" name="Text Box 187"/>
            <p:cNvSpPr txBox="1">
              <a:spLocks noChangeArrowheads="1"/>
            </p:cNvSpPr>
            <p:nvPr/>
          </p:nvSpPr>
          <p:spPr bwMode="auto">
            <a:xfrm>
              <a:off x="3500" y="3576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</a:p>
          </p:txBody>
        </p:sp>
        <p:sp>
          <p:nvSpPr>
            <p:cNvPr id="128243" name="Rectangle 188"/>
            <p:cNvSpPr>
              <a:spLocks noChangeArrowheads="1"/>
            </p:cNvSpPr>
            <p:nvPr/>
          </p:nvSpPr>
          <p:spPr bwMode="auto">
            <a:xfrm>
              <a:off x="462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28244" name="Text Box 189"/>
            <p:cNvSpPr txBox="1">
              <a:spLocks noChangeArrowheads="1"/>
            </p:cNvSpPr>
            <p:nvPr/>
          </p:nvSpPr>
          <p:spPr bwMode="auto">
            <a:xfrm>
              <a:off x="4652" y="3576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</a:p>
          </p:txBody>
        </p:sp>
        <p:sp>
          <p:nvSpPr>
            <p:cNvPr id="128245" name="Line 190"/>
            <p:cNvSpPr>
              <a:spLocks noChangeShapeType="1"/>
            </p:cNvSpPr>
            <p:nvPr/>
          </p:nvSpPr>
          <p:spPr bwMode="auto">
            <a:xfrm>
              <a:off x="196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46" name="Line 191"/>
            <p:cNvSpPr>
              <a:spLocks noChangeShapeType="1"/>
            </p:cNvSpPr>
            <p:nvPr/>
          </p:nvSpPr>
          <p:spPr bwMode="auto">
            <a:xfrm>
              <a:off x="314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47" name="Line 192"/>
            <p:cNvSpPr>
              <a:spLocks noChangeShapeType="1"/>
            </p:cNvSpPr>
            <p:nvPr/>
          </p:nvSpPr>
          <p:spPr bwMode="auto">
            <a:xfrm>
              <a:off x="4293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48" name="Line 193"/>
            <p:cNvSpPr>
              <a:spLocks noChangeShapeType="1"/>
            </p:cNvSpPr>
            <p:nvPr/>
          </p:nvSpPr>
          <p:spPr bwMode="auto">
            <a:xfrm>
              <a:off x="5420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49" name="Freeform 194"/>
            <p:cNvSpPr/>
            <p:nvPr/>
          </p:nvSpPr>
          <p:spPr bwMode="auto">
            <a:xfrm>
              <a:off x="3033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7711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50" name="Freeform 195"/>
            <p:cNvSpPr/>
            <p:nvPr/>
          </p:nvSpPr>
          <p:spPr bwMode="auto">
            <a:xfrm>
              <a:off x="4185" y="2691"/>
              <a:ext cx="1" cy="525"/>
            </a:xfrm>
            <a:custGeom>
              <a:avLst/>
              <a:gdLst>
                <a:gd name="T0" fmla="*/ 0 w 1"/>
                <a:gd name="T1" fmla="*/ 0 h 525"/>
                <a:gd name="T2" fmla="*/ 0 w 1"/>
                <a:gd name="T3" fmla="*/ 525 h 525"/>
                <a:gd name="T4" fmla="*/ 0 60000 65536"/>
                <a:gd name="T5" fmla="*/ 0 60000 65536"/>
                <a:gd name="T6" fmla="*/ 0 w 1"/>
                <a:gd name="T7" fmla="*/ 0 h 525"/>
                <a:gd name="T8" fmla="*/ 1 w 1"/>
                <a:gd name="T9" fmla="*/ 525 h 52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5">
                  <a:moveTo>
                    <a:pt x="0" y="0"/>
                  </a:moveTo>
                  <a:lnTo>
                    <a:pt x="0" y="52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51" name="Freeform 196"/>
            <p:cNvSpPr/>
            <p:nvPr/>
          </p:nvSpPr>
          <p:spPr bwMode="auto">
            <a:xfrm>
              <a:off x="5325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7711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52" name="Text Box 197"/>
            <p:cNvSpPr txBox="1">
              <a:spLocks noChangeArrowheads="1"/>
            </p:cNvSpPr>
            <p:nvPr/>
          </p:nvSpPr>
          <p:spPr bwMode="auto">
            <a:xfrm rot="5400000">
              <a:off x="1193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28253" name="Text Box 198"/>
            <p:cNvSpPr txBox="1">
              <a:spLocks noChangeArrowheads="1"/>
            </p:cNvSpPr>
            <p:nvPr/>
          </p:nvSpPr>
          <p:spPr bwMode="auto">
            <a:xfrm rot="5400000">
              <a:off x="1769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28254" name="Text Box 199"/>
            <p:cNvSpPr txBox="1">
              <a:spLocks noChangeArrowheads="1"/>
            </p:cNvSpPr>
            <p:nvPr/>
          </p:nvSpPr>
          <p:spPr bwMode="auto">
            <a:xfrm rot="5400000">
              <a:off x="2345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28255" name="Text Box 200"/>
            <p:cNvSpPr txBox="1">
              <a:spLocks noChangeArrowheads="1"/>
            </p:cNvSpPr>
            <p:nvPr/>
          </p:nvSpPr>
          <p:spPr bwMode="auto">
            <a:xfrm rot="5400000">
              <a:off x="2921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28256" name="Text Box 201"/>
            <p:cNvSpPr txBox="1">
              <a:spLocks noChangeArrowheads="1"/>
            </p:cNvSpPr>
            <p:nvPr/>
          </p:nvSpPr>
          <p:spPr bwMode="auto">
            <a:xfrm rot="5400000">
              <a:off x="3496" y="1627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128257" name="Text Box 202"/>
            <p:cNvSpPr txBox="1">
              <a:spLocks noChangeArrowheads="1"/>
            </p:cNvSpPr>
            <p:nvPr/>
          </p:nvSpPr>
          <p:spPr bwMode="auto">
            <a:xfrm rot="5400000">
              <a:off x="4073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128258" name="Text Box 203"/>
            <p:cNvSpPr txBox="1">
              <a:spLocks noChangeArrowheads="1"/>
            </p:cNvSpPr>
            <p:nvPr/>
          </p:nvSpPr>
          <p:spPr bwMode="auto">
            <a:xfrm rot="5400000">
              <a:off x="4649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128259" name="Text Box 204"/>
            <p:cNvSpPr txBox="1">
              <a:spLocks noChangeArrowheads="1"/>
            </p:cNvSpPr>
            <p:nvPr/>
          </p:nvSpPr>
          <p:spPr bwMode="auto">
            <a:xfrm rot="5400000">
              <a:off x="5244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128260" name="Text Box 205"/>
            <p:cNvSpPr txBox="1">
              <a:spLocks noChangeArrowheads="1"/>
            </p:cNvSpPr>
            <p:nvPr/>
          </p:nvSpPr>
          <p:spPr bwMode="auto">
            <a:xfrm>
              <a:off x="660" y="791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28261" name="Text Box 206"/>
            <p:cNvSpPr txBox="1">
              <a:spLocks noChangeArrowheads="1"/>
            </p:cNvSpPr>
            <p:nvPr/>
          </p:nvSpPr>
          <p:spPr bwMode="auto">
            <a:xfrm>
              <a:off x="660" y="1383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28262" name="Text Box 207"/>
            <p:cNvSpPr txBox="1">
              <a:spLocks noChangeArrowheads="1"/>
            </p:cNvSpPr>
            <p:nvPr/>
          </p:nvSpPr>
          <p:spPr bwMode="auto">
            <a:xfrm>
              <a:off x="624" y="1959"/>
              <a:ext cx="2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63</a:t>
              </a:r>
            </a:p>
          </p:txBody>
        </p:sp>
        <p:sp>
          <p:nvSpPr>
            <p:cNvPr id="128263" name="Line 208"/>
            <p:cNvSpPr>
              <a:spLocks noChangeShapeType="1"/>
            </p:cNvSpPr>
            <p:nvPr/>
          </p:nvSpPr>
          <p:spPr bwMode="auto">
            <a:xfrm>
              <a:off x="332" y="2537"/>
              <a:ext cx="57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64" name="Text Box 209"/>
            <p:cNvSpPr txBox="1">
              <a:spLocks noChangeArrowheads="1"/>
            </p:cNvSpPr>
            <p:nvPr/>
          </p:nvSpPr>
          <p:spPr bwMode="auto">
            <a:xfrm>
              <a:off x="660" y="2727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28265" name="Text Box 210"/>
            <p:cNvSpPr txBox="1">
              <a:spLocks noChangeArrowheads="1"/>
            </p:cNvSpPr>
            <p:nvPr/>
          </p:nvSpPr>
          <p:spPr bwMode="auto">
            <a:xfrm>
              <a:off x="624" y="3159"/>
              <a:ext cx="2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15</a:t>
              </a:r>
            </a:p>
          </p:txBody>
        </p:sp>
        <p:sp>
          <p:nvSpPr>
            <p:cNvPr id="128266" name="Text Box 211"/>
            <p:cNvSpPr txBox="1">
              <a:spLocks noChangeArrowheads="1"/>
            </p:cNvSpPr>
            <p:nvPr/>
          </p:nvSpPr>
          <p:spPr bwMode="auto">
            <a:xfrm rot="5400000">
              <a:off x="665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28267" name="Text Box 212"/>
            <p:cNvSpPr txBox="1">
              <a:spLocks noChangeArrowheads="1"/>
            </p:cNvSpPr>
            <p:nvPr/>
          </p:nvSpPr>
          <p:spPr bwMode="auto">
            <a:xfrm rot="5400000">
              <a:off x="665" y="2876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28268" name="Text Box 213"/>
            <p:cNvSpPr txBox="1">
              <a:spLocks noChangeArrowheads="1"/>
            </p:cNvSpPr>
            <p:nvPr/>
          </p:nvSpPr>
          <p:spPr bwMode="auto">
            <a:xfrm>
              <a:off x="348" y="1015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行</a:t>
              </a:r>
            </a:p>
          </p:txBody>
        </p:sp>
        <p:sp>
          <p:nvSpPr>
            <p:cNvPr id="128269" name="Text Box 214"/>
            <p:cNvSpPr txBox="1">
              <a:spLocks noChangeArrowheads="1"/>
            </p:cNvSpPr>
            <p:nvPr/>
          </p:nvSpPr>
          <p:spPr bwMode="auto">
            <a:xfrm>
              <a:off x="348" y="1263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地</a:t>
              </a:r>
            </a:p>
          </p:txBody>
        </p:sp>
        <p:sp>
          <p:nvSpPr>
            <p:cNvPr id="128270" name="Text Box 215"/>
            <p:cNvSpPr txBox="1">
              <a:spLocks noChangeArrowheads="1"/>
            </p:cNvSpPr>
            <p:nvPr/>
          </p:nvSpPr>
          <p:spPr bwMode="auto">
            <a:xfrm>
              <a:off x="348" y="1511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址</a:t>
              </a:r>
            </a:p>
          </p:txBody>
        </p:sp>
        <p:sp>
          <p:nvSpPr>
            <p:cNvPr id="128271" name="Text Box 216"/>
            <p:cNvSpPr txBox="1">
              <a:spLocks noChangeArrowheads="1"/>
            </p:cNvSpPr>
            <p:nvPr/>
          </p:nvSpPr>
          <p:spPr bwMode="auto">
            <a:xfrm>
              <a:off x="348" y="1758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译</a:t>
              </a:r>
            </a:p>
          </p:txBody>
        </p:sp>
        <p:sp>
          <p:nvSpPr>
            <p:cNvPr id="128272" name="Text Box 217"/>
            <p:cNvSpPr txBox="1">
              <a:spLocks noChangeArrowheads="1"/>
            </p:cNvSpPr>
            <p:nvPr/>
          </p:nvSpPr>
          <p:spPr bwMode="auto">
            <a:xfrm>
              <a:off x="348" y="2006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码</a:t>
              </a:r>
            </a:p>
          </p:txBody>
        </p:sp>
        <p:sp>
          <p:nvSpPr>
            <p:cNvPr id="128273" name="Text Box 218"/>
            <p:cNvSpPr txBox="1">
              <a:spLocks noChangeArrowheads="1"/>
            </p:cNvSpPr>
            <p:nvPr/>
          </p:nvSpPr>
          <p:spPr bwMode="auto">
            <a:xfrm>
              <a:off x="375" y="2635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列</a:t>
              </a:r>
            </a:p>
          </p:txBody>
        </p:sp>
        <p:sp>
          <p:nvSpPr>
            <p:cNvPr id="128274" name="Text Box 219"/>
            <p:cNvSpPr txBox="1">
              <a:spLocks noChangeArrowheads="1"/>
            </p:cNvSpPr>
            <p:nvPr/>
          </p:nvSpPr>
          <p:spPr bwMode="auto">
            <a:xfrm>
              <a:off x="375" y="2883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地</a:t>
              </a:r>
            </a:p>
          </p:txBody>
        </p:sp>
        <p:sp>
          <p:nvSpPr>
            <p:cNvPr id="128275" name="Text Box 220"/>
            <p:cNvSpPr txBox="1">
              <a:spLocks noChangeArrowheads="1"/>
            </p:cNvSpPr>
            <p:nvPr/>
          </p:nvSpPr>
          <p:spPr bwMode="auto">
            <a:xfrm>
              <a:off x="375" y="3131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址</a:t>
              </a:r>
            </a:p>
          </p:txBody>
        </p:sp>
        <p:sp>
          <p:nvSpPr>
            <p:cNvPr id="128276" name="Text Box 221"/>
            <p:cNvSpPr txBox="1">
              <a:spLocks noChangeArrowheads="1"/>
            </p:cNvSpPr>
            <p:nvPr/>
          </p:nvSpPr>
          <p:spPr bwMode="auto">
            <a:xfrm>
              <a:off x="375" y="3378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译</a:t>
              </a:r>
            </a:p>
          </p:txBody>
        </p:sp>
        <p:sp>
          <p:nvSpPr>
            <p:cNvPr id="128277" name="Text Box 222"/>
            <p:cNvSpPr txBox="1">
              <a:spLocks noChangeArrowheads="1"/>
            </p:cNvSpPr>
            <p:nvPr/>
          </p:nvSpPr>
          <p:spPr bwMode="auto">
            <a:xfrm>
              <a:off x="375" y="3626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码</a:t>
              </a:r>
            </a:p>
          </p:txBody>
        </p:sp>
        <p:sp>
          <p:nvSpPr>
            <p:cNvPr id="128278" name="Text Box 223"/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28279" name="Text Box 224"/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128280" name="Text Box 225"/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128281" name="Text Box 226"/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4</a:t>
              </a:r>
            </a:p>
          </p:txBody>
        </p:sp>
        <p:sp>
          <p:nvSpPr>
            <p:cNvPr id="128282" name="Line 227"/>
            <p:cNvSpPr>
              <a:spLocks noChangeShapeType="1"/>
            </p:cNvSpPr>
            <p:nvPr/>
          </p:nvSpPr>
          <p:spPr bwMode="auto">
            <a:xfrm>
              <a:off x="140" y="905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83" name="Line 228"/>
            <p:cNvSpPr>
              <a:spLocks noChangeShapeType="1"/>
            </p:cNvSpPr>
            <p:nvPr/>
          </p:nvSpPr>
          <p:spPr bwMode="auto">
            <a:xfrm>
              <a:off x="140" y="1164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84" name="Line 229"/>
            <p:cNvSpPr>
              <a:spLocks noChangeShapeType="1"/>
            </p:cNvSpPr>
            <p:nvPr/>
          </p:nvSpPr>
          <p:spPr bwMode="auto">
            <a:xfrm>
              <a:off x="140" y="1423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85" name="Line 230"/>
            <p:cNvSpPr>
              <a:spLocks noChangeShapeType="1"/>
            </p:cNvSpPr>
            <p:nvPr/>
          </p:nvSpPr>
          <p:spPr bwMode="auto">
            <a:xfrm>
              <a:off x="140" y="168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86" name="Line 231"/>
            <p:cNvSpPr>
              <a:spLocks noChangeShapeType="1"/>
            </p:cNvSpPr>
            <p:nvPr/>
          </p:nvSpPr>
          <p:spPr bwMode="auto">
            <a:xfrm>
              <a:off x="140" y="194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87" name="Line 232"/>
            <p:cNvSpPr>
              <a:spLocks noChangeShapeType="1"/>
            </p:cNvSpPr>
            <p:nvPr/>
          </p:nvSpPr>
          <p:spPr bwMode="auto">
            <a:xfrm>
              <a:off x="140" y="220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88" name="Line 233"/>
            <p:cNvSpPr>
              <a:spLocks noChangeShapeType="1"/>
            </p:cNvSpPr>
            <p:nvPr/>
          </p:nvSpPr>
          <p:spPr bwMode="auto">
            <a:xfrm>
              <a:off x="140" y="28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89" name="Line 234"/>
            <p:cNvSpPr>
              <a:spLocks noChangeShapeType="1"/>
            </p:cNvSpPr>
            <p:nvPr/>
          </p:nvSpPr>
          <p:spPr bwMode="auto">
            <a:xfrm>
              <a:off x="140" y="313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90" name="Line 235"/>
            <p:cNvSpPr>
              <a:spLocks noChangeShapeType="1"/>
            </p:cNvSpPr>
            <p:nvPr/>
          </p:nvSpPr>
          <p:spPr bwMode="auto">
            <a:xfrm>
              <a:off x="140" y="339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91" name="Line 236"/>
            <p:cNvSpPr>
              <a:spLocks noChangeShapeType="1"/>
            </p:cNvSpPr>
            <p:nvPr/>
          </p:nvSpPr>
          <p:spPr bwMode="auto">
            <a:xfrm>
              <a:off x="140" y="365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92" name="Text Box 237"/>
            <p:cNvSpPr txBox="1">
              <a:spLocks noChangeArrowheads="1"/>
            </p:cNvSpPr>
            <p:nvPr/>
          </p:nvSpPr>
          <p:spPr bwMode="auto">
            <a:xfrm>
              <a:off x="648" y="3890"/>
              <a:ext cx="35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WE</a:t>
              </a:r>
            </a:p>
          </p:txBody>
        </p:sp>
        <p:sp>
          <p:nvSpPr>
            <p:cNvPr id="128293" name="Line 238"/>
            <p:cNvSpPr>
              <a:spLocks noChangeShapeType="1"/>
            </p:cNvSpPr>
            <p:nvPr/>
          </p:nvSpPr>
          <p:spPr bwMode="auto">
            <a:xfrm>
              <a:off x="682" y="3923"/>
              <a:ext cx="2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8294" name="Text Box 239"/>
            <p:cNvSpPr txBox="1">
              <a:spLocks noChangeArrowheads="1"/>
            </p:cNvSpPr>
            <p:nvPr/>
          </p:nvSpPr>
          <p:spPr bwMode="auto">
            <a:xfrm>
              <a:off x="668" y="4025"/>
              <a:ext cx="32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CS</a:t>
              </a:r>
            </a:p>
          </p:txBody>
        </p:sp>
        <p:sp>
          <p:nvSpPr>
            <p:cNvPr id="128295" name="Line 240"/>
            <p:cNvSpPr>
              <a:spLocks noChangeShapeType="1"/>
            </p:cNvSpPr>
            <p:nvPr/>
          </p:nvSpPr>
          <p:spPr bwMode="auto">
            <a:xfrm>
              <a:off x="726" y="4079"/>
              <a:ext cx="19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28006" name="Group 241"/>
          <p:cNvGrpSpPr/>
          <p:nvPr/>
        </p:nvGrpSpPr>
        <p:grpSpPr bwMode="auto">
          <a:xfrm>
            <a:off x="222250" y="1069975"/>
            <a:ext cx="8459788" cy="4778375"/>
            <a:chOff x="140" y="674"/>
            <a:chExt cx="5329" cy="3010"/>
          </a:xfrm>
        </p:grpSpPr>
        <p:grpSp>
          <p:nvGrpSpPr>
            <p:cNvPr id="128056" name="Group 242"/>
            <p:cNvGrpSpPr/>
            <p:nvPr/>
          </p:nvGrpSpPr>
          <p:grpSpPr bwMode="auto">
            <a:xfrm>
              <a:off x="140" y="674"/>
              <a:ext cx="196" cy="3010"/>
              <a:chOff x="140" y="674"/>
              <a:chExt cx="196" cy="3010"/>
            </a:xfrm>
          </p:grpSpPr>
          <p:sp>
            <p:nvSpPr>
              <p:cNvPr id="128082" name="Text Box 243"/>
              <p:cNvSpPr txBox="1">
                <a:spLocks noChangeArrowheads="1"/>
              </p:cNvSpPr>
              <p:nvPr/>
            </p:nvSpPr>
            <p:spPr bwMode="auto">
              <a:xfrm>
                <a:off x="140" y="67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28083" name="Text Box 244"/>
              <p:cNvSpPr txBox="1">
                <a:spLocks noChangeArrowheads="1"/>
              </p:cNvSpPr>
              <p:nvPr/>
            </p:nvSpPr>
            <p:spPr bwMode="auto">
              <a:xfrm>
                <a:off x="140" y="933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28084" name="Text Box 245"/>
              <p:cNvSpPr txBox="1">
                <a:spLocks noChangeArrowheads="1"/>
              </p:cNvSpPr>
              <p:nvPr/>
            </p:nvSpPr>
            <p:spPr bwMode="auto">
              <a:xfrm>
                <a:off x="140" y="119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28085" name="Text Box 246"/>
              <p:cNvSpPr txBox="1">
                <a:spLocks noChangeArrowheads="1"/>
              </p:cNvSpPr>
              <p:nvPr/>
            </p:nvSpPr>
            <p:spPr bwMode="auto">
              <a:xfrm>
                <a:off x="140" y="145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28086" name="Text Box 247"/>
              <p:cNvSpPr txBox="1">
                <a:spLocks noChangeArrowheads="1"/>
              </p:cNvSpPr>
              <p:nvPr/>
            </p:nvSpPr>
            <p:spPr bwMode="auto">
              <a:xfrm>
                <a:off x="140" y="171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28087" name="Text Box 248"/>
              <p:cNvSpPr txBox="1">
                <a:spLocks noChangeArrowheads="1"/>
              </p:cNvSpPr>
              <p:nvPr/>
            </p:nvSpPr>
            <p:spPr bwMode="auto">
              <a:xfrm>
                <a:off x="140" y="197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28088" name="Text Box 249"/>
              <p:cNvSpPr txBox="1">
                <a:spLocks noChangeArrowheads="1"/>
              </p:cNvSpPr>
              <p:nvPr/>
            </p:nvSpPr>
            <p:spPr bwMode="auto">
              <a:xfrm>
                <a:off x="140" y="2657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28089" name="Text Box 250"/>
              <p:cNvSpPr txBox="1">
                <a:spLocks noChangeArrowheads="1"/>
              </p:cNvSpPr>
              <p:nvPr/>
            </p:nvSpPr>
            <p:spPr bwMode="auto">
              <a:xfrm>
                <a:off x="140" y="2916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28090" name="Text Box 251"/>
              <p:cNvSpPr txBox="1">
                <a:spLocks noChangeArrowheads="1"/>
              </p:cNvSpPr>
              <p:nvPr/>
            </p:nvSpPr>
            <p:spPr bwMode="auto">
              <a:xfrm>
                <a:off x="140" y="317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28091" name="Text Box 252"/>
              <p:cNvSpPr txBox="1">
                <a:spLocks noChangeArrowheads="1"/>
              </p:cNvSpPr>
              <p:nvPr/>
            </p:nvSpPr>
            <p:spPr bwMode="auto">
              <a:xfrm>
                <a:off x="140" y="343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</p:grpSp>
        <p:grpSp>
          <p:nvGrpSpPr>
            <p:cNvPr id="128057" name="Group 253"/>
            <p:cNvGrpSpPr/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128058" name="Group 254"/>
              <p:cNvGrpSpPr/>
              <p:nvPr/>
            </p:nvGrpSpPr>
            <p:grpSpPr bwMode="auto">
              <a:xfrm>
                <a:off x="902" y="857"/>
                <a:ext cx="4567" cy="430"/>
                <a:chOff x="902" y="857"/>
                <a:chExt cx="4567" cy="430"/>
              </a:xfrm>
            </p:grpSpPr>
            <p:grpSp>
              <p:nvGrpSpPr>
                <p:cNvPr id="128063" name="Group 255"/>
                <p:cNvGrpSpPr/>
                <p:nvPr/>
              </p:nvGrpSpPr>
              <p:grpSpPr bwMode="auto">
                <a:xfrm>
                  <a:off x="1152" y="1013"/>
                  <a:ext cx="4317" cy="274"/>
                  <a:chOff x="1176" y="1068"/>
                  <a:chExt cx="4317" cy="274"/>
                </a:xfrm>
              </p:grpSpPr>
              <p:sp>
                <p:nvSpPr>
                  <p:cNvPr id="128074" name="Rectangle 256"/>
                  <p:cNvSpPr>
                    <a:spLocks noChangeArrowheads="1"/>
                  </p:cNvSpPr>
                  <p:nvPr/>
                </p:nvSpPr>
                <p:spPr bwMode="auto">
                  <a:xfrm>
                    <a:off x="175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15</a:t>
                    </a:r>
                  </a:p>
                </p:txBody>
              </p:sp>
              <p:sp>
                <p:nvSpPr>
                  <p:cNvPr id="128075" name="Rectangle 257"/>
                  <p:cNvSpPr>
                    <a:spLocks noChangeArrowheads="1"/>
                  </p:cNvSpPr>
                  <p:nvPr/>
                </p:nvSpPr>
                <p:spPr bwMode="auto">
                  <a:xfrm>
                    <a:off x="117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28076" name="Rectangle 258"/>
                  <p:cNvSpPr>
                    <a:spLocks noChangeArrowheads="1"/>
                  </p:cNvSpPr>
                  <p:nvPr/>
                </p:nvSpPr>
                <p:spPr bwMode="auto">
                  <a:xfrm>
                    <a:off x="289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31</a:t>
                    </a:r>
                  </a:p>
                </p:txBody>
              </p:sp>
              <p:sp>
                <p:nvSpPr>
                  <p:cNvPr id="128077" name="Rectangle 259"/>
                  <p:cNvSpPr>
                    <a:spLocks noChangeArrowheads="1"/>
                  </p:cNvSpPr>
                  <p:nvPr/>
                </p:nvSpPr>
                <p:spPr bwMode="auto">
                  <a:xfrm>
                    <a:off x="231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sp>
                <p:nvSpPr>
                  <p:cNvPr id="128078" name="Rectangle 260"/>
                  <p:cNvSpPr>
                    <a:spLocks noChangeArrowheads="1"/>
                  </p:cNvSpPr>
                  <p:nvPr/>
                </p:nvSpPr>
                <p:spPr bwMode="auto">
                  <a:xfrm>
                    <a:off x="4067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47</a:t>
                    </a:r>
                  </a:p>
                </p:txBody>
              </p:sp>
              <p:sp>
                <p:nvSpPr>
                  <p:cNvPr id="128079" name="Rectangle 261"/>
                  <p:cNvSpPr>
                    <a:spLocks noChangeArrowheads="1"/>
                  </p:cNvSpPr>
                  <p:nvPr/>
                </p:nvSpPr>
                <p:spPr bwMode="auto">
                  <a:xfrm>
                    <a:off x="3491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32</a:t>
                    </a:r>
                  </a:p>
                </p:txBody>
              </p:sp>
              <p:sp>
                <p:nvSpPr>
                  <p:cNvPr id="128080" name="Rectangle 262"/>
                  <p:cNvSpPr>
                    <a:spLocks noChangeArrowheads="1"/>
                  </p:cNvSpPr>
                  <p:nvPr/>
                </p:nvSpPr>
                <p:spPr bwMode="auto">
                  <a:xfrm>
                    <a:off x="5205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63</a:t>
                    </a:r>
                  </a:p>
                </p:txBody>
              </p:sp>
              <p:sp>
                <p:nvSpPr>
                  <p:cNvPr id="128081" name="Rectangle 263"/>
                  <p:cNvSpPr>
                    <a:spLocks noChangeArrowheads="1"/>
                  </p:cNvSpPr>
                  <p:nvPr/>
                </p:nvSpPr>
                <p:spPr bwMode="auto">
                  <a:xfrm>
                    <a:off x="462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48</a:t>
                    </a:r>
                  </a:p>
                </p:txBody>
              </p:sp>
            </p:grpSp>
            <p:grpSp>
              <p:nvGrpSpPr>
                <p:cNvPr id="128064" name="Group 264"/>
                <p:cNvGrpSpPr/>
                <p:nvPr/>
              </p:nvGrpSpPr>
              <p:grpSpPr bwMode="auto">
                <a:xfrm>
                  <a:off x="902" y="857"/>
                  <a:ext cx="4419" cy="145"/>
                  <a:chOff x="902" y="857"/>
                  <a:chExt cx="4419" cy="145"/>
                </a:xfrm>
              </p:grpSpPr>
              <p:sp>
                <p:nvSpPr>
                  <p:cNvPr id="128065" name="Freeform 265"/>
                  <p:cNvSpPr/>
                  <p:nvPr/>
                </p:nvSpPr>
                <p:spPr bwMode="auto">
                  <a:xfrm>
                    <a:off x="902" y="857"/>
                    <a:ext cx="4419" cy="1"/>
                  </a:xfrm>
                  <a:custGeom>
                    <a:avLst/>
                    <a:gdLst>
                      <a:gd name="T0" fmla="*/ 0 w 4419"/>
                      <a:gd name="T1" fmla="*/ 1 h 1"/>
                      <a:gd name="T2" fmla="*/ 4419 w 4419"/>
                      <a:gd name="T3" fmla="*/ 0 h 1"/>
                      <a:gd name="T4" fmla="*/ 0 60000 65536"/>
                      <a:gd name="T5" fmla="*/ 0 60000 65536"/>
                      <a:gd name="T6" fmla="*/ 0 w 4419"/>
                      <a:gd name="T7" fmla="*/ 0 h 1"/>
                      <a:gd name="T8" fmla="*/ 4419 w 441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9" h="1">
                        <a:moveTo>
                          <a:pt x="0" y="1"/>
                        </a:moveTo>
                        <a:lnTo>
                          <a:pt x="4419" y="0"/>
                        </a:lnTo>
                      </a:path>
                    </a:pathLst>
                  </a:custGeom>
                  <a:noFill/>
                  <a:ln w="76200" cmpd="sng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28066" name="Line 266"/>
                  <p:cNvSpPr>
                    <a:spLocks noChangeShapeType="1"/>
                  </p:cNvSpPr>
                  <p:nvPr/>
                </p:nvSpPr>
                <p:spPr bwMode="auto">
                  <a:xfrm>
                    <a:off x="127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28067" name="Line 267"/>
                  <p:cNvSpPr>
                    <a:spLocks noChangeShapeType="1"/>
                  </p:cNvSpPr>
                  <p:nvPr/>
                </p:nvSpPr>
                <p:spPr bwMode="auto">
                  <a:xfrm>
                    <a:off x="184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28068" name="Line 268"/>
                  <p:cNvSpPr>
                    <a:spLocks noChangeShapeType="1"/>
                  </p:cNvSpPr>
                  <p:nvPr/>
                </p:nvSpPr>
                <p:spPr bwMode="auto">
                  <a:xfrm>
                    <a:off x="242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28069" name="Line 269"/>
                  <p:cNvSpPr>
                    <a:spLocks noChangeShapeType="1"/>
                  </p:cNvSpPr>
                  <p:nvPr/>
                </p:nvSpPr>
                <p:spPr bwMode="auto">
                  <a:xfrm>
                    <a:off x="3000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28070" name="Line 270"/>
                  <p:cNvSpPr>
                    <a:spLocks noChangeShapeType="1"/>
                  </p:cNvSpPr>
                  <p:nvPr/>
                </p:nvSpPr>
                <p:spPr bwMode="auto">
                  <a:xfrm>
                    <a:off x="3576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28071" name="Line 271"/>
                  <p:cNvSpPr>
                    <a:spLocks noChangeShapeType="1"/>
                  </p:cNvSpPr>
                  <p:nvPr/>
                </p:nvSpPr>
                <p:spPr bwMode="auto">
                  <a:xfrm>
                    <a:off x="415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28072" name="Line 272"/>
                  <p:cNvSpPr>
                    <a:spLocks noChangeShapeType="1"/>
                  </p:cNvSpPr>
                  <p:nvPr/>
                </p:nvSpPr>
                <p:spPr bwMode="auto">
                  <a:xfrm>
                    <a:off x="472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28073" name="Line 273"/>
                  <p:cNvSpPr>
                    <a:spLocks noChangeShapeType="1"/>
                  </p:cNvSpPr>
                  <p:nvPr/>
                </p:nvSpPr>
                <p:spPr bwMode="auto">
                  <a:xfrm>
                    <a:off x="530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128059" name="Text Box 274"/>
              <p:cNvSpPr txBox="1">
                <a:spLocks noChangeArrowheads="1"/>
              </p:cNvSpPr>
              <p:nvPr/>
            </p:nvSpPr>
            <p:spPr bwMode="auto">
              <a:xfrm>
                <a:off x="140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28060" name="Text Box 275"/>
              <p:cNvSpPr txBox="1">
                <a:spLocks noChangeArrowheads="1"/>
              </p:cNvSpPr>
              <p:nvPr/>
            </p:nvSpPr>
            <p:spPr bwMode="auto">
              <a:xfrm>
                <a:off x="254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28061" name="Text Box 276"/>
              <p:cNvSpPr txBox="1">
                <a:spLocks noChangeArrowheads="1"/>
              </p:cNvSpPr>
              <p:nvPr/>
            </p:nvSpPr>
            <p:spPr bwMode="auto">
              <a:xfrm>
                <a:off x="371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28062" name="Text Box 277"/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</p:grpSp>
      <p:grpSp>
        <p:nvGrpSpPr>
          <p:cNvPr id="16" name="Group 278"/>
          <p:cNvGrpSpPr/>
          <p:nvPr/>
        </p:nvGrpSpPr>
        <p:grpSpPr bwMode="auto">
          <a:xfrm>
            <a:off x="1452563" y="2617788"/>
            <a:ext cx="6613525" cy="1963737"/>
            <a:chOff x="915" y="1649"/>
            <a:chExt cx="4166" cy="1237"/>
          </a:xfrm>
        </p:grpSpPr>
        <p:grpSp>
          <p:nvGrpSpPr>
            <p:cNvPr id="128009" name="Group 279"/>
            <p:cNvGrpSpPr/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128018" name="Group 280"/>
              <p:cNvGrpSpPr/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128051" name="Freeform 281"/>
                <p:cNvSpPr/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8052" name="Freeform 282"/>
                <p:cNvSpPr/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8053" name="Freeform 283"/>
                <p:cNvSpPr/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  <a:gd name="T6" fmla="*/ 0 w 1"/>
                    <a:gd name="T7" fmla="*/ 0 h 176"/>
                    <a:gd name="T8" fmla="*/ 1 w 1"/>
                    <a:gd name="T9" fmla="*/ 176 h 17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8054" name="Freeform 284"/>
                <p:cNvSpPr/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  <a:gd name="T6" fmla="*/ 0 w 1"/>
                    <a:gd name="T7" fmla="*/ 0 h 178"/>
                    <a:gd name="T8" fmla="*/ 1 w 1"/>
                    <a:gd name="T9" fmla="*/ 178 h 178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8055" name="Freeform 285"/>
                <p:cNvSpPr/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  <a:gd name="T6" fmla="*/ 0 w 3858"/>
                    <a:gd name="T7" fmla="*/ 0 h 2"/>
                    <a:gd name="T8" fmla="*/ 3858 w 3858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28019" name="Group 286"/>
              <p:cNvGrpSpPr/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128044" name="Group 287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28049" name="Line 288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8050" name="Line 289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28045" name="Freeform 290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28046" name="Group 291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28047" name="Line 292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8048" name="Line 293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28020" name="Group 294"/>
              <p:cNvGrpSpPr/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128037" name="Group 295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28042" name="Line 296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8043" name="Line 297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28038" name="Freeform 298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28039" name="Group 299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28040" name="Line 300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8041" name="Line 301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28021" name="Group 302"/>
              <p:cNvGrpSpPr/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128030" name="Group 303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28035" name="Line 304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8036" name="Line 305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28031" name="Freeform 306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28032" name="Group 307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28033" name="Line 308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8034" name="Line 309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28022" name="Group 310"/>
              <p:cNvGrpSpPr/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128023" name="Group 311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28028" name="Line 312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8029" name="Line 313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28024" name="Freeform 314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28025" name="Group 315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28026" name="Line 316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8027" name="Line 317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</p:grpSp>
        <p:sp>
          <p:nvSpPr>
            <p:cNvPr id="128010" name="Rectangle 318"/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28011" name="Text Box 319"/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28012" name="Rectangle 320"/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28013" name="Rectangle 321"/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48</a:t>
              </a:r>
            </a:p>
          </p:txBody>
        </p:sp>
        <p:sp>
          <p:nvSpPr>
            <p:cNvPr id="128014" name="Rectangle 322"/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32</a:t>
              </a:r>
            </a:p>
          </p:txBody>
        </p:sp>
        <p:sp>
          <p:nvSpPr>
            <p:cNvPr id="128015" name="Text Box 323"/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28016" name="Text Box 324"/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28017" name="Text Box 325"/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128008" name="AutoShape 326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026" name="Group 2"/>
          <p:cNvGrpSpPr/>
          <p:nvPr/>
        </p:nvGrpSpPr>
        <p:grpSpPr bwMode="auto">
          <a:xfrm>
            <a:off x="222250" y="1069975"/>
            <a:ext cx="8921750" cy="5716588"/>
            <a:chOff x="140" y="674"/>
            <a:chExt cx="5620" cy="3601"/>
          </a:xfrm>
        </p:grpSpPr>
        <p:grpSp>
          <p:nvGrpSpPr>
            <p:cNvPr id="129060" name="Group 3"/>
            <p:cNvGrpSpPr/>
            <p:nvPr/>
          </p:nvGrpSpPr>
          <p:grpSpPr bwMode="auto">
            <a:xfrm>
              <a:off x="140" y="674"/>
              <a:ext cx="5620" cy="3601"/>
              <a:chOff x="140" y="674"/>
              <a:chExt cx="5620" cy="3601"/>
            </a:xfrm>
          </p:grpSpPr>
          <p:grpSp>
            <p:nvGrpSpPr>
              <p:cNvPr id="129109" name="Group 4"/>
              <p:cNvGrpSpPr/>
              <p:nvPr/>
            </p:nvGrpSpPr>
            <p:grpSpPr bwMode="auto">
              <a:xfrm>
                <a:off x="140" y="674"/>
                <a:ext cx="5620" cy="3601"/>
                <a:chOff x="140" y="674"/>
                <a:chExt cx="5620" cy="3601"/>
              </a:xfrm>
            </p:grpSpPr>
            <p:grpSp>
              <p:nvGrpSpPr>
                <p:cNvPr id="129135" name="Group 5"/>
                <p:cNvGrpSpPr/>
                <p:nvPr/>
              </p:nvGrpSpPr>
              <p:grpSpPr bwMode="auto">
                <a:xfrm>
                  <a:off x="140" y="674"/>
                  <a:ext cx="5620" cy="3601"/>
                  <a:chOff x="140" y="674"/>
                  <a:chExt cx="5620" cy="3601"/>
                </a:xfrm>
              </p:grpSpPr>
              <p:grpSp>
                <p:nvGrpSpPr>
                  <p:cNvPr id="129175" name="Group 6"/>
                  <p:cNvGrpSpPr/>
                  <p:nvPr/>
                </p:nvGrpSpPr>
                <p:grpSpPr bwMode="auto">
                  <a:xfrm>
                    <a:off x="140" y="713"/>
                    <a:ext cx="5620" cy="3562"/>
                    <a:chOff x="140" y="713"/>
                    <a:chExt cx="5620" cy="3562"/>
                  </a:xfrm>
                </p:grpSpPr>
                <p:sp>
                  <p:nvSpPr>
                    <p:cNvPr id="129187" name="Rectangle 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2" y="713"/>
                      <a:ext cx="576" cy="3168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/>
                      <a:endParaRPr lang="zh-CN" altLang="en-US"/>
                    </a:p>
                  </p:txBody>
                </p:sp>
                <p:sp>
                  <p:nvSpPr>
                    <p:cNvPr id="129188" name="Rectangle 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728" y="1014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15</a:t>
                      </a:r>
                    </a:p>
                  </p:txBody>
                </p:sp>
                <p:sp>
                  <p:nvSpPr>
                    <p:cNvPr id="129189" name="Text Box 9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8" y="870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3200">
                          <a:latin typeface="Times New Roman" panose="02020603050405020304" pitchFamily="18" charset="0"/>
                        </a:rPr>
                        <a:t>…</a:t>
                      </a:r>
                    </a:p>
                  </p:txBody>
                </p:sp>
                <p:sp>
                  <p:nvSpPr>
                    <p:cNvPr id="129190" name="Rectangle 1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52" y="1014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0</a:t>
                      </a:r>
                    </a:p>
                  </p:txBody>
                </p:sp>
                <p:sp>
                  <p:nvSpPr>
                    <p:cNvPr id="129191" name="Rectangle 1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69" y="1014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31</a:t>
                      </a:r>
                    </a:p>
                  </p:txBody>
                </p:sp>
                <p:sp>
                  <p:nvSpPr>
                    <p:cNvPr id="129192" name="Text Box 12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2549" y="870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3200">
                          <a:latin typeface="Times New Roman" panose="02020603050405020304" pitchFamily="18" charset="0"/>
                        </a:rPr>
                        <a:t>…</a:t>
                      </a:r>
                    </a:p>
                  </p:txBody>
                </p:sp>
                <p:sp>
                  <p:nvSpPr>
                    <p:cNvPr id="129193" name="Rectangle 1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93" y="1014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16</a:t>
                      </a:r>
                    </a:p>
                  </p:txBody>
                </p:sp>
                <p:sp>
                  <p:nvSpPr>
                    <p:cNvPr id="129194" name="Rectangle 1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44" y="1014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47</a:t>
                      </a:r>
                    </a:p>
                  </p:txBody>
                </p:sp>
                <p:sp>
                  <p:nvSpPr>
                    <p:cNvPr id="129195" name="Text Box 15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724" y="870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3200">
                          <a:latin typeface="Times New Roman" panose="02020603050405020304" pitchFamily="18" charset="0"/>
                        </a:rPr>
                        <a:t>…</a:t>
                      </a:r>
                    </a:p>
                  </p:txBody>
                </p:sp>
                <p:sp>
                  <p:nvSpPr>
                    <p:cNvPr id="129196" name="Rectangle 1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468" y="1014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32</a:t>
                      </a:r>
                    </a:p>
                  </p:txBody>
                </p:sp>
                <p:sp>
                  <p:nvSpPr>
                    <p:cNvPr id="129197" name="Rectangle 1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80" y="1014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63</a:t>
                      </a:r>
                    </a:p>
                  </p:txBody>
                </p:sp>
                <p:sp>
                  <p:nvSpPr>
                    <p:cNvPr id="129198" name="Text Box 18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4860" y="870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3200">
                          <a:latin typeface="Times New Roman" panose="02020603050405020304" pitchFamily="18" charset="0"/>
                        </a:rPr>
                        <a:t>…</a:t>
                      </a:r>
                    </a:p>
                  </p:txBody>
                </p:sp>
                <p:sp>
                  <p:nvSpPr>
                    <p:cNvPr id="129199" name="Rectangle 1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04" y="1014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48</a:t>
                      </a:r>
                    </a:p>
                  </p:txBody>
                </p:sp>
                <p:sp>
                  <p:nvSpPr>
                    <p:cNvPr id="129200" name="Rectangle 2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728" y="2215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15</a:t>
                      </a:r>
                    </a:p>
                  </p:txBody>
                </p:sp>
                <p:sp>
                  <p:nvSpPr>
                    <p:cNvPr id="129201" name="Rectangle 2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52" y="2215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0</a:t>
                      </a:r>
                    </a:p>
                  </p:txBody>
                </p:sp>
                <p:sp>
                  <p:nvSpPr>
                    <p:cNvPr id="129202" name="Rectangle 2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69" y="2215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31</a:t>
                      </a:r>
                    </a:p>
                  </p:txBody>
                </p:sp>
                <p:sp>
                  <p:nvSpPr>
                    <p:cNvPr id="129203" name="Rectangle 2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93" y="2215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16</a:t>
                      </a:r>
                    </a:p>
                  </p:txBody>
                </p:sp>
                <p:sp>
                  <p:nvSpPr>
                    <p:cNvPr id="129204" name="Rectangle 2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44" y="2215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47</a:t>
                      </a:r>
                    </a:p>
                  </p:txBody>
                </p:sp>
                <p:sp>
                  <p:nvSpPr>
                    <p:cNvPr id="129205" name="Rectangle 2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468" y="2215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32</a:t>
                      </a:r>
                    </a:p>
                  </p:txBody>
                </p:sp>
                <p:sp>
                  <p:nvSpPr>
                    <p:cNvPr id="129206" name="Rectangle 2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80" y="2215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63</a:t>
                      </a:r>
                    </a:p>
                  </p:txBody>
                </p:sp>
                <p:sp>
                  <p:nvSpPr>
                    <p:cNvPr id="129207" name="Rectangle 2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04" y="2215"/>
                      <a:ext cx="288" cy="274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48</a:t>
                      </a:r>
                    </a:p>
                  </p:txBody>
                </p:sp>
                <p:sp>
                  <p:nvSpPr>
                    <p:cNvPr id="129208" name="Line 28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325" y="2712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09" name="Line 29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308" y="2710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10" name="Freeform 30"/>
                    <p:cNvSpPr/>
                    <p:nvPr/>
                  </p:nvSpPr>
                  <p:spPr bwMode="auto">
                    <a:xfrm>
                      <a:off x="1260" y="2709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11" name="Line 31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133" y="2712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12" name="Line 32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212" y="2714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13" name="Freeform 33"/>
                    <p:cNvSpPr/>
                    <p:nvPr/>
                  </p:nvSpPr>
                  <p:spPr bwMode="auto">
                    <a:xfrm>
                      <a:off x="1434" y="2353"/>
                      <a:ext cx="112" cy="1"/>
                    </a:xfrm>
                    <a:custGeom>
                      <a:avLst/>
                      <a:gdLst>
                        <a:gd name="T0" fmla="*/ 0 w 112"/>
                        <a:gd name="T1" fmla="*/ 0 h 1"/>
                        <a:gd name="T2" fmla="*/ 112 w 112"/>
                        <a:gd name="T3" fmla="*/ 0 h 1"/>
                        <a:gd name="T4" fmla="*/ 0 60000 65536"/>
                        <a:gd name="T5" fmla="*/ 0 60000 65536"/>
                        <a:gd name="T6" fmla="*/ 0 w 112"/>
                        <a:gd name="T7" fmla="*/ 0 h 1"/>
                        <a:gd name="T8" fmla="*/ 112 w 112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12" h="1">
                          <a:moveTo>
                            <a:pt x="0" y="0"/>
                          </a:moveTo>
                          <a:lnTo>
                            <a:pt x="112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14" name="Freeform 34"/>
                    <p:cNvSpPr/>
                    <p:nvPr/>
                  </p:nvSpPr>
                  <p:spPr bwMode="auto">
                    <a:xfrm>
                      <a:off x="1059" y="1209"/>
                      <a:ext cx="152" cy="1469"/>
                    </a:xfrm>
                    <a:custGeom>
                      <a:avLst/>
                      <a:gdLst>
                        <a:gd name="T0" fmla="*/ 152 w 152"/>
                        <a:gd name="T1" fmla="*/ 1469 h 1469"/>
                        <a:gd name="T2" fmla="*/ 0 w 152"/>
                        <a:gd name="T3" fmla="*/ 1469 h 1469"/>
                        <a:gd name="T4" fmla="*/ 0 w 152"/>
                        <a:gd name="T5" fmla="*/ 0 h 1469"/>
                        <a:gd name="T6" fmla="*/ 95 w 152"/>
                        <a:gd name="T7" fmla="*/ 1 h 1469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52"/>
                        <a:gd name="T13" fmla="*/ 0 h 1469"/>
                        <a:gd name="T14" fmla="*/ 152 w 152"/>
                        <a:gd name="T15" fmla="*/ 1469 h 1469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52" h="1469">
                          <a:moveTo>
                            <a:pt x="152" y="1469"/>
                          </a:moveTo>
                          <a:lnTo>
                            <a:pt x="0" y="1469"/>
                          </a:lnTo>
                          <a:lnTo>
                            <a:pt x="0" y="0"/>
                          </a:lnTo>
                          <a:lnTo>
                            <a:pt x="95" y="1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15" name="Freeform 35"/>
                    <p:cNvSpPr/>
                    <p:nvPr/>
                  </p:nvSpPr>
                  <p:spPr bwMode="auto">
                    <a:xfrm>
                      <a:off x="1055" y="2353"/>
                      <a:ext cx="102" cy="1"/>
                    </a:xfrm>
                    <a:custGeom>
                      <a:avLst/>
                      <a:gdLst>
                        <a:gd name="T0" fmla="*/ 102 w 102"/>
                        <a:gd name="T1" fmla="*/ 0 h 1"/>
                        <a:gd name="T2" fmla="*/ 0 w 102"/>
                        <a:gd name="T3" fmla="*/ 0 h 1"/>
                        <a:gd name="T4" fmla="*/ 0 60000 65536"/>
                        <a:gd name="T5" fmla="*/ 0 60000 65536"/>
                        <a:gd name="T6" fmla="*/ 0 w 102"/>
                        <a:gd name="T7" fmla="*/ 0 h 1"/>
                        <a:gd name="T8" fmla="*/ 102 w 102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02" h="1">
                          <a:moveTo>
                            <a:pt x="102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16" name="Line 36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896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17" name="Line 37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879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18" name="Freeform 38"/>
                    <p:cNvSpPr/>
                    <p:nvPr/>
                  </p:nvSpPr>
                  <p:spPr bwMode="auto">
                    <a:xfrm>
                      <a:off x="1831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19" name="Line 39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704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20" name="Line 40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783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21" name="Freeform 41"/>
                    <p:cNvSpPr/>
                    <p:nvPr/>
                  </p:nvSpPr>
                  <p:spPr bwMode="auto">
                    <a:xfrm>
                      <a:off x="2005" y="2353"/>
                      <a:ext cx="103" cy="1"/>
                    </a:xfrm>
                    <a:custGeom>
                      <a:avLst/>
                      <a:gdLst>
                        <a:gd name="T0" fmla="*/ 0 w 103"/>
                        <a:gd name="T1" fmla="*/ 0 h 1"/>
                        <a:gd name="T2" fmla="*/ 103 w 103"/>
                        <a:gd name="T3" fmla="*/ 0 h 1"/>
                        <a:gd name="T4" fmla="*/ 0 60000 65536"/>
                        <a:gd name="T5" fmla="*/ 0 60000 65536"/>
                        <a:gd name="T6" fmla="*/ 0 w 103"/>
                        <a:gd name="T7" fmla="*/ 0 h 1"/>
                        <a:gd name="T8" fmla="*/ 103 w 103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03" h="1">
                          <a:moveTo>
                            <a:pt x="0" y="0"/>
                          </a:moveTo>
                          <a:lnTo>
                            <a:pt x="103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22" name="Freeform 42"/>
                    <p:cNvSpPr/>
                    <p:nvPr/>
                  </p:nvSpPr>
                  <p:spPr bwMode="auto">
                    <a:xfrm>
                      <a:off x="1611" y="2352"/>
                      <a:ext cx="113" cy="1"/>
                    </a:xfrm>
                    <a:custGeom>
                      <a:avLst/>
                      <a:gdLst>
                        <a:gd name="T0" fmla="*/ 113 w 113"/>
                        <a:gd name="T1" fmla="*/ 1 h 1"/>
                        <a:gd name="T2" fmla="*/ 0 w 113"/>
                        <a:gd name="T3" fmla="*/ 0 h 1"/>
                        <a:gd name="T4" fmla="*/ 0 60000 65536"/>
                        <a:gd name="T5" fmla="*/ 0 60000 65536"/>
                        <a:gd name="T6" fmla="*/ 0 w 113"/>
                        <a:gd name="T7" fmla="*/ 0 h 1"/>
                        <a:gd name="T8" fmla="*/ 113 w 113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13" h="1">
                          <a:moveTo>
                            <a:pt x="113" y="1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23" name="Line 43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2477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24" name="Line 44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2460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25" name="Freeform 45"/>
                    <p:cNvSpPr/>
                    <p:nvPr/>
                  </p:nvSpPr>
                  <p:spPr bwMode="auto">
                    <a:xfrm>
                      <a:off x="2412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26" name="Line 46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285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27" name="Line 47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364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28" name="Freeform 48"/>
                    <p:cNvSpPr/>
                    <p:nvPr/>
                  </p:nvSpPr>
                  <p:spPr bwMode="auto">
                    <a:xfrm>
                      <a:off x="2586" y="2353"/>
                      <a:ext cx="109" cy="1"/>
                    </a:xfrm>
                    <a:custGeom>
                      <a:avLst/>
                      <a:gdLst>
                        <a:gd name="T0" fmla="*/ 0 w 109"/>
                        <a:gd name="T1" fmla="*/ 0 h 1"/>
                        <a:gd name="T2" fmla="*/ 109 w 109"/>
                        <a:gd name="T3" fmla="*/ 0 h 1"/>
                        <a:gd name="T4" fmla="*/ 0 60000 65536"/>
                        <a:gd name="T5" fmla="*/ 0 60000 65536"/>
                        <a:gd name="T6" fmla="*/ 0 w 109"/>
                        <a:gd name="T7" fmla="*/ 0 h 1"/>
                        <a:gd name="T8" fmla="*/ 109 w 109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09" h="1">
                          <a:moveTo>
                            <a:pt x="0" y="0"/>
                          </a:moveTo>
                          <a:lnTo>
                            <a:pt x="109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29" name="Freeform 49"/>
                    <p:cNvSpPr/>
                    <p:nvPr/>
                  </p:nvSpPr>
                  <p:spPr bwMode="auto">
                    <a:xfrm>
                      <a:off x="2207" y="2353"/>
                      <a:ext cx="89" cy="1"/>
                    </a:xfrm>
                    <a:custGeom>
                      <a:avLst/>
                      <a:gdLst>
                        <a:gd name="T0" fmla="*/ 89 w 89"/>
                        <a:gd name="T1" fmla="*/ 0 h 1"/>
                        <a:gd name="T2" fmla="*/ 0 w 89"/>
                        <a:gd name="T3" fmla="*/ 0 h 1"/>
                        <a:gd name="T4" fmla="*/ 0 60000 65536"/>
                        <a:gd name="T5" fmla="*/ 0 60000 65536"/>
                        <a:gd name="T6" fmla="*/ 0 w 89"/>
                        <a:gd name="T7" fmla="*/ 0 h 1"/>
                        <a:gd name="T8" fmla="*/ 89 w 89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89" h="1">
                          <a:moveTo>
                            <a:pt x="89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30" name="Line 50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053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31" name="Line 51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036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32" name="Freeform 52"/>
                    <p:cNvSpPr/>
                    <p:nvPr/>
                  </p:nvSpPr>
                  <p:spPr bwMode="auto">
                    <a:xfrm>
                      <a:off x="2988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33" name="Line 53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861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34" name="Line 54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940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35" name="Freeform 55"/>
                    <p:cNvSpPr/>
                    <p:nvPr/>
                  </p:nvSpPr>
                  <p:spPr bwMode="auto">
                    <a:xfrm>
                      <a:off x="3162" y="2353"/>
                      <a:ext cx="115" cy="1"/>
                    </a:xfrm>
                    <a:custGeom>
                      <a:avLst/>
                      <a:gdLst>
                        <a:gd name="T0" fmla="*/ 0 w 115"/>
                        <a:gd name="T1" fmla="*/ 0 h 1"/>
                        <a:gd name="T2" fmla="*/ 115 w 115"/>
                        <a:gd name="T3" fmla="*/ 0 h 1"/>
                        <a:gd name="T4" fmla="*/ 0 60000 65536"/>
                        <a:gd name="T5" fmla="*/ 0 60000 65536"/>
                        <a:gd name="T6" fmla="*/ 0 w 115"/>
                        <a:gd name="T7" fmla="*/ 0 h 1"/>
                        <a:gd name="T8" fmla="*/ 115 w 115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15" h="1">
                          <a:moveTo>
                            <a:pt x="0" y="0"/>
                          </a:moveTo>
                          <a:lnTo>
                            <a:pt x="115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36" name="Freeform 56"/>
                    <p:cNvSpPr/>
                    <p:nvPr/>
                  </p:nvSpPr>
                  <p:spPr bwMode="auto">
                    <a:xfrm>
                      <a:off x="2783" y="2353"/>
                      <a:ext cx="90" cy="1"/>
                    </a:xfrm>
                    <a:custGeom>
                      <a:avLst/>
                      <a:gdLst>
                        <a:gd name="T0" fmla="*/ 90 w 90"/>
                        <a:gd name="T1" fmla="*/ 0 h 1"/>
                        <a:gd name="T2" fmla="*/ 0 w 90"/>
                        <a:gd name="T3" fmla="*/ 0 h 1"/>
                        <a:gd name="T4" fmla="*/ 0 60000 65536"/>
                        <a:gd name="T5" fmla="*/ 0 60000 65536"/>
                        <a:gd name="T6" fmla="*/ 0 w 90"/>
                        <a:gd name="T7" fmla="*/ 0 h 1"/>
                        <a:gd name="T8" fmla="*/ 90 w 90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0" h="1">
                          <a:moveTo>
                            <a:pt x="90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37" name="Line 57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629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38" name="Line 58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612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39" name="Freeform 59"/>
                    <p:cNvSpPr/>
                    <p:nvPr/>
                  </p:nvSpPr>
                  <p:spPr bwMode="auto">
                    <a:xfrm>
                      <a:off x="3564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40" name="Line 60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3437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41" name="Line 61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3516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42" name="Freeform 62"/>
                    <p:cNvSpPr/>
                    <p:nvPr/>
                  </p:nvSpPr>
                  <p:spPr bwMode="auto">
                    <a:xfrm>
                      <a:off x="3751" y="2352"/>
                      <a:ext cx="100" cy="1"/>
                    </a:xfrm>
                    <a:custGeom>
                      <a:avLst/>
                      <a:gdLst>
                        <a:gd name="T0" fmla="*/ 0 w 100"/>
                        <a:gd name="T1" fmla="*/ 0 h 1"/>
                        <a:gd name="T2" fmla="*/ 100 w 100"/>
                        <a:gd name="T3" fmla="*/ 1 h 1"/>
                        <a:gd name="T4" fmla="*/ 0 60000 65536"/>
                        <a:gd name="T5" fmla="*/ 0 60000 65536"/>
                        <a:gd name="T6" fmla="*/ 0 w 100"/>
                        <a:gd name="T7" fmla="*/ 0 h 1"/>
                        <a:gd name="T8" fmla="*/ 100 w 100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00" h="1">
                          <a:moveTo>
                            <a:pt x="0" y="0"/>
                          </a:moveTo>
                          <a:lnTo>
                            <a:pt x="100" y="1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43" name="Freeform 63"/>
                    <p:cNvSpPr/>
                    <p:nvPr/>
                  </p:nvSpPr>
                  <p:spPr bwMode="auto">
                    <a:xfrm>
                      <a:off x="3359" y="2353"/>
                      <a:ext cx="108" cy="1"/>
                    </a:xfrm>
                    <a:custGeom>
                      <a:avLst/>
                      <a:gdLst>
                        <a:gd name="T0" fmla="*/ 108 w 108"/>
                        <a:gd name="T1" fmla="*/ 0 h 1"/>
                        <a:gd name="T2" fmla="*/ 0 w 108"/>
                        <a:gd name="T3" fmla="*/ 0 h 1"/>
                        <a:gd name="T4" fmla="*/ 0 60000 65536"/>
                        <a:gd name="T5" fmla="*/ 0 60000 65536"/>
                        <a:gd name="T6" fmla="*/ 0 w 108"/>
                        <a:gd name="T7" fmla="*/ 0 h 1"/>
                        <a:gd name="T8" fmla="*/ 108 w 108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08" h="1">
                          <a:moveTo>
                            <a:pt x="108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44" name="Line 64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205" y="2698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45" name="Line 65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188" y="2696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46" name="Freeform 66"/>
                    <p:cNvSpPr/>
                    <p:nvPr/>
                  </p:nvSpPr>
                  <p:spPr bwMode="auto">
                    <a:xfrm>
                      <a:off x="4140" y="2695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47" name="Line 67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013" y="2698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48" name="Line 68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092" y="2700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49" name="Freeform 69"/>
                    <p:cNvSpPr/>
                    <p:nvPr/>
                  </p:nvSpPr>
                  <p:spPr bwMode="auto">
                    <a:xfrm>
                      <a:off x="4336" y="2351"/>
                      <a:ext cx="90" cy="2"/>
                    </a:xfrm>
                    <a:custGeom>
                      <a:avLst/>
                      <a:gdLst>
                        <a:gd name="T0" fmla="*/ 0 w 90"/>
                        <a:gd name="T1" fmla="*/ 0 h 2"/>
                        <a:gd name="T2" fmla="*/ 90 w 90"/>
                        <a:gd name="T3" fmla="*/ 2 h 2"/>
                        <a:gd name="T4" fmla="*/ 0 60000 65536"/>
                        <a:gd name="T5" fmla="*/ 0 60000 65536"/>
                        <a:gd name="T6" fmla="*/ 0 w 90"/>
                        <a:gd name="T7" fmla="*/ 0 h 2"/>
                        <a:gd name="T8" fmla="*/ 90 w 90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0" h="2">
                          <a:moveTo>
                            <a:pt x="0" y="0"/>
                          </a:moveTo>
                          <a:lnTo>
                            <a:pt x="90" y="2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50" name="Freeform 70"/>
                    <p:cNvSpPr/>
                    <p:nvPr/>
                  </p:nvSpPr>
                  <p:spPr bwMode="auto">
                    <a:xfrm>
                      <a:off x="3935" y="2353"/>
                      <a:ext cx="104" cy="1"/>
                    </a:xfrm>
                    <a:custGeom>
                      <a:avLst/>
                      <a:gdLst>
                        <a:gd name="T0" fmla="*/ 104 w 104"/>
                        <a:gd name="T1" fmla="*/ 0 h 1"/>
                        <a:gd name="T2" fmla="*/ 0 w 104"/>
                        <a:gd name="T3" fmla="*/ 0 h 1"/>
                        <a:gd name="T4" fmla="*/ 0 60000 65536"/>
                        <a:gd name="T5" fmla="*/ 0 60000 65536"/>
                        <a:gd name="T6" fmla="*/ 0 w 104"/>
                        <a:gd name="T7" fmla="*/ 0 h 1"/>
                        <a:gd name="T8" fmla="*/ 104 w 104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04" h="1">
                          <a:moveTo>
                            <a:pt x="104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grpSp>
                  <p:nvGrpSpPr>
                    <p:cNvPr id="129251" name="Group 71"/>
                    <p:cNvGrpSpPr/>
                    <p:nvPr/>
                  </p:nvGrpSpPr>
                  <p:grpSpPr bwMode="auto">
                    <a:xfrm>
                      <a:off x="4668" y="2634"/>
                      <a:ext cx="192" cy="158"/>
                      <a:chOff x="4692" y="2634"/>
                      <a:chExt cx="192" cy="158"/>
                    </a:xfrm>
                  </p:grpSpPr>
                  <p:grpSp>
                    <p:nvGrpSpPr>
                      <p:cNvPr id="129398" name="Group 72"/>
                      <p:cNvGrpSpPr/>
                      <p:nvPr/>
                    </p:nvGrpSpPr>
                    <p:grpSpPr bwMode="auto">
                      <a:xfrm>
                        <a:off x="4836" y="2634"/>
                        <a:ext cx="48" cy="158"/>
                        <a:chOff x="4836" y="2634"/>
                        <a:chExt cx="48" cy="158"/>
                      </a:xfrm>
                    </p:grpSpPr>
                    <p:sp>
                      <p:nvSpPr>
                        <p:cNvPr id="129403" name="Line 73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5400000">
                          <a:off x="4805" y="2713"/>
                          <a:ext cx="158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 wrap="none"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129404" name="Line 74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5400000">
                          <a:off x="4788" y="2711"/>
                          <a:ext cx="96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 wrap="none"/>
                        <a:lstStyle/>
                        <a:p>
                          <a:endParaRPr lang="zh-CN" altLang="en-US"/>
                        </a:p>
                      </p:txBody>
                    </p:sp>
                  </p:grpSp>
                  <p:sp>
                    <p:nvSpPr>
                      <p:cNvPr id="129399" name="Freeform 75"/>
                      <p:cNvSpPr/>
                      <p:nvPr/>
                    </p:nvSpPr>
                    <p:spPr bwMode="auto">
                      <a:xfrm>
                        <a:off x="4740" y="2710"/>
                        <a:ext cx="96" cy="2"/>
                      </a:xfrm>
                      <a:custGeom>
                        <a:avLst/>
                        <a:gdLst>
                          <a:gd name="T0" fmla="*/ 0 w 96"/>
                          <a:gd name="T1" fmla="*/ 2 h 2"/>
                          <a:gd name="T2" fmla="*/ 96 w 96"/>
                          <a:gd name="T3" fmla="*/ 0 h 2"/>
                          <a:gd name="T4" fmla="*/ 0 60000 65536"/>
                          <a:gd name="T5" fmla="*/ 0 60000 65536"/>
                          <a:gd name="T6" fmla="*/ 0 w 96"/>
                          <a:gd name="T7" fmla="*/ 0 h 2"/>
                          <a:gd name="T8" fmla="*/ 96 w 96"/>
                          <a:gd name="T9" fmla="*/ 2 h 2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T6" t="T7" r="T8" b="T9"/>
                        <a:pathLst>
                          <a:path w="96" h="2">
                            <a:moveTo>
                              <a:pt x="0" y="2"/>
                            </a:moveTo>
                            <a:lnTo>
                              <a:pt x="96" y="0"/>
                            </a:lnTo>
                          </a:path>
                        </a:pathLst>
                      </a:custGeom>
                      <a:noFill/>
                      <a:ln w="38100" cmpd="sng">
                        <a:solidFill>
                          <a:schemeClr val="tx1"/>
                        </a:solidFill>
                        <a:round/>
                        <a:headEnd type="none" w="med" len="med"/>
                        <a:tailEnd type="none" w="med" len="med"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grpSp>
                    <p:nvGrpSpPr>
                      <p:cNvPr id="129400" name="Group 76"/>
                      <p:cNvGrpSpPr/>
                      <p:nvPr/>
                    </p:nvGrpSpPr>
                    <p:grpSpPr bwMode="auto">
                      <a:xfrm>
                        <a:off x="4692" y="2634"/>
                        <a:ext cx="48" cy="158"/>
                        <a:chOff x="4692" y="2634"/>
                        <a:chExt cx="48" cy="158"/>
                      </a:xfrm>
                    </p:grpSpPr>
                    <p:sp>
                      <p:nvSpPr>
                        <p:cNvPr id="129401" name="Line 77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-5400000">
                          <a:off x="4613" y="2713"/>
                          <a:ext cx="158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 wrap="none"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129402" name="Line 78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-5400000">
                          <a:off x="4692" y="2715"/>
                          <a:ext cx="96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 wrap="none"/>
                        <a:lstStyle/>
                        <a:p>
                          <a:endParaRPr lang="zh-CN" altLang="en-US"/>
                        </a:p>
                      </p:txBody>
                    </p:sp>
                  </p:grpSp>
                </p:grpSp>
                <p:sp>
                  <p:nvSpPr>
                    <p:cNvPr id="129252" name="Freeform 79"/>
                    <p:cNvSpPr/>
                    <p:nvPr/>
                  </p:nvSpPr>
                  <p:spPr bwMode="auto">
                    <a:xfrm>
                      <a:off x="4890" y="2353"/>
                      <a:ext cx="107" cy="1"/>
                    </a:xfrm>
                    <a:custGeom>
                      <a:avLst/>
                      <a:gdLst>
                        <a:gd name="T0" fmla="*/ 0 w 107"/>
                        <a:gd name="T1" fmla="*/ 0 h 1"/>
                        <a:gd name="T2" fmla="*/ 107 w 107"/>
                        <a:gd name="T3" fmla="*/ 0 h 1"/>
                        <a:gd name="T4" fmla="*/ 0 60000 65536"/>
                        <a:gd name="T5" fmla="*/ 0 60000 65536"/>
                        <a:gd name="T6" fmla="*/ 0 w 107"/>
                        <a:gd name="T7" fmla="*/ 0 h 1"/>
                        <a:gd name="T8" fmla="*/ 107 w 107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07" h="1">
                          <a:moveTo>
                            <a:pt x="0" y="0"/>
                          </a:moveTo>
                          <a:lnTo>
                            <a:pt x="107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53" name="Freeform 80"/>
                    <p:cNvSpPr/>
                    <p:nvPr/>
                  </p:nvSpPr>
                  <p:spPr bwMode="auto">
                    <a:xfrm>
                      <a:off x="4511" y="2353"/>
                      <a:ext cx="96" cy="1"/>
                    </a:xfrm>
                    <a:custGeom>
                      <a:avLst/>
                      <a:gdLst>
                        <a:gd name="T0" fmla="*/ 96 w 96"/>
                        <a:gd name="T1" fmla="*/ 0 h 1"/>
                        <a:gd name="T2" fmla="*/ 0 w 96"/>
                        <a:gd name="T3" fmla="*/ 0 h 1"/>
                        <a:gd name="T4" fmla="*/ 0 60000 65536"/>
                        <a:gd name="T5" fmla="*/ 0 60000 65536"/>
                        <a:gd name="T6" fmla="*/ 0 w 96"/>
                        <a:gd name="T7" fmla="*/ 0 h 1"/>
                        <a:gd name="T8" fmla="*/ 96 w 96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1">
                          <a:moveTo>
                            <a:pt x="96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grpSp>
                  <p:nvGrpSpPr>
                    <p:cNvPr id="129254" name="Group 81"/>
                    <p:cNvGrpSpPr/>
                    <p:nvPr/>
                  </p:nvGrpSpPr>
                  <p:grpSpPr bwMode="auto">
                    <a:xfrm>
                      <a:off x="5235" y="2634"/>
                      <a:ext cx="192" cy="158"/>
                      <a:chOff x="5259" y="2634"/>
                      <a:chExt cx="192" cy="158"/>
                    </a:xfrm>
                  </p:grpSpPr>
                  <p:grpSp>
                    <p:nvGrpSpPr>
                      <p:cNvPr id="129391" name="Group 82"/>
                      <p:cNvGrpSpPr/>
                      <p:nvPr/>
                    </p:nvGrpSpPr>
                    <p:grpSpPr bwMode="auto">
                      <a:xfrm>
                        <a:off x="5403" y="2634"/>
                        <a:ext cx="48" cy="158"/>
                        <a:chOff x="5403" y="2634"/>
                        <a:chExt cx="48" cy="158"/>
                      </a:xfrm>
                    </p:grpSpPr>
                    <p:sp>
                      <p:nvSpPr>
                        <p:cNvPr id="129396" name="Line 83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5400000">
                          <a:off x="5372" y="2713"/>
                          <a:ext cx="158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 wrap="none"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129397" name="Line 84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5400000">
                          <a:off x="5355" y="2711"/>
                          <a:ext cx="96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 wrap="none"/>
                        <a:lstStyle/>
                        <a:p>
                          <a:endParaRPr lang="zh-CN" altLang="en-US"/>
                        </a:p>
                      </p:txBody>
                    </p:sp>
                  </p:grpSp>
                  <p:sp>
                    <p:nvSpPr>
                      <p:cNvPr id="129392" name="Freeform 85"/>
                      <p:cNvSpPr/>
                      <p:nvPr/>
                    </p:nvSpPr>
                    <p:spPr bwMode="auto">
                      <a:xfrm>
                        <a:off x="5307" y="2710"/>
                        <a:ext cx="96" cy="2"/>
                      </a:xfrm>
                      <a:custGeom>
                        <a:avLst/>
                        <a:gdLst>
                          <a:gd name="T0" fmla="*/ 0 w 96"/>
                          <a:gd name="T1" fmla="*/ 2 h 2"/>
                          <a:gd name="T2" fmla="*/ 96 w 96"/>
                          <a:gd name="T3" fmla="*/ 0 h 2"/>
                          <a:gd name="T4" fmla="*/ 0 60000 65536"/>
                          <a:gd name="T5" fmla="*/ 0 60000 65536"/>
                          <a:gd name="T6" fmla="*/ 0 w 96"/>
                          <a:gd name="T7" fmla="*/ 0 h 2"/>
                          <a:gd name="T8" fmla="*/ 96 w 96"/>
                          <a:gd name="T9" fmla="*/ 2 h 2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T6" t="T7" r="T8" b="T9"/>
                        <a:pathLst>
                          <a:path w="96" h="2">
                            <a:moveTo>
                              <a:pt x="0" y="2"/>
                            </a:moveTo>
                            <a:lnTo>
                              <a:pt x="96" y="0"/>
                            </a:lnTo>
                          </a:path>
                        </a:pathLst>
                      </a:custGeom>
                      <a:noFill/>
                      <a:ln w="38100" cmpd="sng">
                        <a:solidFill>
                          <a:schemeClr val="tx1"/>
                        </a:solidFill>
                        <a:round/>
                        <a:headEnd type="none" w="med" len="med"/>
                        <a:tailEnd type="none" w="med" len="med"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grpSp>
                    <p:nvGrpSpPr>
                      <p:cNvPr id="129393" name="Group 86"/>
                      <p:cNvGrpSpPr/>
                      <p:nvPr/>
                    </p:nvGrpSpPr>
                    <p:grpSpPr bwMode="auto">
                      <a:xfrm>
                        <a:off x="5259" y="2634"/>
                        <a:ext cx="48" cy="158"/>
                        <a:chOff x="5259" y="2634"/>
                        <a:chExt cx="48" cy="158"/>
                      </a:xfrm>
                    </p:grpSpPr>
                    <p:sp>
                      <p:nvSpPr>
                        <p:cNvPr id="129394" name="Line 87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-5400000">
                          <a:off x="5180" y="2713"/>
                          <a:ext cx="158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 wrap="none"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129395" name="Line 88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rot="-5400000">
                          <a:off x="5259" y="2715"/>
                          <a:ext cx="96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 wrap="none"/>
                        <a:lstStyle/>
                        <a:p>
                          <a:endParaRPr lang="zh-CN" altLang="en-US"/>
                        </a:p>
                      </p:txBody>
                    </p:sp>
                  </p:grpSp>
                </p:grpSp>
                <p:sp>
                  <p:nvSpPr>
                    <p:cNvPr id="129255" name="Freeform 89"/>
                    <p:cNvSpPr/>
                    <p:nvPr/>
                  </p:nvSpPr>
                  <p:spPr bwMode="auto">
                    <a:xfrm>
                      <a:off x="5467" y="2351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0 h 2"/>
                        <a:gd name="T2" fmla="*/ 96 w 96"/>
                        <a:gd name="T3" fmla="*/ 2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0"/>
                          </a:moveTo>
                          <a:lnTo>
                            <a:pt x="96" y="2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56" name="Freeform 90"/>
                    <p:cNvSpPr/>
                    <p:nvPr/>
                  </p:nvSpPr>
                  <p:spPr bwMode="auto">
                    <a:xfrm>
                      <a:off x="5078" y="2353"/>
                      <a:ext cx="101" cy="1"/>
                    </a:xfrm>
                    <a:custGeom>
                      <a:avLst/>
                      <a:gdLst>
                        <a:gd name="T0" fmla="*/ 101 w 101"/>
                        <a:gd name="T1" fmla="*/ 0 h 1"/>
                        <a:gd name="T2" fmla="*/ 0 w 101"/>
                        <a:gd name="T3" fmla="*/ 0 h 1"/>
                        <a:gd name="T4" fmla="*/ 0 60000 65536"/>
                        <a:gd name="T5" fmla="*/ 0 60000 65536"/>
                        <a:gd name="T6" fmla="*/ 0 w 101"/>
                        <a:gd name="T7" fmla="*/ 0 h 1"/>
                        <a:gd name="T8" fmla="*/ 101 w 101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01" h="1">
                          <a:moveTo>
                            <a:pt x="101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57" name="Freeform 91"/>
                    <p:cNvSpPr/>
                    <p:nvPr/>
                  </p:nvSpPr>
                  <p:spPr bwMode="auto">
                    <a:xfrm>
                      <a:off x="908" y="856"/>
                      <a:ext cx="4419" cy="1"/>
                    </a:xfrm>
                    <a:custGeom>
                      <a:avLst/>
                      <a:gdLst>
                        <a:gd name="T0" fmla="*/ 0 w 4419"/>
                        <a:gd name="T1" fmla="*/ 1 h 1"/>
                        <a:gd name="T2" fmla="*/ 4419 w 4419"/>
                        <a:gd name="T3" fmla="*/ 0 h 1"/>
                        <a:gd name="T4" fmla="*/ 0 60000 65536"/>
                        <a:gd name="T5" fmla="*/ 0 60000 65536"/>
                        <a:gd name="T6" fmla="*/ 0 w 4419"/>
                        <a:gd name="T7" fmla="*/ 0 h 1"/>
                        <a:gd name="T8" fmla="*/ 4419 w 4419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4419" h="1">
                          <a:moveTo>
                            <a:pt x="0" y="1"/>
                          </a:moveTo>
                          <a:lnTo>
                            <a:pt x="4419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58" name="Line 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92" y="8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59" name="Line 9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868" y="8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60" name="Line 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444" y="8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61" name="Line 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020" y="8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62" name="Line 9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96" y="8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63" name="Line 9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172" y="8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64" name="Line 9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748" y="8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65" name="Line 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324" y="8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none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66" name="Freeform 100"/>
                    <p:cNvSpPr/>
                    <p:nvPr/>
                  </p:nvSpPr>
                  <p:spPr bwMode="auto">
                    <a:xfrm>
                      <a:off x="1305" y="2708"/>
                      <a:ext cx="1" cy="166"/>
                    </a:xfrm>
                    <a:custGeom>
                      <a:avLst/>
                      <a:gdLst>
                        <a:gd name="T0" fmla="*/ 1 w 1"/>
                        <a:gd name="T1" fmla="*/ 0 h 166"/>
                        <a:gd name="T2" fmla="*/ 0 w 1"/>
                        <a:gd name="T3" fmla="*/ 166 h 166"/>
                        <a:gd name="T4" fmla="*/ 0 60000 65536"/>
                        <a:gd name="T5" fmla="*/ 0 60000 65536"/>
                        <a:gd name="T6" fmla="*/ 0 w 1"/>
                        <a:gd name="T7" fmla="*/ 0 h 166"/>
                        <a:gd name="T8" fmla="*/ 1 w 1"/>
                        <a:gd name="T9" fmla="*/ 166 h 16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166">
                          <a:moveTo>
                            <a:pt x="1" y="0"/>
                          </a:moveTo>
                          <a:lnTo>
                            <a:pt x="0" y="16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67" name="Freeform 101"/>
                    <p:cNvSpPr/>
                    <p:nvPr/>
                  </p:nvSpPr>
                  <p:spPr bwMode="auto">
                    <a:xfrm>
                      <a:off x="1880" y="2708"/>
                      <a:ext cx="47" cy="501"/>
                    </a:xfrm>
                    <a:custGeom>
                      <a:avLst/>
                      <a:gdLst>
                        <a:gd name="T0" fmla="*/ 0 w 1"/>
                        <a:gd name="T1" fmla="*/ 0 h 406"/>
                        <a:gd name="T2" fmla="*/ 0 w 1"/>
                        <a:gd name="T3" fmla="*/ 7711 h 406"/>
                        <a:gd name="T4" fmla="*/ 0 60000 65536"/>
                        <a:gd name="T5" fmla="*/ 0 60000 65536"/>
                        <a:gd name="T6" fmla="*/ 0 w 1"/>
                        <a:gd name="T7" fmla="*/ 0 h 406"/>
                        <a:gd name="T8" fmla="*/ 1 w 1"/>
                        <a:gd name="T9" fmla="*/ 406 h 40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406">
                          <a:moveTo>
                            <a:pt x="0" y="0"/>
                          </a:moveTo>
                          <a:lnTo>
                            <a:pt x="0" y="40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68" name="Freeform 102"/>
                    <p:cNvSpPr/>
                    <p:nvPr/>
                  </p:nvSpPr>
                  <p:spPr bwMode="auto">
                    <a:xfrm>
                      <a:off x="2454" y="2708"/>
                      <a:ext cx="4" cy="166"/>
                    </a:xfrm>
                    <a:custGeom>
                      <a:avLst/>
                      <a:gdLst>
                        <a:gd name="T0" fmla="*/ 4 w 4"/>
                        <a:gd name="T1" fmla="*/ 0 h 166"/>
                        <a:gd name="T2" fmla="*/ 0 w 4"/>
                        <a:gd name="T3" fmla="*/ 166 h 166"/>
                        <a:gd name="T4" fmla="*/ 0 60000 65536"/>
                        <a:gd name="T5" fmla="*/ 0 60000 65536"/>
                        <a:gd name="T6" fmla="*/ 0 w 4"/>
                        <a:gd name="T7" fmla="*/ 0 h 166"/>
                        <a:gd name="T8" fmla="*/ 4 w 4"/>
                        <a:gd name="T9" fmla="*/ 166 h 16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4" h="166">
                          <a:moveTo>
                            <a:pt x="4" y="0"/>
                          </a:moveTo>
                          <a:lnTo>
                            <a:pt x="0" y="16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69" name="Freeform 103"/>
                    <p:cNvSpPr/>
                    <p:nvPr/>
                  </p:nvSpPr>
                  <p:spPr bwMode="auto">
                    <a:xfrm>
                      <a:off x="3606" y="2708"/>
                      <a:ext cx="2" cy="175"/>
                    </a:xfrm>
                    <a:custGeom>
                      <a:avLst/>
                      <a:gdLst>
                        <a:gd name="T0" fmla="*/ 2 w 2"/>
                        <a:gd name="T1" fmla="*/ 0 h 175"/>
                        <a:gd name="T2" fmla="*/ 0 w 2"/>
                        <a:gd name="T3" fmla="*/ 175 h 175"/>
                        <a:gd name="T4" fmla="*/ 0 60000 65536"/>
                        <a:gd name="T5" fmla="*/ 0 60000 65536"/>
                        <a:gd name="T6" fmla="*/ 0 w 2"/>
                        <a:gd name="T7" fmla="*/ 0 h 175"/>
                        <a:gd name="T8" fmla="*/ 2 w 2"/>
                        <a:gd name="T9" fmla="*/ 175 h 175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2" h="175">
                          <a:moveTo>
                            <a:pt x="2" y="0"/>
                          </a:moveTo>
                          <a:lnTo>
                            <a:pt x="0" y="175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70" name="Freeform 104"/>
                    <p:cNvSpPr/>
                    <p:nvPr/>
                  </p:nvSpPr>
                  <p:spPr bwMode="auto">
                    <a:xfrm>
                      <a:off x="4760" y="2697"/>
                      <a:ext cx="1" cy="176"/>
                    </a:xfrm>
                    <a:custGeom>
                      <a:avLst/>
                      <a:gdLst>
                        <a:gd name="T0" fmla="*/ 0 w 1"/>
                        <a:gd name="T1" fmla="*/ 0 h 176"/>
                        <a:gd name="T2" fmla="*/ 0 w 1"/>
                        <a:gd name="T3" fmla="*/ 176 h 176"/>
                        <a:gd name="T4" fmla="*/ 0 60000 65536"/>
                        <a:gd name="T5" fmla="*/ 0 60000 65536"/>
                        <a:gd name="T6" fmla="*/ 0 w 1"/>
                        <a:gd name="T7" fmla="*/ 0 h 176"/>
                        <a:gd name="T8" fmla="*/ 1 w 1"/>
                        <a:gd name="T9" fmla="*/ 176 h 17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176">
                          <a:moveTo>
                            <a:pt x="0" y="0"/>
                          </a:moveTo>
                          <a:lnTo>
                            <a:pt x="0" y="17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71" name="Freeform 105"/>
                    <p:cNvSpPr/>
                    <p:nvPr/>
                  </p:nvSpPr>
                  <p:spPr bwMode="auto">
                    <a:xfrm>
                      <a:off x="908" y="1480"/>
                      <a:ext cx="4422" cy="1"/>
                    </a:xfrm>
                    <a:custGeom>
                      <a:avLst/>
                      <a:gdLst>
                        <a:gd name="T0" fmla="*/ 0 w 4422"/>
                        <a:gd name="T1" fmla="*/ 1 h 1"/>
                        <a:gd name="T2" fmla="*/ 4422 w 4422"/>
                        <a:gd name="T3" fmla="*/ 0 h 1"/>
                        <a:gd name="T4" fmla="*/ 0 60000 65536"/>
                        <a:gd name="T5" fmla="*/ 0 60000 65536"/>
                        <a:gd name="T6" fmla="*/ 0 w 4422"/>
                        <a:gd name="T7" fmla="*/ 0 h 1"/>
                        <a:gd name="T8" fmla="*/ 4422 w 4422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4422" h="1">
                          <a:moveTo>
                            <a:pt x="0" y="1"/>
                          </a:moveTo>
                          <a:lnTo>
                            <a:pt x="4422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72" name="Line 1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92" y="14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73" name="Line 10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868" y="14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74" name="Line 10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444" y="14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75" name="Line 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020" y="14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76" name="Line 11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96" y="14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77" name="Line 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172" y="14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78" name="Line 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748" y="14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79" name="Line 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324" y="14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none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80" name="Freeform 114"/>
                    <p:cNvSpPr/>
                    <p:nvPr/>
                  </p:nvSpPr>
                  <p:spPr bwMode="auto">
                    <a:xfrm>
                      <a:off x="908" y="2056"/>
                      <a:ext cx="4418" cy="1"/>
                    </a:xfrm>
                    <a:custGeom>
                      <a:avLst/>
                      <a:gdLst>
                        <a:gd name="T0" fmla="*/ 0 w 4418"/>
                        <a:gd name="T1" fmla="*/ 1 h 1"/>
                        <a:gd name="T2" fmla="*/ 4418 w 4418"/>
                        <a:gd name="T3" fmla="*/ 0 h 1"/>
                        <a:gd name="T4" fmla="*/ 0 60000 65536"/>
                        <a:gd name="T5" fmla="*/ 0 60000 65536"/>
                        <a:gd name="T6" fmla="*/ 0 w 4418"/>
                        <a:gd name="T7" fmla="*/ 0 h 1"/>
                        <a:gd name="T8" fmla="*/ 4418 w 4418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4418" h="1">
                          <a:moveTo>
                            <a:pt x="0" y="1"/>
                          </a:moveTo>
                          <a:lnTo>
                            <a:pt x="4418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81" name="Line 11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92" y="20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82" name="Line 1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868" y="20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83" name="Line 11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444" y="20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84" name="Line 11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020" y="20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85" name="Line 11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96" y="20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86" name="Line 12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172" y="20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87" name="Line 12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748" y="20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88" name="Line 12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324" y="2057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none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89" name="Freeform 123"/>
                    <p:cNvSpPr/>
                    <p:nvPr/>
                  </p:nvSpPr>
                  <p:spPr bwMode="auto">
                    <a:xfrm>
                      <a:off x="909" y="2879"/>
                      <a:ext cx="3860" cy="1"/>
                    </a:xfrm>
                    <a:custGeom>
                      <a:avLst/>
                      <a:gdLst>
                        <a:gd name="T0" fmla="*/ 0 w 3860"/>
                        <a:gd name="T1" fmla="*/ 1 h 1"/>
                        <a:gd name="T2" fmla="*/ 3860 w 3860"/>
                        <a:gd name="T3" fmla="*/ 0 h 1"/>
                        <a:gd name="T4" fmla="*/ 0 60000 65536"/>
                        <a:gd name="T5" fmla="*/ 0 60000 65536"/>
                        <a:gd name="T6" fmla="*/ 0 w 3860"/>
                        <a:gd name="T7" fmla="*/ 0 h 1"/>
                        <a:gd name="T8" fmla="*/ 3860 w 3860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3860" h="1">
                          <a:moveTo>
                            <a:pt x="0" y="1"/>
                          </a:moveTo>
                          <a:lnTo>
                            <a:pt x="3860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90" name="Freeform 124"/>
                    <p:cNvSpPr/>
                    <p:nvPr/>
                  </p:nvSpPr>
                  <p:spPr bwMode="auto">
                    <a:xfrm>
                      <a:off x="912" y="3209"/>
                      <a:ext cx="4418" cy="1"/>
                    </a:xfrm>
                    <a:custGeom>
                      <a:avLst/>
                      <a:gdLst>
                        <a:gd name="T0" fmla="*/ 0 w 4418"/>
                        <a:gd name="T1" fmla="*/ 1 h 1"/>
                        <a:gd name="T2" fmla="*/ 4418 w 4418"/>
                        <a:gd name="T3" fmla="*/ 0 h 1"/>
                        <a:gd name="T4" fmla="*/ 0 60000 65536"/>
                        <a:gd name="T5" fmla="*/ 0 60000 65536"/>
                        <a:gd name="T6" fmla="*/ 0 w 4418"/>
                        <a:gd name="T7" fmla="*/ 0 h 1"/>
                        <a:gd name="T8" fmla="*/ 4418 w 4418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4418" h="1">
                          <a:moveTo>
                            <a:pt x="0" y="1"/>
                          </a:moveTo>
                          <a:lnTo>
                            <a:pt x="4418" y="0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91" name="Rectangle 12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41" y="3545"/>
                      <a:ext cx="823" cy="336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/>
                      <a:endParaRPr lang="zh-CN" altLang="en-US"/>
                    </a:p>
                  </p:txBody>
                </p:sp>
                <p:sp>
                  <p:nvSpPr>
                    <p:cNvPr id="129292" name="Text Box 126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172" y="3576"/>
                      <a:ext cx="75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读写电路</a:t>
                      </a:r>
                    </a:p>
                  </p:txBody>
                </p:sp>
                <p:sp>
                  <p:nvSpPr>
                    <p:cNvPr id="129293" name="Freeform 127"/>
                    <p:cNvSpPr/>
                    <p:nvPr/>
                  </p:nvSpPr>
                  <p:spPr bwMode="auto">
                    <a:xfrm>
                      <a:off x="1402" y="1211"/>
                      <a:ext cx="145" cy="1466"/>
                    </a:xfrm>
                    <a:custGeom>
                      <a:avLst/>
                      <a:gdLst>
                        <a:gd name="T0" fmla="*/ 37 w 145"/>
                        <a:gd name="T1" fmla="*/ 0 h 1466"/>
                        <a:gd name="T2" fmla="*/ 145 w 145"/>
                        <a:gd name="T3" fmla="*/ 0 h 1466"/>
                        <a:gd name="T4" fmla="*/ 144 w 145"/>
                        <a:gd name="T5" fmla="*/ 1466 h 1466"/>
                        <a:gd name="T6" fmla="*/ 0 w 145"/>
                        <a:gd name="T7" fmla="*/ 1466 h 1466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45"/>
                        <a:gd name="T13" fmla="*/ 0 h 1466"/>
                        <a:gd name="T14" fmla="*/ 145 w 145"/>
                        <a:gd name="T15" fmla="*/ 1466 h 146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45" h="1466">
                          <a:moveTo>
                            <a:pt x="37" y="0"/>
                          </a:moveTo>
                          <a:lnTo>
                            <a:pt x="145" y="0"/>
                          </a:lnTo>
                          <a:lnTo>
                            <a:pt x="144" y="1466"/>
                          </a:lnTo>
                          <a:lnTo>
                            <a:pt x="0" y="146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94" name="Freeform 128"/>
                    <p:cNvSpPr/>
                    <p:nvPr/>
                  </p:nvSpPr>
                  <p:spPr bwMode="auto">
                    <a:xfrm>
                      <a:off x="1613" y="1211"/>
                      <a:ext cx="169" cy="1469"/>
                    </a:xfrm>
                    <a:custGeom>
                      <a:avLst/>
                      <a:gdLst>
                        <a:gd name="T0" fmla="*/ 169 w 169"/>
                        <a:gd name="T1" fmla="*/ 1468 h 1469"/>
                        <a:gd name="T2" fmla="*/ 0 w 169"/>
                        <a:gd name="T3" fmla="*/ 1469 h 1469"/>
                        <a:gd name="T4" fmla="*/ 1 w 169"/>
                        <a:gd name="T5" fmla="*/ 0 h 1469"/>
                        <a:gd name="T6" fmla="*/ 105 w 169"/>
                        <a:gd name="T7" fmla="*/ 0 h 1469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69"/>
                        <a:gd name="T13" fmla="*/ 0 h 1469"/>
                        <a:gd name="T14" fmla="*/ 169 w 169"/>
                        <a:gd name="T15" fmla="*/ 1469 h 1469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69" h="1469">
                          <a:moveTo>
                            <a:pt x="169" y="1468"/>
                          </a:moveTo>
                          <a:lnTo>
                            <a:pt x="0" y="1469"/>
                          </a:lnTo>
                          <a:lnTo>
                            <a:pt x="1" y="0"/>
                          </a:lnTo>
                          <a:lnTo>
                            <a:pt x="105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95" name="Freeform 129"/>
                    <p:cNvSpPr/>
                    <p:nvPr/>
                  </p:nvSpPr>
                  <p:spPr bwMode="auto">
                    <a:xfrm>
                      <a:off x="1967" y="1211"/>
                      <a:ext cx="141" cy="1466"/>
                    </a:xfrm>
                    <a:custGeom>
                      <a:avLst/>
                      <a:gdLst>
                        <a:gd name="T0" fmla="*/ 38 w 141"/>
                        <a:gd name="T1" fmla="*/ 0 h 1466"/>
                        <a:gd name="T2" fmla="*/ 141 w 141"/>
                        <a:gd name="T3" fmla="*/ 0 h 1466"/>
                        <a:gd name="T4" fmla="*/ 140 w 141"/>
                        <a:gd name="T5" fmla="*/ 1466 h 1466"/>
                        <a:gd name="T6" fmla="*/ 0 w 141"/>
                        <a:gd name="T7" fmla="*/ 1466 h 1466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41"/>
                        <a:gd name="T13" fmla="*/ 0 h 1466"/>
                        <a:gd name="T14" fmla="*/ 141 w 141"/>
                        <a:gd name="T15" fmla="*/ 1466 h 146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41" h="1466">
                          <a:moveTo>
                            <a:pt x="38" y="0"/>
                          </a:moveTo>
                          <a:lnTo>
                            <a:pt x="141" y="0"/>
                          </a:lnTo>
                          <a:lnTo>
                            <a:pt x="140" y="1466"/>
                          </a:lnTo>
                          <a:lnTo>
                            <a:pt x="0" y="146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96" name="Freeform 130"/>
                    <p:cNvSpPr/>
                    <p:nvPr/>
                  </p:nvSpPr>
                  <p:spPr bwMode="auto">
                    <a:xfrm>
                      <a:off x="2208" y="1211"/>
                      <a:ext cx="155" cy="1467"/>
                    </a:xfrm>
                    <a:custGeom>
                      <a:avLst/>
                      <a:gdLst>
                        <a:gd name="T0" fmla="*/ 155 w 155"/>
                        <a:gd name="T1" fmla="*/ 1467 h 1467"/>
                        <a:gd name="T2" fmla="*/ 3 w 155"/>
                        <a:gd name="T3" fmla="*/ 1467 h 1467"/>
                        <a:gd name="T4" fmla="*/ 0 w 155"/>
                        <a:gd name="T5" fmla="*/ 1 h 1467"/>
                        <a:gd name="T6" fmla="*/ 89 w 155"/>
                        <a:gd name="T7" fmla="*/ 0 h 1467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55"/>
                        <a:gd name="T13" fmla="*/ 0 h 1467"/>
                        <a:gd name="T14" fmla="*/ 155 w 155"/>
                        <a:gd name="T15" fmla="*/ 1467 h 1467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55" h="1467">
                          <a:moveTo>
                            <a:pt x="155" y="1467"/>
                          </a:moveTo>
                          <a:lnTo>
                            <a:pt x="3" y="1467"/>
                          </a:lnTo>
                          <a:lnTo>
                            <a:pt x="0" y="1"/>
                          </a:lnTo>
                          <a:lnTo>
                            <a:pt x="89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97" name="Freeform 131"/>
                    <p:cNvSpPr/>
                    <p:nvPr/>
                  </p:nvSpPr>
                  <p:spPr bwMode="auto">
                    <a:xfrm>
                      <a:off x="2557" y="1211"/>
                      <a:ext cx="142" cy="1466"/>
                    </a:xfrm>
                    <a:custGeom>
                      <a:avLst/>
                      <a:gdLst>
                        <a:gd name="T0" fmla="*/ 34 w 142"/>
                        <a:gd name="T1" fmla="*/ 0 h 1466"/>
                        <a:gd name="T2" fmla="*/ 142 w 142"/>
                        <a:gd name="T3" fmla="*/ 0 h 1466"/>
                        <a:gd name="T4" fmla="*/ 141 w 142"/>
                        <a:gd name="T5" fmla="*/ 1466 h 1466"/>
                        <a:gd name="T6" fmla="*/ 0 w 142"/>
                        <a:gd name="T7" fmla="*/ 1464 h 1466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42"/>
                        <a:gd name="T13" fmla="*/ 0 h 1466"/>
                        <a:gd name="T14" fmla="*/ 142 w 142"/>
                        <a:gd name="T15" fmla="*/ 1466 h 146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42" h="1466">
                          <a:moveTo>
                            <a:pt x="34" y="0"/>
                          </a:moveTo>
                          <a:lnTo>
                            <a:pt x="142" y="0"/>
                          </a:lnTo>
                          <a:lnTo>
                            <a:pt x="141" y="1466"/>
                          </a:lnTo>
                          <a:lnTo>
                            <a:pt x="0" y="1464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98" name="Freeform 132"/>
                    <p:cNvSpPr/>
                    <p:nvPr/>
                  </p:nvSpPr>
                  <p:spPr bwMode="auto">
                    <a:xfrm>
                      <a:off x="2787" y="1211"/>
                      <a:ext cx="152" cy="1467"/>
                    </a:xfrm>
                    <a:custGeom>
                      <a:avLst/>
                      <a:gdLst>
                        <a:gd name="T0" fmla="*/ 152 w 152"/>
                        <a:gd name="T1" fmla="*/ 1467 h 1467"/>
                        <a:gd name="T2" fmla="*/ 0 w 152"/>
                        <a:gd name="T3" fmla="*/ 1467 h 1467"/>
                        <a:gd name="T4" fmla="*/ 0 w 152"/>
                        <a:gd name="T5" fmla="*/ 1 h 1467"/>
                        <a:gd name="T6" fmla="*/ 77 w 152"/>
                        <a:gd name="T7" fmla="*/ 0 h 1467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52"/>
                        <a:gd name="T13" fmla="*/ 0 h 1467"/>
                        <a:gd name="T14" fmla="*/ 152 w 152"/>
                        <a:gd name="T15" fmla="*/ 1467 h 1467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52" h="1467">
                          <a:moveTo>
                            <a:pt x="152" y="1467"/>
                          </a:moveTo>
                          <a:lnTo>
                            <a:pt x="0" y="1467"/>
                          </a:lnTo>
                          <a:lnTo>
                            <a:pt x="0" y="1"/>
                          </a:lnTo>
                          <a:lnTo>
                            <a:pt x="77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299" name="Freeform 133"/>
                    <p:cNvSpPr/>
                    <p:nvPr/>
                  </p:nvSpPr>
                  <p:spPr bwMode="auto">
                    <a:xfrm>
                      <a:off x="3130" y="1211"/>
                      <a:ext cx="145" cy="1466"/>
                    </a:xfrm>
                    <a:custGeom>
                      <a:avLst/>
                      <a:gdLst>
                        <a:gd name="T0" fmla="*/ 37 w 145"/>
                        <a:gd name="T1" fmla="*/ 0 h 1466"/>
                        <a:gd name="T2" fmla="*/ 145 w 145"/>
                        <a:gd name="T3" fmla="*/ 0 h 1466"/>
                        <a:gd name="T4" fmla="*/ 144 w 145"/>
                        <a:gd name="T5" fmla="*/ 1466 h 1466"/>
                        <a:gd name="T6" fmla="*/ 0 w 145"/>
                        <a:gd name="T7" fmla="*/ 1466 h 1466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45"/>
                        <a:gd name="T13" fmla="*/ 0 h 1466"/>
                        <a:gd name="T14" fmla="*/ 145 w 145"/>
                        <a:gd name="T15" fmla="*/ 1466 h 146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45" h="1466">
                          <a:moveTo>
                            <a:pt x="37" y="0"/>
                          </a:moveTo>
                          <a:lnTo>
                            <a:pt x="145" y="0"/>
                          </a:lnTo>
                          <a:lnTo>
                            <a:pt x="144" y="1466"/>
                          </a:lnTo>
                          <a:lnTo>
                            <a:pt x="0" y="146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00" name="Freeform 134"/>
                    <p:cNvSpPr/>
                    <p:nvPr/>
                  </p:nvSpPr>
                  <p:spPr bwMode="auto">
                    <a:xfrm>
                      <a:off x="3360" y="1209"/>
                      <a:ext cx="155" cy="1469"/>
                    </a:xfrm>
                    <a:custGeom>
                      <a:avLst/>
                      <a:gdLst>
                        <a:gd name="T0" fmla="*/ 155 w 155"/>
                        <a:gd name="T1" fmla="*/ 1469 h 1469"/>
                        <a:gd name="T2" fmla="*/ 3 w 155"/>
                        <a:gd name="T3" fmla="*/ 1469 h 1469"/>
                        <a:gd name="T4" fmla="*/ 0 w 155"/>
                        <a:gd name="T5" fmla="*/ 0 h 1469"/>
                        <a:gd name="T6" fmla="*/ 103 w 155"/>
                        <a:gd name="T7" fmla="*/ 2 h 1469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55"/>
                        <a:gd name="T13" fmla="*/ 0 h 1469"/>
                        <a:gd name="T14" fmla="*/ 155 w 155"/>
                        <a:gd name="T15" fmla="*/ 1469 h 1469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55" h="1469">
                          <a:moveTo>
                            <a:pt x="155" y="1469"/>
                          </a:moveTo>
                          <a:lnTo>
                            <a:pt x="3" y="1469"/>
                          </a:lnTo>
                          <a:lnTo>
                            <a:pt x="0" y="0"/>
                          </a:lnTo>
                          <a:lnTo>
                            <a:pt x="103" y="2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01" name="Freeform 135"/>
                    <p:cNvSpPr/>
                    <p:nvPr/>
                  </p:nvSpPr>
                  <p:spPr bwMode="auto">
                    <a:xfrm>
                      <a:off x="3710" y="1211"/>
                      <a:ext cx="141" cy="1466"/>
                    </a:xfrm>
                    <a:custGeom>
                      <a:avLst/>
                      <a:gdLst>
                        <a:gd name="T0" fmla="*/ 42 w 141"/>
                        <a:gd name="T1" fmla="*/ 0 h 1466"/>
                        <a:gd name="T2" fmla="*/ 141 w 141"/>
                        <a:gd name="T3" fmla="*/ 0 h 1466"/>
                        <a:gd name="T4" fmla="*/ 140 w 141"/>
                        <a:gd name="T5" fmla="*/ 1466 h 1466"/>
                        <a:gd name="T6" fmla="*/ 0 w 141"/>
                        <a:gd name="T7" fmla="*/ 1466 h 1466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41"/>
                        <a:gd name="T13" fmla="*/ 0 h 1466"/>
                        <a:gd name="T14" fmla="*/ 141 w 141"/>
                        <a:gd name="T15" fmla="*/ 1466 h 146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41" h="1466">
                          <a:moveTo>
                            <a:pt x="42" y="0"/>
                          </a:moveTo>
                          <a:lnTo>
                            <a:pt x="141" y="0"/>
                          </a:lnTo>
                          <a:lnTo>
                            <a:pt x="140" y="1466"/>
                          </a:lnTo>
                          <a:lnTo>
                            <a:pt x="0" y="146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02" name="Freeform 136"/>
                    <p:cNvSpPr/>
                    <p:nvPr/>
                  </p:nvSpPr>
                  <p:spPr bwMode="auto">
                    <a:xfrm>
                      <a:off x="3939" y="1211"/>
                      <a:ext cx="152" cy="1467"/>
                    </a:xfrm>
                    <a:custGeom>
                      <a:avLst/>
                      <a:gdLst>
                        <a:gd name="T0" fmla="*/ 152 w 152"/>
                        <a:gd name="T1" fmla="*/ 1467 h 1467"/>
                        <a:gd name="T2" fmla="*/ 0 w 152"/>
                        <a:gd name="T3" fmla="*/ 1467 h 1467"/>
                        <a:gd name="T4" fmla="*/ 0 w 152"/>
                        <a:gd name="T5" fmla="*/ 1 h 1467"/>
                        <a:gd name="T6" fmla="*/ 103 w 152"/>
                        <a:gd name="T7" fmla="*/ 0 h 1467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52"/>
                        <a:gd name="T13" fmla="*/ 0 h 1467"/>
                        <a:gd name="T14" fmla="*/ 152 w 152"/>
                        <a:gd name="T15" fmla="*/ 1467 h 1467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52" h="1467">
                          <a:moveTo>
                            <a:pt x="152" y="1467"/>
                          </a:moveTo>
                          <a:lnTo>
                            <a:pt x="0" y="1467"/>
                          </a:lnTo>
                          <a:lnTo>
                            <a:pt x="0" y="1"/>
                          </a:lnTo>
                          <a:lnTo>
                            <a:pt x="103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03" name="Freeform 137"/>
                    <p:cNvSpPr/>
                    <p:nvPr/>
                  </p:nvSpPr>
                  <p:spPr bwMode="auto">
                    <a:xfrm>
                      <a:off x="4280" y="1211"/>
                      <a:ext cx="147" cy="1466"/>
                    </a:xfrm>
                    <a:custGeom>
                      <a:avLst/>
                      <a:gdLst>
                        <a:gd name="T0" fmla="*/ 51 w 147"/>
                        <a:gd name="T1" fmla="*/ 0 h 1466"/>
                        <a:gd name="T2" fmla="*/ 147 w 147"/>
                        <a:gd name="T3" fmla="*/ 0 h 1466"/>
                        <a:gd name="T4" fmla="*/ 146 w 147"/>
                        <a:gd name="T5" fmla="*/ 1466 h 1466"/>
                        <a:gd name="T6" fmla="*/ 0 w 147"/>
                        <a:gd name="T7" fmla="*/ 1466 h 1466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47"/>
                        <a:gd name="T13" fmla="*/ 0 h 1466"/>
                        <a:gd name="T14" fmla="*/ 147 w 147"/>
                        <a:gd name="T15" fmla="*/ 1466 h 146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47" h="1466">
                          <a:moveTo>
                            <a:pt x="51" y="0"/>
                          </a:moveTo>
                          <a:lnTo>
                            <a:pt x="147" y="0"/>
                          </a:lnTo>
                          <a:lnTo>
                            <a:pt x="146" y="1466"/>
                          </a:lnTo>
                          <a:lnTo>
                            <a:pt x="0" y="146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04" name="Freeform 138"/>
                    <p:cNvSpPr/>
                    <p:nvPr/>
                  </p:nvSpPr>
                  <p:spPr bwMode="auto">
                    <a:xfrm>
                      <a:off x="4509" y="1211"/>
                      <a:ext cx="158" cy="1467"/>
                    </a:xfrm>
                    <a:custGeom>
                      <a:avLst/>
                      <a:gdLst>
                        <a:gd name="T0" fmla="*/ 158 w 158"/>
                        <a:gd name="T1" fmla="*/ 1467 h 1467"/>
                        <a:gd name="T2" fmla="*/ 0 w 158"/>
                        <a:gd name="T3" fmla="*/ 1467 h 1467"/>
                        <a:gd name="T4" fmla="*/ 0 w 158"/>
                        <a:gd name="T5" fmla="*/ 0 h 1467"/>
                        <a:gd name="T6" fmla="*/ 95 w 158"/>
                        <a:gd name="T7" fmla="*/ 0 h 1467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58"/>
                        <a:gd name="T13" fmla="*/ 0 h 1467"/>
                        <a:gd name="T14" fmla="*/ 158 w 158"/>
                        <a:gd name="T15" fmla="*/ 1467 h 1467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58" h="1467">
                          <a:moveTo>
                            <a:pt x="158" y="1467"/>
                          </a:moveTo>
                          <a:lnTo>
                            <a:pt x="0" y="1467"/>
                          </a:lnTo>
                          <a:lnTo>
                            <a:pt x="0" y="0"/>
                          </a:lnTo>
                          <a:lnTo>
                            <a:pt x="95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05" name="Freeform 139"/>
                    <p:cNvSpPr/>
                    <p:nvPr/>
                  </p:nvSpPr>
                  <p:spPr bwMode="auto">
                    <a:xfrm>
                      <a:off x="4861" y="1211"/>
                      <a:ext cx="142" cy="1466"/>
                    </a:xfrm>
                    <a:custGeom>
                      <a:avLst/>
                      <a:gdLst>
                        <a:gd name="T0" fmla="*/ 34 w 142"/>
                        <a:gd name="T1" fmla="*/ 0 h 1466"/>
                        <a:gd name="T2" fmla="*/ 142 w 142"/>
                        <a:gd name="T3" fmla="*/ 0 h 1466"/>
                        <a:gd name="T4" fmla="*/ 141 w 142"/>
                        <a:gd name="T5" fmla="*/ 1466 h 1466"/>
                        <a:gd name="T6" fmla="*/ 0 w 142"/>
                        <a:gd name="T7" fmla="*/ 1466 h 1466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42"/>
                        <a:gd name="T13" fmla="*/ 0 h 1466"/>
                        <a:gd name="T14" fmla="*/ 142 w 142"/>
                        <a:gd name="T15" fmla="*/ 1466 h 146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42" h="1466">
                          <a:moveTo>
                            <a:pt x="34" y="0"/>
                          </a:moveTo>
                          <a:lnTo>
                            <a:pt x="142" y="0"/>
                          </a:lnTo>
                          <a:lnTo>
                            <a:pt x="141" y="1466"/>
                          </a:lnTo>
                          <a:lnTo>
                            <a:pt x="0" y="146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06" name="Freeform 140"/>
                    <p:cNvSpPr/>
                    <p:nvPr/>
                  </p:nvSpPr>
                  <p:spPr bwMode="auto">
                    <a:xfrm>
                      <a:off x="5069" y="1211"/>
                      <a:ext cx="159" cy="1469"/>
                    </a:xfrm>
                    <a:custGeom>
                      <a:avLst/>
                      <a:gdLst>
                        <a:gd name="T0" fmla="*/ 159 w 159"/>
                        <a:gd name="T1" fmla="*/ 1467 h 1469"/>
                        <a:gd name="T2" fmla="*/ 0 w 159"/>
                        <a:gd name="T3" fmla="*/ 1469 h 1469"/>
                        <a:gd name="T4" fmla="*/ 1 w 159"/>
                        <a:gd name="T5" fmla="*/ 0 h 1469"/>
                        <a:gd name="T6" fmla="*/ 104 w 159"/>
                        <a:gd name="T7" fmla="*/ 0 h 1469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59"/>
                        <a:gd name="T13" fmla="*/ 0 h 1469"/>
                        <a:gd name="T14" fmla="*/ 159 w 159"/>
                        <a:gd name="T15" fmla="*/ 1469 h 1469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59" h="1469">
                          <a:moveTo>
                            <a:pt x="159" y="1467"/>
                          </a:moveTo>
                          <a:lnTo>
                            <a:pt x="0" y="1469"/>
                          </a:lnTo>
                          <a:lnTo>
                            <a:pt x="1" y="0"/>
                          </a:lnTo>
                          <a:lnTo>
                            <a:pt x="104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07" name="Freeform 141"/>
                    <p:cNvSpPr/>
                    <p:nvPr/>
                  </p:nvSpPr>
                  <p:spPr bwMode="auto">
                    <a:xfrm>
                      <a:off x="5417" y="1211"/>
                      <a:ext cx="147" cy="1466"/>
                    </a:xfrm>
                    <a:custGeom>
                      <a:avLst/>
                      <a:gdLst>
                        <a:gd name="T0" fmla="*/ 47 w 147"/>
                        <a:gd name="T1" fmla="*/ 0 h 1466"/>
                        <a:gd name="T2" fmla="*/ 147 w 147"/>
                        <a:gd name="T3" fmla="*/ 0 h 1466"/>
                        <a:gd name="T4" fmla="*/ 146 w 147"/>
                        <a:gd name="T5" fmla="*/ 1466 h 1466"/>
                        <a:gd name="T6" fmla="*/ 0 w 147"/>
                        <a:gd name="T7" fmla="*/ 1466 h 1466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47"/>
                        <a:gd name="T13" fmla="*/ 0 h 1466"/>
                        <a:gd name="T14" fmla="*/ 147 w 147"/>
                        <a:gd name="T15" fmla="*/ 1466 h 146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47" h="1466">
                          <a:moveTo>
                            <a:pt x="47" y="0"/>
                          </a:moveTo>
                          <a:lnTo>
                            <a:pt x="147" y="0"/>
                          </a:lnTo>
                          <a:lnTo>
                            <a:pt x="146" y="1466"/>
                          </a:lnTo>
                          <a:lnTo>
                            <a:pt x="0" y="146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08" name="Freeform 142"/>
                    <p:cNvSpPr/>
                    <p:nvPr/>
                  </p:nvSpPr>
                  <p:spPr bwMode="auto">
                    <a:xfrm>
                      <a:off x="1055" y="2738"/>
                      <a:ext cx="730" cy="660"/>
                    </a:xfrm>
                    <a:custGeom>
                      <a:avLst/>
                      <a:gdLst>
                        <a:gd name="T0" fmla="*/ 160 w 730"/>
                        <a:gd name="T1" fmla="*/ 4 h 660"/>
                        <a:gd name="T2" fmla="*/ 0 w 730"/>
                        <a:gd name="T3" fmla="*/ 3 h 660"/>
                        <a:gd name="T4" fmla="*/ 0 w 730"/>
                        <a:gd name="T5" fmla="*/ 660 h 660"/>
                        <a:gd name="T6" fmla="*/ 558 w 730"/>
                        <a:gd name="T7" fmla="*/ 657 h 660"/>
                        <a:gd name="T8" fmla="*/ 558 w 730"/>
                        <a:gd name="T9" fmla="*/ 0 h 660"/>
                        <a:gd name="T10" fmla="*/ 730 w 730"/>
                        <a:gd name="T11" fmla="*/ 1 h 660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730"/>
                        <a:gd name="T19" fmla="*/ 0 h 660"/>
                        <a:gd name="T20" fmla="*/ 730 w 730"/>
                        <a:gd name="T21" fmla="*/ 660 h 660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730" h="660">
                          <a:moveTo>
                            <a:pt x="160" y="4"/>
                          </a:moveTo>
                          <a:lnTo>
                            <a:pt x="0" y="3"/>
                          </a:lnTo>
                          <a:lnTo>
                            <a:pt x="0" y="660"/>
                          </a:lnTo>
                          <a:lnTo>
                            <a:pt x="558" y="657"/>
                          </a:lnTo>
                          <a:lnTo>
                            <a:pt x="558" y="0"/>
                          </a:lnTo>
                          <a:lnTo>
                            <a:pt x="730" y="1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09" name="Freeform 143"/>
                    <p:cNvSpPr/>
                    <p:nvPr/>
                  </p:nvSpPr>
                  <p:spPr bwMode="auto">
                    <a:xfrm>
                      <a:off x="2207" y="2744"/>
                      <a:ext cx="729" cy="658"/>
                    </a:xfrm>
                    <a:custGeom>
                      <a:avLst/>
                      <a:gdLst>
                        <a:gd name="T0" fmla="*/ 153 w 729"/>
                        <a:gd name="T1" fmla="*/ 0 h 658"/>
                        <a:gd name="T2" fmla="*/ 0 w 729"/>
                        <a:gd name="T3" fmla="*/ 0 h 658"/>
                        <a:gd name="T4" fmla="*/ 0 w 729"/>
                        <a:gd name="T5" fmla="*/ 657 h 658"/>
                        <a:gd name="T6" fmla="*/ 583 w 729"/>
                        <a:gd name="T7" fmla="*/ 658 h 658"/>
                        <a:gd name="T8" fmla="*/ 582 w 729"/>
                        <a:gd name="T9" fmla="*/ 3 h 658"/>
                        <a:gd name="T10" fmla="*/ 729 w 729"/>
                        <a:gd name="T11" fmla="*/ 3 h 658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729"/>
                        <a:gd name="T19" fmla="*/ 0 h 658"/>
                        <a:gd name="T20" fmla="*/ 729 w 729"/>
                        <a:gd name="T21" fmla="*/ 658 h 658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729" h="658">
                          <a:moveTo>
                            <a:pt x="153" y="0"/>
                          </a:moveTo>
                          <a:lnTo>
                            <a:pt x="0" y="0"/>
                          </a:lnTo>
                          <a:lnTo>
                            <a:pt x="0" y="657"/>
                          </a:lnTo>
                          <a:lnTo>
                            <a:pt x="583" y="658"/>
                          </a:lnTo>
                          <a:lnTo>
                            <a:pt x="582" y="3"/>
                          </a:lnTo>
                          <a:lnTo>
                            <a:pt x="729" y="3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10" name="Freeform 144"/>
                    <p:cNvSpPr/>
                    <p:nvPr/>
                  </p:nvSpPr>
                  <p:spPr bwMode="auto">
                    <a:xfrm>
                      <a:off x="3356" y="2744"/>
                      <a:ext cx="729" cy="657"/>
                    </a:xfrm>
                    <a:custGeom>
                      <a:avLst/>
                      <a:gdLst>
                        <a:gd name="T0" fmla="*/ 158 w 729"/>
                        <a:gd name="T1" fmla="*/ 0 h 657"/>
                        <a:gd name="T2" fmla="*/ 0 w 729"/>
                        <a:gd name="T3" fmla="*/ 0 h 657"/>
                        <a:gd name="T4" fmla="*/ 0 w 729"/>
                        <a:gd name="T5" fmla="*/ 657 h 657"/>
                        <a:gd name="T6" fmla="*/ 579 w 729"/>
                        <a:gd name="T7" fmla="*/ 654 h 657"/>
                        <a:gd name="T8" fmla="*/ 582 w 729"/>
                        <a:gd name="T9" fmla="*/ 3 h 657"/>
                        <a:gd name="T10" fmla="*/ 729 w 729"/>
                        <a:gd name="T11" fmla="*/ 3 h 65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729"/>
                        <a:gd name="T19" fmla="*/ 0 h 657"/>
                        <a:gd name="T20" fmla="*/ 729 w 729"/>
                        <a:gd name="T21" fmla="*/ 657 h 657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729" h="657">
                          <a:moveTo>
                            <a:pt x="158" y="0"/>
                          </a:moveTo>
                          <a:lnTo>
                            <a:pt x="0" y="0"/>
                          </a:lnTo>
                          <a:lnTo>
                            <a:pt x="0" y="657"/>
                          </a:lnTo>
                          <a:lnTo>
                            <a:pt x="579" y="654"/>
                          </a:lnTo>
                          <a:lnTo>
                            <a:pt x="582" y="3"/>
                          </a:lnTo>
                          <a:lnTo>
                            <a:pt x="729" y="3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11" name="Freeform 145"/>
                    <p:cNvSpPr/>
                    <p:nvPr/>
                  </p:nvSpPr>
                  <p:spPr bwMode="auto">
                    <a:xfrm>
                      <a:off x="4508" y="2744"/>
                      <a:ext cx="729" cy="657"/>
                    </a:xfrm>
                    <a:custGeom>
                      <a:avLst/>
                      <a:gdLst>
                        <a:gd name="T0" fmla="*/ 161 w 729"/>
                        <a:gd name="T1" fmla="*/ 2 h 657"/>
                        <a:gd name="T2" fmla="*/ 0 w 729"/>
                        <a:gd name="T3" fmla="*/ 0 h 657"/>
                        <a:gd name="T4" fmla="*/ 0 w 729"/>
                        <a:gd name="T5" fmla="*/ 657 h 657"/>
                        <a:gd name="T6" fmla="*/ 579 w 729"/>
                        <a:gd name="T7" fmla="*/ 654 h 657"/>
                        <a:gd name="T8" fmla="*/ 582 w 729"/>
                        <a:gd name="T9" fmla="*/ 3 h 657"/>
                        <a:gd name="T10" fmla="*/ 729 w 729"/>
                        <a:gd name="T11" fmla="*/ 3 h 65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729"/>
                        <a:gd name="T19" fmla="*/ 0 h 657"/>
                        <a:gd name="T20" fmla="*/ 729 w 729"/>
                        <a:gd name="T21" fmla="*/ 657 h 657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729" h="657">
                          <a:moveTo>
                            <a:pt x="161" y="2"/>
                          </a:moveTo>
                          <a:lnTo>
                            <a:pt x="0" y="0"/>
                          </a:lnTo>
                          <a:lnTo>
                            <a:pt x="0" y="657"/>
                          </a:lnTo>
                          <a:lnTo>
                            <a:pt x="579" y="654"/>
                          </a:lnTo>
                          <a:lnTo>
                            <a:pt x="582" y="3"/>
                          </a:lnTo>
                          <a:lnTo>
                            <a:pt x="729" y="3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12" name="Freeform 146"/>
                    <p:cNvSpPr/>
                    <p:nvPr/>
                  </p:nvSpPr>
                  <p:spPr bwMode="auto">
                    <a:xfrm>
                      <a:off x="1400" y="2735"/>
                      <a:ext cx="708" cy="571"/>
                    </a:xfrm>
                    <a:custGeom>
                      <a:avLst/>
                      <a:gdLst>
                        <a:gd name="T0" fmla="*/ 0 w 708"/>
                        <a:gd name="T1" fmla="*/ 0 h 571"/>
                        <a:gd name="T2" fmla="*/ 132 w 708"/>
                        <a:gd name="T3" fmla="*/ 0 h 571"/>
                        <a:gd name="T4" fmla="*/ 133 w 708"/>
                        <a:gd name="T5" fmla="*/ 571 h 571"/>
                        <a:gd name="T6" fmla="*/ 708 w 708"/>
                        <a:gd name="T7" fmla="*/ 570 h 571"/>
                        <a:gd name="T8" fmla="*/ 708 w 708"/>
                        <a:gd name="T9" fmla="*/ 9 h 571"/>
                        <a:gd name="T10" fmla="*/ 573 w 708"/>
                        <a:gd name="T11" fmla="*/ 9 h 571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708"/>
                        <a:gd name="T19" fmla="*/ 0 h 571"/>
                        <a:gd name="T20" fmla="*/ 708 w 708"/>
                        <a:gd name="T21" fmla="*/ 571 h 571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708" h="571">
                          <a:moveTo>
                            <a:pt x="0" y="0"/>
                          </a:moveTo>
                          <a:lnTo>
                            <a:pt x="132" y="0"/>
                          </a:lnTo>
                          <a:lnTo>
                            <a:pt x="133" y="571"/>
                          </a:lnTo>
                          <a:lnTo>
                            <a:pt x="708" y="570"/>
                          </a:lnTo>
                          <a:lnTo>
                            <a:pt x="708" y="9"/>
                          </a:lnTo>
                          <a:lnTo>
                            <a:pt x="573" y="9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13" name="Freeform 147"/>
                    <p:cNvSpPr/>
                    <p:nvPr/>
                  </p:nvSpPr>
                  <p:spPr bwMode="auto">
                    <a:xfrm>
                      <a:off x="2552" y="2735"/>
                      <a:ext cx="726" cy="567"/>
                    </a:xfrm>
                    <a:custGeom>
                      <a:avLst/>
                      <a:gdLst>
                        <a:gd name="T0" fmla="*/ 0 w 726"/>
                        <a:gd name="T1" fmla="*/ 0 h 567"/>
                        <a:gd name="T2" fmla="*/ 148 w 726"/>
                        <a:gd name="T3" fmla="*/ 1 h 567"/>
                        <a:gd name="T4" fmla="*/ 147 w 726"/>
                        <a:gd name="T5" fmla="*/ 567 h 567"/>
                        <a:gd name="T6" fmla="*/ 726 w 726"/>
                        <a:gd name="T7" fmla="*/ 567 h 567"/>
                        <a:gd name="T8" fmla="*/ 726 w 726"/>
                        <a:gd name="T9" fmla="*/ 6 h 567"/>
                        <a:gd name="T10" fmla="*/ 579 w 726"/>
                        <a:gd name="T11" fmla="*/ 6 h 56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726"/>
                        <a:gd name="T19" fmla="*/ 0 h 567"/>
                        <a:gd name="T20" fmla="*/ 726 w 726"/>
                        <a:gd name="T21" fmla="*/ 567 h 567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726" h="567">
                          <a:moveTo>
                            <a:pt x="0" y="0"/>
                          </a:moveTo>
                          <a:lnTo>
                            <a:pt x="148" y="1"/>
                          </a:lnTo>
                          <a:lnTo>
                            <a:pt x="147" y="567"/>
                          </a:lnTo>
                          <a:lnTo>
                            <a:pt x="726" y="567"/>
                          </a:lnTo>
                          <a:lnTo>
                            <a:pt x="726" y="6"/>
                          </a:lnTo>
                          <a:lnTo>
                            <a:pt x="579" y="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14" name="Freeform 148"/>
                    <p:cNvSpPr/>
                    <p:nvPr/>
                  </p:nvSpPr>
                  <p:spPr bwMode="auto">
                    <a:xfrm>
                      <a:off x="3704" y="2738"/>
                      <a:ext cx="714" cy="567"/>
                    </a:xfrm>
                    <a:custGeom>
                      <a:avLst/>
                      <a:gdLst>
                        <a:gd name="T0" fmla="*/ 0 w 714"/>
                        <a:gd name="T1" fmla="*/ 0 h 567"/>
                        <a:gd name="T2" fmla="*/ 136 w 714"/>
                        <a:gd name="T3" fmla="*/ 1 h 567"/>
                        <a:gd name="T4" fmla="*/ 135 w 714"/>
                        <a:gd name="T5" fmla="*/ 567 h 567"/>
                        <a:gd name="T6" fmla="*/ 714 w 714"/>
                        <a:gd name="T7" fmla="*/ 567 h 567"/>
                        <a:gd name="T8" fmla="*/ 714 w 714"/>
                        <a:gd name="T9" fmla="*/ 6 h 567"/>
                        <a:gd name="T10" fmla="*/ 576 w 714"/>
                        <a:gd name="T11" fmla="*/ 5 h 56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714"/>
                        <a:gd name="T19" fmla="*/ 0 h 567"/>
                        <a:gd name="T20" fmla="*/ 714 w 714"/>
                        <a:gd name="T21" fmla="*/ 567 h 567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714" h="567">
                          <a:moveTo>
                            <a:pt x="0" y="0"/>
                          </a:moveTo>
                          <a:lnTo>
                            <a:pt x="136" y="1"/>
                          </a:lnTo>
                          <a:lnTo>
                            <a:pt x="135" y="567"/>
                          </a:lnTo>
                          <a:lnTo>
                            <a:pt x="714" y="567"/>
                          </a:lnTo>
                          <a:lnTo>
                            <a:pt x="714" y="6"/>
                          </a:lnTo>
                          <a:lnTo>
                            <a:pt x="576" y="5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15" name="Freeform 149"/>
                    <p:cNvSpPr/>
                    <p:nvPr/>
                  </p:nvSpPr>
                  <p:spPr bwMode="auto">
                    <a:xfrm>
                      <a:off x="4859" y="2738"/>
                      <a:ext cx="711" cy="567"/>
                    </a:xfrm>
                    <a:custGeom>
                      <a:avLst/>
                      <a:gdLst>
                        <a:gd name="T0" fmla="*/ 0 w 711"/>
                        <a:gd name="T1" fmla="*/ 0 h 567"/>
                        <a:gd name="T2" fmla="*/ 130 w 711"/>
                        <a:gd name="T3" fmla="*/ 1 h 567"/>
                        <a:gd name="T4" fmla="*/ 132 w 711"/>
                        <a:gd name="T5" fmla="*/ 567 h 567"/>
                        <a:gd name="T6" fmla="*/ 711 w 711"/>
                        <a:gd name="T7" fmla="*/ 567 h 567"/>
                        <a:gd name="T8" fmla="*/ 711 w 711"/>
                        <a:gd name="T9" fmla="*/ 6 h 567"/>
                        <a:gd name="T10" fmla="*/ 564 w 711"/>
                        <a:gd name="T11" fmla="*/ 6 h 56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711"/>
                        <a:gd name="T19" fmla="*/ 0 h 567"/>
                        <a:gd name="T20" fmla="*/ 711 w 711"/>
                        <a:gd name="T21" fmla="*/ 567 h 567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711" h="567">
                          <a:moveTo>
                            <a:pt x="0" y="0"/>
                          </a:moveTo>
                          <a:lnTo>
                            <a:pt x="130" y="1"/>
                          </a:lnTo>
                          <a:lnTo>
                            <a:pt x="132" y="567"/>
                          </a:lnTo>
                          <a:lnTo>
                            <a:pt x="711" y="567"/>
                          </a:lnTo>
                          <a:lnTo>
                            <a:pt x="711" y="6"/>
                          </a:lnTo>
                          <a:lnTo>
                            <a:pt x="564" y="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16" name="Freeform 150"/>
                    <p:cNvSpPr/>
                    <p:nvPr/>
                  </p:nvSpPr>
                  <p:spPr bwMode="auto">
                    <a:xfrm>
                      <a:off x="1322" y="3398"/>
                      <a:ext cx="1" cy="150"/>
                    </a:xfrm>
                    <a:custGeom>
                      <a:avLst/>
                      <a:gdLst>
                        <a:gd name="T0" fmla="*/ 0 w 1"/>
                        <a:gd name="T1" fmla="*/ 0 h 150"/>
                        <a:gd name="T2" fmla="*/ 0 w 1"/>
                        <a:gd name="T3" fmla="*/ 150 h 150"/>
                        <a:gd name="T4" fmla="*/ 0 60000 65536"/>
                        <a:gd name="T5" fmla="*/ 0 60000 65536"/>
                        <a:gd name="T6" fmla="*/ 0 w 1"/>
                        <a:gd name="T7" fmla="*/ 0 h 150"/>
                        <a:gd name="T8" fmla="*/ 1 w 1"/>
                        <a:gd name="T9" fmla="*/ 150 h 150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150">
                          <a:moveTo>
                            <a:pt x="0" y="0"/>
                          </a:moveTo>
                          <a:lnTo>
                            <a:pt x="0" y="15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17" name="Freeform 151"/>
                    <p:cNvSpPr/>
                    <p:nvPr/>
                  </p:nvSpPr>
                  <p:spPr bwMode="auto">
                    <a:xfrm>
                      <a:off x="2491" y="3401"/>
                      <a:ext cx="1" cy="150"/>
                    </a:xfrm>
                    <a:custGeom>
                      <a:avLst/>
                      <a:gdLst>
                        <a:gd name="T0" fmla="*/ 0 w 1"/>
                        <a:gd name="T1" fmla="*/ 0 h 150"/>
                        <a:gd name="T2" fmla="*/ 0 w 1"/>
                        <a:gd name="T3" fmla="*/ 150 h 150"/>
                        <a:gd name="T4" fmla="*/ 0 60000 65536"/>
                        <a:gd name="T5" fmla="*/ 0 60000 65536"/>
                        <a:gd name="T6" fmla="*/ 0 w 1"/>
                        <a:gd name="T7" fmla="*/ 0 h 150"/>
                        <a:gd name="T8" fmla="*/ 1 w 1"/>
                        <a:gd name="T9" fmla="*/ 150 h 150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150">
                          <a:moveTo>
                            <a:pt x="0" y="0"/>
                          </a:moveTo>
                          <a:lnTo>
                            <a:pt x="0" y="15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18" name="Freeform 152"/>
                    <p:cNvSpPr/>
                    <p:nvPr/>
                  </p:nvSpPr>
                  <p:spPr bwMode="auto">
                    <a:xfrm>
                      <a:off x="3643" y="3401"/>
                      <a:ext cx="1" cy="150"/>
                    </a:xfrm>
                    <a:custGeom>
                      <a:avLst/>
                      <a:gdLst>
                        <a:gd name="T0" fmla="*/ 0 w 1"/>
                        <a:gd name="T1" fmla="*/ 0 h 150"/>
                        <a:gd name="T2" fmla="*/ 0 w 1"/>
                        <a:gd name="T3" fmla="*/ 150 h 150"/>
                        <a:gd name="T4" fmla="*/ 0 60000 65536"/>
                        <a:gd name="T5" fmla="*/ 0 60000 65536"/>
                        <a:gd name="T6" fmla="*/ 0 w 1"/>
                        <a:gd name="T7" fmla="*/ 0 h 150"/>
                        <a:gd name="T8" fmla="*/ 1 w 1"/>
                        <a:gd name="T9" fmla="*/ 150 h 150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150">
                          <a:moveTo>
                            <a:pt x="0" y="0"/>
                          </a:moveTo>
                          <a:lnTo>
                            <a:pt x="0" y="15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19" name="Freeform 153"/>
                    <p:cNvSpPr/>
                    <p:nvPr/>
                  </p:nvSpPr>
                  <p:spPr bwMode="auto">
                    <a:xfrm>
                      <a:off x="4795" y="3401"/>
                      <a:ext cx="1" cy="150"/>
                    </a:xfrm>
                    <a:custGeom>
                      <a:avLst/>
                      <a:gdLst>
                        <a:gd name="T0" fmla="*/ 0 w 1"/>
                        <a:gd name="T1" fmla="*/ 0 h 150"/>
                        <a:gd name="T2" fmla="*/ 0 w 1"/>
                        <a:gd name="T3" fmla="*/ 150 h 150"/>
                        <a:gd name="T4" fmla="*/ 0 60000 65536"/>
                        <a:gd name="T5" fmla="*/ 0 60000 65536"/>
                        <a:gd name="T6" fmla="*/ 0 w 1"/>
                        <a:gd name="T7" fmla="*/ 0 h 150"/>
                        <a:gd name="T8" fmla="*/ 1 w 1"/>
                        <a:gd name="T9" fmla="*/ 150 h 150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150">
                          <a:moveTo>
                            <a:pt x="0" y="0"/>
                          </a:moveTo>
                          <a:lnTo>
                            <a:pt x="0" y="15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20" name="Freeform 154"/>
                    <p:cNvSpPr/>
                    <p:nvPr/>
                  </p:nvSpPr>
                  <p:spPr bwMode="auto">
                    <a:xfrm>
                      <a:off x="5276" y="3305"/>
                      <a:ext cx="1" cy="246"/>
                    </a:xfrm>
                    <a:custGeom>
                      <a:avLst/>
                      <a:gdLst>
                        <a:gd name="T0" fmla="*/ 0 w 1"/>
                        <a:gd name="T1" fmla="*/ 0 h 246"/>
                        <a:gd name="T2" fmla="*/ 0 w 1"/>
                        <a:gd name="T3" fmla="*/ 246 h 246"/>
                        <a:gd name="T4" fmla="*/ 0 60000 65536"/>
                        <a:gd name="T5" fmla="*/ 0 60000 65536"/>
                        <a:gd name="T6" fmla="*/ 0 w 1"/>
                        <a:gd name="T7" fmla="*/ 0 h 246"/>
                        <a:gd name="T8" fmla="*/ 1 w 1"/>
                        <a:gd name="T9" fmla="*/ 246 h 24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246">
                          <a:moveTo>
                            <a:pt x="0" y="0"/>
                          </a:moveTo>
                          <a:lnTo>
                            <a:pt x="0" y="24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21" name="Freeform 155"/>
                    <p:cNvSpPr/>
                    <p:nvPr/>
                  </p:nvSpPr>
                  <p:spPr bwMode="auto">
                    <a:xfrm>
                      <a:off x="4124" y="3305"/>
                      <a:ext cx="1" cy="246"/>
                    </a:xfrm>
                    <a:custGeom>
                      <a:avLst/>
                      <a:gdLst>
                        <a:gd name="T0" fmla="*/ 0 w 1"/>
                        <a:gd name="T1" fmla="*/ 0 h 246"/>
                        <a:gd name="T2" fmla="*/ 0 w 1"/>
                        <a:gd name="T3" fmla="*/ 246 h 246"/>
                        <a:gd name="T4" fmla="*/ 0 60000 65536"/>
                        <a:gd name="T5" fmla="*/ 0 60000 65536"/>
                        <a:gd name="T6" fmla="*/ 0 w 1"/>
                        <a:gd name="T7" fmla="*/ 0 h 246"/>
                        <a:gd name="T8" fmla="*/ 1 w 1"/>
                        <a:gd name="T9" fmla="*/ 246 h 24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246">
                          <a:moveTo>
                            <a:pt x="0" y="0"/>
                          </a:moveTo>
                          <a:lnTo>
                            <a:pt x="0" y="24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22" name="Freeform 156"/>
                    <p:cNvSpPr/>
                    <p:nvPr/>
                  </p:nvSpPr>
                  <p:spPr bwMode="auto">
                    <a:xfrm>
                      <a:off x="2972" y="3305"/>
                      <a:ext cx="1" cy="246"/>
                    </a:xfrm>
                    <a:custGeom>
                      <a:avLst/>
                      <a:gdLst>
                        <a:gd name="T0" fmla="*/ 0 w 1"/>
                        <a:gd name="T1" fmla="*/ 0 h 246"/>
                        <a:gd name="T2" fmla="*/ 0 w 1"/>
                        <a:gd name="T3" fmla="*/ 246 h 246"/>
                        <a:gd name="T4" fmla="*/ 0 60000 65536"/>
                        <a:gd name="T5" fmla="*/ 0 60000 65536"/>
                        <a:gd name="T6" fmla="*/ 0 w 1"/>
                        <a:gd name="T7" fmla="*/ 0 h 246"/>
                        <a:gd name="T8" fmla="*/ 1 w 1"/>
                        <a:gd name="T9" fmla="*/ 246 h 24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246">
                          <a:moveTo>
                            <a:pt x="0" y="0"/>
                          </a:moveTo>
                          <a:lnTo>
                            <a:pt x="0" y="24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23" name="Freeform 157"/>
                    <p:cNvSpPr/>
                    <p:nvPr/>
                  </p:nvSpPr>
                  <p:spPr bwMode="auto">
                    <a:xfrm>
                      <a:off x="1819" y="3305"/>
                      <a:ext cx="1" cy="246"/>
                    </a:xfrm>
                    <a:custGeom>
                      <a:avLst/>
                      <a:gdLst>
                        <a:gd name="T0" fmla="*/ 0 w 1"/>
                        <a:gd name="T1" fmla="*/ 0 h 246"/>
                        <a:gd name="T2" fmla="*/ 0 w 1"/>
                        <a:gd name="T3" fmla="*/ 246 h 246"/>
                        <a:gd name="T4" fmla="*/ 0 60000 65536"/>
                        <a:gd name="T5" fmla="*/ 0 60000 65536"/>
                        <a:gd name="T6" fmla="*/ 0 w 1"/>
                        <a:gd name="T7" fmla="*/ 0 h 246"/>
                        <a:gd name="T8" fmla="*/ 1 w 1"/>
                        <a:gd name="T9" fmla="*/ 246 h 24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246">
                          <a:moveTo>
                            <a:pt x="0" y="0"/>
                          </a:moveTo>
                          <a:lnTo>
                            <a:pt x="0" y="24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24" name="Freeform 158"/>
                    <p:cNvSpPr/>
                    <p:nvPr/>
                  </p:nvSpPr>
                  <p:spPr bwMode="auto">
                    <a:xfrm>
                      <a:off x="956" y="4025"/>
                      <a:ext cx="4317" cy="1"/>
                    </a:xfrm>
                    <a:custGeom>
                      <a:avLst/>
                      <a:gdLst>
                        <a:gd name="T0" fmla="*/ 0 w 4317"/>
                        <a:gd name="T1" fmla="*/ 0 h 1"/>
                        <a:gd name="T2" fmla="*/ 4317 w 4317"/>
                        <a:gd name="T3" fmla="*/ 0 h 1"/>
                        <a:gd name="T4" fmla="*/ 0 60000 65536"/>
                        <a:gd name="T5" fmla="*/ 0 60000 65536"/>
                        <a:gd name="T6" fmla="*/ 0 w 4317"/>
                        <a:gd name="T7" fmla="*/ 0 h 1"/>
                        <a:gd name="T8" fmla="*/ 4317 w 4317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4317" h="1">
                          <a:moveTo>
                            <a:pt x="0" y="0"/>
                          </a:moveTo>
                          <a:lnTo>
                            <a:pt x="4317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25" name="Freeform 159"/>
                    <p:cNvSpPr/>
                    <p:nvPr/>
                  </p:nvSpPr>
                  <p:spPr bwMode="auto">
                    <a:xfrm>
                      <a:off x="956" y="4121"/>
                      <a:ext cx="3837" cy="1"/>
                    </a:xfrm>
                    <a:custGeom>
                      <a:avLst/>
                      <a:gdLst>
                        <a:gd name="T0" fmla="*/ 0 w 3837"/>
                        <a:gd name="T1" fmla="*/ 0 h 1"/>
                        <a:gd name="T2" fmla="*/ 3837 w 3837"/>
                        <a:gd name="T3" fmla="*/ 0 h 1"/>
                        <a:gd name="T4" fmla="*/ 0 60000 65536"/>
                        <a:gd name="T5" fmla="*/ 0 60000 65536"/>
                        <a:gd name="T6" fmla="*/ 0 w 3837"/>
                        <a:gd name="T7" fmla="*/ 0 h 1"/>
                        <a:gd name="T8" fmla="*/ 3837 w 3837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3837" h="1">
                          <a:moveTo>
                            <a:pt x="0" y="0"/>
                          </a:moveTo>
                          <a:lnTo>
                            <a:pt x="3837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26" name="Freeform 160"/>
                    <p:cNvSpPr/>
                    <p:nvPr/>
                  </p:nvSpPr>
                  <p:spPr bwMode="auto">
                    <a:xfrm>
                      <a:off x="1322" y="3881"/>
                      <a:ext cx="1" cy="243"/>
                    </a:xfrm>
                    <a:custGeom>
                      <a:avLst/>
                      <a:gdLst>
                        <a:gd name="T0" fmla="*/ 0 w 1"/>
                        <a:gd name="T1" fmla="*/ 0 h 243"/>
                        <a:gd name="T2" fmla="*/ 0 w 1"/>
                        <a:gd name="T3" fmla="*/ 243 h 243"/>
                        <a:gd name="T4" fmla="*/ 0 60000 65536"/>
                        <a:gd name="T5" fmla="*/ 0 60000 65536"/>
                        <a:gd name="T6" fmla="*/ 0 w 1"/>
                        <a:gd name="T7" fmla="*/ 0 h 243"/>
                        <a:gd name="T8" fmla="*/ 1 w 1"/>
                        <a:gd name="T9" fmla="*/ 243 h 243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243">
                          <a:moveTo>
                            <a:pt x="0" y="0"/>
                          </a:moveTo>
                          <a:lnTo>
                            <a:pt x="0" y="243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27" name="Freeform 161"/>
                    <p:cNvSpPr/>
                    <p:nvPr/>
                  </p:nvSpPr>
                  <p:spPr bwMode="auto">
                    <a:xfrm>
                      <a:off x="2491" y="3881"/>
                      <a:ext cx="1" cy="243"/>
                    </a:xfrm>
                    <a:custGeom>
                      <a:avLst/>
                      <a:gdLst>
                        <a:gd name="T0" fmla="*/ 0 w 1"/>
                        <a:gd name="T1" fmla="*/ 0 h 243"/>
                        <a:gd name="T2" fmla="*/ 0 w 1"/>
                        <a:gd name="T3" fmla="*/ 243 h 243"/>
                        <a:gd name="T4" fmla="*/ 0 60000 65536"/>
                        <a:gd name="T5" fmla="*/ 0 60000 65536"/>
                        <a:gd name="T6" fmla="*/ 0 w 1"/>
                        <a:gd name="T7" fmla="*/ 0 h 243"/>
                        <a:gd name="T8" fmla="*/ 1 w 1"/>
                        <a:gd name="T9" fmla="*/ 243 h 243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243">
                          <a:moveTo>
                            <a:pt x="0" y="0"/>
                          </a:moveTo>
                          <a:lnTo>
                            <a:pt x="0" y="243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28" name="Freeform 162"/>
                    <p:cNvSpPr/>
                    <p:nvPr/>
                  </p:nvSpPr>
                  <p:spPr bwMode="auto">
                    <a:xfrm>
                      <a:off x="3643" y="3881"/>
                      <a:ext cx="1" cy="243"/>
                    </a:xfrm>
                    <a:custGeom>
                      <a:avLst/>
                      <a:gdLst>
                        <a:gd name="T0" fmla="*/ 0 w 1"/>
                        <a:gd name="T1" fmla="*/ 0 h 243"/>
                        <a:gd name="T2" fmla="*/ 0 w 1"/>
                        <a:gd name="T3" fmla="*/ 243 h 243"/>
                        <a:gd name="T4" fmla="*/ 0 60000 65536"/>
                        <a:gd name="T5" fmla="*/ 0 60000 65536"/>
                        <a:gd name="T6" fmla="*/ 0 w 1"/>
                        <a:gd name="T7" fmla="*/ 0 h 243"/>
                        <a:gd name="T8" fmla="*/ 1 w 1"/>
                        <a:gd name="T9" fmla="*/ 243 h 243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243">
                          <a:moveTo>
                            <a:pt x="0" y="0"/>
                          </a:moveTo>
                          <a:lnTo>
                            <a:pt x="0" y="243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29" name="Freeform 163"/>
                    <p:cNvSpPr/>
                    <p:nvPr/>
                  </p:nvSpPr>
                  <p:spPr bwMode="auto">
                    <a:xfrm>
                      <a:off x="4791" y="3881"/>
                      <a:ext cx="4" cy="247"/>
                    </a:xfrm>
                    <a:custGeom>
                      <a:avLst/>
                      <a:gdLst>
                        <a:gd name="T0" fmla="*/ 4 w 4"/>
                        <a:gd name="T1" fmla="*/ 0 h 247"/>
                        <a:gd name="T2" fmla="*/ 0 w 4"/>
                        <a:gd name="T3" fmla="*/ 247 h 247"/>
                        <a:gd name="T4" fmla="*/ 0 60000 65536"/>
                        <a:gd name="T5" fmla="*/ 0 60000 65536"/>
                        <a:gd name="T6" fmla="*/ 0 w 4"/>
                        <a:gd name="T7" fmla="*/ 0 h 247"/>
                        <a:gd name="T8" fmla="*/ 4 w 4"/>
                        <a:gd name="T9" fmla="*/ 247 h 247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4" h="247">
                          <a:moveTo>
                            <a:pt x="4" y="0"/>
                          </a:moveTo>
                          <a:lnTo>
                            <a:pt x="0" y="247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30" name="Freeform 164"/>
                    <p:cNvSpPr/>
                    <p:nvPr/>
                  </p:nvSpPr>
                  <p:spPr bwMode="auto">
                    <a:xfrm>
                      <a:off x="5277" y="3881"/>
                      <a:ext cx="1" cy="151"/>
                    </a:xfrm>
                    <a:custGeom>
                      <a:avLst/>
                      <a:gdLst>
                        <a:gd name="T0" fmla="*/ 0 w 1"/>
                        <a:gd name="T1" fmla="*/ 0 h 151"/>
                        <a:gd name="T2" fmla="*/ 0 w 1"/>
                        <a:gd name="T3" fmla="*/ 151 h 151"/>
                        <a:gd name="T4" fmla="*/ 0 60000 65536"/>
                        <a:gd name="T5" fmla="*/ 0 60000 65536"/>
                        <a:gd name="T6" fmla="*/ 0 w 1"/>
                        <a:gd name="T7" fmla="*/ 0 h 151"/>
                        <a:gd name="T8" fmla="*/ 1 w 1"/>
                        <a:gd name="T9" fmla="*/ 151 h 15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151">
                          <a:moveTo>
                            <a:pt x="0" y="0"/>
                          </a:moveTo>
                          <a:lnTo>
                            <a:pt x="0" y="151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  <a:round/>
                      <a:tailEnd type="none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31" name="Line 16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124" y="38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32" name="Line 16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973" y="38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33" name="Line 16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820" y="3881"/>
                      <a:ext cx="0" cy="14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34" name="Rectangle 16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17" y="3545"/>
                      <a:ext cx="823" cy="336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/>
                      <a:endParaRPr lang="zh-CN" altLang="en-US"/>
                    </a:p>
                  </p:txBody>
                </p:sp>
                <p:sp>
                  <p:nvSpPr>
                    <p:cNvPr id="129335" name="Text Box 169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2348" y="3576"/>
                      <a:ext cx="75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读写电路</a:t>
                      </a:r>
                    </a:p>
                  </p:txBody>
                </p:sp>
                <p:sp>
                  <p:nvSpPr>
                    <p:cNvPr id="129336" name="Rectangle 17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469" y="3545"/>
                      <a:ext cx="823" cy="336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/>
                      <a:endParaRPr lang="zh-CN" altLang="en-US"/>
                    </a:p>
                  </p:txBody>
                </p:sp>
                <p:sp>
                  <p:nvSpPr>
                    <p:cNvPr id="129337" name="Text Box 171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500" y="3576"/>
                      <a:ext cx="75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读写电路</a:t>
                      </a:r>
                    </a:p>
                  </p:txBody>
                </p:sp>
                <p:sp>
                  <p:nvSpPr>
                    <p:cNvPr id="129338" name="Rectangle 17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21" y="3545"/>
                      <a:ext cx="823" cy="336"/>
                    </a:xfrm>
                    <a:prstGeom prst="rect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miter lim="800000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/>
                      <a:endParaRPr lang="zh-CN" altLang="en-US"/>
                    </a:p>
                  </p:txBody>
                </p:sp>
                <p:sp>
                  <p:nvSpPr>
                    <p:cNvPr id="129339" name="Text Box 173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4652" y="3576"/>
                      <a:ext cx="75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读写电路</a:t>
                      </a:r>
                    </a:p>
                  </p:txBody>
                </p:sp>
                <p:sp>
                  <p:nvSpPr>
                    <p:cNvPr id="129340" name="Line 17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964" y="3737"/>
                      <a:ext cx="181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stealth" w="sm" len="sm"/>
                      <a:tailEnd type="stealth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41" name="Line 17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144" y="3737"/>
                      <a:ext cx="181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stealth" w="sm" len="sm"/>
                      <a:tailEnd type="stealth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42" name="Line 17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293" y="3737"/>
                      <a:ext cx="181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stealth" w="sm" len="sm"/>
                      <a:tailEnd type="stealth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43" name="Line 17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420" y="3737"/>
                      <a:ext cx="181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 type="stealth" w="sm" len="sm"/>
                      <a:tailEnd type="stealth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44" name="Freeform 178"/>
                    <p:cNvSpPr/>
                    <p:nvPr/>
                  </p:nvSpPr>
                  <p:spPr bwMode="auto">
                    <a:xfrm>
                      <a:off x="3033" y="2708"/>
                      <a:ext cx="47" cy="501"/>
                    </a:xfrm>
                    <a:custGeom>
                      <a:avLst/>
                      <a:gdLst>
                        <a:gd name="T0" fmla="*/ 0 w 1"/>
                        <a:gd name="T1" fmla="*/ 0 h 406"/>
                        <a:gd name="T2" fmla="*/ 0 w 1"/>
                        <a:gd name="T3" fmla="*/ 7711 h 406"/>
                        <a:gd name="T4" fmla="*/ 0 60000 65536"/>
                        <a:gd name="T5" fmla="*/ 0 60000 65536"/>
                        <a:gd name="T6" fmla="*/ 0 w 1"/>
                        <a:gd name="T7" fmla="*/ 0 h 406"/>
                        <a:gd name="T8" fmla="*/ 1 w 1"/>
                        <a:gd name="T9" fmla="*/ 406 h 40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406">
                          <a:moveTo>
                            <a:pt x="0" y="0"/>
                          </a:moveTo>
                          <a:lnTo>
                            <a:pt x="0" y="40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45" name="Freeform 179"/>
                    <p:cNvSpPr/>
                    <p:nvPr/>
                  </p:nvSpPr>
                  <p:spPr bwMode="auto">
                    <a:xfrm>
                      <a:off x="4185" y="2691"/>
                      <a:ext cx="1" cy="525"/>
                    </a:xfrm>
                    <a:custGeom>
                      <a:avLst/>
                      <a:gdLst>
                        <a:gd name="T0" fmla="*/ 0 w 1"/>
                        <a:gd name="T1" fmla="*/ 0 h 525"/>
                        <a:gd name="T2" fmla="*/ 0 w 1"/>
                        <a:gd name="T3" fmla="*/ 525 h 525"/>
                        <a:gd name="T4" fmla="*/ 0 60000 65536"/>
                        <a:gd name="T5" fmla="*/ 0 60000 65536"/>
                        <a:gd name="T6" fmla="*/ 0 w 1"/>
                        <a:gd name="T7" fmla="*/ 0 h 525"/>
                        <a:gd name="T8" fmla="*/ 1 w 1"/>
                        <a:gd name="T9" fmla="*/ 525 h 525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525">
                          <a:moveTo>
                            <a:pt x="0" y="0"/>
                          </a:moveTo>
                          <a:lnTo>
                            <a:pt x="0" y="525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46" name="Freeform 180"/>
                    <p:cNvSpPr/>
                    <p:nvPr/>
                  </p:nvSpPr>
                  <p:spPr bwMode="auto">
                    <a:xfrm>
                      <a:off x="5325" y="2708"/>
                      <a:ext cx="47" cy="501"/>
                    </a:xfrm>
                    <a:custGeom>
                      <a:avLst/>
                      <a:gdLst>
                        <a:gd name="T0" fmla="*/ 0 w 1"/>
                        <a:gd name="T1" fmla="*/ 0 h 406"/>
                        <a:gd name="T2" fmla="*/ 0 w 1"/>
                        <a:gd name="T3" fmla="*/ 7711 h 406"/>
                        <a:gd name="T4" fmla="*/ 0 60000 65536"/>
                        <a:gd name="T5" fmla="*/ 0 60000 65536"/>
                        <a:gd name="T6" fmla="*/ 0 w 1"/>
                        <a:gd name="T7" fmla="*/ 0 h 406"/>
                        <a:gd name="T8" fmla="*/ 1 w 1"/>
                        <a:gd name="T9" fmla="*/ 406 h 40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406">
                          <a:moveTo>
                            <a:pt x="0" y="0"/>
                          </a:moveTo>
                          <a:lnTo>
                            <a:pt x="0" y="40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oval" w="sm" len="sm"/>
                      <a:tailEnd type="none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47" name="Text Box 181"/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1193" y="1640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3200">
                          <a:latin typeface="Times New Roman" panose="02020603050405020304" pitchFamily="18" charset="0"/>
                        </a:rPr>
                        <a:t>…</a:t>
                      </a:r>
                    </a:p>
                  </p:txBody>
                </p:sp>
                <p:sp>
                  <p:nvSpPr>
                    <p:cNvPr id="129348" name="Text Box 182"/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1769" y="1640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3200">
                          <a:latin typeface="Times New Roman" panose="02020603050405020304" pitchFamily="18" charset="0"/>
                        </a:rPr>
                        <a:t>…</a:t>
                      </a:r>
                    </a:p>
                  </p:txBody>
                </p:sp>
                <p:sp>
                  <p:nvSpPr>
                    <p:cNvPr id="129349" name="Text Box 183"/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2345" y="1640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3200">
                          <a:latin typeface="Times New Roman" panose="02020603050405020304" pitchFamily="18" charset="0"/>
                        </a:rPr>
                        <a:t>…</a:t>
                      </a:r>
                    </a:p>
                  </p:txBody>
                </p:sp>
                <p:sp>
                  <p:nvSpPr>
                    <p:cNvPr id="129350" name="Text Box 184"/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2921" y="1628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3200">
                          <a:latin typeface="Times New Roman" panose="02020603050405020304" pitchFamily="18" charset="0"/>
                        </a:rPr>
                        <a:t>…</a:t>
                      </a:r>
                    </a:p>
                  </p:txBody>
                </p:sp>
                <p:sp>
                  <p:nvSpPr>
                    <p:cNvPr id="129351" name="Text Box 185"/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3496" y="1627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3200">
                          <a:latin typeface="Times New Roman" panose="02020603050405020304" pitchFamily="18" charset="0"/>
                        </a:rPr>
                        <a:t>…</a:t>
                      </a:r>
                      <a:endParaRPr lang="en-US" altLang="zh-CN" sz="32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129352" name="Text Box 186"/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4073" y="1628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3200">
                          <a:latin typeface="Times New Roman" panose="02020603050405020304" pitchFamily="18" charset="0"/>
                        </a:rPr>
                        <a:t>…</a:t>
                      </a:r>
                      <a:endParaRPr lang="en-US" altLang="zh-CN" sz="32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129353" name="Text Box 187"/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4649" y="1628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3200">
                          <a:latin typeface="Times New Roman" panose="02020603050405020304" pitchFamily="18" charset="0"/>
                        </a:rPr>
                        <a:t>…</a:t>
                      </a:r>
                      <a:endParaRPr lang="en-US" altLang="zh-CN" sz="32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129354" name="Text Box 188"/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5244" y="1628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3200">
                          <a:latin typeface="Times New Roman" panose="02020603050405020304" pitchFamily="18" charset="0"/>
                        </a:rPr>
                        <a:t>…</a:t>
                      </a:r>
                      <a:endParaRPr lang="en-US" altLang="zh-CN" sz="3200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129355" name="Text Box 189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660" y="791"/>
                      <a:ext cx="188" cy="23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1800">
                          <a:latin typeface="Times New Roman" panose="02020603050405020304" pitchFamily="18" charset="0"/>
                        </a:rPr>
                        <a:t>0</a:t>
                      </a:r>
                    </a:p>
                  </p:txBody>
                </p:sp>
                <p:sp>
                  <p:nvSpPr>
                    <p:cNvPr id="129356" name="Text Box 190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660" y="1383"/>
                      <a:ext cx="188" cy="23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1800">
                          <a:latin typeface="Times New Roman" panose="02020603050405020304" pitchFamily="18" charset="0"/>
                        </a:rPr>
                        <a:t>1</a:t>
                      </a:r>
                    </a:p>
                  </p:txBody>
                </p:sp>
                <p:sp>
                  <p:nvSpPr>
                    <p:cNvPr id="129357" name="Text Box 191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624" y="1959"/>
                      <a:ext cx="260" cy="23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1800">
                          <a:latin typeface="Times New Roman" panose="02020603050405020304" pitchFamily="18" charset="0"/>
                        </a:rPr>
                        <a:t>63</a:t>
                      </a:r>
                    </a:p>
                  </p:txBody>
                </p:sp>
                <p:sp>
                  <p:nvSpPr>
                    <p:cNvPr id="129358" name="Line 1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32" y="2537"/>
                      <a:ext cx="57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59" name="Text Box 193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660" y="2727"/>
                      <a:ext cx="188" cy="23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1800">
                          <a:latin typeface="Times New Roman" panose="02020603050405020304" pitchFamily="18" charset="0"/>
                        </a:rPr>
                        <a:t>0</a:t>
                      </a:r>
                    </a:p>
                  </p:txBody>
                </p:sp>
                <p:sp>
                  <p:nvSpPr>
                    <p:cNvPr id="129360" name="Text Box 194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624" y="3159"/>
                      <a:ext cx="260" cy="23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1800">
                          <a:latin typeface="Times New Roman" panose="02020603050405020304" pitchFamily="18" charset="0"/>
                        </a:rPr>
                        <a:t>15</a:t>
                      </a:r>
                    </a:p>
                  </p:txBody>
                </p:sp>
                <p:sp>
                  <p:nvSpPr>
                    <p:cNvPr id="129361" name="Text Box 195"/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665" y="1628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3200">
                          <a:latin typeface="Times New Roman" panose="02020603050405020304" pitchFamily="18" charset="0"/>
                        </a:rPr>
                        <a:t>…</a:t>
                      </a:r>
                    </a:p>
                  </p:txBody>
                </p:sp>
                <p:sp>
                  <p:nvSpPr>
                    <p:cNvPr id="129362" name="Text Box 196"/>
                    <p:cNvSpPr txBox="1">
                      <a:spLocks noChangeArrowheads="1"/>
                    </p:cNvSpPr>
                    <p:nvPr/>
                  </p:nvSpPr>
                  <p:spPr bwMode="auto">
                    <a:xfrm rot="5400000">
                      <a:off x="665" y="2876"/>
                      <a:ext cx="372" cy="3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3200">
                          <a:latin typeface="Times New Roman" panose="02020603050405020304" pitchFamily="18" charset="0"/>
                        </a:rPr>
                        <a:t>…</a:t>
                      </a:r>
                    </a:p>
                  </p:txBody>
                </p:sp>
                <p:sp>
                  <p:nvSpPr>
                    <p:cNvPr id="129363" name="Text Box 197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48" y="1015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行</a:t>
                      </a:r>
                    </a:p>
                  </p:txBody>
                </p:sp>
                <p:sp>
                  <p:nvSpPr>
                    <p:cNvPr id="129364" name="Text Box 198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48" y="1263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地</a:t>
                      </a:r>
                    </a:p>
                  </p:txBody>
                </p:sp>
                <p:sp>
                  <p:nvSpPr>
                    <p:cNvPr id="129365" name="Text Box 199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48" y="1511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址</a:t>
                      </a:r>
                    </a:p>
                  </p:txBody>
                </p:sp>
                <p:sp>
                  <p:nvSpPr>
                    <p:cNvPr id="129366" name="Text Box 200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48" y="1758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译</a:t>
                      </a:r>
                    </a:p>
                  </p:txBody>
                </p:sp>
                <p:sp>
                  <p:nvSpPr>
                    <p:cNvPr id="129367" name="Text Box 201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48" y="2006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码</a:t>
                      </a:r>
                    </a:p>
                  </p:txBody>
                </p:sp>
                <p:sp>
                  <p:nvSpPr>
                    <p:cNvPr id="129368" name="Text Box 202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75" y="2635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列</a:t>
                      </a:r>
                    </a:p>
                  </p:txBody>
                </p:sp>
                <p:sp>
                  <p:nvSpPr>
                    <p:cNvPr id="129369" name="Text Box 203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75" y="2883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地</a:t>
                      </a:r>
                    </a:p>
                  </p:txBody>
                </p:sp>
                <p:sp>
                  <p:nvSpPr>
                    <p:cNvPr id="129370" name="Text Box 204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75" y="3131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址</a:t>
                      </a:r>
                    </a:p>
                  </p:txBody>
                </p:sp>
                <p:sp>
                  <p:nvSpPr>
                    <p:cNvPr id="129371" name="Text Box 205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75" y="3378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译</a:t>
                      </a:r>
                    </a:p>
                  </p:txBody>
                </p:sp>
                <p:sp>
                  <p:nvSpPr>
                    <p:cNvPr id="129372" name="Text Box 206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75" y="3626"/>
                      <a:ext cx="277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码</a:t>
                      </a:r>
                    </a:p>
                  </p:txBody>
                </p:sp>
                <p:sp>
                  <p:nvSpPr>
                    <p:cNvPr id="129373" name="Text Box 207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944" y="3527"/>
                      <a:ext cx="346" cy="212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en-US" altLang="zh-CN" sz="1600">
                          <a:latin typeface="Times New Roman" panose="02020603050405020304" pitchFamily="18" charset="0"/>
                        </a:rPr>
                        <a:t>I/O</a:t>
                      </a:r>
                      <a:r>
                        <a:rPr lang="en-US" altLang="zh-CN" sz="1600" baseline="-25000">
                          <a:latin typeface="Times New Roman" panose="02020603050405020304" pitchFamily="18" charset="0"/>
                        </a:rPr>
                        <a:t>1</a:t>
                      </a:r>
                    </a:p>
                  </p:txBody>
                </p:sp>
                <p:sp>
                  <p:nvSpPr>
                    <p:cNvPr id="129374" name="Text Box 208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104" y="3527"/>
                      <a:ext cx="346" cy="212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en-US" altLang="zh-CN" sz="1600">
                          <a:latin typeface="Times New Roman" panose="02020603050405020304" pitchFamily="18" charset="0"/>
                        </a:rPr>
                        <a:t>I/O</a:t>
                      </a:r>
                      <a:r>
                        <a:rPr lang="en-US" altLang="zh-CN" sz="1600" baseline="-25000">
                          <a:latin typeface="Times New Roman" panose="02020603050405020304" pitchFamily="18" charset="0"/>
                        </a:rPr>
                        <a:t>2</a:t>
                      </a:r>
                    </a:p>
                  </p:txBody>
                </p:sp>
                <p:sp>
                  <p:nvSpPr>
                    <p:cNvPr id="129375" name="Text Box 209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4256" y="3527"/>
                      <a:ext cx="346" cy="212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en-US" altLang="zh-CN" sz="1600">
                          <a:latin typeface="Times New Roman" panose="02020603050405020304" pitchFamily="18" charset="0"/>
                        </a:rPr>
                        <a:t>I/O</a:t>
                      </a:r>
                      <a:r>
                        <a:rPr lang="en-US" altLang="zh-CN" sz="1600" baseline="-25000">
                          <a:latin typeface="Times New Roman" panose="02020603050405020304" pitchFamily="18" charset="0"/>
                        </a:rPr>
                        <a:t>3</a:t>
                      </a:r>
                    </a:p>
                  </p:txBody>
                </p:sp>
                <p:sp>
                  <p:nvSpPr>
                    <p:cNvPr id="129376" name="Text Box 210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414" y="3527"/>
                      <a:ext cx="346" cy="212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en-US" altLang="zh-CN" sz="1600">
                          <a:latin typeface="Times New Roman" panose="02020603050405020304" pitchFamily="18" charset="0"/>
                        </a:rPr>
                        <a:t>I/O</a:t>
                      </a:r>
                      <a:r>
                        <a:rPr lang="en-US" altLang="zh-CN" sz="1600" baseline="-25000">
                          <a:latin typeface="Times New Roman" panose="02020603050405020304" pitchFamily="18" charset="0"/>
                        </a:rPr>
                        <a:t>4</a:t>
                      </a:r>
                    </a:p>
                  </p:txBody>
                </p:sp>
                <p:sp>
                  <p:nvSpPr>
                    <p:cNvPr id="129377" name="Line 2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905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tailEnd type="stealth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78" name="Line 2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1164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tailEnd type="stealth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79" name="Line 2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1423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tailEnd type="stealth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80" name="Line 21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1682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tailEnd type="stealth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81" name="Line 21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1941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tailEnd type="stealth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82" name="Line 2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2201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tailEnd type="stealth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83" name="Line 21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2872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tailEnd type="stealth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84" name="Line 21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3131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tailEnd type="stealth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85" name="Line 21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3390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tailEnd type="stealth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86" name="Line 22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0" y="3650"/>
                      <a:ext cx="19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tailEnd type="stealth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87" name="Text Box 221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648" y="3890"/>
                      <a:ext cx="356" cy="23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en-US" altLang="zh-CN" sz="1800">
                          <a:latin typeface="Times New Roman" panose="02020603050405020304" pitchFamily="18" charset="0"/>
                        </a:rPr>
                        <a:t>WE</a:t>
                      </a:r>
                    </a:p>
                  </p:txBody>
                </p:sp>
                <p:sp>
                  <p:nvSpPr>
                    <p:cNvPr id="129388" name="Line 22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82" y="3923"/>
                      <a:ext cx="288" cy="0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389" name="Text Box 223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668" y="4025"/>
                      <a:ext cx="321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en-US" altLang="zh-CN" sz="2000">
                          <a:latin typeface="Times New Roman" panose="02020603050405020304" pitchFamily="18" charset="0"/>
                        </a:rPr>
                        <a:t>CS</a:t>
                      </a:r>
                    </a:p>
                  </p:txBody>
                </p:sp>
                <p:sp>
                  <p:nvSpPr>
                    <p:cNvPr id="129390" name="Line 22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726" y="4079"/>
                      <a:ext cx="192" cy="0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</p:grpSp>
              <p:grpSp>
                <p:nvGrpSpPr>
                  <p:cNvPr id="129176" name="Group 225"/>
                  <p:cNvGrpSpPr/>
                  <p:nvPr/>
                </p:nvGrpSpPr>
                <p:grpSpPr bwMode="auto">
                  <a:xfrm>
                    <a:off x="140" y="674"/>
                    <a:ext cx="196" cy="3010"/>
                    <a:chOff x="140" y="674"/>
                    <a:chExt cx="196" cy="3010"/>
                  </a:xfrm>
                </p:grpSpPr>
                <p:sp>
                  <p:nvSpPr>
                    <p:cNvPr id="129177" name="Text Box 226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674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folHlink"/>
                          </a:solidFill>
                          <a:latin typeface="Times New Roman" panose="02020603050405020304" pitchFamily="18" charset="0"/>
                        </a:rPr>
                        <a:t>0</a:t>
                      </a:r>
                    </a:p>
                  </p:txBody>
                </p:sp>
                <p:sp>
                  <p:nvSpPr>
                    <p:cNvPr id="129178" name="Text Box 227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933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folHlink"/>
                          </a:solidFill>
                          <a:latin typeface="Times New Roman" panose="02020603050405020304" pitchFamily="18" charset="0"/>
                        </a:rPr>
                        <a:t>0</a:t>
                      </a:r>
                    </a:p>
                  </p:txBody>
                </p:sp>
                <p:sp>
                  <p:nvSpPr>
                    <p:cNvPr id="129179" name="Text Box 228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1192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folHlink"/>
                          </a:solidFill>
                          <a:latin typeface="Times New Roman" panose="02020603050405020304" pitchFamily="18" charset="0"/>
                        </a:rPr>
                        <a:t>0</a:t>
                      </a:r>
                    </a:p>
                  </p:txBody>
                </p:sp>
                <p:sp>
                  <p:nvSpPr>
                    <p:cNvPr id="129180" name="Text Box 229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1451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folHlink"/>
                          </a:solidFill>
                          <a:latin typeface="Times New Roman" panose="02020603050405020304" pitchFamily="18" charset="0"/>
                        </a:rPr>
                        <a:t>0</a:t>
                      </a:r>
                    </a:p>
                  </p:txBody>
                </p:sp>
                <p:sp>
                  <p:nvSpPr>
                    <p:cNvPr id="129181" name="Text Box 230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1710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folHlink"/>
                          </a:solidFill>
                          <a:latin typeface="Times New Roman" panose="02020603050405020304" pitchFamily="18" charset="0"/>
                        </a:rPr>
                        <a:t>0</a:t>
                      </a:r>
                    </a:p>
                  </p:txBody>
                </p:sp>
                <p:sp>
                  <p:nvSpPr>
                    <p:cNvPr id="129182" name="Text Box 231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1970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folHlink"/>
                          </a:solidFill>
                          <a:latin typeface="Times New Roman" panose="02020603050405020304" pitchFamily="18" charset="0"/>
                        </a:rPr>
                        <a:t>0</a:t>
                      </a:r>
                    </a:p>
                  </p:txBody>
                </p:sp>
                <p:sp>
                  <p:nvSpPr>
                    <p:cNvPr id="129183" name="Text Box 232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2657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folHlink"/>
                          </a:solidFill>
                          <a:latin typeface="Times New Roman" panose="02020603050405020304" pitchFamily="18" charset="0"/>
                        </a:rPr>
                        <a:t>0</a:t>
                      </a:r>
                    </a:p>
                  </p:txBody>
                </p:sp>
                <p:sp>
                  <p:nvSpPr>
                    <p:cNvPr id="129184" name="Text Box 233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2916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folHlink"/>
                          </a:solidFill>
                          <a:latin typeface="Times New Roman" panose="02020603050405020304" pitchFamily="18" charset="0"/>
                        </a:rPr>
                        <a:t>0</a:t>
                      </a:r>
                    </a:p>
                  </p:txBody>
                </p:sp>
                <p:sp>
                  <p:nvSpPr>
                    <p:cNvPr id="129185" name="Text Box 234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3175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folHlink"/>
                          </a:solidFill>
                          <a:latin typeface="Times New Roman" panose="02020603050405020304" pitchFamily="18" charset="0"/>
                        </a:rPr>
                        <a:t>0</a:t>
                      </a:r>
                    </a:p>
                  </p:txBody>
                </p:sp>
                <p:sp>
                  <p:nvSpPr>
                    <p:cNvPr id="129186" name="Text Box 235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40" y="3434"/>
                      <a:ext cx="196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folHlink"/>
                          </a:solidFill>
                          <a:latin typeface="Times New Roman" panose="02020603050405020304" pitchFamily="18" charset="0"/>
                        </a:rPr>
                        <a:t>0</a:t>
                      </a:r>
                    </a:p>
                  </p:txBody>
                </p:sp>
              </p:grpSp>
            </p:grpSp>
            <p:grpSp>
              <p:nvGrpSpPr>
                <p:cNvPr id="129136" name="Group 236"/>
                <p:cNvGrpSpPr/>
                <p:nvPr/>
              </p:nvGrpSpPr>
              <p:grpSpPr bwMode="auto">
                <a:xfrm>
                  <a:off x="915" y="2633"/>
                  <a:ext cx="3945" cy="253"/>
                  <a:chOff x="915" y="2633"/>
                  <a:chExt cx="3945" cy="253"/>
                </a:xfrm>
              </p:grpSpPr>
              <p:grpSp>
                <p:nvGrpSpPr>
                  <p:cNvPr id="129137" name="Group 237"/>
                  <p:cNvGrpSpPr/>
                  <p:nvPr/>
                </p:nvGrpSpPr>
                <p:grpSpPr bwMode="auto">
                  <a:xfrm>
                    <a:off x="915" y="2696"/>
                    <a:ext cx="3858" cy="190"/>
                    <a:chOff x="915" y="2696"/>
                    <a:chExt cx="3858" cy="190"/>
                  </a:xfrm>
                </p:grpSpPr>
                <p:sp>
                  <p:nvSpPr>
                    <p:cNvPr id="129170" name="Freeform 238"/>
                    <p:cNvSpPr/>
                    <p:nvPr/>
                  </p:nvSpPr>
                  <p:spPr bwMode="auto">
                    <a:xfrm>
                      <a:off x="1304" y="2707"/>
                      <a:ext cx="1" cy="166"/>
                    </a:xfrm>
                    <a:custGeom>
                      <a:avLst/>
                      <a:gdLst>
                        <a:gd name="T0" fmla="*/ 0 w 1"/>
                        <a:gd name="T1" fmla="*/ 0 h 166"/>
                        <a:gd name="T2" fmla="*/ 1 w 1"/>
                        <a:gd name="T3" fmla="*/ 166 h 166"/>
                        <a:gd name="T4" fmla="*/ 0 60000 65536"/>
                        <a:gd name="T5" fmla="*/ 0 60000 65536"/>
                        <a:gd name="T6" fmla="*/ 0 w 1"/>
                        <a:gd name="T7" fmla="*/ 0 h 166"/>
                        <a:gd name="T8" fmla="*/ 1 w 1"/>
                        <a:gd name="T9" fmla="*/ 166 h 16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166">
                          <a:moveTo>
                            <a:pt x="0" y="0"/>
                          </a:moveTo>
                          <a:lnTo>
                            <a:pt x="1" y="16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folHlink"/>
                      </a:solidFill>
                      <a:prstDash val="solid"/>
                      <a:round/>
                      <a:headEnd type="oval" w="sm" len="sm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171" name="Freeform 239"/>
                    <p:cNvSpPr/>
                    <p:nvPr/>
                  </p:nvSpPr>
                  <p:spPr bwMode="auto">
                    <a:xfrm>
                      <a:off x="2457" y="2710"/>
                      <a:ext cx="1" cy="166"/>
                    </a:xfrm>
                    <a:custGeom>
                      <a:avLst/>
                      <a:gdLst>
                        <a:gd name="T0" fmla="*/ 0 w 1"/>
                        <a:gd name="T1" fmla="*/ 0 h 166"/>
                        <a:gd name="T2" fmla="*/ 1 w 1"/>
                        <a:gd name="T3" fmla="*/ 166 h 166"/>
                        <a:gd name="T4" fmla="*/ 0 60000 65536"/>
                        <a:gd name="T5" fmla="*/ 0 60000 65536"/>
                        <a:gd name="T6" fmla="*/ 0 w 1"/>
                        <a:gd name="T7" fmla="*/ 0 h 166"/>
                        <a:gd name="T8" fmla="*/ 1 w 1"/>
                        <a:gd name="T9" fmla="*/ 166 h 16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166">
                          <a:moveTo>
                            <a:pt x="0" y="0"/>
                          </a:moveTo>
                          <a:lnTo>
                            <a:pt x="1" y="16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folHlink"/>
                      </a:solidFill>
                      <a:prstDash val="solid"/>
                      <a:round/>
                      <a:headEnd type="oval" w="sm" len="sm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172" name="Freeform 240"/>
                    <p:cNvSpPr/>
                    <p:nvPr/>
                  </p:nvSpPr>
                  <p:spPr bwMode="auto">
                    <a:xfrm>
                      <a:off x="3609" y="2710"/>
                      <a:ext cx="1" cy="176"/>
                    </a:xfrm>
                    <a:custGeom>
                      <a:avLst/>
                      <a:gdLst>
                        <a:gd name="T0" fmla="*/ 0 w 1"/>
                        <a:gd name="T1" fmla="*/ 0 h 176"/>
                        <a:gd name="T2" fmla="*/ 0 w 1"/>
                        <a:gd name="T3" fmla="*/ 176 h 176"/>
                        <a:gd name="T4" fmla="*/ 0 60000 65536"/>
                        <a:gd name="T5" fmla="*/ 0 60000 65536"/>
                        <a:gd name="T6" fmla="*/ 0 w 1"/>
                        <a:gd name="T7" fmla="*/ 0 h 176"/>
                        <a:gd name="T8" fmla="*/ 1 w 1"/>
                        <a:gd name="T9" fmla="*/ 176 h 17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176">
                          <a:moveTo>
                            <a:pt x="0" y="0"/>
                          </a:moveTo>
                          <a:lnTo>
                            <a:pt x="0" y="17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folHlink"/>
                      </a:solidFill>
                      <a:prstDash val="solid"/>
                      <a:round/>
                      <a:headEnd type="oval" w="sm" len="sm"/>
                      <a:tail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173" name="Freeform 241"/>
                    <p:cNvSpPr/>
                    <p:nvPr/>
                  </p:nvSpPr>
                  <p:spPr bwMode="auto">
                    <a:xfrm>
                      <a:off x="4761" y="2696"/>
                      <a:ext cx="1" cy="178"/>
                    </a:xfrm>
                    <a:custGeom>
                      <a:avLst/>
                      <a:gdLst>
                        <a:gd name="T0" fmla="*/ 0 w 1"/>
                        <a:gd name="T1" fmla="*/ 0 h 178"/>
                        <a:gd name="T2" fmla="*/ 0 w 1"/>
                        <a:gd name="T3" fmla="*/ 178 h 178"/>
                        <a:gd name="T4" fmla="*/ 0 60000 65536"/>
                        <a:gd name="T5" fmla="*/ 0 60000 65536"/>
                        <a:gd name="T6" fmla="*/ 0 w 1"/>
                        <a:gd name="T7" fmla="*/ 0 h 178"/>
                        <a:gd name="T8" fmla="*/ 1 w 1"/>
                        <a:gd name="T9" fmla="*/ 178 h 178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" h="178">
                          <a:moveTo>
                            <a:pt x="0" y="0"/>
                          </a:moveTo>
                          <a:lnTo>
                            <a:pt x="0" y="178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folHlink"/>
                      </a:solidFill>
                      <a:prstDash val="solid"/>
                      <a:round/>
                      <a:headEnd type="oval" w="sm" len="sm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174" name="Freeform 242"/>
                    <p:cNvSpPr/>
                    <p:nvPr/>
                  </p:nvSpPr>
                  <p:spPr bwMode="auto">
                    <a:xfrm>
                      <a:off x="915" y="2865"/>
                      <a:ext cx="3858" cy="2"/>
                    </a:xfrm>
                    <a:custGeom>
                      <a:avLst/>
                      <a:gdLst>
                        <a:gd name="T0" fmla="*/ 0 w 3858"/>
                        <a:gd name="T1" fmla="*/ 2 h 2"/>
                        <a:gd name="T2" fmla="*/ 3858 w 3858"/>
                        <a:gd name="T3" fmla="*/ 0 h 2"/>
                        <a:gd name="T4" fmla="*/ 0 60000 65536"/>
                        <a:gd name="T5" fmla="*/ 0 60000 65536"/>
                        <a:gd name="T6" fmla="*/ 0 w 3858"/>
                        <a:gd name="T7" fmla="*/ 0 h 2"/>
                        <a:gd name="T8" fmla="*/ 3858 w 3858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3858" h="2">
                          <a:moveTo>
                            <a:pt x="0" y="2"/>
                          </a:moveTo>
                          <a:lnTo>
                            <a:pt x="3858" y="0"/>
                          </a:lnTo>
                        </a:path>
                      </a:pathLst>
                    </a:custGeom>
                    <a:noFill/>
                    <a:ln w="76200" cmpd="sng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</p:grpSp>
              <p:grpSp>
                <p:nvGrpSpPr>
                  <p:cNvPr id="129138" name="Group 243"/>
                  <p:cNvGrpSpPr/>
                  <p:nvPr/>
                </p:nvGrpSpPr>
                <p:grpSpPr bwMode="auto">
                  <a:xfrm>
                    <a:off x="1213" y="2633"/>
                    <a:ext cx="192" cy="158"/>
                    <a:chOff x="1440" y="2928"/>
                    <a:chExt cx="192" cy="158"/>
                  </a:xfrm>
                </p:grpSpPr>
                <p:grpSp>
                  <p:nvGrpSpPr>
                    <p:cNvPr id="129163" name="Group 244"/>
                    <p:cNvGrpSpPr/>
                    <p:nvPr/>
                  </p:nvGrpSpPr>
                  <p:grpSpPr bwMode="auto">
                    <a:xfrm rot="5400000">
                      <a:off x="1529" y="2983"/>
                      <a:ext cx="158" cy="48"/>
                      <a:chOff x="3459" y="1296"/>
                      <a:chExt cx="243" cy="48"/>
                    </a:xfrm>
                  </p:grpSpPr>
                  <p:sp>
                    <p:nvSpPr>
                      <p:cNvPr id="129168" name="Line 245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459" y="1296"/>
                        <a:ext cx="243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129169" name="Line 246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504" y="1344"/>
                        <a:ext cx="147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  <p:sp>
                  <p:nvSpPr>
                    <p:cNvPr id="129164" name="Freeform 247"/>
                    <p:cNvSpPr/>
                    <p:nvPr/>
                  </p:nvSpPr>
                  <p:spPr bwMode="auto">
                    <a:xfrm>
                      <a:off x="1487" y="3003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folHlink"/>
                      </a:solidFill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grpSp>
                  <p:nvGrpSpPr>
                    <p:cNvPr id="129165" name="Group 248"/>
                    <p:cNvGrpSpPr/>
                    <p:nvPr/>
                  </p:nvGrpSpPr>
                  <p:grpSpPr bwMode="auto">
                    <a:xfrm rot="-5400000">
                      <a:off x="1385" y="2983"/>
                      <a:ext cx="158" cy="48"/>
                      <a:chOff x="3459" y="1296"/>
                      <a:chExt cx="243" cy="48"/>
                    </a:xfrm>
                  </p:grpSpPr>
                  <p:sp>
                    <p:nvSpPr>
                      <p:cNvPr id="129166" name="Line 24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459" y="1296"/>
                        <a:ext cx="243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129167" name="Line 25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504" y="1344"/>
                        <a:ext cx="147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</p:grpSp>
              <p:grpSp>
                <p:nvGrpSpPr>
                  <p:cNvPr id="129139" name="Group 251"/>
                  <p:cNvGrpSpPr/>
                  <p:nvPr/>
                </p:nvGrpSpPr>
                <p:grpSpPr bwMode="auto">
                  <a:xfrm>
                    <a:off x="2365" y="2635"/>
                    <a:ext cx="192" cy="158"/>
                    <a:chOff x="1440" y="2928"/>
                    <a:chExt cx="192" cy="158"/>
                  </a:xfrm>
                </p:grpSpPr>
                <p:grpSp>
                  <p:nvGrpSpPr>
                    <p:cNvPr id="129156" name="Group 252"/>
                    <p:cNvGrpSpPr/>
                    <p:nvPr/>
                  </p:nvGrpSpPr>
                  <p:grpSpPr bwMode="auto">
                    <a:xfrm rot="5400000">
                      <a:off x="1529" y="2983"/>
                      <a:ext cx="158" cy="48"/>
                      <a:chOff x="3459" y="1296"/>
                      <a:chExt cx="243" cy="48"/>
                    </a:xfrm>
                  </p:grpSpPr>
                  <p:sp>
                    <p:nvSpPr>
                      <p:cNvPr id="129161" name="Line 25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459" y="1296"/>
                        <a:ext cx="243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129162" name="Line 254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504" y="1344"/>
                        <a:ext cx="147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  <p:sp>
                  <p:nvSpPr>
                    <p:cNvPr id="129157" name="Freeform 255"/>
                    <p:cNvSpPr/>
                    <p:nvPr/>
                  </p:nvSpPr>
                  <p:spPr bwMode="auto">
                    <a:xfrm>
                      <a:off x="1487" y="3003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folHlink"/>
                      </a:solidFill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grpSp>
                  <p:nvGrpSpPr>
                    <p:cNvPr id="129158" name="Group 256"/>
                    <p:cNvGrpSpPr/>
                    <p:nvPr/>
                  </p:nvGrpSpPr>
                  <p:grpSpPr bwMode="auto">
                    <a:xfrm rot="-5400000">
                      <a:off x="1385" y="2983"/>
                      <a:ext cx="158" cy="48"/>
                      <a:chOff x="3459" y="1296"/>
                      <a:chExt cx="243" cy="48"/>
                    </a:xfrm>
                  </p:grpSpPr>
                  <p:sp>
                    <p:nvSpPr>
                      <p:cNvPr id="129159" name="Line 257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459" y="1296"/>
                        <a:ext cx="243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129160" name="Line 25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504" y="1344"/>
                        <a:ext cx="147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</p:grpSp>
              <p:grpSp>
                <p:nvGrpSpPr>
                  <p:cNvPr id="129140" name="Group 259"/>
                  <p:cNvGrpSpPr/>
                  <p:nvPr/>
                </p:nvGrpSpPr>
                <p:grpSpPr bwMode="auto">
                  <a:xfrm>
                    <a:off x="3517" y="2635"/>
                    <a:ext cx="192" cy="158"/>
                    <a:chOff x="1440" y="2928"/>
                    <a:chExt cx="192" cy="158"/>
                  </a:xfrm>
                </p:grpSpPr>
                <p:grpSp>
                  <p:nvGrpSpPr>
                    <p:cNvPr id="129149" name="Group 260"/>
                    <p:cNvGrpSpPr/>
                    <p:nvPr/>
                  </p:nvGrpSpPr>
                  <p:grpSpPr bwMode="auto">
                    <a:xfrm rot="5400000">
                      <a:off x="1529" y="2983"/>
                      <a:ext cx="158" cy="48"/>
                      <a:chOff x="3459" y="1296"/>
                      <a:chExt cx="243" cy="48"/>
                    </a:xfrm>
                  </p:grpSpPr>
                  <p:sp>
                    <p:nvSpPr>
                      <p:cNvPr id="129154" name="Line 26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459" y="1296"/>
                        <a:ext cx="243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129155" name="Line 26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504" y="1344"/>
                        <a:ext cx="147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  <p:sp>
                  <p:nvSpPr>
                    <p:cNvPr id="129150" name="Freeform 263"/>
                    <p:cNvSpPr/>
                    <p:nvPr/>
                  </p:nvSpPr>
                  <p:spPr bwMode="auto">
                    <a:xfrm>
                      <a:off x="1487" y="3003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folHlink"/>
                      </a:solidFill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grpSp>
                  <p:nvGrpSpPr>
                    <p:cNvPr id="129151" name="Group 264"/>
                    <p:cNvGrpSpPr/>
                    <p:nvPr/>
                  </p:nvGrpSpPr>
                  <p:grpSpPr bwMode="auto">
                    <a:xfrm rot="-5400000">
                      <a:off x="1385" y="2983"/>
                      <a:ext cx="158" cy="48"/>
                      <a:chOff x="3459" y="1296"/>
                      <a:chExt cx="243" cy="48"/>
                    </a:xfrm>
                  </p:grpSpPr>
                  <p:sp>
                    <p:nvSpPr>
                      <p:cNvPr id="129152" name="Line 265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459" y="1296"/>
                        <a:ext cx="243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129153" name="Line 266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504" y="1344"/>
                        <a:ext cx="147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</p:grpSp>
              <p:grpSp>
                <p:nvGrpSpPr>
                  <p:cNvPr id="129141" name="Group 267"/>
                  <p:cNvGrpSpPr/>
                  <p:nvPr/>
                </p:nvGrpSpPr>
                <p:grpSpPr bwMode="auto">
                  <a:xfrm>
                    <a:off x="4668" y="2635"/>
                    <a:ext cx="192" cy="158"/>
                    <a:chOff x="1440" y="2928"/>
                    <a:chExt cx="192" cy="158"/>
                  </a:xfrm>
                </p:grpSpPr>
                <p:grpSp>
                  <p:nvGrpSpPr>
                    <p:cNvPr id="129142" name="Group 268"/>
                    <p:cNvGrpSpPr/>
                    <p:nvPr/>
                  </p:nvGrpSpPr>
                  <p:grpSpPr bwMode="auto">
                    <a:xfrm rot="5400000">
                      <a:off x="1529" y="2983"/>
                      <a:ext cx="158" cy="48"/>
                      <a:chOff x="3459" y="1296"/>
                      <a:chExt cx="243" cy="48"/>
                    </a:xfrm>
                  </p:grpSpPr>
                  <p:sp>
                    <p:nvSpPr>
                      <p:cNvPr id="129147" name="Line 26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459" y="1296"/>
                        <a:ext cx="243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129148" name="Line 27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504" y="1344"/>
                        <a:ext cx="147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  <p:sp>
                  <p:nvSpPr>
                    <p:cNvPr id="129143" name="Freeform 271"/>
                    <p:cNvSpPr/>
                    <p:nvPr/>
                  </p:nvSpPr>
                  <p:spPr bwMode="auto">
                    <a:xfrm>
                      <a:off x="1487" y="3003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folHlink"/>
                      </a:solidFill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grpSp>
                  <p:nvGrpSpPr>
                    <p:cNvPr id="129144" name="Group 272"/>
                    <p:cNvGrpSpPr/>
                    <p:nvPr/>
                  </p:nvGrpSpPr>
                  <p:grpSpPr bwMode="auto">
                    <a:xfrm rot="-5400000">
                      <a:off x="1385" y="2983"/>
                      <a:ext cx="158" cy="48"/>
                      <a:chOff x="3459" y="1296"/>
                      <a:chExt cx="243" cy="48"/>
                    </a:xfrm>
                  </p:grpSpPr>
                  <p:sp>
                    <p:nvSpPr>
                      <p:cNvPr id="129145" name="Line 27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459" y="1296"/>
                        <a:ext cx="243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129146" name="Line 274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504" y="1344"/>
                        <a:ext cx="147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folHlink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</p:grpSp>
            </p:grpSp>
          </p:grpSp>
          <p:grpSp>
            <p:nvGrpSpPr>
              <p:cNvPr id="129110" name="Group 275"/>
              <p:cNvGrpSpPr/>
              <p:nvPr/>
            </p:nvGrpSpPr>
            <p:grpSpPr bwMode="auto">
              <a:xfrm>
                <a:off x="902" y="857"/>
                <a:ext cx="4567" cy="430"/>
                <a:chOff x="902" y="857"/>
                <a:chExt cx="4567" cy="430"/>
              </a:xfrm>
            </p:grpSpPr>
            <p:grpSp>
              <p:nvGrpSpPr>
                <p:cNvPr id="129111" name="Group 276"/>
                <p:cNvGrpSpPr/>
                <p:nvPr/>
              </p:nvGrpSpPr>
              <p:grpSpPr bwMode="auto">
                <a:xfrm>
                  <a:off x="902" y="857"/>
                  <a:ext cx="4567" cy="430"/>
                  <a:chOff x="902" y="857"/>
                  <a:chExt cx="4567" cy="430"/>
                </a:xfrm>
              </p:grpSpPr>
              <p:grpSp>
                <p:nvGrpSpPr>
                  <p:cNvPr id="129116" name="Group 277"/>
                  <p:cNvGrpSpPr/>
                  <p:nvPr/>
                </p:nvGrpSpPr>
                <p:grpSpPr bwMode="auto">
                  <a:xfrm>
                    <a:off x="1152" y="1013"/>
                    <a:ext cx="4317" cy="274"/>
                    <a:chOff x="1176" y="1068"/>
                    <a:chExt cx="4317" cy="274"/>
                  </a:xfrm>
                </p:grpSpPr>
                <p:sp>
                  <p:nvSpPr>
                    <p:cNvPr id="129127" name="Rectangle 27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752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15</a:t>
                      </a:r>
                    </a:p>
                  </p:txBody>
                </p:sp>
                <p:sp>
                  <p:nvSpPr>
                    <p:cNvPr id="129128" name="Rectangle 27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76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0</a:t>
                      </a:r>
                    </a:p>
                  </p:txBody>
                </p:sp>
                <p:sp>
                  <p:nvSpPr>
                    <p:cNvPr id="129129" name="Rectangle 28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92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31</a:t>
                      </a:r>
                    </a:p>
                  </p:txBody>
                </p:sp>
                <p:sp>
                  <p:nvSpPr>
                    <p:cNvPr id="129130" name="Rectangle 28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16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16</a:t>
                      </a:r>
                    </a:p>
                  </p:txBody>
                </p:sp>
                <p:sp>
                  <p:nvSpPr>
                    <p:cNvPr id="129131" name="Rectangle 28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67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47</a:t>
                      </a:r>
                    </a:p>
                  </p:txBody>
                </p:sp>
                <p:sp>
                  <p:nvSpPr>
                    <p:cNvPr id="129132" name="Rectangle 28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491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32</a:t>
                      </a:r>
                    </a:p>
                  </p:txBody>
                </p:sp>
                <p:sp>
                  <p:nvSpPr>
                    <p:cNvPr id="129133" name="Rectangle 28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205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63</a:t>
                      </a:r>
                    </a:p>
                  </p:txBody>
                </p:sp>
                <p:sp>
                  <p:nvSpPr>
                    <p:cNvPr id="129134" name="Rectangle 28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26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48</a:t>
                      </a:r>
                    </a:p>
                  </p:txBody>
                </p:sp>
              </p:grpSp>
              <p:grpSp>
                <p:nvGrpSpPr>
                  <p:cNvPr id="129117" name="Group 286"/>
                  <p:cNvGrpSpPr/>
                  <p:nvPr/>
                </p:nvGrpSpPr>
                <p:grpSpPr bwMode="auto">
                  <a:xfrm>
                    <a:off x="902" y="857"/>
                    <a:ext cx="4419" cy="145"/>
                    <a:chOff x="902" y="857"/>
                    <a:chExt cx="4419" cy="145"/>
                  </a:xfrm>
                </p:grpSpPr>
                <p:sp>
                  <p:nvSpPr>
                    <p:cNvPr id="129118" name="Freeform 287"/>
                    <p:cNvSpPr/>
                    <p:nvPr/>
                  </p:nvSpPr>
                  <p:spPr bwMode="auto">
                    <a:xfrm>
                      <a:off x="902" y="857"/>
                      <a:ext cx="4419" cy="1"/>
                    </a:xfrm>
                    <a:custGeom>
                      <a:avLst/>
                      <a:gdLst>
                        <a:gd name="T0" fmla="*/ 0 w 4419"/>
                        <a:gd name="T1" fmla="*/ 1 h 1"/>
                        <a:gd name="T2" fmla="*/ 4419 w 4419"/>
                        <a:gd name="T3" fmla="*/ 0 h 1"/>
                        <a:gd name="T4" fmla="*/ 0 60000 65536"/>
                        <a:gd name="T5" fmla="*/ 0 60000 65536"/>
                        <a:gd name="T6" fmla="*/ 0 w 4419"/>
                        <a:gd name="T7" fmla="*/ 0 h 1"/>
                        <a:gd name="T8" fmla="*/ 4419 w 4419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4419" h="1">
                          <a:moveTo>
                            <a:pt x="0" y="1"/>
                          </a:moveTo>
                          <a:lnTo>
                            <a:pt x="4419" y="0"/>
                          </a:lnTo>
                        </a:path>
                      </a:pathLst>
                    </a:custGeom>
                    <a:noFill/>
                    <a:ln w="76200" cmpd="sng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119" name="Line 2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120" name="Line 28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848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121" name="Line 2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424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122" name="Line 2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000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123" name="Line 2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76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124" name="Line 29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152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125" name="Line 2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728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126" name="Line 2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304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</p:grpSp>
            </p:grpSp>
            <p:sp>
              <p:nvSpPr>
                <p:cNvPr id="129112" name="Text Box 296"/>
                <p:cNvSpPr txBox="1">
                  <a:spLocks noChangeArrowheads="1"/>
                </p:cNvSpPr>
                <p:nvPr/>
              </p:nvSpPr>
              <p:spPr bwMode="auto">
                <a:xfrm>
                  <a:off x="1400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29113" name="Text Box 297"/>
                <p:cNvSpPr txBox="1">
                  <a:spLocks noChangeArrowheads="1"/>
                </p:cNvSpPr>
                <p:nvPr/>
              </p:nvSpPr>
              <p:spPr bwMode="auto">
                <a:xfrm>
                  <a:off x="2540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29114" name="Text Box 298"/>
                <p:cNvSpPr txBox="1">
                  <a:spLocks noChangeArrowheads="1"/>
                </p:cNvSpPr>
                <p:nvPr/>
              </p:nvSpPr>
              <p:spPr bwMode="auto">
                <a:xfrm>
                  <a:off x="3718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29115" name="Text Box 299"/>
                <p:cNvSpPr txBox="1">
                  <a:spLocks noChangeArrowheads="1"/>
                </p:cNvSpPr>
                <p:nvPr/>
              </p:nvSpPr>
              <p:spPr bwMode="auto">
                <a:xfrm>
                  <a:off x="4860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</p:grpSp>
        </p:grpSp>
        <p:grpSp>
          <p:nvGrpSpPr>
            <p:cNvPr id="129061" name="Group 300"/>
            <p:cNvGrpSpPr/>
            <p:nvPr/>
          </p:nvGrpSpPr>
          <p:grpSpPr bwMode="auto">
            <a:xfrm>
              <a:off x="915" y="1649"/>
              <a:ext cx="4166" cy="1237"/>
              <a:chOff x="915" y="1649"/>
              <a:chExt cx="4166" cy="1237"/>
            </a:xfrm>
          </p:grpSpPr>
          <p:grpSp>
            <p:nvGrpSpPr>
              <p:cNvPr id="129062" name="Group 301"/>
              <p:cNvGrpSpPr/>
              <p:nvPr/>
            </p:nvGrpSpPr>
            <p:grpSpPr bwMode="auto">
              <a:xfrm>
                <a:off x="915" y="2633"/>
                <a:ext cx="3945" cy="253"/>
                <a:chOff x="915" y="2633"/>
                <a:chExt cx="3945" cy="253"/>
              </a:xfrm>
            </p:grpSpPr>
            <p:grpSp>
              <p:nvGrpSpPr>
                <p:cNvPr id="129071" name="Group 302"/>
                <p:cNvGrpSpPr/>
                <p:nvPr/>
              </p:nvGrpSpPr>
              <p:grpSpPr bwMode="auto">
                <a:xfrm>
                  <a:off x="915" y="2696"/>
                  <a:ext cx="3858" cy="190"/>
                  <a:chOff x="915" y="2696"/>
                  <a:chExt cx="3858" cy="190"/>
                </a:xfrm>
              </p:grpSpPr>
              <p:sp>
                <p:nvSpPr>
                  <p:cNvPr id="129104" name="Freeform 303"/>
                  <p:cNvSpPr/>
                  <p:nvPr/>
                </p:nvSpPr>
                <p:spPr bwMode="auto">
                  <a:xfrm>
                    <a:off x="1304" y="2707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  <a:gd name="T6" fmla="*/ 0 w 1"/>
                      <a:gd name="T7" fmla="*/ 0 h 166"/>
                      <a:gd name="T8" fmla="*/ 1 w 1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29105" name="Freeform 304"/>
                  <p:cNvSpPr/>
                  <p:nvPr/>
                </p:nvSpPr>
                <p:spPr bwMode="auto">
                  <a:xfrm>
                    <a:off x="2457" y="2710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  <a:gd name="T6" fmla="*/ 0 w 1"/>
                      <a:gd name="T7" fmla="*/ 0 h 166"/>
                      <a:gd name="T8" fmla="*/ 1 w 1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29106" name="Freeform 305"/>
                  <p:cNvSpPr/>
                  <p:nvPr/>
                </p:nvSpPr>
                <p:spPr bwMode="auto">
                  <a:xfrm>
                    <a:off x="3609" y="2710"/>
                    <a:ext cx="1" cy="176"/>
                  </a:xfrm>
                  <a:custGeom>
                    <a:avLst/>
                    <a:gdLst>
                      <a:gd name="T0" fmla="*/ 0 w 1"/>
                      <a:gd name="T1" fmla="*/ 0 h 176"/>
                      <a:gd name="T2" fmla="*/ 0 w 1"/>
                      <a:gd name="T3" fmla="*/ 176 h 176"/>
                      <a:gd name="T4" fmla="*/ 0 60000 65536"/>
                      <a:gd name="T5" fmla="*/ 0 60000 65536"/>
                      <a:gd name="T6" fmla="*/ 0 w 1"/>
                      <a:gd name="T7" fmla="*/ 0 h 176"/>
                      <a:gd name="T8" fmla="*/ 1 w 1"/>
                      <a:gd name="T9" fmla="*/ 176 h 17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76">
                        <a:moveTo>
                          <a:pt x="0" y="0"/>
                        </a:moveTo>
                        <a:lnTo>
                          <a:pt x="0" y="17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29107" name="Freeform 306"/>
                  <p:cNvSpPr/>
                  <p:nvPr/>
                </p:nvSpPr>
                <p:spPr bwMode="auto">
                  <a:xfrm>
                    <a:off x="4761" y="2696"/>
                    <a:ext cx="1" cy="178"/>
                  </a:xfrm>
                  <a:custGeom>
                    <a:avLst/>
                    <a:gdLst>
                      <a:gd name="T0" fmla="*/ 0 w 1"/>
                      <a:gd name="T1" fmla="*/ 0 h 178"/>
                      <a:gd name="T2" fmla="*/ 0 w 1"/>
                      <a:gd name="T3" fmla="*/ 178 h 178"/>
                      <a:gd name="T4" fmla="*/ 0 60000 65536"/>
                      <a:gd name="T5" fmla="*/ 0 60000 65536"/>
                      <a:gd name="T6" fmla="*/ 0 w 1"/>
                      <a:gd name="T7" fmla="*/ 0 h 178"/>
                      <a:gd name="T8" fmla="*/ 1 w 1"/>
                      <a:gd name="T9" fmla="*/ 178 h 178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78">
                        <a:moveTo>
                          <a:pt x="0" y="0"/>
                        </a:moveTo>
                        <a:lnTo>
                          <a:pt x="0" y="178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29108" name="Freeform 307"/>
                  <p:cNvSpPr/>
                  <p:nvPr/>
                </p:nvSpPr>
                <p:spPr bwMode="auto">
                  <a:xfrm>
                    <a:off x="915" y="2865"/>
                    <a:ext cx="3858" cy="2"/>
                  </a:xfrm>
                  <a:custGeom>
                    <a:avLst/>
                    <a:gdLst>
                      <a:gd name="T0" fmla="*/ 0 w 3858"/>
                      <a:gd name="T1" fmla="*/ 2 h 2"/>
                      <a:gd name="T2" fmla="*/ 3858 w 3858"/>
                      <a:gd name="T3" fmla="*/ 0 h 2"/>
                      <a:gd name="T4" fmla="*/ 0 60000 65536"/>
                      <a:gd name="T5" fmla="*/ 0 60000 65536"/>
                      <a:gd name="T6" fmla="*/ 0 w 3858"/>
                      <a:gd name="T7" fmla="*/ 0 h 2"/>
                      <a:gd name="T8" fmla="*/ 3858 w 3858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3858" h="2">
                        <a:moveTo>
                          <a:pt x="0" y="2"/>
                        </a:moveTo>
                        <a:lnTo>
                          <a:pt x="3858" y="0"/>
                        </a:lnTo>
                      </a:path>
                    </a:pathLst>
                  </a:custGeom>
                  <a:noFill/>
                  <a:ln w="76200" cmpd="sng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29072" name="Group 308"/>
                <p:cNvGrpSpPr/>
                <p:nvPr/>
              </p:nvGrpSpPr>
              <p:grpSpPr bwMode="auto">
                <a:xfrm>
                  <a:off x="1213" y="2633"/>
                  <a:ext cx="192" cy="158"/>
                  <a:chOff x="1440" y="2928"/>
                  <a:chExt cx="192" cy="158"/>
                </a:xfrm>
              </p:grpSpPr>
              <p:grpSp>
                <p:nvGrpSpPr>
                  <p:cNvPr id="129097" name="Group 309"/>
                  <p:cNvGrpSpPr/>
                  <p:nvPr/>
                </p:nvGrpSpPr>
                <p:grpSpPr bwMode="auto">
                  <a:xfrm rot="5400000">
                    <a:off x="1529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129102" name="Line 31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103" name="Line 3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29098" name="Freeform 312"/>
                  <p:cNvSpPr/>
                  <p:nvPr/>
                </p:nvSpPr>
                <p:spPr bwMode="auto">
                  <a:xfrm>
                    <a:off x="1487" y="3003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29099" name="Group 313"/>
                  <p:cNvGrpSpPr/>
                  <p:nvPr/>
                </p:nvGrpSpPr>
                <p:grpSpPr bwMode="auto">
                  <a:xfrm rot="-5400000">
                    <a:off x="1385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129100" name="Line 31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101" name="Line 31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129073" name="Group 316"/>
                <p:cNvGrpSpPr/>
                <p:nvPr/>
              </p:nvGrpSpPr>
              <p:grpSpPr bwMode="auto">
                <a:xfrm>
                  <a:off x="2365" y="2635"/>
                  <a:ext cx="192" cy="158"/>
                  <a:chOff x="1440" y="2928"/>
                  <a:chExt cx="192" cy="158"/>
                </a:xfrm>
              </p:grpSpPr>
              <p:grpSp>
                <p:nvGrpSpPr>
                  <p:cNvPr id="129090" name="Group 317"/>
                  <p:cNvGrpSpPr/>
                  <p:nvPr/>
                </p:nvGrpSpPr>
                <p:grpSpPr bwMode="auto">
                  <a:xfrm rot="5400000">
                    <a:off x="1529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129095" name="Line 31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096" name="Line 31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29091" name="Freeform 320"/>
                  <p:cNvSpPr/>
                  <p:nvPr/>
                </p:nvSpPr>
                <p:spPr bwMode="auto">
                  <a:xfrm>
                    <a:off x="1487" y="3003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29092" name="Group 321"/>
                  <p:cNvGrpSpPr/>
                  <p:nvPr/>
                </p:nvGrpSpPr>
                <p:grpSpPr bwMode="auto">
                  <a:xfrm rot="-5400000">
                    <a:off x="1385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129093" name="Line 32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094" name="Line 3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129074" name="Group 324"/>
                <p:cNvGrpSpPr/>
                <p:nvPr/>
              </p:nvGrpSpPr>
              <p:grpSpPr bwMode="auto">
                <a:xfrm>
                  <a:off x="3517" y="2635"/>
                  <a:ext cx="192" cy="158"/>
                  <a:chOff x="1440" y="2928"/>
                  <a:chExt cx="192" cy="158"/>
                </a:xfrm>
              </p:grpSpPr>
              <p:grpSp>
                <p:nvGrpSpPr>
                  <p:cNvPr id="129083" name="Group 325"/>
                  <p:cNvGrpSpPr/>
                  <p:nvPr/>
                </p:nvGrpSpPr>
                <p:grpSpPr bwMode="auto">
                  <a:xfrm rot="5400000">
                    <a:off x="1529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129088" name="Line 32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089" name="Line 32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29084" name="Freeform 328"/>
                  <p:cNvSpPr/>
                  <p:nvPr/>
                </p:nvSpPr>
                <p:spPr bwMode="auto">
                  <a:xfrm>
                    <a:off x="1487" y="3003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29085" name="Group 329"/>
                  <p:cNvGrpSpPr/>
                  <p:nvPr/>
                </p:nvGrpSpPr>
                <p:grpSpPr bwMode="auto">
                  <a:xfrm rot="-5400000">
                    <a:off x="1385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129086" name="Line 33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087" name="Line 33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2" name="Group 332"/>
                <p:cNvGrpSpPr/>
                <p:nvPr/>
              </p:nvGrpSpPr>
              <p:grpSpPr bwMode="auto">
                <a:xfrm>
                  <a:off x="4668" y="2635"/>
                  <a:ext cx="192" cy="158"/>
                  <a:chOff x="1440" y="2928"/>
                  <a:chExt cx="192" cy="158"/>
                </a:xfrm>
              </p:grpSpPr>
              <p:grpSp>
                <p:nvGrpSpPr>
                  <p:cNvPr id="3" name="Group 333"/>
                  <p:cNvGrpSpPr/>
                  <p:nvPr/>
                </p:nvGrpSpPr>
                <p:grpSpPr bwMode="auto">
                  <a:xfrm rot="5400000">
                    <a:off x="1529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129081" name="Line 33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082" name="Line 33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29077" name="Freeform 336"/>
                  <p:cNvSpPr/>
                  <p:nvPr/>
                </p:nvSpPr>
                <p:spPr bwMode="auto">
                  <a:xfrm>
                    <a:off x="1487" y="3003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29078" name="Group 337"/>
                  <p:cNvGrpSpPr/>
                  <p:nvPr/>
                </p:nvGrpSpPr>
                <p:grpSpPr bwMode="auto">
                  <a:xfrm rot="-5400000">
                    <a:off x="1385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129079" name="Line 33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29080" name="Line 33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</p:grpSp>
          <p:sp>
            <p:nvSpPr>
              <p:cNvPr id="129063" name="Rectangle 340"/>
              <p:cNvSpPr>
                <a:spLocks noChangeArrowheads="1"/>
              </p:cNvSpPr>
              <p:nvPr/>
            </p:nvSpPr>
            <p:spPr bwMode="auto">
              <a:xfrm>
                <a:off x="1152" y="2217"/>
                <a:ext cx="288" cy="27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29064" name="Text Box 341"/>
              <p:cNvSpPr txBox="1">
                <a:spLocks noChangeArrowheads="1"/>
              </p:cNvSpPr>
              <p:nvPr/>
            </p:nvSpPr>
            <p:spPr bwMode="auto">
              <a:xfrm>
                <a:off x="1152" y="1649"/>
                <a:ext cx="462" cy="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29065" name="Rectangle 342"/>
              <p:cNvSpPr>
                <a:spLocks noChangeArrowheads="1"/>
              </p:cNvSpPr>
              <p:nvPr/>
            </p:nvSpPr>
            <p:spPr bwMode="auto">
              <a:xfrm>
                <a:off x="2293" y="2217"/>
                <a:ext cx="288" cy="27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16</a:t>
                </a:r>
              </a:p>
            </p:txBody>
          </p:sp>
          <p:sp>
            <p:nvSpPr>
              <p:cNvPr id="129066" name="Rectangle 343"/>
              <p:cNvSpPr>
                <a:spLocks noChangeArrowheads="1"/>
              </p:cNvSpPr>
              <p:nvPr/>
            </p:nvSpPr>
            <p:spPr bwMode="auto">
              <a:xfrm>
                <a:off x="4604" y="2217"/>
                <a:ext cx="288" cy="27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48</a:t>
                </a:r>
              </a:p>
            </p:txBody>
          </p:sp>
          <p:sp>
            <p:nvSpPr>
              <p:cNvPr id="129067" name="Rectangle 344"/>
              <p:cNvSpPr>
                <a:spLocks noChangeArrowheads="1"/>
              </p:cNvSpPr>
              <p:nvPr/>
            </p:nvSpPr>
            <p:spPr bwMode="auto">
              <a:xfrm>
                <a:off x="3466" y="2217"/>
                <a:ext cx="288" cy="27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32</a:t>
                </a:r>
              </a:p>
            </p:txBody>
          </p:sp>
          <p:sp>
            <p:nvSpPr>
              <p:cNvPr id="129068" name="Text Box 345"/>
              <p:cNvSpPr txBox="1">
                <a:spLocks noChangeArrowheads="1"/>
              </p:cNvSpPr>
              <p:nvPr/>
            </p:nvSpPr>
            <p:spPr bwMode="auto">
              <a:xfrm>
                <a:off x="2316" y="1649"/>
                <a:ext cx="462" cy="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29069" name="Text Box 346"/>
              <p:cNvSpPr txBox="1">
                <a:spLocks noChangeArrowheads="1"/>
              </p:cNvSpPr>
              <p:nvPr/>
            </p:nvSpPr>
            <p:spPr bwMode="auto">
              <a:xfrm>
                <a:off x="3464" y="1649"/>
                <a:ext cx="462" cy="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29070" name="Text Box 347"/>
              <p:cNvSpPr txBox="1">
                <a:spLocks noChangeArrowheads="1"/>
              </p:cNvSpPr>
              <p:nvPr/>
            </p:nvSpPr>
            <p:spPr bwMode="auto">
              <a:xfrm>
                <a:off x="4619" y="1649"/>
                <a:ext cx="462" cy="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</p:grpSp>
      <p:grpSp>
        <p:nvGrpSpPr>
          <p:cNvPr id="129027" name="Group 348"/>
          <p:cNvGrpSpPr/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129043" name="Line 349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9044" name="Freeform 350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9045" name="Line 351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9046" name="Freeform 352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9047" name="Line 353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29048" name="Text Box 354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</a:p>
          </p:txBody>
        </p:sp>
        <p:sp>
          <p:nvSpPr>
            <p:cNvPr id="129049" name="Text Box 355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</a:p>
          </p:txBody>
        </p:sp>
        <p:sp>
          <p:nvSpPr>
            <p:cNvPr id="129050" name="Text Box 356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</a:p>
          </p:txBody>
        </p:sp>
        <p:sp>
          <p:nvSpPr>
            <p:cNvPr id="129051" name="Text Box 357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</a:p>
          </p:txBody>
        </p:sp>
        <p:sp>
          <p:nvSpPr>
            <p:cNvPr id="129052" name="Line 358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9053" name="Line 359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9054" name="Line 360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9055" name="Line 361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9056" name="Line 362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9057" name="Line 363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9058" name="Line 364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29059" name="Line 365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17454" name="Rectangle 366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29029" name="Text Box 367"/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en-US" altLang="zh-CN" sz="3200">
                <a:latin typeface="Times New Roman" panose="02020603050405020304" pitchFamily="18" charset="0"/>
              </a:rPr>
              <a:t>Intel 2114 RAM </a:t>
            </a:r>
            <a:r>
              <a:rPr lang="zh-CN" altLang="en-US" sz="3200">
                <a:latin typeface="Times New Roman" panose="02020603050405020304" pitchFamily="18" charset="0"/>
              </a:rPr>
              <a:t>矩阵 </a:t>
            </a:r>
            <a:r>
              <a:rPr lang="en-US" altLang="zh-CN" sz="3200">
                <a:latin typeface="Times New Roman" panose="02020603050405020304" pitchFamily="18" charset="0"/>
              </a:rPr>
              <a:t>(64 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>
                <a:latin typeface="Times New Roman" panose="02020603050405020304" pitchFamily="18" charset="0"/>
              </a:rPr>
              <a:t> 64)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</a:p>
        </p:txBody>
      </p:sp>
      <p:grpSp>
        <p:nvGrpSpPr>
          <p:cNvPr id="129075" name="Group 368"/>
          <p:cNvGrpSpPr/>
          <p:nvPr/>
        </p:nvGrpSpPr>
        <p:grpSpPr bwMode="auto">
          <a:xfrm>
            <a:off x="1828800" y="1608138"/>
            <a:ext cx="5934075" cy="434975"/>
            <a:chOff x="1156" y="1013"/>
            <a:chExt cx="3738" cy="274"/>
          </a:xfrm>
        </p:grpSpPr>
        <p:sp>
          <p:nvSpPr>
            <p:cNvPr id="129039" name="Rectangle 369"/>
            <p:cNvSpPr>
              <a:spLocks noChangeArrowheads="1"/>
            </p:cNvSpPr>
            <p:nvPr/>
          </p:nvSpPr>
          <p:spPr bwMode="auto">
            <a:xfrm>
              <a:off x="1156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29040" name="Rectangle 370"/>
            <p:cNvSpPr>
              <a:spLocks noChangeArrowheads="1"/>
            </p:cNvSpPr>
            <p:nvPr/>
          </p:nvSpPr>
          <p:spPr bwMode="auto">
            <a:xfrm>
              <a:off x="2296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29041" name="Rectangle 371"/>
            <p:cNvSpPr>
              <a:spLocks noChangeArrowheads="1"/>
            </p:cNvSpPr>
            <p:nvPr/>
          </p:nvSpPr>
          <p:spPr bwMode="auto">
            <a:xfrm>
              <a:off x="3471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32</a:t>
              </a:r>
            </a:p>
          </p:txBody>
        </p:sp>
        <p:sp>
          <p:nvSpPr>
            <p:cNvPr id="129042" name="Rectangle 372"/>
            <p:cNvSpPr>
              <a:spLocks noChangeArrowheads="1"/>
            </p:cNvSpPr>
            <p:nvPr/>
          </p:nvSpPr>
          <p:spPr bwMode="auto">
            <a:xfrm>
              <a:off x="4606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48</a:t>
              </a:r>
            </a:p>
          </p:txBody>
        </p:sp>
      </p:grpSp>
      <p:grpSp>
        <p:nvGrpSpPr>
          <p:cNvPr id="129076" name="Group 373"/>
          <p:cNvGrpSpPr/>
          <p:nvPr/>
        </p:nvGrpSpPr>
        <p:grpSpPr bwMode="auto">
          <a:xfrm>
            <a:off x="1028700" y="6175375"/>
            <a:ext cx="565150" cy="612775"/>
            <a:chOff x="648" y="3890"/>
            <a:chExt cx="356" cy="386"/>
          </a:xfrm>
        </p:grpSpPr>
        <p:grpSp>
          <p:nvGrpSpPr>
            <p:cNvPr id="129033" name="Group 374"/>
            <p:cNvGrpSpPr/>
            <p:nvPr/>
          </p:nvGrpSpPr>
          <p:grpSpPr bwMode="auto">
            <a:xfrm>
              <a:off x="668" y="4026"/>
              <a:ext cx="321" cy="250"/>
              <a:chOff x="668" y="4026"/>
              <a:chExt cx="321" cy="250"/>
            </a:xfrm>
          </p:grpSpPr>
          <p:sp>
            <p:nvSpPr>
              <p:cNvPr id="129037" name="Text Box 375"/>
              <p:cNvSpPr txBox="1">
                <a:spLocks noChangeArrowheads="1"/>
              </p:cNvSpPr>
              <p:nvPr/>
            </p:nvSpPr>
            <p:spPr bwMode="auto">
              <a:xfrm>
                <a:off x="668" y="4026"/>
                <a:ext cx="32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CS</a:t>
                </a:r>
                <a:endPara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038" name="Line 376"/>
              <p:cNvSpPr>
                <a:spLocks noChangeShapeType="1"/>
              </p:cNvSpPr>
              <p:nvPr/>
            </p:nvSpPr>
            <p:spPr bwMode="auto">
              <a:xfrm>
                <a:off x="724" y="4078"/>
                <a:ext cx="192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29034" name="Group 377"/>
            <p:cNvGrpSpPr/>
            <p:nvPr/>
          </p:nvGrpSpPr>
          <p:grpSpPr bwMode="auto">
            <a:xfrm>
              <a:off x="648" y="3890"/>
              <a:ext cx="356" cy="231"/>
              <a:chOff x="648" y="3890"/>
              <a:chExt cx="356" cy="231"/>
            </a:xfrm>
          </p:grpSpPr>
          <p:sp>
            <p:nvSpPr>
              <p:cNvPr id="129035" name="Text Box 378"/>
              <p:cNvSpPr txBox="1">
                <a:spLocks noChangeArrowheads="1"/>
              </p:cNvSpPr>
              <p:nvPr/>
            </p:nvSpPr>
            <p:spPr bwMode="auto">
              <a:xfrm>
                <a:off x="648" y="3890"/>
                <a:ext cx="35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WE</a:t>
                </a:r>
                <a:endParaRPr lang="zh-CN" altLang="en-US" sz="18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036" name="Line 379"/>
              <p:cNvSpPr>
                <a:spLocks noChangeShapeType="1"/>
              </p:cNvSpPr>
              <p:nvPr/>
            </p:nvSpPr>
            <p:spPr bwMode="auto">
              <a:xfrm>
                <a:off x="682" y="3922"/>
                <a:ext cx="288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sp>
        <p:nvSpPr>
          <p:cNvPr id="129032" name="AutoShape 380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290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290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0050" name="Group 2"/>
          <p:cNvGrpSpPr/>
          <p:nvPr/>
        </p:nvGrpSpPr>
        <p:grpSpPr bwMode="auto">
          <a:xfrm>
            <a:off x="222250" y="1131888"/>
            <a:ext cx="8921750" cy="5654675"/>
            <a:chOff x="140" y="713"/>
            <a:chExt cx="5620" cy="3562"/>
          </a:xfrm>
        </p:grpSpPr>
        <p:grpSp>
          <p:nvGrpSpPr>
            <p:cNvPr id="130161" name="Group 3"/>
            <p:cNvGrpSpPr/>
            <p:nvPr/>
          </p:nvGrpSpPr>
          <p:grpSpPr bwMode="auto">
            <a:xfrm>
              <a:off x="140" y="713"/>
              <a:ext cx="5620" cy="3562"/>
              <a:chOff x="140" y="713"/>
              <a:chExt cx="5620" cy="3562"/>
            </a:xfrm>
          </p:grpSpPr>
          <p:sp>
            <p:nvSpPr>
              <p:cNvPr id="130210" name="Rectangle 4"/>
              <p:cNvSpPr>
                <a:spLocks noChangeArrowheads="1"/>
              </p:cNvSpPr>
              <p:nvPr/>
            </p:nvSpPr>
            <p:spPr bwMode="auto">
              <a:xfrm>
                <a:off x="332" y="713"/>
                <a:ext cx="576" cy="316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0211" name="Rectangle 5"/>
              <p:cNvSpPr>
                <a:spLocks noChangeArrowheads="1"/>
              </p:cNvSpPr>
              <p:nvPr/>
            </p:nvSpPr>
            <p:spPr bwMode="auto">
              <a:xfrm>
                <a:off x="172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30212" name="Text Box 6"/>
              <p:cNvSpPr txBox="1">
                <a:spLocks noChangeArrowheads="1"/>
              </p:cNvSpPr>
              <p:nvPr/>
            </p:nvSpPr>
            <p:spPr bwMode="auto">
              <a:xfrm>
                <a:off x="140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0213" name="Rectangle 7"/>
              <p:cNvSpPr>
                <a:spLocks noChangeArrowheads="1"/>
              </p:cNvSpPr>
              <p:nvPr/>
            </p:nvSpPr>
            <p:spPr bwMode="auto">
              <a:xfrm>
                <a:off x="1152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30214" name="Rectangle 8"/>
              <p:cNvSpPr>
                <a:spLocks noChangeArrowheads="1"/>
              </p:cNvSpPr>
              <p:nvPr/>
            </p:nvSpPr>
            <p:spPr bwMode="auto">
              <a:xfrm>
                <a:off x="2869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30215" name="Text Box 9"/>
              <p:cNvSpPr txBox="1">
                <a:spLocks noChangeArrowheads="1"/>
              </p:cNvSpPr>
              <p:nvPr/>
            </p:nvSpPr>
            <p:spPr bwMode="auto">
              <a:xfrm>
                <a:off x="2549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0216" name="Rectangle 10"/>
              <p:cNvSpPr>
                <a:spLocks noChangeArrowheads="1"/>
              </p:cNvSpPr>
              <p:nvPr/>
            </p:nvSpPr>
            <p:spPr bwMode="auto">
              <a:xfrm>
                <a:off x="2293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sp>
            <p:nvSpPr>
              <p:cNvPr id="130217" name="Rectangle 11"/>
              <p:cNvSpPr>
                <a:spLocks noChangeArrowheads="1"/>
              </p:cNvSpPr>
              <p:nvPr/>
            </p:nvSpPr>
            <p:spPr bwMode="auto">
              <a:xfrm>
                <a:off x="404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47</a:t>
                </a:r>
              </a:p>
            </p:txBody>
          </p:sp>
          <p:sp>
            <p:nvSpPr>
              <p:cNvPr id="130218" name="Text Box 12"/>
              <p:cNvSpPr txBox="1">
                <a:spLocks noChangeArrowheads="1"/>
              </p:cNvSpPr>
              <p:nvPr/>
            </p:nvSpPr>
            <p:spPr bwMode="auto">
              <a:xfrm>
                <a:off x="3724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0219" name="Rectangle 13"/>
              <p:cNvSpPr>
                <a:spLocks noChangeArrowheads="1"/>
              </p:cNvSpPr>
              <p:nvPr/>
            </p:nvSpPr>
            <p:spPr bwMode="auto">
              <a:xfrm>
                <a:off x="346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32</a:t>
                </a:r>
              </a:p>
            </p:txBody>
          </p:sp>
          <p:sp>
            <p:nvSpPr>
              <p:cNvPr id="130220" name="Rectangle 14"/>
              <p:cNvSpPr>
                <a:spLocks noChangeArrowheads="1"/>
              </p:cNvSpPr>
              <p:nvPr/>
            </p:nvSpPr>
            <p:spPr bwMode="auto">
              <a:xfrm>
                <a:off x="5180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63</a:t>
                </a:r>
              </a:p>
            </p:txBody>
          </p:sp>
          <p:sp>
            <p:nvSpPr>
              <p:cNvPr id="130221" name="Text Box 15"/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0222" name="Rectangle 16"/>
              <p:cNvSpPr>
                <a:spLocks noChangeArrowheads="1"/>
              </p:cNvSpPr>
              <p:nvPr/>
            </p:nvSpPr>
            <p:spPr bwMode="auto">
              <a:xfrm>
                <a:off x="460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48</a:t>
                </a:r>
              </a:p>
            </p:txBody>
          </p:sp>
          <p:sp>
            <p:nvSpPr>
              <p:cNvPr id="130223" name="Rectangle 17"/>
              <p:cNvSpPr>
                <a:spLocks noChangeArrowheads="1"/>
              </p:cNvSpPr>
              <p:nvPr/>
            </p:nvSpPr>
            <p:spPr bwMode="auto">
              <a:xfrm>
                <a:off x="172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30224" name="Rectangle 18"/>
              <p:cNvSpPr>
                <a:spLocks noChangeArrowheads="1"/>
              </p:cNvSpPr>
              <p:nvPr/>
            </p:nvSpPr>
            <p:spPr bwMode="auto">
              <a:xfrm>
                <a:off x="1152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30225" name="Rectangle 19"/>
              <p:cNvSpPr>
                <a:spLocks noChangeArrowheads="1"/>
              </p:cNvSpPr>
              <p:nvPr/>
            </p:nvSpPr>
            <p:spPr bwMode="auto">
              <a:xfrm>
                <a:off x="2869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30226" name="Rectangle 20"/>
              <p:cNvSpPr>
                <a:spLocks noChangeArrowheads="1"/>
              </p:cNvSpPr>
              <p:nvPr/>
            </p:nvSpPr>
            <p:spPr bwMode="auto">
              <a:xfrm>
                <a:off x="2293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sp>
            <p:nvSpPr>
              <p:cNvPr id="130227" name="Rectangle 21"/>
              <p:cNvSpPr>
                <a:spLocks noChangeArrowheads="1"/>
              </p:cNvSpPr>
              <p:nvPr/>
            </p:nvSpPr>
            <p:spPr bwMode="auto">
              <a:xfrm>
                <a:off x="404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47</a:t>
                </a:r>
              </a:p>
            </p:txBody>
          </p:sp>
          <p:sp>
            <p:nvSpPr>
              <p:cNvPr id="130228" name="Rectangle 22"/>
              <p:cNvSpPr>
                <a:spLocks noChangeArrowheads="1"/>
              </p:cNvSpPr>
              <p:nvPr/>
            </p:nvSpPr>
            <p:spPr bwMode="auto">
              <a:xfrm>
                <a:off x="346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32</a:t>
                </a:r>
              </a:p>
            </p:txBody>
          </p:sp>
          <p:sp>
            <p:nvSpPr>
              <p:cNvPr id="130229" name="Rectangle 23"/>
              <p:cNvSpPr>
                <a:spLocks noChangeArrowheads="1"/>
              </p:cNvSpPr>
              <p:nvPr/>
            </p:nvSpPr>
            <p:spPr bwMode="auto">
              <a:xfrm>
                <a:off x="5180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63</a:t>
                </a:r>
              </a:p>
            </p:txBody>
          </p:sp>
          <p:sp>
            <p:nvSpPr>
              <p:cNvPr id="130230" name="Rectangle 24"/>
              <p:cNvSpPr>
                <a:spLocks noChangeArrowheads="1"/>
              </p:cNvSpPr>
              <p:nvPr/>
            </p:nvSpPr>
            <p:spPr bwMode="auto">
              <a:xfrm>
                <a:off x="460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48</a:t>
                </a:r>
              </a:p>
            </p:txBody>
          </p:sp>
          <p:sp>
            <p:nvSpPr>
              <p:cNvPr id="130231" name="Line 25"/>
              <p:cNvSpPr>
                <a:spLocks noChangeShapeType="1"/>
              </p:cNvSpPr>
              <p:nvPr/>
            </p:nvSpPr>
            <p:spPr bwMode="auto">
              <a:xfrm rot="5400000">
                <a:off x="1325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32" name="Line 26"/>
              <p:cNvSpPr>
                <a:spLocks noChangeShapeType="1"/>
              </p:cNvSpPr>
              <p:nvPr/>
            </p:nvSpPr>
            <p:spPr bwMode="auto">
              <a:xfrm rot="5400000">
                <a:off x="1308" y="271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33" name="Freeform 27"/>
              <p:cNvSpPr/>
              <p:nvPr/>
            </p:nvSpPr>
            <p:spPr bwMode="auto">
              <a:xfrm>
                <a:off x="1260" y="2709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34" name="Line 28"/>
              <p:cNvSpPr>
                <a:spLocks noChangeShapeType="1"/>
              </p:cNvSpPr>
              <p:nvPr/>
            </p:nvSpPr>
            <p:spPr bwMode="auto">
              <a:xfrm rot="-5400000">
                <a:off x="1133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35" name="Line 29"/>
              <p:cNvSpPr>
                <a:spLocks noChangeShapeType="1"/>
              </p:cNvSpPr>
              <p:nvPr/>
            </p:nvSpPr>
            <p:spPr bwMode="auto">
              <a:xfrm rot="-5400000">
                <a:off x="1212" y="2714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36" name="Freeform 30"/>
              <p:cNvSpPr/>
              <p:nvPr/>
            </p:nvSpPr>
            <p:spPr bwMode="auto">
              <a:xfrm>
                <a:off x="1434" y="2353"/>
                <a:ext cx="112" cy="1"/>
              </a:xfrm>
              <a:custGeom>
                <a:avLst/>
                <a:gdLst>
                  <a:gd name="T0" fmla="*/ 0 w 112"/>
                  <a:gd name="T1" fmla="*/ 0 h 1"/>
                  <a:gd name="T2" fmla="*/ 112 w 112"/>
                  <a:gd name="T3" fmla="*/ 0 h 1"/>
                  <a:gd name="T4" fmla="*/ 0 60000 65536"/>
                  <a:gd name="T5" fmla="*/ 0 60000 65536"/>
                  <a:gd name="T6" fmla="*/ 0 w 112"/>
                  <a:gd name="T7" fmla="*/ 0 h 1"/>
                  <a:gd name="T8" fmla="*/ 112 w 11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2" h="1">
                    <a:moveTo>
                      <a:pt x="0" y="0"/>
                    </a:moveTo>
                    <a:lnTo>
                      <a:pt x="112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37" name="Freeform 31"/>
              <p:cNvSpPr/>
              <p:nvPr/>
            </p:nvSpPr>
            <p:spPr bwMode="auto">
              <a:xfrm>
                <a:off x="1059" y="1209"/>
                <a:ext cx="152" cy="1469"/>
              </a:xfrm>
              <a:custGeom>
                <a:avLst/>
                <a:gdLst>
                  <a:gd name="T0" fmla="*/ 152 w 152"/>
                  <a:gd name="T1" fmla="*/ 1469 h 1469"/>
                  <a:gd name="T2" fmla="*/ 0 w 152"/>
                  <a:gd name="T3" fmla="*/ 1469 h 1469"/>
                  <a:gd name="T4" fmla="*/ 0 w 152"/>
                  <a:gd name="T5" fmla="*/ 0 h 1469"/>
                  <a:gd name="T6" fmla="*/ 95 w 152"/>
                  <a:gd name="T7" fmla="*/ 1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9"/>
                  <a:gd name="T14" fmla="*/ 152 w 152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9">
                    <a:moveTo>
                      <a:pt x="152" y="1469"/>
                    </a:moveTo>
                    <a:lnTo>
                      <a:pt x="0" y="1469"/>
                    </a:lnTo>
                    <a:lnTo>
                      <a:pt x="0" y="0"/>
                    </a:lnTo>
                    <a:lnTo>
                      <a:pt x="95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38" name="Freeform 32"/>
              <p:cNvSpPr/>
              <p:nvPr/>
            </p:nvSpPr>
            <p:spPr bwMode="auto">
              <a:xfrm>
                <a:off x="1055" y="2353"/>
                <a:ext cx="102" cy="1"/>
              </a:xfrm>
              <a:custGeom>
                <a:avLst/>
                <a:gdLst>
                  <a:gd name="T0" fmla="*/ 102 w 102"/>
                  <a:gd name="T1" fmla="*/ 0 h 1"/>
                  <a:gd name="T2" fmla="*/ 0 w 102"/>
                  <a:gd name="T3" fmla="*/ 0 h 1"/>
                  <a:gd name="T4" fmla="*/ 0 60000 65536"/>
                  <a:gd name="T5" fmla="*/ 0 60000 65536"/>
                  <a:gd name="T6" fmla="*/ 0 w 102"/>
                  <a:gd name="T7" fmla="*/ 0 h 1"/>
                  <a:gd name="T8" fmla="*/ 102 w 10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2" h="1">
                    <a:moveTo>
                      <a:pt x="102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39" name="Line 33"/>
              <p:cNvSpPr>
                <a:spLocks noChangeShapeType="1"/>
              </p:cNvSpPr>
              <p:nvPr/>
            </p:nvSpPr>
            <p:spPr bwMode="auto">
              <a:xfrm rot="5400000">
                <a:off x="1896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40" name="Line 34"/>
              <p:cNvSpPr>
                <a:spLocks noChangeShapeType="1"/>
              </p:cNvSpPr>
              <p:nvPr/>
            </p:nvSpPr>
            <p:spPr bwMode="auto">
              <a:xfrm rot="5400000">
                <a:off x="1879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41" name="Freeform 35"/>
              <p:cNvSpPr/>
              <p:nvPr/>
            </p:nvSpPr>
            <p:spPr bwMode="auto">
              <a:xfrm>
                <a:off x="1831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42" name="Line 36"/>
              <p:cNvSpPr>
                <a:spLocks noChangeShapeType="1"/>
              </p:cNvSpPr>
              <p:nvPr/>
            </p:nvSpPr>
            <p:spPr bwMode="auto">
              <a:xfrm rot="-5400000">
                <a:off x="1704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43" name="Line 37"/>
              <p:cNvSpPr>
                <a:spLocks noChangeShapeType="1"/>
              </p:cNvSpPr>
              <p:nvPr/>
            </p:nvSpPr>
            <p:spPr bwMode="auto">
              <a:xfrm rot="-5400000">
                <a:off x="1783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44" name="Freeform 38"/>
              <p:cNvSpPr/>
              <p:nvPr/>
            </p:nvSpPr>
            <p:spPr bwMode="auto">
              <a:xfrm>
                <a:off x="2005" y="2353"/>
                <a:ext cx="103" cy="1"/>
              </a:xfrm>
              <a:custGeom>
                <a:avLst/>
                <a:gdLst>
                  <a:gd name="T0" fmla="*/ 0 w 103"/>
                  <a:gd name="T1" fmla="*/ 0 h 1"/>
                  <a:gd name="T2" fmla="*/ 103 w 103"/>
                  <a:gd name="T3" fmla="*/ 0 h 1"/>
                  <a:gd name="T4" fmla="*/ 0 60000 65536"/>
                  <a:gd name="T5" fmla="*/ 0 60000 65536"/>
                  <a:gd name="T6" fmla="*/ 0 w 103"/>
                  <a:gd name="T7" fmla="*/ 0 h 1"/>
                  <a:gd name="T8" fmla="*/ 103 w 10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3" h="1">
                    <a:moveTo>
                      <a:pt x="0" y="0"/>
                    </a:moveTo>
                    <a:lnTo>
                      <a:pt x="103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45" name="Freeform 39"/>
              <p:cNvSpPr/>
              <p:nvPr/>
            </p:nvSpPr>
            <p:spPr bwMode="auto">
              <a:xfrm>
                <a:off x="1611" y="2352"/>
                <a:ext cx="113" cy="1"/>
              </a:xfrm>
              <a:custGeom>
                <a:avLst/>
                <a:gdLst>
                  <a:gd name="T0" fmla="*/ 113 w 113"/>
                  <a:gd name="T1" fmla="*/ 1 h 1"/>
                  <a:gd name="T2" fmla="*/ 0 w 113"/>
                  <a:gd name="T3" fmla="*/ 0 h 1"/>
                  <a:gd name="T4" fmla="*/ 0 60000 65536"/>
                  <a:gd name="T5" fmla="*/ 0 60000 65536"/>
                  <a:gd name="T6" fmla="*/ 0 w 113"/>
                  <a:gd name="T7" fmla="*/ 0 h 1"/>
                  <a:gd name="T8" fmla="*/ 113 w 11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3" h="1">
                    <a:moveTo>
                      <a:pt x="113" y="1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46" name="Line 40"/>
              <p:cNvSpPr>
                <a:spLocks noChangeShapeType="1"/>
              </p:cNvSpPr>
              <p:nvPr/>
            </p:nvSpPr>
            <p:spPr bwMode="auto">
              <a:xfrm rot="5400000">
                <a:off x="247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47" name="Line 41"/>
              <p:cNvSpPr>
                <a:spLocks noChangeShapeType="1"/>
              </p:cNvSpPr>
              <p:nvPr/>
            </p:nvSpPr>
            <p:spPr bwMode="auto">
              <a:xfrm rot="5400000">
                <a:off x="2460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48" name="Freeform 42"/>
              <p:cNvSpPr/>
              <p:nvPr/>
            </p:nvSpPr>
            <p:spPr bwMode="auto">
              <a:xfrm>
                <a:off x="2412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49" name="Line 43"/>
              <p:cNvSpPr>
                <a:spLocks noChangeShapeType="1"/>
              </p:cNvSpPr>
              <p:nvPr/>
            </p:nvSpPr>
            <p:spPr bwMode="auto">
              <a:xfrm rot="-5400000">
                <a:off x="2285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50" name="Line 44"/>
              <p:cNvSpPr>
                <a:spLocks noChangeShapeType="1"/>
              </p:cNvSpPr>
              <p:nvPr/>
            </p:nvSpPr>
            <p:spPr bwMode="auto">
              <a:xfrm rot="-5400000">
                <a:off x="2364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51" name="Freeform 45"/>
              <p:cNvSpPr/>
              <p:nvPr/>
            </p:nvSpPr>
            <p:spPr bwMode="auto">
              <a:xfrm>
                <a:off x="2586" y="2353"/>
                <a:ext cx="109" cy="1"/>
              </a:xfrm>
              <a:custGeom>
                <a:avLst/>
                <a:gdLst>
                  <a:gd name="T0" fmla="*/ 0 w 109"/>
                  <a:gd name="T1" fmla="*/ 0 h 1"/>
                  <a:gd name="T2" fmla="*/ 109 w 109"/>
                  <a:gd name="T3" fmla="*/ 0 h 1"/>
                  <a:gd name="T4" fmla="*/ 0 60000 65536"/>
                  <a:gd name="T5" fmla="*/ 0 60000 65536"/>
                  <a:gd name="T6" fmla="*/ 0 w 109"/>
                  <a:gd name="T7" fmla="*/ 0 h 1"/>
                  <a:gd name="T8" fmla="*/ 109 w 10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9" h="1">
                    <a:moveTo>
                      <a:pt x="0" y="0"/>
                    </a:moveTo>
                    <a:lnTo>
                      <a:pt x="109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52" name="Freeform 46"/>
              <p:cNvSpPr/>
              <p:nvPr/>
            </p:nvSpPr>
            <p:spPr bwMode="auto">
              <a:xfrm>
                <a:off x="2207" y="2353"/>
                <a:ext cx="89" cy="1"/>
              </a:xfrm>
              <a:custGeom>
                <a:avLst/>
                <a:gdLst>
                  <a:gd name="T0" fmla="*/ 89 w 89"/>
                  <a:gd name="T1" fmla="*/ 0 h 1"/>
                  <a:gd name="T2" fmla="*/ 0 w 89"/>
                  <a:gd name="T3" fmla="*/ 0 h 1"/>
                  <a:gd name="T4" fmla="*/ 0 60000 65536"/>
                  <a:gd name="T5" fmla="*/ 0 60000 65536"/>
                  <a:gd name="T6" fmla="*/ 0 w 89"/>
                  <a:gd name="T7" fmla="*/ 0 h 1"/>
                  <a:gd name="T8" fmla="*/ 89 w 8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9" h="1">
                    <a:moveTo>
                      <a:pt x="89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53" name="Line 47"/>
              <p:cNvSpPr>
                <a:spLocks noChangeShapeType="1"/>
              </p:cNvSpPr>
              <p:nvPr/>
            </p:nvSpPr>
            <p:spPr bwMode="auto">
              <a:xfrm rot="5400000">
                <a:off x="3053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54" name="Line 48"/>
              <p:cNvSpPr>
                <a:spLocks noChangeShapeType="1"/>
              </p:cNvSpPr>
              <p:nvPr/>
            </p:nvSpPr>
            <p:spPr bwMode="auto">
              <a:xfrm rot="5400000">
                <a:off x="3036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55" name="Freeform 49"/>
              <p:cNvSpPr/>
              <p:nvPr/>
            </p:nvSpPr>
            <p:spPr bwMode="auto">
              <a:xfrm>
                <a:off x="2988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56" name="Line 50"/>
              <p:cNvSpPr>
                <a:spLocks noChangeShapeType="1"/>
              </p:cNvSpPr>
              <p:nvPr/>
            </p:nvSpPr>
            <p:spPr bwMode="auto">
              <a:xfrm rot="-5400000">
                <a:off x="2861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57" name="Line 51"/>
              <p:cNvSpPr>
                <a:spLocks noChangeShapeType="1"/>
              </p:cNvSpPr>
              <p:nvPr/>
            </p:nvSpPr>
            <p:spPr bwMode="auto">
              <a:xfrm rot="-5400000">
                <a:off x="2940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58" name="Freeform 52"/>
              <p:cNvSpPr/>
              <p:nvPr/>
            </p:nvSpPr>
            <p:spPr bwMode="auto">
              <a:xfrm>
                <a:off x="3162" y="2353"/>
                <a:ext cx="115" cy="1"/>
              </a:xfrm>
              <a:custGeom>
                <a:avLst/>
                <a:gdLst>
                  <a:gd name="T0" fmla="*/ 0 w 115"/>
                  <a:gd name="T1" fmla="*/ 0 h 1"/>
                  <a:gd name="T2" fmla="*/ 115 w 115"/>
                  <a:gd name="T3" fmla="*/ 0 h 1"/>
                  <a:gd name="T4" fmla="*/ 0 60000 65536"/>
                  <a:gd name="T5" fmla="*/ 0 60000 65536"/>
                  <a:gd name="T6" fmla="*/ 0 w 115"/>
                  <a:gd name="T7" fmla="*/ 0 h 1"/>
                  <a:gd name="T8" fmla="*/ 115 w 11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5" h="1">
                    <a:moveTo>
                      <a:pt x="0" y="0"/>
                    </a:moveTo>
                    <a:lnTo>
                      <a:pt x="11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59" name="Freeform 53"/>
              <p:cNvSpPr/>
              <p:nvPr/>
            </p:nvSpPr>
            <p:spPr bwMode="auto">
              <a:xfrm>
                <a:off x="2783" y="2353"/>
                <a:ext cx="90" cy="1"/>
              </a:xfrm>
              <a:custGeom>
                <a:avLst/>
                <a:gdLst>
                  <a:gd name="T0" fmla="*/ 90 w 90"/>
                  <a:gd name="T1" fmla="*/ 0 h 1"/>
                  <a:gd name="T2" fmla="*/ 0 w 90"/>
                  <a:gd name="T3" fmla="*/ 0 h 1"/>
                  <a:gd name="T4" fmla="*/ 0 60000 65536"/>
                  <a:gd name="T5" fmla="*/ 0 60000 65536"/>
                  <a:gd name="T6" fmla="*/ 0 w 90"/>
                  <a:gd name="T7" fmla="*/ 0 h 1"/>
                  <a:gd name="T8" fmla="*/ 90 w 9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0" h="1">
                    <a:moveTo>
                      <a:pt x="90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60" name="Line 54"/>
              <p:cNvSpPr>
                <a:spLocks noChangeShapeType="1"/>
              </p:cNvSpPr>
              <p:nvPr/>
            </p:nvSpPr>
            <p:spPr bwMode="auto">
              <a:xfrm rot="5400000">
                <a:off x="3629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61" name="Line 55"/>
              <p:cNvSpPr>
                <a:spLocks noChangeShapeType="1"/>
              </p:cNvSpPr>
              <p:nvPr/>
            </p:nvSpPr>
            <p:spPr bwMode="auto">
              <a:xfrm rot="5400000">
                <a:off x="3612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62" name="Freeform 56"/>
              <p:cNvSpPr/>
              <p:nvPr/>
            </p:nvSpPr>
            <p:spPr bwMode="auto">
              <a:xfrm>
                <a:off x="3564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63" name="Line 57"/>
              <p:cNvSpPr>
                <a:spLocks noChangeShapeType="1"/>
              </p:cNvSpPr>
              <p:nvPr/>
            </p:nvSpPr>
            <p:spPr bwMode="auto">
              <a:xfrm rot="-5400000">
                <a:off x="343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64" name="Line 58"/>
              <p:cNvSpPr>
                <a:spLocks noChangeShapeType="1"/>
              </p:cNvSpPr>
              <p:nvPr/>
            </p:nvSpPr>
            <p:spPr bwMode="auto">
              <a:xfrm rot="-5400000">
                <a:off x="3516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65" name="Freeform 59"/>
              <p:cNvSpPr/>
              <p:nvPr/>
            </p:nvSpPr>
            <p:spPr bwMode="auto">
              <a:xfrm>
                <a:off x="3751" y="2352"/>
                <a:ext cx="100" cy="1"/>
              </a:xfrm>
              <a:custGeom>
                <a:avLst/>
                <a:gdLst>
                  <a:gd name="T0" fmla="*/ 0 w 100"/>
                  <a:gd name="T1" fmla="*/ 0 h 1"/>
                  <a:gd name="T2" fmla="*/ 100 w 100"/>
                  <a:gd name="T3" fmla="*/ 1 h 1"/>
                  <a:gd name="T4" fmla="*/ 0 60000 65536"/>
                  <a:gd name="T5" fmla="*/ 0 60000 65536"/>
                  <a:gd name="T6" fmla="*/ 0 w 100"/>
                  <a:gd name="T7" fmla="*/ 0 h 1"/>
                  <a:gd name="T8" fmla="*/ 100 w 10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0" h="1">
                    <a:moveTo>
                      <a:pt x="0" y="0"/>
                    </a:moveTo>
                    <a:lnTo>
                      <a:pt x="100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66" name="Freeform 60"/>
              <p:cNvSpPr/>
              <p:nvPr/>
            </p:nvSpPr>
            <p:spPr bwMode="auto">
              <a:xfrm>
                <a:off x="3359" y="2353"/>
                <a:ext cx="108" cy="1"/>
              </a:xfrm>
              <a:custGeom>
                <a:avLst/>
                <a:gdLst>
                  <a:gd name="T0" fmla="*/ 108 w 108"/>
                  <a:gd name="T1" fmla="*/ 0 h 1"/>
                  <a:gd name="T2" fmla="*/ 0 w 108"/>
                  <a:gd name="T3" fmla="*/ 0 h 1"/>
                  <a:gd name="T4" fmla="*/ 0 60000 65536"/>
                  <a:gd name="T5" fmla="*/ 0 60000 65536"/>
                  <a:gd name="T6" fmla="*/ 0 w 108"/>
                  <a:gd name="T7" fmla="*/ 0 h 1"/>
                  <a:gd name="T8" fmla="*/ 108 w 10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8" h="1">
                    <a:moveTo>
                      <a:pt x="10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67" name="Line 61"/>
              <p:cNvSpPr>
                <a:spLocks noChangeShapeType="1"/>
              </p:cNvSpPr>
              <p:nvPr/>
            </p:nvSpPr>
            <p:spPr bwMode="auto">
              <a:xfrm rot="5400000">
                <a:off x="4205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68" name="Line 62"/>
              <p:cNvSpPr>
                <a:spLocks noChangeShapeType="1"/>
              </p:cNvSpPr>
              <p:nvPr/>
            </p:nvSpPr>
            <p:spPr bwMode="auto">
              <a:xfrm rot="5400000">
                <a:off x="4188" y="2696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69" name="Freeform 63"/>
              <p:cNvSpPr/>
              <p:nvPr/>
            </p:nvSpPr>
            <p:spPr bwMode="auto">
              <a:xfrm>
                <a:off x="4140" y="2695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70" name="Line 64"/>
              <p:cNvSpPr>
                <a:spLocks noChangeShapeType="1"/>
              </p:cNvSpPr>
              <p:nvPr/>
            </p:nvSpPr>
            <p:spPr bwMode="auto">
              <a:xfrm rot="-5400000">
                <a:off x="4013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71" name="Line 65"/>
              <p:cNvSpPr>
                <a:spLocks noChangeShapeType="1"/>
              </p:cNvSpPr>
              <p:nvPr/>
            </p:nvSpPr>
            <p:spPr bwMode="auto">
              <a:xfrm rot="-5400000">
                <a:off x="4092" y="270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0272" name="Freeform 66"/>
              <p:cNvSpPr/>
              <p:nvPr/>
            </p:nvSpPr>
            <p:spPr bwMode="auto">
              <a:xfrm>
                <a:off x="4336" y="2351"/>
                <a:ext cx="90" cy="2"/>
              </a:xfrm>
              <a:custGeom>
                <a:avLst/>
                <a:gdLst>
                  <a:gd name="T0" fmla="*/ 0 w 90"/>
                  <a:gd name="T1" fmla="*/ 0 h 2"/>
                  <a:gd name="T2" fmla="*/ 90 w 90"/>
                  <a:gd name="T3" fmla="*/ 2 h 2"/>
                  <a:gd name="T4" fmla="*/ 0 60000 65536"/>
                  <a:gd name="T5" fmla="*/ 0 60000 65536"/>
                  <a:gd name="T6" fmla="*/ 0 w 90"/>
                  <a:gd name="T7" fmla="*/ 0 h 2"/>
                  <a:gd name="T8" fmla="*/ 90 w 90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0" h="2">
                    <a:moveTo>
                      <a:pt x="0" y="0"/>
                    </a:moveTo>
                    <a:lnTo>
                      <a:pt x="90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73" name="Freeform 67"/>
              <p:cNvSpPr/>
              <p:nvPr/>
            </p:nvSpPr>
            <p:spPr bwMode="auto">
              <a:xfrm>
                <a:off x="3935" y="2353"/>
                <a:ext cx="104" cy="1"/>
              </a:xfrm>
              <a:custGeom>
                <a:avLst/>
                <a:gdLst>
                  <a:gd name="T0" fmla="*/ 104 w 104"/>
                  <a:gd name="T1" fmla="*/ 0 h 1"/>
                  <a:gd name="T2" fmla="*/ 0 w 104"/>
                  <a:gd name="T3" fmla="*/ 0 h 1"/>
                  <a:gd name="T4" fmla="*/ 0 60000 65536"/>
                  <a:gd name="T5" fmla="*/ 0 60000 65536"/>
                  <a:gd name="T6" fmla="*/ 0 w 104"/>
                  <a:gd name="T7" fmla="*/ 0 h 1"/>
                  <a:gd name="T8" fmla="*/ 104 w 10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4" h="1">
                    <a:moveTo>
                      <a:pt x="10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130274" name="Group 68"/>
              <p:cNvGrpSpPr/>
              <p:nvPr/>
            </p:nvGrpSpPr>
            <p:grpSpPr bwMode="auto">
              <a:xfrm>
                <a:off x="4668" y="2634"/>
                <a:ext cx="192" cy="158"/>
                <a:chOff x="4692" y="2634"/>
                <a:chExt cx="192" cy="158"/>
              </a:xfrm>
            </p:grpSpPr>
            <p:grpSp>
              <p:nvGrpSpPr>
                <p:cNvPr id="130421" name="Group 69"/>
                <p:cNvGrpSpPr/>
                <p:nvPr/>
              </p:nvGrpSpPr>
              <p:grpSpPr bwMode="auto">
                <a:xfrm>
                  <a:off x="4836" y="2634"/>
                  <a:ext cx="48" cy="158"/>
                  <a:chOff x="4836" y="2634"/>
                  <a:chExt cx="48" cy="158"/>
                </a:xfrm>
              </p:grpSpPr>
              <p:sp>
                <p:nvSpPr>
                  <p:cNvPr id="130426" name="Line 70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805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0427" name="Line 71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788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0422" name="Freeform 72"/>
                <p:cNvSpPr/>
                <p:nvPr/>
              </p:nvSpPr>
              <p:spPr bwMode="auto">
                <a:xfrm>
                  <a:off x="4740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0423" name="Group 73"/>
                <p:cNvGrpSpPr/>
                <p:nvPr/>
              </p:nvGrpSpPr>
              <p:grpSpPr bwMode="auto">
                <a:xfrm>
                  <a:off x="4692" y="2634"/>
                  <a:ext cx="48" cy="158"/>
                  <a:chOff x="4692" y="2634"/>
                  <a:chExt cx="48" cy="158"/>
                </a:xfrm>
              </p:grpSpPr>
              <p:sp>
                <p:nvSpPr>
                  <p:cNvPr id="130424" name="Line 74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13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0425" name="Line 75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92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130275" name="Freeform 76"/>
              <p:cNvSpPr/>
              <p:nvPr/>
            </p:nvSpPr>
            <p:spPr bwMode="auto">
              <a:xfrm>
                <a:off x="4890" y="2353"/>
                <a:ext cx="107" cy="1"/>
              </a:xfrm>
              <a:custGeom>
                <a:avLst/>
                <a:gdLst>
                  <a:gd name="T0" fmla="*/ 0 w 107"/>
                  <a:gd name="T1" fmla="*/ 0 h 1"/>
                  <a:gd name="T2" fmla="*/ 107 w 107"/>
                  <a:gd name="T3" fmla="*/ 0 h 1"/>
                  <a:gd name="T4" fmla="*/ 0 60000 65536"/>
                  <a:gd name="T5" fmla="*/ 0 60000 65536"/>
                  <a:gd name="T6" fmla="*/ 0 w 107"/>
                  <a:gd name="T7" fmla="*/ 0 h 1"/>
                  <a:gd name="T8" fmla="*/ 107 w 10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7" h="1">
                    <a:moveTo>
                      <a:pt x="0" y="0"/>
                    </a:moveTo>
                    <a:lnTo>
                      <a:pt x="10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76" name="Freeform 77"/>
              <p:cNvSpPr/>
              <p:nvPr/>
            </p:nvSpPr>
            <p:spPr bwMode="auto">
              <a:xfrm>
                <a:off x="4511" y="2353"/>
                <a:ext cx="96" cy="1"/>
              </a:xfrm>
              <a:custGeom>
                <a:avLst/>
                <a:gdLst>
                  <a:gd name="T0" fmla="*/ 96 w 96"/>
                  <a:gd name="T1" fmla="*/ 0 h 1"/>
                  <a:gd name="T2" fmla="*/ 0 w 96"/>
                  <a:gd name="T3" fmla="*/ 0 h 1"/>
                  <a:gd name="T4" fmla="*/ 0 60000 65536"/>
                  <a:gd name="T5" fmla="*/ 0 60000 65536"/>
                  <a:gd name="T6" fmla="*/ 0 w 96"/>
                  <a:gd name="T7" fmla="*/ 0 h 1"/>
                  <a:gd name="T8" fmla="*/ 96 w 96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1">
                    <a:moveTo>
                      <a:pt x="96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130277" name="Group 78"/>
              <p:cNvGrpSpPr/>
              <p:nvPr/>
            </p:nvGrpSpPr>
            <p:grpSpPr bwMode="auto">
              <a:xfrm>
                <a:off x="5235" y="2634"/>
                <a:ext cx="192" cy="158"/>
                <a:chOff x="5259" y="2634"/>
                <a:chExt cx="192" cy="158"/>
              </a:xfrm>
            </p:grpSpPr>
            <p:grpSp>
              <p:nvGrpSpPr>
                <p:cNvPr id="130414" name="Group 79"/>
                <p:cNvGrpSpPr/>
                <p:nvPr/>
              </p:nvGrpSpPr>
              <p:grpSpPr bwMode="auto">
                <a:xfrm>
                  <a:off x="5403" y="2634"/>
                  <a:ext cx="48" cy="158"/>
                  <a:chOff x="5403" y="2634"/>
                  <a:chExt cx="48" cy="158"/>
                </a:xfrm>
              </p:grpSpPr>
              <p:sp>
                <p:nvSpPr>
                  <p:cNvPr id="130419" name="Line 80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72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0420" name="Line 81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55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0415" name="Freeform 82"/>
                <p:cNvSpPr/>
                <p:nvPr/>
              </p:nvSpPr>
              <p:spPr bwMode="auto">
                <a:xfrm>
                  <a:off x="5307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0416" name="Group 83"/>
                <p:cNvGrpSpPr/>
                <p:nvPr/>
              </p:nvGrpSpPr>
              <p:grpSpPr bwMode="auto">
                <a:xfrm>
                  <a:off x="5259" y="2634"/>
                  <a:ext cx="48" cy="158"/>
                  <a:chOff x="5259" y="2634"/>
                  <a:chExt cx="48" cy="158"/>
                </a:xfrm>
              </p:grpSpPr>
              <p:sp>
                <p:nvSpPr>
                  <p:cNvPr id="130417" name="Line 84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180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0418" name="Line 85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259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130278" name="Freeform 86"/>
              <p:cNvSpPr/>
              <p:nvPr/>
            </p:nvSpPr>
            <p:spPr bwMode="auto">
              <a:xfrm>
                <a:off x="5467" y="2351"/>
                <a:ext cx="96" cy="2"/>
              </a:xfrm>
              <a:custGeom>
                <a:avLst/>
                <a:gdLst>
                  <a:gd name="T0" fmla="*/ 0 w 96"/>
                  <a:gd name="T1" fmla="*/ 0 h 2"/>
                  <a:gd name="T2" fmla="*/ 96 w 96"/>
                  <a:gd name="T3" fmla="*/ 2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0"/>
                    </a:moveTo>
                    <a:lnTo>
                      <a:pt x="96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79" name="Freeform 87"/>
              <p:cNvSpPr/>
              <p:nvPr/>
            </p:nvSpPr>
            <p:spPr bwMode="auto">
              <a:xfrm>
                <a:off x="5078" y="2353"/>
                <a:ext cx="101" cy="1"/>
              </a:xfrm>
              <a:custGeom>
                <a:avLst/>
                <a:gdLst>
                  <a:gd name="T0" fmla="*/ 101 w 101"/>
                  <a:gd name="T1" fmla="*/ 0 h 1"/>
                  <a:gd name="T2" fmla="*/ 0 w 101"/>
                  <a:gd name="T3" fmla="*/ 0 h 1"/>
                  <a:gd name="T4" fmla="*/ 0 60000 65536"/>
                  <a:gd name="T5" fmla="*/ 0 60000 65536"/>
                  <a:gd name="T6" fmla="*/ 0 w 101"/>
                  <a:gd name="T7" fmla="*/ 0 h 1"/>
                  <a:gd name="T8" fmla="*/ 101 w 101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1" h="1">
                    <a:moveTo>
                      <a:pt x="101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80" name="Freeform 88"/>
              <p:cNvSpPr/>
              <p:nvPr/>
            </p:nvSpPr>
            <p:spPr bwMode="auto">
              <a:xfrm>
                <a:off x="908" y="856"/>
                <a:ext cx="4419" cy="1"/>
              </a:xfrm>
              <a:custGeom>
                <a:avLst/>
                <a:gdLst>
                  <a:gd name="T0" fmla="*/ 0 w 4419"/>
                  <a:gd name="T1" fmla="*/ 1 h 1"/>
                  <a:gd name="T2" fmla="*/ 4419 w 4419"/>
                  <a:gd name="T3" fmla="*/ 0 h 1"/>
                  <a:gd name="T4" fmla="*/ 0 60000 65536"/>
                  <a:gd name="T5" fmla="*/ 0 60000 65536"/>
                  <a:gd name="T6" fmla="*/ 0 w 4419"/>
                  <a:gd name="T7" fmla="*/ 0 h 1"/>
                  <a:gd name="T8" fmla="*/ 4419 w 441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9" h="1">
                    <a:moveTo>
                      <a:pt x="0" y="1"/>
                    </a:moveTo>
                    <a:lnTo>
                      <a:pt x="441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81" name="Line 89"/>
              <p:cNvSpPr>
                <a:spLocks noChangeShapeType="1"/>
              </p:cNvSpPr>
              <p:nvPr/>
            </p:nvSpPr>
            <p:spPr bwMode="auto">
              <a:xfrm>
                <a:off x="129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82" name="Line 90"/>
              <p:cNvSpPr>
                <a:spLocks noChangeShapeType="1"/>
              </p:cNvSpPr>
              <p:nvPr/>
            </p:nvSpPr>
            <p:spPr bwMode="auto">
              <a:xfrm>
                <a:off x="186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83" name="Line 91"/>
              <p:cNvSpPr>
                <a:spLocks noChangeShapeType="1"/>
              </p:cNvSpPr>
              <p:nvPr/>
            </p:nvSpPr>
            <p:spPr bwMode="auto">
              <a:xfrm>
                <a:off x="244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84" name="Line 92"/>
              <p:cNvSpPr>
                <a:spLocks noChangeShapeType="1"/>
              </p:cNvSpPr>
              <p:nvPr/>
            </p:nvSpPr>
            <p:spPr bwMode="auto">
              <a:xfrm>
                <a:off x="3020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85" name="Line 93"/>
              <p:cNvSpPr>
                <a:spLocks noChangeShapeType="1"/>
              </p:cNvSpPr>
              <p:nvPr/>
            </p:nvSpPr>
            <p:spPr bwMode="auto">
              <a:xfrm>
                <a:off x="3596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86" name="Line 94"/>
              <p:cNvSpPr>
                <a:spLocks noChangeShapeType="1"/>
              </p:cNvSpPr>
              <p:nvPr/>
            </p:nvSpPr>
            <p:spPr bwMode="auto">
              <a:xfrm>
                <a:off x="417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87" name="Line 95"/>
              <p:cNvSpPr>
                <a:spLocks noChangeShapeType="1"/>
              </p:cNvSpPr>
              <p:nvPr/>
            </p:nvSpPr>
            <p:spPr bwMode="auto">
              <a:xfrm>
                <a:off x="474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88" name="Line 96"/>
              <p:cNvSpPr>
                <a:spLocks noChangeShapeType="1"/>
              </p:cNvSpPr>
              <p:nvPr/>
            </p:nvSpPr>
            <p:spPr bwMode="auto">
              <a:xfrm>
                <a:off x="532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89" name="Freeform 97"/>
              <p:cNvSpPr/>
              <p:nvPr/>
            </p:nvSpPr>
            <p:spPr bwMode="auto">
              <a:xfrm>
                <a:off x="1305" y="2708"/>
                <a:ext cx="1" cy="166"/>
              </a:xfrm>
              <a:custGeom>
                <a:avLst/>
                <a:gdLst>
                  <a:gd name="T0" fmla="*/ 1 w 1"/>
                  <a:gd name="T1" fmla="*/ 0 h 166"/>
                  <a:gd name="T2" fmla="*/ 0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1" y="0"/>
                    </a:moveTo>
                    <a:lnTo>
                      <a:pt x="0" y="1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90" name="Freeform 98"/>
              <p:cNvSpPr/>
              <p:nvPr/>
            </p:nvSpPr>
            <p:spPr bwMode="auto">
              <a:xfrm>
                <a:off x="1880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7711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91" name="Freeform 99"/>
              <p:cNvSpPr/>
              <p:nvPr/>
            </p:nvSpPr>
            <p:spPr bwMode="auto">
              <a:xfrm>
                <a:off x="2454" y="2708"/>
                <a:ext cx="4" cy="166"/>
              </a:xfrm>
              <a:custGeom>
                <a:avLst/>
                <a:gdLst>
                  <a:gd name="T0" fmla="*/ 4 w 4"/>
                  <a:gd name="T1" fmla="*/ 0 h 166"/>
                  <a:gd name="T2" fmla="*/ 0 w 4"/>
                  <a:gd name="T3" fmla="*/ 166 h 166"/>
                  <a:gd name="T4" fmla="*/ 0 60000 65536"/>
                  <a:gd name="T5" fmla="*/ 0 60000 65536"/>
                  <a:gd name="T6" fmla="*/ 0 w 4"/>
                  <a:gd name="T7" fmla="*/ 0 h 166"/>
                  <a:gd name="T8" fmla="*/ 4 w 4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66">
                    <a:moveTo>
                      <a:pt x="4" y="0"/>
                    </a:moveTo>
                    <a:lnTo>
                      <a:pt x="0" y="1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92" name="Freeform 100"/>
              <p:cNvSpPr/>
              <p:nvPr/>
            </p:nvSpPr>
            <p:spPr bwMode="auto">
              <a:xfrm>
                <a:off x="3606" y="2708"/>
                <a:ext cx="2" cy="175"/>
              </a:xfrm>
              <a:custGeom>
                <a:avLst/>
                <a:gdLst>
                  <a:gd name="T0" fmla="*/ 2 w 2"/>
                  <a:gd name="T1" fmla="*/ 0 h 175"/>
                  <a:gd name="T2" fmla="*/ 0 w 2"/>
                  <a:gd name="T3" fmla="*/ 175 h 175"/>
                  <a:gd name="T4" fmla="*/ 0 60000 65536"/>
                  <a:gd name="T5" fmla="*/ 0 60000 65536"/>
                  <a:gd name="T6" fmla="*/ 0 w 2"/>
                  <a:gd name="T7" fmla="*/ 0 h 175"/>
                  <a:gd name="T8" fmla="*/ 2 w 2"/>
                  <a:gd name="T9" fmla="*/ 175 h 17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75">
                    <a:moveTo>
                      <a:pt x="2" y="0"/>
                    </a:moveTo>
                    <a:lnTo>
                      <a:pt x="0" y="17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93" name="Freeform 101"/>
              <p:cNvSpPr/>
              <p:nvPr/>
            </p:nvSpPr>
            <p:spPr bwMode="auto">
              <a:xfrm>
                <a:off x="4760" y="2697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  <a:gd name="T6" fmla="*/ 0 w 1"/>
                  <a:gd name="T7" fmla="*/ 0 h 176"/>
                  <a:gd name="T8" fmla="*/ 1 w 1"/>
                  <a:gd name="T9" fmla="*/ 176 h 17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94" name="Freeform 102"/>
              <p:cNvSpPr/>
              <p:nvPr/>
            </p:nvSpPr>
            <p:spPr bwMode="auto">
              <a:xfrm>
                <a:off x="908" y="1480"/>
                <a:ext cx="4422" cy="1"/>
              </a:xfrm>
              <a:custGeom>
                <a:avLst/>
                <a:gdLst>
                  <a:gd name="T0" fmla="*/ 0 w 4422"/>
                  <a:gd name="T1" fmla="*/ 1 h 1"/>
                  <a:gd name="T2" fmla="*/ 4422 w 4422"/>
                  <a:gd name="T3" fmla="*/ 0 h 1"/>
                  <a:gd name="T4" fmla="*/ 0 60000 65536"/>
                  <a:gd name="T5" fmla="*/ 0 60000 65536"/>
                  <a:gd name="T6" fmla="*/ 0 w 4422"/>
                  <a:gd name="T7" fmla="*/ 0 h 1"/>
                  <a:gd name="T8" fmla="*/ 4422 w 442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22" h="1">
                    <a:moveTo>
                      <a:pt x="0" y="1"/>
                    </a:moveTo>
                    <a:lnTo>
                      <a:pt x="442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95" name="Line 103"/>
              <p:cNvSpPr>
                <a:spLocks noChangeShapeType="1"/>
              </p:cNvSpPr>
              <p:nvPr/>
            </p:nvSpPr>
            <p:spPr bwMode="auto">
              <a:xfrm>
                <a:off x="129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96" name="Line 104"/>
              <p:cNvSpPr>
                <a:spLocks noChangeShapeType="1"/>
              </p:cNvSpPr>
              <p:nvPr/>
            </p:nvSpPr>
            <p:spPr bwMode="auto">
              <a:xfrm>
                <a:off x="186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97" name="Line 105"/>
              <p:cNvSpPr>
                <a:spLocks noChangeShapeType="1"/>
              </p:cNvSpPr>
              <p:nvPr/>
            </p:nvSpPr>
            <p:spPr bwMode="auto">
              <a:xfrm>
                <a:off x="244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98" name="Line 106"/>
              <p:cNvSpPr>
                <a:spLocks noChangeShapeType="1"/>
              </p:cNvSpPr>
              <p:nvPr/>
            </p:nvSpPr>
            <p:spPr bwMode="auto">
              <a:xfrm>
                <a:off x="3020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299" name="Line 107"/>
              <p:cNvSpPr>
                <a:spLocks noChangeShapeType="1"/>
              </p:cNvSpPr>
              <p:nvPr/>
            </p:nvSpPr>
            <p:spPr bwMode="auto">
              <a:xfrm>
                <a:off x="3596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00" name="Line 108"/>
              <p:cNvSpPr>
                <a:spLocks noChangeShapeType="1"/>
              </p:cNvSpPr>
              <p:nvPr/>
            </p:nvSpPr>
            <p:spPr bwMode="auto">
              <a:xfrm>
                <a:off x="417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01" name="Line 109"/>
              <p:cNvSpPr>
                <a:spLocks noChangeShapeType="1"/>
              </p:cNvSpPr>
              <p:nvPr/>
            </p:nvSpPr>
            <p:spPr bwMode="auto">
              <a:xfrm>
                <a:off x="474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02" name="Line 110"/>
              <p:cNvSpPr>
                <a:spLocks noChangeShapeType="1"/>
              </p:cNvSpPr>
              <p:nvPr/>
            </p:nvSpPr>
            <p:spPr bwMode="auto">
              <a:xfrm>
                <a:off x="532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03" name="Freeform 111"/>
              <p:cNvSpPr/>
              <p:nvPr/>
            </p:nvSpPr>
            <p:spPr bwMode="auto">
              <a:xfrm>
                <a:off x="908" y="2056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  <a:gd name="T6" fmla="*/ 0 w 4418"/>
                  <a:gd name="T7" fmla="*/ 0 h 1"/>
                  <a:gd name="T8" fmla="*/ 4418 w 441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04" name="Line 112"/>
              <p:cNvSpPr>
                <a:spLocks noChangeShapeType="1"/>
              </p:cNvSpPr>
              <p:nvPr/>
            </p:nvSpPr>
            <p:spPr bwMode="auto">
              <a:xfrm>
                <a:off x="129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05" name="Line 113"/>
              <p:cNvSpPr>
                <a:spLocks noChangeShapeType="1"/>
              </p:cNvSpPr>
              <p:nvPr/>
            </p:nvSpPr>
            <p:spPr bwMode="auto">
              <a:xfrm>
                <a:off x="186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06" name="Line 114"/>
              <p:cNvSpPr>
                <a:spLocks noChangeShapeType="1"/>
              </p:cNvSpPr>
              <p:nvPr/>
            </p:nvSpPr>
            <p:spPr bwMode="auto">
              <a:xfrm>
                <a:off x="244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07" name="Line 115"/>
              <p:cNvSpPr>
                <a:spLocks noChangeShapeType="1"/>
              </p:cNvSpPr>
              <p:nvPr/>
            </p:nvSpPr>
            <p:spPr bwMode="auto">
              <a:xfrm>
                <a:off x="3020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08" name="Line 116"/>
              <p:cNvSpPr>
                <a:spLocks noChangeShapeType="1"/>
              </p:cNvSpPr>
              <p:nvPr/>
            </p:nvSpPr>
            <p:spPr bwMode="auto">
              <a:xfrm>
                <a:off x="3596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09" name="Line 117"/>
              <p:cNvSpPr>
                <a:spLocks noChangeShapeType="1"/>
              </p:cNvSpPr>
              <p:nvPr/>
            </p:nvSpPr>
            <p:spPr bwMode="auto">
              <a:xfrm>
                <a:off x="417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10" name="Line 118"/>
              <p:cNvSpPr>
                <a:spLocks noChangeShapeType="1"/>
              </p:cNvSpPr>
              <p:nvPr/>
            </p:nvSpPr>
            <p:spPr bwMode="auto">
              <a:xfrm>
                <a:off x="474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11" name="Line 119"/>
              <p:cNvSpPr>
                <a:spLocks noChangeShapeType="1"/>
              </p:cNvSpPr>
              <p:nvPr/>
            </p:nvSpPr>
            <p:spPr bwMode="auto">
              <a:xfrm>
                <a:off x="532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12" name="Freeform 120"/>
              <p:cNvSpPr/>
              <p:nvPr/>
            </p:nvSpPr>
            <p:spPr bwMode="auto">
              <a:xfrm>
                <a:off x="909" y="2879"/>
                <a:ext cx="3860" cy="1"/>
              </a:xfrm>
              <a:custGeom>
                <a:avLst/>
                <a:gdLst>
                  <a:gd name="T0" fmla="*/ 0 w 3860"/>
                  <a:gd name="T1" fmla="*/ 1 h 1"/>
                  <a:gd name="T2" fmla="*/ 3860 w 3860"/>
                  <a:gd name="T3" fmla="*/ 0 h 1"/>
                  <a:gd name="T4" fmla="*/ 0 60000 65536"/>
                  <a:gd name="T5" fmla="*/ 0 60000 65536"/>
                  <a:gd name="T6" fmla="*/ 0 w 3860"/>
                  <a:gd name="T7" fmla="*/ 0 h 1"/>
                  <a:gd name="T8" fmla="*/ 3860 w 386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60" h="1">
                    <a:moveTo>
                      <a:pt x="0" y="1"/>
                    </a:moveTo>
                    <a:lnTo>
                      <a:pt x="386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13" name="Freeform 121"/>
              <p:cNvSpPr/>
              <p:nvPr/>
            </p:nvSpPr>
            <p:spPr bwMode="auto">
              <a:xfrm>
                <a:off x="912" y="3209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  <a:gd name="T6" fmla="*/ 0 w 4418"/>
                  <a:gd name="T7" fmla="*/ 0 h 1"/>
                  <a:gd name="T8" fmla="*/ 4418 w 441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14" name="Rectangle 122"/>
              <p:cNvSpPr>
                <a:spLocks noChangeArrowheads="1"/>
              </p:cNvSpPr>
              <p:nvPr/>
            </p:nvSpPr>
            <p:spPr bwMode="auto">
              <a:xfrm>
                <a:off x="114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0315" name="Text Box 123"/>
              <p:cNvSpPr txBox="1">
                <a:spLocks noChangeArrowheads="1"/>
              </p:cNvSpPr>
              <p:nvPr/>
            </p:nvSpPr>
            <p:spPr bwMode="auto">
              <a:xfrm>
                <a:off x="1172" y="3576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  <p:sp>
            <p:nvSpPr>
              <p:cNvPr id="130316" name="Freeform 124"/>
              <p:cNvSpPr/>
              <p:nvPr/>
            </p:nvSpPr>
            <p:spPr bwMode="auto">
              <a:xfrm>
                <a:off x="1402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5"/>
                  <a:gd name="T13" fmla="*/ 0 h 1466"/>
                  <a:gd name="T14" fmla="*/ 145 w 145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17" name="Freeform 125"/>
              <p:cNvSpPr/>
              <p:nvPr/>
            </p:nvSpPr>
            <p:spPr bwMode="auto">
              <a:xfrm>
                <a:off x="1613" y="1211"/>
                <a:ext cx="169" cy="1469"/>
              </a:xfrm>
              <a:custGeom>
                <a:avLst/>
                <a:gdLst>
                  <a:gd name="T0" fmla="*/ 169 w 169"/>
                  <a:gd name="T1" fmla="*/ 1468 h 1469"/>
                  <a:gd name="T2" fmla="*/ 0 w 169"/>
                  <a:gd name="T3" fmla="*/ 1469 h 1469"/>
                  <a:gd name="T4" fmla="*/ 1 w 169"/>
                  <a:gd name="T5" fmla="*/ 0 h 1469"/>
                  <a:gd name="T6" fmla="*/ 105 w 16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9"/>
                  <a:gd name="T13" fmla="*/ 0 h 1469"/>
                  <a:gd name="T14" fmla="*/ 169 w 169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9" h="1469">
                    <a:moveTo>
                      <a:pt x="169" y="1468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18" name="Freeform 126"/>
              <p:cNvSpPr/>
              <p:nvPr/>
            </p:nvSpPr>
            <p:spPr bwMode="auto">
              <a:xfrm>
                <a:off x="1967" y="1211"/>
                <a:ext cx="141" cy="1466"/>
              </a:xfrm>
              <a:custGeom>
                <a:avLst/>
                <a:gdLst>
                  <a:gd name="T0" fmla="*/ 38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1"/>
                  <a:gd name="T13" fmla="*/ 0 h 1466"/>
                  <a:gd name="T14" fmla="*/ 141 w 141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1" h="1466">
                    <a:moveTo>
                      <a:pt x="38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19" name="Freeform 127"/>
              <p:cNvSpPr/>
              <p:nvPr/>
            </p:nvSpPr>
            <p:spPr bwMode="auto">
              <a:xfrm>
                <a:off x="2208" y="1211"/>
                <a:ext cx="155" cy="1467"/>
              </a:xfrm>
              <a:custGeom>
                <a:avLst/>
                <a:gdLst>
                  <a:gd name="T0" fmla="*/ 155 w 155"/>
                  <a:gd name="T1" fmla="*/ 1467 h 1467"/>
                  <a:gd name="T2" fmla="*/ 3 w 155"/>
                  <a:gd name="T3" fmla="*/ 1467 h 1467"/>
                  <a:gd name="T4" fmla="*/ 0 w 155"/>
                  <a:gd name="T5" fmla="*/ 1 h 1467"/>
                  <a:gd name="T6" fmla="*/ 89 w 155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5"/>
                  <a:gd name="T13" fmla="*/ 0 h 1467"/>
                  <a:gd name="T14" fmla="*/ 155 w 155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5" h="1467">
                    <a:moveTo>
                      <a:pt x="155" y="1467"/>
                    </a:moveTo>
                    <a:lnTo>
                      <a:pt x="3" y="1467"/>
                    </a:lnTo>
                    <a:lnTo>
                      <a:pt x="0" y="1"/>
                    </a:lnTo>
                    <a:lnTo>
                      <a:pt x="89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20" name="Freeform 128"/>
              <p:cNvSpPr/>
              <p:nvPr/>
            </p:nvSpPr>
            <p:spPr bwMode="auto">
              <a:xfrm>
                <a:off x="2557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4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2"/>
                  <a:gd name="T13" fmla="*/ 0 h 1466"/>
                  <a:gd name="T14" fmla="*/ 142 w 142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4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21" name="Freeform 129"/>
              <p:cNvSpPr/>
              <p:nvPr/>
            </p:nvSpPr>
            <p:spPr bwMode="auto">
              <a:xfrm>
                <a:off x="2787" y="1211"/>
                <a:ext cx="152" cy="1467"/>
              </a:xfrm>
              <a:custGeom>
                <a:avLst/>
                <a:gdLst>
                  <a:gd name="T0" fmla="*/ 152 w 152"/>
                  <a:gd name="T1" fmla="*/ 1467 h 1467"/>
                  <a:gd name="T2" fmla="*/ 0 w 152"/>
                  <a:gd name="T3" fmla="*/ 1467 h 1467"/>
                  <a:gd name="T4" fmla="*/ 0 w 152"/>
                  <a:gd name="T5" fmla="*/ 1 h 1467"/>
                  <a:gd name="T6" fmla="*/ 77 w 152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7"/>
                  <a:gd name="T14" fmla="*/ 152 w 152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7">
                    <a:moveTo>
                      <a:pt x="152" y="1467"/>
                    </a:moveTo>
                    <a:lnTo>
                      <a:pt x="0" y="1467"/>
                    </a:lnTo>
                    <a:lnTo>
                      <a:pt x="0" y="1"/>
                    </a:lnTo>
                    <a:lnTo>
                      <a:pt x="7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22" name="Freeform 130"/>
              <p:cNvSpPr/>
              <p:nvPr/>
            </p:nvSpPr>
            <p:spPr bwMode="auto">
              <a:xfrm>
                <a:off x="3130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5"/>
                  <a:gd name="T13" fmla="*/ 0 h 1466"/>
                  <a:gd name="T14" fmla="*/ 145 w 145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23" name="Freeform 131"/>
              <p:cNvSpPr/>
              <p:nvPr/>
            </p:nvSpPr>
            <p:spPr bwMode="auto">
              <a:xfrm>
                <a:off x="3360" y="1209"/>
                <a:ext cx="155" cy="1469"/>
              </a:xfrm>
              <a:custGeom>
                <a:avLst/>
                <a:gdLst>
                  <a:gd name="T0" fmla="*/ 155 w 155"/>
                  <a:gd name="T1" fmla="*/ 1469 h 1469"/>
                  <a:gd name="T2" fmla="*/ 3 w 155"/>
                  <a:gd name="T3" fmla="*/ 1469 h 1469"/>
                  <a:gd name="T4" fmla="*/ 0 w 155"/>
                  <a:gd name="T5" fmla="*/ 0 h 1469"/>
                  <a:gd name="T6" fmla="*/ 103 w 155"/>
                  <a:gd name="T7" fmla="*/ 2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5"/>
                  <a:gd name="T13" fmla="*/ 0 h 1469"/>
                  <a:gd name="T14" fmla="*/ 155 w 155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5" h="1469">
                    <a:moveTo>
                      <a:pt x="155" y="1469"/>
                    </a:moveTo>
                    <a:lnTo>
                      <a:pt x="3" y="1469"/>
                    </a:lnTo>
                    <a:lnTo>
                      <a:pt x="0" y="0"/>
                    </a:lnTo>
                    <a:lnTo>
                      <a:pt x="103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24" name="Freeform 132"/>
              <p:cNvSpPr/>
              <p:nvPr/>
            </p:nvSpPr>
            <p:spPr bwMode="auto">
              <a:xfrm>
                <a:off x="3710" y="1211"/>
                <a:ext cx="141" cy="1466"/>
              </a:xfrm>
              <a:custGeom>
                <a:avLst/>
                <a:gdLst>
                  <a:gd name="T0" fmla="*/ 42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1"/>
                  <a:gd name="T13" fmla="*/ 0 h 1466"/>
                  <a:gd name="T14" fmla="*/ 141 w 141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1" h="1466">
                    <a:moveTo>
                      <a:pt x="42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25" name="Freeform 133"/>
              <p:cNvSpPr/>
              <p:nvPr/>
            </p:nvSpPr>
            <p:spPr bwMode="auto">
              <a:xfrm>
                <a:off x="3939" y="1211"/>
                <a:ext cx="152" cy="1467"/>
              </a:xfrm>
              <a:custGeom>
                <a:avLst/>
                <a:gdLst>
                  <a:gd name="T0" fmla="*/ 152 w 152"/>
                  <a:gd name="T1" fmla="*/ 1467 h 1467"/>
                  <a:gd name="T2" fmla="*/ 0 w 152"/>
                  <a:gd name="T3" fmla="*/ 1467 h 1467"/>
                  <a:gd name="T4" fmla="*/ 0 w 152"/>
                  <a:gd name="T5" fmla="*/ 1 h 1467"/>
                  <a:gd name="T6" fmla="*/ 103 w 152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7"/>
                  <a:gd name="T14" fmla="*/ 152 w 152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7">
                    <a:moveTo>
                      <a:pt x="152" y="1467"/>
                    </a:moveTo>
                    <a:lnTo>
                      <a:pt x="0" y="1467"/>
                    </a:lnTo>
                    <a:lnTo>
                      <a:pt x="0" y="1"/>
                    </a:lnTo>
                    <a:lnTo>
                      <a:pt x="103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26" name="Freeform 134"/>
              <p:cNvSpPr/>
              <p:nvPr/>
            </p:nvSpPr>
            <p:spPr bwMode="auto">
              <a:xfrm>
                <a:off x="4280" y="1211"/>
                <a:ext cx="147" cy="1466"/>
              </a:xfrm>
              <a:custGeom>
                <a:avLst/>
                <a:gdLst>
                  <a:gd name="T0" fmla="*/ 51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466"/>
                  <a:gd name="T14" fmla="*/ 147 w 147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466">
                    <a:moveTo>
                      <a:pt x="51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27" name="Freeform 135"/>
              <p:cNvSpPr/>
              <p:nvPr/>
            </p:nvSpPr>
            <p:spPr bwMode="auto">
              <a:xfrm>
                <a:off x="4509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0 w 158"/>
                  <a:gd name="T3" fmla="*/ 1467 h 1467"/>
                  <a:gd name="T4" fmla="*/ 0 w 158"/>
                  <a:gd name="T5" fmla="*/ 0 h 1467"/>
                  <a:gd name="T6" fmla="*/ 95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0" y="1467"/>
                    </a:lnTo>
                    <a:lnTo>
                      <a:pt x="0" y="0"/>
                    </a:lnTo>
                    <a:lnTo>
                      <a:pt x="9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28" name="Freeform 136"/>
              <p:cNvSpPr/>
              <p:nvPr/>
            </p:nvSpPr>
            <p:spPr bwMode="auto">
              <a:xfrm>
                <a:off x="4861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2"/>
                  <a:gd name="T13" fmla="*/ 0 h 1466"/>
                  <a:gd name="T14" fmla="*/ 142 w 142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29" name="Freeform 137"/>
              <p:cNvSpPr/>
              <p:nvPr/>
            </p:nvSpPr>
            <p:spPr bwMode="auto">
              <a:xfrm>
                <a:off x="5069" y="1211"/>
                <a:ext cx="159" cy="1469"/>
              </a:xfrm>
              <a:custGeom>
                <a:avLst/>
                <a:gdLst>
                  <a:gd name="T0" fmla="*/ 159 w 159"/>
                  <a:gd name="T1" fmla="*/ 1467 h 1469"/>
                  <a:gd name="T2" fmla="*/ 0 w 159"/>
                  <a:gd name="T3" fmla="*/ 1469 h 1469"/>
                  <a:gd name="T4" fmla="*/ 1 w 159"/>
                  <a:gd name="T5" fmla="*/ 0 h 1469"/>
                  <a:gd name="T6" fmla="*/ 104 w 15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9"/>
                  <a:gd name="T13" fmla="*/ 0 h 1469"/>
                  <a:gd name="T14" fmla="*/ 159 w 159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9" h="1469">
                    <a:moveTo>
                      <a:pt x="159" y="1467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4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30" name="Freeform 138"/>
              <p:cNvSpPr/>
              <p:nvPr/>
            </p:nvSpPr>
            <p:spPr bwMode="auto">
              <a:xfrm>
                <a:off x="5417" y="1211"/>
                <a:ext cx="147" cy="1466"/>
              </a:xfrm>
              <a:custGeom>
                <a:avLst/>
                <a:gdLst>
                  <a:gd name="T0" fmla="*/ 47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466"/>
                  <a:gd name="T14" fmla="*/ 147 w 147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466">
                    <a:moveTo>
                      <a:pt x="47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31" name="Freeform 139"/>
              <p:cNvSpPr/>
              <p:nvPr/>
            </p:nvSpPr>
            <p:spPr bwMode="auto">
              <a:xfrm>
                <a:off x="1055" y="2738"/>
                <a:ext cx="730" cy="660"/>
              </a:xfrm>
              <a:custGeom>
                <a:avLst/>
                <a:gdLst>
                  <a:gd name="T0" fmla="*/ 160 w 730"/>
                  <a:gd name="T1" fmla="*/ 4 h 660"/>
                  <a:gd name="T2" fmla="*/ 0 w 730"/>
                  <a:gd name="T3" fmla="*/ 3 h 660"/>
                  <a:gd name="T4" fmla="*/ 0 w 730"/>
                  <a:gd name="T5" fmla="*/ 660 h 660"/>
                  <a:gd name="T6" fmla="*/ 558 w 730"/>
                  <a:gd name="T7" fmla="*/ 657 h 660"/>
                  <a:gd name="T8" fmla="*/ 558 w 730"/>
                  <a:gd name="T9" fmla="*/ 0 h 660"/>
                  <a:gd name="T10" fmla="*/ 730 w 730"/>
                  <a:gd name="T11" fmla="*/ 1 h 6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30"/>
                  <a:gd name="T19" fmla="*/ 0 h 660"/>
                  <a:gd name="T20" fmla="*/ 730 w 730"/>
                  <a:gd name="T21" fmla="*/ 660 h 66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30" h="660">
                    <a:moveTo>
                      <a:pt x="160" y="4"/>
                    </a:moveTo>
                    <a:lnTo>
                      <a:pt x="0" y="3"/>
                    </a:lnTo>
                    <a:lnTo>
                      <a:pt x="0" y="660"/>
                    </a:lnTo>
                    <a:lnTo>
                      <a:pt x="558" y="657"/>
                    </a:lnTo>
                    <a:lnTo>
                      <a:pt x="558" y="0"/>
                    </a:lnTo>
                    <a:lnTo>
                      <a:pt x="730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32" name="Freeform 140"/>
              <p:cNvSpPr/>
              <p:nvPr/>
            </p:nvSpPr>
            <p:spPr bwMode="auto">
              <a:xfrm>
                <a:off x="2207" y="2744"/>
                <a:ext cx="729" cy="658"/>
              </a:xfrm>
              <a:custGeom>
                <a:avLst/>
                <a:gdLst>
                  <a:gd name="T0" fmla="*/ 153 w 729"/>
                  <a:gd name="T1" fmla="*/ 0 h 658"/>
                  <a:gd name="T2" fmla="*/ 0 w 729"/>
                  <a:gd name="T3" fmla="*/ 0 h 658"/>
                  <a:gd name="T4" fmla="*/ 0 w 729"/>
                  <a:gd name="T5" fmla="*/ 657 h 658"/>
                  <a:gd name="T6" fmla="*/ 583 w 729"/>
                  <a:gd name="T7" fmla="*/ 658 h 658"/>
                  <a:gd name="T8" fmla="*/ 582 w 729"/>
                  <a:gd name="T9" fmla="*/ 3 h 658"/>
                  <a:gd name="T10" fmla="*/ 729 w 729"/>
                  <a:gd name="T11" fmla="*/ 3 h 6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8"/>
                  <a:gd name="T20" fmla="*/ 729 w 729"/>
                  <a:gd name="T21" fmla="*/ 658 h 65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8">
                    <a:moveTo>
                      <a:pt x="153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83" y="658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33" name="Freeform 141"/>
              <p:cNvSpPr/>
              <p:nvPr/>
            </p:nvSpPr>
            <p:spPr bwMode="auto">
              <a:xfrm>
                <a:off x="3356" y="2744"/>
                <a:ext cx="729" cy="657"/>
              </a:xfrm>
              <a:custGeom>
                <a:avLst/>
                <a:gdLst>
                  <a:gd name="T0" fmla="*/ 158 w 729"/>
                  <a:gd name="T1" fmla="*/ 0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7"/>
                  <a:gd name="T20" fmla="*/ 729 w 729"/>
                  <a:gd name="T21" fmla="*/ 657 h 6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7">
                    <a:moveTo>
                      <a:pt x="158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34" name="Freeform 142"/>
              <p:cNvSpPr/>
              <p:nvPr/>
            </p:nvSpPr>
            <p:spPr bwMode="auto">
              <a:xfrm>
                <a:off x="4508" y="2744"/>
                <a:ext cx="729" cy="657"/>
              </a:xfrm>
              <a:custGeom>
                <a:avLst/>
                <a:gdLst>
                  <a:gd name="T0" fmla="*/ 161 w 729"/>
                  <a:gd name="T1" fmla="*/ 2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7"/>
                  <a:gd name="T20" fmla="*/ 729 w 729"/>
                  <a:gd name="T21" fmla="*/ 657 h 6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7">
                    <a:moveTo>
                      <a:pt x="161" y="2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35" name="Freeform 143"/>
              <p:cNvSpPr/>
              <p:nvPr/>
            </p:nvSpPr>
            <p:spPr bwMode="auto">
              <a:xfrm>
                <a:off x="1400" y="2735"/>
                <a:ext cx="708" cy="571"/>
              </a:xfrm>
              <a:custGeom>
                <a:avLst/>
                <a:gdLst>
                  <a:gd name="T0" fmla="*/ 0 w 708"/>
                  <a:gd name="T1" fmla="*/ 0 h 571"/>
                  <a:gd name="T2" fmla="*/ 132 w 708"/>
                  <a:gd name="T3" fmla="*/ 0 h 571"/>
                  <a:gd name="T4" fmla="*/ 133 w 708"/>
                  <a:gd name="T5" fmla="*/ 571 h 571"/>
                  <a:gd name="T6" fmla="*/ 708 w 708"/>
                  <a:gd name="T7" fmla="*/ 570 h 571"/>
                  <a:gd name="T8" fmla="*/ 708 w 708"/>
                  <a:gd name="T9" fmla="*/ 9 h 571"/>
                  <a:gd name="T10" fmla="*/ 573 w 708"/>
                  <a:gd name="T11" fmla="*/ 9 h 5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08"/>
                  <a:gd name="T19" fmla="*/ 0 h 571"/>
                  <a:gd name="T20" fmla="*/ 708 w 708"/>
                  <a:gd name="T21" fmla="*/ 571 h 57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08" h="571">
                    <a:moveTo>
                      <a:pt x="0" y="0"/>
                    </a:moveTo>
                    <a:lnTo>
                      <a:pt x="132" y="0"/>
                    </a:lnTo>
                    <a:lnTo>
                      <a:pt x="133" y="571"/>
                    </a:lnTo>
                    <a:lnTo>
                      <a:pt x="708" y="570"/>
                    </a:lnTo>
                    <a:lnTo>
                      <a:pt x="708" y="9"/>
                    </a:lnTo>
                    <a:lnTo>
                      <a:pt x="573" y="9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36" name="Freeform 144"/>
              <p:cNvSpPr/>
              <p:nvPr/>
            </p:nvSpPr>
            <p:spPr bwMode="auto">
              <a:xfrm>
                <a:off x="2552" y="2735"/>
                <a:ext cx="726" cy="567"/>
              </a:xfrm>
              <a:custGeom>
                <a:avLst/>
                <a:gdLst>
                  <a:gd name="T0" fmla="*/ 0 w 726"/>
                  <a:gd name="T1" fmla="*/ 0 h 567"/>
                  <a:gd name="T2" fmla="*/ 148 w 726"/>
                  <a:gd name="T3" fmla="*/ 1 h 567"/>
                  <a:gd name="T4" fmla="*/ 147 w 726"/>
                  <a:gd name="T5" fmla="*/ 567 h 567"/>
                  <a:gd name="T6" fmla="*/ 726 w 726"/>
                  <a:gd name="T7" fmla="*/ 567 h 567"/>
                  <a:gd name="T8" fmla="*/ 726 w 726"/>
                  <a:gd name="T9" fmla="*/ 6 h 567"/>
                  <a:gd name="T10" fmla="*/ 579 w 726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6"/>
                  <a:gd name="T19" fmla="*/ 0 h 567"/>
                  <a:gd name="T20" fmla="*/ 726 w 726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6" h="567">
                    <a:moveTo>
                      <a:pt x="0" y="0"/>
                    </a:moveTo>
                    <a:lnTo>
                      <a:pt x="148" y="1"/>
                    </a:lnTo>
                    <a:lnTo>
                      <a:pt x="147" y="567"/>
                    </a:lnTo>
                    <a:lnTo>
                      <a:pt x="726" y="567"/>
                    </a:lnTo>
                    <a:lnTo>
                      <a:pt x="726" y="6"/>
                    </a:lnTo>
                    <a:lnTo>
                      <a:pt x="579" y="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37" name="Freeform 145"/>
              <p:cNvSpPr/>
              <p:nvPr/>
            </p:nvSpPr>
            <p:spPr bwMode="auto">
              <a:xfrm>
                <a:off x="3704" y="2738"/>
                <a:ext cx="714" cy="567"/>
              </a:xfrm>
              <a:custGeom>
                <a:avLst/>
                <a:gdLst>
                  <a:gd name="T0" fmla="*/ 0 w 714"/>
                  <a:gd name="T1" fmla="*/ 0 h 567"/>
                  <a:gd name="T2" fmla="*/ 136 w 714"/>
                  <a:gd name="T3" fmla="*/ 1 h 567"/>
                  <a:gd name="T4" fmla="*/ 135 w 714"/>
                  <a:gd name="T5" fmla="*/ 567 h 567"/>
                  <a:gd name="T6" fmla="*/ 714 w 714"/>
                  <a:gd name="T7" fmla="*/ 567 h 567"/>
                  <a:gd name="T8" fmla="*/ 714 w 714"/>
                  <a:gd name="T9" fmla="*/ 6 h 567"/>
                  <a:gd name="T10" fmla="*/ 576 w 714"/>
                  <a:gd name="T11" fmla="*/ 5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14"/>
                  <a:gd name="T19" fmla="*/ 0 h 567"/>
                  <a:gd name="T20" fmla="*/ 714 w 714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14" h="567">
                    <a:moveTo>
                      <a:pt x="0" y="0"/>
                    </a:moveTo>
                    <a:lnTo>
                      <a:pt x="136" y="1"/>
                    </a:lnTo>
                    <a:lnTo>
                      <a:pt x="135" y="567"/>
                    </a:lnTo>
                    <a:lnTo>
                      <a:pt x="714" y="567"/>
                    </a:lnTo>
                    <a:lnTo>
                      <a:pt x="714" y="6"/>
                    </a:lnTo>
                    <a:lnTo>
                      <a:pt x="576" y="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38" name="Freeform 146"/>
              <p:cNvSpPr/>
              <p:nvPr/>
            </p:nvSpPr>
            <p:spPr bwMode="auto">
              <a:xfrm>
                <a:off x="4859" y="2738"/>
                <a:ext cx="711" cy="567"/>
              </a:xfrm>
              <a:custGeom>
                <a:avLst/>
                <a:gdLst>
                  <a:gd name="T0" fmla="*/ 0 w 711"/>
                  <a:gd name="T1" fmla="*/ 0 h 567"/>
                  <a:gd name="T2" fmla="*/ 130 w 711"/>
                  <a:gd name="T3" fmla="*/ 1 h 567"/>
                  <a:gd name="T4" fmla="*/ 132 w 711"/>
                  <a:gd name="T5" fmla="*/ 567 h 567"/>
                  <a:gd name="T6" fmla="*/ 711 w 711"/>
                  <a:gd name="T7" fmla="*/ 567 h 567"/>
                  <a:gd name="T8" fmla="*/ 711 w 711"/>
                  <a:gd name="T9" fmla="*/ 6 h 567"/>
                  <a:gd name="T10" fmla="*/ 564 w 711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11"/>
                  <a:gd name="T19" fmla="*/ 0 h 567"/>
                  <a:gd name="T20" fmla="*/ 711 w 711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11" h="567">
                    <a:moveTo>
                      <a:pt x="0" y="0"/>
                    </a:moveTo>
                    <a:lnTo>
                      <a:pt x="130" y="1"/>
                    </a:lnTo>
                    <a:lnTo>
                      <a:pt x="132" y="567"/>
                    </a:lnTo>
                    <a:lnTo>
                      <a:pt x="711" y="567"/>
                    </a:lnTo>
                    <a:lnTo>
                      <a:pt x="711" y="6"/>
                    </a:lnTo>
                    <a:lnTo>
                      <a:pt x="564" y="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39" name="Freeform 147"/>
              <p:cNvSpPr/>
              <p:nvPr/>
            </p:nvSpPr>
            <p:spPr bwMode="auto">
              <a:xfrm>
                <a:off x="1322" y="3398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40" name="Freeform 148"/>
              <p:cNvSpPr/>
              <p:nvPr/>
            </p:nvSpPr>
            <p:spPr bwMode="auto">
              <a:xfrm>
                <a:off x="2491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41" name="Freeform 149"/>
              <p:cNvSpPr/>
              <p:nvPr/>
            </p:nvSpPr>
            <p:spPr bwMode="auto">
              <a:xfrm>
                <a:off x="3643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42" name="Freeform 150"/>
              <p:cNvSpPr/>
              <p:nvPr/>
            </p:nvSpPr>
            <p:spPr bwMode="auto">
              <a:xfrm>
                <a:off x="4795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43" name="Freeform 151"/>
              <p:cNvSpPr/>
              <p:nvPr/>
            </p:nvSpPr>
            <p:spPr bwMode="auto">
              <a:xfrm>
                <a:off x="5276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44" name="Freeform 152"/>
              <p:cNvSpPr/>
              <p:nvPr/>
            </p:nvSpPr>
            <p:spPr bwMode="auto">
              <a:xfrm>
                <a:off x="4124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45" name="Freeform 153"/>
              <p:cNvSpPr/>
              <p:nvPr/>
            </p:nvSpPr>
            <p:spPr bwMode="auto">
              <a:xfrm>
                <a:off x="2972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46" name="Freeform 154"/>
              <p:cNvSpPr/>
              <p:nvPr/>
            </p:nvSpPr>
            <p:spPr bwMode="auto">
              <a:xfrm>
                <a:off x="1819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47" name="Freeform 155"/>
              <p:cNvSpPr/>
              <p:nvPr/>
            </p:nvSpPr>
            <p:spPr bwMode="auto">
              <a:xfrm>
                <a:off x="956" y="4025"/>
                <a:ext cx="4317" cy="1"/>
              </a:xfrm>
              <a:custGeom>
                <a:avLst/>
                <a:gdLst>
                  <a:gd name="T0" fmla="*/ 0 w 4317"/>
                  <a:gd name="T1" fmla="*/ 0 h 1"/>
                  <a:gd name="T2" fmla="*/ 4317 w 4317"/>
                  <a:gd name="T3" fmla="*/ 0 h 1"/>
                  <a:gd name="T4" fmla="*/ 0 60000 65536"/>
                  <a:gd name="T5" fmla="*/ 0 60000 65536"/>
                  <a:gd name="T6" fmla="*/ 0 w 4317"/>
                  <a:gd name="T7" fmla="*/ 0 h 1"/>
                  <a:gd name="T8" fmla="*/ 4317 w 431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317" h="1">
                    <a:moveTo>
                      <a:pt x="0" y="0"/>
                    </a:moveTo>
                    <a:lnTo>
                      <a:pt x="431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48" name="Freeform 156"/>
              <p:cNvSpPr/>
              <p:nvPr/>
            </p:nvSpPr>
            <p:spPr bwMode="auto">
              <a:xfrm>
                <a:off x="956" y="4121"/>
                <a:ext cx="3837" cy="1"/>
              </a:xfrm>
              <a:custGeom>
                <a:avLst/>
                <a:gdLst>
                  <a:gd name="T0" fmla="*/ 0 w 3837"/>
                  <a:gd name="T1" fmla="*/ 0 h 1"/>
                  <a:gd name="T2" fmla="*/ 3837 w 3837"/>
                  <a:gd name="T3" fmla="*/ 0 h 1"/>
                  <a:gd name="T4" fmla="*/ 0 60000 65536"/>
                  <a:gd name="T5" fmla="*/ 0 60000 65536"/>
                  <a:gd name="T6" fmla="*/ 0 w 3837"/>
                  <a:gd name="T7" fmla="*/ 0 h 1"/>
                  <a:gd name="T8" fmla="*/ 3837 w 383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37" h="1">
                    <a:moveTo>
                      <a:pt x="0" y="0"/>
                    </a:moveTo>
                    <a:lnTo>
                      <a:pt x="383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49" name="Freeform 157"/>
              <p:cNvSpPr/>
              <p:nvPr/>
            </p:nvSpPr>
            <p:spPr bwMode="auto">
              <a:xfrm>
                <a:off x="1322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50" name="Freeform 158"/>
              <p:cNvSpPr/>
              <p:nvPr/>
            </p:nvSpPr>
            <p:spPr bwMode="auto">
              <a:xfrm>
                <a:off x="2491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51" name="Freeform 159"/>
              <p:cNvSpPr/>
              <p:nvPr/>
            </p:nvSpPr>
            <p:spPr bwMode="auto">
              <a:xfrm>
                <a:off x="3643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52" name="Freeform 160"/>
              <p:cNvSpPr/>
              <p:nvPr/>
            </p:nvSpPr>
            <p:spPr bwMode="auto">
              <a:xfrm>
                <a:off x="4791" y="3881"/>
                <a:ext cx="4" cy="247"/>
              </a:xfrm>
              <a:custGeom>
                <a:avLst/>
                <a:gdLst>
                  <a:gd name="T0" fmla="*/ 4 w 4"/>
                  <a:gd name="T1" fmla="*/ 0 h 247"/>
                  <a:gd name="T2" fmla="*/ 0 w 4"/>
                  <a:gd name="T3" fmla="*/ 247 h 247"/>
                  <a:gd name="T4" fmla="*/ 0 60000 65536"/>
                  <a:gd name="T5" fmla="*/ 0 60000 65536"/>
                  <a:gd name="T6" fmla="*/ 0 w 4"/>
                  <a:gd name="T7" fmla="*/ 0 h 247"/>
                  <a:gd name="T8" fmla="*/ 4 w 4"/>
                  <a:gd name="T9" fmla="*/ 247 h 24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47">
                    <a:moveTo>
                      <a:pt x="4" y="0"/>
                    </a:moveTo>
                    <a:lnTo>
                      <a:pt x="0" y="247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53" name="Freeform 161"/>
              <p:cNvSpPr/>
              <p:nvPr/>
            </p:nvSpPr>
            <p:spPr bwMode="auto">
              <a:xfrm>
                <a:off x="5277" y="3881"/>
                <a:ext cx="1" cy="151"/>
              </a:xfrm>
              <a:custGeom>
                <a:avLst/>
                <a:gdLst>
                  <a:gd name="T0" fmla="*/ 0 w 1"/>
                  <a:gd name="T1" fmla="*/ 0 h 151"/>
                  <a:gd name="T2" fmla="*/ 0 w 1"/>
                  <a:gd name="T3" fmla="*/ 151 h 151"/>
                  <a:gd name="T4" fmla="*/ 0 60000 65536"/>
                  <a:gd name="T5" fmla="*/ 0 60000 65536"/>
                  <a:gd name="T6" fmla="*/ 0 w 1"/>
                  <a:gd name="T7" fmla="*/ 0 h 151"/>
                  <a:gd name="T8" fmla="*/ 1 w 1"/>
                  <a:gd name="T9" fmla="*/ 151 h 15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1">
                    <a:moveTo>
                      <a:pt x="0" y="0"/>
                    </a:moveTo>
                    <a:lnTo>
                      <a:pt x="0" y="15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54" name="Line 162"/>
              <p:cNvSpPr>
                <a:spLocks noChangeShapeType="1"/>
              </p:cNvSpPr>
              <p:nvPr/>
            </p:nvSpPr>
            <p:spPr bwMode="auto">
              <a:xfrm>
                <a:off x="4124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55" name="Line 163"/>
              <p:cNvSpPr>
                <a:spLocks noChangeShapeType="1"/>
              </p:cNvSpPr>
              <p:nvPr/>
            </p:nvSpPr>
            <p:spPr bwMode="auto">
              <a:xfrm>
                <a:off x="2973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56" name="Line 164"/>
              <p:cNvSpPr>
                <a:spLocks noChangeShapeType="1"/>
              </p:cNvSpPr>
              <p:nvPr/>
            </p:nvSpPr>
            <p:spPr bwMode="auto">
              <a:xfrm>
                <a:off x="1820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57" name="Rectangle 165"/>
              <p:cNvSpPr>
                <a:spLocks noChangeArrowheads="1"/>
              </p:cNvSpPr>
              <p:nvPr/>
            </p:nvSpPr>
            <p:spPr bwMode="auto">
              <a:xfrm>
                <a:off x="2317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0358" name="Text Box 166"/>
              <p:cNvSpPr txBox="1">
                <a:spLocks noChangeArrowheads="1"/>
              </p:cNvSpPr>
              <p:nvPr/>
            </p:nvSpPr>
            <p:spPr bwMode="auto">
              <a:xfrm>
                <a:off x="2348" y="3576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  <p:sp>
            <p:nvSpPr>
              <p:cNvPr id="130359" name="Rectangle 167"/>
              <p:cNvSpPr>
                <a:spLocks noChangeArrowheads="1"/>
              </p:cNvSpPr>
              <p:nvPr/>
            </p:nvSpPr>
            <p:spPr bwMode="auto">
              <a:xfrm>
                <a:off x="3469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0360" name="Text Box 168"/>
              <p:cNvSpPr txBox="1">
                <a:spLocks noChangeArrowheads="1"/>
              </p:cNvSpPr>
              <p:nvPr/>
            </p:nvSpPr>
            <p:spPr bwMode="auto">
              <a:xfrm>
                <a:off x="3500" y="3576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  <p:sp>
            <p:nvSpPr>
              <p:cNvPr id="130361" name="Rectangle 169"/>
              <p:cNvSpPr>
                <a:spLocks noChangeArrowheads="1"/>
              </p:cNvSpPr>
              <p:nvPr/>
            </p:nvSpPr>
            <p:spPr bwMode="auto">
              <a:xfrm>
                <a:off x="462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0362" name="Text Box 170"/>
              <p:cNvSpPr txBox="1">
                <a:spLocks noChangeArrowheads="1"/>
              </p:cNvSpPr>
              <p:nvPr/>
            </p:nvSpPr>
            <p:spPr bwMode="auto">
              <a:xfrm>
                <a:off x="4652" y="3576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  <p:sp>
            <p:nvSpPr>
              <p:cNvPr id="130363" name="Line 171"/>
              <p:cNvSpPr>
                <a:spLocks noChangeShapeType="1"/>
              </p:cNvSpPr>
              <p:nvPr/>
            </p:nvSpPr>
            <p:spPr bwMode="auto">
              <a:xfrm>
                <a:off x="196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64" name="Line 172"/>
              <p:cNvSpPr>
                <a:spLocks noChangeShapeType="1"/>
              </p:cNvSpPr>
              <p:nvPr/>
            </p:nvSpPr>
            <p:spPr bwMode="auto">
              <a:xfrm>
                <a:off x="31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65" name="Line 173"/>
              <p:cNvSpPr>
                <a:spLocks noChangeShapeType="1"/>
              </p:cNvSpPr>
              <p:nvPr/>
            </p:nvSpPr>
            <p:spPr bwMode="auto">
              <a:xfrm>
                <a:off x="4293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66" name="Line 174"/>
              <p:cNvSpPr>
                <a:spLocks noChangeShapeType="1"/>
              </p:cNvSpPr>
              <p:nvPr/>
            </p:nvSpPr>
            <p:spPr bwMode="auto">
              <a:xfrm>
                <a:off x="5420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67" name="Freeform 175"/>
              <p:cNvSpPr/>
              <p:nvPr/>
            </p:nvSpPr>
            <p:spPr bwMode="auto">
              <a:xfrm>
                <a:off x="3033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7711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68" name="Freeform 176"/>
              <p:cNvSpPr/>
              <p:nvPr/>
            </p:nvSpPr>
            <p:spPr bwMode="auto">
              <a:xfrm>
                <a:off x="4185" y="2691"/>
                <a:ext cx="1" cy="525"/>
              </a:xfrm>
              <a:custGeom>
                <a:avLst/>
                <a:gdLst>
                  <a:gd name="T0" fmla="*/ 0 w 1"/>
                  <a:gd name="T1" fmla="*/ 0 h 525"/>
                  <a:gd name="T2" fmla="*/ 0 w 1"/>
                  <a:gd name="T3" fmla="*/ 525 h 525"/>
                  <a:gd name="T4" fmla="*/ 0 60000 65536"/>
                  <a:gd name="T5" fmla="*/ 0 60000 65536"/>
                  <a:gd name="T6" fmla="*/ 0 w 1"/>
                  <a:gd name="T7" fmla="*/ 0 h 525"/>
                  <a:gd name="T8" fmla="*/ 1 w 1"/>
                  <a:gd name="T9" fmla="*/ 525 h 52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525">
                    <a:moveTo>
                      <a:pt x="0" y="0"/>
                    </a:moveTo>
                    <a:lnTo>
                      <a:pt x="0" y="52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69" name="Freeform 177"/>
              <p:cNvSpPr/>
              <p:nvPr/>
            </p:nvSpPr>
            <p:spPr bwMode="auto">
              <a:xfrm>
                <a:off x="5325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7711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70" name="Text Box 178"/>
              <p:cNvSpPr txBox="1">
                <a:spLocks noChangeArrowheads="1"/>
              </p:cNvSpPr>
              <p:nvPr/>
            </p:nvSpPr>
            <p:spPr bwMode="auto">
              <a:xfrm rot="5400000">
                <a:off x="1193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0371" name="Text Box 179"/>
              <p:cNvSpPr txBox="1">
                <a:spLocks noChangeArrowheads="1"/>
              </p:cNvSpPr>
              <p:nvPr/>
            </p:nvSpPr>
            <p:spPr bwMode="auto">
              <a:xfrm rot="5400000">
                <a:off x="1769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0372" name="Text Box 180"/>
              <p:cNvSpPr txBox="1">
                <a:spLocks noChangeArrowheads="1"/>
              </p:cNvSpPr>
              <p:nvPr/>
            </p:nvSpPr>
            <p:spPr bwMode="auto">
              <a:xfrm rot="5400000">
                <a:off x="2345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0373" name="Text Box 181"/>
              <p:cNvSpPr txBox="1">
                <a:spLocks noChangeArrowheads="1"/>
              </p:cNvSpPr>
              <p:nvPr/>
            </p:nvSpPr>
            <p:spPr bwMode="auto">
              <a:xfrm rot="5400000">
                <a:off x="2921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0374" name="Text Box 182"/>
              <p:cNvSpPr txBox="1">
                <a:spLocks noChangeArrowheads="1"/>
              </p:cNvSpPr>
              <p:nvPr/>
            </p:nvSpPr>
            <p:spPr bwMode="auto">
              <a:xfrm rot="5400000">
                <a:off x="3496" y="1627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375" name="Text Box 183"/>
              <p:cNvSpPr txBox="1">
                <a:spLocks noChangeArrowheads="1"/>
              </p:cNvSpPr>
              <p:nvPr/>
            </p:nvSpPr>
            <p:spPr bwMode="auto">
              <a:xfrm rot="5400000">
                <a:off x="4073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376" name="Text Box 184"/>
              <p:cNvSpPr txBox="1">
                <a:spLocks noChangeArrowheads="1"/>
              </p:cNvSpPr>
              <p:nvPr/>
            </p:nvSpPr>
            <p:spPr bwMode="auto">
              <a:xfrm rot="5400000">
                <a:off x="4649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377" name="Text Box 185"/>
              <p:cNvSpPr txBox="1">
                <a:spLocks noChangeArrowheads="1"/>
              </p:cNvSpPr>
              <p:nvPr/>
            </p:nvSpPr>
            <p:spPr bwMode="auto">
              <a:xfrm rot="5400000">
                <a:off x="5244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378" name="Text Box 186"/>
              <p:cNvSpPr txBox="1">
                <a:spLocks noChangeArrowheads="1"/>
              </p:cNvSpPr>
              <p:nvPr/>
            </p:nvSpPr>
            <p:spPr bwMode="auto">
              <a:xfrm>
                <a:off x="660" y="791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30379" name="Text Box 187"/>
              <p:cNvSpPr txBox="1">
                <a:spLocks noChangeArrowheads="1"/>
              </p:cNvSpPr>
              <p:nvPr/>
            </p:nvSpPr>
            <p:spPr bwMode="auto">
              <a:xfrm>
                <a:off x="660" y="1383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30380" name="Text Box 188"/>
              <p:cNvSpPr txBox="1">
                <a:spLocks noChangeArrowheads="1"/>
              </p:cNvSpPr>
              <p:nvPr/>
            </p:nvSpPr>
            <p:spPr bwMode="auto">
              <a:xfrm>
                <a:off x="624" y="19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63</a:t>
                </a:r>
              </a:p>
            </p:txBody>
          </p:sp>
          <p:sp>
            <p:nvSpPr>
              <p:cNvPr id="130381" name="Line 189"/>
              <p:cNvSpPr>
                <a:spLocks noChangeShapeType="1"/>
              </p:cNvSpPr>
              <p:nvPr/>
            </p:nvSpPr>
            <p:spPr bwMode="auto">
              <a:xfrm>
                <a:off x="332" y="2537"/>
                <a:ext cx="57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382" name="Text Box 190"/>
              <p:cNvSpPr txBox="1">
                <a:spLocks noChangeArrowheads="1"/>
              </p:cNvSpPr>
              <p:nvPr/>
            </p:nvSpPr>
            <p:spPr bwMode="auto">
              <a:xfrm>
                <a:off x="660" y="2727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30383" name="Text Box 191"/>
              <p:cNvSpPr txBox="1">
                <a:spLocks noChangeArrowheads="1"/>
              </p:cNvSpPr>
              <p:nvPr/>
            </p:nvSpPr>
            <p:spPr bwMode="auto">
              <a:xfrm>
                <a:off x="624" y="31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30384" name="Text Box 192"/>
              <p:cNvSpPr txBox="1">
                <a:spLocks noChangeArrowheads="1"/>
              </p:cNvSpPr>
              <p:nvPr/>
            </p:nvSpPr>
            <p:spPr bwMode="auto">
              <a:xfrm rot="5400000">
                <a:off x="665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0385" name="Text Box 193"/>
              <p:cNvSpPr txBox="1">
                <a:spLocks noChangeArrowheads="1"/>
              </p:cNvSpPr>
              <p:nvPr/>
            </p:nvSpPr>
            <p:spPr bwMode="auto">
              <a:xfrm rot="5400000">
                <a:off x="665" y="2876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0386" name="Text Box 194"/>
              <p:cNvSpPr txBox="1">
                <a:spLocks noChangeArrowheads="1"/>
              </p:cNvSpPr>
              <p:nvPr/>
            </p:nvSpPr>
            <p:spPr bwMode="auto">
              <a:xfrm>
                <a:off x="348" y="101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行</a:t>
                </a:r>
              </a:p>
            </p:txBody>
          </p:sp>
          <p:sp>
            <p:nvSpPr>
              <p:cNvPr id="130387" name="Text Box 195"/>
              <p:cNvSpPr txBox="1">
                <a:spLocks noChangeArrowheads="1"/>
              </p:cNvSpPr>
              <p:nvPr/>
            </p:nvSpPr>
            <p:spPr bwMode="auto">
              <a:xfrm>
                <a:off x="348" y="126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地</a:t>
                </a:r>
              </a:p>
            </p:txBody>
          </p:sp>
          <p:sp>
            <p:nvSpPr>
              <p:cNvPr id="130388" name="Text Box 196"/>
              <p:cNvSpPr txBox="1">
                <a:spLocks noChangeArrowheads="1"/>
              </p:cNvSpPr>
              <p:nvPr/>
            </p:nvSpPr>
            <p:spPr bwMode="auto">
              <a:xfrm>
                <a:off x="348" y="151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址</a:t>
                </a:r>
              </a:p>
            </p:txBody>
          </p:sp>
          <p:sp>
            <p:nvSpPr>
              <p:cNvPr id="130389" name="Text Box 197"/>
              <p:cNvSpPr txBox="1">
                <a:spLocks noChangeArrowheads="1"/>
              </p:cNvSpPr>
              <p:nvPr/>
            </p:nvSpPr>
            <p:spPr bwMode="auto">
              <a:xfrm>
                <a:off x="348" y="175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译</a:t>
                </a:r>
              </a:p>
            </p:txBody>
          </p:sp>
          <p:sp>
            <p:nvSpPr>
              <p:cNvPr id="130390" name="Text Box 198"/>
              <p:cNvSpPr txBox="1">
                <a:spLocks noChangeArrowheads="1"/>
              </p:cNvSpPr>
              <p:nvPr/>
            </p:nvSpPr>
            <p:spPr bwMode="auto">
              <a:xfrm>
                <a:off x="348" y="200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码</a:t>
                </a:r>
              </a:p>
            </p:txBody>
          </p:sp>
          <p:sp>
            <p:nvSpPr>
              <p:cNvPr id="130391" name="Text Box 199"/>
              <p:cNvSpPr txBox="1">
                <a:spLocks noChangeArrowheads="1"/>
              </p:cNvSpPr>
              <p:nvPr/>
            </p:nvSpPr>
            <p:spPr bwMode="auto">
              <a:xfrm>
                <a:off x="375" y="263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列</a:t>
                </a:r>
              </a:p>
            </p:txBody>
          </p:sp>
          <p:sp>
            <p:nvSpPr>
              <p:cNvPr id="130392" name="Text Box 200"/>
              <p:cNvSpPr txBox="1">
                <a:spLocks noChangeArrowheads="1"/>
              </p:cNvSpPr>
              <p:nvPr/>
            </p:nvSpPr>
            <p:spPr bwMode="auto">
              <a:xfrm>
                <a:off x="375" y="288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地</a:t>
                </a:r>
              </a:p>
            </p:txBody>
          </p:sp>
          <p:sp>
            <p:nvSpPr>
              <p:cNvPr id="130393" name="Text Box 201"/>
              <p:cNvSpPr txBox="1">
                <a:spLocks noChangeArrowheads="1"/>
              </p:cNvSpPr>
              <p:nvPr/>
            </p:nvSpPr>
            <p:spPr bwMode="auto">
              <a:xfrm>
                <a:off x="375" y="313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址</a:t>
                </a:r>
              </a:p>
            </p:txBody>
          </p:sp>
          <p:sp>
            <p:nvSpPr>
              <p:cNvPr id="130394" name="Text Box 202"/>
              <p:cNvSpPr txBox="1">
                <a:spLocks noChangeArrowheads="1"/>
              </p:cNvSpPr>
              <p:nvPr/>
            </p:nvSpPr>
            <p:spPr bwMode="auto">
              <a:xfrm>
                <a:off x="375" y="337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译</a:t>
                </a:r>
              </a:p>
            </p:txBody>
          </p:sp>
          <p:sp>
            <p:nvSpPr>
              <p:cNvPr id="130395" name="Text Box 203"/>
              <p:cNvSpPr txBox="1">
                <a:spLocks noChangeArrowheads="1"/>
              </p:cNvSpPr>
              <p:nvPr/>
            </p:nvSpPr>
            <p:spPr bwMode="auto">
              <a:xfrm>
                <a:off x="375" y="362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码</a:t>
                </a:r>
              </a:p>
            </p:txBody>
          </p:sp>
          <p:sp>
            <p:nvSpPr>
              <p:cNvPr id="130396" name="Text Box 204"/>
              <p:cNvSpPr txBox="1">
                <a:spLocks noChangeArrowheads="1"/>
              </p:cNvSpPr>
              <p:nvPr/>
            </p:nvSpPr>
            <p:spPr bwMode="auto">
              <a:xfrm>
                <a:off x="194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30397" name="Text Box 205"/>
              <p:cNvSpPr txBox="1">
                <a:spLocks noChangeArrowheads="1"/>
              </p:cNvSpPr>
              <p:nvPr/>
            </p:nvSpPr>
            <p:spPr bwMode="auto">
              <a:xfrm>
                <a:off x="310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2</a:t>
                </a:r>
              </a:p>
            </p:txBody>
          </p:sp>
          <p:sp>
            <p:nvSpPr>
              <p:cNvPr id="130398" name="Text Box 206"/>
              <p:cNvSpPr txBox="1">
                <a:spLocks noChangeArrowheads="1"/>
              </p:cNvSpPr>
              <p:nvPr/>
            </p:nvSpPr>
            <p:spPr bwMode="auto">
              <a:xfrm>
                <a:off x="4256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3</a:t>
                </a:r>
              </a:p>
            </p:txBody>
          </p:sp>
          <p:sp>
            <p:nvSpPr>
              <p:cNvPr id="130399" name="Text Box 207"/>
              <p:cNvSpPr txBox="1">
                <a:spLocks noChangeArrowheads="1"/>
              </p:cNvSpPr>
              <p:nvPr/>
            </p:nvSpPr>
            <p:spPr bwMode="auto">
              <a:xfrm>
                <a:off x="541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sp>
            <p:nvSpPr>
              <p:cNvPr id="130400" name="Line 208"/>
              <p:cNvSpPr>
                <a:spLocks noChangeShapeType="1"/>
              </p:cNvSpPr>
              <p:nvPr/>
            </p:nvSpPr>
            <p:spPr bwMode="auto">
              <a:xfrm>
                <a:off x="140" y="905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401" name="Line 209"/>
              <p:cNvSpPr>
                <a:spLocks noChangeShapeType="1"/>
              </p:cNvSpPr>
              <p:nvPr/>
            </p:nvSpPr>
            <p:spPr bwMode="auto">
              <a:xfrm>
                <a:off x="140" y="116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402" name="Line 210"/>
              <p:cNvSpPr>
                <a:spLocks noChangeShapeType="1"/>
              </p:cNvSpPr>
              <p:nvPr/>
            </p:nvSpPr>
            <p:spPr bwMode="auto">
              <a:xfrm>
                <a:off x="140" y="142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403" name="Line 211"/>
              <p:cNvSpPr>
                <a:spLocks noChangeShapeType="1"/>
              </p:cNvSpPr>
              <p:nvPr/>
            </p:nvSpPr>
            <p:spPr bwMode="auto">
              <a:xfrm>
                <a:off x="140" y="168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404" name="Line 212"/>
              <p:cNvSpPr>
                <a:spLocks noChangeShapeType="1"/>
              </p:cNvSpPr>
              <p:nvPr/>
            </p:nvSpPr>
            <p:spPr bwMode="auto">
              <a:xfrm>
                <a:off x="140" y="194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405" name="Line 213"/>
              <p:cNvSpPr>
                <a:spLocks noChangeShapeType="1"/>
              </p:cNvSpPr>
              <p:nvPr/>
            </p:nvSpPr>
            <p:spPr bwMode="auto">
              <a:xfrm>
                <a:off x="140" y="220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406" name="Line 214"/>
              <p:cNvSpPr>
                <a:spLocks noChangeShapeType="1"/>
              </p:cNvSpPr>
              <p:nvPr/>
            </p:nvSpPr>
            <p:spPr bwMode="auto">
              <a:xfrm>
                <a:off x="140" y="287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407" name="Line 215"/>
              <p:cNvSpPr>
                <a:spLocks noChangeShapeType="1"/>
              </p:cNvSpPr>
              <p:nvPr/>
            </p:nvSpPr>
            <p:spPr bwMode="auto">
              <a:xfrm>
                <a:off x="140" y="313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408" name="Line 216"/>
              <p:cNvSpPr>
                <a:spLocks noChangeShapeType="1"/>
              </p:cNvSpPr>
              <p:nvPr/>
            </p:nvSpPr>
            <p:spPr bwMode="auto">
              <a:xfrm>
                <a:off x="140" y="339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409" name="Line 217"/>
              <p:cNvSpPr>
                <a:spLocks noChangeShapeType="1"/>
              </p:cNvSpPr>
              <p:nvPr/>
            </p:nvSpPr>
            <p:spPr bwMode="auto">
              <a:xfrm>
                <a:off x="140" y="365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410" name="Text Box 218"/>
              <p:cNvSpPr txBox="1">
                <a:spLocks noChangeArrowheads="1"/>
              </p:cNvSpPr>
              <p:nvPr/>
            </p:nvSpPr>
            <p:spPr bwMode="auto">
              <a:xfrm>
                <a:off x="648" y="3890"/>
                <a:ext cx="35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WE</a:t>
                </a:r>
              </a:p>
            </p:txBody>
          </p:sp>
          <p:sp>
            <p:nvSpPr>
              <p:cNvPr id="130411" name="Line 219"/>
              <p:cNvSpPr>
                <a:spLocks noChangeShapeType="1"/>
              </p:cNvSpPr>
              <p:nvPr/>
            </p:nvSpPr>
            <p:spPr bwMode="auto">
              <a:xfrm>
                <a:off x="682" y="3923"/>
                <a:ext cx="288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412" name="Text Box 220"/>
              <p:cNvSpPr txBox="1">
                <a:spLocks noChangeArrowheads="1"/>
              </p:cNvSpPr>
              <p:nvPr/>
            </p:nvSpPr>
            <p:spPr bwMode="auto">
              <a:xfrm>
                <a:off x="668" y="4025"/>
                <a:ext cx="32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CS</a:t>
                </a:r>
              </a:p>
            </p:txBody>
          </p:sp>
          <p:sp>
            <p:nvSpPr>
              <p:cNvPr id="130413" name="Line 221"/>
              <p:cNvSpPr>
                <a:spLocks noChangeShapeType="1"/>
              </p:cNvSpPr>
              <p:nvPr/>
            </p:nvSpPr>
            <p:spPr bwMode="auto">
              <a:xfrm>
                <a:off x="726" y="4079"/>
                <a:ext cx="192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30162" name="Group 222"/>
            <p:cNvGrpSpPr/>
            <p:nvPr/>
          </p:nvGrpSpPr>
          <p:grpSpPr bwMode="auto">
            <a:xfrm>
              <a:off x="915" y="1649"/>
              <a:ext cx="4166" cy="1237"/>
              <a:chOff x="915" y="1649"/>
              <a:chExt cx="4166" cy="1237"/>
            </a:xfrm>
          </p:grpSpPr>
          <p:grpSp>
            <p:nvGrpSpPr>
              <p:cNvPr id="130163" name="Group 223"/>
              <p:cNvGrpSpPr/>
              <p:nvPr/>
            </p:nvGrpSpPr>
            <p:grpSpPr bwMode="auto">
              <a:xfrm>
                <a:off x="915" y="2633"/>
                <a:ext cx="3945" cy="253"/>
                <a:chOff x="915" y="2633"/>
                <a:chExt cx="3945" cy="253"/>
              </a:xfrm>
            </p:grpSpPr>
            <p:grpSp>
              <p:nvGrpSpPr>
                <p:cNvPr id="130172" name="Group 224"/>
                <p:cNvGrpSpPr/>
                <p:nvPr/>
              </p:nvGrpSpPr>
              <p:grpSpPr bwMode="auto">
                <a:xfrm>
                  <a:off x="915" y="2696"/>
                  <a:ext cx="3858" cy="190"/>
                  <a:chOff x="915" y="2696"/>
                  <a:chExt cx="3858" cy="190"/>
                </a:xfrm>
              </p:grpSpPr>
              <p:sp>
                <p:nvSpPr>
                  <p:cNvPr id="130205" name="Freeform 225"/>
                  <p:cNvSpPr/>
                  <p:nvPr/>
                </p:nvSpPr>
                <p:spPr bwMode="auto">
                  <a:xfrm>
                    <a:off x="1304" y="2707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  <a:gd name="T6" fmla="*/ 0 w 1"/>
                      <a:gd name="T7" fmla="*/ 0 h 166"/>
                      <a:gd name="T8" fmla="*/ 1 w 1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0206" name="Freeform 226"/>
                  <p:cNvSpPr/>
                  <p:nvPr/>
                </p:nvSpPr>
                <p:spPr bwMode="auto">
                  <a:xfrm>
                    <a:off x="2457" y="2710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  <a:gd name="T6" fmla="*/ 0 w 1"/>
                      <a:gd name="T7" fmla="*/ 0 h 166"/>
                      <a:gd name="T8" fmla="*/ 1 w 1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0207" name="Freeform 227"/>
                  <p:cNvSpPr/>
                  <p:nvPr/>
                </p:nvSpPr>
                <p:spPr bwMode="auto">
                  <a:xfrm>
                    <a:off x="3609" y="2710"/>
                    <a:ext cx="1" cy="176"/>
                  </a:xfrm>
                  <a:custGeom>
                    <a:avLst/>
                    <a:gdLst>
                      <a:gd name="T0" fmla="*/ 0 w 1"/>
                      <a:gd name="T1" fmla="*/ 0 h 176"/>
                      <a:gd name="T2" fmla="*/ 0 w 1"/>
                      <a:gd name="T3" fmla="*/ 176 h 176"/>
                      <a:gd name="T4" fmla="*/ 0 60000 65536"/>
                      <a:gd name="T5" fmla="*/ 0 60000 65536"/>
                      <a:gd name="T6" fmla="*/ 0 w 1"/>
                      <a:gd name="T7" fmla="*/ 0 h 176"/>
                      <a:gd name="T8" fmla="*/ 1 w 1"/>
                      <a:gd name="T9" fmla="*/ 176 h 17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76">
                        <a:moveTo>
                          <a:pt x="0" y="0"/>
                        </a:moveTo>
                        <a:lnTo>
                          <a:pt x="0" y="17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0208" name="Freeform 228"/>
                  <p:cNvSpPr/>
                  <p:nvPr/>
                </p:nvSpPr>
                <p:spPr bwMode="auto">
                  <a:xfrm>
                    <a:off x="4761" y="2696"/>
                    <a:ext cx="1" cy="178"/>
                  </a:xfrm>
                  <a:custGeom>
                    <a:avLst/>
                    <a:gdLst>
                      <a:gd name="T0" fmla="*/ 0 w 1"/>
                      <a:gd name="T1" fmla="*/ 0 h 178"/>
                      <a:gd name="T2" fmla="*/ 0 w 1"/>
                      <a:gd name="T3" fmla="*/ 178 h 178"/>
                      <a:gd name="T4" fmla="*/ 0 60000 65536"/>
                      <a:gd name="T5" fmla="*/ 0 60000 65536"/>
                      <a:gd name="T6" fmla="*/ 0 w 1"/>
                      <a:gd name="T7" fmla="*/ 0 h 178"/>
                      <a:gd name="T8" fmla="*/ 1 w 1"/>
                      <a:gd name="T9" fmla="*/ 178 h 178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78">
                        <a:moveTo>
                          <a:pt x="0" y="0"/>
                        </a:moveTo>
                        <a:lnTo>
                          <a:pt x="0" y="178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0209" name="Freeform 229"/>
                  <p:cNvSpPr/>
                  <p:nvPr/>
                </p:nvSpPr>
                <p:spPr bwMode="auto">
                  <a:xfrm>
                    <a:off x="915" y="2865"/>
                    <a:ext cx="3858" cy="2"/>
                  </a:xfrm>
                  <a:custGeom>
                    <a:avLst/>
                    <a:gdLst>
                      <a:gd name="T0" fmla="*/ 0 w 3858"/>
                      <a:gd name="T1" fmla="*/ 2 h 2"/>
                      <a:gd name="T2" fmla="*/ 3858 w 3858"/>
                      <a:gd name="T3" fmla="*/ 0 h 2"/>
                      <a:gd name="T4" fmla="*/ 0 60000 65536"/>
                      <a:gd name="T5" fmla="*/ 0 60000 65536"/>
                      <a:gd name="T6" fmla="*/ 0 w 3858"/>
                      <a:gd name="T7" fmla="*/ 0 h 2"/>
                      <a:gd name="T8" fmla="*/ 3858 w 3858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3858" h="2">
                        <a:moveTo>
                          <a:pt x="0" y="2"/>
                        </a:moveTo>
                        <a:lnTo>
                          <a:pt x="3858" y="0"/>
                        </a:lnTo>
                      </a:path>
                    </a:pathLst>
                  </a:custGeom>
                  <a:noFill/>
                  <a:ln w="76200" cmpd="sng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30173" name="Group 230"/>
                <p:cNvGrpSpPr/>
                <p:nvPr/>
              </p:nvGrpSpPr>
              <p:grpSpPr bwMode="auto">
                <a:xfrm>
                  <a:off x="1213" y="2633"/>
                  <a:ext cx="192" cy="158"/>
                  <a:chOff x="1440" y="2928"/>
                  <a:chExt cx="192" cy="158"/>
                </a:xfrm>
              </p:grpSpPr>
              <p:grpSp>
                <p:nvGrpSpPr>
                  <p:cNvPr id="130198" name="Group 231"/>
                  <p:cNvGrpSpPr/>
                  <p:nvPr/>
                </p:nvGrpSpPr>
                <p:grpSpPr bwMode="auto">
                  <a:xfrm rot="5400000">
                    <a:off x="1529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130203" name="Line 23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30204" name="Line 23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30199" name="Freeform 234"/>
                  <p:cNvSpPr/>
                  <p:nvPr/>
                </p:nvSpPr>
                <p:spPr bwMode="auto">
                  <a:xfrm>
                    <a:off x="1487" y="3003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30200" name="Group 235"/>
                  <p:cNvGrpSpPr/>
                  <p:nvPr/>
                </p:nvGrpSpPr>
                <p:grpSpPr bwMode="auto">
                  <a:xfrm rot="-5400000">
                    <a:off x="1385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130201" name="Line 23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30202" name="Line 23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130174" name="Group 238"/>
                <p:cNvGrpSpPr/>
                <p:nvPr/>
              </p:nvGrpSpPr>
              <p:grpSpPr bwMode="auto">
                <a:xfrm>
                  <a:off x="2365" y="2635"/>
                  <a:ext cx="192" cy="158"/>
                  <a:chOff x="1440" y="2928"/>
                  <a:chExt cx="192" cy="158"/>
                </a:xfrm>
              </p:grpSpPr>
              <p:grpSp>
                <p:nvGrpSpPr>
                  <p:cNvPr id="130191" name="Group 239"/>
                  <p:cNvGrpSpPr/>
                  <p:nvPr/>
                </p:nvGrpSpPr>
                <p:grpSpPr bwMode="auto">
                  <a:xfrm rot="5400000">
                    <a:off x="1529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130196" name="Line 24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30197" name="Line 24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30192" name="Freeform 242"/>
                  <p:cNvSpPr/>
                  <p:nvPr/>
                </p:nvSpPr>
                <p:spPr bwMode="auto">
                  <a:xfrm>
                    <a:off x="1487" y="3003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30193" name="Group 243"/>
                  <p:cNvGrpSpPr/>
                  <p:nvPr/>
                </p:nvGrpSpPr>
                <p:grpSpPr bwMode="auto">
                  <a:xfrm rot="-5400000">
                    <a:off x="1385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130194" name="Line 24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30195" name="Line 24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130175" name="Group 246"/>
                <p:cNvGrpSpPr/>
                <p:nvPr/>
              </p:nvGrpSpPr>
              <p:grpSpPr bwMode="auto">
                <a:xfrm>
                  <a:off x="3517" y="2635"/>
                  <a:ext cx="192" cy="158"/>
                  <a:chOff x="1440" y="2928"/>
                  <a:chExt cx="192" cy="158"/>
                </a:xfrm>
              </p:grpSpPr>
              <p:grpSp>
                <p:nvGrpSpPr>
                  <p:cNvPr id="130184" name="Group 247"/>
                  <p:cNvGrpSpPr/>
                  <p:nvPr/>
                </p:nvGrpSpPr>
                <p:grpSpPr bwMode="auto">
                  <a:xfrm rot="5400000">
                    <a:off x="1529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130189" name="Line 24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30190" name="Line 24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30185" name="Freeform 250"/>
                  <p:cNvSpPr/>
                  <p:nvPr/>
                </p:nvSpPr>
                <p:spPr bwMode="auto">
                  <a:xfrm>
                    <a:off x="1487" y="3003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30186" name="Group 251"/>
                  <p:cNvGrpSpPr/>
                  <p:nvPr/>
                </p:nvGrpSpPr>
                <p:grpSpPr bwMode="auto">
                  <a:xfrm rot="-5400000">
                    <a:off x="1385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130187" name="Line 25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30188" name="Line 25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130176" name="Group 254"/>
                <p:cNvGrpSpPr/>
                <p:nvPr/>
              </p:nvGrpSpPr>
              <p:grpSpPr bwMode="auto">
                <a:xfrm>
                  <a:off x="4668" y="2635"/>
                  <a:ext cx="192" cy="158"/>
                  <a:chOff x="1440" y="2928"/>
                  <a:chExt cx="192" cy="158"/>
                </a:xfrm>
              </p:grpSpPr>
              <p:grpSp>
                <p:nvGrpSpPr>
                  <p:cNvPr id="130177" name="Group 255"/>
                  <p:cNvGrpSpPr/>
                  <p:nvPr/>
                </p:nvGrpSpPr>
                <p:grpSpPr bwMode="auto">
                  <a:xfrm rot="5400000">
                    <a:off x="1529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130182" name="Line 25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30183" name="Line 25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30178" name="Freeform 258"/>
                  <p:cNvSpPr/>
                  <p:nvPr/>
                </p:nvSpPr>
                <p:spPr bwMode="auto">
                  <a:xfrm>
                    <a:off x="1487" y="3003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30179" name="Group 259"/>
                  <p:cNvGrpSpPr/>
                  <p:nvPr/>
                </p:nvGrpSpPr>
                <p:grpSpPr bwMode="auto">
                  <a:xfrm rot="-5400000">
                    <a:off x="1385" y="2983"/>
                    <a:ext cx="158" cy="48"/>
                    <a:chOff x="3459" y="1296"/>
                    <a:chExt cx="243" cy="48"/>
                  </a:xfrm>
                </p:grpSpPr>
                <p:sp>
                  <p:nvSpPr>
                    <p:cNvPr id="130180" name="Line 26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459" y="1296"/>
                      <a:ext cx="243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30181" name="Line 26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4" y="1344"/>
                      <a:ext cx="14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</p:grpSp>
          <p:sp>
            <p:nvSpPr>
              <p:cNvPr id="130164" name="Rectangle 262"/>
              <p:cNvSpPr>
                <a:spLocks noChangeArrowheads="1"/>
              </p:cNvSpPr>
              <p:nvPr/>
            </p:nvSpPr>
            <p:spPr bwMode="auto">
              <a:xfrm>
                <a:off x="1152" y="2217"/>
                <a:ext cx="288" cy="27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30165" name="Text Box 263"/>
              <p:cNvSpPr txBox="1">
                <a:spLocks noChangeArrowheads="1"/>
              </p:cNvSpPr>
              <p:nvPr/>
            </p:nvSpPr>
            <p:spPr bwMode="auto">
              <a:xfrm>
                <a:off x="1152" y="1649"/>
                <a:ext cx="462" cy="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0166" name="Rectangle 264"/>
              <p:cNvSpPr>
                <a:spLocks noChangeArrowheads="1"/>
              </p:cNvSpPr>
              <p:nvPr/>
            </p:nvSpPr>
            <p:spPr bwMode="auto">
              <a:xfrm>
                <a:off x="2293" y="2217"/>
                <a:ext cx="288" cy="27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16</a:t>
                </a:r>
              </a:p>
            </p:txBody>
          </p:sp>
          <p:sp>
            <p:nvSpPr>
              <p:cNvPr id="130167" name="Rectangle 265"/>
              <p:cNvSpPr>
                <a:spLocks noChangeArrowheads="1"/>
              </p:cNvSpPr>
              <p:nvPr/>
            </p:nvSpPr>
            <p:spPr bwMode="auto">
              <a:xfrm>
                <a:off x="4604" y="2217"/>
                <a:ext cx="288" cy="27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48</a:t>
                </a:r>
              </a:p>
            </p:txBody>
          </p:sp>
          <p:sp>
            <p:nvSpPr>
              <p:cNvPr id="130168" name="Rectangle 266"/>
              <p:cNvSpPr>
                <a:spLocks noChangeArrowheads="1"/>
              </p:cNvSpPr>
              <p:nvPr/>
            </p:nvSpPr>
            <p:spPr bwMode="auto">
              <a:xfrm>
                <a:off x="3466" y="2217"/>
                <a:ext cx="288" cy="27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32</a:t>
                </a:r>
              </a:p>
            </p:txBody>
          </p:sp>
          <p:sp>
            <p:nvSpPr>
              <p:cNvPr id="130169" name="Text Box 267"/>
              <p:cNvSpPr txBox="1">
                <a:spLocks noChangeArrowheads="1"/>
              </p:cNvSpPr>
              <p:nvPr/>
            </p:nvSpPr>
            <p:spPr bwMode="auto">
              <a:xfrm>
                <a:off x="2316" y="1649"/>
                <a:ext cx="462" cy="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0170" name="Text Box 268"/>
              <p:cNvSpPr txBox="1">
                <a:spLocks noChangeArrowheads="1"/>
              </p:cNvSpPr>
              <p:nvPr/>
            </p:nvSpPr>
            <p:spPr bwMode="auto">
              <a:xfrm>
                <a:off x="3464" y="1649"/>
                <a:ext cx="462" cy="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0171" name="Text Box 269"/>
              <p:cNvSpPr txBox="1">
                <a:spLocks noChangeArrowheads="1"/>
              </p:cNvSpPr>
              <p:nvPr/>
            </p:nvSpPr>
            <p:spPr bwMode="auto">
              <a:xfrm>
                <a:off x="4619" y="1649"/>
                <a:ext cx="462" cy="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</p:grpSp>
      <p:grpSp>
        <p:nvGrpSpPr>
          <p:cNvPr id="130051" name="Group 270"/>
          <p:cNvGrpSpPr/>
          <p:nvPr/>
        </p:nvGrpSpPr>
        <p:grpSpPr bwMode="auto">
          <a:xfrm>
            <a:off x="1452563" y="4179888"/>
            <a:ext cx="6262687" cy="401637"/>
            <a:chOff x="915" y="2633"/>
            <a:chExt cx="3945" cy="253"/>
          </a:xfrm>
        </p:grpSpPr>
        <p:grpSp>
          <p:nvGrpSpPr>
            <p:cNvPr id="130123" name="Group 271"/>
            <p:cNvGrpSpPr/>
            <p:nvPr/>
          </p:nvGrpSpPr>
          <p:grpSpPr bwMode="auto">
            <a:xfrm>
              <a:off x="915" y="2696"/>
              <a:ext cx="3858" cy="190"/>
              <a:chOff x="915" y="2696"/>
              <a:chExt cx="3858" cy="190"/>
            </a:xfrm>
          </p:grpSpPr>
          <p:sp>
            <p:nvSpPr>
              <p:cNvPr id="130156" name="Freeform 272"/>
              <p:cNvSpPr/>
              <p:nvPr/>
            </p:nvSpPr>
            <p:spPr bwMode="auto">
              <a:xfrm>
                <a:off x="1304" y="2707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157" name="Freeform 273"/>
              <p:cNvSpPr/>
              <p:nvPr/>
            </p:nvSpPr>
            <p:spPr bwMode="auto">
              <a:xfrm>
                <a:off x="2457" y="2710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158" name="Freeform 274"/>
              <p:cNvSpPr/>
              <p:nvPr/>
            </p:nvSpPr>
            <p:spPr bwMode="auto">
              <a:xfrm>
                <a:off x="3609" y="2710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  <a:gd name="T6" fmla="*/ 0 w 1"/>
                  <a:gd name="T7" fmla="*/ 0 h 176"/>
                  <a:gd name="T8" fmla="*/ 1 w 1"/>
                  <a:gd name="T9" fmla="*/ 176 h 17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159" name="Freeform 275"/>
              <p:cNvSpPr/>
              <p:nvPr/>
            </p:nvSpPr>
            <p:spPr bwMode="auto">
              <a:xfrm>
                <a:off x="4761" y="2696"/>
                <a:ext cx="1" cy="178"/>
              </a:xfrm>
              <a:custGeom>
                <a:avLst/>
                <a:gdLst>
                  <a:gd name="T0" fmla="*/ 0 w 1"/>
                  <a:gd name="T1" fmla="*/ 0 h 178"/>
                  <a:gd name="T2" fmla="*/ 0 w 1"/>
                  <a:gd name="T3" fmla="*/ 178 h 178"/>
                  <a:gd name="T4" fmla="*/ 0 60000 65536"/>
                  <a:gd name="T5" fmla="*/ 0 60000 65536"/>
                  <a:gd name="T6" fmla="*/ 0 w 1"/>
                  <a:gd name="T7" fmla="*/ 0 h 178"/>
                  <a:gd name="T8" fmla="*/ 1 w 1"/>
                  <a:gd name="T9" fmla="*/ 178 h 17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8">
                    <a:moveTo>
                      <a:pt x="0" y="0"/>
                    </a:moveTo>
                    <a:lnTo>
                      <a:pt x="0" y="178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0160" name="Freeform 276"/>
              <p:cNvSpPr/>
              <p:nvPr/>
            </p:nvSpPr>
            <p:spPr bwMode="auto">
              <a:xfrm>
                <a:off x="915" y="2865"/>
                <a:ext cx="3858" cy="2"/>
              </a:xfrm>
              <a:custGeom>
                <a:avLst/>
                <a:gdLst>
                  <a:gd name="T0" fmla="*/ 0 w 3858"/>
                  <a:gd name="T1" fmla="*/ 2 h 2"/>
                  <a:gd name="T2" fmla="*/ 3858 w 3858"/>
                  <a:gd name="T3" fmla="*/ 0 h 2"/>
                  <a:gd name="T4" fmla="*/ 0 60000 65536"/>
                  <a:gd name="T5" fmla="*/ 0 60000 65536"/>
                  <a:gd name="T6" fmla="*/ 0 w 3858"/>
                  <a:gd name="T7" fmla="*/ 0 h 2"/>
                  <a:gd name="T8" fmla="*/ 3858 w 3858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58" h="2">
                    <a:moveTo>
                      <a:pt x="0" y="2"/>
                    </a:moveTo>
                    <a:lnTo>
                      <a:pt x="3858" y="0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30124" name="Group 277"/>
            <p:cNvGrpSpPr/>
            <p:nvPr/>
          </p:nvGrpSpPr>
          <p:grpSpPr bwMode="auto">
            <a:xfrm>
              <a:off x="1213" y="2633"/>
              <a:ext cx="192" cy="158"/>
              <a:chOff x="1213" y="2633"/>
              <a:chExt cx="192" cy="158"/>
            </a:xfrm>
          </p:grpSpPr>
          <p:grpSp>
            <p:nvGrpSpPr>
              <p:cNvPr id="130149" name="Group 278"/>
              <p:cNvGrpSpPr/>
              <p:nvPr/>
            </p:nvGrpSpPr>
            <p:grpSpPr bwMode="auto">
              <a:xfrm rot="5400000">
                <a:off x="1302" y="2688"/>
                <a:ext cx="158" cy="48"/>
                <a:chOff x="3459" y="1296"/>
                <a:chExt cx="243" cy="48"/>
              </a:xfrm>
            </p:grpSpPr>
            <p:sp>
              <p:nvSpPr>
                <p:cNvPr id="130154" name="Line 279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0155" name="Line 280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30150" name="Freeform 281"/>
              <p:cNvSpPr/>
              <p:nvPr/>
            </p:nvSpPr>
            <p:spPr bwMode="auto">
              <a:xfrm>
                <a:off x="1260" y="2708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30151" name="Group 282"/>
              <p:cNvGrpSpPr/>
              <p:nvPr/>
            </p:nvGrpSpPr>
            <p:grpSpPr bwMode="auto">
              <a:xfrm rot="-5400000">
                <a:off x="1158" y="2688"/>
                <a:ext cx="158" cy="48"/>
                <a:chOff x="3459" y="1296"/>
                <a:chExt cx="243" cy="48"/>
              </a:xfrm>
            </p:grpSpPr>
            <p:sp>
              <p:nvSpPr>
                <p:cNvPr id="130152" name="Line 283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0153" name="Line 284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30125" name="Group 285"/>
            <p:cNvGrpSpPr/>
            <p:nvPr/>
          </p:nvGrpSpPr>
          <p:grpSpPr bwMode="auto">
            <a:xfrm>
              <a:off x="2365" y="2635"/>
              <a:ext cx="192" cy="158"/>
              <a:chOff x="2365" y="2635"/>
              <a:chExt cx="192" cy="158"/>
            </a:xfrm>
          </p:grpSpPr>
          <p:grpSp>
            <p:nvGrpSpPr>
              <p:cNvPr id="130142" name="Group 286"/>
              <p:cNvGrpSpPr/>
              <p:nvPr/>
            </p:nvGrpSpPr>
            <p:grpSpPr bwMode="auto">
              <a:xfrm rot="5400000">
                <a:off x="2454" y="2690"/>
                <a:ext cx="158" cy="48"/>
                <a:chOff x="3459" y="1296"/>
                <a:chExt cx="243" cy="48"/>
              </a:xfrm>
            </p:grpSpPr>
            <p:sp>
              <p:nvSpPr>
                <p:cNvPr id="130147" name="Line 287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0148" name="Line 288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30143" name="Freeform 289"/>
              <p:cNvSpPr/>
              <p:nvPr/>
            </p:nvSpPr>
            <p:spPr bwMode="auto">
              <a:xfrm>
                <a:off x="2412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30144" name="Group 290"/>
              <p:cNvGrpSpPr/>
              <p:nvPr/>
            </p:nvGrpSpPr>
            <p:grpSpPr bwMode="auto">
              <a:xfrm rot="-5400000">
                <a:off x="2310" y="2690"/>
                <a:ext cx="158" cy="48"/>
                <a:chOff x="3459" y="1296"/>
                <a:chExt cx="243" cy="48"/>
              </a:xfrm>
            </p:grpSpPr>
            <p:sp>
              <p:nvSpPr>
                <p:cNvPr id="130145" name="Line 291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0146" name="Line 292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30126" name="Group 293"/>
            <p:cNvGrpSpPr/>
            <p:nvPr/>
          </p:nvGrpSpPr>
          <p:grpSpPr bwMode="auto">
            <a:xfrm>
              <a:off x="3517" y="2635"/>
              <a:ext cx="192" cy="158"/>
              <a:chOff x="3517" y="2635"/>
              <a:chExt cx="192" cy="158"/>
            </a:xfrm>
          </p:grpSpPr>
          <p:grpSp>
            <p:nvGrpSpPr>
              <p:cNvPr id="130135" name="Group 294"/>
              <p:cNvGrpSpPr/>
              <p:nvPr/>
            </p:nvGrpSpPr>
            <p:grpSpPr bwMode="auto">
              <a:xfrm rot="5400000">
                <a:off x="3606" y="2690"/>
                <a:ext cx="158" cy="48"/>
                <a:chOff x="3459" y="1296"/>
                <a:chExt cx="243" cy="48"/>
              </a:xfrm>
            </p:grpSpPr>
            <p:sp>
              <p:nvSpPr>
                <p:cNvPr id="130140" name="Line 295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0141" name="Line 296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30136" name="Freeform 297"/>
              <p:cNvSpPr/>
              <p:nvPr/>
            </p:nvSpPr>
            <p:spPr bwMode="auto">
              <a:xfrm>
                <a:off x="3564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30137" name="Group 298"/>
              <p:cNvGrpSpPr/>
              <p:nvPr/>
            </p:nvGrpSpPr>
            <p:grpSpPr bwMode="auto">
              <a:xfrm rot="-5400000">
                <a:off x="3462" y="2690"/>
                <a:ext cx="158" cy="48"/>
                <a:chOff x="3459" y="1296"/>
                <a:chExt cx="243" cy="48"/>
              </a:xfrm>
            </p:grpSpPr>
            <p:sp>
              <p:nvSpPr>
                <p:cNvPr id="130138" name="Line 299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0139" name="Line 300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30127" name="Group 301"/>
            <p:cNvGrpSpPr/>
            <p:nvPr/>
          </p:nvGrpSpPr>
          <p:grpSpPr bwMode="auto">
            <a:xfrm>
              <a:off x="4668" y="2635"/>
              <a:ext cx="192" cy="158"/>
              <a:chOff x="4668" y="2635"/>
              <a:chExt cx="192" cy="158"/>
            </a:xfrm>
          </p:grpSpPr>
          <p:grpSp>
            <p:nvGrpSpPr>
              <p:cNvPr id="130128" name="Group 302"/>
              <p:cNvGrpSpPr/>
              <p:nvPr/>
            </p:nvGrpSpPr>
            <p:grpSpPr bwMode="auto">
              <a:xfrm>
                <a:off x="4812" y="2635"/>
                <a:ext cx="48" cy="158"/>
                <a:chOff x="4812" y="2635"/>
                <a:chExt cx="48" cy="158"/>
              </a:xfrm>
            </p:grpSpPr>
            <p:sp>
              <p:nvSpPr>
                <p:cNvPr id="130133" name="Line 303"/>
                <p:cNvSpPr>
                  <a:spLocks noChangeShapeType="1"/>
                </p:cNvSpPr>
                <p:nvPr/>
              </p:nvSpPr>
              <p:spPr bwMode="auto">
                <a:xfrm rot="5400000">
                  <a:off x="4781" y="2714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0134" name="Line 304"/>
                <p:cNvSpPr>
                  <a:spLocks noChangeShapeType="1"/>
                </p:cNvSpPr>
                <p:nvPr/>
              </p:nvSpPr>
              <p:spPr bwMode="auto">
                <a:xfrm rot="5400000">
                  <a:off x="4764" y="2712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30129" name="Freeform 305"/>
              <p:cNvSpPr/>
              <p:nvPr/>
            </p:nvSpPr>
            <p:spPr bwMode="auto">
              <a:xfrm>
                <a:off x="4715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30130" name="Group 306"/>
              <p:cNvGrpSpPr/>
              <p:nvPr/>
            </p:nvGrpSpPr>
            <p:grpSpPr bwMode="auto">
              <a:xfrm>
                <a:off x="4668" y="2635"/>
                <a:ext cx="48" cy="158"/>
                <a:chOff x="4668" y="2635"/>
                <a:chExt cx="48" cy="158"/>
              </a:xfrm>
            </p:grpSpPr>
            <p:sp>
              <p:nvSpPr>
                <p:cNvPr id="130131" name="Line 307"/>
                <p:cNvSpPr>
                  <a:spLocks noChangeShapeType="1"/>
                </p:cNvSpPr>
                <p:nvPr/>
              </p:nvSpPr>
              <p:spPr bwMode="auto">
                <a:xfrm rot="-5400000">
                  <a:off x="4589" y="2714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0132" name="Line 308"/>
                <p:cNvSpPr>
                  <a:spLocks noChangeShapeType="1"/>
                </p:cNvSpPr>
                <p:nvPr/>
              </p:nvSpPr>
              <p:spPr bwMode="auto">
                <a:xfrm rot="-5400000">
                  <a:off x="4668" y="2716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130052" name="Group 309"/>
          <p:cNvGrpSpPr/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130106" name="Line 310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0107" name="Freeform 311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0108" name="Line 312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0109" name="Freeform 313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0110" name="Line 314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0111" name="Text Box 315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</a:p>
          </p:txBody>
        </p:sp>
        <p:sp>
          <p:nvSpPr>
            <p:cNvPr id="130112" name="Text Box 316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</a:p>
          </p:txBody>
        </p:sp>
        <p:sp>
          <p:nvSpPr>
            <p:cNvPr id="130113" name="Text Box 317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</a:p>
          </p:txBody>
        </p:sp>
        <p:sp>
          <p:nvSpPr>
            <p:cNvPr id="130114" name="Text Box 318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</a:p>
          </p:txBody>
        </p:sp>
        <p:sp>
          <p:nvSpPr>
            <p:cNvPr id="130115" name="Line 319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0116" name="Line 320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0117" name="Line 321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0118" name="Line 322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0119" name="Line 323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0120" name="Line 324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0121" name="Line 325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0122" name="Line 326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18439" name="Rectangle 327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30054" name="Text Box 328"/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en-US" altLang="zh-CN" sz="3200">
                <a:latin typeface="Times New Roman" panose="02020603050405020304" pitchFamily="18" charset="0"/>
              </a:rPr>
              <a:t>Intel 2114 RAM </a:t>
            </a:r>
            <a:r>
              <a:rPr lang="zh-CN" altLang="en-US" sz="3200">
                <a:latin typeface="Times New Roman" panose="02020603050405020304" pitchFamily="18" charset="0"/>
              </a:rPr>
              <a:t>矩阵 </a:t>
            </a:r>
            <a:r>
              <a:rPr lang="en-US" altLang="zh-CN" sz="3200">
                <a:latin typeface="Times New Roman" panose="02020603050405020304" pitchFamily="18" charset="0"/>
              </a:rPr>
              <a:t>(64 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>
                <a:latin typeface="Times New Roman" panose="02020603050405020304" pitchFamily="18" charset="0"/>
              </a:rPr>
              <a:t> 64)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</a:p>
        </p:txBody>
      </p:sp>
      <p:grpSp>
        <p:nvGrpSpPr>
          <p:cNvPr id="130055" name="Group 329"/>
          <p:cNvGrpSpPr/>
          <p:nvPr/>
        </p:nvGrpSpPr>
        <p:grpSpPr bwMode="auto">
          <a:xfrm>
            <a:off x="1431925" y="1360488"/>
            <a:ext cx="7250113" cy="682625"/>
            <a:chOff x="902" y="857"/>
            <a:chExt cx="4567" cy="430"/>
          </a:xfrm>
        </p:grpSpPr>
        <p:grpSp>
          <p:nvGrpSpPr>
            <p:cNvPr id="130082" name="Group 330"/>
            <p:cNvGrpSpPr/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130087" name="Group 331"/>
              <p:cNvGrpSpPr/>
              <p:nvPr/>
            </p:nvGrpSpPr>
            <p:grpSpPr bwMode="auto">
              <a:xfrm>
                <a:off x="1152" y="1013"/>
                <a:ext cx="4317" cy="274"/>
                <a:chOff x="1176" y="1068"/>
                <a:chExt cx="4317" cy="274"/>
              </a:xfrm>
            </p:grpSpPr>
            <p:sp>
              <p:nvSpPr>
                <p:cNvPr id="130098" name="Rectangle 332"/>
                <p:cNvSpPr>
                  <a:spLocks noChangeArrowheads="1"/>
                </p:cNvSpPr>
                <p:nvPr/>
              </p:nvSpPr>
              <p:spPr bwMode="auto">
                <a:xfrm>
                  <a:off x="175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15</a:t>
                  </a:r>
                </a:p>
              </p:txBody>
            </p:sp>
            <p:sp>
              <p:nvSpPr>
                <p:cNvPr id="130099" name="Rectangle 333"/>
                <p:cNvSpPr>
                  <a:spLocks noChangeArrowheads="1"/>
                </p:cNvSpPr>
                <p:nvPr/>
              </p:nvSpPr>
              <p:spPr bwMode="auto">
                <a:xfrm>
                  <a:off x="117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0100" name="Rectangle 334"/>
                <p:cNvSpPr>
                  <a:spLocks noChangeArrowheads="1"/>
                </p:cNvSpPr>
                <p:nvPr/>
              </p:nvSpPr>
              <p:spPr bwMode="auto">
                <a:xfrm>
                  <a:off x="289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31</a:t>
                  </a:r>
                </a:p>
              </p:txBody>
            </p:sp>
            <p:sp>
              <p:nvSpPr>
                <p:cNvPr id="130101" name="Rectangle 335"/>
                <p:cNvSpPr>
                  <a:spLocks noChangeArrowheads="1"/>
                </p:cNvSpPr>
                <p:nvPr/>
              </p:nvSpPr>
              <p:spPr bwMode="auto">
                <a:xfrm>
                  <a:off x="231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16</a:t>
                  </a:r>
                </a:p>
              </p:txBody>
            </p:sp>
            <p:sp>
              <p:nvSpPr>
                <p:cNvPr id="130102" name="Rectangle 336"/>
                <p:cNvSpPr>
                  <a:spLocks noChangeArrowheads="1"/>
                </p:cNvSpPr>
                <p:nvPr/>
              </p:nvSpPr>
              <p:spPr bwMode="auto">
                <a:xfrm>
                  <a:off x="4067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47</a:t>
                  </a:r>
                </a:p>
              </p:txBody>
            </p:sp>
            <p:sp>
              <p:nvSpPr>
                <p:cNvPr id="130103" name="Rectangle 337"/>
                <p:cNvSpPr>
                  <a:spLocks noChangeArrowheads="1"/>
                </p:cNvSpPr>
                <p:nvPr/>
              </p:nvSpPr>
              <p:spPr bwMode="auto">
                <a:xfrm>
                  <a:off x="3491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32</a:t>
                  </a:r>
                </a:p>
              </p:txBody>
            </p:sp>
            <p:sp>
              <p:nvSpPr>
                <p:cNvPr id="130104" name="Rectangle 338"/>
                <p:cNvSpPr>
                  <a:spLocks noChangeArrowheads="1"/>
                </p:cNvSpPr>
                <p:nvPr/>
              </p:nvSpPr>
              <p:spPr bwMode="auto">
                <a:xfrm>
                  <a:off x="5205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63</a:t>
                  </a:r>
                </a:p>
              </p:txBody>
            </p:sp>
            <p:sp>
              <p:nvSpPr>
                <p:cNvPr id="130105" name="Rectangle 339"/>
                <p:cNvSpPr>
                  <a:spLocks noChangeArrowheads="1"/>
                </p:cNvSpPr>
                <p:nvPr/>
              </p:nvSpPr>
              <p:spPr bwMode="auto">
                <a:xfrm>
                  <a:off x="462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48</a:t>
                  </a:r>
                </a:p>
              </p:txBody>
            </p:sp>
          </p:grpSp>
          <p:grpSp>
            <p:nvGrpSpPr>
              <p:cNvPr id="130088" name="Group 340"/>
              <p:cNvGrpSpPr/>
              <p:nvPr/>
            </p:nvGrpSpPr>
            <p:grpSpPr bwMode="auto">
              <a:xfrm>
                <a:off x="902" y="857"/>
                <a:ext cx="4419" cy="145"/>
                <a:chOff x="902" y="857"/>
                <a:chExt cx="4419" cy="145"/>
              </a:xfrm>
            </p:grpSpPr>
            <p:sp>
              <p:nvSpPr>
                <p:cNvPr id="130089" name="Freeform 341"/>
                <p:cNvSpPr/>
                <p:nvPr/>
              </p:nvSpPr>
              <p:spPr bwMode="auto">
                <a:xfrm>
                  <a:off x="902" y="857"/>
                  <a:ext cx="4419" cy="1"/>
                </a:xfrm>
                <a:custGeom>
                  <a:avLst/>
                  <a:gdLst>
                    <a:gd name="T0" fmla="*/ 0 w 4419"/>
                    <a:gd name="T1" fmla="*/ 1 h 1"/>
                    <a:gd name="T2" fmla="*/ 4419 w 4419"/>
                    <a:gd name="T3" fmla="*/ 0 h 1"/>
                    <a:gd name="T4" fmla="*/ 0 60000 65536"/>
                    <a:gd name="T5" fmla="*/ 0 60000 65536"/>
                    <a:gd name="T6" fmla="*/ 0 w 4419"/>
                    <a:gd name="T7" fmla="*/ 0 h 1"/>
                    <a:gd name="T8" fmla="*/ 4419 w 4419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419" h="1">
                      <a:moveTo>
                        <a:pt x="0" y="1"/>
                      </a:moveTo>
                      <a:lnTo>
                        <a:pt x="4419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0090" name="Line 342"/>
                <p:cNvSpPr>
                  <a:spLocks noChangeShapeType="1"/>
                </p:cNvSpPr>
                <p:nvPr/>
              </p:nvSpPr>
              <p:spPr bwMode="auto">
                <a:xfrm>
                  <a:off x="127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0091" name="Line 343"/>
                <p:cNvSpPr>
                  <a:spLocks noChangeShapeType="1"/>
                </p:cNvSpPr>
                <p:nvPr/>
              </p:nvSpPr>
              <p:spPr bwMode="auto">
                <a:xfrm>
                  <a:off x="184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0092" name="Line 344"/>
                <p:cNvSpPr>
                  <a:spLocks noChangeShapeType="1"/>
                </p:cNvSpPr>
                <p:nvPr/>
              </p:nvSpPr>
              <p:spPr bwMode="auto">
                <a:xfrm>
                  <a:off x="242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0093" name="Line 345"/>
                <p:cNvSpPr>
                  <a:spLocks noChangeShapeType="1"/>
                </p:cNvSpPr>
                <p:nvPr/>
              </p:nvSpPr>
              <p:spPr bwMode="auto">
                <a:xfrm>
                  <a:off x="3000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0094" name="Line 346"/>
                <p:cNvSpPr>
                  <a:spLocks noChangeShapeType="1"/>
                </p:cNvSpPr>
                <p:nvPr/>
              </p:nvSpPr>
              <p:spPr bwMode="auto">
                <a:xfrm>
                  <a:off x="3576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0095" name="Line 347"/>
                <p:cNvSpPr>
                  <a:spLocks noChangeShapeType="1"/>
                </p:cNvSpPr>
                <p:nvPr/>
              </p:nvSpPr>
              <p:spPr bwMode="auto">
                <a:xfrm>
                  <a:off x="415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0096" name="Line 348"/>
                <p:cNvSpPr>
                  <a:spLocks noChangeShapeType="1"/>
                </p:cNvSpPr>
                <p:nvPr/>
              </p:nvSpPr>
              <p:spPr bwMode="auto">
                <a:xfrm>
                  <a:off x="472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0097" name="Line 349"/>
                <p:cNvSpPr>
                  <a:spLocks noChangeShapeType="1"/>
                </p:cNvSpPr>
                <p:nvPr/>
              </p:nvSpPr>
              <p:spPr bwMode="auto">
                <a:xfrm>
                  <a:off x="530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30083" name="Text Box 350"/>
            <p:cNvSpPr txBox="1">
              <a:spLocks noChangeArrowheads="1"/>
            </p:cNvSpPr>
            <p:nvPr/>
          </p:nvSpPr>
          <p:spPr bwMode="auto">
            <a:xfrm>
              <a:off x="140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0084" name="Text Box 351"/>
            <p:cNvSpPr txBox="1">
              <a:spLocks noChangeArrowheads="1"/>
            </p:cNvSpPr>
            <p:nvPr/>
          </p:nvSpPr>
          <p:spPr bwMode="auto">
            <a:xfrm>
              <a:off x="254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0085" name="Text Box 352"/>
            <p:cNvSpPr txBox="1">
              <a:spLocks noChangeArrowheads="1"/>
            </p:cNvSpPr>
            <p:nvPr/>
          </p:nvSpPr>
          <p:spPr bwMode="auto">
            <a:xfrm>
              <a:off x="3718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0086" name="Text Box 353"/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130056" name="Group 354"/>
          <p:cNvGrpSpPr/>
          <p:nvPr/>
        </p:nvGrpSpPr>
        <p:grpSpPr bwMode="auto">
          <a:xfrm>
            <a:off x="1828800" y="1608138"/>
            <a:ext cx="5934075" cy="434975"/>
            <a:chOff x="1156" y="1013"/>
            <a:chExt cx="3738" cy="274"/>
          </a:xfrm>
        </p:grpSpPr>
        <p:sp>
          <p:nvSpPr>
            <p:cNvPr id="130078" name="Rectangle 355"/>
            <p:cNvSpPr>
              <a:spLocks noChangeArrowheads="1"/>
            </p:cNvSpPr>
            <p:nvPr/>
          </p:nvSpPr>
          <p:spPr bwMode="auto">
            <a:xfrm>
              <a:off x="1156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0079" name="Rectangle 356"/>
            <p:cNvSpPr>
              <a:spLocks noChangeArrowheads="1"/>
            </p:cNvSpPr>
            <p:nvPr/>
          </p:nvSpPr>
          <p:spPr bwMode="auto">
            <a:xfrm>
              <a:off x="2296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30080" name="Rectangle 357"/>
            <p:cNvSpPr>
              <a:spLocks noChangeArrowheads="1"/>
            </p:cNvSpPr>
            <p:nvPr/>
          </p:nvSpPr>
          <p:spPr bwMode="auto">
            <a:xfrm>
              <a:off x="3471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32</a:t>
              </a:r>
            </a:p>
          </p:txBody>
        </p:sp>
        <p:sp>
          <p:nvSpPr>
            <p:cNvPr id="130081" name="Rectangle 358"/>
            <p:cNvSpPr>
              <a:spLocks noChangeArrowheads="1"/>
            </p:cNvSpPr>
            <p:nvPr/>
          </p:nvSpPr>
          <p:spPr bwMode="auto">
            <a:xfrm>
              <a:off x="4606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48</a:t>
              </a:r>
            </a:p>
          </p:txBody>
        </p:sp>
      </p:grpSp>
      <p:grpSp>
        <p:nvGrpSpPr>
          <p:cNvPr id="130057" name="Group 359"/>
          <p:cNvGrpSpPr/>
          <p:nvPr/>
        </p:nvGrpSpPr>
        <p:grpSpPr bwMode="auto">
          <a:xfrm>
            <a:off x="222250" y="1069975"/>
            <a:ext cx="311150" cy="4778375"/>
            <a:chOff x="140" y="674"/>
            <a:chExt cx="196" cy="3010"/>
          </a:xfrm>
        </p:grpSpPr>
        <p:sp>
          <p:nvSpPr>
            <p:cNvPr id="130068" name="Text Box 360"/>
            <p:cNvSpPr txBox="1">
              <a:spLocks noChangeArrowheads="1"/>
            </p:cNvSpPr>
            <p:nvPr/>
          </p:nvSpPr>
          <p:spPr bwMode="auto">
            <a:xfrm>
              <a:off x="140" y="67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0069" name="Text Box 361"/>
            <p:cNvSpPr txBox="1">
              <a:spLocks noChangeArrowheads="1"/>
            </p:cNvSpPr>
            <p:nvPr/>
          </p:nvSpPr>
          <p:spPr bwMode="auto">
            <a:xfrm>
              <a:off x="140" y="933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0070" name="Text Box 362"/>
            <p:cNvSpPr txBox="1">
              <a:spLocks noChangeArrowheads="1"/>
            </p:cNvSpPr>
            <p:nvPr/>
          </p:nvSpPr>
          <p:spPr bwMode="auto">
            <a:xfrm>
              <a:off x="140" y="119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0071" name="Text Box 363"/>
            <p:cNvSpPr txBox="1">
              <a:spLocks noChangeArrowheads="1"/>
            </p:cNvSpPr>
            <p:nvPr/>
          </p:nvSpPr>
          <p:spPr bwMode="auto">
            <a:xfrm>
              <a:off x="140" y="145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0072" name="Text Box 364"/>
            <p:cNvSpPr txBox="1">
              <a:spLocks noChangeArrowheads="1"/>
            </p:cNvSpPr>
            <p:nvPr/>
          </p:nvSpPr>
          <p:spPr bwMode="auto">
            <a:xfrm>
              <a:off x="140" y="171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0073" name="Text Box 365"/>
            <p:cNvSpPr txBox="1">
              <a:spLocks noChangeArrowheads="1"/>
            </p:cNvSpPr>
            <p:nvPr/>
          </p:nvSpPr>
          <p:spPr bwMode="auto">
            <a:xfrm>
              <a:off x="140" y="197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0074" name="Text Box 366"/>
            <p:cNvSpPr txBox="1">
              <a:spLocks noChangeArrowheads="1"/>
            </p:cNvSpPr>
            <p:nvPr/>
          </p:nvSpPr>
          <p:spPr bwMode="auto">
            <a:xfrm>
              <a:off x="140" y="2657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0075" name="Text Box 367"/>
            <p:cNvSpPr txBox="1">
              <a:spLocks noChangeArrowheads="1"/>
            </p:cNvSpPr>
            <p:nvPr/>
          </p:nvSpPr>
          <p:spPr bwMode="auto">
            <a:xfrm>
              <a:off x="140" y="2916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0076" name="Text Box 368"/>
            <p:cNvSpPr txBox="1">
              <a:spLocks noChangeArrowheads="1"/>
            </p:cNvSpPr>
            <p:nvPr/>
          </p:nvSpPr>
          <p:spPr bwMode="auto">
            <a:xfrm>
              <a:off x="140" y="3175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0077" name="Text Box 369"/>
            <p:cNvSpPr txBox="1">
              <a:spLocks noChangeArrowheads="1"/>
            </p:cNvSpPr>
            <p:nvPr/>
          </p:nvSpPr>
          <p:spPr bwMode="auto">
            <a:xfrm>
              <a:off x="140" y="343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</p:grpSp>
      <p:grpSp>
        <p:nvGrpSpPr>
          <p:cNvPr id="2" name="Group 370"/>
          <p:cNvGrpSpPr/>
          <p:nvPr/>
        </p:nvGrpSpPr>
        <p:grpSpPr bwMode="auto">
          <a:xfrm>
            <a:off x="1900238" y="1909763"/>
            <a:ext cx="6062662" cy="2339975"/>
            <a:chOff x="1197" y="1203"/>
            <a:chExt cx="3819" cy="1474"/>
          </a:xfrm>
        </p:grpSpPr>
        <p:sp>
          <p:nvSpPr>
            <p:cNvPr id="130060" name="Freeform 371"/>
            <p:cNvSpPr/>
            <p:nvPr/>
          </p:nvSpPr>
          <p:spPr bwMode="auto">
            <a:xfrm>
              <a:off x="1422" y="1203"/>
              <a:ext cx="121" cy="1474"/>
            </a:xfrm>
            <a:custGeom>
              <a:avLst/>
              <a:gdLst>
                <a:gd name="T0" fmla="*/ 3 w 145"/>
                <a:gd name="T1" fmla="*/ 0 h 1466"/>
                <a:gd name="T2" fmla="*/ 11 w 145"/>
                <a:gd name="T3" fmla="*/ 0 h 1466"/>
                <a:gd name="T4" fmla="*/ 11 w 145"/>
                <a:gd name="T5" fmla="*/ 1580 h 1466"/>
                <a:gd name="T6" fmla="*/ 0 w 145"/>
                <a:gd name="T7" fmla="*/ 1580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0061" name="Text Box 372"/>
            <p:cNvSpPr txBox="1">
              <a:spLocks noChangeArrowheads="1"/>
            </p:cNvSpPr>
            <p:nvPr/>
          </p:nvSpPr>
          <p:spPr bwMode="auto">
            <a:xfrm rot="5400000">
              <a:off x="1194" y="1642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0062" name="Freeform 373"/>
            <p:cNvSpPr/>
            <p:nvPr/>
          </p:nvSpPr>
          <p:spPr bwMode="auto">
            <a:xfrm>
              <a:off x="2556" y="1205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0063" name="Text Box 374"/>
            <p:cNvSpPr txBox="1">
              <a:spLocks noChangeArrowheads="1"/>
            </p:cNvSpPr>
            <p:nvPr/>
          </p:nvSpPr>
          <p:spPr bwMode="auto">
            <a:xfrm rot="5400000">
              <a:off x="2347" y="1642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0064" name="Freeform 375"/>
            <p:cNvSpPr/>
            <p:nvPr/>
          </p:nvSpPr>
          <p:spPr bwMode="auto">
            <a:xfrm>
              <a:off x="3711" y="1206"/>
              <a:ext cx="151" cy="1471"/>
            </a:xfrm>
            <a:custGeom>
              <a:avLst/>
              <a:gdLst>
                <a:gd name="T0" fmla="*/ 54 w 151"/>
                <a:gd name="T1" fmla="*/ 0 h 1471"/>
                <a:gd name="T2" fmla="*/ 151 w 151"/>
                <a:gd name="T3" fmla="*/ 0 h 1471"/>
                <a:gd name="T4" fmla="*/ 150 w 151"/>
                <a:gd name="T5" fmla="*/ 1471 h 1471"/>
                <a:gd name="T6" fmla="*/ 0 w 151"/>
                <a:gd name="T7" fmla="*/ 1470 h 147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1"/>
                <a:gd name="T13" fmla="*/ 0 h 1471"/>
                <a:gd name="T14" fmla="*/ 151 w 151"/>
                <a:gd name="T15" fmla="*/ 1471 h 147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1" h="1471">
                  <a:moveTo>
                    <a:pt x="54" y="0"/>
                  </a:moveTo>
                  <a:lnTo>
                    <a:pt x="151" y="0"/>
                  </a:lnTo>
                  <a:lnTo>
                    <a:pt x="150" y="1471"/>
                  </a:lnTo>
                  <a:lnTo>
                    <a:pt x="0" y="1470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0065" name="Text Box 376"/>
            <p:cNvSpPr txBox="1">
              <a:spLocks noChangeArrowheads="1"/>
            </p:cNvSpPr>
            <p:nvPr/>
          </p:nvSpPr>
          <p:spPr bwMode="auto">
            <a:xfrm rot="5400000">
              <a:off x="3493" y="1626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0066" name="Freeform 377"/>
            <p:cNvSpPr/>
            <p:nvPr/>
          </p:nvSpPr>
          <p:spPr bwMode="auto">
            <a:xfrm>
              <a:off x="4860" y="1211"/>
              <a:ext cx="145" cy="1466"/>
            </a:xfrm>
            <a:custGeom>
              <a:avLst/>
              <a:gdLst>
                <a:gd name="T0" fmla="*/ 42 w 145"/>
                <a:gd name="T1" fmla="*/ 1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42" y="1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0067" name="Text Box 378"/>
            <p:cNvSpPr txBox="1">
              <a:spLocks noChangeArrowheads="1"/>
            </p:cNvSpPr>
            <p:nvPr/>
          </p:nvSpPr>
          <p:spPr bwMode="auto">
            <a:xfrm rot="5400000">
              <a:off x="4648" y="1629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130059" name="AutoShape 379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Rectangle 2"/>
          <p:cNvSpPr>
            <a:spLocks noChangeArrowheads="1"/>
          </p:cNvSpPr>
          <p:nvPr/>
        </p:nvSpPr>
        <p:spPr bwMode="auto">
          <a:xfrm>
            <a:off x="527050" y="1131888"/>
            <a:ext cx="914400" cy="502920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131075" name="Rectangle 3"/>
          <p:cNvSpPr>
            <a:spLocks noChangeArrowheads="1"/>
          </p:cNvSpPr>
          <p:nvPr/>
        </p:nvSpPr>
        <p:spPr bwMode="auto">
          <a:xfrm>
            <a:off x="2743200" y="1609725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15</a:t>
            </a:r>
          </a:p>
        </p:txBody>
      </p:sp>
      <p:sp>
        <p:nvSpPr>
          <p:cNvPr id="131076" name="Text Box 4"/>
          <p:cNvSpPr txBox="1">
            <a:spLocks noChangeArrowheads="1"/>
          </p:cNvSpPr>
          <p:nvPr/>
        </p:nvSpPr>
        <p:spPr bwMode="auto">
          <a:xfrm>
            <a:off x="2235200" y="1381125"/>
            <a:ext cx="590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…</a:t>
            </a:r>
          </a:p>
        </p:txBody>
      </p:sp>
      <p:sp>
        <p:nvSpPr>
          <p:cNvPr id="131077" name="Rectangle 5"/>
          <p:cNvSpPr>
            <a:spLocks noChangeArrowheads="1"/>
          </p:cNvSpPr>
          <p:nvPr/>
        </p:nvSpPr>
        <p:spPr bwMode="auto">
          <a:xfrm>
            <a:off x="1828800" y="1609725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131078" name="Rectangle 6"/>
          <p:cNvSpPr>
            <a:spLocks noChangeArrowheads="1"/>
          </p:cNvSpPr>
          <p:nvPr/>
        </p:nvSpPr>
        <p:spPr bwMode="auto">
          <a:xfrm>
            <a:off x="4554538" y="1609725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31</a:t>
            </a:r>
          </a:p>
        </p:txBody>
      </p:sp>
      <p:sp>
        <p:nvSpPr>
          <p:cNvPr id="131079" name="Text Box 7"/>
          <p:cNvSpPr txBox="1">
            <a:spLocks noChangeArrowheads="1"/>
          </p:cNvSpPr>
          <p:nvPr/>
        </p:nvSpPr>
        <p:spPr bwMode="auto">
          <a:xfrm>
            <a:off x="4046538" y="1381125"/>
            <a:ext cx="590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…</a:t>
            </a:r>
          </a:p>
        </p:txBody>
      </p:sp>
      <p:sp>
        <p:nvSpPr>
          <p:cNvPr id="131080" name="Rectangle 8"/>
          <p:cNvSpPr>
            <a:spLocks noChangeArrowheads="1"/>
          </p:cNvSpPr>
          <p:nvPr/>
        </p:nvSpPr>
        <p:spPr bwMode="auto">
          <a:xfrm>
            <a:off x="3640138" y="1609725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16</a:t>
            </a:r>
          </a:p>
        </p:txBody>
      </p:sp>
      <p:sp>
        <p:nvSpPr>
          <p:cNvPr id="131081" name="Rectangle 9"/>
          <p:cNvSpPr>
            <a:spLocks noChangeArrowheads="1"/>
          </p:cNvSpPr>
          <p:nvPr/>
        </p:nvSpPr>
        <p:spPr bwMode="auto">
          <a:xfrm>
            <a:off x="6419850" y="1609725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47</a:t>
            </a:r>
          </a:p>
        </p:txBody>
      </p:sp>
      <p:sp>
        <p:nvSpPr>
          <p:cNvPr id="131082" name="Text Box 10"/>
          <p:cNvSpPr txBox="1">
            <a:spLocks noChangeArrowheads="1"/>
          </p:cNvSpPr>
          <p:nvPr/>
        </p:nvSpPr>
        <p:spPr bwMode="auto">
          <a:xfrm>
            <a:off x="5911850" y="1381125"/>
            <a:ext cx="590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…</a:t>
            </a:r>
          </a:p>
        </p:txBody>
      </p:sp>
      <p:sp>
        <p:nvSpPr>
          <p:cNvPr id="131083" name="Rectangle 11"/>
          <p:cNvSpPr>
            <a:spLocks noChangeArrowheads="1"/>
          </p:cNvSpPr>
          <p:nvPr/>
        </p:nvSpPr>
        <p:spPr bwMode="auto">
          <a:xfrm>
            <a:off x="5505450" y="1609725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32</a:t>
            </a:r>
          </a:p>
        </p:txBody>
      </p:sp>
      <p:sp>
        <p:nvSpPr>
          <p:cNvPr id="131084" name="Rectangle 12"/>
          <p:cNvSpPr>
            <a:spLocks noChangeArrowheads="1"/>
          </p:cNvSpPr>
          <p:nvPr/>
        </p:nvSpPr>
        <p:spPr bwMode="auto">
          <a:xfrm>
            <a:off x="8223250" y="1609725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63</a:t>
            </a:r>
          </a:p>
        </p:txBody>
      </p:sp>
      <p:sp>
        <p:nvSpPr>
          <p:cNvPr id="131085" name="Text Box 13"/>
          <p:cNvSpPr txBox="1">
            <a:spLocks noChangeArrowheads="1"/>
          </p:cNvSpPr>
          <p:nvPr/>
        </p:nvSpPr>
        <p:spPr bwMode="auto">
          <a:xfrm>
            <a:off x="7715250" y="1381125"/>
            <a:ext cx="590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…</a:t>
            </a:r>
          </a:p>
        </p:txBody>
      </p:sp>
      <p:sp>
        <p:nvSpPr>
          <p:cNvPr id="131086" name="Rectangle 14"/>
          <p:cNvSpPr>
            <a:spLocks noChangeArrowheads="1"/>
          </p:cNvSpPr>
          <p:nvPr/>
        </p:nvSpPr>
        <p:spPr bwMode="auto">
          <a:xfrm>
            <a:off x="7308850" y="1609725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48</a:t>
            </a:r>
          </a:p>
        </p:txBody>
      </p:sp>
      <p:sp>
        <p:nvSpPr>
          <p:cNvPr id="131087" name="Rectangle 15"/>
          <p:cNvSpPr>
            <a:spLocks noChangeArrowheads="1"/>
          </p:cNvSpPr>
          <p:nvPr/>
        </p:nvSpPr>
        <p:spPr bwMode="auto">
          <a:xfrm>
            <a:off x="2743200" y="3516313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15</a:t>
            </a:r>
          </a:p>
        </p:txBody>
      </p:sp>
      <p:sp>
        <p:nvSpPr>
          <p:cNvPr id="131088" name="Rectangle 16"/>
          <p:cNvSpPr>
            <a:spLocks noChangeArrowheads="1"/>
          </p:cNvSpPr>
          <p:nvPr/>
        </p:nvSpPr>
        <p:spPr bwMode="auto">
          <a:xfrm>
            <a:off x="1828800" y="3516313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131089" name="Rectangle 17"/>
          <p:cNvSpPr>
            <a:spLocks noChangeArrowheads="1"/>
          </p:cNvSpPr>
          <p:nvPr/>
        </p:nvSpPr>
        <p:spPr bwMode="auto">
          <a:xfrm>
            <a:off x="4554538" y="3516313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31</a:t>
            </a:r>
          </a:p>
        </p:txBody>
      </p:sp>
      <p:sp>
        <p:nvSpPr>
          <p:cNvPr id="131090" name="Rectangle 18"/>
          <p:cNvSpPr>
            <a:spLocks noChangeArrowheads="1"/>
          </p:cNvSpPr>
          <p:nvPr/>
        </p:nvSpPr>
        <p:spPr bwMode="auto">
          <a:xfrm>
            <a:off x="3640138" y="3516313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16</a:t>
            </a:r>
          </a:p>
        </p:txBody>
      </p:sp>
      <p:sp>
        <p:nvSpPr>
          <p:cNvPr id="131091" name="Rectangle 19"/>
          <p:cNvSpPr>
            <a:spLocks noChangeArrowheads="1"/>
          </p:cNvSpPr>
          <p:nvPr/>
        </p:nvSpPr>
        <p:spPr bwMode="auto">
          <a:xfrm>
            <a:off x="6419850" y="3516313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47</a:t>
            </a:r>
          </a:p>
        </p:txBody>
      </p:sp>
      <p:sp>
        <p:nvSpPr>
          <p:cNvPr id="131092" name="Rectangle 20"/>
          <p:cNvSpPr>
            <a:spLocks noChangeArrowheads="1"/>
          </p:cNvSpPr>
          <p:nvPr/>
        </p:nvSpPr>
        <p:spPr bwMode="auto">
          <a:xfrm>
            <a:off x="5505450" y="3516313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32</a:t>
            </a:r>
          </a:p>
        </p:txBody>
      </p:sp>
      <p:sp>
        <p:nvSpPr>
          <p:cNvPr id="131093" name="Rectangle 21"/>
          <p:cNvSpPr>
            <a:spLocks noChangeArrowheads="1"/>
          </p:cNvSpPr>
          <p:nvPr/>
        </p:nvSpPr>
        <p:spPr bwMode="auto">
          <a:xfrm>
            <a:off x="8223250" y="3516313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63</a:t>
            </a:r>
          </a:p>
        </p:txBody>
      </p:sp>
      <p:sp>
        <p:nvSpPr>
          <p:cNvPr id="131094" name="Rectangle 22"/>
          <p:cNvSpPr>
            <a:spLocks noChangeArrowheads="1"/>
          </p:cNvSpPr>
          <p:nvPr/>
        </p:nvSpPr>
        <p:spPr bwMode="auto">
          <a:xfrm>
            <a:off x="7308850" y="3516313"/>
            <a:ext cx="457200" cy="434975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rIns="0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48</a:t>
            </a:r>
          </a:p>
        </p:txBody>
      </p:sp>
      <p:sp>
        <p:nvSpPr>
          <p:cNvPr id="131095" name="Line 23"/>
          <p:cNvSpPr>
            <a:spLocks noChangeShapeType="1"/>
          </p:cNvSpPr>
          <p:nvPr/>
        </p:nvSpPr>
        <p:spPr bwMode="auto">
          <a:xfrm rot="5400000">
            <a:off x="2103437" y="4305301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096" name="Line 24"/>
          <p:cNvSpPr>
            <a:spLocks noChangeShapeType="1"/>
          </p:cNvSpPr>
          <p:nvPr/>
        </p:nvSpPr>
        <p:spPr bwMode="auto">
          <a:xfrm rot="5400000">
            <a:off x="2076450" y="4302125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097" name="Freeform 25"/>
          <p:cNvSpPr/>
          <p:nvPr/>
        </p:nvSpPr>
        <p:spPr bwMode="auto">
          <a:xfrm>
            <a:off x="2000250" y="4300538"/>
            <a:ext cx="152400" cy="3175"/>
          </a:xfrm>
          <a:custGeom>
            <a:avLst/>
            <a:gdLst>
              <a:gd name="T0" fmla="*/ 0 w 96"/>
              <a:gd name="T1" fmla="*/ 2147483647 h 2"/>
              <a:gd name="T2" fmla="*/ 2147483647 w 96"/>
              <a:gd name="T3" fmla="*/ 0 h 2"/>
              <a:gd name="T4" fmla="*/ 0 60000 65536"/>
              <a:gd name="T5" fmla="*/ 0 60000 65536"/>
              <a:gd name="T6" fmla="*/ 0 w 96"/>
              <a:gd name="T7" fmla="*/ 0 h 2"/>
              <a:gd name="T8" fmla="*/ 96 w 96"/>
              <a:gd name="T9" fmla="*/ 2 h 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6" h="2">
                <a:moveTo>
                  <a:pt x="0" y="2"/>
                </a:moveTo>
                <a:lnTo>
                  <a:pt x="96" y="0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098" name="Line 26"/>
          <p:cNvSpPr>
            <a:spLocks noChangeShapeType="1"/>
          </p:cNvSpPr>
          <p:nvPr/>
        </p:nvSpPr>
        <p:spPr bwMode="auto">
          <a:xfrm rot="-5400000">
            <a:off x="1798637" y="4305301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099" name="Line 27"/>
          <p:cNvSpPr>
            <a:spLocks noChangeShapeType="1"/>
          </p:cNvSpPr>
          <p:nvPr/>
        </p:nvSpPr>
        <p:spPr bwMode="auto">
          <a:xfrm rot="-5400000">
            <a:off x="1924050" y="4308475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100" name="Freeform 28"/>
          <p:cNvSpPr/>
          <p:nvPr/>
        </p:nvSpPr>
        <p:spPr bwMode="auto">
          <a:xfrm>
            <a:off x="2276475" y="3735388"/>
            <a:ext cx="177800" cy="1587"/>
          </a:xfrm>
          <a:custGeom>
            <a:avLst/>
            <a:gdLst>
              <a:gd name="T0" fmla="*/ 0 w 112"/>
              <a:gd name="T1" fmla="*/ 0 h 1"/>
              <a:gd name="T2" fmla="*/ 2147483647 w 112"/>
              <a:gd name="T3" fmla="*/ 0 h 1"/>
              <a:gd name="T4" fmla="*/ 0 60000 65536"/>
              <a:gd name="T5" fmla="*/ 0 60000 65536"/>
              <a:gd name="T6" fmla="*/ 0 w 112"/>
              <a:gd name="T7" fmla="*/ 0 h 1"/>
              <a:gd name="T8" fmla="*/ 112 w 112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2" h="1">
                <a:moveTo>
                  <a:pt x="0" y="0"/>
                </a:moveTo>
                <a:lnTo>
                  <a:pt x="112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01" name="Freeform 29"/>
          <p:cNvSpPr/>
          <p:nvPr/>
        </p:nvSpPr>
        <p:spPr bwMode="auto">
          <a:xfrm>
            <a:off x="1681163" y="1919288"/>
            <a:ext cx="241300" cy="2332037"/>
          </a:xfrm>
          <a:custGeom>
            <a:avLst/>
            <a:gdLst>
              <a:gd name="T0" fmla="*/ 2147483647 w 152"/>
              <a:gd name="T1" fmla="*/ 2147483647 h 1469"/>
              <a:gd name="T2" fmla="*/ 0 w 152"/>
              <a:gd name="T3" fmla="*/ 2147483647 h 1469"/>
              <a:gd name="T4" fmla="*/ 0 w 152"/>
              <a:gd name="T5" fmla="*/ 0 h 1469"/>
              <a:gd name="T6" fmla="*/ 2147483647 w 152"/>
              <a:gd name="T7" fmla="*/ 2147483647 h 1469"/>
              <a:gd name="T8" fmla="*/ 0 60000 65536"/>
              <a:gd name="T9" fmla="*/ 0 60000 65536"/>
              <a:gd name="T10" fmla="*/ 0 60000 65536"/>
              <a:gd name="T11" fmla="*/ 0 60000 65536"/>
              <a:gd name="T12" fmla="*/ 0 w 152"/>
              <a:gd name="T13" fmla="*/ 0 h 1469"/>
              <a:gd name="T14" fmla="*/ 152 w 152"/>
              <a:gd name="T15" fmla="*/ 1469 h 146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2" h="1469">
                <a:moveTo>
                  <a:pt x="152" y="1469"/>
                </a:moveTo>
                <a:lnTo>
                  <a:pt x="0" y="1469"/>
                </a:lnTo>
                <a:lnTo>
                  <a:pt x="0" y="0"/>
                </a:lnTo>
                <a:lnTo>
                  <a:pt x="95" y="1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02" name="Freeform 30"/>
          <p:cNvSpPr/>
          <p:nvPr/>
        </p:nvSpPr>
        <p:spPr bwMode="auto">
          <a:xfrm>
            <a:off x="1674813" y="3735388"/>
            <a:ext cx="161925" cy="1587"/>
          </a:xfrm>
          <a:custGeom>
            <a:avLst/>
            <a:gdLst>
              <a:gd name="T0" fmla="*/ 2147483647 w 102"/>
              <a:gd name="T1" fmla="*/ 0 h 1"/>
              <a:gd name="T2" fmla="*/ 0 w 102"/>
              <a:gd name="T3" fmla="*/ 0 h 1"/>
              <a:gd name="T4" fmla="*/ 0 60000 65536"/>
              <a:gd name="T5" fmla="*/ 0 60000 65536"/>
              <a:gd name="T6" fmla="*/ 0 w 102"/>
              <a:gd name="T7" fmla="*/ 0 h 1"/>
              <a:gd name="T8" fmla="*/ 102 w 102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2" h="1">
                <a:moveTo>
                  <a:pt x="102" y="0"/>
                </a:moveTo>
                <a:lnTo>
                  <a:pt x="0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03" name="Line 31"/>
          <p:cNvSpPr>
            <a:spLocks noChangeShapeType="1"/>
          </p:cNvSpPr>
          <p:nvPr/>
        </p:nvSpPr>
        <p:spPr bwMode="auto">
          <a:xfrm rot="5400000">
            <a:off x="3009900" y="4306888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104" name="Line 32"/>
          <p:cNvSpPr>
            <a:spLocks noChangeShapeType="1"/>
          </p:cNvSpPr>
          <p:nvPr/>
        </p:nvSpPr>
        <p:spPr bwMode="auto">
          <a:xfrm rot="5400000">
            <a:off x="2982913" y="4303713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105" name="Freeform 33"/>
          <p:cNvSpPr/>
          <p:nvPr/>
        </p:nvSpPr>
        <p:spPr bwMode="auto">
          <a:xfrm>
            <a:off x="2906713" y="4302125"/>
            <a:ext cx="152400" cy="3175"/>
          </a:xfrm>
          <a:custGeom>
            <a:avLst/>
            <a:gdLst>
              <a:gd name="T0" fmla="*/ 0 w 96"/>
              <a:gd name="T1" fmla="*/ 2147483647 h 2"/>
              <a:gd name="T2" fmla="*/ 2147483647 w 96"/>
              <a:gd name="T3" fmla="*/ 0 h 2"/>
              <a:gd name="T4" fmla="*/ 0 60000 65536"/>
              <a:gd name="T5" fmla="*/ 0 60000 65536"/>
              <a:gd name="T6" fmla="*/ 0 w 96"/>
              <a:gd name="T7" fmla="*/ 0 h 2"/>
              <a:gd name="T8" fmla="*/ 96 w 96"/>
              <a:gd name="T9" fmla="*/ 2 h 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6" h="2">
                <a:moveTo>
                  <a:pt x="0" y="2"/>
                </a:moveTo>
                <a:lnTo>
                  <a:pt x="96" y="0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106" name="Line 34"/>
          <p:cNvSpPr>
            <a:spLocks noChangeShapeType="1"/>
          </p:cNvSpPr>
          <p:nvPr/>
        </p:nvSpPr>
        <p:spPr bwMode="auto">
          <a:xfrm rot="-5400000">
            <a:off x="2705100" y="4306888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107" name="Line 35"/>
          <p:cNvSpPr>
            <a:spLocks noChangeShapeType="1"/>
          </p:cNvSpPr>
          <p:nvPr/>
        </p:nvSpPr>
        <p:spPr bwMode="auto">
          <a:xfrm rot="-5400000">
            <a:off x="2830513" y="4310063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108" name="Freeform 36"/>
          <p:cNvSpPr/>
          <p:nvPr/>
        </p:nvSpPr>
        <p:spPr bwMode="auto">
          <a:xfrm>
            <a:off x="3182938" y="3735388"/>
            <a:ext cx="163512" cy="1587"/>
          </a:xfrm>
          <a:custGeom>
            <a:avLst/>
            <a:gdLst>
              <a:gd name="T0" fmla="*/ 0 w 103"/>
              <a:gd name="T1" fmla="*/ 0 h 1"/>
              <a:gd name="T2" fmla="*/ 2147483647 w 103"/>
              <a:gd name="T3" fmla="*/ 0 h 1"/>
              <a:gd name="T4" fmla="*/ 0 60000 65536"/>
              <a:gd name="T5" fmla="*/ 0 60000 65536"/>
              <a:gd name="T6" fmla="*/ 0 w 103"/>
              <a:gd name="T7" fmla="*/ 0 h 1"/>
              <a:gd name="T8" fmla="*/ 103 w 103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3" h="1">
                <a:moveTo>
                  <a:pt x="0" y="0"/>
                </a:moveTo>
                <a:lnTo>
                  <a:pt x="103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09" name="Freeform 37"/>
          <p:cNvSpPr/>
          <p:nvPr/>
        </p:nvSpPr>
        <p:spPr bwMode="auto">
          <a:xfrm>
            <a:off x="2557463" y="3733800"/>
            <a:ext cx="179387" cy="1588"/>
          </a:xfrm>
          <a:custGeom>
            <a:avLst/>
            <a:gdLst>
              <a:gd name="T0" fmla="*/ 2147483647 w 113"/>
              <a:gd name="T1" fmla="*/ 2147483647 h 1"/>
              <a:gd name="T2" fmla="*/ 0 w 113"/>
              <a:gd name="T3" fmla="*/ 0 h 1"/>
              <a:gd name="T4" fmla="*/ 0 60000 65536"/>
              <a:gd name="T5" fmla="*/ 0 60000 65536"/>
              <a:gd name="T6" fmla="*/ 0 w 113"/>
              <a:gd name="T7" fmla="*/ 0 h 1"/>
              <a:gd name="T8" fmla="*/ 113 w 113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3" h="1">
                <a:moveTo>
                  <a:pt x="113" y="1"/>
                </a:moveTo>
                <a:lnTo>
                  <a:pt x="0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10" name="Line 38"/>
          <p:cNvSpPr>
            <a:spLocks noChangeShapeType="1"/>
          </p:cNvSpPr>
          <p:nvPr/>
        </p:nvSpPr>
        <p:spPr bwMode="auto">
          <a:xfrm rot="5400000">
            <a:off x="3932237" y="4306888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111" name="Line 39"/>
          <p:cNvSpPr>
            <a:spLocks noChangeShapeType="1"/>
          </p:cNvSpPr>
          <p:nvPr/>
        </p:nvSpPr>
        <p:spPr bwMode="auto">
          <a:xfrm rot="5400000">
            <a:off x="3905250" y="4303713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112" name="Freeform 40"/>
          <p:cNvSpPr/>
          <p:nvPr/>
        </p:nvSpPr>
        <p:spPr bwMode="auto">
          <a:xfrm>
            <a:off x="3829050" y="4302125"/>
            <a:ext cx="152400" cy="3175"/>
          </a:xfrm>
          <a:custGeom>
            <a:avLst/>
            <a:gdLst>
              <a:gd name="T0" fmla="*/ 0 w 96"/>
              <a:gd name="T1" fmla="*/ 2147483647 h 2"/>
              <a:gd name="T2" fmla="*/ 2147483647 w 96"/>
              <a:gd name="T3" fmla="*/ 0 h 2"/>
              <a:gd name="T4" fmla="*/ 0 60000 65536"/>
              <a:gd name="T5" fmla="*/ 0 60000 65536"/>
              <a:gd name="T6" fmla="*/ 0 w 96"/>
              <a:gd name="T7" fmla="*/ 0 h 2"/>
              <a:gd name="T8" fmla="*/ 96 w 96"/>
              <a:gd name="T9" fmla="*/ 2 h 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6" h="2">
                <a:moveTo>
                  <a:pt x="0" y="2"/>
                </a:moveTo>
                <a:lnTo>
                  <a:pt x="96" y="0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113" name="Line 41"/>
          <p:cNvSpPr>
            <a:spLocks noChangeShapeType="1"/>
          </p:cNvSpPr>
          <p:nvPr/>
        </p:nvSpPr>
        <p:spPr bwMode="auto">
          <a:xfrm rot="-5400000">
            <a:off x="3627437" y="4306888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114" name="Line 42"/>
          <p:cNvSpPr>
            <a:spLocks noChangeShapeType="1"/>
          </p:cNvSpPr>
          <p:nvPr/>
        </p:nvSpPr>
        <p:spPr bwMode="auto">
          <a:xfrm rot="-5400000">
            <a:off x="3752850" y="4310063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115" name="Freeform 43"/>
          <p:cNvSpPr/>
          <p:nvPr/>
        </p:nvSpPr>
        <p:spPr bwMode="auto">
          <a:xfrm>
            <a:off x="4105275" y="3735388"/>
            <a:ext cx="173038" cy="1587"/>
          </a:xfrm>
          <a:custGeom>
            <a:avLst/>
            <a:gdLst>
              <a:gd name="T0" fmla="*/ 0 w 109"/>
              <a:gd name="T1" fmla="*/ 0 h 1"/>
              <a:gd name="T2" fmla="*/ 2147483647 w 109"/>
              <a:gd name="T3" fmla="*/ 0 h 1"/>
              <a:gd name="T4" fmla="*/ 0 60000 65536"/>
              <a:gd name="T5" fmla="*/ 0 60000 65536"/>
              <a:gd name="T6" fmla="*/ 0 w 109"/>
              <a:gd name="T7" fmla="*/ 0 h 1"/>
              <a:gd name="T8" fmla="*/ 109 w 109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9" h="1">
                <a:moveTo>
                  <a:pt x="0" y="0"/>
                </a:moveTo>
                <a:lnTo>
                  <a:pt x="109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16" name="Freeform 44"/>
          <p:cNvSpPr/>
          <p:nvPr/>
        </p:nvSpPr>
        <p:spPr bwMode="auto">
          <a:xfrm>
            <a:off x="3503613" y="3735388"/>
            <a:ext cx="141287" cy="1587"/>
          </a:xfrm>
          <a:custGeom>
            <a:avLst/>
            <a:gdLst>
              <a:gd name="T0" fmla="*/ 2147483647 w 89"/>
              <a:gd name="T1" fmla="*/ 0 h 1"/>
              <a:gd name="T2" fmla="*/ 0 w 89"/>
              <a:gd name="T3" fmla="*/ 0 h 1"/>
              <a:gd name="T4" fmla="*/ 0 60000 65536"/>
              <a:gd name="T5" fmla="*/ 0 60000 65536"/>
              <a:gd name="T6" fmla="*/ 0 w 89"/>
              <a:gd name="T7" fmla="*/ 0 h 1"/>
              <a:gd name="T8" fmla="*/ 89 w 89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89" h="1">
                <a:moveTo>
                  <a:pt x="89" y="0"/>
                </a:moveTo>
                <a:lnTo>
                  <a:pt x="0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17" name="Line 45"/>
          <p:cNvSpPr>
            <a:spLocks noChangeShapeType="1"/>
          </p:cNvSpPr>
          <p:nvPr/>
        </p:nvSpPr>
        <p:spPr bwMode="auto">
          <a:xfrm rot="5400000">
            <a:off x="4846637" y="4306888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118" name="Line 46"/>
          <p:cNvSpPr>
            <a:spLocks noChangeShapeType="1"/>
          </p:cNvSpPr>
          <p:nvPr/>
        </p:nvSpPr>
        <p:spPr bwMode="auto">
          <a:xfrm rot="5400000">
            <a:off x="4819650" y="4303713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119" name="Freeform 47"/>
          <p:cNvSpPr/>
          <p:nvPr/>
        </p:nvSpPr>
        <p:spPr bwMode="auto">
          <a:xfrm>
            <a:off x="4743450" y="4302125"/>
            <a:ext cx="152400" cy="3175"/>
          </a:xfrm>
          <a:custGeom>
            <a:avLst/>
            <a:gdLst>
              <a:gd name="T0" fmla="*/ 0 w 96"/>
              <a:gd name="T1" fmla="*/ 2147483647 h 2"/>
              <a:gd name="T2" fmla="*/ 2147483647 w 96"/>
              <a:gd name="T3" fmla="*/ 0 h 2"/>
              <a:gd name="T4" fmla="*/ 0 60000 65536"/>
              <a:gd name="T5" fmla="*/ 0 60000 65536"/>
              <a:gd name="T6" fmla="*/ 0 w 96"/>
              <a:gd name="T7" fmla="*/ 0 h 2"/>
              <a:gd name="T8" fmla="*/ 96 w 96"/>
              <a:gd name="T9" fmla="*/ 2 h 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6" h="2">
                <a:moveTo>
                  <a:pt x="0" y="2"/>
                </a:moveTo>
                <a:lnTo>
                  <a:pt x="96" y="0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120" name="Line 48"/>
          <p:cNvSpPr>
            <a:spLocks noChangeShapeType="1"/>
          </p:cNvSpPr>
          <p:nvPr/>
        </p:nvSpPr>
        <p:spPr bwMode="auto">
          <a:xfrm rot="-5400000">
            <a:off x="4541837" y="4306888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121" name="Line 49"/>
          <p:cNvSpPr>
            <a:spLocks noChangeShapeType="1"/>
          </p:cNvSpPr>
          <p:nvPr/>
        </p:nvSpPr>
        <p:spPr bwMode="auto">
          <a:xfrm rot="-5400000">
            <a:off x="4667250" y="4310063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122" name="Freeform 50"/>
          <p:cNvSpPr/>
          <p:nvPr/>
        </p:nvSpPr>
        <p:spPr bwMode="auto">
          <a:xfrm>
            <a:off x="5019675" y="3735388"/>
            <a:ext cx="182563" cy="1587"/>
          </a:xfrm>
          <a:custGeom>
            <a:avLst/>
            <a:gdLst>
              <a:gd name="T0" fmla="*/ 0 w 115"/>
              <a:gd name="T1" fmla="*/ 0 h 1"/>
              <a:gd name="T2" fmla="*/ 2147483647 w 115"/>
              <a:gd name="T3" fmla="*/ 0 h 1"/>
              <a:gd name="T4" fmla="*/ 0 60000 65536"/>
              <a:gd name="T5" fmla="*/ 0 60000 65536"/>
              <a:gd name="T6" fmla="*/ 0 w 115"/>
              <a:gd name="T7" fmla="*/ 0 h 1"/>
              <a:gd name="T8" fmla="*/ 115 w 115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5" h="1">
                <a:moveTo>
                  <a:pt x="0" y="0"/>
                </a:moveTo>
                <a:lnTo>
                  <a:pt x="115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23" name="Freeform 51"/>
          <p:cNvSpPr/>
          <p:nvPr/>
        </p:nvSpPr>
        <p:spPr bwMode="auto">
          <a:xfrm>
            <a:off x="4418013" y="3735388"/>
            <a:ext cx="142875" cy="1587"/>
          </a:xfrm>
          <a:custGeom>
            <a:avLst/>
            <a:gdLst>
              <a:gd name="T0" fmla="*/ 2147483647 w 90"/>
              <a:gd name="T1" fmla="*/ 0 h 1"/>
              <a:gd name="T2" fmla="*/ 0 w 90"/>
              <a:gd name="T3" fmla="*/ 0 h 1"/>
              <a:gd name="T4" fmla="*/ 0 60000 65536"/>
              <a:gd name="T5" fmla="*/ 0 60000 65536"/>
              <a:gd name="T6" fmla="*/ 0 w 90"/>
              <a:gd name="T7" fmla="*/ 0 h 1"/>
              <a:gd name="T8" fmla="*/ 90 w 90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0" h="1">
                <a:moveTo>
                  <a:pt x="90" y="0"/>
                </a:moveTo>
                <a:lnTo>
                  <a:pt x="0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24" name="Line 52"/>
          <p:cNvSpPr>
            <a:spLocks noChangeShapeType="1"/>
          </p:cNvSpPr>
          <p:nvPr/>
        </p:nvSpPr>
        <p:spPr bwMode="auto">
          <a:xfrm rot="5400000">
            <a:off x="5761037" y="4306888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125" name="Line 53"/>
          <p:cNvSpPr>
            <a:spLocks noChangeShapeType="1"/>
          </p:cNvSpPr>
          <p:nvPr/>
        </p:nvSpPr>
        <p:spPr bwMode="auto">
          <a:xfrm rot="5400000">
            <a:off x="5734050" y="4303713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126" name="Freeform 54"/>
          <p:cNvSpPr/>
          <p:nvPr/>
        </p:nvSpPr>
        <p:spPr bwMode="auto">
          <a:xfrm>
            <a:off x="5657850" y="4302125"/>
            <a:ext cx="152400" cy="3175"/>
          </a:xfrm>
          <a:custGeom>
            <a:avLst/>
            <a:gdLst>
              <a:gd name="T0" fmla="*/ 0 w 96"/>
              <a:gd name="T1" fmla="*/ 2147483647 h 2"/>
              <a:gd name="T2" fmla="*/ 2147483647 w 96"/>
              <a:gd name="T3" fmla="*/ 0 h 2"/>
              <a:gd name="T4" fmla="*/ 0 60000 65536"/>
              <a:gd name="T5" fmla="*/ 0 60000 65536"/>
              <a:gd name="T6" fmla="*/ 0 w 96"/>
              <a:gd name="T7" fmla="*/ 0 h 2"/>
              <a:gd name="T8" fmla="*/ 96 w 96"/>
              <a:gd name="T9" fmla="*/ 2 h 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6" h="2">
                <a:moveTo>
                  <a:pt x="0" y="2"/>
                </a:moveTo>
                <a:lnTo>
                  <a:pt x="96" y="0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127" name="Line 55"/>
          <p:cNvSpPr>
            <a:spLocks noChangeShapeType="1"/>
          </p:cNvSpPr>
          <p:nvPr/>
        </p:nvSpPr>
        <p:spPr bwMode="auto">
          <a:xfrm rot="-5400000">
            <a:off x="5456237" y="4306888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128" name="Line 56"/>
          <p:cNvSpPr>
            <a:spLocks noChangeShapeType="1"/>
          </p:cNvSpPr>
          <p:nvPr/>
        </p:nvSpPr>
        <p:spPr bwMode="auto">
          <a:xfrm rot="-5400000">
            <a:off x="5581650" y="4310063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129" name="Freeform 57"/>
          <p:cNvSpPr/>
          <p:nvPr/>
        </p:nvSpPr>
        <p:spPr bwMode="auto">
          <a:xfrm>
            <a:off x="5954713" y="3733800"/>
            <a:ext cx="158750" cy="1588"/>
          </a:xfrm>
          <a:custGeom>
            <a:avLst/>
            <a:gdLst>
              <a:gd name="T0" fmla="*/ 0 w 100"/>
              <a:gd name="T1" fmla="*/ 0 h 1"/>
              <a:gd name="T2" fmla="*/ 2147483647 w 100"/>
              <a:gd name="T3" fmla="*/ 2147483647 h 1"/>
              <a:gd name="T4" fmla="*/ 0 60000 65536"/>
              <a:gd name="T5" fmla="*/ 0 60000 65536"/>
              <a:gd name="T6" fmla="*/ 0 w 100"/>
              <a:gd name="T7" fmla="*/ 0 h 1"/>
              <a:gd name="T8" fmla="*/ 100 w 100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0" h="1">
                <a:moveTo>
                  <a:pt x="0" y="0"/>
                </a:moveTo>
                <a:lnTo>
                  <a:pt x="100" y="1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30" name="Freeform 58"/>
          <p:cNvSpPr/>
          <p:nvPr/>
        </p:nvSpPr>
        <p:spPr bwMode="auto">
          <a:xfrm>
            <a:off x="5332413" y="3735388"/>
            <a:ext cx="171450" cy="1587"/>
          </a:xfrm>
          <a:custGeom>
            <a:avLst/>
            <a:gdLst>
              <a:gd name="T0" fmla="*/ 2147483647 w 108"/>
              <a:gd name="T1" fmla="*/ 0 h 1"/>
              <a:gd name="T2" fmla="*/ 0 w 108"/>
              <a:gd name="T3" fmla="*/ 0 h 1"/>
              <a:gd name="T4" fmla="*/ 0 60000 65536"/>
              <a:gd name="T5" fmla="*/ 0 60000 65536"/>
              <a:gd name="T6" fmla="*/ 0 w 108"/>
              <a:gd name="T7" fmla="*/ 0 h 1"/>
              <a:gd name="T8" fmla="*/ 108 w 108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8" h="1">
                <a:moveTo>
                  <a:pt x="108" y="0"/>
                </a:moveTo>
                <a:lnTo>
                  <a:pt x="0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31" name="Line 59"/>
          <p:cNvSpPr>
            <a:spLocks noChangeShapeType="1"/>
          </p:cNvSpPr>
          <p:nvPr/>
        </p:nvSpPr>
        <p:spPr bwMode="auto">
          <a:xfrm rot="5400000">
            <a:off x="6675437" y="4283076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132" name="Line 60"/>
          <p:cNvSpPr>
            <a:spLocks noChangeShapeType="1"/>
          </p:cNvSpPr>
          <p:nvPr/>
        </p:nvSpPr>
        <p:spPr bwMode="auto">
          <a:xfrm rot="5400000">
            <a:off x="6648450" y="4279900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133" name="Freeform 61"/>
          <p:cNvSpPr/>
          <p:nvPr/>
        </p:nvSpPr>
        <p:spPr bwMode="auto">
          <a:xfrm>
            <a:off x="6572250" y="4278313"/>
            <a:ext cx="152400" cy="3175"/>
          </a:xfrm>
          <a:custGeom>
            <a:avLst/>
            <a:gdLst>
              <a:gd name="T0" fmla="*/ 0 w 96"/>
              <a:gd name="T1" fmla="*/ 2147483647 h 2"/>
              <a:gd name="T2" fmla="*/ 2147483647 w 96"/>
              <a:gd name="T3" fmla="*/ 0 h 2"/>
              <a:gd name="T4" fmla="*/ 0 60000 65536"/>
              <a:gd name="T5" fmla="*/ 0 60000 65536"/>
              <a:gd name="T6" fmla="*/ 0 w 96"/>
              <a:gd name="T7" fmla="*/ 0 h 2"/>
              <a:gd name="T8" fmla="*/ 96 w 96"/>
              <a:gd name="T9" fmla="*/ 2 h 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6" h="2">
                <a:moveTo>
                  <a:pt x="0" y="2"/>
                </a:moveTo>
                <a:lnTo>
                  <a:pt x="96" y="0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134" name="Line 62"/>
          <p:cNvSpPr>
            <a:spLocks noChangeShapeType="1"/>
          </p:cNvSpPr>
          <p:nvPr/>
        </p:nvSpPr>
        <p:spPr bwMode="auto">
          <a:xfrm rot="-5400000">
            <a:off x="6370637" y="4283076"/>
            <a:ext cx="2508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135" name="Line 63"/>
          <p:cNvSpPr>
            <a:spLocks noChangeShapeType="1"/>
          </p:cNvSpPr>
          <p:nvPr/>
        </p:nvSpPr>
        <p:spPr bwMode="auto">
          <a:xfrm rot="-5400000">
            <a:off x="6496050" y="4286250"/>
            <a:ext cx="152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31136" name="Freeform 64"/>
          <p:cNvSpPr/>
          <p:nvPr/>
        </p:nvSpPr>
        <p:spPr bwMode="auto">
          <a:xfrm>
            <a:off x="6883400" y="3732213"/>
            <a:ext cx="142875" cy="3175"/>
          </a:xfrm>
          <a:custGeom>
            <a:avLst/>
            <a:gdLst>
              <a:gd name="T0" fmla="*/ 0 w 90"/>
              <a:gd name="T1" fmla="*/ 0 h 2"/>
              <a:gd name="T2" fmla="*/ 2147483647 w 90"/>
              <a:gd name="T3" fmla="*/ 2147483647 h 2"/>
              <a:gd name="T4" fmla="*/ 0 60000 65536"/>
              <a:gd name="T5" fmla="*/ 0 60000 65536"/>
              <a:gd name="T6" fmla="*/ 0 w 90"/>
              <a:gd name="T7" fmla="*/ 0 h 2"/>
              <a:gd name="T8" fmla="*/ 90 w 90"/>
              <a:gd name="T9" fmla="*/ 2 h 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0" h="2">
                <a:moveTo>
                  <a:pt x="0" y="0"/>
                </a:moveTo>
                <a:lnTo>
                  <a:pt x="90" y="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37" name="Freeform 65"/>
          <p:cNvSpPr/>
          <p:nvPr/>
        </p:nvSpPr>
        <p:spPr bwMode="auto">
          <a:xfrm>
            <a:off x="6246813" y="3735388"/>
            <a:ext cx="165100" cy="1587"/>
          </a:xfrm>
          <a:custGeom>
            <a:avLst/>
            <a:gdLst>
              <a:gd name="T0" fmla="*/ 2147483647 w 104"/>
              <a:gd name="T1" fmla="*/ 0 h 1"/>
              <a:gd name="T2" fmla="*/ 0 w 104"/>
              <a:gd name="T3" fmla="*/ 0 h 1"/>
              <a:gd name="T4" fmla="*/ 0 60000 65536"/>
              <a:gd name="T5" fmla="*/ 0 60000 65536"/>
              <a:gd name="T6" fmla="*/ 0 w 104"/>
              <a:gd name="T7" fmla="*/ 0 h 1"/>
              <a:gd name="T8" fmla="*/ 104 w 104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4" h="1">
                <a:moveTo>
                  <a:pt x="104" y="0"/>
                </a:moveTo>
                <a:lnTo>
                  <a:pt x="0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grpSp>
        <p:nvGrpSpPr>
          <p:cNvPr id="131138" name="Group 66"/>
          <p:cNvGrpSpPr/>
          <p:nvPr/>
        </p:nvGrpSpPr>
        <p:grpSpPr bwMode="auto">
          <a:xfrm>
            <a:off x="7410450" y="4181475"/>
            <a:ext cx="304800" cy="250825"/>
            <a:chOff x="4692" y="2634"/>
            <a:chExt cx="192" cy="158"/>
          </a:xfrm>
        </p:grpSpPr>
        <p:grpSp>
          <p:nvGrpSpPr>
            <p:cNvPr id="131445" name="Group 67"/>
            <p:cNvGrpSpPr/>
            <p:nvPr/>
          </p:nvGrpSpPr>
          <p:grpSpPr bwMode="auto">
            <a:xfrm>
              <a:off x="4836" y="2634"/>
              <a:ext cx="48" cy="158"/>
              <a:chOff x="4836" y="2634"/>
              <a:chExt cx="48" cy="158"/>
            </a:xfrm>
          </p:grpSpPr>
          <p:sp>
            <p:nvSpPr>
              <p:cNvPr id="131450" name="Line 68"/>
              <p:cNvSpPr>
                <a:spLocks noChangeShapeType="1"/>
              </p:cNvSpPr>
              <p:nvPr/>
            </p:nvSpPr>
            <p:spPr bwMode="auto">
              <a:xfrm rot="5400000">
                <a:off x="4805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1451" name="Line 69"/>
              <p:cNvSpPr>
                <a:spLocks noChangeShapeType="1"/>
              </p:cNvSpPr>
              <p:nvPr/>
            </p:nvSpPr>
            <p:spPr bwMode="auto">
              <a:xfrm rot="5400000">
                <a:off x="4788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31446" name="Freeform 70"/>
            <p:cNvSpPr/>
            <p:nvPr/>
          </p:nvSpPr>
          <p:spPr bwMode="auto">
            <a:xfrm>
              <a:off x="4740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31447" name="Group 71"/>
            <p:cNvGrpSpPr/>
            <p:nvPr/>
          </p:nvGrpSpPr>
          <p:grpSpPr bwMode="auto">
            <a:xfrm>
              <a:off x="4692" y="2634"/>
              <a:ext cx="48" cy="158"/>
              <a:chOff x="4692" y="2634"/>
              <a:chExt cx="48" cy="158"/>
            </a:xfrm>
          </p:grpSpPr>
          <p:sp>
            <p:nvSpPr>
              <p:cNvPr id="131448" name="Line 72"/>
              <p:cNvSpPr>
                <a:spLocks noChangeShapeType="1"/>
              </p:cNvSpPr>
              <p:nvPr/>
            </p:nvSpPr>
            <p:spPr bwMode="auto">
              <a:xfrm rot="-5400000">
                <a:off x="4613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1449" name="Line 73"/>
              <p:cNvSpPr>
                <a:spLocks noChangeShapeType="1"/>
              </p:cNvSpPr>
              <p:nvPr/>
            </p:nvSpPr>
            <p:spPr bwMode="auto">
              <a:xfrm rot="-5400000">
                <a:off x="4692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sp>
        <p:nvSpPr>
          <p:cNvPr id="131139" name="Freeform 74"/>
          <p:cNvSpPr/>
          <p:nvPr/>
        </p:nvSpPr>
        <p:spPr bwMode="auto">
          <a:xfrm>
            <a:off x="7762875" y="3735388"/>
            <a:ext cx="169863" cy="1587"/>
          </a:xfrm>
          <a:custGeom>
            <a:avLst/>
            <a:gdLst>
              <a:gd name="T0" fmla="*/ 0 w 107"/>
              <a:gd name="T1" fmla="*/ 0 h 1"/>
              <a:gd name="T2" fmla="*/ 2147483647 w 107"/>
              <a:gd name="T3" fmla="*/ 0 h 1"/>
              <a:gd name="T4" fmla="*/ 0 60000 65536"/>
              <a:gd name="T5" fmla="*/ 0 60000 65536"/>
              <a:gd name="T6" fmla="*/ 0 w 107"/>
              <a:gd name="T7" fmla="*/ 0 h 1"/>
              <a:gd name="T8" fmla="*/ 107 w 107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7" h="1">
                <a:moveTo>
                  <a:pt x="0" y="0"/>
                </a:moveTo>
                <a:lnTo>
                  <a:pt x="107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40" name="Freeform 75"/>
          <p:cNvSpPr/>
          <p:nvPr/>
        </p:nvSpPr>
        <p:spPr bwMode="auto">
          <a:xfrm>
            <a:off x="7161213" y="3735388"/>
            <a:ext cx="152400" cy="1587"/>
          </a:xfrm>
          <a:custGeom>
            <a:avLst/>
            <a:gdLst>
              <a:gd name="T0" fmla="*/ 2147483647 w 96"/>
              <a:gd name="T1" fmla="*/ 0 h 1"/>
              <a:gd name="T2" fmla="*/ 0 w 96"/>
              <a:gd name="T3" fmla="*/ 0 h 1"/>
              <a:gd name="T4" fmla="*/ 0 60000 65536"/>
              <a:gd name="T5" fmla="*/ 0 60000 65536"/>
              <a:gd name="T6" fmla="*/ 0 w 96"/>
              <a:gd name="T7" fmla="*/ 0 h 1"/>
              <a:gd name="T8" fmla="*/ 96 w 9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6" h="1">
                <a:moveTo>
                  <a:pt x="96" y="0"/>
                </a:moveTo>
                <a:lnTo>
                  <a:pt x="0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grpSp>
        <p:nvGrpSpPr>
          <p:cNvPr id="131141" name="Group 76"/>
          <p:cNvGrpSpPr/>
          <p:nvPr/>
        </p:nvGrpSpPr>
        <p:grpSpPr bwMode="auto">
          <a:xfrm>
            <a:off x="8310563" y="4181475"/>
            <a:ext cx="304800" cy="250825"/>
            <a:chOff x="5259" y="2634"/>
            <a:chExt cx="192" cy="158"/>
          </a:xfrm>
        </p:grpSpPr>
        <p:grpSp>
          <p:nvGrpSpPr>
            <p:cNvPr id="131438" name="Group 77"/>
            <p:cNvGrpSpPr/>
            <p:nvPr/>
          </p:nvGrpSpPr>
          <p:grpSpPr bwMode="auto">
            <a:xfrm>
              <a:off x="5403" y="2634"/>
              <a:ext cx="48" cy="158"/>
              <a:chOff x="5403" y="2634"/>
              <a:chExt cx="48" cy="158"/>
            </a:xfrm>
          </p:grpSpPr>
          <p:sp>
            <p:nvSpPr>
              <p:cNvPr id="131443" name="Line 78"/>
              <p:cNvSpPr>
                <a:spLocks noChangeShapeType="1"/>
              </p:cNvSpPr>
              <p:nvPr/>
            </p:nvSpPr>
            <p:spPr bwMode="auto">
              <a:xfrm rot="5400000">
                <a:off x="5372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1444" name="Line 79"/>
              <p:cNvSpPr>
                <a:spLocks noChangeShapeType="1"/>
              </p:cNvSpPr>
              <p:nvPr/>
            </p:nvSpPr>
            <p:spPr bwMode="auto">
              <a:xfrm rot="5400000">
                <a:off x="5355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31439" name="Freeform 80"/>
            <p:cNvSpPr/>
            <p:nvPr/>
          </p:nvSpPr>
          <p:spPr bwMode="auto">
            <a:xfrm>
              <a:off x="5307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31440" name="Group 81"/>
            <p:cNvGrpSpPr/>
            <p:nvPr/>
          </p:nvGrpSpPr>
          <p:grpSpPr bwMode="auto">
            <a:xfrm>
              <a:off x="5259" y="2634"/>
              <a:ext cx="48" cy="158"/>
              <a:chOff x="5259" y="2634"/>
              <a:chExt cx="48" cy="158"/>
            </a:xfrm>
          </p:grpSpPr>
          <p:sp>
            <p:nvSpPr>
              <p:cNvPr id="131441" name="Line 82"/>
              <p:cNvSpPr>
                <a:spLocks noChangeShapeType="1"/>
              </p:cNvSpPr>
              <p:nvPr/>
            </p:nvSpPr>
            <p:spPr bwMode="auto">
              <a:xfrm rot="-5400000">
                <a:off x="5180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1442" name="Line 83"/>
              <p:cNvSpPr>
                <a:spLocks noChangeShapeType="1"/>
              </p:cNvSpPr>
              <p:nvPr/>
            </p:nvSpPr>
            <p:spPr bwMode="auto">
              <a:xfrm rot="-5400000">
                <a:off x="5259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sp>
        <p:nvSpPr>
          <p:cNvPr id="131142" name="Freeform 84"/>
          <p:cNvSpPr/>
          <p:nvPr/>
        </p:nvSpPr>
        <p:spPr bwMode="auto">
          <a:xfrm>
            <a:off x="8678863" y="3732213"/>
            <a:ext cx="152400" cy="3175"/>
          </a:xfrm>
          <a:custGeom>
            <a:avLst/>
            <a:gdLst>
              <a:gd name="T0" fmla="*/ 0 w 96"/>
              <a:gd name="T1" fmla="*/ 0 h 2"/>
              <a:gd name="T2" fmla="*/ 2147483647 w 96"/>
              <a:gd name="T3" fmla="*/ 2147483647 h 2"/>
              <a:gd name="T4" fmla="*/ 0 60000 65536"/>
              <a:gd name="T5" fmla="*/ 0 60000 65536"/>
              <a:gd name="T6" fmla="*/ 0 w 96"/>
              <a:gd name="T7" fmla="*/ 0 h 2"/>
              <a:gd name="T8" fmla="*/ 96 w 96"/>
              <a:gd name="T9" fmla="*/ 2 h 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6" h="2">
                <a:moveTo>
                  <a:pt x="0" y="0"/>
                </a:moveTo>
                <a:lnTo>
                  <a:pt x="96" y="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43" name="Freeform 85"/>
          <p:cNvSpPr/>
          <p:nvPr/>
        </p:nvSpPr>
        <p:spPr bwMode="auto">
          <a:xfrm>
            <a:off x="8061325" y="3735388"/>
            <a:ext cx="160338" cy="1587"/>
          </a:xfrm>
          <a:custGeom>
            <a:avLst/>
            <a:gdLst>
              <a:gd name="T0" fmla="*/ 2147483647 w 101"/>
              <a:gd name="T1" fmla="*/ 0 h 1"/>
              <a:gd name="T2" fmla="*/ 0 w 101"/>
              <a:gd name="T3" fmla="*/ 0 h 1"/>
              <a:gd name="T4" fmla="*/ 0 60000 65536"/>
              <a:gd name="T5" fmla="*/ 0 60000 65536"/>
              <a:gd name="T6" fmla="*/ 0 w 101"/>
              <a:gd name="T7" fmla="*/ 0 h 1"/>
              <a:gd name="T8" fmla="*/ 101 w 101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1" h="1">
                <a:moveTo>
                  <a:pt x="101" y="0"/>
                </a:moveTo>
                <a:lnTo>
                  <a:pt x="0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44" name="Freeform 86"/>
          <p:cNvSpPr/>
          <p:nvPr/>
        </p:nvSpPr>
        <p:spPr bwMode="auto">
          <a:xfrm>
            <a:off x="1441450" y="1358900"/>
            <a:ext cx="7015163" cy="1588"/>
          </a:xfrm>
          <a:custGeom>
            <a:avLst/>
            <a:gdLst>
              <a:gd name="T0" fmla="*/ 0 w 4419"/>
              <a:gd name="T1" fmla="*/ 2147483647 h 1"/>
              <a:gd name="T2" fmla="*/ 2147483647 w 4419"/>
              <a:gd name="T3" fmla="*/ 0 h 1"/>
              <a:gd name="T4" fmla="*/ 0 60000 65536"/>
              <a:gd name="T5" fmla="*/ 0 60000 65536"/>
              <a:gd name="T6" fmla="*/ 0 w 4419"/>
              <a:gd name="T7" fmla="*/ 0 h 1"/>
              <a:gd name="T8" fmla="*/ 4419 w 4419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19" h="1">
                <a:moveTo>
                  <a:pt x="0" y="1"/>
                </a:moveTo>
                <a:lnTo>
                  <a:pt x="4419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45" name="Line 87"/>
          <p:cNvSpPr>
            <a:spLocks noChangeShapeType="1"/>
          </p:cNvSpPr>
          <p:nvPr/>
        </p:nvSpPr>
        <p:spPr bwMode="auto">
          <a:xfrm>
            <a:off x="2051050" y="1360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46" name="Line 88"/>
          <p:cNvSpPr>
            <a:spLocks noChangeShapeType="1"/>
          </p:cNvSpPr>
          <p:nvPr/>
        </p:nvSpPr>
        <p:spPr bwMode="auto">
          <a:xfrm>
            <a:off x="2965450" y="1360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47" name="Line 89"/>
          <p:cNvSpPr>
            <a:spLocks noChangeShapeType="1"/>
          </p:cNvSpPr>
          <p:nvPr/>
        </p:nvSpPr>
        <p:spPr bwMode="auto">
          <a:xfrm>
            <a:off x="3879850" y="1360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48" name="Line 90"/>
          <p:cNvSpPr>
            <a:spLocks noChangeShapeType="1"/>
          </p:cNvSpPr>
          <p:nvPr/>
        </p:nvSpPr>
        <p:spPr bwMode="auto">
          <a:xfrm>
            <a:off x="4794250" y="1360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49" name="Line 91"/>
          <p:cNvSpPr>
            <a:spLocks noChangeShapeType="1"/>
          </p:cNvSpPr>
          <p:nvPr/>
        </p:nvSpPr>
        <p:spPr bwMode="auto">
          <a:xfrm>
            <a:off x="5708650" y="1360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50" name="Line 92"/>
          <p:cNvSpPr>
            <a:spLocks noChangeShapeType="1"/>
          </p:cNvSpPr>
          <p:nvPr/>
        </p:nvSpPr>
        <p:spPr bwMode="auto">
          <a:xfrm>
            <a:off x="6623050" y="1360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51" name="Line 93"/>
          <p:cNvSpPr>
            <a:spLocks noChangeShapeType="1"/>
          </p:cNvSpPr>
          <p:nvPr/>
        </p:nvSpPr>
        <p:spPr bwMode="auto">
          <a:xfrm>
            <a:off x="7537450" y="1360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52" name="Line 94"/>
          <p:cNvSpPr>
            <a:spLocks noChangeShapeType="1"/>
          </p:cNvSpPr>
          <p:nvPr/>
        </p:nvSpPr>
        <p:spPr bwMode="auto">
          <a:xfrm>
            <a:off x="8451850" y="1360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53" name="Freeform 95"/>
          <p:cNvSpPr/>
          <p:nvPr/>
        </p:nvSpPr>
        <p:spPr bwMode="auto">
          <a:xfrm>
            <a:off x="2071688" y="4298950"/>
            <a:ext cx="1587" cy="263525"/>
          </a:xfrm>
          <a:custGeom>
            <a:avLst/>
            <a:gdLst>
              <a:gd name="T0" fmla="*/ 2147483647 w 1"/>
              <a:gd name="T1" fmla="*/ 0 h 166"/>
              <a:gd name="T2" fmla="*/ 0 w 1"/>
              <a:gd name="T3" fmla="*/ 2147483647 h 166"/>
              <a:gd name="T4" fmla="*/ 0 60000 65536"/>
              <a:gd name="T5" fmla="*/ 0 60000 65536"/>
              <a:gd name="T6" fmla="*/ 0 w 1"/>
              <a:gd name="T7" fmla="*/ 0 h 166"/>
              <a:gd name="T8" fmla="*/ 1 w 1"/>
              <a:gd name="T9" fmla="*/ 166 h 16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166">
                <a:moveTo>
                  <a:pt x="1" y="0"/>
                </a:moveTo>
                <a:lnTo>
                  <a:pt x="0" y="16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54" name="Freeform 96"/>
          <p:cNvSpPr/>
          <p:nvPr/>
        </p:nvSpPr>
        <p:spPr bwMode="auto">
          <a:xfrm>
            <a:off x="2984500" y="4298950"/>
            <a:ext cx="74613" cy="795338"/>
          </a:xfrm>
          <a:custGeom>
            <a:avLst/>
            <a:gdLst>
              <a:gd name="T0" fmla="*/ 0 w 1"/>
              <a:gd name="T1" fmla="*/ 0 h 406"/>
              <a:gd name="T2" fmla="*/ 0 w 1"/>
              <a:gd name="T3" fmla="*/ 2147483647 h 406"/>
              <a:gd name="T4" fmla="*/ 0 60000 65536"/>
              <a:gd name="T5" fmla="*/ 0 60000 65536"/>
              <a:gd name="T6" fmla="*/ 0 w 1"/>
              <a:gd name="T7" fmla="*/ 0 h 406"/>
              <a:gd name="T8" fmla="*/ 1 w 1"/>
              <a:gd name="T9" fmla="*/ 406 h 40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406">
                <a:moveTo>
                  <a:pt x="0" y="0"/>
                </a:moveTo>
                <a:lnTo>
                  <a:pt x="0" y="40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55" name="Freeform 97"/>
          <p:cNvSpPr/>
          <p:nvPr/>
        </p:nvSpPr>
        <p:spPr bwMode="auto">
          <a:xfrm>
            <a:off x="3895725" y="4298950"/>
            <a:ext cx="6350" cy="263525"/>
          </a:xfrm>
          <a:custGeom>
            <a:avLst/>
            <a:gdLst>
              <a:gd name="T0" fmla="*/ 2147483647 w 4"/>
              <a:gd name="T1" fmla="*/ 0 h 166"/>
              <a:gd name="T2" fmla="*/ 0 w 4"/>
              <a:gd name="T3" fmla="*/ 2147483647 h 166"/>
              <a:gd name="T4" fmla="*/ 0 60000 65536"/>
              <a:gd name="T5" fmla="*/ 0 60000 65536"/>
              <a:gd name="T6" fmla="*/ 0 w 4"/>
              <a:gd name="T7" fmla="*/ 0 h 166"/>
              <a:gd name="T8" fmla="*/ 4 w 4"/>
              <a:gd name="T9" fmla="*/ 166 h 16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" h="166">
                <a:moveTo>
                  <a:pt x="4" y="0"/>
                </a:moveTo>
                <a:lnTo>
                  <a:pt x="0" y="16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56" name="Freeform 98"/>
          <p:cNvSpPr/>
          <p:nvPr/>
        </p:nvSpPr>
        <p:spPr bwMode="auto">
          <a:xfrm>
            <a:off x="5724525" y="4298950"/>
            <a:ext cx="3175" cy="277813"/>
          </a:xfrm>
          <a:custGeom>
            <a:avLst/>
            <a:gdLst>
              <a:gd name="T0" fmla="*/ 2147483647 w 2"/>
              <a:gd name="T1" fmla="*/ 0 h 175"/>
              <a:gd name="T2" fmla="*/ 0 w 2"/>
              <a:gd name="T3" fmla="*/ 2147483647 h 175"/>
              <a:gd name="T4" fmla="*/ 0 60000 65536"/>
              <a:gd name="T5" fmla="*/ 0 60000 65536"/>
              <a:gd name="T6" fmla="*/ 0 w 2"/>
              <a:gd name="T7" fmla="*/ 0 h 175"/>
              <a:gd name="T8" fmla="*/ 2 w 2"/>
              <a:gd name="T9" fmla="*/ 175 h 175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" h="175">
                <a:moveTo>
                  <a:pt x="2" y="0"/>
                </a:moveTo>
                <a:lnTo>
                  <a:pt x="0" y="175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57" name="Freeform 99"/>
          <p:cNvSpPr/>
          <p:nvPr/>
        </p:nvSpPr>
        <p:spPr bwMode="auto">
          <a:xfrm>
            <a:off x="7556500" y="4281488"/>
            <a:ext cx="1588" cy="279400"/>
          </a:xfrm>
          <a:custGeom>
            <a:avLst/>
            <a:gdLst>
              <a:gd name="T0" fmla="*/ 0 w 1"/>
              <a:gd name="T1" fmla="*/ 0 h 176"/>
              <a:gd name="T2" fmla="*/ 0 w 1"/>
              <a:gd name="T3" fmla="*/ 2147483647 h 176"/>
              <a:gd name="T4" fmla="*/ 0 60000 65536"/>
              <a:gd name="T5" fmla="*/ 0 60000 65536"/>
              <a:gd name="T6" fmla="*/ 0 w 1"/>
              <a:gd name="T7" fmla="*/ 0 h 176"/>
              <a:gd name="T8" fmla="*/ 1 w 1"/>
              <a:gd name="T9" fmla="*/ 176 h 17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176">
                <a:moveTo>
                  <a:pt x="0" y="0"/>
                </a:moveTo>
                <a:lnTo>
                  <a:pt x="0" y="17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58" name="Freeform 100"/>
          <p:cNvSpPr/>
          <p:nvPr/>
        </p:nvSpPr>
        <p:spPr bwMode="auto">
          <a:xfrm>
            <a:off x="1441450" y="2349500"/>
            <a:ext cx="7019925" cy="1588"/>
          </a:xfrm>
          <a:custGeom>
            <a:avLst/>
            <a:gdLst>
              <a:gd name="T0" fmla="*/ 0 w 4422"/>
              <a:gd name="T1" fmla="*/ 2147483647 h 1"/>
              <a:gd name="T2" fmla="*/ 2147483647 w 4422"/>
              <a:gd name="T3" fmla="*/ 0 h 1"/>
              <a:gd name="T4" fmla="*/ 0 60000 65536"/>
              <a:gd name="T5" fmla="*/ 0 60000 65536"/>
              <a:gd name="T6" fmla="*/ 0 w 4422"/>
              <a:gd name="T7" fmla="*/ 0 h 1"/>
              <a:gd name="T8" fmla="*/ 4422 w 4422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22" h="1">
                <a:moveTo>
                  <a:pt x="0" y="1"/>
                </a:moveTo>
                <a:lnTo>
                  <a:pt x="4422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59" name="Line 101"/>
          <p:cNvSpPr>
            <a:spLocks noChangeShapeType="1"/>
          </p:cNvSpPr>
          <p:nvPr/>
        </p:nvSpPr>
        <p:spPr bwMode="auto">
          <a:xfrm>
            <a:off x="2051050" y="23510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60" name="Line 102"/>
          <p:cNvSpPr>
            <a:spLocks noChangeShapeType="1"/>
          </p:cNvSpPr>
          <p:nvPr/>
        </p:nvSpPr>
        <p:spPr bwMode="auto">
          <a:xfrm>
            <a:off x="2965450" y="23510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61" name="Line 103"/>
          <p:cNvSpPr>
            <a:spLocks noChangeShapeType="1"/>
          </p:cNvSpPr>
          <p:nvPr/>
        </p:nvSpPr>
        <p:spPr bwMode="auto">
          <a:xfrm>
            <a:off x="3879850" y="23510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62" name="Line 104"/>
          <p:cNvSpPr>
            <a:spLocks noChangeShapeType="1"/>
          </p:cNvSpPr>
          <p:nvPr/>
        </p:nvSpPr>
        <p:spPr bwMode="auto">
          <a:xfrm>
            <a:off x="4794250" y="23510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63" name="Line 105"/>
          <p:cNvSpPr>
            <a:spLocks noChangeShapeType="1"/>
          </p:cNvSpPr>
          <p:nvPr/>
        </p:nvSpPr>
        <p:spPr bwMode="auto">
          <a:xfrm>
            <a:off x="5708650" y="23510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64" name="Line 106"/>
          <p:cNvSpPr>
            <a:spLocks noChangeShapeType="1"/>
          </p:cNvSpPr>
          <p:nvPr/>
        </p:nvSpPr>
        <p:spPr bwMode="auto">
          <a:xfrm>
            <a:off x="6623050" y="23510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65" name="Line 107"/>
          <p:cNvSpPr>
            <a:spLocks noChangeShapeType="1"/>
          </p:cNvSpPr>
          <p:nvPr/>
        </p:nvSpPr>
        <p:spPr bwMode="auto">
          <a:xfrm>
            <a:off x="7537450" y="23510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66" name="Line 108"/>
          <p:cNvSpPr>
            <a:spLocks noChangeShapeType="1"/>
          </p:cNvSpPr>
          <p:nvPr/>
        </p:nvSpPr>
        <p:spPr bwMode="auto">
          <a:xfrm>
            <a:off x="8451850" y="23510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67" name="Freeform 109"/>
          <p:cNvSpPr/>
          <p:nvPr/>
        </p:nvSpPr>
        <p:spPr bwMode="auto">
          <a:xfrm>
            <a:off x="1441450" y="3263900"/>
            <a:ext cx="7013575" cy="1588"/>
          </a:xfrm>
          <a:custGeom>
            <a:avLst/>
            <a:gdLst>
              <a:gd name="T0" fmla="*/ 0 w 4418"/>
              <a:gd name="T1" fmla="*/ 2147483647 h 1"/>
              <a:gd name="T2" fmla="*/ 2147483647 w 4418"/>
              <a:gd name="T3" fmla="*/ 0 h 1"/>
              <a:gd name="T4" fmla="*/ 0 60000 65536"/>
              <a:gd name="T5" fmla="*/ 0 60000 65536"/>
              <a:gd name="T6" fmla="*/ 0 w 4418"/>
              <a:gd name="T7" fmla="*/ 0 h 1"/>
              <a:gd name="T8" fmla="*/ 4418 w 4418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18" h="1">
                <a:moveTo>
                  <a:pt x="0" y="1"/>
                </a:moveTo>
                <a:lnTo>
                  <a:pt x="4418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68" name="Line 110"/>
          <p:cNvSpPr>
            <a:spLocks noChangeShapeType="1"/>
          </p:cNvSpPr>
          <p:nvPr/>
        </p:nvSpPr>
        <p:spPr bwMode="auto">
          <a:xfrm>
            <a:off x="2051050" y="3265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69" name="Line 111"/>
          <p:cNvSpPr>
            <a:spLocks noChangeShapeType="1"/>
          </p:cNvSpPr>
          <p:nvPr/>
        </p:nvSpPr>
        <p:spPr bwMode="auto">
          <a:xfrm>
            <a:off x="2965450" y="3265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70" name="Line 112"/>
          <p:cNvSpPr>
            <a:spLocks noChangeShapeType="1"/>
          </p:cNvSpPr>
          <p:nvPr/>
        </p:nvSpPr>
        <p:spPr bwMode="auto">
          <a:xfrm>
            <a:off x="3879850" y="3265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71" name="Line 113"/>
          <p:cNvSpPr>
            <a:spLocks noChangeShapeType="1"/>
          </p:cNvSpPr>
          <p:nvPr/>
        </p:nvSpPr>
        <p:spPr bwMode="auto">
          <a:xfrm>
            <a:off x="4794250" y="3265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72" name="Line 114"/>
          <p:cNvSpPr>
            <a:spLocks noChangeShapeType="1"/>
          </p:cNvSpPr>
          <p:nvPr/>
        </p:nvSpPr>
        <p:spPr bwMode="auto">
          <a:xfrm>
            <a:off x="5708650" y="3265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73" name="Line 115"/>
          <p:cNvSpPr>
            <a:spLocks noChangeShapeType="1"/>
          </p:cNvSpPr>
          <p:nvPr/>
        </p:nvSpPr>
        <p:spPr bwMode="auto">
          <a:xfrm>
            <a:off x="6623050" y="3265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74" name="Line 116"/>
          <p:cNvSpPr>
            <a:spLocks noChangeShapeType="1"/>
          </p:cNvSpPr>
          <p:nvPr/>
        </p:nvSpPr>
        <p:spPr bwMode="auto">
          <a:xfrm>
            <a:off x="7537450" y="3265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75" name="Line 117"/>
          <p:cNvSpPr>
            <a:spLocks noChangeShapeType="1"/>
          </p:cNvSpPr>
          <p:nvPr/>
        </p:nvSpPr>
        <p:spPr bwMode="auto">
          <a:xfrm>
            <a:off x="8451850" y="32654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76" name="Freeform 118"/>
          <p:cNvSpPr/>
          <p:nvPr/>
        </p:nvSpPr>
        <p:spPr bwMode="auto">
          <a:xfrm>
            <a:off x="1443038" y="4570413"/>
            <a:ext cx="6127750" cy="1587"/>
          </a:xfrm>
          <a:custGeom>
            <a:avLst/>
            <a:gdLst>
              <a:gd name="T0" fmla="*/ 0 w 3860"/>
              <a:gd name="T1" fmla="*/ 2147483647 h 1"/>
              <a:gd name="T2" fmla="*/ 2147483647 w 3860"/>
              <a:gd name="T3" fmla="*/ 0 h 1"/>
              <a:gd name="T4" fmla="*/ 0 60000 65536"/>
              <a:gd name="T5" fmla="*/ 0 60000 65536"/>
              <a:gd name="T6" fmla="*/ 0 w 3860"/>
              <a:gd name="T7" fmla="*/ 0 h 1"/>
              <a:gd name="T8" fmla="*/ 3860 w 3860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860" h="1">
                <a:moveTo>
                  <a:pt x="0" y="1"/>
                </a:moveTo>
                <a:lnTo>
                  <a:pt x="3860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77" name="Freeform 119"/>
          <p:cNvSpPr/>
          <p:nvPr/>
        </p:nvSpPr>
        <p:spPr bwMode="auto">
          <a:xfrm>
            <a:off x="1447800" y="5094288"/>
            <a:ext cx="7013575" cy="1587"/>
          </a:xfrm>
          <a:custGeom>
            <a:avLst/>
            <a:gdLst>
              <a:gd name="T0" fmla="*/ 0 w 4418"/>
              <a:gd name="T1" fmla="*/ 2147483647 h 1"/>
              <a:gd name="T2" fmla="*/ 2147483647 w 4418"/>
              <a:gd name="T3" fmla="*/ 0 h 1"/>
              <a:gd name="T4" fmla="*/ 0 60000 65536"/>
              <a:gd name="T5" fmla="*/ 0 60000 65536"/>
              <a:gd name="T6" fmla="*/ 0 w 4418"/>
              <a:gd name="T7" fmla="*/ 0 h 1"/>
              <a:gd name="T8" fmla="*/ 4418 w 4418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18" h="1">
                <a:moveTo>
                  <a:pt x="0" y="1"/>
                </a:moveTo>
                <a:lnTo>
                  <a:pt x="4418" y="0"/>
                </a:lnTo>
              </a:path>
            </a:pathLst>
          </a:cu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78" name="Rectangle 120"/>
          <p:cNvSpPr>
            <a:spLocks noChangeArrowheads="1"/>
          </p:cNvSpPr>
          <p:nvPr/>
        </p:nvSpPr>
        <p:spPr bwMode="auto">
          <a:xfrm>
            <a:off x="1811338" y="5627688"/>
            <a:ext cx="1306512" cy="53340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131179" name="Text Box 121"/>
          <p:cNvSpPr txBox="1">
            <a:spLocks noChangeArrowheads="1"/>
          </p:cNvSpPr>
          <p:nvPr/>
        </p:nvSpPr>
        <p:spPr bwMode="auto">
          <a:xfrm>
            <a:off x="1860550" y="5676900"/>
            <a:ext cx="1200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读写电路</a:t>
            </a:r>
          </a:p>
        </p:txBody>
      </p:sp>
      <p:sp>
        <p:nvSpPr>
          <p:cNvPr id="131180" name="Freeform 122"/>
          <p:cNvSpPr/>
          <p:nvPr/>
        </p:nvSpPr>
        <p:spPr bwMode="auto">
          <a:xfrm>
            <a:off x="2225675" y="1922463"/>
            <a:ext cx="230188" cy="2327275"/>
          </a:xfrm>
          <a:custGeom>
            <a:avLst/>
            <a:gdLst>
              <a:gd name="T0" fmla="*/ 2147483647 w 145"/>
              <a:gd name="T1" fmla="*/ 0 h 1466"/>
              <a:gd name="T2" fmla="*/ 2147483647 w 145"/>
              <a:gd name="T3" fmla="*/ 0 h 1466"/>
              <a:gd name="T4" fmla="*/ 2147483647 w 145"/>
              <a:gd name="T5" fmla="*/ 2147483647 h 1466"/>
              <a:gd name="T6" fmla="*/ 0 w 145"/>
              <a:gd name="T7" fmla="*/ 2147483647 h 1466"/>
              <a:gd name="T8" fmla="*/ 0 60000 65536"/>
              <a:gd name="T9" fmla="*/ 0 60000 65536"/>
              <a:gd name="T10" fmla="*/ 0 60000 65536"/>
              <a:gd name="T11" fmla="*/ 0 60000 65536"/>
              <a:gd name="T12" fmla="*/ 0 w 145"/>
              <a:gd name="T13" fmla="*/ 0 h 1466"/>
              <a:gd name="T14" fmla="*/ 145 w 145"/>
              <a:gd name="T15" fmla="*/ 1466 h 146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45" h="1466">
                <a:moveTo>
                  <a:pt x="37" y="0"/>
                </a:moveTo>
                <a:lnTo>
                  <a:pt x="145" y="0"/>
                </a:lnTo>
                <a:lnTo>
                  <a:pt x="144" y="1466"/>
                </a:lnTo>
                <a:lnTo>
                  <a:pt x="0" y="146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81" name="Freeform 123"/>
          <p:cNvSpPr/>
          <p:nvPr/>
        </p:nvSpPr>
        <p:spPr bwMode="auto">
          <a:xfrm>
            <a:off x="2560638" y="1922463"/>
            <a:ext cx="268287" cy="2332037"/>
          </a:xfrm>
          <a:custGeom>
            <a:avLst/>
            <a:gdLst>
              <a:gd name="T0" fmla="*/ 2147483647 w 169"/>
              <a:gd name="T1" fmla="*/ 2147483647 h 1469"/>
              <a:gd name="T2" fmla="*/ 0 w 169"/>
              <a:gd name="T3" fmla="*/ 2147483647 h 1469"/>
              <a:gd name="T4" fmla="*/ 2147483647 w 169"/>
              <a:gd name="T5" fmla="*/ 0 h 1469"/>
              <a:gd name="T6" fmla="*/ 2147483647 w 169"/>
              <a:gd name="T7" fmla="*/ 0 h 1469"/>
              <a:gd name="T8" fmla="*/ 0 60000 65536"/>
              <a:gd name="T9" fmla="*/ 0 60000 65536"/>
              <a:gd name="T10" fmla="*/ 0 60000 65536"/>
              <a:gd name="T11" fmla="*/ 0 60000 65536"/>
              <a:gd name="T12" fmla="*/ 0 w 169"/>
              <a:gd name="T13" fmla="*/ 0 h 1469"/>
              <a:gd name="T14" fmla="*/ 169 w 169"/>
              <a:gd name="T15" fmla="*/ 1469 h 146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69" h="1469">
                <a:moveTo>
                  <a:pt x="169" y="1468"/>
                </a:moveTo>
                <a:lnTo>
                  <a:pt x="0" y="1469"/>
                </a:lnTo>
                <a:lnTo>
                  <a:pt x="1" y="0"/>
                </a:lnTo>
                <a:lnTo>
                  <a:pt x="105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82" name="Freeform 124"/>
          <p:cNvSpPr/>
          <p:nvPr/>
        </p:nvSpPr>
        <p:spPr bwMode="auto">
          <a:xfrm>
            <a:off x="3122613" y="1922463"/>
            <a:ext cx="223837" cy="2327275"/>
          </a:xfrm>
          <a:custGeom>
            <a:avLst/>
            <a:gdLst>
              <a:gd name="T0" fmla="*/ 2147483647 w 141"/>
              <a:gd name="T1" fmla="*/ 0 h 1466"/>
              <a:gd name="T2" fmla="*/ 2147483647 w 141"/>
              <a:gd name="T3" fmla="*/ 0 h 1466"/>
              <a:gd name="T4" fmla="*/ 2147483647 w 141"/>
              <a:gd name="T5" fmla="*/ 2147483647 h 1466"/>
              <a:gd name="T6" fmla="*/ 0 w 141"/>
              <a:gd name="T7" fmla="*/ 2147483647 h 1466"/>
              <a:gd name="T8" fmla="*/ 0 60000 65536"/>
              <a:gd name="T9" fmla="*/ 0 60000 65536"/>
              <a:gd name="T10" fmla="*/ 0 60000 65536"/>
              <a:gd name="T11" fmla="*/ 0 60000 65536"/>
              <a:gd name="T12" fmla="*/ 0 w 141"/>
              <a:gd name="T13" fmla="*/ 0 h 1466"/>
              <a:gd name="T14" fmla="*/ 141 w 141"/>
              <a:gd name="T15" fmla="*/ 1466 h 146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41" h="1466">
                <a:moveTo>
                  <a:pt x="38" y="0"/>
                </a:moveTo>
                <a:lnTo>
                  <a:pt x="141" y="0"/>
                </a:lnTo>
                <a:lnTo>
                  <a:pt x="140" y="1466"/>
                </a:lnTo>
                <a:lnTo>
                  <a:pt x="0" y="146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83" name="Freeform 125"/>
          <p:cNvSpPr/>
          <p:nvPr/>
        </p:nvSpPr>
        <p:spPr bwMode="auto">
          <a:xfrm>
            <a:off x="3505200" y="1922463"/>
            <a:ext cx="246063" cy="2328862"/>
          </a:xfrm>
          <a:custGeom>
            <a:avLst/>
            <a:gdLst>
              <a:gd name="T0" fmla="*/ 2147483647 w 155"/>
              <a:gd name="T1" fmla="*/ 2147483647 h 1467"/>
              <a:gd name="T2" fmla="*/ 2147483647 w 155"/>
              <a:gd name="T3" fmla="*/ 2147483647 h 1467"/>
              <a:gd name="T4" fmla="*/ 0 w 155"/>
              <a:gd name="T5" fmla="*/ 2147483647 h 1467"/>
              <a:gd name="T6" fmla="*/ 2147483647 w 155"/>
              <a:gd name="T7" fmla="*/ 0 h 1467"/>
              <a:gd name="T8" fmla="*/ 0 60000 65536"/>
              <a:gd name="T9" fmla="*/ 0 60000 65536"/>
              <a:gd name="T10" fmla="*/ 0 60000 65536"/>
              <a:gd name="T11" fmla="*/ 0 60000 65536"/>
              <a:gd name="T12" fmla="*/ 0 w 155"/>
              <a:gd name="T13" fmla="*/ 0 h 1467"/>
              <a:gd name="T14" fmla="*/ 155 w 155"/>
              <a:gd name="T15" fmla="*/ 1467 h 146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5" h="1467">
                <a:moveTo>
                  <a:pt x="155" y="1467"/>
                </a:moveTo>
                <a:lnTo>
                  <a:pt x="3" y="1467"/>
                </a:lnTo>
                <a:lnTo>
                  <a:pt x="0" y="1"/>
                </a:lnTo>
                <a:lnTo>
                  <a:pt x="89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84" name="Freeform 126"/>
          <p:cNvSpPr/>
          <p:nvPr/>
        </p:nvSpPr>
        <p:spPr bwMode="auto">
          <a:xfrm>
            <a:off x="4059238" y="1922463"/>
            <a:ext cx="225425" cy="2327275"/>
          </a:xfrm>
          <a:custGeom>
            <a:avLst/>
            <a:gdLst>
              <a:gd name="T0" fmla="*/ 2147483647 w 142"/>
              <a:gd name="T1" fmla="*/ 0 h 1466"/>
              <a:gd name="T2" fmla="*/ 2147483647 w 142"/>
              <a:gd name="T3" fmla="*/ 0 h 1466"/>
              <a:gd name="T4" fmla="*/ 2147483647 w 142"/>
              <a:gd name="T5" fmla="*/ 2147483647 h 1466"/>
              <a:gd name="T6" fmla="*/ 0 w 142"/>
              <a:gd name="T7" fmla="*/ 2147483647 h 1466"/>
              <a:gd name="T8" fmla="*/ 0 60000 65536"/>
              <a:gd name="T9" fmla="*/ 0 60000 65536"/>
              <a:gd name="T10" fmla="*/ 0 60000 65536"/>
              <a:gd name="T11" fmla="*/ 0 60000 65536"/>
              <a:gd name="T12" fmla="*/ 0 w 142"/>
              <a:gd name="T13" fmla="*/ 0 h 1466"/>
              <a:gd name="T14" fmla="*/ 142 w 142"/>
              <a:gd name="T15" fmla="*/ 1466 h 146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42" h="1466">
                <a:moveTo>
                  <a:pt x="34" y="0"/>
                </a:moveTo>
                <a:lnTo>
                  <a:pt x="142" y="0"/>
                </a:lnTo>
                <a:lnTo>
                  <a:pt x="141" y="1466"/>
                </a:lnTo>
                <a:lnTo>
                  <a:pt x="0" y="1464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85" name="Freeform 127"/>
          <p:cNvSpPr/>
          <p:nvPr/>
        </p:nvSpPr>
        <p:spPr bwMode="auto">
          <a:xfrm>
            <a:off x="4424363" y="1922463"/>
            <a:ext cx="241300" cy="2328862"/>
          </a:xfrm>
          <a:custGeom>
            <a:avLst/>
            <a:gdLst>
              <a:gd name="T0" fmla="*/ 2147483647 w 152"/>
              <a:gd name="T1" fmla="*/ 2147483647 h 1467"/>
              <a:gd name="T2" fmla="*/ 0 w 152"/>
              <a:gd name="T3" fmla="*/ 2147483647 h 1467"/>
              <a:gd name="T4" fmla="*/ 0 w 152"/>
              <a:gd name="T5" fmla="*/ 2147483647 h 1467"/>
              <a:gd name="T6" fmla="*/ 2147483647 w 152"/>
              <a:gd name="T7" fmla="*/ 0 h 1467"/>
              <a:gd name="T8" fmla="*/ 0 60000 65536"/>
              <a:gd name="T9" fmla="*/ 0 60000 65536"/>
              <a:gd name="T10" fmla="*/ 0 60000 65536"/>
              <a:gd name="T11" fmla="*/ 0 60000 65536"/>
              <a:gd name="T12" fmla="*/ 0 w 152"/>
              <a:gd name="T13" fmla="*/ 0 h 1467"/>
              <a:gd name="T14" fmla="*/ 152 w 152"/>
              <a:gd name="T15" fmla="*/ 1467 h 146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2" h="1467">
                <a:moveTo>
                  <a:pt x="152" y="1467"/>
                </a:moveTo>
                <a:lnTo>
                  <a:pt x="0" y="1467"/>
                </a:lnTo>
                <a:lnTo>
                  <a:pt x="0" y="1"/>
                </a:lnTo>
                <a:lnTo>
                  <a:pt x="77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86" name="Freeform 128"/>
          <p:cNvSpPr/>
          <p:nvPr/>
        </p:nvSpPr>
        <p:spPr bwMode="auto">
          <a:xfrm>
            <a:off x="4968875" y="1922463"/>
            <a:ext cx="230188" cy="2327275"/>
          </a:xfrm>
          <a:custGeom>
            <a:avLst/>
            <a:gdLst>
              <a:gd name="T0" fmla="*/ 2147483647 w 145"/>
              <a:gd name="T1" fmla="*/ 0 h 1466"/>
              <a:gd name="T2" fmla="*/ 2147483647 w 145"/>
              <a:gd name="T3" fmla="*/ 0 h 1466"/>
              <a:gd name="T4" fmla="*/ 2147483647 w 145"/>
              <a:gd name="T5" fmla="*/ 2147483647 h 1466"/>
              <a:gd name="T6" fmla="*/ 0 w 145"/>
              <a:gd name="T7" fmla="*/ 2147483647 h 1466"/>
              <a:gd name="T8" fmla="*/ 0 60000 65536"/>
              <a:gd name="T9" fmla="*/ 0 60000 65536"/>
              <a:gd name="T10" fmla="*/ 0 60000 65536"/>
              <a:gd name="T11" fmla="*/ 0 60000 65536"/>
              <a:gd name="T12" fmla="*/ 0 w 145"/>
              <a:gd name="T13" fmla="*/ 0 h 1466"/>
              <a:gd name="T14" fmla="*/ 145 w 145"/>
              <a:gd name="T15" fmla="*/ 1466 h 146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45" h="1466">
                <a:moveTo>
                  <a:pt x="37" y="0"/>
                </a:moveTo>
                <a:lnTo>
                  <a:pt x="145" y="0"/>
                </a:lnTo>
                <a:lnTo>
                  <a:pt x="144" y="1466"/>
                </a:lnTo>
                <a:lnTo>
                  <a:pt x="0" y="146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87" name="Freeform 129"/>
          <p:cNvSpPr/>
          <p:nvPr/>
        </p:nvSpPr>
        <p:spPr bwMode="auto">
          <a:xfrm>
            <a:off x="5334000" y="1919288"/>
            <a:ext cx="246063" cy="2332037"/>
          </a:xfrm>
          <a:custGeom>
            <a:avLst/>
            <a:gdLst>
              <a:gd name="T0" fmla="*/ 2147483647 w 155"/>
              <a:gd name="T1" fmla="*/ 2147483647 h 1469"/>
              <a:gd name="T2" fmla="*/ 2147483647 w 155"/>
              <a:gd name="T3" fmla="*/ 2147483647 h 1469"/>
              <a:gd name="T4" fmla="*/ 0 w 155"/>
              <a:gd name="T5" fmla="*/ 0 h 1469"/>
              <a:gd name="T6" fmla="*/ 2147483647 w 155"/>
              <a:gd name="T7" fmla="*/ 2147483647 h 1469"/>
              <a:gd name="T8" fmla="*/ 0 60000 65536"/>
              <a:gd name="T9" fmla="*/ 0 60000 65536"/>
              <a:gd name="T10" fmla="*/ 0 60000 65536"/>
              <a:gd name="T11" fmla="*/ 0 60000 65536"/>
              <a:gd name="T12" fmla="*/ 0 w 155"/>
              <a:gd name="T13" fmla="*/ 0 h 1469"/>
              <a:gd name="T14" fmla="*/ 155 w 155"/>
              <a:gd name="T15" fmla="*/ 1469 h 146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5" h="1469">
                <a:moveTo>
                  <a:pt x="155" y="1469"/>
                </a:moveTo>
                <a:lnTo>
                  <a:pt x="3" y="1469"/>
                </a:lnTo>
                <a:lnTo>
                  <a:pt x="0" y="0"/>
                </a:lnTo>
                <a:lnTo>
                  <a:pt x="103" y="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88" name="Freeform 130"/>
          <p:cNvSpPr/>
          <p:nvPr/>
        </p:nvSpPr>
        <p:spPr bwMode="auto">
          <a:xfrm>
            <a:off x="5889625" y="1922463"/>
            <a:ext cx="223838" cy="2327275"/>
          </a:xfrm>
          <a:custGeom>
            <a:avLst/>
            <a:gdLst>
              <a:gd name="T0" fmla="*/ 2147483647 w 141"/>
              <a:gd name="T1" fmla="*/ 0 h 1466"/>
              <a:gd name="T2" fmla="*/ 2147483647 w 141"/>
              <a:gd name="T3" fmla="*/ 0 h 1466"/>
              <a:gd name="T4" fmla="*/ 2147483647 w 141"/>
              <a:gd name="T5" fmla="*/ 2147483647 h 1466"/>
              <a:gd name="T6" fmla="*/ 0 w 141"/>
              <a:gd name="T7" fmla="*/ 2147483647 h 1466"/>
              <a:gd name="T8" fmla="*/ 0 60000 65536"/>
              <a:gd name="T9" fmla="*/ 0 60000 65536"/>
              <a:gd name="T10" fmla="*/ 0 60000 65536"/>
              <a:gd name="T11" fmla="*/ 0 60000 65536"/>
              <a:gd name="T12" fmla="*/ 0 w 141"/>
              <a:gd name="T13" fmla="*/ 0 h 1466"/>
              <a:gd name="T14" fmla="*/ 141 w 141"/>
              <a:gd name="T15" fmla="*/ 1466 h 146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41" h="1466">
                <a:moveTo>
                  <a:pt x="42" y="0"/>
                </a:moveTo>
                <a:lnTo>
                  <a:pt x="141" y="0"/>
                </a:lnTo>
                <a:lnTo>
                  <a:pt x="140" y="1466"/>
                </a:lnTo>
                <a:lnTo>
                  <a:pt x="0" y="146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89" name="Freeform 131"/>
          <p:cNvSpPr/>
          <p:nvPr/>
        </p:nvSpPr>
        <p:spPr bwMode="auto">
          <a:xfrm>
            <a:off x="6253163" y="1922463"/>
            <a:ext cx="241300" cy="2328862"/>
          </a:xfrm>
          <a:custGeom>
            <a:avLst/>
            <a:gdLst>
              <a:gd name="T0" fmla="*/ 2147483647 w 152"/>
              <a:gd name="T1" fmla="*/ 2147483647 h 1467"/>
              <a:gd name="T2" fmla="*/ 0 w 152"/>
              <a:gd name="T3" fmla="*/ 2147483647 h 1467"/>
              <a:gd name="T4" fmla="*/ 0 w 152"/>
              <a:gd name="T5" fmla="*/ 2147483647 h 1467"/>
              <a:gd name="T6" fmla="*/ 2147483647 w 152"/>
              <a:gd name="T7" fmla="*/ 0 h 1467"/>
              <a:gd name="T8" fmla="*/ 0 60000 65536"/>
              <a:gd name="T9" fmla="*/ 0 60000 65536"/>
              <a:gd name="T10" fmla="*/ 0 60000 65536"/>
              <a:gd name="T11" fmla="*/ 0 60000 65536"/>
              <a:gd name="T12" fmla="*/ 0 w 152"/>
              <a:gd name="T13" fmla="*/ 0 h 1467"/>
              <a:gd name="T14" fmla="*/ 152 w 152"/>
              <a:gd name="T15" fmla="*/ 1467 h 146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2" h="1467">
                <a:moveTo>
                  <a:pt x="152" y="1467"/>
                </a:moveTo>
                <a:lnTo>
                  <a:pt x="0" y="1467"/>
                </a:lnTo>
                <a:lnTo>
                  <a:pt x="0" y="1"/>
                </a:lnTo>
                <a:lnTo>
                  <a:pt x="103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90" name="Freeform 132"/>
          <p:cNvSpPr/>
          <p:nvPr/>
        </p:nvSpPr>
        <p:spPr bwMode="auto">
          <a:xfrm>
            <a:off x="6794500" y="1922463"/>
            <a:ext cx="233363" cy="2327275"/>
          </a:xfrm>
          <a:custGeom>
            <a:avLst/>
            <a:gdLst>
              <a:gd name="T0" fmla="*/ 2147483647 w 147"/>
              <a:gd name="T1" fmla="*/ 0 h 1466"/>
              <a:gd name="T2" fmla="*/ 2147483647 w 147"/>
              <a:gd name="T3" fmla="*/ 0 h 1466"/>
              <a:gd name="T4" fmla="*/ 2147483647 w 147"/>
              <a:gd name="T5" fmla="*/ 2147483647 h 1466"/>
              <a:gd name="T6" fmla="*/ 0 w 147"/>
              <a:gd name="T7" fmla="*/ 2147483647 h 1466"/>
              <a:gd name="T8" fmla="*/ 0 60000 65536"/>
              <a:gd name="T9" fmla="*/ 0 60000 65536"/>
              <a:gd name="T10" fmla="*/ 0 60000 65536"/>
              <a:gd name="T11" fmla="*/ 0 60000 65536"/>
              <a:gd name="T12" fmla="*/ 0 w 147"/>
              <a:gd name="T13" fmla="*/ 0 h 1466"/>
              <a:gd name="T14" fmla="*/ 147 w 147"/>
              <a:gd name="T15" fmla="*/ 1466 h 146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47" h="1466">
                <a:moveTo>
                  <a:pt x="51" y="0"/>
                </a:moveTo>
                <a:lnTo>
                  <a:pt x="147" y="0"/>
                </a:lnTo>
                <a:lnTo>
                  <a:pt x="146" y="1466"/>
                </a:lnTo>
                <a:lnTo>
                  <a:pt x="0" y="146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91" name="Freeform 133"/>
          <p:cNvSpPr/>
          <p:nvPr/>
        </p:nvSpPr>
        <p:spPr bwMode="auto">
          <a:xfrm>
            <a:off x="7158038" y="1922463"/>
            <a:ext cx="250825" cy="2328862"/>
          </a:xfrm>
          <a:custGeom>
            <a:avLst/>
            <a:gdLst>
              <a:gd name="T0" fmla="*/ 2147483647 w 158"/>
              <a:gd name="T1" fmla="*/ 2147483647 h 1467"/>
              <a:gd name="T2" fmla="*/ 0 w 158"/>
              <a:gd name="T3" fmla="*/ 2147483647 h 1467"/>
              <a:gd name="T4" fmla="*/ 0 w 158"/>
              <a:gd name="T5" fmla="*/ 0 h 1467"/>
              <a:gd name="T6" fmla="*/ 2147483647 w 158"/>
              <a:gd name="T7" fmla="*/ 0 h 1467"/>
              <a:gd name="T8" fmla="*/ 0 60000 65536"/>
              <a:gd name="T9" fmla="*/ 0 60000 65536"/>
              <a:gd name="T10" fmla="*/ 0 60000 65536"/>
              <a:gd name="T11" fmla="*/ 0 60000 65536"/>
              <a:gd name="T12" fmla="*/ 0 w 158"/>
              <a:gd name="T13" fmla="*/ 0 h 1467"/>
              <a:gd name="T14" fmla="*/ 158 w 158"/>
              <a:gd name="T15" fmla="*/ 1467 h 146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8" h="1467">
                <a:moveTo>
                  <a:pt x="158" y="1467"/>
                </a:moveTo>
                <a:lnTo>
                  <a:pt x="0" y="1467"/>
                </a:lnTo>
                <a:lnTo>
                  <a:pt x="0" y="0"/>
                </a:lnTo>
                <a:lnTo>
                  <a:pt x="95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92" name="Freeform 134"/>
          <p:cNvSpPr/>
          <p:nvPr/>
        </p:nvSpPr>
        <p:spPr bwMode="auto">
          <a:xfrm>
            <a:off x="7716838" y="1922463"/>
            <a:ext cx="225425" cy="2327275"/>
          </a:xfrm>
          <a:custGeom>
            <a:avLst/>
            <a:gdLst>
              <a:gd name="T0" fmla="*/ 2147483647 w 142"/>
              <a:gd name="T1" fmla="*/ 0 h 1466"/>
              <a:gd name="T2" fmla="*/ 2147483647 w 142"/>
              <a:gd name="T3" fmla="*/ 0 h 1466"/>
              <a:gd name="T4" fmla="*/ 2147483647 w 142"/>
              <a:gd name="T5" fmla="*/ 2147483647 h 1466"/>
              <a:gd name="T6" fmla="*/ 0 w 142"/>
              <a:gd name="T7" fmla="*/ 2147483647 h 1466"/>
              <a:gd name="T8" fmla="*/ 0 60000 65536"/>
              <a:gd name="T9" fmla="*/ 0 60000 65536"/>
              <a:gd name="T10" fmla="*/ 0 60000 65536"/>
              <a:gd name="T11" fmla="*/ 0 60000 65536"/>
              <a:gd name="T12" fmla="*/ 0 w 142"/>
              <a:gd name="T13" fmla="*/ 0 h 1466"/>
              <a:gd name="T14" fmla="*/ 142 w 142"/>
              <a:gd name="T15" fmla="*/ 1466 h 146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42" h="1466">
                <a:moveTo>
                  <a:pt x="34" y="0"/>
                </a:moveTo>
                <a:lnTo>
                  <a:pt x="142" y="0"/>
                </a:lnTo>
                <a:lnTo>
                  <a:pt x="141" y="1466"/>
                </a:lnTo>
                <a:lnTo>
                  <a:pt x="0" y="146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93" name="Freeform 135"/>
          <p:cNvSpPr/>
          <p:nvPr/>
        </p:nvSpPr>
        <p:spPr bwMode="auto">
          <a:xfrm>
            <a:off x="8047038" y="1922463"/>
            <a:ext cx="252412" cy="2332037"/>
          </a:xfrm>
          <a:custGeom>
            <a:avLst/>
            <a:gdLst>
              <a:gd name="T0" fmla="*/ 2147483647 w 159"/>
              <a:gd name="T1" fmla="*/ 2147483647 h 1469"/>
              <a:gd name="T2" fmla="*/ 0 w 159"/>
              <a:gd name="T3" fmla="*/ 2147483647 h 1469"/>
              <a:gd name="T4" fmla="*/ 2147483647 w 159"/>
              <a:gd name="T5" fmla="*/ 0 h 1469"/>
              <a:gd name="T6" fmla="*/ 2147483647 w 159"/>
              <a:gd name="T7" fmla="*/ 0 h 1469"/>
              <a:gd name="T8" fmla="*/ 0 60000 65536"/>
              <a:gd name="T9" fmla="*/ 0 60000 65536"/>
              <a:gd name="T10" fmla="*/ 0 60000 65536"/>
              <a:gd name="T11" fmla="*/ 0 60000 65536"/>
              <a:gd name="T12" fmla="*/ 0 w 159"/>
              <a:gd name="T13" fmla="*/ 0 h 1469"/>
              <a:gd name="T14" fmla="*/ 159 w 159"/>
              <a:gd name="T15" fmla="*/ 1469 h 146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9" h="1469">
                <a:moveTo>
                  <a:pt x="159" y="1467"/>
                </a:moveTo>
                <a:lnTo>
                  <a:pt x="0" y="1469"/>
                </a:lnTo>
                <a:lnTo>
                  <a:pt x="1" y="0"/>
                </a:lnTo>
                <a:lnTo>
                  <a:pt x="104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94" name="Freeform 136"/>
          <p:cNvSpPr/>
          <p:nvPr/>
        </p:nvSpPr>
        <p:spPr bwMode="auto">
          <a:xfrm>
            <a:off x="8599488" y="1922463"/>
            <a:ext cx="233362" cy="2327275"/>
          </a:xfrm>
          <a:custGeom>
            <a:avLst/>
            <a:gdLst>
              <a:gd name="T0" fmla="*/ 2147483647 w 147"/>
              <a:gd name="T1" fmla="*/ 0 h 1466"/>
              <a:gd name="T2" fmla="*/ 2147483647 w 147"/>
              <a:gd name="T3" fmla="*/ 0 h 1466"/>
              <a:gd name="T4" fmla="*/ 2147483647 w 147"/>
              <a:gd name="T5" fmla="*/ 2147483647 h 1466"/>
              <a:gd name="T6" fmla="*/ 0 w 147"/>
              <a:gd name="T7" fmla="*/ 2147483647 h 1466"/>
              <a:gd name="T8" fmla="*/ 0 60000 65536"/>
              <a:gd name="T9" fmla="*/ 0 60000 65536"/>
              <a:gd name="T10" fmla="*/ 0 60000 65536"/>
              <a:gd name="T11" fmla="*/ 0 60000 65536"/>
              <a:gd name="T12" fmla="*/ 0 w 147"/>
              <a:gd name="T13" fmla="*/ 0 h 1466"/>
              <a:gd name="T14" fmla="*/ 147 w 147"/>
              <a:gd name="T15" fmla="*/ 1466 h 146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47" h="1466">
                <a:moveTo>
                  <a:pt x="47" y="0"/>
                </a:moveTo>
                <a:lnTo>
                  <a:pt x="147" y="0"/>
                </a:lnTo>
                <a:lnTo>
                  <a:pt x="146" y="1466"/>
                </a:lnTo>
                <a:lnTo>
                  <a:pt x="0" y="146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95" name="Freeform 137"/>
          <p:cNvSpPr/>
          <p:nvPr/>
        </p:nvSpPr>
        <p:spPr bwMode="auto">
          <a:xfrm>
            <a:off x="1674813" y="4346575"/>
            <a:ext cx="1158875" cy="1047750"/>
          </a:xfrm>
          <a:custGeom>
            <a:avLst/>
            <a:gdLst>
              <a:gd name="T0" fmla="*/ 2147483647 w 730"/>
              <a:gd name="T1" fmla="*/ 2147483647 h 660"/>
              <a:gd name="T2" fmla="*/ 0 w 730"/>
              <a:gd name="T3" fmla="*/ 2147483647 h 660"/>
              <a:gd name="T4" fmla="*/ 0 w 730"/>
              <a:gd name="T5" fmla="*/ 2147483647 h 660"/>
              <a:gd name="T6" fmla="*/ 2147483647 w 730"/>
              <a:gd name="T7" fmla="*/ 2147483647 h 660"/>
              <a:gd name="T8" fmla="*/ 2147483647 w 730"/>
              <a:gd name="T9" fmla="*/ 0 h 660"/>
              <a:gd name="T10" fmla="*/ 2147483647 w 730"/>
              <a:gd name="T11" fmla="*/ 2147483647 h 6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730"/>
              <a:gd name="T19" fmla="*/ 0 h 660"/>
              <a:gd name="T20" fmla="*/ 730 w 730"/>
              <a:gd name="T21" fmla="*/ 660 h 66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730" h="660">
                <a:moveTo>
                  <a:pt x="160" y="4"/>
                </a:moveTo>
                <a:lnTo>
                  <a:pt x="0" y="3"/>
                </a:lnTo>
                <a:lnTo>
                  <a:pt x="0" y="660"/>
                </a:lnTo>
                <a:lnTo>
                  <a:pt x="558" y="657"/>
                </a:lnTo>
                <a:lnTo>
                  <a:pt x="558" y="0"/>
                </a:lnTo>
                <a:lnTo>
                  <a:pt x="730" y="1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96" name="Freeform 138"/>
          <p:cNvSpPr/>
          <p:nvPr/>
        </p:nvSpPr>
        <p:spPr bwMode="auto">
          <a:xfrm>
            <a:off x="3503613" y="4356100"/>
            <a:ext cx="1157287" cy="1044575"/>
          </a:xfrm>
          <a:custGeom>
            <a:avLst/>
            <a:gdLst>
              <a:gd name="T0" fmla="*/ 2147483647 w 729"/>
              <a:gd name="T1" fmla="*/ 0 h 658"/>
              <a:gd name="T2" fmla="*/ 0 w 729"/>
              <a:gd name="T3" fmla="*/ 0 h 658"/>
              <a:gd name="T4" fmla="*/ 0 w 729"/>
              <a:gd name="T5" fmla="*/ 2147483647 h 658"/>
              <a:gd name="T6" fmla="*/ 2147483647 w 729"/>
              <a:gd name="T7" fmla="*/ 2147483647 h 658"/>
              <a:gd name="T8" fmla="*/ 2147483647 w 729"/>
              <a:gd name="T9" fmla="*/ 2147483647 h 658"/>
              <a:gd name="T10" fmla="*/ 2147483647 w 729"/>
              <a:gd name="T11" fmla="*/ 2147483647 h 65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729"/>
              <a:gd name="T19" fmla="*/ 0 h 658"/>
              <a:gd name="T20" fmla="*/ 729 w 729"/>
              <a:gd name="T21" fmla="*/ 658 h 65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729" h="658">
                <a:moveTo>
                  <a:pt x="153" y="0"/>
                </a:moveTo>
                <a:lnTo>
                  <a:pt x="0" y="0"/>
                </a:lnTo>
                <a:lnTo>
                  <a:pt x="0" y="657"/>
                </a:lnTo>
                <a:lnTo>
                  <a:pt x="583" y="658"/>
                </a:lnTo>
                <a:lnTo>
                  <a:pt x="582" y="3"/>
                </a:lnTo>
                <a:lnTo>
                  <a:pt x="729" y="3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97" name="Freeform 139"/>
          <p:cNvSpPr/>
          <p:nvPr/>
        </p:nvSpPr>
        <p:spPr bwMode="auto">
          <a:xfrm>
            <a:off x="5327650" y="4356100"/>
            <a:ext cx="1157288" cy="1042988"/>
          </a:xfrm>
          <a:custGeom>
            <a:avLst/>
            <a:gdLst>
              <a:gd name="T0" fmla="*/ 2147483647 w 729"/>
              <a:gd name="T1" fmla="*/ 0 h 657"/>
              <a:gd name="T2" fmla="*/ 0 w 729"/>
              <a:gd name="T3" fmla="*/ 0 h 657"/>
              <a:gd name="T4" fmla="*/ 0 w 729"/>
              <a:gd name="T5" fmla="*/ 2147483647 h 657"/>
              <a:gd name="T6" fmla="*/ 2147483647 w 729"/>
              <a:gd name="T7" fmla="*/ 2147483647 h 657"/>
              <a:gd name="T8" fmla="*/ 2147483647 w 729"/>
              <a:gd name="T9" fmla="*/ 2147483647 h 657"/>
              <a:gd name="T10" fmla="*/ 2147483647 w 729"/>
              <a:gd name="T11" fmla="*/ 2147483647 h 65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729"/>
              <a:gd name="T19" fmla="*/ 0 h 657"/>
              <a:gd name="T20" fmla="*/ 729 w 729"/>
              <a:gd name="T21" fmla="*/ 657 h 657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729" h="657">
                <a:moveTo>
                  <a:pt x="158" y="0"/>
                </a:moveTo>
                <a:lnTo>
                  <a:pt x="0" y="0"/>
                </a:lnTo>
                <a:lnTo>
                  <a:pt x="0" y="657"/>
                </a:lnTo>
                <a:lnTo>
                  <a:pt x="579" y="654"/>
                </a:lnTo>
                <a:lnTo>
                  <a:pt x="582" y="3"/>
                </a:lnTo>
                <a:lnTo>
                  <a:pt x="729" y="3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98" name="Freeform 140"/>
          <p:cNvSpPr/>
          <p:nvPr/>
        </p:nvSpPr>
        <p:spPr bwMode="auto">
          <a:xfrm>
            <a:off x="7156450" y="4356100"/>
            <a:ext cx="1157288" cy="1042988"/>
          </a:xfrm>
          <a:custGeom>
            <a:avLst/>
            <a:gdLst>
              <a:gd name="T0" fmla="*/ 2147483647 w 729"/>
              <a:gd name="T1" fmla="*/ 2147483647 h 657"/>
              <a:gd name="T2" fmla="*/ 0 w 729"/>
              <a:gd name="T3" fmla="*/ 0 h 657"/>
              <a:gd name="T4" fmla="*/ 0 w 729"/>
              <a:gd name="T5" fmla="*/ 2147483647 h 657"/>
              <a:gd name="T6" fmla="*/ 2147483647 w 729"/>
              <a:gd name="T7" fmla="*/ 2147483647 h 657"/>
              <a:gd name="T8" fmla="*/ 2147483647 w 729"/>
              <a:gd name="T9" fmla="*/ 2147483647 h 657"/>
              <a:gd name="T10" fmla="*/ 2147483647 w 729"/>
              <a:gd name="T11" fmla="*/ 2147483647 h 65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729"/>
              <a:gd name="T19" fmla="*/ 0 h 657"/>
              <a:gd name="T20" fmla="*/ 729 w 729"/>
              <a:gd name="T21" fmla="*/ 657 h 657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729" h="657">
                <a:moveTo>
                  <a:pt x="161" y="2"/>
                </a:moveTo>
                <a:lnTo>
                  <a:pt x="0" y="0"/>
                </a:lnTo>
                <a:lnTo>
                  <a:pt x="0" y="657"/>
                </a:lnTo>
                <a:lnTo>
                  <a:pt x="579" y="654"/>
                </a:lnTo>
                <a:lnTo>
                  <a:pt x="582" y="3"/>
                </a:lnTo>
                <a:lnTo>
                  <a:pt x="729" y="3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199" name="Freeform 141"/>
          <p:cNvSpPr/>
          <p:nvPr/>
        </p:nvSpPr>
        <p:spPr bwMode="auto">
          <a:xfrm>
            <a:off x="2222500" y="4341813"/>
            <a:ext cx="1123950" cy="906462"/>
          </a:xfrm>
          <a:custGeom>
            <a:avLst/>
            <a:gdLst>
              <a:gd name="T0" fmla="*/ 0 w 708"/>
              <a:gd name="T1" fmla="*/ 0 h 571"/>
              <a:gd name="T2" fmla="*/ 2147483647 w 708"/>
              <a:gd name="T3" fmla="*/ 0 h 571"/>
              <a:gd name="T4" fmla="*/ 2147483647 w 708"/>
              <a:gd name="T5" fmla="*/ 2147483647 h 571"/>
              <a:gd name="T6" fmla="*/ 2147483647 w 708"/>
              <a:gd name="T7" fmla="*/ 2147483647 h 571"/>
              <a:gd name="T8" fmla="*/ 2147483647 w 708"/>
              <a:gd name="T9" fmla="*/ 2147483647 h 571"/>
              <a:gd name="T10" fmla="*/ 2147483647 w 708"/>
              <a:gd name="T11" fmla="*/ 2147483647 h 57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708"/>
              <a:gd name="T19" fmla="*/ 0 h 571"/>
              <a:gd name="T20" fmla="*/ 708 w 708"/>
              <a:gd name="T21" fmla="*/ 571 h 571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708" h="571">
                <a:moveTo>
                  <a:pt x="0" y="0"/>
                </a:moveTo>
                <a:lnTo>
                  <a:pt x="132" y="0"/>
                </a:lnTo>
                <a:lnTo>
                  <a:pt x="133" y="571"/>
                </a:lnTo>
                <a:lnTo>
                  <a:pt x="708" y="570"/>
                </a:lnTo>
                <a:lnTo>
                  <a:pt x="708" y="9"/>
                </a:lnTo>
                <a:lnTo>
                  <a:pt x="573" y="9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00" name="Freeform 142"/>
          <p:cNvSpPr/>
          <p:nvPr/>
        </p:nvSpPr>
        <p:spPr bwMode="auto">
          <a:xfrm>
            <a:off x="4051300" y="4341813"/>
            <a:ext cx="1152525" cy="900112"/>
          </a:xfrm>
          <a:custGeom>
            <a:avLst/>
            <a:gdLst>
              <a:gd name="T0" fmla="*/ 0 w 726"/>
              <a:gd name="T1" fmla="*/ 0 h 567"/>
              <a:gd name="T2" fmla="*/ 2147483647 w 726"/>
              <a:gd name="T3" fmla="*/ 2147483647 h 567"/>
              <a:gd name="T4" fmla="*/ 2147483647 w 726"/>
              <a:gd name="T5" fmla="*/ 2147483647 h 567"/>
              <a:gd name="T6" fmla="*/ 2147483647 w 726"/>
              <a:gd name="T7" fmla="*/ 2147483647 h 567"/>
              <a:gd name="T8" fmla="*/ 2147483647 w 726"/>
              <a:gd name="T9" fmla="*/ 2147483647 h 567"/>
              <a:gd name="T10" fmla="*/ 2147483647 w 726"/>
              <a:gd name="T11" fmla="*/ 2147483647 h 56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726"/>
              <a:gd name="T19" fmla="*/ 0 h 567"/>
              <a:gd name="T20" fmla="*/ 726 w 726"/>
              <a:gd name="T21" fmla="*/ 567 h 567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726" h="567">
                <a:moveTo>
                  <a:pt x="0" y="0"/>
                </a:moveTo>
                <a:lnTo>
                  <a:pt x="148" y="1"/>
                </a:lnTo>
                <a:lnTo>
                  <a:pt x="147" y="567"/>
                </a:lnTo>
                <a:lnTo>
                  <a:pt x="726" y="567"/>
                </a:lnTo>
                <a:lnTo>
                  <a:pt x="726" y="6"/>
                </a:lnTo>
                <a:lnTo>
                  <a:pt x="579" y="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01" name="Freeform 143"/>
          <p:cNvSpPr/>
          <p:nvPr/>
        </p:nvSpPr>
        <p:spPr bwMode="auto">
          <a:xfrm>
            <a:off x="5880100" y="4346575"/>
            <a:ext cx="1133475" cy="900113"/>
          </a:xfrm>
          <a:custGeom>
            <a:avLst/>
            <a:gdLst>
              <a:gd name="T0" fmla="*/ 0 w 714"/>
              <a:gd name="T1" fmla="*/ 0 h 567"/>
              <a:gd name="T2" fmla="*/ 2147483647 w 714"/>
              <a:gd name="T3" fmla="*/ 2147483647 h 567"/>
              <a:gd name="T4" fmla="*/ 2147483647 w 714"/>
              <a:gd name="T5" fmla="*/ 2147483647 h 567"/>
              <a:gd name="T6" fmla="*/ 2147483647 w 714"/>
              <a:gd name="T7" fmla="*/ 2147483647 h 567"/>
              <a:gd name="T8" fmla="*/ 2147483647 w 714"/>
              <a:gd name="T9" fmla="*/ 2147483647 h 567"/>
              <a:gd name="T10" fmla="*/ 2147483647 w 714"/>
              <a:gd name="T11" fmla="*/ 2147483647 h 56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714"/>
              <a:gd name="T19" fmla="*/ 0 h 567"/>
              <a:gd name="T20" fmla="*/ 714 w 714"/>
              <a:gd name="T21" fmla="*/ 567 h 567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714" h="567">
                <a:moveTo>
                  <a:pt x="0" y="0"/>
                </a:moveTo>
                <a:lnTo>
                  <a:pt x="136" y="1"/>
                </a:lnTo>
                <a:lnTo>
                  <a:pt x="135" y="567"/>
                </a:lnTo>
                <a:lnTo>
                  <a:pt x="714" y="567"/>
                </a:lnTo>
                <a:lnTo>
                  <a:pt x="714" y="6"/>
                </a:lnTo>
                <a:lnTo>
                  <a:pt x="576" y="5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02" name="Freeform 144"/>
          <p:cNvSpPr/>
          <p:nvPr/>
        </p:nvSpPr>
        <p:spPr bwMode="auto">
          <a:xfrm>
            <a:off x="7713663" y="4346575"/>
            <a:ext cx="1128712" cy="900113"/>
          </a:xfrm>
          <a:custGeom>
            <a:avLst/>
            <a:gdLst>
              <a:gd name="T0" fmla="*/ 0 w 711"/>
              <a:gd name="T1" fmla="*/ 0 h 567"/>
              <a:gd name="T2" fmla="*/ 2147483647 w 711"/>
              <a:gd name="T3" fmla="*/ 2147483647 h 567"/>
              <a:gd name="T4" fmla="*/ 2147483647 w 711"/>
              <a:gd name="T5" fmla="*/ 2147483647 h 567"/>
              <a:gd name="T6" fmla="*/ 2147483647 w 711"/>
              <a:gd name="T7" fmla="*/ 2147483647 h 567"/>
              <a:gd name="T8" fmla="*/ 2147483647 w 711"/>
              <a:gd name="T9" fmla="*/ 2147483647 h 567"/>
              <a:gd name="T10" fmla="*/ 2147483647 w 711"/>
              <a:gd name="T11" fmla="*/ 2147483647 h 56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711"/>
              <a:gd name="T19" fmla="*/ 0 h 567"/>
              <a:gd name="T20" fmla="*/ 711 w 711"/>
              <a:gd name="T21" fmla="*/ 567 h 567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711" h="567">
                <a:moveTo>
                  <a:pt x="0" y="0"/>
                </a:moveTo>
                <a:lnTo>
                  <a:pt x="130" y="1"/>
                </a:lnTo>
                <a:lnTo>
                  <a:pt x="132" y="567"/>
                </a:lnTo>
                <a:lnTo>
                  <a:pt x="711" y="567"/>
                </a:lnTo>
                <a:lnTo>
                  <a:pt x="711" y="6"/>
                </a:lnTo>
                <a:lnTo>
                  <a:pt x="564" y="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03" name="Freeform 145"/>
          <p:cNvSpPr/>
          <p:nvPr/>
        </p:nvSpPr>
        <p:spPr bwMode="auto">
          <a:xfrm>
            <a:off x="2098675" y="5394325"/>
            <a:ext cx="1588" cy="238125"/>
          </a:xfrm>
          <a:custGeom>
            <a:avLst/>
            <a:gdLst>
              <a:gd name="T0" fmla="*/ 0 w 1"/>
              <a:gd name="T1" fmla="*/ 0 h 150"/>
              <a:gd name="T2" fmla="*/ 0 w 1"/>
              <a:gd name="T3" fmla="*/ 2147483647 h 150"/>
              <a:gd name="T4" fmla="*/ 0 60000 65536"/>
              <a:gd name="T5" fmla="*/ 0 60000 65536"/>
              <a:gd name="T6" fmla="*/ 0 w 1"/>
              <a:gd name="T7" fmla="*/ 0 h 150"/>
              <a:gd name="T8" fmla="*/ 1 w 1"/>
              <a:gd name="T9" fmla="*/ 150 h 15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150">
                <a:moveTo>
                  <a:pt x="0" y="0"/>
                </a:moveTo>
                <a:lnTo>
                  <a:pt x="0" y="15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04" name="Freeform 146"/>
          <p:cNvSpPr/>
          <p:nvPr/>
        </p:nvSpPr>
        <p:spPr bwMode="auto">
          <a:xfrm>
            <a:off x="3954463" y="5399088"/>
            <a:ext cx="1587" cy="238125"/>
          </a:xfrm>
          <a:custGeom>
            <a:avLst/>
            <a:gdLst>
              <a:gd name="T0" fmla="*/ 0 w 1"/>
              <a:gd name="T1" fmla="*/ 0 h 150"/>
              <a:gd name="T2" fmla="*/ 0 w 1"/>
              <a:gd name="T3" fmla="*/ 2147483647 h 150"/>
              <a:gd name="T4" fmla="*/ 0 60000 65536"/>
              <a:gd name="T5" fmla="*/ 0 60000 65536"/>
              <a:gd name="T6" fmla="*/ 0 w 1"/>
              <a:gd name="T7" fmla="*/ 0 h 150"/>
              <a:gd name="T8" fmla="*/ 1 w 1"/>
              <a:gd name="T9" fmla="*/ 150 h 15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150">
                <a:moveTo>
                  <a:pt x="0" y="0"/>
                </a:moveTo>
                <a:lnTo>
                  <a:pt x="0" y="15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05" name="Freeform 147"/>
          <p:cNvSpPr/>
          <p:nvPr/>
        </p:nvSpPr>
        <p:spPr bwMode="auto">
          <a:xfrm>
            <a:off x="5783263" y="5399088"/>
            <a:ext cx="1587" cy="238125"/>
          </a:xfrm>
          <a:custGeom>
            <a:avLst/>
            <a:gdLst>
              <a:gd name="T0" fmla="*/ 0 w 1"/>
              <a:gd name="T1" fmla="*/ 0 h 150"/>
              <a:gd name="T2" fmla="*/ 0 w 1"/>
              <a:gd name="T3" fmla="*/ 2147483647 h 150"/>
              <a:gd name="T4" fmla="*/ 0 60000 65536"/>
              <a:gd name="T5" fmla="*/ 0 60000 65536"/>
              <a:gd name="T6" fmla="*/ 0 w 1"/>
              <a:gd name="T7" fmla="*/ 0 h 150"/>
              <a:gd name="T8" fmla="*/ 1 w 1"/>
              <a:gd name="T9" fmla="*/ 150 h 15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150">
                <a:moveTo>
                  <a:pt x="0" y="0"/>
                </a:moveTo>
                <a:lnTo>
                  <a:pt x="0" y="15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06" name="Freeform 148"/>
          <p:cNvSpPr/>
          <p:nvPr/>
        </p:nvSpPr>
        <p:spPr bwMode="auto">
          <a:xfrm>
            <a:off x="7612063" y="5399088"/>
            <a:ext cx="1587" cy="238125"/>
          </a:xfrm>
          <a:custGeom>
            <a:avLst/>
            <a:gdLst>
              <a:gd name="T0" fmla="*/ 0 w 1"/>
              <a:gd name="T1" fmla="*/ 0 h 150"/>
              <a:gd name="T2" fmla="*/ 0 w 1"/>
              <a:gd name="T3" fmla="*/ 2147483647 h 150"/>
              <a:gd name="T4" fmla="*/ 0 60000 65536"/>
              <a:gd name="T5" fmla="*/ 0 60000 65536"/>
              <a:gd name="T6" fmla="*/ 0 w 1"/>
              <a:gd name="T7" fmla="*/ 0 h 150"/>
              <a:gd name="T8" fmla="*/ 1 w 1"/>
              <a:gd name="T9" fmla="*/ 150 h 15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150">
                <a:moveTo>
                  <a:pt x="0" y="0"/>
                </a:moveTo>
                <a:lnTo>
                  <a:pt x="0" y="15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07" name="Freeform 149"/>
          <p:cNvSpPr/>
          <p:nvPr/>
        </p:nvSpPr>
        <p:spPr bwMode="auto">
          <a:xfrm>
            <a:off x="8375650" y="5246688"/>
            <a:ext cx="1588" cy="390525"/>
          </a:xfrm>
          <a:custGeom>
            <a:avLst/>
            <a:gdLst>
              <a:gd name="T0" fmla="*/ 0 w 1"/>
              <a:gd name="T1" fmla="*/ 0 h 246"/>
              <a:gd name="T2" fmla="*/ 0 w 1"/>
              <a:gd name="T3" fmla="*/ 2147483647 h 246"/>
              <a:gd name="T4" fmla="*/ 0 60000 65536"/>
              <a:gd name="T5" fmla="*/ 0 60000 65536"/>
              <a:gd name="T6" fmla="*/ 0 w 1"/>
              <a:gd name="T7" fmla="*/ 0 h 246"/>
              <a:gd name="T8" fmla="*/ 1 w 1"/>
              <a:gd name="T9" fmla="*/ 246 h 24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246">
                <a:moveTo>
                  <a:pt x="0" y="0"/>
                </a:moveTo>
                <a:lnTo>
                  <a:pt x="0" y="24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08" name="Freeform 150"/>
          <p:cNvSpPr/>
          <p:nvPr/>
        </p:nvSpPr>
        <p:spPr bwMode="auto">
          <a:xfrm>
            <a:off x="6546850" y="5246688"/>
            <a:ext cx="1588" cy="390525"/>
          </a:xfrm>
          <a:custGeom>
            <a:avLst/>
            <a:gdLst>
              <a:gd name="T0" fmla="*/ 0 w 1"/>
              <a:gd name="T1" fmla="*/ 0 h 246"/>
              <a:gd name="T2" fmla="*/ 0 w 1"/>
              <a:gd name="T3" fmla="*/ 2147483647 h 246"/>
              <a:gd name="T4" fmla="*/ 0 60000 65536"/>
              <a:gd name="T5" fmla="*/ 0 60000 65536"/>
              <a:gd name="T6" fmla="*/ 0 w 1"/>
              <a:gd name="T7" fmla="*/ 0 h 246"/>
              <a:gd name="T8" fmla="*/ 1 w 1"/>
              <a:gd name="T9" fmla="*/ 246 h 24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246">
                <a:moveTo>
                  <a:pt x="0" y="0"/>
                </a:moveTo>
                <a:lnTo>
                  <a:pt x="0" y="24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09" name="Freeform 151"/>
          <p:cNvSpPr/>
          <p:nvPr/>
        </p:nvSpPr>
        <p:spPr bwMode="auto">
          <a:xfrm>
            <a:off x="4718050" y="5246688"/>
            <a:ext cx="1588" cy="390525"/>
          </a:xfrm>
          <a:custGeom>
            <a:avLst/>
            <a:gdLst>
              <a:gd name="T0" fmla="*/ 0 w 1"/>
              <a:gd name="T1" fmla="*/ 0 h 246"/>
              <a:gd name="T2" fmla="*/ 0 w 1"/>
              <a:gd name="T3" fmla="*/ 2147483647 h 246"/>
              <a:gd name="T4" fmla="*/ 0 60000 65536"/>
              <a:gd name="T5" fmla="*/ 0 60000 65536"/>
              <a:gd name="T6" fmla="*/ 0 w 1"/>
              <a:gd name="T7" fmla="*/ 0 h 246"/>
              <a:gd name="T8" fmla="*/ 1 w 1"/>
              <a:gd name="T9" fmla="*/ 246 h 24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246">
                <a:moveTo>
                  <a:pt x="0" y="0"/>
                </a:moveTo>
                <a:lnTo>
                  <a:pt x="0" y="24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10" name="Freeform 152"/>
          <p:cNvSpPr/>
          <p:nvPr/>
        </p:nvSpPr>
        <p:spPr bwMode="auto">
          <a:xfrm>
            <a:off x="2887663" y="5246688"/>
            <a:ext cx="1587" cy="390525"/>
          </a:xfrm>
          <a:custGeom>
            <a:avLst/>
            <a:gdLst>
              <a:gd name="T0" fmla="*/ 0 w 1"/>
              <a:gd name="T1" fmla="*/ 0 h 246"/>
              <a:gd name="T2" fmla="*/ 0 w 1"/>
              <a:gd name="T3" fmla="*/ 2147483647 h 246"/>
              <a:gd name="T4" fmla="*/ 0 60000 65536"/>
              <a:gd name="T5" fmla="*/ 0 60000 65536"/>
              <a:gd name="T6" fmla="*/ 0 w 1"/>
              <a:gd name="T7" fmla="*/ 0 h 246"/>
              <a:gd name="T8" fmla="*/ 1 w 1"/>
              <a:gd name="T9" fmla="*/ 246 h 24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246">
                <a:moveTo>
                  <a:pt x="0" y="0"/>
                </a:moveTo>
                <a:lnTo>
                  <a:pt x="0" y="24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11" name="Freeform 153"/>
          <p:cNvSpPr/>
          <p:nvPr/>
        </p:nvSpPr>
        <p:spPr bwMode="auto">
          <a:xfrm>
            <a:off x="1517650" y="6389688"/>
            <a:ext cx="6853238" cy="1587"/>
          </a:xfrm>
          <a:custGeom>
            <a:avLst/>
            <a:gdLst>
              <a:gd name="T0" fmla="*/ 0 w 4317"/>
              <a:gd name="T1" fmla="*/ 0 h 1"/>
              <a:gd name="T2" fmla="*/ 2147483647 w 4317"/>
              <a:gd name="T3" fmla="*/ 0 h 1"/>
              <a:gd name="T4" fmla="*/ 0 60000 65536"/>
              <a:gd name="T5" fmla="*/ 0 60000 65536"/>
              <a:gd name="T6" fmla="*/ 0 w 4317"/>
              <a:gd name="T7" fmla="*/ 0 h 1"/>
              <a:gd name="T8" fmla="*/ 4317 w 4317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317" h="1">
                <a:moveTo>
                  <a:pt x="0" y="0"/>
                </a:moveTo>
                <a:lnTo>
                  <a:pt x="4317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12" name="Freeform 154"/>
          <p:cNvSpPr/>
          <p:nvPr/>
        </p:nvSpPr>
        <p:spPr bwMode="auto">
          <a:xfrm>
            <a:off x="1517650" y="6542088"/>
            <a:ext cx="6091238" cy="1587"/>
          </a:xfrm>
          <a:custGeom>
            <a:avLst/>
            <a:gdLst>
              <a:gd name="T0" fmla="*/ 0 w 3837"/>
              <a:gd name="T1" fmla="*/ 0 h 1"/>
              <a:gd name="T2" fmla="*/ 2147483647 w 3837"/>
              <a:gd name="T3" fmla="*/ 0 h 1"/>
              <a:gd name="T4" fmla="*/ 0 60000 65536"/>
              <a:gd name="T5" fmla="*/ 0 60000 65536"/>
              <a:gd name="T6" fmla="*/ 0 w 3837"/>
              <a:gd name="T7" fmla="*/ 0 h 1"/>
              <a:gd name="T8" fmla="*/ 3837 w 3837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837" h="1">
                <a:moveTo>
                  <a:pt x="0" y="0"/>
                </a:moveTo>
                <a:lnTo>
                  <a:pt x="3837" y="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13" name="Freeform 155"/>
          <p:cNvSpPr/>
          <p:nvPr/>
        </p:nvSpPr>
        <p:spPr bwMode="auto">
          <a:xfrm>
            <a:off x="2098675" y="6161088"/>
            <a:ext cx="1588" cy="385762"/>
          </a:xfrm>
          <a:custGeom>
            <a:avLst/>
            <a:gdLst>
              <a:gd name="T0" fmla="*/ 0 w 1"/>
              <a:gd name="T1" fmla="*/ 0 h 243"/>
              <a:gd name="T2" fmla="*/ 0 w 1"/>
              <a:gd name="T3" fmla="*/ 2147483647 h 243"/>
              <a:gd name="T4" fmla="*/ 0 60000 65536"/>
              <a:gd name="T5" fmla="*/ 0 60000 65536"/>
              <a:gd name="T6" fmla="*/ 0 w 1"/>
              <a:gd name="T7" fmla="*/ 0 h 243"/>
              <a:gd name="T8" fmla="*/ 1 w 1"/>
              <a:gd name="T9" fmla="*/ 243 h 24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243">
                <a:moveTo>
                  <a:pt x="0" y="0"/>
                </a:moveTo>
                <a:lnTo>
                  <a:pt x="0" y="243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14" name="Freeform 156"/>
          <p:cNvSpPr/>
          <p:nvPr/>
        </p:nvSpPr>
        <p:spPr bwMode="auto">
          <a:xfrm>
            <a:off x="3954463" y="6161088"/>
            <a:ext cx="1587" cy="385762"/>
          </a:xfrm>
          <a:custGeom>
            <a:avLst/>
            <a:gdLst>
              <a:gd name="T0" fmla="*/ 0 w 1"/>
              <a:gd name="T1" fmla="*/ 0 h 243"/>
              <a:gd name="T2" fmla="*/ 0 w 1"/>
              <a:gd name="T3" fmla="*/ 2147483647 h 243"/>
              <a:gd name="T4" fmla="*/ 0 60000 65536"/>
              <a:gd name="T5" fmla="*/ 0 60000 65536"/>
              <a:gd name="T6" fmla="*/ 0 w 1"/>
              <a:gd name="T7" fmla="*/ 0 h 243"/>
              <a:gd name="T8" fmla="*/ 1 w 1"/>
              <a:gd name="T9" fmla="*/ 243 h 24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243">
                <a:moveTo>
                  <a:pt x="0" y="0"/>
                </a:moveTo>
                <a:lnTo>
                  <a:pt x="0" y="243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15" name="Freeform 157"/>
          <p:cNvSpPr/>
          <p:nvPr/>
        </p:nvSpPr>
        <p:spPr bwMode="auto">
          <a:xfrm>
            <a:off x="5783263" y="6161088"/>
            <a:ext cx="1587" cy="385762"/>
          </a:xfrm>
          <a:custGeom>
            <a:avLst/>
            <a:gdLst>
              <a:gd name="T0" fmla="*/ 0 w 1"/>
              <a:gd name="T1" fmla="*/ 0 h 243"/>
              <a:gd name="T2" fmla="*/ 0 w 1"/>
              <a:gd name="T3" fmla="*/ 2147483647 h 243"/>
              <a:gd name="T4" fmla="*/ 0 60000 65536"/>
              <a:gd name="T5" fmla="*/ 0 60000 65536"/>
              <a:gd name="T6" fmla="*/ 0 w 1"/>
              <a:gd name="T7" fmla="*/ 0 h 243"/>
              <a:gd name="T8" fmla="*/ 1 w 1"/>
              <a:gd name="T9" fmla="*/ 243 h 24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243">
                <a:moveTo>
                  <a:pt x="0" y="0"/>
                </a:moveTo>
                <a:lnTo>
                  <a:pt x="0" y="243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16" name="Freeform 158"/>
          <p:cNvSpPr/>
          <p:nvPr/>
        </p:nvSpPr>
        <p:spPr bwMode="auto">
          <a:xfrm>
            <a:off x="7605713" y="6161088"/>
            <a:ext cx="6350" cy="392112"/>
          </a:xfrm>
          <a:custGeom>
            <a:avLst/>
            <a:gdLst>
              <a:gd name="T0" fmla="*/ 2147483647 w 4"/>
              <a:gd name="T1" fmla="*/ 0 h 247"/>
              <a:gd name="T2" fmla="*/ 0 w 4"/>
              <a:gd name="T3" fmla="*/ 2147483647 h 247"/>
              <a:gd name="T4" fmla="*/ 0 60000 65536"/>
              <a:gd name="T5" fmla="*/ 0 60000 65536"/>
              <a:gd name="T6" fmla="*/ 0 w 4"/>
              <a:gd name="T7" fmla="*/ 0 h 247"/>
              <a:gd name="T8" fmla="*/ 4 w 4"/>
              <a:gd name="T9" fmla="*/ 247 h 24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" h="247">
                <a:moveTo>
                  <a:pt x="4" y="0"/>
                </a:moveTo>
                <a:lnTo>
                  <a:pt x="0" y="247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17" name="Freeform 159"/>
          <p:cNvSpPr/>
          <p:nvPr/>
        </p:nvSpPr>
        <p:spPr bwMode="auto">
          <a:xfrm>
            <a:off x="8377238" y="6161088"/>
            <a:ext cx="1587" cy="239712"/>
          </a:xfrm>
          <a:custGeom>
            <a:avLst/>
            <a:gdLst>
              <a:gd name="T0" fmla="*/ 0 w 1"/>
              <a:gd name="T1" fmla="*/ 0 h 151"/>
              <a:gd name="T2" fmla="*/ 0 w 1"/>
              <a:gd name="T3" fmla="*/ 2147483647 h 151"/>
              <a:gd name="T4" fmla="*/ 0 60000 65536"/>
              <a:gd name="T5" fmla="*/ 0 60000 65536"/>
              <a:gd name="T6" fmla="*/ 0 w 1"/>
              <a:gd name="T7" fmla="*/ 0 h 151"/>
              <a:gd name="T8" fmla="*/ 1 w 1"/>
              <a:gd name="T9" fmla="*/ 151 h 15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151">
                <a:moveTo>
                  <a:pt x="0" y="0"/>
                </a:moveTo>
                <a:lnTo>
                  <a:pt x="0" y="151"/>
                </a:lnTo>
              </a:path>
            </a:pathLst>
          </a:custGeom>
          <a:noFill/>
          <a:ln w="38100">
            <a:solidFill>
              <a:schemeClr val="tx1"/>
            </a:solidFill>
            <a:round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18" name="Line 160"/>
          <p:cNvSpPr>
            <a:spLocks noChangeShapeType="1"/>
          </p:cNvSpPr>
          <p:nvPr/>
        </p:nvSpPr>
        <p:spPr bwMode="auto">
          <a:xfrm>
            <a:off x="6546850" y="61610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19" name="Line 161"/>
          <p:cNvSpPr>
            <a:spLocks noChangeShapeType="1"/>
          </p:cNvSpPr>
          <p:nvPr/>
        </p:nvSpPr>
        <p:spPr bwMode="auto">
          <a:xfrm>
            <a:off x="4719638" y="61610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20" name="Line 162"/>
          <p:cNvSpPr>
            <a:spLocks noChangeShapeType="1"/>
          </p:cNvSpPr>
          <p:nvPr/>
        </p:nvSpPr>
        <p:spPr bwMode="auto">
          <a:xfrm>
            <a:off x="2889250" y="6161088"/>
            <a:ext cx="0" cy="228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oval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21" name="Rectangle 163"/>
          <p:cNvSpPr>
            <a:spLocks noChangeArrowheads="1"/>
          </p:cNvSpPr>
          <p:nvPr/>
        </p:nvSpPr>
        <p:spPr bwMode="auto">
          <a:xfrm>
            <a:off x="3678238" y="5627688"/>
            <a:ext cx="1306512" cy="53340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131222" name="Text Box 164"/>
          <p:cNvSpPr txBox="1">
            <a:spLocks noChangeArrowheads="1"/>
          </p:cNvSpPr>
          <p:nvPr/>
        </p:nvSpPr>
        <p:spPr bwMode="auto">
          <a:xfrm>
            <a:off x="3727450" y="5676900"/>
            <a:ext cx="1200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读写电路</a:t>
            </a:r>
          </a:p>
        </p:txBody>
      </p:sp>
      <p:sp>
        <p:nvSpPr>
          <p:cNvPr id="131223" name="Rectangle 165"/>
          <p:cNvSpPr>
            <a:spLocks noChangeArrowheads="1"/>
          </p:cNvSpPr>
          <p:nvPr/>
        </p:nvSpPr>
        <p:spPr bwMode="auto">
          <a:xfrm>
            <a:off x="5507038" y="5627688"/>
            <a:ext cx="1306512" cy="53340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131224" name="Text Box 166"/>
          <p:cNvSpPr txBox="1">
            <a:spLocks noChangeArrowheads="1"/>
          </p:cNvSpPr>
          <p:nvPr/>
        </p:nvSpPr>
        <p:spPr bwMode="auto">
          <a:xfrm>
            <a:off x="5556250" y="5676900"/>
            <a:ext cx="1200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读写电路</a:t>
            </a:r>
          </a:p>
        </p:txBody>
      </p:sp>
      <p:sp>
        <p:nvSpPr>
          <p:cNvPr id="131225" name="Rectangle 167"/>
          <p:cNvSpPr>
            <a:spLocks noChangeArrowheads="1"/>
          </p:cNvSpPr>
          <p:nvPr/>
        </p:nvSpPr>
        <p:spPr bwMode="auto">
          <a:xfrm>
            <a:off x="7335838" y="5627688"/>
            <a:ext cx="1306512" cy="53340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131226" name="Text Box 168"/>
          <p:cNvSpPr txBox="1">
            <a:spLocks noChangeArrowheads="1"/>
          </p:cNvSpPr>
          <p:nvPr/>
        </p:nvSpPr>
        <p:spPr bwMode="auto">
          <a:xfrm>
            <a:off x="7385050" y="5676900"/>
            <a:ext cx="1200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读写电路</a:t>
            </a:r>
          </a:p>
        </p:txBody>
      </p:sp>
      <p:sp>
        <p:nvSpPr>
          <p:cNvPr id="131227" name="Line 169"/>
          <p:cNvSpPr>
            <a:spLocks noChangeShapeType="1"/>
          </p:cNvSpPr>
          <p:nvPr/>
        </p:nvSpPr>
        <p:spPr bwMode="auto">
          <a:xfrm>
            <a:off x="3117850" y="5932488"/>
            <a:ext cx="287338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stealth" w="sm" len="sm"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28" name="Line 170"/>
          <p:cNvSpPr>
            <a:spLocks noChangeShapeType="1"/>
          </p:cNvSpPr>
          <p:nvPr/>
        </p:nvSpPr>
        <p:spPr bwMode="auto">
          <a:xfrm>
            <a:off x="4991100" y="5932488"/>
            <a:ext cx="287338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stealth" w="sm" len="sm"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29" name="Line 171"/>
          <p:cNvSpPr>
            <a:spLocks noChangeShapeType="1"/>
          </p:cNvSpPr>
          <p:nvPr/>
        </p:nvSpPr>
        <p:spPr bwMode="auto">
          <a:xfrm>
            <a:off x="6815138" y="5932488"/>
            <a:ext cx="287337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stealth" w="sm" len="sm"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30" name="Line 172"/>
          <p:cNvSpPr>
            <a:spLocks noChangeShapeType="1"/>
          </p:cNvSpPr>
          <p:nvPr/>
        </p:nvSpPr>
        <p:spPr bwMode="auto">
          <a:xfrm>
            <a:off x="8604250" y="5932488"/>
            <a:ext cx="287338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stealth" w="sm" len="sm"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31" name="Freeform 173"/>
          <p:cNvSpPr/>
          <p:nvPr/>
        </p:nvSpPr>
        <p:spPr bwMode="auto">
          <a:xfrm>
            <a:off x="4814888" y="4298950"/>
            <a:ext cx="74612" cy="795338"/>
          </a:xfrm>
          <a:custGeom>
            <a:avLst/>
            <a:gdLst>
              <a:gd name="T0" fmla="*/ 0 w 1"/>
              <a:gd name="T1" fmla="*/ 0 h 406"/>
              <a:gd name="T2" fmla="*/ 0 w 1"/>
              <a:gd name="T3" fmla="*/ 2147483647 h 406"/>
              <a:gd name="T4" fmla="*/ 0 60000 65536"/>
              <a:gd name="T5" fmla="*/ 0 60000 65536"/>
              <a:gd name="T6" fmla="*/ 0 w 1"/>
              <a:gd name="T7" fmla="*/ 0 h 406"/>
              <a:gd name="T8" fmla="*/ 1 w 1"/>
              <a:gd name="T9" fmla="*/ 406 h 40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406">
                <a:moveTo>
                  <a:pt x="0" y="0"/>
                </a:moveTo>
                <a:lnTo>
                  <a:pt x="0" y="40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32" name="Freeform 174"/>
          <p:cNvSpPr/>
          <p:nvPr/>
        </p:nvSpPr>
        <p:spPr bwMode="auto">
          <a:xfrm>
            <a:off x="6643688" y="4271963"/>
            <a:ext cx="1587" cy="833437"/>
          </a:xfrm>
          <a:custGeom>
            <a:avLst/>
            <a:gdLst>
              <a:gd name="T0" fmla="*/ 0 w 1"/>
              <a:gd name="T1" fmla="*/ 0 h 525"/>
              <a:gd name="T2" fmla="*/ 0 w 1"/>
              <a:gd name="T3" fmla="*/ 2147483647 h 525"/>
              <a:gd name="T4" fmla="*/ 0 60000 65536"/>
              <a:gd name="T5" fmla="*/ 0 60000 65536"/>
              <a:gd name="T6" fmla="*/ 0 w 1"/>
              <a:gd name="T7" fmla="*/ 0 h 525"/>
              <a:gd name="T8" fmla="*/ 1 w 1"/>
              <a:gd name="T9" fmla="*/ 525 h 525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25">
                <a:moveTo>
                  <a:pt x="0" y="0"/>
                </a:moveTo>
                <a:lnTo>
                  <a:pt x="0" y="525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33" name="Freeform 175"/>
          <p:cNvSpPr/>
          <p:nvPr/>
        </p:nvSpPr>
        <p:spPr bwMode="auto">
          <a:xfrm>
            <a:off x="8453438" y="4298950"/>
            <a:ext cx="74612" cy="795338"/>
          </a:xfrm>
          <a:custGeom>
            <a:avLst/>
            <a:gdLst>
              <a:gd name="T0" fmla="*/ 0 w 1"/>
              <a:gd name="T1" fmla="*/ 0 h 406"/>
              <a:gd name="T2" fmla="*/ 0 w 1"/>
              <a:gd name="T3" fmla="*/ 2147483647 h 406"/>
              <a:gd name="T4" fmla="*/ 0 60000 65536"/>
              <a:gd name="T5" fmla="*/ 0 60000 65536"/>
              <a:gd name="T6" fmla="*/ 0 w 1"/>
              <a:gd name="T7" fmla="*/ 0 h 406"/>
              <a:gd name="T8" fmla="*/ 1 w 1"/>
              <a:gd name="T9" fmla="*/ 406 h 40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406">
                <a:moveTo>
                  <a:pt x="0" y="0"/>
                </a:moveTo>
                <a:lnTo>
                  <a:pt x="0" y="40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oval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34" name="Text Box 176"/>
          <p:cNvSpPr txBox="1">
            <a:spLocks noChangeArrowheads="1"/>
          </p:cNvSpPr>
          <p:nvPr/>
        </p:nvSpPr>
        <p:spPr bwMode="auto">
          <a:xfrm rot="5400000">
            <a:off x="1893094" y="2604294"/>
            <a:ext cx="590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…</a:t>
            </a:r>
          </a:p>
        </p:txBody>
      </p:sp>
      <p:sp>
        <p:nvSpPr>
          <p:cNvPr id="131235" name="Text Box 177"/>
          <p:cNvSpPr txBox="1">
            <a:spLocks noChangeArrowheads="1"/>
          </p:cNvSpPr>
          <p:nvPr/>
        </p:nvSpPr>
        <p:spPr bwMode="auto">
          <a:xfrm rot="5400000">
            <a:off x="2807494" y="2604294"/>
            <a:ext cx="590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…</a:t>
            </a:r>
          </a:p>
        </p:txBody>
      </p:sp>
      <p:sp>
        <p:nvSpPr>
          <p:cNvPr id="131236" name="Text Box 178"/>
          <p:cNvSpPr txBox="1">
            <a:spLocks noChangeArrowheads="1"/>
          </p:cNvSpPr>
          <p:nvPr/>
        </p:nvSpPr>
        <p:spPr bwMode="auto">
          <a:xfrm rot="5400000">
            <a:off x="3721894" y="2604294"/>
            <a:ext cx="590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…</a:t>
            </a:r>
          </a:p>
        </p:txBody>
      </p:sp>
      <p:sp>
        <p:nvSpPr>
          <p:cNvPr id="131237" name="Text Box 179"/>
          <p:cNvSpPr txBox="1">
            <a:spLocks noChangeArrowheads="1"/>
          </p:cNvSpPr>
          <p:nvPr/>
        </p:nvSpPr>
        <p:spPr bwMode="auto">
          <a:xfrm rot="5400000">
            <a:off x="4636294" y="2585244"/>
            <a:ext cx="590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…</a:t>
            </a:r>
          </a:p>
        </p:txBody>
      </p:sp>
      <p:sp>
        <p:nvSpPr>
          <p:cNvPr id="131238" name="Text Box 180"/>
          <p:cNvSpPr txBox="1">
            <a:spLocks noChangeArrowheads="1"/>
          </p:cNvSpPr>
          <p:nvPr/>
        </p:nvSpPr>
        <p:spPr bwMode="auto">
          <a:xfrm rot="5400000">
            <a:off x="5549107" y="2583656"/>
            <a:ext cx="5905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…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131239" name="Text Box 181"/>
          <p:cNvSpPr txBox="1">
            <a:spLocks noChangeArrowheads="1"/>
          </p:cNvSpPr>
          <p:nvPr/>
        </p:nvSpPr>
        <p:spPr bwMode="auto">
          <a:xfrm rot="5400000">
            <a:off x="6465094" y="2585244"/>
            <a:ext cx="590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…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131240" name="Text Box 182"/>
          <p:cNvSpPr txBox="1">
            <a:spLocks noChangeArrowheads="1"/>
          </p:cNvSpPr>
          <p:nvPr/>
        </p:nvSpPr>
        <p:spPr bwMode="auto">
          <a:xfrm rot="5400000">
            <a:off x="7379494" y="2585244"/>
            <a:ext cx="590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…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131241" name="Text Box 183"/>
          <p:cNvSpPr txBox="1">
            <a:spLocks noChangeArrowheads="1"/>
          </p:cNvSpPr>
          <p:nvPr/>
        </p:nvSpPr>
        <p:spPr bwMode="auto">
          <a:xfrm rot="5400000">
            <a:off x="8324057" y="2585244"/>
            <a:ext cx="5905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…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131242" name="Text Box 184"/>
          <p:cNvSpPr txBox="1">
            <a:spLocks noChangeArrowheads="1"/>
          </p:cNvSpPr>
          <p:nvPr/>
        </p:nvSpPr>
        <p:spPr bwMode="auto">
          <a:xfrm>
            <a:off x="1047750" y="1255713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1800"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131243" name="Text Box 185"/>
          <p:cNvSpPr txBox="1">
            <a:spLocks noChangeArrowheads="1"/>
          </p:cNvSpPr>
          <p:nvPr/>
        </p:nvSpPr>
        <p:spPr bwMode="auto">
          <a:xfrm>
            <a:off x="1047750" y="2195513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1800">
                <a:latin typeface="Times New Roman" panose="02020603050405020304" pitchFamily="18" charset="0"/>
              </a:rPr>
              <a:t>1</a:t>
            </a:r>
          </a:p>
        </p:txBody>
      </p:sp>
      <p:sp>
        <p:nvSpPr>
          <p:cNvPr id="131244" name="Text Box 186"/>
          <p:cNvSpPr txBox="1">
            <a:spLocks noChangeArrowheads="1"/>
          </p:cNvSpPr>
          <p:nvPr/>
        </p:nvSpPr>
        <p:spPr bwMode="auto">
          <a:xfrm>
            <a:off x="990600" y="3109913"/>
            <a:ext cx="4127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1800">
                <a:latin typeface="Times New Roman" panose="02020603050405020304" pitchFamily="18" charset="0"/>
              </a:rPr>
              <a:t>63</a:t>
            </a:r>
          </a:p>
        </p:txBody>
      </p:sp>
      <p:sp>
        <p:nvSpPr>
          <p:cNvPr id="131245" name="Line 187"/>
          <p:cNvSpPr>
            <a:spLocks noChangeShapeType="1"/>
          </p:cNvSpPr>
          <p:nvPr/>
        </p:nvSpPr>
        <p:spPr bwMode="auto">
          <a:xfrm>
            <a:off x="527050" y="4027488"/>
            <a:ext cx="914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46" name="Text Box 188"/>
          <p:cNvSpPr txBox="1">
            <a:spLocks noChangeArrowheads="1"/>
          </p:cNvSpPr>
          <p:nvPr/>
        </p:nvSpPr>
        <p:spPr bwMode="auto">
          <a:xfrm>
            <a:off x="1047750" y="4329113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1800"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131247" name="Text Box 189"/>
          <p:cNvSpPr txBox="1">
            <a:spLocks noChangeArrowheads="1"/>
          </p:cNvSpPr>
          <p:nvPr/>
        </p:nvSpPr>
        <p:spPr bwMode="auto">
          <a:xfrm>
            <a:off x="990600" y="5014913"/>
            <a:ext cx="4127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1800">
                <a:latin typeface="Times New Roman" panose="02020603050405020304" pitchFamily="18" charset="0"/>
              </a:rPr>
              <a:t>15</a:t>
            </a:r>
          </a:p>
        </p:txBody>
      </p:sp>
      <p:sp>
        <p:nvSpPr>
          <p:cNvPr id="131248" name="Text Box 190"/>
          <p:cNvSpPr txBox="1">
            <a:spLocks noChangeArrowheads="1"/>
          </p:cNvSpPr>
          <p:nvPr/>
        </p:nvSpPr>
        <p:spPr bwMode="auto">
          <a:xfrm rot="5400000">
            <a:off x="1054894" y="2585244"/>
            <a:ext cx="590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…</a:t>
            </a:r>
          </a:p>
        </p:txBody>
      </p:sp>
      <p:sp>
        <p:nvSpPr>
          <p:cNvPr id="131249" name="Text Box 191"/>
          <p:cNvSpPr txBox="1">
            <a:spLocks noChangeArrowheads="1"/>
          </p:cNvSpPr>
          <p:nvPr/>
        </p:nvSpPr>
        <p:spPr bwMode="auto">
          <a:xfrm rot="5400000">
            <a:off x="1054894" y="4566444"/>
            <a:ext cx="590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…</a:t>
            </a:r>
          </a:p>
        </p:txBody>
      </p:sp>
      <p:sp>
        <p:nvSpPr>
          <p:cNvPr id="131250" name="Text Box 192"/>
          <p:cNvSpPr txBox="1">
            <a:spLocks noChangeArrowheads="1"/>
          </p:cNvSpPr>
          <p:nvPr/>
        </p:nvSpPr>
        <p:spPr bwMode="auto">
          <a:xfrm>
            <a:off x="552450" y="1611313"/>
            <a:ext cx="4397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行</a:t>
            </a:r>
          </a:p>
        </p:txBody>
      </p:sp>
      <p:sp>
        <p:nvSpPr>
          <p:cNvPr id="131251" name="Text Box 193"/>
          <p:cNvSpPr txBox="1">
            <a:spLocks noChangeArrowheads="1"/>
          </p:cNvSpPr>
          <p:nvPr/>
        </p:nvSpPr>
        <p:spPr bwMode="auto">
          <a:xfrm>
            <a:off x="552450" y="2005013"/>
            <a:ext cx="4397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地</a:t>
            </a:r>
          </a:p>
        </p:txBody>
      </p:sp>
      <p:sp>
        <p:nvSpPr>
          <p:cNvPr id="131252" name="Text Box 194"/>
          <p:cNvSpPr txBox="1">
            <a:spLocks noChangeArrowheads="1"/>
          </p:cNvSpPr>
          <p:nvPr/>
        </p:nvSpPr>
        <p:spPr bwMode="auto">
          <a:xfrm>
            <a:off x="552450" y="2398713"/>
            <a:ext cx="4397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址</a:t>
            </a:r>
          </a:p>
        </p:txBody>
      </p:sp>
      <p:sp>
        <p:nvSpPr>
          <p:cNvPr id="131253" name="Text Box 195"/>
          <p:cNvSpPr txBox="1">
            <a:spLocks noChangeArrowheads="1"/>
          </p:cNvSpPr>
          <p:nvPr/>
        </p:nvSpPr>
        <p:spPr bwMode="auto">
          <a:xfrm>
            <a:off x="552450" y="2790825"/>
            <a:ext cx="4397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译</a:t>
            </a:r>
          </a:p>
        </p:txBody>
      </p:sp>
      <p:sp>
        <p:nvSpPr>
          <p:cNvPr id="131254" name="Text Box 196"/>
          <p:cNvSpPr txBox="1">
            <a:spLocks noChangeArrowheads="1"/>
          </p:cNvSpPr>
          <p:nvPr/>
        </p:nvSpPr>
        <p:spPr bwMode="auto">
          <a:xfrm>
            <a:off x="552450" y="3184525"/>
            <a:ext cx="4397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码</a:t>
            </a:r>
          </a:p>
        </p:txBody>
      </p:sp>
      <p:sp>
        <p:nvSpPr>
          <p:cNvPr id="131255" name="Text Box 197"/>
          <p:cNvSpPr txBox="1">
            <a:spLocks noChangeArrowheads="1"/>
          </p:cNvSpPr>
          <p:nvPr/>
        </p:nvSpPr>
        <p:spPr bwMode="auto">
          <a:xfrm>
            <a:off x="595313" y="4183063"/>
            <a:ext cx="4397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列</a:t>
            </a:r>
          </a:p>
        </p:txBody>
      </p:sp>
      <p:sp>
        <p:nvSpPr>
          <p:cNvPr id="131256" name="Text Box 198"/>
          <p:cNvSpPr txBox="1">
            <a:spLocks noChangeArrowheads="1"/>
          </p:cNvSpPr>
          <p:nvPr/>
        </p:nvSpPr>
        <p:spPr bwMode="auto">
          <a:xfrm>
            <a:off x="595313" y="4576763"/>
            <a:ext cx="4397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地</a:t>
            </a:r>
          </a:p>
        </p:txBody>
      </p:sp>
      <p:sp>
        <p:nvSpPr>
          <p:cNvPr id="131257" name="Text Box 199"/>
          <p:cNvSpPr txBox="1">
            <a:spLocks noChangeArrowheads="1"/>
          </p:cNvSpPr>
          <p:nvPr/>
        </p:nvSpPr>
        <p:spPr bwMode="auto">
          <a:xfrm>
            <a:off x="595313" y="4970463"/>
            <a:ext cx="4397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址</a:t>
            </a:r>
          </a:p>
        </p:txBody>
      </p:sp>
      <p:sp>
        <p:nvSpPr>
          <p:cNvPr id="131258" name="Text Box 200"/>
          <p:cNvSpPr txBox="1">
            <a:spLocks noChangeArrowheads="1"/>
          </p:cNvSpPr>
          <p:nvPr/>
        </p:nvSpPr>
        <p:spPr bwMode="auto">
          <a:xfrm>
            <a:off x="595313" y="5362575"/>
            <a:ext cx="4397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译</a:t>
            </a:r>
          </a:p>
        </p:txBody>
      </p:sp>
      <p:sp>
        <p:nvSpPr>
          <p:cNvPr id="131259" name="Text Box 201"/>
          <p:cNvSpPr txBox="1">
            <a:spLocks noChangeArrowheads="1"/>
          </p:cNvSpPr>
          <p:nvPr/>
        </p:nvSpPr>
        <p:spPr bwMode="auto">
          <a:xfrm>
            <a:off x="595313" y="5756275"/>
            <a:ext cx="4397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码</a:t>
            </a:r>
          </a:p>
        </p:txBody>
      </p:sp>
      <p:sp>
        <p:nvSpPr>
          <p:cNvPr id="131260" name="Text Box 202"/>
          <p:cNvSpPr txBox="1">
            <a:spLocks noChangeArrowheads="1"/>
          </p:cNvSpPr>
          <p:nvPr/>
        </p:nvSpPr>
        <p:spPr bwMode="auto">
          <a:xfrm>
            <a:off x="3086100" y="5599113"/>
            <a:ext cx="5492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zh-CN" sz="1600">
                <a:latin typeface="Times New Roman" panose="02020603050405020304" pitchFamily="18" charset="0"/>
              </a:rPr>
              <a:t>I/O</a:t>
            </a:r>
            <a:r>
              <a:rPr lang="en-US" altLang="zh-CN" sz="1600" baseline="-25000">
                <a:latin typeface="Times New Roman" panose="02020603050405020304" pitchFamily="18" charset="0"/>
              </a:rPr>
              <a:t>1</a:t>
            </a:r>
          </a:p>
        </p:txBody>
      </p:sp>
      <p:sp>
        <p:nvSpPr>
          <p:cNvPr id="131261" name="Text Box 203"/>
          <p:cNvSpPr txBox="1">
            <a:spLocks noChangeArrowheads="1"/>
          </p:cNvSpPr>
          <p:nvPr/>
        </p:nvSpPr>
        <p:spPr bwMode="auto">
          <a:xfrm>
            <a:off x="4927600" y="5599113"/>
            <a:ext cx="5492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zh-CN" sz="1600">
                <a:latin typeface="Times New Roman" panose="02020603050405020304" pitchFamily="18" charset="0"/>
              </a:rPr>
              <a:t>I/O</a:t>
            </a:r>
            <a:r>
              <a:rPr lang="en-US" altLang="zh-CN" sz="1600" baseline="-25000">
                <a:latin typeface="Times New Roman" panose="02020603050405020304" pitchFamily="18" charset="0"/>
              </a:rPr>
              <a:t>2</a:t>
            </a:r>
          </a:p>
        </p:txBody>
      </p:sp>
      <p:sp>
        <p:nvSpPr>
          <p:cNvPr id="131262" name="Text Box 204"/>
          <p:cNvSpPr txBox="1">
            <a:spLocks noChangeArrowheads="1"/>
          </p:cNvSpPr>
          <p:nvPr/>
        </p:nvSpPr>
        <p:spPr bwMode="auto">
          <a:xfrm>
            <a:off x="6756400" y="5599113"/>
            <a:ext cx="5492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zh-CN" sz="1600">
                <a:latin typeface="Times New Roman" panose="02020603050405020304" pitchFamily="18" charset="0"/>
              </a:rPr>
              <a:t>I/O</a:t>
            </a:r>
            <a:r>
              <a:rPr lang="en-US" altLang="zh-CN" sz="1600" baseline="-25000">
                <a:latin typeface="Times New Roman" panose="02020603050405020304" pitchFamily="18" charset="0"/>
              </a:rPr>
              <a:t>3</a:t>
            </a:r>
          </a:p>
        </p:txBody>
      </p:sp>
      <p:sp>
        <p:nvSpPr>
          <p:cNvPr id="131263" name="Text Box 205"/>
          <p:cNvSpPr txBox="1">
            <a:spLocks noChangeArrowheads="1"/>
          </p:cNvSpPr>
          <p:nvPr/>
        </p:nvSpPr>
        <p:spPr bwMode="auto">
          <a:xfrm>
            <a:off x="8594725" y="5599113"/>
            <a:ext cx="5492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zh-CN" sz="1600">
                <a:latin typeface="Times New Roman" panose="02020603050405020304" pitchFamily="18" charset="0"/>
              </a:rPr>
              <a:t>I/O</a:t>
            </a:r>
            <a:r>
              <a:rPr lang="en-US" altLang="zh-CN" sz="1600" baseline="-25000">
                <a:latin typeface="Times New Roman" panose="02020603050405020304" pitchFamily="18" charset="0"/>
              </a:rPr>
              <a:t>4</a:t>
            </a:r>
          </a:p>
        </p:txBody>
      </p:sp>
      <p:sp>
        <p:nvSpPr>
          <p:cNvPr id="131264" name="Line 206"/>
          <p:cNvSpPr>
            <a:spLocks noChangeShapeType="1"/>
          </p:cNvSpPr>
          <p:nvPr/>
        </p:nvSpPr>
        <p:spPr bwMode="auto">
          <a:xfrm>
            <a:off x="222250" y="1436688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65" name="Line 207"/>
          <p:cNvSpPr>
            <a:spLocks noChangeShapeType="1"/>
          </p:cNvSpPr>
          <p:nvPr/>
        </p:nvSpPr>
        <p:spPr bwMode="auto">
          <a:xfrm>
            <a:off x="222250" y="1847850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66" name="Line 208"/>
          <p:cNvSpPr>
            <a:spLocks noChangeShapeType="1"/>
          </p:cNvSpPr>
          <p:nvPr/>
        </p:nvSpPr>
        <p:spPr bwMode="auto">
          <a:xfrm>
            <a:off x="222250" y="2259013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67" name="Line 209"/>
          <p:cNvSpPr>
            <a:spLocks noChangeShapeType="1"/>
          </p:cNvSpPr>
          <p:nvPr/>
        </p:nvSpPr>
        <p:spPr bwMode="auto">
          <a:xfrm>
            <a:off x="222250" y="2670175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68" name="Line 210"/>
          <p:cNvSpPr>
            <a:spLocks noChangeShapeType="1"/>
          </p:cNvSpPr>
          <p:nvPr/>
        </p:nvSpPr>
        <p:spPr bwMode="auto">
          <a:xfrm>
            <a:off x="222250" y="3081338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69" name="Line 211"/>
          <p:cNvSpPr>
            <a:spLocks noChangeShapeType="1"/>
          </p:cNvSpPr>
          <p:nvPr/>
        </p:nvSpPr>
        <p:spPr bwMode="auto">
          <a:xfrm>
            <a:off x="222250" y="3494088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70" name="Line 212"/>
          <p:cNvSpPr>
            <a:spLocks noChangeShapeType="1"/>
          </p:cNvSpPr>
          <p:nvPr/>
        </p:nvSpPr>
        <p:spPr bwMode="auto">
          <a:xfrm>
            <a:off x="222250" y="4559300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71" name="Line 213"/>
          <p:cNvSpPr>
            <a:spLocks noChangeShapeType="1"/>
          </p:cNvSpPr>
          <p:nvPr/>
        </p:nvSpPr>
        <p:spPr bwMode="auto">
          <a:xfrm>
            <a:off x="222250" y="4970463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72" name="Line 214"/>
          <p:cNvSpPr>
            <a:spLocks noChangeShapeType="1"/>
          </p:cNvSpPr>
          <p:nvPr/>
        </p:nvSpPr>
        <p:spPr bwMode="auto">
          <a:xfrm>
            <a:off x="222250" y="5381625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73" name="Line 215"/>
          <p:cNvSpPr>
            <a:spLocks noChangeShapeType="1"/>
          </p:cNvSpPr>
          <p:nvPr/>
        </p:nvSpPr>
        <p:spPr bwMode="auto">
          <a:xfrm>
            <a:off x="222250" y="5794375"/>
            <a:ext cx="304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74" name="Text Box 216"/>
          <p:cNvSpPr txBox="1">
            <a:spLocks noChangeArrowheads="1"/>
          </p:cNvSpPr>
          <p:nvPr/>
        </p:nvSpPr>
        <p:spPr bwMode="auto">
          <a:xfrm>
            <a:off x="1028700" y="6175375"/>
            <a:ext cx="565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zh-CN" sz="1800">
                <a:solidFill>
                  <a:schemeClr val="folHlink"/>
                </a:solidFill>
                <a:latin typeface="Times New Roman" panose="02020603050405020304" pitchFamily="18" charset="0"/>
              </a:rPr>
              <a:t>WE</a:t>
            </a:r>
          </a:p>
        </p:txBody>
      </p:sp>
      <p:sp>
        <p:nvSpPr>
          <p:cNvPr id="131275" name="Line 217"/>
          <p:cNvSpPr>
            <a:spLocks noChangeShapeType="1"/>
          </p:cNvSpPr>
          <p:nvPr/>
        </p:nvSpPr>
        <p:spPr bwMode="auto">
          <a:xfrm>
            <a:off x="1082675" y="6227763"/>
            <a:ext cx="457200" cy="0"/>
          </a:xfrm>
          <a:prstGeom prst="line">
            <a:avLst/>
          </a:prstGeom>
          <a:noFill/>
          <a:ln w="28575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76" name="Text Box 218"/>
          <p:cNvSpPr txBox="1">
            <a:spLocks noChangeArrowheads="1"/>
          </p:cNvSpPr>
          <p:nvPr/>
        </p:nvSpPr>
        <p:spPr bwMode="auto">
          <a:xfrm>
            <a:off x="1060450" y="6389688"/>
            <a:ext cx="5095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zh-CN" sz="2000">
                <a:solidFill>
                  <a:schemeClr val="folHlink"/>
                </a:solidFill>
                <a:latin typeface="Times New Roman" panose="02020603050405020304" pitchFamily="18" charset="0"/>
              </a:rPr>
              <a:t>CS</a:t>
            </a:r>
          </a:p>
        </p:txBody>
      </p:sp>
      <p:sp>
        <p:nvSpPr>
          <p:cNvPr id="131277" name="Line 219"/>
          <p:cNvSpPr>
            <a:spLocks noChangeShapeType="1"/>
          </p:cNvSpPr>
          <p:nvPr/>
        </p:nvSpPr>
        <p:spPr bwMode="auto">
          <a:xfrm>
            <a:off x="1152525" y="6475413"/>
            <a:ext cx="304800" cy="0"/>
          </a:xfrm>
          <a:prstGeom prst="line">
            <a:avLst/>
          </a:prstGeom>
          <a:noFill/>
          <a:ln w="28575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131278" name="Text Box 220"/>
          <p:cNvSpPr txBox="1">
            <a:spLocks noChangeArrowheads="1"/>
          </p:cNvSpPr>
          <p:nvPr/>
        </p:nvSpPr>
        <p:spPr bwMode="auto">
          <a:xfrm>
            <a:off x="222250" y="1069975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131279" name="Text Box 221"/>
          <p:cNvSpPr txBox="1">
            <a:spLocks noChangeArrowheads="1"/>
          </p:cNvSpPr>
          <p:nvPr/>
        </p:nvSpPr>
        <p:spPr bwMode="auto">
          <a:xfrm>
            <a:off x="222250" y="1481138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131280" name="Text Box 222"/>
          <p:cNvSpPr txBox="1">
            <a:spLocks noChangeArrowheads="1"/>
          </p:cNvSpPr>
          <p:nvPr/>
        </p:nvSpPr>
        <p:spPr bwMode="auto">
          <a:xfrm>
            <a:off x="222250" y="1892300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131281" name="Text Box 223"/>
          <p:cNvSpPr txBox="1">
            <a:spLocks noChangeArrowheads="1"/>
          </p:cNvSpPr>
          <p:nvPr/>
        </p:nvSpPr>
        <p:spPr bwMode="auto">
          <a:xfrm>
            <a:off x="222250" y="2303463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131282" name="Text Box 224"/>
          <p:cNvSpPr txBox="1">
            <a:spLocks noChangeArrowheads="1"/>
          </p:cNvSpPr>
          <p:nvPr/>
        </p:nvSpPr>
        <p:spPr bwMode="auto">
          <a:xfrm>
            <a:off x="222250" y="2714625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131283" name="Text Box 225"/>
          <p:cNvSpPr txBox="1">
            <a:spLocks noChangeArrowheads="1"/>
          </p:cNvSpPr>
          <p:nvPr/>
        </p:nvSpPr>
        <p:spPr bwMode="auto">
          <a:xfrm>
            <a:off x="222250" y="3127375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131284" name="Text Box 226"/>
          <p:cNvSpPr txBox="1">
            <a:spLocks noChangeArrowheads="1"/>
          </p:cNvSpPr>
          <p:nvPr/>
        </p:nvSpPr>
        <p:spPr bwMode="auto">
          <a:xfrm>
            <a:off x="222250" y="4217988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131285" name="Text Box 227"/>
          <p:cNvSpPr txBox="1">
            <a:spLocks noChangeArrowheads="1"/>
          </p:cNvSpPr>
          <p:nvPr/>
        </p:nvSpPr>
        <p:spPr bwMode="auto">
          <a:xfrm>
            <a:off x="222250" y="4629150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131286" name="Text Box 228"/>
          <p:cNvSpPr txBox="1">
            <a:spLocks noChangeArrowheads="1"/>
          </p:cNvSpPr>
          <p:nvPr/>
        </p:nvSpPr>
        <p:spPr bwMode="auto">
          <a:xfrm>
            <a:off x="222250" y="5040313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131287" name="Text Box 229"/>
          <p:cNvSpPr txBox="1">
            <a:spLocks noChangeArrowheads="1"/>
          </p:cNvSpPr>
          <p:nvPr/>
        </p:nvSpPr>
        <p:spPr bwMode="auto">
          <a:xfrm>
            <a:off x="222250" y="5451475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</a:p>
        </p:txBody>
      </p:sp>
      <p:grpSp>
        <p:nvGrpSpPr>
          <p:cNvPr id="131288" name="Group 230"/>
          <p:cNvGrpSpPr/>
          <p:nvPr/>
        </p:nvGrpSpPr>
        <p:grpSpPr bwMode="auto">
          <a:xfrm>
            <a:off x="1452563" y="4279900"/>
            <a:ext cx="6124575" cy="301625"/>
            <a:chOff x="915" y="2696"/>
            <a:chExt cx="3858" cy="190"/>
          </a:xfrm>
        </p:grpSpPr>
        <p:sp>
          <p:nvSpPr>
            <p:cNvPr id="131433" name="Freeform 231"/>
            <p:cNvSpPr/>
            <p:nvPr/>
          </p:nvSpPr>
          <p:spPr bwMode="auto">
            <a:xfrm>
              <a:off x="1304" y="2707"/>
              <a:ext cx="1" cy="166"/>
            </a:xfrm>
            <a:custGeom>
              <a:avLst/>
              <a:gdLst>
                <a:gd name="T0" fmla="*/ 0 w 1"/>
                <a:gd name="T1" fmla="*/ 0 h 166"/>
                <a:gd name="T2" fmla="*/ 1 w 1"/>
                <a:gd name="T3" fmla="*/ 166 h 166"/>
                <a:gd name="T4" fmla="*/ 0 60000 65536"/>
                <a:gd name="T5" fmla="*/ 0 60000 65536"/>
                <a:gd name="T6" fmla="*/ 0 w 1"/>
                <a:gd name="T7" fmla="*/ 0 h 166"/>
                <a:gd name="T8" fmla="*/ 1 w 1"/>
                <a:gd name="T9" fmla="*/ 166 h 16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66">
                  <a:moveTo>
                    <a:pt x="0" y="0"/>
                  </a:moveTo>
                  <a:lnTo>
                    <a:pt x="1" y="166"/>
                  </a:lnTo>
                </a:path>
              </a:pathLst>
            </a:custGeom>
            <a:noFill/>
            <a:ln w="38100" cap="flat" cmpd="sng">
              <a:solidFill>
                <a:schemeClr val="folHlink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1434" name="Freeform 232"/>
            <p:cNvSpPr/>
            <p:nvPr/>
          </p:nvSpPr>
          <p:spPr bwMode="auto">
            <a:xfrm>
              <a:off x="2457" y="2710"/>
              <a:ext cx="1" cy="166"/>
            </a:xfrm>
            <a:custGeom>
              <a:avLst/>
              <a:gdLst>
                <a:gd name="T0" fmla="*/ 0 w 1"/>
                <a:gd name="T1" fmla="*/ 0 h 166"/>
                <a:gd name="T2" fmla="*/ 1 w 1"/>
                <a:gd name="T3" fmla="*/ 166 h 166"/>
                <a:gd name="T4" fmla="*/ 0 60000 65536"/>
                <a:gd name="T5" fmla="*/ 0 60000 65536"/>
                <a:gd name="T6" fmla="*/ 0 w 1"/>
                <a:gd name="T7" fmla="*/ 0 h 166"/>
                <a:gd name="T8" fmla="*/ 1 w 1"/>
                <a:gd name="T9" fmla="*/ 166 h 16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66">
                  <a:moveTo>
                    <a:pt x="0" y="0"/>
                  </a:moveTo>
                  <a:lnTo>
                    <a:pt x="1" y="166"/>
                  </a:lnTo>
                </a:path>
              </a:pathLst>
            </a:custGeom>
            <a:noFill/>
            <a:ln w="38100" cap="flat" cmpd="sng">
              <a:solidFill>
                <a:schemeClr val="folHlink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1435" name="Freeform 233"/>
            <p:cNvSpPr/>
            <p:nvPr/>
          </p:nvSpPr>
          <p:spPr bwMode="auto">
            <a:xfrm>
              <a:off x="3609" y="2710"/>
              <a:ext cx="1" cy="176"/>
            </a:xfrm>
            <a:custGeom>
              <a:avLst/>
              <a:gdLst>
                <a:gd name="T0" fmla="*/ 0 w 1"/>
                <a:gd name="T1" fmla="*/ 0 h 176"/>
                <a:gd name="T2" fmla="*/ 0 w 1"/>
                <a:gd name="T3" fmla="*/ 176 h 176"/>
                <a:gd name="T4" fmla="*/ 0 60000 65536"/>
                <a:gd name="T5" fmla="*/ 0 60000 65536"/>
                <a:gd name="T6" fmla="*/ 0 w 1"/>
                <a:gd name="T7" fmla="*/ 0 h 176"/>
                <a:gd name="T8" fmla="*/ 1 w 1"/>
                <a:gd name="T9" fmla="*/ 176 h 17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76">
                  <a:moveTo>
                    <a:pt x="0" y="0"/>
                  </a:moveTo>
                  <a:lnTo>
                    <a:pt x="0" y="176"/>
                  </a:lnTo>
                </a:path>
              </a:pathLst>
            </a:custGeom>
            <a:noFill/>
            <a:ln w="38100" cap="flat" cmpd="sng">
              <a:solidFill>
                <a:schemeClr val="folHlink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1436" name="Freeform 234"/>
            <p:cNvSpPr/>
            <p:nvPr/>
          </p:nvSpPr>
          <p:spPr bwMode="auto">
            <a:xfrm>
              <a:off x="4761" y="2696"/>
              <a:ext cx="1" cy="178"/>
            </a:xfrm>
            <a:custGeom>
              <a:avLst/>
              <a:gdLst>
                <a:gd name="T0" fmla="*/ 0 w 1"/>
                <a:gd name="T1" fmla="*/ 0 h 178"/>
                <a:gd name="T2" fmla="*/ 0 w 1"/>
                <a:gd name="T3" fmla="*/ 178 h 178"/>
                <a:gd name="T4" fmla="*/ 0 60000 65536"/>
                <a:gd name="T5" fmla="*/ 0 60000 65536"/>
                <a:gd name="T6" fmla="*/ 0 w 1"/>
                <a:gd name="T7" fmla="*/ 0 h 178"/>
                <a:gd name="T8" fmla="*/ 1 w 1"/>
                <a:gd name="T9" fmla="*/ 178 h 17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78">
                  <a:moveTo>
                    <a:pt x="0" y="0"/>
                  </a:moveTo>
                  <a:lnTo>
                    <a:pt x="0" y="178"/>
                  </a:lnTo>
                </a:path>
              </a:pathLst>
            </a:custGeom>
            <a:noFill/>
            <a:ln w="38100" cap="flat" cmpd="sng">
              <a:solidFill>
                <a:schemeClr val="folHlink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1437" name="Freeform 235"/>
            <p:cNvSpPr/>
            <p:nvPr/>
          </p:nvSpPr>
          <p:spPr bwMode="auto">
            <a:xfrm>
              <a:off x="915" y="2865"/>
              <a:ext cx="3858" cy="2"/>
            </a:xfrm>
            <a:custGeom>
              <a:avLst/>
              <a:gdLst>
                <a:gd name="T0" fmla="*/ 0 w 3858"/>
                <a:gd name="T1" fmla="*/ 2 h 2"/>
                <a:gd name="T2" fmla="*/ 3858 w 3858"/>
                <a:gd name="T3" fmla="*/ 0 h 2"/>
                <a:gd name="T4" fmla="*/ 0 60000 65536"/>
                <a:gd name="T5" fmla="*/ 0 60000 65536"/>
                <a:gd name="T6" fmla="*/ 0 w 3858"/>
                <a:gd name="T7" fmla="*/ 0 h 2"/>
                <a:gd name="T8" fmla="*/ 3858 w 3858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858" h="2">
                  <a:moveTo>
                    <a:pt x="0" y="2"/>
                  </a:moveTo>
                  <a:lnTo>
                    <a:pt x="3858" y="0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31289" name="Group 236"/>
          <p:cNvGrpSpPr/>
          <p:nvPr/>
        </p:nvGrpSpPr>
        <p:grpSpPr bwMode="auto">
          <a:xfrm>
            <a:off x="1925638" y="4179888"/>
            <a:ext cx="304800" cy="250825"/>
            <a:chOff x="1440" y="2928"/>
            <a:chExt cx="192" cy="158"/>
          </a:xfrm>
        </p:grpSpPr>
        <p:grpSp>
          <p:nvGrpSpPr>
            <p:cNvPr id="131426" name="Group 237"/>
            <p:cNvGrpSpPr/>
            <p:nvPr/>
          </p:nvGrpSpPr>
          <p:grpSpPr bwMode="auto">
            <a:xfrm rot="5400000">
              <a:off x="1529" y="2983"/>
              <a:ext cx="158" cy="48"/>
              <a:chOff x="3459" y="1296"/>
              <a:chExt cx="243" cy="48"/>
            </a:xfrm>
          </p:grpSpPr>
          <p:sp>
            <p:nvSpPr>
              <p:cNvPr id="131431" name="Line 238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1432" name="Line 239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31427" name="Freeform 240"/>
            <p:cNvSpPr/>
            <p:nvPr/>
          </p:nvSpPr>
          <p:spPr bwMode="auto">
            <a:xfrm>
              <a:off x="1487" y="3003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31428" name="Group 241"/>
            <p:cNvGrpSpPr/>
            <p:nvPr/>
          </p:nvGrpSpPr>
          <p:grpSpPr bwMode="auto">
            <a:xfrm rot="-5400000">
              <a:off x="1385" y="2983"/>
              <a:ext cx="158" cy="48"/>
              <a:chOff x="3459" y="1296"/>
              <a:chExt cx="243" cy="48"/>
            </a:xfrm>
          </p:grpSpPr>
          <p:sp>
            <p:nvSpPr>
              <p:cNvPr id="131429" name="Line 242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1430" name="Line 243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grpSp>
        <p:nvGrpSpPr>
          <p:cNvPr id="131290" name="Group 244"/>
          <p:cNvGrpSpPr/>
          <p:nvPr/>
        </p:nvGrpSpPr>
        <p:grpSpPr bwMode="auto">
          <a:xfrm>
            <a:off x="3754438" y="4183063"/>
            <a:ext cx="304800" cy="250825"/>
            <a:chOff x="1440" y="2928"/>
            <a:chExt cx="192" cy="158"/>
          </a:xfrm>
        </p:grpSpPr>
        <p:grpSp>
          <p:nvGrpSpPr>
            <p:cNvPr id="131419" name="Group 245"/>
            <p:cNvGrpSpPr/>
            <p:nvPr/>
          </p:nvGrpSpPr>
          <p:grpSpPr bwMode="auto">
            <a:xfrm rot="5400000">
              <a:off x="1529" y="2983"/>
              <a:ext cx="158" cy="48"/>
              <a:chOff x="3459" y="1296"/>
              <a:chExt cx="243" cy="48"/>
            </a:xfrm>
          </p:grpSpPr>
          <p:sp>
            <p:nvSpPr>
              <p:cNvPr id="131424" name="Line 246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1425" name="Line 247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31420" name="Freeform 248"/>
            <p:cNvSpPr/>
            <p:nvPr/>
          </p:nvSpPr>
          <p:spPr bwMode="auto">
            <a:xfrm>
              <a:off x="1487" y="3003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31421" name="Group 249"/>
            <p:cNvGrpSpPr/>
            <p:nvPr/>
          </p:nvGrpSpPr>
          <p:grpSpPr bwMode="auto">
            <a:xfrm rot="-5400000">
              <a:off x="1385" y="2983"/>
              <a:ext cx="158" cy="48"/>
              <a:chOff x="3459" y="1296"/>
              <a:chExt cx="243" cy="48"/>
            </a:xfrm>
          </p:grpSpPr>
          <p:sp>
            <p:nvSpPr>
              <p:cNvPr id="131422" name="Line 250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1423" name="Line 251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grpSp>
        <p:nvGrpSpPr>
          <p:cNvPr id="131291" name="Group 252"/>
          <p:cNvGrpSpPr/>
          <p:nvPr/>
        </p:nvGrpSpPr>
        <p:grpSpPr bwMode="auto">
          <a:xfrm>
            <a:off x="5583238" y="4183063"/>
            <a:ext cx="304800" cy="250825"/>
            <a:chOff x="1440" y="2928"/>
            <a:chExt cx="192" cy="158"/>
          </a:xfrm>
        </p:grpSpPr>
        <p:grpSp>
          <p:nvGrpSpPr>
            <p:cNvPr id="131412" name="Group 253"/>
            <p:cNvGrpSpPr/>
            <p:nvPr/>
          </p:nvGrpSpPr>
          <p:grpSpPr bwMode="auto">
            <a:xfrm rot="5400000">
              <a:off x="1529" y="2983"/>
              <a:ext cx="158" cy="48"/>
              <a:chOff x="3459" y="1296"/>
              <a:chExt cx="243" cy="48"/>
            </a:xfrm>
          </p:grpSpPr>
          <p:sp>
            <p:nvSpPr>
              <p:cNvPr id="131417" name="Line 254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1418" name="Line 255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31413" name="Freeform 256"/>
            <p:cNvSpPr/>
            <p:nvPr/>
          </p:nvSpPr>
          <p:spPr bwMode="auto">
            <a:xfrm>
              <a:off x="1487" y="3003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31414" name="Group 257"/>
            <p:cNvGrpSpPr/>
            <p:nvPr/>
          </p:nvGrpSpPr>
          <p:grpSpPr bwMode="auto">
            <a:xfrm rot="-5400000">
              <a:off x="1385" y="2983"/>
              <a:ext cx="158" cy="48"/>
              <a:chOff x="3459" y="1296"/>
              <a:chExt cx="243" cy="48"/>
            </a:xfrm>
          </p:grpSpPr>
          <p:sp>
            <p:nvSpPr>
              <p:cNvPr id="131415" name="Line 258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1416" name="Line 259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grpSp>
        <p:nvGrpSpPr>
          <p:cNvPr id="131292" name="Group 260"/>
          <p:cNvGrpSpPr/>
          <p:nvPr/>
        </p:nvGrpSpPr>
        <p:grpSpPr bwMode="auto">
          <a:xfrm>
            <a:off x="7410450" y="4183063"/>
            <a:ext cx="304800" cy="250825"/>
            <a:chOff x="1440" y="2928"/>
            <a:chExt cx="192" cy="158"/>
          </a:xfrm>
        </p:grpSpPr>
        <p:grpSp>
          <p:nvGrpSpPr>
            <p:cNvPr id="131405" name="Group 261"/>
            <p:cNvGrpSpPr/>
            <p:nvPr/>
          </p:nvGrpSpPr>
          <p:grpSpPr bwMode="auto">
            <a:xfrm rot="5400000">
              <a:off x="1529" y="2983"/>
              <a:ext cx="158" cy="48"/>
              <a:chOff x="3459" y="1296"/>
              <a:chExt cx="243" cy="48"/>
            </a:xfrm>
          </p:grpSpPr>
          <p:sp>
            <p:nvSpPr>
              <p:cNvPr id="131410" name="Line 262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1411" name="Line 263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31406" name="Freeform 264"/>
            <p:cNvSpPr/>
            <p:nvPr/>
          </p:nvSpPr>
          <p:spPr bwMode="auto">
            <a:xfrm>
              <a:off x="1487" y="3003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31407" name="Group 265"/>
            <p:cNvGrpSpPr/>
            <p:nvPr/>
          </p:nvGrpSpPr>
          <p:grpSpPr bwMode="auto">
            <a:xfrm rot="-5400000">
              <a:off x="1385" y="2983"/>
              <a:ext cx="158" cy="48"/>
              <a:chOff x="3459" y="1296"/>
              <a:chExt cx="243" cy="48"/>
            </a:xfrm>
          </p:grpSpPr>
          <p:sp>
            <p:nvSpPr>
              <p:cNvPr id="131408" name="Line 266"/>
              <p:cNvSpPr>
                <a:spLocks noChangeShapeType="1"/>
              </p:cNvSpPr>
              <p:nvPr/>
            </p:nvSpPr>
            <p:spPr bwMode="auto">
              <a:xfrm>
                <a:off x="3459" y="1296"/>
                <a:ext cx="243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1409" name="Line 267"/>
              <p:cNvSpPr>
                <a:spLocks noChangeShapeType="1"/>
              </p:cNvSpPr>
              <p:nvPr/>
            </p:nvSpPr>
            <p:spPr bwMode="auto">
              <a:xfrm>
                <a:off x="3504" y="1344"/>
                <a:ext cx="147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grpSp>
        <p:nvGrpSpPr>
          <p:cNvPr id="131293" name="Group 268"/>
          <p:cNvGrpSpPr/>
          <p:nvPr/>
        </p:nvGrpSpPr>
        <p:grpSpPr bwMode="auto">
          <a:xfrm>
            <a:off x="1900238" y="1909763"/>
            <a:ext cx="6062662" cy="2339975"/>
            <a:chOff x="1197" y="1203"/>
            <a:chExt cx="3819" cy="1474"/>
          </a:xfrm>
        </p:grpSpPr>
        <p:sp>
          <p:nvSpPr>
            <p:cNvPr id="131397" name="Freeform 269"/>
            <p:cNvSpPr/>
            <p:nvPr/>
          </p:nvSpPr>
          <p:spPr bwMode="auto">
            <a:xfrm>
              <a:off x="1422" y="1203"/>
              <a:ext cx="121" cy="1474"/>
            </a:xfrm>
            <a:custGeom>
              <a:avLst/>
              <a:gdLst>
                <a:gd name="T0" fmla="*/ 3 w 145"/>
                <a:gd name="T1" fmla="*/ 0 h 1466"/>
                <a:gd name="T2" fmla="*/ 11 w 145"/>
                <a:gd name="T3" fmla="*/ 0 h 1466"/>
                <a:gd name="T4" fmla="*/ 11 w 145"/>
                <a:gd name="T5" fmla="*/ 1580 h 1466"/>
                <a:gd name="T6" fmla="*/ 0 w 145"/>
                <a:gd name="T7" fmla="*/ 1580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1398" name="Text Box 270"/>
            <p:cNvSpPr txBox="1">
              <a:spLocks noChangeArrowheads="1"/>
            </p:cNvSpPr>
            <p:nvPr/>
          </p:nvSpPr>
          <p:spPr bwMode="auto">
            <a:xfrm rot="5400000">
              <a:off x="1194" y="1642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1399" name="Freeform 271"/>
            <p:cNvSpPr/>
            <p:nvPr/>
          </p:nvSpPr>
          <p:spPr bwMode="auto">
            <a:xfrm>
              <a:off x="2556" y="1205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1400" name="Text Box 272"/>
            <p:cNvSpPr txBox="1">
              <a:spLocks noChangeArrowheads="1"/>
            </p:cNvSpPr>
            <p:nvPr/>
          </p:nvSpPr>
          <p:spPr bwMode="auto">
            <a:xfrm rot="5400000">
              <a:off x="2347" y="1642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1401" name="Freeform 273"/>
            <p:cNvSpPr/>
            <p:nvPr/>
          </p:nvSpPr>
          <p:spPr bwMode="auto">
            <a:xfrm>
              <a:off x="3711" y="1206"/>
              <a:ext cx="151" cy="1471"/>
            </a:xfrm>
            <a:custGeom>
              <a:avLst/>
              <a:gdLst>
                <a:gd name="T0" fmla="*/ 54 w 151"/>
                <a:gd name="T1" fmla="*/ 0 h 1471"/>
                <a:gd name="T2" fmla="*/ 151 w 151"/>
                <a:gd name="T3" fmla="*/ 0 h 1471"/>
                <a:gd name="T4" fmla="*/ 150 w 151"/>
                <a:gd name="T5" fmla="*/ 1471 h 1471"/>
                <a:gd name="T6" fmla="*/ 0 w 151"/>
                <a:gd name="T7" fmla="*/ 1470 h 147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1"/>
                <a:gd name="T13" fmla="*/ 0 h 1471"/>
                <a:gd name="T14" fmla="*/ 151 w 151"/>
                <a:gd name="T15" fmla="*/ 1471 h 147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1" h="1471">
                  <a:moveTo>
                    <a:pt x="54" y="0"/>
                  </a:moveTo>
                  <a:lnTo>
                    <a:pt x="151" y="0"/>
                  </a:lnTo>
                  <a:lnTo>
                    <a:pt x="150" y="1471"/>
                  </a:lnTo>
                  <a:lnTo>
                    <a:pt x="0" y="1470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1402" name="Text Box 274"/>
            <p:cNvSpPr txBox="1">
              <a:spLocks noChangeArrowheads="1"/>
            </p:cNvSpPr>
            <p:nvPr/>
          </p:nvSpPr>
          <p:spPr bwMode="auto">
            <a:xfrm rot="5400000">
              <a:off x="3493" y="1626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1403" name="Freeform 275"/>
            <p:cNvSpPr/>
            <p:nvPr/>
          </p:nvSpPr>
          <p:spPr bwMode="auto">
            <a:xfrm>
              <a:off x="4860" y="1211"/>
              <a:ext cx="145" cy="1466"/>
            </a:xfrm>
            <a:custGeom>
              <a:avLst/>
              <a:gdLst>
                <a:gd name="T0" fmla="*/ 42 w 145"/>
                <a:gd name="T1" fmla="*/ 1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42" y="1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1404" name="Text Box 276"/>
            <p:cNvSpPr txBox="1">
              <a:spLocks noChangeArrowheads="1"/>
            </p:cNvSpPr>
            <p:nvPr/>
          </p:nvSpPr>
          <p:spPr bwMode="auto">
            <a:xfrm rot="5400000">
              <a:off x="4648" y="1629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131294" name="Group 277"/>
          <p:cNvGrpSpPr/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131380" name="Line 278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1381" name="Freeform 279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1382" name="Line 280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1383" name="Freeform 281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1384" name="Line 282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1385" name="Text Box 283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</a:p>
          </p:txBody>
        </p:sp>
        <p:sp>
          <p:nvSpPr>
            <p:cNvPr id="131386" name="Text Box 284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</a:p>
          </p:txBody>
        </p:sp>
        <p:sp>
          <p:nvSpPr>
            <p:cNvPr id="131387" name="Text Box 285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</a:p>
          </p:txBody>
        </p:sp>
        <p:sp>
          <p:nvSpPr>
            <p:cNvPr id="131388" name="Text Box 286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</a:p>
          </p:txBody>
        </p:sp>
        <p:sp>
          <p:nvSpPr>
            <p:cNvPr id="131389" name="Line 287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1390" name="Line 288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1391" name="Line 289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1392" name="Line 290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1393" name="Line 291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1394" name="Line 292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1395" name="Line 293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1396" name="Line 294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19431" name="Rectangle 295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31296" name="Text Box 296"/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en-US" altLang="zh-CN" sz="3200">
                <a:latin typeface="Times New Roman" panose="02020603050405020304" pitchFamily="18" charset="0"/>
              </a:rPr>
              <a:t>Intel 2114 RAM </a:t>
            </a:r>
            <a:r>
              <a:rPr lang="zh-CN" altLang="en-US" sz="3200">
                <a:latin typeface="Times New Roman" panose="02020603050405020304" pitchFamily="18" charset="0"/>
              </a:rPr>
              <a:t>矩阵 </a:t>
            </a:r>
            <a:r>
              <a:rPr lang="en-US" altLang="zh-CN" sz="3200">
                <a:latin typeface="Times New Roman" panose="02020603050405020304" pitchFamily="18" charset="0"/>
              </a:rPr>
              <a:t>(64 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>
                <a:latin typeface="Times New Roman" panose="02020603050405020304" pitchFamily="18" charset="0"/>
              </a:rPr>
              <a:t> 64)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</a:p>
        </p:txBody>
      </p:sp>
      <p:grpSp>
        <p:nvGrpSpPr>
          <p:cNvPr id="131297" name="Group 297"/>
          <p:cNvGrpSpPr/>
          <p:nvPr/>
        </p:nvGrpSpPr>
        <p:grpSpPr bwMode="auto">
          <a:xfrm>
            <a:off x="1431925" y="1360488"/>
            <a:ext cx="7250113" cy="682625"/>
            <a:chOff x="902" y="857"/>
            <a:chExt cx="4567" cy="430"/>
          </a:xfrm>
        </p:grpSpPr>
        <p:grpSp>
          <p:nvGrpSpPr>
            <p:cNvPr id="131356" name="Group 298"/>
            <p:cNvGrpSpPr/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131361" name="Group 299"/>
              <p:cNvGrpSpPr/>
              <p:nvPr/>
            </p:nvGrpSpPr>
            <p:grpSpPr bwMode="auto">
              <a:xfrm>
                <a:off x="1152" y="1013"/>
                <a:ext cx="4317" cy="274"/>
                <a:chOff x="1176" y="1068"/>
                <a:chExt cx="4317" cy="274"/>
              </a:xfrm>
            </p:grpSpPr>
            <p:sp>
              <p:nvSpPr>
                <p:cNvPr id="131372" name="Rectangle 300"/>
                <p:cNvSpPr>
                  <a:spLocks noChangeArrowheads="1"/>
                </p:cNvSpPr>
                <p:nvPr/>
              </p:nvSpPr>
              <p:spPr bwMode="auto">
                <a:xfrm>
                  <a:off x="175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15</a:t>
                  </a:r>
                </a:p>
              </p:txBody>
            </p:sp>
            <p:sp>
              <p:nvSpPr>
                <p:cNvPr id="131373" name="Rectangle 301"/>
                <p:cNvSpPr>
                  <a:spLocks noChangeArrowheads="1"/>
                </p:cNvSpPr>
                <p:nvPr/>
              </p:nvSpPr>
              <p:spPr bwMode="auto">
                <a:xfrm>
                  <a:off x="117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1374" name="Rectangle 302"/>
                <p:cNvSpPr>
                  <a:spLocks noChangeArrowheads="1"/>
                </p:cNvSpPr>
                <p:nvPr/>
              </p:nvSpPr>
              <p:spPr bwMode="auto">
                <a:xfrm>
                  <a:off x="289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31</a:t>
                  </a:r>
                </a:p>
              </p:txBody>
            </p:sp>
            <p:sp>
              <p:nvSpPr>
                <p:cNvPr id="131375" name="Rectangle 303"/>
                <p:cNvSpPr>
                  <a:spLocks noChangeArrowheads="1"/>
                </p:cNvSpPr>
                <p:nvPr/>
              </p:nvSpPr>
              <p:spPr bwMode="auto">
                <a:xfrm>
                  <a:off x="231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16</a:t>
                  </a:r>
                </a:p>
              </p:txBody>
            </p:sp>
            <p:sp>
              <p:nvSpPr>
                <p:cNvPr id="131376" name="Rectangle 304"/>
                <p:cNvSpPr>
                  <a:spLocks noChangeArrowheads="1"/>
                </p:cNvSpPr>
                <p:nvPr/>
              </p:nvSpPr>
              <p:spPr bwMode="auto">
                <a:xfrm>
                  <a:off x="4067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47</a:t>
                  </a:r>
                </a:p>
              </p:txBody>
            </p:sp>
            <p:sp>
              <p:nvSpPr>
                <p:cNvPr id="131377" name="Rectangle 305"/>
                <p:cNvSpPr>
                  <a:spLocks noChangeArrowheads="1"/>
                </p:cNvSpPr>
                <p:nvPr/>
              </p:nvSpPr>
              <p:spPr bwMode="auto">
                <a:xfrm>
                  <a:off x="3491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32</a:t>
                  </a:r>
                </a:p>
              </p:txBody>
            </p:sp>
            <p:sp>
              <p:nvSpPr>
                <p:cNvPr id="131378" name="Rectangle 306"/>
                <p:cNvSpPr>
                  <a:spLocks noChangeArrowheads="1"/>
                </p:cNvSpPr>
                <p:nvPr/>
              </p:nvSpPr>
              <p:spPr bwMode="auto">
                <a:xfrm>
                  <a:off x="5205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63</a:t>
                  </a:r>
                </a:p>
              </p:txBody>
            </p:sp>
            <p:sp>
              <p:nvSpPr>
                <p:cNvPr id="131379" name="Rectangle 307"/>
                <p:cNvSpPr>
                  <a:spLocks noChangeArrowheads="1"/>
                </p:cNvSpPr>
                <p:nvPr/>
              </p:nvSpPr>
              <p:spPr bwMode="auto">
                <a:xfrm>
                  <a:off x="462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48</a:t>
                  </a:r>
                </a:p>
              </p:txBody>
            </p:sp>
          </p:grpSp>
          <p:grpSp>
            <p:nvGrpSpPr>
              <p:cNvPr id="131362" name="Group 308"/>
              <p:cNvGrpSpPr/>
              <p:nvPr/>
            </p:nvGrpSpPr>
            <p:grpSpPr bwMode="auto">
              <a:xfrm>
                <a:off x="902" y="857"/>
                <a:ext cx="4419" cy="145"/>
                <a:chOff x="902" y="857"/>
                <a:chExt cx="4419" cy="145"/>
              </a:xfrm>
            </p:grpSpPr>
            <p:sp>
              <p:nvSpPr>
                <p:cNvPr id="131363" name="Freeform 309"/>
                <p:cNvSpPr/>
                <p:nvPr/>
              </p:nvSpPr>
              <p:spPr bwMode="auto">
                <a:xfrm>
                  <a:off x="902" y="857"/>
                  <a:ext cx="4419" cy="1"/>
                </a:xfrm>
                <a:custGeom>
                  <a:avLst/>
                  <a:gdLst>
                    <a:gd name="T0" fmla="*/ 0 w 4419"/>
                    <a:gd name="T1" fmla="*/ 1 h 1"/>
                    <a:gd name="T2" fmla="*/ 4419 w 4419"/>
                    <a:gd name="T3" fmla="*/ 0 h 1"/>
                    <a:gd name="T4" fmla="*/ 0 60000 65536"/>
                    <a:gd name="T5" fmla="*/ 0 60000 65536"/>
                    <a:gd name="T6" fmla="*/ 0 w 4419"/>
                    <a:gd name="T7" fmla="*/ 0 h 1"/>
                    <a:gd name="T8" fmla="*/ 4419 w 4419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419" h="1">
                      <a:moveTo>
                        <a:pt x="0" y="1"/>
                      </a:moveTo>
                      <a:lnTo>
                        <a:pt x="4419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1364" name="Line 310"/>
                <p:cNvSpPr>
                  <a:spLocks noChangeShapeType="1"/>
                </p:cNvSpPr>
                <p:nvPr/>
              </p:nvSpPr>
              <p:spPr bwMode="auto">
                <a:xfrm>
                  <a:off x="127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1365" name="Line 311"/>
                <p:cNvSpPr>
                  <a:spLocks noChangeShapeType="1"/>
                </p:cNvSpPr>
                <p:nvPr/>
              </p:nvSpPr>
              <p:spPr bwMode="auto">
                <a:xfrm>
                  <a:off x="184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1366" name="Line 312"/>
                <p:cNvSpPr>
                  <a:spLocks noChangeShapeType="1"/>
                </p:cNvSpPr>
                <p:nvPr/>
              </p:nvSpPr>
              <p:spPr bwMode="auto">
                <a:xfrm>
                  <a:off x="242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1367" name="Line 313"/>
                <p:cNvSpPr>
                  <a:spLocks noChangeShapeType="1"/>
                </p:cNvSpPr>
                <p:nvPr/>
              </p:nvSpPr>
              <p:spPr bwMode="auto">
                <a:xfrm>
                  <a:off x="3000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1368" name="Line 314"/>
                <p:cNvSpPr>
                  <a:spLocks noChangeShapeType="1"/>
                </p:cNvSpPr>
                <p:nvPr/>
              </p:nvSpPr>
              <p:spPr bwMode="auto">
                <a:xfrm>
                  <a:off x="3576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1369" name="Line 315"/>
                <p:cNvSpPr>
                  <a:spLocks noChangeShapeType="1"/>
                </p:cNvSpPr>
                <p:nvPr/>
              </p:nvSpPr>
              <p:spPr bwMode="auto">
                <a:xfrm>
                  <a:off x="415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1370" name="Line 316"/>
                <p:cNvSpPr>
                  <a:spLocks noChangeShapeType="1"/>
                </p:cNvSpPr>
                <p:nvPr/>
              </p:nvSpPr>
              <p:spPr bwMode="auto">
                <a:xfrm>
                  <a:off x="472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1371" name="Line 317"/>
                <p:cNvSpPr>
                  <a:spLocks noChangeShapeType="1"/>
                </p:cNvSpPr>
                <p:nvPr/>
              </p:nvSpPr>
              <p:spPr bwMode="auto">
                <a:xfrm>
                  <a:off x="530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31357" name="Text Box 318"/>
            <p:cNvSpPr txBox="1">
              <a:spLocks noChangeArrowheads="1"/>
            </p:cNvSpPr>
            <p:nvPr/>
          </p:nvSpPr>
          <p:spPr bwMode="auto">
            <a:xfrm>
              <a:off x="140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1358" name="Text Box 319"/>
            <p:cNvSpPr txBox="1">
              <a:spLocks noChangeArrowheads="1"/>
            </p:cNvSpPr>
            <p:nvPr/>
          </p:nvSpPr>
          <p:spPr bwMode="auto">
            <a:xfrm>
              <a:off x="254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1359" name="Text Box 320"/>
            <p:cNvSpPr txBox="1">
              <a:spLocks noChangeArrowheads="1"/>
            </p:cNvSpPr>
            <p:nvPr/>
          </p:nvSpPr>
          <p:spPr bwMode="auto">
            <a:xfrm>
              <a:off x="3718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1360" name="Text Box 321"/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131298" name="Rectangle 322"/>
          <p:cNvSpPr>
            <a:spLocks noChangeArrowheads="1"/>
          </p:cNvSpPr>
          <p:nvPr/>
        </p:nvSpPr>
        <p:spPr bwMode="auto">
          <a:xfrm>
            <a:off x="1828800" y="1608138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</a:ln>
        </p:spPr>
        <p:txBody>
          <a:bodyPr lIns="0" rIns="0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bg2"/>
                </a:solidFill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131299" name="Rectangle 323"/>
          <p:cNvSpPr>
            <a:spLocks noChangeArrowheads="1"/>
          </p:cNvSpPr>
          <p:nvPr/>
        </p:nvSpPr>
        <p:spPr bwMode="auto">
          <a:xfrm>
            <a:off x="3638550" y="1608138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</a:ln>
        </p:spPr>
        <p:txBody>
          <a:bodyPr lIns="0" rIns="0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bg2"/>
                </a:solidFill>
                <a:latin typeface="Times New Roman" panose="02020603050405020304" pitchFamily="18" charset="0"/>
              </a:rPr>
              <a:t>16</a:t>
            </a:r>
          </a:p>
        </p:txBody>
      </p:sp>
      <p:sp>
        <p:nvSpPr>
          <p:cNvPr id="131300" name="Rectangle 324"/>
          <p:cNvSpPr>
            <a:spLocks noChangeArrowheads="1"/>
          </p:cNvSpPr>
          <p:nvPr/>
        </p:nvSpPr>
        <p:spPr bwMode="auto">
          <a:xfrm>
            <a:off x="5503863" y="1608138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</a:ln>
        </p:spPr>
        <p:txBody>
          <a:bodyPr lIns="0" rIns="0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bg2"/>
                </a:solidFill>
                <a:latin typeface="Times New Roman" panose="02020603050405020304" pitchFamily="18" charset="0"/>
              </a:rPr>
              <a:t>32</a:t>
            </a:r>
          </a:p>
        </p:txBody>
      </p:sp>
      <p:sp>
        <p:nvSpPr>
          <p:cNvPr id="131301" name="Rectangle 325"/>
          <p:cNvSpPr>
            <a:spLocks noChangeArrowheads="1"/>
          </p:cNvSpPr>
          <p:nvPr/>
        </p:nvSpPr>
        <p:spPr bwMode="auto">
          <a:xfrm>
            <a:off x="7305675" y="1608138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</a:ln>
        </p:spPr>
        <p:txBody>
          <a:bodyPr lIns="0" rIns="0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bg2"/>
                </a:solidFill>
                <a:latin typeface="Times New Roman" panose="02020603050405020304" pitchFamily="18" charset="0"/>
              </a:rPr>
              <a:t>48</a:t>
            </a:r>
          </a:p>
        </p:txBody>
      </p:sp>
      <p:grpSp>
        <p:nvGrpSpPr>
          <p:cNvPr id="27" name="Group 326"/>
          <p:cNvGrpSpPr/>
          <p:nvPr/>
        </p:nvGrpSpPr>
        <p:grpSpPr bwMode="auto">
          <a:xfrm>
            <a:off x="2228850" y="4351338"/>
            <a:ext cx="6173788" cy="1295400"/>
            <a:chOff x="1428" y="2784"/>
            <a:chExt cx="3889" cy="816"/>
          </a:xfrm>
        </p:grpSpPr>
        <p:sp>
          <p:nvSpPr>
            <p:cNvPr id="131352" name="Freeform 327"/>
            <p:cNvSpPr/>
            <p:nvPr/>
          </p:nvSpPr>
          <p:spPr bwMode="auto">
            <a:xfrm>
              <a:off x="1428" y="2784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2"/>
                <a:gd name="T16" fmla="*/ 0 h 816"/>
                <a:gd name="T17" fmla="*/ 432 w 432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1353" name="Freeform 328"/>
            <p:cNvSpPr/>
            <p:nvPr/>
          </p:nvSpPr>
          <p:spPr bwMode="auto">
            <a:xfrm>
              <a:off x="4885" y="2784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2"/>
                <a:gd name="T16" fmla="*/ 0 h 816"/>
                <a:gd name="T17" fmla="*/ 432 w 432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1354" name="Freeform 329"/>
            <p:cNvSpPr/>
            <p:nvPr/>
          </p:nvSpPr>
          <p:spPr bwMode="auto">
            <a:xfrm>
              <a:off x="3733" y="2784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2"/>
                <a:gd name="T16" fmla="*/ 0 h 816"/>
                <a:gd name="T17" fmla="*/ 432 w 432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1355" name="Freeform 330"/>
            <p:cNvSpPr/>
            <p:nvPr/>
          </p:nvSpPr>
          <p:spPr bwMode="auto">
            <a:xfrm>
              <a:off x="2579" y="2784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2"/>
                <a:gd name="T16" fmla="*/ 0 h 816"/>
                <a:gd name="T17" fmla="*/ 432 w 432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31303" name="Group 331"/>
          <p:cNvGrpSpPr/>
          <p:nvPr/>
        </p:nvGrpSpPr>
        <p:grpSpPr bwMode="auto">
          <a:xfrm>
            <a:off x="1452563" y="2617788"/>
            <a:ext cx="6613525" cy="1963737"/>
            <a:chOff x="915" y="1649"/>
            <a:chExt cx="4166" cy="1237"/>
          </a:xfrm>
        </p:grpSpPr>
        <p:grpSp>
          <p:nvGrpSpPr>
            <p:cNvPr id="131305" name="Group 332"/>
            <p:cNvGrpSpPr/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131314" name="Group 333"/>
              <p:cNvGrpSpPr/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131347" name="Freeform 334"/>
                <p:cNvSpPr/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1348" name="Freeform 335"/>
                <p:cNvSpPr/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1349" name="Freeform 336"/>
                <p:cNvSpPr/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  <a:gd name="T6" fmla="*/ 0 w 1"/>
                    <a:gd name="T7" fmla="*/ 0 h 176"/>
                    <a:gd name="T8" fmla="*/ 1 w 1"/>
                    <a:gd name="T9" fmla="*/ 176 h 17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1350" name="Freeform 337"/>
                <p:cNvSpPr/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  <a:gd name="T6" fmla="*/ 0 w 1"/>
                    <a:gd name="T7" fmla="*/ 0 h 178"/>
                    <a:gd name="T8" fmla="*/ 1 w 1"/>
                    <a:gd name="T9" fmla="*/ 178 h 178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1351" name="Freeform 338"/>
                <p:cNvSpPr/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  <a:gd name="T6" fmla="*/ 0 w 3858"/>
                    <a:gd name="T7" fmla="*/ 0 h 2"/>
                    <a:gd name="T8" fmla="*/ 3858 w 3858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1315" name="Group 339"/>
              <p:cNvGrpSpPr/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131340" name="Group 340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1345" name="Line 341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1346" name="Line 342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1341" name="Freeform 343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1342" name="Group 344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1343" name="Line 345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1344" name="Line 346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31316" name="Group 347"/>
              <p:cNvGrpSpPr/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131333" name="Group 348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1338" name="Line 349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1339" name="Line 350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1334" name="Freeform 351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1335" name="Group 352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1336" name="Line 353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1337" name="Line 354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31317" name="Group 355"/>
              <p:cNvGrpSpPr/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131326" name="Group 356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1331" name="Line 357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1332" name="Line 358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1327" name="Freeform 359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1328" name="Group 360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1329" name="Line 361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1330" name="Line 362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31318" name="Group 363"/>
              <p:cNvGrpSpPr/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131319" name="Group 364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1324" name="Line 365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1325" name="Line 366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1320" name="Freeform 367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1321" name="Group 368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1322" name="Line 369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1323" name="Line 370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</p:grpSp>
        <p:sp>
          <p:nvSpPr>
            <p:cNvPr id="131306" name="Rectangle 371"/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1307" name="Text Box 372"/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1308" name="Rectangle 373"/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31309" name="Rectangle 374"/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48</a:t>
              </a:r>
            </a:p>
          </p:txBody>
        </p:sp>
        <p:sp>
          <p:nvSpPr>
            <p:cNvPr id="131310" name="Rectangle 375"/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32</a:t>
              </a:r>
            </a:p>
          </p:txBody>
        </p:sp>
        <p:sp>
          <p:nvSpPr>
            <p:cNvPr id="131311" name="Text Box 376"/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1312" name="Text Box 377"/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1313" name="Text Box 378"/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131304" name="AutoShape 379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098" name="Group 2"/>
          <p:cNvGrpSpPr/>
          <p:nvPr/>
        </p:nvGrpSpPr>
        <p:grpSpPr bwMode="auto">
          <a:xfrm>
            <a:off x="222250" y="1131888"/>
            <a:ext cx="8921750" cy="5654675"/>
            <a:chOff x="140" y="713"/>
            <a:chExt cx="5620" cy="3562"/>
          </a:xfrm>
        </p:grpSpPr>
        <p:sp>
          <p:nvSpPr>
            <p:cNvPr id="132274" name="Rectangle 3"/>
            <p:cNvSpPr>
              <a:spLocks noChangeArrowheads="1"/>
            </p:cNvSpPr>
            <p:nvPr/>
          </p:nvSpPr>
          <p:spPr bwMode="auto">
            <a:xfrm>
              <a:off x="332" y="713"/>
              <a:ext cx="576" cy="316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32275" name="Rectangle 4"/>
            <p:cNvSpPr>
              <a:spLocks noChangeArrowheads="1"/>
            </p:cNvSpPr>
            <p:nvPr/>
          </p:nvSpPr>
          <p:spPr bwMode="auto">
            <a:xfrm>
              <a:off x="172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15</a:t>
              </a:r>
            </a:p>
          </p:txBody>
        </p:sp>
        <p:sp>
          <p:nvSpPr>
            <p:cNvPr id="132276" name="Text Box 5"/>
            <p:cNvSpPr txBox="1">
              <a:spLocks noChangeArrowheads="1"/>
            </p:cNvSpPr>
            <p:nvPr/>
          </p:nvSpPr>
          <p:spPr bwMode="auto">
            <a:xfrm>
              <a:off x="1408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2277" name="Rectangle 6"/>
            <p:cNvSpPr>
              <a:spLocks noChangeArrowheads="1"/>
            </p:cNvSpPr>
            <p:nvPr/>
          </p:nvSpPr>
          <p:spPr bwMode="auto">
            <a:xfrm>
              <a:off x="1152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2278" name="Rectangle 7"/>
            <p:cNvSpPr>
              <a:spLocks noChangeArrowheads="1"/>
            </p:cNvSpPr>
            <p:nvPr/>
          </p:nvSpPr>
          <p:spPr bwMode="auto">
            <a:xfrm>
              <a:off x="2869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31</a:t>
              </a:r>
            </a:p>
          </p:txBody>
        </p:sp>
        <p:sp>
          <p:nvSpPr>
            <p:cNvPr id="132279" name="Text Box 8"/>
            <p:cNvSpPr txBox="1">
              <a:spLocks noChangeArrowheads="1"/>
            </p:cNvSpPr>
            <p:nvPr/>
          </p:nvSpPr>
          <p:spPr bwMode="auto">
            <a:xfrm>
              <a:off x="2549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2280" name="Rectangle 9"/>
            <p:cNvSpPr>
              <a:spLocks noChangeArrowheads="1"/>
            </p:cNvSpPr>
            <p:nvPr/>
          </p:nvSpPr>
          <p:spPr bwMode="auto">
            <a:xfrm>
              <a:off x="2293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32281" name="Rectangle 10"/>
            <p:cNvSpPr>
              <a:spLocks noChangeArrowheads="1"/>
            </p:cNvSpPr>
            <p:nvPr/>
          </p:nvSpPr>
          <p:spPr bwMode="auto">
            <a:xfrm>
              <a:off x="404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47</a:t>
              </a:r>
            </a:p>
          </p:txBody>
        </p:sp>
        <p:sp>
          <p:nvSpPr>
            <p:cNvPr id="132282" name="Text Box 11"/>
            <p:cNvSpPr txBox="1">
              <a:spLocks noChangeArrowheads="1"/>
            </p:cNvSpPr>
            <p:nvPr/>
          </p:nvSpPr>
          <p:spPr bwMode="auto">
            <a:xfrm>
              <a:off x="3724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2283" name="Rectangle 12"/>
            <p:cNvSpPr>
              <a:spLocks noChangeArrowheads="1"/>
            </p:cNvSpPr>
            <p:nvPr/>
          </p:nvSpPr>
          <p:spPr bwMode="auto">
            <a:xfrm>
              <a:off x="346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32</a:t>
              </a:r>
            </a:p>
          </p:txBody>
        </p:sp>
        <p:sp>
          <p:nvSpPr>
            <p:cNvPr id="132284" name="Rectangle 13"/>
            <p:cNvSpPr>
              <a:spLocks noChangeArrowheads="1"/>
            </p:cNvSpPr>
            <p:nvPr/>
          </p:nvSpPr>
          <p:spPr bwMode="auto">
            <a:xfrm>
              <a:off x="5180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63</a:t>
              </a:r>
            </a:p>
          </p:txBody>
        </p:sp>
        <p:sp>
          <p:nvSpPr>
            <p:cNvPr id="132285" name="Text Box 14"/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2286" name="Rectangle 15"/>
            <p:cNvSpPr>
              <a:spLocks noChangeArrowheads="1"/>
            </p:cNvSpPr>
            <p:nvPr/>
          </p:nvSpPr>
          <p:spPr bwMode="auto">
            <a:xfrm>
              <a:off x="460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48</a:t>
              </a:r>
            </a:p>
          </p:txBody>
        </p:sp>
        <p:sp>
          <p:nvSpPr>
            <p:cNvPr id="132287" name="Rectangle 16"/>
            <p:cNvSpPr>
              <a:spLocks noChangeArrowheads="1"/>
            </p:cNvSpPr>
            <p:nvPr/>
          </p:nvSpPr>
          <p:spPr bwMode="auto">
            <a:xfrm>
              <a:off x="172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15</a:t>
              </a:r>
            </a:p>
          </p:txBody>
        </p:sp>
        <p:sp>
          <p:nvSpPr>
            <p:cNvPr id="132288" name="Rectangle 17"/>
            <p:cNvSpPr>
              <a:spLocks noChangeArrowheads="1"/>
            </p:cNvSpPr>
            <p:nvPr/>
          </p:nvSpPr>
          <p:spPr bwMode="auto">
            <a:xfrm>
              <a:off x="1152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2289" name="Rectangle 18"/>
            <p:cNvSpPr>
              <a:spLocks noChangeArrowheads="1"/>
            </p:cNvSpPr>
            <p:nvPr/>
          </p:nvSpPr>
          <p:spPr bwMode="auto">
            <a:xfrm>
              <a:off x="2869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31</a:t>
              </a:r>
            </a:p>
          </p:txBody>
        </p:sp>
        <p:sp>
          <p:nvSpPr>
            <p:cNvPr id="132290" name="Rectangle 19"/>
            <p:cNvSpPr>
              <a:spLocks noChangeArrowheads="1"/>
            </p:cNvSpPr>
            <p:nvPr/>
          </p:nvSpPr>
          <p:spPr bwMode="auto">
            <a:xfrm>
              <a:off x="2293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32291" name="Rectangle 20"/>
            <p:cNvSpPr>
              <a:spLocks noChangeArrowheads="1"/>
            </p:cNvSpPr>
            <p:nvPr/>
          </p:nvSpPr>
          <p:spPr bwMode="auto">
            <a:xfrm>
              <a:off x="404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47</a:t>
              </a:r>
            </a:p>
          </p:txBody>
        </p:sp>
        <p:sp>
          <p:nvSpPr>
            <p:cNvPr id="132292" name="Rectangle 21"/>
            <p:cNvSpPr>
              <a:spLocks noChangeArrowheads="1"/>
            </p:cNvSpPr>
            <p:nvPr/>
          </p:nvSpPr>
          <p:spPr bwMode="auto">
            <a:xfrm>
              <a:off x="346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32</a:t>
              </a:r>
            </a:p>
          </p:txBody>
        </p:sp>
        <p:sp>
          <p:nvSpPr>
            <p:cNvPr id="132293" name="Rectangle 22"/>
            <p:cNvSpPr>
              <a:spLocks noChangeArrowheads="1"/>
            </p:cNvSpPr>
            <p:nvPr/>
          </p:nvSpPr>
          <p:spPr bwMode="auto">
            <a:xfrm>
              <a:off x="5180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63</a:t>
              </a:r>
            </a:p>
          </p:txBody>
        </p:sp>
        <p:sp>
          <p:nvSpPr>
            <p:cNvPr id="132294" name="Rectangle 23"/>
            <p:cNvSpPr>
              <a:spLocks noChangeArrowheads="1"/>
            </p:cNvSpPr>
            <p:nvPr/>
          </p:nvSpPr>
          <p:spPr bwMode="auto">
            <a:xfrm>
              <a:off x="460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48</a:t>
              </a:r>
            </a:p>
          </p:txBody>
        </p:sp>
        <p:sp>
          <p:nvSpPr>
            <p:cNvPr id="132295" name="Line 24"/>
            <p:cNvSpPr>
              <a:spLocks noChangeShapeType="1"/>
            </p:cNvSpPr>
            <p:nvPr/>
          </p:nvSpPr>
          <p:spPr bwMode="auto">
            <a:xfrm rot="5400000">
              <a:off x="1325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296" name="Line 25"/>
            <p:cNvSpPr>
              <a:spLocks noChangeShapeType="1"/>
            </p:cNvSpPr>
            <p:nvPr/>
          </p:nvSpPr>
          <p:spPr bwMode="auto">
            <a:xfrm rot="5400000">
              <a:off x="1308" y="271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297" name="Freeform 26"/>
            <p:cNvSpPr/>
            <p:nvPr/>
          </p:nvSpPr>
          <p:spPr bwMode="auto">
            <a:xfrm>
              <a:off x="1260" y="2709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298" name="Line 27"/>
            <p:cNvSpPr>
              <a:spLocks noChangeShapeType="1"/>
            </p:cNvSpPr>
            <p:nvPr/>
          </p:nvSpPr>
          <p:spPr bwMode="auto">
            <a:xfrm rot="-5400000">
              <a:off x="1133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299" name="Line 28"/>
            <p:cNvSpPr>
              <a:spLocks noChangeShapeType="1"/>
            </p:cNvSpPr>
            <p:nvPr/>
          </p:nvSpPr>
          <p:spPr bwMode="auto">
            <a:xfrm rot="-5400000">
              <a:off x="1212" y="2714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300" name="Freeform 29"/>
            <p:cNvSpPr/>
            <p:nvPr/>
          </p:nvSpPr>
          <p:spPr bwMode="auto">
            <a:xfrm>
              <a:off x="1434" y="2353"/>
              <a:ext cx="112" cy="1"/>
            </a:xfrm>
            <a:custGeom>
              <a:avLst/>
              <a:gdLst>
                <a:gd name="T0" fmla="*/ 0 w 112"/>
                <a:gd name="T1" fmla="*/ 0 h 1"/>
                <a:gd name="T2" fmla="*/ 112 w 112"/>
                <a:gd name="T3" fmla="*/ 0 h 1"/>
                <a:gd name="T4" fmla="*/ 0 60000 65536"/>
                <a:gd name="T5" fmla="*/ 0 60000 65536"/>
                <a:gd name="T6" fmla="*/ 0 w 112"/>
                <a:gd name="T7" fmla="*/ 0 h 1"/>
                <a:gd name="T8" fmla="*/ 112 w 11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2" h="1">
                  <a:moveTo>
                    <a:pt x="0" y="0"/>
                  </a:moveTo>
                  <a:lnTo>
                    <a:pt x="112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01" name="Freeform 30"/>
            <p:cNvSpPr/>
            <p:nvPr/>
          </p:nvSpPr>
          <p:spPr bwMode="auto">
            <a:xfrm>
              <a:off x="1059" y="1209"/>
              <a:ext cx="152" cy="1469"/>
            </a:xfrm>
            <a:custGeom>
              <a:avLst/>
              <a:gdLst>
                <a:gd name="T0" fmla="*/ 152 w 152"/>
                <a:gd name="T1" fmla="*/ 1469 h 1469"/>
                <a:gd name="T2" fmla="*/ 0 w 152"/>
                <a:gd name="T3" fmla="*/ 1469 h 1469"/>
                <a:gd name="T4" fmla="*/ 0 w 152"/>
                <a:gd name="T5" fmla="*/ 0 h 1469"/>
                <a:gd name="T6" fmla="*/ 95 w 152"/>
                <a:gd name="T7" fmla="*/ 1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9"/>
                <a:gd name="T14" fmla="*/ 152 w 152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9">
                  <a:moveTo>
                    <a:pt x="152" y="1469"/>
                  </a:moveTo>
                  <a:lnTo>
                    <a:pt x="0" y="1469"/>
                  </a:lnTo>
                  <a:lnTo>
                    <a:pt x="0" y="0"/>
                  </a:lnTo>
                  <a:lnTo>
                    <a:pt x="95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02" name="Freeform 31"/>
            <p:cNvSpPr/>
            <p:nvPr/>
          </p:nvSpPr>
          <p:spPr bwMode="auto">
            <a:xfrm>
              <a:off x="1055" y="2353"/>
              <a:ext cx="102" cy="1"/>
            </a:xfrm>
            <a:custGeom>
              <a:avLst/>
              <a:gdLst>
                <a:gd name="T0" fmla="*/ 102 w 102"/>
                <a:gd name="T1" fmla="*/ 0 h 1"/>
                <a:gd name="T2" fmla="*/ 0 w 102"/>
                <a:gd name="T3" fmla="*/ 0 h 1"/>
                <a:gd name="T4" fmla="*/ 0 60000 65536"/>
                <a:gd name="T5" fmla="*/ 0 60000 65536"/>
                <a:gd name="T6" fmla="*/ 0 w 102"/>
                <a:gd name="T7" fmla="*/ 0 h 1"/>
                <a:gd name="T8" fmla="*/ 102 w 10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2" h="1">
                  <a:moveTo>
                    <a:pt x="102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03" name="Line 32"/>
            <p:cNvSpPr>
              <a:spLocks noChangeShapeType="1"/>
            </p:cNvSpPr>
            <p:nvPr/>
          </p:nvSpPr>
          <p:spPr bwMode="auto">
            <a:xfrm rot="5400000">
              <a:off x="1896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304" name="Line 33"/>
            <p:cNvSpPr>
              <a:spLocks noChangeShapeType="1"/>
            </p:cNvSpPr>
            <p:nvPr/>
          </p:nvSpPr>
          <p:spPr bwMode="auto">
            <a:xfrm rot="5400000">
              <a:off x="1879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305" name="Freeform 34"/>
            <p:cNvSpPr/>
            <p:nvPr/>
          </p:nvSpPr>
          <p:spPr bwMode="auto">
            <a:xfrm>
              <a:off x="1831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306" name="Line 35"/>
            <p:cNvSpPr>
              <a:spLocks noChangeShapeType="1"/>
            </p:cNvSpPr>
            <p:nvPr/>
          </p:nvSpPr>
          <p:spPr bwMode="auto">
            <a:xfrm rot="-5400000">
              <a:off x="1704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307" name="Line 36"/>
            <p:cNvSpPr>
              <a:spLocks noChangeShapeType="1"/>
            </p:cNvSpPr>
            <p:nvPr/>
          </p:nvSpPr>
          <p:spPr bwMode="auto">
            <a:xfrm rot="-5400000">
              <a:off x="1783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308" name="Freeform 37"/>
            <p:cNvSpPr/>
            <p:nvPr/>
          </p:nvSpPr>
          <p:spPr bwMode="auto">
            <a:xfrm>
              <a:off x="2005" y="2353"/>
              <a:ext cx="103" cy="1"/>
            </a:xfrm>
            <a:custGeom>
              <a:avLst/>
              <a:gdLst>
                <a:gd name="T0" fmla="*/ 0 w 103"/>
                <a:gd name="T1" fmla="*/ 0 h 1"/>
                <a:gd name="T2" fmla="*/ 103 w 103"/>
                <a:gd name="T3" fmla="*/ 0 h 1"/>
                <a:gd name="T4" fmla="*/ 0 60000 65536"/>
                <a:gd name="T5" fmla="*/ 0 60000 65536"/>
                <a:gd name="T6" fmla="*/ 0 w 103"/>
                <a:gd name="T7" fmla="*/ 0 h 1"/>
                <a:gd name="T8" fmla="*/ 103 w 10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3" h="1">
                  <a:moveTo>
                    <a:pt x="0" y="0"/>
                  </a:moveTo>
                  <a:lnTo>
                    <a:pt x="103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09" name="Freeform 38"/>
            <p:cNvSpPr/>
            <p:nvPr/>
          </p:nvSpPr>
          <p:spPr bwMode="auto">
            <a:xfrm>
              <a:off x="1611" y="2352"/>
              <a:ext cx="113" cy="1"/>
            </a:xfrm>
            <a:custGeom>
              <a:avLst/>
              <a:gdLst>
                <a:gd name="T0" fmla="*/ 113 w 113"/>
                <a:gd name="T1" fmla="*/ 1 h 1"/>
                <a:gd name="T2" fmla="*/ 0 w 113"/>
                <a:gd name="T3" fmla="*/ 0 h 1"/>
                <a:gd name="T4" fmla="*/ 0 60000 65536"/>
                <a:gd name="T5" fmla="*/ 0 60000 65536"/>
                <a:gd name="T6" fmla="*/ 0 w 113"/>
                <a:gd name="T7" fmla="*/ 0 h 1"/>
                <a:gd name="T8" fmla="*/ 113 w 11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3" h="1">
                  <a:moveTo>
                    <a:pt x="113" y="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10" name="Line 39"/>
            <p:cNvSpPr>
              <a:spLocks noChangeShapeType="1"/>
            </p:cNvSpPr>
            <p:nvPr/>
          </p:nvSpPr>
          <p:spPr bwMode="auto">
            <a:xfrm rot="5400000">
              <a:off x="247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311" name="Line 40"/>
            <p:cNvSpPr>
              <a:spLocks noChangeShapeType="1"/>
            </p:cNvSpPr>
            <p:nvPr/>
          </p:nvSpPr>
          <p:spPr bwMode="auto">
            <a:xfrm rot="5400000">
              <a:off x="2460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312" name="Freeform 41"/>
            <p:cNvSpPr/>
            <p:nvPr/>
          </p:nvSpPr>
          <p:spPr bwMode="auto">
            <a:xfrm>
              <a:off x="2412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313" name="Line 42"/>
            <p:cNvSpPr>
              <a:spLocks noChangeShapeType="1"/>
            </p:cNvSpPr>
            <p:nvPr/>
          </p:nvSpPr>
          <p:spPr bwMode="auto">
            <a:xfrm rot="-5400000">
              <a:off x="2285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314" name="Line 43"/>
            <p:cNvSpPr>
              <a:spLocks noChangeShapeType="1"/>
            </p:cNvSpPr>
            <p:nvPr/>
          </p:nvSpPr>
          <p:spPr bwMode="auto">
            <a:xfrm rot="-5400000">
              <a:off x="2364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315" name="Freeform 44"/>
            <p:cNvSpPr/>
            <p:nvPr/>
          </p:nvSpPr>
          <p:spPr bwMode="auto">
            <a:xfrm>
              <a:off x="2586" y="2353"/>
              <a:ext cx="109" cy="1"/>
            </a:xfrm>
            <a:custGeom>
              <a:avLst/>
              <a:gdLst>
                <a:gd name="T0" fmla="*/ 0 w 109"/>
                <a:gd name="T1" fmla="*/ 0 h 1"/>
                <a:gd name="T2" fmla="*/ 109 w 109"/>
                <a:gd name="T3" fmla="*/ 0 h 1"/>
                <a:gd name="T4" fmla="*/ 0 60000 65536"/>
                <a:gd name="T5" fmla="*/ 0 60000 65536"/>
                <a:gd name="T6" fmla="*/ 0 w 109"/>
                <a:gd name="T7" fmla="*/ 0 h 1"/>
                <a:gd name="T8" fmla="*/ 109 w 10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9" h="1">
                  <a:moveTo>
                    <a:pt x="0" y="0"/>
                  </a:moveTo>
                  <a:lnTo>
                    <a:pt x="109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16" name="Freeform 45"/>
            <p:cNvSpPr/>
            <p:nvPr/>
          </p:nvSpPr>
          <p:spPr bwMode="auto">
            <a:xfrm>
              <a:off x="2207" y="2353"/>
              <a:ext cx="89" cy="1"/>
            </a:xfrm>
            <a:custGeom>
              <a:avLst/>
              <a:gdLst>
                <a:gd name="T0" fmla="*/ 89 w 89"/>
                <a:gd name="T1" fmla="*/ 0 h 1"/>
                <a:gd name="T2" fmla="*/ 0 w 89"/>
                <a:gd name="T3" fmla="*/ 0 h 1"/>
                <a:gd name="T4" fmla="*/ 0 60000 65536"/>
                <a:gd name="T5" fmla="*/ 0 60000 65536"/>
                <a:gd name="T6" fmla="*/ 0 w 89"/>
                <a:gd name="T7" fmla="*/ 0 h 1"/>
                <a:gd name="T8" fmla="*/ 89 w 8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9" h="1">
                  <a:moveTo>
                    <a:pt x="89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17" name="Line 46"/>
            <p:cNvSpPr>
              <a:spLocks noChangeShapeType="1"/>
            </p:cNvSpPr>
            <p:nvPr/>
          </p:nvSpPr>
          <p:spPr bwMode="auto">
            <a:xfrm rot="5400000">
              <a:off x="3053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318" name="Line 47"/>
            <p:cNvSpPr>
              <a:spLocks noChangeShapeType="1"/>
            </p:cNvSpPr>
            <p:nvPr/>
          </p:nvSpPr>
          <p:spPr bwMode="auto">
            <a:xfrm rot="5400000">
              <a:off x="3036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319" name="Freeform 48"/>
            <p:cNvSpPr/>
            <p:nvPr/>
          </p:nvSpPr>
          <p:spPr bwMode="auto">
            <a:xfrm>
              <a:off x="2988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320" name="Line 49"/>
            <p:cNvSpPr>
              <a:spLocks noChangeShapeType="1"/>
            </p:cNvSpPr>
            <p:nvPr/>
          </p:nvSpPr>
          <p:spPr bwMode="auto">
            <a:xfrm rot="-5400000">
              <a:off x="2861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321" name="Line 50"/>
            <p:cNvSpPr>
              <a:spLocks noChangeShapeType="1"/>
            </p:cNvSpPr>
            <p:nvPr/>
          </p:nvSpPr>
          <p:spPr bwMode="auto">
            <a:xfrm rot="-5400000">
              <a:off x="2940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322" name="Freeform 51"/>
            <p:cNvSpPr/>
            <p:nvPr/>
          </p:nvSpPr>
          <p:spPr bwMode="auto">
            <a:xfrm>
              <a:off x="3162" y="2353"/>
              <a:ext cx="115" cy="1"/>
            </a:xfrm>
            <a:custGeom>
              <a:avLst/>
              <a:gdLst>
                <a:gd name="T0" fmla="*/ 0 w 115"/>
                <a:gd name="T1" fmla="*/ 0 h 1"/>
                <a:gd name="T2" fmla="*/ 115 w 115"/>
                <a:gd name="T3" fmla="*/ 0 h 1"/>
                <a:gd name="T4" fmla="*/ 0 60000 65536"/>
                <a:gd name="T5" fmla="*/ 0 60000 65536"/>
                <a:gd name="T6" fmla="*/ 0 w 115"/>
                <a:gd name="T7" fmla="*/ 0 h 1"/>
                <a:gd name="T8" fmla="*/ 115 w 11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5" h="1">
                  <a:moveTo>
                    <a:pt x="0" y="0"/>
                  </a:moveTo>
                  <a:lnTo>
                    <a:pt x="11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23" name="Freeform 52"/>
            <p:cNvSpPr/>
            <p:nvPr/>
          </p:nvSpPr>
          <p:spPr bwMode="auto">
            <a:xfrm>
              <a:off x="2783" y="2353"/>
              <a:ext cx="90" cy="1"/>
            </a:xfrm>
            <a:custGeom>
              <a:avLst/>
              <a:gdLst>
                <a:gd name="T0" fmla="*/ 90 w 90"/>
                <a:gd name="T1" fmla="*/ 0 h 1"/>
                <a:gd name="T2" fmla="*/ 0 w 90"/>
                <a:gd name="T3" fmla="*/ 0 h 1"/>
                <a:gd name="T4" fmla="*/ 0 60000 65536"/>
                <a:gd name="T5" fmla="*/ 0 60000 65536"/>
                <a:gd name="T6" fmla="*/ 0 w 90"/>
                <a:gd name="T7" fmla="*/ 0 h 1"/>
                <a:gd name="T8" fmla="*/ 90 w 9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0" h="1">
                  <a:moveTo>
                    <a:pt x="90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24" name="Line 53"/>
            <p:cNvSpPr>
              <a:spLocks noChangeShapeType="1"/>
            </p:cNvSpPr>
            <p:nvPr/>
          </p:nvSpPr>
          <p:spPr bwMode="auto">
            <a:xfrm rot="5400000">
              <a:off x="3629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325" name="Line 54"/>
            <p:cNvSpPr>
              <a:spLocks noChangeShapeType="1"/>
            </p:cNvSpPr>
            <p:nvPr/>
          </p:nvSpPr>
          <p:spPr bwMode="auto">
            <a:xfrm rot="5400000">
              <a:off x="3612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326" name="Freeform 55"/>
            <p:cNvSpPr/>
            <p:nvPr/>
          </p:nvSpPr>
          <p:spPr bwMode="auto">
            <a:xfrm>
              <a:off x="3564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327" name="Line 56"/>
            <p:cNvSpPr>
              <a:spLocks noChangeShapeType="1"/>
            </p:cNvSpPr>
            <p:nvPr/>
          </p:nvSpPr>
          <p:spPr bwMode="auto">
            <a:xfrm rot="-5400000">
              <a:off x="343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328" name="Line 57"/>
            <p:cNvSpPr>
              <a:spLocks noChangeShapeType="1"/>
            </p:cNvSpPr>
            <p:nvPr/>
          </p:nvSpPr>
          <p:spPr bwMode="auto">
            <a:xfrm rot="-5400000">
              <a:off x="3516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329" name="Freeform 58"/>
            <p:cNvSpPr/>
            <p:nvPr/>
          </p:nvSpPr>
          <p:spPr bwMode="auto">
            <a:xfrm>
              <a:off x="3751" y="2352"/>
              <a:ext cx="100" cy="1"/>
            </a:xfrm>
            <a:custGeom>
              <a:avLst/>
              <a:gdLst>
                <a:gd name="T0" fmla="*/ 0 w 100"/>
                <a:gd name="T1" fmla="*/ 0 h 1"/>
                <a:gd name="T2" fmla="*/ 100 w 100"/>
                <a:gd name="T3" fmla="*/ 1 h 1"/>
                <a:gd name="T4" fmla="*/ 0 60000 65536"/>
                <a:gd name="T5" fmla="*/ 0 60000 65536"/>
                <a:gd name="T6" fmla="*/ 0 w 100"/>
                <a:gd name="T7" fmla="*/ 0 h 1"/>
                <a:gd name="T8" fmla="*/ 100 w 10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0" h="1">
                  <a:moveTo>
                    <a:pt x="0" y="0"/>
                  </a:moveTo>
                  <a:lnTo>
                    <a:pt x="100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30" name="Freeform 59"/>
            <p:cNvSpPr/>
            <p:nvPr/>
          </p:nvSpPr>
          <p:spPr bwMode="auto">
            <a:xfrm>
              <a:off x="3359" y="2353"/>
              <a:ext cx="108" cy="1"/>
            </a:xfrm>
            <a:custGeom>
              <a:avLst/>
              <a:gdLst>
                <a:gd name="T0" fmla="*/ 108 w 108"/>
                <a:gd name="T1" fmla="*/ 0 h 1"/>
                <a:gd name="T2" fmla="*/ 0 w 108"/>
                <a:gd name="T3" fmla="*/ 0 h 1"/>
                <a:gd name="T4" fmla="*/ 0 60000 65536"/>
                <a:gd name="T5" fmla="*/ 0 60000 65536"/>
                <a:gd name="T6" fmla="*/ 0 w 108"/>
                <a:gd name="T7" fmla="*/ 0 h 1"/>
                <a:gd name="T8" fmla="*/ 108 w 10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8" h="1">
                  <a:moveTo>
                    <a:pt x="108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31" name="Line 60"/>
            <p:cNvSpPr>
              <a:spLocks noChangeShapeType="1"/>
            </p:cNvSpPr>
            <p:nvPr/>
          </p:nvSpPr>
          <p:spPr bwMode="auto">
            <a:xfrm rot="5400000">
              <a:off x="4205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332" name="Line 61"/>
            <p:cNvSpPr>
              <a:spLocks noChangeShapeType="1"/>
            </p:cNvSpPr>
            <p:nvPr/>
          </p:nvSpPr>
          <p:spPr bwMode="auto">
            <a:xfrm rot="5400000">
              <a:off x="4188" y="2696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333" name="Freeform 62"/>
            <p:cNvSpPr/>
            <p:nvPr/>
          </p:nvSpPr>
          <p:spPr bwMode="auto">
            <a:xfrm>
              <a:off x="4140" y="2695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334" name="Line 63"/>
            <p:cNvSpPr>
              <a:spLocks noChangeShapeType="1"/>
            </p:cNvSpPr>
            <p:nvPr/>
          </p:nvSpPr>
          <p:spPr bwMode="auto">
            <a:xfrm rot="-5400000">
              <a:off x="4013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335" name="Line 64"/>
            <p:cNvSpPr>
              <a:spLocks noChangeShapeType="1"/>
            </p:cNvSpPr>
            <p:nvPr/>
          </p:nvSpPr>
          <p:spPr bwMode="auto">
            <a:xfrm rot="-5400000">
              <a:off x="4092" y="270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336" name="Freeform 65"/>
            <p:cNvSpPr/>
            <p:nvPr/>
          </p:nvSpPr>
          <p:spPr bwMode="auto">
            <a:xfrm>
              <a:off x="4336" y="2351"/>
              <a:ext cx="90" cy="2"/>
            </a:xfrm>
            <a:custGeom>
              <a:avLst/>
              <a:gdLst>
                <a:gd name="T0" fmla="*/ 0 w 90"/>
                <a:gd name="T1" fmla="*/ 0 h 2"/>
                <a:gd name="T2" fmla="*/ 90 w 90"/>
                <a:gd name="T3" fmla="*/ 2 h 2"/>
                <a:gd name="T4" fmla="*/ 0 60000 65536"/>
                <a:gd name="T5" fmla="*/ 0 60000 65536"/>
                <a:gd name="T6" fmla="*/ 0 w 90"/>
                <a:gd name="T7" fmla="*/ 0 h 2"/>
                <a:gd name="T8" fmla="*/ 90 w 90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0" h="2">
                  <a:moveTo>
                    <a:pt x="0" y="0"/>
                  </a:moveTo>
                  <a:lnTo>
                    <a:pt x="90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37" name="Freeform 66"/>
            <p:cNvSpPr/>
            <p:nvPr/>
          </p:nvSpPr>
          <p:spPr bwMode="auto">
            <a:xfrm>
              <a:off x="3935" y="2353"/>
              <a:ext cx="104" cy="1"/>
            </a:xfrm>
            <a:custGeom>
              <a:avLst/>
              <a:gdLst>
                <a:gd name="T0" fmla="*/ 104 w 104"/>
                <a:gd name="T1" fmla="*/ 0 h 1"/>
                <a:gd name="T2" fmla="*/ 0 w 104"/>
                <a:gd name="T3" fmla="*/ 0 h 1"/>
                <a:gd name="T4" fmla="*/ 0 60000 65536"/>
                <a:gd name="T5" fmla="*/ 0 60000 65536"/>
                <a:gd name="T6" fmla="*/ 0 w 104"/>
                <a:gd name="T7" fmla="*/ 0 h 1"/>
                <a:gd name="T8" fmla="*/ 104 w 104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4" h="1">
                  <a:moveTo>
                    <a:pt x="104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132338" name="Group 67"/>
            <p:cNvGrpSpPr/>
            <p:nvPr/>
          </p:nvGrpSpPr>
          <p:grpSpPr bwMode="auto">
            <a:xfrm>
              <a:off x="4668" y="2634"/>
              <a:ext cx="192" cy="158"/>
              <a:chOff x="4692" y="2634"/>
              <a:chExt cx="192" cy="158"/>
            </a:xfrm>
          </p:grpSpPr>
          <p:grpSp>
            <p:nvGrpSpPr>
              <p:cNvPr id="132485" name="Group 68"/>
              <p:cNvGrpSpPr/>
              <p:nvPr/>
            </p:nvGrpSpPr>
            <p:grpSpPr bwMode="auto">
              <a:xfrm>
                <a:off x="4836" y="2634"/>
                <a:ext cx="48" cy="158"/>
                <a:chOff x="4836" y="2634"/>
                <a:chExt cx="48" cy="158"/>
              </a:xfrm>
            </p:grpSpPr>
            <p:sp>
              <p:nvSpPr>
                <p:cNvPr id="132490" name="Line 69"/>
                <p:cNvSpPr>
                  <a:spLocks noChangeShapeType="1"/>
                </p:cNvSpPr>
                <p:nvPr/>
              </p:nvSpPr>
              <p:spPr bwMode="auto">
                <a:xfrm rot="5400000">
                  <a:off x="4805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2491" name="Line 70"/>
                <p:cNvSpPr>
                  <a:spLocks noChangeShapeType="1"/>
                </p:cNvSpPr>
                <p:nvPr/>
              </p:nvSpPr>
              <p:spPr bwMode="auto">
                <a:xfrm rot="5400000">
                  <a:off x="4788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32486" name="Freeform 71"/>
              <p:cNvSpPr/>
              <p:nvPr/>
            </p:nvSpPr>
            <p:spPr bwMode="auto">
              <a:xfrm>
                <a:off x="4740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32487" name="Group 72"/>
              <p:cNvGrpSpPr/>
              <p:nvPr/>
            </p:nvGrpSpPr>
            <p:grpSpPr bwMode="auto">
              <a:xfrm>
                <a:off x="4692" y="2634"/>
                <a:ext cx="48" cy="158"/>
                <a:chOff x="4692" y="2634"/>
                <a:chExt cx="48" cy="158"/>
              </a:xfrm>
            </p:grpSpPr>
            <p:sp>
              <p:nvSpPr>
                <p:cNvPr id="132488" name="Line 73"/>
                <p:cNvSpPr>
                  <a:spLocks noChangeShapeType="1"/>
                </p:cNvSpPr>
                <p:nvPr/>
              </p:nvSpPr>
              <p:spPr bwMode="auto">
                <a:xfrm rot="-5400000">
                  <a:off x="4613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2489" name="Line 74"/>
                <p:cNvSpPr>
                  <a:spLocks noChangeShapeType="1"/>
                </p:cNvSpPr>
                <p:nvPr/>
              </p:nvSpPr>
              <p:spPr bwMode="auto">
                <a:xfrm rot="-5400000">
                  <a:off x="4692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32339" name="Freeform 75"/>
            <p:cNvSpPr/>
            <p:nvPr/>
          </p:nvSpPr>
          <p:spPr bwMode="auto">
            <a:xfrm>
              <a:off x="4890" y="2353"/>
              <a:ext cx="107" cy="1"/>
            </a:xfrm>
            <a:custGeom>
              <a:avLst/>
              <a:gdLst>
                <a:gd name="T0" fmla="*/ 0 w 107"/>
                <a:gd name="T1" fmla="*/ 0 h 1"/>
                <a:gd name="T2" fmla="*/ 107 w 107"/>
                <a:gd name="T3" fmla="*/ 0 h 1"/>
                <a:gd name="T4" fmla="*/ 0 60000 65536"/>
                <a:gd name="T5" fmla="*/ 0 60000 65536"/>
                <a:gd name="T6" fmla="*/ 0 w 107"/>
                <a:gd name="T7" fmla="*/ 0 h 1"/>
                <a:gd name="T8" fmla="*/ 107 w 10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7" h="1">
                  <a:moveTo>
                    <a:pt x="0" y="0"/>
                  </a:moveTo>
                  <a:lnTo>
                    <a:pt x="10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40" name="Freeform 76"/>
            <p:cNvSpPr/>
            <p:nvPr/>
          </p:nvSpPr>
          <p:spPr bwMode="auto">
            <a:xfrm>
              <a:off x="4511" y="2353"/>
              <a:ext cx="96" cy="1"/>
            </a:xfrm>
            <a:custGeom>
              <a:avLst/>
              <a:gdLst>
                <a:gd name="T0" fmla="*/ 96 w 96"/>
                <a:gd name="T1" fmla="*/ 0 h 1"/>
                <a:gd name="T2" fmla="*/ 0 w 96"/>
                <a:gd name="T3" fmla="*/ 0 h 1"/>
                <a:gd name="T4" fmla="*/ 0 60000 65536"/>
                <a:gd name="T5" fmla="*/ 0 60000 65536"/>
                <a:gd name="T6" fmla="*/ 0 w 96"/>
                <a:gd name="T7" fmla="*/ 0 h 1"/>
                <a:gd name="T8" fmla="*/ 96 w 9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1">
                  <a:moveTo>
                    <a:pt x="96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132341" name="Group 77"/>
            <p:cNvGrpSpPr/>
            <p:nvPr/>
          </p:nvGrpSpPr>
          <p:grpSpPr bwMode="auto">
            <a:xfrm>
              <a:off x="5235" y="2634"/>
              <a:ext cx="192" cy="158"/>
              <a:chOff x="5259" y="2634"/>
              <a:chExt cx="192" cy="158"/>
            </a:xfrm>
          </p:grpSpPr>
          <p:grpSp>
            <p:nvGrpSpPr>
              <p:cNvPr id="132478" name="Group 78"/>
              <p:cNvGrpSpPr/>
              <p:nvPr/>
            </p:nvGrpSpPr>
            <p:grpSpPr bwMode="auto">
              <a:xfrm>
                <a:off x="5403" y="2634"/>
                <a:ext cx="48" cy="158"/>
                <a:chOff x="5403" y="2634"/>
                <a:chExt cx="48" cy="158"/>
              </a:xfrm>
            </p:grpSpPr>
            <p:sp>
              <p:nvSpPr>
                <p:cNvPr id="132483" name="Line 79"/>
                <p:cNvSpPr>
                  <a:spLocks noChangeShapeType="1"/>
                </p:cNvSpPr>
                <p:nvPr/>
              </p:nvSpPr>
              <p:spPr bwMode="auto">
                <a:xfrm rot="5400000">
                  <a:off x="5372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2484" name="Line 80"/>
                <p:cNvSpPr>
                  <a:spLocks noChangeShapeType="1"/>
                </p:cNvSpPr>
                <p:nvPr/>
              </p:nvSpPr>
              <p:spPr bwMode="auto">
                <a:xfrm rot="5400000">
                  <a:off x="5355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32479" name="Freeform 81"/>
              <p:cNvSpPr/>
              <p:nvPr/>
            </p:nvSpPr>
            <p:spPr bwMode="auto">
              <a:xfrm>
                <a:off x="5307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32480" name="Group 82"/>
              <p:cNvGrpSpPr/>
              <p:nvPr/>
            </p:nvGrpSpPr>
            <p:grpSpPr bwMode="auto">
              <a:xfrm>
                <a:off x="5259" y="2634"/>
                <a:ext cx="48" cy="158"/>
                <a:chOff x="5259" y="2634"/>
                <a:chExt cx="48" cy="158"/>
              </a:xfrm>
            </p:grpSpPr>
            <p:sp>
              <p:nvSpPr>
                <p:cNvPr id="132481" name="Line 83"/>
                <p:cNvSpPr>
                  <a:spLocks noChangeShapeType="1"/>
                </p:cNvSpPr>
                <p:nvPr/>
              </p:nvSpPr>
              <p:spPr bwMode="auto">
                <a:xfrm rot="-5400000">
                  <a:off x="5180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2482" name="Line 84"/>
                <p:cNvSpPr>
                  <a:spLocks noChangeShapeType="1"/>
                </p:cNvSpPr>
                <p:nvPr/>
              </p:nvSpPr>
              <p:spPr bwMode="auto">
                <a:xfrm rot="-5400000">
                  <a:off x="5259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32342" name="Freeform 85"/>
            <p:cNvSpPr/>
            <p:nvPr/>
          </p:nvSpPr>
          <p:spPr bwMode="auto">
            <a:xfrm>
              <a:off x="5467" y="2351"/>
              <a:ext cx="96" cy="2"/>
            </a:xfrm>
            <a:custGeom>
              <a:avLst/>
              <a:gdLst>
                <a:gd name="T0" fmla="*/ 0 w 96"/>
                <a:gd name="T1" fmla="*/ 0 h 2"/>
                <a:gd name="T2" fmla="*/ 96 w 96"/>
                <a:gd name="T3" fmla="*/ 2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0"/>
                  </a:moveTo>
                  <a:lnTo>
                    <a:pt x="96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43" name="Freeform 86"/>
            <p:cNvSpPr/>
            <p:nvPr/>
          </p:nvSpPr>
          <p:spPr bwMode="auto">
            <a:xfrm>
              <a:off x="5078" y="2353"/>
              <a:ext cx="101" cy="1"/>
            </a:xfrm>
            <a:custGeom>
              <a:avLst/>
              <a:gdLst>
                <a:gd name="T0" fmla="*/ 101 w 101"/>
                <a:gd name="T1" fmla="*/ 0 h 1"/>
                <a:gd name="T2" fmla="*/ 0 w 101"/>
                <a:gd name="T3" fmla="*/ 0 h 1"/>
                <a:gd name="T4" fmla="*/ 0 60000 65536"/>
                <a:gd name="T5" fmla="*/ 0 60000 65536"/>
                <a:gd name="T6" fmla="*/ 0 w 101"/>
                <a:gd name="T7" fmla="*/ 0 h 1"/>
                <a:gd name="T8" fmla="*/ 101 w 101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1" h="1">
                  <a:moveTo>
                    <a:pt x="101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44" name="Freeform 87"/>
            <p:cNvSpPr/>
            <p:nvPr/>
          </p:nvSpPr>
          <p:spPr bwMode="auto">
            <a:xfrm>
              <a:off x="908" y="856"/>
              <a:ext cx="4419" cy="1"/>
            </a:xfrm>
            <a:custGeom>
              <a:avLst/>
              <a:gdLst>
                <a:gd name="T0" fmla="*/ 0 w 4419"/>
                <a:gd name="T1" fmla="*/ 1 h 1"/>
                <a:gd name="T2" fmla="*/ 4419 w 4419"/>
                <a:gd name="T3" fmla="*/ 0 h 1"/>
                <a:gd name="T4" fmla="*/ 0 60000 65536"/>
                <a:gd name="T5" fmla="*/ 0 60000 65536"/>
                <a:gd name="T6" fmla="*/ 0 w 4419"/>
                <a:gd name="T7" fmla="*/ 0 h 1"/>
                <a:gd name="T8" fmla="*/ 4419 w 441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9" h="1">
                  <a:moveTo>
                    <a:pt x="0" y="1"/>
                  </a:moveTo>
                  <a:lnTo>
                    <a:pt x="441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45" name="Line 88"/>
            <p:cNvSpPr>
              <a:spLocks noChangeShapeType="1"/>
            </p:cNvSpPr>
            <p:nvPr/>
          </p:nvSpPr>
          <p:spPr bwMode="auto">
            <a:xfrm>
              <a:off x="129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46" name="Line 89"/>
            <p:cNvSpPr>
              <a:spLocks noChangeShapeType="1"/>
            </p:cNvSpPr>
            <p:nvPr/>
          </p:nvSpPr>
          <p:spPr bwMode="auto">
            <a:xfrm>
              <a:off x="186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47" name="Line 90"/>
            <p:cNvSpPr>
              <a:spLocks noChangeShapeType="1"/>
            </p:cNvSpPr>
            <p:nvPr/>
          </p:nvSpPr>
          <p:spPr bwMode="auto">
            <a:xfrm>
              <a:off x="244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48" name="Line 91"/>
            <p:cNvSpPr>
              <a:spLocks noChangeShapeType="1"/>
            </p:cNvSpPr>
            <p:nvPr/>
          </p:nvSpPr>
          <p:spPr bwMode="auto">
            <a:xfrm>
              <a:off x="3020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49" name="Line 92"/>
            <p:cNvSpPr>
              <a:spLocks noChangeShapeType="1"/>
            </p:cNvSpPr>
            <p:nvPr/>
          </p:nvSpPr>
          <p:spPr bwMode="auto">
            <a:xfrm>
              <a:off x="3596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50" name="Line 93"/>
            <p:cNvSpPr>
              <a:spLocks noChangeShapeType="1"/>
            </p:cNvSpPr>
            <p:nvPr/>
          </p:nvSpPr>
          <p:spPr bwMode="auto">
            <a:xfrm>
              <a:off x="417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51" name="Line 94"/>
            <p:cNvSpPr>
              <a:spLocks noChangeShapeType="1"/>
            </p:cNvSpPr>
            <p:nvPr/>
          </p:nvSpPr>
          <p:spPr bwMode="auto">
            <a:xfrm>
              <a:off x="474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52" name="Line 95"/>
            <p:cNvSpPr>
              <a:spLocks noChangeShapeType="1"/>
            </p:cNvSpPr>
            <p:nvPr/>
          </p:nvSpPr>
          <p:spPr bwMode="auto">
            <a:xfrm>
              <a:off x="532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53" name="Freeform 96"/>
            <p:cNvSpPr/>
            <p:nvPr/>
          </p:nvSpPr>
          <p:spPr bwMode="auto">
            <a:xfrm>
              <a:off x="1305" y="2708"/>
              <a:ext cx="1" cy="166"/>
            </a:xfrm>
            <a:custGeom>
              <a:avLst/>
              <a:gdLst>
                <a:gd name="T0" fmla="*/ 1 w 1"/>
                <a:gd name="T1" fmla="*/ 0 h 166"/>
                <a:gd name="T2" fmla="*/ 0 w 1"/>
                <a:gd name="T3" fmla="*/ 166 h 166"/>
                <a:gd name="T4" fmla="*/ 0 60000 65536"/>
                <a:gd name="T5" fmla="*/ 0 60000 65536"/>
                <a:gd name="T6" fmla="*/ 0 w 1"/>
                <a:gd name="T7" fmla="*/ 0 h 166"/>
                <a:gd name="T8" fmla="*/ 1 w 1"/>
                <a:gd name="T9" fmla="*/ 166 h 16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66">
                  <a:moveTo>
                    <a:pt x="1" y="0"/>
                  </a:moveTo>
                  <a:lnTo>
                    <a:pt x="0" y="1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54" name="Freeform 97"/>
            <p:cNvSpPr/>
            <p:nvPr/>
          </p:nvSpPr>
          <p:spPr bwMode="auto">
            <a:xfrm>
              <a:off x="1880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7711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55" name="Freeform 98"/>
            <p:cNvSpPr/>
            <p:nvPr/>
          </p:nvSpPr>
          <p:spPr bwMode="auto">
            <a:xfrm>
              <a:off x="2454" y="2708"/>
              <a:ext cx="4" cy="166"/>
            </a:xfrm>
            <a:custGeom>
              <a:avLst/>
              <a:gdLst>
                <a:gd name="T0" fmla="*/ 4 w 4"/>
                <a:gd name="T1" fmla="*/ 0 h 166"/>
                <a:gd name="T2" fmla="*/ 0 w 4"/>
                <a:gd name="T3" fmla="*/ 166 h 166"/>
                <a:gd name="T4" fmla="*/ 0 60000 65536"/>
                <a:gd name="T5" fmla="*/ 0 60000 65536"/>
                <a:gd name="T6" fmla="*/ 0 w 4"/>
                <a:gd name="T7" fmla="*/ 0 h 166"/>
                <a:gd name="T8" fmla="*/ 4 w 4"/>
                <a:gd name="T9" fmla="*/ 166 h 16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66">
                  <a:moveTo>
                    <a:pt x="4" y="0"/>
                  </a:moveTo>
                  <a:lnTo>
                    <a:pt x="0" y="1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56" name="Freeform 99"/>
            <p:cNvSpPr/>
            <p:nvPr/>
          </p:nvSpPr>
          <p:spPr bwMode="auto">
            <a:xfrm>
              <a:off x="3606" y="2708"/>
              <a:ext cx="2" cy="175"/>
            </a:xfrm>
            <a:custGeom>
              <a:avLst/>
              <a:gdLst>
                <a:gd name="T0" fmla="*/ 2 w 2"/>
                <a:gd name="T1" fmla="*/ 0 h 175"/>
                <a:gd name="T2" fmla="*/ 0 w 2"/>
                <a:gd name="T3" fmla="*/ 175 h 175"/>
                <a:gd name="T4" fmla="*/ 0 60000 65536"/>
                <a:gd name="T5" fmla="*/ 0 60000 65536"/>
                <a:gd name="T6" fmla="*/ 0 w 2"/>
                <a:gd name="T7" fmla="*/ 0 h 175"/>
                <a:gd name="T8" fmla="*/ 2 w 2"/>
                <a:gd name="T9" fmla="*/ 175 h 17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175">
                  <a:moveTo>
                    <a:pt x="2" y="0"/>
                  </a:moveTo>
                  <a:lnTo>
                    <a:pt x="0" y="17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57" name="Freeform 100"/>
            <p:cNvSpPr/>
            <p:nvPr/>
          </p:nvSpPr>
          <p:spPr bwMode="auto">
            <a:xfrm>
              <a:off x="4760" y="2697"/>
              <a:ext cx="1" cy="176"/>
            </a:xfrm>
            <a:custGeom>
              <a:avLst/>
              <a:gdLst>
                <a:gd name="T0" fmla="*/ 0 w 1"/>
                <a:gd name="T1" fmla="*/ 0 h 176"/>
                <a:gd name="T2" fmla="*/ 0 w 1"/>
                <a:gd name="T3" fmla="*/ 176 h 176"/>
                <a:gd name="T4" fmla="*/ 0 60000 65536"/>
                <a:gd name="T5" fmla="*/ 0 60000 65536"/>
                <a:gd name="T6" fmla="*/ 0 w 1"/>
                <a:gd name="T7" fmla="*/ 0 h 176"/>
                <a:gd name="T8" fmla="*/ 1 w 1"/>
                <a:gd name="T9" fmla="*/ 176 h 17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76">
                  <a:moveTo>
                    <a:pt x="0" y="0"/>
                  </a:moveTo>
                  <a:lnTo>
                    <a:pt x="0" y="17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58" name="Freeform 101"/>
            <p:cNvSpPr/>
            <p:nvPr/>
          </p:nvSpPr>
          <p:spPr bwMode="auto">
            <a:xfrm>
              <a:off x="908" y="1480"/>
              <a:ext cx="4422" cy="1"/>
            </a:xfrm>
            <a:custGeom>
              <a:avLst/>
              <a:gdLst>
                <a:gd name="T0" fmla="*/ 0 w 4422"/>
                <a:gd name="T1" fmla="*/ 1 h 1"/>
                <a:gd name="T2" fmla="*/ 4422 w 4422"/>
                <a:gd name="T3" fmla="*/ 0 h 1"/>
                <a:gd name="T4" fmla="*/ 0 60000 65536"/>
                <a:gd name="T5" fmla="*/ 0 60000 65536"/>
                <a:gd name="T6" fmla="*/ 0 w 4422"/>
                <a:gd name="T7" fmla="*/ 0 h 1"/>
                <a:gd name="T8" fmla="*/ 4422 w 442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22" h="1">
                  <a:moveTo>
                    <a:pt x="0" y="1"/>
                  </a:moveTo>
                  <a:lnTo>
                    <a:pt x="442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59" name="Line 102"/>
            <p:cNvSpPr>
              <a:spLocks noChangeShapeType="1"/>
            </p:cNvSpPr>
            <p:nvPr/>
          </p:nvSpPr>
          <p:spPr bwMode="auto">
            <a:xfrm>
              <a:off x="129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60" name="Line 103"/>
            <p:cNvSpPr>
              <a:spLocks noChangeShapeType="1"/>
            </p:cNvSpPr>
            <p:nvPr/>
          </p:nvSpPr>
          <p:spPr bwMode="auto">
            <a:xfrm>
              <a:off x="186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61" name="Line 104"/>
            <p:cNvSpPr>
              <a:spLocks noChangeShapeType="1"/>
            </p:cNvSpPr>
            <p:nvPr/>
          </p:nvSpPr>
          <p:spPr bwMode="auto">
            <a:xfrm>
              <a:off x="244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62" name="Line 105"/>
            <p:cNvSpPr>
              <a:spLocks noChangeShapeType="1"/>
            </p:cNvSpPr>
            <p:nvPr/>
          </p:nvSpPr>
          <p:spPr bwMode="auto">
            <a:xfrm>
              <a:off x="3020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63" name="Line 106"/>
            <p:cNvSpPr>
              <a:spLocks noChangeShapeType="1"/>
            </p:cNvSpPr>
            <p:nvPr/>
          </p:nvSpPr>
          <p:spPr bwMode="auto">
            <a:xfrm>
              <a:off x="3596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64" name="Line 107"/>
            <p:cNvSpPr>
              <a:spLocks noChangeShapeType="1"/>
            </p:cNvSpPr>
            <p:nvPr/>
          </p:nvSpPr>
          <p:spPr bwMode="auto">
            <a:xfrm>
              <a:off x="417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65" name="Line 108"/>
            <p:cNvSpPr>
              <a:spLocks noChangeShapeType="1"/>
            </p:cNvSpPr>
            <p:nvPr/>
          </p:nvSpPr>
          <p:spPr bwMode="auto">
            <a:xfrm>
              <a:off x="474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66" name="Line 109"/>
            <p:cNvSpPr>
              <a:spLocks noChangeShapeType="1"/>
            </p:cNvSpPr>
            <p:nvPr/>
          </p:nvSpPr>
          <p:spPr bwMode="auto">
            <a:xfrm>
              <a:off x="532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67" name="Freeform 110"/>
            <p:cNvSpPr/>
            <p:nvPr/>
          </p:nvSpPr>
          <p:spPr bwMode="auto">
            <a:xfrm>
              <a:off x="908" y="2056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  <a:gd name="T6" fmla="*/ 0 w 4418"/>
                <a:gd name="T7" fmla="*/ 0 h 1"/>
                <a:gd name="T8" fmla="*/ 4418 w 441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68" name="Line 111"/>
            <p:cNvSpPr>
              <a:spLocks noChangeShapeType="1"/>
            </p:cNvSpPr>
            <p:nvPr/>
          </p:nvSpPr>
          <p:spPr bwMode="auto">
            <a:xfrm>
              <a:off x="129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69" name="Line 112"/>
            <p:cNvSpPr>
              <a:spLocks noChangeShapeType="1"/>
            </p:cNvSpPr>
            <p:nvPr/>
          </p:nvSpPr>
          <p:spPr bwMode="auto">
            <a:xfrm>
              <a:off x="186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70" name="Line 113"/>
            <p:cNvSpPr>
              <a:spLocks noChangeShapeType="1"/>
            </p:cNvSpPr>
            <p:nvPr/>
          </p:nvSpPr>
          <p:spPr bwMode="auto">
            <a:xfrm>
              <a:off x="244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71" name="Line 114"/>
            <p:cNvSpPr>
              <a:spLocks noChangeShapeType="1"/>
            </p:cNvSpPr>
            <p:nvPr/>
          </p:nvSpPr>
          <p:spPr bwMode="auto">
            <a:xfrm>
              <a:off x="3020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72" name="Line 115"/>
            <p:cNvSpPr>
              <a:spLocks noChangeShapeType="1"/>
            </p:cNvSpPr>
            <p:nvPr/>
          </p:nvSpPr>
          <p:spPr bwMode="auto">
            <a:xfrm>
              <a:off x="3596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73" name="Line 116"/>
            <p:cNvSpPr>
              <a:spLocks noChangeShapeType="1"/>
            </p:cNvSpPr>
            <p:nvPr/>
          </p:nvSpPr>
          <p:spPr bwMode="auto">
            <a:xfrm>
              <a:off x="417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74" name="Line 117"/>
            <p:cNvSpPr>
              <a:spLocks noChangeShapeType="1"/>
            </p:cNvSpPr>
            <p:nvPr/>
          </p:nvSpPr>
          <p:spPr bwMode="auto">
            <a:xfrm>
              <a:off x="474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75" name="Line 118"/>
            <p:cNvSpPr>
              <a:spLocks noChangeShapeType="1"/>
            </p:cNvSpPr>
            <p:nvPr/>
          </p:nvSpPr>
          <p:spPr bwMode="auto">
            <a:xfrm>
              <a:off x="532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76" name="Freeform 119"/>
            <p:cNvSpPr/>
            <p:nvPr/>
          </p:nvSpPr>
          <p:spPr bwMode="auto">
            <a:xfrm>
              <a:off x="909" y="2879"/>
              <a:ext cx="3860" cy="1"/>
            </a:xfrm>
            <a:custGeom>
              <a:avLst/>
              <a:gdLst>
                <a:gd name="T0" fmla="*/ 0 w 3860"/>
                <a:gd name="T1" fmla="*/ 1 h 1"/>
                <a:gd name="T2" fmla="*/ 3860 w 3860"/>
                <a:gd name="T3" fmla="*/ 0 h 1"/>
                <a:gd name="T4" fmla="*/ 0 60000 65536"/>
                <a:gd name="T5" fmla="*/ 0 60000 65536"/>
                <a:gd name="T6" fmla="*/ 0 w 3860"/>
                <a:gd name="T7" fmla="*/ 0 h 1"/>
                <a:gd name="T8" fmla="*/ 3860 w 386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860" h="1">
                  <a:moveTo>
                    <a:pt x="0" y="1"/>
                  </a:moveTo>
                  <a:lnTo>
                    <a:pt x="386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77" name="Freeform 120"/>
            <p:cNvSpPr/>
            <p:nvPr/>
          </p:nvSpPr>
          <p:spPr bwMode="auto">
            <a:xfrm>
              <a:off x="912" y="3209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  <a:gd name="T6" fmla="*/ 0 w 4418"/>
                <a:gd name="T7" fmla="*/ 0 h 1"/>
                <a:gd name="T8" fmla="*/ 4418 w 441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78" name="Rectangle 121"/>
            <p:cNvSpPr>
              <a:spLocks noChangeArrowheads="1"/>
            </p:cNvSpPr>
            <p:nvPr/>
          </p:nvSpPr>
          <p:spPr bwMode="auto">
            <a:xfrm>
              <a:off x="114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32379" name="Text Box 122"/>
            <p:cNvSpPr txBox="1">
              <a:spLocks noChangeArrowheads="1"/>
            </p:cNvSpPr>
            <p:nvPr/>
          </p:nvSpPr>
          <p:spPr bwMode="auto">
            <a:xfrm>
              <a:off x="1172" y="3576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</a:p>
          </p:txBody>
        </p:sp>
        <p:sp>
          <p:nvSpPr>
            <p:cNvPr id="132380" name="Freeform 123"/>
            <p:cNvSpPr/>
            <p:nvPr/>
          </p:nvSpPr>
          <p:spPr bwMode="auto">
            <a:xfrm>
              <a:off x="1402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81" name="Freeform 124"/>
            <p:cNvSpPr/>
            <p:nvPr/>
          </p:nvSpPr>
          <p:spPr bwMode="auto">
            <a:xfrm>
              <a:off x="1613" y="1211"/>
              <a:ext cx="169" cy="1469"/>
            </a:xfrm>
            <a:custGeom>
              <a:avLst/>
              <a:gdLst>
                <a:gd name="T0" fmla="*/ 169 w 169"/>
                <a:gd name="T1" fmla="*/ 1468 h 1469"/>
                <a:gd name="T2" fmla="*/ 0 w 169"/>
                <a:gd name="T3" fmla="*/ 1469 h 1469"/>
                <a:gd name="T4" fmla="*/ 1 w 169"/>
                <a:gd name="T5" fmla="*/ 0 h 1469"/>
                <a:gd name="T6" fmla="*/ 105 w 16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9"/>
                <a:gd name="T13" fmla="*/ 0 h 1469"/>
                <a:gd name="T14" fmla="*/ 169 w 169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9" h="1469">
                  <a:moveTo>
                    <a:pt x="169" y="1468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82" name="Freeform 125"/>
            <p:cNvSpPr/>
            <p:nvPr/>
          </p:nvSpPr>
          <p:spPr bwMode="auto">
            <a:xfrm>
              <a:off x="1967" y="1211"/>
              <a:ext cx="141" cy="1466"/>
            </a:xfrm>
            <a:custGeom>
              <a:avLst/>
              <a:gdLst>
                <a:gd name="T0" fmla="*/ 38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1"/>
                <a:gd name="T13" fmla="*/ 0 h 1466"/>
                <a:gd name="T14" fmla="*/ 141 w 141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1" h="1466">
                  <a:moveTo>
                    <a:pt x="38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83" name="Freeform 126"/>
            <p:cNvSpPr/>
            <p:nvPr/>
          </p:nvSpPr>
          <p:spPr bwMode="auto">
            <a:xfrm>
              <a:off x="2208" y="1211"/>
              <a:ext cx="155" cy="1467"/>
            </a:xfrm>
            <a:custGeom>
              <a:avLst/>
              <a:gdLst>
                <a:gd name="T0" fmla="*/ 155 w 155"/>
                <a:gd name="T1" fmla="*/ 1467 h 1467"/>
                <a:gd name="T2" fmla="*/ 3 w 155"/>
                <a:gd name="T3" fmla="*/ 1467 h 1467"/>
                <a:gd name="T4" fmla="*/ 0 w 155"/>
                <a:gd name="T5" fmla="*/ 1 h 1467"/>
                <a:gd name="T6" fmla="*/ 89 w 155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5"/>
                <a:gd name="T13" fmla="*/ 0 h 1467"/>
                <a:gd name="T14" fmla="*/ 155 w 155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5" h="1467">
                  <a:moveTo>
                    <a:pt x="155" y="1467"/>
                  </a:moveTo>
                  <a:lnTo>
                    <a:pt x="3" y="1467"/>
                  </a:lnTo>
                  <a:lnTo>
                    <a:pt x="0" y="1"/>
                  </a:lnTo>
                  <a:lnTo>
                    <a:pt x="89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84" name="Freeform 127"/>
            <p:cNvSpPr/>
            <p:nvPr/>
          </p:nvSpPr>
          <p:spPr bwMode="auto">
            <a:xfrm>
              <a:off x="2557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4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2"/>
                <a:gd name="T13" fmla="*/ 0 h 1466"/>
                <a:gd name="T14" fmla="*/ 142 w 142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4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85" name="Freeform 128"/>
            <p:cNvSpPr/>
            <p:nvPr/>
          </p:nvSpPr>
          <p:spPr bwMode="auto">
            <a:xfrm>
              <a:off x="2787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77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7"/>
                <a:gd name="T14" fmla="*/ 152 w 152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7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86" name="Freeform 129"/>
            <p:cNvSpPr/>
            <p:nvPr/>
          </p:nvSpPr>
          <p:spPr bwMode="auto">
            <a:xfrm>
              <a:off x="3130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87" name="Freeform 130"/>
            <p:cNvSpPr/>
            <p:nvPr/>
          </p:nvSpPr>
          <p:spPr bwMode="auto">
            <a:xfrm>
              <a:off x="3360" y="1209"/>
              <a:ext cx="155" cy="1469"/>
            </a:xfrm>
            <a:custGeom>
              <a:avLst/>
              <a:gdLst>
                <a:gd name="T0" fmla="*/ 155 w 155"/>
                <a:gd name="T1" fmla="*/ 1469 h 1469"/>
                <a:gd name="T2" fmla="*/ 3 w 155"/>
                <a:gd name="T3" fmla="*/ 1469 h 1469"/>
                <a:gd name="T4" fmla="*/ 0 w 155"/>
                <a:gd name="T5" fmla="*/ 0 h 1469"/>
                <a:gd name="T6" fmla="*/ 103 w 155"/>
                <a:gd name="T7" fmla="*/ 2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5"/>
                <a:gd name="T13" fmla="*/ 0 h 1469"/>
                <a:gd name="T14" fmla="*/ 155 w 155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5" h="1469">
                  <a:moveTo>
                    <a:pt x="155" y="1469"/>
                  </a:moveTo>
                  <a:lnTo>
                    <a:pt x="3" y="1469"/>
                  </a:lnTo>
                  <a:lnTo>
                    <a:pt x="0" y="0"/>
                  </a:lnTo>
                  <a:lnTo>
                    <a:pt x="103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88" name="Freeform 131"/>
            <p:cNvSpPr/>
            <p:nvPr/>
          </p:nvSpPr>
          <p:spPr bwMode="auto">
            <a:xfrm>
              <a:off x="3710" y="1211"/>
              <a:ext cx="141" cy="1466"/>
            </a:xfrm>
            <a:custGeom>
              <a:avLst/>
              <a:gdLst>
                <a:gd name="T0" fmla="*/ 42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1"/>
                <a:gd name="T13" fmla="*/ 0 h 1466"/>
                <a:gd name="T14" fmla="*/ 141 w 141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1" h="1466">
                  <a:moveTo>
                    <a:pt x="42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89" name="Freeform 132"/>
            <p:cNvSpPr/>
            <p:nvPr/>
          </p:nvSpPr>
          <p:spPr bwMode="auto">
            <a:xfrm>
              <a:off x="3939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103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7"/>
                <a:gd name="T14" fmla="*/ 152 w 152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103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90" name="Freeform 133"/>
            <p:cNvSpPr/>
            <p:nvPr/>
          </p:nvSpPr>
          <p:spPr bwMode="auto">
            <a:xfrm>
              <a:off x="4280" y="1211"/>
              <a:ext cx="147" cy="1466"/>
            </a:xfrm>
            <a:custGeom>
              <a:avLst/>
              <a:gdLst>
                <a:gd name="T0" fmla="*/ 51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7"/>
                <a:gd name="T13" fmla="*/ 0 h 1466"/>
                <a:gd name="T14" fmla="*/ 147 w 147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7" h="1466">
                  <a:moveTo>
                    <a:pt x="51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91" name="Freeform 134"/>
            <p:cNvSpPr/>
            <p:nvPr/>
          </p:nvSpPr>
          <p:spPr bwMode="auto">
            <a:xfrm>
              <a:off x="4509" y="1211"/>
              <a:ext cx="158" cy="1467"/>
            </a:xfrm>
            <a:custGeom>
              <a:avLst/>
              <a:gdLst>
                <a:gd name="T0" fmla="*/ 158 w 158"/>
                <a:gd name="T1" fmla="*/ 1467 h 1467"/>
                <a:gd name="T2" fmla="*/ 0 w 158"/>
                <a:gd name="T3" fmla="*/ 1467 h 1467"/>
                <a:gd name="T4" fmla="*/ 0 w 158"/>
                <a:gd name="T5" fmla="*/ 0 h 1467"/>
                <a:gd name="T6" fmla="*/ 95 w 158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8"/>
                <a:gd name="T13" fmla="*/ 0 h 1467"/>
                <a:gd name="T14" fmla="*/ 158 w 158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8" h="1467">
                  <a:moveTo>
                    <a:pt x="158" y="1467"/>
                  </a:moveTo>
                  <a:lnTo>
                    <a:pt x="0" y="1467"/>
                  </a:lnTo>
                  <a:lnTo>
                    <a:pt x="0" y="0"/>
                  </a:lnTo>
                  <a:lnTo>
                    <a:pt x="9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92" name="Freeform 135"/>
            <p:cNvSpPr/>
            <p:nvPr/>
          </p:nvSpPr>
          <p:spPr bwMode="auto">
            <a:xfrm>
              <a:off x="4861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2"/>
                <a:gd name="T13" fmla="*/ 0 h 1466"/>
                <a:gd name="T14" fmla="*/ 142 w 142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93" name="Freeform 136"/>
            <p:cNvSpPr/>
            <p:nvPr/>
          </p:nvSpPr>
          <p:spPr bwMode="auto">
            <a:xfrm>
              <a:off x="5069" y="1211"/>
              <a:ext cx="159" cy="1469"/>
            </a:xfrm>
            <a:custGeom>
              <a:avLst/>
              <a:gdLst>
                <a:gd name="T0" fmla="*/ 159 w 159"/>
                <a:gd name="T1" fmla="*/ 1467 h 1469"/>
                <a:gd name="T2" fmla="*/ 0 w 159"/>
                <a:gd name="T3" fmla="*/ 1469 h 1469"/>
                <a:gd name="T4" fmla="*/ 1 w 159"/>
                <a:gd name="T5" fmla="*/ 0 h 1469"/>
                <a:gd name="T6" fmla="*/ 104 w 15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9"/>
                <a:gd name="T13" fmla="*/ 0 h 1469"/>
                <a:gd name="T14" fmla="*/ 159 w 159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9" h="1469">
                  <a:moveTo>
                    <a:pt x="159" y="1467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4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94" name="Freeform 137"/>
            <p:cNvSpPr/>
            <p:nvPr/>
          </p:nvSpPr>
          <p:spPr bwMode="auto">
            <a:xfrm>
              <a:off x="5417" y="1211"/>
              <a:ext cx="147" cy="1466"/>
            </a:xfrm>
            <a:custGeom>
              <a:avLst/>
              <a:gdLst>
                <a:gd name="T0" fmla="*/ 47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7"/>
                <a:gd name="T13" fmla="*/ 0 h 1466"/>
                <a:gd name="T14" fmla="*/ 147 w 147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7" h="1466">
                  <a:moveTo>
                    <a:pt x="47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95" name="Freeform 138"/>
            <p:cNvSpPr/>
            <p:nvPr/>
          </p:nvSpPr>
          <p:spPr bwMode="auto">
            <a:xfrm>
              <a:off x="1055" y="2738"/>
              <a:ext cx="730" cy="660"/>
            </a:xfrm>
            <a:custGeom>
              <a:avLst/>
              <a:gdLst>
                <a:gd name="T0" fmla="*/ 160 w 730"/>
                <a:gd name="T1" fmla="*/ 4 h 660"/>
                <a:gd name="T2" fmla="*/ 0 w 730"/>
                <a:gd name="T3" fmla="*/ 3 h 660"/>
                <a:gd name="T4" fmla="*/ 0 w 730"/>
                <a:gd name="T5" fmla="*/ 660 h 660"/>
                <a:gd name="T6" fmla="*/ 558 w 730"/>
                <a:gd name="T7" fmla="*/ 657 h 660"/>
                <a:gd name="T8" fmla="*/ 558 w 730"/>
                <a:gd name="T9" fmla="*/ 0 h 660"/>
                <a:gd name="T10" fmla="*/ 730 w 730"/>
                <a:gd name="T11" fmla="*/ 1 h 6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30"/>
                <a:gd name="T19" fmla="*/ 0 h 660"/>
                <a:gd name="T20" fmla="*/ 730 w 730"/>
                <a:gd name="T21" fmla="*/ 660 h 6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30" h="660">
                  <a:moveTo>
                    <a:pt x="160" y="4"/>
                  </a:moveTo>
                  <a:lnTo>
                    <a:pt x="0" y="3"/>
                  </a:lnTo>
                  <a:lnTo>
                    <a:pt x="0" y="660"/>
                  </a:lnTo>
                  <a:lnTo>
                    <a:pt x="558" y="657"/>
                  </a:lnTo>
                  <a:lnTo>
                    <a:pt x="558" y="0"/>
                  </a:lnTo>
                  <a:lnTo>
                    <a:pt x="730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96" name="Freeform 139"/>
            <p:cNvSpPr/>
            <p:nvPr/>
          </p:nvSpPr>
          <p:spPr bwMode="auto">
            <a:xfrm>
              <a:off x="2207" y="2744"/>
              <a:ext cx="729" cy="658"/>
            </a:xfrm>
            <a:custGeom>
              <a:avLst/>
              <a:gdLst>
                <a:gd name="T0" fmla="*/ 153 w 729"/>
                <a:gd name="T1" fmla="*/ 0 h 658"/>
                <a:gd name="T2" fmla="*/ 0 w 729"/>
                <a:gd name="T3" fmla="*/ 0 h 658"/>
                <a:gd name="T4" fmla="*/ 0 w 729"/>
                <a:gd name="T5" fmla="*/ 657 h 658"/>
                <a:gd name="T6" fmla="*/ 583 w 729"/>
                <a:gd name="T7" fmla="*/ 658 h 658"/>
                <a:gd name="T8" fmla="*/ 582 w 729"/>
                <a:gd name="T9" fmla="*/ 3 h 658"/>
                <a:gd name="T10" fmla="*/ 729 w 729"/>
                <a:gd name="T11" fmla="*/ 3 h 6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8"/>
                <a:gd name="T20" fmla="*/ 729 w 729"/>
                <a:gd name="T21" fmla="*/ 658 h 65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8">
                  <a:moveTo>
                    <a:pt x="153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83" y="658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97" name="Freeform 140"/>
            <p:cNvSpPr/>
            <p:nvPr/>
          </p:nvSpPr>
          <p:spPr bwMode="auto">
            <a:xfrm>
              <a:off x="3356" y="2744"/>
              <a:ext cx="729" cy="657"/>
            </a:xfrm>
            <a:custGeom>
              <a:avLst/>
              <a:gdLst>
                <a:gd name="T0" fmla="*/ 158 w 729"/>
                <a:gd name="T1" fmla="*/ 0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7"/>
                <a:gd name="T20" fmla="*/ 729 w 729"/>
                <a:gd name="T21" fmla="*/ 657 h 65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7">
                  <a:moveTo>
                    <a:pt x="158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98" name="Freeform 141"/>
            <p:cNvSpPr/>
            <p:nvPr/>
          </p:nvSpPr>
          <p:spPr bwMode="auto">
            <a:xfrm>
              <a:off x="4508" y="2744"/>
              <a:ext cx="729" cy="657"/>
            </a:xfrm>
            <a:custGeom>
              <a:avLst/>
              <a:gdLst>
                <a:gd name="T0" fmla="*/ 161 w 729"/>
                <a:gd name="T1" fmla="*/ 2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7"/>
                <a:gd name="T20" fmla="*/ 729 w 729"/>
                <a:gd name="T21" fmla="*/ 657 h 65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7">
                  <a:moveTo>
                    <a:pt x="161" y="2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399" name="Freeform 142"/>
            <p:cNvSpPr/>
            <p:nvPr/>
          </p:nvSpPr>
          <p:spPr bwMode="auto">
            <a:xfrm>
              <a:off x="1400" y="2735"/>
              <a:ext cx="708" cy="571"/>
            </a:xfrm>
            <a:custGeom>
              <a:avLst/>
              <a:gdLst>
                <a:gd name="T0" fmla="*/ 0 w 708"/>
                <a:gd name="T1" fmla="*/ 0 h 571"/>
                <a:gd name="T2" fmla="*/ 132 w 708"/>
                <a:gd name="T3" fmla="*/ 0 h 571"/>
                <a:gd name="T4" fmla="*/ 133 w 708"/>
                <a:gd name="T5" fmla="*/ 571 h 571"/>
                <a:gd name="T6" fmla="*/ 708 w 708"/>
                <a:gd name="T7" fmla="*/ 570 h 571"/>
                <a:gd name="T8" fmla="*/ 708 w 708"/>
                <a:gd name="T9" fmla="*/ 9 h 571"/>
                <a:gd name="T10" fmla="*/ 573 w 708"/>
                <a:gd name="T11" fmla="*/ 9 h 5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08"/>
                <a:gd name="T19" fmla="*/ 0 h 571"/>
                <a:gd name="T20" fmla="*/ 708 w 708"/>
                <a:gd name="T21" fmla="*/ 571 h 57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08" h="571">
                  <a:moveTo>
                    <a:pt x="0" y="0"/>
                  </a:moveTo>
                  <a:lnTo>
                    <a:pt x="132" y="0"/>
                  </a:lnTo>
                  <a:lnTo>
                    <a:pt x="133" y="571"/>
                  </a:lnTo>
                  <a:lnTo>
                    <a:pt x="708" y="570"/>
                  </a:lnTo>
                  <a:lnTo>
                    <a:pt x="708" y="9"/>
                  </a:lnTo>
                  <a:lnTo>
                    <a:pt x="573" y="9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00" name="Freeform 143"/>
            <p:cNvSpPr/>
            <p:nvPr/>
          </p:nvSpPr>
          <p:spPr bwMode="auto">
            <a:xfrm>
              <a:off x="2552" y="2735"/>
              <a:ext cx="726" cy="567"/>
            </a:xfrm>
            <a:custGeom>
              <a:avLst/>
              <a:gdLst>
                <a:gd name="T0" fmla="*/ 0 w 726"/>
                <a:gd name="T1" fmla="*/ 0 h 567"/>
                <a:gd name="T2" fmla="*/ 148 w 726"/>
                <a:gd name="T3" fmla="*/ 1 h 567"/>
                <a:gd name="T4" fmla="*/ 147 w 726"/>
                <a:gd name="T5" fmla="*/ 567 h 567"/>
                <a:gd name="T6" fmla="*/ 726 w 726"/>
                <a:gd name="T7" fmla="*/ 567 h 567"/>
                <a:gd name="T8" fmla="*/ 726 w 726"/>
                <a:gd name="T9" fmla="*/ 6 h 567"/>
                <a:gd name="T10" fmla="*/ 579 w 726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6"/>
                <a:gd name="T19" fmla="*/ 0 h 567"/>
                <a:gd name="T20" fmla="*/ 726 w 726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6" h="567">
                  <a:moveTo>
                    <a:pt x="0" y="0"/>
                  </a:moveTo>
                  <a:lnTo>
                    <a:pt x="148" y="1"/>
                  </a:lnTo>
                  <a:lnTo>
                    <a:pt x="147" y="567"/>
                  </a:lnTo>
                  <a:lnTo>
                    <a:pt x="726" y="567"/>
                  </a:lnTo>
                  <a:lnTo>
                    <a:pt x="726" y="6"/>
                  </a:lnTo>
                  <a:lnTo>
                    <a:pt x="579" y="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01" name="Freeform 144"/>
            <p:cNvSpPr/>
            <p:nvPr/>
          </p:nvSpPr>
          <p:spPr bwMode="auto">
            <a:xfrm>
              <a:off x="3704" y="2738"/>
              <a:ext cx="714" cy="567"/>
            </a:xfrm>
            <a:custGeom>
              <a:avLst/>
              <a:gdLst>
                <a:gd name="T0" fmla="*/ 0 w 714"/>
                <a:gd name="T1" fmla="*/ 0 h 567"/>
                <a:gd name="T2" fmla="*/ 136 w 714"/>
                <a:gd name="T3" fmla="*/ 1 h 567"/>
                <a:gd name="T4" fmla="*/ 135 w 714"/>
                <a:gd name="T5" fmla="*/ 567 h 567"/>
                <a:gd name="T6" fmla="*/ 714 w 714"/>
                <a:gd name="T7" fmla="*/ 567 h 567"/>
                <a:gd name="T8" fmla="*/ 714 w 714"/>
                <a:gd name="T9" fmla="*/ 6 h 567"/>
                <a:gd name="T10" fmla="*/ 576 w 714"/>
                <a:gd name="T11" fmla="*/ 5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4"/>
                <a:gd name="T19" fmla="*/ 0 h 567"/>
                <a:gd name="T20" fmla="*/ 714 w 714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4" h="567">
                  <a:moveTo>
                    <a:pt x="0" y="0"/>
                  </a:moveTo>
                  <a:lnTo>
                    <a:pt x="136" y="1"/>
                  </a:lnTo>
                  <a:lnTo>
                    <a:pt x="135" y="567"/>
                  </a:lnTo>
                  <a:lnTo>
                    <a:pt x="714" y="567"/>
                  </a:lnTo>
                  <a:lnTo>
                    <a:pt x="714" y="6"/>
                  </a:lnTo>
                  <a:lnTo>
                    <a:pt x="576" y="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02" name="Freeform 145"/>
            <p:cNvSpPr/>
            <p:nvPr/>
          </p:nvSpPr>
          <p:spPr bwMode="auto">
            <a:xfrm>
              <a:off x="4859" y="2738"/>
              <a:ext cx="711" cy="567"/>
            </a:xfrm>
            <a:custGeom>
              <a:avLst/>
              <a:gdLst>
                <a:gd name="T0" fmla="*/ 0 w 711"/>
                <a:gd name="T1" fmla="*/ 0 h 567"/>
                <a:gd name="T2" fmla="*/ 130 w 711"/>
                <a:gd name="T3" fmla="*/ 1 h 567"/>
                <a:gd name="T4" fmla="*/ 132 w 711"/>
                <a:gd name="T5" fmla="*/ 567 h 567"/>
                <a:gd name="T6" fmla="*/ 711 w 711"/>
                <a:gd name="T7" fmla="*/ 567 h 567"/>
                <a:gd name="T8" fmla="*/ 711 w 711"/>
                <a:gd name="T9" fmla="*/ 6 h 567"/>
                <a:gd name="T10" fmla="*/ 564 w 711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1"/>
                <a:gd name="T19" fmla="*/ 0 h 567"/>
                <a:gd name="T20" fmla="*/ 711 w 711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1" h="567">
                  <a:moveTo>
                    <a:pt x="0" y="0"/>
                  </a:moveTo>
                  <a:lnTo>
                    <a:pt x="130" y="1"/>
                  </a:lnTo>
                  <a:lnTo>
                    <a:pt x="132" y="567"/>
                  </a:lnTo>
                  <a:lnTo>
                    <a:pt x="711" y="567"/>
                  </a:lnTo>
                  <a:lnTo>
                    <a:pt x="711" y="6"/>
                  </a:lnTo>
                  <a:lnTo>
                    <a:pt x="564" y="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03" name="Freeform 146"/>
            <p:cNvSpPr/>
            <p:nvPr/>
          </p:nvSpPr>
          <p:spPr bwMode="auto">
            <a:xfrm>
              <a:off x="1322" y="3398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04" name="Freeform 147"/>
            <p:cNvSpPr/>
            <p:nvPr/>
          </p:nvSpPr>
          <p:spPr bwMode="auto">
            <a:xfrm>
              <a:off x="2491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05" name="Freeform 148"/>
            <p:cNvSpPr/>
            <p:nvPr/>
          </p:nvSpPr>
          <p:spPr bwMode="auto">
            <a:xfrm>
              <a:off x="3643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06" name="Freeform 149"/>
            <p:cNvSpPr/>
            <p:nvPr/>
          </p:nvSpPr>
          <p:spPr bwMode="auto">
            <a:xfrm>
              <a:off x="4795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07" name="Freeform 150"/>
            <p:cNvSpPr/>
            <p:nvPr/>
          </p:nvSpPr>
          <p:spPr bwMode="auto">
            <a:xfrm>
              <a:off x="5276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08" name="Freeform 151"/>
            <p:cNvSpPr/>
            <p:nvPr/>
          </p:nvSpPr>
          <p:spPr bwMode="auto">
            <a:xfrm>
              <a:off x="4124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09" name="Freeform 152"/>
            <p:cNvSpPr/>
            <p:nvPr/>
          </p:nvSpPr>
          <p:spPr bwMode="auto">
            <a:xfrm>
              <a:off x="2972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10" name="Freeform 153"/>
            <p:cNvSpPr/>
            <p:nvPr/>
          </p:nvSpPr>
          <p:spPr bwMode="auto">
            <a:xfrm>
              <a:off x="1819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11" name="Freeform 154"/>
            <p:cNvSpPr/>
            <p:nvPr/>
          </p:nvSpPr>
          <p:spPr bwMode="auto">
            <a:xfrm>
              <a:off x="956" y="4025"/>
              <a:ext cx="4317" cy="1"/>
            </a:xfrm>
            <a:custGeom>
              <a:avLst/>
              <a:gdLst>
                <a:gd name="T0" fmla="*/ 0 w 4317"/>
                <a:gd name="T1" fmla="*/ 0 h 1"/>
                <a:gd name="T2" fmla="*/ 4317 w 4317"/>
                <a:gd name="T3" fmla="*/ 0 h 1"/>
                <a:gd name="T4" fmla="*/ 0 60000 65536"/>
                <a:gd name="T5" fmla="*/ 0 60000 65536"/>
                <a:gd name="T6" fmla="*/ 0 w 4317"/>
                <a:gd name="T7" fmla="*/ 0 h 1"/>
                <a:gd name="T8" fmla="*/ 4317 w 431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317" h="1">
                  <a:moveTo>
                    <a:pt x="0" y="0"/>
                  </a:moveTo>
                  <a:lnTo>
                    <a:pt x="431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12" name="Freeform 155"/>
            <p:cNvSpPr/>
            <p:nvPr/>
          </p:nvSpPr>
          <p:spPr bwMode="auto">
            <a:xfrm>
              <a:off x="956" y="4121"/>
              <a:ext cx="3837" cy="1"/>
            </a:xfrm>
            <a:custGeom>
              <a:avLst/>
              <a:gdLst>
                <a:gd name="T0" fmla="*/ 0 w 3837"/>
                <a:gd name="T1" fmla="*/ 0 h 1"/>
                <a:gd name="T2" fmla="*/ 3837 w 3837"/>
                <a:gd name="T3" fmla="*/ 0 h 1"/>
                <a:gd name="T4" fmla="*/ 0 60000 65536"/>
                <a:gd name="T5" fmla="*/ 0 60000 65536"/>
                <a:gd name="T6" fmla="*/ 0 w 3837"/>
                <a:gd name="T7" fmla="*/ 0 h 1"/>
                <a:gd name="T8" fmla="*/ 3837 w 383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837" h="1">
                  <a:moveTo>
                    <a:pt x="0" y="0"/>
                  </a:moveTo>
                  <a:lnTo>
                    <a:pt x="383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13" name="Freeform 156"/>
            <p:cNvSpPr/>
            <p:nvPr/>
          </p:nvSpPr>
          <p:spPr bwMode="auto">
            <a:xfrm>
              <a:off x="1322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14" name="Freeform 157"/>
            <p:cNvSpPr/>
            <p:nvPr/>
          </p:nvSpPr>
          <p:spPr bwMode="auto">
            <a:xfrm>
              <a:off x="2491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15" name="Freeform 158"/>
            <p:cNvSpPr/>
            <p:nvPr/>
          </p:nvSpPr>
          <p:spPr bwMode="auto">
            <a:xfrm>
              <a:off x="3643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16" name="Freeform 159"/>
            <p:cNvSpPr/>
            <p:nvPr/>
          </p:nvSpPr>
          <p:spPr bwMode="auto">
            <a:xfrm>
              <a:off x="4791" y="3881"/>
              <a:ext cx="4" cy="247"/>
            </a:xfrm>
            <a:custGeom>
              <a:avLst/>
              <a:gdLst>
                <a:gd name="T0" fmla="*/ 4 w 4"/>
                <a:gd name="T1" fmla="*/ 0 h 247"/>
                <a:gd name="T2" fmla="*/ 0 w 4"/>
                <a:gd name="T3" fmla="*/ 247 h 247"/>
                <a:gd name="T4" fmla="*/ 0 60000 65536"/>
                <a:gd name="T5" fmla="*/ 0 60000 65536"/>
                <a:gd name="T6" fmla="*/ 0 w 4"/>
                <a:gd name="T7" fmla="*/ 0 h 247"/>
                <a:gd name="T8" fmla="*/ 4 w 4"/>
                <a:gd name="T9" fmla="*/ 247 h 24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247">
                  <a:moveTo>
                    <a:pt x="4" y="0"/>
                  </a:moveTo>
                  <a:lnTo>
                    <a:pt x="0" y="247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17" name="Freeform 160"/>
            <p:cNvSpPr/>
            <p:nvPr/>
          </p:nvSpPr>
          <p:spPr bwMode="auto">
            <a:xfrm>
              <a:off x="5277" y="3881"/>
              <a:ext cx="1" cy="151"/>
            </a:xfrm>
            <a:custGeom>
              <a:avLst/>
              <a:gdLst>
                <a:gd name="T0" fmla="*/ 0 w 1"/>
                <a:gd name="T1" fmla="*/ 0 h 151"/>
                <a:gd name="T2" fmla="*/ 0 w 1"/>
                <a:gd name="T3" fmla="*/ 151 h 151"/>
                <a:gd name="T4" fmla="*/ 0 60000 65536"/>
                <a:gd name="T5" fmla="*/ 0 60000 65536"/>
                <a:gd name="T6" fmla="*/ 0 w 1"/>
                <a:gd name="T7" fmla="*/ 0 h 151"/>
                <a:gd name="T8" fmla="*/ 1 w 1"/>
                <a:gd name="T9" fmla="*/ 151 h 15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1">
                  <a:moveTo>
                    <a:pt x="0" y="0"/>
                  </a:moveTo>
                  <a:lnTo>
                    <a:pt x="0" y="15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18" name="Line 161"/>
            <p:cNvSpPr>
              <a:spLocks noChangeShapeType="1"/>
            </p:cNvSpPr>
            <p:nvPr/>
          </p:nvSpPr>
          <p:spPr bwMode="auto">
            <a:xfrm>
              <a:off x="4124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19" name="Line 162"/>
            <p:cNvSpPr>
              <a:spLocks noChangeShapeType="1"/>
            </p:cNvSpPr>
            <p:nvPr/>
          </p:nvSpPr>
          <p:spPr bwMode="auto">
            <a:xfrm>
              <a:off x="2973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20" name="Line 163"/>
            <p:cNvSpPr>
              <a:spLocks noChangeShapeType="1"/>
            </p:cNvSpPr>
            <p:nvPr/>
          </p:nvSpPr>
          <p:spPr bwMode="auto">
            <a:xfrm>
              <a:off x="1820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21" name="Rectangle 164"/>
            <p:cNvSpPr>
              <a:spLocks noChangeArrowheads="1"/>
            </p:cNvSpPr>
            <p:nvPr/>
          </p:nvSpPr>
          <p:spPr bwMode="auto">
            <a:xfrm>
              <a:off x="2317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32422" name="Text Box 165"/>
            <p:cNvSpPr txBox="1">
              <a:spLocks noChangeArrowheads="1"/>
            </p:cNvSpPr>
            <p:nvPr/>
          </p:nvSpPr>
          <p:spPr bwMode="auto">
            <a:xfrm>
              <a:off x="2348" y="3576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</a:p>
          </p:txBody>
        </p:sp>
        <p:sp>
          <p:nvSpPr>
            <p:cNvPr id="132423" name="Rectangle 166"/>
            <p:cNvSpPr>
              <a:spLocks noChangeArrowheads="1"/>
            </p:cNvSpPr>
            <p:nvPr/>
          </p:nvSpPr>
          <p:spPr bwMode="auto">
            <a:xfrm>
              <a:off x="3469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32424" name="Text Box 167"/>
            <p:cNvSpPr txBox="1">
              <a:spLocks noChangeArrowheads="1"/>
            </p:cNvSpPr>
            <p:nvPr/>
          </p:nvSpPr>
          <p:spPr bwMode="auto">
            <a:xfrm>
              <a:off x="3500" y="3576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</a:p>
          </p:txBody>
        </p:sp>
        <p:sp>
          <p:nvSpPr>
            <p:cNvPr id="132425" name="Rectangle 168"/>
            <p:cNvSpPr>
              <a:spLocks noChangeArrowheads="1"/>
            </p:cNvSpPr>
            <p:nvPr/>
          </p:nvSpPr>
          <p:spPr bwMode="auto">
            <a:xfrm>
              <a:off x="462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32426" name="Text Box 169"/>
            <p:cNvSpPr txBox="1">
              <a:spLocks noChangeArrowheads="1"/>
            </p:cNvSpPr>
            <p:nvPr/>
          </p:nvSpPr>
          <p:spPr bwMode="auto">
            <a:xfrm>
              <a:off x="4652" y="3576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</a:p>
          </p:txBody>
        </p:sp>
        <p:sp>
          <p:nvSpPr>
            <p:cNvPr id="132427" name="Line 170"/>
            <p:cNvSpPr>
              <a:spLocks noChangeShapeType="1"/>
            </p:cNvSpPr>
            <p:nvPr/>
          </p:nvSpPr>
          <p:spPr bwMode="auto">
            <a:xfrm>
              <a:off x="196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28" name="Line 171"/>
            <p:cNvSpPr>
              <a:spLocks noChangeShapeType="1"/>
            </p:cNvSpPr>
            <p:nvPr/>
          </p:nvSpPr>
          <p:spPr bwMode="auto">
            <a:xfrm>
              <a:off x="314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29" name="Line 172"/>
            <p:cNvSpPr>
              <a:spLocks noChangeShapeType="1"/>
            </p:cNvSpPr>
            <p:nvPr/>
          </p:nvSpPr>
          <p:spPr bwMode="auto">
            <a:xfrm>
              <a:off x="4293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30" name="Line 173"/>
            <p:cNvSpPr>
              <a:spLocks noChangeShapeType="1"/>
            </p:cNvSpPr>
            <p:nvPr/>
          </p:nvSpPr>
          <p:spPr bwMode="auto">
            <a:xfrm>
              <a:off x="5420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31" name="Freeform 174"/>
            <p:cNvSpPr/>
            <p:nvPr/>
          </p:nvSpPr>
          <p:spPr bwMode="auto">
            <a:xfrm>
              <a:off x="3033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7711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32" name="Freeform 175"/>
            <p:cNvSpPr/>
            <p:nvPr/>
          </p:nvSpPr>
          <p:spPr bwMode="auto">
            <a:xfrm>
              <a:off x="4185" y="2691"/>
              <a:ext cx="1" cy="525"/>
            </a:xfrm>
            <a:custGeom>
              <a:avLst/>
              <a:gdLst>
                <a:gd name="T0" fmla="*/ 0 w 1"/>
                <a:gd name="T1" fmla="*/ 0 h 525"/>
                <a:gd name="T2" fmla="*/ 0 w 1"/>
                <a:gd name="T3" fmla="*/ 525 h 525"/>
                <a:gd name="T4" fmla="*/ 0 60000 65536"/>
                <a:gd name="T5" fmla="*/ 0 60000 65536"/>
                <a:gd name="T6" fmla="*/ 0 w 1"/>
                <a:gd name="T7" fmla="*/ 0 h 525"/>
                <a:gd name="T8" fmla="*/ 1 w 1"/>
                <a:gd name="T9" fmla="*/ 525 h 52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5">
                  <a:moveTo>
                    <a:pt x="0" y="0"/>
                  </a:moveTo>
                  <a:lnTo>
                    <a:pt x="0" y="52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33" name="Freeform 176"/>
            <p:cNvSpPr/>
            <p:nvPr/>
          </p:nvSpPr>
          <p:spPr bwMode="auto">
            <a:xfrm>
              <a:off x="5325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7711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34" name="Text Box 177"/>
            <p:cNvSpPr txBox="1">
              <a:spLocks noChangeArrowheads="1"/>
            </p:cNvSpPr>
            <p:nvPr/>
          </p:nvSpPr>
          <p:spPr bwMode="auto">
            <a:xfrm rot="5400000">
              <a:off x="1193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2435" name="Text Box 178"/>
            <p:cNvSpPr txBox="1">
              <a:spLocks noChangeArrowheads="1"/>
            </p:cNvSpPr>
            <p:nvPr/>
          </p:nvSpPr>
          <p:spPr bwMode="auto">
            <a:xfrm rot="5400000">
              <a:off x="1769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2436" name="Text Box 179"/>
            <p:cNvSpPr txBox="1">
              <a:spLocks noChangeArrowheads="1"/>
            </p:cNvSpPr>
            <p:nvPr/>
          </p:nvSpPr>
          <p:spPr bwMode="auto">
            <a:xfrm rot="5400000">
              <a:off x="2345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2437" name="Text Box 180"/>
            <p:cNvSpPr txBox="1">
              <a:spLocks noChangeArrowheads="1"/>
            </p:cNvSpPr>
            <p:nvPr/>
          </p:nvSpPr>
          <p:spPr bwMode="auto">
            <a:xfrm rot="5400000">
              <a:off x="2921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2438" name="Text Box 181"/>
            <p:cNvSpPr txBox="1">
              <a:spLocks noChangeArrowheads="1"/>
            </p:cNvSpPr>
            <p:nvPr/>
          </p:nvSpPr>
          <p:spPr bwMode="auto">
            <a:xfrm rot="5400000">
              <a:off x="3496" y="1627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132439" name="Text Box 182"/>
            <p:cNvSpPr txBox="1">
              <a:spLocks noChangeArrowheads="1"/>
            </p:cNvSpPr>
            <p:nvPr/>
          </p:nvSpPr>
          <p:spPr bwMode="auto">
            <a:xfrm rot="5400000">
              <a:off x="4073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132440" name="Text Box 183"/>
            <p:cNvSpPr txBox="1">
              <a:spLocks noChangeArrowheads="1"/>
            </p:cNvSpPr>
            <p:nvPr/>
          </p:nvSpPr>
          <p:spPr bwMode="auto">
            <a:xfrm rot="5400000">
              <a:off x="4649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132441" name="Text Box 184"/>
            <p:cNvSpPr txBox="1">
              <a:spLocks noChangeArrowheads="1"/>
            </p:cNvSpPr>
            <p:nvPr/>
          </p:nvSpPr>
          <p:spPr bwMode="auto">
            <a:xfrm rot="5400000">
              <a:off x="5244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132442" name="Text Box 185"/>
            <p:cNvSpPr txBox="1">
              <a:spLocks noChangeArrowheads="1"/>
            </p:cNvSpPr>
            <p:nvPr/>
          </p:nvSpPr>
          <p:spPr bwMode="auto">
            <a:xfrm>
              <a:off x="660" y="791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2443" name="Text Box 186"/>
            <p:cNvSpPr txBox="1">
              <a:spLocks noChangeArrowheads="1"/>
            </p:cNvSpPr>
            <p:nvPr/>
          </p:nvSpPr>
          <p:spPr bwMode="auto">
            <a:xfrm>
              <a:off x="660" y="1383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32444" name="Text Box 187"/>
            <p:cNvSpPr txBox="1">
              <a:spLocks noChangeArrowheads="1"/>
            </p:cNvSpPr>
            <p:nvPr/>
          </p:nvSpPr>
          <p:spPr bwMode="auto">
            <a:xfrm>
              <a:off x="624" y="1959"/>
              <a:ext cx="2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63</a:t>
              </a:r>
            </a:p>
          </p:txBody>
        </p:sp>
        <p:sp>
          <p:nvSpPr>
            <p:cNvPr id="132445" name="Line 188"/>
            <p:cNvSpPr>
              <a:spLocks noChangeShapeType="1"/>
            </p:cNvSpPr>
            <p:nvPr/>
          </p:nvSpPr>
          <p:spPr bwMode="auto">
            <a:xfrm>
              <a:off x="332" y="2537"/>
              <a:ext cx="57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46" name="Text Box 189"/>
            <p:cNvSpPr txBox="1">
              <a:spLocks noChangeArrowheads="1"/>
            </p:cNvSpPr>
            <p:nvPr/>
          </p:nvSpPr>
          <p:spPr bwMode="auto">
            <a:xfrm>
              <a:off x="660" y="2727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2447" name="Text Box 190"/>
            <p:cNvSpPr txBox="1">
              <a:spLocks noChangeArrowheads="1"/>
            </p:cNvSpPr>
            <p:nvPr/>
          </p:nvSpPr>
          <p:spPr bwMode="auto">
            <a:xfrm>
              <a:off x="624" y="3159"/>
              <a:ext cx="2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15</a:t>
              </a:r>
            </a:p>
          </p:txBody>
        </p:sp>
        <p:sp>
          <p:nvSpPr>
            <p:cNvPr id="132448" name="Text Box 191"/>
            <p:cNvSpPr txBox="1">
              <a:spLocks noChangeArrowheads="1"/>
            </p:cNvSpPr>
            <p:nvPr/>
          </p:nvSpPr>
          <p:spPr bwMode="auto">
            <a:xfrm rot="5400000">
              <a:off x="665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2449" name="Text Box 192"/>
            <p:cNvSpPr txBox="1">
              <a:spLocks noChangeArrowheads="1"/>
            </p:cNvSpPr>
            <p:nvPr/>
          </p:nvSpPr>
          <p:spPr bwMode="auto">
            <a:xfrm rot="5400000">
              <a:off x="665" y="2876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2450" name="Text Box 193"/>
            <p:cNvSpPr txBox="1">
              <a:spLocks noChangeArrowheads="1"/>
            </p:cNvSpPr>
            <p:nvPr/>
          </p:nvSpPr>
          <p:spPr bwMode="auto">
            <a:xfrm>
              <a:off x="348" y="1015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行</a:t>
              </a:r>
            </a:p>
          </p:txBody>
        </p:sp>
        <p:sp>
          <p:nvSpPr>
            <p:cNvPr id="132451" name="Text Box 194"/>
            <p:cNvSpPr txBox="1">
              <a:spLocks noChangeArrowheads="1"/>
            </p:cNvSpPr>
            <p:nvPr/>
          </p:nvSpPr>
          <p:spPr bwMode="auto">
            <a:xfrm>
              <a:off x="348" y="1263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地</a:t>
              </a:r>
            </a:p>
          </p:txBody>
        </p:sp>
        <p:sp>
          <p:nvSpPr>
            <p:cNvPr id="132452" name="Text Box 195"/>
            <p:cNvSpPr txBox="1">
              <a:spLocks noChangeArrowheads="1"/>
            </p:cNvSpPr>
            <p:nvPr/>
          </p:nvSpPr>
          <p:spPr bwMode="auto">
            <a:xfrm>
              <a:off x="348" y="1511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址</a:t>
              </a:r>
            </a:p>
          </p:txBody>
        </p:sp>
        <p:sp>
          <p:nvSpPr>
            <p:cNvPr id="132453" name="Text Box 196"/>
            <p:cNvSpPr txBox="1">
              <a:spLocks noChangeArrowheads="1"/>
            </p:cNvSpPr>
            <p:nvPr/>
          </p:nvSpPr>
          <p:spPr bwMode="auto">
            <a:xfrm>
              <a:off x="348" y="1758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译</a:t>
              </a:r>
            </a:p>
          </p:txBody>
        </p:sp>
        <p:sp>
          <p:nvSpPr>
            <p:cNvPr id="132454" name="Text Box 197"/>
            <p:cNvSpPr txBox="1">
              <a:spLocks noChangeArrowheads="1"/>
            </p:cNvSpPr>
            <p:nvPr/>
          </p:nvSpPr>
          <p:spPr bwMode="auto">
            <a:xfrm>
              <a:off x="348" y="2006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码</a:t>
              </a:r>
            </a:p>
          </p:txBody>
        </p:sp>
        <p:sp>
          <p:nvSpPr>
            <p:cNvPr id="132455" name="Text Box 198"/>
            <p:cNvSpPr txBox="1">
              <a:spLocks noChangeArrowheads="1"/>
            </p:cNvSpPr>
            <p:nvPr/>
          </p:nvSpPr>
          <p:spPr bwMode="auto">
            <a:xfrm>
              <a:off x="375" y="2635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列</a:t>
              </a:r>
            </a:p>
          </p:txBody>
        </p:sp>
        <p:sp>
          <p:nvSpPr>
            <p:cNvPr id="132456" name="Text Box 199"/>
            <p:cNvSpPr txBox="1">
              <a:spLocks noChangeArrowheads="1"/>
            </p:cNvSpPr>
            <p:nvPr/>
          </p:nvSpPr>
          <p:spPr bwMode="auto">
            <a:xfrm>
              <a:off x="375" y="2883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地</a:t>
              </a:r>
            </a:p>
          </p:txBody>
        </p:sp>
        <p:sp>
          <p:nvSpPr>
            <p:cNvPr id="132457" name="Text Box 200"/>
            <p:cNvSpPr txBox="1">
              <a:spLocks noChangeArrowheads="1"/>
            </p:cNvSpPr>
            <p:nvPr/>
          </p:nvSpPr>
          <p:spPr bwMode="auto">
            <a:xfrm>
              <a:off x="375" y="3131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址</a:t>
              </a:r>
            </a:p>
          </p:txBody>
        </p:sp>
        <p:sp>
          <p:nvSpPr>
            <p:cNvPr id="132458" name="Text Box 201"/>
            <p:cNvSpPr txBox="1">
              <a:spLocks noChangeArrowheads="1"/>
            </p:cNvSpPr>
            <p:nvPr/>
          </p:nvSpPr>
          <p:spPr bwMode="auto">
            <a:xfrm>
              <a:off x="375" y="3378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译</a:t>
              </a:r>
            </a:p>
          </p:txBody>
        </p:sp>
        <p:sp>
          <p:nvSpPr>
            <p:cNvPr id="132459" name="Text Box 202"/>
            <p:cNvSpPr txBox="1">
              <a:spLocks noChangeArrowheads="1"/>
            </p:cNvSpPr>
            <p:nvPr/>
          </p:nvSpPr>
          <p:spPr bwMode="auto">
            <a:xfrm>
              <a:off x="375" y="3626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码</a:t>
              </a:r>
            </a:p>
          </p:txBody>
        </p:sp>
        <p:sp>
          <p:nvSpPr>
            <p:cNvPr id="132460" name="Text Box 203"/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32461" name="Text Box 204"/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132462" name="Text Box 205"/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132463" name="Text Box 206"/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4</a:t>
              </a:r>
            </a:p>
          </p:txBody>
        </p:sp>
        <p:sp>
          <p:nvSpPr>
            <p:cNvPr id="132464" name="Line 207"/>
            <p:cNvSpPr>
              <a:spLocks noChangeShapeType="1"/>
            </p:cNvSpPr>
            <p:nvPr/>
          </p:nvSpPr>
          <p:spPr bwMode="auto">
            <a:xfrm>
              <a:off x="140" y="905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65" name="Line 208"/>
            <p:cNvSpPr>
              <a:spLocks noChangeShapeType="1"/>
            </p:cNvSpPr>
            <p:nvPr/>
          </p:nvSpPr>
          <p:spPr bwMode="auto">
            <a:xfrm>
              <a:off x="140" y="1164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66" name="Line 209"/>
            <p:cNvSpPr>
              <a:spLocks noChangeShapeType="1"/>
            </p:cNvSpPr>
            <p:nvPr/>
          </p:nvSpPr>
          <p:spPr bwMode="auto">
            <a:xfrm>
              <a:off x="140" y="1423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67" name="Line 210"/>
            <p:cNvSpPr>
              <a:spLocks noChangeShapeType="1"/>
            </p:cNvSpPr>
            <p:nvPr/>
          </p:nvSpPr>
          <p:spPr bwMode="auto">
            <a:xfrm>
              <a:off x="140" y="168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68" name="Line 211"/>
            <p:cNvSpPr>
              <a:spLocks noChangeShapeType="1"/>
            </p:cNvSpPr>
            <p:nvPr/>
          </p:nvSpPr>
          <p:spPr bwMode="auto">
            <a:xfrm>
              <a:off x="140" y="194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69" name="Line 212"/>
            <p:cNvSpPr>
              <a:spLocks noChangeShapeType="1"/>
            </p:cNvSpPr>
            <p:nvPr/>
          </p:nvSpPr>
          <p:spPr bwMode="auto">
            <a:xfrm>
              <a:off x="140" y="220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70" name="Line 213"/>
            <p:cNvSpPr>
              <a:spLocks noChangeShapeType="1"/>
            </p:cNvSpPr>
            <p:nvPr/>
          </p:nvSpPr>
          <p:spPr bwMode="auto">
            <a:xfrm>
              <a:off x="140" y="28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71" name="Line 214"/>
            <p:cNvSpPr>
              <a:spLocks noChangeShapeType="1"/>
            </p:cNvSpPr>
            <p:nvPr/>
          </p:nvSpPr>
          <p:spPr bwMode="auto">
            <a:xfrm>
              <a:off x="140" y="313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72" name="Line 215"/>
            <p:cNvSpPr>
              <a:spLocks noChangeShapeType="1"/>
            </p:cNvSpPr>
            <p:nvPr/>
          </p:nvSpPr>
          <p:spPr bwMode="auto">
            <a:xfrm>
              <a:off x="140" y="339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73" name="Line 216"/>
            <p:cNvSpPr>
              <a:spLocks noChangeShapeType="1"/>
            </p:cNvSpPr>
            <p:nvPr/>
          </p:nvSpPr>
          <p:spPr bwMode="auto">
            <a:xfrm>
              <a:off x="140" y="365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74" name="Text Box 217"/>
            <p:cNvSpPr txBox="1">
              <a:spLocks noChangeArrowheads="1"/>
            </p:cNvSpPr>
            <p:nvPr/>
          </p:nvSpPr>
          <p:spPr bwMode="auto">
            <a:xfrm>
              <a:off x="648" y="3890"/>
              <a:ext cx="35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WE</a:t>
              </a:r>
            </a:p>
          </p:txBody>
        </p:sp>
        <p:sp>
          <p:nvSpPr>
            <p:cNvPr id="132475" name="Line 218"/>
            <p:cNvSpPr>
              <a:spLocks noChangeShapeType="1"/>
            </p:cNvSpPr>
            <p:nvPr/>
          </p:nvSpPr>
          <p:spPr bwMode="auto">
            <a:xfrm>
              <a:off x="682" y="3923"/>
              <a:ext cx="288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476" name="Text Box 219"/>
            <p:cNvSpPr txBox="1">
              <a:spLocks noChangeArrowheads="1"/>
            </p:cNvSpPr>
            <p:nvPr/>
          </p:nvSpPr>
          <p:spPr bwMode="auto">
            <a:xfrm>
              <a:off x="668" y="4025"/>
              <a:ext cx="32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CS</a:t>
              </a:r>
            </a:p>
          </p:txBody>
        </p:sp>
        <p:sp>
          <p:nvSpPr>
            <p:cNvPr id="132477" name="Line 220"/>
            <p:cNvSpPr>
              <a:spLocks noChangeShapeType="1"/>
            </p:cNvSpPr>
            <p:nvPr/>
          </p:nvSpPr>
          <p:spPr bwMode="auto">
            <a:xfrm>
              <a:off x="726" y="4079"/>
              <a:ext cx="192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32099" name="Group 221"/>
          <p:cNvGrpSpPr/>
          <p:nvPr/>
        </p:nvGrpSpPr>
        <p:grpSpPr bwMode="auto">
          <a:xfrm>
            <a:off x="222250" y="1069975"/>
            <a:ext cx="311150" cy="4778375"/>
            <a:chOff x="140" y="674"/>
            <a:chExt cx="196" cy="3010"/>
          </a:xfrm>
        </p:grpSpPr>
        <p:sp>
          <p:nvSpPr>
            <p:cNvPr id="132264" name="Text Box 222"/>
            <p:cNvSpPr txBox="1">
              <a:spLocks noChangeArrowheads="1"/>
            </p:cNvSpPr>
            <p:nvPr/>
          </p:nvSpPr>
          <p:spPr bwMode="auto">
            <a:xfrm>
              <a:off x="140" y="67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2265" name="Text Box 223"/>
            <p:cNvSpPr txBox="1">
              <a:spLocks noChangeArrowheads="1"/>
            </p:cNvSpPr>
            <p:nvPr/>
          </p:nvSpPr>
          <p:spPr bwMode="auto">
            <a:xfrm>
              <a:off x="140" y="933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2266" name="Text Box 224"/>
            <p:cNvSpPr txBox="1">
              <a:spLocks noChangeArrowheads="1"/>
            </p:cNvSpPr>
            <p:nvPr/>
          </p:nvSpPr>
          <p:spPr bwMode="auto">
            <a:xfrm>
              <a:off x="140" y="119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2267" name="Text Box 225"/>
            <p:cNvSpPr txBox="1">
              <a:spLocks noChangeArrowheads="1"/>
            </p:cNvSpPr>
            <p:nvPr/>
          </p:nvSpPr>
          <p:spPr bwMode="auto">
            <a:xfrm>
              <a:off x="140" y="145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2268" name="Text Box 226"/>
            <p:cNvSpPr txBox="1">
              <a:spLocks noChangeArrowheads="1"/>
            </p:cNvSpPr>
            <p:nvPr/>
          </p:nvSpPr>
          <p:spPr bwMode="auto">
            <a:xfrm>
              <a:off x="140" y="171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2269" name="Text Box 227"/>
            <p:cNvSpPr txBox="1">
              <a:spLocks noChangeArrowheads="1"/>
            </p:cNvSpPr>
            <p:nvPr/>
          </p:nvSpPr>
          <p:spPr bwMode="auto">
            <a:xfrm>
              <a:off x="140" y="197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2270" name="Text Box 228"/>
            <p:cNvSpPr txBox="1">
              <a:spLocks noChangeArrowheads="1"/>
            </p:cNvSpPr>
            <p:nvPr/>
          </p:nvSpPr>
          <p:spPr bwMode="auto">
            <a:xfrm>
              <a:off x="140" y="2657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2271" name="Text Box 229"/>
            <p:cNvSpPr txBox="1">
              <a:spLocks noChangeArrowheads="1"/>
            </p:cNvSpPr>
            <p:nvPr/>
          </p:nvSpPr>
          <p:spPr bwMode="auto">
            <a:xfrm>
              <a:off x="140" y="2916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2272" name="Text Box 230"/>
            <p:cNvSpPr txBox="1">
              <a:spLocks noChangeArrowheads="1"/>
            </p:cNvSpPr>
            <p:nvPr/>
          </p:nvSpPr>
          <p:spPr bwMode="auto">
            <a:xfrm>
              <a:off x="140" y="3175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2273" name="Text Box 231"/>
            <p:cNvSpPr txBox="1">
              <a:spLocks noChangeArrowheads="1"/>
            </p:cNvSpPr>
            <p:nvPr/>
          </p:nvSpPr>
          <p:spPr bwMode="auto">
            <a:xfrm>
              <a:off x="140" y="343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</p:grpSp>
      <p:grpSp>
        <p:nvGrpSpPr>
          <p:cNvPr id="132100" name="Group 232"/>
          <p:cNvGrpSpPr/>
          <p:nvPr/>
        </p:nvGrpSpPr>
        <p:grpSpPr bwMode="auto">
          <a:xfrm>
            <a:off x="1452563" y="4179888"/>
            <a:ext cx="6262687" cy="401637"/>
            <a:chOff x="915" y="2633"/>
            <a:chExt cx="3945" cy="253"/>
          </a:xfrm>
        </p:grpSpPr>
        <p:grpSp>
          <p:nvGrpSpPr>
            <p:cNvPr id="132226" name="Group 233"/>
            <p:cNvGrpSpPr/>
            <p:nvPr/>
          </p:nvGrpSpPr>
          <p:grpSpPr bwMode="auto">
            <a:xfrm>
              <a:off x="915" y="2696"/>
              <a:ext cx="3858" cy="190"/>
              <a:chOff x="915" y="2696"/>
              <a:chExt cx="3858" cy="190"/>
            </a:xfrm>
          </p:grpSpPr>
          <p:sp>
            <p:nvSpPr>
              <p:cNvPr id="132259" name="Freeform 234"/>
              <p:cNvSpPr/>
              <p:nvPr/>
            </p:nvSpPr>
            <p:spPr bwMode="auto">
              <a:xfrm>
                <a:off x="1304" y="2707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2260" name="Freeform 235"/>
              <p:cNvSpPr/>
              <p:nvPr/>
            </p:nvSpPr>
            <p:spPr bwMode="auto">
              <a:xfrm>
                <a:off x="2457" y="2710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2261" name="Freeform 236"/>
              <p:cNvSpPr/>
              <p:nvPr/>
            </p:nvSpPr>
            <p:spPr bwMode="auto">
              <a:xfrm>
                <a:off x="3609" y="2710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  <a:gd name="T6" fmla="*/ 0 w 1"/>
                  <a:gd name="T7" fmla="*/ 0 h 176"/>
                  <a:gd name="T8" fmla="*/ 1 w 1"/>
                  <a:gd name="T9" fmla="*/ 176 h 17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2262" name="Freeform 237"/>
              <p:cNvSpPr/>
              <p:nvPr/>
            </p:nvSpPr>
            <p:spPr bwMode="auto">
              <a:xfrm>
                <a:off x="4761" y="2696"/>
                <a:ext cx="1" cy="178"/>
              </a:xfrm>
              <a:custGeom>
                <a:avLst/>
                <a:gdLst>
                  <a:gd name="T0" fmla="*/ 0 w 1"/>
                  <a:gd name="T1" fmla="*/ 0 h 178"/>
                  <a:gd name="T2" fmla="*/ 0 w 1"/>
                  <a:gd name="T3" fmla="*/ 178 h 178"/>
                  <a:gd name="T4" fmla="*/ 0 60000 65536"/>
                  <a:gd name="T5" fmla="*/ 0 60000 65536"/>
                  <a:gd name="T6" fmla="*/ 0 w 1"/>
                  <a:gd name="T7" fmla="*/ 0 h 178"/>
                  <a:gd name="T8" fmla="*/ 1 w 1"/>
                  <a:gd name="T9" fmla="*/ 178 h 17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8">
                    <a:moveTo>
                      <a:pt x="0" y="0"/>
                    </a:moveTo>
                    <a:lnTo>
                      <a:pt x="0" y="178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2263" name="Freeform 238"/>
              <p:cNvSpPr/>
              <p:nvPr/>
            </p:nvSpPr>
            <p:spPr bwMode="auto">
              <a:xfrm>
                <a:off x="915" y="2865"/>
                <a:ext cx="3858" cy="2"/>
              </a:xfrm>
              <a:custGeom>
                <a:avLst/>
                <a:gdLst>
                  <a:gd name="T0" fmla="*/ 0 w 3858"/>
                  <a:gd name="T1" fmla="*/ 2 h 2"/>
                  <a:gd name="T2" fmla="*/ 3858 w 3858"/>
                  <a:gd name="T3" fmla="*/ 0 h 2"/>
                  <a:gd name="T4" fmla="*/ 0 60000 65536"/>
                  <a:gd name="T5" fmla="*/ 0 60000 65536"/>
                  <a:gd name="T6" fmla="*/ 0 w 3858"/>
                  <a:gd name="T7" fmla="*/ 0 h 2"/>
                  <a:gd name="T8" fmla="*/ 3858 w 3858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58" h="2">
                    <a:moveTo>
                      <a:pt x="0" y="2"/>
                    </a:moveTo>
                    <a:lnTo>
                      <a:pt x="3858" y="0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32227" name="Group 239"/>
            <p:cNvGrpSpPr/>
            <p:nvPr/>
          </p:nvGrpSpPr>
          <p:grpSpPr bwMode="auto">
            <a:xfrm>
              <a:off x="1213" y="2633"/>
              <a:ext cx="192" cy="158"/>
              <a:chOff x="1440" y="2928"/>
              <a:chExt cx="192" cy="158"/>
            </a:xfrm>
          </p:grpSpPr>
          <p:grpSp>
            <p:nvGrpSpPr>
              <p:cNvPr id="132252" name="Group 240"/>
              <p:cNvGrpSpPr/>
              <p:nvPr/>
            </p:nvGrpSpPr>
            <p:grpSpPr bwMode="auto">
              <a:xfrm rot="5400000">
                <a:off x="1529" y="2983"/>
                <a:ext cx="158" cy="48"/>
                <a:chOff x="3459" y="1296"/>
                <a:chExt cx="243" cy="48"/>
              </a:xfrm>
            </p:grpSpPr>
            <p:sp>
              <p:nvSpPr>
                <p:cNvPr id="132257" name="Line 241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2258" name="Line 242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32253" name="Freeform 243"/>
              <p:cNvSpPr/>
              <p:nvPr/>
            </p:nvSpPr>
            <p:spPr bwMode="auto">
              <a:xfrm>
                <a:off x="1487" y="3003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32254" name="Group 244"/>
              <p:cNvGrpSpPr/>
              <p:nvPr/>
            </p:nvGrpSpPr>
            <p:grpSpPr bwMode="auto">
              <a:xfrm rot="-5400000">
                <a:off x="1385" y="2983"/>
                <a:ext cx="158" cy="48"/>
                <a:chOff x="3459" y="1296"/>
                <a:chExt cx="243" cy="48"/>
              </a:xfrm>
            </p:grpSpPr>
            <p:sp>
              <p:nvSpPr>
                <p:cNvPr id="132255" name="Line 245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2256" name="Line 246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32228" name="Group 247"/>
            <p:cNvGrpSpPr/>
            <p:nvPr/>
          </p:nvGrpSpPr>
          <p:grpSpPr bwMode="auto">
            <a:xfrm>
              <a:off x="2365" y="2635"/>
              <a:ext cx="192" cy="158"/>
              <a:chOff x="1440" y="2928"/>
              <a:chExt cx="192" cy="158"/>
            </a:xfrm>
          </p:grpSpPr>
          <p:grpSp>
            <p:nvGrpSpPr>
              <p:cNvPr id="132245" name="Group 248"/>
              <p:cNvGrpSpPr/>
              <p:nvPr/>
            </p:nvGrpSpPr>
            <p:grpSpPr bwMode="auto">
              <a:xfrm rot="5400000">
                <a:off x="1529" y="2983"/>
                <a:ext cx="158" cy="48"/>
                <a:chOff x="3459" y="1296"/>
                <a:chExt cx="243" cy="48"/>
              </a:xfrm>
            </p:grpSpPr>
            <p:sp>
              <p:nvSpPr>
                <p:cNvPr id="132250" name="Line 249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2251" name="Line 250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32246" name="Freeform 251"/>
              <p:cNvSpPr/>
              <p:nvPr/>
            </p:nvSpPr>
            <p:spPr bwMode="auto">
              <a:xfrm>
                <a:off x="1487" y="3003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32247" name="Group 252"/>
              <p:cNvGrpSpPr/>
              <p:nvPr/>
            </p:nvGrpSpPr>
            <p:grpSpPr bwMode="auto">
              <a:xfrm rot="-5400000">
                <a:off x="1385" y="2983"/>
                <a:ext cx="158" cy="48"/>
                <a:chOff x="3459" y="1296"/>
                <a:chExt cx="243" cy="48"/>
              </a:xfrm>
            </p:grpSpPr>
            <p:sp>
              <p:nvSpPr>
                <p:cNvPr id="132248" name="Line 253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2249" name="Line 254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32229" name="Group 255"/>
            <p:cNvGrpSpPr/>
            <p:nvPr/>
          </p:nvGrpSpPr>
          <p:grpSpPr bwMode="auto">
            <a:xfrm>
              <a:off x="3517" y="2635"/>
              <a:ext cx="192" cy="158"/>
              <a:chOff x="1440" y="2928"/>
              <a:chExt cx="192" cy="158"/>
            </a:xfrm>
          </p:grpSpPr>
          <p:grpSp>
            <p:nvGrpSpPr>
              <p:cNvPr id="132238" name="Group 256"/>
              <p:cNvGrpSpPr/>
              <p:nvPr/>
            </p:nvGrpSpPr>
            <p:grpSpPr bwMode="auto">
              <a:xfrm rot="5400000">
                <a:off x="1529" y="2983"/>
                <a:ext cx="158" cy="48"/>
                <a:chOff x="3459" y="1296"/>
                <a:chExt cx="243" cy="48"/>
              </a:xfrm>
            </p:grpSpPr>
            <p:sp>
              <p:nvSpPr>
                <p:cNvPr id="132243" name="Line 257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2244" name="Line 258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32239" name="Freeform 259"/>
              <p:cNvSpPr/>
              <p:nvPr/>
            </p:nvSpPr>
            <p:spPr bwMode="auto">
              <a:xfrm>
                <a:off x="1487" y="3003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32240" name="Group 260"/>
              <p:cNvGrpSpPr/>
              <p:nvPr/>
            </p:nvGrpSpPr>
            <p:grpSpPr bwMode="auto">
              <a:xfrm rot="-5400000">
                <a:off x="1385" y="2983"/>
                <a:ext cx="158" cy="48"/>
                <a:chOff x="3459" y="1296"/>
                <a:chExt cx="243" cy="48"/>
              </a:xfrm>
            </p:grpSpPr>
            <p:sp>
              <p:nvSpPr>
                <p:cNvPr id="132241" name="Line 261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2242" name="Line 262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32230" name="Group 263"/>
            <p:cNvGrpSpPr/>
            <p:nvPr/>
          </p:nvGrpSpPr>
          <p:grpSpPr bwMode="auto">
            <a:xfrm>
              <a:off x="4668" y="2635"/>
              <a:ext cx="192" cy="158"/>
              <a:chOff x="1440" y="2928"/>
              <a:chExt cx="192" cy="158"/>
            </a:xfrm>
          </p:grpSpPr>
          <p:grpSp>
            <p:nvGrpSpPr>
              <p:cNvPr id="132231" name="Group 264"/>
              <p:cNvGrpSpPr/>
              <p:nvPr/>
            </p:nvGrpSpPr>
            <p:grpSpPr bwMode="auto">
              <a:xfrm rot="5400000">
                <a:off x="1529" y="2983"/>
                <a:ext cx="158" cy="48"/>
                <a:chOff x="3459" y="1296"/>
                <a:chExt cx="243" cy="48"/>
              </a:xfrm>
            </p:grpSpPr>
            <p:sp>
              <p:nvSpPr>
                <p:cNvPr id="132236" name="Line 265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2237" name="Line 266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32232" name="Freeform 267"/>
              <p:cNvSpPr/>
              <p:nvPr/>
            </p:nvSpPr>
            <p:spPr bwMode="auto">
              <a:xfrm>
                <a:off x="1487" y="3003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32233" name="Group 268"/>
              <p:cNvGrpSpPr/>
              <p:nvPr/>
            </p:nvGrpSpPr>
            <p:grpSpPr bwMode="auto">
              <a:xfrm rot="-5400000">
                <a:off x="1385" y="2983"/>
                <a:ext cx="158" cy="48"/>
                <a:chOff x="3459" y="1296"/>
                <a:chExt cx="243" cy="48"/>
              </a:xfrm>
            </p:grpSpPr>
            <p:sp>
              <p:nvSpPr>
                <p:cNvPr id="132234" name="Line 269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2235" name="Line 270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132101" name="Group 271"/>
          <p:cNvGrpSpPr/>
          <p:nvPr/>
        </p:nvGrpSpPr>
        <p:grpSpPr bwMode="auto">
          <a:xfrm>
            <a:off x="1900238" y="1909763"/>
            <a:ext cx="6062662" cy="2339975"/>
            <a:chOff x="1197" y="1203"/>
            <a:chExt cx="3819" cy="1474"/>
          </a:xfrm>
        </p:grpSpPr>
        <p:sp>
          <p:nvSpPr>
            <p:cNvPr id="132218" name="Freeform 272"/>
            <p:cNvSpPr/>
            <p:nvPr/>
          </p:nvSpPr>
          <p:spPr bwMode="auto">
            <a:xfrm>
              <a:off x="1422" y="1203"/>
              <a:ext cx="121" cy="1474"/>
            </a:xfrm>
            <a:custGeom>
              <a:avLst/>
              <a:gdLst>
                <a:gd name="T0" fmla="*/ 3 w 145"/>
                <a:gd name="T1" fmla="*/ 0 h 1466"/>
                <a:gd name="T2" fmla="*/ 11 w 145"/>
                <a:gd name="T3" fmla="*/ 0 h 1466"/>
                <a:gd name="T4" fmla="*/ 11 w 145"/>
                <a:gd name="T5" fmla="*/ 1580 h 1466"/>
                <a:gd name="T6" fmla="*/ 0 w 145"/>
                <a:gd name="T7" fmla="*/ 1580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219" name="Text Box 273"/>
            <p:cNvSpPr txBox="1">
              <a:spLocks noChangeArrowheads="1"/>
            </p:cNvSpPr>
            <p:nvPr/>
          </p:nvSpPr>
          <p:spPr bwMode="auto">
            <a:xfrm rot="5400000">
              <a:off x="1194" y="1642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2220" name="Freeform 274"/>
            <p:cNvSpPr/>
            <p:nvPr/>
          </p:nvSpPr>
          <p:spPr bwMode="auto">
            <a:xfrm>
              <a:off x="2556" y="1205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221" name="Text Box 275"/>
            <p:cNvSpPr txBox="1">
              <a:spLocks noChangeArrowheads="1"/>
            </p:cNvSpPr>
            <p:nvPr/>
          </p:nvSpPr>
          <p:spPr bwMode="auto">
            <a:xfrm rot="5400000">
              <a:off x="2347" y="1642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2222" name="Freeform 276"/>
            <p:cNvSpPr/>
            <p:nvPr/>
          </p:nvSpPr>
          <p:spPr bwMode="auto">
            <a:xfrm>
              <a:off x="3711" y="1206"/>
              <a:ext cx="151" cy="1471"/>
            </a:xfrm>
            <a:custGeom>
              <a:avLst/>
              <a:gdLst>
                <a:gd name="T0" fmla="*/ 54 w 151"/>
                <a:gd name="T1" fmla="*/ 0 h 1471"/>
                <a:gd name="T2" fmla="*/ 151 w 151"/>
                <a:gd name="T3" fmla="*/ 0 h 1471"/>
                <a:gd name="T4" fmla="*/ 150 w 151"/>
                <a:gd name="T5" fmla="*/ 1471 h 1471"/>
                <a:gd name="T6" fmla="*/ 0 w 151"/>
                <a:gd name="T7" fmla="*/ 1470 h 147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1"/>
                <a:gd name="T13" fmla="*/ 0 h 1471"/>
                <a:gd name="T14" fmla="*/ 151 w 151"/>
                <a:gd name="T15" fmla="*/ 1471 h 147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1" h="1471">
                  <a:moveTo>
                    <a:pt x="54" y="0"/>
                  </a:moveTo>
                  <a:lnTo>
                    <a:pt x="151" y="0"/>
                  </a:lnTo>
                  <a:lnTo>
                    <a:pt x="150" y="1471"/>
                  </a:lnTo>
                  <a:lnTo>
                    <a:pt x="0" y="1470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223" name="Text Box 277"/>
            <p:cNvSpPr txBox="1">
              <a:spLocks noChangeArrowheads="1"/>
            </p:cNvSpPr>
            <p:nvPr/>
          </p:nvSpPr>
          <p:spPr bwMode="auto">
            <a:xfrm rot="5400000">
              <a:off x="3493" y="1626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2224" name="Freeform 278"/>
            <p:cNvSpPr/>
            <p:nvPr/>
          </p:nvSpPr>
          <p:spPr bwMode="auto">
            <a:xfrm>
              <a:off x="4860" y="1211"/>
              <a:ext cx="145" cy="1466"/>
            </a:xfrm>
            <a:custGeom>
              <a:avLst/>
              <a:gdLst>
                <a:gd name="T0" fmla="*/ 42 w 145"/>
                <a:gd name="T1" fmla="*/ 1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42" y="1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225" name="Text Box 279"/>
            <p:cNvSpPr txBox="1">
              <a:spLocks noChangeArrowheads="1"/>
            </p:cNvSpPr>
            <p:nvPr/>
          </p:nvSpPr>
          <p:spPr bwMode="auto">
            <a:xfrm rot="5400000">
              <a:off x="4648" y="1629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132102" name="Group 280"/>
          <p:cNvGrpSpPr/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132201" name="Line 281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202" name="Freeform 282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203" name="Line 283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204" name="Freeform 284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205" name="Line 285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206" name="Text Box 286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</a:p>
          </p:txBody>
        </p:sp>
        <p:sp>
          <p:nvSpPr>
            <p:cNvPr id="132207" name="Text Box 287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</a:p>
          </p:txBody>
        </p:sp>
        <p:sp>
          <p:nvSpPr>
            <p:cNvPr id="132208" name="Text Box 288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</a:p>
          </p:txBody>
        </p:sp>
        <p:sp>
          <p:nvSpPr>
            <p:cNvPr id="132209" name="Text Box 289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</a:p>
          </p:txBody>
        </p:sp>
        <p:sp>
          <p:nvSpPr>
            <p:cNvPr id="132210" name="Line 290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211" name="Line 291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212" name="Line 292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213" name="Line 293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214" name="Line 294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215" name="Line 295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216" name="Line 296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2217" name="Line 297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20458" name="Rectangle 298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32104" name="Text Box 299"/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en-US" altLang="zh-CN" sz="3200">
                <a:latin typeface="Times New Roman" panose="02020603050405020304" pitchFamily="18" charset="0"/>
              </a:rPr>
              <a:t>Intel 2114 RAM </a:t>
            </a:r>
            <a:r>
              <a:rPr lang="zh-CN" altLang="en-US" sz="3200">
                <a:latin typeface="Times New Roman" panose="02020603050405020304" pitchFamily="18" charset="0"/>
              </a:rPr>
              <a:t>矩阵 </a:t>
            </a:r>
            <a:r>
              <a:rPr lang="en-US" altLang="zh-CN" sz="3200">
                <a:latin typeface="Times New Roman" panose="02020603050405020304" pitchFamily="18" charset="0"/>
              </a:rPr>
              <a:t>(64 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>
                <a:latin typeface="Times New Roman" panose="02020603050405020304" pitchFamily="18" charset="0"/>
              </a:rPr>
              <a:t> 64)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</a:p>
        </p:txBody>
      </p:sp>
      <p:grpSp>
        <p:nvGrpSpPr>
          <p:cNvPr id="132105" name="Group 300"/>
          <p:cNvGrpSpPr/>
          <p:nvPr/>
        </p:nvGrpSpPr>
        <p:grpSpPr bwMode="auto">
          <a:xfrm>
            <a:off x="2228850" y="4351338"/>
            <a:ext cx="6173788" cy="1295400"/>
            <a:chOff x="1404" y="2741"/>
            <a:chExt cx="3889" cy="816"/>
          </a:xfrm>
        </p:grpSpPr>
        <p:sp>
          <p:nvSpPr>
            <p:cNvPr id="132197" name="Freeform 301"/>
            <p:cNvSpPr/>
            <p:nvPr/>
          </p:nvSpPr>
          <p:spPr bwMode="auto">
            <a:xfrm>
              <a:off x="1404" y="2741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2"/>
                <a:gd name="T16" fmla="*/ 0 h 816"/>
                <a:gd name="T17" fmla="*/ 432 w 432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198" name="Freeform 302"/>
            <p:cNvSpPr/>
            <p:nvPr/>
          </p:nvSpPr>
          <p:spPr bwMode="auto">
            <a:xfrm>
              <a:off x="4861" y="2741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2"/>
                <a:gd name="T16" fmla="*/ 0 h 816"/>
                <a:gd name="T17" fmla="*/ 432 w 432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199" name="Freeform 303"/>
            <p:cNvSpPr/>
            <p:nvPr/>
          </p:nvSpPr>
          <p:spPr bwMode="auto">
            <a:xfrm>
              <a:off x="3709" y="2741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2"/>
                <a:gd name="T16" fmla="*/ 0 h 816"/>
                <a:gd name="T17" fmla="*/ 432 w 432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2200" name="Freeform 304"/>
            <p:cNvSpPr/>
            <p:nvPr/>
          </p:nvSpPr>
          <p:spPr bwMode="auto">
            <a:xfrm>
              <a:off x="2555" y="2741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2"/>
                <a:gd name="T16" fmla="*/ 0 h 816"/>
                <a:gd name="T17" fmla="*/ 432 w 432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32106" name="Group 305"/>
          <p:cNvGrpSpPr/>
          <p:nvPr/>
        </p:nvGrpSpPr>
        <p:grpSpPr bwMode="auto">
          <a:xfrm>
            <a:off x="1431925" y="1360488"/>
            <a:ext cx="7250113" cy="682625"/>
            <a:chOff x="902" y="857"/>
            <a:chExt cx="4567" cy="430"/>
          </a:xfrm>
        </p:grpSpPr>
        <p:grpSp>
          <p:nvGrpSpPr>
            <p:cNvPr id="132173" name="Group 306"/>
            <p:cNvGrpSpPr/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132178" name="Group 307"/>
              <p:cNvGrpSpPr/>
              <p:nvPr/>
            </p:nvGrpSpPr>
            <p:grpSpPr bwMode="auto">
              <a:xfrm>
                <a:off x="1152" y="1013"/>
                <a:ext cx="4317" cy="274"/>
                <a:chOff x="1176" y="1068"/>
                <a:chExt cx="4317" cy="274"/>
              </a:xfrm>
            </p:grpSpPr>
            <p:sp>
              <p:nvSpPr>
                <p:cNvPr id="132189" name="Rectangle 308"/>
                <p:cNvSpPr>
                  <a:spLocks noChangeArrowheads="1"/>
                </p:cNvSpPr>
                <p:nvPr/>
              </p:nvSpPr>
              <p:spPr bwMode="auto">
                <a:xfrm>
                  <a:off x="175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15</a:t>
                  </a:r>
                </a:p>
              </p:txBody>
            </p:sp>
            <p:sp>
              <p:nvSpPr>
                <p:cNvPr id="132190" name="Rectangle 309"/>
                <p:cNvSpPr>
                  <a:spLocks noChangeArrowheads="1"/>
                </p:cNvSpPr>
                <p:nvPr/>
              </p:nvSpPr>
              <p:spPr bwMode="auto">
                <a:xfrm>
                  <a:off x="117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2191" name="Rectangle 310"/>
                <p:cNvSpPr>
                  <a:spLocks noChangeArrowheads="1"/>
                </p:cNvSpPr>
                <p:nvPr/>
              </p:nvSpPr>
              <p:spPr bwMode="auto">
                <a:xfrm>
                  <a:off x="289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31</a:t>
                  </a:r>
                </a:p>
              </p:txBody>
            </p:sp>
            <p:sp>
              <p:nvSpPr>
                <p:cNvPr id="132192" name="Rectangle 311"/>
                <p:cNvSpPr>
                  <a:spLocks noChangeArrowheads="1"/>
                </p:cNvSpPr>
                <p:nvPr/>
              </p:nvSpPr>
              <p:spPr bwMode="auto">
                <a:xfrm>
                  <a:off x="231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16</a:t>
                  </a:r>
                </a:p>
              </p:txBody>
            </p:sp>
            <p:sp>
              <p:nvSpPr>
                <p:cNvPr id="132193" name="Rectangle 312"/>
                <p:cNvSpPr>
                  <a:spLocks noChangeArrowheads="1"/>
                </p:cNvSpPr>
                <p:nvPr/>
              </p:nvSpPr>
              <p:spPr bwMode="auto">
                <a:xfrm>
                  <a:off x="4067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47</a:t>
                  </a:r>
                </a:p>
              </p:txBody>
            </p:sp>
            <p:sp>
              <p:nvSpPr>
                <p:cNvPr id="132194" name="Rectangle 313"/>
                <p:cNvSpPr>
                  <a:spLocks noChangeArrowheads="1"/>
                </p:cNvSpPr>
                <p:nvPr/>
              </p:nvSpPr>
              <p:spPr bwMode="auto">
                <a:xfrm>
                  <a:off x="3491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32</a:t>
                  </a:r>
                </a:p>
              </p:txBody>
            </p:sp>
            <p:sp>
              <p:nvSpPr>
                <p:cNvPr id="132195" name="Rectangle 314"/>
                <p:cNvSpPr>
                  <a:spLocks noChangeArrowheads="1"/>
                </p:cNvSpPr>
                <p:nvPr/>
              </p:nvSpPr>
              <p:spPr bwMode="auto">
                <a:xfrm>
                  <a:off x="5205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63</a:t>
                  </a:r>
                </a:p>
              </p:txBody>
            </p:sp>
            <p:sp>
              <p:nvSpPr>
                <p:cNvPr id="132196" name="Rectangle 315"/>
                <p:cNvSpPr>
                  <a:spLocks noChangeArrowheads="1"/>
                </p:cNvSpPr>
                <p:nvPr/>
              </p:nvSpPr>
              <p:spPr bwMode="auto">
                <a:xfrm>
                  <a:off x="462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48</a:t>
                  </a:r>
                </a:p>
              </p:txBody>
            </p:sp>
          </p:grpSp>
          <p:grpSp>
            <p:nvGrpSpPr>
              <p:cNvPr id="132179" name="Group 316"/>
              <p:cNvGrpSpPr/>
              <p:nvPr/>
            </p:nvGrpSpPr>
            <p:grpSpPr bwMode="auto">
              <a:xfrm>
                <a:off x="902" y="857"/>
                <a:ext cx="4419" cy="145"/>
                <a:chOff x="902" y="857"/>
                <a:chExt cx="4419" cy="145"/>
              </a:xfrm>
            </p:grpSpPr>
            <p:sp>
              <p:nvSpPr>
                <p:cNvPr id="132180" name="Freeform 317"/>
                <p:cNvSpPr/>
                <p:nvPr/>
              </p:nvSpPr>
              <p:spPr bwMode="auto">
                <a:xfrm>
                  <a:off x="902" y="857"/>
                  <a:ext cx="4419" cy="1"/>
                </a:xfrm>
                <a:custGeom>
                  <a:avLst/>
                  <a:gdLst>
                    <a:gd name="T0" fmla="*/ 0 w 4419"/>
                    <a:gd name="T1" fmla="*/ 1 h 1"/>
                    <a:gd name="T2" fmla="*/ 4419 w 4419"/>
                    <a:gd name="T3" fmla="*/ 0 h 1"/>
                    <a:gd name="T4" fmla="*/ 0 60000 65536"/>
                    <a:gd name="T5" fmla="*/ 0 60000 65536"/>
                    <a:gd name="T6" fmla="*/ 0 w 4419"/>
                    <a:gd name="T7" fmla="*/ 0 h 1"/>
                    <a:gd name="T8" fmla="*/ 4419 w 4419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419" h="1">
                      <a:moveTo>
                        <a:pt x="0" y="1"/>
                      </a:moveTo>
                      <a:lnTo>
                        <a:pt x="4419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2181" name="Line 318"/>
                <p:cNvSpPr>
                  <a:spLocks noChangeShapeType="1"/>
                </p:cNvSpPr>
                <p:nvPr/>
              </p:nvSpPr>
              <p:spPr bwMode="auto">
                <a:xfrm>
                  <a:off x="127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2182" name="Line 319"/>
                <p:cNvSpPr>
                  <a:spLocks noChangeShapeType="1"/>
                </p:cNvSpPr>
                <p:nvPr/>
              </p:nvSpPr>
              <p:spPr bwMode="auto">
                <a:xfrm>
                  <a:off x="184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2183" name="Line 320"/>
                <p:cNvSpPr>
                  <a:spLocks noChangeShapeType="1"/>
                </p:cNvSpPr>
                <p:nvPr/>
              </p:nvSpPr>
              <p:spPr bwMode="auto">
                <a:xfrm>
                  <a:off x="242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2184" name="Line 321"/>
                <p:cNvSpPr>
                  <a:spLocks noChangeShapeType="1"/>
                </p:cNvSpPr>
                <p:nvPr/>
              </p:nvSpPr>
              <p:spPr bwMode="auto">
                <a:xfrm>
                  <a:off x="3000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2185" name="Line 322"/>
                <p:cNvSpPr>
                  <a:spLocks noChangeShapeType="1"/>
                </p:cNvSpPr>
                <p:nvPr/>
              </p:nvSpPr>
              <p:spPr bwMode="auto">
                <a:xfrm>
                  <a:off x="3576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2186" name="Line 323"/>
                <p:cNvSpPr>
                  <a:spLocks noChangeShapeType="1"/>
                </p:cNvSpPr>
                <p:nvPr/>
              </p:nvSpPr>
              <p:spPr bwMode="auto">
                <a:xfrm>
                  <a:off x="415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2187" name="Line 324"/>
                <p:cNvSpPr>
                  <a:spLocks noChangeShapeType="1"/>
                </p:cNvSpPr>
                <p:nvPr/>
              </p:nvSpPr>
              <p:spPr bwMode="auto">
                <a:xfrm>
                  <a:off x="472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2188" name="Line 325"/>
                <p:cNvSpPr>
                  <a:spLocks noChangeShapeType="1"/>
                </p:cNvSpPr>
                <p:nvPr/>
              </p:nvSpPr>
              <p:spPr bwMode="auto">
                <a:xfrm>
                  <a:off x="530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32174" name="Text Box 326"/>
            <p:cNvSpPr txBox="1">
              <a:spLocks noChangeArrowheads="1"/>
            </p:cNvSpPr>
            <p:nvPr/>
          </p:nvSpPr>
          <p:spPr bwMode="auto">
            <a:xfrm>
              <a:off x="140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2175" name="Text Box 327"/>
            <p:cNvSpPr txBox="1">
              <a:spLocks noChangeArrowheads="1"/>
            </p:cNvSpPr>
            <p:nvPr/>
          </p:nvSpPr>
          <p:spPr bwMode="auto">
            <a:xfrm>
              <a:off x="254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2176" name="Text Box 328"/>
            <p:cNvSpPr txBox="1">
              <a:spLocks noChangeArrowheads="1"/>
            </p:cNvSpPr>
            <p:nvPr/>
          </p:nvSpPr>
          <p:spPr bwMode="auto">
            <a:xfrm>
              <a:off x="3718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2177" name="Text Box 329"/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132107" name="Rectangle 330"/>
          <p:cNvSpPr>
            <a:spLocks noChangeArrowheads="1"/>
          </p:cNvSpPr>
          <p:nvPr/>
        </p:nvSpPr>
        <p:spPr bwMode="auto">
          <a:xfrm>
            <a:off x="1828800" y="1608138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</a:ln>
        </p:spPr>
        <p:txBody>
          <a:bodyPr lIns="0" rIns="0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bg2"/>
                </a:solidFill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132108" name="Rectangle 331"/>
          <p:cNvSpPr>
            <a:spLocks noChangeArrowheads="1"/>
          </p:cNvSpPr>
          <p:nvPr/>
        </p:nvSpPr>
        <p:spPr bwMode="auto">
          <a:xfrm>
            <a:off x="3638550" y="1608138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</a:ln>
        </p:spPr>
        <p:txBody>
          <a:bodyPr lIns="0" rIns="0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bg2"/>
                </a:solidFill>
                <a:latin typeface="Times New Roman" panose="02020603050405020304" pitchFamily="18" charset="0"/>
              </a:rPr>
              <a:t>16</a:t>
            </a:r>
          </a:p>
        </p:txBody>
      </p:sp>
      <p:sp>
        <p:nvSpPr>
          <p:cNvPr id="132109" name="Rectangle 332"/>
          <p:cNvSpPr>
            <a:spLocks noChangeArrowheads="1"/>
          </p:cNvSpPr>
          <p:nvPr/>
        </p:nvSpPr>
        <p:spPr bwMode="auto">
          <a:xfrm>
            <a:off x="5503863" y="1608138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</a:ln>
        </p:spPr>
        <p:txBody>
          <a:bodyPr lIns="0" rIns="0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bg2"/>
                </a:solidFill>
                <a:latin typeface="Times New Roman" panose="02020603050405020304" pitchFamily="18" charset="0"/>
              </a:rPr>
              <a:t>32</a:t>
            </a:r>
          </a:p>
        </p:txBody>
      </p:sp>
      <p:sp>
        <p:nvSpPr>
          <p:cNvPr id="132110" name="Rectangle 333"/>
          <p:cNvSpPr>
            <a:spLocks noChangeArrowheads="1"/>
          </p:cNvSpPr>
          <p:nvPr/>
        </p:nvSpPr>
        <p:spPr bwMode="auto">
          <a:xfrm>
            <a:off x="7305675" y="1608138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</a:ln>
        </p:spPr>
        <p:txBody>
          <a:bodyPr lIns="0" rIns="0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bg2"/>
                </a:solidFill>
                <a:latin typeface="Times New Roman" panose="02020603050405020304" pitchFamily="18" charset="0"/>
              </a:rPr>
              <a:t>48</a:t>
            </a:r>
          </a:p>
        </p:txBody>
      </p:sp>
      <p:grpSp>
        <p:nvGrpSpPr>
          <p:cNvPr id="31" name="Group 334"/>
          <p:cNvGrpSpPr/>
          <p:nvPr/>
        </p:nvGrpSpPr>
        <p:grpSpPr bwMode="auto">
          <a:xfrm>
            <a:off x="1812925" y="5629275"/>
            <a:ext cx="6832600" cy="533400"/>
            <a:chOff x="1142" y="3546"/>
            <a:chExt cx="4304" cy="336"/>
          </a:xfrm>
        </p:grpSpPr>
        <p:grpSp>
          <p:nvGrpSpPr>
            <p:cNvPr id="132161" name="Group 335"/>
            <p:cNvGrpSpPr/>
            <p:nvPr/>
          </p:nvGrpSpPr>
          <p:grpSpPr bwMode="auto">
            <a:xfrm>
              <a:off x="1142" y="3546"/>
              <a:ext cx="823" cy="336"/>
              <a:chOff x="1142" y="3546"/>
              <a:chExt cx="823" cy="336"/>
            </a:xfrm>
          </p:grpSpPr>
          <p:sp>
            <p:nvSpPr>
              <p:cNvPr id="132171" name="Rectangle 336"/>
              <p:cNvSpPr>
                <a:spLocks noChangeArrowheads="1"/>
              </p:cNvSpPr>
              <p:nvPr/>
            </p:nvSpPr>
            <p:spPr bwMode="auto">
              <a:xfrm>
                <a:off x="1142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2172" name="Text Box 337"/>
              <p:cNvSpPr txBox="1">
                <a:spLocks noChangeArrowheads="1"/>
              </p:cNvSpPr>
              <p:nvPr/>
            </p:nvSpPr>
            <p:spPr bwMode="auto">
              <a:xfrm>
                <a:off x="1200" y="359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</p:grpSp>
        <p:grpSp>
          <p:nvGrpSpPr>
            <p:cNvPr id="132162" name="Group 338"/>
            <p:cNvGrpSpPr/>
            <p:nvPr/>
          </p:nvGrpSpPr>
          <p:grpSpPr bwMode="auto">
            <a:xfrm>
              <a:off x="2318" y="3546"/>
              <a:ext cx="823" cy="336"/>
              <a:chOff x="2318" y="3546"/>
              <a:chExt cx="823" cy="336"/>
            </a:xfrm>
          </p:grpSpPr>
          <p:sp>
            <p:nvSpPr>
              <p:cNvPr id="132169" name="Rectangle 339"/>
              <p:cNvSpPr>
                <a:spLocks noChangeArrowheads="1"/>
              </p:cNvSpPr>
              <p:nvPr/>
            </p:nvSpPr>
            <p:spPr bwMode="auto">
              <a:xfrm>
                <a:off x="2318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2170" name="Text Box 340"/>
              <p:cNvSpPr txBox="1">
                <a:spLocks noChangeArrowheads="1"/>
              </p:cNvSpPr>
              <p:nvPr/>
            </p:nvSpPr>
            <p:spPr bwMode="auto">
              <a:xfrm>
                <a:off x="2352" y="360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</p:grpSp>
        <p:grpSp>
          <p:nvGrpSpPr>
            <p:cNvPr id="132163" name="Group 341"/>
            <p:cNvGrpSpPr/>
            <p:nvPr/>
          </p:nvGrpSpPr>
          <p:grpSpPr bwMode="auto">
            <a:xfrm>
              <a:off x="3470" y="3546"/>
              <a:ext cx="823" cy="336"/>
              <a:chOff x="3470" y="3546"/>
              <a:chExt cx="823" cy="336"/>
            </a:xfrm>
          </p:grpSpPr>
          <p:sp>
            <p:nvSpPr>
              <p:cNvPr id="132167" name="Rectangle 342"/>
              <p:cNvSpPr>
                <a:spLocks noChangeArrowheads="1"/>
              </p:cNvSpPr>
              <p:nvPr/>
            </p:nvSpPr>
            <p:spPr bwMode="auto">
              <a:xfrm>
                <a:off x="3470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2168" name="Text Box 343"/>
              <p:cNvSpPr txBox="1">
                <a:spLocks noChangeArrowheads="1"/>
              </p:cNvSpPr>
              <p:nvPr/>
            </p:nvSpPr>
            <p:spPr bwMode="auto">
              <a:xfrm>
                <a:off x="3504" y="360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</p:grpSp>
        <p:grpSp>
          <p:nvGrpSpPr>
            <p:cNvPr id="132164" name="Group 344"/>
            <p:cNvGrpSpPr/>
            <p:nvPr/>
          </p:nvGrpSpPr>
          <p:grpSpPr bwMode="auto">
            <a:xfrm>
              <a:off x="4623" y="3546"/>
              <a:ext cx="823" cy="336"/>
              <a:chOff x="4623" y="3546"/>
              <a:chExt cx="823" cy="336"/>
            </a:xfrm>
          </p:grpSpPr>
          <p:sp>
            <p:nvSpPr>
              <p:cNvPr id="132165" name="Rectangle 345"/>
              <p:cNvSpPr>
                <a:spLocks noChangeArrowheads="1"/>
              </p:cNvSpPr>
              <p:nvPr/>
            </p:nvSpPr>
            <p:spPr bwMode="auto">
              <a:xfrm>
                <a:off x="4623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2166" name="Text Box 346"/>
              <p:cNvSpPr txBox="1">
                <a:spLocks noChangeArrowheads="1"/>
              </p:cNvSpPr>
              <p:nvPr/>
            </p:nvSpPr>
            <p:spPr bwMode="auto">
              <a:xfrm>
                <a:off x="4656" y="360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</p:grpSp>
      </p:grpSp>
      <p:grpSp>
        <p:nvGrpSpPr>
          <p:cNvPr id="132112" name="Group 347"/>
          <p:cNvGrpSpPr/>
          <p:nvPr/>
        </p:nvGrpSpPr>
        <p:grpSpPr bwMode="auto">
          <a:xfrm>
            <a:off x="1452563" y="2617788"/>
            <a:ext cx="6613525" cy="1963737"/>
            <a:chOff x="915" y="1649"/>
            <a:chExt cx="4166" cy="1237"/>
          </a:xfrm>
        </p:grpSpPr>
        <p:grpSp>
          <p:nvGrpSpPr>
            <p:cNvPr id="132114" name="Group 348"/>
            <p:cNvGrpSpPr/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132123" name="Group 349"/>
              <p:cNvGrpSpPr/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132156" name="Freeform 350"/>
                <p:cNvSpPr/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2157" name="Freeform 351"/>
                <p:cNvSpPr/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2158" name="Freeform 352"/>
                <p:cNvSpPr/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  <a:gd name="T6" fmla="*/ 0 w 1"/>
                    <a:gd name="T7" fmla="*/ 0 h 176"/>
                    <a:gd name="T8" fmla="*/ 1 w 1"/>
                    <a:gd name="T9" fmla="*/ 176 h 17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2159" name="Freeform 353"/>
                <p:cNvSpPr/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  <a:gd name="T6" fmla="*/ 0 w 1"/>
                    <a:gd name="T7" fmla="*/ 0 h 178"/>
                    <a:gd name="T8" fmla="*/ 1 w 1"/>
                    <a:gd name="T9" fmla="*/ 178 h 178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2160" name="Freeform 354"/>
                <p:cNvSpPr/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  <a:gd name="T6" fmla="*/ 0 w 3858"/>
                    <a:gd name="T7" fmla="*/ 0 h 2"/>
                    <a:gd name="T8" fmla="*/ 3858 w 3858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2124" name="Group 355"/>
              <p:cNvGrpSpPr/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132149" name="Group 356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2154" name="Line 357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2155" name="Line 358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2150" name="Freeform 359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2151" name="Group 360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2152" name="Line 361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2153" name="Line 362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32125" name="Group 363"/>
              <p:cNvGrpSpPr/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132142" name="Group 364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2147" name="Line 365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2148" name="Line 366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2143" name="Freeform 367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2144" name="Group 368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2145" name="Line 369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2146" name="Line 370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32126" name="Group 371"/>
              <p:cNvGrpSpPr/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132135" name="Group 372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2140" name="Line 373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2141" name="Line 374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2136" name="Freeform 375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2137" name="Group 376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2138" name="Line 377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2139" name="Line 378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32127" name="Group 379"/>
              <p:cNvGrpSpPr/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132128" name="Group 380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2133" name="Line 381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2134" name="Line 382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2129" name="Freeform 383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2130" name="Group 384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2131" name="Line 385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2132" name="Line 386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</p:grpSp>
        <p:sp>
          <p:nvSpPr>
            <p:cNvPr id="132115" name="Rectangle 387"/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2116" name="Text Box 388"/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2117" name="Rectangle 389"/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32118" name="Rectangle 390"/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48</a:t>
              </a:r>
            </a:p>
          </p:txBody>
        </p:sp>
        <p:sp>
          <p:nvSpPr>
            <p:cNvPr id="132119" name="Rectangle 391"/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32</a:t>
              </a:r>
            </a:p>
          </p:txBody>
        </p:sp>
        <p:sp>
          <p:nvSpPr>
            <p:cNvPr id="132120" name="Text Box 392"/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2121" name="Text Box 393"/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2122" name="Text Box 394"/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132113" name="AutoShape 395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122" name="Group 2"/>
          <p:cNvGrpSpPr/>
          <p:nvPr/>
        </p:nvGrpSpPr>
        <p:grpSpPr bwMode="auto">
          <a:xfrm>
            <a:off x="222250" y="1131888"/>
            <a:ext cx="8921750" cy="5654675"/>
            <a:chOff x="140" y="713"/>
            <a:chExt cx="5620" cy="3562"/>
          </a:xfrm>
        </p:grpSpPr>
        <p:sp>
          <p:nvSpPr>
            <p:cNvPr id="133309" name="Rectangle 3"/>
            <p:cNvSpPr>
              <a:spLocks noChangeArrowheads="1"/>
            </p:cNvSpPr>
            <p:nvPr/>
          </p:nvSpPr>
          <p:spPr bwMode="auto">
            <a:xfrm>
              <a:off x="332" y="713"/>
              <a:ext cx="576" cy="316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33310" name="Rectangle 4"/>
            <p:cNvSpPr>
              <a:spLocks noChangeArrowheads="1"/>
            </p:cNvSpPr>
            <p:nvPr/>
          </p:nvSpPr>
          <p:spPr bwMode="auto">
            <a:xfrm>
              <a:off x="172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15</a:t>
              </a:r>
            </a:p>
          </p:txBody>
        </p:sp>
        <p:sp>
          <p:nvSpPr>
            <p:cNvPr id="133311" name="Text Box 5"/>
            <p:cNvSpPr txBox="1">
              <a:spLocks noChangeArrowheads="1"/>
            </p:cNvSpPr>
            <p:nvPr/>
          </p:nvSpPr>
          <p:spPr bwMode="auto">
            <a:xfrm>
              <a:off x="1408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3312" name="Rectangle 6"/>
            <p:cNvSpPr>
              <a:spLocks noChangeArrowheads="1"/>
            </p:cNvSpPr>
            <p:nvPr/>
          </p:nvSpPr>
          <p:spPr bwMode="auto">
            <a:xfrm>
              <a:off x="1152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3313" name="Rectangle 7"/>
            <p:cNvSpPr>
              <a:spLocks noChangeArrowheads="1"/>
            </p:cNvSpPr>
            <p:nvPr/>
          </p:nvSpPr>
          <p:spPr bwMode="auto">
            <a:xfrm>
              <a:off x="2869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31</a:t>
              </a:r>
            </a:p>
          </p:txBody>
        </p:sp>
        <p:sp>
          <p:nvSpPr>
            <p:cNvPr id="133314" name="Text Box 8"/>
            <p:cNvSpPr txBox="1">
              <a:spLocks noChangeArrowheads="1"/>
            </p:cNvSpPr>
            <p:nvPr/>
          </p:nvSpPr>
          <p:spPr bwMode="auto">
            <a:xfrm>
              <a:off x="2549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3315" name="Rectangle 9"/>
            <p:cNvSpPr>
              <a:spLocks noChangeArrowheads="1"/>
            </p:cNvSpPr>
            <p:nvPr/>
          </p:nvSpPr>
          <p:spPr bwMode="auto">
            <a:xfrm>
              <a:off x="2293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33316" name="Rectangle 10"/>
            <p:cNvSpPr>
              <a:spLocks noChangeArrowheads="1"/>
            </p:cNvSpPr>
            <p:nvPr/>
          </p:nvSpPr>
          <p:spPr bwMode="auto">
            <a:xfrm>
              <a:off x="404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47</a:t>
              </a:r>
            </a:p>
          </p:txBody>
        </p:sp>
        <p:sp>
          <p:nvSpPr>
            <p:cNvPr id="133317" name="Text Box 11"/>
            <p:cNvSpPr txBox="1">
              <a:spLocks noChangeArrowheads="1"/>
            </p:cNvSpPr>
            <p:nvPr/>
          </p:nvSpPr>
          <p:spPr bwMode="auto">
            <a:xfrm>
              <a:off x="3724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3318" name="Rectangle 12"/>
            <p:cNvSpPr>
              <a:spLocks noChangeArrowheads="1"/>
            </p:cNvSpPr>
            <p:nvPr/>
          </p:nvSpPr>
          <p:spPr bwMode="auto">
            <a:xfrm>
              <a:off x="346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32</a:t>
              </a:r>
            </a:p>
          </p:txBody>
        </p:sp>
        <p:sp>
          <p:nvSpPr>
            <p:cNvPr id="133319" name="Rectangle 13"/>
            <p:cNvSpPr>
              <a:spLocks noChangeArrowheads="1"/>
            </p:cNvSpPr>
            <p:nvPr/>
          </p:nvSpPr>
          <p:spPr bwMode="auto">
            <a:xfrm>
              <a:off x="5180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63</a:t>
              </a:r>
            </a:p>
          </p:txBody>
        </p:sp>
        <p:sp>
          <p:nvSpPr>
            <p:cNvPr id="133320" name="Text Box 14"/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3321" name="Rectangle 15"/>
            <p:cNvSpPr>
              <a:spLocks noChangeArrowheads="1"/>
            </p:cNvSpPr>
            <p:nvPr/>
          </p:nvSpPr>
          <p:spPr bwMode="auto">
            <a:xfrm>
              <a:off x="460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48</a:t>
              </a:r>
            </a:p>
          </p:txBody>
        </p:sp>
        <p:sp>
          <p:nvSpPr>
            <p:cNvPr id="133322" name="Rectangle 16"/>
            <p:cNvSpPr>
              <a:spLocks noChangeArrowheads="1"/>
            </p:cNvSpPr>
            <p:nvPr/>
          </p:nvSpPr>
          <p:spPr bwMode="auto">
            <a:xfrm>
              <a:off x="172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15</a:t>
              </a:r>
            </a:p>
          </p:txBody>
        </p:sp>
        <p:sp>
          <p:nvSpPr>
            <p:cNvPr id="133323" name="Rectangle 17"/>
            <p:cNvSpPr>
              <a:spLocks noChangeArrowheads="1"/>
            </p:cNvSpPr>
            <p:nvPr/>
          </p:nvSpPr>
          <p:spPr bwMode="auto">
            <a:xfrm>
              <a:off x="1152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3324" name="Rectangle 18"/>
            <p:cNvSpPr>
              <a:spLocks noChangeArrowheads="1"/>
            </p:cNvSpPr>
            <p:nvPr/>
          </p:nvSpPr>
          <p:spPr bwMode="auto">
            <a:xfrm>
              <a:off x="2869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31</a:t>
              </a:r>
            </a:p>
          </p:txBody>
        </p:sp>
        <p:sp>
          <p:nvSpPr>
            <p:cNvPr id="133325" name="Rectangle 19"/>
            <p:cNvSpPr>
              <a:spLocks noChangeArrowheads="1"/>
            </p:cNvSpPr>
            <p:nvPr/>
          </p:nvSpPr>
          <p:spPr bwMode="auto">
            <a:xfrm>
              <a:off x="2293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33326" name="Rectangle 20"/>
            <p:cNvSpPr>
              <a:spLocks noChangeArrowheads="1"/>
            </p:cNvSpPr>
            <p:nvPr/>
          </p:nvSpPr>
          <p:spPr bwMode="auto">
            <a:xfrm>
              <a:off x="404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47</a:t>
              </a:r>
            </a:p>
          </p:txBody>
        </p:sp>
        <p:sp>
          <p:nvSpPr>
            <p:cNvPr id="133327" name="Rectangle 21"/>
            <p:cNvSpPr>
              <a:spLocks noChangeArrowheads="1"/>
            </p:cNvSpPr>
            <p:nvPr/>
          </p:nvSpPr>
          <p:spPr bwMode="auto">
            <a:xfrm>
              <a:off x="346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32</a:t>
              </a:r>
            </a:p>
          </p:txBody>
        </p:sp>
        <p:sp>
          <p:nvSpPr>
            <p:cNvPr id="133328" name="Rectangle 22"/>
            <p:cNvSpPr>
              <a:spLocks noChangeArrowheads="1"/>
            </p:cNvSpPr>
            <p:nvPr/>
          </p:nvSpPr>
          <p:spPr bwMode="auto">
            <a:xfrm>
              <a:off x="5180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63</a:t>
              </a:r>
            </a:p>
          </p:txBody>
        </p:sp>
        <p:sp>
          <p:nvSpPr>
            <p:cNvPr id="133329" name="Rectangle 23"/>
            <p:cNvSpPr>
              <a:spLocks noChangeArrowheads="1"/>
            </p:cNvSpPr>
            <p:nvPr/>
          </p:nvSpPr>
          <p:spPr bwMode="auto">
            <a:xfrm>
              <a:off x="460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48</a:t>
              </a:r>
            </a:p>
          </p:txBody>
        </p:sp>
        <p:sp>
          <p:nvSpPr>
            <p:cNvPr id="133330" name="Line 24"/>
            <p:cNvSpPr>
              <a:spLocks noChangeShapeType="1"/>
            </p:cNvSpPr>
            <p:nvPr/>
          </p:nvSpPr>
          <p:spPr bwMode="auto">
            <a:xfrm rot="5400000">
              <a:off x="1325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31" name="Line 25"/>
            <p:cNvSpPr>
              <a:spLocks noChangeShapeType="1"/>
            </p:cNvSpPr>
            <p:nvPr/>
          </p:nvSpPr>
          <p:spPr bwMode="auto">
            <a:xfrm rot="5400000">
              <a:off x="1308" y="271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32" name="Freeform 26"/>
            <p:cNvSpPr/>
            <p:nvPr/>
          </p:nvSpPr>
          <p:spPr bwMode="auto">
            <a:xfrm>
              <a:off x="1260" y="2709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33" name="Line 27"/>
            <p:cNvSpPr>
              <a:spLocks noChangeShapeType="1"/>
            </p:cNvSpPr>
            <p:nvPr/>
          </p:nvSpPr>
          <p:spPr bwMode="auto">
            <a:xfrm rot="-5400000">
              <a:off x="1133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34" name="Line 28"/>
            <p:cNvSpPr>
              <a:spLocks noChangeShapeType="1"/>
            </p:cNvSpPr>
            <p:nvPr/>
          </p:nvSpPr>
          <p:spPr bwMode="auto">
            <a:xfrm rot="-5400000">
              <a:off x="1212" y="2714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35" name="Freeform 29"/>
            <p:cNvSpPr/>
            <p:nvPr/>
          </p:nvSpPr>
          <p:spPr bwMode="auto">
            <a:xfrm>
              <a:off x="1434" y="2353"/>
              <a:ext cx="112" cy="1"/>
            </a:xfrm>
            <a:custGeom>
              <a:avLst/>
              <a:gdLst>
                <a:gd name="T0" fmla="*/ 0 w 112"/>
                <a:gd name="T1" fmla="*/ 0 h 1"/>
                <a:gd name="T2" fmla="*/ 112 w 112"/>
                <a:gd name="T3" fmla="*/ 0 h 1"/>
                <a:gd name="T4" fmla="*/ 0 60000 65536"/>
                <a:gd name="T5" fmla="*/ 0 60000 65536"/>
                <a:gd name="T6" fmla="*/ 0 w 112"/>
                <a:gd name="T7" fmla="*/ 0 h 1"/>
                <a:gd name="T8" fmla="*/ 112 w 11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2" h="1">
                  <a:moveTo>
                    <a:pt x="0" y="0"/>
                  </a:moveTo>
                  <a:lnTo>
                    <a:pt x="112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36" name="Freeform 30"/>
            <p:cNvSpPr/>
            <p:nvPr/>
          </p:nvSpPr>
          <p:spPr bwMode="auto">
            <a:xfrm>
              <a:off x="1059" y="1209"/>
              <a:ext cx="152" cy="1469"/>
            </a:xfrm>
            <a:custGeom>
              <a:avLst/>
              <a:gdLst>
                <a:gd name="T0" fmla="*/ 152 w 152"/>
                <a:gd name="T1" fmla="*/ 1469 h 1469"/>
                <a:gd name="T2" fmla="*/ 0 w 152"/>
                <a:gd name="T3" fmla="*/ 1469 h 1469"/>
                <a:gd name="T4" fmla="*/ 0 w 152"/>
                <a:gd name="T5" fmla="*/ 0 h 1469"/>
                <a:gd name="T6" fmla="*/ 95 w 152"/>
                <a:gd name="T7" fmla="*/ 1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9"/>
                <a:gd name="T14" fmla="*/ 152 w 152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9">
                  <a:moveTo>
                    <a:pt x="152" y="1469"/>
                  </a:moveTo>
                  <a:lnTo>
                    <a:pt x="0" y="1469"/>
                  </a:lnTo>
                  <a:lnTo>
                    <a:pt x="0" y="0"/>
                  </a:lnTo>
                  <a:lnTo>
                    <a:pt x="95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37" name="Freeform 31"/>
            <p:cNvSpPr/>
            <p:nvPr/>
          </p:nvSpPr>
          <p:spPr bwMode="auto">
            <a:xfrm>
              <a:off x="1055" y="2353"/>
              <a:ext cx="102" cy="1"/>
            </a:xfrm>
            <a:custGeom>
              <a:avLst/>
              <a:gdLst>
                <a:gd name="T0" fmla="*/ 102 w 102"/>
                <a:gd name="T1" fmla="*/ 0 h 1"/>
                <a:gd name="T2" fmla="*/ 0 w 102"/>
                <a:gd name="T3" fmla="*/ 0 h 1"/>
                <a:gd name="T4" fmla="*/ 0 60000 65536"/>
                <a:gd name="T5" fmla="*/ 0 60000 65536"/>
                <a:gd name="T6" fmla="*/ 0 w 102"/>
                <a:gd name="T7" fmla="*/ 0 h 1"/>
                <a:gd name="T8" fmla="*/ 102 w 10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2" h="1">
                  <a:moveTo>
                    <a:pt x="102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38" name="Line 32"/>
            <p:cNvSpPr>
              <a:spLocks noChangeShapeType="1"/>
            </p:cNvSpPr>
            <p:nvPr/>
          </p:nvSpPr>
          <p:spPr bwMode="auto">
            <a:xfrm rot="5400000">
              <a:off x="1896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39" name="Line 33"/>
            <p:cNvSpPr>
              <a:spLocks noChangeShapeType="1"/>
            </p:cNvSpPr>
            <p:nvPr/>
          </p:nvSpPr>
          <p:spPr bwMode="auto">
            <a:xfrm rot="5400000">
              <a:off x="1879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40" name="Freeform 34"/>
            <p:cNvSpPr/>
            <p:nvPr/>
          </p:nvSpPr>
          <p:spPr bwMode="auto">
            <a:xfrm>
              <a:off x="1831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41" name="Line 35"/>
            <p:cNvSpPr>
              <a:spLocks noChangeShapeType="1"/>
            </p:cNvSpPr>
            <p:nvPr/>
          </p:nvSpPr>
          <p:spPr bwMode="auto">
            <a:xfrm rot="-5400000">
              <a:off x="1704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42" name="Line 36"/>
            <p:cNvSpPr>
              <a:spLocks noChangeShapeType="1"/>
            </p:cNvSpPr>
            <p:nvPr/>
          </p:nvSpPr>
          <p:spPr bwMode="auto">
            <a:xfrm rot="-5400000">
              <a:off x="1783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43" name="Freeform 37"/>
            <p:cNvSpPr/>
            <p:nvPr/>
          </p:nvSpPr>
          <p:spPr bwMode="auto">
            <a:xfrm>
              <a:off x="2005" y="2353"/>
              <a:ext cx="103" cy="1"/>
            </a:xfrm>
            <a:custGeom>
              <a:avLst/>
              <a:gdLst>
                <a:gd name="T0" fmla="*/ 0 w 103"/>
                <a:gd name="T1" fmla="*/ 0 h 1"/>
                <a:gd name="T2" fmla="*/ 103 w 103"/>
                <a:gd name="T3" fmla="*/ 0 h 1"/>
                <a:gd name="T4" fmla="*/ 0 60000 65536"/>
                <a:gd name="T5" fmla="*/ 0 60000 65536"/>
                <a:gd name="T6" fmla="*/ 0 w 103"/>
                <a:gd name="T7" fmla="*/ 0 h 1"/>
                <a:gd name="T8" fmla="*/ 103 w 10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3" h="1">
                  <a:moveTo>
                    <a:pt x="0" y="0"/>
                  </a:moveTo>
                  <a:lnTo>
                    <a:pt x="103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44" name="Freeform 38"/>
            <p:cNvSpPr/>
            <p:nvPr/>
          </p:nvSpPr>
          <p:spPr bwMode="auto">
            <a:xfrm>
              <a:off x="1611" y="2352"/>
              <a:ext cx="113" cy="1"/>
            </a:xfrm>
            <a:custGeom>
              <a:avLst/>
              <a:gdLst>
                <a:gd name="T0" fmla="*/ 113 w 113"/>
                <a:gd name="T1" fmla="*/ 1 h 1"/>
                <a:gd name="T2" fmla="*/ 0 w 113"/>
                <a:gd name="T3" fmla="*/ 0 h 1"/>
                <a:gd name="T4" fmla="*/ 0 60000 65536"/>
                <a:gd name="T5" fmla="*/ 0 60000 65536"/>
                <a:gd name="T6" fmla="*/ 0 w 113"/>
                <a:gd name="T7" fmla="*/ 0 h 1"/>
                <a:gd name="T8" fmla="*/ 113 w 11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3" h="1">
                  <a:moveTo>
                    <a:pt x="113" y="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45" name="Line 39"/>
            <p:cNvSpPr>
              <a:spLocks noChangeShapeType="1"/>
            </p:cNvSpPr>
            <p:nvPr/>
          </p:nvSpPr>
          <p:spPr bwMode="auto">
            <a:xfrm rot="5400000">
              <a:off x="247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46" name="Line 40"/>
            <p:cNvSpPr>
              <a:spLocks noChangeShapeType="1"/>
            </p:cNvSpPr>
            <p:nvPr/>
          </p:nvSpPr>
          <p:spPr bwMode="auto">
            <a:xfrm rot="5400000">
              <a:off x="2460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47" name="Freeform 41"/>
            <p:cNvSpPr/>
            <p:nvPr/>
          </p:nvSpPr>
          <p:spPr bwMode="auto">
            <a:xfrm>
              <a:off x="2412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48" name="Line 42"/>
            <p:cNvSpPr>
              <a:spLocks noChangeShapeType="1"/>
            </p:cNvSpPr>
            <p:nvPr/>
          </p:nvSpPr>
          <p:spPr bwMode="auto">
            <a:xfrm rot="-5400000">
              <a:off x="2285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49" name="Line 43"/>
            <p:cNvSpPr>
              <a:spLocks noChangeShapeType="1"/>
            </p:cNvSpPr>
            <p:nvPr/>
          </p:nvSpPr>
          <p:spPr bwMode="auto">
            <a:xfrm rot="-5400000">
              <a:off x="2364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50" name="Freeform 44"/>
            <p:cNvSpPr/>
            <p:nvPr/>
          </p:nvSpPr>
          <p:spPr bwMode="auto">
            <a:xfrm>
              <a:off x="2586" y="2353"/>
              <a:ext cx="109" cy="1"/>
            </a:xfrm>
            <a:custGeom>
              <a:avLst/>
              <a:gdLst>
                <a:gd name="T0" fmla="*/ 0 w 109"/>
                <a:gd name="T1" fmla="*/ 0 h 1"/>
                <a:gd name="T2" fmla="*/ 109 w 109"/>
                <a:gd name="T3" fmla="*/ 0 h 1"/>
                <a:gd name="T4" fmla="*/ 0 60000 65536"/>
                <a:gd name="T5" fmla="*/ 0 60000 65536"/>
                <a:gd name="T6" fmla="*/ 0 w 109"/>
                <a:gd name="T7" fmla="*/ 0 h 1"/>
                <a:gd name="T8" fmla="*/ 109 w 10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9" h="1">
                  <a:moveTo>
                    <a:pt x="0" y="0"/>
                  </a:moveTo>
                  <a:lnTo>
                    <a:pt x="109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51" name="Freeform 45"/>
            <p:cNvSpPr/>
            <p:nvPr/>
          </p:nvSpPr>
          <p:spPr bwMode="auto">
            <a:xfrm>
              <a:off x="2207" y="2353"/>
              <a:ext cx="89" cy="1"/>
            </a:xfrm>
            <a:custGeom>
              <a:avLst/>
              <a:gdLst>
                <a:gd name="T0" fmla="*/ 89 w 89"/>
                <a:gd name="T1" fmla="*/ 0 h 1"/>
                <a:gd name="T2" fmla="*/ 0 w 89"/>
                <a:gd name="T3" fmla="*/ 0 h 1"/>
                <a:gd name="T4" fmla="*/ 0 60000 65536"/>
                <a:gd name="T5" fmla="*/ 0 60000 65536"/>
                <a:gd name="T6" fmla="*/ 0 w 89"/>
                <a:gd name="T7" fmla="*/ 0 h 1"/>
                <a:gd name="T8" fmla="*/ 89 w 8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9" h="1">
                  <a:moveTo>
                    <a:pt x="89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52" name="Line 46"/>
            <p:cNvSpPr>
              <a:spLocks noChangeShapeType="1"/>
            </p:cNvSpPr>
            <p:nvPr/>
          </p:nvSpPr>
          <p:spPr bwMode="auto">
            <a:xfrm rot="5400000">
              <a:off x="3053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53" name="Line 47"/>
            <p:cNvSpPr>
              <a:spLocks noChangeShapeType="1"/>
            </p:cNvSpPr>
            <p:nvPr/>
          </p:nvSpPr>
          <p:spPr bwMode="auto">
            <a:xfrm rot="5400000">
              <a:off x="3036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54" name="Freeform 48"/>
            <p:cNvSpPr/>
            <p:nvPr/>
          </p:nvSpPr>
          <p:spPr bwMode="auto">
            <a:xfrm>
              <a:off x="2988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55" name="Line 49"/>
            <p:cNvSpPr>
              <a:spLocks noChangeShapeType="1"/>
            </p:cNvSpPr>
            <p:nvPr/>
          </p:nvSpPr>
          <p:spPr bwMode="auto">
            <a:xfrm rot="-5400000">
              <a:off x="2861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56" name="Line 50"/>
            <p:cNvSpPr>
              <a:spLocks noChangeShapeType="1"/>
            </p:cNvSpPr>
            <p:nvPr/>
          </p:nvSpPr>
          <p:spPr bwMode="auto">
            <a:xfrm rot="-5400000">
              <a:off x="2940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57" name="Freeform 51"/>
            <p:cNvSpPr/>
            <p:nvPr/>
          </p:nvSpPr>
          <p:spPr bwMode="auto">
            <a:xfrm>
              <a:off x="3162" y="2353"/>
              <a:ext cx="115" cy="1"/>
            </a:xfrm>
            <a:custGeom>
              <a:avLst/>
              <a:gdLst>
                <a:gd name="T0" fmla="*/ 0 w 115"/>
                <a:gd name="T1" fmla="*/ 0 h 1"/>
                <a:gd name="T2" fmla="*/ 115 w 115"/>
                <a:gd name="T3" fmla="*/ 0 h 1"/>
                <a:gd name="T4" fmla="*/ 0 60000 65536"/>
                <a:gd name="T5" fmla="*/ 0 60000 65536"/>
                <a:gd name="T6" fmla="*/ 0 w 115"/>
                <a:gd name="T7" fmla="*/ 0 h 1"/>
                <a:gd name="T8" fmla="*/ 115 w 11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5" h="1">
                  <a:moveTo>
                    <a:pt x="0" y="0"/>
                  </a:moveTo>
                  <a:lnTo>
                    <a:pt x="11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58" name="Freeform 52"/>
            <p:cNvSpPr/>
            <p:nvPr/>
          </p:nvSpPr>
          <p:spPr bwMode="auto">
            <a:xfrm>
              <a:off x="2783" y="2353"/>
              <a:ext cx="90" cy="1"/>
            </a:xfrm>
            <a:custGeom>
              <a:avLst/>
              <a:gdLst>
                <a:gd name="T0" fmla="*/ 90 w 90"/>
                <a:gd name="T1" fmla="*/ 0 h 1"/>
                <a:gd name="T2" fmla="*/ 0 w 90"/>
                <a:gd name="T3" fmla="*/ 0 h 1"/>
                <a:gd name="T4" fmla="*/ 0 60000 65536"/>
                <a:gd name="T5" fmla="*/ 0 60000 65536"/>
                <a:gd name="T6" fmla="*/ 0 w 90"/>
                <a:gd name="T7" fmla="*/ 0 h 1"/>
                <a:gd name="T8" fmla="*/ 90 w 9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0" h="1">
                  <a:moveTo>
                    <a:pt x="90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59" name="Line 53"/>
            <p:cNvSpPr>
              <a:spLocks noChangeShapeType="1"/>
            </p:cNvSpPr>
            <p:nvPr/>
          </p:nvSpPr>
          <p:spPr bwMode="auto">
            <a:xfrm rot="5400000">
              <a:off x="3629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60" name="Line 54"/>
            <p:cNvSpPr>
              <a:spLocks noChangeShapeType="1"/>
            </p:cNvSpPr>
            <p:nvPr/>
          </p:nvSpPr>
          <p:spPr bwMode="auto">
            <a:xfrm rot="5400000">
              <a:off x="3612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61" name="Freeform 55"/>
            <p:cNvSpPr/>
            <p:nvPr/>
          </p:nvSpPr>
          <p:spPr bwMode="auto">
            <a:xfrm>
              <a:off x="3564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62" name="Line 56"/>
            <p:cNvSpPr>
              <a:spLocks noChangeShapeType="1"/>
            </p:cNvSpPr>
            <p:nvPr/>
          </p:nvSpPr>
          <p:spPr bwMode="auto">
            <a:xfrm rot="-5400000">
              <a:off x="343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63" name="Line 57"/>
            <p:cNvSpPr>
              <a:spLocks noChangeShapeType="1"/>
            </p:cNvSpPr>
            <p:nvPr/>
          </p:nvSpPr>
          <p:spPr bwMode="auto">
            <a:xfrm rot="-5400000">
              <a:off x="3516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64" name="Freeform 58"/>
            <p:cNvSpPr/>
            <p:nvPr/>
          </p:nvSpPr>
          <p:spPr bwMode="auto">
            <a:xfrm>
              <a:off x="3751" y="2352"/>
              <a:ext cx="100" cy="1"/>
            </a:xfrm>
            <a:custGeom>
              <a:avLst/>
              <a:gdLst>
                <a:gd name="T0" fmla="*/ 0 w 100"/>
                <a:gd name="T1" fmla="*/ 0 h 1"/>
                <a:gd name="T2" fmla="*/ 100 w 100"/>
                <a:gd name="T3" fmla="*/ 1 h 1"/>
                <a:gd name="T4" fmla="*/ 0 60000 65536"/>
                <a:gd name="T5" fmla="*/ 0 60000 65536"/>
                <a:gd name="T6" fmla="*/ 0 w 100"/>
                <a:gd name="T7" fmla="*/ 0 h 1"/>
                <a:gd name="T8" fmla="*/ 100 w 10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0" h="1">
                  <a:moveTo>
                    <a:pt x="0" y="0"/>
                  </a:moveTo>
                  <a:lnTo>
                    <a:pt x="100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65" name="Freeform 59"/>
            <p:cNvSpPr/>
            <p:nvPr/>
          </p:nvSpPr>
          <p:spPr bwMode="auto">
            <a:xfrm>
              <a:off x="3359" y="2353"/>
              <a:ext cx="108" cy="1"/>
            </a:xfrm>
            <a:custGeom>
              <a:avLst/>
              <a:gdLst>
                <a:gd name="T0" fmla="*/ 108 w 108"/>
                <a:gd name="T1" fmla="*/ 0 h 1"/>
                <a:gd name="T2" fmla="*/ 0 w 108"/>
                <a:gd name="T3" fmla="*/ 0 h 1"/>
                <a:gd name="T4" fmla="*/ 0 60000 65536"/>
                <a:gd name="T5" fmla="*/ 0 60000 65536"/>
                <a:gd name="T6" fmla="*/ 0 w 108"/>
                <a:gd name="T7" fmla="*/ 0 h 1"/>
                <a:gd name="T8" fmla="*/ 108 w 10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8" h="1">
                  <a:moveTo>
                    <a:pt x="108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66" name="Line 60"/>
            <p:cNvSpPr>
              <a:spLocks noChangeShapeType="1"/>
            </p:cNvSpPr>
            <p:nvPr/>
          </p:nvSpPr>
          <p:spPr bwMode="auto">
            <a:xfrm rot="5400000">
              <a:off x="4205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67" name="Line 61"/>
            <p:cNvSpPr>
              <a:spLocks noChangeShapeType="1"/>
            </p:cNvSpPr>
            <p:nvPr/>
          </p:nvSpPr>
          <p:spPr bwMode="auto">
            <a:xfrm rot="5400000">
              <a:off x="4188" y="2696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68" name="Freeform 62"/>
            <p:cNvSpPr/>
            <p:nvPr/>
          </p:nvSpPr>
          <p:spPr bwMode="auto">
            <a:xfrm>
              <a:off x="4140" y="2695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69" name="Line 63"/>
            <p:cNvSpPr>
              <a:spLocks noChangeShapeType="1"/>
            </p:cNvSpPr>
            <p:nvPr/>
          </p:nvSpPr>
          <p:spPr bwMode="auto">
            <a:xfrm rot="-5400000">
              <a:off x="4013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70" name="Line 64"/>
            <p:cNvSpPr>
              <a:spLocks noChangeShapeType="1"/>
            </p:cNvSpPr>
            <p:nvPr/>
          </p:nvSpPr>
          <p:spPr bwMode="auto">
            <a:xfrm rot="-5400000">
              <a:off x="4092" y="270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371" name="Freeform 65"/>
            <p:cNvSpPr/>
            <p:nvPr/>
          </p:nvSpPr>
          <p:spPr bwMode="auto">
            <a:xfrm>
              <a:off x="4336" y="2351"/>
              <a:ext cx="90" cy="2"/>
            </a:xfrm>
            <a:custGeom>
              <a:avLst/>
              <a:gdLst>
                <a:gd name="T0" fmla="*/ 0 w 90"/>
                <a:gd name="T1" fmla="*/ 0 h 2"/>
                <a:gd name="T2" fmla="*/ 90 w 90"/>
                <a:gd name="T3" fmla="*/ 2 h 2"/>
                <a:gd name="T4" fmla="*/ 0 60000 65536"/>
                <a:gd name="T5" fmla="*/ 0 60000 65536"/>
                <a:gd name="T6" fmla="*/ 0 w 90"/>
                <a:gd name="T7" fmla="*/ 0 h 2"/>
                <a:gd name="T8" fmla="*/ 90 w 90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0" h="2">
                  <a:moveTo>
                    <a:pt x="0" y="0"/>
                  </a:moveTo>
                  <a:lnTo>
                    <a:pt x="90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72" name="Freeform 66"/>
            <p:cNvSpPr/>
            <p:nvPr/>
          </p:nvSpPr>
          <p:spPr bwMode="auto">
            <a:xfrm>
              <a:off x="3935" y="2353"/>
              <a:ext cx="104" cy="1"/>
            </a:xfrm>
            <a:custGeom>
              <a:avLst/>
              <a:gdLst>
                <a:gd name="T0" fmla="*/ 104 w 104"/>
                <a:gd name="T1" fmla="*/ 0 h 1"/>
                <a:gd name="T2" fmla="*/ 0 w 104"/>
                <a:gd name="T3" fmla="*/ 0 h 1"/>
                <a:gd name="T4" fmla="*/ 0 60000 65536"/>
                <a:gd name="T5" fmla="*/ 0 60000 65536"/>
                <a:gd name="T6" fmla="*/ 0 w 104"/>
                <a:gd name="T7" fmla="*/ 0 h 1"/>
                <a:gd name="T8" fmla="*/ 104 w 104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4" h="1">
                  <a:moveTo>
                    <a:pt x="104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133373" name="Group 67"/>
            <p:cNvGrpSpPr/>
            <p:nvPr/>
          </p:nvGrpSpPr>
          <p:grpSpPr bwMode="auto">
            <a:xfrm>
              <a:off x="4668" y="2634"/>
              <a:ext cx="192" cy="158"/>
              <a:chOff x="4692" y="2634"/>
              <a:chExt cx="192" cy="158"/>
            </a:xfrm>
          </p:grpSpPr>
          <p:grpSp>
            <p:nvGrpSpPr>
              <p:cNvPr id="133520" name="Group 68"/>
              <p:cNvGrpSpPr/>
              <p:nvPr/>
            </p:nvGrpSpPr>
            <p:grpSpPr bwMode="auto">
              <a:xfrm>
                <a:off x="4836" y="2634"/>
                <a:ext cx="48" cy="158"/>
                <a:chOff x="4836" y="2634"/>
                <a:chExt cx="48" cy="158"/>
              </a:xfrm>
            </p:grpSpPr>
            <p:sp>
              <p:nvSpPr>
                <p:cNvPr id="133525" name="Line 69"/>
                <p:cNvSpPr>
                  <a:spLocks noChangeShapeType="1"/>
                </p:cNvSpPr>
                <p:nvPr/>
              </p:nvSpPr>
              <p:spPr bwMode="auto">
                <a:xfrm rot="5400000">
                  <a:off x="4805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3526" name="Line 70"/>
                <p:cNvSpPr>
                  <a:spLocks noChangeShapeType="1"/>
                </p:cNvSpPr>
                <p:nvPr/>
              </p:nvSpPr>
              <p:spPr bwMode="auto">
                <a:xfrm rot="5400000">
                  <a:off x="4788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33521" name="Freeform 71"/>
              <p:cNvSpPr/>
              <p:nvPr/>
            </p:nvSpPr>
            <p:spPr bwMode="auto">
              <a:xfrm>
                <a:off x="4740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33522" name="Group 72"/>
              <p:cNvGrpSpPr/>
              <p:nvPr/>
            </p:nvGrpSpPr>
            <p:grpSpPr bwMode="auto">
              <a:xfrm>
                <a:off x="4692" y="2634"/>
                <a:ext cx="48" cy="158"/>
                <a:chOff x="4692" y="2634"/>
                <a:chExt cx="48" cy="158"/>
              </a:xfrm>
            </p:grpSpPr>
            <p:sp>
              <p:nvSpPr>
                <p:cNvPr id="133523" name="Line 73"/>
                <p:cNvSpPr>
                  <a:spLocks noChangeShapeType="1"/>
                </p:cNvSpPr>
                <p:nvPr/>
              </p:nvSpPr>
              <p:spPr bwMode="auto">
                <a:xfrm rot="-5400000">
                  <a:off x="4613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3524" name="Line 74"/>
                <p:cNvSpPr>
                  <a:spLocks noChangeShapeType="1"/>
                </p:cNvSpPr>
                <p:nvPr/>
              </p:nvSpPr>
              <p:spPr bwMode="auto">
                <a:xfrm rot="-5400000">
                  <a:off x="4692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33374" name="Freeform 75"/>
            <p:cNvSpPr/>
            <p:nvPr/>
          </p:nvSpPr>
          <p:spPr bwMode="auto">
            <a:xfrm>
              <a:off x="4890" y="2353"/>
              <a:ext cx="107" cy="1"/>
            </a:xfrm>
            <a:custGeom>
              <a:avLst/>
              <a:gdLst>
                <a:gd name="T0" fmla="*/ 0 w 107"/>
                <a:gd name="T1" fmla="*/ 0 h 1"/>
                <a:gd name="T2" fmla="*/ 107 w 107"/>
                <a:gd name="T3" fmla="*/ 0 h 1"/>
                <a:gd name="T4" fmla="*/ 0 60000 65536"/>
                <a:gd name="T5" fmla="*/ 0 60000 65536"/>
                <a:gd name="T6" fmla="*/ 0 w 107"/>
                <a:gd name="T7" fmla="*/ 0 h 1"/>
                <a:gd name="T8" fmla="*/ 107 w 10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7" h="1">
                  <a:moveTo>
                    <a:pt x="0" y="0"/>
                  </a:moveTo>
                  <a:lnTo>
                    <a:pt x="10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75" name="Freeform 76"/>
            <p:cNvSpPr/>
            <p:nvPr/>
          </p:nvSpPr>
          <p:spPr bwMode="auto">
            <a:xfrm>
              <a:off x="4511" y="2353"/>
              <a:ext cx="96" cy="1"/>
            </a:xfrm>
            <a:custGeom>
              <a:avLst/>
              <a:gdLst>
                <a:gd name="T0" fmla="*/ 96 w 96"/>
                <a:gd name="T1" fmla="*/ 0 h 1"/>
                <a:gd name="T2" fmla="*/ 0 w 96"/>
                <a:gd name="T3" fmla="*/ 0 h 1"/>
                <a:gd name="T4" fmla="*/ 0 60000 65536"/>
                <a:gd name="T5" fmla="*/ 0 60000 65536"/>
                <a:gd name="T6" fmla="*/ 0 w 96"/>
                <a:gd name="T7" fmla="*/ 0 h 1"/>
                <a:gd name="T8" fmla="*/ 96 w 9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1">
                  <a:moveTo>
                    <a:pt x="96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133376" name="Group 77"/>
            <p:cNvGrpSpPr/>
            <p:nvPr/>
          </p:nvGrpSpPr>
          <p:grpSpPr bwMode="auto">
            <a:xfrm>
              <a:off x="5235" y="2634"/>
              <a:ext cx="192" cy="158"/>
              <a:chOff x="5259" y="2634"/>
              <a:chExt cx="192" cy="158"/>
            </a:xfrm>
          </p:grpSpPr>
          <p:grpSp>
            <p:nvGrpSpPr>
              <p:cNvPr id="133513" name="Group 78"/>
              <p:cNvGrpSpPr/>
              <p:nvPr/>
            </p:nvGrpSpPr>
            <p:grpSpPr bwMode="auto">
              <a:xfrm>
                <a:off x="5403" y="2634"/>
                <a:ext cx="48" cy="158"/>
                <a:chOff x="5403" y="2634"/>
                <a:chExt cx="48" cy="158"/>
              </a:xfrm>
            </p:grpSpPr>
            <p:sp>
              <p:nvSpPr>
                <p:cNvPr id="133518" name="Line 79"/>
                <p:cNvSpPr>
                  <a:spLocks noChangeShapeType="1"/>
                </p:cNvSpPr>
                <p:nvPr/>
              </p:nvSpPr>
              <p:spPr bwMode="auto">
                <a:xfrm rot="5400000">
                  <a:off x="5372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3519" name="Line 80"/>
                <p:cNvSpPr>
                  <a:spLocks noChangeShapeType="1"/>
                </p:cNvSpPr>
                <p:nvPr/>
              </p:nvSpPr>
              <p:spPr bwMode="auto">
                <a:xfrm rot="5400000">
                  <a:off x="5355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33514" name="Freeform 81"/>
              <p:cNvSpPr/>
              <p:nvPr/>
            </p:nvSpPr>
            <p:spPr bwMode="auto">
              <a:xfrm>
                <a:off x="5307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33515" name="Group 82"/>
              <p:cNvGrpSpPr/>
              <p:nvPr/>
            </p:nvGrpSpPr>
            <p:grpSpPr bwMode="auto">
              <a:xfrm>
                <a:off x="5259" y="2634"/>
                <a:ext cx="48" cy="158"/>
                <a:chOff x="5259" y="2634"/>
                <a:chExt cx="48" cy="158"/>
              </a:xfrm>
            </p:grpSpPr>
            <p:sp>
              <p:nvSpPr>
                <p:cNvPr id="133516" name="Line 83"/>
                <p:cNvSpPr>
                  <a:spLocks noChangeShapeType="1"/>
                </p:cNvSpPr>
                <p:nvPr/>
              </p:nvSpPr>
              <p:spPr bwMode="auto">
                <a:xfrm rot="-5400000">
                  <a:off x="5180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3517" name="Line 84"/>
                <p:cNvSpPr>
                  <a:spLocks noChangeShapeType="1"/>
                </p:cNvSpPr>
                <p:nvPr/>
              </p:nvSpPr>
              <p:spPr bwMode="auto">
                <a:xfrm rot="-5400000">
                  <a:off x="5259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33377" name="Freeform 85"/>
            <p:cNvSpPr/>
            <p:nvPr/>
          </p:nvSpPr>
          <p:spPr bwMode="auto">
            <a:xfrm>
              <a:off x="5467" y="2351"/>
              <a:ext cx="96" cy="2"/>
            </a:xfrm>
            <a:custGeom>
              <a:avLst/>
              <a:gdLst>
                <a:gd name="T0" fmla="*/ 0 w 96"/>
                <a:gd name="T1" fmla="*/ 0 h 2"/>
                <a:gd name="T2" fmla="*/ 96 w 96"/>
                <a:gd name="T3" fmla="*/ 2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0"/>
                  </a:moveTo>
                  <a:lnTo>
                    <a:pt x="96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78" name="Freeform 86"/>
            <p:cNvSpPr/>
            <p:nvPr/>
          </p:nvSpPr>
          <p:spPr bwMode="auto">
            <a:xfrm>
              <a:off x="5078" y="2353"/>
              <a:ext cx="101" cy="1"/>
            </a:xfrm>
            <a:custGeom>
              <a:avLst/>
              <a:gdLst>
                <a:gd name="T0" fmla="*/ 101 w 101"/>
                <a:gd name="T1" fmla="*/ 0 h 1"/>
                <a:gd name="T2" fmla="*/ 0 w 101"/>
                <a:gd name="T3" fmla="*/ 0 h 1"/>
                <a:gd name="T4" fmla="*/ 0 60000 65536"/>
                <a:gd name="T5" fmla="*/ 0 60000 65536"/>
                <a:gd name="T6" fmla="*/ 0 w 101"/>
                <a:gd name="T7" fmla="*/ 0 h 1"/>
                <a:gd name="T8" fmla="*/ 101 w 101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1" h="1">
                  <a:moveTo>
                    <a:pt x="101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79" name="Freeform 87"/>
            <p:cNvSpPr/>
            <p:nvPr/>
          </p:nvSpPr>
          <p:spPr bwMode="auto">
            <a:xfrm>
              <a:off x="908" y="856"/>
              <a:ext cx="4419" cy="1"/>
            </a:xfrm>
            <a:custGeom>
              <a:avLst/>
              <a:gdLst>
                <a:gd name="T0" fmla="*/ 0 w 4419"/>
                <a:gd name="T1" fmla="*/ 1 h 1"/>
                <a:gd name="T2" fmla="*/ 4419 w 4419"/>
                <a:gd name="T3" fmla="*/ 0 h 1"/>
                <a:gd name="T4" fmla="*/ 0 60000 65536"/>
                <a:gd name="T5" fmla="*/ 0 60000 65536"/>
                <a:gd name="T6" fmla="*/ 0 w 4419"/>
                <a:gd name="T7" fmla="*/ 0 h 1"/>
                <a:gd name="T8" fmla="*/ 4419 w 441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9" h="1">
                  <a:moveTo>
                    <a:pt x="0" y="1"/>
                  </a:moveTo>
                  <a:lnTo>
                    <a:pt x="441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80" name="Line 88"/>
            <p:cNvSpPr>
              <a:spLocks noChangeShapeType="1"/>
            </p:cNvSpPr>
            <p:nvPr/>
          </p:nvSpPr>
          <p:spPr bwMode="auto">
            <a:xfrm>
              <a:off x="129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81" name="Line 89"/>
            <p:cNvSpPr>
              <a:spLocks noChangeShapeType="1"/>
            </p:cNvSpPr>
            <p:nvPr/>
          </p:nvSpPr>
          <p:spPr bwMode="auto">
            <a:xfrm>
              <a:off x="186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82" name="Line 90"/>
            <p:cNvSpPr>
              <a:spLocks noChangeShapeType="1"/>
            </p:cNvSpPr>
            <p:nvPr/>
          </p:nvSpPr>
          <p:spPr bwMode="auto">
            <a:xfrm>
              <a:off x="244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83" name="Line 91"/>
            <p:cNvSpPr>
              <a:spLocks noChangeShapeType="1"/>
            </p:cNvSpPr>
            <p:nvPr/>
          </p:nvSpPr>
          <p:spPr bwMode="auto">
            <a:xfrm>
              <a:off x="3020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84" name="Line 92"/>
            <p:cNvSpPr>
              <a:spLocks noChangeShapeType="1"/>
            </p:cNvSpPr>
            <p:nvPr/>
          </p:nvSpPr>
          <p:spPr bwMode="auto">
            <a:xfrm>
              <a:off x="3596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85" name="Line 93"/>
            <p:cNvSpPr>
              <a:spLocks noChangeShapeType="1"/>
            </p:cNvSpPr>
            <p:nvPr/>
          </p:nvSpPr>
          <p:spPr bwMode="auto">
            <a:xfrm>
              <a:off x="417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86" name="Line 94"/>
            <p:cNvSpPr>
              <a:spLocks noChangeShapeType="1"/>
            </p:cNvSpPr>
            <p:nvPr/>
          </p:nvSpPr>
          <p:spPr bwMode="auto">
            <a:xfrm>
              <a:off x="474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87" name="Line 95"/>
            <p:cNvSpPr>
              <a:spLocks noChangeShapeType="1"/>
            </p:cNvSpPr>
            <p:nvPr/>
          </p:nvSpPr>
          <p:spPr bwMode="auto">
            <a:xfrm>
              <a:off x="532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88" name="Freeform 96"/>
            <p:cNvSpPr/>
            <p:nvPr/>
          </p:nvSpPr>
          <p:spPr bwMode="auto">
            <a:xfrm>
              <a:off x="1305" y="2708"/>
              <a:ext cx="1" cy="166"/>
            </a:xfrm>
            <a:custGeom>
              <a:avLst/>
              <a:gdLst>
                <a:gd name="T0" fmla="*/ 1 w 1"/>
                <a:gd name="T1" fmla="*/ 0 h 166"/>
                <a:gd name="T2" fmla="*/ 0 w 1"/>
                <a:gd name="T3" fmla="*/ 166 h 166"/>
                <a:gd name="T4" fmla="*/ 0 60000 65536"/>
                <a:gd name="T5" fmla="*/ 0 60000 65536"/>
                <a:gd name="T6" fmla="*/ 0 w 1"/>
                <a:gd name="T7" fmla="*/ 0 h 166"/>
                <a:gd name="T8" fmla="*/ 1 w 1"/>
                <a:gd name="T9" fmla="*/ 166 h 16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66">
                  <a:moveTo>
                    <a:pt x="1" y="0"/>
                  </a:moveTo>
                  <a:lnTo>
                    <a:pt x="0" y="1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89" name="Freeform 97"/>
            <p:cNvSpPr/>
            <p:nvPr/>
          </p:nvSpPr>
          <p:spPr bwMode="auto">
            <a:xfrm>
              <a:off x="1880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7711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90" name="Freeform 98"/>
            <p:cNvSpPr/>
            <p:nvPr/>
          </p:nvSpPr>
          <p:spPr bwMode="auto">
            <a:xfrm>
              <a:off x="2454" y="2708"/>
              <a:ext cx="4" cy="166"/>
            </a:xfrm>
            <a:custGeom>
              <a:avLst/>
              <a:gdLst>
                <a:gd name="T0" fmla="*/ 4 w 4"/>
                <a:gd name="T1" fmla="*/ 0 h 166"/>
                <a:gd name="T2" fmla="*/ 0 w 4"/>
                <a:gd name="T3" fmla="*/ 166 h 166"/>
                <a:gd name="T4" fmla="*/ 0 60000 65536"/>
                <a:gd name="T5" fmla="*/ 0 60000 65536"/>
                <a:gd name="T6" fmla="*/ 0 w 4"/>
                <a:gd name="T7" fmla="*/ 0 h 166"/>
                <a:gd name="T8" fmla="*/ 4 w 4"/>
                <a:gd name="T9" fmla="*/ 166 h 16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66">
                  <a:moveTo>
                    <a:pt x="4" y="0"/>
                  </a:moveTo>
                  <a:lnTo>
                    <a:pt x="0" y="1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91" name="Freeform 99"/>
            <p:cNvSpPr/>
            <p:nvPr/>
          </p:nvSpPr>
          <p:spPr bwMode="auto">
            <a:xfrm>
              <a:off x="3606" y="2708"/>
              <a:ext cx="2" cy="175"/>
            </a:xfrm>
            <a:custGeom>
              <a:avLst/>
              <a:gdLst>
                <a:gd name="T0" fmla="*/ 2 w 2"/>
                <a:gd name="T1" fmla="*/ 0 h 175"/>
                <a:gd name="T2" fmla="*/ 0 w 2"/>
                <a:gd name="T3" fmla="*/ 175 h 175"/>
                <a:gd name="T4" fmla="*/ 0 60000 65536"/>
                <a:gd name="T5" fmla="*/ 0 60000 65536"/>
                <a:gd name="T6" fmla="*/ 0 w 2"/>
                <a:gd name="T7" fmla="*/ 0 h 175"/>
                <a:gd name="T8" fmla="*/ 2 w 2"/>
                <a:gd name="T9" fmla="*/ 175 h 17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175">
                  <a:moveTo>
                    <a:pt x="2" y="0"/>
                  </a:moveTo>
                  <a:lnTo>
                    <a:pt x="0" y="17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92" name="Freeform 100"/>
            <p:cNvSpPr/>
            <p:nvPr/>
          </p:nvSpPr>
          <p:spPr bwMode="auto">
            <a:xfrm>
              <a:off x="4760" y="2697"/>
              <a:ext cx="1" cy="176"/>
            </a:xfrm>
            <a:custGeom>
              <a:avLst/>
              <a:gdLst>
                <a:gd name="T0" fmla="*/ 0 w 1"/>
                <a:gd name="T1" fmla="*/ 0 h 176"/>
                <a:gd name="T2" fmla="*/ 0 w 1"/>
                <a:gd name="T3" fmla="*/ 176 h 176"/>
                <a:gd name="T4" fmla="*/ 0 60000 65536"/>
                <a:gd name="T5" fmla="*/ 0 60000 65536"/>
                <a:gd name="T6" fmla="*/ 0 w 1"/>
                <a:gd name="T7" fmla="*/ 0 h 176"/>
                <a:gd name="T8" fmla="*/ 1 w 1"/>
                <a:gd name="T9" fmla="*/ 176 h 17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76">
                  <a:moveTo>
                    <a:pt x="0" y="0"/>
                  </a:moveTo>
                  <a:lnTo>
                    <a:pt x="0" y="17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93" name="Freeform 101"/>
            <p:cNvSpPr/>
            <p:nvPr/>
          </p:nvSpPr>
          <p:spPr bwMode="auto">
            <a:xfrm>
              <a:off x="908" y="1480"/>
              <a:ext cx="4422" cy="1"/>
            </a:xfrm>
            <a:custGeom>
              <a:avLst/>
              <a:gdLst>
                <a:gd name="T0" fmla="*/ 0 w 4422"/>
                <a:gd name="T1" fmla="*/ 1 h 1"/>
                <a:gd name="T2" fmla="*/ 4422 w 4422"/>
                <a:gd name="T3" fmla="*/ 0 h 1"/>
                <a:gd name="T4" fmla="*/ 0 60000 65536"/>
                <a:gd name="T5" fmla="*/ 0 60000 65536"/>
                <a:gd name="T6" fmla="*/ 0 w 4422"/>
                <a:gd name="T7" fmla="*/ 0 h 1"/>
                <a:gd name="T8" fmla="*/ 4422 w 442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22" h="1">
                  <a:moveTo>
                    <a:pt x="0" y="1"/>
                  </a:moveTo>
                  <a:lnTo>
                    <a:pt x="442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94" name="Line 102"/>
            <p:cNvSpPr>
              <a:spLocks noChangeShapeType="1"/>
            </p:cNvSpPr>
            <p:nvPr/>
          </p:nvSpPr>
          <p:spPr bwMode="auto">
            <a:xfrm>
              <a:off x="129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95" name="Line 103"/>
            <p:cNvSpPr>
              <a:spLocks noChangeShapeType="1"/>
            </p:cNvSpPr>
            <p:nvPr/>
          </p:nvSpPr>
          <p:spPr bwMode="auto">
            <a:xfrm>
              <a:off x="186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96" name="Line 104"/>
            <p:cNvSpPr>
              <a:spLocks noChangeShapeType="1"/>
            </p:cNvSpPr>
            <p:nvPr/>
          </p:nvSpPr>
          <p:spPr bwMode="auto">
            <a:xfrm>
              <a:off x="244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97" name="Line 105"/>
            <p:cNvSpPr>
              <a:spLocks noChangeShapeType="1"/>
            </p:cNvSpPr>
            <p:nvPr/>
          </p:nvSpPr>
          <p:spPr bwMode="auto">
            <a:xfrm>
              <a:off x="3020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98" name="Line 106"/>
            <p:cNvSpPr>
              <a:spLocks noChangeShapeType="1"/>
            </p:cNvSpPr>
            <p:nvPr/>
          </p:nvSpPr>
          <p:spPr bwMode="auto">
            <a:xfrm>
              <a:off x="3596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399" name="Line 107"/>
            <p:cNvSpPr>
              <a:spLocks noChangeShapeType="1"/>
            </p:cNvSpPr>
            <p:nvPr/>
          </p:nvSpPr>
          <p:spPr bwMode="auto">
            <a:xfrm>
              <a:off x="417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00" name="Line 108"/>
            <p:cNvSpPr>
              <a:spLocks noChangeShapeType="1"/>
            </p:cNvSpPr>
            <p:nvPr/>
          </p:nvSpPr>
          <p:spPr bwMode="auto">
            <a:xfrm>
              <a:off x="474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01" name="Line 109"/>
            <p:cNvSpPr>
              <a:spLocks noChangeShapeType="1"/>
            </p:cNvSpPr>
            <p:nvPr/>
          </p:nvSpPr>
          <p:spPr bwMode="auto">
            <a:xfrm>
              <a:off x="532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02" name="Freeform 110"/>
            <p:cNvSpPr/>
            <p:nvPr/>
          </p:nvSpPr>
          <p:spPr bwMode="auto">
            <a:xfrm>
              <a:off x="908" y="2056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  <a:gd name="T6" fmla="*/ 0 w 4418"/>
                <a:gd name="T7" fmla="*/ 0 h 1"/>
                <a:gd name="T8" fmla="*/ 4418 w 441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03" name="Line 111"/>
            <p:cNvSpPr>
              <a:spLocks noChangeShapeType="1"/>
            </p:cNvSpPr>
            <p:nvPr/>
          </p:nvSpPr>
          <p:spPr bwMode="auto">
            <a:xfrm>
              <a:off x="129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04" name="Line 112"/>
            <p:cNvSpPr>
              <a:spLocks noChangeShapeType="1"/>
            </p:cNvSpPr>
            <p:nvPr/>
          </p:nvSpPr>
          <p:spPr bwMode="auto">
            <a:xfrm>
              <a:off x="186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05" name="Line 113"/>
            <p:cNvSpPr>
              <a:spLocks noChangeShapeType="1"/>
            </p:cNvSpPr>
            <p:nvPr/>
          </p:nvSpPr>
          <p:spPr bwMode="auto">
            <a:xfrm>
              <a:off x="244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06" name="Line 114"/>
            <p:cNvSpPr>
              <a:spLocks noChangeShapeType="1"/>
            </p:cNvSpPr>
            <p:nvPr/>
          </p:nvSpPr>
          <p:spPr bwMode="auto">
            <a:xfrm>
              <a:off x="3020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07" name="Line 115"/>
            <p:cNvSpPr>
              <a:spLocks noChangeShapeType="1"/>
            </p:cNvSpPr>
            <p:nvPr/>
          </p:nvSpPr>
          <p:spPr bwMode="auto">
            <a:xfrm>
              <a:off x="3596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08" name="Line 116"/>
            <p:cNvSpPr>
              <a:spLocks noChangeShapeType="1"/>
            </p:cNvSpPr>
            <p:nvPr/>
          </p:nvSpPr>
          <p:spPr bwMode="auto">
            <a:xfrm>
              <a:off x="417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09" name="Line 117"/>
            <p:cNvSpPr>
              <a:spLocks noChangeShapeType="1"/>
            </p:cNvSpPr>
            <p:nvPr/>
          </p:nvSpPr>
          <p:spPr bwMode="auto">
            <a:xfrm>
              <a:off x="474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10" name="Line 118"/>
            <p:cNvSpPr>
              <a:spLocks noChangeShapeType="1"/>
            </p:cNvSpPr>
            <p:nvPr/>
          </p:nvSpPr>
          <p:spPr bwMode="auto">
            <a:xfrm>
              <a:off x="532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11" name="Freeform 119"/>
            <p:cNvSpPr/>
            <p:nvPr/>
          </p:nvSpPr>
          <p:spPr bwMode="auto">
            <a:xfrm>
              <a:off x="909" y="2879"/>
              <a:ext cx="3860" cy="1"/>
            </a:xfrm>
            <a:custGeom>
              <a:avLst/>
              <a:gdLst>
                <a:gd name="T0" fmla="*/ 0 w 3860"/>
                <a:gd name="T1" fmla="*/ 1 h 1"/>
                <a:gd name="T2" fmla="*/ 3860 w 3860"/>
                <a:gd name="T3" fmla="*/ 0 h 1"/>
                <a:gd name="T4" fmla="*/ 0 60000 65536"/>
                <a:gd name="T5" fmla="*/ 0 60000 65536"/>
                <a:gd name="T6" fmla="*/ 0 w 3860"/>
                <a:gd name="T7" fmla="*/ 0 h 1"/>
                <a:gd name="T8" fmla="*/ 3860 w 386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860" h="1">
                  <a:moveTo>
                    <a:pt x="0" y="1"/>
                  </a:moveTo>
                  <a:lnTo>
                    <a:pt x="386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12" name="Freeform 120"/>
            <p:cNvSpPr/>
            <p:nvPr/>
          </p:nvSpPr>
          <p:spPr bwMode="auto">
            <a:xfrm>
              <a:off x="912" y="3209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  <a:gd name="T6" fmla="*/ 0 w 4418"/>
                <a:gd name="T7" fmla="*/ 0 h 1"/>
                <a:gd name="T8" fmla="*/ 4418 w 441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13" name="Rectangle 121"/>
            <p:cNvSpPr>
              <a:spLocks noChangeArrowheads="1"/>
            </p:cNvSpPr>
            <p:nvPr/>
          </p:nvSpPr>
          <p:spPr bwMode="auto">
            <a:xfrm>
              <a:off x="114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33414" name="Text Box 122"/>
            <p:cNvSpPr txBox="1">
              <a:spLocks noChangeArrowheads="1"/>
            </p:cNvSpPr>
            <p:nvPr/>
          </p:nvSpPr>
          <p:spPr bwMode="auto">
            <a:xfrm>
              <a:off x="1172" y="3576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</a:p>
          </p:txBody>
        </p:sp>
        <p:sp>
          <p:nvSpPr>
            <p:cNvPr id="133415" name="Freeform 123"/>
            <p:cNvSpPr/>
            <p:nvPr/>
          </p:nvSpPr>
          <p:spPr bwMode="auto">
            <a:xfrm>
              <a:off x="1402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16" name="Freeform 124"/>
            <p:cNvSpPr/>
            <p:nvPr/>
          </p:nvSpPr>
          <p:spPr bwMode="auto">
            <a:xfrm>
              <a:off x="1613" y="1211"/>
              <a:ext cx="169" cy="1469"/>
            </a:xfrm>
            <a:custGeom>
              <a:avLst/>
              <a:gdLst>
                <a:gd name="T0" fmla="*/ 169 w 169"/>
                <a:gd name="T1" fmla="*/ 1468 h 1469"/>
                <a:gd name="T2" fmla="*/ 0 w 169"/>
                <a:gd name="T3" fmla="*/ 1469 h 1469"/>
                <a:gd name="T4" fmla="*/ 1 w 169"/>
                <a:gd name="T5" fmla="*/ 0 h 1469"/>
                <a:gd name="T6" fmla="*/ 105 w 16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9"/>
                <a:gd name="T13" fmla="*/ 0 h 1469"/>
                <a:gd name="T14" fmla="*/ 169 w 169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9" h="1469">
                  <a:moveTo>
                    <a:pt x="169" y="1468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17" name="Freeform 125"/>
            <p:cNvSpPr/>
            <p:nvPr/>
          </p:nvSpPr>
          <p:spPr bwMode="auto">
            <a:xfrm>
              <a:off x="1967" y="1211"/>
              <a:ext cx="141" cy="1466"/>
            </a:xfrm>
            <a:custGeom>
              <a:avLst/>
              <a:gdLst>
                <a:gd name="T0" fmla="*/ 38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1"/>
                <a:gd name="T13" fmla="*/ 0 h 1466"/>
                <a:gd name="T14" fmla="*/ 141 w 141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1" h="1466">
                  <a:moveTo>
                    <a:pt x="38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18" name="Freeform 126"/>
            <p:cNvSpPr/>
            <p:nvPr/>
          </p:nvSpPr>
          <p:spPr bwMode="auto">
            <a:xfrm>
              <a:off x="2208" y="1211"/>
              <a:ext cx="155" cy="1467"/>
            </a:xfrm>
            <a:custGeom>
              <a:avLst/>
              <a:gdLst>
                <a:gd name="T0" fmla="*/ 155 w 155"/>
                <a:gd name="T1" fmla="*/ 1467 h 1467"/>
                <a:gd name="T2" fmla="*/ 3 w 155"/>
                <a:gd name="T3" fmla="*/ 1467 h 1467"/>
                <a:gd name="T4" fmla="*/ 0 w 155"/>
                <a:gd name="T5" fmla="*/ 1 h 1467"/>
                <a:gd name="T6" fmla="*/ 89 w 155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5"/>
                <a:gd name="T13" fmla="*/ 0 h 1467"/>
                <a:gd name="T14" fmla="*/ 155 w 155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5" h="1467">
                  <a:moveTo>
                    <a:pt x="155" y="1467"/>
                  </a:moveTo>
                  <a:lnTo>
                    <a:pt x="3" y="1467"/>
                  </a:lnTo>
                  <a:lnTo>
                    <a:pt x="0" y="1"/>
                  </a:lnTo>
                  <a:lnTo>
                    <a:pt x="89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19" name="Freeform 127"/>
            <p:cNvSpPr/>
            <p:nvPr/>
          </p:nvSpPr>
          <p:spPr bwMode="auto">
            <a:xfrm>
              <a:off x="2557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4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2"/>
                <a:gd name="T13" fmla="*/ 0 h 1466"/>
                <a:gd name="T14" fmla="*/ 142 w 142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4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20" name="Freeform 128"/>
            <p:cNvSpPr/>
            <p:nvPr/>
          </p:nvSpPr>
          <p:spPr bwMode="auto">
            <a:xfrm>
              <a:off x="2787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77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7"/>
                <a:gd name="T14" fmla="*/ 152 w 152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7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21" name="Freeform 129"/>
            <p:cNvSpPr/>
            <p:nvPr/>
          </p:nvSpPr>
          <p:spPr bwMode="auto">
            <a:xfrm>
              <a:off x="3130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22" name="Freeform 130"/>
            <p:cNvSpPr/>
            <p:nvPr/>
          </p:nvSpPr>
          <p:spPr bwMode="auto">
            <a:xfrm>
              <a:off x="3360" y="1209"/>
              <a:ext cx="155" cy="1469"/>
            </a:xfrm>
            <a:custGeom>
              <a:avLst/>
              <a:gdLst>
                <a:gd name="T0" fmla="*/ 155 w 155"/>
                <a:gd name="T1" fmla="*/ 1469 h 1469"/>
                <a:gd name="T2" fmla="*/ 3 w 155"/>
                <a:gd name="T3" fmla="*/ 1469 h 1469"/>
                <a:gd name="T4" fmla="*/ 0 w 155"/>
                <a:gd name="T5" fmla="*/ 0 h 1469"/>
                <a:gd name="T6" fmla="*/ 103 w 155"/>
                <a:gd name="T7" fmla="*/ 2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5"/>
                <a:gd name="T13" fmla="*/ 0 h 1469"/>
                <a:gd name="T14" fmla="*/ 155 w 155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5" h="1469">
                  <a:moveTo>
                    <a:pt x="155" y="1469"/>
                  </a:moveTo>
                  <a:lnTo>
                    <a:pt x="3" y="1469"/>
                  </a:lnTo>
                  <a:lnTo>
                    <a:pt x="0" y="0"/>
                  </a:lnTo>
                  <a:lnTo>
                    <a:pt x="103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23" name="Freeform 131"/>
            <p:cNvSpPr/>
            <p:nvPr/>
          </p:nvSpPr>
          <p:spPr bwMode="auto">
            <a:xfrm>
              <a:off x="3710" y="1211"/>
              <a:ext cx="141" cy="1466"/>
            </a:xfrm>
            <a:custGeom>
              <a:avLst/>
              <a:gdLst>
                <a:gd name="T0" fmla="*/ 42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1"/>
                <a:gd name="T13" fmla="*/ 0 h 1466"/>
                <a:gd name="T14" fmla="*/ 141 w 141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1" h="1466">
                  <a:moveTo>
                    <a:pt x="42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24" name="Freeform 132"/>
            <p:cNvSpPr/>
            <p:nvPr/>
          </p:nvSpPr>
          <p:spPr bwMode="auto">
            <a:xfrm>
              <a:off x="3939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103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7"/>
                <a:gd name="T14" fmla="*/ 152 w 152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103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25" name="Freeform 133"/>
            <p:cNvSpPr/>
            <p:nvPr/>
          </p:nvSpPr>
          <p:spPr bwMode="auto">
            <a:xfrm>
              <a:off x="4280" y="1211"/>
              <a:ext cx="147" cy="1466"/>
            </a:xfrm>
            <a:custGeom>
              <a:avLst/>
              <a:gdLst>
                <a:gd name="T0" fmla="*/ 51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7"/>
                <a:gd name="T13" fmla="*/ 0 h 1466"/>
                <a:gd name="T14" fmla="*/ 147 w 147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7" h="1466">
                  <a:moveTo>
                    <a:pt x="51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26" name="Freeform 134"/>
            <p:cNvSpPr/>
            <p:nvPr/>
          </p:nvSpPr>
          <p:spPr bwMode="auto">
            <a:xfrm>
              <a:off x="4509" y="1211"/>
              <a:ext cx="158" cy="1467"/>
            </a:xfrm>
            <a:custGeom>
              <a:avLst/>
              <a:gdLst>
                <a:gd name="T0" fmla="*/ 158 w 158"/>
                <a:gd name="T1" fmla="*/ 1467 h 1467"/>
                <a:gd name="T2" fmla="*/ 0 w 158"/>
                <a:gd name="T3" fmla="*/ 1467 h 1467"/>
                <a:gd name="T4" fmla="*/ 0 w 158"/>
                <a:gd name="T5" fmla="*/ 0 h 1467"/>
                <a:gd name="T6" fmla="*/ 95 w 158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8"/>
                <a:gd name="T13" fmla="*/ 0 h 1467"/>
                <a:gd name="T14" fmla="*/ 158 w 158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8" h="1467">
                  <a:moveTo>
                    <a:pt x="158" y="1467"/>
                  </a:moveTo>
                  <a:lnTo>
                    <a:pt x="0" y="1467"/>
                  </a:lnTo>
                  <a:lnTo>
                    <a:pt x="0" y="0"/>
                  </a:lnTo>
                  <a:lnTo>
                    <a:pt x="9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27" name="Freeform 135"/>
            <p:cNvSpPr/>
            <p:nvPr/>
          </p:nvSpPr>
          <p:spPr bwMode="auto">
            <a:xfrm>
              <a:off x="4861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2"/>
                <a:gd name="T13" fmla="*/ 0 h 1466"/>
                <a:gd name="T14" fmla="*/ 142 w 142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28" name="Freeform 136"/>
            <p:cNvSpPr/>
            <p:nvPr/>
          </p:nvSpPr>
          <p:spPr bwMode="auto">
            <a:xfrm>
              <a:off x="5069" y="1211"/>
              <a:ext cx="159" cy="1469"/>
            </a:xfrm>
            <a:custGeom>
              <a:avLst/>
              <a:gdLst>
                <a:gd name="T0" fmla="*/ 159 w 159"/>
                <a:gd name="T1" fmla="*/ 1467 h 1469"/>
                <a:gd name="T2" fmla="*/ 0 w 159"/>
                <a:gd name="T3" fmla="*/ 1469 h 1469"/>
                <a:gd name="T4" fmla="*/ 1 w 159"/>
                <a:gd name="T5" fmla="*/ 0 h 1469"/>
                <a:gd name="T6" fmla="*/ 104 w 15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9"/>
                <a:gd name="T13" fmla="*/ 0 h 1469"/>
                <a:gd name="T14" fmla="*/ 159 w 159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9" h="1469">
                  <a:moveTo>
                    <a:pt x="159" y="1467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4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29" name="Freeform 137"/>
            <p:cNvSpPr/>
            <p:nvPr/>
          </p:nvSpPr>
          <p:spPr bwMode="auto">
            <a:xfrm>
              <a:off x="5417" y="1211"/>
              <a:ext cx="147" cy="1466"/>
            </a:xfrm>
            <a:custGeom>
              <a:avLst/>
              <a:gdLst>
                <a:gd name="T0" fmla="*/ 47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7"/>
                <a:gd name="T13" fmla="*/ 0 h 1466"/>
                <a:gd name="T14" fmla="*/ 147 w 147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7" h="1466">
                  <a:moveTo>
                    <a:pt x="47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30" name="Freeform 138"/>
            <p:cNvSpPr/>
            <p:nvPr/>
          </p:nvSpPr>
          <p:spPr bwMode="auto">
            <a:xfrm>
              <a:off x="1055" y="2738"/>
              <a:ext cx="730" cy="660"/>
            </a:xfrm>
            <a:custGeom>
              <a:avLst/>
              <a:gdLst>
                <a:gd name="T0" fmla="*/ 160 w 730"/>
                <a:gd name="T1" fmla="*/ 4 h 660"/>
                <a:gd name="T2" fmla="*/ 0 w 730"/>
                <a:gd name="T3" fmla="*/ 3 h 660"/>
                <a:gd name="T4" fmla="*/ 0 w 730"/>
                <a:gd name="T5" fmla="*/ 660 h 660"/>
                <a:gd name="T6" fmla="*/ 558 w 730"/>
                <a:gd name="T7" fmla="*/ 657 h 660"/>
                <a:gd name="T8" fmla="*/ 558 w 730"/>
                <a:gd name="T9" fmla="*/ 0 h 660"/>
                <a:gd name="T10" fmla="*/ 730 w 730"/>
                <a:gd name="T11" fmla="*/ 1 h 6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30"/>
                <a:gd name="T19" fmla="*/ 0 h 660"/>
                <a:gd name="T20" fmla="*/ 730 w 730"/>
                <a:gd name="T21" fmla="*/ 660 h 6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30" h="660">
                  <a:moveTo>
                    <a:pt x="160" y="4"/>
                  </a:moveTo>
                  <a:lnTo>
                    <a:pt x="0" y="3"/>
                  </a:lnTo>
                  <a:lnTo>
                    <a:pt x="0" y="660"/>
                  </a:lnTo>
                  <a:lnTo>
                    <a:pt x="558" y="657"/>
                  </a:lnTo>
                  <a:lnTo>
                    <a:pt x="558" y="0"/>
                  </a:lnTo>
                  <a:lnTo>
                    <a:pt x="730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31" name="Freeform 139"/>
            <p:cNvSpPr/>
            <p:nvPr/>
          </p:nvSpPr>
          <p:spPr bwMode="auto">
            <a:xfrm>
              <a:off x="2207" y="2744"/>
              <a:ext cx="729" cy="658"/>
            </a:xfrm>
            <a:custGeom>
              <a:avLst/>
              <a:gdLst>
                <a:gd name="T0" fmla="*/ 153 w 729"/>
                <a:gd name="T1" fmla="*/ 0 h 658"/>
                <a:gd name="T2" fmla="*/ 0 w 729"/>
                <a:gd name="T3" fmla="*/ 0 h 658"/>
                <a:gd name="T4" fmla="*/ 0 w 729"/>
                <a:gd name="T5" fmla="*/ 657 h 658"/>
                <a:gd name="T6" fmla="*/ 583 w 729"/>
                <a:gd name="T7" fmla="*/ 658 h 658"/>
                <a:gd name="T8" fmla="*/ 582 w 729"/>
                <a:gd name="T9" fmla="*/ 3 h 658"/>
                <a:gd name="T10" fmla="*/ 729 w 729"/>
                <a:gd name="T11" fmla="*/ 3 h 6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8"/>
                <a:gd name="T20" fmla="*/ 729 w 729"/>
                <a:gd name="T21" fmla="*/ 658 h 65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8">
                  <a:moveTo>
                    <a:pt x="153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83" y="658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32" name="Freeform 140"/>
            <p:cNvSpPr/>
            <p:nvPr/>
          </p:nvSpPr>
          <p:spPr bwMode="auto">
            <a:xfrm>
              <a:off x="3356" y="2744"/>
              <a:ext cx="729" cy="657"/>
            </a:xfrm>
            <a:custGeom>
              <a:avLst/>
              <a:gdLst>
                <a:gd name="T0" fmla="*/ 158 w 729"/>
                <a:gd name="T1" fmla="*/ 0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7"/>
                <a:gd name="T20" fmla="*/ 729 w 729"/>
                <a:gd name="T21" fmla="*/ 657 h 65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7">
                  <a:moveTo>
                    <a:pt x="158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33" name="Freeform 141"/>
            <p:cNvSpPr/>
            <p:nvPr/>
          </p:nvSpPr>
          <p:spPr bwMode="auto">
            <a:xfrm>
              <a:off x="4508" y="2744"/>
              <a:ext cx="729" cy="657"/>
            </a:xfrm>
            <a:custGeom>
              <a:avLst/>
              <a:gdLst>
                <a:gd name="T0" fmla="*/ 161 w 729"/>
                <a:gd name="T1" fmla="*/ 2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7"/>
                <a:gd name="T20" fmla="*/ 729 w 729"/>
                <a:gd name="T21" fmla="*/ 657 h 65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7">
                  <a:moveTo>
                    <a:pt x="161" y="2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34" name="Freeform 142"/>
            <p:cNvSpPr/>
            <p:nvPr/>
          </p:nvSpPr>
          <p:spPr bwMode="auto">
            <a:xfrm>
              <a:off x="1400" y="2735"/>
              <a:ext cx="708" cy="571"/>
            </a:xfrm>
            <a:custGeom>
              <a:avLst/>
              <a:gdLst>
                <a:gd name="T0" fmla="*/ 0 w 708"/>
                <a:gd name="T1" fmla="*/ 0 h 571"/>
                <a:gd name="T2" fmla="*/ 132 w 708"/>
                <a:gd name="T3" fmla="*/ 0 h 571"/>
                <a:gd name="T4" fmla="*/ 133 w 708"/>
                <a:gd name="T5" fmla="*/ 571 h 571"/>
                <a:gd name="T6" fmla="*/ 708 w 708"/>
                <a:gd name="T7" fmla="*/ 570 h 571"/>
                <a:gd name="T8" fmla="*/ 708 w 708"/>
                <a:gd name="T9" fmla="*/ 9 h 571"/>
                <a:gd name="T10" fmla="*/ 573 w 708"/>
                <a:gd name="T11" fmla="*/ 9 h 5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08"/>
                <a:gd name="T19" fmla="*/ 0 h 571"/>
                <a:gd name="T20" fmla="*/ 708 w 708"/>
                <a:gd name="T21" fmla="*/ 571 h 57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08" h="571">
                  <a:moveTo>
                    <a:pt x="0" y="0"/>
                  </a:moveTo>
                  <a:lnTo>
                    <a:pt x="132" y="0"/>
                  </a:lnTo>
                  <a:lnTo>
                    <a:pt x="133" y="571"/>
                  </a:lnTo>
                  <a:lnTo>
                    <a:pt x="708" y="570"/>
                  </a:lnTo>
                  <a:lnTo>
                    <a:pt x="708" y="9"/>
                  </a:lnTo>
                  <a:lnTo>
                    <a:pt x="573" y="9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35" name="Freeform 143"/>
            <p:cNvSpPr/>
            <p:nvPr/>
          </p:nvSpPr>
          <p:spPr bwMode="auto">
            <a:xfrm>
              <a:off x="2552" y="2735"/>
              <a:ext cx="726" cy="567"/>
            </a:xfrm>
            <a:custGeom>
              <a:avLst/>
              <a:gdLst>
                <a:gd name="T0" fmla="*/ 0 w 726"/>
                <a:gd name="T1" fmla="*/ 0 h 567"/>
                <a:gd name="T2" fmla="*/ 148 w 726"/>
                <a:gd name="T3" fmla="*/ 1 h 567"/>
                <a:gd name="T4" fmla="*/ 147 w 726"/>
                <a:gd name="T5" fmla="*/ 567 h 567"/>
                <a:gd name="T6" fmla="*/ 726 w 726"/>
                <a:gd name="T7" fmla="*/ 567 h 567"/>
                <a:gd name="T8" fmla="*/ 726 w 726"/>
                <a:gd name="T9" fmla="*/ 6 h 567"/>
                <a:gd name="T10" fmla="*/ 579 w 726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6"/>
                <a:gd name="T19" fmla="*/ 0 h 567"/>
                <a:gd name="T20" fmla="*/ 726 w 726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6" h="567">
                  <a:moveTo>
                    <a:pt x="0" y="0"/>
                  </a:moveTo>
                  <a:lnTo>
                    <a:pt x="148" y="1"/>
                  </a:lnTo>
                  <a:lnTo>
                    <a:pt x="147" y="567"/>
                  </a:lnTo>
                  <a:lnTo>
                    <a:pt x="726" y="567"/>
                  </a:lnTo>
                  <a:lnTo>
                    <a:pt x="726" y="6"/>
                  </a:lnTo>
                  <a:lnTo>
                    <a:pt x="579" y="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36" name="Freeform 144"/>
            <p:cNvSpPr/>
            <p:nvPr/>
          </p:nvSpPr>
          <p:spPr bwMode="auto">
            <a:xfrm>
              <a:off x="3704" y="2738"/>
              <a:ext cx="714" cy="567"/>
            </a:xfrm>
            <a:custGeom>
              <a:avLst/>
              <a:gdLst>
                <a:gd name="T0" fmla="*/ 0 w 714"/>
                <a:gd name="T1" fmla="*/ 0 h 567"/>
                <a:gd name="T2" fmla="*/ 136 w 714"/>
                <a:gd name="T3" fmla="*/ 1 h 567"/>
                <a:gd name="T4" fmla="*/ 135 w 714"/>
                <a:gd name="T5" fmla="*/ 567 h 567"/>
                <a:gd name="T6" fmla="*/ 714 w 714"/>
                <a:gd name="T7" fmla="*/ 567 h 567"/>
                <a:gd name="T8" fmla="*/ 714 w 714"/>
                <a:gd name="T9" fmla="*/ 6 h 567"/>
                <a:gd name="T10" fmla="*/ 576 w 714"/>
                <a:gd name="T11" fmla="*/ 5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4"/>
                <a:gd name="T19" fmla="*/ 0 h 567"/>
                <a:gd name="T20" fmla="*/ 714 w 714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4" h="567">
                  <a:moveTo>
                    <a:pt x="0" y="0"/>
                  </a:moveTo>
                  <a:lnTo>
                    <a:pt x="136" y="1"/>
                  </a:lnTo>
                  <a:lnTo>
                    <a:pt x="135" y="567"/>
                  </a:lnTo>
                  <a:lnTo>
                    <a:pt x="714" y="567"/>
                  </a:lnTo>
                  <a:lnTo>
                    <a:pt x="714" y="6"/>
                  </a:lnTo>
                  <a:lnTo>
                    <a:pt x="576" y="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37" name="Freeform 145"/>
            <p:cNvSpPr/>
            <p:nvPr/>
          </p:nvSpPr>
          <p:spPr bwMode="auto">
            <a:xfrm>
              <a:off x="4859" y="2738"/>
              <a:ext cx="711" cy="567"/>
            </a:xfrm>
            <a:custGeom>
              <a:avLst/>
              <a:gdLst>
                <a:gd name="T0" fmla="*/ 0 w 711"/>
                <a:gd name="T1" fmla="*/ 0 h 567"/>
                <a:gd name="T2" fmla="*/ 130 w 711"/>
                <a:gd name="T3" fmla="*/ 1 h 567"/>
                <a:gd name="T4" fmla="*/ 132 w 711"/>
                <a:gd name="T5" fmla="*/ 567 h 567"/>
                <a:gd name="T6" fmla="*/ 711 w 711"/>
                <a:gd name="T7" fmla="*/ 567 h 567"/>
                <a:gd name="T8" fmla="*/ 711 w 711"/>
                <a:gd name="T9" fmla="*/ 6 h 567"/>
                <a:gd name="T10" fmla="*/ 564 w 711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1"/>
                <a:gd name="T19" fmla="*/ 0 h 567"/>
                <a:gd name="T20" fmla="*/ 711 w 711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1" h="567">
                  <a:moveTo>
                    <a:pt x="0" y="0"/>
                  </a:moveTo>
                  <a:lnTo>
                    <a:pt x="130" y="1"/>
                  </a:lnTo>
                  <a:lnTo>
                    <a:pt x="132" y="567"/>
                  </a:lnTo>
                  <a:lnTo>
                    <a:pt x="711" y="567"/>
                  </a:lnTo>
                  <a:lnTo>
                    <a:pt x="711" y="6"/>
                  </a:lnTo>
                  <a:lnTo>
                    <a:pt x="564" y="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38" name="Freeform 146"/>
            <p:cNvSpPr/>
            <p:nvPr/>
          </p:nvSpPr>
          <p:spPr bwMode="auto">
            <a:xfrm>
              <a:off x="1322" y="3398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39" name="Freeform 147"/>
            <p:cNvSpPr/>
            <p:nvPr/>
          </p:nvSpPr>
          <p:spPr bwMode="auto">
            <a:xfrm>
              <a:off x="2491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40" name="Freeform 148"/>
            <p:cNvSpPr/>
            <p:nvPr/>
          </p:nvSpPr>
          <p:spPr bwMode="auto">
            <a:xfrm>
              <a:off x="3643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41" name="Freeform 149"/>
            <p:cNvSpPr/>
            <p:nvPr/>
          </p:nvSpPr>
          <p:spPr bwMode="auto">
            <a:xfrm>
              <a:off x="4795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42" name="Freeform 150"/>
            <p:cNvSpPr/>
            <p:nvPr/>
          </p:nvSpPr>
          <p:spPr bwMode="auto">
            <a:xfrm>
              <a:off x="5276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43" name="Freeform 151"/>
            <p:cNvSpPr/>
            <p:nvPr/>
          </p:nvSpPr>
          <p:spPr bwMode="auto">
            <a:xfrm>
              <a:off x="4124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44" name="Freeform 152"/>
            <p:cNvSpPr/>
            <p:nvPr/>
          </p:nvSpPr>
          <p:spPr bwMode="auto">
            <a:xfrm>
              <a:off x="2972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45" name="Freeform 153"/>
            <p:cNvSpPr/>
            <p:nvPr/>
          </p:nvSpPr>
          <p:spPr bwMode="auto">
            <a:xfrm>
              <a:off x="1819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46" name="Freeform 154"/>
            <p:cNvSpPr/>
            <p:nvPr/>
          </p:nvSpPr>
          <p:spPr bwMode="auto">
            <a:xfrm>
              <a:off x="956" y="4025"/>
              <a:ext cx="4317" cy="1"/>
            </a:xfrm>
            <a:custGeom>
              <a:avLst/>
              <a:gdLst>
                <a:gd name="T0" fmla="*/ 0 w 4317"/>
                <a:gd name="T1" fmla="*/ 0 h 1"/>
                <a:gd name="T2" fmla="*/ 4317 w 4317"/>
                <a:gd name="T3" fmla="*/ 0 h 1"/>
                <a:gd name="T4" fmla="*/ 0 60000 65536"/>
                <a:gd name="T5" fmla="*/ 0 60000 65536"/>
                <a:gd name="T6" fmla="*/ 0 w 4317"/>
                <a:gd name="T7" fmla="*/ 0 h 1"/>
                <a:gd name="T8" fmla="*/ 4317 w 431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317" h="1">
                  <a:moveTo>
                    <a:pt x="0" y="0"/>
                  </a:moveTo>
                  <a:lnTo>
                    <a:pt x="431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47" name="Freeform 155"/>
            <p:cNvSpPr/>
            <p:nvPr/>
          </p:nvSpPr>
          <p:spPr bwMode="auto">
            <a:xfrm>
              <a:off x="956" y="4121"/>
              <a:ext cx="3837" cy="1"/>
            </a:xfrm>
            <a:custGeom>
              <a:avLst/>
              <a:gdLst>
                <a:gd name="T0" fmla="*/ 0 w 3837"/>
                <a:gd name="T1" fmla="*/ 0 h 1"/>
                <a:gd name="T2" fmla="*/ 3837 w 3837"/>
                <a:gd name="T3" fmla="*/ 0 h 1"/>
                <a:gd name="T4" fmla="*/ 0 60000 65536"/>
                <a:gd name="T5" fmla="*/ 0 60000 65536"/>
                <a:gd name="T6" fmla="*/ 0 w 3837"/>
                <a:gd name="T7" fmla="*/ 0 h 1"/>
                <a:gd name="T8" fmla="*/ 3837 w 383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837" h="1">
                  <a:moveTo>
                    <a:pt x="0" y="0"/>
                  </a:moveTo>
                  <a:lnTo>
                    <a:pt x="383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48" name="Freeform 156"/>
            <p:cNvSpPr/>
            <p:nvPr/>
          </p:nvSpPr>
          <p:spPr bwMode="auto">
            <a:xfrm>
              <a:off x="1322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49" name="Freeform 157"/>
            <p:cNvSpPr/>
            <p:nvPr/>
          </p:nvSpPr>
          <p:spPr bwMode="auto">
            <a:xfrm>
              <a:off x="2491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50" name="Freeform 158"/>
            <p:cNvSpPr/>
            <p:nvPr/>
          </p:nvSpPr>
          <p:spPr bwMode="auto">
            <a:xfrm>
              <a:off x="3643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51" name="Freeform 159"/>
            <p:cNvSpPr/>
            <p:nvPr/>
          </p:nvSpPr>
          <p:spPr bwMode="auto">
            <a:xfrm>
              <a:off x="4791" y="3881"/>
              <a:ext cx="4" cy="247"/>
            </a:xfrm>
            <a:custGeom>
              <a:avLst/>
              <a:gdLst>
                <a:gd name="T0" fmla="*/ 4 w 4"/>
                <a:gd name="T1" fmla="*/ 0 h 247"/>
                <a:gd name="T2" fmla="*/ 0 w 4"/>
                <a:gd name="T3" fmla="*/ 247 h 247"/>
                <a:gd name="T4" fmla="*/ 0 60000 65536"/>
                <a:gd name="T5" fmla="*/ 0 60000 65536"/>
                <a:gd name="T6" fmla="*/ 0 w 4"/>
                <a:gd name="T7" fmla="*/ 0 h 247"/>
                <a:gd name="T8" fmla="*/ 4 w 4"/>
                <a:gd name="T9" fmla="*/ 247 h 24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247">
                  <a:moveTo>
                    <a:pt x="4" y="0"/>
                  </a:moveTo>
                  <a:lnTo>
                    <a:pt x="0" y="247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52" name="Freeform 160"/>
            <p:cNvSpPr/>
            <p:nvPr/>
          </p:nvSpPr>
          <p:spPr bwMode="auto">
            <a:xfrm>
              <a:off x="5277" y="3881"/>
              <a:ext cx="1" cy="151"/>
            </a:xfrm>
            <a:custGeom>
              <a:avLst/>
              <a:gdLst>
                <a:gd name="T0" fmla="*/ 0 w 1"/>
                <a:gd name="T1" fmla="*/ 0 h 151"/>
                <a:gd name="T2" fmla="*/ 0 w 1"/>
                <a:gd name="T3" fmla="*/ 151 h 151"/>
                <a:gd name="T4" fmla="*/ 0 60000 65536"/>
                <a:gd name="T5" fmla="*/ 0 60000 65536"/>
                <a:gd name="T6" fmla="*/ 0 w 1"/>
                <a:gd name="T7" fmla="*/ 0 h 151"/>
                <a:gd name="T8" fmla="*/ 1 w 1"/>
                <a:gd name="T9" fmla="*/ 151 h 15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1">
                  <a:moveTo>
                    <a:pt x="0" y="0"/>
                  </a:moveTo>
                  <a:lnTo>
                    <a:pt x="0" y="15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53" name="Line 161"/>
            <p:cNvSpPr>
              <a:spLocks noChangeShapeType="1"/>
            </p:cNvSpPr>
            <p:nvPr/>
          </p:nvSpPr>
          <p:spPr bwMode="auto">
            <a:xfrm>
              <a:off x="4124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54" name="Line 162"/>
            <p:cNvSpPr>
              <a:spLocks noChangeShapeType="1"/>
            </p:cNvSpPr>
            <p:nvPr/>
          </p:nvSpPr>
          <p:spPr bwMode="auto">
            <a:xfrm>
              <a:off x="2973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55" name="Line 163"/>
            <p:cNvSpPr>
              <a:spLocks noChangeShapeType="1"/>
            </p:cNvSpPr>
            <p:nvPr/>
          </p:nvSpPr>
          <p:spPr bwMode="auto">
            <a:xfrm>
              <a:off x="1820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56" name="Rectangle 164"/>
            <p:cNvSpPr>
              <a:spLocks noChangeArrowheads="1"/>
            </p:cNvSpPr>
            <p:nvPr/>
          </p:nvSpPr>
          <p:spPr bwMode="auto">
            <a:xfrm>
              <a:off x="2317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33457" name="Text Box 165"/>
            <p:cNvSpPr txBox="1">
              <a:spLocks noChangeArrowheads="1"/>
            </p:cNvSpPr>
            <p:nvPr/>
          </p:nvSpPr>
          <p:spPr bwMode="auto">
            <a:xfrm>
              <a:off x="2348" y="3576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</a:p>
          </p:txBody>
        </p:sp>
        <p:sp>
          <p:nvSpPr>
            <p:cNvPr id="133458" name="Rectangle 166"/>
            <p:cNvSpPr>
              <a:spLocks noChangeArrowheads="1"/>
            </p:cNvSpPr>
            <p:nvPr/>
          </p:nvSpPr>
          <p:spPr bwMode="auto">
            <a:xfrm>
              <a:off x="3469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33459" name="Text Box 167"/>
            <p:cNvSpPr txBox="1">
              <a:spLocks noChangeArrowheads="1"/>
            </p:cNvSpPr>
            <p:nvPr/>
          </p:nvSpPr>
          <p:spPr bwMode="auto">
            <a:xfrm>
              <a:off x="3500" y="3576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</a:p>
          </p:txBody>
        </p:sp>
        <p:sp>
          <p:nvSpPr>
            <p:cNvPr id="133460" name="Rectangle 168"/>
            <p:cNvSpPr>
              <a:spLocks noChangeArrowheads="1"/>
            </p:cNvSpPr>
            <p:nvPr/>
          </p:nvSpPr>
          <p:spPr bwMode="auto">
            <a:xfrm>
              <a:off x="462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33461" name="Text Box 169"/>
            <p:cNvSpPr txBox="1">
              <a:spLocks noChangeArrowheads="1"/>
            </p:cNvSpPr>
            <p:nvPr/>
          </p:nvSpPr>
          <p:spPr bwMode="auto">
            <a:xfrm>
              <a:off x="4652" y="3576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</a:p>
          </p:txBody>
        </p:sp>
        <p:sp>
          <p:nvSpPr>
            <p:cNvPr id="133462" name="Line 170"/>
            <p:cNvSpPr>
              <a:spLocks noChangeShapeType="1"/>
            </p:cNvSpPr>
            <p:nvPr/>
          </p:nvSpPr>
          <p:spPr bwMode="auto">
            <a:xfrm>
              <a:off x="196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63" name="Line 171"/>
            <p:cNvSpPr>
              <a:spLocks noChangeShapeType="1"/>
            </p:cNvSpPr>
            <p:nvPr/>
          </p:nvSpPr>
          <p:spPr bwMode="auto">
            <a:xfrm>
              <a:off x="314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64" name="Line 172"/>
            <p:cNvSpPr>
              <a:spLocks noChangeShapeType="1"/>
            </p:cNvSpPr>
            <p:nvPr/>
          </p:nvSpPr>
          <p:spPr bwMode="auto">
            <a:xfrm>
              <a:off x="4293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65" name="Line 173"/>
            <p:cNvSpPr>
              <a:spLocks noChangeShapeType="1"/>
            </p:cNvSpPr>
            <p:nvPr/>
          </p:nvSpPr>
          <p:spPr bwMode="auto">
            <a:xfrm>
              <a:off x="5420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66" name="Freeform 174"/>
            <p:cNvSpPr/>
            <p:nvPr/>
          </p:nvSpPr>
          <p:spPr bwMode="auto">
            <a:xfrm>
              <a:off x="3033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7711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67" name="Freeform 175"/>
            <p:cNvSpPr/>
            <p:nvPr/>
          </p:nvSpPr>
          <p:spPr bwMode="auto">
            <a:xfrm>
              <a:off x="4185" y="2691"/>
              <a:ext cx="1" cy="525"/>
            </a:xfrm>
            <a:custGeom>
              <a:avLst/>
              <a:gdLst>
                <a:gd name="T0" fmla="*/ 0 w 1"/>
                <a:gd name="T1" fmla="*/ 0 h 525"/>
                <a:gd name="T2" fmla="*/ 0 w 1"/>
                <a:gd name="T3" fmla="*/ 525 h 525"/>
                <a:gd name="T4" fmla="*/ 0 60000 65536"/>
                <a:gd name="T5" fmla="*/ 0 60000 65536"/>
                <a:gd name="T6" fmla="*/ 0 w 1"/>
                <a:gd name="T7" fmla="*/ 0 h 525"/>
                <a:gd name="T8" fmla="*/ 1 w 1"/>
                <a:gd name="T9" fmla="*/ 525 h 52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5">
                  <a:moveTo>
                    <a:pt x="0" y="0"/>
                  </a:moveTo>
                  <a:lnTo>
                    <a:pt x="0" y="52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68" name="Freeform 176"/>
            <p:cNvSpPr/>
            <p:nvPr/>
          </p:nvSpPr>
          <p:spPr bwMode="auto">
            <a:xfrm>
              <a:off x="5325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7711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69" name="Text Box 177"/>
            <p:cNvSpPr txBox="1">
              <a:spLocks noChangeArrowheads="1"/>
            </p:cNvSpPr>
            <p:nvPr/>
          </p:nvSpPr>
          <p:spPr bwMode="auto">
            <a:xfrm rot="5400000">
              <a:off x="1193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3470" name="Text Box 178"/>
            <p:cNvSpPr txBox="1">
              <a:spLocks noChangeArrowheads="1"/>
            </p:cNvSpPr>
            <p:nvPr/>
          </p:nvSpPr>
          <p:spPr bwMode="auto">
            <a:xfrm rot="5400000">
              <a:off x="1769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3471" name="Text Box 179"/>
            <p:cNvSpPr txBox="1">
              <a:spLocks noChangeArrowheads="1"/>
            </p:cNvSpPr>
            <p:nvPr/>
          </p:nvSpPr>
          <p:spPr bwMode="auto">
            <a:xfrm rot="5400000">
              <a:off x="2345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3472" name="Text Box 180"/>
            <p:cNvSpPr txBox="1">
              <a:spLocks noChangeArrowheads="1"/>
            </p:cNvSpPr>
            <p:nvPr/>
          </p:nvSpPr>
          <p:spPr bwMode="auto">
            <a:xfrm rot="5400000">
              <a:off x="2921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3473" name="Text Box 181"/>
            <p:cNvSpPr txBox="1">
              <a:spLocks noChangeArrowheads="1"/>
            </p:cNvSpPr>
            <p:nvPr/>
          </p:nvSpPr>
          <p:spPr bwMode="auto">
            <a:xfrm rot="5400000">
              <a:off x="3496" y="1627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133474" name="Text Box 182"/>
            <p:cNvSpPr txBox="1">
              <a:spLocks noChangeArrowheads="1"/>
            </p:cNvSpPr>
            <p:nvPr/>
          </p:nvSpPr>
          <p:spPr bwMode="auto">
            <a:xfrm rot="5400000">
              <a:off x="4073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133475" name="Text Box 183"/>
            <p:cNvSpPr txBox="1">
              <a:spLocks noChangeArrowheads="1"/>
            </p:cNvSpPr>
            <p:nvPr/>
          </p:nvSpPr>
          <p:spPr bwMode="auto">
            <a:xfrm rot="5400000">
              <a:off x="4649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133476" name="Text Box 184"/>
            <p:cNvSpPr txBox="1">
              <a:spLocks noChangeArrowheads="1"/>
            </p:cNvSpPr>
            <p:nvPr/>
          </p:nvSpPr>
          <p:spPr bwMode="auto">
            <a:xfrm rot="5400000">
              <a:off x="5244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133477" name="Text Box 185"/>
            <p:cNvSpPr txBox="1">
              <a:spLocks noChangeArrowheads="1"/>
            </p:cNvSpPr>
            <p:nvPr/>
          </p:nvSpPr>
          <p:spPr bwMode="auto">
            <a:xfrm>
              <a:off x="660" y="791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3478" name="Text Box 186"/>
            <p:cNvSpPr txBox="1">
              <a:spLocks noChangeArrowheads="1"/>
            </p:cNvSpPr>
            <p:nvPr/>
          </p:nvSpPr>
          <p:spPr bwMode="auto">
            <a:xfrm>
              <a:off x="660" y="1383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33479" name="Text Box 187"/>
            <p:cNvSpPr txBox="1">
              <a:spLocks noChangeArrowheads="1"/>
            </p:cNvSpPr>
            <p:nvPr/>
          </p:nvSpPr>
          <p:spPr bwMode="auto">
            <a:xfrm>
              <a:off x="624" y="1959"/>
              <a:ext cx="2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63</a:t>
              </a:r>
            </a:p>
          </p:txBody>
        </p:sp>
        <p:sp>
          <p:nvSpPr>
            <p:cNvPr id="133480" name="Line 188"/>
            <p:cNvSpPr>
              <a:spLocks noChangeShapeType="1"/>
            </p:cNvSpPr>
            <p:nvPr/>
          </p:nvSpPr>
          <p:spPr bwMode="auto">
            <a:xfrm>
              <a:off x="332" y="2537"/>
              <a:ext cx="57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481" name="Text Box 189"/>
            <p:cNvSpPr txBox="1">
              <a:spLocks noChangeArrowheads="1"/>
            </p:cNvSpPr>
            <p:nvPr/>
          </p:nvSpPr>
          <p:spPr bwMode="auto">
            <a:xfrm>
              <a:off x="660" y="2727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3482" name="Text Box 190"/>
            <p:cNvSpPr txBox="1">
              <a:spLocks noChangeArrowheads="1"/>
            </p:cNvSpPr>
            <p:nvPr/>
          </p:nvSpPr>
          <p:spPr bwMode="auto">
            <a:xfrm>
              <a:off x="624" y="3159"/>
              <a:ext cx="2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15</a:t>
              </a:r>
            </a:p>
          </p:txBody>
        </p:sp>
        <p:sp>
          <p:nvSpPr>
            <p:cNvPr id="133483" name="Text Box 191"/>
            <p:cNvSpPr txBox="1">
              <a:spLocks noChangeArrowheads="1"/>
            </p:cNvSpPr>
            <p:nvPr/>
          </p:nvSpPr>
          <p:spPr bwMode="auto">
            <a:xfrm rot="5400000">
              <a:off x="665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3484" name="Text Box 192"/>
            <p:cNvSpPr txBox="1">
              <a:spLocks noChangeArrowheads="1"/>
            </p:cNvSpPr>
            <p:nvPr/>
          </p:nvSpPr>
          <p:spPr bwMode="auto">
            <a:xfrm rot="5400000">
              <a:off x="665" y="2876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3485" name="Text Box 193"/>
            <p:cNvSpPr txBox="1">
              <a:spLocks noChangeArrowheads="1"/>
            </p:cNvSpPr>
            <p:nvPr/>
          </p:nvSpPr>
          <p:spPr bwMode="auto">
            <a:xfrm>
              <a:off x="348" y="1015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行</a:t>
              </a:r>
            </a:p>
          </p:txBody>
        </p:sp>
        <p:sp>
          <p:nvSpPr>
            <p:cNvPr id="133486" name="Text Box 194"/>
            <p:cNvSpPr txBox="1">
              <a:spLocks noChangeArrowheads="1"/>
            </p:cNvSpPr>
            <p:nvPr/>
          </p:nvSpPr>
          <p:spPr bwMode="auto">
            <a:xfrm>
              <a:off x="348" y="1263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地</a:t>
              </a:r>
            </a:p>
          </p:txBody>
        </p:sp>
        <p:sp>
          <p:nvSpPr>
            <p:cNvPr id="133487" name="Text Box 195"/>
            <p:cNvSpPr txBox="1">
              <a:spLocks noChangeArrowheads="1"/>
            </p:cNvSpPr>
            <p:nvPr/>
          </p:nvSpPr>
          <p:spPr bwMode="auto">
            <a:xfrm>
              <a:off x="348" y="1511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址</a:t>
              </a:r>
            </a:p>
          </p:txBody>
        </p:sp>
        <p:sp>
          <p:nvSpPr>
            <p:cNvPr id="133488" name="Text Box 196"/>
            <p:cNvSpPr txBox="1">
              <a:spLocks noChangeArrowheads="1"/>
            </p:cNvSpPr>
            <p:nvPr/>
          </p:nvSpPr>
          <p:spPr bwMode="auto">
            <a:xfrm>
              <a:off x="348" y="1758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译</a:t>
              </a:r>
            </a:p>
          </p:txBody>
        </p:sp>
        <p:sp>
          <p:nvSpPr>
            <p:cNvPr id="133489" name="Text Box 197"/>
            <p:cNvSpPr txBox="1">
              <a:spLocks noChangeArrowheads="1"/>
            </p:cNvSpPr>
            <p:nvPr/>
          </p:nvSpPr>
          <p:spPr bwMode="auto">
            <a:xfrm>
              <a:off x="348" y="2006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码</a:t>
              </a:r>
            </a:p>
          </p:txBody>
        </p:sp>
        <p:sp>
          <p:nvSpPr>
            <p:cNvPr id="133490" name="Text Box 198"/>
            <p:cNvSpPr txBox="1">
              <a:spLocks noChangeArrowheads="1"/>
            </p:cNvSpPr>
            <p:nvPr/>
          </p:nvSpPr>
          <p:spPr bwMode="auto">
            <a:xfrm>
              <a:off x="375" y="2635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列</a:t>
              </a:r>
            </a:p>
          </p:txBody>
        </p:sp>
        <p:sp>
          <p:nvSpPr>
            <p:cNvPr id="133491" name="Text Box 199"/>
            <p:cNvSpPr txBox="1">
              <a:spLocks noChangeArrowheads="1"/>
            </p:cNvSpPr>
            <p:nvPr/>
          </p:nvSpPr>
          <p:spPr bwMode="auto">
            <a:xfrm>
              <a:off x="375" y="2883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地</a:t>
              </a:r>
            </a:p>
          </p:txBody>
        </p:sp>
        <p:sp>
          <p:nvSpPr>
            <p:cNvPr id="133492" name="Text Box 200"/>
            <p:cNvSpPr txBox="1">
              <a:spLocks noChangeArrowheads="1"/>
            </p:cNvSpPr>
            <p:nvPr/>
          </p:nvSpPr>
          <p:spPr bwMode="auto">
            <a:xfrm>
              <a:off x="375" y="3131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址</a:t>
              </a:r>
            </a:p>
          </p:txBody>
        </p:sp>
        <p:sp>
          <p:nvSpPr>
            <p:cNvPr id="133493" name="Text Box 201"/>
            <p:cNvSpPr txBox="1">
              <a:spLocks noChangeArrowheads="1"/>
            </p:cNvSpPr>
            <p:nvPr/>
          </p:nvSpPr>
          <p:spPr bwMode="auto">
            <a:xfrm>
              <a:off x="375" y="3378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译</a:t>
              </a:r>
            </a:p>
          </p:txBody>
        </p:sp>
        <p:sp>
          <p:nvSpPr>
            <p:cNvPr id="133494" name="Text Box 202"/>
            <p:cNvSpPr txBox="1">
              <a:spLocks noChangeArrowheads="1"/>
            </p:cNvSpPr>
            <p:nvPr/>
          </p:nvSpPr>
          <p:spPr bwMode="auto">
            <a:xfrm>
              <a:off x="375" y="3626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码</a:t>
              </a:r>
            </a:p>
          </p:txBody>
        </p:sp>
        <p:sp>
          <p:nvSpPr>
            <p:cNvPr id="133495" name="Text Box 203"/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33496" name="Text Box 204"/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133497" name="Text Box 205"/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133498" name="Text Box 206"/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4</a:t>
              </a:r>
            </a:p>
          </p:txBody>
        </p:sp>
        <p:sp>
          <p:nvSpPr>
            <p:cNvPr id="133499" name="Line 207"/>
            <p:cNvSpPr>
              <a:spLocks noChangeShapeType="1"/>
            </p:cNvSpPr>
            <p:nvPr/>
          </p:nvSpPr>
          <p:spPr bwMode="auto">
            <a:xfrm>
              <a:off x="140" y="905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500" name="Line 208"/>
            <p:cNvSpPr>
              <a:spLocks noChangeShapeType="1"/>
            </p:cNvSpPr>
            <p:nvPr/>
          </p:nvSpPr>
          <p:spPr bwMode="auto">
            <a:xfrm>
              <a:off x="140" y="1164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501" name="Line 209"/>
            <p:cNvSpPr>
              <a:spLocks noChangeShapeType="1"/>
            </p:cNvSpPr>
            <p:nvPr/>
          </p:nvSpPr>
          <p:spPr bwMode="auto">
            <a:xfrm>
              <a:off x="140" y="1423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502" name="Line 210"/>
            <p:cNvSpPr>
              <a:spLocks noChangeShapeType="1"/>
            </p:cNvSpPr>
            <p:nvPr/>
          </p:nvSpPr>
          <p:spPr bwMode="auto">
            <a:xfrm>
              <a:off x="140" y="168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503" name="Line 211"/>
            <p:cNvSpPr>
              <a:spLocks noChangeShapeType="1"/>
            </p:cNvSpPr>
            <p:nvPr/>
          </p:nvSpPr>
          <p:spPr bwMode="auto">
            <a:xfrm>
              <a:off x="140" y="194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504" name="Line 212"/>
            <p:cNvSpPr>
              <a:spLocks noChangeShapeType="1"/>
            </p:cNvSpPr>
            <p:nvPr/>
          </p:nvSpPr>
          <p:spPr bwMode="auto">
            <a:xfrm>
              <a:off x="140" y="220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505" name="Line 213"/>
            <p:cNvSpPr>
              <a:spLocks noChangeShapeType="1"/>
            </p:cNvSpPr>
            <p:nvPr/>
          </p:nvSpPr>
          <p:spPr bwMode="auto">
            <a:xfrm>
              <a:off x="140" y="28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506" name="Line 214"/>
            <p:cNvSpPr>
              <a:spLocks noChangeShapeType="1"/>
            </p:cNvSpPr>
            <p:nvPr/>
          </p:nvSpPr>
          <p:spPr bwMode="auto">
            <a:xfrm>
              <a:off x="140" y="313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507" name="Line 215"/>
            <p:cNvSpPr>
              <a:spLocks noChangeShapeType="1"/>
            </p:cNvSpPr>
            <p:nvPr/>
          </p:nvSpPr>
          <p:spPr bwMode="auto">
            <a:xfrm>
              <a:off x="140" y="339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508" name="Line 216"/>
            <p:cNvSpPr>
              <a:spLocks noChangeShapeType="1"/>
            </p:cNvSpPr>
            <p:nvPr/>
          </p:nvSpPr>
          <p:spPr bwMode="auto">
            <a:xfrm>
              <a:off x="140" y="365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509" name="Text Box 217"/>
            <p:cNvSpPr txBox="1">
              <a:spLocks noChangeArrowheads="1"/>
            </p:cNvSpPr>
            <p:nvPr/>
          </p:nvSpPr>
          <p:spPr bwMode="auto">
            <a:xfrm>
              <a:off x="648" y="3890"/>
              <a:ext cx="35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WE</a:t>
              </a:r>
            </a:p>
          </p:txBody>
        </p:sp>
        <p:sp>
          <p:nvSpPr>
            <p:cNvPr id="133510" name="Line 218"/>
            <p:cNvSpPr>
              <a:spLocks noChangeShapeType="1"/>
            </p:cNvSpPr>
            <p:nvPr/>
          </p:nvSpPr>
          <p:spPr bwMode="auto">
            <a:xfrm>
              <a:off x="682" y="3923"/>
              <a:ext cx="288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511" name="Text Box 219"/>
            <p:cNvSpPr txBox="1">
              <a:spLocks noChangeArrowheads="1"/>
            </p:cNvSpPr>
            <p:nvPr/>
          </p:nvSpPr>
          <p:spPr bwMode="auto">
            <a:xfrm>
              <a:off x="668" y="4025"/>
              <a:ext cx="32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CS</a:t>
              </a:r>
            </a:p>
          </p:txBody>
        </p:sp>
        <p:sp>
          <p:nvSpPr>
            <p:cNvPr id="133512" name="Line 220"/>
            <p:cNvSpPr>
              <a:spLocks noChangeShapeType="1"/>
            </p:cNvSpPr>
            <p:nvPr/>
          </p:nvSpPr>
          <p:spPr bwMode="auto">
            <a:xfrm>
              <a:off x="726" y="4079"/>
              <a:ext cx="192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33123" name="Group 221"/>
          <p:cNvGrpSpPr/>
          <p:nvPr/>
        </p:nvGrpSpPr>
        <p:grpSpPr bwMode="auto">
          <a:xfrm>
            <a:off x="222250" y="1069975"/>
            <a:ext cx="311150" cy="4778375"/>
            <a:chOff x="140" y="674"/>
            <a:chExt cx="196" cy="3010"/>
          </a:xfrm>
        </p:grpSpPr>
        <p:sp>
          <p:nvSpPr>
            <p:cNvPr id="133299" name="Text Box 222"/>
            <p:cNvSpPr txBox="1">
              <a:spLocks noChangeArrowheads="1"/>
            </p:cNvSpPr>
            <p:nvPr/>
          </p:nvSpPr>
          <p:spPr bwMode="auto">
            <a:xfrm>
              <a:off x="140" y="67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3300" name="Text Box 223"/>
            <p:cNvSpPr txBox="1">
              <a:spLocks noChangeArrowheads="1"/>
            </p:cNvSpPr>
            <p:nvPr/>
          </p:nvSpPr>
          <p:spPr bwMode="auto">
            <a:xfrm>
              <a:off x="140" y="933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3301" name="Text Box 224"/>
            <p:cNvSpPr txBox="1">
              <a:spLocks noChangeArrowheads="1"/>
            </p:cNvSpPr>
            <p:nvPr/>
          </p:nvSpPr>
          <p:spPr bwMode="auto">
            <a:xfrm>
              <a:off x="140" y="119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3302" name="Text Box 225"/>
            <p:cNvSpPr txBox="1">
              <a:spLocks noChangeArrowheads="1"/>
            </p:cNvSpPr>
            <p:nvPr/>
          </p:nvSpPr>
          <p:spPr bwMode="auto">
            <a:xfrm>
              <a:off x="140" y="145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3303" name="Text Box 226"/>
            <p:cNvSpPr txBox="1">
              <a:spLocks noChangeArrowheads="1"/>
            </p:cNvSpPr>
            <p:nvPr/>
          </p:nvSpPr>
          <p:spPr bwMode="auto">
            <a:xfrm>
              <a:off x="140" y="171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3304" name="Text Box 227"/>
            <p:cNvSpPr txBox="1">
              <a:spLocks noChangeArrowheads="1"/>
            </p:cNvSpPr>
            <p:nvPr/>
          </p:nvSpPr>
          <p:spPr bwMode="auto">
            <a:xfrm>
              <a:off x="140" y="197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3305" name="Text Box 228"/>
            <p:cNvSpPr txBox="1">
              <a:spLocks noChangeArrowheads="1"/>
            </p:cNvSpPr>
            <p:nvPr/>
          </p:nvSpPr>
          <p:spPr bwMode="auto">
            <a:xfrm>
              <a:off x="140" y="2657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3306" name="Text Box 229"/>
            <p:cNvSpPr txBox="1">
              <a:spLocks noChangeArrowheads="1"/>
            </p:cNvSpPr>
            <p:nvPr/>
          </p:nvSpPr>
          <p:spPr bwMode="auto">
            <a:xfrm>
              <a:off x="140" y="2916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3307" name="Text Box 230"/>
            <p:cNvSpPr txBox="1">
              <a:spLocks noChangeArrowheads="1"/>
            </p:cNvSpPr>
            <p:nvPr/>
          </p:nvSpPr>
          <p:spPr bwMode="auto">
            <a:xfrm>
              <a:off x="140" y="3175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3308" name="Text Box 231"/>
            <p:cNvSpPr txBox="1">
              <a:spLocks noChangeArrowheads="1"/>
            </p:cNvSpPr>
            <p:nvPr/>
          </p:nvSpPr>
          <p:spPr bwMode="auto">
            <a:xfrm>
              <a:off x="140" y="343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</p:grpSp>
      <p:grpSp>
        <p:nvGrpSpPr>
          <p:cNvPr id="133124" name="Group 232"/>
          <p:cNvGrpSpPr/>
          <p:nvPr/>
        </p:nvGrpSpPr>
        <p:grpSpPr bwMode="auto">
          <a:xfrm>
            <a:off x="1452563" y="4179888"/>
            <a:ext cx="6262687" cy="401637"/>
            <a:chOff x="915" y="2633"/>
            <a:chExt cx="3945" cy="253"/>
          </a:xfrm>
        </p:grpSpPr>
        <p:grpSp>
          <p:nvGrpSpPr>
            <p:cNvPr id="133261" name="Group 233"/>
            <p:cNvGrpSpPr/>
            <p:nvPr/>
          </p:nvGrpSpPr>
          <p:grpSpPr bwMode="auto">
            <a:xfrm>
              <a:off x="915" y="2696"/>
              <a:ext cx="3858" cy="190"/>
              <a:chOff x="915" y="2696"/>
              <a:chExt cx="3858" cy="190"/>
            </a:xfrm>
          </p:grpSpPr>
          <p:sp>
            <p:nvSpPr>
              <p:cNvPr id="133294" name="Freeform 234"/>
              <p:cNvSpPr/>
              <p:nvPr/>
            </p:nvSpPr>
            <p:spPr bwMode="auto">
              <a:xfrm>
                <a:off x="1304" y="2707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3295" name="Freeform 235"/>
              <p:cNvSpPr/>
              <p:nvPr/>
            </p:nvSpPr>
            <p:spPr bwMode="auto">
              <a:xfrm>
                <a:off x="2457" y="2710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3296" name="Freeform 236"/>
              <p:cNvSpPr/>
              <p:nvPr/>
            </p:nvSpPr>
            <p:spPr bwMode="auto">
              <a:xfrm>
                <a:off x="3609" y="2710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  <a:gd name="T6" fmla="*/ 0 w 1"/>
                  <a:gd name="T7" fmla="*/ 0 h 176"/>
                  <a:gd name="T8" fmla="*/ 1 w 1"/>
                  <a:gd name="T9" fmla="*/ 176 h 17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3297" name="Freeform 237"/>
              <p:cNvSpPr/>
              <p:nvPr/>
            </p:nvSpPr>
            <p:spPr bwMode="auto">
              <a:xfrm>
                <a:off x="4761" y="2696"/>
                <a:ext cx="1" cy="178"/>
              </a:xfrm>
              <a:custGeom>
                <a:avLst/>
                <a:gdLst>
                  <a:gd name="T0" fmla="*/ 0 w 1"/>
                  <a:gd name="T1" fmla="*/ 0 h 178"/>
                  <a:gd name="T2" fmla="*/ 0 w 1"/>
                  <a:gd name="T3" fmla="*/ 178 h 178"/>
                  <a:gd name="T4" fmla="*/ 0 60000 65536"/>
                  <a:gd name="T5" fmla="*/ 0 60000 65536"/>
                  <a:gd name="T6" fmla="*/ 0 w 1"/>
                  <a:gd name="T7" fmla="*/ 0 h 178"/>
                  <a:gd name="T8" fmla="*/ 1 w 1"/>
                  <a:gd name="T9" fmla="*/ 178 h 17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8">
                    <a:moveTo>
                      <a:pt x="0" y="0"/>
                    </a:moveTo>
                    <a:lnTo>
                      <a:pt x="0" y="178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3298" name="Freeform 238"/>
              <p:cNvSpPr/>
              <p:nvPr/>
            </p:nvSpPr>
            <p:spPr bwMode="auto">
              <a:xfrm>
                <a:off x="915" y="2865"/>
                <a:ext cx="3858" cy="2"/>
              </a:xfrm>
              <a:custGeom>
                <a:avLst/>
                <a:gdLst>
                  <a:gd name="T0" fmla="*/ 0 w 3858"/>
                  <a:gd name="T1" fmla="*/ 2 h 2"/>
                  <a:gd name="T2" fmla="*/ 3858 w 3858"/>
                  <a:gd name="T3" fmla="*/ 0 h 2"/>
                  <a:gd name="T4" fmla="*/ 0 60000 65536"/>
                  <a:gd name="T5" fmla="*/ 0 60000 65536"/>
                  <a:gd name="T6" fmla="*/ 0 w 3858"/>
                  <a:gd name="T7" fmla="*/ 0 h 2"/>
                  <a:gd name="T8" fmla="*/ 3858 w 3858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58" h="2">
                    <a:moveTo>
                      <a:pt x="0" y="2"/>
                    </a:moveTo>
                    <a:lnTo>
                      <a:pt x="3858" y="0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33262" name="Group 239"/>
            <p:cNvGrpSpPr/>
            <p:nvPr/>
          </p:nvGrpSpPr>
          <p:grpSpPr bwMode="auto">
            <a:xfrm>
              <a:off x="1213" y="2633"/>
              <a:ext cx="192" cy="158"/>
              <a:chOff x="1440" y="2928"/>
              <a:chExt cx="192" cy="158"/>
            </a:xfrm>
          </p:grpSpPr>
          <p:grpSp>
            <p:nvGrpSpPr>
              <p:cNvPr id="133287" name="Group 240"/>
              <p:cNvGrpSpPr/>
              <p:nvPr/>
            </p:nvGrpSpPr>
            <p:grpSpPr bwMode="auto">
              <a:xfrm rot="5400000">
                <a:off x="1529" y="2983"/>
                <a:ext cx="158" cy="48"/>
                <a:chOff x="3459" y="1296"/>
                <a:chExt cx="243" cy="48"/>
              </a:xfrm>
            </p:grpSpPr>
            <p:sp>
              <p:nvSpPr>
                <p:cNvPr id="133292" name="Line 241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3293" name="Line 242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33288" name="Freeform 243"/>
              <p:cNvSpPr/>
              <p:nvPr/>
            </p:nvSpPr>
            <p:spPr bwMode="auto">
              <a:xfrm>
                <a:off x="1487" y="3003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33289" name="Group 244"/>
              <p:cNvGrpSpPr/>
              <p:nvPr/>
            </p:nvGrpSpPr>
            <p:grpSpPr bwMode="auto">
              <a:xfrm rot="-5400000">
                <a:off x="1385" y="2983"/>
                <a:ext cx="158" cy="48"/>
                <a:chOff x="3459" y="1296"/>
                <a:chExt cx="243" cy="48"/>
              </a:xfrm>
            </p:grpSpPr>
            <p:sp>
              <p:nvSpPr>
                <p:cNvPr id="133290" name="Line 245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3291" name="Line 246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33263" name="Group 247"/>
            <p:cNvGrpSpPr/>
            <p:nvPr/>
          </p:nvGrpSpPr>
          <p:grpSpPr bwMode="auto">
            <a:xfrm>
              <a:off x="2365" y="2635"/>
              <a:ext cx="192" cy="158"/>
              <a:chOff x="1440" y="2928"/>
              <a:chExt cx="192" cy="158"/>
            </a:xfrm>
          </p:grpSpPr>
          <p:grpSp>
            <p:nvGrpSpPr>
              <p:cNvPr id="133280" name="Group 248"/>
              <p:cNvGrpSpPr/>
              <p:nvPr/>
            </p:nvGrpSpPr>
            <p:grpSpPr bwMode="auto">
              <a:xfrm rot="5400000">
                <a:off x="1529" y="2983"/>
                <a:ext cx="158" cy="48"/>
                <a:chOff x="3459" y="1296"/>
                <a:chExt cx="243" cy="48"/>
              </a:xfrm>
            </p:grpSpPr>
            <p:sp>
              <p:nvSpPr>
                <p:cNvPr id="133285" name="Line 249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3286" name="Line 250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33281" name="Freeform 251"/>
              <p:cNvSpPr/>
              <p:nvPr/>
            </p:nvSpPr>
            <p:spPr bwMode="auto">
              <a:xfrm>
                <a:off x="1487" y="3003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33282" name="Group 252"/>
              <p:cNvGrpSpPr/>
              <p:nvPr/>
            </p:nvGrpSpPr>
            <p:grpSpPr bwMode="auto">
              <a:xfrm rot="-5400000">
                <a:off x="1385" y="2983"/>
                <a:ext cx="158" cy="48"/>
                <a:chOff x="3459" y="1296"/>
                <a:chExt cx="243" cy="48"/>
              </a:xfrm>
            </p:grpSpPr>
            <p:sp>
              <p:nvSpPr>
                <p:cNvPr id="133283" name="Line 253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3284" name="Line 254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33264" name="Group 255"/>
            <p:cNvGrpSpPr/>
            <p:nvPr/>
          </p:nvGrpSpPr>
          <p:grpSpPr bwMode="auto">
            <a:xfrm>
              <a:off x="3517" y="2635"/>
              <a:ext cx="192" cy="158"/>
              <a:chOff x="1440" y="2928"/>
              <a:chExt cx="192" cy="158"/>
            </a:xfrm>
          </p:grpSpPr>
          <p:grpSp>
            <p:nvGrpSpPr>
              <p:cNvPr id="133273" name="Group 256"/>
              <p:cNvGrpSpPr/>
              <p:nvPr/>
            </p:nvGrpSpPr>
            <p:grpSpPr bwMode="auto">
              <a:xfrm rot="5400000">
                <a:off x="1529" y="2983"/>
                <a:ext cx="158" cy="48"/>
                <a:chOff x="3459" y="1296"/>
                <a:chExt cx="243" cy="48"/>
              </a:xfrm>
            </p:grpSpPr>
            <p:sp>
              <p:nvSpPr>
                <p:cNvPr id="133278" name="Line 257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3279" name="Line 258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33274" name="Freeform 259"/>
              <p:cNvSpPr/>
              <p:nvPr/>
            </p:nvSpPr>
            <p:spPr bwMode="auto">
              <a:xfrm>
                <a:off x="1487" y="3003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33275" name="Group 260"/>
              <p:cNvGrpSpPr/>
              <p:nvPr/>
            </p:nvGrpSpPr>
            <p:grpSpPr bwMode="auto">
              <a:xfrm rot="-5400000">
                <a:off x="1385" y="2983"/>
                <a:ext cx="158" cy="48"/>
                <a:chOff x="3459" y="1296"/>
                <a:chExt cx="243" cy="48"/>
              </a:xfrm>
            </p:grpSpPr>
            <p:sp>
              <p:nvSpPr>
                <p:cNvPr id="133276" name="Line 261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3277" name="Line 262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33265" name="Group 263"/>
            <p:cNvGrpSpPr/>
            <p:nvPr/>
          </p:nvGrpSpPr>
          <p:grpSpPr bwMode="auto">
            <a:xfrm>
              <a:off x="4668" y="2635"/>
              <a:ext cx="192" cy="158"/>
              <a:chOff x="1440" y="2928"/>
              <a:chExt cx="192" cy="158"/>
            </a:xfrm>
          </p:grpSpPr>
          <p:grpSp>
            <p:nvGrpSpPr>
              <p:cNvPr id="133266" name="Group 264"/>
              <p:cNvGrpSpPr/>
              <p:nvPr/>
            </p:nvGrpSpPr>
            <p:grpSpPr bwMode="auto">
              <a:xfrm rot="5400000">
                <a:off x="1529" y="2983"/>
                <a:ext cx="158" cy="48"/>
                <a:chOff x="3459" y="1296"/>
                <a:chExt cx="243" cy="48"/>
              </a:xfrm>
            </p:grpSpPr>
            <p:sp>
              <p:nvSpPr>
                <p:cNvPr id="133271" name="Line 265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3272" name="Line 266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33267" name="Freeform 267"/>
              <p:cNvSpPr/>
              <p:nvPr/>
            </p:nvSpPr>
            <p:spPr bwMode="auto">
              <a:xfrm>
                <a:off x="1487" y="3003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33268" name="Group 268"/>
              <p:cNvGrpSpPr/>
              <p:nvPr/>
            </p:nvGrpSpPr>
            <p:grpSpPr bwMode="auto">
              <a:xfrm rot="-5400000">
                <a:off x="1385" y="2983"/>
                <a:ext cx="158" cy="48"/>
                <a:chOff x="3459" y="1296"/>
                <a:chExt cx="243" cy="48"/>
              </a:xfrm>
            </p:grpSpPr>
            <p:sp>
              <p:nvSpPr>
                <p:cNvPr id="133269" name="Line 269"/>
                <p:cNvSpPr>
                  <a:spLocks noChangeShapeType="1"/>
                </p:cNvSpPr>
                <p:nvPr/>
              </p:nvSpPr>
              <p:spPr bwMode="auto">
                <a:xfrm>
                  <a:off x="3459" y="1296"/>
                  <a:ext cx="243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3270" name="Line 270"/>
                <p:cNvSpPr>
                  <a:spLocks noChangeShapeType="1"/>
                </p:cNvSpPr>
                <p:nvPr/>
              </p:nvSpPr>
              <p:spPr bwMode="auto">
                <a:xfrm>
                  <a:off x="3504" y="1344"/>
                  <a:ext cx="147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133125" name="Group 271"/>
          <p:cNvGrpSpPr/>
          <p:nvPr/>
        </p:nvGrpSpPr>
        <p:grpSpPr bwMode="auto">
          <a:xfrm>
            <a:off x="1900238" y="1909763"/>
            <a:ext cx="6062662" cy="2339975"/>
            <a:chOff x="1197" y="1203"/>
            <a:chExt cx="3819" cy="1474"/>
          </a:xfrm>
        </p:grpSpPr>
        <p:sp>
          <p:nvSpPr>
            <p:cNvPr id="133253" name="Freeform 272"/>
            <p:cNvSpPr/>
            <p:nvPr/>
          </p:nvSpPr>
          <p:spPr bwMode="auto">
            <a:xfrm>
              <a:off x="1422" y="1203"/>
              <a:ext cx="121" cy="1474"/>
            </a:xfrm>
            <a:custGeom>
              <a:avLst/>
              <a:gdLst>
                <a:gd name="T0" fmla="*/ 3 w 145"/>
                <a:gd name="T1" fmla="*/ 0 h 1466"/>
                <a:gd name="T2" fmla="*/ 11 w 145"/>
                <a:gd name="T3" fmla="*/ 0 h 1466"/>
                <a:gd name="T4" fmla="*/ 11 w 145"/>
                <a:gd name="T5" fmla="*/ 1580 h 1466"/>
                <a:gd name="T6" fmla="*/ 0 w 145"/>
                <a:gd name="T7" fmla="*/ 1580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254" name="Text Box 273"/>
            <p:cNvSpPr txBox="1">
              <a:spLocks noChangeArrowheads="1"/>
            </p:cNvSpPr>
            <p:nvPr/>
          </p:nvSpPr>
          <p:spPr bwMode="auto">
            <a:xfrm rot="5400000">
              <a:off x="1194" y="1642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3255" name="Freeform 274"/>
            <p:cNvSpPr/>
            <p:nvPr/>
          </p:nvSpPr>
          <p:spPr bwMode="auto">
            <a:xfrm>
              <a:off x="2556" y="1205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256" name="Text Box 275"/>
            <p:cNvSpPr txBox="1">
              <a:spLocks noChangeArrowheads="1"/>
            </p:cNvSpPr>
            <p:nvPr/>
          </p:nvSpPr>
          <p:spPr bwMode="auto">
            <a:xfrm rot="5400000">
              <a:off x="2347" y="1642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3257" name="Freeform 276"/>
            <p:cNvSpPr/>
            <p:nvPr/>
          </p:nvSpPr>
          <p:spPr bwMode="auto">
            <a:xfrm>
              <a:off x="3711" y="1206"/>
              <a:ext cx="151" cy="1471"/>
            </a:xfrm>
            <a:custGeom>
              <a:avLst/>
              <a:gdLst>
                <a:gd name="T0" fmla="*/ 54 w 151"/>
                <a:gd name="T1" fmla="*/ 0 h 1471"/>
                <a:gd name="T2" fmla="*/ 151 w 151"/>
                <a:gd name="T3" fmla="*/ 0 h 1471"/>
                <a:gd name="T4" fmla="*/ 150 w 151"/>
                <a:gd name="T5" fmla="*/ 1471 h 1471"/>
                <a:gd name="T6" fmla="*/ 0 w 151"/>
                <a:gd name="T7" fmla="*/ 1470 h 147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1"/>
                <a:gd name="T13" fmla="*/ 0 h 1471"/>
                <a:gd name="T14" fmla="*/ 151 w 151"/>
                <a:gd name="T15" fmla="*/ 1471 h 147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1" h="1471">
                  <a:moveTo>
                    <a:pt x="54" y="0"/>
                  </a:moveTo>
                  <a:lnTo>
                    <a:pt x="151" y="0"/>
                  </a:lnTo>
                  <a:lnTo>
                    <a:pt x="150" y="1471"/>
                  </a:lnTo>
                  <a:lnTo>
                    <a:pt x="0" y="1470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258" name="Text Box 277"/>
            <p:cNvSpPr txBox="1">
              <a:spLocks noChangeArrowheads="1"/>
            </p:cNvSpPr>
            <p:nvPr/>
          </p:nvSpPr>
          <p:spPr bwMode="auto">
            <a:xfrm rot="5400000">
              <a:off x="3493" y="1626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3259" name="Freeform 278"/>
            <p:cNvSpPr/>
            <p:nvPr/>
          </p:nvSpPr>
          <p:spPr bwMode="auto">
            <a:xfrm>
              <a:off x="4860" y="1211"/>
              <a:ext cx="145" cy="1466"/>
            </a:xfrm>
            <a:custGeom>
              <a:avLst/>
              <a:gdLst>
                <a:gd name="T0" fmla="*/ 42 w 145"/>
                <a:gd name="T1" fmla="*/ 1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42" y="1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260" name="Text Box 279"/>
            <p:cNvSpPr txBox="1">
              <a:spLocks noChangeArrowheads="1"/>
            </p:cNvSpPr>
            <p:nvPr/>
          </p:nvSpPr>
          <p:spPr bwMode="auto">
            <a:xfrm rot="5400000">
              <a:off x="4648" y="1629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133126" name="Group 280"/>
          <p:cNvGrpSpPr/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133236" name="Line 281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237" name="Freeform 282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238" name="Line 283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239" name="Freeform 284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240" name="Line 285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241" name="Text Box 286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</a:p>
          </p:txBody>
        </p:sp>
        <p:sp>
          <p:nvSpPr>
            <p:cNvPr id="133242" name="Text Box 287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</a:p>
          </p:txBody>
        </p:sp>
        <p:sp>
          <p:nvSpPr>
            <p:cNvPr id="133243" name="Text Box 288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</a:p>
          </p:txBody>
        </p:sp>
        <p:sp>
          <p:nvSpPr>
            <p:cNvPr id="133244" name="Text Box 289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</a:p>
          </p:txBody>
        </p:sp>
        <p:sp>
          <p:nvSpPr>
            <p:cNvPr id="133245" name="Line 290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246" name="Line 291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247" name="Line 292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248" name="Line 293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249" name="Line 294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250" name="Line 295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251" name="Line 296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3252" name="Line 297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21482" name="Rectangle 298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33128" name="Text Box 299"/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en-US" altLang="zh-CN" sz="3200">
                <a:latin typeface="Times New Roman" panose="02020603050405020304" pitchFamily="18" charset="0"/>
              </a:rPr>
              <a:t>Intel 2114 RAM </a:t>
            </a:r>
            <a:r>
              <a:rPr lang="zh-CN" altLang="en-US" sz="3200">
                <a:latin typeface="Times New Roman" panose="02020603050405020304" pitchFamily="18" charset="0"/>
              </a:rPr>
              <a:t>矩阵 </a:t>
            </a:r>
            <a:r>
              <a:rPr lang="en-US" altLang="zh-CN" sz="3200">
                <a:latin typeface="Times New Roman" panose="02020603050405020304" pitchFamily="18" charset="0"/>
              </a:rPr>
              <a:t>(64 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>
                <a:latin typeface="Times New Roman" panose="02020603050405020304" pitchFamily="18" charset="0"/>
              </a:rPr>
              <a:t> 64)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</a:p>
        </p:txBody>
      </p:sp>
      <p:grpSp>
        <p:nvGrpSpPr>
          <p:cNvPr id="133129" name="Group 300"/>
          <p:cNvGrpSpPr/>
          <p:nvPr/>
        </p:nvGrpSpPr>
        <p:grpSpPr bwMode="auto">
          <a:xfrm>
            <a:off x="2228850" y="4351338"/>
            <a:ext cx="6173788" cy="1295400"/>
            <a:chOff x="1404" y="2741"/>
            <a:chExt cx="3889" cy="816"/>
          </a:xfrm>
        </p:grpSpPr>
        <p:sp>
          <p:nvSpPr>
            <p:cNvPr id="133232" name="Freeform 301"/>
            <p:cNvSpPr/>
            <p:nvPr/>
          </p:nvSpPr>
          <p:spPr bwMode="auto">
            <a:xfrm>
              <a:off x="1404" y="2741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2"/>
                <a:gd name="T16" fmla="*/ 0 h 816"/>
                <a:gd name="T17" fmla="*/ 432 w 432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233" name="Freeform 302"/>
            <p:cNvSpPr/>
            <p:nvPr/>
          </p:nvSpPr>
          <p:spPr bwMode="auto">
            <a:xfrm>
              <a:off x="4861" y="2741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2"/>
                <a:gd name="T16" fmla="*/ 0 h 816"/>
                <a:gd name="T17" fmla="*/ 432 w 432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234" name="Freeform 303"/>
            <p:cNvSpPr/>
            <p:nvPr/>
          </p:nvSpPr>
          <p:spPr bwMode="auto">
            <a:xfrm>
              <a:off x="3709" y="2741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2"/>
                <a:gd name="T16" fmla="*/ 0 h 816"/>
                <a:gd name="T17" fmla="*/ 432 w 432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3235" name="Freeform 304"/>
            <p:cNvSpPr/>
            <p:nvPr/>
          </p:nvSpPr>
          <p:spPr bwMode="auto">
            <a:xfrm>
              <a:off x="2555" y="2741"/>
              <a:ext cx="432" cy="816"/>
            </a:xfrm>
            <a:custGeom>
              <a:avLst/>
              <a:gdLst>
                <a:gd name="T0" fmla="*/ 0 w 432"/>
                <a:gd name="T1" fmla="*/ 0 h 816"/>
                <a:gd name="T2" fmla="*/ 144 w 432"/>
                <a:gd name="T3" fmla="*/ 0 h 816"/>
                <a:gd name="T4" fmla="*/ 144 w 432"/>
                <a:gd name="T5" fmla="*/ 576 h 816"/>
                <a:gd name="T6" fmla="*/ 432 w 432"/>
                <a:gd name="T7" fmla="*/ 576 h 816"/>
                <a:gd name="T8" fmla="*/ 432 w 432"/>
                <a:gd name="T9" fmla="*/ 816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2"/>
                <a:gd name="T16" fmla="*/ 0 h 816"/>
                <a:gd name="T17" fmla="*/ 432 w 432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2" h="816">
                  <a:moveTo>
                    <a:pt x="0" y="0"/>
                  </a:moveTo>
                  <a:lnTo>
                    <a:pt x="144" y="0"/>
                  </a:lnTo>
                  <a:lnTo>
                    <a:pt x="144" y="576"/>
                  </a:lnTo>
                  <a:lnTo>
                    <a:pt x="432" y="576"/>
                  </a:lnTo>
                  <a:lnTo>
                    <a:pt x="432" y="816"/>
                  </a:lnTo>
                </a:path>
              </a:pathLst>
            </a:custGeom>
            <a:noFill/>
            <a:ln w="76200" cap="flat" cmpd="sng">
              <a:solidFill>
                <a:schemeClr val="fol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33130" name="Group 305"/>
          <p:cNvGrpSpPr/>
          <p:nvPr/>
        </p:nvGrpSpPr>
        <p:grpSpPr bwMode="auto">
          <a:xfrm>
            <a:off x="1431925" y="1360488"/>
            <a:ext cx="7250113" cy="682625"/>
            <a:chOff x="902" y="857"/>
            <a:chExt cx="4567" cy="430"/>
          </a:xfrm>
        </p:grpSpPr>
        <p:grpSp>
          <p:nvGrpSpPr>
            <p:cNvPr id="133208" name="Group 306"/>
            <p:cNvGrpSpPr/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133213" name="Group 307"/>
              <p:cNvGrpSpPr/>
              <p:nvPr/>
            </p:nvGrpSpPr>
            <p:grpSpPr bwMode="auto">
              <a:xfrm>
                <a:off x="1152" y="1013"/>
                <a:ext cx="4317" cy="274"/>
                <a:chOff x="1176" y="1068"/>
                <a:chExt cx="4317" cy="274"/>
              </a:xfrm>
            </p:grpSpPr>
            <p:sp>
              <p:nvSpPr>
                <p:cNvPr id="133224" name="Rectangle 308"/>
                <p:cNvSpPr>
                  <a:spLocks noChangeArrowheads="1"/>
                </p:cNvSpPr>
                <p:nvPr/>
              </p:nvSpPr>
              <p:spPr bwMode="auto">
                <a:xfrm>
                  <a:off x="175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15</a:t>
                  </a:r>
                </a:p>
              </p:txBody>
            </p:sp>
            <p:sp>
              <p:nvSpPr>
                <p:cNvPr id="133225" name="Rectangle 309"/>
                <p:cNvSpPr>
                  <a:spLocks noChangeArrowheads="1"/>
                </p:cNvSpPr>
                <p:nvPr/>
              </p:nvSpPr>
              <p:spPr bwMode="auto">
                <a:xfrm>
                  <a:off x="117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3226" name="Rectangle 310"/>
                <p:cNvSpPr>
                  <a:spLocks noChangeArrowheads="1"/>
                </p:cNvSpPr>
                <p:nvPr/>
              </p:nvSpPr>
              <p:spPr bwMode="auto">
                <a:xfrm>
                  <a:off x="289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31</a:t>
                  </a:r>
                </a:p>
              </p:txBody>
            </p:sp>
            <p:sp>
              <p:nvSpPr>
                <p:cNvPr id="133227" name="Rectangle 311"/>
                <p:cNvSpPr>
                  <a:spLocks noChangeArrowheads="1"/>
                </p:cNvSpPr>
                <p:nvPr/>
              </p:nvSpPr>
              <p:spPr bwMode="auto">
                <a:xfrm>
                  <a:off x="231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16</a:t>
                  </a:r>
                </a:p>
              </p:txBody>
            </p:sp>
            <p:sp>
              <p:nvSpPr>
                <p:cNvPr id="133228" name="Rectangle 312"/>
                <p:cNvSpPr>
                  <a:spLocks noChangeArrowheads="1"/>
                </p:cNvSpPr>
                <p:nvPr/>
              </p:nvSpPr>
              <p:spPr bwMode="auto">
                <a:xfrm>
                  <a:off x="4067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47</a:t>
                  </a:r>
                </a:p>
              </p:txBody>
            </p:sp>
            <p:sp>
              <p:nvSpPr>
                <p:cNvPr id="133229" name="Rectangle 313"/>
                <p:cNvSpPr>
                  <a:spLocks noChangeArrowheads="1"/>
                </p:cNvSpPr>
                <p:nvPr/>
              </p:nvSpPr>
              <p:spPr bwMode="auto">
                <a:xfrm>
                  <a:off x="3491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32</a:t>
                  </a:r>
                </a:p>
              </p:txBody>
            </p:sp>
            <p:sp>
              <p:nvSpPr>
                <p:cNvPr id="133230" name="Rectangle 314"/>
                <p:cNvSpPr>
                  <a:spLocks noChangeArrowheads="1"/>
                </p:cNvSpPr>
                <p:nvPr/>
              </p:nvSpPr>
              <p:spPr bwMode="auto">
                <a:xfrm>
                  <a:off x="5205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63</a:t>
                  </a:r>
                </a:p>
              </p:txBody>
            </p:sp>
            <p:sp>
              <p:nvSpPr>
                <p:cNvPr id="133231" name="Rectangle 315"/>
                <p:cNvSpPr>
                  <a:spLocks noChangeArrowheads="1"/>
                </p:cNvSpPr>
                <p:nvPr/>
              </p:nvSpPr>
              <p:spPr bwMode="auto">
                <a:xfrm>
                  <a:off x="462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48</a:t>
                  </a:r>
                </a:p>
              </p:txBody>
            </p:sp>
          </p:grpSp>
          <p:grpSp>
            <p:nvGrpSpPr>
              <p:cNvPr id="133214" name="Group 316"/>
              <p:cNvGrpSpPr/>
              <p:nvPr/>
            </p:nvGrpSpPr>
            <p:grpSpPr bwMode="auto">
              <a:xfrm>
                <a:off x="902" y="857"/>
                <a:ext cx="4419" cy="145"/>
                <a:chOff x="902" y="857"/>
                <a:chExt cx="4419" cy="145"/>
              </a:xfrm>
            </p:grpSpPr>
            <p:sp>
              <p:nvSpPr>
                <p:cNvPr id="133215" name="Freeform 317"/>
                <p:cNvSpPr/>
                <p:nvPr/>
              </p:nvSpPr>
              <p:spPr bwMode="auto">
                <a:xfrm>
                  <a:off x="902" y="857"/>
                  <a:ext cx="4419" cy="1"/>
                </a:xfrm>
                <a:custGeom>
                  <a:avLst/>
                  <a:gdLst>
                    <a:gd name="T0" fmla="*/ 0 w 4419"/>
                    <a:gd name="T1" fmla="*/ 1 h 1"/>
                    <a:gd name="T2" fmla="*/ 4419 w 4419"/>
                    <a:gd name="T3" fmla="*/ 0 h 1"/>
                    <a:gd name="T4" fmla="*/ 0 60000 65536"/>
                    <a:gd name="T5" fmla="*/ 0 60000 65536"/>
                    <a:gd name="T6" fmla="*/ 0 w 4419"/>
                    <a:gd name="T7" fmla="*/ 0 h 1"/>
                    <a:gd name="T8" fmla="*/ 4419 w 4419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419" h="1">
                      <a:moveTo>
                        <a:pt x="0" y="1"/>
                      </a:moveTo>
                      <a:lnTo>
                        <a:pt x="4419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3216" name="Line 318"/>
                <p:cNvSpPr>
                  <a:spLocks noChangeShapeType="1"/>
                </p:cNvSpPr>
                <p:nvPr/>
              </p:nvSpPr>
              <p:spPr bwMode="auto">
                <a:xfrm>
                  <a:off x="127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3217" name="Line 319"/>
                <p:cNvSpPr>
                  <a:spLocks noChangeShapeType="1"/>
                </p:cNvSpPr>
                <p:nvPr/>
              </p:nvSpPr>
              <p:spPr bwMode="auto">
                <a:xfrm>
                  <a:off x="184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3218" name="Line 320"/>
                <p:cNvSpPr>
                  <a:spLocks noChangeShapeType="1"/>
                </p:cNvSpPr>
                <p:nvPr/>
              </p:nvSpPr>
              <p:spPr bwMode="auto">
                <a:xfrm>
                  <a:off x="242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3219" name="Line 321"/>
                <p:cNvSpPr>
                  <a:spLocks noChangeShapeType="1"/>
                </p:cNvSpPr>
                <p:nvPr/>
              </p:nvSpPr>
              <p:spPr bwMode="auto">
                <a:xfrm>
                  <a:off x="3000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3220" name="Line 322"/>
                <p:cNvSpPr>
                  <a:spLocks noChangeShapeType="1"/>
                </p:cNvSpPr>
                <p:nvPr/>
              </p:nvSpPr>
              <p:spPr bwMode="auto">
                <a:xfrm>
                  <a:off x="3576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3221" name="Line 323"/>
                <p:cNvSpPr>
                  <a:spLocks noChangeShapeType="1"/>
                </p:cNvSpPr>
                <p:nvPr/>
              </p:nvSpPr>
              <p:spPr bwMode="auto">
                <a:xfrm>
                  <a:off x="415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3222" name="Line 324"/>
                <p:cNvSpPr>
                  <a:spLocks noChangeShapeType="1"/>
                </p:cNvSpPr>
                <p:nvPr/>
              </p:nvSpPr>
              <p:spPr bwMode="auto">
                <a:xfrm>
                  <a:off x="472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3223" name="Line 325"/>
                <p:cNvSpPr>
                  <a:spLocks noChangeShapeType="1"/>
                </p:cNvSpPr>
                <p:nvPr/>
              </p:nvSpPr>
              <p:spPr bwMode="auto">
                <a:xfrm>
                  <a:off x="530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33209" name="Text Box 326"/>
            <p:cNvSpPr txBox="1">
              <a:spLocks noChangeArrowheads="1"/>
            </p:cNvSpPr>
            <p:nvPr/>
          </p:nvSpPr>
          <p:spPr bwMode="auto">
            <a:xfrm>
              <a:off x="140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3210" name="Text Box 327"/>
            <p:cNvSpPr txBox="1">
              <a:spLocks noChangeArrowheads="1"/>
            </p:cNvSpPr>
            <p:nvPr/>
          </p:nvSpPr>
          <p:spPr bwMode="auto">
            <a:xfrm>
              <a:off x="254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3211" name="Text Box 328"/>
            <p:cNvSpPr txBox="1">
              <a:spLocks noChangeArrowheads="1"/>
            </p:cNvSpPr>
            <p:nvPr/>
          </p:nvSpPr>
          <p:spPr bwMode="auto">
            <a:xfrm>
              <a:off x="3718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3212" name="Text Box 329"/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133131" name="Rectangle 330"/>
          <p:cNvSpPr>
            <a:spLocks noChangeArrowheads="1"/>
          </p:cNvSpPr>
          <p:nvPr/>
        </p:nvSpPr>
        <p:spPr bwMode="auto">
          <a:xfrm>
            <a:off x="1828800" y="1608138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</a:ln>
        </p:spPr>
        <p:txBody>
          <a:bodyPr lIns="0" rIns="0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bg2"/>
                </a:solidFill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133132" name="Rectangle 331"/>
          <p:cNvSpPr>
            <a:spLocks noChangeArrowheads="1"/>
          </p:cNvSpPr>
          <p:nvPr/>
        </p:nvSpPr>
        <p:spPr bwMode="auto">
          <a:xfrm>
            <a:off x="3638550" y="1608138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</a:ln>
        </p:spPr>
        <p:txBody>
          <a:bodyPr lIns="0" rIns="0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bg2"/>
                </a:solidFill>
                <a:latin typeface="Times New Roman" panose="02020603050405020304" pitchFamily="18" charset="0"/>
              </a:rPr>
              <a:t>16</a:t>
            </a:r>
          </a:p>
        </p:txBody>
      </p:sp>
      <p:sp>
        <p:nvSpPr>
          <p:cNvPr id="133133" name="Rectangle 332"/>
          <p:cNvSpPr>
            <a:spLocks noChangeArrowheads="1"/>
          </p:cNvSpPr>
          <p:nvPr/>
        </p:nvSpPr>
        <p:spPr bwMode="auto">
          <a:xfrm>
            <a:off x="5503863" y="1608138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</a:ln>
        </p:spPr>
        <p:txBody>
          <a:bodyPr lIns="0" rIns="0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bg2"/>
                </a:solidFill>
                <a:latin typeface="Times New Roman" panose="02020603050405020304" pitchFamily="18" charset="0"/>
              </a:rPr>
              <a:t>32</a:t>
            </a:r>
          </a:p>
        </p:txBody>
      </p:sp>
      <p:sp>
        <p:nvSpPr>
          <p:cNvPr id="133134" name="Rectangle 333"/>
          <p:cNvSpPr>
            <a:spLocks noChangeArrowheads="1"/>
          </p:cNvSpPr>
          <p:nvPr/>
        </p:nvSpPr>
        <p:spPr bwMode="auto">
          <a:xfrm>
            <a:off x="7305675" y="1608138"/>
            <a:ext cx="457200" cy="434975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</a:ln>
        </p:spPr>
        <p:txBody>
          <a:bodyPr lIns="0" rIns="0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000">
                <a:solidFill>
                  <a:schemeClr val="bg2"/>
                </a:solidFill>
                <a:latin typeface="Times New Roman" panose="02020603050405020304" pitchFamily="18" charset="0"/>
              </a:rPr>
              <a:t>48</a:t>
            </a:r>
          </a:p>
        </p:txBody>
      </p:sp>
      <p:grpSp>
        <p:nvGrpSpPr>
          <p:cNvPr id="133135" name="Group 334"/>
          <p:cNvGrpSpPr/>
          <p:nvPr/>
        </p:nvGrpSpPr>
        <p:grpSpPr bwMode="auto">
          <a:xfrm>
            <a:off x="1812925" y="5629275"/>
            <a:ext cx="6832600" cy="533400"/>
            <a:chOff x="1142" y="3546"/>
            <a:chExt cx="4304" cy="336"/>
          </a:xfrm>
        </p:grpSpPr>
        <p:grpSp>
          <p:nvGrpSpPr>
            <p:cNvPr id="133196" name="Group 335"/>
            <p:cNvGrpSpPr/>
            <p:nvPr/>
          </p:nvGrpSpPr>
          <p:grpSpPr bwMode="auto">
            <a:xfrm>
              <a:off x="1142" y="3546"/>
              <a:ext cx="823" cy="336"/>
              <a:chOff x="1142" y="3546"/>
              <a:chExt cx="823" cy="336"/>
            </a:xfrm>
          </p:grpSpPr>
          <p:sp>
            <p:nvSpPr>
              <p:cNvPr id="133206" name="Rectangle 336"/>
              <p:cNvSpPr>
                <a:spLocks noChangeArrowheads="1"/>
              </p:cNvSpPr>
              <p:nvPr/>
            </p:nvSpPr>
            <p:spPr bwMode="auto">
              <a:xfrm>
                <a:off x="1142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3207" name="Text Box 337"/>
              <p:cNvSpPr txBox="1">
                <a:spLocks noChangeArrowheads="1"/>
              </p:cNvSpPr>
              <p:nvPr/>
            </p:nvSpPr>
            <p:spPr bwMode="auto">
              <a:xfrm>
                <a:off x="1200" y="359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</p:grpSp>
        <p:grpSp>
          <p:nvGrpSpPr>
            <p:cNvPr id="133197" name="Group 338"/>
            <p:cNvGrpSpPr/>
            <p:nvPr/>
          </p:nvGrpSpPr>
          <p:grpSpPr bwMode="auto">
            <a:xfrm>
              <a:off x="2318" y="3546"/>
              <a:ext cx="823" cy="336"/>
              <a:chOff x="2318" y="3546"/>
              <a:chExt cx="823" cy="336"/>
            </a:xfrm>
          </p:grpSpPr>
          <p:sp>
            <p:nvSpPr>
              <p:cNvPr id="133204" name="Rectangle 339"/>
              <p:cNvSpPr>
                <a:spLocks noChangeArrowheads="1"/>
              </p:cNvSpPr>
              <p:nvPr/>
            </p:nvSpPr>
            <p:spPr bwMode="auto">
              <a:xfrm>
                <a:off x="2318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3205" name="Text Box 340"/>
              <p:cNvSpPr txBox="1">
                <a:spLocks noChangeArrowheads="1"/>
              </p:cNvSpPr>
              <p:nvPr/>
            </p:nvSpPr>
            <p:spPr bwMode="auto">
              <a:xfrm>
                <a:off x="2352" y="360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</p:grpSp>
        <p:grpSp>
          <p:nvGrpSpPr>
            <p:cNvPr id="133198" name="Group 341"/>
            <p:cNvGrpSpPr/>
            <p:nvPr/>
          </p:nvGrpSpPr>
          <p:grpSpPr bwMode="auto">
            <a:xfrm>
              <a:off x="3470" y="3546"/>
              <a:ext cx="823" cy="336"/>
              <a:chOff x="3470" y="3546"/>
              <a:chExt cx="823" cy="336"/>
            </a:xfrm>
          </p:grpSpPr>
          <p:sp>
            <p:nvSpPr>
              <p:cNvPr id="133202" name="Rectangle 342"/>
              <p:cNvSpPr>
                <a:spLocks noChangeArrowheads="1"/>
              </p:cNvSpPr>
              <p:nvPr/>
            </p:nvSpPr>
            <p:spPr bwMode="auto">
              <a:xfrm>
                <a:off x="3470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3203" name="Text Box 343"/>
              <p:cNvSpPr txBox="1">
                <a:spLocks noChangeArrowheads="1"/>
              </p:cNvSpPr>
              <p:nvPr/>
            </p:nvSpPr>
            <p:spPr bwMode="auto">
              <a:xfrm>
                <a:off x="3504" y="360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</p:grpSp>
        <p:grpSp>
          <p:nvGrpSpPr>
            <p:cNvPr id="133199" name="Group 344"/>
            <p:cNvGrpSpPr/>
            <p:nvPr/>
          </p:nvGrpSpPr>
          <p:grpSpPr bwMode="auto">
            <a:xfrm>
              <a:off x="4623" y="3546"/>
              <a:ext cx="823" cy="336"/>
              <a:chOff x="4623" y="3546"/>
              <a:chExt cx="823" cy="336"/>
            </a:xfrm>
          </p:grpSpPr>
          <p:sp>
            <p:nvSpPr>
              <p:cNvPr id="133200" name="Rectangle 345"/>
              <p:cNvSpPr>
                <a:spLocks noChangeArrowheads="1"/>
              </p:cNvSpPr>
              <p:nvPr/>
            </p:nvSpPr>
            <p:spPr bwMode="auto">
              <a:xfrm>
                <a:off x="4623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3201" name="Text Box 346"/>
              <p:cNvSpPr txBox="1">
                <a:spLocks noChangeArrowheads="1"/>
              </p:cNvSpPr>
              <p:nvPr/>
            </p:nvSpPr>
            <p:spPr bwMode="auto">
              <a:xfrm>
                <a:off x="4656" y="360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</p:grpSp>
      </p:grpSp>
      <p:grpSp>
        <p:nvGrpSpPr>
          <p:cNvPr id="133136" name="Group 347"/>
          <p:cNvGrpSpPr/>
          <p:nvPr/>
        </p:nvGrpSpPr>
        <p:grpSpPr bwMode="auto">
          <a:xfrm>
            <a:off x="1452563" y="2617788"/>
            <a:ext cx="6613525" cy="1963737"/>
            <a:chOff x="915" y="1649"/>
            <a:chExt cx="4166" cy="1237"/>
          </a:xfrm>
        </p:grpSpPr>
        <p:grpSp>
          <p:nvGrpSpPr>
            <p:cNvPr id="133149" name="Group 348"/>
            <p:cNvGrpSpPr/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133158" name="Group 349"/>
              <p:cNvGrpSpPr/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133191" name="Freeform 350"/>
                <p:cNvSpPr/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3192" name="Freeform 351"/>
                <p:cNvSpPr/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3193" name="Freeform 352"/>
                <p:cNvSpPr/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  <a:gd name="T6" fmla="*/ 0 w 1"/>
                    <a:gd name="T7" fmla="*/ 0 h 176"/>
                    <a:gd name="T8" fmla="*/ 1 w 1"/>
                    <a:gd name="T9" fmla="*/ 176 h 17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3194" name="Freeform 353"/>
                <p:cNvSpPr/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  <a:gd name="T6" fmla="*/ 0 w 1"/>
                    <a:gd name="T7" fmla="*/ 0 h 178"/>
                    <a:gd name="T8" fmla="*/ 1 w 1"/>
                    <a:gd name="T9" fmla="*/ 178 h 178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3195" name="Freeform 354"/>
                <p:cNvSpPr/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  <a:gd name="T6" fmla="*/ 0 w 3858"/>
                    <a:gd name="T7" fmla="*/ 0 h 2"/>
                    <a:gd name="T8" fmla="*/ 3858 w 3858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3159" name="Group 355"/>
              <p:cNvGrpSpPr/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133184" name="Group 356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3189" name="Line 357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3190" name="Line 358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3185" name="Freeform 359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3186" name="Group 360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3187" name="Line 361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3188" name="Line 362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33160" name="Group 363"/>
              <p:cNvGrpSpPr/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133177" name="Group 364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3182" name="Line 365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3183" name="Line 366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3178" name="Freeform 367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3179" name="Group 368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3180" name="Line 369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3181" name="Line 370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33161" name="Group 371"/>
              <p:cNvGrpSpPr/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133170" name="Group 372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3175" name="Line 373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3176" name="Line 374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3171" name="Freeform 375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3172" name="Group 376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3173" name="Line 377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3174" name="Line 378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33162" name="Group 379"/>
              <p:cNvGrpSpPr/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133163" name="Group 380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3168" name="Line 381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3169" name="Line 382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3164" name="Freeform 383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3165" name="Group 384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3166" name="Line 385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3167" name="Line 386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</p:grpSp>
        <p:sp>
          <p:nvSpPr>
            <p:cNvPr id="133150" name="Rectangle 387"/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3151" name="Text Box 388"/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3152" name="Rectangle 389"/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33153" name="Rectangle 390"/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48</a:t>
              </a:r>
            </a:p>
          </p:txBody>
        </p:sp>
        <p:sp>
          <p:nvSpPr>
            <p:cNvPr id="133154" name="Rectangle 391"/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32</a:t>
              </a:r>
            </a:p>
          </p:txBody>
        </p:sp>
        <p:sp>
          <p:nvSpPr>
            <p:cNvPr id="133155" name="Text Box 392"/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3156" name="Text Box 393"/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3157" name="Text Box 394"/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133527" name="Group 395"/>
          <p:cNvGrpSpPr/>
          <p:nvPr/>
        </p:nvGrpSpPr>
        <p:grpSpPr bwMode="auto">
          <a:xfrm>
            <a:off x="3086100" y="5599113"/>
            <a:ext cx="6057900" cy="336550"/>
            <a:chOff x="1944" y="3527"/>
            <a:chExt cx="3816" cy="212"/>
          </a:xfrm>
        </p:grpSpPr>
        <p:grpSp>
          <p:nvGrpSpPr>
            <p:cNvPr id="133139" name="Group 396"/>
            <p:cNvGrpSpPr/>
            <p:nvPr/>
          </p:nvGrpSpPr>
          <p:grpSpPr bwMode="auto">
            <a:xfrm>
              <a:off x="1964" y="3737"/>
              <a:ext cx="3637" cy="0"/>
              <a:chOff x="1964" y="3737"/>
              <a:chExt cx="3637" cy="0"/>
            </a:xfrm>
          </p:grpSpPr>
          <p:sp>
            <p:nvSpPr>
              <p:cNvPr id="133145" name="Line 397"/>
              <p:cNvSpPr>
                <a:spLocks noChangeShapeType="1"/>
              </p:cNvSpPr>
              <p:nvPr/>
            </p:nvSpPr>
            <p:spPr bwMode="auto">
              <a:xfrm>
                <a:off x="196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3146" name="Line 398"/>
              <p:cNvSpPr>
                <a:spLocks noChangeShapeType="1"/>
              </p:cNvSpPr>
              <p:nvPr/>
            </p:nvSpPr>
            <p:spPr bwMode="auto">
              <a:xfrm>
                <a:off x="31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3147" name="Line 399"/>
              <p:cNvSpPr>
                <a:spLocks noChangeShapeType="1"/>
              </p:cNvSpPr>
              <p:nvPr/>
            </p:nvSpPr>
            <p:spPr bwMode="auto">
              <a:xfrm>
                <a:off x="4293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3148" name="Line 400"/>
              <p:cNvSpPr>
                <a:spLocks noChangeShapeType="1"/>
              </p:cNvSpPr>
              <p:nvPr/>
            </p:nvSpPr>
            <p:spPr bwMode="auto">
              <a:xfrm>
                <a:off x="5420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33140" name="Group 401"/>
            <p:cNvGrpSpPr/>
            <p:nvPr/>
          </p:nvGrpSpPr>
          <p:grpSpPr bwMode="auto">
            <a:xfrm>
              <a:off x="1944" y="3527"/>
              <a:ext cx="3816" cy="212"/>
              <a:chOff x="1944" y="3527"/>
              <a:chExt cx="3816" cy="212"/>
            </a:xfrm>
          </p:grpSpPr>
          <p:sp>
            <p:nvSpPr>
              <p:cNvPr id="133141" name="Text Box 402"/>
              <p:cNvSpPr txBox="1">
                <a:spLocks noChangeArrowheads="1"/>
              </p:cNvSpPr>
              <p:nvPr/>
            </p:nvSpPr>
            <p:spPr bwMode="auto">
              <a:xfrm>
                <a:off x="194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33142" name="Text Box 403"/>
              <p:cNvSpPr txBox="1">
                <a:spLocks noChangeArrowheads="1"/>
              </p:cNvSpPr>
              <p:nvPr/>
            </p:nvSpPr>
            <p:spPr bwMode="auto">
              <a:xfrm>
                <a:off x="310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2</a:t>
                </a:r>
              </a:p>
            </p:txBody>
          </p:sp>
          <p:sp>
            <p:nvSpPr>
              <p:cNvPr id="133143" name="Text Box 404"/>
              <p:cNvSpPr txBox="1">
                <a:spLocks noChangeArrowheads="1"/>
              </p:cNvSpPr>
              <p:nvPr/>
            </p:nvSpPr>
            <p:spPr bwMode="auto">
              <a:xfrm>
                <a:off x="4256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sp>
            <p:nvSpPr>
              <p:cNvPr id="133144" name="Text Box 405"/>
              <p:cNvSpPr txBox="1">
                <a:spLocks noChangeArrowheads="1"/>
              </p:cNvSpPr>
              <p:nvPr/>
            </p:nvSpPr>
            <p:spPr bwMode="auto">
              <a:xfrm>
                <a:off x="541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</p:grpSp>
      <p:sp>
        <p:nvSpPr>
          <p:cNvPr id="133138" name="AutoShape 406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33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76200" y="1055688"/>
            <a:ext cx="9105900" cy="5730875"/>
            <a:chOff x="48" y="665"/>
            <a:chExt cx="5736" cy="3610"/>
          </a:xfrm>
        </p:grpSpPr>
        <p:grpSp>
          <p:nvGrpSpPr>
            <p:cNvPr id="134168" name="Group 3"/>
            <p:cNvGrpSpPr/>
            <p:nvPr/>
          </p:nvGrpSpPr>
          <p:grpSpPr bwMode="auto">
            <a:xfrm>
              <a:off x="48" y="665"/>
              <a:ext cx="284" cy="2995"/>
              <a:chOff x="48" y="665"/>
              <a:chExt cx="284" cy="2995"/>
            </a:xfrm>
          </p:grpSpPr>
          <p:sp>
            <p:nvSpPr>
              <p:cNvPr id="134388" name="Text Box 4"/>
              <p:cNvSpPr txBox="1">
                <a:spLocks noChangeArrowheads="1"/>
              </p:cNvSpPr>
              <p:nvPr/>
            </p:nvSpPr>
            <p:spPr bwMode="auto">
              <a:xfrm>
                <a:off x="48" y="1961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3</a:t>
                </a:r>
              </a:p>
            </p:txBody>
          </p:sp>
          <p:sp>
            <p:nvSpPr>
              <p:cNvPr id="134389" name="Text Box 5"/>
              <p:cNvSpPr txBox="1">
                <a:spLocks noChangeArrowheads="1"/>
              </p:cNvSpPr>
              <p:nvPr/>
            </p:nvSpPr>
            <p:spPr bwMode="auto">
              <a:xfrm>
                <a:off x="48" y="1702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sp>
            <p:nvSpPr>
              <p:cNvPr id="134390" name="Text Box 6"/>
              <p:cNvSpPr txBox="1">
                <a:spLocks noChangeArrowheads="1"/>
              </p:cNvSpPr>
              <p:nvPr/>
            </p:nvSpPr>
            <p:spPr bwMode="auto">
              <a:xfrm>
                <a:off x="48" y="1443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5</a:t>
                </a:r>
              </a:p>
            </p:txBody>
          </p:sp>
          <p:sp>
            <p:nvSpPr>
              <p:cNvPr id="134391" name="Text Box 7"/>
              <p:cNvSpPr txBox="1">
                <a:spLocks noChangeArrowheads="1"/>
              </p:cNvSpPr>
              <p:nvPr/>
            </p:nvSpPr>
            <p:spPr bwMode="auto">
              <a:xfrm>
                <a:off x="48" y="1184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sp>
            <p:nvSpPr>
              <p:cNvPr id="134392" name="Text Box 8"/>
              <p:cNvSpPr txBox="1">
                <a:spLocks noChangeArrowheads="1"/>
              </p:cNvSpPr>
              <p:nvPr/>
            </p:nvSpPr>
            <p:spPr bwMode="auto">
              <a:xfrm>
                <a:off x="48" y="925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</a:p>
            </p:txBody>
          </p:sp>
          <p:sp>
            <p:nvSpPr>
              <p:cNvPr id="134393" name="Text Box 9"/>
              <p:cNvSpPr txBox="1">
                <a:spLocks noChangeArrowheads="1"/>
              </p:cNvSpPr>
              <p:nvPr/>
            </p:nvSpPr>
            <p:spPr bwMode="auto">
              <a:xfrm>
                <a:off x="48" y="665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sp>
            <p:nvSpPr>
              <p:cNvPr id="134394" name="Text Box 10"/>
              <p:cNvSpPr txBox="1">
                <a:spLocks noChangeArrowheads="1"/>
              </p:cNvSpPr>
              <p:nvPr/>
            </p:nvSpPr>
            <p:spPr bwMode="auto">
              <a:xfrm>
                <a:off x="48" y="3410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34395" name="Text Box 11"/>
              <p:cNvSpPr txBox="1">
                <a:spLocks noChangeArrowheads="1"/>
              </p:cNvSpPr>
              <p:nvPr/>
            </p:nvSpPr>
            <p:spPr bwMode="auto">
              <a:xfrm>
                <a:off x="48" y="3151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34396" name="Text Box 12"/>
              <p:cNvSpPr txBox="1">
                <a:spLocks noChangeArrowheads="1"/>
              </p:cNvSpPr>
              <p:nvPr/>
            </p:nvSpPr>
            <p:spPr bwMode="auto">
              <a:xfrm>
                <a:off x="48" y="2892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2</a:t>
                </a:r>
              </a:p>
            </p:txBody>
          </p:sp>
          <p:sp>
            <p:nvSpPr>
              <p:cNvPr id="134397" name="Text Box 13"/>
              <p:cNvSpPr txBox="1">
                <a:spLocks noChangeArrowheads="1"/>
              </p:cNvSpPr>
              <p:nvPr/>
            </p:nvSpPr>
            <p:spPr bwMode="auto">
              <a:xfrm>
                <a:off x="48" y="2633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9</a:t>
                </a:r>
              </a:p>
            </p:txBody>
          </p:sp>
        </p:grpSp>
        <p:grpSp>
          <p:nvGrpSpPr>
            <p:cNvPr id="134169" name="Group 14"/>
            <p:cNvGrpSpPr/>
            <p:nvPr/>
          </p:nvGrpSpPr>
          <p:grpSpPr bwMode="auto">
            <a:xfrm>
              <a:off x="164" y="713"/>
              <a:ext cx="5620" cy="3562"/>
              <a:chOff x="164" y="713"/>
              <a:chExt cx="5620" cy="3562"/>
            </a:xfrm>
          </p:grpSpPr>
          <p:sp>
            <p:nvSpPr>
              <p:cNvPr id="134170" name="Rectangle 15"/>
              <p:cNvSpPr>
                <a:spLocks noChangeArrowheads="1"/>
              </p:cNvSpPr>
              <p:nvPr/>
            </p:nvSpPr>
            <p:spPr bwMode="auto">
              <a:xfrm>
                <a:off x="356" y="713"/>
                <a:ext cx="576" cy="316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4171" name="Rectangle 16"/>
              <p:cNvSpPr>
                <a:spLocks noChangeArrowheads="1"/>
              </p:cNvSpPr>
              <p:nvPr/>
            </p:nvSpPr>
            <p:spPr bwMode="auto">
              <a:xfrm>
                <a:off x="1752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34172" name="Text Box 17"/>
              <p:cNvSpPr txBox="1">
                <a:spLocks noChangeArrowheads="1"/>
              </p:cNvSpPr>
              <p:nvPr/>
            </p:nvSpPr>
            <p:spPr bwMode="auto">
              <a:xfrm>
                <a:off x="1432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4173" name="Rectangle 18"/>
              <p:cNvSpPr>
                <a:spLocks noChangeArrowheads="1"/>
              </p:cNvSpPr>
              <p:nvPr/>
            </p:nvSpPr>
            <p:spPr bwMode="auto">
              <a:xfrm>
                <a:off x="1176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34174" name="Rectangle 19"/>
              <p:cNvSpPr>
                <a:spLocks noChangeArrowheads="1"/>
              </p:cNvSpPr>
              <p:nvPr/>
            </p:nvSpPr>
            <p:spPr bwMode="auto">
              <a:xfrm>
                <a:off x="2893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34175" name="Text Box 20"/>
              <p:cNvSpPr txBox="1">
                <a:spLocks noChangeArrowheads="1"/>
              </p:cNvSpPr>
              <p:nvPr/>
            </p:nvSpPr>
            <p:spPr bwMode="auto">
              <a:xfrm>
                <a:off x="2573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4176" name="Rectangle 21"/>
              <p:cNvSpPr>
                <a:spLocks noChangeArrowheads="1"/>
              </p:cNvSpPr>
              <p:nvPr/>
            </p:nvSpPr>
            <p:spPr bwMode="auto">
              <a:xfrm>
                <a:off x="2317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sp>
            <p:nvSpPr>
              <p:cNvPr id="134177" name="Rectangle 22"/>
              <p:cNvSpPr>
                <a:spLocks noChangeArrowheads="1"/>
              </p:cNvSpPr>
              <p:nvPr/>
            </p:nvSpPr>
            <p:spPr bwMode="auto">
              <a:xfrm>
                <a:off x="406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47</a:t>
                </a:r>
              </a:p>
            </p:txBody>
          </p:sp>
          <p:sp>
            <p:nvSpPr>
              <p:cNvPr id="134178" name="Text Box 23"/>
              <p:cNvSpPr txBox="1">
                <a:spLocks noChangeArrowheads="1"/>
              </p:cNvSpPr>
              <p:nvPr/>
            </p:nvSpPr>
            <p:spPr bwMode="auto">
              <a:xfrm>
                <a:off x="374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4179" name="Rectangle 24"/>
              <p:cNvSpPr>
                <a:spLocks noChangeArrowheads="1"/>
              </p:cNvSpPr>
              <p:nvPr/>
            </p:nvSpPr>
            <p:spPr bwMode="auto">
              <a:xfrm>
                <a:off x="3492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32</a:t>
                </a:r>
              </a:p>
            </p:txBody>
          </p:sp>
          <p:sp>
            <p:nvSpPr>
              <p:cNvPr id="134180" name="Rectangle 25"/>
              <p:cNvSpPr>
                <a:spLocks noChangeArrowheads="1"/>
              </p:cNvSpPr>
              <p:nvPr/>
            </p:nvSpPr>
            <p:spPr bwMode="auto">
              <a:xfrm>
                <a:off x="520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63</a:t>
                </a:r>
              </a:p>
            </p:txBody>
          </p:sp>
          <p:sp>
            <p:nvSpPr>
              <p:cNvPr id="134181" name="Text Box 26"/>
              <p:cNvSpPr txBox="1">
                <a:spLocks noChangeArrowheads="1"/>
              </p:cNvSpPr>
              <p:nvPr/>
            </p:nvSpPr>
            <p:spPr bwMode="auto">
              <a:xfrm>
                <a:off x="4884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4182" name="Rectangle 27"/>
              <p:cNvSpPr>
                <a:spLocks noChangeArrowheads="1"/>
              </p:cNvSpPr>
              <p:nvPr/>
            </p:nvSpPr>
            <p:spPr bwMode="auto">
              <a:xfrm>
                <a:off x="462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48</a:t>
                </a:r>
              </a:p>
            </p:txBody>
          </p:sp>
          <p:sp>
            <p:nvSpPr>
              <p:cNvPr id="134183" name="Rectangle 28"/>
              <p:cNvSpPr>
                <a:spLocks noChangeArrowheads="1"/>
              </p:cNvSpPr>
              <p:nvPr/>
            </p:nvSpPr>
            <p:spPr bwMode="auto">
              <a:xfrm>
                <a:off x="1752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34184" name="Rectangle 29"/>
              <p:cNvSpPr>
                <a:spLocks noChangeArrowheads="1"/>
              </p:cNvSpPr>
              <p:nvPr/>
            </p:nvSpPr>
            <p:spPr bwMode="auto">
              <a:xfrm>
                <a:off x="1176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34185" name="Rectangle 30"/>
              <p:cNvSpPr>
                <a:spLocks noChangeArrowheads="1"/>
              </p:cNvSpPr>
              <p:nvPr/>
            </p:nvSpPr>
            <p:spPr bwMode="auto">
              <a:xfrm>
                <a:off x="2893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34186" name="Rectangle 31"/>
              <p:cNvSpPr>
                <a:spLocks noChangeArrowheads="1"/>
              </p:cNvSpPr>
              <p:nvPr/>
            </p:nvSpPr>
            <p:spPr bwMode="auto">
              <a:xfrm>
                <a:off x="2317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sp>
            <p:nvSpPr>
              <p:cNvPr id="134187" name="Rectangle 32"/>
              <p:cNvSpPr>
                <a:spLocks noChangeArrowheads="1"/>
              </p:cNvSpPr>
              <p:nvPr/>
            </p:nvSpPr>
            <p:spPr bwMode="auto">
              <a:xfrm>
                <a:off x="406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47</a:t>
                </a:r>
              </a:p>
            </p:txBody>
          </p:sp>
          <p:sp>
            <p:nvSpPr>
              <p:cNvPr id="134188" name="Rectangle 33"/>
              <p:cNvSpPr>
                <a:spLocks noChangeArrowheads="1"/>
              </p:cNvSpPr>
              <p:nvPr/>
            </p:nvSpPr>
            <p:spPr bwMode="auto">
              <a:xfrm>
                <a:off x="3492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32</a:t>
                </a:r>
              </a:p>
            </p:txBody>
          </p:sp>
          <p:sp>
            <p:nvSpPr>
              <p:cNvPr id="134189" name="Rectangle 34"/>
              <p:cNvSpPr>
                <a:spLocks noChangeArrowheads="1"/>
              </p:cNvSpPr>
              <p:nvPr/>
            </p:nvSpPr>
            <p:spPr bwMode="auto">
              <a:xfrm>
                <a:off x="520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63</a:t>
                </a:r>
              </a:p>
            </p:txBody>
          </p:sp>
          <p:sp>
            <p:nvSpPr>
              <p:cNvPr id="134190" name="Rectangle 35"/>
              <p:cNvSpPr>
                <a:spLocks noChangeArrowheads="1"/>
              </p:cNvSpPr>
              <p:nvPr/>
            </p:nvSpPr>
            <p:spPr bwMode="auto">
              <a:xfrm>
                <a:off x="462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48</a:t>
                </a:r>
              </a:p>
            </p:txBody>
          </p:sp>
          <p:sp>
            <p:nvSpPr>
              <p:cNvPr id="134191" name="Line 36"/>
              <p:cNvSpPr>
                <a:spLocks noChangeShapeType="1"/>
              </p:cNvSpPr>
              <p:nvPr/>
            </p:nvSpPr>
            <p:spPr bwMode="auto">
              <a:xfrm rot="5400000">
                <a:off x="1349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192" name="Line 37"/>
              <p:cNvSpPr>
                <a:spLocks noChangeShapeType="1"/>
              </p:cNvSpPr>
              <p:nvPr/>
            </p:nvSpPr>
            <p:spPr bwMode="auto">
              <a:xfrm rot="5400000">
                <a:off x="1332" y="271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193" name="Freeform 38"/>
              <p:cNvSpPr/>
              <p:nvPr/>
            </p:nvSpPr>
            <p:spPr bwMode="auto">
              <a:xfrm>
                <a:off x="1284" y="2709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194" name="Line 39"/>
              <p:cNvSpPr>
                <a:spLocks noChangeShapeType="1"/>
              </p:cNvSpPr>
              <p:nvPr/>
            </p:nvSpPr>
            <p:spPr bwMode="auto">
              <a:xfrm rot="-5400000">
                <a:off x="1157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195" name="Line 40"/>
              <p:cNvSpPr>
                <a:spLocks noChangeShapeType="1"/>
              </p:cNvSpPr>
              <p:nvPr/>
            </p:nvSpPr>
            <p:spPr bwMode="auto">
              <a:xfrm rot="-5400000">
                <a:off x="1236" y="2714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196" name="Freeform 41"/>
              <p:cNvSpPr/>
              <p:nvPr/>
            </p:nvSpPr>
            <p:spPr bwMode="auto">
              <a:xfrm>
                <a:off x="1458" y="2353"/>
                <a:ext cx="112" cy="1"/>
              </a:xfrm>
              <a:custGeom>
                <a:avLst/>
                <a:gdLst>
                  <a:gd name="T0" fmla="*/ 0 w 112"/>
                  <a:gd name="T1" fmla="*/ 0 h 1"/>
                  <a:gd name="T2" fmla="*/ 112 w 112"/>
                  <a:gd name="T3" fmla="*/ 0 h 1"/>
                  <a:gd name="T4" fmla="*/ 0 60000 65536"/>
                  <a:gd name="T5" fmla="*/ 0 60000 65536"/>
                  <a:gd name="T6" fmla="*/ 0 w 112"/>
                  <a:gd name="T7" fmla="*/ 0 h 1"/>
                  <a:gd name="T8" fmla="*/ 112 w 11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2" h="1">
                    <a:moveTo>
                      <a:pt x="0" y="0"/>
                    </a:moveTo>
                    <a:lnTo>
                      <a:pt x="112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197" name="Freeform 42"/>
              <p:cNvSpPr/>
              <p:nvPr/>
            </p:nvSpPr>
            <p:spPr bwMode="auto">
              <a:xfrm>
                <a:off x="1077" y="1210"/>
                <a:ext cx="158" cy="1468"/>
              </a:xfrm>
              <a:custGeom>
                <a:avLst/>
                <a:gdLst>
                  <a:gd name="T0" fmla="*/ 158 w 158"/>
                  <a:gd name="T1" fmla="*/ 1468 h 1468"/>
                  <a:gd name="T2" fmla="*/ 6 w 158"/>
                  <a:gd name="T3" fmla="*/ 1468 h 1468"/>
                  <a:gd name="T4" fmla="*/ 0 w 158"/>
                  <a:gd name="T5" fmla="*/ 1 h 1468"/>
                  <a:gd name="T6" fmla="*/ 101 w 158"/>
                  <a:gd name="T7" fmla="*/ 0 h 146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8"/>
                  <a:gd name="T14" fmla="*/ 158 w 158"/>
                  <a:gd name="T15" fmla="*/ 1468 h 146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8">
                    <a:moveTo>
                      <a:pt x="158" y="1468"/>
                    </a:moveTo>
                    <a:lnTo>
                      <a:pt x="6" y="1468"/>
                    </a:lnTo>
                    <a:lnTo>
                      <a:pt x="0" y="1"/>
                    </a:lnTo>
                    <a:lnTo>
                      <a:pt x="101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198" name="Freeform 43"/>
              <p:cNvSpPr/>
              <p:nvPr/>
            </p:nvSpPr>
            <p:spPr bwMode="auto">
              <a:xfrm>
                <a:off x="1079" y="2353"/>
                <a:ext cx="102" cy="1"/>
              </a:xfrm>
              <a:custGeom>
                <a:avLst/>
                <a:gdLst>
                  <a:gd name="T0" fmla="*/ 102 w 102"/>
                  <a:gd name="T1" fmla="*/ 0 h 1"/>
                  <a:gd name="T2" fmla="*/ 0 w 102"/>
                  <a:gd name="T3" fmla="*/ 0 h 1"/>
                  <a:gd name="T4" fmla="*/ 0 60000 65536"/>
                  <a:gd name="T5" fmla="*/ 0 60000 65536"/>
                  <a:gd name="T6" fmla="*/ 0 w 102"/>
                  <a:gd name="T7" fmla="*/ 0 h 1"/>
                  <a:gd name="T8" fmla="*/ 102 w 10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2" h="1">
                    <a:moveTo>
                      <a:pt x="102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199" name="Line 44"/>
              <p:cNvSpPr>
                <a:spLocks noChangeShapeType="1"/>
              </p:cNvSpPr>
              <p:nvPr/>
            </p:nvSpPr>
            <p:spPr bwMode="auto">
              <a:xfrm rot="5400000">
                <a:off x="1920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200" name="Line 45"/>
              <p:cNvSpPr>
                <a:spLocks noChangeShapeType="1"/>
              </p:cNvSpPr>
              <p:nvPr/>
            </p:nvSpPr>
            <p:spPr bwMode="auto">
              <a:xfrm rot="5400000">
                <a:off x="1903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201" name="Freeform 46"/>
              <p:cNvSpPr/>
              <p:nvPr/>
            </p:nvSpPr>
            <p:spPr bwMode="auto">
              <a:xfrm>
                <a:off x="1855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202" name="Line 47"/>
              <p:cNvSpPr>
                <a:spLocks noChangeShapeType="1"/>
              </p:cNvSpPr>
              <p:nvPr/>
            </p:nvSpPr>
            <p:spPr bwMode="auto">
              <a:xfrm rot="-5400000">
                <a:off x="1728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203" name="Line 48"/>
              <p:cNvSpPr>
                <a:spLocks noChangeShapeType="1"/>
              </p:cNvSpPr>
              <p:nvPr/>
            </p:nvSpPr>
            <p:spPr bwMode="auto">
              <a:xfrm rot="-5400000">
                <a:off x="1807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204" name="Freeform 49"/>
              <p:cNvSpPr/>
              <p:nvPr/>
            </p:nvSpPr>
            <p:spPr bwMode="auto">
              <a:xfrm>
                <a:off x="2029" y="2353"/>
                <a:ext cx="103" cy="1"/>
              </a:xfrm>
              <a:custGeom>
                <a:avLst/>
                <a:gdLst>
                  <a:gd name="T0" fmla="*/ 0 w 103"/>
                  <a:gd name="T1" fmla="*/ 0 h 1"/>
                  <a:gd name="T2" fmla="*/ 103 w 103"/>
                  <a:gd name="T3" fmla="*/ 0 h 1"/>
                  <a:gd name="T4" fmla="*/ 0 60000 65536"/>
                  <a:gd name="T5" fmla="*/ 0 60000 65536"/>
                  <a:gd name="T6" fmla="*/ 0 w 103"/>
                  <a:gd name="T7" fmla="*/ 0 h 1"/>
                  <a:gd name="T8" fmla="*/ 103 w 10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3" h="1">
                    <a:moveTo>
                      <a:pt x="0" y="0"/>
                    </a:moveTo>
                    <a:lnTo>
                      <a:pt x="103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05" name="Freeform 50"/>
              <p:cNvSpPr/>
              <p:nvPr/>
            </p:nvSpPr>
            <p:spPr bwMode="auto">
              <a:xfrm>
                <a:off x="1635" y="2352"/>
                <a:ext cx="113" cy="1"/>
              </a:xfrm>
              <a:custGeom>
                <a:avLst/>
                <a:gdLst>
                  <a:gd name="T0" fmla="*/ 113 w 113"/>
                  <a:gd name="T1" fmla="*/ 1 h 1"/>
                  <a:gd name="T2" fmla="*/ 0 w 113"/>
                  <a:gd name="T3" fmla="*/ 0 h 1"/>
                  <a:gd name="T4" fmla="*/ 0 60000 65536"/>
                  <a:gd name="T5" fmla="*/ 0 60000 65536"/>
                  <a:gd name="T6" fmla="*/ 0 w 113"/>
                  <a:gd name="T7" fmla="*/ 0 h 1"/>
                  <a:gd name="T8" fmla="*/ 113 w 11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3" h="1">
                    <a:moveTo>
                      <a:pt x="113" y="1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06" name="Line 51"/>
              <p:cNvSpPr>
                <a:spLocks noChangeShapeType="1"/>
              </p:cNvSpPr>
              <p:nvPr/>
            </p:nvSpPr>
            <p:spPr bwMode="auto">
              <a:xfrm rot="5400000">
                <a:off x="2501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207" name="Line 52"/>
              <p:cNvSpPr>
                <a:spLocks noChangeShapeType="1"/>
              </p:cNvSpPr>
              <p:nvPr/>
            </p:nvSpPr>
            <p:spPr bwMode="auto">
              <a:xfrm rot="5400000">
                <a:off x="2484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208" name="Freeform 53"/>
              <p:cNvSpPr/>
              <p:nvPr/>
            </p:nvSpPr>
            <p:spPr bwMode="auto">
              <a:xfrm>
                <a:off x="2436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209" name="Line 54"/>
              <p:cNvSpPr>
                <a:spLocks noChangeShapeType="1"/>
              </p:cNvSpPr>
              <p:nvPr/>
            </p:nvSpPr>
            <p:spPr bwMode="auto">
              <a:xfrm rot="-5400000">
                <a:off x="2309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210" name="Line 55"/>
              <p:cNvSpPr>
                <a:spLocks noChangeShapeType="1"/>
              </p:cNvSpPr>
              <p:nvPr/>
            </p:nvSpPr>
            <p:spPr bwMode="auto">
              <a:xfrm rot="-5400000">
                <a:off x="2388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211" name="Freeform 56"/>
              <p:cNvSpPr/>
              <p:nvPr/>
            </p:nvSpPr>
            <p:spPr bwMode="auto">
              <a:xfrm>
                <a:off x="2610" y="2353"/>
                <a:ext cx="109" cy="1"/>
              </a:xfrm>
              <a:custGeom>
                <a:avLst/>
                <a:gdLst>
                  <a:gd name="T0" fmla="*/ 0 w 109"/>
                  <a:gd name="T1" fmla="*/ 0 h 1"/>
                  <a:gd name="T2" fmla="*/ 109 w 109"/>
                  <a:gd name="T3" fmla="*/ 0 h 1"/>
                  <a:gd name="T4" fmla="*/ 0 60000 65536"/>
                  <a:gd name="T5" fmla="*/ 0 60000 65536"/>
                  <a:gd name="T6" fmla="*/ 0 w 109"/>
                  <a:gd name="T7" fmla="*/ 0 h 1"/>
                  <a:gd name="T8" fmla="*/ 109 w 10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9" h="1">
                    <a:moveTo>
                      <a:pt x="0" y="0"/>
                    </a:moveTo>
                    <a:lnTo>
                      <a:pt x="109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12" name="Freeform 57"/>
              <p:cNvSpPr/>
              <p:nvPr/>
            </p:nvSpPr>
            <p:spPr bwMode="auto">
              <a:xfrm>
                <a:off x="2231" y="2353"/>
                <a:ext cx="89" cy="1"/>
              </a:xfrm>
              <a:custGeom>
                <a:avLst/>
                <a:gdLst>
                  <a:gd name="T0" fmla="*/ 89 w 89"/>
                  <a:gd name="T1" fmla="*/ 0 h 1"/>
                  <a:gd name="T2" fmla="*/ 0 w 89"/>
                  <a:gd name="T3" fmla="*/ 0 h 1"/>
                  <a:gd name="T4" fmla="*/ 0 60000 65536"/>
                  <a:gd name="T5" fmla="*/ 0 60000 65536"/>
                  <a:gd name="T6" fmla="*/ 0 w 89"/>
                  <a:gd name="T7" fmla="*/ 0 h 1"/>
                  <a:gd name="T8" fmla="*/ 89 w 8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9" h="1">
                    <a:moveTo>
                      <a:pt x="89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13" name="Line 58"/>
              <p:cNvSpPr>
                <a:spLocks noChangeShapeType="1"/>
              </p:cNvSpPr>
              <p:nvPr/>
            </p:nvSpPr>
            <p:spPr bwMode="auto">
              <a:xfrm rot="5400000">
                <a:off x="307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214" name="Line 59"/>
              <p:cNvSpPr>
                <a:spLocks noChangeShapeType="1"/>
              </p:cNvSpPr>
              <p:nvPr/>
            </p:nvSpPr>
            <p:spPr bwMode="auto">
              <a:xfrm rot="5400000">
                <a:off x="3060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215" name="Freeform 60"/>
              <p:cNvSpPr/>
              <p:nvPr/>
            </p:nvSpPr>
            <p:spPr bwMode="auto">
              <a:xfrm>
                <a:off x="3012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216" name="Line 61"/>
              <p:cNvSpPr>
                <a:spLocks noChangeShapeType="1"/>
              </p:cNvSpPr>
              <p:nvPr/>
            </p:nvSpPr>
            <p:spPr bwMode="auto">
              <a:xfrm rot="-5400000">
                <a:off x="2885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217" name="Line 62"/>
              <p:cNvSpPr>
                <a:spLocks noChangeShapeType="1"/>
              </p:cNvSpPr>
              <p:nvPr/>
            </p:nvSpPr>
            <p:spPr bwMode="auto">
              <a:xfrm rot="-5400000">
                <a:off x="2964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218" name="Freeform 63"/>
              <p:cNvSpPr/>
              <p:nvPr/>
            </p:nvSpPr>
            <p:spPr bwMode="auto">
              <a:xfrm>
                <a:off x="3186" y="2353"/>
                <a:ext cx="115" cy="1"/>
              </a:xfrm>
              <a:custGeom>
                <a:avLst/>
                <a:gdLst>
                  <a:gd name="T0" fmla="*/ 0 w 115"/>
                  <a:gd name="T1" fmla="*/ 0 h 1"/>
                  <a:gd name="T2" fmla="*/ 115 w 115"/>
                  <a:gd name="T3" fmla="*/ 0 h 1"/>
                  <a:gd name="T4" fmla="*/ 0 60000 65536"/>
                  <a:gd name="T5" fmla="*/ 0 60000 65536"/>
                  <a:gd name="T6" fmla="*/ 0 w 115"/>
                  <a:gd name="T7" fmla="*/ 0 h 1"/>
                  <a:gd name="T8" fmla="*/ 115 w 11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5" h="1">
                    <a:moveTo>
                      <a:pt x="0" y="0"/>
                    </a:moveTo>
                    <a:lnTo>
                      <a:pt x="11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19" name="Freeform 64"/>
              <p:cNvSpPr/>
              <p:nvPr/>
            </p:nvSpPr>
            <p:spPr bwMode="auto">
              <a:xfrm>
                <a:off x="2807" y="2353"/>
                <a:ext cx="90" cy="1"/>
              </a:xfrm>
              <a:custGeom>
                <a:avLst/>
                <a:gdLst>
                  <a:gd name="T0" fmla="*/ 90 w 90"/>
                  <a:gd name="T1" fmla="*/ 0 h 1"/>
                  <a:gd name="T2" fmla="*/ 0 w 90"/>
                  <a:gd name="T3" fmla="*/ 0 h 1"/>
                  <a:gd name="T4" fmla="*/ 0 60000 65536"/>
                  <a:gd name="T5" fmla="*/ 0 60000 65536"/>
                  <a:gd name="T6" fmla="*/ 0 w 90"/>
                  <a:gd name="T7" fmla="*/ 0 h 1"/>
                  <a:gd name="T8" fmla="*/ 90 w 9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0" h="1">
                    <a:moveTo>
                      <a:pt x="90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20" name="Line 65"/>
              <p:cNvSpPr>
                <a:spLocks noChangeShapeType="1"/>
              </p:cNvSpPr>
              <p:nvPr/>
            </p:nvSpPr>
            <p:spPr bwMode="auto">
              <a:xfrm rot="5400000">
                <a:off x="3653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221" name="Line 66"/>
              <p:cNvSpPr>
                <a:spLocks noChangeShapeType="1"/>
              </p:cNvSpPr>
              <p:nvPr/>
            </p:nvSpPr>
            <p:spPr bwMode="auto">
              <a:xfrm rot="5400000">
                <a:off x="3636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222" name="Freeform 67"/>
              <p:cNvSpPr/>
              <p:nvPr/>
            </p:nvSpPr>
            <p:spPr bwMode="auto">
              <a:xfrm>
                <a:off x="3588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223" name="Line 68"/>
              <p:cNvSpPr>
                <a:spLocks noChangeShapeType="1"/>
              </p:cNvSpPr>
              <p:nvPr/>
            </p:nvSpPr>
            <p:spPr bwMode="auto">
              <a:xfrm rot="-5400000">
                <a:off x="3461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224" name="Line 69"/>
              <p:cNvSpPr>
                <a:spLocks noChangeShapeType="1"/>
              </p:cNvSpPr>
              <p:nvPr/>
            </p:nvSpPr>
            <p:spPr bwMode="auto">
              <a:xfrm rot="-5400000">
                <a:off x="3540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225" name="Freeform 70"/>
              <p:cNvSpPr/>
              <p:nvPr/>
            </p:nvSpPr>
            <p:spPr bwMode="auto">
              <a:xfrm>
                <a:off x="3775" y="2352"/>
                <a:ext cx="100" cy="1"/>
              </a:xfrm>
              <a:custGeom>
                <a:avLst/>
                <a:gdLst>
                  <a:gd name="T0" fmla="*/ 0 w 100"/>
                  <a:gd name="T1" fmla="*/ 0 h 1"/>
                  <a:gd name="T2" fmla="*/ 100 w 100"/>
                  <a:gd name="T3" fmla="*/ 1 h 1"/>
                  <a:gd name="T4" fmla="*/ 0 60000 65536"/>
                  <a:gd name="T5" fmla="*/ 0 60000 65536"/>
                  <a:gd name="T6" fmla="*/ 0 w 100"/>
                  <a:gd name="T7" fmla="*/ 0 h 1"/>
                  <a:gd name="T8" fmla="*/ 100 w 10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0" h="1">
                    <a:moveTo>
                      <a:pt x="0" y="0"/>
                    </a:moveTo>
                    <a:lnTo>
                      <a:pt x="100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26" name="Freeform 71"/>
              <p:cNvSpPr/>
              <p:nvPr/>
            </p:nvSpPr>
            <p:spPr bwMode="auto">
              <a:xfrm>
                <a:off x="3383" y="2353"/>
                <a:ext cx="108" cy="1"/>
              </a:xfrm>
              <a:custGeom>
                <a:avLst/>
                <a:gdLst>
                  <a:gd name="T0" fmla="*/ 108 w 108"/>
                  <a:gd name="T1" fmla="*/ 0 h 1"/>
                  <a:gd name="T2" fmla="*/ 0 w 108"/>
                  <a:gd name="T3" fmla="*/ 0 h 1"/>
                  <a:gd name="T4" fmla="*/ 0 60000 65536"/>
                  <a:gd name="T5" fmla="*/ 0 60000 65536"/>
                  <a:gd name="T6" fmla="*/ 0 w 108"/>
                  <a:gd name="T7" fmla="*/ 0 h 1"/>
                  <a:gd name="T8" fmla="*/ 108 w 10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8" h="1">
                    <a:moveTo>
                      <a:pt x="10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27" name="Line 72"/>
              <p:cNvSpPr>
                <a:spLocks noChangeShapeType="1"/>
              </p:cNvSpPr>
              <p:nvPr/>
            </p:nvSpPr>
            <p:spPr bwMode="auto">
              <a:xfrm rot="5400000">
                <a:off x="4229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228" name="Line 73"/>
              <p:cNvSpPr>
                <a:spLocks noChangeShapeType="1"/>
              </p:cNvSpPr>
              <p:nvPr/>
            </p:nvSpPr>
            <p:spPr bwMode="auto">
              <a:xfrm rot="5400000">
                <a:off x="4212" y="2696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229" name="Freeform 74"/>
              <p:cNvSpPr/>
              <p:nvPr/>
            </p:nvSpPr>
            <p:spPr bwMode="auto">
              <a:xfrm>
                <a:off x="4164" y="2695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230" name="Line 75"/>
              <p:cNvSpPr>
                <a:spLocks noChangeShapeType="1"/>
              </p:cNvSpPr>
              <p:nvPr/>
            </p:nvSpPr>
            <p:spPr bwMode="auto">
              <a:xfrm rot="-5400000">
                <a:off x="4037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231" name="Line 76"/>
              <p:cNvSpPr>
                <a:spLocks noChangeShapeType="1"/>
              </p:cNvSpPr>
              <p:nvPr/>
            </p:nvSpPr>
            <p:spPr bwMode="auto">
              <a:xfrm rot="-5400000">
                <a:off x="4116" y="270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4232" name="Freeform 77"/>
              <p:cNvSpPr/>
              <p:nvPr/>
            </p:nvSpPr>
            <p:spPr bwMode="auto">
              <a:xfrm>
                <a:off x="4360" y="2351"/>
                <a:ext cx="90" cy="2"/>
              </a:xfrm>
              <a:custGeom>
                <a:avLst/>
                <a:gdLst>
                  <a:gd name="T0" fmla="*/ 0 w 90"/>
                  <a:gd name="T1" fmla="*/ 0 h 2"/>
                  <a:gd name="T2" fmla="*/ 90 w 90"/>
                  <a:gd name="T3" fmla="*/ 2 h 2"/>
                  <a:gd name="T4" fmla="*/ 0 60000 65536"/>
                  <a:gd name="T5" fmla="*/ 0 60000 65536"/>
                  <a:gd name="T6" fmla="*/ 0 w 90"/>
                  <a:gd name="T7" fmla="*/ 0 h 2"/>
                  <a:gd name="T8" fmla="*/ 90 w 90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0" h="2">
                    <a:moveTo>
                      <a:pt x="0" y="0"/>
                    </a:moveTo>
                    <a:lnTo>
                      <a:pt x="90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33" name="Freeform 78"/>
              <p:cNvSpPr/>
              <p:nvPr/>
            </p:nvSpPr>
            <p:spPr bwMode="auto">
              <a:xfrm>
                <a:off x="3959" y="2353"/>
                <a:ext cx="104" cy="1"/>
              </a:xfrm>
              <a:custGeom>
                <a:avLst/>
                <a:gdLst>
                  <a:gd name="T0" fmla="*/ 104 w 104"/>
                  <a:gd name="T1" fmla="*/ 0 h 1"/>
                  <a:gd name="T2" fmla="*/ 0 w 104"/>
                  <a:gd name="T3" fmla="*/ 0 h 1"/>
                  <a:gd name="T4" fmla="*/ 0 60000 65536"/>
                  <a:gd name="T5" fmla="*/ 0 60000 65536"/>
                  <a:gd name="T6" fmla="*/ 0 w 104"/>
                  <a:gd name="T7" fmla="*/ 0 h 1"/>
                  <a:gd name="T8" fmla="*/ 104 w 10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4" h="1">
                    <a:moveTo>
                      <a:pt x="10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134234" name="Group 79"/>
              <p:cNvGrpSpPr/>
              <p:nvPr/>
            </p:nvGrpSpPr>
            <p:grpSpPr bwMode="auto">
              <a:xfrm>
                <a:off x="4692" y="2634"/>
                <a:ext cx="192" cy="158"/>
                <a:chOff x="4692" y="2634"/>
                <a:chExt cx="192" cy="158"/>
              </a:xfrm>
            </p:grpSpPr>
            <p:grpSp>
              <p:nvGrpSpPr>
                <p:cNvPr id="134381" name="Group 80"/>
                <p:cNvGrpSpPr/>
                <p:nvPr/>
              </p:nvGrpSpPr>
              <p:grpSpPr bwMode="auto">
                <a:xfrm>
                  <a:off x="4836" y="2634"/>
                  <a:ext cx="48" cy="158"/>
                  <a:chOff x="4836" y="2634"/>
                  <a:chExt cx="48" cy="158"/>
                </a:xfrm>
              </p:grpSpPr>
              <p:sp>
                <p:nvSpPr>
                  <p:cNvPr id="134386" name="Line 81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805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4387" name="Line 82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788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4382" name="Freeform 83"/>
                <p:cNvSpPr/>
                <p:nvPr/>
              </p:nvSpPr>
              <p:spPr bwMode="auto">
                <a:xfrm>
                  <a:off x="4740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4383" name="Group 84"/>
                <p:cNvGrpSpPr/>
                <p:nvPr/>
              </p:nvGrpSpPr>
              <p:grpSpPr bwMode="auto">
                <a:xfrm>
                  <a:off x="4692" y="2634"/>
                  <a:ext cx="48" cy="158"/>
                  <a:chOff x="4692" y="2634"/>
                  <a:chExt cx="48" cy="158"/>
                </a:xfrm>
              </p:grpSpPr>
              <p:sp>
                <p:nvSpPr>
                  <p:cNvPr id="134384" name="Line 85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13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4385" name="Line 86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92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134235" name="Freeform 87"/>
              <p:cNvSpPr/>
              <p:nvPr/>
            </p:nvSpPr>
            <p:spPr bwMode="auto">
              <a:xfrm>
                <a:off x="4914" y="2353"/>
                <a:ext cx="107" cy="1"/>
              </a:xfrm>
              <a:custGeom>
                <a:avLst/>
                <a:gdLst>
                  <a:gd name="T0" fmla="*/ 0 w 107"/>
                  <a:gd name="T1" fmla="*/ 0 h 1"/>
                  <a:gd name="T2" fmla="*/ 107 w 107"/>
                  <a:gd name="T3" fmla="*/ 0 h 1"/>
                  <a:gd name="T4" fmla="*/ 0 60000 65536"/>
                  <a:gd name="T5" fmla="*/ 0 60000 65536"/>
                  <a:gd name="T6" fmla="*/ 0 w 107"/>
                  <a:gd name="T7" fmla="*/ 0 h 1"/>
                  <a:gd name="T8" fmla="*/ 107 w 10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7" h="1">
                    <a:moveTo>
                      <a:pt x="0" y="0"/>
                    </a:moveTo>
                    <a:lnTo>
                      <a:pt x="10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36" name="Freeform 88"/>
              <p:cNvSpPr/>
              <p:nvPr/>
            </p:nvSpPr>
            <p:spPr bwMode="auto">
              <a:xfrm>
                <a:off x="4535" y="2353"/>
                <a:ext cx="96" cy="1"/>
              </a:xfrm>
              <a:custGeom>
                <a:avLst/>
                <a:gdLst>
                  <a:gd name="T0" fmla="*/ 96 w 96"/>
                  <a:gd name="T1" fmla="*/ 0 h 1"/>
                  <a:gd name="T2" fmla="*/ 0 w 96"/>
                  <a:gd name="T3" fmla="*/ 0 h 1"/>
                  <a:gd name="T4" fmla="*/ 0 60000 65536"/>
                  <a:gd name="T5" fmla="*/ 0 60000 65536"/>
                  <a:gd name="T6" fmla="*/ 0 w 96"/>
                  <a:gd name="T7" fmla="*/ 0 h 1"/>
                  <a:gd name="T8" fmla="*/ 96 w 96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1">
                    <a:moveTo>
                      <a:pt x="96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134237" name="Group 89"/>
              <p:cNvGrpSpPr/>
              <p:nvPr/>
            </p:nvGrpSpPr>
            <p:grpSpPr bwMode="auto">
              <a:xfrm>
                <a:off x="5259" y="2634"/>
                <a:ext cx="192" cy="158"/>
                <a:chOff x="5259" y="2634"/>
                <a:chExt cx="192" cy="158"/>
              </a:xfrm>
            </p:grpSpPr>
            <p:grpSp>
              <p:nvGrpSpPr>
                <p:cNvPr id="134374" name="Group 90"/>
                <p:cNvGrpSpPr/>
                <p:nvPr/>
              </p:nvGrpSpPr>
              <p:grpSpPr bwMode="auto">
                <a:xfrm>
                  <a:off x="5403" y="2634"/>
                  <a:ext cx="48" cy="158"/>
                  <a:chOff x="5403" y="2634"/>
                  <a:chExt cx="48" cy="158"/>
                </a:xfrm>
              </p:grpSpPr>
              <p:sp>
                <p:nvSpPr>
                  <p:cNvPr id="134379" name="Line 91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72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4380" name="Line 92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55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4375" name="Freeform 93"/>
                <p:cNvSpPr/>
                <p:nvPr/>
              </p:nvSpPr>
              <p:spPr bwMode="auto">
                <a:xfrm>
                  <a:off x="5307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4376" name="Group 94"/>
                <p:cNvGrpSpPr/>
                <p:nvPr/>
              </p:nvGrpSpPr>
              <p:grpSpPr bwMode="auto">
                <a:xfrm>
                  <a:off x="5259" y="2634"/>
                  <a:ext cx="48" cy="158"/>
                  <a:chOff x="5259" y="2634"/>
                  <a:chExt cx="48" cy="158"/>
                </a:xfrm>
              </p:grpSpPr>
              <p:sp>
                <p:nvSpPr>
                  <p:cNvPr id="134377" name="Line 95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180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4378" name="Line 96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259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134238" name="Freeform 97"/>
              <p:cNvSpPr/>
              <p:nvPr/>
            </p:nvSpPr>
            <p:spPr bwMode="auto">
              <a:xfrm>
                <a:off x="5491" y="2351"/>
                <a:ext cx="96" cy="2"/>
              </a:xfrm>
              <a:custGeom>
                <a:avLst/>
                <a:gdLst>
                  <a:gd name="T0" fmla="*/ 0 w 96"/>
                  <a:gd name="T1" fmla="*/ 0 h 2"/>
                  <a:gd name="T2" fmla="*/ 96 w 96"/>
                  <a:gd name="T3" fmla="*/ 2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0"/>
                    </a:moveTo>
                    <a:lnTo>
                      <a:pt x="96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39" name="Freeform 98"/>
              <p:cNvSpPr/>
              <p:nvPr/>
            </p:nvSpPr>
            <p:spPr bwMode="auto">
              <a:xfrm>
                <a:off x="5102" y="2353"/>
                <a:ext cx="101" cy="1"/>
              </a:xfrm>
              <a:custGeom>
                <a:avLst/>
                <a:gdLst>
                  <a:gd name="T0" fmla="*/ 101 w 101"/>
                  <a:gd name="T1" fmla="*/ 0 h 1"/>
                  <a:gd name="T2" fmla="*/ 0 w 101"/>
                  <a:gd name="T3" fmla="*/ 0 h 1"/>
                  <a:gd name="T4" fmla="*/ 0 60000 65536"/>
                  <a:gd name="T5" fmla="*/ 0 60000 65536"/>
                  <a:gd name="T6" fmla="*/ 0 w 101"/>
                  <a:gd name="T7" fmla="*/ 0 h 1"/>
                  <a:gd name="T8" fmla="*/ 101 w 101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1" h="1">
                    <a:moveTo>
                      <a:pt x="101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40" name="Freeform 99"/>
              <p:cNvSpPr/>
              <p:nvPr/>
            </p:nvSpPr>
            <p:spPr bwMode="auto">
              <a:xfrm>
                <a:off x="932" y="856"/>
                <a:ext cx="4419" cy="1"/>
              </a:xfrm>
              <a:custGeom>
                <a:avLst/>
                <a:gdLst>
                  <a:gd name="T0" fmla="*/ 0 w 4419"/>
                  <a:gd name="T1" fmla="*/ 1 h 1"/>
                  <a:gd name="T2" fmla="*/ 4419 w 4419"/>
                  <a:gd name="T3" fmla="*/ 0 h 1"/>
                  <a:gd name="T4" fmla="*/ 0 60000 65536"/>
                  <a:gd name="T5" fmla="*/ 0 60000 65536"/>
                  <a:gd name="T6" fmla="*/ 0 w 4419"/>
                  <a:gd name="T7" fmla="*/ 0 h 1"/>
                  <a:gd name="T8" fmla="*/ 4419 w 441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9" h="1">
                    <a:moveTo>
                      <a:pt x="0" y="1"/>
                    </a:moveTo>
                    <a:lnTo>
                      <a:pt x="441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41" name="Line 100"/>
              <p:cNvSpPr>
                <a:spLocks noChangeShapeType="1"/>
              </p:cNvSpPr>
              <p:nvPr/>
            </p:nvSpPr>
            <p:spPr bwMode="auto">
              <a:xfrm>
                <a:off x="1316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42" name="Line 101"/>
              <p:cNvSpPr>
                <a:spLocks noChangeShapeType="1"/>
              </p:cNvSpPr>
              <p:nvPr/>
            </p:nvSpPr>
            <p:spPr bwMode="auto">
              <a:xfrm>
                <a:off x="189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43" name="Line 102"/>
              <p:cNvSpPr>
                <a:spLocks noChangeShapeType="1"/>
              </p:cNvSpPr>
              <p:nvPr/>
            </p:nvSpPr>
            <p:spPr bwMode="auto">
              <a:xfrm>
                <a:off x="246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44" name="Line 103"/>
              <p:cNvSpPr>
                <a:spLocks noChangeShapeType="1"/>
              </p:cNvSpPr>
              <p:nvPr/>
            </p:nvSpPr>
            <p:spPr bwMode="auto">
              <a:xfrm>
                <a:off x="304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45" name="Line 104"/>
              <p:cNvSpPr>
                <a:spLocks noChangeShapeType="1"/>
              </p:cNvSpPr>
              <p:nvPr/>
            </p:nvSpPr>
            <p:spPr bwMode="auto">
              <a:xfrm>
                <a:off x="3620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46" name="Line 105"/>
              <p:cNvSpPr>
                <a:spLocks noChangeShapeType="1"/>
              </p:cNvSpPr>
              <p:nvPr/>
            </p:nvSpPr>
            <p:spPr bwMode="auto">
              <a:xfrm>
                <a:off x="4196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47" name="Line 106"/>
              <p:cNvSpPr>
                <a:spLocks noChangeShapeType="1"/>
              </p:cNvSpPr>
              <p:nvPr/>
            </p:nvSpPr>
            <p:spPr bwMode="auto">
              <a:xfrm>
                <a:off x="477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48" name="Line 107"/>
              <p:cNvSpPr>
                <a:spLocks noChangeShapeType="1"/>
              </p:cNvSpPr>
              <p:nvPr/>
            </p:nvSpPr>
            <p:spPr bwMode="auto">
              <a:xfrm>
                <a:off x="534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49" name="Freeform 108"/>
              <p:cNvSpPr/>
              <p:nvPr/>
            </p:nvSpPr>
            <p:spPr bwMode="auto">
              <a:xfrm>
                <a:off x="1330" y="2708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50" name="Freeform 109"/>
              <p:cNvSpPr/>
              <p:nvPr/>
            </p:nvSpPr>
            <p:spPr bwMode="auto">
              <a:xfrm>
                <a:off x="1904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7711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51" name="Freeform 110"/>
              <p:cNvSpPr/>
              <p:nvPr/>
            </p:nvSpPr>
            <p:spPr bwMode="auto">
              <a:xfrm>
                <a:off x="2482" y="2708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52" name="Freeform 111"/>
              <p:cNvSpPr/>
              <p:nvPr/>
            </p:nvSpPr>
            <p:spPr bwMode="auto">
              <a:xfrm>
                <a:off x="3630" y="2708"/>
                <a:ext cx="2" cy="175"/>
              </a:xfrm>
              <a:custGeom>
                <a:avLst/>
                <a:gdLst>
                  <a:gd name="T0" fmla="*/ 2 w 2"/>
                  <a:gd name="T1" fmla="*/ 0 h 175"/>
                  <a:gd name="T2" fmla="*/ 0 w 2"/>
                  <a:gd name="T3" fmla="*/ 175 h 175"/>
                  <a:gd name="T4" fmla="*/ 0 60000 65536"/>
                  <a:gd name="T5" fmla="*/ 0 60000 65536"/>
                  <a:gd name="T6" fmla="*/ 0 w 2"/>
                  <a:gd name="T7" fmla="*/ 0 h 175"/>
                  <a:gd name="T8" fmla="*/ 2 w 2"/>
                  <a:gd name="T9" fmla="*/ 175 h 17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75">
                    <a:moveTo>
                      <a:pt x="2" y="0"/>
                    </a:moveTo>
                    <a:lnTo>
                      <a:pt x="0" y="17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53" name="Freeform 112"/>
              <p:cNvSpPr/>
              <p:nvPr/>
            </p:nvSpPr>
            <p:spPr bwMode="auto">
              <a:xfrm>
                <a:off x="4784" y="2697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  <a:gd name="T6" fmla="*/ 0 w 1"/>
                  <a:gd name="T7" fmla="*/ 0 h 176"/>
                  <a:gd name="T8" fmla="*/ 1 w 1"/>
                  <a:gd name="T9" fmla="*/ 176 h 17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54" name="Freeform 113"/>
              <p:cNvSpPr/>
              <p:nvPr/>
            </p:nvSpPr>
            <p:spPr bwMode="auto">
              <a:xfrm>
                <a:off x="932" y="1480"/>
                <a:ext cx="4422" cy="1"/>
              </a:xfrm>
              <a:custGeom>
                <a:avLst/>
                <a:gdLst>
                  <a:gd name="T0" fmla="*/ 0 w 4422"/>
                  <a:gd name="T1" fmla="*/ 1 h 1"/>
                  <a:gd name="T2" fmla="*/ 4422 w 4422"/>
                  <a:gd name="T3" fmla="*/ 0 h 1"/>
                  <a:gd name="T4" fmla="*/ 0 60000 65536"/>
                  <a:gd name="T5" fmla="*/ 0 60000 65536"/>
                  <a:gd name="T6" fmla="*/ 0 w 4422"/>
                  <a:gd name="T7" fmla="*/ 0 h 1"/>
                  <a:gd name="T8" fmla="*/ 4422 w 442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22" h="1">
                    <a:moveTo>
                      <a:pt x="0" y="1"/>
                    </a:moveTo>
                    <a:lnTo>
                      <a:pt x="442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55" name="Line 114"/>
              <p:cNvSpPr>
                <a:spLocks noChangeShapeType="1"/>
              </p:cNvSpPr>
              <p:nvPr/>
            </p:nvSpPr>
            <p:spPr bwMode="auto">
              <a:xfrm>
                <a:off x="1316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56" name="Line 115"/>
              <p:cNvSpPr>
                <a:spLocks noChangeShapeType="1"/>
              </p:cNvSpPr>
              <p:nvPr/>
            </p:nvSpPr>
            <p:spPr bwMode="auto">
              <a:xfrm>
                <a:off x="189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57" name="Line 116"/>
              <p:cNvSpPr>
                <a:spLocks noChangeShapeType="1"/>
              </p:cNvSpPr>
              <p:nvPr/>
            </p:nvSpPr>
            <p:spPr bwMode="auto">
              <a:xfrm>
                <a:off x="246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58" name="Line 117"/>
              <p:cNvSpPr>
                <a:spLocks noChangeShapeType="1"/>
              </p:cNvSpPr>
              <p:nvPr/>
            </p:nvSpPr>
            <p:spPr bwMode="auto">
              <a:xfrm>
                <a:off x="304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59" name="Line 118"/>
              <p:cNvSpPr>
                <a:spLocks noChangeShapeType="1"/>
              </p:cNvSpPr>
              <p:nvPr/>
            </p:nvSpPr>
            <p:spPr bwMode="auto">
              <a:xfrm>
                <a:off x="3620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60" name="Line 119"/>
              <p:cNvSpPr>
                <a:spLocks noChangeShapeType="1"/>
              </p:cNvSpPr>
              <p:nvPr/>
            </p:nvSpPr>
            <p:spPr bwMode="auto">
              <a:xfrm>
                <a:off x="4196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61" name="Line 120"/>
              <p:cNvSpPr>
                <a:spLocks noChangeShapeType="1"/>
              </p:cNvSpPr>
              <p:nvPr/>
            </p:nvSpPr>
            <p:spPr bwMode="auto">
              <a:xfrm>
                <a:off x="477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62" name="Line 121"/>
              <p:cNvSpPr>
                <a:spLocks noChangeShapeType="1"/>
              </p:cNvSpPr>
              <p:nvPr/>
            </p:nvSpPr>
            <p:spPr bwMode="auto">
              <a:xfrm>
                <a:off x="534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63" name="Freeform 122"/>
              <p:cNvSpPr/>
              <p:nvPr/>
            </p:nvSpPr>
            <p:spPr bwMode="auto">
              <a:xfrm>
                <a:off x="932" y="2056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  <a:gd name="T6" fmla="*/ 0 w 4418"/>
                  <a:gd name="T7" fmla="*/ 0 h 1"/>
                  <a:gd name="T8" fmla="*/ 4418 w 441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64" name="Line 123"/>
              <p:cNvSpPr>
                <a:spLocks noChangeShapeType="1"/>
              </p:cNvSpPr>
              <p:nvPr/>
            </p:nvSpPr>
            <p:spPr bwMode="auto">
              <a:xfrm>
                <a:off x="1316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65" name="Line 124"/>
              <p:cNvSpPr>
                <a:spLocks noChangeShapeType="1"/>
              </p:cNvSpPr>
              <p:nvPr/>
            </p:nvSpPr>
            <p:spPr bwMode="auto">
              <a:xfrm>
                <a:off x="189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66" name="Line 125"/>
              <p:cNvSpPr>
                <a:spLocks noChangeShapeType="1"/>
              </p:cNvSpPr>
              <p:nvPr/>
            </p:nvSpPr>
            <p:spPr bwMode="auto">
              <a:xfrm>
                <a:off x="246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67" name="Line 126"/>
              <p:cNvSpPr>
                <a:spLocks noChangeShapeType="1"/>
              </p:cNvSpPr>
              <p:nvPr/>
            </p:nvSpPr>
            <p:spPr bwMode="auto">
              <a:xfrm>
                <a:off x="304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68" name="Line 127"/>
              <p:cNvSpPr>
                <a:spLocks noChangeShapeType="1"/>
              </p:cNvSpPr>
              <p:nvPr/>
            </p:nvSpPr>
            <p:spPr bwMode="auto">
              <a:xfrm>
                <a:off x="3620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69" name="Line 128"/>
              <p:cNvSpPr>
                <a:spLocks noChangeShapeType="1"/>
              </p:cNvSpPr>
              <p:nvPr/>
            </p:nvSpPr>
            <p:spPr bwMode="auto">
              <a:xfrm>
                <a:off x="4196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70" name="Line 129"/>
              <p:cNvSpPr>
                <a:spLocks noChangeShapeType="1"/>
              </p:cNvSpPr>
              <p:nvPr/>
            </p:nvSpPr>
            <p:spPr bwMode="auto">
              <a:xfrm>
                <a:off x="477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71" name="Line 130"/>
              <p:cNvSpPr>
                <a:spLocks noChangeShapeType="1"/>
              </p:cNvSpPr>
              <p:nvPr/>
            </p:nvSpPr>
            <p:spPr bwMode="auto">
              <a:xfrm>
                <a:off x="534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72" name="Freeform 131"/>
              <p:cNvSpPr/>
              <p:nvPr/>
            </p:nvSpPr>
            <p:spPr bwMode="auto">
              <a:xfrm>
                <a:off x="933" y="2879"/>
                <a:ext cx="3860" cy="1"/>
              </a:xfrm>
              <a:custGeom>
                <a:avLst/>
                <a:gdLst>
                  <a:gd name="T0" fmla="*/ 0 w 3860"/>
                  <a:gd name="T1" fmla="*/ 1 h 1"/>
                  <a:gd name="T2" fmla="*/ 3860 w 3860"/>
                  <a:gd name="T3" fmla="*/ 0 h 1"/>
                  <a:gd name="T4" fmla="*/ 0 60000 65536"/>
                  <a:gd name="T5" fmla="*/ 0 60000 65536"/>
                  <a:gd name="T6" fmla="*/ 0 w 3860"/>
                  <a:gd name="T7" fmla="*/ 0 h 1"/>
                  <a:gd name="T8" fmla="*/ 3860 w 386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60" h="1">
                    <a:moveTo>
                      <a:pt x="0" y="1"/>
                    </a:moveTo>
                    <a:lnTo>
                      <a:pt x="386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73" name="Freeform 132"/>
              <p:cNvSpPr/>
              <p:nvPr/>
            </p:nvSpPr>
            <p:spPr bwMode="auto">
              <a:xfrm>
                <a:off x="936" y="3209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  <a:gd name="T6" fmla="*/ 0 w 4418"/>
                  <a:gd name="T7" fmla="*/ 0 h 1"/>
                  <a:gd name="T8" fmla="*/ 4418 w 441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74" name="Rectangle 133"/>
              <p:cNvSpPr>
                <a:spLocks noChangeArrowheads="1"/>
              </p:cNvSpPr>
              <p:nvPr/>
            </p:nvSpPr>
            <p:spPr bwMode="auto">
              <a:xfrm>
                <a:off x="1165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4275" name="Text Box 134"/>
              <p:cNvSpPr txBox="1">
                <a:spLocks noChangeArrowheads="1"/>
              </p:cNvSpPr>
              <p:nvPr/>
            </p:nvSpPr>
            <p:spPr bwMode="auto">
              <a:xfrm>
                <a:off x="1196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  <p:sp>
            <p:nvSpPr>
              <p:cNvPr id="134276" name="Freeform 135"/>
              <p:cNvSpPr/>
              <p:nvPr/>
            </p:nvSpPr>
            <p:spPr bwMode="auto">
              <a:xfrm>
                <a:off x="1426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5"/>
                  <a:gd name="T13" fmla="*/ 0 h 1466"/>
                  <a:gd name="T14" fmla="*/ 145 w 145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77" name="Freeform 136"/>
              <p:cNvSpPr/>
              <p:nvPr/>
            </p:nvSpPr>
            <p:spPr bwMode="auto">
              <a:xfrm>
                <a:off x="1637" y="1211"/>
                <a:ext cx="169" cy="1469"/>
              </a:xfrm>
              <a:custGeom>
                <a:avLst/>
                <a:gdLst>
                  <a:gd name="T0" fmla="*/ 169 w 169"/>
                  <a:gd name="T1" fmla="*/ 1468 h 1469"/>
                  <a:gd name="T2" fmla="*/ 0 w 169"/>
                  <a:gd name="T3" fmla="*/ 1469 h 1469"/>
                  <a:gd name="T4" fmla="*/ 1 w 169"/>
                  <a:gd name="T5" fmla="*/ 0 h 1469"/>
                  <a:gd name="T6" fmla="*/ 105 w 16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9"/>
                  <a:gd name="T13" fmla="*/ 0 h 1469"/>
                  <a:gd name="T14" fmla="*/ 169 w 169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9" h="1469">
                    <a:moveTo>
                      <a:pt x="169" y="1468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78" name="Freeform 137"/>
              <p:cNvSpPr/>
              <p:nvPr/>
            </p:nvSpPr>
            <p:spPr bwMode="auto">
              <a:xfrm>
                <a:off x="1991" y="1211"/>
                <a:ext cx="141" cy="1466"/>
              </a:xfrm>
              <a:custGeom>
                <a:avLst/>
                <a:gdLst>
                  <a:gd name="T0" fmla="*/ 38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1"/>
                  <a:gd name="T13" fmla="*/ 0 h 1466"/>
                  <a:gd name="T14" fmla="*/ 141 w 141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1" h="1466">
                    <a:moveTo>
                      <a:pt x="38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79" name="Freeform 138"/>
              <p:cNvSpPr/>
              <p:nvPr/>
            </p:nvSpPr>
            <p:spPr bwMode="auto">
              <a:xfrm>
                <a:off x="2229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6 w 158"/>
                  <a:gd name="T3" fmla="*/ 1467 h 1467"/>
                  <a:gd name="T4" fmla="*/ 0 w 158"/>
                  <a:gd name="T5" fmla="*/ 0 h 1467"/>
                  <a:gd name="T6" fmla="*/ 92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6" y="1467"/>
                    </a:lnTo>
                    <a:lnTo>
                      <a:pt x="0" y="0"/>
                    </a:lnTo>
                    <a:lnTo>
                      <a:pt x="92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80" name="Freeform 139"/>
              <p:cNvSpPr/>
              <p:nvPr/>
            </p:nvSpPr>
            <p:spPr bwMode="auto">
              <a:xfrm>
                <a:off x="2581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4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2"/>
                  <a:gd name="T13" fmla="*/ 0 h 1466"/>
                  <a:gd name="T14" fmla="*/ 142 w 142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4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81" name="Freeform 140"/>
              <p:cNvSpPr/>
              <p:nvPr/>
            </p:nvSpPr>
            <p:spPr bwMode="auto">
              <a:xfrm>
                <a:off x="2805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6 w 158"/>
                  <a:gd name="T3" fmla="*/ 1467 h 1467"/>
                  <a:gd name="T4" fmla="*/ 0 w 158"/>
                  <a:gd name="T5" fmla="*/ 0 h 1467"/>
                  <a:gd name="T6" fmla="*/ 83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6" y="1467"/>
                    </a:lnTo>
                    <a:lnTo>
                      <a:pt x="0" y="0"/>
                    </a:lnTo>
                    <a:lnTo>
                      <a:pt x="83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82" name="Freeform 141"/>
              <p:cNvSpPr/>
              <p:nvPr/>
            </p:nvSpPr>
            <p:spPr bwMode="auto">
              <a:xfrm>
                <a:off x="3154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5"/>
                  <a:gd name="T13" fmla="*/ 0 h 1466"/>
                  <a:gd name="T14" fmla="*/ 145 w 145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83" name="Freeform 142"/>
              <p:cNvSpPr/>
              <p:nvPr/>
            </p:nvSpPr>
            <p:spPr bwMode="auto">
              <a:xfrm>
                <a:off x="3381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6 w 158"/>
                  <a:gd name="T3" fmla="*/ 1467 h 1467"/>
                  <a:gd name="T4" fmla="*/ 0 w 158"/>
                  <a:gd name="T5" fmla="*/ 0 h 1467"/>
                  <a:gd name="T6" fmla="*/ 106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6" y="1467"/>
                    </a:lnTo>
                    <a:lnTo>
                      <a:pt x="0" y="0"/>
                    </a:lnTo>
                    <a:lnTo>
                      <a:pt x="106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84" name="Freeform 143"/>
              <p:cNvSpPr/>
              <p:nvPr/>
            </p:nvSpPr>
            <p:spPr bwMode="auto">
              <a:xfrm>
                <a:off x="3734" y="1211"/>
                <a:ext cx="141" cy="1466"/>
              </a:xfrm>
              <a:custGeom>
                <a:avLst/>
                <a:gdLst>
                  <a:gd name="T0" fmla="*/ 42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1"/>
                  <a:gd name="T13" fmla="*/ 0 h 1466"/>
                  <a:gd name="T14" fmla="*/ 141 w 141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1" h="1466">
                    <a:moveTo>
                      <a:pt x="42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85" name="Freeform 144"/>
              <p:cNvSpPr/>
              <p:nvPr/>
            </p:nvSpPr>
            <p:spPr bwMode="auto">
              <a:xfrm>
                <a:off x="3957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6 w 158"/>
                  <a:gd name="T3" fmla="*/ 1467 h 1467"/>
                  <a:gd name="T4" fmla="*/ 0 w 158"/>
                  <a:gd name="T5" fmla="*/ 0 h 1467"/>
                  <a:gd name="T6" fmla="*/ 109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6" y="1467"/>
                    </a:lnTo>
                    <a:lnTo>
                      <a:pt x="0" y="0"/>
                    </a:lnTo>
                    <a:lnTo>
                      <a:pt x="109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86" name="Freeform 145"/>
              <p:cNvSpPr/>
              <p:nvPr/>
            </p:nvSpPr>
            <p:spPr bwMode="auto">
              <a:xfrm>
                <a:off x="4304" y="1211"/>
                <a:ext cx="147" cy="1466"/>
              </a:xfrm>
              <a:custGeom>
                <a:avLst/>
                <a:gdLst>
                  <a:gd name="T0" fmla="*/ 51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466"/>
                  <a:gd name="T14" fmla="*/ 147 w 147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466">
                    <a:moveTo>
                      <a:pt x="51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87" name="Freeform 146"/>
              <p:cNvSpPr/>
              <p:nvPr/>
            </p:nvSpPr>
            <p:spPr bwMode="auto">
              <a:xfrm>
                <a:off x="4533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0 w 158"/>
                  <a:gd name="T3" fmla="*/ 1467 h 1467"/>
                  <a:gd name="T4" fmla="*/ 0 w 158"/>
                  <a:gd name="T5" fmla="*/ 0 h 1467"/>
                  <a:gd name="T6" fmla="*/ 95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0" y="1467"/>
                    </a:lnTo>
                    <a:lnTo>
                      <a:pt x="0" y="0"/>
                    </a:lnTo>
                    <a:lnTo>
                      <a:pt x="9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88" name="Freeform 147"/>
              <p:cNvSpPr/>
              <p:nvPr/>
            </p:nvSpPr>
            <p:spPr bwMode="auto">
              <a:xfrm>
                <a:off x="4885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2"/>
                  <a:gd name="T13" fmla="*/ 0 h 1466"/>
                  <a:gd name="T14" fmla="*/ 142 w 142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89" name="Freeform 148"/>
              <p:cNvSpPr/>
              <p:nvPr/>
            </p:nvSpPr>
            <p:spPr bwMode="auto">
              <a:xfrm>
                <a:off x="5093" y="1211"/>
                <a:ext cx="159" cy="1469"/>
              </a:xfrm>
              <a:custGeom>
                <a:avLst/>
                <a:gdLst>
                  <a:gd name="T0" fmla="*/ 159 w 159"/>
                  <a:gd name="T1" fmla="*/ 1467 h 1469"/>
                  <a:gd name="T2" fmla="*/ 0 w 159"/>
                  <a:gd name="T3" fmla="*/ 1469 h 1469"/>
                  <a:gd name="T4" fmla="*/ 1 w 159"/>
                  <a:gd name="T5" fmla="*/ 0 h 1469"/>
                  <a:gd name="T6" fmla="*/ 104 w 15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9"/>
                  <a:gd name="T13" fmla="*/ 0 h 1469"/>
                  <a:gd name="T14" fmla="*/ 159 w 159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9" h="1469">
                    <a:moveTo>
                      <a:pt x="159" y="1467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4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90" name="Freeform 149"/>
              <p:cNvSpPr/>
              <p:nvPr/>
            </p:nvSpPr>
            <p:spPr bwMode="auto">
              <a:xfrm>
                <a:off x="5441" y="1211"/>
                <a:ext cx="147" cy="1466"/>
              </a:xfrm>
              <a:custGeom>
                <a:avLst/>
                <a:gdLst>
                  <a:gd name="T0" fmla="*/ 47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466"/>
                  <a:gd name="T14" fmla="*/ 147 w 147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466">
                    <a:moveTo>
                      <a:pt x="47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91" name="Freeform 150"/>
              <p:cNvSpPr/>
              <p:nvPr/>
            </p:nvSpPr>
            <p:spPr bwMode="auto">
              <a:xfrm>
                <a:off x="1079" y="2738"/>
                <a:ext cx="730" cy="660"/>
              </a:xfrm>
              <a:custGeom>
                <a:avLst/>
                <a:gdLst>
                  <a:gd name="T0" fmla="*/ 160 w 730"/>
                  <a:gd name="T1" fmla="*/ 4 h 660"/>
                  <a:gd name="T2" fmla="*/ 0 w 730"/>
                  <a:gd name="T3" fmla="*/ 3 h 660"/>
                  <a:gd name="T4" fmla="*/ 0 w 730"/>
                  <a:gd name="T5" fmla="*/ 660 h 660"/>
                  <a:gd name="T6" fmla="*/ 558 w 730"/>
                  <a:gd name="T7" fmla="*/ 657 h 660"/>
                  <a:gd name="T8" fmla="*/ 558 w 730"/>
                  <a:gd name="T9" fmla="*/ 0 h 660"/>
                  <a:gd name="T10" fmla="*/ 730 w 730"/>
                  <a:gd name="T11" fmla="*/ 1 h 6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30"/>
                  <a:gd name="T19" fmla="*/ 0 h 660"/>
                  <a:gd name="T20" fmla="*/ 730 w 730"/>
                  <a:gd name="T21" fmla="*/ 660 h 66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30" h="660">
                    <a:moveTo>
                      <a:pt x="160" y="4"/>
                    </a:moveTo>
                    <a:lnTo>
                      <a:pt x="0" y="3"/>
                    </a:lnTo>
                    <a:lnTo>
                      <a:pt x="0" y="660"/>
                    </a:lnTo>
                    <a:lnTo>
                      <a:pt x="558" y="657"/>
                    </a:lnTo>
                    <a:lnTo>
                      <a:pt x="558" y="0"/>
                    </a:lnTo>
                    <a:lnTo>
                      <a:pt x="730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92" name="Freeform 151"/>
              <p:cNvSpPr/>
              <p:nvPr/>
            </p:nvSpPr>
            <p:spPr bwMode="auto">
              <a:xfrm>
                <a:off x="2231" y="2744"/>
                <a:ext cx="729" cy="657"/>
              </a:xfrm>
              <a:custGeom>
                <a:avLst/>
                <a:gdLst>
                  <a:gd name="T0" fmla="*/ 153 w 729"/>
                  <a:gd name="T1" fmla="*/ 0 h 657"/>
                  <a:gd name="T2" fmla="*/ 0 w 729"/>
                  <a:gd name="T3" fmla="*/ 0 h 657"/>
                  <a:gd name="T4" fmla="*/ 0 w 729"/>
                  <a:gd name="T5" fmla="*/ 657 h 657"/>
                  <a:gd name="T6" fmla="*/ 585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7"/>
                  <a:gd name="T20" fmla="*/ 729 w 729"/>
                  <a:gd name="T21" fmla="*/ 657 h 6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7">
                    <a:moveTo>
                      <a:pt x="153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85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93" name="Freeform 152"/>
              <p:cNvSpPr/>
              <p:nvPr/>
            </p:nvSpPr>
            <p:spPr bwMode="auto">
              <a:xfrm>
                <a:off x="3380" y="2744"/>
                <a:ext cx="729" cy="657"/>
              </a:xfrm>
              <a:custGeom>
                <a:avLst/>
                <a:gdLst>
                  <a:gd name="T0" fmla="*/ 158 w 729"/>
                  <a:gd name="T1" fmla="*/ 0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7"/>
                  <a:gd name="T20" fmla="*/ 729 w 729"/>
                  <a:gd name="T21" fmla="*/ 657 h 6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7">
                    <a:moveTo>
                      <a:pt x="158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94" name="Freeform 153"/>
              <p:cNvSpPr/>
              <p:nvPr/>
            </p:nvSpPr>
            <p:spPr bwMode="auto">
              <a:xfrm>
                <a:off x="4532" y="2744"/>
                <a:ext cx="729" cy="657"/>
              </a:xfrm>
              <a:custGeom>
                <a:avLst/>
                <a:gdLst>
                  <a:gd name="T0" fmla="*/ 161 w 729"/>
                  <a:gd name="T1" fmla="*/ 2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7"/>
                  <a:gd name="T20" fmla="*/ 729 w 729"/>
                  <a:gd name="T21" fmla="*/ 657 h 6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7">
                    <a:moveTo>
                      <a:pt x="161" y="2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95" name="Freeform 154"/>
              <p:cNvSpPr/>
              <p:nvPr/>
            </p:nvSpPr>
            <p:spPr bwMode="auto">
              <a:xfrm>
                <a:off x="1424" y="2735"/>
                <a:ext cx="708" cy="570"/>
              </a:xfrm>
              <a:custGeom>
                <a:avLst/>
                <a:gdLst>
                  <a:gd name="T0" fmla="*/ 0 w 708"/>
                  <a:gd name="T1" fmla="*/ 0 h 570"/>
                  <a:gd name="T2" fmla="*/ 132 w 708"/>
                  <a:gd name="T3" fmla="*/ 0 h 570"/>
                  <a:gd name="T4" fmla="*/ 129 w 708"/>
                  <a:gd name="T5" fmla="*/ 570 h 570"/>
                  <a:gd name="T6" fmla="*/ 708 w 708"/>
                  <a:gd name="T7" fmla="*/ 570 h 570"/>
                  <a:gd name="T8" fmla="*/ 708 w 708"/>
                  <a:gd name="T9" fmla="*/ 9 h 570"/>
                  <a:gd name="T10" fmla="*/ 573 w 708"/>
                  <a:gd name="T11" fmla="*/ 9 h 5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08"/>
                  <a:gd name="T19" fmla="*/ 0 h 570"/>
                  <a:gd name="T20" fmla="*/ 708 w 708"/>
                  <a:gd name="T21" fmla="*/ 570 h 57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08" h="570">
                    <a:moveTo>
                      <a:pt x="0" y="0"/>
                    </a:moveTo>
                    <a:lnTo>
                      <a:pt x="132" y="0"/>
                    </a:lnTo>
                    <a:lnTo>
                      <a:pt x="129" y="570"/>
                    </a:lnTo>
                    <a:lnTo>
                      <a:pt x="708" y="570"/>
                    </a:lnTo>
                    <a:lnTo>
                      <a:pt x="708" y="9"/>
                    </a:lnTo>
                    <a:lnTo>
                      <a:pt x="573" y="9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96" name="Freeform 155"/>
              <p:cNvSpPr/>
              <p:nvPr/>
            </p:nvSpPr>
            <p:spPr bwMode="auto">
              <a:xfrm>
                <a:off x="2576" y="2735"/>
                <a:ext cx="726" cy="567"/>
              </a:xfrm>
              <a:custGeom>
                <a:avLst/>
                <a:gdLst>
                  <a:gd name="T0" fmla="*/ 0 w 726"/>
                  <a:gd name="T1" fmla="*/ 0 h 567"/>
                  <a:gd name="T2" fmla="*/ 144 w 726"/>
                  <a:gd name="T3" fmla="*/ 0 h 567"/>
                  <a:gd name="T4" fmla="*/ 147 w 726"/>
                  <a:gd name="T5" fmla="*/ 567 h 567"/>
                  <a:gd name="T6" fmla="*/ 726 w 726"/>
                  <a:gd name="T7" fmla="*/ 567 h 567"/>
                  <a:gd name="T8" fmla="*/ 726 w 726"/>
                  <a:gd name="T9" fmla="*/ 6 h 567"/>
                  <a:gd name="T10" fmla="*/ 579 w 726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6"/>
                  <a:gd name="T19" fmla="*/ 0 h 567"/>
                  <a:gd name="T20" fmla="*/ 726 w 726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6" h="567">
                    <a:moveTo>
                      <a:pt x="0" y="0"/>
                    </a:moveTo>
                    <a:lnTo>
                      <a:pt x="144" y="0"/>
                    </a:lnTo>
                    <a:lnTo>
                      <a:pt x="147" y="567"/>
                    </a:lnTo>
                    <a:lnTo>
                      <a:pt x="726" y="567"/>
                    </a:lnTo>
                    <a:lnTo>
                      <a:pt x="726" y="6"/>
                    </a:lnTo>
                    <a:lnTo>
                      <a:pt x="579" y="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97" name="Freeform 156"/>
              <p:cNvSpPr/>
              <p:nvPr/>
            </p:nvSpPr>
            <p:spPr bwMode="auto">
              <a:xfrm>
                <a:off x="3728" y="2738"/>
                <a:ext cx="714" cy="567"/>
              </a:xfrm>
              <a:custGeom>
                <a:avLst/>
                <a:gdLst>
                  <a:gd name="T0" fmla="*/ 0 w 714"/>
                  <a:gd name="T1" fmla="*/ 0 h 567"/>
                  <a:gd name="T2" fmla="*/ 136 w 714"/>
                  <a:gd name="T3" fmla="*/ 1 h 567"/>
                  <a:gd name="T4" fmla="*/ 135 w 714"/>
                  <a:gd name="T5" fmla="*/ 567 h 567"/>
                  <a:gd name="T6" fmla="*/ 714 w 714"/>
                  <a:gd name="T7" fmla="*/ 567 h 567"/>
                  <a:gd name="T8" fmla="*/ 714 w 714"/>
                  <a:gd name="T9" fmla="*/ 6 h 567"/>
                  <a:gd name="T10" fmla="*/ 576 w 714"/>
                  <a:gd name="T11" fmla="*/ 5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14"/>
                  <a:gd name="T19" fmla="*/ 0 h 567"/>
                  <a:gd name="T20" fmla="*/ 714 w 714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14" h="567">
                    <a:moveTo>
                      <a:pt x="0" y="0"/>
                    </a:moveTo>
                    <a:lnTo>
                      <a:pt x="136" y="1"/>
                    </a:lnTo>
                    <a:lnTo>
                      <a:pt x="135" y="567"/>
                    </a:lnTo>
                    <a:lnTo>
                      <a:pt x="714" y="567"/>
                    </a:lnTo>
                    <a:lnTo>
                      <a:pt x="714" y="6"/>
                    </a:lnTo>
                    <a:lnTo>
                      <a:pt x="576" y="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98" name="Freeform 157"/>
              <p:cNvSpPr/>
              <p:nvPr/>
            </p:nvSpPr>
            <p:spPr bwMode="auto">
              <a:xfrm>
                <a:off x="4883" y="2738"/>
                <a:ext cx="711" cy="567"/>
              </a:xfrm>
              <a:custGeom>
                <a:avLst/>
                <a:gdLst>
                  <a:gd name="T0" fmla="*/ 0 w 711"/>
                  <a:gd name="T1" fmla="*/ 0 h 567"/>
                  <a:gd name="T2" fmla="*/ 136 w 711"/>
                  <a:gd name="T3" fmla="*/ 1 h 567"/>
                  <a:gd name="T4" fmla="*/ 132 w 711"/>
                  <a:gd name="T5" fmla="*/ 567 h 567"/>
                  <a:gd name="T6" fmla="*/ 711 w 711"/>
                  <a:gd name="T7" fmla="*/ 567 h 567"/>
                  <a:gd name="T8" fmla="*/ 711 w 711"/>
                  <a:gd name="T9" fmla="*/ 6 h 567"/>
                  <a:gd name="T10" fmla="*/ 564 w 711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11"/>
                  <a:gd name="T19" fmla="*/ 0 h 567"/>
                  <a:gd name="T20" fmla="*/ 711 w 711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11" h="567">
                    <a:moveTo>
                      <a:pt x="0" y="0"/>
                    </a:moveTo>
                    <a:lnTo>
                      <a:pt x="136" y="1"/>
                    </a:lnTo>
                    <a:lnTo>
                      <a:pt x="132" y="567"/>
                    </a:lnTo>
                    <a:lnTo>
                      <a:pt x="711" y="567"/>
                    </a:lnTo>
                    <a:lnTo>
                      <a:pt x="711" y="6"/>
                    </a:lnTo>
                    <a:lnTo>
                      <a:pt x="564" y="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299" name="Freeform 158"/>
              <p:cNvSpPr/>
              <p:nvPr/>
            </p:nvSpPr>
            <p:spPr bwMode="auto">
              <a:xfrm>
                <a:off x="1346" y="3398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00" name="Freeform 159"/>
              <p:cNvSpPr/>
              <p:nvPr/>
            </p:nvSpPr>
            <p:spPr bwMode="auto">
              <a:xfrm>
                <a:off x="2515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01" name="Freeform 160"/>
              <p:cNvSpPr/>
              <p:nvPr/>
            </p:nvSpPr>
            <p:spPr bwMode="auto">
              <a:xfrm>
                <a:off x="3667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02" name="Freeform 161"/>
              <p:cNvSpPr/>
              <p:nvPr/>
            </p:nvSpPr>
            <p:spPr bwMode="auto">
              <a:xfrm>
                <a:off x="4819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03" name="Freeform 162"/>
              <p:cNvSpPr/>
              <p:nvPr/>
            </p:nvSpPr>
            <p:spPr bwMode="auto">
              <a:xfrm>
                <a:off x="5300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04" name="Freeform 163"/>
              <p:cNvSpPr/>
              <p:nvPr/>
            </p:nvSpPr>
            <p:spPr bwMode="auto">
              <a:xfrm>
                <a:off x="4148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05" name="Freeform 164"/>
              <p:cNvSpPr/>
              <p:nvPr/>
            </p:nvSpPr>
            <p:spPr bwMode="auto">
              <a:xfrm>
                <a:off x="2996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06" name="Freeform 165"/>
              <p:cNvSpPr/>
              <p:nvPr/>
            </p:nvSpPr>
            <p:spPr bwMode="auto">
              <a:xfrm>
                <a:off x="1843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07" name="Freeform 166"/>
              <p:cNvSpPr/>
              <p:nvPr/>
            </p:nvSpPr>
            <p:spPr bwMode="auto">
              <a:xfrm>
                <a:off x="980" y="4025"/>
                <a:ext cx="4317" cy="1"/>
              </a:xfrm>
              <a:custGeom>
                <a:avLst/>
                <a:gdLst>
                  <a:gd name="T0" fmla="*/ 0 w 4317"/>
                  <a:gd name="T1" fmla="*/ 0 h 1"/>
                  <a:gd name="T2" fmla="*/ 4317 w 4317"/>
                  <a:gd name="T3" fmla="*/ 0 h 1"/>
                  <a:gd name="T4" fmla="*/ 0 60000 65536"/>
                  <a:gd name="T5" fmla="*/ 0 60000 65536"/>
                  <a:gd name="T6" fmla="*/ 0 w 4317"/>
                  <a:gd name="T7" fmla="*/ 0 h 1"/>
                  <a:gd name="T8" fmla="*/ 4317 w 431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317" h="1">
                    <a:moveTo>
                      <a:pt x="0" y="0"/>
                    </a:moveTo>
                    <a:lnTo>
                      <a:pt x="431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08" name="Freeform 167"/>
              <p:cNvSpPr/>
              <p:nvPr/>
            </p:nvSpPr>
            <p:spPr bwMode="auto">
              <a:xfrm>
                <a:off x="980" y="4121"/>
                <a:ext cx="3837" cy="1"/>
              </a:xfrm>
              <a:custGeom>
                <a:avLst/>
                <a:gdLst>
                  <a:gd name="T0" fmla="*/ 0 w 3837"/>
                  <a:gd name="T1" fmla="*/ 0 h 1"/>
                  <a:gd name="T2" fmla="*/ 3837 w 3837"/>
                  <a:gd name="T3" fmla="*/ 0 h 1"/>
                  <a:gd name="T4" fmla="*/ 0 60000 65536"/>
                  <a:gd name="T5" fmla="*/ 0 60000 65536"/>
                  <a:gd name="T6" fmla="*/ 0 w 3837"/>
                  <a:gd name="T7" fmla="*/ 0 h 1"/>
                  <a:gd name="T8" fmla="*/ 3837 w 383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37" h="1">
                    <a:moveTo>
                      <a:pt x="0" y="0"/>
                    </a:moveTo>
                    <a:lnTo>
                      <a:pt x="383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09" name="Freeform 168"/>
              <p:cNvSpPr/>
              <p:nvPr/>
            </p:nvSpPr>
            <p:spPr bwMode="auto">
              <a:xfrm>
                <a:off x="1346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10" name="Freeform 169"/>
              <p:cNvSpPr/>
              <p:nvPr/>
            </p:nvSpPr>
            <p:spPr bwMode="auto">
              <a:xfrm>
                <a:off x="2515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11" name="Freeform 170"/>
              <p:cNvSpPr/>
              <p:nvPr/>
            </p:nvSpPr>
            <p:spPr bwMode="auto">
              <a:xfrm>
                <a:off x="3667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12" name="Freeform 171"/>
              <p:cNvSpPr/>
              <p:nvPr/>
            </p:nvSpPr>
            <p:spPr bwMode="auto">
              <a:xfrm>
                <a:off x="4815" y="3881"/>
                <a:ext cx="4" cy="247"/>
              </a:xfrm>
              <a:custGeom>
                <a:avLst/>
                <a:gdLst>
                  <a:gd name="T0" fmla="*/ 4 w 4"/>
                  <a:gd name="T1" fmla="*/ 0 h 247"/>
                  <a:gd name="T2" fmla="*/ 0 w 4"/>
                  <a:gd name="T3" fmla="*/ 247 h 247"/>
                  <a:gd name="T4" fmla="*/ 0 60000 65536"/>
                  <a:gd name="T5" fmla="*/ 0 60000 65536"/>
                  <a:gd name="T6" fmla="*/ 0 w 4"/>
                  <a:gd name="T7" fmla="*/ 0 h 247"/>
                  <a:gd name="T8" fmla="*/ 4 w 4"/>
                  <a:gd name="T9" fmla="*/ 247 h 24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47">
                    <a:moveTo>
                      <a:pt x="4" y="0"/>
                    </a:moveTo>
                    <a:lnTo>
                      <a:pt x="0" y="247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13" name="Freeform 172"/>
              <p:cNvSpPr/>
              <p:nvPr/>
            </p:nvSpPr>
            <p:spPr bwMode="auto">
              <a:xfrm>
                <a:off x="5301" y="3881"/>
                <a:ext cx="1" cy="151"/>
              </a:xfrm>
              <a:custGeom>
                <a:avLst/>
                <a:gdLst>
                  <a:gd name="T0" fmla="*/ 0 w 1"/>
                  <a:gd name="T1" fmla="*/ 0 h 151"/>
                  <a:gd name="T2" fmla="*/ 0 w 1"/>
                  <a:gd name="T3" fmla="*/ 151 h 151"/>
                  <a:gd name="T4" fmla="*/ 0 60000 65536"/>
                  <a:gd name="T5" fmla="*/ 0 60000 65536"/>
                  <a:gd name="T6" fmla="*/ 0 w 1"/>
                  <a:gd name="T7" fmla="*/ 0 h 151"/>
                  <a:gd name="T8" fmla="*/ 1 w 1"/>
                  <a:gd name="T9" fmla="*/ 151 h 15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1">
                    <a:moveTo>
                      <a:pt x="0" y="0"/>
                    </a:moveTo>
                    <a:lnTo>
                      <a:pt x="0" y="15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14" name="Line 173"/>
              <p:cNvSpPr>
                <a:spLocks noChangeShapeType="1"/>
              </p:cNvSpPr>
              <p:nvPr/>
            </p:nvSpPr>
            <p:spPr bwMode="auto">
              <a:xfrm>
                <a:off x="4148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15" name="Line 174"/>
              <p:cNvSpPr>
                <a:spLocks noChangeShapeType="1"/>
              </p:cNvSpPr>
              <p:nvPr/>
            </p:nvSpPr>
            <p:spPr bwMode="auto">
              <a:xfrm>
                <a:off x="2997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16" name="Line 175"/>
              <p:cNvSpPr>
                <a:spLocks noChangeShapeType="1"/>
              </p:cNvSpPr>
              <p:nvPr/>
            </p:nvSpPr>
            <p:spPr bwMode="auto">
              <a:xfrm>
                <a:off x="1844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17" name="Rectangle 176"/>
              <p:cNvSpPr>
                <a:spLocks noChangeArrowheads="1"/>
              </p:cNvSpPr>
              <p:nvPr/>
            </p:nvSpPr>
            <p:spPr bwMode="auto">
              <a:xfrm>
                <a:off x="234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4318" name="Text Box 177"/>
              <p:cNvSpPr txBox="1">
                <a:spLocks noChangeArrowheads="1"/>
              </p:cNvSpPr>
              <p:nvPr/>
            </p:nvSpPr>
            <p:spPr bwMode="auto">
              <a:xfrm>
                <a:off x="2372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  <p:sp>
            <p:nvSpPr>
              <p:cNvPr id="134319" name="Rectangle 178"/>
              <p:cNvSpPr>
                <a:spLocks noChangeArrowheads="1"/>
              </p:cNvSpPr>
              <p:nvPr/>
            </p:nvSpPr>
            <p:spPr bwMode="auto">
              <a:xfrm>
                <a:off x="3493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4320" name="Text Box 179"/>
              <p:cNvSpPr txBox="1">
                <a:spLocks noChangeArrowheads="1"/>
              </p:cNvSpPr>
              <p:nvPr/>
            </p:nvSpPr>
            <p:spPr bwMode="auto">
              <a:xfrm>
                <a:off x="3524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  <p:sp>
            <p:nvSpPr>
              <p:cNvPr id="134321" name="Rectangle 180"/>
              <p:cNvSpPr>
                <a:spLocks noChangeArrowheads="1"/>
              </p:cNvSpPr>
              <p:nvPr/>
            </p:nvSpPr>
            <p:spPr bwMode="auto">
              <a:xfrm>
                <a:off x="4645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4322" name="Text Box 181"/>
              <p:cNvSpPr txBox="1">
                <a:spLocks noChangeArrowheads="1"/>
              </p:cNvSpPr>
              <p:nvPr/>
            </p:nvSpPr>
            <p:spPr bwMode="auto">
              <a:xfrm>
                <a:off x="4676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  <p:sp>
            <p:nvSpPr>
              <p:cNvPr id="134323" name="Line 182"/>
              <p:cNvSpPr>
                <a:spLocks noChangeShapeType="1"/>
              </p:cNvSpPr>
              <p:nvPr/>
            </p:nvSpPr>
            <p:spPr bwMode="auto">
              <a:xfrm>
                <a:off x="1988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24" name="Line 183"/>
              <p:cNvSpPr>
                <a:spLocks noChangeShapeType="1"/>
              </p:cNvSpPr>
              <p:nvPr/>
            </p:nvSpPr>
            <p:spPr bwMode="auto">
              <a:xfrm>
                <a:off x="3168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25" name="Line 184"/>
              <p:cNvSpPr>
                <a:spLocks noChangeShapeType="1"/>
              </p:cNvSpPr>
              <p:nvPr/>
            </p:nvSpPr>
            <p:spPr bwMode="auto">
              <a:xfrm>
                <a:off x="4317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26" name="Line 185"/>
              <p:cNvSpPr>
                <a:spLocks noChangeShapeType="1"/>
              </p:cNvSpPr>
              <p:nvPr/>
            </p:nvSpPr>
            <p:spPr bwMode="auto">
              <a:xfrm>
                <a:off x="54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27" name="Freeform 186"/>
              <p:cNvSpPr/>
              <p:nvPr/>
            </p:nvSpPr>
            <p:spPr bwMode="auto">
              <a:xfrm>
                <a:off x="3057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7711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28" name="Freeform 187"/>
              <p:cNvSpPr/>
              <p:nvPr/>
            </p:nvSpPr>
            <p:spPr bwMode="auto">
              <a:xfrm>
                <a:off x="4209" y="2691"/>
                <a:ext cx="3" cy="522"/>
              </a:xfrm>
              <a:custGeom>
                <a:avLst/>
                <a:gdLst>
                  <a:gd name="T0" fmla="*/ 0 w 3"/>
                  <a:gd name="T1" fmla="*/ 0 h 522"/>
                  <a:gd name="T2" fmla="*/ 3 w 3"/>
                  <a:gd name="T3" fmla="*/ 522 h 522"/>
                  <a:gd name="T4" fmla="*/ 0 60000 65536"/>
                  <a:gd name="T5" fmla="*/ 0 60000 65536"/>
                  <a:gd name="T6" fmla="*/ 0 w 3"/>
                  <a:gd name="T7" fmla="*/ 0 h 522"/>
                  <a:gd name="T8" fmla="*/ 3 w 3"/>
                  <a:gd name="T9" fmla="*/ 522 h 52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522">
                    <a:moveTo>
                      <a:pt x="0" y="0"/>
                    </a:moveTo>
                    <a:lnTo>
                      <a:pt x="3" y="52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29" name="Freeform 188"/>
              <p:cNvSpPr/>
              <p:nvPr/>
            </p:nvSpPr>
            <p:spPr bwMode="auto">
              <a:xfrm>
                <a:off x="5349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7711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30" name="Text Box 189"/>
              <p:cNvSpPr txBox="1">
                <a:spLocks noChangeArrowheads="1"/>
              </p:cNvSpPr>
              <p:nvPr/>
            </p:nvSpPr>
            <p:spPr bwMode="auto">
              <a:xfrm rot="5400000">
                <a:off x="1217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4331" name="Text Box 190"/>
              <p:cNvSpPr txBox="1">
                <a:spLocks noChangeArrowheads="1"/>
              </p:cNvSpPr>
              <p:nvPr/>
            </p:nvSpPr>
            <p:spPr bwMode="auto">
              <a:xfrm rot="5400000">
                <a:off x="1793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4332" name="Text Box 191"/>
              <p:cNvSpPr txBox="1">
                <a:spLocks noChangeArrowheads="1"/>
              </p:cNvSpPr>
              <p:nvPr/>
            </p:nvSpPr>
            <p:spPr bwMode="auto">
              <a:xfrm rot="5400000">
                <a:off x="2369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4333" name="Text Box 192"/>
              <p:cNvSpPr txBox="1">
                <a:spLocks noChangeArrowheads="1"/>
              </p:cNvSpPr>
              <p:nvPr/>
            </p:nvSpPr>
            <p:spPr bwMode="auto">
              <a:xfrm rot="5400000">
                <a:off x="2945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4334" name="Text Box 193"/>
              <p:cNvSpPr txBox="1">
                <a:spLocks noChangeArrowheads="1"/>
              </p:cNvSpPr>
              <p:nvPr/>
            </p:nvSpPr>
            <p:spPr bwMode="auto">
              <a:xfrm rot="5400000">
                <a:off x="3520" y="1627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4335" name="Text Box 194"/>
              <p:cNvSpPr txBox="1">
                <a:spLocks noChangeArrowheads="1"/>
              </p:cNvSpPr>
              <p:nvPr/>
            </p:nvSpPr>
            <p:spPr bwMode="auto">
              <a:xfrm rot="5400000">
                <a:off x="4097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4336" name="Text Box 195"/>
              <p:cNvSpPr txBox="1">
                <a:spLocks noChangeArrowheads="1"/>
              </p:cNvSpPr>
              <p:nvPr/>
            </p:nvSpPr>
            <p:spPr bwMode="auto">
              <a:xfrm rot="5400000">
                <a:off x="4673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4337" name="Text Box 196"/>
              <p:cNvSpPr txBox="1">
                <a:spLocks noChangeArrowheads="1"/>
              </p:cNvSpPr>
              <p:nvPr/>
            </p:nvSpPr>
            <p:spPr bwMode="auto">
              <a:xfrm rot="5400000">
                <a:off x="5268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4338" name="Text Box 197"/>
              <p:cNvSpPr txBox="1">
                <a:spLocks noChangeArrowheads="1"/>
              </p:cNvSpPr>
              <p:nvPr/>
            </p:nvSpPr>
            <p:spPr bwMode="auto">
              <a:xfrm>
                <a:off x="684" y="791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34339" name="Text Box 198"/>
              <p:cNvSpPr txBox="1">
                <a:spLocks noChangeArrowheads="1"/>
              </p:cNvSpPr>
              <p:nvPr/>
            </p:nvSpPr>
            <p:spPr bwMode="auto">
              <a:xfrm>
                <a:off x="684" y="1383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34340" name="Text Box 199"/>
              <p:cNvSpPr txBox="1">
                <a:spLocks noChangeArrowheads="1"/>
              </p:cNvSpPr>
              <p:nvPr/>
            </p:nvSpPr>
            <p:spPr bwMode="auto">
              <a:xfrm>
                <a:off x="648" y="19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63</a:t>
                </a:r>
              </a:p>
            </p:txBody>
          </p:sp>
          <p:sp>
            <p:nvSpPr>
              <p:cNvPr id="134341" name="Line 200"/>
              <p:cNvSpPr>
                <a:spLocks noChangeShapeType="1"/>
              </p:cNvSpPr>
              <p:nvPr/>
            </p:nvSpPr>
            <p:spPr bwMode="auto">
              <a:xfrm>
                <a:off x="356" y="2537"/>
                <a:ext cx="57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42" name="Text Box 201"/>
              <p:cNvSpPr txBox="1">
                <a:spLocks noChangeArrowheads="1"/>
              </p:cNvSpPr>
              <p:nvPr/>
            </p:nvSpPr>
            <p:spPr bwMode="auto">
              <a:xfrm>
                <a:off x="684" y="2727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34343" name="Text Box 202"/>
              <p:cNvSpPr txBox="1">
                <a:spLocks noChangeArrowheads="1"/>
              </p:cNvSpPr>
              <p:nvPr/>
            </p:nvSpPr>
            <p:spPr bwMode="auto">
              <a:xfrm>
                <a:off x="648" y="31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34344" name="Text Box 203"/>
              <p:cNvSpPr txBox="1">
                <a:spLocks noChangeArrowheads="1"/>
              </p:cNvSpPr>
              <p:nvPr/>
            </p:nvSpPr>
            <p:spPr bwMode="auto">
              <a:xfrm rot="5400000">
                <a:off x="689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4345" name="Text Box 204"/>
              <p:cNvSpPr txBox="1">
                <a:spLocks noChangeArrowheads="1"/>
              </p:cNvSpPr>
              <p:nvPr/>
            </p:nvSpPr>
            <p:spPr bwMode="auto">
              <a:xfrm rot="5400000">
                <a:off x="689" y="2876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4346" name="Text Box 205"/>
              <p:cNvSpPr txBox="1">
                <a:spLocks noChangeArrowheads="1"/>
              </p:cNvSpPr>
              <p:nvPr/>
            </p:nvSpPr>
            <p:spPr bwMode="auto">
              <a:xfrm>
                <a:off x="372" y="101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行</a:t>
                </a:r>
              </a:p>
            </p:txBody>
          </p:sp>
          <p:sp>
            <p:nvSpPr>
              <p:cNvPr id="134347" name="Text Box 206"/>
              <p:cNvSpPr txBox="1">
                <a:spLocks noChangeArrowheads="1"/>
              </p:cNvSpPr>
              <p:nvPr/>
            </p:nvSpPr>
            <p:spPr bwMode="auto">
              <a:xfrm>
                <a:off x="372" y="126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地</a:t>
                </a:r>
              </a:p>
            </p:txBody>
          </p:sp>
          <p:sp>
            <p:nvSpPr>
              <p:cNvPr id="134348" name="Text Box 207"/>
              <p:cNvSpPr txBox="1">
                <a:spLocks noChangeArrowheads="1"/>
              </p:cNvSpPr>
              <p:nvPr/>
            </p:nvSpPr>
            <p:spPr bwMode="auto">
              <a:xfrm>
                <a:off x="372" y="151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址</a:t>
                </a:r>
              </a:p>
            </p:txBody>
          </p:sp>
          <p:sp>
            <p:nvSpPr>
              <p:cNvPr id="134349" name="Text Box 208"/>
              <p:cNvSpPr txBox="1">
                <a:spLocks noChangeArrowheads="1"/>
              </p:cNvSpPr>
              <p:nvPr/>
            </p:nvSpPr>
            <p:spPr bwMode="auto">
              <a:xfrm>
                <a:off x="372" y="175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译</a:t>
                </a:r>
              </a:p>
            </p:txBody>
          </p:sp>
          <p:sp>
            <p:nvSpPr>
              <p:cNvPr id="134350" name="Text Box 209"/>
              <p:cNvSpPr txBox="1">
                <a:spLocks noChangeArrowheads="1"/>
              </p:cNvSpPr>
              <p:nvPr/>
            </p:nvSpPr>
            <p:spPr bwMode="auto">
              <a:xfrm>
                <a:off x="372" y="200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码</a:t>
                </a:r>
              </a:p>
            </p:txBody>
          </p:sp>
          <p:sp>
            <p:nvSpPr>
              <p:cNvPr id="134351" name="Text Box 210"/>
              <p:cNvSpPr txBox="1">
                <a:spLocks noChangeArrowheads="1"/>
              </p:cNvSpPr>
              <p:nvPr/>
            </p:nvSpPr>
            <p:spPr bwMode="auto">
              <a:xfrm>
                <a:off x="399" y="263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列</a:t>
                </a:r>
              </a:p>
            </p:txBody>
          </p:sp>
          <p:sp>
            <p:nvSpPr>
              <p:cNvPr id="134352" name="Text Box 211"/>
              <p:cNvSpPr txBox="1">
                <a:spLocks noChangeArrowheads="1"/>
              </p:cNvSpPr>
              <p:nvPr/>
            </p:nvSpPr>
            <p:spPr bwMode="auto">
              <a:xfrm>
                <a:off x="399" y="288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地</a:t>
                </a:r>
              </a:p>
            </p:txBody>
          </p:sp>
          <p:sp>
            <p:nvSpPr>
              <p:cNvPr id="134353" name="Text Box 212"/>
              <p:cNvSpPr txBox="1">
                <a:spLocks noChangeArrowheads="1"/>
              </p:cNvSpPr>
              <p:nvPr/>
            </p:nvSpPr>
            <p:spPr bwMode="auto">
              <a:xfrm>
                <a:off x="399" y="313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址</a:t>
                </a:r>
              </a:p>
            </p:txBody>
          </p:sp>
          <p:sp>
            <p:nvSpPr>
              <p:cNvPr id="134354" name="Text Box 213"/>
              <p:cNvSpPr txBox="1">
                <a:spLocks noChangeArrowheads="1"/>
              </p:cNvSpPr>
              <p:nvPr/>
            </p:nvSpPr>
            <p:spPr bwMode="auto">
              <a:xfrm>
                <a:off x="399" y="337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译</a:t>
                </a:r>
              </a:p>
            </p:txBody>
          </p:sp>
          <p:sp>
            <p:nvSpPr>
              <p:cNvPr id="134355" name="Text Box 214"/>
              <p:cNvSpPr txBox="1">
                <a:spLocks noChangeArrowheads="1"/>
              </p:cNvSpPr>
              <p:nvPr/>
            </p:nvSpPr>
            <p:spPr bwMode="auto">
              <a:xfrm>
                <a:off x="399" y="362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码</a:t>
                </a:r>
              </a:p>
            </p:txBody>
          </p:sp>
          <p:sp>
            <p:nvSpPr>
              <p:cNvPr id="134356" name="Text Box 215"/>
              <p:cNvSpPr txBox="1">
                <a:spLocks noChangeArrowheads="1"/>
              </p:cNvSpPr>
              <p:nvPr/>
            </p:nvSpPr>
            <p:spPr bwMode="auto">
              <a:xfrm>
                <a:off x="1968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34357" name="Text Box 216"/>
              <p:cNvSpPr txBox="1">
                <a:spLocks noChangeArrowheads="1"/>
              </p:cNvSpPr>
              <p:nvPr/>
            </p:nvSpPr>
            <p:spPr bwMode="auto">
              <a:xfrm>
                <a:off x="3128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2</a:t>
                </a:r>
              </a:p>
            </p:txBody>
          </p:sp>
          <p:sp>
            <p:nvSpPr>
              <p:cNvPr id="134358" name="Text Box 217"/>
              <p:cNvSpPr txBox="1">
                <a:spLocks noChangeArrowheads="1"/>
              </p:cNvSpPr>
              <p:nvPr/>
            </p:nvSpPr>
            <p:spPr bwMode="auto">
              <a:xfrm>
                <a:off x="4280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3</a:t>
                </a:r>
              </a:p>
            </p:txBody>
          </p:sp>
          <p:sp>
            <p:nvSpPr>
              <p:cNvPr id="134359" name="Text Box 218"/>
              <p:cNvSpPr txBox="1">
                <a:spLocks noChangeArrowheads="1"/>
              </p:cNvSpPr>
              <p:nvPr/>
            </p:nvSpPr>
            <p:spPr bwMode="auto">
              <a:xfrm>
                <a:off x="5438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sp>
            <p:nvSpPr>
              <p:cNvPr id="134360" name="Line 219"/>
              <p:cNvSpPr>
                <a:spLocks noChangeShapeType="1"/>
              </p:cNvSpPr>
              <p:nvPr/>
            </p:nvSpPr>
            <p:spPr bwMode="auto">
              <a:xfrm>
                <a:off x="164" y="905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61" name="Line 220"/>
              <p:cNvSpPr>
                <a:spLocks noChangeShapeType="1"/>
              </p:cNvSpPr>
              <p:nvPr/>
            </p:nvSpPr>
            <p:spPr bwMode="auto">
              <a:xfrm>
                <a:off x="164" y="116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62" name="Line 221"/>
              <p:cNvSpPr>
                <a:spLocks noChangeShapeType="1"/>
              </p:cNvSpPr>
              <p:nvPr/>
            </p:nvSpPr>
            <p:spPr bwMode="auto">
              <a:xfrm>
                <a:off x="164" y="142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63" name="Line 222"/>
              <p:cNvSpPr>
                <a:spLocks noChangeShapeType="1"/>
              </p:cNvSpPr>
              <p:nvPr/>
            </p:nvSpPr>
            <p:spPr bwMode="auto">
              <a:xfrm>
                <a:off x="164" y="168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64" name="Line 223"/>
              <p:cNvSpPr>
                <a:spLocks noChangeShapeType="1"/>
              </p:cNvSpPr>
              <p:nvPr/>
            </p:nvSpPr>
            <p:spPr bwMode="auto">
              <a:xfrm>
                <a:off x="164" y="194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65" name="Line 224"/>
              <p:cNvSpPr>
                <a:spLocks noChangeShapeType="1"/>
              </p:cNvSpPr>
              <p:nvPr/>
            </p:nvSpPr>
            <p:spPr bwMode="auto">
              <a:xfrm>
                <a:off x="164" y="220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66" name="Line 225"/>
              <p:cNvSpPr>
                <a:spLocks noChangeShapeType="1"/>
              </p:cNvSpPr>
              <p:nvPr/>
            </p:nvSpPr>
            <p:spPr bwMode="auto">
              <a:xfrm>
                <a:off x="164" y="287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67" name="Line 226"/>
              <p:cNvSpPr>
                <a:spLocks noChangeShapeType="1"/>
              </p:cNvSpPr>
              <p:nvPr/>
            </p:nvSpPr>
            <p:spPr bwMode="auto">
              <a:xfrm>
                <a:off x="164" y="313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68" name="Line 227"/>
              <p:cNvSpPr>
                <a:spLocks noChangeShapeType="1"/>
              </p:cNvSpPr>
              <p:nvPr/>
            </p:nvSpPr>
            <p:spPr bwMode="auto">
              <a:xfrm>
                <a:off x="164" y="339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69" name="Line 228"/>
              <p:cNvSpPr>
                <a:spLocks noChangeShapeType="1"/>
              </p:cNvSpPr>
              <p:nvPr/>
            </p:nvSpPr>
            <p:spPr bwMode="auto">
              <a:xfrm>
                <a:off x="164" y="365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70" name="Text Box 229"/>
              <p:cNvSpPr txBox="1">
                <a:spLocks noChangeArrowheads="1"/>
              </p:cNvSpPr>
              <p:nvPr/>
            </p:nvSpPr>
            <p:spPr bwMode="auto">
              <a:xfrm>
                <a:off x="672" y="3890"/>
                <a:ext cx="35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800">
                    <a:latin typeface="Times New Roman" panose="02020603050405020304" pitchFamily="18" charset="0"/>
                  </a:rPr>
                  <a:t>WE</a:t>
                </a:r>
              </a:p>
            </p:txBody>
          </p:sp>
          <p:sp>
            <p:nvSpPr>
              <p:cNvPr id="134371" name="Line 230"/>
              <p:cNvSpPr>
                <a:spLocks noChangeShapeType="1"/>
              </p:cNvSpPr>
              <p:nvPr/>
            </p:nvSpPr>
            <p:spPr bwMode="auto">
              <a:xfrm>
                <a:off x="706" y="3923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4372" name="Text Box 231"/>
              <p:cNvSpPr txBox="1">
                <a:spLocks noChangeArrowheads="1"/>
              </p:cNvSpPr>
              <p:nvPr/>
            </p:nvSpPr>
            <p:spPr bwMode="auto">
              <a:xfrm>
                <a:off x="692" y="4025"/>
                <a:ext cx="32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CS</a:t>
                </a:r>
              </a:p>
            </p:txBody>
          </p:sp>
          <p:sp>
            <p:nvSpPr>
              <p:cNvPr id="134373" name="Line 232"/>
              <p:cNvSpPr>
                <a:spLocks noChangeShapeType="1"/>
              </p:cNvSpPr>
              <p:nvPr/>
            </p:nvSpPr>
            <p:spPr bwMode="auto">
              <a:xfrm>
                <a:off x="750" y="4079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11" name="Group 233"/>
          <p:cNvGrpSpPr/>
          <p:nvPr/>
        </p:nvGrpSpPr>
        <p:grpSpPr bwMode="auto">
          <a:xfrm>
            <a:off x="1622425" y="854075"/>
            <a:ext cx="7292975" cy="403225"/>
            <a:chOff x="1022" y="538"/>
            <a:chExt cx="4594" cy="254"/>
          </a:xfrm>
        </p:grpSpPr>
        <p:sp>
          <p:nvSpPr>
            <p:cNvPr id="134151" name="Line 234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4152" name="Freeform 235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4153" name="Line 236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4154" name="Freeform 237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4155" name="Line 238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4156" name="Text Box 239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</a:p>
          </p:txBody>
        </p:sp>
        <p:sp>
          <p:nvSpPr>
            <p:cNvPr id="134157" name="Text Box 240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</a:p>
          </p:txBody>
        </p:sp>
        <p:sp>
          <p:nvSpPr>
            <p:cNvPr id="134158" name="Text Box 241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</a:p>
          </p:txBody>
        </p:sp>
        <p:sp>
          <p:nvSpPr>
            <p:cNvPr id="134159" name="Text Box 242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</a:p>
          </p:txBody>
        </p:sp>
        <p:sp>
          <p:nvSpPr>
            <p:cNvPr id="134160" name="Line 243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4161" name="Line 244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4162" name="Line 245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4163" name="Line 246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4164" name="Line 247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4165" name="Line 248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4166" name="Line 249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4167" name="Line 250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22459" name="Rectangle 251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34149" name="Text Box 252"/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③ </a:t>
            </a:r>
            <a:r>
              <a:rPr lang="en-US" altLang="zh-CN" sz="3200">
                <a:latin typeface="Times New Roman" panose="02020603050405020304" pitchFamily="18" charset="0"/>
              </a:rPr>
              <a:t>Intel 2114</a:t>
            </a: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200">
                <a:latin typeface="Times New Roman" panose="02020603050405020304" pitchFamily="18" charset="0"/>
              </a:rPr>
              <a:t>矩阵 </a:t>
            </a:r>
            <a:r>
              <a:rPr lang="en-US" altLang="zh-CN" sz="3200">
                <a:latin typeface="Times New Roman" panose="02020603050405020304" pitchFamily="18" charset="0"/>
              </a:rPr>
              <a:t>(64 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>
                <a:latin typeface="Times New Roman" panose="02020603050405020304" pitchFamily="18" charset="0"/>
              </a:rPr>
              <a:t> 64)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</a:p>
        </p:txBody>
      </p:sp>
      <p:sp>
        <p:nvSpPr>
          <p:cNvPr id="134150" name="AutoShape 253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170" name="Group 2"/>
          <p:cNvGrpSpPr/>
          <p:nvPr/>
        </p:nvGrpSpPr>
        <p:grpSpPr bwMode="auto">
          <a:xfrm>
            <a:off x="222250" y="1131888"/>
            <a:ext cx="8921750" cy="5654675"/>
            <a:chOff x="140" y="713"/>
            <a:chExt cx="5620" cy="3562"/>
          </a:xfrm>
        </p:grpSpPr>
        <p:sp>
          <p:nvSpPr>
            <p:cNvPr id="135203" name="Rectangle 3"/>
            <p:cNvSpPr>
              <a:spLocks noChangeArrowheads="1"/>
            </p:cNvSpPr>
            <p:nvPr/>
          </p:nvSpPr>
          <p:spPr bwMode="auto">
            <a:xfrm>
              <a:off x="332" y="713"/>
              <a:ext cx="576" cy="316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35204" name="Rectangle 4"/>
            <p:cNvSpPr>
              <a:spLocks noChangeArrowheads="1"/>
            </p:cNvSpPr>
            <p:nvPr/>
          </p:nvSpPr>
          <p:spPr bwMode="auto">
            <a:xfrm>
              <a:off x="172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15</a:t>
              </a:r>
            </a:p>
          </p:txBody>
        </p:sp>
        <p:sp>
          <p:nvSpPr>
            <p:cNvPr id="135205" name="Text Box 5"/>
            <p:cNvSpPr txBox="1">
              <a:spLocks noChangeArrowheads="1"/>
            </p:cNvSpPr>
            <p:nvPr/>
          </p:nvSpPr>
          <p:spPr bwMode="auto">
            <a:xfrm>
              <a:off x="1408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5206" name="Rectangle 6"/>
            <p:cNvSpPr>
              <a:spLocks noChangeArrowheads="1"/>
            </p:cNvSpPr>
            <p:nvPr/>
          </p:nvSpPr>
          <p:spPr bwMode="auto">
            <a:xfrm>
              <a:off x="1152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5207" name="Rectangle 7"/>
            <p:cNvSpPr>
              <a:spLocks noChangeArrowheads="1"/>
            </p:cNvSpPr>
            <p:nvPr/>
          </p:nvSpPr>
          <p:spPr bwMode="auto">
            <a:xfrm>
              <a:off x="2869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31</a:t>
              </a:r>
            </a:p>
          </p:txBody>
        </p:sp>
        <p:sp>
          <p:nvSpPr>
            <p:cNvPr id="135208" name="Text Box 8"/>
            <p:cNvSpPr txBox="1">
              <a:spLocks noChangeArrowheads="1"/>
            </p:cNvSpPr>
            <p:nvPr/>
          </p:nvSpPr>
          <p:spPr bwMode="auto">
            <a:xfrm>
              <a:off x="2549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5209" name="Rectangle 9"/>
            <p:cNvSpPr>
              <a:spLocks noChangeArrowheads="1"/>
            </p:cNvSpPr>
            <p:nvPr/>
          </p:nvSpPr>
          <p:spPr bwMode="auto">
            <a:xfrm>
              <a:off x="2293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35210" name="Rectangle 10"/>
            <p:cNvSpPr>
              <a:spLocks noChangeArrowheads="1"/>
            </p:cNvSpPr>
            <p:nvPr/>
          </p:nvSpPr>
          <p:spPr bwMode="auto">
            <a:xfrm>
              <a:off x="404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47</a:t>
              </a:r>
            </a:p>
          </p:txBody>
        </p:sp>
        <p:sp>
          <p:nvSpPr>
            <p:cNvPr id="135211" name="Text Box 11"/>
            <p:cNvSpPr txBox="1">
              <a:spLocks noChangeArrowheads="1"/>
            </p:cNvSpPr>
            <p:nvPr/>
          </p:nvSpPr>
          <p:spPr bwMode="auto">
            <a:xfrm>
              <a:off x="3724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5212" name="Rectangle 12"/>
            <p:cNvSpPr>
              <a:spLocks noChangeArrowheads="1"/>
            </p:cNvSpPr>
            <p:nvPr/>
          </p:nvSpPr>
          <p:spPr bwMode="auto">
            <a:xfrm>
              <a:off x="3468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32</a:t>
              </a:r>
            </a:p>
          </p:txBody>
        </p:sp>
        <p:sp>
          <p:nvSpPr>
            <p:cNvPr id="135213" name="Rectangle 13"/>
            <p:cNvSpPr>
              <a:spLocks noChangeArrowheads="1"/>
            </p:cNvSpPr>
            <p:nvPr/>
          </p:nvSpPr>
          <p:spPr bwMode="auto">
            <a:xfrm>
              <a:off x="5180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63</a:t>
              </a:r>
            </a:p>
          </p:txBody>
        </p:sp>
        <p:sp>
          <p:nvSpPr>
            <p:cNvPr id="135214" name="Text Box 14"/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5215" name="Rectangle 15"/>
            <p:cNvSpPr>
              <a:spLocks noChangeArrowheads="1"/>
            </p:cNvSpPr>
            <p:nvPr/>
          </p:nvSpPr>
          <p:spPr bwMode="auto">
            <a:xfrm>
              <a:off x="4604" y="1014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48</a:t>
              </a:r>
            </a:p>
          </p:txBody>
        </p:sp>
        <p:sp>
          <p:nvSpPr>
            <p:cNvPr id="135216" name="Rectangle 16"/>
            <p:cNvSpPr>
              <a:spLocks noChangeArrowheads="1"/>
            </p:cNvSpPr>
            <p:nvPr/>
          </p:nvSpPr>
          <p:spPr bwMode="auto">
            <a:xfrm>
              <a:off x="172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15</a:t>
              </a:r>
            </a:p>
          </p:txBody>
        </p:sp>
        <p:sp>
          <p:nvSpPr>
            <p:cNvPr id="135217" name="Rectangle 17"/>
            <p:cNvSpPr>
              <a:spLocks noChangeArrowheads="1"/>
            </p:cNvSpPr>
            <p:nvPr/>
          </p:nvSpPr>
          <p:spPr bwMode="auto">
            <a:xfrm>
              <a:off x="1152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5218" name="Rectangle 18"/>
            <p:cNvSpPr>
              <a:spLocks noChangeArrowheads="1"/>
            </p:cNvSpPr>
            <p:nvPr/>
          </p:nvSpPr>
          <p:spPr bwMode="auto">
            <a:xfrm>
              <a:off x="2869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31</a:t>
              </a:r>
            </a:p>
          </p:txBody>
        </p:sp>
        <p:sp>
          <p:nvSpPr>
            <p:cNvPr id="135219" name="Rectangle 19"/>
            <p:cNvSpPr>
              <a:spLocks noChangeArrowheads="1"/>
            </p:cNvSpPr>
            <p:nvPr/>
          </p:nvSpPr>
          <p:spPr bwMode="auto">
            <a:xfrm>
              <a:off x="2293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35220" name="Rectangle 20"/>
            <p:cNvSpPr>
              <a:spLocks noChangeArrowheads="1"/>
            </p:cNvSpPr>
            <p:nvPr/>
          </p:nvSpPr>
          <p:spPr bwMode="auto">
            <a:xfrm>
              <a:off x="404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47</a:t>
              </a:r>
            </a:p>
          </p:txBody>
        </p:sp>
        <p:sp>
          <p:nvSpPr>
            <p:cNvPr id="135221" name="Rectangle 21"/>
            <p:cNvSpPr>
              <a:spLocks noChangeArrowheads="1"/>
            </p:cNvSpPr>
            <p:nvPr/>
          </p:nvSpPr>
          <p:spPr bwMode="auto">
            <a:xfrm>
              <a:off x="3468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32</a:t>
              </a:r>
            </a:p>
          </p:txBody>
        </p:sp>
        <p:sp>
          <p:nvSpPr>
            <p:cNvPr id="135222" name="Rectangle 22"/>
            <p:cNvSpPr>
              <a:spLocks noChangeArrowheads="1"/>
            </p:cNvSpPr>
            <p:nvPr/>
          </p:nvSpPr>
          <p:spPr bwMode="auto">
            <a:xfrm>
              <a:off x="5180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63</a:t>
              </a:r>
            </a:p>
          </p:txBody>
        </p:sp>
        <p:sp>
          <p:nvSpPr>
            <p:cNvPr id="135223" name="Rectangle 23"/>
            <p:cNvSpPr>
              <a:spLocks noChangeArrowheads="1"/>
            </p:cNvSpPr>
            <p:nvPr/>
          </p:nvSpPr>
          <p:spPr bwMode="auto">
            <a:xfrm>
              <a:off x="4604" y="2215"/>
              <a:ext cx="288" cy="27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48</a:t>
              </a:r>
            </a:p>
          </p:txBody>
        </p:sp>
        <p:sp>
          <p:nvSpPr>
            <p:cNvPr id="135224" name="Line 24"/>
            <p:cNvSpPr>
              <a:spLocks noChangeShapeType="1"/>
            </p:cNvSpPr>
            <p:nvPr/>
          </p:nvSpPr>
          <p:spPr bwMode="auto">
            <a:xfrm rot="5400000">
              <a:off x="1325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25" name="Line 25"/>
            <p:cNvSpPr>
              <a:spLocks noChangeShapeType="1"/>
            </p:cNvSpPr>
            <p:nvPr/>
          </p:nvSpPr>
          <p:spPr bwMode="auto">
            <a:xfrm rot="5400000">
              <a:off x="1308" y="271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26" name="Freeform 26"/>
            <p:cNvSpPr/>
            <p:nvPr/>
          </p:nvSpPr>
          <p:spPr bwMode="auto">
            <a:xfrm>
              <a:off x="1260" y="2709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27" name="Line 27"/>
            <p:cNvSpPr>
              <a:spLocks noChangeShapeType="1"/>
            </p:cNvSpPr>
            <p:nvPr/>
          </p:nvSpPr>
          <p:spPr bwMode="auto">
            <a:xfrm rot="-5400000">
              <a:off x="1133" y="2712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28" name="Line 28"/>
            <p:cNvSpPr>
              <a:spLocks noChangeShapeType="1"/>
            </p:cNvSpPr>
            <p:nvPr/>
          </p:nvSpPr>
          <p:spPr bwMode="auto">
            <a:xfrm rot="-5400000">
              <a:off x="1212" y="2714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29" name="Freeform 29"/>
            <p:cNvSpPr/>
            <p:nvPr/>
          </p:nvSpPr>
          <p:spPr bwMode="auto">
            <a:xfrm>
              <a:off x="1434" y="2353"/>
              <a:ext cx="112" cy="1"/>
            </a:xfrm>
            <a:custGeom>
              <a:avLst/>
              <a:gdLst>
                <a:gd name="T0" fmla="*/ 0 w 112"/>
                <a:gd name="T1" fmla="*/ 0 h 1"/>
                <a:gd name="T2" fmla="*/ 112 w 112"/>
                <a:gd name="T3" fmla="*/ 0 h 1"/>
                <a:gd name="T4" fmla="*/ 0 60000 65536"/>
                <a:gd name="T5" fmla="*/ 0 60000 65536"/>
                <a:gd name="T6" fmla="*/ 0 w 112"/>
                <a:gd name="T7" fmla="*/ 0 h 1"/>
                <a:gd name="T8" fmla="*/ 112 w 11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2" h="1">
                  <a:moveTo>
                    <a:pt x="0" y="0"/>
                  </a:moveTo>
                  <a:lnTo>
                    <a:pt x="112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30" name="Freeform 30"/>
            <p:cNvSpPr/>
            <p:nvPr/>
          </p:nvSpPr>
          <p:spPr bwMode="auto">
            <a:xfrm>
              <a:off x="1059" y="1209"/>
              <a:ext cx="152" cy="1469"/>
            </a:xfrm>
            <a:custGeom>
              <a:avLst/>
              <a:gdLst>
                <a:gd name="T0" fmla="*/ 152 w 152"/>
                <a:gd name="T1" fmla="*/ 1469 h 1469"/>
                <a:gd name="T2" fmla="*/ 0 w 152"/>
                <a:gd name="T3" fmla="*/ 1469 h 1469"/>
                <a:gd name="T4" fmla="*/ 0 w 152"/>
                <a:gd name="T5" fmla="*/ 0 h 1469"/>
                <a:gd name="T6" fmla="*/ 95 w 152"/>
                <a:gd name="T7" fmla="*/ 1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9"/>
                <a:gd name="T14" fmla="*/ 152 w 152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9">
                  <a:moveTo>
                    <a:pt x="152" y="1469"/>
                  </a:moveTo>
                  <a:lnTo>
                    <a:pt x="0" y="1469"/>
                  </a:lnTo>
                  <a:lnTo>
                    <a:pt x="0" y="0"/>
                  </a:lnTo>
                  <a:lnTo>
                    <a:pt x="95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31" name="Freeform 31"/>
            <p:cNvSpPr/>
            <p:nvPr/>
          </p:nvSpPr>
          <p:spPr bwMode="auto">
            <a:xfrm>
              <a:off x="1055" y="2353"/>
              <a:ext cx="102" cy="1"/>
            </a:xfrm>
            <a:custGeom>
              <a:avLst/>
              <a:gdLst>
                <a:gd name="T0" fmla="*/ 102 w 102"/>
                <a:gd name="T1" fmla="*/ 0 h 1"/>
                <a:gd name="T2" fmla="*/ 0 w 102"/>
                <a:gd name="T3" fmla="*/ 0 h 1"/>
                <a:gd name="T4" fmla="*/ 0 60000 65536"/>
                <a:gd name="T5" fmla="*/ 0 60000 65536"/>
                <a:gd name="T6" fmla="*/ 0 w 102"/>
                <a:gd name="T7" fmla="*/ 0 h 1"/>
                <a:gd name="T8" fmla="*/ 102 w 10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2" h="1">
                  <a:moveTo>
                    <a:pt x="102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32" name="Line 32"/>
            <p:cNvSpPr>
              <a:spLocks noChangeShapeType="1"/>
            </p:cNvSpPr>
            <p:nvPr/>
          </p:nvSpPr>
          <p:spPr bwMode="auto">
            <a:xfrm rot="5400000">
              <a:off x="1896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33" name="Line 33"/>
            <p:cNvSpPr>
              <a:spLocks noChangeShapeType="1"/>
            </p:cNvSpPr>
            <p:nvPr/>
          </p:nvSpPr>
          <p:spPr bwMode="auto">
            <a:xfrm rot="5400000">
              <a:off x="1879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34" name="Freeform 34"/>
            <p:cNvSpPr/>
            <p:nvPr/>
          </p:nvSpPr>
          <p:spPr bwMode="auto">
            <a:xfrm>
              <a:off x="1831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35" name="Line 35"/>
            <p:cNvSpPr>
              <a:spLocks noChangeShapeType="1"/>
            </p:cNvSpPr>
            <p:nvPr/>
          </p:nvSpPr>
          <p:spPr bwMode="auto">
            <a:xfrm rot="-5400000">
              <a:off x="1704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36" name="Line 36"/>
            <p:cNvSpPr>
              <a:spLocks noChangeShapeType="1"/>
            </p:cNvSpPr>
            <p:nvPr/>
          </p:nvSpPr>
          <p:spPr bwMode="auto">
            <a:xfrm rot="-5400000">
              <a:off x="1783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37" name="Freeform 37"/>
            <p:cNvSpPr/>
            <p:nvPr/>
          </p:nvSpPr>
          <p:spPr bwMode="auto">
            <a:xfrm>
              <a:off x="2005" y="2353"/>
              <a:ext cx="103" cy="1"/>
            </a:xfrm>
            <a:custGeom>
              <a:avLst/>
              <a:gdLst>
                <a:gd name="T0" fmla="*/ 0 w 103"/>
                <a:gd name="T1" fmla="*/ 0 h 1"/>
                <a:gd name="T2" fmla="*/ 103 w 103"/>
                <a:gd name="T3" fmla="*/ 0 h 1"/>
                <a:gd name="T4" fmla="*/ 0 60000 65536"/>
                <a:gd name="T5" fmla="*/ 0 60000 65536"/>
                <a:gd name="T6" fmla="*/ 0 w 103"/>
                <a:gd name="T7" fmla="*/ 0 h 1"/>
                <a:gd name="T8" fmla="*/ 103 w 10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3" h="1">
                  <a:moveTo>
                    <a:pt x="0" y="0"/>
                  </a:moveTo>
                  <a:lnTo>
                    <a:pt x="103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38" name="Freeform 38"/>
            <p:cNvSpPr/>
            <p:nvPr/>
          </p:nvSpPr>
          <p:spPr bwMode="auto">
            <a:xfrm>
              <a:off x="1611" y="2352"/>
              <a:ext cx="113" cy="1"/>
            </a:xfrm>
            <a:custGeom>
              <a:avLst/>
              <a:gdLst>
                <a:gd name="T0" fmla="*/ 113 w 113"/>
                <a:gd name="T1" fmla="*/ 1 h 1"/>
                <a:gd name="T2" fmla="*/ 0 w 113"/>
                <a:gd name="T3" fmla="*/ 0 h 1"/>
                <a:gd name="T4" fmla="*/ 0 60000 65536"/>
                <a:gd name="T5" fmla="*/ 0 60000 65536"/>
                <a:gd name="T6" fmla="*/ 0 w 113"/>
                <a:gd name="T7" fmla="*/ 0 h 1"/>
                <a:gd name="T8" fmla="*/ 113 w 11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3" h="1">
                  <a:moveTo>
                    <a:pt x="113" y="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39" name="Line 39"/>
            <p:cNvSpPr>
              <a:spLocks noChangeShapeType="1"/>
            </p:cNvSpPr>
            <p:nvPr/>
          </p:nvSpPr>
          <p:spPr bwMode="auto">
            <a:xfrm rot="5400000">
              <a:off x="247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40" name="Line 40"/>
            <p:cNvSpPr>
              <a:spLocks noChangeShapeType="1"/>
            </p:cNvSpPr>
            <p:nvPr/>
          </p:nvSpPr>
          <p:spPr bwMode="auto">
            <a:xfrm rot="5400000">
              <a:off x="2460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41" name="Freeform 41"/>
            <p:cNvSpPr/>
            <p:nvPr/>
          </p:nvSpPr>
          <p:spPr bwMode="auto">
            <a:xfrm>
              <a:off x="2412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42" name="Line 42"/>
            <p:cNvSpPr>
              <a:spLocks noChangeShapeType="1"/>
            </p:cNvSpPr>
            <p:nvPr/>
          </p:nvSpPr>
          <p:spPr bwMode="auto">
            <a:xfrm rot="-5400000">
              <a:off x="2285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43" name="Line 43"/>
            <p:cNvSpPr>
              <a:spLocks noChangeShapeType="1"/>
            </p:cNvSpPr>
            <p:nvPr/>
          </p:nvSpPr>
          <p:spPr bwMode="auto">
            <a:xfrm rot="-5400000">
              <a:off x="2364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44" name="Freeform 44"/>
            <p:cNvSpPr/>
            <p:nvPr/>
          </p:nvSpPr>
          <p:spPr bwMode="auto">
            <a:xfrm>
              <a:off x="2586" y="2353"/>
              <a:ext cx="109" cy="1"/>
            </a:xfrm>
            <a:custGeom>
              <a:avLst/>
              <a:gdLst>
                <a:gd name="T0" fmla="*/ 0 w 109"/>
                <a:gd name="T1" fmla="*/ 0 h 1"/>
                <a:gd name="T2" fmla="*/ 109 w 109"/>
                <a:gd name="T3" fmla="*/ 0 h 1"/>
                <a:gd name="T4" fmla="*/ 0 60000 65536"/>
                <a:gd name="T5" fmla="*/ 0 60000 65536"/>
                <a:gd name="T6" fmla="*/ 0 w 109"/>
                <a:gd name="T7" fmla="*/ 0 h 1"/>
                <a:gd name="T8" fmla="*/ 109 w 10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9" h="1">
                  <a:moveTo>
                    <a:pt x="0" y="0"/>
                  </a:moveTo>
                  <a:lnTo>
                    <a:pt x="109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45" name="Freeform 45"/>
            <p:cNvSpPr/>
            <p:nvPr/>
          </p:nvSpPr>
          <p:spPr bwMode="auto">
            <a:xfrm>
              <a:off x="2207" y="2353"/>
              <a:ext cx="89" cy="1"/>
            </a:xfrm>
            <a:custGeom>
              <a:avLst/>
              <a:gdLst>
                <a:gd name="T0" fmla="*/ 89 w 89"/>
                <a:gd name="T1" fmla="*/ 0 h 1"/>
                <a:gd name="T2" fmla="*/ 0 w 89"/>
                <a:gd name="T3" fmla="*/ 0 h 1"/>
                <a:gd name="T4" fmla="*/ 0 60000 65536"/>
                <a:gd name="T5" fmla="*/ 0 60000 65536"/>
                <a:gd name="T6" fmla="*/ 0 w 89"/>
                <a:gd name="T7" fmla="*/ 0 h 1"/>
                <a:gd name="T8" fmla="*/ 89 w 8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9" h="1">
                  <a:moveTo>
                    <a:pt x="89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46" name="Line 46"/>
            <p:cNvSpPr>
              <a:spLocks noChangeShapeType="1"/>
            </p:cNvSpPr>
            <p:nvPr/>
          </p:nvSpPr>
          <p:spPr bwMode="auto">
            <a:xfrm rot="5400000">
              <a:off x="3053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47" name="Line 47"/>
            <p:cNvSpPr>
              <a:spLocks noChangeShapeType="1"/>
            </p:cNvSpPr>
            <p:nvPr/>
          </p:nvSpPr>
          <p:spPr bwMode="auto">
            <a:xfrm rot="5400000">
              <a:off x="3036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48" name="Freeform 48"/>
            <p:cNvSpPr/>
            <p:nvPr/>
          </p:nvSpPr>
          <p:spPr bwMode="auto">
            <a:xfrm>
              <a:off x="2988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49" name="Line 49"/>
            <p:cNvSpPr>
              <a:spLocks noChangeShapeType="1"/>
            </p:cNvSpPr>
            <p:nvPr/>
          </p:nvSpPr>
          <p:spPr bwMode="auto">
            <a:xfrm rot="-5400000">
              <a:off x="2861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50" name="Line 50"/>
            <p:cNvSpPr>
              <a:spLocks noChangeShapeType="1"/>
            </p:cNvSpPr>
            <p:nvPr/>
          </p:nvSpPr>
          <p:spPr bwMode="auto">
            <a:xfrm rot="-5400000">
              <a:off x="2940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51" name="Freeform 51"/>
            <p:cNvSpPr/>
            <p:nvPr/>
          </p:nvSpPr>
          <p:spPr bwMode="auto">
            <a:xfrm>
              <a:off x="3162" y="2353"/>
              <a:ext cx="115" cy="1"/>
            </a:xfrm>
            <a:custGeom>
              <a:avLst/>
              <a:gdLst>
                <a:gd name="T0" fmla="*/ 0 w 115"/>
                <a:gd name="T1" fmla="*/ 0 h 1"/>
                <a:gd name="T2" fmla="*/ 115 w 115"/>
                <a:gd name="T3" fmla="*/ 0 h 1"/>
                <a:gd name="T4" fmla="*/ 0 60000 65536"/>
                <a:gd name="T5" fmla="*/ 0 60000 65536"/>
                <a:gd name="T6" fmla="*/ 0 w 115"/>
                <a:gd name="T7" fmla="*/ 0 h 1"/>
                <a:gd name="T8" fmla="*/ 115 w 11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5" h="1">
                  <a:moveTo>
                    <a:pt x="0" y="0"/>
                  </a:moveTo>
                  <a:lnTo>
                    <a:pt x="11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52" name="Freeform 52"/>
            <p:cNvSpPr/>
            <p:nvPr/>
          </p:nvSpPr>
          <p:spPr bwMode="auto">
            <a:xfrm>
              <a:off x="2783" y="2353"/>
              <a:ext cx="90" cy="1"/>
            </a:xfrm>
            <a:custGeom>
              <a:avLst/>
              <a:gdLst>
                <a:gd name="T0" fmla="*/ 90 w 90"/>
                <a:gd name="T1" fmla="*/ 0 h 1"/>
                <a:gd name="T2" fmla="*/ 0 w 90"/>
                <a:gd name="T3" fmla="*/ 0 h 1"/>
                <a:gd name="T4" fmla="*/ 0 60000 65536"/>
                <a:gd name="T5" fmla="*/ 0 60000 65536"/>
                <a:gd name="T6" fmla="*/ 0 w 90"/>
                <a:gd name="T7" fmla="*/ 0 h 1"/>
                <a:gd name="T8" fmla="*/ 90 w 9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0" h="1">
                  <a:moveTo>
                    <a:pt x="90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53" name="Line 53"/>
            <p:cNvSpPr>
              <a:spLocks noChangeShapeType="1"/>
            </p:cNvSpPr>
            <p:nvPr/>
          </p:nvSpPr>
          <p:spPr bwMode="auto">
            <a:xfrm rot="5400000">
              <a:off x="3629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54" name="Line 54"/>
            <p:cNvSpPr>
              <a:spLocks noChangeShapeType="1"/>
            </p:cNvSpPr>
            <p:nvPr/>
          </p:nvSpPr>
          <p:spPr bwMode="auto">
            <a:xfrm rot="5400000">
              <a:off x="3612" y="2711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55" name="Freeform 55"/>
            <p:cNvSpPr/>
            <p:nvPr/>
          </p:nvSpPr>
          <p:spPr bwMode="auto">
            <a:xfrm>
              <a:off x="3564" y="2710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56" name="Line 56"/>
            <p:cNvSpPr>
              <a:spLocks noChangeShapeType="1"/>
            </p:cNvSpPr>
            <p:nvPr/>
          </p:nvSpPr>
          <p:spPr bwMode="auto">
            <a:xfrm rot="-5400000">
              <a:off x="3437" y="2713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57" name="Line 57"/>
            <p:cNvSpPr>
              <a:spLocks noChangeShapeType="1"/>
            </p:cNvSpPr>
            <p:nvPr/>
          </p:nvSpPr>
          <p:spPr bwMode="auto">
            <a:xfrm rot="-5400000">
              <a:off x="3516" y="2715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58" name="Freeform 58"/>
            <p:cNvSpPr/>
            <p:nvPr/>
          </p:nvSpPr>
          <p:spPr bwMode="auto">
            <a:xfrm>
              <a:off x="3751" y="2352"/>
              <a:ext cx="100" cy="1"/>
            </a:xfrm>
            <a:custGeom>
              <a:avLst/>
              <a:gdLst>
                <a:gd name="T0" fmla="*/ 0 w 100"/>
                <a:gd name="T1" fmla="*/ 0 h 1"/>
                <a:gd name="T2" fmla="*/ 100 w 100"/>
                <a:gd name="T3" fmla="*/ 1 h 1"/>
                <a:gd name="T4" fmla="*/ 0 60000 65536"/>
                <a:gd name="T5" fmla="*/ 0 60000 65536"/>
                <a:gd name="T6" fmla="*/ 0 w 100"/>
                <a:gd name="T7" fmla="*/ 0 h 1"/>
                <a:gd name="T8" fmla="*/ 100 w 10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0" h="1">
                  <a:moveTo>
                    <a:pt x="0" y="0"/>
                  </a:moveTo>
                  <a:lnTo>
                    <a:pt x="100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59" name="Freeform 59"/>
            <p:cNvSpPr/>
            <p:nvPr/>
          </p:nvSpPr>
          <p:spPr bwMode="auto">
            <a:xfrm>
              <a:off x="3359" y="2353"/>
              <a:ext cx="108" cy="1"/>
            </a:xfrm>
            <a:custGeom>
              <a:avLst/>
              <a:gdLst>
                <a:gd name="T0" fmla="*/ 108 w 108"/>
                <a:gd name="T1" fmla="*/ 0 h 1"/>
                <a:gd name="T2" fmla="*/ 0 w 108"/>
                <a:gd name="T3" fmla="*/ 0 h 1"/>
                <a:gd name="T4" fmla="*/ 0 60000 65536"/>
                <a:gd name="T5" fmla="*/ 0 60000 65536"/>
                <a:gd name="T6" fmla="*/ 0 w 108"/>
                <a:gd name="T7" fmla="*/ 0 h 1"/>
                <a:gd name="T8" fmla="*/ 108 w 10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8" h="1">
                  <a:moveTo>
                    <a:pt x="108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60" name="Line 60"/>
            <p:cNvSpPr>
              <a:spLocks noChangeShapeType="1"/>
            </p:cNvSpPr>
            <p:nvPr/>
          </p:nvSpPr>
          <p:spPr bwMode="auto">
            <a:xfrm rot="5400000">
              <a:off x="4205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61" name="Line 61"/>
            <p:cNvSpPr>
              <a:spLocks noChangeShapeType="1"/>
            </p:cNvSpPr>
            <p:nvPr/>
          </p:nvSpPr>
          <p:spPr bwMode="auto">
            <a:xfrm rot="5400000">
              <a:off x="4188" y="2696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62" name="Freeform 62"/>
            <p:cNvSpPr/>
            <p:nvPr/>
          </p:nvSpPr>
          <p:spPr bwMode="auto">
            <a:xfrm>
              <a:off x="4140" y="2695"/>
              <a:ext cx="96" cy="2"/>
            </a:xfrm>
            <a:custGeom>
              <a:avLst/>
              <a:gdLst>
                <a:gd name="T0" fmla="*/ 0 w 96"/>
                <a:gd name="T1" fmla="*/ 2 h 2"/>
                <a:gd name="T2" fmla="*/ 96 w 96"/>
                <a:gd name="T3" fmla="*/ 0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2"/>
                  </a:move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63" name="Line 63"/>
            <p:cNvSpPr>
              <a:spLocks noChangeShapeType="1"/>
            </p:cNvSpPr>
            <p:nvPr/>
          </p:nvSpPr>
          <p:spPr bwMode="auto">
            <a:xfrm rot="-5400000">
              <a:off x="4013" y="2698"/>
              <a:ext cx="1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64" name="Line 64"/>
            <p:cNvSpPr>
              <a:spLocks noChangeShapeType="1"/>
            </p:cNvSpPr>
            <p:nvPr/>
          </p:nvSpPr>
          <p:spPr bwMode="auto">
            <a:xfrm rot="-5400000">
              <a:off x="4092" y="2700"/>
              <a:ext cx="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65" name="Freeform 65"/>
            <p:cNvSpPr/>
            <p:nvPr/>
          </p:nvSpPr>
          <p:spPr bwMode="auto">
            <a:xfrm>
              <a:off x="4336" y="2351"/>
              <a:ext cx="90" cy="2"/>
            </a:xfrm>
            <a:custGeom>
              <a:avLst/>
              <a:gdLst>
                <a:gd name="T0" fmla="*/ 0 w 90"/>
                <a:gd name="T1" fmla="*/ 0 h 2"/>
                <a:gd name="T2" fmla="*/ 90 w 90"/>
                <a:gd name="T3" fmla="*/ 2 h 2"/>
                <a:gd name="T4" fmla="*/ 0 60000 65536"/>
                <a:gd name="T5" fmla="*/ 0 60000 65536"/>
                <a:gd name="T6" fmla="*/ 0 w 90"/>
                <a:gd name="T7" fmla="*/ 0 h 2"/>
                <a:gd name="T8" fmla="*/ 90 w 90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0" h="2">
                  <a:moveTo>
                    <a:pt x="0" y="0"/>
                  </a:moveTo>
                  <a:lnTo>
                    <a:pt x="90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66" name="Freeform 66"/>
            <p:cNvSpPr/>
            <p:nvPr/>
          </p:nvSpPr>
          <p:spPr bwMode="auto">
            <a:xfrm>
              <a:off x="3935" y="2353"/>
              <a:ext cx="104" cy="1"/>
            </a:xfrm>
            <a:custGeom>
              <a:avLst/>
              <a:gdLst>
                <a:gd name="T0" fmla="*/ 104 w 104"/>
                <a:gd name="T1" fmla="*/ 0 h 1"/>
                <a:gd name="T2" fmla="*/ 0 w 104"/>
                <a:gd name="T3" fmla="*/ 0 h 1"/>
                <a:gd name="T4" fmla="*/ 0 60000 65536"/>
                <a:gd name="T5" fmla="*/ 0 60000 65536"/>
                <a:gd name="T6" fmla="*/ 0 w 104"/>
                <a:gd name="T7" fmla="*/ 0 h 1"/>
                <a:gd name="T8" fmla="*/ 104 w 104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4" h="1">
                  <a:moveTo>
                    <a:pt x="104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135267" name="Group 67"/>
            <p:cNvGrpSpPr/>
            <p:nvPr/>
          </p:nvGrpSpPr>
          <p:grpSpPr bwMode="auto">
            <a:xfrm>
              <a:off x="4668" y="2634"/>
              <a:ext cx="192" cy="158"/>
              <a:chOff x="4692" y="2634"/>
              <a:chExt cx="192" cy="158"/>
            </a:xfrm>
          </p:grpSpPr>
          <p:grpSp>
            <p:nvGrpSpPr>
              <p:cNvPr id="135414" name="Group 68"/>
              <p:cNvGrpSpPr/>
              <p:nvPr/>
            </p:nvGrpSpPr>
            <p:grpSpPr bwMode="auto">
              <a:xfrm>
                <a:off x="4836" y="2634"/>
                <a:ext cx="48" cy="158"/>
                <a:chOff x="4836" y="2634"/>
                <a:chExt cx="48" cy="158"/>
              </a:xfrm>
            </p:grpSpPr>
            <p:sp>
              <p:nvSpPr>
                <p:cNvPr id="135419" name="Line 69"/>
                <p:cNvSpPr>
                  <a:spLocks noChangeShapeType="1"/>
                </p:cNvSpPr>
                <p:nvPr/>
              </p:nvSpPr>
              <p:spPr bwMode="auto">
                <a:xfrm rot="5400000">
                  <a:off x="4805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5420" name="Line 70"/>
                <p:cNvSpPr>
                  <a:spLocks noChangeShapeType="1"/>
                </p:cNvSpPr>
                <p:nvPr/>
              </p:nvSpPr>
              <p:spPr bwMode="auto">
                <a:xfrm rot="5400000">
                  <a:off x="4788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35415" name="Freeform 71"/>
              <p:cNvSpPr/>
              <p:nvPr/>
            </p:nvSpPr>
            <p:spPr bwMode="auto">
              <a:xfrm>
                <a:off x="4740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35416" name="Group 72"/>
              <p:cNvGrpSpPr/>
              <p:nvPr/>
            </p:nvGrpSpPr>
            <p:grpSpPr bwMode="auto">
              <a:xfrm>
                <a:off x="4692" y="2634"/>
                <a:ext cx="48" cy="158"/>
                <a:chOff x="4692" y="2634"/>
                <a:chExt cx="48" cy="158"/>
              </a:xfrm>
            </p:grpSpPr>
            <p:sp>
              <p:nvSpPr>
                <p:cNvPr id="135417" name="Line 73"/>
                <p:cNvSpPr>
                  <a:spLocks noChangeShapeType="1"/>
                </p:cNvSpPr>
                <p:nvPr/>
              </p:nvSpPr>
              <p:spPr bwMode="auto">
                <a:xfrm rot="-5400000">
                  <a:off x="4613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5418" name="Line 74"/>
                <p:cNvSpPr>
                  <a:spLocks noChangeShapeType="1"/>
                </p:cNvSpPr>
                <p:nvPr/>
              </p:nvSpPr>
              <p:spPr bwMode="auto">
                <a:xfrm rot="-5400000">
                  <a:off x="4692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35268" name="Freeform 75"/>
            <p:cNvSpPr/>
            <p:nvPr/>
          </p:nvSpPr>
          <p:spPr bwMode="auto">
            <a:xfrm>
              <a:off x="4890" y="2353"/>
              <a:ext cx="107" cy="1"/>
            </a:xfrm>
            <a:custGeom>
              <a:avLst/>
              <a:gdLst>
                <a:gd name="T0" fmla="*/ 0 w 107"/>
                <a:gd name="T1" fmla="*/ 0 h 1"/>
                <a:gd name="T2" fmla="*/ 107 w 107"/>
                <a:gd name="T3" fmla="*/ 0 h 1"/>
                <a:gd name="T4" fmla="*/ 0 60000 65536"/>
                <a:gd name="T5" fmla="*/ 0 60000 65536"/>
                <a:gd name="T6" fmla="*/ 0 w 107"/>
                <a:gd name="T7" fmla="*/ 0 h 1"/>
                <a:gd name="T8" fmla="*/ 107 w 10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7" h="1">
                  <a:moveTo>
                    <a:pt x="0" y="0"/>
                  </a:moveTo>
                  <a:lnTo>
                    <a:pt x="10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69" name="Freeform 76"/>
            <p:cNvSpPr/>
            <p:nvPr/>
          </p:nvSpPr>
          <p:spPr bwMode="auto">
            <a:xfrm>
              <a:off x="4511" y="2353"/>
              <a:ext cx="96" cy="1"/>
            </a:xfrm>
            <a:custGeom>
              <a:avLst/>
              <a:gdLst>
                <a:gd name="T0" fmla="*/ 96 w 96"/>
                <a:gd name="T1" fmla="*/ 0 h 1"/>
                <a:gd name="T2" fmla="*/ 0 w 96"/>
                <a:gd name="T3" fmla="*/ 0 h 1"/>
                <a:gd name="T4" fmla="*/ 0 60000 65536"/>
                <a:gd name="T5" fmla="*/ 0 60000 65536"/>
                <a:gd name="T6" fmla="*/ 0 w 96"/>
                <a:gd name="T7" fmla="*/ 0 h 1"/>
                <a:gd name="T8" fmla="*/ 96 w 9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1">
                  <a:moveTo>
                    <a:pt x="96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135270" name="Group 77"/>
            <p:cNvGrpSpPr/>
            <p:nvPr/>
          </p:nvGrpSpPr>
          <p:grpSpPr bwMode="auto">
            <a:xfrm>
              <a:off x="5235" y="2634"/>
              <a:ext cx="192" cy="158"/>
              <a:chOff x="5259" y="2634"/>
              <a:chExt cx="192" cy="158"/>
            </a:xfrm>
          </p:grpSpPr>
          <p:grpSp>
            <p:nvGrpSpPr>
              <p:cNvPr id="135407" name="Group 78"/>
              <p:cNvGrpSpPr/>
              <p:nvPr/>
            </p:nvGrpSpPr>
            <p:grpSpPr bwMode="auto">
              <a:xfrm>
                <a:off x="5403" y="2634"/>
                <a:ext cx="48" cy="158"/>
                <a:chOff x="5403" y="2634"/>
                <a:chExt cx="48" cy="158"/>
              </a:xfrm>
            </p:grpSpPr>
            <p:sp>
              <p:nvSpPr>
                <p:cNvPr id="135412" name="Line 79"/>
                <p:cNvSpPr>
                  <a:spLocks noChangeShapeType="1"/>
                </p:cNvSpPr>
                <p:nvPr/>
              </p:nvSpPr>
              <p:spPr bwMode="auto">
                <a:xfrm rot="5400000">
                  <a:off x="5372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5413" name="Line 80"/>
                <p:cNvSpPr>
                  <a:spLocks noChangeShapeType="1"/>
                </p:cNvSpPr>
                <p:nvPr/>
              </p:nvSpPr>
              <p:spPr bwMode="auto">
                <a:xfrm rot="5400000">
                  <a:off x="5355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35408" name="Freeform 81"/>
              <p:cNvSpPr/>
              <p:nvPr/>
            </p:nvSpPr>
            <p:spPr bwMode="auto">
              <a:xfrm>
                <a:off x="5307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35409" name="Group 82"/>
              <p:cNvGrpSpPr/>
              <p:nvPr/>
            </p:nvGrpSpPr>
            <p:grpSpPr bwMode="auto">
              <a:xfrm>
                <a:off x="5259" y="2634"/>
                <a:ext cx="48" cy="158"/>
                <a:chOff x="5259" y="2634"/>
                <a:chExt cx="48" cy="158"/>
              </a:xfrm>
            </p:grpSpPr>
            <p:sp>
              <p:nvSpPr>
                <p:cNvPr id="135410" name="Line 83"/>
                <p:cNvSpPr>
                  <a:spLocks noChangeShapeType="1"/>
                </p:cNvSpPr>
                <p:nvPr/>
              </p:nvSpPr>
              <p:spPr bwMode="auto">
                <a:xfrm rot="-5400000">
                  <a:off x="5180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5411" name="Line 84"/>
                <p:cNvSpPr>
                  <a:spLocks noChangeShapeType="1"/>
                </p:cNvSpPr>
                <p:nvPr/>
              </p:nvSpPr>
              <p:spPr bwMode="auto">
                <a:xfrm rot="-5400000">
                  <a:off x="5259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35271" name="Freeform 85"/>
            <p:cNvSpPr/>
            <p:nvPr/>
          </p:nvSpPr>
          <p:spPr bwMode="auto">
            <a:xfrm>
              <a:off x="5467" y="2351"/>
              <a:ext cx="96" cy="2"/>
            </a:xfrm>
            <a:custGeom>
              <a:avLst/>
              <a:gdLst>
                <a:gd name="T0" fmla="*/ 0 w 96"/>
                <a:gd name="T1" fmla="*/ 0 h 2"/>
                <a:gd name="T2" fmla="*/ 96 w 96"/>
                <a:gd name="T3" fmla="*/ 2 h 2"/>
                <a:gd name="T4" fmla="*/ 0 60000 65536"/>
                <a:gd name="T5" fmla="*/ 0 60000 65536"/>
                <a:gd name="T6" fmla="*/ 0 w 96"/>
                <a:gd name="T7" fmla="*/ 0 h 2"/>
                <a:gd name="T8" fmla="*/ 96 w 96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6" h="2">
                  <a:moveTo>
                    <a:pt x="0" y="0"/>
                  </a:moveTo>
                  <a:lnTo>
                    <a:pt x="96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72" name="Freeform 86"/>
            <p:cNvSpPr/>
            <p:nvPr/>
          </p:nvSpPr>
          <p:spPr bwMode="auto">
            <a:xfrm>
              <a:off x="5078" y="2353"/>
              <a:ext cx="101" cy="1"/>
            </a:xfrm>
            <a:custGeom>
              <a:avLst/>
              <a:gdLst>
                <a:gd name="T0" fmla="*/ 101 w 101"/>
                <a:gd name="T1" fmla="*/ 0 h 1"/>
                <a:gd name="T2" fmla="*/ 0 w 101"/>
                <a:gd name="T3" fmla="*/ 0 h 1"/>
                <a:gd name="T4" fmla="*/ 0 60000 65536"/>
                <a:gd name="T5" fmla="*/ 0 60000 65536"/>
                <a:gd name="T6" fmla="*/ 0 w 101"/>
                <a:gd name="T7" fmla="*/ 0 h 1"/>
                <a:gd name="T8" fmla="*/ 101 w 101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1" h="1">
                  <a:moveTo>
                    <a:pt x="101" y="0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73" name="Freeform 87"/>
            <p:cNvSpPr/>
            <p:nvPr/>
          </p:nvSpPr>
          <p:spPr bwMode="auto">
            <a:xfrm>
              <a:off x="908" y="856"/>
              <a:ext cx="4419" cy="1"/>
            </a:xfrm>
            <a:custGeom>
              <a:avLst/>
              <a:gdLst>
                <a:gd name="T0" fmla="*/ 0 w 4419"/>
                <a:gd name="T1" fmla="*/ 1 h 1"/>
                <a:gd name="T2" fmla="*/ 4419 w 4419"/>
                <a:gd name="T3" fmla="*/ 0 h 1"/>
                <a:gd name="T4" fmla="*/ 0 60000 65536"/>
                <a:gd name="T5" fmla="*/ 0 60000 65536"/>
                <a:gd name="T6" fmla="*/ 0 w 4419"/>
                <a:gd name="T7" fmla="*/ 0 h 1"/>
                <a:gd name="T8" fmla="*/ 4419 w 441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9" h="1">
                  <a:moveTo>
                    <a:pt x="0" y="1"/>
                  </a:moveTo>
                  <a:lnTo>
                    <a:pt x="4419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74" name="Line 88"/>
            <p:cNvSpPr>
              <a:spLocks noChangeShapeType="1"/>
            </p:cNvSpPr>
            <p:nvPr/>
          </p:nvSpPr>
          <p:spPr bwMode="auto">
            <a:xfrm>
              <a:off x="129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75" name="Line 89"/>
            <p:cNvSpPr>
              <a:spLocks noChangeShapeType="1"/>
            </p:cNvSpPr>
            <p:nvPr/>
          </p:nvSpPr>
          <p:spPr bwMode="auto">
            <a:xfrm>
              <a:off x="186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76" name="Line 90"/>
            <p:cNvSpPr>
              <a:spLocks noChangeShapeType="1"/>
            </p:cNvSpPr>
            <p:nvPr/>
          </p:nvSpPr>
          <p:spPr bwMode="auto">
            <a:xfrm>
              <a:off x="244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77" name="Line 91"/>
            <p:cNvSpPr>
              <a:spLocks noChangeShapeType="1"/>
            </p:cNvSpPr>
            <p:nvPr/>
          </p:nvSpPr>
          <p:spPr bwMode="auto">
            <a:xfrm>
              <a:off x="3020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78" name="Line 92"/>
            <p:cNvSpPr>
              <a:spLocks noChangeShapeType="1"/>
            </p:cNvSpPr>
            <p:nvPr/>
          </p:nvSpPr>
          <p:spPr bwMode="auto">
            <a:xfrm>
              <a:off x="3596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79" name="Line 93"/>
            <p:cNvSpPr>
              <a:spLocks noChangeShapeType="1"/>
            </p:cNvSpPr>
            <p:nvPr/>
          </p:nvSpPr>
          <p:spPr bwMode="auto">
            <a:xfrm>
              <a:off x="4172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80" name="Line 94"/>
            <p:cNvSpPr>
              <a:spLocks noChangeShapeType="1"/>
            </p:cNvSpPr>
            <p:nvPr/>
          </p:nvSpPr>
          <p:spPr bwMode="auto">
            <a:xfrm>
              <a:off x="4748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81" name="Line 95"/>
            <p:cNvSpPr>
              <a:spLocks noChangeShapeType="1"/>
            </p:cNvSpPr>
            <p:nvPr/>
          </p:nvSpPr>
          <p:spPr bwMode="auto">
            <a:xfrm>
              <a:off x="5324" y="8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82" name="Freeform 96"/>
            <p:cNvSpPr/>
            <p:nvPr/>
          </p:nvSpPr>
          <p:spPr bwMode="auto">
            <a:xfrm>
              <a:off x="1305" y="2708"/>
              <a:ext cx="1" cy="166"/>
            </a:xfrm>
            <a:custGeom>
              <a:avLst/>
              <a:gdLst>
                <a:gd name="T0" fmla="*/ 1 w 1"/>
                <a:gd name="T1" fmla="*/ 0 h 166"/>
                <a:gd name="T2" fmla="*/ 0 w 1"/>
                <a:gd name="T3" fmla="*/ 166 h 166"/>
                <a:gd name="T4" fmla="*/ 0 60000 65536"/>
                <a:gd name="T5" fmla="*/ 0 60000 65536"/>
                <a:gd name="T6" fmla="*/ 0 w 1"/>
                <a:gd name="T7" fmla="*/ 0 h 166"/>
                <a:gd name="T8" fmla="*/ 1 w 1"/>
                <a:gd name="T9" fmla="*/ 166 h 16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66">
                  <a:moveTo>
                    <a:pt x="1" y="0"/>
                  </a:moveTo>
                  <a:lnTo>
                    <a:pt x="0" y="1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83" name="Freeform 97"/>
            <p:cNvSpPr/>
            <p:nvPr/>
          </p:nvSpPr>
          <p:spPr bwMode="auto">
            <a:xfrm>
              <a:off x="1880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7711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84" name="Freeform 98"/>
            <p:cNvSpPr/>
            <p:nvPr/>
          </p:nvSpPr>
          <p:spPr bwMode="auto">
            <a:xfrm>
              <a:off x="2454" y="2708"/>
              <a:ext cx="4" cy="166"/>
            </a:xfrm>
            <a:custGeom>
              <a:avLst/>
              <a:gdLst>
                <a:gd name="T0" fmla="*/ 4 w 4"/>
                <a:gd name="T1" fmla="*/ 0 h 166"/>
                <a:gd name="T2" fmla="*/ 0 w 4"/>
                <a:gd name="T3" fmla="*/ 166 h 166"/>
                <a:gd name="T4" fmla="*/ 0 60000 65536"/>
                <a:gd name="T5" fmla="*/ 0 60000 65536"/>
                <a:gd name="T6" fmla="*/ 0 w 4"/>
                <a:gd name="T7" fmla="*/ 0 h 166"/>
                <a:gd name="T8" fmla="*/ 4 w 4"/>
                <a:gd name="T9" fmla="*/ 166 h 16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66">
                  <a:moveTo>
                    <a:pt x="4" y="0"/>
                  </a:moveTo>
                  <a:lnTo>
                    <a:pt x="0" y="1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85" name="Freeform 99"/>
            <p:cNvSpPr/>
            <p:nvPr/>
          </p:nvSpPr>
          <p:spPr bwMode="auto">
            <a:xfrm>
              <a:off x="3606" y="2708"/>
              <a:ext cx="2" cy="175"/>
            </a:xfrm>
            <a:custGeom>
              <a:avLst/>
              <a:gdLst>
                <a:gd name="T0" fmla="*/ 2 w 2"/>
                <a:gd name="T1" fmla="*/ 0 h 175"/>
                <a:gd name="T2" fmla="*/ 0 w 2"/>
                <a:gd name="T3" fmla="*/ 175 h 175"/>
                <a:gd name="T4" fmla="*/ 0 60000 65536"/>
                <a:gd name="T5" fmla="*/ 0 60000 65536"/>
                <a:gd name="T6" fmla="*/ 0 w 2"/>
                <a:gd name="T7" fmla="*/ 0 h 175"/>
                <a:gd name="T8" fmla="*/ 2 w 2"/>
                <a:gd name="T9" fmla="*/ 175 h 17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175">
                  <a:moveTo>
                    <a:pt x="2" y="0"/>
                  </a:moveTo>
                  <a:lnTo>
                    <a:pt x="0" y="17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86" name="Freeform 100"/>
            <p:cNvSpPr/>
            <p:nvPr/>
          </p:nvSpPr>
          <p:spPr bwMode="auto">
            <a:xfrm>
              <a:off x="4760" y="2697"/>
              <a:ext cx="1" cy="176"/>
            </a:xfrm>
            <a:custGeom>
              <a:avLst/>
              <a:gdLst>
                <a:gd name="T0" fmla="*/ 0 w 1"/>
                <a:gd name="T1" fmla="*/ 0 h 176"/>
                <a:gd name="T2" fmla="*/ 0 w 1"/>
                <a:gd name="T3" fmla="*/ 176 h 176"/>
                <a:gd name="T4" fmla="*/ 0 60000 65536"/>
                <a:gd name="T5" fmla="*/ 0 60000 65536"/>
                <a:gd name="T6" fmla="*/ 0 w 1"/>
                <a:gd name="T7" fmla="*/ 0 h 176"/>
                <a:gd name="T8" fmla="*/ 1 w 1"/>
                <a:gd name="T9" fmla="*/ 176 h 17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76">
                  <a:moveTo>
                    <a:pt x="0" y="0"/>
                  </a:moveTo>
                  <a:lnTo>
                    <a:pt x="0" y="17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87" name="Freeform 101"/>
            <p:cNvSpPr/>
            <p:nvPr/>
          </p:nvSpPr>
          <p:spPr bwMode="auto">
            <a:xfrm>
              <a:off x="908" y="1480"/>
              <a:ext cx="4422" cy="1"/>
            </a:xfrm>
            <a:custGeom>
              <a:avLst/>
              <a:gdLst>
                <a:gd name="T0" fmla="*/ 0 w 4422"/>
                <a:gd name="T1" fmla="*/ 1 h 1"/>
                <a:gd name="T2" fmla="*/ 4422 w 4422"/>
                <a:gd name="T3" fmla="*/ 0 h 1"/>
                <a:gd name="T4" fmla="*/ 0 60000 65536"/>
                <a:gd name="T5" fmla="*/ 0 60000 65536"/>
                <a:gd name="T6" fmla="*/ 0 w 4422"/>
                <a:gd name="T7" fmla="*/ 0 h 1"/>
                <a:gd name="T8" fmla="*/ 4422 w 442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22" h="1">
                  <a:moveTo>
                    <a:pt x="0" y="1"/>
                  </a:moveTo>
                  <a:lnTo>
                    <a:pt x="442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88" name="Line 102"/>
            <p:cNvSpPr>
              <a:spLocks noChangeShapeType="1"/>
            </p:cNvSpPr>
            <p:nvPr/>
          </p:nvSpPr>
          <p:spPr bwMode="auto">
            <a:xfrm>
              <a:off x="129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89" name="Line 103"/>
            <p:cNvSpPr>
              <a:spLocks noChangeShapeType="1"/>
            </p:cNvSpPr>
            <p:nvPr/>
          </p:nvSpPr>
          <p:spPr bwMode="auto">
            <a:xfrm>
              <a:off x="186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90" name="Line 104"/>
            <p:cNvSpPr>
              <a:spLocks noChangeShapeType="1"/>
            </p:cNvSpPr>
            <p:nvPr/>
          </p:nvSpPr>
          <p:spPr bwMode="auto">
            <a:xfrm>
              <a:off x="244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91" name="Line 105"/>
            <p:cNvSpPr>
              <a:spLocks noChangeShapeType="1"/>
            </p:cNvSpPr>
            <p:nvPr/>
          </p:nvSpPr>
          <p:spPr bwMode="auto">
            <a:xfrm>
              <a:off x="3020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92" name="Line 106"/>
            <p:cNvSpPr>
              <a:spLocks noChangeShapeType="1"/>
            </p:cNvSpPr>
            <p:nvPr/>
          </p:nvSpPr>
          <p:spPr bwMode="auto">
            <a:xfrm>
              <a:off x="3596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93" name="Line 107"/>
            <p:cNvSpPr>
              <a:spLocks noChangeShapeType="1"/>
            </p:cNvSpPr>
            <p:nvPr/>
          </p:nvSpPr>
          <p:spPr bwMode="auto">
            <a:xfrm>
              <a:off x="4172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94" name="Line 108"/>
            <p:cNvSpPr>
              <a:spLocks noChangeShapeType="1"/>
            </p:cNvSpPr>
            <p:nvPr/>
          </p:nvSpPr>
          <p:spPr bwMode="auto">
            <a:xfrm>
              <a:off x="4748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95" name="Line 109"/>
            <p:cNvSpPr>
              <a:spLocks noChangeShapeType="1"/>
            </p:cNvSpPr>
            <p:nvPr/>
          </p:nvSpPr>
          <p:spPr bwMode="auto">
            <a:xfrm>
              <a:off x="5324" y="14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96" name="Freeform 110"/>
            <p:cNvSpPr/>
            <p:nvPr/>
          </p:nvSpPr>
          <p:spPr bwMode="auto">
            <a:xfrm>
              <a:off x="908" y="2056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  <a:gd name="T6" fmla="*/ 0 w 4418"/>
                <a:gd name="T7" fmla="*/ 0 h 1"/>
                <a:gd name="T8" fmla="*/ 4418 w 441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97" name="Line 111"/>
            <p:cNvSpPr>
              <a:spLocks noChangeShapeType="1"/>
            </p:cNvSpPr>
            <p:nvPr/>
          </p:nvSpPr>
          <p:spPr bwMode="auto">
            <a:xfrm>
              <a:off x="129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98" name="Line 112"/>
            <p:cNvSpPr>
              <a:spLocks noChangeShapeType="1"/>
            </p:cNvSpPr>
            <p:nvPr/>
          </p:nvSpPr>
          <p:spPr bwMode="auto">
            <a:xfrm>
              <a:off x="186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299" name="Line 113"/>
            <p:cNvSpPr>
              <a:spLocks noChangeShapeType="1"/>
            </p:cNvSpPr>
            <p:nvPr/>
          </p:nvSpPr>
          <p:spPr bwMode="auto">
            <a:xfrm>
              <a:off x="244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00" name="Line 114"/>
            <p:cNvSpPr>
              <a:spLocks noChangeShapeType="1"/>
            </p:cNvSpPr>
            <p:nvPr/>
          </p:nvSpPr>
          <p:spPr bwMode="auto">
            <a:xfrm>
              <a:off x="3020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01" name="Line 115"/>
            <p:cNvSpPr>
              <a:spLocks noChangeShapeType="1"/>
            </p:cNvSpPr>
            <p:nvPr/>
          </p:nvSpPr>
          <p:spPr bwMode="auto">
            <a:xfrm>
              <a:off x="3596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02" name="Line 116"/>
            <p:cNvSpPr>
              <a:spLocks noChangeShapeType="1"/>
            </p:cNvSpPr>
            <p:nvPr/>
          </p:nvSpPr>
          <p:spPr bwMode="auto">
            <a:xfrm>
              <a:off x="4172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03" name="Line 117"/>
            <p:cNvSpPr>
              <a:spLocks noChangeShapeType="1"/>
            </p:cNvSpPr>
            <p:nvPr/>
          </p:nvSpPr>
          <p:spPr bwMode="auto">
            <a:xfrm>
              <a:off x="4748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04" name="Line 118"/>
            <p:cNvSpPr>
              <a:spLocks noChangeShapeType="1"/>
            </p:cNvSpPr>
            <p:nvPr/>
          </p:nvSpPr>
          <p:spPr bwMode="auto">
            <a:xfrm>
              <a:off x="5324" y="2057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05" name="Freeform 119"/>
            <p:cNvSpPr/>
            <p:nvPr/>
          </p:nvSpPr>
          <p:spPr bwMode="auto">
            <a:xfrm>
              <a:off x="909" y="2879"/>
              <a:ext cx="3860" cy="1"/>
            </a:xfrm>
            <a:custGeom>
              <a:avLst/>
              <a:gdLst>
                <a:gd name="T0" fmla="*/ 0 w 3860"/>
                <a:gd name="T1" fmla="*/ 1 h 1"/>
                <a:gd name="T2" fmla="*/ 3860 w 3860"/>
                <a:gd name="T3" fmla="*/ 0 h 1"/>
                <a:gd name="T4" fmla="*/ 0 60000 65536"/>
                <a:gd name="T5" fmla="*/ 0 60000 65536"/>
                <a:gd name="T6" fmla="*/ 0 w 3860"/>
                <a:gd name="T7" fmla="*/ 0 h 1"/>
                <a:gd name="T8" fmla="*/ 3860 w 386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860" h="1">
                  <a:moveTo>
                    <a:pt x="0" y="1"/>
                  </a:moveTo>
                  <a:lnTo>
                    <a:pt x="386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06" name="Freeform 120"/>
            <p:cNvSpPr/>
            <p:nvPr/>
          </p:nvSpPr>
          <p:spPr bwMode="auto">
            <a:xfrm>
              <a:off x="912" y="3209"/>
              <a:ext cx="4418" cy="1"/>
            </a:xfrm>
            <a:custGeom>
              <a:avLst/>
              <a:gdLst>
                <a:gd name="T0" fmla="*/ 0 w 4418"/>
                <a:gd name="T1" fmla="*/ 1 h 1"/>
                <a:gd name="T2" fmla="*/ 4418 w 4418"/>
                <a:gd name="T3" fmla="*/ 0 h 1"/>
                <a:gd name="T4" fmla="*/ 0 60000 65536"/>
                <a:gd name="T5" fmla="*/ 0 60000 65536"/>
                <a:gd name="T6" fmla="*/ 0 w 4418"/>
                <a:gd name="T7" fmla="*/ 0 h 1"/>
                <a:gd name="T8" fmla="*/ 4418 w 441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18" h="1">
                  <a:moveTo>
                    <a:pt x="0" y="1"/>
                  </a:moveTo>
                  <a:lnTo>
                    <a:pt x="4418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07" name="Rectangle 121"/>
            <p:cNvSpPr>
              <a:spLocks noChangeArrowheads="1"/>
            </p:cNvSpPr>
            <p:nvPr/>
          </p:nvSpPr>
          <p:spPr bwMode="auto">
            <a:xfrm>
              <a:off x="114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35308" name="Text Box 122"/>
            <p:cNvSpPr txBox="1">
              <a:spLocks noChangeArrowheads="1"/>
            </p:cNvSpPr>
            <p:nvPr/>
          </p:nvSpPr>
          <p:spPr bwMode="auto">
            <a:xfrm>
              <a:off x="1172" y="3576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</a:p>
          </p:txBody>
        </p:sp>
        <p:sp>
          <p:nvSpPr>
            <p:cNvPr id="135309" name="Freeform 123"/>
            <p:cNvSpPr/>
            <p:nvPr/>
          </p:nvSpPr>
          <p:spPr bwMode="auto">
            <a:xfrm>
              <a:off x="1402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10" name="Freeform 124"/>
            <p:cNvSpPr/>
            <p:nvPr/>
          </p:nvSpPr>
          <p:spPr bwMode="auto">
            <a:xfrm>
              <a:off x="1613" y="1211"/>
              <a:ext cx="169" cy="1469"/>
            </a:xfrm>
            <a:custGeom>
              <a:avLst/>
              <a:gdLst>
                <a:gd name="T0" fmla="*/ 169 w 169"/>
                <a:gd name="T1" fmla="*/ 1468 h 1469"/>
                <a:gd name="T2" fmla="*/ 0 w 169"/>
                <a:gd name="T3" fmla="*/ 1469 h 1469"/>
                <a:gd name="T4" fmla="*/ 1 w 169"/>
                <a:gd name="T5" fmla="*/ 0 h 1469"/>
                <a:gd name="T6" fmla="*/ 105 w 16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9"/>
                <a:gd name="T13" fmla="*/ 0 h 1469"/>
                <a:gd name="T14" fmla="*/ 169 w 169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9" h="1469">
                  <a:moveTo>
                    <a:pt x="169" y="1468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11" name="Freeform 125"/>
            <p:cNvSpPr/>
            <p:nvPr/>
          </p:nvSpPr>
          <p:spPr bwMode="auto">
            <a:xfrm>
              <a:off x="1967" y="1211"/>
              <a:ext cx="141" cy="1466"/>
            </a:xfrm>
            <a:custGeom>
              <a:avLst/>
              <a:gdLst>
                <a:gd name="T0" fmla="*/ 38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1"/>
                <a:gd name="T13" fmla="*/ 0 h 1466"/>
                <a:gd name="T14" fmla="*/ 141 w 141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1" h="1466">
                  <a:moveTo>
                    <a:pt x="38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12" name="Freeform 126"/>
            <p:cNvSpPr/>
            <p:nvPr/>
          </p:nvSpPr>
          <p:spPr bwMode="auto">
            <a:xfrm>
              <a:off x="2208" y="1211"/>
              <a:ext cx="155" cy="1467"/>
            </a:xfrm>
            <a:custGeom>
              <a:avLst/>
              <a:gdLst>
                <a:gd name="T0" fmla="*/ 155 w 155"/>
                <a:gd name="T1" fmla="*/ 1467 h 1467"/>
                <a:gd name="T2" fmla="*/ 3 w 155"/>
                <a:gd name="T3" fmla="*/ 1467 h 1467"/>
                <a:gd name="T4" fmla="*/ 0 w 155"/>
                <a:gd name="T5" fmla="*/ 1 h 1467"/>
                <a:gd name="T6" fmla="*/ 89 w 155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5"/>
                <a:gd name="T13" fmla="*/ 0 h 1467"/>
                <a:gd name="T14" fmla="*/ 155 w 155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5" h="1467">
                  <a:moveTo>
                    <a:pt x="155" y="1467"/>
                  </a:moveTo>
                  <a:lnTo>
                    <a:pt x="3" y="1467"/>
                  </a:lnTo>
                  <a:lnTo>
                    <a:pt x="0" y="1"/>
                  </a:lnTo>
                  <a:lnTo>
                    <a:pt x="89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13" name="Freeform 127"/>
            <p:cNvSpPr/>
            <p:nvPr/>
          </p:nvSpPr>
          <p:spPr bwMode="auto">
            <a:xfrm>
              <a:off x="2557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4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2"/>
                <a:gd name="T13" fmla="*/ 0 h 1466"/>
                <a:gd name="T14" fmla="*/ 142 w 142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4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14" name="Freeform 128"/>
            <p:cNvSpPr/>
            <p:nvPr/>
          </p:nvSpPr>
          <p:spPr bwMode="auto">
            <a:xfrm>
              <a:off x="2787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77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7"/>
                <a:gd name="T14" fmla="*/ 152 w 152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7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15" name="Freeform 129"/>
            <p:cNvSpPr/>
            <p:nvPr/>
          </p:nvSpPr>
          <p:spPr bwMode="auto">
            <a:xfrm>
              <a:off x="3130" y="1211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16" name="Freeform 130"/>
            <p:cNvSpPr/>
            <p:nvPr/>
          </p:nvSpPr>
          <p:spPr bwMode="auto">
            <a:xfrm>
              <a:off x="3360" y="1209"/>
              <a:ext cx="155" cy="1469"/>
            </a:xfrm>
            <a:custGeom>
              <a:avLst/>
              <a:gdLst>
                <a:gd name="T0" fmla="*/ 155 w 155"/>
                <a:gd name="T1" fmla="*/ 1469 h 1469"/>
                <a:gd name="T2" fmla="*/ 3 w 155"/>
                <a:gd name="T3" fmla="*/ 1469 h 1469"/>
                <a:gd name="T4" fmla="*/ 0 w 155"/>
                <a:gd name="T5" fmla="*/ 0 h 1469"/>
                <a:gd name="T6" fmla="*/ 103 w 155"/>
                <a:gd name="T7" fmla="*/ 2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5"/>
                <a:gd name="T13" fmla="*/ 0 h 1469"/>
                <a:gd name="T14" fmla="*/ 155 w 155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5" h="1469">
                  <a:moveTo>
                    <a:pt x="155" y="1469"/>
                  </a:moveTo>
                  <a:lnTo>
                    <a:pt x="3" y="1469"/>
                  </a:lnTo>
                  <a:lnTo>
                    <a:pt x="0" y="0"/>
                  </a:lnTo>
                  <a:lnTo>
                    <a:pt x="103" y="2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17" name="Freeform 131"/>
            <p:cNvSpPr/>
            <p:nvPr/>
          </p:nvSpPr>
          <p:spPr bwMode="auto">
            <a:xfrm>
              <a:off x="3710" y="1211"/>
              <a:ext cx="141" cy="1466"/>
            </a:xfrm>
            <a:custGeom>
              <a:avLst/>
              <a:gdLst>
                <a:gd name="T0" fmla="*/ 42 w 141"/>
                <a:gd name="T1" fmla="*/ 0 h 1466"/>
                <a:gd name="T2" fmla="*/ 141 w 141"/>
                <a:gd name="T3" fmla="*/ 0 h 1466"/>
                <a:gd name="T4" fmla="*/ 140 w 141"/>
                <a:gd name="T5" fmla="*/ 1466 h 1466"/>
                <a:gd name="T6" fmla="*/ 0 w 141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1"/>
                <a:gd name="T13" fmla="*/ 0 h 1466"/>
                <a:gd name="T14" fmla="*/ 141 w 141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1" h="1466">
                  <a:moveTo>
                    <a:pt x="42" y="0"/>
                  </a:moveTo>
                  <a:lnTo>
                    <a:pt x="141" y="0"/>
                  </a:lnTo>
                  <a:lnTo>
                    <a:pt x="140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18" name="Freeform 132"/>
            <p:cNvSpPr/>
            <p:nvPr/>
          </p:nvSpPr>
          <p:spPr bwMode="auto">
            <a:xfrm>
              <a:off x="3939" y="1211"/>
              <a:ext cx="152" cy="1467"/>
            </a:xfrm>
            <a:custGeom>
              <a:avLst/>
              <a:gdLst>
                <a:gd name="T0" fmla="*/ 152 w 152"/>
                <a:gd name="T1" fmla="*/ 1467 h 1467"/>
                <a:gd name="T2" fmla="*/ 0 w 152"/>
                <a:gd name="T3" fmla="*/ 1467 h 1467"/>
                <a:gd name="T4" fmla="*/ 0 w 152"/>
                <a:gd name="T5" fmla="*/ 1 h 1467"/>
                <a:gd name="T6" fmla="*/ 103 w 152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"/>
                <a:gd name="T13" fmla="*/ 0 h 1467"/>
                <a:gd name="T14" fmla="*/ 152 w 152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" h="1467">
                  <a:moveTo>
                    <a:pt x="152" y="1467"/>
                  </a:moveTo>
                  <a:lnTo>
                    <a:pt x="0" y="1467"/>
                  </a:lnTo>
                  <a:lnTo>
                    <a:pt x="0" y="1"/>
                  </a:lnTo>
                  <a:lnTo>
                    <a:pt x="103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19" name="Freeform 133"/>
            <p:cNvSpPr/>
            <p:nvPr/>
          </p:nvSpPr>
          <p:spPr bwMode="auto">
            <a:xfrm>
              <a:off x="4280" y="1211"/>
              <a:ext cx="147" cy="1466"/>
            </a:xfrm>
            <a:custGeom>
              <a:avLst/>
              <a:gdLst>
                <a:gd name="T0" fmla="*/ 51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7"/>
                <a:gd name="T13" fmla="*/ 0 h 1466"/>
                <a:gd name="T14" fmla="*/ 147 w 147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7" h="1466">
                  <a:moveTo>
                    <a:pt x="51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20" name="Freeform 134"/>
            <p:cNvSpPr/>
            <p:nvPr/>
          </p:nvSpPr>
          <p:spPr bwMode="auto">
            <a:xfrm>
              <a:off x="4509" y="1211"/>
              <a:ext cx="158" cy="1467"/>
            </a:xfrm>
            <a:custGeom>
              <a:avLst/>
              <a:gdLst>
                <a:gd name="T0" fmla="*/ 158 w 158"/>
                <a:gd name="T1" fmla="*/ 1467 h 1467"/>
                <a:gd name="T2" fmla="*/ 0 w 158"/>
                <a:gd name="T3" fmla="*/ 1467 h 1467"/>
                <a:gd name="T4" fmla="*/ 0 w 158"/>
                <a:gd name="T5" fmla="*/ 0 h 1467"/>
                <a:gd name="T6" fmla="*/ 95 w 158"/>
                <a:gd name="T7" fmla="*/ 0 h 14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8"/>
                <a:gd name="T13" fmla="*/ 0 h 1467"/>
                <a:gd name="T14" fmla="*/ 158 w 158"/>
                <a:gd name="T15" fmla="*/ 1467 h 14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8" h="1467">
                  <a:moveTo>
                    <a:pt x="158" y="1467"/>
                  </a:moveTo>
                  <a:lnTo>
                    <a:pt x="0" y="1467"/>
                  </a:lnTo>
                  <a:lnTo>
                    <a:pt x="0" y="0"/>
                  </a:lnTo>
                  <a:lnTo>
                    <a:pt x="95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21" name="Freeform 135"/>
            <p:cNvSpPr/>
            <p:nvPr/>
          </p:nvSpPr>
          <p:spPr bwMode="auto">
            <a:xfrm>
              <a:off x="4861" y="1211"/>
              <a:ext cx="142" cy="1466"/>
            </a:xfrm>
            <a:custGeom>
              <a:avLst/>
              <a:gdLst>
                <a:gd name="T0" fmla="*/ 34 w 142"/>
                <a:gd name="T1" fmla="*/ 0 h 1466"/>
                <a:gd name="T2" fmla="*/ 142 w 142"/>
                <a:gd name="T3" fmla="*/ 0 h 1466"/>
                <a:gd name="T4" fmla="*/ 141 w 142"/>
                <a:gd name="T5" fmla="*/ 1466 h 1466"/>
                <a:gd name="T6" fmla="*/ 0 w 142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2"/>
                <a:gd name="T13" fmla="*/ 0 h 1466"/>
                <a:gd name="T14" fmla="*/ 142 w 142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2" h="1466">
                  <a:moveTo>
                    <a:pt x="34" y="0"/>
                  </a:moveTo>
                  <a:lnTo>
                    <a:pt x="142" y="0"/>
                  </a:lnTo>
                  <a:lnTo>
                    <a:pt x="141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22" name="Freeform 136"/>
            <p:cNvSpPr/>
            <p:nvPr/>
          </p:nvSpPr>
          <p:spPr bwMode="auto">
            <a:xfrm>
              <a:off x="5069" y="1211"/>
              <a:ext cx="159" cy="1469"/>
            </a:xfrm>
            <a:custGeom>
              <a:avLst/>
              <a:gdLst>
                <a:gd name="T0" fmla="*/ 159 w 159"/>
                <a:gd name="T1" fmla="*/ 1467 h 1469"/>
                <a:gd name="T2" fmla="*/ 0 w 159"/>
                <a:gd name="T3" fmla="*/ 1469 h 1469"/>
                <a:gd name="T4" fmla="*/ 1 w 159"/>
                <a:gd name="T5" fmla="*/ 0 h 1469"/>
                <a:gd name="T6" fmla="*/ 104 w 159"/>
                <a:gd name="T7" fmla="*/ 0 h 14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9"/>
                <a:gd name="T13" fmla="*/ 0 h 1469"/>
                <a:gd name="T14" fmla="*/ 159 w 159"/>
                <a:gd name="T15" fmla="*/ 1469 h 14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9" h="1469">
                  <a:moveTo>
                    <a:pt x="159" y="1467"/>
                  </a:moveTo>
                  <a:lnTo>
                    <a:pt x="0" y="1469"/>
                  </a:lnTo>
                  <a:lnTo>
                    <a:pt x="1" y="0"/>
                  </a:lnTo>
                  <a:lnTo>
                    <a:pt x="104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23" name="Freeform 137"/>
            <p:cNvSpPr/>
            <p:nvPr/>
          </p:nvSpPr>
          <p:spPr bwMode="auto">
            <a:xfrm>
              <a:off x="5417" y="1211"/>
              <a:ext cx="147" cy="1466"/>
            </a:xfrm>
            <a:custGeom>
              <a:avLst/>
              <a:gdLst>
                <a:gd name="T0" fmla="*/ 47 w 147"/>
                <a:gd name="T1" fmla="*/ 0 h 1466"/>
                <a:gd name="T2" fmla="*/ 147 w 147"/>
                <a:gd name="T3" fmla="*/ 0 h 1466"/>
                <a:gd name="T4" fmla="*/ 146 w 147"/>
                <a:gd name="T5" fmla="*/ 1466 h 1466"/>
                <a:gd name="T6" fmla="*/ 0 w 147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7"/>
                <a:gd name="T13" fmla="*/ 0 h 1466"/>
                <a:gd name="T14" fmla="*/ 147 w 147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7" h="1466">
                  <a:moveTo>
                    <a:pt x="47" y="0"/>
                  </a:moveTo>
                  <a:lnTo>
                    <a:pt x="147" y="0"/>
                  </a:lnTo>
                  <a:lnTo>
                    <a:pt x="146" y="1466"/>
                  </a:lnTo>
                  <a:lnTo>
                    <a:pt x="0" y="14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24" name="Freeform 138"/>
            <p:cNvSpPr/>
            <p:nvPr/>
          </p:nvSpPr>
          <p:spPr bwMode="auto">
            <a:xfrm>
              <a:off x="1055" y="2738"/>
              <a:ext cx="730" cy="660"/>
            </a:xfrm>
            <a:custGeom>
              <a:avLst/>
              <a:gdLst>
                <a:gd name="T0" fmla="*/ 160 w 730"/>
                <a:gd name="T1" fmla="*/ 4 h 660"/>
                <a:gd name="T2" fmla="*/ 0 w 730"/>
                <a:gd name="T3" fmla="*/ 3 h 660"/>
                <a:gd name="T4" fmla="*/ 0 w 730"/>
                <a:gd name="T5" fmla="*/ 660 h 660"/>
                <a:gd name="T6" fmla="*/ 558 w 730"/>
                <a:gd name="T7" fmla="*/ 657 h 660"/>
                <a:gd name="T8" fmla="*/ 558 w 730"/>
                <a:gd name="T9" fmla="*/ 0 h 660"/>
                <a:gd name="T10" fmla="*/ 730 w 730"/>
                <a:gd name="T11" fmla="*/ 1 h 6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30"/>
                <a:gd name="T19" fmla="*/ 0 h 660"/>
                <a:gd name="T20" fmla="*/ 730 w 730"/>
                <a:gd name="T21" fmla="*/ 660 h 6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30" h="660">
                  <a:moveTo>
                    <a:pt x="160" y="4"/>
                  </a:moveTo>
                  <a:lnTo>
                    <a:pt x="0" y="3"/>
                  </a:lnTo>
                  <a:lnTo>
                    <a:pt x="0" y="660"/>
                  </a:lnTo>
                  <a:lnTo>
                    <a:pt x="558" y="657"/>
                  </a:lnTo>
                  <a:lnTo>
                    <a:pt x="558" y="0"/>
                  </a:lnTo>
                  <a:lnTo>
                    <a:pt x="730" y="1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25" name="Freeform 139"/>
            <p:cNvSpPr/>
            <p:nvPr/>
          </p:nvSpPr>
          <p:spPr bwMode="auto">
            <a:xfrm>
              <a:off x="2207" y="2744"/>
              <a:ext cx="729" cy="658"/>
            </a:xfrm>
            <a:custGeom>
              <a:avLst/>
              <a:gdLst>
                <a:gd name="T0" fmla="*/ 153 w 729"/>
                <a:gd name="T1" fmla="*/ 0 h 658"/>
                <a:gd name="T2" fmla="*/ 0 w 729"/>
                <a:gd name="T3" fmla="*/ 0 h 658"/>
                <a:gd name="T4" fmla="*/ 0 w 729"/>
                <a:gd name="T5" fmla="*/ 657 h 658"/>
                <a:gd name="T6" fmla="*/ 583 w 729"/>
                <a:gd name="T7" fmla="*/ 658 h 658"/>
                <a:gd name="T8" fmla="*/ 582 w 729"/>
                <a:gd name="T9" fmla="*/ 3 h 658"/>
                <a:gd name="T10" fmla="*/ 729 w 729"/>
                <a:gd name="T11" fmla="*/ 3 h 6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8"/>
                <a:gd name="T20" fmla="*/ 729 w 729"/>
                <a:gd name="T21" fmla="*/ 658 h 65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8">
                  <a:moveTo>
                    <a:pt x="153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83" y="658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26" name="Freeform 140"/>
            <p:cNvSpPr/>
            <p:nvPr/>
          </p:nvSpPr>
          <p:spPr bwMode="auto">
            <a:xfrm>
              <a:off x="3356" y="2744"/>
              <a:ext cx="729" cy="657"/>
            </a:xfrm>
            <a:custGeom>
              <a:avLst/>
              <a:gdLst>
                <a:gd name="T0" fmla="*/ 158 w 729"/>
                <a:gd name="T1" fmla="*/ 0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7"/>
                <a:gd name="T20" fmla="*/ 729 w 729"/>
                <a:gd name="T21" fmla="*/ 657 h 65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7">
                  <a:moveTo>
                    <a:pt x="158" y="0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27" name="Freeform 141"/>
            <p:cNvSpPr/>
            <p:nvPr/>
          </p:nvSpPr>
          <p:spPr bwMode="auto">
            <a:xfrm>
              <a:off x="4508" y="2744"/>
              <a:ext cx="729" cy="657"/>
            </a:xfrm>
            <a:custGeom>
              <a:avLst/>
              <a:gdLst>
                <a:gd name="T0" fmla="*/ 161 w 729"/>
                <a:gd name="T1" fmla="*/ 2 h 657"/>
                <a:gd name="T2" fmla="*/ 0 w 729"/>
                <a:gd name="T3" fmla="*/ 0 h 657"/>
                <a:gd name="T4" fmla="*/ 0 w 729"/>
                <a:gd name="T5" fmla="*/ 657 h 657"/>
                <a:gd name="T6" fmla="*/ 579 w 729"/>
                <a:gd name="T7" fmla="*/ 654 h 657"/>
                <a:gd name="T8" fmla="*/ 582 w 729"/>
                <a:gd name="T9" fmla="*/ 3 h 657"/>
                <a:gd name="T10" fmla="*/ 729 w 729"/>
                <a:gd name="T11" fmla="*/ 3 h 6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9"/>
                <a:gd name="T19" fmla="*/ 0 h 657"/>
                <a:gd name="T20" fmla="*/ 729 w 729"/>
                <a:gd name="T21" fmla="*/ 657 h 65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9" h="657">
                  <a:moveTo>
                    <a:pt x="161" y="2"/>
                  </a:moveTo>
                  <a:lnTo>
                    <a:pt x="0" y="0"/>
                  </a:lnTo>
                  <a:lnTo>
                    <a:pt x="0" y="657"/>
                  </a:lnTo>
                  <a:lnTo>
                    <a:pt x="579" y="654"/>
                  </a:lnTo>
                  <a:lnTo>
                    <a:pt x="582" y="3"/>
                  </a:lnTo>
                  <a:lnTo>
                    <a:pt x="729" y="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28" name="Freeform 142"/>
            <p:cNvSpPr/>
            <p:nvPr/>
          </p:nvSpPr>
          <p:spPr bwMode="auto">
            <a:xfrm>
              <a:off x="1400" y="2735"/>
              <a:ext cx="708" cy="571"/>
            </a:xfrm>
            <a:custGeom>
              <a:avLst/>
              <a:gdLst>
                <a:gd name="T0" fmla="*/ 0 w 708"/>
                <a:gd name="T1" fmla="*/ 0 h 571"/>
                <a:gd name="T2" fmla="*/ 132 w 708"/>
                <a:gd name="T3" fmla="*/ 0 h 571"/>
                <a:gd name="T4" fmla="*/ 133 w 708"/>
                <a:gd name="T5" fmla="*/ 571 h 571"/>
                <a:gd name="T6" fmla="*/ 708 w 708"/>
                <a:gd name="T7" fmla="*/ 570 h 571"/>
                <a:gd name="T8" fmla="*/ 708 w 708"/>
                <a:gd name="T9" fmla="*/ 9 h 571"/>
                <a:gd name="T10" fmla="*/ 573 w 708"/>
                <a:gd name="T11" fmla="*/ 9 h 5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08"/>
                <a:gd name="T19" fmla="*/ 0 h 571"/>
                <a:gd name="T20" fmla="*/ 708 w 708"/>
                <a:gd name="T21" fmla="*/ 571 h 57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08" h="571">
                  <a:moveTo>
                    <a:pt x="0" y="0"/>
                  </a:moveTo>
                  <a:lnTo>
                    <a:pt x="132" y="0"/>
                  </a:lnTo>
                  <a:lnTo>
                    <a:pt x="133" y="571"/>
                  </a:lnTo>
                  <a:lnTo>
                    <a:pt x="708" y="570"/>
                  </a:lnTo>
                  <a:lnTo>
                    <a:pt x="708" y="9"/>
                  </a:lnTo>
                  <a:lnTo>
                    <a:pt x="573" y="9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29" name="Freeform 143"/>
            <p:cNvSpPr/>
            <p:nvPr/>
          </p:nvSpPr>
          <p:spPr bwMode="auto">
            <a:xfrm>
              <a:off x="2552" y="2735"/>
              <a:ext cx="726" cy="567"/>
            </a:xfrm>
            <a:custGeom>
              <a:avLst/>
              <a:gdLst>
                <a:gd name="T0" fmla="*/ 0 w 726"/>
                <a:gd name="T1" fmla="*/ 0 h 567"/>
                <a:gd name="T2" fmla="*/ 148 w 726"/>
                <a:gd name="T3" fmla="*/ 1 h 567"/>
                <a:gd name="T4" fmla="*/ 147 w 726"/>
                <a:gd name="T5" fmla="*/ 567 h 567"/>
                <a:gd name="T6" fmla="*/ 726 w 726"/>
                <a:gd name="T7" fmla="*/ 567 h 567"/>
                <a:gd name="T8" fmla="*/ 726 w 726"/>
                <a:gd name="T9" fmla="*/ 6 h 567"/>
                <a:gd name="T10" fmla="*/ 579 w 726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6"/>
                <a:gd name="T19" fmla="*/ 0 h 567"/>
                <a:gd name="T20" fmla="*/ 726 w 726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6" h="567">
                  <a:moveTo>
                    <a:pt x="0" y="0"/>
                  </a:moveTo>
                  <a:lnTo>
                    <a:pt x="148" y="1"/>
                  </a:lnTo>
                  <a:lnTo>
                    <a:pt x="147" y="567"/>
                  </a:lnTo>
                  <a:lnTo>
                    <a:pt x="726" y="567"/>
                  </a:lnTo>
                  <a:lnTo>
                    <a:pt x="726" y="6"/>
                  </a:lnTo>
                  <a:lnTo>
                    <a:pt x="579" y="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30" name="Freeform 144"/>
            <p:cNvSpPr/>
            <p:nvPr/>
          </p:nvSpPr>
          <p:spPr bwMode="auto">
            <a:xfrm>
              <a:off x="3704" y="2738"/>
              <a:ext cx="714" cy="567"/>
            </a:xfrm>
            <a:custGeom>
              <a:avLst/>
              <a:gdLst>
                <a:gd name="T0" fmla="*/ 0 w 714"/>
                <a:gd name="T1" fmla="*/ 0 h 567"/>
                <a:gd name="T2" fmla="*/ 136 w 714"/>
                <a:gd name="T3" fmla="*/ 1 h 567"/>
                <a:gd name="T4" fmla="*/ 135 w 714"/>
                <a:gd name="T5" fmla="*/ 567 h 567"/>
                <a:gd name="T6" fmla="*/ 714 w 714"/>
                <a:gd name="T7" fmla="*/ 567 h 567"/>
                <a:gd name="T8" fmla="*/ 714 w 714"/>
                <a:gd name="T9" fmla="*/ 6 h 567"/>
                <a:gd name="T10" fmla="*/ 576 w 714"/>
                <a:gd name="T11" fmla="*/ 5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4"/>
                <a:gd name="T19" fmla="*/ 0 h 567"/>
                <a:gd name="T20" fmla="*/ 714 w 714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4" h="567">
                  <a:moveTo>
                    <a:pt x="0" y="0"/>
                  </a:moveTo>
                  <a:lnTo>
                    <a:pt x="136" y="1"/>
                  </a:lnTo>
                  <a:lnTo>
                    <a:pt x="135" y="567"/>
                  </a:lnTo>
                  <a:lnTo>
                    <a:pt x="714" y="567"/>
                  </a:lnTo>
                  <a:lnTo>
                    <a:pt x="714" y="6"/>
                  </a:lnTo>
                  <a:lnTo>
                    <a:pt x="576" y="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31" name="Freeform 145"/>
            <p:cNvSpPr/>
            <p:nvPr/>
          </p:nvSpPr>
          <p:spPr bwMode="auto">
            <a:xfrm>
              <a:off x="4859" y="2738"/>
              <a:ext cx="711" cy="567"/>
            </a:xfrm>
            <a:custGeom>
              <a:avLst/>
              <a:gdLst>
                <a:gd name="T0" fmla="*/ 0 w 711"/>
                <a:gd name="T1" fmla="*/ 0 h 567"/>
                <a:gd name="T2" fmla="*/ 130 w 711"/>
                <a:gd name="T3" fmla="*/ 1 h 567"/>
                <a:gd name="T4" fmla="*/ 132 w 711"/>
                <a:gd name="T5" fmla="*/ 567 h 567"/>
                <a:gd name="T6" fmla="*/ 711 w 711"/>
                <a:gd name="T7" fmla="*/ 567 h 567"/>
                <a:gd name="T8" fmla="*/ 711 w 711"/>
                <a:gd name="T9" fmla="*/ 6 h 567"/>
                <a:gd name="T10" fmla="*/ 564 w 711"/>
                <a:gd name="T11" fmla="*/ 6 h 5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1"/>
                <a:gd name="T19" fmla="*/ 0 h 567"/>
                <a:gd name="T20" fmla="*/ 711 w 711"/>
                <a:gd name="T21" fmla="*/ 567 h 56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1" h="567">
                  <a:moveTo>
                    <a:pt x="0" y="0"/>
                  </a:moveTo>
                  <a:lnTo>
                    <a:pt x="130" y="1"/>
                  </a:lnTo>
                  <a:lnTo>
                    <a:pt x="132" y="567"/>
                  </a:lnTo>
                  <a:lnTo>
                    <a:pt x="711" y="567"/>
                  </a:lnTo>
                  <a:lnTo>
                    <a:pt x="711" y="6"/>
                  </a:lnTo>
                  <a:lnTo>
                    <a:pt x="564" y="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32" name="Freeform 146"/>
            <p:cNvSpPr/>
            <p:nvPr/>
          </p:nvSpPr>
          <p:spPr bwMode="auto">
            <a:xfrm>
              <a:off x="1322" y="3398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33" name="Freeform 147"/>
            <p:cNvSpPr/>
            <p:nvPr/>
          </p:nvSpPr>
          <p:spPr bwMode="auto">
            <a:xfrm>
              <a:off x="2491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34" name="Freeform 148"/>
            <p:cNvSpPr/>
            <p:nvPr/>
          </p:nvSpPr>
          <p:spPr bwMode="auto">
            <a:xfrm>
              <a:off x="3643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35" name="Freeform 149"/>
            <p:cNvSpPr/>
            <p:nvPr/>
          </p:nvSpPr>
          <p:spPr bwMode="auto">
            <a:xfrm>
              <a:off x="4795" y="3401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0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0" y="15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36" name="Freeform 150"/>
            <p:cNvSpPr/>
            <p:nvPr/>
          </p:nvSpPr>
          <p:spPr bwMode="auto">
            <a:xfrm>
              <a:off x="5276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37" name="Freeform 151"/>
            <p:cNvSpPr/>
            <p:nvPr/>
          </p:nvSpPr>
          <p:spPr bwMode="auto">
            <a:xfrm>
              <a:off x="4124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38" name="Freeform 152"/>
            <p:cNvSpPr/>
            <p:nvPr/>
          </p:nvSpPr>
          <p:spPr bwMode="auto">
            <a:xfrm>
              <a:off x="2972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39" name="Freeform 153"/>
            <p:cNvSpPr/>
            <p:nvPr/>
          </p:nvSpPr>
          <p:spPr bwMode="auto">
            <a:xfrm>
              <a:off x="1819" y="3305"/>
              <a:ext cx="1" cy="246"/>
            </a:xfrm>
            <a:custGeom>
              <a:avLst/>
              <a:gdLst>
                <a:gd name="T0" fmla="*/ 0 w 1"/>
                <a:gd name="T1" fmla="*/ 0 h 246"/>
                <a:gd name="T2" fmla="*/ 0 w 1"/>
                <a:gd name="T3" fmla="*/ 246 h 246"/>
                <a:gd name="T4" fmla="*/ 0 60000 65536"/>
                <a:gd name="T5" fmla="*/ 0 60000 65536"/>
                <a:gd name="T6" fmla="*/ 0 w 1"/>
                <a:gd name="T7" fmla="*/ 0 h 246"/>
                <a:gd name="T8" fmla="*/ 1 w 1"/>
                <a:gd name="T9" fmla="*/ 246 h 2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6">
                  <a:moveTo>
                    <a:pt x="0" y="0"/>
                  </a:moveTo>
                  <a:lnTo>
                    <a:pt x="0" y="24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40" name="Freeform 154"/>
            <p:cNvSpPr/>
            <p:nvPr/>
          </p:nvSpPr>
          <p:spPr bwMode="auto">
            <a:xfrm>
              <a:off x="956" y="4025"/>
              <a:ext cx="4317" cy="1"/>
            </a:xfrm>
            <a:custGeom>
              <a:avLst/>
              <a:gdLst>
                <a:gd name="T0" fmla="*/ 0 w 4317"/>
                <a:gd name="T1" fmla="*/ 0 h 1"/>
                <a:gd name="T2" fmla="*/ 4317 w 4317"/>
                <a:gd name="T3" fmla="*/ 0 h 1"/>
                <a:gd name="T4" fmla="*/ 0 60000 65536"/>
                <a:gd name="T5" fmla="*/ 0 60000 65536"/>
                <a:gd name="T6" fmla="*/ 0 w 4317"/>
                <a:gd name="T7" fmla="*/ 0 h 1"/>
                <a:gd name="T8" fmla="*/ 4317 w 431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317" h="1">
                  <a:moveTo>
                    <a:pt x="0" y="0"/>
                  </a:moveTo>
                  <a:lnTo>
                    <a:pt x="431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41" name="Freeform 155"/>
            <p:cNvSpPr/>
            <p:nvPr/>
          </p:nvSpPr>
          <p:spPr bwMode="auto">
            <a:xfrm>
              <a:off x="956" y="4121"/>
              <a:ext cx="3837" cy="1"/>
            </a:xfrm>
            <a:custGeom>
              <a:avLst/>
              <a:gdLst>
                <a:gd name="T0" fmla="*/ 0 w 3837"/>
                <a:gd name="T1" fmla="*/ 0 h 1"/>
                <a:gd name="T2" fmla="*/ 3837 w 3837"/>
                <a:gd name="T3" fmla="*/ 0 h 1"/>
                <a:gd name="T4" fmla="*/ 0 60000 65536"/>
                <a:gd name="T5" fmla="*/ 0 60000 65536"/>
                <a:gd name="T6" fmla="*/ 0 w 3837"/>
                <a:gd name="T7" fmla="*/ 0 h 1"/>
                <a:gd name="T8" fmla="*/ 3837 w 383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837" h="1">
                  <a:moveTo>
                    <a:pt x="0" y="0"/>
                  </a:moveTo>
                  <a:lnTo>
                    <a:pt x="3837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42" name="Freeform 156"/>
            <p:cNvSpPr/>
            <p:nvPr/>
          </p:nvSpPr>
          <p:spPr bwMode="auto">
            <a:xfrm>
              <a:off x="1322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43" name="Freeform 157"/>
            <p:cNvSpPr/>
            <p:nvPr/>
          </p:nvSpPr>
          <p:spPr bwMode="auto">
            <a:xfrm>
              <a:off x="2491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44" name="Freeform 158"/>
            <p:cNvSpPr/>
            <p:nvPr/>
          </p:nvSpPr>
          <p:spPr bwMode="auto">
            <a:xfrm>
              <a:off x="3643" y="3881"/>
              <a:ext cx="1" cy="243"/>
            </a:xfrm>
            <a:custGeom>
              <a:avLst/>
              <a:gdLst>
                <a:gd name="T0" fmla="*/ 0 w 1"/>
                <a:gd name="T1" fmla="*/ 0 h 243"/>
                <a:gd name="T2" fmla="*/ 0 w 1"/>
                <a:gd name="T3" fmla="*/ 243 h 243"/>
                <a:gd name="T4" fmla="*/ 0 60000 65536"/>
                <a:gd name="T5" fmla="*/ 0 60000 65536"/>
                <a:gd name="T6" fmla="*/ 0 w 1"/>
                <a:gd name="T7" fmla="*/ 0 h 243"/>
                <a:gd name="T8" fmla="*/ 1 w 1"/>
                <a:gd name="T9" fmla="*/ 243 h 2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43">
                  <a:moveTo>
                    <a:pt x="0" y="0"/>
                  </a:moveTo>
                  <a:lnTo>
                    <a:pt x="0" y="243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45" name="Freeform 159"/>
            <p:cNvSpPr/>
            <p:nvPr/>
          </p:nvSpPr>
          <p:spPr bwMode="auto">
            <a:xfrm>
              <a:off x="4791" y="3881"/>
              <a:ext cx="4" cy="247"/>
            </a:xfrm>
            <a:custGeom>
              <a:avLst/>
              <a:gdLst>
                <a:gd name="T0" fmla="*/ 4 w 4"/>
                <a:gd name="T1" fmla="*/ 0 h 247"/>
                <a:gd name="T2" fmla="*/ 0 w 4"/>
                <a:gd name="T3" fmla="*/ 247 h 247"/>
                <a:gd name="T4" fmla="*/ 0 60000 65536"/>
                <a:gd name="T5" fmla="*/ 0 60000 65536"/>
                <a:gd name="T6" fmla="*/ 0 w 4"/>
                <a:gd name="T7" fmla="*/ 0 h 247"/>
                <a:gd name="T8" fmla="*/ 4 w 4"/>
                <a:gd name="T9" fmla="*/ 247 h 24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247">
                  <a:moveTo>
                    <a:pt x="4" y="0"/>
                  </a:moveTo>
                  <a:lnTo>
                    <a:pt x="0" y="247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46" name="Freeform 160"/>
            <p:cNvSpPr/>
            <p:nvPr/>
          </p:nvSpPr>
          <p:spPr bwMode="auto">
            <a:xfrm>
              <a:off x="5277" y="3881"/>
              <a:ext cx="1" cy="151"/>
            </a:xfrm>
            <a:custGeom>
              <a:avLst/>
              <a:gdLst>
                <a:gd name="T0" fmla="*/ 0 w 1"/>
                <a:gd name="T1" fmla="*/ 0 h 151"/>
                <a:gd name="T2" fmla="*/ 0 w 1"/>
                <a:gd name="T3" fmla="*/ 151 h 151"/>
                <a:gd name="T4" fmla="*/ 0 60000 65536"/>
                <a:gd name="T5" fmla="*/ 0 60000 65536"/>
                <a:gd name="T6" fmla="*/ 0 w 1"/>
                <a:gd name="T7" fmla="*/ 0 h 151"/>
                <a:gd name="T8" fmla="*/ 1 w 1"/>
                <a:gd name="T9" fmla="*/ 151 h 15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1">
                  <a:moveTo>
                    <a:pt x="0" y="0"/>
                  </a:moveTo>
                  <a:lnTo>
                    <a:pt x="0" y="15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47" name="Line 161"/>
            <p:cNvSpPr>
              <a:spLocks noChangeShapeType="1"/>
            </p:cNvSpPr>
            <p:nvPr/>
          </p:nvSpPr>
          <p:spPr bwMode="auto">
            <a:xfrm>
              <a:off x="4124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48" name="Line 162"/>
            <p:cNvSpPr>
              <a:spLocks noChangeShapeType="1"/>
            </p:cNvSpPr>
            <p:nvPr/>
          </p:nvSpPr>
          <p:spPr bwMode="auto">
            <a:xfrm>
              <a:off x="2973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49" name="Line 163"/>
            <p:cNvSpPr>
              <a:spLocks noChangeShapeType="1"/>
            </p:cNvSpPr>
            <p:nvPr/>
          </p:nvSpPr>
          <p:spPr bwMode="auto">
            <a:xfrm>
              <a:off x="1820" y="3881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50" name="Rectangle 164"/>
            <p:cNvSpPr>
              <a:spLocks noChangeArrowheads="1"/>
            </p:cNvSpPr>
            <p:nvPr/>
          </p:nvSpPr>
          <p:spPr bwMode="auto">
            <a:xfrm>
              <a:off x="2317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35351" name="Text Box 165"/>
            <p:cNvSpPr txBox="1">
              <a:spLocks noChangeArrowheads="1"/>
            </p:cNvSpPr>
            <p:nvPr/>
          </p:nvSpPr>
          <p:spPr bwMode="auto">
            <a:xfrm>
              <a:off x="2348" y="3576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</a:p>
          </p:txBody>
        </p:sp>
        <p:sp>
          <p:nvSpPr>
            <p:cNvPr id="135352" name="Rectangle 166"/>
            <p:cNvSpPr>
              <a:spLocks noChangeArrowheads="1"/>
            </p:cNvSpPr>
            <p:nvPr/>
          </p:nvSpPr>
          <p:spPr bwMode="auto">
            <a:xfrm>
              <a:off x="3469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35353" name="Text Box 167"/>
            <p:cNvSpPr txBox="1">
              <a:spLocks noChangeArrowheads="1"/>
            </p:cNvSpPr>
            <p:nvPr/>
          </p:nvSpPr>
          <p:spPr bwMode="auto">
            <a:xfrm>
              <a:off x="3500" y="3576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</a:p>
          </p:txBody>
        </p:sp>
        <p:sp>
          <p:nvSpPr>
            <p:cNvPr id="135354" name="Rectangle 168"/>
            <p:cNvSpPr>
              <a:spLocks noChangeArrowheads="1"/>
            </p:cNvSpPr>
            <p:nvPr/>
          </p:nvSpPr>
          <p:spPr bwMode="auto">
            <a:xfrm>
              <a:off x="4621" y="3545"/>
              <a:ext cx="823" cy="33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35355" name="Text Box 169"/>
            <p:cNvSpPr txBox="1">
              <a:spLocks noChangeArrowheads="1"/>
            </p:cNvSpPr>
            <p:nvPr/>
          </p:nvSpPr>
          <p:spPr bwMode="auto">
            <a:xfrm>
              <a:off x="4652" y="3576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读写电路</a:t>
              </a:r>
            </a:p>
          </p:txBody>
        </p:sp>
        <p:sp>
          <p:nvSpPr>
            <p:cNvPr id="135356" name="Line 170"/>
            <p:cNvSpPr>
              <a:spLocks noChangeShapeType="1"/>
            </p:cNvSpPr>
            <p:nvPr/>
          </p:nvSpPr>
          <p:spPr bwMode="auto">
            <a:xfrm>
              <a:off x="196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57" name="Line 171"/>
            <p:cNvSpPr>
              <a:spLocks noChangeShapeType="1"/>
            </p:cNvSpPr>
            <p:nvPr/>
          </p:nvSpPr>
          <p:spPr bwMode="auto">
            <a:xfrm>
              <a:off x="3144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58" name="Line 172"/>
            <p:cNvSpPr>
              <a:spLocks noChangeShapeType="1"/>
            </p:cNvSpPr>
            <p:nvPr/>
          </p:nvSpPr>
          <p:spPr bwMode="auto">
            <a:xfrm>
              <a:off x="4293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59" name="Line 173"/>
            <p:cNvSpPr>
              <a:spLocks noChangeShapeType="1"/>
            </p:cNvSpPr>
            <p:nvPr/>
          </p:nvSpPr>
          <p:spPr bwMode="auto">
            <a:xfrm>
              <a:off x="5420" y="3737"/>
              <a:ext cx="1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60" name="Freeform 174"/>
            <p:cNvSpPr/>
            <p:nvPr/>
          </p:nvSpPr>
          <p:spPr bwMode="auto">
            <a:xfrm>
              <a:off x="3033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7711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61" name="Freeform 175"/>
            <p:cNvSpPr/>
            <p:nvPr/>
          </p:nvSpPr>
          <p:spPr bwMode="auto">
            <a:xfrm>
              <a:off x="4185" y="2691"/>
              <a:ext cx="1" cy="525"/>
            </a:xfrm>
            <a:custGeom>
              <a:avLst/>
              <a:gdLst>
                <a:gd name="T0" fmla="*/ 0 w 1"/>
                <a:gd name="T1" fmla="*/ 0 h 525"/>
                <a:gd name="T2" fmla="*/ 0 w 1"/>
                <a:gd name="T3" fmla="*/ 525 h 525"/>
                <a:gd name="T4" fmla="*/ 0 60000 65536"/>
                <a:gd name="T5" fmla="*/ 0 60000 65536"/>
                <a:gd name="T6" fmla="*/ 0 w 1"/>
                <a:gd name="T7" fmla="*/ 0 h 525"/>
                <a:gd name="T8" fmla="*/ 1 w 1"/>
                <a:gd name="T9" fmla="*/ 525 h 52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5">
                  <a:moveTo>
                    <a:pt x="0" y="0"/>
                  </a:moveTo>
                  <a:lnTo>
                    <a:pt x="0" y="525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62" name="Freeform 176"/>
            <p:cNvSpPr/>
            <p:nvPr/>
          </p:nvSpPr>
          <p:spPr bwMode="auto">
            <a:xfrm>
              <a:off x="5325" y="2708"/>
              <a:ext cx="47" cy="501"/>
            </a:xfrm>
            <a:custGeom>
              <a:avLst/>
              <a:gdLst>
                <a:gd name="T0" fmla="*/ 0 w 1"/>
                <a:gd name="T1" fmla="*/ 0 h 406"/>
                <a:gd name="T2" fmla="*/ 0 w 1"/>
                <a:gd name="T3" fmla="*/ 7711 h 406"/>
                <a:gd name="T4" fmla="*/ 0 60000 65536"/>
                <a:gd name="T5" fmla="*/ 0 60000 65536"/>
                <a:gd name="T6" fmla="*/ 0 w 1"/>
                <a:gd name="T7" fmla="*/ 0 h 406"/>
                <a:gd name="T8" fmla="*/ 1 w 1"/>
                <a:gd name="T9" fmla="*/ 406 h 40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06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oval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63" name="Text Box 177"/>
            <p:cNvSpPr txBox="1">
              <a:spLocks noChangeArrowheads="1"/>
            </p:cNvSpPr>
            <p:nvPr/>
          </p:nvSpPr>
          <p:spPr bwMode="auto">
            <a:xfrm rot="5400000">
              <a:off x="1193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5364" name="Text Box 178"/>
            <p:cNvSpPr txBox="1">
              <a:spLocks noChangeArrowheads="1"/>
            </p:cNvSpPr>
            <p:nvPr/>
          </p:nvSpPr>
          <p:spPr bwMode="auto">
            <a:xfrm rot="5400000">
              <a:off x="1769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5365" name="Text Box 179"/>
            <p:cNvSpPr txBox="1">
              <a:spLocks noChangeArrowheads="1"/>
            </p:cNvSpPr>
            <p:nvPr/>
          </p:nvSpPr>
          <p:spPr bwMode="auto">
            <a:xfrm rot="5400000">
              <a:off x="2345" y="164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5366" name="Text Box 180"/>
            <p:cNvSpPr txBox="1">
              <a:spLocks noChangeArrowheads="1"/>
            </p:cNvSpPr>
            <p:nvPr/>
          </p:nvSpPr>
          <p:spPr bwMode="auto">
            <a:xfrm rot="5400000">
              <a:off x="2921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5367" name="Text Box 181"/>
            <p:cNvSpPr txBox="1">
              <a:spLocks noChangeArrowheads="1"/>
            </p:cNvSpPr>
            <p:nvPr/>
          </p:nvSpPr>
          <p:spPr bwMode="auto">
            <a:xfrm rot="5400000">
              <a:off x="3496" y="1627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135368" name="Text Box 182"/>
            <p:cNvSpPr txBox="1">
              <a:spLocks noChangeArrowheads="1"/>
            </p:cNvSpPr>
            <p:nvPr/>
          </p:nvSpPr>
          <p:spPr bwMode="auto">
            <a:xfrm rot="5400000">
              <a:off x="4073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135369" name="Text Box 183"/>
            <p:cNvSpPr txBox="1">
              <a:spLocks noChangeArrowheads="1"/>
            </p:cNvSpPr>
            <p:nvPr/>
          </p:nvSpPr>
          <p:spPr bwMode="auto">
            <a:xfrm rot="5400000">
              <a:off x="4649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135370" name="Text Box 184"/>
            <p:cNvSpPr txBox="1">
              <a:spLocks noChangeArrowheads="1"/>
            </p:cNvSpPr>
            <p:nvPr/>
          </p:nvSpPr>
          <p:spPr bwMode="auto">
            <a:xfrm rot="5400000">
              <a:off x="5244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  <a:endParaRPr lang="en-US" altLang="zh-CN" sz="3200">
                <a:latin typeface="Times New Roman" panose="02020603050405020304" pitchFamily="18" charset="0"/>
              </a:endParaRPr>
            </a:p>
          </p:txBody>
        </p:sp>
        <p:sp>
          <p:nvSpPr>
            <p:cNvPr id="135371" name="Text Box 185"/>
            <p:cNvSpPr txBox="1">
              <a:spLocks noChangeArrowheads="1"/>
            </p:cNvSpPr>
            <p:nvPr/>
          </p:nvSpPr>
          <p:spPr bwMode="auto">
            <a:xfrm>
              <a:off x="660" y="791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5372" name="Text Box 186"/>
            <p:cNvSpPr txBox="1">
              <a:spLocks noChangeArrowheads="1"/>
            </p:cNvSpPr>
            <p:nvPr/>
          </p:nvSpPr>
          <p:spPr bwMode="auto">
            <a:xfrm>
              <a:off x="660" y="1383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35373" name="Text Box 187"/>
            <p:cNvSpPr txBox="1">
              <a:spLocks noChangeArrowheads="1"/>
            </p:cNvSpPr>
            <p:nvPr/>
          </p:nvSpPr>
          <p:spPr bwMode="auto">
            <a:xfrm>
              <a:off x="624" y="1959"/>
              <a:ext cx="2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63</a:t>
              </a:r>
            </a:p>
          </p:txBody>
        </p:sp>
        <p:sp>
          <p:nvSpPr>
            <p:cNvPr id="135374" name="Line 188"/>
            <p:cNvSpPr>
              <a:spLocks noChangeShapeType="1"/>
            </p:cNvSpPr>
            <p:nvPr/>
          </p:nvSpPr>
          <p:spPr bwMode="auto">
            <a:xfrm>
              <a:off x="332" y="2537"/>
              <a:ext cx="57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75" name="Text Box 189"/>
            <p:cNvSpPr txBox="1">
              <a:spLocks noChangeArrowheads="1"/>
            </p:cNvSpPr>
            <p:nvPr/>
          </p:nvSpPr>
          <p:spPr bwMode="auto">
            <a:xfrm>
              <a:off x="660" y="2727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5376" name="Text Box 190"/>
            <p:cNvSpPr txBox="1">
              <a:spLocks noChangeArrowheads="1"/>
            </p:cNvSpPr>
            <p:nvPr/>
          </p:nvSpPr>
          <p:spPr bwMode="auto">
            <a:xfrm>
              <a:off x="624" y="3159"/>
              <a:ext cx="2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15</a:t>
              </a:r>
            </a:p>
          </p:txBody>
        </p:sp>
        <p:sp>
          <p:nvSpPr>
            <p:cNvPr id="135377" name="Text Box 191"/>
            <p:cNvSpPr txBox="1">
              <a:spLocks noChangeArrowheads="1"/>
            </p:cNvSpPr>
            <p:nvPr/>
          </p:nvSpPr>
          <p:spPr bwMode="auto">
            <a:xfrm rot="5400000">
              <a:off x="665" y="162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5378" name="Text Box 192"/>
            <p:cNvSpPr txBox="1">
              <a:spLocks noChangeArrowheads="1"/>
            </p:cNvSpPr>
            <p:nvPr/>
          </p:nvSpPr>
          <p:spPr bwMode="auto">
            <a:xfrm rot="5400000">
              <a:off x="665" y="2876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5379" name="Text Box 193"/>
            <p:cNvSpPr txBox="1">
              <a:spLocks noChangeArrowheads="1"/>
            </p:cNvSpPr>
            <p:nvPr/>
          </p:nvSpPr>
          <p:spPr bwMode="auto">
            <a:xfrm>
              <a:off x="348" y="1015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行</a:t>
              </a:r>
            </a:p>
          </p:txBody>
        </p:sp>
        <p:sp>
          <p:nvSpPr>
            <p:cNvPr id="135380" name="Text Box 194"/>
            <p:cNvSpPr txBox="1">
              <a:spLocks noChangeArrowheads="1"/>
            </p:cNvSpPr>
            <p:nvPr/>
          </p:nvSpPr>
          <p:spPr bwMode="auto">
            <a:xfrm>
              <a:off x="348" y="1263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地</a:t>
              </a:r>
            </a:p>
          </p:txBody>
        </p:sp>
        <p:sp>
          <p:nvSpPr>
            <p:cNvPr id="135381" name="Text Box 195"/>
            <p:cNvSpPr txBox="1">
              <a:spLocks noChangeArrowheads="1"/>
            </p:cNvSpPr>
            <p:nvPr/>
          </p:nvSpPr>
          <p:spPr bwMode="auto">
            <a:xfrm>
              <a:off x="348" y="1511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址</a:t>
              </a:r>
            </a:p>
          </p:txBody>
        </p:sp>
        <p:sp>
          <p:nvSpPr>
            <p:cNvPr id="135382" name="Text Box 196"/>
            <p:cNvSpPr txBox="1">
              <a:spLocks noChangeArrowheads="1"/>
            </p:cNvSpPr>
            <p:nvPr/>
          </p:nvSpPr>
          <p:spPr bwMode="auto">
            <a:xfrm>
              <a:off x="348" y="1758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译</a:t>
              </a:r>
            </a:p>
          </p:txBody>
        </p:sp>
        <p:sp>
          <p:nvSpPr>
            <p:cNvPr id="135383" name="Text Box 197"/>
            <p:cNvSpPr txBox="1">
              <a:spLocks noChangeArrowheads="1"/>
            </p:cNvSpPr>
            <p:nvPr/>
          </p:nvSpPr>
          <p:spPr bwMode="auto">
            <a:xfrm>
              <a:off x="348" y="2006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码</a:t>
              </a:r>
            </a:p>
          </p:txBody>
        </p:sp>
        <p:sp>
          <p:nvSpPr>
            <p:cNvPr id="135384" name="Text Box 198"/>
            <p:cNvSpPr txBox="1">
              <a:spLocks noChangeArrowheads="1"/>
            </p:cNvSpPr>
            <p:nvPr/>
          </p:nvSpPr>
          <p:spPr bwMode="auto">
            <a:xfrm>
              <a:off x="375" y="2635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列</a:t>
              </a:r>
            </a:p>
          </p:txBody>
        </p:sp>
        <p:sp>
          <p:nvSpPr>
            <p:cNvPr id="135385" name="Text Box 199"/>
            <p:cNvSpPr txBox="1">
              <a:spLocks noChangeArrowheads="1"/>
            </p:cNvSpPr>
            <p:nvPr/>
          </p:nvSpPr>
          <p:spPr bwMode="auto">
            <a:xfrm>
              <a:off x="375" y="2883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地</a:t>
              </a:r>
            </a:p>
          </p:txBody>
        </p:sp>
        <p:sp>
          <p:nvSpPr>
            <p:cNvPr id="135386" name="Text Box 200"/>
            <p:cNvSpPr txBox="1">
              <a:spLocks noChangeArrowheads="1"/>
            </p:cNvSpPr>
            <p:nvPr/>
          </p:nvSpPr>
          <p:spPr bwMode="auto">
            <a:xfrm>
              <a:off x="375" y="3131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址</a:t>
              </a:r>
            </a:p>
          </p:txBody>
        </p:sp>
        <p:sp>
          <p:nvSpPr>
            <p:cNvPr id="135387" name="Text Box 201"/>
            <p:cNvSpPr txBox="1">
              <a:spLocks noChangeArrowheads="1"/>
            </p:cNvSpPr>
            <p:nvPr/>
          </p:nvSpPr>
          <p:spPr bwMode="auto">
            <a:xfrm>
              <a:off x="375" y="3378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译</a:t>
              </a:r>
            </a:p>
          </p:txBody>
        </p:sp>
        <p:sp>
          <p:nvSpPr>
            <p:cNvPr id="135388" name="Text Box 202"/>
            <p:cNvSpPr txBox="1">
              <a:spLocks noChangeArrowheads="1"/>
            </p:cNvSpPr>
            <p:nvPr/>
          </p:nvSpPr>
          <p:spPr bwMode="auto">
            <a:xfrm>
              <a:off x="375" y="3626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码</a:t>
              </a:r>
            </a:p>
          </p:txBody>
        </p:sp>
        <p:sp>
          <p:nvSpPr>
            <p:cNvPr id="135389" name="Text Box 203"/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35390" name="Text Box 204"/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135391" name="Text Box 205"/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135392" name="Text Box 206"/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4</a:t>
              </a:r>
            </a:p>
          </p:txBody>
        </p:sp>
        <p:sp>
          <p:nvSpPr>
            <p:cNvPr id="135393" name="Line 207"/>
            <p:cNvSpPr>
              <a:spLocks noChangeShapeType="1"/>
            </p:cNvSpPr>
            <p:nvPr/>
          </p:nvSpPr>
          <p:spPr bwMode="auto">
            <a:xfrm>
              <a:off x="140" y="905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94" name="Line 208"/>
            <p:cNvSpPr>
              <a:spLocks noChangeShapeType="1"/>
            </p:cNvSpPr>
            <p:nvPr/>
          </p:nvSpPr>
          <p:spPr bwMode="auto">
            <a:xfrm>
              <a:off x="140" y="1164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95" name="Line 209"/>
            <p:cNvSpPr>
              <a:spLocks noChangeShapeType="1"/>
            </p:cNvSpPr>
            <p:nvPr/>
          </p:nvSpPr>
          <p:spPr bwMode="auto">
            <a:xfrm>
              <a:off x="140" y="1423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96" name="Line 210"/>
            <p:cNvSpPr>
              <a:spLocks noChangeShapeType="1"/>
            </p:cNvSpPr>
            <p:nvPr/>
          </p:nvSpPr>
          <p:spPr bwMode="auto">
            <a:xfrm>
              <a:off x="140" y="168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97" name="Line 211"/>
            <p:cNvSpPr>
              <a:spLocks noChangeShapeType="1"/>
            </p:cNvSpPr>
            <p:nvPr/>
          </p:nvSpPr>
          <p:spPr bwMode="auto">
            <a:xfrm>
              <a:off x="140" y="194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98" name="Line 212"/>
            <p:cNvSpPr>
              <a:spLocks noChangeShapeType="1"/>
            </p:cNvSpPr>
            <p:nvPr/>
          </p:nvSpPr>
          <p:spPr bwMode="auto">
            <a:xfrm>
              <a:off x="140" y="220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399" name="Line 213"/>
            <p:cNvSpPr>
              <a:spLocks noChangeShapeType="1"/>
            </p:cNvSpPr>
            <p:nvPr/>
          </p:nvSpPr>
          <p:spPr bwMode="auto">
            <a:xfrm>
              <a:off x="140" y="28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400" name="Line 214"/>
            <p:cNvSpPr>
              <a:spLocks noChangeShapeType="1"/>
            </p:cNvSpPr>
            <p:nvPr/>
          </p:nvSpPr>
          <p:spPr bwMode="auto">
            <a:xfrm>
              <a:off x="140" y="3131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401" name="Line 215"/>
            <p:cNvSpPr>
              <a:spLocks noChangeShapeType="1"/>
            </p:cNvSpPr>
            <p:nvPr/>
          </p:nvSpPr>
          <p:spPr bwMode="auto">
            <a:xfrm>
              <a:off x="140" y="339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402" name="Line 216"/>
            <p:cNvSpPr>
              <a:spLocks noChangeShapeType="1"/>
            </p:cNvSpPr>
            <p:nvPr/>
          </p:nvSpPr>
          <p:spPr bwMode="auto">
            <a:xfrm>
              <a:off x="140" y="3650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403" name="Text Box 217"/>
            <p:cNvSpPr txBox="1">
              <a:spLocks noChangeArrowheads="1"/>
            </p:cNvSpPr>
            <p:nvPr/>
          </p:nvSpPr>
          <p:spPr bwMode="auto">
            <a:xfrm>
              <a:off x="648" y="3890"/>
              <a:ext cx="35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WE</a:t>
              </a:r>
            </a:p>
          </p:txBody>
        </p:sp>
        <p:sp>
          <p:nvSpPr>
            <p:cNvPr id="135404" name="Line 218"/>
            <p:cNvSpPr>
              <a:spLocks noChangeShapeType="1"/>
            </p:cNvSpPr>
            <p:nvPr/>
          </p:nvSpPr>
          <p:spPr bwMode="auto">
            <a:xfrm>
              <a:off x="682" y="3923"/>
              <a:ext cx="2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405" name="Text Box 219"/>
            <p:cNvSpPr txBox="1">
              <a:spLocks noChangeArrowheads="1"/>
            </p:cNvSpPr>
            <p:nvPr/>
          </p:nvSpPr>
          <p:spPr bwMode="auto">
            <a:xfrm>
              <a:off x="668" y="4025"/>
              <a:ext cx="32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CS</a:t>
              </a:r>
            </a:p>
          </p:txBody>
        </p:sp>
        <p:sp>
          <p:nvSpPr>
            <p:cNvPr id="135406" name="Line 220"/>
            <p:cNvSpPr>
              <a:spLocks noChangeShapeType="1"/>
            </p:cNvSpPr>
            <p:nvPr/>
          </p:nvSpPr>
          <p:spPr bwMode="auto">
            <a:xfrm>
              <a:off x="726" y="4079"/>
              <a:ext cx="19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35171" name="Group 221"/>
          <p:cNvGrpSpPr/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135186" name="Line 222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187" name="Freeform 223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188" name="Line 224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189" name="Freeform 225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190" name="Line 226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5191" name="Text Box 227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</a:p>
          </p:txBody>
        </p:sp>
        <p:sp>
          <p:nvSpPr>
            <p:cNvPr id="135192" name="Text Box 228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</a:p>
          </p:txBody>
        </p:sp>
        <p:sp>
          <p:nvSpPr>
            <p:cNvPr id="135193" name="Text Box 229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</a:p>
          </p:txBody>
        </p:sp>
        <p:sp>
          <p:nvSpPr>
            <p:cNvPr id="135194" name="Text Box 230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</a:p>
          </p:txBody>
        </p:sp>
        <p:sp>
          <p:nvSpPr>
            <p:cNvPr id="135195" name="Line 231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196" name="Line 232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197" name="Line 233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198" name="Line 234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199" name="Line 235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00" name="Line 236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01" name="Line 237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5202" name="Line 238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0" name="Group 239"/>
          <p:cNvGrpSpPr/>
          <p:nvPr/>
        </p:nvGrpSpPr>
        <p:grpSpPr bwMode="auto">
          <a:xfrm>
            <a:off x="222250" y="1069975"/>
            <a:ext cx="311150" cy="4778375"/>
            <a:chOff x="140" y="674"/>
            <a:chExt cx="196" cy="3010"/>
          </a:xfrm>
        </p:grpSpPr>
        <p:sp>
          <p:nvSpPr>
            <p:cNvPr id="135176" name="Text Box 240"/>
            <p:cNvSpPr txBox="1">
              <a:spLocks noChangeArrowheads="1"/>
            </p:cNvSpPr>
            <p:nvPr/>
          </p:nvSpPr>
          <p:spPr bwMode="auto">
            <a:xfrm>
              <a:off x="140" y="67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5177" name="Text Box 241"/>
            <p:cNvSpPr txBox="1">
              <a:spLocks noChangeArrowheads="1"/>
            </p:cNvSpPr>
            <p:nvPr/>
          </p:nvSpPr>
          <p:spPr bwMode="auto">
            <a:xfrm>
              <a:off x="140" y="933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5178" name="Text Box 242"/>
            <p:cNvSpPr txBox="1">
              <a:spLocks noChangeArrowheads="1"/>
            </p:cNvSpPr>
            <p:nvPr/>
          </p:nvSpPr>
          <p:spPr bwMode="auto">
            <a:xfrm>
              <a:off x="140" y="119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5179" name="Text Box 243"/>
            <p:cNvSpPr txBox="1">
              <a:spLocks noChangeArrowheads="1"/>
            </p:cNvSpPr>
            <p:nvPr/>
          </p:nvSpPr>
          <p:spPr bwMode="auto">
            <a:xfrm>
              <a:off x="140" y="145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5180" name="Text Box 244"/>
            <p:cNvSpPr txBox="1">
              <a:spLocks noChangeArrowheads="1"/>
            </p:cNvSpPr>
            <p:nvPr/>
          </p:nvSpPr>
          <p:spPr bwMode="auto">
            <a:xfrm>
              <a:off x="140" y="171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5181" name="Text Box 245"/>
            <p:cNvSpPr txBox="1">
              <a:spLocks noChangeArrowheads="1"/>
            </p:cNvSpPr>
            <p:nvPr/>
          </p:nvSpPr>
          <p:spPr bwMode="auto">
            <a:xfrm>
              <a:off x="140" y="197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5182" name="Text Box 246"/>
            <p:cNvSpPr txBox="1">
              <a:spLocks noChangeArrowheads="1"/>
            </p:cNvSpPr>
            <p:nvPr/>
          </p:nvSpPr>
          <p:spPr bwMode="auto">
            <a:xfrm>
              <a:off x="140" y="2657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5183" name="Text Box 247"/>
            <p:cNvSpPr txBox="1">
              <a:spLocks noChangeArrowheads="1"/>
            </p:cNvSpPr>
            <p:nvPr/>
          </p:nvSpPr>
          <p:spPr bwMode="auto">
            <a:xfrm>
              <a:off x="140" y="2916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5184" name="Text Box 248"/>
            <p:cNvSpPr txBox="1">
              <a:spLocks noChangeArrowheads="1"/>
            </p:cNvSpPr>
            <p:nvPr/>
          </p:nvSpPr>
          <p:spPr bwMode="auto">
            <a:xfrm>
              <a:off x="140" y="3175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5185" name="Text Box 249"/>
            <p:cNvSpPr txBox="1">
              <a:spLocks noChangeArrowheads="1"/>
            </p:cNvSpPr>
            <p:nvPr/>
          </p:nvSpPr>
          <p:spPr bwMode="auto">
            <a:xfrm>
              <a:off x="140" y="343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</p:grpSp>
      <p:sp>
        <p:nvSpPr>
          <p:cNvPr id="223482" name="Rectangle 250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35174" name="Text Box 251"/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③ </a:t>
            </a:r>
            <a:r>
              <a:rPr lang="en-US" altLang="zh-CN" sz="3200">
                <a:latin typeface="Times New Roman" panose="02020603050405020304" pitchFamily="18" charset="0"/>
              </a:rPr>
              <a:t>Intel 2114</a:t>
            </a: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200">
                <a:latin typeface="Times New Roman" panose="02020603050405020304" pitchFamily="18" charset="0"/>
              </a:rPr>
              <a:t>矩阵 </a:t>
            </a:r>
            <a:r>
              <a:rPr lang="en-US" altLang="zh-CN" sz="3200">
                <a:latin typeface="Times New Roman" panose="02020603050405020304" pitchFamily="18" charset="0"/>
              </a:rPr>
              <a:t>(64 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>
                <a:latin typeface="Times New Roman" panose="02020603050405020304" pitchFamily="18" charset="0"/>
              </a:rPr>
              <a:t> 64)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</a:p>
        </p:txBody>
      </p:sp>
      <p:sp>
        <p:nvSpPr>
          <p:cNvPr id="135175" name="AutoShape 252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194" name="Group 2"/>
          <p:cNvGrpSpPr/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136454" name="Line 3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6455" name="Freeform 4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6456" name="Line 5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6457" name="Freeform 6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6458" name="Line 7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6459" name="Text Box 8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</a:p>
          </p:txBody>
        </p:sp>
        <p:sp>
          <p:nvSpPr>
            <p:cNvPr id="136460" name="Text Box 9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</a:p>
          </p:txBody>
        </p:sp>
        <p:sp>
          <p:nvSpPr>
            <p:cNvPr id="136461" name="Text Box 10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</a:p>
          </p:txBody>
        </p:sp>
        <p:sp>
          <p:nvSpPr>
            <p:cNvPr id="136462" name="Text Box 11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</a:p>
          </p:txBody>
        </p:sp>
        <p:sp>
          <p:nvSpPr>
            <p:cNvPr id="136463" name="Line 12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6464" name="Line 13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6465" name="Line 14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6466" name="Line 15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6467" name="Line 16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6468" name="Line 17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6469" name="Line 18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6470" name="Line 19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36195" name="Group 20"/>
          <p:cNvGrpSpPr/>
          <p:nvPr/>
        </p:nvGrpSpPr>
        <p:grpSpPr bwMode="auto">
          <a:xfrm>
            <a:off x="222250" y="1069975"/>
            <a:ext cx="8921750" cy="5716588"/>
            <a:chOff x="140" y="674"/>
            <a:chExt cx="5620" cy="3601"/>
          </a:xfrm>
        </p:grpSpPr>
        <p:grpSp>
          <p:nvGrpSpPr>
            <p:cNvPr id="136224" name="Group 21"/>
            <p:cNvGrpSpPr/>
            <p:nvPr/>
          </p:nvGrpSpPr>
          <p:grpSpPr bwMode="auto">
            <a:xfrm>
              <a:off x="140" y="713"/>
              <a:ext cx="5620" cy="3562"/>
              <a:chOff x="140" y="713"/>
              <a:chExt cx="5620" cy="3562"/>
            </a:xfrm>
          </p:grpSpPr>
          <p:sp>
            <p:nvSpPr>
              <p:cNvPr id="136236" name="Rectangle 22"/>
              <p:cNvSpPr>
                <a:spLocks noChangeArrowheads="1"/>
              </p:cNvSpPr>
              <p:nvPr/>
            </p:nvSpPr>
            <p:spPr bwMode="auto">
              <a:xfrm>
                <a:off x="332" y="713"/>
                <a:ext cx="576" cy="316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6237" name="Rectangle 23"/>
              <p:cNvSpPr>
                <a:spLocks noChangeArrowheads="1"/>
              </p:cNvSpPr>
              <p:nvPr/>
            </p:nvSpPr>
            <p:spPr bwMode="auto">
              <a:xfrm>
                <a:off x="172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36238" name="Text Box 24"/>
              <p:cNvSpPr txBox="1">
                <a:spLocks noChangeArrowheads="1"/>
              </p:cNvSpPr>
              <p:nvPr/>
            </p:nvSpPr>
            <p:spPr bwMode="auto">
              <a:xfrm>
                <a:off x="140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6239" name="Rectangle 25"/>
              <p:cNvSpPr>
                <a:spLocks noChangeArrowheads="1"/>
              </p:cNvSpPr>
              <p:nvPr/>
            </p:nvSpPr>
            <p:spPr bwMode="auto">
              <a:xfrm>
                <a:off x="1152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36240" name="Rectangle 26"/>
              <p:cNvSpPr>
                <a:spLocks noChangeArrowheads="1"/>
              </p:cNvSpPr>
              <p:nvPr/>
            </p:nvSpPr>
            <p:spPr bwMode="auto">
              <a:xfrm>
                <a:off x="2869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36241" name="Text Box 27"/>
              <p:cNvSpPr txBox="1">
                <a:spLocks noChangeArrowheads="1"/>
              </p:cNvSpPr>
              <p:nvPr/>
            </p:nvSpPr>
            <p:spPr bwMode="auto">
              <a:xfrm>
                <a:off x="2549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6242" name="Rectangle 28"/>
              <p:cNvSpPr>
                <a:spLocks noChangeArrowheads="1"/>
              </p:cNvSpPr>
              <p:nvPr/>
            </p:nvSpPr>
            <p:spPr bwMode="auto">
              <a:xfrm>
                <a:off x="2293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sp>
            <p:nvSpPr>
              <p:cNvPr id="136243" name="Rectangle 29"/>
              <p:cNvSpPr>
                <a:spLocks noChangeArrowheads="1"/>
              </p:cNvSpPr>
              <p:nvPr/>
            </p:nvSpPr>
            <p:spPr bwMode="auto">
              <a:xfrm>
                <a:off x="404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47</a:t>
                </a:r>
              </a:p>
            </p:txBody>
          </p:sp>
          <p:sp>
            <p:nvSpPr>
              <p:cNvPr id="136244" name="Text Box 30"/>
              <p:cNvSpPr txBox="1">
                <a:spLocks noChangeArrowheads="1"/>
              </p:cNvSpPr>
              <p:nvPr/>
            </p:nvSpPr>
            <p:spPr bwMode="auto">
              <a:xfrm>
                <a:off x="3724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6245" name="Rectangle 31"/>
              <p:cNvSpPr>
                <a:spLocks noChangeArrowheads="1"/>
              </p:cNvSpPr>
              <p:nvPr/>
            </p:nvSpPr>
            <p:spPr bwMode="auto">
              <a:xfrm>
                <a:off x="346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32</a:t>
                </a:r>
              </a:p>
            </p:txBody>
          </p:sp>
          <p:sp>
            <p:nvSpPr>
              <p:cNvPr id="136246" name="Rectangle 32"/>
              <p:cNvSpPr>
                <a:spLocks noChangeArrowheads="1"/>
              </p:cNvSpPr>
              <p:nvPr/>
            </p:nvSpPr>
            <p:spPr bwMode="auto">
              <a:xfrm>
                <a:off x="5180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63</a:t>
                </a:r>
              </a:p>
            </p:txBody>
          </p:sp>
          <p:sp>
            <p:nvSpPr>
              <p:cNvPr id="136247" name="Text Box 33"/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6248" name="Rectangle 34"/>
              <p:cNvSpPr>
                <a:spLocks noChangeArrowheads="1"/>
              </p:cNvSpPr>
              <p:nvPr/>
            </p:nvSpPr>
            <p:spPr bwMode="auto">
              <a:xfrm>
                <a:off x="460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48</a:t>
                </a:r>
              </a:p>
            </p:txBody>
          </p:sp>
          <p:sp>
            <p:nvSpPr>
              <p:cNvPr id="136249" name="Rectangle 35"/>
              <p:cNvSpPr>
                <a:spLocks noChangeArrowheads="1"/>
              </p:cNvSpPr>
              <p:nvPr/>
            </p:nvSpPr>
            <p:spPr bwMode="auto">
              <a:xfrm>
                <a:off x="172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36250" name="Rectangle 36"/>
              <p:cNvSpPr>
                <a:spLocks noChangeArrowheads="1"/>
              </p:cNvSpPr>
              <p:nvPr/>
            </p:nvSpPr>
            <p:spPr bwMode="auto">
              <a:xfrm>
                <a:off x="1152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36251" name="Rectangle 37"/>
              <p:cNvSpPr>
                <a:spLocks noChangeArrowheads="1"/>
              </p:cNvSpPr>
              <p:nvPr/>
            </p:nvSpPr>
            <p:spPr bwMode="auto">
              <a:xfrm>
                <a:off x="2869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36252" name="Rectangle 38"/>
              <p:cNvSpPr>
                <a:spLocks noChangeArrowheads="1"/>
              </p:cNvSpPr>
              <p:nvPr/>
            </p:nvSpPr>
            <p:spPr bwMode="auto">
              <a:xfrm>
                <a:off x="2293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sp>
            <p:nvSpPr>
              <p:cNvPr id="136253" name="Rectangle 39"/>
              <p:cNvSpPr>
                <a:spLocks noChangeArrowheads="1"/>
              </p:cNvSpPr>
              <p:nvPr/>
            </p:nvSpPr>
            <p:spPr bwMode="auto">
              <a:xfrm>
                <a:off x="404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47</a:t>
                </a:r>
              </a:p>
            </p:txBody>
          </p:sp>
          <p:sp>
            <p:nvSpPr>
              <p:cNvPr id="136254" name="Rectangle 40"/>
              <p:cNvSpPr>
                <a:spLocks noChangeArrowheads="1"/>
              </p:cNvSpPr>
              <p:nvPr/>
            </p:nvSpPr>
            <p:spPr bwMode="auto">
              <a:xfrm>
                <a:off x="346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32</a:t>
                </a:r>
              </a:p>
            </p:txBody>
          </p:sp>
          <p:sp>
            <p:nvSpPr>
              <p:cNvPr id="136255" name="Rectangle 41"/>
              <p:cNvSpPr>
                <a:spLocks noChangeArrowheads="1"/>
              </p:cNvSpPr>
              <p:nvPr/>
            </p:nvSpPr>
            <p:spPr bwMode="auto">
              <a:xfrm>
                <a:off x="5180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63</a:t>
                </a:r>
              </a:p>
            </p:txBody>
          </p:sp>
          <p:sp>
            <p:nvSpPr>
              <p:cNvPr id="136256" name="Rectangle 42"/>
              <p:cNvSpPr>
                <a:spLocks noChangeArrowheads="1"/>
              </p:cNvSpPr>
              <p:nvPr/>
            </p:nvSpPr>
            <p:spPr bwMode="auto">
              <a:xfrm>
                <a:off x="460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48</a:t>
                </a:r>
              </a:p>
            </p:txBody>
          </p:sp>
          <p:sp>
            <p:nvSpPr>
              <p:cNvPr id="136257" name="Line 43"/>
              <p:cNvSpPr>
                <a:spLocks noChangeShapeType="1"/>
              </p:cNvSpPr>
              <p:nvPr/>
            </p:nvSpPr>
            <p:spPr bwMode="auto">
              <a:xfrm rot="5400000">
                <a:off x="1325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58" name="Line 44"/>
              <p:cNvSpPr>
                <a:spLocks noChangeShapeType="1"/>
              </p:cNvSpPr>
              <p:nvPr/>
            </p:nvSpPr>
            <p:spPr bwMode="auto">
              <a:xfrm rot="5400000">
                <a:off x="1308" y="271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59" name="Freeform 45"/>
              <p:cNvSpPr/>
              <p:nvPr/>
            </p:nvSpPr>
            <p:spPr bwMode="auto">
              <a:xfrm>
                <a:off x="1260" y="2709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60" name="Line 46"/>
              <p:cNvSpPr>
                <a:spLocks noChangeShapeType="1"/>
              </p:cNvSpPr>
              <p:nvPr/>
            </p:nvSpPr>
            <p:spPr bwMode="auto">
              <a:xfrm rot="-5400000">
                <a:off x="1133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61" name="Line 47"/>
              <p:cNvSpPr>
                <a:spLocks noChangeShapeType="1"/>
              </p:cNvSpPr>
              <p:nvPr/>
            </p:nvSpPr>
            <p:spPr bwMode="auto">
              <a:xfrm rot="-5400000">
                <a:off x="1212" y="2714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62" name="Freeform 48"/>
              <p:cNvSpPr/>
              <p:nvPr/>
            </p:nvSpPr>
            <p:spPr bwMode="auto">
              <a:xfrm>
                <a:off x="1434" y="2353"/>
                <a:ext cx="112" cy="1"/>
              </a:xfrm>
              <a:custGeom>
                <a:avLst/>
                <a:gdLst>
                  <a:gd name="T0" fmla="*/ 0 w 112"/>
                  <a:gd name="T1" fmla="*/ 0 h 1"/>
                  <a:gd name="T2" fmla="*/ 112 w 112"/>
                  <a:gd name="T3" fmla="*/ 0 h 1"/>
                  <a:gd name="T4" fmla="*/ 0 60000 65536"/>
                  <a:gd name="T5" fmla="*/ 0 60000 65536"/>
                  <a:gd name="T6" fmla="*/ 0 w 112"/>
                  <a:gd name="T7" fmla="*/ 0 h 1"/>
                  <a:gd name="T8" fmla="*/ 112 w 11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2" h="1">
                    <a:moveTo>
                      <a:pt x="0" y="0"/>
                    </a:moveTo>
                    <a:lnTo>
                      <a:pt x="112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263" name="Freeform 49"/>
              <p:cNvSpPr/>
              <p:nvPr/>
            </p:nvSpPr>
            <p:spPr bwMode="auto">
              <a:xfrm>
                <a:off x="1059" y="1209"/>
                <a:ext cx="152" cy="1469"/>
              </a:xfrm>
              <a:custGeom>
                <a:avLst/>
                <a:gdLst>
                  <a:gd name="T0" fmla="*/ 152 w 152"/>
                  <a:gd name="T1" fmla="*/ 1469 h 1469"/>
                  <a:gd name="T2" fmla="*/ 0 w 152"/>
                  <a:gd name="T3" fmla="*/ 1469 h 1469"/>
                  <a:gd name="T4" fmla="*/ 0 w 152"/>
                  <a:gd name="T5" fmla="*/ 0 h 1469"/>
                  <a:gd name="T6" fmla="*/ 95 w 152"/>
                  <a:gd name="T7" fmla="*/ 1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9"/>
                  <a:gd name="T14" fmla="*/ 152 w 152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9">
                    <a:moveTo>
                      <a:pt x="152" y="1469"/>
                    </a:moveTo>
                    <a:lnTo>
                      <a:pt x="0" y="1469"/>
                    </a:lnTo>
                    <a:lnTo>
                      <a:pt x="0" y="0"/>
                    </a:lnTo>
                    <a:lnTo>
                      <a:pt x="95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264" name="Freeform 50"/>
              <p:cNvSpPr/>
              <p:nvPr/>
            </p:nvSpPr>
            <p:spPr bwMode="auto">
              <a:xfrm>
                <a:off x="1055" y="2353"/>
                <a:ext cx="102" cy="1"/>
              </a:xfrm>
              <a:custGeom>
                <a:avLst/>
                <a:gdLst>
                  <a:gd name="T0" fmla="*/ 102 w 102"/>
                  <a:gd name="T1" fmla="*/ 0 h 1"/>
                  <a:gd name="T2" fmla="*/ 0 w 102"/>
                  <a:gd name="T3" fmla="*/ 0 h 1"/>
                  <a:gd name="T4" fmla="*/ 0 60000 65536"/>
                  <a:gd name="T5" fmla="*/ 0 60000 65536"/>
                  <a:gd name="T6" fmla="*/ 0 w 102"/>
                  <a:gd name="T7" fmla="*/ 0 h 1"/>
                  <a:gd name="T8" fmla="*/ 102 w 10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2" h="1">
                    <a:moveTo>
                      <a:pt x="102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265" name="Line 51"/>
              <p:cNvSpPr>
                <a:spLocks noChangeShapeType="1"/>
              </p:cNvSpPr>
              <p:nvPr/>
            </p:nvSpPr>
            <p:spPr bwMode="auto">
              <a:xfrm rot="5400000">
                <a:off x="1896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66" name="Line 52"/>
              <p:cNvSpPr>
                <a:spLocks noChangeShapeType="1"/>
              </p:cNvSpPr>
              <p:nvPr/>
            </p:nvSpPr>
            <p:spPr bwMode="auto">
              <a:xfrm rot="5400000">
                <a:off x="1879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67" name="Freeform 53"/>
              <p:cNvSpPr/>
              <p:nvPr/>
            </p:nvSpPr>
            <p:spPr bwMode="auto">
              <a:xfrm>
                <a:off x="1831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68" name="Line 54"/>
              <p:cNvSpPr>
                <a:spLocks noChangeShapeType="1"/>
              </p:cNvSpPr>
              <p:nvPr/>
            </p:nvSpPr>
            <p:spPr bwMode="auto">
              <a:xfrm rot="-5400000">
                <a:off x="1704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69" name="Line 55"/>
              <p:cNvSpPr>
                <a:spLocks noChangeShapeType="1"/>
              </p:cNvSpPr>
              <p:nvPr/>
            </p:nvSpPr>
            <p:spPr bwMode="auto">
              <a:xfrm rot="-5400000">
                <a:off x="1783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70" name="Freeform 56"/>
              <p:cNvSpPr/>
              <p:nvPr/>
            </p:nvSpPr>
            <p:spPr bwMode="auto">
              <a:xfrm>
                <a:off x="2005" y="2353"/>
                <a:ext cx="103" cy="1"/>
              </a:xfrm>
              <a:custGeom>
                <a:avLst/>
                <a:gdLst>
                  <a:gd name="T0" fmla="*/ 0 w 103"/>
                  <a:gd name="T1" fmla="*/ 0 h 1"/>
                  <a:gd name="T2" fmla="*/ 103 w 103"/>
                  <a:gd name="T3" fmla="*/ 0 h 1"/>
                  <a:gd name="T4" fmla="*/ 0 60000 65536"/>
                  <a:gd name="T5" fmla="*/ 0 60000 65536"/>
                  <a:gd name="T6" fmla="*/ 0 w 103"/>
                  <a:gd name="T7" fmla="*/ 0 h 1"/>
                  <a:gd name="T8" fmla="*/ 103 w 10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3" h="1">
                    <a:moveTo>
                      <a:pt x="0" y="0"/>
                    </a:moveTo>
                    <a:lnTo>
                      <a:pt x="103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271" name="Freeform 57"/>
              <p:cNvSpPr/>
              <p:nvPr/>
            </p:nvSpPr>
            <p:spPr bwMode="auto">
              <a:xfrm>
                <a:off x="1611" y="2352"/>
                <a:ext cx="113" cy="1"/>
              </a:xfrm>
              <a:custGeom>
                <a:avLst/>
                <a:gdLst>
                  <a:gd name="T0" fmla="*/ 113 w 113"/>
                  <a:gd name="T1" fmla="*/ 1 h 1"/>
                  <a:gd name="T2" fmla="*/ 0 w 113"/>
                  <a:gd name="T3" fmla="*/ 0 h 1"/>
                  <a:gd name="T4" fmla="*/ 0 60000 65536"/>
                  <a:gd name="T5" fmla="*/ 0 60000 65536"/>
                  <a:gd name="T6" fmla="*/ 0 w 113"/>
                  <a:gd name="T7" fmla="*/ 0 h 1"/>
                  <a:gd name="T8" fmla="*/ 113 w 11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3" h="1">
                    <a:moveTo>
                      <a:pt x="113" y="1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272" name="Line 58"/>
              <p:cNvSpPr>
                <a:spLocks noChangeShapeType="1"/>
              </p:cNvSpPr>
              <p:nvPr/>
            </p:nvSpPr>
            <p:spPr bwMode="auto">
              <a:xfrm rot="5400000">
                <a:off x="247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73" name="Line 59"/>
              <p:cNvSpPr>
                <a:spLocks noChangeShapeType="1"/>
              </p:cNvSpPr>
              <p:nvPr/>
            </p:nvSpPr>
            <p:spPr bwMode="auto">
              <a:xfrm rot="5400000">
                <a:off x="2460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74" name="Freeform 60"/>
              <p:cNvSpPr/>
              <p:nvPr/>
            </p:nvSpPr>
            <p:spPr bwMode="auto">
              <a:xfrm>
                <a:off x="2412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75" name="Line 61"/>
              <p:cNvSpPr>
                <a:spLocks noChangeShapeType="1"/>
              </p:cNvSpPr>
              <p:nvPr/>
            </p:nvSpPr>
            <p:spPr bwMode="auto">
              <a:xfrm rot="-5400000">
                <a:off x="2285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76" name="Line 62"/>
              <p:cNvSpPr>
                <a:spLocks noChangeShapeType="1"/>
              </p:cNvSpPr>
              <p:nvPr/>
            </p:nvSpPr>
            <p:spPr bwMode="auto">
              <a:xfrm rot="-5400000">
                <a:off x="2364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77" name="Freeform 63"/>
              <p:cNvSpPr/>
              <p:nvPr/>
            </p:nvSpPr>
            <p:spPr bwMode="auto">
              <a:xfrm>
                <a:off x="2586" y="2353"/>
                <a:ext cx="109" cy="1"/>
              </a:xfrm>
              <a:custGeom>
                <a:avLst/>
                <a:gdLst>
                  <a:gd name="T0" fmla="*/ 0 w 109"/>
                  <a:gd name="T1" fmla="*/ 0 h 1"/>
                  <a:gd name="T2" fmla="*/ 109 w 109"/>
                  <a:gd name="T3" fmla="*/ 0 h 1"/>
                  <a:gd name="T4" fmla="*/ 0 60000 65536"/>
                  <a:gd name="T5" fmla="*/ 0 60000 65536"/>
                  <a:gd name="T6" fmla="*/ 0 w 109"/>
                  <a:gd name="T7" fmla="*/ 0 h 1"/>
                  <a:gd name="T8" fmla="*/ 109 w 10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9" h="1">
                    <a:moveTo>
                      <a:pt x="0" y="0"/>
                    </a:moveTo>
                    <a:lnTo>
                      <a:pt x="109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278" name="Freeform 64"/>
              <p:cNvSpPr/>
              <p:nvPr/>
            </p:nvSpPr>
            <p:spPr bwMode="auto">
              <a:xfrm>
                <a:off x="2207" y="2353"/>
                <a:ext cx="89" cy="1"/>
              </a:xfrm>
              <a:custGeom>
                <a:avLst/>
                <a:gdLst>
                  <a:gd name="T0" fmla="*/ 89 w 89"/>
                  <a:gd name="T1" fmla="*/ 0 h 1"/>
                  <a:gd name="T2" fmla="*/ 0 w 89"/>
                  <a:gd name="T3" fmla="*/ 0 h 1"/>
                  <a:gd name="T4" fmla="*/ 0 60000 65536"/>
                  <a:gd name="T5" fmla="*/ 0 60000 65536"/>
                  <a:gd name="T6" fmla="*/ 0 w 89"/>
                  <a:gd name="T7" fmla="*/ 0 h 1"/>
                  <a:gd name="T8" fmla="*/ 89 w 8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9" h="1">
                    <a:moveTo>
                      <a:pt x="89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279" name="Line 65"/>
              <p:cNvSpPr>
                <a:spLocks noChangeShapeType="1"/>
              </p:cNvSpPr>
              <p:nvPr/>
            </p:nvSpPr>
            <p:spPr bwMode="auto">
              <a:xfrm rot="5400000">
                <a:off x="3053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80" name="Line 66"/>
              <p:cNvSpPr>
                <a:spLocks noChangeShapeType="1"/>
              </p:cNvSpPr>
              <p:nvPr/>
            </p:nvSpPr>
            <p:spPr bwMode="auto">
              <a:xfrm rot="5400000">
                <a:off x="3036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81" name="Freeform 67"/>
              <p:cNvSpPr/>
              <p:nvPr/>
            </p:nvSpPr>
            <p:spPr bwMode="auto">
              <a:xfrm>
                <a:off x="2988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82" name="Line 68"/>
              <p:cNvSpPr>
                <a:spLocks noChangeShapeType="1"/>
              </p:cNvSpPr>
              <p:nvPr/>
            </p:nvSpPr>
            <p:spPr bwMode="auto">
              <a:xfrm rot="-5400000">
                <a:off x="2861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83" name="Line 69"/>
              <p:cNvSpPr>
                <a:spLocks noChangeShapeType="1"/>
              </p:cNvSpPr>
              <p:nvPr/>
            </p:nvSpPr>
            <p:spPr bwMode="auto">
              <a:xfrm rot="-5400000">
                <a:off x="2940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84" name="Freeform 70"/>
              <p:cNvSpPr/>
              <p:nvPr/>
            </p:nvSpPr>
            <p:spPr bwMode="auto">
              <a:xfrm>
                <a:off x="3162" y="2353"/>
                <a:ext cx="115" cy="1"/>
              </a:xfrm>
              <a:custGeom>
                <a:avLst/>
                <a:gdLst>
                  <a:gd name="T0" fmla="*/ 0 w 115"/>
                  <a:gd name="T1" fmla="*/ 0 h 1"/>
                  <a:gd name="T2" fmla="*/ 115 w 115"/>
                  <a:gd name="T3" fmla="*/ 0 h 1"/>
                  <a:gd name="T4" fmla="*/ 0 60000 65536"/>
                  <a:gd name="T5" fmla="*/ 0 60000 65536"/>
                  <a:gd name="T6" fmla="*/ 0 w 115"/>
                  <a:gd name="T7" fmla="*/ 0 h 1"/>
                  <a:gd name="T8" fmla="*/ 115 w 11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5" h="1">
                    <a:moveTo>
                      <a:pt x="0" y="0"/>
                    </a:moveTo>
                    <a:lnTo>
                      <a:pt x="11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285" name="Freeform 71"/>
              <p:cNvSpPr/>
              <p:nvPr/>
            </p:nvSpPr>
            <p:spPr bwMode="auto">
              <a:xfrm>
                <a:off x="2783" y="2353"/>
                <a:ext cx="90" cy="1"/>
              </a:xfrm>
              <a:custGeom>
                <a:avLst/>
                <a:gdLst>
                  <a:gd name="T0" fmla="*/ 90 w 90"/>
                  <a:gd name="T1" fmla="*/ 0 h 1"/>
                  <a:gd name="T2" fmla="*/ 0 w 90"/>
                  <a:gd name="T3" fmla="*/ 0 h 1"/>
                  <a:gd name="T4" fmla="*/ 0 60000 65536"/>
                  <a:gd name="T5" fmla="*/ 0 60000 65536"/>
                  <a:gd name="T6" fmla="*/ 0 w 90"/>
                  <a:gd name="T7" fmla="*/ 0 h 1"/>
                  <a:gd name="T8" fmla="*/ 90 w 9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0" h="1">
                    <a:moveTo>
                      <a:pt x="90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286" name="Line 72"/>
              <p:cNvSpPr>
                <a:spLocks noChangeShapeType="1"/>
              </p:cNvSpPr>
              <p:nvPr/>
            </p:nvSpPr>
            <p:spPr bwMode="auto">
              <a:xfrm rot="5400000">
                <a:off x="3629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87" name="Line 73"/>
              <p:cNvSpPr>
                <a:spLocks noChangeShapeType="1"/>
              </p:cNvSpPr>
              <p:nvPr/>
            </p:nvSpPr>
            <p:spPr bwMode="auto">
              <a:xfrm rot="5400000">
                <a:off x="3612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88" name="Freeform 74"/>
              <p:cNvSpPr/>
              <p:nvPr/>
            </p:nvSpPr>
            <p:spPr bwMode="auto">
              <a:xfrm>
                <a:off x="3564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89" name="Line 75"/>
              <p:cNvSpPr>
                <a:spLocks noChangeShapeType="1"/>
              </p:cNvSpPr>
              <p:nvPr/>
            </p:nvSpPr>
            <p:spPr bwMode="auto">
              <a:xfrm rot="-5400000">
                <a:off x="343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90" name="Line 76"/>
              <p:cNvSpPr>
                <a:spLocks noChangeShapeType="1"/>
              </p:cNvSpPr>
              <p:nvPr/>
            </p:nvSpPr>
            <p:spPr bwMode="auto">
              <a:xfrm rot="-5400000">
                <a:off x="3516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91" name="Freeform 77"/>
              <p:cNvSpPr/>
              <p:nvPr/>
            </p:nvSpPr>
            <p:spPr bwMode="auto">
              <a:xfrm>
                <a:off x="3751" y="2352"/>
                <a:ext cx="100" cy="1"/>
              </a:xfrm>
              <a:custGeom>
                <a:avLst/>
                <a:gdLst>
                  <a:gd name="T0" fmla="*/ 0 w 100"/>
                  <a:gd name="T1" fmla="*/ 0 h 1"/>
                  <a:gd name="T2" fmla="*/ 100 w 100"/>
                  <a:gd name="T3" fmla="*/ 1 h 1"/>
                  <a:gd name="T4" fmla="*/ 0 60000 65536"/>
                  <a:gd name="T5" fmla="*/ 0 60000 65536"/>
                  <a:gd name="T6" fmla="*/ 0 w 100"/>
                  <a:gd name="T7" fmla="*/ 0 h 1"/>
                  <a:gd name="T8" fmla="*/ 100 w 10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0" h="1">
                    <a:moveTo>
                      <a:pt x="0" y="0"/>
                    </a:moveTo>
                    <a:lnTo>
                      <a:pt x="100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292" name="Freeform 78"/>
              <p:cNvSpPr/>
              <p:nvPr/>
            </p:nvSpPr>
            <p:spPr bwMode="auto">
              <a:xfrm>
                <a:off x="3359" y="2353"/>
                <a:ext cx="108" cy="1"/>
              </a:xfrm>
              <a:custGeom>
                <a:avLst/>
                <a:gdLst>
                  <a:gd name="T0" fmla="*/ 108 w 108"/>
                  <a:gd name="T1" fmla="*/ 0 h 1"/>
                  <a:gd name="T2" fmla="*/ 0 w 108"/>
                  <a:gd name="T3" fmla="*/ 0 h 1"/>
                  <a:gd name="T4" fmla="*/ 0 60000 65536"/>
                  <a:gd name="T5" fmla="*/ 0 60000 65536"/>
                  <a:gd name="T6" fmla="*/ 0 w 108"/>
                  <a:gd name="T7" fmla="*/ 0 h 1"/>
                  <a:gd name="T8" fmla="*/ 108 w 10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8" h="1">
                    <a:moveTo>
                      <a:pt x="10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293" name="Line 79"/>
              <p:cNvSpPr>
                <a:spLocks noChangeShapeType="1"/>
              </p:cNvSpPr>
              <p:nvPr/>
            </p:nvSpPr>
            <p:spPr bwMode="auto">
              <a:xfrm rot="5400000">
                <a:off x="4205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94" name="Line 80"/>
              <p:cNvSpPr>
                <a:spLocks noChangeShapeType="1"/>
              </p:cNvSpPr>
              <p:nvPr/>
            </p:nvSpPr>
            <p:spPr bwMode="auto">
              <a:xfrm rot="5400000">
                <a:off x="4188" y="2696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95" name="Freeform 81"/>
              <p:cNvSpPr/>
              <p:nvPr/>
            </p:nvSpPr>
            <p:spPr bwMode="auto">
              <a:xfrm>
                <a:off x="4140" y="2695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96" name="Line 82"/>
              <p:cNvSpPr>
                <a:spLocks noChangeShapeType="1"/>
              </p:cNvSpPr>
              <p:nvPr/>
            </p:nvSpPr>
            <p:spPr bwMode="auto">
              <a:xfrm rot="-5400000">
                <a:off x="4013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97" name="Line 83"/>
              <p:cNvSpPr>
                <a:spLocks noChangeShapeType="1"/>
              </p:cNvSpPr>
              <p:nvPr/>
            </p:nvSpPr>
            <p:spPr bwMode="auto">
              <a:xfrm rot="-5400000">
                <a:off x="4092" y="270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36298" name="Freeform 84"/>
              <p:cNvSpPr/>
              <p:nvPr/>
            </p:nvSpPr>
            <p:spPr bwMode="auto">
              <a:xfrm>
                <a:off x="4336" y="2351"/>
                <a:ext cx="90" cy="2"/>
              </a:xfrm>
              <a:custGeom>
                <a:avLst/>
                <a:gdLst>
                  <a:gd name="T0" fmla="*/ 0 w 90"/>
                  <a:gd name="T1" fmla="*/ 0 h 2"/>
                  <a:gd name="T2" fmla="*/ 90 w 90"/>
                  <a:gd name="T3" fmla="*/ 2 h 2"/>
                  <a:gd name="T4" fmla="*/ 0 60000 65536"/>
                  <a:gd name="T5" fmla="*/ 0 60000 65536"/>
                  <a:gd name="T6" fmla="*/ 0 w 90"/>
                  <a:gd name="T7" fmla="*/ 0 h 2"/>
                  <a:gd name="T8" fmla="*/ 90 w 90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0" h="2">
                    <a:moveTo>
                      <a:pt x="0" y="0"/>
                    </a:moveTo>
                    <a:lnTo>
                      <a:pt x="90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299" name="Freeform 85"/>
              <p:cNvSpPr/>
              <p:nvPr/>
            </p:nvSpPr>
            <p:spPr bwMode="auto">
              <a:xfrm>
                <a:off x="3935" y="2353"/>
                <a:ext cx="104" cy="1"/>
              </a:xfrm>
              <a:custGeom>
                <a:avLst/>
                <a:gdLst>
                  <a:gd name="T0" fmla="*/ 104 w 104"/>
                  <a:gd name="T1" fmla="*/ 0 h 1"/>
                  <a:gd name="T2" fmla="*/ 0 w 104"/>
                  <a:gd name="T3" fmla="*/ 0 h 1"/>
                  <a:gd name="T4" fmla="*/ 0 60000 65536"/>
                  <a:gd name="T5" fmla="*/ 0 60000 65536"/>
                  <a:gd name="T6" fmla="*/ 0 w 104"/>
                  <a:gd name="T7" fmla="*/ 0 h 1"/>
                  <a:gd name="T8" fmla="*/ 104 w 10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4" h="1">
                    <a:moveTo>
                      <a:pt x="10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136300" name="Group 86"/>
              <p:cNvGrpSpPr/>
              <p:nvPr/>
            </p:nvGrpSpPr>
            <p:grpSpPr bwMode="auto">
              <a:xfrm>
                <a:off x="4668" y="2634"/>
                <a:ext cx="192" cy="158"/>
                <a:chOff x="4692" y="2634"/>
                <a:chExt cx="192" cy="158"/>
              </a:xfrm>
            </p:grpSpPr>
            <p:grpSp>
              <p:nvGrpSpPr>
                <p:cNvPr id="136447" name="Group 87"/>
                <p:cNvGrpSpPr/>
                <p:nvPr/>
              </p:nvGrpSpPr>
              <p:grpSpPr bwMode="auto">
                <a:xfrm>
                  <a:off x="4836" y="2634"/>
                  <a:ext cx="48" cy="158"/>
                  <a:chOff x="4836" y="2634"/>
                  <a:chExt cx="48" cy="158"/>
                </a:xfrm>
              </p:grpSpPr>
              <p:sp>
                <p:nvSpPr>
                  <p:cNvPr id="136452" name="Line 88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805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6453" name="Line 89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788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6448" name="Freeform 90"/>
                <p:cNvSpPr/>
                <p:nvPr/>
              </p:nvSpPr>
              <p:spPr bwMode="auto">
                <a:xfrm>
                  <a:off x="4740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6449" name="Group 91"/>
                <p:cNvGrpSpPr/>
                <p:nvPr/>
              </p:nvGrpSpPr>
              <p:grpSpPr bwMode="auto">
                <a:xfrm>
                  <a:off x="4692" y="2634"/>
                  <a:ext cx="48" cy="158"/>
                  <a:chOff x="4692" y="2634"/>
                  <a:chExt cx="48" cy="158"/>
                </a:xfrm>
              </p:grpSpPr>
              <p:sp>
                <p:nvSpPr>
                  <p:cNvPr id="136450" name="Line 92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13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6451" name="Line 93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92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136301" name="Freeform 94"/>
              <p:cNvSpPr/>
              <p:nvPr/>
            </p:nvSpPr>
            <p:spPr bwMode="auto">
              <a:xfrm>
                <a:off x="4890" y="2353"/>
                <a:ext cx="107" cy="1"/>
              </a:xfrm>
              <a:custGeom>
                <a:avLst/>
                <a:gdLst>
                  <a:gd name="T0" fmla="*/ 0 w 107"/>
                  <a:gd name="T1" fmla="*/ 0 h 1"/>
                  <a:gd name="T2" fmla="*/ 107 w 107"/>
                  <a:gd name="T3" fmla="*/ 0 h 1"/>
                  <a:gd name="T4" fmla="*/ 0 60000 65536"/>
                  <a:gd name="T5" fmla="*/ 0 60000 65536"/>
                  <a:gd name="T6" fmla="*/ 0 w 107"/>
                  <a:gd name="T7" fmla="*/ 0 h 1"/>
                  <a:gd name="T8" fmla="*/ 107 w 10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7" h="1">
                    <a:moveTo>
                      <a:pt x="0" y="0"/>
                    </a:moveTo>
                    <a:lnTo>
                      <a:pt x="10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02" name="Freeform 95"/>
              <p:cNvSpPr/>
              <p:nvPr/>
            </p:nvSpPr>
            <p:spPr bwMode="auto">
              <a:xfrm>
                <a:off x="4511" y="2353"/>
                <a:ext cx="96" cy="1"/>
              </a:xfrm>
              <a:custGeom>
                <a:avLst/>
                <a:gdLst>
                  <a:gd name="T0" fmla="*/ 96 w 96"/>
                  <a:gd name="T1" fmla="*/ 0 h 1"/>
                  <a:gd name="T2" fmla="*/ 0 w 96"/>
                  <a:gd name="T3" fmla="*/ 0 h 1"/>
                  <a:gd name="T4" fmla="*/ 0 60000 65536"/>
                  <a:gd name="T5" fmla="*/ 0 60000 65536"/>
                  <a:gd name="T6" fmla="*/ 0 w 96"/>
                  <a:gd name="T7" fmla="*/ 0 h 1"/>
                  <a:gd name="T8" fmla="*/ 96 w 96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1">
                    <a:moveTo>
                      <a:pt x="96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136303" name="Group 96"/>
              <p:cNvGrpSpPr/>
              <p:nvPr/>
            </p:nvGrpSpPr>
            <p:grpSpPr bwMode="auto">
              <a:xfrm>
                <a:off x="5235" y="2634"/>
                <a:ext cx="192" cy="158"/>
                <a:chOff x="5259" y="2634"/>
                <a:chExt cx="192" cy="158"/>
              </a:xfrm>
            </p:grpSpPr>
            <p:grpSp>
              <p:nvGrpSpPr>
                <p:cNvPr id="136440" name="Group 97"/>
                <p:cNvGrpSpPr/>
                <p:nvPr/>
              </p:nvGrpSpPr>
              <p:grpSpPr bwMode="auto">
                <a:xfrm>
                  <a:off x="5403" y="2634"/>
                  <a:ext cx="48" cy="158"/>
                  <a:chOff x="5403" y="2634"/>
                  <a:chExt cx="48" cy="158"/>
                </a:xfrm>
              </p:grpSpPr>
              <p:sp>
                <p:nvSpPr>
                  <p:cNvPr id="136445" name="Line 98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72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6446" name="Line 99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55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6441" name="Freeform 100"/>
                <p:cNvSpPr/>
                <p:nvPr/>
              </p:nvSpPr>
              <p:spPr bwMode="auto">
                <a:xfrm>
                  <a:off x="5307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6442" name="Group 101"/>
                <p:cNvGrpSpPr/>
                <p:nvPr/>
              </p:nvGrpSpPr>
              <p:grpSpPr bwMode="auto">
                <a:xfrm>
                  <a:off x="5259" y="2634"/>
                  <a:ext cx="48" cy="158"/>
                  <a:chOff x="5259" y="2634"/>
                  <a:chExt cx="48" cy="158"/>
                </a:xfrm>
              </p:grpSpPr>
              <p:sp>
                <p:nvSpPr>
                  <p:cNvPr id="136443" name="Line 102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180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6444" name="Line 103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259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136304" name="Freeform 104"/>
              <p:cNvSpPr/>
              <p:nvPr/>
            </p:nvSpPr>
            <p:spPr bwMode="auto">
              <a:xfrm>
                <a:off x="5467" y="2351"/>
                <a:ext cx="96" cy="2"/>
              </a:xfrm>
              <a:custGeom>
                <a:avLst/>
                <a:gdLst>
                  <a:gd name="T0" fmla="*/ 0 w 96"/>
                  <a:gd name="T1" fmla="*/ 0 h 2"/>
                  <a:gd name="T2" fmla="*/ 96 w 96"/>
                  <a:gd name="T3" fmla="*/ 2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0"/>
                    </a:moveTo>
                    <a:lnTo>
                      <a:pt x="96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05" name="Freeform 105"/>
              <p:cNvSpPr/>
              <p:nvPr/>
            </p:nvSpPr>
            <p:spPr bwMode="auto">
              <a:xfrm>
                <a:off x="5078" y="2353"/>
                <a:ext cx="101" cy="1"/>
              </a:xfrm>
              <a:custGeom>
                <a:avLst/>
                <a:gdLst>
                  <a:gd name="T0" fmla="*/ 101 w 101"/>
                  <a:gd name="T1" fmla="*/ 0 h 1"/>
                  <a:gd name="T2" fmla="*/ 0 w 101"/>
                  <a:gd name="T3" fmla="*/ 0 h 1"/>
                  <a:gd name="T4" fmla="*/ 0 60000 65536"/>
                  <a:gd name="T5" fmla="*/ 0 60000 65536"/>
                  <a:gd name="T6" fmla="*/ 0 w 101"/>
                  <a:gd name="T7" fmla="*/ 0 h 1"/>
                  <a:gd name="T8" fmla="*/ 101 w 101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1" h="1">
                    <a:moveTo>
                      <a:pt x="101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06" name="Freeform 106"/>
              <p:cNvSpPr/>
              <p:nvPr/>
            </p:nvSpPr>
            <p:spPr bwMode="auto">
              <a:xfrm>
                <a:off x="908" y="856"/>
                <a:ext cx="4419" cy="1"/>
              </a:xfrm>
              <a:custGeom>
                <a:avLst/>
                <a:gdLst>
                  <a:gd name="T0" fmla="*/ 0 w 4419"/>
                  <a:gd name="T1" fmla="*/ 1 h 1"/>
                  <a:gd name="T2" fmla="*/ 4419 w 4419"/>
                  <a:gd name="T3" fmla="*/ 0 h 1"/>
                  <a:gd name="T4" fmla="*/ 0 60000 65536"/>
                  <a:gd name="T5" fmla="*/ 0 60000 65536"/>
                  <a:gd name="T6" fmla="*/ 0 w 4419"/>
                  <a:gd name="T7" fmla="*/ 0 h 1"/>
                  <a:gd name="T8" fmla="*/ 4419 w 441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9" h="1">
                    <a:moveTo>
                      <a:pt x="0" y="1"/>
                    </a:moveTo>
                    <a:lnTo>
                      <a:pt x="441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07" name="Line 107"/>
              <p:cNvSpPr>
                <a:spLocks noChangeShapeType="1"/>
              </p:cNvSpPr>
              <p:nvPr/>
            </p:nvSpPr>
            <p:spPr bwMode="auto">
              <a:xfrm>
                <a:off x="129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08" name="Line 108"/>
              <p:cNvSpPr>
                <a:spLocks noChangeShapeType="1"/>
              </p:cNvSpPr>
              <p:nvPr/>
            </p:nvSpPr>
            <p:spPr bwMode="auto">
              <a:xfrm>
                <a:off x="186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09" name="Line 109"/>
              <p:cNvSpPr>
                <a:spLocks noChangeShapeType="1"/>
              </p:cNvSpPr>
              <p:nvPr/>
            </p:nvSpPr>
            <p:spPr bwMode="auto">
              <a:xfrm>
                <a:off x="244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10" name="Line 110"/>
              <p:cNvSpPr>
                <a:spLocks noChangeShapeType="1"/>
              </p:cNvSpPr>
              <p:nvPr/>
            </p:nvSpPr>
            <p:spPr bwMode="auto">
              <a:xfrm>
                <a:off x="3020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11" name="Line 111"/>
              <p:cNvSpPr>
                <a:spLocks noChangeShapeType="1"/>
              </p:cNvSpPr>
              <p:nvPr/>
            </p:nvSpPr>
            <p:spPr bwMode="auto">
              <a:xfrm>
                <a:off x="3596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12" name="Line 112"/>
              <p:cNvSpPr>
                <a:spLocks noChangeShapeType="1"/>
              </p:cNvSpPr>
              <p:nvPr/>
            </p:nvSpPr>
            <p:spPr bwMode="auto">
              <a:xfrm>
                <a:off x="417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13" name="Line 113"/>
              <p:cNvSpPr>
                <a:spLocks noChangeShapeType="1"/>
              </p:cNvSpPr>
              <p:nvPr/>
            </p:nvSpPr>
            <p:spPr bwMode="auto">
              <a:xfrm>
                <a:off x="474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14" name="Line 114"/>
              <p:cNvSpPr>
                <a:spLocks noChangeShapeType="1"/>
              </p:cNvSpPr>
              <p:nvPr/>
            </p:nvSpPr>
            <p:spPr bwMode="auto">
              <a:xfrm>
                <a:off x="532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15" name="Freeform 115"/>
              <p:cNvSpPr/>
              <p:nvPr/>
            </p:nvSpPr>
            <p:spPr bwMode="auto">
              <a:xfrm>
                <a:off x="1305" y="2708"/>
                <a:ext cx="1" cy="166"/>
              </a:xfrm>
              <a:custGeom>
                <a:avLst/>
                <a:gdLst>
                  <a:gd name="T0" fmla="*/ 1 w 1"/>
                  <a:gd name="T1" fmla="*/ 0 h 166"/>
                  <a:gd name="T2" fmla="*/ 0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1" y="0"/>
                    </a:moveTo>
                    <a:lnTo>
                      <a:pt x="0" y="1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16" name="Freeform 116"/>
              <p:cNvSpPr/>
              <p:nvPr/>
            </p:nvSpPr>
            <p:spPr bwMode="auto">
              <a:xfrm>
                <a:off x="1880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7711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17" name="Freeform 117"/>
              <p:cNvSpPr/>
              <p:nvPr/>
            </p:nvSpPr>
            <p:spPr bwMode="auto">
              <a:xfrm>
                <a:off x="2454" y="2708"/>
                <a:ext cx="4" cy="166"/>
              </a:xfrm>
              <a:custGeom>
                <a:avLst/>
                <a:gdLst>
                  <a:gd name="T0" fmla="*/ 4 w 4"/>
                  <a:gd name="T1" fmla="*/ 0 h 166"/>
                  <a:gd name="T2" fmla="*/ 0 w 4"/>
                  <a:gd name="T3" fmla="*/ 166 h 166"/>
                  <a:gd name="T4" fmla="*/ 0 60000 65536"/>
                  <a:gd name="T5" fmla="*/ 0 60000 65536"/>
                  <a:gd name="T6" fmla="*/ 0 w 4"/>
                  <a:gd name="T7" fmla="*/ 0 h 166"/>
                  <a:gd name="T8" fmla="*/ 4 w 4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66">
                    <a:moveTo>
                      <a:pt x="4" y="0"/>
                    </a:moveTo>
                    <a:lnTo>
                      <a:pt x="0" y="1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18" name="Freeform 118"/>
              <p:cNvSpPr/>
              <p:nvPr/>
            </p:nvSpPr>
            <p:spPr bwMode="auto">
              <a:xfrm>
                <a:off x="3606" y="2708"/>
                <a:ext cx="2" cy="175"/>
              </a:xfrm>
              <a:custGeom>
                <a:avLst/>
                <a:gdLst>
                  <a:gd name="T0" fmla="*/ 2 w 2"/>
                  <a:gd name="T1" fmla="*/ 0 h 175"/>
                  <a:gd name="T2" fmla="*/ 0 w 2"/>
                  <a:gd name="T3" fmla="*/ 175 h 175"/>
                  <a:gd name="T4" fmla="*/ 0 60000 65536"/>
                  <a:gd name="T5" fmla="*/ 0 60000 65536"/>
                  <a:gd name="T6" fmla="*/ 0 w 2"/>
                  <a:gd name="T7" fmla="*/ 0 h 175"/>
                  <a:gd name="T8" fmla="*/ 2 w 2"/>
                  <a:gd name="T9" fmla="*/ 175 h 17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75">
                    <a:moveTo>
                      <a:pt x="2" y="0"/>
                    </a:moveTo>
                    <a:lnTo>
                      <a:pt x="0" y="17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19" name="Freeform 119"/>
              <p:cNvSpPr/>
              <p:nvPr/>
            </p:nvSpPr>
            <p:spPr bwMode="auto">
              <a:xfrm>
                <a:off x="4760" y="2697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  <a:gd name="T6" fmla="*/ 0 w 1"/>
                  <a:gd name="T7" fmla="*/ 0 h 176"/>
                  <a:gd name="T8" fmla="*/ 1 w 1"/>
                  <a:gd name="T9" fmla="*/ 176 h 17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20" name="Freeform 120"/>
              <p:cNvSpPr/>
              <p:nvPr/>
            </p:nvSpPr>
            <p:spPr bwMode="auto">
              <a:xfrm>
                <a:off x="908" y="1480"/>
                <a:ext cx="4422" cy="1"/>
              </a:xfrm>
              <a:custGeom>
                <a:avLst/>
                <a:gdLst>
                  <a:gd name="T0" fmla="*/ 0 w 4422"/>
                  <a:gd name="T1" fmla="*/ 1 h 1"/>
                  <a:gd name="T2" fmla="*/ 4422 w 4422"/>
                  <a:gd name="T3" fmla="*/ 0 h 1"/>
                  <a:gd name="T4" fmla="*/ 0 60000 65536"/>
                  <a:gd name="T5" fmla="*/ 0 60000 65536"/>
                  <a:gd name="T6" fmla="*/ 0 w 4422"/>
                  <a:gd name="T7" fmla="*/ 0 h 1"/>
                  <a:gd name="T8" fmla="*/ 4422 w 442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22" h="1">
                    <a:moveTo>
                      <a:pt x="0" y="1"/>
                    </a:moveTo>
                    <a:lnTo>
                      <a:pt x="442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21" name="Line 121"/>
              <p:cNvSpPr>
                <a:spLocks noChangeShapeType="1"/>
              </p:cNvSpPr>
              <p:nvPr/>
            </p:nvSpPr>
            <p:spPr bwMode="auto">
              <a:xfrm>
                <a:off x="129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22" name="Line 122"/>
              <p:cNvSpPr>
                <a:spLocks noChangeShapeType="1"/>
              </p:cNvSpPr>
              <p:nvPr/>
            </p:nvSpPr>
            <p:spPr bwMode="auto">
              <a:xfrm>
                <a:off x="186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23" name="Line 123"/>
              <p:cNvSpPr>
                <a:spLocks noChangeShapeType="1"/>
              </p:cNvSpPr>
              <p:nvPr/>
            </p:nvSpPr>
            <p:spPr bwMode="auto">
              <a:xfrm>
                <a:off x="244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24" name="Line 124"/>
              <p:cNvSpPr>
                <a:spLocks noChangeShapeType="1"/>
              </p:cNvSpPr>
              <p:nvPr/>
            </p:nvSpPr>
            <p:spPr bwMode="auto">
              <a:xfrm>
                <a:off x="3020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25" name="Line 125"/>
              <p:cNvSpPr>
                <a:spLocks noChangeShapeType="1"/>
              </p:cNvSpPr>
              <p:nvPr/>
            </p:nvSpPr>
            <p:spPr bwMode="auto">
              <a:xfrm>
                <a:off x="3596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26" name="Line 126"/>
              <p:cNvSpPr>
                <a:spLocks noChangeShapeType="1"/>
              </p:cNvSpPr>
              <p:nvPr/>
            </p:nvSpPr>
            <p:spPr bwMode="auto">
              <a:xfrm>
                <a:off x="417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27" name="Line 127"/>
              <p:cNvSpPr>
                <a:spLocks noChangeShapeType="1"/>
              </p:cNvSpPr>
              <p:nvPr/>
            </p:nvSpPr>
            <p:spPr bwMode="auto">
              <a:xfrm>
                <a:off x="474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28" name="Line 128"/>
              <p:cNvSpPr>
                <a:spLocks noChangeShapeType="1"/>
              </p:cNvSpPr>
              <p:nvPr/>
            </p:nvSpPr>
            <p:spPr bwMode="auto">
              <a:xfrm>
                <a:off x="532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29" name="Freeform 129"/>
              <p:cNvSpPr/>
              <p:nvPr/>
            </p:nvSpPr>
            <p:spPr bwMode="auto">
              <a:xfrm>
                <a:off x="908" y="2056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  <a:gd name="T6" fmla="*/ 0 w 4418"/>
                  <a:gd name="T7" fmla="*/ 0 h 1"/>
                  <a:gd name="T8" fmla="*/ 4418 w 441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30" name="Line 130"/>
              <p:cNvSpPr>
                <a:spLocks noChangeShapeType="1"/>
              </p:cNvSpPr>
              <p:nvPr/>
            </p:nvSpPr>
            <p:spPr bwMode="auto">
              <a:xfrm>
                <a:off x="129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31" name="Line 131"/>
              <p:cNvSpPr>
                <a:spLocks noChangeShapeType="1"/>
              </p:cNvSpPr>
              <p:nvPr/>
            </p:nvSpPr>
            <p:spPr bwMode="auto">
              <a:xfrm>
                <a:off x="186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32" name="Line 132"/>
              <p:cNvSpPr>
                <a:spLocks noChangeShapeType="1"/>
              </p:cNvSpPr>
              <p:nvPr/>
            </p:nvSpPr>
            <p:spPr bwMode="auto">
              <a:xfrm>
                <a:off x="244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33" name="Line 133"/>
              <p:cNvSpPr>
                <a:spLocks noChangeShapeType="1"/>
              </p:cNvSpPr>
              <p:nvPr/>
            </p:nvSpPr>
            <p:spPr bwMode="auto">
              <a:xfrm>
                <a:off x="3020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34" name="Line 134"/>
              <p:cNvSpPr>
                <a:spLocks noChangeShapeType="1"/>
              </p:cNvSpPr>
              <p:nvPr/>
            </p:nvSpPr>
            <p:spPr bwMode="auto">
              <a:xfrm>
                <a:off x="3596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35" name="Line 135"/>
              <p:cNvSpPr>
                <a:spLocks noChangeShapeType="1"/>
              </p:cNvSpPr>
              <p:nvPr/>
            </p:nvSpPr>
            <p:spPr bwMode="auto">
              <a:xfrm>
                <a:off x="417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36" name="Line 136"/>
              <p:cNvSpPr>
                <a:spLocks noChangeShapeType="1"/>
              </p:cNvSpPr>
              <p:nvPr/>
            </p:nvSpPr>
            <p:spPr bwMode="auto">
              <a:xfrm>
                <a:off x="474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37" name="Line 137"/>
              <p:cNvSpPr>
                <a:spLocks noChangeShapeType="1"/>
              </p:cNvSpPr>
              <p:nvPr/>
            </p:nvSpPr>
            <p:spPr bwMode="auto">
              <a:xfrm>
                <a:off x="532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38" name="Freeform 138"/>
              <p:cNvSpPr/>
              <p:nvPr/>
            </p:nvSpPr>
            <p:spPr bwMode="auto">
              <a:xfrm>
                <a:off x="909" y="2879"/>
                <a:ext cx="3860" cy="1"/>
              </a:xfrm>
              <a:custGeom>
                <a:avLst/>
                <a:gdLst>
                  <a:gd name="T0" fmla="*/ 0 w 3860"/>
                  <a:gd name="T1" fmla="*/ 1 h 1"/>
                  <a:gd name="T2" fmla="*/ 3860 w 3860"/>
                  <a:gd name="T3" fmla="*/ 0 h 1"/>
                  <a:gd name="T4" fmla="*/ 0 60000 65536"/>
                  <a:gd name="T5" fmla="*/ 0 60000 65536"/>
                  <a:gd name="T6" fmla="*/ 0 w 3860"/>
                  <a:gd name="T7" fmla="*/ 0 h 1"/>
                  <a:gd name="T8" fmla="*/ 3860 w 386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60" h="1">
                    <a:moveTo>
                      <a:pt x="0" y="1"/>
                    </a:moveTo>
                    <a:lnTo>
                      <a:pt x="386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39" name="Freeform 139"/>
              <p:cNvSpPr/>
              <p:nvPr/>
            </p:nvSpPr>
            <p:spPr bwMode="auto">
              <a:xfrm>
                <a:off x="912" y="3209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  <a:gd name="T6" fmla="*/ 0 w 4418"/>
                  <a:gd name="T7" fmla="*/ 0 h 1"/>
                  <a:gd name="T8" fmla="*/ 4418 w 441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40" name="Rectangle 140"/>
              <p:cNvSpPr>
                <a:spLocks noChangeArrowheads="1"/>
              </p:cNvSpPr>
              <p:nvPr/>
            </p:nvSpPr>
            <p:spPr bwMode="auto">
              <a:xfrm>
                <a:off x="114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6341" name="Text Box 141"/>
              <p:cNvSpPr txBox="1">
                <a:spLocks noChangeArrowheads="1"/>
              </p:cNvSpPr>
              <p:nvPr/>
            </p:nvSpPr>
            <p:spPr bwMode="auto">
              <a:xfrm>
                <a:off x="1172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  <p:sp>
            <p:nvSpPr>
              <p:cNvPr id="136342" name="Freeform 142"/>
              <p:cNvSpPr/>
              <p:nvPr/>
            </p:nvSpPr>
            <p:spPr bwMode="auto">
              <a:xfrm>
                <a:off x="1402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5"/>
                  <a:gd name="T13" fmla="*/ 0 h 1466"/>
                  <a:gd name="T14" fmla="*/ 145 w 145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43" name="Freeform 143"/>
              <p:cNvSpPr/>
              <p:nvPr/>
            </p:nvSpPr>
            <p:spPr bwMode="auto">
              <a:xfrm>
                <a:off x="1613" y="1211"/>
                <a:ext cx="169" cy="1469"/>
              </a:xfrm>
              <a:custGeom>
                <a:avLst/>
                <a:gdLst>
                  <a:gd name="T0" fmla="*/ 169 w 169"/>
                  <a:gd name="T1" fmla="*/ 1468 h 1469"/>
                  <a:gd name="T2" fmla="*/ 0 w 169"/>
                  <a:gd name="T3" fmla="*/ 1469 h 1469"/>
                  <a:gd name="T4" fmla="*/ 1 w 169"/>
                  <a:gd name="T5" fmla="*/ 0 h 1469"/>
                  <a:gd name="T6" fmla="*/ 105 w 16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9"/>
                  <a:gd name="T13" fmla="*/ 0 h 1469"/>
                  <a:gd name="T14" fmla="*/ 169 w 169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9" h="1469">
                    <a:moveTo>
                      <a:pt x="169" y="1468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44" name="Freeform 144"/>
              <p:cNvSpPr/>
              <p:nvPr/>
            </p:nvSpPr>
            <p:spPr bwMode="auto">
              <a:xfrm>
                <a:off x="1967" y="1211"/>
                <a:ext cx="141" cy="1466"/>
              </a:xfrm>
              <a:custGeom>
                <a:avLst/>
                <a:gdLst>
                  <a:gd name="T0" fmla="*/ 38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1"/>
                  <a:gd name="T13" fmla="*/ 0 h 1466"/>
                  <a:gd name="T14" fmla="*/ 141 w 141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1" h="1466">
                    <a:moveTo>
                      <a:pt x="38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45" name="Freeform 145"/>
              <p:cNvSpPr/>
              <p:nvPr/>
            </p:nvSpPr>
            <p:spPr bwMode="auto">
              <a:xfrm>
                <a:off x="2208" y="1211"/>
                <a:ext cx="155" cy="1467"/>
              </a:xfrm>
              <a:custGeom>
                <a:avLst/>
                <a:gdLst>
                  <a:gd name="T0" fmla="*/ 155 w 155"/>
                  <a:gd name="T1" fmla="*/ 1467 h 1467"/>
                  <a:gd name="T2" fmla="*/ 3 w 155"/>
                  <a:gd name="T3" fmla="*/ 1467 h 1467"/>
                  <a:gd name="T4" fmla="*/ 0 w 155"/>
                  <a:gd name="T5" fmla="*/ 1 h 1467"/>
                  <a:gd name="T6" fmla="*/ 89 w 155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5"/>
                  <a:gd name="T13" fmla="*/ 0 h 1467"/>
                  <a:gd name="T14" fmla="*/ 155 w 155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5" h="1467">
                    <a:moveTo>
                      <a:pt x="155" y="1467"/>
                    </a:moveTo>
                    <a:lnTo>
                      <a:pt x="3" y="1467"/>
                    </a:lnTo>
                    <a:lnTo>
                      <a:pt x="0" y="1"/>
                    </a:lnTo>
                    <a:lnTo>
                      <a:pt x="89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46" name="Freeform 146"/>
              <p:cNvSpPr/>
              <p:nvPr/>
            </p:nvSpPr>
            <p:spPr bwMode="auto">
              <a:xfrm>
                <a:off x="2557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4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2"/>
                  <a:gd name="T13" fmla="*/ 0 h 1466"/>
                  <a:gd name="T14" fmla="*/ 142 w 142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4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47" name="Freeform 147"/>
              <p:cNvSpPr/>
              <p:nvPr/>
            </p:nvSpPr>
            <p:spPr bwMode="auto">
              <a:xfrm>
                <a:off x="2787" y="1211"/>
                <a:ext cx="152" cy="1467"/>
              </a:xfrm>
              <a:custGeom>
                <a:avLst/>
                <a:gdLst>
                  <a:gd name="T0" fmla="*/ 152 w 152"/>
                  <a:gd name="T1" fmla="*/ 1467 h 1467"/>
                  <a:gd name="T2" fmla="*/ 0 w 152"/>
                  <a:gd name="T3" fmla="*/ 1467 h 1467"/>
                  <a:gd name="T4" fmla="*/ 0 w 152"/>
                  <a:gd name="T5" fmla="*/ 1 h 1467"/>
                  <a:gd name="T6" fmla="*/ 77 w 152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7"/>
                  <a:gd name="T14" fmla="*/ 152 w 152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7">
                    <a:moveTo>
                      <a:pt x="152" y="1467"/>
                    </a:moveTo>
                    <a:lnTo>
                      <a:pt x="0" y="1467"/>
                    </a:lnTo>
                    <a:lnTo>
                      <a:pt x="0" y="1"/>
                    </a:lnTo>
                    <a:lnTo>
                      <a:pt x="7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48" name="Freeform 148"/>
              <p:cNvSpPr/>
              <p:nvPr/>
            </p:nvSpPr>
            <p:spPr bwMode="auto">
              <a:xfrm>
                <a:off x="3130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5"/>
                  <a:gd name="T13" fmla="*/ 0 h 1466"/>
                  <a:gd name="T14" fmla="*/ 145 w 145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49" name="Freeform 149"/>
              <p:cNvSpPr/>
              <p:nvPr/>
            </p:nvSpPr>
            <p:spPr bwMode="auto">
              <a:xfrm>
                <a:off x="3360" y="1209"/>
                <a:ext cx="155" cy="1469"/>
              </a:xfrm>
              <a:custGeom>
                <a:avLst/>
                <a:gdLst>
                  <a:gd name="T0" fmla="*/ 155 w 155"/>
                  <a:gd name="T1" fmla="*/ 1469 h 1469"/>
                  <a:gd name="T2" fmla="*/ 3 w 155"/>
                  <a:gd name="T3" fmla="*/ 1469 h 1469"/>
                  <a:gd name="T4" fmla="*/ 0 w 155"/>
                  <a:gd name="T5" fmla="*/ 0 h 1469"/>
                  <a:gd name="T6" fmla="*/ 103 w 155"/>
                  <a:gd name="T7" fmla="*/ 2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5"/>
                  <a:gd name="T13" fmla="*/ 0 h 1469"/>
                  <a:gd name="T14" fmla="*/ 155 w 155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5" h="1469">
                    <a:moveTo>
                      <a:pt x="155" y="1469"/>
                    </a:moveTo>
                    <a:lnTo>
                      <a:pt x="3" y="1469"/>
                    </a:lnTo>
                    <a:lnTo>
                      <a:pt x="0" y="0"/>
                    </a:lnTo>
                    <a:lnTo>
                      <a:pt x="103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50" name="Freeform 150"/>
              <p:cNvSpPr/>
              <p:nvPr/>
            </p:nvSpPr>
            <p:spPr bwMode="auto">
              <a:xfrm>
                <a:off x="3710" y="1211"/>
                <a:ext cx="141" cy="1466"/>
              </a:xfrm>
              <a:custGeom>
                <a:avLst/>
                <a:gdLst>
                  <a:gd name="T0" fmla="*/ 42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1"/>
                  <a:gd name="T13" fmla="*/ 0 h 1466"/>
                  <a:gd name="T14" fmla="*/ 141 w 141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1" h="1466">
                    <a:moveTo>
                      <a:pt x="42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51" name="Freeform 151"/>
              <p:cNvSpPr/>
              <p:nvPr/>
            </p:nvSpPr>
            <p:spPr bwMode="auto">
              <a:xfrm>
                <a:off x="3939" y="1211"/>
                <a:ext cx="152" cy="1467"/>
              </a:xfrm>
              <a:custGeom>
                <a:avLst/>
                <a:gdLst>
                  <a:gd name="T0" fmla="*/ 152 w 152"/>
                  <a:gd name="T1" fmla="*/ 1467 h 1467"/>
                  <a:gd name="T2" fmla="*/ 0 w 152"/>
                  <a:gd name="T3" fmla="*/ 1467 h 1467"/>
                  <a:gd name="T4" fmla="*/ 0 w 152"/>
                  <a:gd name="T5" fmla="*/ 1 h 1467"/>
                  <a:gd name="T6" fmla="*/ 103 w 152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7"/>
                  <a:gd name="T14" fmla="*/ 152 w 152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7">
                    <a:moveTo>
                      <a:pt x="152" y="1467"/>
                    </a:moveTo>
                    <a:lnTo>
                      <a:pt x="0" y="1467"/>
                    </a:lnTo>
                    <a:lnTo>
                      <a:pt x="0" y="1"/>
                    </a:lnTo>
                    <a:lnTo>
                      <a:pt x="103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52" name="Freeform 152"/>
              <p:cNvSpPr/>
              <p:nvPr/>
            </p:nvSpPr>
            <p:spPr bwMode="auto">
              <a:xfrm>
                <a:off x="4280" y="1211"/>
                <a:ext cx="147" cy="1466"/>
              </a:xfrm>
              <a:custGeom>
                <a:avLst/>
                <a:gdLst>
                  <a:gd name="T0" fmla="*/ 51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466"/>
                  <a:gd name="T14" fmla="*/ 147 w 147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466">
                    <a:moveTo>
                      <a:pt x="51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53" name="Freeform 153"/>
              <p:cNvSpPr/>
              <p:nvPr/>
            </p:nvSpPr>
            <p:spPr bwMode="auto">
              <a:xfrm>
                <a:off x="4509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0 w 158"/>
                  <a:gd name="T3" fmla="*/ 1467 h 1467"/>
                  <a:gd name="T4" fmla="*/ 0 w 158"/>
                  <a:gd name="T5" fmla="*/ 0 h 1467"/>
                  <a:gd name="T6" fmla="*/ 95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0" y="1467"/>
                    </a:lnTo>
                    <a:lnTo>
                      <a:pt x="0" y="0"/>
                    </a:lnTo>
                    <a:lnTo>
                      <a:pt x="9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54" name="Freeform 154"/>
              <p:cNvSpPr/>
              <p:nvPr/>
            </p:nvSpPr>
            <p:spPr bwMode="auto">
              <a:xfrm>
                <a:off x="4861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2"/>
                  <a:gd name="T13" fmla="*/ 0 h 1466"/>
                  <a:gd name="T14" fmla="*/ 142 w 142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55" name="Freeform 155"/>
              <p:cNvSpPr/>
              <p:nvPr/>
            </p:nvSpPr>
            <p:spPr bwMode="auto">
              <a:xfrm>
                <a:off x="5069" y="1211"/>
                <a:ext cx="159" cy="1469"/>
              </a:xfrm>
              <a:custGeom>
                <a:avLst/>
                <a:gdLst>
                  <a:gd name="T0" fmla="*/ 159 w 159"/>
                  <a:gd name="T1" fmla="*/ 1467 h 1469"/>
                  <a:gd name="T2" fmla="*/ 0 w 159"/>
                  <a:gd name="T3" fmla="*/ 1469 h 1469"/>
                  <a:gd name="T4" fmla="*/ 1 w 159"/>
                  <a:gd name="T5" fmla="*/ 0 h 1469"/>
                  <a:gd name="T6" fmla="*/ 104 w 15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9"/>
                  <a:gd name="T13" fmla="*/ 0 h 1469"/>
                  <a:gd name="T14" fmla="*/ 159 w 159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9" h="1469">
                    <a:moveTo>
                      <a:pt x="159" y="1467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4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56" name="Freeform 156"/>
              <p:cNvSpPr/>
              <p:nvPr/>
            </p:nvSpPr>
            <p:spPr bwMode="auto">
              <a:xfrm>
                <a:off x="5417" y="1211"/>
                <a:ext cx="147" cy="1466"/>
              </a:xfrm>
              <a:custGeom>
                <a:avLst/>
                <a:gdLst>
                  <a:gd name="T0" fmla="*/ 47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466"/>
                  <a:gd name="T14" fmla="*/ 147 w 147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466">
                    <a:moveTo>
                      <a:pt x="47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57" name="Freeform 157"/>
              <p:cNvSpPr/>
              <p:nvPr/>
            </p:nvSpPr>
            <p:spPr bwMode="auto">
              <a:xfrm>
                <a:off x="1055" y="2738"/>
                <a:ext cx="730" cy="660"/>
              </a:xfrm>
              <a:custGeom>
                <a:avLst/>
                <a:gdLst>
                  <a:gd name="T0" fmla="*/ 160 w 730"/>
                  <a:gd name="T1" fmla="*/ 4 h 660"/>
                  <a:gd name="T2" fmla="*/ 0 w 730"/>
                  <a:gd name="T3" fmla="*/ 3 h 660"/>
                  <a:gd name="T4" fmla="*/ 0 w 730"/>
                  <a:gd name="T5" fmla="*/ 660 h 660"/>
                  <a:gd name="T6" fmla="*/ 558 w 730"/>
                  <a:gd name="T7" fmla="*/ 657 h 660"/>
                  <a:gd name="T8" fmla="*/ 558 w 730"/>
                  <a:gd name="T9" fmla="*/ 0 h 660"/>
                  <a:gd name="T10" fmla="*/ 730 w 730"/>
                  <a:gd name="T11" fmla="*/ 1 h 6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30"/>
                  <a:gd name="T19" fmla="*/ 0 h 660"/>
                  <a:gd name="T20" fmla="*/ 730 w 730"/>
                  <a:gd name="T21" fmla="*/ 660 h 66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30" h="660">
                    <a:moveTo>
                      <a:pt x="160" y="4"/>
                    </a:moveTo>
                    <a:lnTo>
                      <a:pt x="0" y="3"/>
                    </a:lnTo>
                    <a:lnTo>
                      <a:pt x="0" y="660"/>
                    </a:lnTo>
                    <a:lnTo>
                      <a:pt x="558" y="657"/>
                    </a:lnTo>
                    <a:lnTo>
                      <a:pt x="558" y="0"/>
                    </a:lnTo>
                    <a:lnTo>
                      <a:pt x="730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58" name="Freeform 158"/>
              <p:cNvSpPr/>
              <p:nvPr/>
            </p:nvSpPr>
            <p:spPr bwMode="auto">
              <a:xfrm>
                <a:off x="2207" y="2744"/>
                <a:ext cx="729" cy="658"/>
              </a:xfrm>
              <a:custGeom>
                <a:avLst/>
                <a:gdLst>
                  <a:gd name="T0" fmla="*/ 153 w 729"/>
                  <a:gd name="T1" fmla="*/ 0 h 658"/>
                  <a:gd name="T2" fmla="*/ 0 w 729"/>
                  <a:gd name="T3" fmla="*/ 0 h 658"/>
                  <a:gd name="T4" fmla="*/ 0 w 729"/>
                  <a:gd name="T5" fmla="*/ 657 h 658"/>
                  <a:gd name="T6" fmla="*/ 583 w 729"/>
                  <a:gd name="T7" fmla="*/ 658 h 658"/>
                  <a:gd name="T8" fmla="*/ 582 w 729"/>
                  <a:gd name="T9" fmla="*/ 3 h 658"/>
                  <a:gd name="T10" fmla="*/ 729 w 729"/>
                  <a:gd name="T11" fmla="*/ 3 h 6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8"/>
                  <a:gd name="T20" fmla="*/ 729 w 729"/>
                  <a:gd name="T21" fmla="*/ 658 h 65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8">
                    <a:moveTo>
                      <a:pt x="153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83" y="658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59" name="Freeform 159"/>
              <p:cNvSpPr/>
              <p:nvPr/>
            </p:nvSpPr>
            <p:spPr bwMode="auto">
              <a:xfrm>
                <a:off x="3356" y="2744"/>
                <a:ext cx="729" cy="657"/>
              </a:xfrm>
              <a:custGeom>
                <a:avLst/>
                <a:gdLst>
                  <a:gd name="T0" fmla="*/ 158 w 729"/>
                  <a:gd name="T1" fmla="*/ 0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7"/>
                  <a:gd name="T20" fmla="*/ 729 w 729"/>
                  <a:gd name="T21" fmla="*/ 657 h 6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7">
                    <a:moveTo>
                      <a:pt x="158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60" name="Freeform 160"/>
              <p:cNvSpPr/>
              <p:nvPr/>
            </p:nvSpPr>
            <p:spPr bwMode="auto">
              <a:xfrm>
                <a:off x="4508" y="2744"/>
                <a:ext cx="729" cy="657"/>
              </a:xfrm>
              <a:custGeom>
                <a:avLst/>
                <a:gdLst>
                  <a:gd name="T0" fmla="*/ 161 w 729"/>
                  <a:gd name="T1" fmla="*/ 2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7"/>
                  <a:gd name="T20" fmla="*/ 729 w 729"/>
                  <a:gd name="T21" fmla="*/ 657 h 6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7">
                    <a:moveTo>
                      <a:pt x="161" y="2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61" name="Freeform 161"/>
              <p:cNvSpPr/>
              <p:nvPr/>
            </p:nvSpPr>
            <p:spPr bwMode="auto">
              <a:xfrm>
                <a:off x="1400" y="2735"/>
                <a:ext cx="708" cy="571"/>
              </a:xfrm>
              <a:custGeom>
                <a:avLst/>
                <a:gdLst>
                  <a:gd name="T0" fmla="*/ 0 w 708"/>
                  <a:gd name="T1" fmla="*/ 0 h 571"/>
                  <a:gd name="T2" fmla="*/ 132 w 708"/>
                  <a:gd name="T3" fmla="*/ 0 h 571"/>
                  <a:gd name="T4" fmla="*/ 133 w 708"/>
                  <a:gd name="T5" fmla="*/ 571 h 571"/>
                  <a:gd name="T6" fmla="*/ 708 w 708"/>
                  <a:gd name="T7" fmla="*/ 570 h 571"/>
                  <a:gd name="T8" fmla="*/ 708 w 708"/>
                  <a:gd name="T9" fmla="*/ 9 h 571"/>
                  <a:gd name="T10" fmla="*/ 573 w 708"/>
                  <a:gd name="T11" fmla="*/ 9 h 5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08"/>
                  <a:gd name="T19" fmla="*/ 0 h 571"/>
                  <a:gd name="T20" fmla="*/ 708 w 708"/>
                  <a:gd name="T21" fmla="*/ 571 h 57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08" h="571">
                    <a:moveTo>
                      <a:pt x="0" y="0"/>
                    </a:moveTo>
                    <a:lnTo>
                      <a:pt x="132" y="0"/>
                    </a:lnTo>
                    <a:lnTo>
                      <a:pt x="133" y="571"/>
                    </a:lnTo>
                    <a:lnTo>
                      <a:pt x="708" y="570"/>
                    </a:lnTo>
                    <a:lnTo>
                      <a:pt x="708" y="9"/>
                    </a:lnTo>
                    <a:lnTo>
                      <a:pt x="573" y="9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62" name="Freeform 162"/>
              <p:cNvSpPr/>
              <p:nvPr/>
            </p:nvSpPr>
            <p:spPr bwMode="auto">
              <a:xfrm>
                <a:off x="2552" y="2735"/>
                <a:ext cx="726" cy="567"/>
              </a:xfrm>
              <a:custGeom>
                <a:avLst/>
                <a:gdLst>
                  <a:gd name="T0" fmla="*/ 0 w 726"/>
                  <a:gd name="T1" fmla="*/ 0 h 567"/>
                  <a:gd name="T2" fmla="*/ 148 w 726"/>
                  <a:gd name="T3" fmla="*/ 1 h 567"/>
                  <a:gd name="T4" fmla="*/ 147 w 726"/>
                  <a:gd name="T5" fmla="*/ 567 h 567"/>
                  <a:gd name="T6" fmla="*/ 726 w 726"/>
                  <a:gd name="T7" fmla="*/ 567 h 567"/>
                  <a:gd name="T8" fmla="*/ 726 w 726"/>
                  <a:gd name="T9" fmla="*/ 6 h 567"/>
                  <a:gd name="T10" fmla="*/ 579 w 726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6"/>
                  <a:gd name="T19" fmla="*/ 0 h 567"/>
                  <a:gd name="T20" fmla="*/ 726 w 726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6" h="567">
                    <a:moveTo>
                      <a:pt x="0" y="0"/>
                    </a:moveTo>
                    <a:lnTo>
                      <a:pt x="148" y="1"/>
                    </a:lnTo>
                    <a:lnTo>
                      <a:pt x="147" y="567"/>
                    </a:lnTo>
                    <a:lnTo>
                      <a:pt x="726" y="567"/>
                    </a:lnTo>
                    <a:lnTo>
                      <a:pt x="726" y="6"/>
                    </a:lnTo>
                    <a:lnTo>
                      <a:pt x="579" y="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63" name="Freeform 163"/>
              <p:cNvSpPr/>
              <p:nvPr/>
            </p:nvSpPr>
            <p:spPr bwMode="auto">
              <a:xfrm>
                <a:off x="3704" y="2738"/>
                <a:ext cx="714" cy="567"/>
              </a:xfrm>
              <a:custGeom>
                <a:avLst/>
                <a:gdLst>
                  <a:gd name="T0" fmla="*/ 0 w 714"/>
                  <a:gd name="T1" fmla="*/ 0 h 567"/>
                  <a:gd name="T2" fmla="*/ 136 w 714"/>
                  <a:gd name="T3" fmla="*/ 1 h 567"/>
                  <a:gd name="T4" fmla="*/ 135 w 714"/>
                  <a:gd name="T5" fmla="*/ 567 h 567"/>
                  <a:gd name="T6" fmla="*/ 714 w 714"/>
                  <a:gd name="T7" fmla="*/ 567 h 567"/>
                  <a:gd name="T8" fmla="*/ 714 w 714"/>
                  <a:gd name="T9" fmla="*/ 6 h 567"/>
                  <a:gd name="T10" fmla="*/ 576 w 714"/>
                  <a:gd name="T11" fmla="*/ 5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14"/>
                  <a:gd name="T19" fmla="*/ 0 h 567"/>
                  <a:gd name="T20" fmla="*/ 714 w 714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14" h="567">
                    <a:moveTo>
                      <a:pt x="0" y="0"/>
                    </a:moveTo>
                    <a:lnTo>
                      <a:pt x="136" y="1"/>
                    </a:lnTo>
                    <a:lnTo>
                      <a:pt x="135" y="567"/>
                    </a:lnTo>
                    <a:lnTo>
                      <a:pt x="714" y="567"/>
                    </a:lnTo>
                    <a:lnTo>
                      <a:pt x="714" y="6"/>
                    </a:lnTo>
                    <a:lnTo>
                      <a:pt x="576" y="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64" name="Freeform 164"/>
              <p:cNvSpPr/>
              <p:nvPr/>
            </p:nvSpPr>
            <p:spPr bwMode="auto">
              <a:xfrm>
                <a:off x="4859" y="2738"/>
                <a:ext cx="711" cy="567"/>
              </a:xfrm>
              <a:custGeom>
                <a:avLst/>
                <a:gdLst>
                  <a:gd name="T0" fmla="*/ 0 w 711"/>
                  <a:gd name="T1" fmla="*/ 0 h 567"/>
                  <a:gd name="T2" fmla="*/ 130 w 711"/>
                  <a:gd name="T3" fmla="*/ 1 h 567"/>
                  <a:gd name="T4" fmla="*/ 132 w 711"/>
                  <a:gd name="T5" fmla="*/ 567 h 567"/>
                  <a:gd name="T6" fmla="*/ 711 w 711"/>
                  <a:gd name="T7" fmla="*/ 567 h 567"/>
                  <a:gd name="T8" fmla="*/ 711 w 711"/>
                  <a:gd name="T9" fmla="*/ 6 h 567"/>
                  <a:gd name="T10" fmla="*/ 564 w 711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11"/>
                  <a:gd name="T19" fmla="*/ 0 h 567"/>
                  <a:gd name="T20" fmla="*/ 711 w 711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11" h="567">
                    <a:moveTo>
                      <a:pt x="0" y="0"/>
                    </a:moveTo>
                    <a:lnTo>
                      <a:pt x="130" y="1"/>
                    </a:lnTo>
                    <a:lnTo>
                      <a:pt x="132" y="567"/>
                    </a:lnTo>
                    <a:lnTo>
                      <a:pt x="711" y="567"/>
                    </a:lnTo>
                    <a:lnTo>
                      <a:pt x="711" y="6"/>
                    </a:lnTo>
                    <a:lnTo>
                      <a:pt x="564" y="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65" name="Freeform 165"/>
              <p:cNvSpPr/>
              <p:nvPr/>
            </p:nvSpPr>
            <p:spPr bwMode="auto">
              <a:xfrm>
                <a:off x="1322" y="3398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66" name="Freeform 166"/>
              <p:cNvSpPr/>
              <p:nvPr/>
            </p:nvSpPr>
            <p:spPr bwMode="auto">
              <a:xfrm>
                <a:off x="2491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67" name="Freeform 167"/>
              <p:cNvSpPr/>
              <p:nvPr/>
            </p:nvSpPr>
            <p:spPr bwMode="auto">
              <a:xfrm>
                <a:off x="3643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68" name="Freeform 168"/>
              <p:cNvSpPr/>
              <p:nvPr/>
            </p:nvSpPr>
            <p:spPr bwMode="auto">
              <a:xfrm>
                <a:off x="4795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69" name="Freeform 169"/>
              <p:cNvSpPr/>
              <p:nvPr/>
            </p:nvSpPr>
            <p:spPr bwMode="auto">
              <a:xfrm>
                <a:off x="5276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70" name="Freeform 170"/>
              <p:cNvSpPr/>
              <p:nvPr/>
            </p:nvSpPr>
            <p:spPr bwMode="auto">
              <a:xfrm>
                <a:off x="4124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71" name="Freeform 171"/>
              <p:cNvSpPr/>
              <p:nvPr/>
            </p:nvSpPr>
            <p:spPr bwMode="auto">
              <a:xfrm>
                <a:off x="2972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72" name="Freeform 172"/>
              <p:cNvSpPr/>
              <p:nvPr/>
            </p:nvSpPr>
            <p:spPr bwMode="auto">
              <a:xfrm>
                <a:off x="1819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73" name="Freeform 173"/>
              <p:cNvSpPr/>
              <p:nvPr/>
            </p:nvSpPr>
            <p:spPr bwMode="auto">
              <a:xfrm>
                <a:off x="956" y="4025"/>
                <a:ext cx="4317" cy="1"/>
              </a:xfrm>
              <a:custGeom>
                <a:avLst/>
                <a:gdLst>
                  <a:gd name="T0" fmla="*/ 0 w 4317"/>
                  <a:gd name="T1" fmla="*/ 0 h 1"/>
                  <a:gd name="T2" fmla="*/ 4317 w 4317"/>
                  <a:gd name="T3" fmla="*/ 0 h 1"/>
                  <a:gd name="T4" fmla="*/ 0 60000 65536"/>
                  <a:gd name="T5" fmla="*/ 0 60000 65536"/>
                  <a:gd name="T6" fmla="*/ 0 w 4317"/>
                  <a:gd name="T7" fmla="*/ 0 h 1"/>
                  <a:gd name="T8" fmla="*/ 4317 w 431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317" h="1">
                    <a:moveTo>
                      <a:pt x="0" y="0"/>
                    </a:moveTo>
                    <a:lnTo>
                      <a:pt x="431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74" name="Freeform 174"/>
              <p:cNvSpPr/>
              <p:nvPr/>
            </p:nvSpPr>
            <p:spPr bwMode="auto">
              <a:xfrm>
                <a:off x="956" y="4121"/>
                <a:ext cx="3837" cy="1"/>
              </a:xfrm>
              <a:custGeom>
                <a:avLst/>
                <a:gdLst>
                  <a:gd name="T0" fmla="*/ 0 w 3837"/>
                  <a:gd name="T1" fmla="*/ 0 h 1"/>
                  <a:gd name="T2" fmla="*/ 3837 w 3837"/>
                  <a:gd name="T3" fmla="*/ 0 h 1"/>
                  <a:gd name="T4" fmla="*/ 0 60000 65536"/>
                  <a:gd name="T5" fmla="*/ 0 60000 65536"/>
                  <a:gd name="T6" fmla="*/ 0 w 3837"/>
                  <a:gd name="T7" fmla="*/ 0 h 1"/>
                  <a:gd name="T8" fmla="*/ 3837 w 383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37" h="1">
                    <a:moveTo>
                      <a:pt x="0" y="0"/>
                    </a:moveTo>
                    <a:lnTo>
                      <a:pt x="383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75" name="Freeform 175"/>
              <p:cNvSpPr/>
              <p:nvPr/>
            </p:nvSpPr>
            <p:spPr bwMode="auto">
              <a:xfrm>
                <a:off x="1322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76" name="Freeform 176"/>
              <p:cNvSpPr/>
              <p:nvPr/>
            </p:nvSpPr>
            <p:spPr bwMode="auto">
              <a:xfrm>
                <a:off x="2491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77" name="Freeform 177"/>
              <p:cNvSpPr/>
              <p:nvPr/>
            </p:nvSpPr>
            <p:spPr bwMode="auto">
              <a:xfrm>
                <a:off x="3643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78" name="Freeform 178"/>
              <p:cNvSpPr/>
              <p:nvPr/>
            </p:nvSpPr>
            <p:spPr bwMode="auto">
              <a:xfrm>
                <a:off x="4791" y="3881"/>
                <a:ext cx="4" cy="247"/>
              </a:xfrm>
              <a:custGeom>
                <a:avLst/>
                <a:gdLst>
                  <a:gd name="T0" fmla="*/ 4 w 4"/>
                  <a:gd name="T1" fmla="*/ 0 h 247"/>
                  <a:gd name="T2" fmla="*/ 0 w 4"/>
                  <a:gd name="T3" fmla="*/ 247 h 247"/>
                  <a:gd name="T4" fmla="*/ 0 60000 65536"/>
                  <a:gd name="T5" fmla="*/ 0 60000 65536"/>
                  <a:gd name="T6" fmla="*/ 0 w 4"/>
                  <a:gd name="T7" fmla="*/ 0 h 247"/>
                  <a:gd name="T8" fmla="*/ 4 w 4"/>
                  <a:gd name="T9" fmla="*/ 247 h 24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47">
                    <a:moveTo>
                      <a:pt x="4" y="0"/>
                    </a:moveTo>
                    <a:lnTo>
                      <a:pt x="0" y="247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79" name="Freeform 179"/>
              <p:cNvSpPr/>
              <p:nvPr/>
            </p:nvSpPr>
            <p:spPr bwMode="auto">
              <a:xfrm>
                <a:off x="5277" y="3881"/>
                <a:ext cx="1" cy="151"/>
              </a:xfrm>
              <a:custGeom>
                <a:avLst/>
                <a:gdLst>
                  <a:gd name="T0" fmla="*/ 0 w 1"/>
                  <a:gd name="T1" fmla="*/ 0 h 151"/>
                  <a:gd name="T2" fmla="*/ 0 w 1"/>
                  <a:gd name="T3" fmla="*/ 151 h 151"/>
                  <a:gd name="T4" fmla="*/ 0 60000 65536"/>
                  <a:gd name="T5" fmla="*/ 0 60000 65536"/>
                  <a:gd name="T6" fmla="*/ 0 w 1"/>
                  <a:gd name="T7" fmla="*/ 0 h 151"/>
                  <a:gd name="T8" fmla="*/ 1 w 1"/>
                  <a:gd name="T9" fmla="*/ 151 h 15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1">
                    <a:moveTo>
                      <a:pt x="0" y="0"/>
                    </a:moveTo>
                    <a:lnTo>
                      <a:pt x="0" y="15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80" name="Line 180"/>
              <p:cNvSpPr>
                <a:spLocks noChangeShapeType="1"/>
              </p:cNvSpPr>
              <p:nvPr/>
            </p:nvSpPr>
            <p:spPr bwMode="auto">
              <a:xfrm>
                <a:off x="4124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81" name="Line 181"/>
              <p:cNvSpPr>
                <a:spLocks noChangeShapeType="1"/>
              </p:cNvSpPr>
              <p:nvPr/>
            </p:nvSpPr>
            <p:spPr bwMode="auto">
              <a:xfrm>
                <a:off x="2973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82" name="Line 182"/>
              <p:cNvSpPr>
                <a:spLocks noChangeShapeType="1"/>
              </p:cNvSpPr>
              <p:nvPr/>
            </p:nvSpPr>
            <p:spPr bwMode="auto">
              <a:xfrm>
                <a:off x="1820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83" name="Rectangle 183"/>
              <p:cNvSpPr>
                <a:spLocks noChangeArrowheads="1"/>
              </p:cNvSpPr>
              <p:nvPr/>
            </p:nvSpPr>
            <p:spPr bwMode="auto">
              <a:xfrm>
                <a:off x="2317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6384" name="Text Box 184"/>
              <p:cNvSpPr txBox="1">
                <a:spLocks noChangeArrowheads="1"/>
              </p:cNvSpPr>
              <p:nvPr/>
            </p:nvSpPr>
            <p:spPr bwMode="auto">
              <a:xfrm>
                <a:off x="2348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  <p:sp>
            <p:nvSpPr>
              <p:cNvPr id="136385" name="Rectangle 185"/>
              <p:cNvSpPr>
                <a:spLocks noChangeArrowheads="1"/>
              </p:cNvSpPr>
              <p:nvPr/>
            </p:nvSpPr>
            <p:spPr bwMode="auto">
              <a:xfrm>
                <a:off x="3469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6386" name="Text Box 186"/>
              <p:cNvSpPr txBox="1">
                <a:spLocks noChangeArrowheads="1"/>
              </p:cNvSpPr>
              <p:nvPr/>
            </p:nvSpPr>
            <p:spPr bwMode="auto">
              <a:xfrm>
                <a:off x="3500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  <p:sp>
            <p:nvSpPr>
              <p:cNvPr id="136387" name="Rectangle 187"/>
              <p:cNvSpPr>
                <a:spLocks noChangeArrowheads="1"/>
              </p:cNvSpPr>
              <p:nvPr/>
            </p:nvSpPr>
            <p:spPr bwMode="auto">
              <a:xfrm>
                <a:off x="462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6388" name="Text Box 188"/>
              <p:cNvSpPr txBox="1">
                <a:spLocks noChangeArrowheads="1"/>
              </p:cNvSpPr>
              <p:nvPr/>
            </p:nvSpPr>
            <p:spPr bwMode="auto">
              <a:xfrm>
                <a:off x="4652" y="357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  <p:sp>
            <p:nvSpPr>
              <p:cNvPr id="136389" name="Line 189"/>
              <p:cNvSpPr>
                <a:spLocks noChangeShapeType="1"/>
              </p:cNvSpPr>
              <p:nvPr/>
            </p:nvSpPr>
            <p:spPr bwMode="auto">
              <a:xfrm>
                <a:off x="196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90" name="Line 190"/>
              <p:cNvSpPr>
                <a:spLocks noChangeShapeType="1"/>
              </p:cNvSpPr>
              <p:nvPr/>
            </p:nvSpPr>
            <p:spPr bwMode="auto">
              <a:xfrm>
                <a:off x="31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91" name="Line 191"/>
              <p:cNvSpPr>
                <a:spLocks noChangeShapeType="1"/>
              </p:cNvSpPr>
              <p:nvPr/>
            </p:nvSpPr>
            <p:spPr bwMode="auto">
              <a:xfrm>
                <a:off x="4293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92" name="Line 192"/>
              <p:cNvSpPr>
                <a:spLocks noChangeShapeType="1"/>
              </p:cNvSpPr>
              <p:nvPr/>
            </p:nvSpPr>
            <p:spPr bwMode="auto">
              <a:xfrm>
                <a:off x="5420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93" name="Freeform 193"/>
              <p:cNvSpPr/>
              <p:nvPr/>
            </p:nvSpPr>
            <p:spPr bwMode="auto">
              <a:xfrm>
                <a:off x="3033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7711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94" name="Freeform 194"/>
              <p:cNvSpPr/>
              <p:nvPr/>
            </p:nvSpPr>
            <p:spPr bwMode="auto">
              <a:xfrm>
                <a:off x="4185" y="2691"/>
                <a:ext cx="1" cy="525"/>
              </a:xfrm>
              <a:custGeom>
                <a:avLst/>
                <a:gdLst>
                  <a:gd name="T0" fmla="*/ 0 w 1"/>
                  <a:gd name="T1" fmla="*/ 0 h 525"/>
                  <a:gd name="T2" fmla="*/ 0 w 1"/>
                  <a:gd name="T3" fmla="*/ 525 h 525"/>
                  <a:gd name="T4" fmla="*/ 0 60000 65536"/>
                  <a:gd name="T5" fmla="*/ 0 60000 65536"/>
                  <a:gd name="T6" fmla="*/ 0 w 1"/>
                  <a:gd name="T7" fmla="*/ 0 h 525"/>
                  <a:gd name="T8" fmla="*/ 1 w 1"/>
                  <a:gd name="T9" fmla="*/ 525 h 52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525">
                    <a:moveTo>
                      <a:pt x="0" y="0"/>
                    </a:moveTo>
                    <a:lnTo>
                      <a:pt x="0" y="52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95" name="Freeform 195"/>
              <p:cNvSpPr/>
              <p:nvPr/>
            </p:nvSpPr>
            <p:spPr bwMode="auto">
              <a:xfrm>
                <a:off x="5325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7711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396" name="Text Box 196"/>
              <p:cNvSpPr txBox="1">
                <a:spLocks noChangeArrowheads="1"/>
              </p:cNvSpPr>
              <p:nvPr/>
            </p:nvSpPr>
            <p:spPr bwMode="auto">
              <a:xfrm rot="5400000">
                <a:off x="1193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6397" name="Text Box 197"/>
              <p:cNvSpPr txBox="1">
                <a:spLocks noChangeArrowheads="1"/>
              </p:cNvSpPr>
              <p:nvPr/>
            </p:nvSpPr>
            <p:spPr bwMode="auto">
              <a:xfrm rot="5400000">
                <a:off x="1769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6398" name="Text Box 198"/>
              <p:cNvSpPr txBox="1">
                <a:spLocks noChangeArrowheads="1"/>
              </p:cNvSpPr>
              <p:nvPr/>
            </p:nvSpPr>
            <p:spPr bwMode="auto">
              <a:xfrm rot="5400000">
                <a:off x="2345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6399" name="Text Box 199"/>
              <p:cNvSpPr txBox="1">
                <a:spLocks noChangeArrowheads="1"/>
              </p:cNvSpPr>
              <p:nvPr/>
            </p:nvSpPr>
            <p:spPr bwMode="auto">
              <a:xfrm rot="5400000">
                <a:off x="2921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6400" name="Text Box 200"/>
              <p:cNvSpPr txBox="1">
                <a:spLocks noChangeArrowheads="1"/>
              </p:cNvSpPr>
              <p:nvPr/>
            </p:nvSpPr>
            <p:spPr bwMode="auto">
              <a:xfrm rot="5400000">
                <a:off x="3496" y="1627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6401" name="Text Box 201"/>
              <p:cNvSpPr txBox="1">
                <a:spLocks noChangeArrowheads="1"/>
              </p:cNvSpPr>
              <p:nvPr/>
            </p:nvSpPr>
            <p:spPr bwMode="auto">
              <a:xfrm rot="5400000">
                <a:off x="4073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6402" name="Text Box 202"/>
              <p:cNvSpPr txBox="1">
                <a:spLocks noChangeArrowheads="1"/>
              </p:cNvSpPr>
              <p:nvPr/>
            </p:nvSpPr>
            <p:spPr bwMode="auto">
              <a:xfrm rot="5400000">
                <a:off x="4649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6403" name="Text Box 203"/>
              <p:cNvSpPr txBox="1">
                <a:spLocks noChangeArrowheads="1"/>
              </p:cNvSpPr>
              <p:nvPr/>
            </p:nvSpPr>
            <p:spPr bwMode="auto">
              <a:xfrm rot="5400000">
                <a:off x="5244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6404" name="Text Box 204"/>
              <p:cNvSpPr txBox="1">
                <a:spLocks noChangeArrowheads="1"/>
              </p:cNvSpPr>
              <p:nvPr/>
            </p:nvSpPr>
            <p:spPr bwMode="auto">
              <a:xfrm>
                <a:off x="660" y="791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36405" name="Text Box 205"/>
              <p:cNvSpPr txBox="1">
                <a:spLocks noChangeArrowheads="1"/>
              </p:cNvSpPr>
              <p:nvPr/>
            </p:nvSpPr>
            <p:spPr bwMode="auto">
              <a:xfrm>
                <a:off x="660" y="1383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36406" name="Text Box 206"/>
              <p:cNvSpPr txBox="1">
                <a:spLocks noChangeArrowheads="1"/>
              </p:cNvSpPr>
              <p:nvPr/>
            </p:nvSpPr>
            <p:spPr bwMode="auto">
              <a:xfrm>
                <a:off x="624" y="19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63</a:t>
                </a:r>
              </a:p>
            </p:txBody>
          </p:sp>
          <p:sp>
            <p:nvSpPr>
              <p:cNvPr id="136407" name="Line 207"/>
              <p:cNvSpPr>
                <a:spLocks noChangeShapeType="1"/>
              </p:cNvSpPr>
              <p:nvPr/>
            </p:nvSpPr>
            <p:spPr bwMode="auto">
              <a:xfrm>
                <a:off x="332" y="2537"/>
                <a:ext cx="57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408" name="Text Box 208"/>
              <p:cNvSpPr txBox="1">
                <a:spLocks noChangeArrowheads="1"/>
              </p:cNvSpPr>
              <p:nvPr/>
            </p:nvSpPr>
            <p:spPr bwMode="auto">
              <a:xfrm>
                <a:off x="660" y="2727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36409" name="Text Box 209"/>
              <p:cNvSpPr txBox="1">
                <a:spLocks noChangeArrowheads="1"/>
              </p:cNvSpPr>
              <p:nvPr/>
            </p:nvSpPr>
            <p:spPr bwMode="auto">
              <a:xfrm>
                <a:off x="624" y="31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36410" name="Text Box 210"/>
              <p:cNvSpPr txBox="1">
                <a:spLocks noChangeArrowheads="1"/>
              </p:cNvSpPr>
              <p:nvPr/>
            </p:nvSpPr>
            <p:spPr bwMode="auto">
              <a:xfrm rot="5400000">
                <a:off x="665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6411" name="Text Box 211"/>
              <p:cNvSpPr txBox="1">
                <a:spLocks noChangeArrowheads="1"/>
              </p:cNvSpPr>
              <p:nvPr/>
            </p:nvSpPr>
            <p:spPr bwMode="auto">
              <a:xfrm rot="5400000">
                <a:off x="665" y="2876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6412" name="Text Box 212"/>
              <p:cNvSpPr txBox="1">
                <a:spLocks noChangeArrowheads="1"/>
              </p:cNvSpPr>
              <p:nvPr/>
            </p:nvSpPr>
            <p:spPr bwMode="auto">
              <a:xfrm>
                <a:off x="348" y="101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行</a:t>
                </a:r>
              </a:p>
            </p:txBody>
          </p:sp>
          <p:sp>
            <p:nvSpPr>
              <p:cNvPr id="136413" name="Text Box 213"/>
              <p:cNvSpPr txBox="1">
                <a:spLocks noChangeArrowheads="1"/>
              </p:cNvSpPr>
              <p:nvPr/>
            </p:nvSpPr>
            <p:spPr bwMode="auto">
              <a:xfrm>
                <a:off x="348" y="126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地</a:t>
                </a:r>
              </a:p>
            </p:txBody>
          </p:sp>
          <p:sp>
            <p:nvSpPr>
              <p:cNvPr id="136414" name="Text Box 214"/>
              <p:cNvSpPr txBox="1">
                <a:spLocks noChangeArrowheads="1"/>
              </p:cNvSpPr>
              <p:nvPr/>
            </p:nvSpPr>
            <p:spPr bwMode="auto">
              <a:xfrm>
                <a:off x="348" y="151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址</a:t>
                </a:r>
              </a:p>
            </p:txBody>
          </p:sp>
          <p:sp>
            <p:nvSpPr>
              <p:cNvPr id="136415" name="Text Box 215"/>
              <p:cNvSpPr txBox="1">
                <a:spLocks noChangeArrowheads="1"/>
              </p:cNvSpPr>
              <p:nvPr/>
            </p:nvSpPr>
            <p:spPr bwMode="auto">
              <a:xfrm>
                <a:off x="348" y="175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译</a:t>
                </a:r>
              </a:p>
            </p:txBody>
          </p:sp>
          <p:sp>
            <p:nvSpPr>
              <p:cNvPr id="136416" name="Text Box 216"/>
              <p:cNvSpPr txBox="1">
                <a:spLocks noChangeArrowheads="1"/>
              </p:cNvSpPr>
              <p:nvPr/>
            </p:nvSpPr>
            <p:spPr bwMode="auto">
              <a:xfrm>
                <a:off x="348" y="200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码</a:t>
                </a:r>
              </a:p>
            </p:txBody>
          </p:sp>
          <p:sp>
            <p:nvSpPr>
              <p:cNvPr id="136417" name="Text Box 217"/>
              <p:cNvSpPr txBox="1">
                <a:spLocks noChangeArrowheads="1"/>
              </p:cNvSpPr>
              <p:nvPr/>
            </p:nvSpPr>
            <p:spPr bwMode="auto">
              <a:xfrm>
                <a:off x="375" y="263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列</a:t>
                </a:r>
              </a:p>
            </p:txBody>
          </p:sp>
          <p:sp>
            <p:nvSpPr>
              <p:cNvPr id="136418" name="Text Box 218"/>
              <p:cNvSpPr txBox="1">
                <a:spLocks noChangeArrowheads="1"/>
              </p:cNvSpPr>
              <p:nvPr/>
            </p:nvSpPr>
            <p:spPr bwMode="auto">
              <a:xfrm>
                <a:off x="375" y="288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地</a:t>
                </a:r>
              </a:p>
            </p:txBody>
          </p:sp>
          <p:sp>
            <p:nvSpPr>
              <p:cNvPr id="136419" name="Text Box 219"/>
              <p:cNvSpPr txBox="1">
                <a:spLocks noChangeArrowheads="1"/>
              </p:cNvSpPr>
              <p:nvPr/>
            </p:nvSpPr>
            <p:spPr bwMode="auto">
              <a:xfrm>
                <a:off x="375" y="313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址</a:t>
                </a:r>
              </a:p>
            </p:txBody>
          </p:sp>
          <p:sp>
            <p:nvSpPr>
              <p:cNvPr id="136420" name="Text Box 220"/>
              <p:cNvSpPr txBox="1">
                <a:spLocks noChangeArrowheads="1"/>
              </p:cNvSpPr>
              <p:nvPr/>
            </p:nvSpPr>
            <p:spPr bwMode="auto">
              <a:xfrm>
                <a:off x="375" y="337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译</a:t>
                </a:r>
              </a:p>
            </p:txBody>
          </p:sp>
          <p:sp>
            <p:nvSpPr>
              <p:cNvPr id="136421" name="Text Box 221"/>
              <p:cNvSpPr txBox="1">
                <a:spLocks noChangeArrowheads="1"/>
              </p:cNvSpPr>
              <p:nvPr/>
            </p:nvSpPr>
            <p:spPr bwMode="auto">
              <a:xfrm>
                <a:off x="375" y="362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码</a:t>
                </a:r>
              </a:p>
            </p:txBody>
          </p:sp>
          <p:sp>
            <p:nvSpPr>
              <p:cNvPr id="136422" name="Text Box 222"/>
              <p:cNvSpPr txBox="1">
                <a:spLocks noChangeArrowheads="1"/>
              </p:cNvSpPr>
              <p:nvPr/>
            </p:nvSpPr>
            <p:spPr bwMode="auto">
              <a:xfrm>
                <a:off x="194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36423" name="Text Box 223"/>
              <p:cNvSpPr txBox="1">
                <a:spLocks noChangeArrowheads="1"/>
              </p:cNvSpPr>
              <p:nvPr/>
            </p:nvSpPr>
            <p:spPr bwMode="auto">
              <a:xfrm>
                <a:off x="310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2</a:t>
                </a:r>
              </a:p>
            </p:txBody>
          </p:sp>
          <p:sp>
            <p:nvSpPr>
              <p:cNvPr id="136424" name="Text Box 224"/>
              <p:cNvSpPr txBox="1">
                <a:spLocks noChangeArrowheads="1"/>
              </p:cNvSpPr>
              <p:nvPr/>
            </p:nvSpPr>
            <p:spPr bwMode="auto">
              <a:xfrm>
                <a:off x="4256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3</a:t>
                </a:r>
              </a:p>
            </p:txBody>
          </p:sp>
          <p:sp>
            <p:nvSpPr>
              <p:cNvPr id="136425" name="Text Box 225"/>
              <p:cNvSpPr txBox="1">
                <a:spLocks noChangeArrowheads="1"/>
              </p:cNvSpPr>
              <p:nvPr/>
            </p:nvSpPr>
            <p:spPr bwMode="auto">
              <a:xfrm>
                <a:off x="541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sp>
            <p:nvSpPr>
              <p:cNvPr id="136426" name="Line 226"/>
              <p:cNvSpPr>
                <a:spLocks noChangeShapeType="1"/>
              </p:cNvSpPr>
              <p:nvPr/>
            </p:nvSpPr>
            <p:spPr bwMode="auto">
              <a:xfrm>
                <a:off x="140" y="905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427" name="Line 227"/>
              <p:cNvSpPr>
                <a:spLocks noChangeShapeType="1"/>
              </p:cNvSpPr>
              <p:nvPr/>
            </p:nvSpPr>
            <p:spPr bwMode="auto">
              <a:xfrm>
                <a:off x="140" y="116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428" name="Line 228"/>
              <p:cNvSpPr>
                <a:spLocks noChangeShapeType="1"/>
              </p:cNvSpPr>
              <p:nvPr/>
            </p:nvSpPr>
            <p:spPr bwMode="auto">
              <a:xfrm>
                <a:off x="140" y="142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429" name="Line 229"/>
              <p:cNvSpPr>
                <a:spLocks noChangeShapeType="1"/>
              </p:cNvSpPr>
              <p:nvPr/>
            </p:nvSpPr>
            <p:spPr bwMode="auto">
              <a:xfrm>
                <a:off x="140" y="168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430" name="Line 230"/>
              <p:cNvSpPr>
                <a:spLocks noChangeShapeType="1"/>
              </p:cNvSpPr>
              <p:nvPr/>
            </p:nvSpPr>
            <p:spPr bwMode="auto">
              <a:xfrm>
                <a:off x="140" y="194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431" name="Line 231"/>
              <p:cNvSpPr>
                <a:spLocks noChangeShapeType="1"/>
              </p:cNvSpPr>
              <p:nvPr/>
            </p:nvSpPr>
            <p:spPr bwMode="auto">
              <a:xfrm>
                <a:off x="140" y="220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432" name="Line 232"/>
              <p:cNvSpPr>
                <a:spLocks noChangeShapeType="1"/>
              </p:cNvSpPr>
              <p:nvPr/>
            </p:nvSpPr>
            <p:spPr bwMode="auto">
              <a:xfrm>
                <a:off x="140" y="287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433" name="Line 233"/>
              <p:cNvSpPr>
                <a:spLocks noChangeShapeType="1"/>
              </p:cNvSpPr>
              <p:nvPr/>
            </p:nvSpPr>
            <p:spPr bwMode="auto">
              <a:xfrm>
                <a:off x="140" y="313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434" name="Line 234"/>
              <p:cNvSpPr>
                <a:spLocks noChangeShapeType="1"/>
              </p:cNvSpPr>
              <p:nvPr/>
            </p:nvSpPr>
            <p:spPr bwMode="auto">
              <a:xfrm>
                <a:off x="140" y="339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435" name="Line 235"/>
              <p:cNvSpPr>
                <a:spLocks noChangeShapeType="1"/>
              </p:cNvSpPr>
              <p:nvPr/>
            </p:nvSpPr>
            <p:spPr bwMode="auto">
              <a:xfrm>
                <a:off x="140" y="365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436" name="Text Box 236"/>
              <p:cNvSpPr txBox="1">
                <a:spLocks noChangeArrowheads="1"/>
              </p:cNvSpPr>
              <p:nvPr/>
            </p:nvSpPr>
            <p:spPr bwMode="auto">
              <a:xfrm>
                <a:off x="648" y="3890"/>
                <a:ext cx="35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800">
                    <a:latin typeface="Times New Roman" panose="02020603050405020304" pitchFamily="18" charset="0"/>
                  </a:rPr>
                  <a:t>WE</a:t>
                </a:r>
              </a:p>
            </p:txBody>
          </p:sp>
          <p:sp>
            <p:nvSpPr>
              <p:cNvPr id="136437" name="Line 237"/>
              <p:cNvSpPr>
                <a:spLocks noChangeShapeType="1"/>
              </p:cNvSpPr>
              <p:nvPr/>
            </p:nvSpPr>
            <p:spPr bwMode="auto">
              <a:xfrm>
                <a:off x="682" y="3923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6438" name="Text Box 238"/>
              <p:cNvSpPr txBox="1">
                <a:spLocks noChangeArrowheads="1"/>
              </p:cNvSpPr>
              <p:nvPr/>
            </p:nvSpPr>
            <p:spPr bwMode="auto">
              <a:xfrm>
                <a:off x="668" y="4025"/>
                <a:ext cx="32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CS</a:t>
                </a:r>
              </a:p>
            </p:txBody>
          </p:sp>
          <p:sp>
            <p:nvSpPr>
              <p:cNvPr id="136439" name="Line 239"/>
              <p:cNvSpPr>
                <a:spLocks noChangeShapeType="1"/>
              </p:cNvSpPr>
              <p:nvPr/>
            </p:nvSpPr>
            <p:spPr bwMode="auto">
              <a:xfrm>
                <a:off x="726" y="4079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36225" name="Group 240"/>
            <p:cNvGrpSpPr/>
            <p:nvPr/>
          </p:nvGrpSpPr>
          <p:grpSpPr bwMode="auto">
            <a:xfrm>
              <a:off x="140" y="674"/>
              <a:ext cx="196" cy="3010"/>
              <a:chOff x="140" y="674"/>
              <a:chExt cx="196" cy="3010"/>
            </a:xfrm>
          </p:grpSpPr>
          <p:sp>
            <p:nvSpPr>
              <p:cNvPr id="136226" name="Text Box 241"/>
              <p:cNvSpPr txBox="1">
                <a:spLocks noChangeArrowheads="1"/>
              </p:cNvSpPr>
              <p:nvPr/>
            </p:nvSpPr>
            <p:spPr bwMode="auto">
              <a:xfrm>
                <a:off x="140" y="67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36227" name="Text Box 242"/>
              <p:cNvSpPr txBox="1">
                <a:spLocks noChangeArrowheads="1"/>
              </p:cNvSpPr>
              <p:nvPr/>
            </p:nvSpPr>
            <p:spPr bwMode="auto">
              <a:xfrm>
                <a:off x="140" y="933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36228" name="Text Box 243"/>
              <p:cNvSpPr txBox="1">
                <a:spLocks noChangeArrowheads="1"/>
              </p:cNvSpPr>
              <p:nvPr/>
            </p:nvSpPr>
            <p:spPr bwMode="auto">
              <a:xfrm>
                <a:off x="140" y="119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36229" name="Text Box 244"/>
              <p:cNvSpPr txBox="1">
                <a:spLocks noChangeArrowheads="1"/>
              </p:cNvSpPr>
              <p:nvPr/>
            </p:nvSpPr>
            <p:spPr bwMode="auto">
              <a:xfrm>
                <a:off x="140" y="145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36230" name="Text Box 245"/>
              <p:cNvSpPr txBox="1">
                <a:spLocks noChangeArrowheads="1"/>
              </p:cNvSpPr>
              <p:nvPr/>
            </p:nvSpPr>
            <p:spPr bwMode="auto">
              <a:xfrm>
                <a:off x="140" y="171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36231" name="Text Box 246"/>
              <p:cNvSpPr txBox="1">
                <a:spLocks noChangeArrowheads="1"/>
              </p:cNvSpPr>
              <p:nvPr/>
            </p:nvSpPr>
            <p:spPr bwMode="auto">
              <a:xfrm>
                <a:off x="140" y="197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36232" name="Text Box 247"/>
              <p:cNvSpPr txBox="1">
                <a:spLocks noChangeArrowheads="1"/>
              </p:cNvSpPr>
              <p:nvPr/>
            </p:nvSpPr>
            <p:spPr bwMode="auto">
              <a:xfrm>
                <a:off x="140" y="2657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36233" name="Text Box 248"/>
              <p:cNvSpPr txBox="1">
                <a:spLocks noChangeArrowheads="1"/>
              </p:cNvSpPr>
              <p:nvPr/>
            </p:nvSpPr>
            <p:spPr bwMode="auto">
              <a:xfrm>
                <a:off x="140" y="2916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36234" name="Text Box 249"/>
              <p:cNvSpPr txBox="1">
                <a:spLocks noChangeArrowheads="1"/>
              </p:cNvSpPr>
              <p:nvPr/>
            </p:nvSpPr>
            <p:spPr bwMode="auto">
              <a:xfrm>
                <a:off x="140" y="317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36235" name="Text Box 250"/>
              <p:cNvSpPr txBox="1">
                <a:spLocks noChangeArrowheads="1"/>
              </p:cNvSpPr>
              <p:nvPr/>
            </p:nvSpPr>
            <p:spPr bwMode="auto">
              <a:xfrm>
                <a:off x="140" y="343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</p:grpSp>
      </p:grpSp>
      <p:sp>
        <p:nvSpPr>
          <p:cNvPr id="224507" name="Rectangle 251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36197" name="Text Box 252"/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③ </a:t>
            </a:r>
            <a:r>
              <a:rPr lang="en-US" altLang="zh-CN" sz="3200">
                <a:latin typeface="Times New Roman" panose="02020603050405020304" pitchFamily="18" charset="0"/>
              </a:rPr>
              <a:t>Intel 2114</a:t>
            </a: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200">
                <a:latin typeface="Times New Roman" panose="02020603050405020304" pitchFamily="18" charset="0"/>
              </a:rPr>
              <a:t>矩阵 </a:t>
            </a:r>
            <a:r>
              <a:rPr lang="en-US" altLang="zh-CN" sz="3200">
                <a:latin typeface="Times New Roman" panose="02020603050405020304" pitchFamily="18" charset="0"/>
              </a:rPr>
              <a:t>(64 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>
                <a:latin typeface="Times New Roman" panose="02020603050405020304" pitchFamily="18" charset="0"/>
              </a:rPr>
              <a:t> 64)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</a:p>
        </p:txBody>
      </p:sp>
      <p:grpSp>
        <p:nvGrpSpPr>
          <p:cNvPr id="12" name="Group 253"/>
          <p:cNvGrpSpPr/>
          <p:nvPr/>
        </p:nvGrpSpPr>
        <p:grpSpPr bwMode="auto">
          <a:xfrm>
            <a:off x="1431925" y="1360488"/>
            <a:ext cx="7250113" cy="682625"/>
            <a:chOff x="902" y="857"/>
            <a:chExt cx="4567" cy="430"/>
          </a:xfrm>
        </p:grpSpPr>
        <p:grpSp>
          <p:nvGrpSpPr>
            <p:cNvPr id="136200" name="Group 254"/>
            <p:cNvGrpSpPr/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136205" name="Group 255"/>
              <p:cNvGrpSpPr/>
              <p:nvPr/>
            </p:nvGrpSpPr>
            <p:grpSpPr bwMode="auto">
              <a:xfrm>
                <a:off x="1152" y="1013"/>
                <a:ext cx="4317" cy="274"/>
                <a:chOff x="1176" y="1068"/>
                <a:chExt cx="4317" cy="274"/>
              </a:xfrm>
            </p:grpSpPr>
            <p:sp>
              <p:nvSpPr>
                <p:cNvPr id="136216" name="Rectangle 256"/>
                <p:cNvSpPr>
                  <a:spLocks noChangeArrowheads="1"/>
                </p:cNvSpPr>
                <p:nvPr/>
              </p:nvSpPr>
              <p:spPr bwMode="auto">
                <a:xfrm>
                  <a:off x="175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15</a:t>
                  </a:r>
                </a:p>
              </p:txBody>
            </p:sp>
            <p:sp>
              <p:nvSpPr>
                <p:cNvPr id="136217" name="Rectangle 257"/>
                <p:cNvSpPr>
                  <a:spLocks noChangeArrowheads="1"/>
                </p:cNvSpPr>
                <p:nvPr/>
              </p:nvSpPr>
              <p:spPr bwMode="auto">
                <a:xfrm>
                  <a:off x="117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6218" name="Rectangle 258"/>
                <p:cNvSpPr>
                  <a:spLocks noChangeArrowheads="1"/>
                </p:cNvSpPr>
                <p:nvPr/>
              </p:nvSpPr>
              <p:spPr bwMode="auto">
                <a:xfrm>
                  <a:off x="2892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31</a:t>
                  </a:r>
                </a:p>
              </p:txBody>
            </p:sp>
            <p:sp>
              <p:nvSpPr>
                <p:cNvPr id="136219" name="Rectangle 259"/>
                <p:cNvSpPr>
                  <a:spLocks noChangeArrowheads="1"/>
                </p:cNvSpPr>
                <p:nvPr/>
              </p:nvSpPr>
              <p:spPr bwMode="auto">
                <a:xfrm>
                  <a:off x="231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16</a:t>
                  </a:r>
                </a:p>
              </p:txBody>
            </p:sp>
            <p:sp>
              <p:nvSpPr>
                <p:cNvPr id="136220" name="Rectangle 260"/>
                <p:cNvSpPr>
                  <a:spLocks noChangeArrowheads="1"/>
                </p:cNvSpPr>
                <p:nvPr/>
              </p:nvSpPr>
              <p:spPr bwMode="auto">
                <a:xfrm>
                  <a:off x="4067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47</a:t>
                  </a:r>
                </a:p>
              </p:txBody>
            </p:sp>
            <p:sp>
              <p:nvSpPr>
                <p:cNvPr id="136221" name="Rectangle 261"/>
                <p:cNvSpPr>
                  <a:spLocks noChangeArrowheads="1"/>
                </p:cNvSpPr>
                <p:nvPr/>
              </p:nvSpPr>
              <p:spPr bwMode="auto">
                <a:xfrm>
                  <a:off x="3491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32</a:t>
                  </a:r>
                </a:p>
              </p:txBody>
            </p:sp>
            <p:sp>
              <p:nvSpPr>
                <p:cNvPr id="136222" name="Rectangle 262"/>
                <p:cNvSpPr>
                  <a:spLocks noChangeArrowheads="1"/>
                </p:cNvSpPr>
                <p:nvPr/>
              </p:nvSpPr>
              <p:spPr bwMode="auto">
                <a:xfrm>
                  <a:off x="5205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63</a:t>
                  </a:r>
                </a:p>
              </p:txBody>
            </p:sp>
            <p:sp>
              <p:nvSpPr>
                <p:cNvPr id="136223" name="Rectangle 263"/>
                <p:cNvSpPr>
                  <a:spLocks noChangeArrowheads="1"/>
                </p:cNvSpPr>
                <p:nvPr/>
              </p:nvSpPr>
              <p:spPr bwMode="auto">
                <a:xfrm>
                  <a:off x="4626" y="1068"/>
                  <a:ext cx="288" cy="274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48</a:t>
                  </a:r>
                </a:p>
              </p:txBody>
            </p:sp>
          </p:grpSp>
          <p:grpSp>
            <p:nvGrpSpPr>
              <p:cNvPr id="136206" name="Group 264"/>
              <p:cNvGrpSpPr/>
              <p:nvPr/>
            </p:nvGrpSpPr>
            <p:grpSpPr bwMode="auto">
              <a:xfrm>
                <a:off x="902" y="857"/>
                <a:ext cx="4419" cy="145"/>
                <a:chOff x="902" y="857"/>
                <a:chExt cx="4419" cy="145"/>
              </a:xfrm>
            </p:grpSpPr>
            <p:sp>
              <p:nvSpPr>
                <p:cNvPr id="136207" name="Freeform 265"/>
                <p:cNvSpPr/>
                <p:nvPr/>
              </p:nvSpPr>
              <p:spPr bwMode="auto">
                <a:xfrm>
                  <a:off x="902" y="857"/>
                  <a:ext cx="4419" cy="1"/>
                </a:xfrm>
                <a:custGeom>
                  <a:avLst/>
                  <a:gdLst>
                    <a:gd name="T0" fmla="*/ 0 w 4419"/>
                    <a:gd name="T1" fmla="*/ 1 h 1"/>
                    <a:gd name="T2" fmla="*/ 4419 w 4419"/>
                    <a:gd name="T3" fmla="*/ 0 h 1"/>
                    <a:gd name="T4" fmla="*/ 0 60000 65536"/>
                    <a:gd name="T5" fmla="*/ 0 60000 65536"/>
                    <a:gd name="T6" fmla="*/ 0 w 4419"/>
                    <a:gd name="T7" fmla="*/ 0 h 1"/>
                    <a:gd name="T8" fmla="*/ 4419 w 4419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419" h="1">
                      <a:moveTo>
                        <a:pt x="0" y="1"/>
                      </a:moveTo>
                      <a:lnTo>
                        <a:pt x="4419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6208" name="Line 266"/>
                <p:cNvSpPr>
                  <a:spLocks noChangeShapeType="1"/>
                </p:cNvSpPr>
                <p:nvPr/>
              </p:nvSpPr>
              <p:spPr bwMode="auto">
                <a:xfrm>
                  <a:off x="127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6209" name="Line 267"/>
                <p:cNvSpPr>
                  <a:spLocks noChangeShapeType="1"/>
                </p:cNvSpPr>
                <p:nvPr/>
              </p:nvSpPr>
              <p:spPr bwMode="auto">
                <a:xfrm>
                  <a:off x="184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6210" name="Line 268"/>
                <p:cNvSpPr>
                  <a:spLocks noChangeShapeType="1"/>
                </p:cNvSpPr>
                <p:nvPr/>
              </p:nvSpPr>
              <p:spPr bwMode="auto">
                <a:xfrm>
                  <a:off x="242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6211" name="Line 269"/>
                <p:cNvSpPr>
                  <a:spLocks noChangeShapeType="1"/>
                </p:cNvSpPr>
                <p:nvPr/>
              </p:nvSpPr>
              <p:spPr bwMode="auto">
                <a:xfrm>
                  <a:off x="3000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6212" name="Line 270"/>
                <p:cNvSpPr>
                  <a:spLocks noChangeShapeType="1"/>
                </p:cNvSpPr>
                <p:nvPr/>
              </p:nvSpPr>
              <p:spPr bwMode="auto">
                <a:xfrm>
                  <a:off x="3576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6213" name="Line 271"/>
                <p:cNvSpPr>
                  <a:spLocks noChangeShapeType="1"/>
                </p:cNvSpPr>
                <p:nvPr/>
              </p:nvSpPr>
              <p:spPr bwMode="auto">
                <a:xfrm>
                  <a:off x="4152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6214" name="Line 272"/>
                <p:cNvSpPr>
                  <a:spLocks noChangeShapeType="1"/>
                </p:cNvSpPr>
                <p:nvPr/>
              </p:nvSpPr>
              <p:spPr bwMode="auto">
                <a:xfrm>
                  <a:off x="4728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6215" name="Line 273"/>
                <p:cNvSpPr>
                  <a:spLocks noChangeShapeType="1"/>
                </p:cNvSpPr>
                <p:nvPr/>
              </p:nvSpPr>
              <p:spPr bwMode="auto">
                <a:xfrm>
                  <a:off x="5304" y="858"/>
                  <a:ext cx="0" cy="144"/>
                </a:xfrm>
                <a:prstGeom prst="line">
                  <a:avLst/>
                </a:prstGeom>
                <a:noFill/>
                <a:ln w="76200">
                  <a:solidFill>
                    <a:schemeClr val="folHlink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36201" name="Text Box 274"/>
            <p:cNvSpPr txBox="1">
              <a:spLocks noChangeArrowheads="1"/>
            </p:cNvSpPr>
            <p:nvPr/>
          </p:nvSpPr>
          <p:spPr bwMode="auto">
            <a:xfrm>
              <a:off x="140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6202" name="Text Box 275"/>
            <p:cNvSpPr txBox="1">
              <a:spLocks noChangeArrowheads="1"/>
            </p:cNvSpPr>
            <p:nvPr/>
          </p:nvSpPr>
          <p:spPr bwMode="auto">
            <a:xfrm>
              <a:off x="254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6203" name="Text Box 276"/>
            <p:cNvSpPr txBox="1">
              <a:spLocks noChangeArrowheads="1"/>
            </p:cNvSpPr>
            <p:nvPr/>
          </p:nvSpPr>
          <p:spPr bwMode="auto">
            <a:xfrm>
              <a:off x="3718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6204" name="Text Box 277"/>
            <p:cNvSpPr txBox="1">
              <a:spLocks noChangeArrowheads="1"/>
            </p:cNvSpPr>
            <p:nvPr/>
          </p:nvSpPr>
          <p:spPr bwMode="auto">
            <a:xfrm>
              <a:off x="4860" y="87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136199" name="AutoShape 278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218" name="Group 2"/>
          <p:cNvGrpSpPr/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137533" name="Line 3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7534" name="Freeform 4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7535" name="Line 5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7536" name="Freeform 6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7537" name="Line 7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7538" name="Text Box 8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</a:p>
          </p:txBody>
        </p:sp>
        <p:sp>
          <p:nvSpPr>
            <p:cNvPr id="137539" name="Text Box 9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</a:p>
          </p:txBody>
        </p:sp>
        <p:sp>
          <p:nvSpPr>
            <p:cNvPr id="137540" name="Text Box 10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</a:p>
          </p:txBody>
        </p:sp>
        <p:sp>
          <p:nvSpPr>
            <p:cNvPr id="137541" name="Text Box 11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</a:p>
          </p:txBody>
        </p:sp>
        <p:sp>
          <p:nvSpPr>
            <p:cNvPr id="137542" name="Line 12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7543" name="Line 13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7544" name="Line 14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7545" name="Line 15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7546" name="Line 16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7547" name="Line 17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7548" name="Line 18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7549" name="Line 19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25300" name="Rectangle 20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37220" name="Text Box 21"/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③ </a:t>
            </a:r>
            <a:r>
              <a:rPr lang="en-US" altLang="zh-CN" sz="3200">
                <a:latin typeface="Times New Roman" panose="02020603050405020304" pitchFamily="18" charset="0"/>
              </a:rPr>
              <a:t>Intel 2114</a:t>
            </a: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200">
                <a:latin typeface="Times New Roman" panose="02020603050405020304" pitchFamily="18" charset="0"/>
              </a:rPr>
              <a:t>矩阵 </a:t>
            </a:r>
            <a:r>
              <a:rPr lang="en-US" altLang="zh-CN" sz="3200">
                <a:latin typeface="Times New Roman" panose="02020603050405020304" pitchFamily="18" charset="0"/>
              </a:rPr>
              <a:t>(64 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>
                <a:latin typeface="Times New Roman" panose="02020603050405020304" pitchFamily="18" charset="0"/>
              </a:rPr>
              <a:t> 64)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</a:p>
        </p:txBody>
      </p:sp>
      <p:grpSp>
        <p:nvGrpSpPr>
          <p:cNvPr id="137221" name="Group 22"/>
          <p:cNvGrpSpPr/>
          <p:nvPr/>
        </p:nvGrpSpPr>
        <p:grpSpPr bwMode="auto">
          <a:xfrm>
            <a:off x="222250" y="1069975"/>
            <a:ext cx="8921750" cy="5716588"/>
            <a:chOff x="140" y="674"/>
            <a:chExt cx="5620" cy="3601"/>
          </a:xfrm>
        </p:grpSpPr>
        <p:grpSp>
          <p:nvGrpSpPr>
            <p:cNvPr id="137277" name="Group 23"/>
            <p:cNvGrpSpPr/>
            <p:nvPr/>
          </p:nvGrpSpPr>
          <p:grpSpPr bwMode="auto">
            <a:xfrm>
              <a:off x="140" y="674"/>
              <a:ext cx="5620" cy="3601"/>
              <a:chOff x="140" y="674"/>
              <a:chExt cx="5620" cy="3601"/>
            </a:xfrm>
          </p:grpSpPr>
          <p:grpSp>
            <p:nvGrpSpPr>
              <p:cNvPr id="137303" name="Group 24"/>
              <p:cNvGrpSpPr/>
              <p:nvPr/>
            </p:nvGrpSpPr>
            <p:grpSpPr bwMode="auto">
              <a:xfrm>
                <a:off x="140" y="713"/>
                <a:ext cx="5620" cy="3562"/>
                <a:chOff x="140" y="713"/>
                <a:chExt cx="5620" cy="3562"/>
              </a:xfrm>
            </p:grpSpPr>
            <p:sp>
              <p:nvSpPr>
                <p:cNvPr id="137315" name="Rectangle 25"/>
                <p:cNvSpPr>
                  <a:spLocks noChangeArrowheads="1"/>
                </p:cNvSpPr>
                <p:nvPr/>
              </p:nvSpPr>
              <p:spPr bwMode="auto">
                <a:xfrm>
                  <a:off x="332" y="713"/>
                  <a:ext cx="576" cy="3168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37316" name="Rectangle 26"/>
                <p:cNvSpPr>
                  <a:spLocks noChangeArrowheads="1"/>
                </p:cNvSpPr>
                <p:nvPr/>
              </p:nvSpPr>
              <p:spPr bwMode="auto">
                <a:xfrm>
                  <a:off x="1728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15</a:t>
                  </a:r>
                </a:p>
              </p:txBody>
            </p:sp>
            <p:sp>
              <p:nvSpPr>
                <p:cNvPr id="137317" name="Text Box 27"/>
                <p:cNvSpPr txBox="1">
                  <a:spLocks noChangeArrowheads="1"/>
                </p:cNvSpPr>
                <p:nvPr/>
              </p:nvSpPr>
              <p:spPr bwMode="auto">
                <a:xfrm>
                  <a:off x="1408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37318" name="Rectangle 28"/>
                <p:cNvSpPr>
                  <a:spLocks noChangeArrowheads="1"/>
                </p:cNvSpPr>
                <p:nvPr/>
              </p:nvSpPr>
              <p:spPr bwMode="auto">
                <a:xfrm>
                  <a:off x="1152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7319" name="Rectangle 29"/>
                <p:cNvSpPr>
                  <a:spLocks noChangeArrowheads="1"/>
                </p:cNvSpPr>
                <p:nvPr/>
              </p:nvSpPr>
              <p:spPr bwMode="auto">
                <a:xfrm>
                  <a:off x="2869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31</a:t>
                  </a:r>
                </a:p>
              </p:txBody>
            </p:sp>
            <p:sp>
              <p:nvSpPr>
                <p:cNvPr id="137320" name="Text Box 30"/>
                <p:cNvSpPr txBox="1">
                  <a:spLocks noChangeArrowheads="1"/>
                </p:cNvSpPr>
                <p:nvPr/>
              </p:nvSpPr>
              <p:spPr bwMode="auto">
                <a:xfrm>
                  <a:off x="2549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37321" name="Rectangle 31"/>
                <p:cNvSpPr>
                  <a:spLocks noChangeArrowheads="1"/>
                </p:cNvSpPr>
                <p:nvPr/>
              </p:nvSpPr>
              <p:spPr bwMode="auto">
                <a:xfrm>
                  <a:off x="2293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16</a:t>
                  </a:r>
                </a:p>
              </p:txBody>
            </p:sp>
            <p:sp>
              <p:nvSpPr>
                <p:cNvPr id="137322" name="Rectangle 32"/>
                <p:cNvSpPr>
                  <a:spLocks noChangeArrowheads="1"/>
                </p:cNvSpPr>
                <p:nvPr/>
              </p:nvSpPr>
              <p:spPr bwMode="auto">
                <a:xfrm>
                  <a:off x="4044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47</a:t>
                  </a:r>
                </a:p>
              </p:txBody>
            </p:sp>
            <p:sp>
              <p:nvSpPr>
                <p:cNvPr id="137323" name="Text Box 33"/>
                <p:cNvSpPr txBox="1">
                  <a:spLocks noChangeArrowheads="1"/>
                </p:cNvSpPr>
                <p:nvPr/>
              </p:nvSpPr>
              <p:spPr bwMode="auto">
                <a:xfrm>
                  <a:off x="3724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37324" name="Rectangle 34"/>
                <p:cNvSpPr>
                  <a:spLocks noChangeArrowheads="1"/>
                </p:cNvSpPr>
                <p:nvPr/>
              </p:nvSpPr>
              <p:spPr bwMode="auto">
                <a:xfrm>
                  <a:off x="3468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32</a:t>
                  </a:r>
                </a:p>
              </p:txBody>
            </p:sp>
            <p:sp>
              <p:nvSpPr>
                <p:cNvPr id="137325" name="Rectangle 35"/>
                <p:cNvSpPr>
                  <a:spLocks noChangeArrowheads="1"/>
                </p:cNvSpPr>
                <p:nvPr/>
              </p:nvSpPr>
              <p:spPr bwMode="auto">
                <a:xfrm>
                  <a:off x="5180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63</a:t>
                  </a:r>
                </a:p>
              </p:txBody>
            </p:sp>
            <p:sp>
              <p:nvSpPr>
                <p:cNvPr id="137326" name="Text Box 36"/>
                <p:cNvSpPr txBox="1">
                  <a:spLocks noChangeArrowheads="1"/>
                </p:cNvSpPr>
                <p:nvPr/>
              </p:nvSpPr>
              <p:spPr bwMode="auto">
                <a:xfrm>
                  <a:off x="4860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37327" name="Rectangle 37"/>
                <p:cNvSpPr>
                  <a:spLocks noChangeArrowheads="1"/>
                </p:cNvSpPr>
                <p:nvPr/>
              </p:nvSpPr>
              <p:spPr bwMode="auto">
                <a:xfrm>
                  <a:off x="4604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48</a:t>
                  </a:r>
                </a:p>
              </p:txBody>
            </p:sp>
            <p:sp>
              <p:nvSpPr>
                <p:cNvPr id="137328" name="Rectangle 38"/>
                <p:cNvSpPr>
                  <a:spLocks noChangeArrowheads="1"/>
                </p:cNvSpPr>
                <p:nvPr/>
              </p:nvSpPr>
              <p:spPr bwMode="auto">
                <a:xfrm>
                  <a:off x="1728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15</a:t>
                  </a:r>
                </a:p>
              </p:txBody>
            </p:sp>
            <p:sp>
              <p:nvSpPr>
                <p:cNvPr id="137329" name="Rectangle 39"/>
                <p:cNvSpPr>
                  <a:spLocks noChangeArrowheads="1"/>
                </p:cNvSpPr>
                <p:nvPr/>
              </p:nvSpPr>
              <p:spPr bwMode="auto">
                <a:xfrm>
                  <a:off x="1152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7330" name="Rectangle 40"/>
                <p:cNvSpPr>
                  <a:spLocks noChangeArrowheads="1"/>
                </p:cNvSpPr>
                <p:nvPr/>
              </p:nvSpPr>
              <p:spPr bwMode="auto">
                <a:xfrm>
                  <a:off x="2869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31</a:t>
                  </a:r>
                </a:p>
              </p:txBody>
            </p:sp>
            <p:sp>
              <p:nvSpPr>
                <p:cNvPr id="137331" name="Rectangle 41"/>
                <p:cNvSpPr>
                  <a:spLocks noChangeArrowheads="1"/>
                </p:cNvSpPr>
                <p:nvPr/>
              </p:nvSpPr>
              <p:spPr bwMode="auto">
                <a:xfrm>
                  <a:off x="2293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16</a:t>
                  </a:r>
                </a:p>
              </p:txBody>
            </p:sp>
            <p:sp>
              <p:nvSpPr>
                <p:cNvPr id="137332" name="Rectangle 42"/>
                <p:cNvSpPr>
                  <a:spLocks noChangeArrowheads="1"/>
                </p:cNvSpPr>
                <p:nvPr/>
              </p:nvSpPr>
              <p:spPr bwMode="auto">
                <a:xfrm>
                  <a:off x="4044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47</a:t>
                  </a:r>
                </a:p>
              </p:txBody>
            </p:sp>
            <p:sp>
              <p:nvSpPr>
                <p:cNvPr id="137333" name="Rectangle 43"/>
                <p:cNvSpPr>
                  <a:spLocks noChangeArrowheads="1"/>
                </p:cNvSpPr>
                <p:nvPr/>
              </p:nvSpPr>
              <p:spPr bwMode="auto">
                <a:xfrm>
                  <a:off x="3468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32</a:t>
                  </a:r>
                </a:p>
              </p:txBody>
            </p:sp>
            <p:sp>
              <p:nvSpPr>
                <p:cNvPr id="137334" name="Rectangle 44"/>
                <p:cNvSpPr>
                  <a:spLocks noChangeArrowheads="1"/>
                </p:cNvSpPr>
                <p:nvPr/>
              </p:nvSpPr>
              <p:spPr bwMode="auto">
                <a:xfrm>
                  <a:off x="5180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63</a:t>
                  </a:r>
                </a:p>
              </p:txBody>
            </p:sp>
            <p:sp>
              <p:nvSpPr>
                <p:cNvPr id="137335" name="Rectangle 45"/>
                <p:cNvSpPr>
                  <a:spLocks noChangeArrowheads="1"/>
                </p:cNvSpPr>
                <p:nvPr/>
              </p:nvSpPr>
              <p:spPr bwMode="auto">
                <a:xfrm>
                  <a:off x="4604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48</a:t>
                  </a:r>
                </a:p>
              </p:txBody>
            </p:sp>
            <p:sp>
              <p:nvSpPr>
                <p:cNvPr id="137336" name="Line 46"/>
                <p:cNvSpPr>
                  <a:spLocks noChangeShapeType="1"/>
                </p:cNvSpPr>
                <p:nvPr/>
              </p:nvSpPr>
              <p:spPr bwMode="auto">
                <a:xfrm rot="5400000">
                  <a:off x="1325" y="2712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37" name="Line 47"/>
                <p:cNvSpPr>
                  <a:spLocks noChangeShapeType="1"/>
                </p:cNvSpPr>
                <p:nvPr/>
              </p:nvSpPr>
              <p:spPr bwMode="auto">
                <a:xfrm rot="5400000">
                  <a:off x="1308" y="2710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38" name="Freeform 48"/>
                <p:cNvSpPr/>
                <p:nvPr/>
              </p:nvSpPr>
              <p:spPr bwMode="auto">
                <a:xfrm>
                  <a:off x="1260" y="2709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39" name="Line 49"/>
                <p:cNvSpPr>
                  <a:spLocks noChangeShapeType="1"/>
                </p:cNvSpPr>
                <p:nvPr/>
              </p:nvSpPr>
              <p:spPr bwMode="auto">
                <a:xfrm rot="-5400000">
                  <a:off x="1133" y="2712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40" name="Line 50"/>
                <p:cNvSpPr>
                  <a:spLocks noChangeShapeType="1"/>
                </p:cNvSpPr>
                <p:nvPr/>
              </p:nvSpPr>
              <p:spPr bwMode="auto">
                <a:xfrm rot="-5400000">
                  <a:off x="1212" y="2714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41" name="Freeform 51"/>
                <p:cNvSpPr/>
                <p:nvPr/>
              </p:nvSpPr>
              <p:spPr bwMode="auto">
                <a:xfrm>
                  <a:off x="1434" y="2353"/>
                  <a:ext cx="112" cy="1"/>
                </a:xfrm>
                <a:custGeom>
                  <a:avLst/>
                  <a:gdLst>
                    <a:gd name="T0" fmla="*/ 0 w 112"/>
                    <a:gd name="T1" fmla="*/ 0 h 1"/>
                    <a:gd name="T2" fmla="*/ 112 w 112"/>
                    <a:gd name="T3" fmla="*/ 0 h 1"/>
                    <a:gd name="T4" fmla="*/ 0 60000 65536"/>
                    <a:gd name="T5" fmla="*/ 0 60000 65536"/>
                    <a:gd name="T6" fmla="*/ 0 w 112"/>
                    <a:gd name="T7" fmla="*/ 0 h 1"/>
                    <a:gd name="T8" fmla="*/ 112 w 11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12" h="1">
                      <a:moveTo>
                        <a:pt x="0" y="0"/>
                      </a:moveTo>
                      <a:lnTo>
                        <a:pt x="112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342" name="Freeform 52"/>
                <p:cNvSpPr/>
                <p:nvPr/>
              </p:nvSpPr>
              <p:spPr bwMode="auto">
                <a:xfrm>
                  <a:off x="1059" y="1209"/>
                  <a:ext cx="152" cy="1469"/>
                </a:xfrm>
                <a:custGeom>
                  <a:avLst/>
                  <a:gdLst>
                    <a:gd name="T0" fmla="*/ 152 w 152"/>
                    <a:gd name="T1" fmla="*/ 1469 h 1469"/>
                    <a:gd name="T2" fmla="*/ 0 w 152"/>
                    <a:gd name="T3" fmla="*/ 1469 h 1469"/>
                    <a:gd name="T4" fmla="*/ 0 w 152"/>
                    <a:gd name="T5" fmla="*/ 0 h 1469"/>
                    <a:gd name="T6" fmla="*/ 95 w 152"/>
                    <a:gd name="T7" fmla="*/ 1 h 1469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"/>
                    <a:gd name="T13" fmla="*/ 0 h 1469"/>
                    <a:gd name="T14" fmla="*/ 152 w 152"/>
                    <a:gd name="T15" fmla="*/ 1469 h 1469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" h="1469">
                      <a:moveTo>
                        <a:pt x="152" y="1469"/>
                      </a:moveTo>
                      <a:lnTo>
                        <a:pt x="0" y="1469"/>
                      </a:lnTo>
                      <a:lnTo>
                        <a:pt x="0" y="0"/>
                      </a:lnTo>
                      <a:lnTo>
                        <a:pt x="95" y="1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343" name="Freeform 53"/>
                <p:cNvSpPr/>
                <p:nvPr/>
              </p:nvSpPr>
              <p:spPr bwMode="auto">
                <a:xfrm>
                  <a:off x="1055" y="2353"/>
                  <a:ext cx="102" cy="1"/>
                </a:xfrm>
                <a:custGeom>
                  <a:avLst/>
                  <a:gdLst>
                    <a:gd name="T0" fmla="*/ 102 w 102"/>
                    <a:gd name="T1" fmla="*/ 0 h 1"/>
                    <a:gd name="T2" fmla="*/ 0 w 102"/>
                    <a:gd name="T3" fmla="*/ 0 h 1"/>
                    <a:gd name="T4" fmla="*/ 0 60000 65536"/>
                    <a:gd name="T5" fmla="*/ 0 60000 65536"/>
                    <a:gd name="T6" fmla="*/ 0 w 102"/>
                    <a:gd name="T7" fmla="*/ 0 h 1"/>
                    <a:gd name="T8" fmla="*/ 102 w 1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2" h="1">
                      <a:moveTo>
                        <a:pt x="102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344" name="Line 54"/>
                <p:cNvSpPr>
                  <a:spLocks noChangeShapeType="1"/>
                </p:cNvSpPr>
                <p:nvPr/>
              </p:nvSpPr>
              <p:spPr bwMode="auto">
                <a:xfrm rot="5400000">
                  <a:off x="1896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45" name="Line 55"/>
                <p:cNvSpPr>
                  <a:spLocks noChangeShapeType="1"/>
                </p:cNvSpPr>
                <p:nvPr/>
              </p:nvSpPr>
              <p:spPr bwMode="auto">
                <a:xfrm rot="5400000">
                  <a:off x="1879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46" name="Freeform 56"/>
                <p:cNvSpPr/>
                <p:nvPr/>
              </p:nvSpPr>
              <p:spPr bwMode="auto">
                <a:xfrm>
                  <a:off x="1831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47" name="Line 57"/>
                <p:cNvSpPr>
                  <a:spLocks noChangeShapeType="1"/>
                </p:cNvSpPr>
                <p:nvPr/>
              </p:nvSpPr>
              <p:spPr bwMode="auto">
                <a:xfrm rot="-5400000">
                  <a:off x="1704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48" name="Line 58"/>
                <p:cNvSpPr>
                  <a:spLocks noChangeShapeType="1"/>
                </p:cNvSpPr>
                <p:nvPr/>
              </p:nvSpPr>
              <p:spPr bwMode="auto">
                <a:xfrm rot="-5400000">
                  <a:off x="1783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49" name="Freeform 59"/>
                <p:cNvSpPr/>
                <p:nvPr/>
              </p:nvSpPr>
              <p:spPr bwMode="auto">
                <a:xfrm>
                  <a:off x="2005" y="2353"/>
                  <a:ext cx="103" cy="1"/>
                </a:xfrm>
                <a:custGeom>
                  <a:avLst/>
                  <a:gdLst>
                    <a:gd name="T0" fmla="*/ 0 w 103"/>
                    <a:gd name="T1" fmla="*/ 0 h 1"/>
                    <a:gd name="T2" fmla="*/ 103 w 103"/>
                    <a:gd name="T3" fmla="*/ 0 h 1"/>
                    <a:gd name="T4" fmla="*/ 0 60000 65536"/>
                    <a:gd name="T5" fmla="*/ 0 60000 65536"/>
                    <a:gd name="T6" fmla="*/ 0 w 103"/>
                    <a:gd name="T7" fmla="*/ 0 h 1"/>
                    <a:gd name="T8" fmla="*/ 103 w 103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3" h="1">
                      <a:moveTo>
                        <a:pt x="0" y="0"/>
                      </a:moveTo>
                      <a:lnTo>
                        <a:pt x="103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350" name="Freeform 60"/>
                <p:cNvSpPr/>
                <p:nvPr/>
              </p:nvSpPr>
              <p:spPr bwMode="auto">
                <a:xfrm>
                  <a:off x="1611" y="2352"/>
                  <a:ext cx="113" cy="1"/>
                </a:xfrm>
                <a:custGeom>
                  <a:avLst/>
                  <a:gdLst>
                    <a:gd name="T0" fmla="*/ 113 w 113"/>
                    <a:gd name="T1" fmla="*/ 1 h 1"/>
                    <a:gd name="T2" fmla="*/ 0 w 113"/>
                    <a:gd name="T3" fmla="*/ 0 h 1"/>
                    <a:gd name="T4" fmla="*/ 0 60000 65536"/>
                    <a:gd name="T5" fmla="*/ 0 60000 65536"/>
                    <a:gd name="T6" fmla="*/ 0 w 113"/>
                    <a:gd name="T7" fmla="*/ 0 h 1"/>
                    <a:gd name="T8" fmla="*/ 113 w 113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13" h="1">
                      <a:moveTo>
                        <a:pt x="113" y="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351" name="Line 61"/>
                <p:cNvSpPr>
                  <a:spLocks noChangeShapeType="1"/>
                </p:cNvSpPr>
                <p:nvPr/>
              </p:nvSpPr>
              <p:spPr bwMode="auto">
                <a:xfrm rot="5400000">
                  <a:off x="2477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52" name="Line 62"/>
                <p:cNvSpPr>
                  <a:spLocks noChangeShapeType="1"/>
                </p:cNvSpPr>
                <p:nvPr/>
              </p:nvSpPr>
              <p:spPr bwMode="auto">
                <a:xfrm rot="5400000">
                  <a:off x="2460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53" name="Freeform 63"/>
                <p:cNvSpPr/>
                <p:nvPr/>
              </p:nvSpPr>
              <p:spPr bwMode="auto">
                <a:xfrm>
                  <a:off x="2412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54" name="Line 64"/>
                <p:cNvSpPr>
                  <a:spLocks noChangeShapeType="1"/>
                </p:cNvSpPr>
                <p:nvPr/>
              </p:nvSpPr>
              <p:spPr bwMode="auto">
                <a:xfrm rot="-5400000">
                  <a:off x="2285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55" name="Line 65"/>
                <p:cNvSpPr>
                  <a:spLocks noChangeShapeType="1"/>
                </p:cNvSpPr>
                <p:nvPr/>
              </p:nvSpPr>
              <p:spPr bwMode="auto">
                <a:xfrm rot="-5400000">
                  <a:off x="2364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56" name="Freeform 66"/>
                <p:cNvSpPr/>
                <p:nvPr/>
              </p:nvSpPr>
              <p:spPr bwMode="auto">
                <a:xfrm>
                  <a:off x="2586" y="2353"/>
                  <a:ext cx="109" cy="1"/>
                </a:xfrm>
                <a:custGeom>
                  <a:avLst/>
                  <a:gdLst>
                    <a:gd name="T0" fmla="*/ 0 w 109"/>
                    <a:gd name="T1" fmla="*/ 0 h 1"/>
                    <a:gd name="T2" fmla="*/ 109 w 109"/>
                    <a:gd name="T3" fmla="*/ 0 h 1"/>
                    <a:gd name="T4" fmla="*/ 0 60000 65536"/>
                    <a:gd name="T5" fmla="*/ 0 60000 65536"/>
                    <a:gd name="T6" fmla="*/ 0 w 109"/>
                    <a:gd name="T7" fmla="*/ 0 h 1"/>
                    <a:gd name="T8" fmla="*/ 109 w 109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9" h="1">
                      <a:moveTo>
                        <a:pt x="0" y="0"/>
                      </a:moveTo>
                      <a:lnTo>
                        <a:pt x="109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357" name="Freeform 67"/>
                <p:cNvSpPr/>
                <p:nvPr/>
              </p:nvSpPr>
              <p:spPr bwMode="auto">
                <a:xfrm>
                  <a:off x="2207" y="2353"/>
                  <a:ext cx="89" cy="1"/>
                </a:xfrm>
                <a:custGeom>
                  <a:avLst/>
                  <a:gdLst>
                    <a:gd name="T0" fmla="*/ 89 w 89"/>
                    <a:gd name="T1" fmla="*/ 0 h 1"/>
                    <a:gd name="T2" fmla="*/ 0 w 89"/>
                    <a:gd name="T3" fmla="*/ 0 h 1"/>
                    <a:gd name="T4" fmla="*/ 0 60000 65536"/>
                    <a:gd name="T5" fmla="*/ 0 60000 65536"/>
                    <a:gd name="T6" fmla="*/ 0 w 89"/>
                    <a:gd name="T7" fmla="*/ 0 h 1"/>
                    <a:gd name="T8" fmla="*/ 89 w 89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89" h="1">
                      <a:moveTo>
                        <a:pt x="89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358" name="Line 68"/>
                <p:cNvSpPr>
                  <a:spLocks noChangeShapeType="1"/>
                </p:cNvSpPr>
                <p:nvPr/>
              </p:nvSpPr>
              <p:spPr bwMode="auto">
                <a:xfrm rot="5400000">
                  <a:off x="3053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59" name="Line 69"/>
                <p:cNvSpPr>
                  <a:spLocks noChangeShapeType="1"/>
                </p:cNvSpPr>
                <p:nvPr/>
              </p:nvSpPr>
              <p:spPr bwMode="auto">
                <a:xfrm rot="5400000">
                  <a:off x="3036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60" name="Freeform 70"/>
                <p:cNvSpPr/>
                <p:nvPr/>
              </p:nvSpPr>
              <p:spPr bwMode="auto">
                <a:xfrm>
                  <a:off x="2988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61" name="Line 71"/>
                <p:cNvSpPr>
                  <a:spLocks noChangeShapeType="1"/>
                </p:cNvSpPr>
                <p:nvPr/>
              </p:nvSpPr>
              <p:spPr bwMode="auto">
                <a:xfrm rot="-5400000">
                  <a:off x="2861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62" name="Line 72"/>
                <p:cNvSpPr>
                  <a:spLocks noChangeShapeType="1"/>
                </p:cNvSpPr>
                <p:nvPr/>
              </p:nvSpPr>
              <p:spPr bwMode="auto">
                <a:xfrm rot="-5400000">
                  <a:off x="2940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63" name="Freeform 73"/>
                <p:cNvSpPr/>
                <p:nvPr/>
              </p:nvSpPr>
              <p:spPr bwMode="auto">
                <a:xfrm>
                  <a:off x="3162" y="2353"/>
                  <a:ext cx="115" cy="1"/>
                </a:xfrm>
                <a:custGeom>
                  <a:avLst/>
                  <a:gdLst>
                    <a:gd name="T0" fmla="*/ 0 w 115"/>
                    <a:gd name="T1" fmla="*/ 0 h 1"/>
                    <a:gd name="T2" fmla="*/ 115 w 115"/>
                    <a:gd name="T3" fmla="*/ 0 h 1"/>
                    <a:gd name="T4" fmla="*/ 0 60000 65536"/>
                    <a:gd name="T5" fmla="*/ 0 60000 65536"/>
                    <a:gd name="T6" fmla="*/ 0 w 115"/>
                    <a:gd name="T7" fmla="*/ 0 h 1"/>
                    <a:gd name="T8" fmla="*/ 115 w 115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15" h="1">
                      <a:moveTo>
                        <a:pt x="0" y="0"/>
                      </a:moveTo>
                      <a:lnTo>
                        <a:pt x="115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364" name="Freeform 74"/>
                <p:cNvSpPr/>
                <p:nvPr/>
              </p:nvSpPr>
              <p:spPr bwMode="auto">
                <a:xfrm>
                  <a:off x="2783" y="2353"/>
                  <a:ext cx="90" cy="1"/>
                </a:xfrm>
                <a:custGeom>
                  <a:avLst/>
                  <a:gdLst>
                    <a:gd name="T0" fmla="*/ 90 w 90"/>
                    <a:gd name="T1" fmla="*/ 0 h 1"/>
                    <a:gd name="T2" fmla="*/ 0 w 90"/>
                    <a:gd name="T3" fmla="*/ 0 h 1"/>
                    <a:gd name="T4" fmla="*/ 0 60000 65536"/>
                    <a:gd name="T5" fmla="*/ 0 60000 65536"/>
                    <a:gd name="T6" fmla="*/ 0 w 90"/>
                    <a:gd name="T7" fmla="*/ 0 h 1"/>
                    <a:gd name="T8" fmla="*/ 90 w 90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0" h="1">
                      <a:moveTo>
                        <a:pt x="90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365" name="Line 75"/>
                <p:cNvSpPr>
                  <a:spLocks noChangeShapeType="1"/>
                </p:cNvSpPr>
                <p:nvPr/>
              </p:nvSpPr>
              <p:spPr bwMode="auto">
                <a:xfrm rot="5400000">
                  <a:off x="3629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66" name="Line 76"/>
                <p:cNvSpPr>
                  <a:spLocks noChangeShapeType="1"/>
                </p:cNvSpPr>
                <p:nvPr/>
              </p:nvSpPr>
              <p:spPr bwMode="auto">
                <a:xfrm rot="5400000">
                  <a:off x="3612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67" name="Freeform 77"/>
                <p:cNvSpPr/>
                <p:nvPr/>
              </p:nvSpPr>
              <p:spPr bwMode="auto">
                <a:xfrm>
                  <a:off x="3564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68" name="Line 78"/>
                <p:cNvSpPr>
                  <a:spLocks noChangeShapeType="1"/>
                </p:cNvSpPr>
                <p:nvPr/>
              </p:nvSpPr>
              <p:spPr bwMode="auto">
                <a:xfrm rot="-5400000">
                  <a:off x="3437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69" name="Line 79"/>
                <p:cNvSpPr>
                  <a:spLocks noChangeShapeType="1"/>
                </p:cNvSpPr>
                <p:nvPr/>
              </p:nvSpPr>
              <p:spPr bwMode="auto">
                <a:xfrm rot="-5400000">
                  <a:off x="3516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70" name="Freeform 80"/>
                <p:cNvSpPr/>
                <p:nvPr/>
              </p:nvSpPr>
              <p:spPr bwMode="auto">
                <a:xfrm>
                  <a:off x="3751" y="2352"/>
                  <a:ext cx="100" cy="1"/>
                </a:xfrm>
                <a:custGeom>
                  <a:avLst/>
                  <a:gdLst>
                    <a:gd name="T0" fmla="*/ 0 w 100"/>
                    <a:gd name="T1" fmla="*/ 0 h 1"/>
                    <a:gd name="T2" fmla="*/ 100 w 100"/>
                    <a:gd name="T3" fmla="*/ 1 h 1"/>
                    <a:gd name="T4" fmla="*/ 0 60000 65536"/>
                    <a:gd name="T5" fmla="*/ 0 60000 65536"/>
                    <a:gd name="T6" fmla="*/ 0 w 100"/>
                    <a:gd name="T7" fmla="*/ 0 h 1"/>
                    <a:gd name="T8" fmla="*/ 100 w 100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0" h="1">
                      <a:moveTo>
                        <a:pt x="0" y="0"/>
                      </a:moveTo>
                      <a:lnTo>
                        <a:pt x="100" y="1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371" name="Freeform 81"/>
                <p:cNvSpPr/>
                <p:nvPr/>
              </p:nvSpPr>
              <p:spPr bwMode="auto">
                <a:xfrm>
                  <a:off x="3359" y="2353"/>
                  <a:ext cx="108" cy="1"/>
                </a:xfrm>
                <a:custGeom>
                  <a:avLst/>
                  <a:gdLst>
                    <a:gd name="T0" fmla="*/ 108 w 108"/>
                    <a:gd name="T1" fmla="*/ 0 h 1"/>
                    <a:gd name="T2" fmla="*/ 0 w 108"/>
                    <a:gd name="T3" fmla="*/ 0 h 1"/>
                    <a:gd name="T4" fmla="*/ 0 60000 65536"/>
                    <a:gd name="T5" fmla="*/ 0 60000 65536"/>
                    <a:gd name="T6" fmla="*/ 0 w 108"/>
                    <a:gd name="T7" fmla="*/ 0 h 1"/>
                    <a:gd name="T8" fmla="*/ 108 w 108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8" h="1">
                      <a:moveTo>
                        <a:pt x="108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372" name="Line 82"/>
                <p:cNvSpPr>
                  <a:spLocks noChangeShapeType="1"/>
                </p:cNvSpPr>
                <p:nvPr/>
              </p:nvSpPr>
              <p:spPr bwMode="auto">
                <a:xfrm rot="5400000">
                  <a:off x="4205" y="2698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73" name="Line 83"/>
                <p:cNvSpPr>
                  <a:spLocks noChangeShapeType="1"/>
                </p:cNvSpPr>
                <p:nvPr/>
              </p:nvSpPr>
              <p:spPr bwMode="auto">
                <a:xfrm rot="5400000">
                  <a:off x="4188" y="2696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74" name="Freeform 84"/>
                <p:cNvSpPr/>
                <p:nvPr/>
              </p:nvSpPr>
              <p:spPr bwMode="auto">
                <a:xfrm>
                  <a:off x="4140" y="2695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75" name="Line 85"/>
                <p:cNvSpPr>
                  <a:spLocks noChangeShapeType="1"/>
                </p:cNvSpPr>
                <p:nvPr/>
              </p:nvSpPr>
              <p:spPr bwMode="auto">
                <a:xfrm rot="-5400000">
                  <a:off x="4013" y="2698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76" name="Line 86"/>
                <p:cNvSpPr>
                  <a:spLocks noChangeShapeType="1"/>
                </p:cNvSpPr>
                <p:nvPr/>
              </p:nvSpPr>
              <p:spPr bwMode="auto">
                <a:xfrm rot="-5400000">
                  <a:off x="4092" y="2700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7377" name="Freeform 87"/>
                <p:cNvSpPr/>
                <p:nvPr/>
              </p:nvSpPr>
              <p:spPr bwMode="auto">
                <a:xfrm>
                  <a:off x="4336" y="2351"/>
                  <a:ext cx="90" cy="2"/>
                </a:xfrm>
                <a:custGeom>
                  <a:avLst/>
                  <a:gdLst>
                    <a:gd name="T0" fmla="*/ 0 w 90"/>
                    <a:gd name="T1" fmla="*/ 0 h 2"/>
                    <a:gd name="T2" fmla="*/ 90 w 90"/>
                    <a:gd name="T3" fmla="*/ 2 h 2"/>
                    <a:gd name="T4" fmla="*/ 0 60000 65536"/>
                    <a:gd name="T5" fmla="*/ 0 60000 65536"/>
                    <a:gd name="T6" fmla="*/ 0 w 90"/>
                    <a:gd name="T7" fmla="*/ 0 h 2"/>
                    <a:gd name="T8" fmla="*/ 90 w 90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0" h="2">
                      <a:moveTo>
                        <a:pt x="0" y="0"/>
                      </a:moveTo>
                      <a:lnTo>
                        <a:pt x="90" y="2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378" name="Freeform 88"/>
                <p:cNvSpPr/>
                <p:nvPr/>
              </p:nvSpPr>
              <p:spPr bwMode="auto">
                <a:xfrm>
                  <a:off x="3935" y="2353"/>
                  <a:ext cx="104" cy="1"/>
                </a:xfrm>
                <a:custGeom>
                  <a:avLst/>
                  <a:gdLst>
                    <a:gd name="T0" fmla="*/ 104 w 104"/>
                    <a:gd name="T1" fmla="*/ 0 h 1"/>
                    <a:gd name="T2" fmla="*/ 0 w 104"/>
                    <a:gd name="T3" fmla="*/ 0 h 1"/>
                    <a:gd name="T4" fmla="*/ 0 60000 65536"/>
                    <a:gd name="T5" fmla="*/ 0 60000 65536"/>
                    <a:gd name="T6" fmla="*/ 0 w 104"/>
                    <a:gd name="T7" fmla="*/ 0 h 1"/>
                    <a:gd name="T8" fmla="*/ 104 w 104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4" h="1">
                      <a:moveTo>
                        <a:pt x="104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grpSp>
              <p:nvGrpSpPr>
                <p:cNvPr id="137379" name="Group 89"/>
                <p:cNvGrpSpPr/>
                <p:nvPr/>
              </p:nvGrpSpPr>
              <p:grpSpPr bwMode="auto">
                <a:xfrm>
                  <a:off x="4668" y="2634"/>
                  <a:ext cx="192" cy="158"/>
                  <a:chOff x="4692" y="2634"/>
                  <a:chExt cx="192" cy="158"/>
                </a:xfrm>
              </p:grpSpPr>
              <p:grpSp>
                <p:nvGrpSpPr>
                  <p:cNvPr id="137526" name="Group 90"/>
                  <p:cNvGrpSpPr/>
                  <p:nvPr/>
                </p:nvGrpSpPr>
                <p:grpSpPr bwMode="auto">
                  <a:xfrm>
                    <a:off x="4836" y="2634"/>
                    <a:ext cx="48" cy="158"/>
                    <a:chOff x="4836" y="2634"/>
                    <a:chExt cx="48" cy="158"/>
                  </a:xfrm>
                </p:grpSpPr>
                <p:sp>
                  <p:nvSpPr>
                    <p:cNvPr id="137531" name="Line 91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805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37532" name="Line 92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788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37527" name="Freeform 93"/>
                  <p:cNvSpPr/>
                  <p:nvPr/>
                </p:nvSpPr>
                <p:spPr bwMode="auto">
                  <a:xfrm>
                    <a:off x="4740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37528" name="Group 94"/>
                  <p:cNvGrpSpPr/>
                  <p:nvPr/>
                </p:nvGrpSpPr>
                <p:grpSpPr bwMode="auto">
                  <a:xfrm>
                    <a:off x="4692" y="2634"/>
                    <a:ext cx="48" cy="158"/>
                    <a:chOff x="4692" y="2634"/>
                    <a:chExt cx="48" cy="158"/>
                  </a:xfrm>
                </p:grpSpPr>
                <p:sp>
                  <p:nvSpPr>
                    <p:cNvPr id="137529" name="Line 95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613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37530" name="Line 96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692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sp>
              <p:nvSpPr>
                <p:cNvPr id="137380" name="Freeform 97"/>
                <p:cNvSpPr/>
                <p:nvPr/>
              </p:nvSpPr>
              <p:spPr bwMode="auto">
                <a:xfrm>
                  <a:off x="4890" y="2353"/>
                  <a:ext cx="107" cy="1"/>
                </a:xfrm>
                <a:custGeom>
                  <a:avLst/>
                  <a:gdLst>
                    <a:gd name="T0" fmla="*/ 0 w 107"/>
                    <a:gd name="T1" fmla="*/ 0 h 1"/>
                    <a:gd name="T2" fmla="*/ 107 w 107"/>
                    <a:gd name="T3" fmla="*/ 0 h 1"/>
                    <a:gd name="T4" fmla="*/ 0 60000 65536"/>
                    <a:gd name="T5" fmla="*/ 0 60000 65536"/>
                    <a:gd name="T6" fmla="*/ 0 w 107"/>
                    <a:gd name="T7" fmla="*/ 0 h 1"/>
                    <a:gd name="T8" fmla="*/ 107 w 107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7" h="1">
                      <a:moveTo>
                        <a:pt x="0" y="0"/>
                      </a:moveTo>
                      <a:lnTo>
                        <a:pt x="107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381" name="Freeform 98"/>
                <p:cNvSpPr/>
                <p:nvPr/>
              </p:nvSpPr>
              <p:spPr bwMode="auto">
                <a:xfrm>
                  <a:off x="4511" y="2353"/>
                  <a:ext cx="96" cy="1"/>
                </a:xfrm>
                <a:custGeom>
                  <a:avLst/>
                  <a:gdLst>
                    <a:gd name="T0" fmla="*/ 96 w 96"/>
                    <a:gd name="T1" fmla="*/ 0 h 1"/>
                    <a:gd name="T2" fmla="*/ 0 w 96"/>
                    <a:gd name="T3" fmla="*/ 0 h 1"/>
                    <a:gd name="T4" fmla="*/ 0 60000 65536"/>
                    <a:gd name="T5" fmla="*/ 0 60000 65536"/>
                    <a:gd name="T6" fmla="*/ 0 w 96"/>
                    <a:gd name="T7" fmla="*/ 0 h 1"/>
                    <a:gd name="T8" fmla="*/ 96 w 96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1">
                      <a:moveTo>
                        <a:pt x="96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grpSp>
              <p:nvGrpSpPr>
                <p:cNvPr id="137382" name="Group 99"/>
                <p:cNvGrpSpPr/>
                <p:nvPr/>
              </p:nvGrpSpPr>
              <p:grpSpPr bwMode="auto">
                <a:xfrm>
                  <a:off x="5235" y="2634"/>
                  <a:ext cx="192" cy="158"/>
                  <a:chOff x="5259" y="2634"/>
                  <a:chExt cx="192" cy="158"/>
                </a:xfrm>
              </p:grpSpPr>
              <p:grpSp>
                <p:nvGrpSpPr>
                  <p:cNvPr id="137519" name="Group 100"/>
                  <p:cNvGrpSpPr/>
                  <p:nvPr/>
                </p:nvGrpSpPr>
                <p:grpSpPr bwMode="auto">
                  <a:xfrm>
                    <a:off x="5403" y="2634"/>
                    <a:ext cx="48" cy="158"/>
                    <a:chOff x="5403" y="2634"/>
                    <a:chExt cx="48" cy="158"/>
                  </a:xfrm>
                </p:grpSpPr>
                <p:sp>
                  <p:nvSpPr>
                    <p:cNvPr id="137524" name="Line 101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5372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37525" name="Line 102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5355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37520" name="Freeform 103"/>
                  <p:cNvSpPr/>
                  <p:nvPr/>
                </p:nvSpPr>
                <p:spPr bwMode="auto">
                  <a:xfrm>
                    <a:off x="5307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37521" name="Group 104"/>
                  <p:cNvGrpSpPr/>
                  <p:nvPr/>
                </p:nvGrpSpPr>
                <p:grpSpPr bwMode="auto">
                  <a:xfrm>
                    <a:off x="5259" y="2634"/>
                    <a:ext cx="48" cy="158"/>
                    <a:chOff x="5259" y="2634"/>
                    <a:chExt cx="48" cy="158"/>
                  </a:xfrm>
                </p:grpSpPr>
                <p:sp>
                  <p:nvSpPr>
                    <p:cNvPr id="137522" name="Line 105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5180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37523" name="Line 106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5259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sp>
              <p:nvSpPr>
                <p:cNvPr id="137383" name="Freeform 107"/>
                <p:cNvSpPr/>
                <p:nvPr/>
              </p:nvSpPr>
              <p:spPr bwMode="auto">
                <a:xfrm>
                  <a:off x="5467" y="2351"/>
                  <a:ext cx="96" cy="2"/>
                </a:xfrm>
                <a:custGeom>
                  <a:avLst/>
                  <a:gdLst>
                    <a:gd name="T0" fmla="*/ 0 w 96"/>
                    <a:gd name="T1" fmla="*/ 0 h 2"/>
                    <a:gd name="T2" fmla="*/ 96 w 96"/>
                    <a:gd name="T3" fmla="*/ 2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0"/>
                      </a:moveTo>
                      <a:lnTo>
                        <a:pt x="96" y="2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384" name="Freeform 108"/>
                <p:cNvSpPr/>
                <p:nvPr/>
              </p:nvSpPr>
              <p:spPr bwMode="auto">
                <a:xfrm>
                  <a:off x="5078" y="2353"/>
                  <a:ext cx="101" cy="1"/>
                </a:xfrm>
                <a:custGeom>
                  <a:avLst/>
                  <a:gdLst>
                    <a:gd name="T0" fmla="*/ 101 w 101"/>
                    <a:gd name="T1" fmla="*/ 0 h 1"/>
                    <a:gd name="T2" fmla="*/ 0 w 101"/>
                    <a:gd name="T3" fmla="*/ 0 h 1"/>
                    <a:gd name="T4" fmla="*/ 0 60000 65536"/>
                    <a:gd name="T5" fmla="*/ 0 60000 65536"/>
                    <a:gd name="T6" fmla="*/ 0 w 101"/>
                    <a:gd name="T7" fmla="*/ 0 h 1"/>
                    <a:gd name="T8" fmla="*/ 101 w 101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1" h="1">
                      <a:moveTo>
                        <a:pt x="101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385" name="Freeform 109"/>
                <p:cNvSpPr/>
                <p:nvPr/>
              </p:nvSpPr>
              <p:spPr bwMode="auto">
                <a:xfrm>
                  <a:off x="908" y="856"/>
                  <a:ext cx="4419" cy="1"/>
                </a:xfrm>
                <a:custGeom>
                  <a:avLst/>
                  <a:gdLst>
                    <a:gd name="T0" fmla="*/ 0 w 4419"/>
                    <a:gd name="T1" fmla="*/ 1 h 1"/>
                    <a:gd name="T2" fmla="*/ 4419 w 4419"/>
                    <a:gd name="T3" fmla="*/ 0 h 1"/>
                    <a:gd name="T4" fmla="*/ 0 60000 65536"/>
                    <a:gd name="T5" fmla="*/ 0 60000 65536"/>
                    <a:gd name="T6" fmla="*/ 0 w 4419"/>
                    <a:gd name="T7" fmla="*/ 0 h 1"/>
                    <a:gd name="T8" fmla="*/ 4419 w 4419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419" h="1">
                      <a:moveTo>
                        <a:pt x="0" y="1"/>
                      </a:moveTo>
                      <a:lnTo>
                        <a:pt x="4419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386" name="Line 110"/>
                <p:cNvSpPr>
                  <a:spLocks noChangeShapeType="1"/>
                </p:cNvSpPr>
                <p:nvPr/>
              </p:nvSpPr>
              <p:spPr bwMode="auto">
                <a:xfrm>
                  <a:off x="1292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387" name="Line 111"/>
                <p:cNvSpPr>
                  <a:spLocks noChangeShapeType="1"/>
                </p:cNvSpPr>
                <p:nvPr/>
              </p:nvSpPr>
              <p:spPr bwMode="auto">
                <a:xfrm>
                  <a:off x="1868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388" name="Line 112"/>
                <p:cNvSpPr>
                  <a:spLocks noChangeShapeType="1"/>
                </p:cNvSpPr>
                <p:nvPr/>
              </p:nvSpPr>
              <p:spPr bwMode="auto">
                <a:xfrm>
                  <a:off x="2444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389" name="Line 113"/>
                <p:cNvSpPr>
                  <a:spLocks noChangeShapeType="1"/>
                </p:cNvSpPr>
                <p:nvPr/>
              </p:nvSpPr>
              <p:spPr bwMode="auto">
                <a:xfrm>
                  <a:off x="3020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390" name="Line 114"/>
                <p:cNvSpPr>
                  <a:spLocks noChangeShapeType="1"/>
                </p:cNvSpPr>
                <p:nvPr/>
              </p:nvSpPr>
              <p:spPr bwMode="auto">
                <a:xfrm>
                  <a:off x="3596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391" name="Line 115"/>
                <p:cNvSpPr>
                  <a:spLocks noChangeShapeType="1"/>
                </p:cNvSpPr>
                <p:nvPr/>
              </p:nvSpPr>
              <p:spPr bwMode="auto">
                <a:xfrm>
                  <a:off x="4172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392" name="Line 116"/>
                <p:cNvSpPr>
                  <a:spLocks noChangeShapeType="1"/>
                </p:cNvSpPr>
                <p:nvPr/>
              </p:nvSpPr>
              <p:spPr bwMode="auto">
                <a:xfrm>
                  <a:off x="4748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393" name="Line 117"/>
                <p:cNvSpPr>
                  <a:spLocks noChangeShapeType="1"/>
                </p:cNvSpPr>
                <p:nvPr/>
              </p:nvSpPr>
              <p:spPr bwMode="auto">
                <a:xfrm>
                  <a:off x="5324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394" name="Freeform 118"/>
                <p:cNvSpPr/>
                <p:nvPr/>
              </p:nvSpPr>
              <p:spPr bwMode="auto">
                <a:xfrm>
                  <a:off x="1305" y="2708"/>
                  <a:ext cx="1" cy="166"/>
                </a:xfrm>
                <a:custGeom>
                  <a:avLst/>
                  <a:gdLst>
                    <a:gd name="T0" fmla="*/ 1 w 1"/>
                    <a:gd name="T1" fmla="*/ 0 h 166"/>
                    <a:gd name="T2" fmla="*/ 0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1" y="0"/>
                      </a:moveTo>
                      <a:lnTo>
                        <a:pt x="0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395" name="Freeform 119"/>
                <p:cNvSpPr/>
                <p:nvPr/>
              </p:nvSpPr>
              <p:spPr bwMode="auto">
                <a:xfrm>
                  <a:off x="1880" y="2708"/>
                  <a:ext cx="47" cy="501"/>
                </a:xfrm>
                <a:custGeom>
                  <a:avLst/>
                  <a:gdLst>
                    <a:gd name="T0" fmla="*/ 0 w 1"/>
                    <a:gd name="T1" fmla="*/ 0 h 406"/>
                    <a:gd name="T2" fmla="*/ 0 w 1"/>
                    <a:gd name="T3" fmla="*/ 7711 h 406"/>
                    <a:gd name="T4" fmla="*/ 0 60000 65536"/>
                    <a:gd name="T5" fmla="*/ 0 60000 65536"/>
                    <a:gd name="T6" fmla="*/ 0 w 1"/>
                    <a:gd name="T7" fmla="*/ 0 h 406"/>
                    <a:gd name="T8" fmla="*/ 1 w 1"/>
                    <a:gd name="T9" fmla="*/ 406 h 40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406">
                      <a:moveTo>
                        <a:pt x="0" y="0"/>
                      </a:moveTo>
                      <a:lnTo>
                        <a:pt x="0" y="40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396" name="Freeform 120"/>
                <p:cNvSpPr/>
                <p:nvPr/>
              </p:nvSpPr>
              <p:spPr bwMode="auto">
                <a:xfrm>
                  <a:off x="2454" y="2708"/>
                  <a:ext cx="4" cy="166"/>
                </a:xfrm>
                <a:custGeom>
                  <a:avLst/>
                  <a:gdLst>
                    <a:gd name="T0" fmla="*/ 4 w 4"/>
                    <a:gd name="T1" fmla="*/ 0 h 166"/>
                    <a:gd name="T2" fmla="*/ 0 w 4"/>
                    <a:gd name="T3" fmla="*/ 166 h 166"/>
                    <a:gd name="T4" fmla="*/ 0 60000 65536"/>
                    <a:gd name="T5" fmla="*/ 0 60000 65536"/>
                    <a:gd name="T6" fmla="*/ 0 w 4"/>
                    <a:gd name="T7" fmla="*/ 0 h 166"/>
                    <a:gd name="T8" fmla="*/ 4 w 4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" h="166">
                      <a:moveTo>
                        <a:pt x="4" y="0"/>
                      </a:moveTo>
                      <a:lnTo>
                        <a:pt x="0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397" name="Freeform 121"/>
                <p:cNvSpPr/>
                <p:nvPr/>
              </p:nvSpPr>
              <p:spPr bwMode="auto">
                <a:xfrm>
                  <a:off x="3606" y="2708"/>
                  <a:ext cx="2" cy="175"/>
                </a:xfrm>
                <a:custGeom>
                  <a:avLst/>
                  <a:gdLst>
                    <a:gd name="T0" fmla="*/ 2 w 2"/>
                    <a:gd name="T1" fmla="*/ 0 h 175"/>
                    <a:gd name="T2" fmla="*/ 0 w 2"/>
                    <a:gd name="T3" fmla="*/ 175 h 175"/>
                    <a:gd name="T4" fmla="*/ 0 60000 65536"/>
                    <a:gd name="T5" fmla="*/ 0 60000 65536"/>
                    <a:gd name="T6" fmla="*/ 0 w 2"/>
                    <a:gd name="T7" fmla="*/ 0 h 175"/>
                    <a:gd name="T8" fmla="*/ 2 w 2"/>
                    <a:gd name="T9" fmla="*/ 175 h 175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" h="175">
                      <a:moveTo>
                        <a:pt x="2" y="0"/>
                      </a:moveTo>
                      <a:lnTo>
                        <a:pt x="0" y="175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398" name="Freeform 122"/>
                <p:cNvSpPr/>
                <p:nvPr/>
              </p:nvSpPr>
              <p:spPr bwMode="auto">
                <a:xfrm>
                  <a:off x="4760" y="2697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  <a:gd name="T6" fmla="*/ 0 w 1"/>
                    <a:gd name="T7" fmla="*/ 0 h 176"/>
                    <a:gd name="T8" fmla="*/ 1 w 1"/>
                    <a:gd name="T9" fmla="*/ 176 h 17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399" name="Freeform 123"/>
                <p:cNvSpPr/>
                <p:nvPr/>
              </p:nvSpPr>
              <p:spPr bwMode="auto">
                <a:xfrm>
                  <a:off x="908" y="1480"/>
                  <a:ext cx="4422" cy="1"/>
                </a:xfrm>
                <a:custGeom>
                  <a:avLst/>
                  <a:gdLst>
                    <a:gd name="T0" fmla="*/ 0 w 4422"/>
                    <a:gd name="T1" fmla="*/ 1 h 1"/>
                    <a:gd name="T2" fmla="*/ 4422 w 4422"/>
                    <a:gd name="T3" fmla="*/ 0 h 1"/>
                    <a:gd name="T4" fmla="*/ 0 60000 65536"/>
                    <a:gd name="T5" fmla="*/ 0 60000 65536"/>
                    <a:gd name="T6" fmla="*/ 0 w 4422"/>
                    <a:gd name="T7" fmla="*/ 0 h 1"/>
                    <a:gd name="T8" fmla="*/ 4422 w 442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422" h="1">
                      <a:moveTo>
                        <a:pt x="0" y="1"/>
                      </a:moveTo>
                      <a:lnTo>
                        <a:pt x="4422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00" name="Line 124"/>
                <p:cNvSpPr>
                  <a:spLocks noChangeShapeType="1"/>
                </p:cNvSpPr>
                <p:nvPr/>
              </p:nvSpPr>
              <p:spPr bwMode="auto">
                <a:xfrm>
                  <a:off x="1292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01" name="Line 125"/>
                <p:cNvSpPr>
                  <a:spLocks noChangeShapeType="1"/>
                </p:cNvSpPr>
                <p:nvPr/>
              </p:nvSpPr>
              <p:spPr bwMode="auto">
                <a:xfrm>
                  <a:off x="1868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02" name="Line 126"/>
                <p:cNvSpPr>
                  <a:spLocks noChangeShapeType="1"/>
                </p:cNvSpPr>
                <p:nvPr/>
              </p:nvSpPr>
              <p:spPr bwMode="auto">
                <a:xfrm>
                  <a:off x="2444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03" name="Line 127"/>
                <p:cNvSpPr>
                  <a:spLocks noChangeShapeType="1"/>
                </p:cNvSpPr>
                <p:nvPr/>
              </p:nvSpPr>
              <p:spPr bwMode="auto">
                <a:xfrm>
                  <a:off x="3020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04" name="Line 128"/>
                <p:cNvSpPr>
                  <a:spLocks noChangeShapeType="1"/>
                </p:cNvSpPr>
                <p:nvPr/>
              </p:nvSpPr>
              <p:spPr bwMode="auto">
                <a:xfrm>
                  <a:off x="3596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05" name="Line 129"/>
                <p:cNvSpPr>
                  <a:spLocks noChangeShapeType="1"/>
                </p:cNvSpPr>
                <p:nvPr/>
              </p:nvSpPr>
              <p:spPr bwMode="auto">
                <a:xfrm>
                  <a:off x="4172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06" name="Line 130"/>
                <p:cNvSpPr>
                  <a:spLocks noChangeShapeType="1"/>
                </p:cNvSpPr>
                <p:nvPr/>
              </p:nvSpPr>
              <p:spPr bwMode="auto">
                <a:xfrm>
                  <a:off x="4748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07" name="Line 131"/>
                <p:cNvSpPr>
                  <a:spLocks noChangeShapeType="1"/>
                </p:cNvSpPr>
                <p:nvPr/>
              </p:nvSpPr>
              <p:spPr bwMode="auto">
                <a:xfrm>
                  <a:off x="5324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08" name="Freeform 132"/>
                <p:cNvSpPr/>
                <p:nvPr/>
              </p:nvSpPr>
              <p:spPr bwMode="auto">
                <a:xfrm>
                  <a:off x="908" y="2056"/>
                  <a:ext cx="4418" cy="1"/>
                </a:xfrm>
                <a:custGeom>
                  <a:avLst/>
                  <a:gdLst>
                    <a:gd name="T0" fmla="*/ 0 w 4418"/>
                    <a:gd name="T1" fmla="*/ 1 h 1"/>
                    <a:gd name="T2" fmla="*/ 4418 w 4418"/>
                    <a:gd name="T3" fmla="*/ 0 h 1"/>
                    <a:gd name="T4" fmla="*/ 0 60000 65536"/>
                    <a:gd name="T5" fmla="*/ 0 60000 65536"/>
                    <a:gd name="T6" fmla="*/ 0 w 4418"/>
                    <a:gd name="T7" fmla="*/ 0 h 1"/>
                    <a:gd name="T8" fmla="*/ 4418 w 4418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418" h="1">
                      <a:moveTo>
                        <a:pt x="0" y="1"/>
                      </a:moveTo>
                      <a:lnTo>
                        <a:pt x="4418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09" name="Line 133"/>
                <p:cNvSpPr>
                  <a:spLocks noChangeShapeType="1"/>
                </p:cNvSpPr>
                <p:nvPr/>
              </p:nvSpPr>
              <p:spPr bwMode="auto">
                <a:xfrm>
                  <a:off x="1292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10" name="Line 134"/>
                <p:cNvSpPr>
                  <a:spLocks noChangeShapeType="1"/>
                </p:cNvSpPr>
                <p:nvPr/>
              </p:nvSpPr>
              <p:spPr bwMode="auto">
                <a:xfrm>
                  <a:off x="1868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11" name="Line 135"/>
                <p:cNvSpPr>
                  <a:spLocks noChangeShapeType="1"/>
                </p:cNvSpPr>
                <p:nvPr/>
              </p:nvSpPr>
              <p:spPr bwMode="auto">
                <a:xfrm>
                  <a:off x="2444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12" name="Line 136"/>
                <p:cNvSpPr>
                  <a:spLocks noChangeShapeType="1"/>
                </p:cNvSpPr>
                <p:nvPr/>
              </p:nvSpPr>
              <p:spPr bwMode="auto">
                <a:xfrm>
                  <a:off x="3020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13" name="Line 137"/>
                <p:cNvSpPr>
                  <a:spLocks noChangeShapeType="1"/>
                </p:cNvSpPr>
                <p:nvPr/>
              </p:nvSpPr>
              <p:spPr bwMode="auto">
                <a:xfrm>
                  <a:off x="3596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14" name="Line 138"/>
                <p:cNvSpPr>
                  <a:spLocks noChangeShapeType="1"/>
                </p:cNvSpPr>
                <p:nvPr/>
              </p:nvSpPr>
              <p:spPr bwMode="auto">
                <a:xfrm>
                  <a:off x="4172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15" name="Line 139"/>
                <p:cNvSpPr>
                  <a:spLocks noChangeShapeType="1"/>
                </p:cNvSpPr>
                <p:nvPr/>
              </p:nvSpPr>
              <p:spPr bwMode="auto">
                <a:xfrm>
                  <a:off x="4748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16" name="Line 140"/>
                <p:cNvSpPr>
                  <a:spLocks noChangeShapeType="1"/>
                </p:cNvSpPr>
                <p:nvPr/>
              </p:nvSpPr>
              <p:spPr bwMode="auto">
                <a:xfrm>
                  <a:off x="5324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17" name="Freeform 141"/>
                <p:cNvSpPr/>
                <p:nvPr/>
              </p:nvSpPr>
              <p:spPr bwMode="auto">
                <a:xfrm>
                  <a:off x="909" y="2879"/>
                  <a:ext cx="3860" cy="1"/>
                </a:xfrm>
                <a:custGeom>
                  <a:avLst/>
                  <a:gdLst>
                    <a:gd name="T0" fmla="*/ 0 w 3860"/>
                    <a:gd name="T1" fmla="*/ 1 h 1"/>
                    <a:gd name="T2" fmla="*/ 3860 w 3860"/>
                    <a:gd name="T3" fmla="*/ 0 h 1"/>
                    <a:gd name="T4" fmla="*/ 0 60000 65536"/>
                    <a:gd name="T5" fmla="*/ 0 60000 65536"/>
                    <a:gd name="T6" fmla="*/ 0 w 3860"/>
                    <a:gd name="T7" fmla="*/ 0 h 1"/>
                    <a:gd name="T8" fmla="*/ 3860 w 3860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860" h="1">
                      <a:moveTo>
                        <a:pt x="0" y="1"/>
                      </a:moveTo>
                      <a:lnTo>
                        <a:pt x="3860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18" name="Freeform 142"/>
                <p:cNvSpPr/>
                <p:nvPr/>
              </p:nvSpPr>
              <p:spPr bwMode="auto">
                <a:xfrm>
                  <a:off x="912" y="3209"/>
                  <a:ext cx="4418" cy="1"/>
                </a:xfrm>
                <a:custGeom>
                  <a:avLst/>
                  <a:gdLst>
                    <a:gd name="T0" fmla="*/ 0 w 4418"/>
                    <a:gd name="T1" fmla="*/ 1 h 1"/>
                    <a:gd name="T2" fmla="*/ 4418 w 4418"/>
                    <a:gd name="T3" fmla="*/ 0 h 1"/>
                    <a:gd name="T4" fmla="*/ 0 60000 65536"/>
                    <a:gd name="T5" fmla="*/ 0 60000 65536"/>
                    <a:gd name="T6" fmla="*/ 0 w 4418"/>
                    <a:gd name="T7" fmla="*/ 0 h 1"/>
                    <a:gd name="T8" fmla="*/ 4418 w 4418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418" h="1">
                      <a:moveTo>
                        <a:pt x="0" y="1"/>
                      </a:moveTo>
                      <a:lnTo>
                        <a:pt x="4418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19" name="Rectangle 143"/>
                <p:cNvSpPr>
                  <a:spLocks noChangeArrowheads="1"/>
                </p:cNvSpPr>
                <p:nvPr/>
              </p:nvSpPr>
              <p:spPr bwMode="auto">
                <a:xfrm>
                  <a:off x="1141" y="3545"/>
                  <a:ext cx="823" cy="33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37420" name="Text Box 144"/>
                <p:cNvSpPr txBox="1">
                  <a:spLocks noChangeArrowheads="1"/>
                </p:cNvSpPr>
                <p:nvPr/>
              </p:nvSpPr>
              <p:spPr bwMode="auto">
                <a:xfrm>
                  <a:off x="1172" y="3576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读写电路</a:t>
                  </a:r>
                </a:p>
              </p:txBody>
            </p:sp>
            <p:sp>
              <p:nvSpPr>
                <p:cNvPr id="137421" name="Freeform 145"/>
                <p:cNvSpPr/>
                <p:nvPr/>
              </p:nvSpPr>
              <p:spPr bwMode="auto">
                <a:xfrm>
                  <a:off x="1402" y="1211"/>
                  <a:ext cx="145" cy="1466"/>
                </a:xfrm>
                <a:custGeom>
                  <a:avLst/>
                  <a:gdLst>
                    <a:gd name="T0" fmla="*/ 37 w 145"/>
                    <a:gd name="T1" fmla="*/ 0 h 1466"/>
                    <a:gd name="T2" fmla="*/ 145 w 145"/>
                    <a:gd name="T3" fmla="*/ 0 h 1466"/>
                    <a:gd name="T4" fmla="*/ 144 w 145"/>
                    <a:gd name="T5" fmla="*/ 1466 h 1466"/>
                    <a:gd name="T6" fmla="*/ 0 w 145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5"/>
                    <a:gd name="T13" fmla="*/ 0 h 1466"/>
                    <a:gd name="T14" fmla="*/ 145 w 145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5" h="1466">
                      <a:moveTo>
                        <a:pt x="37" y="0"/>
                      </a:moveTo>
                      <a:lnTo>
                        <a:pt x="145" y="0"/>
                      </a:lnTo>
                      <a:lnTo>
                        <a:pt x="144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22" name="Freeform 146"/>
                <p:cNvSpPr/>
                <p:nvPr/>
              </p:nvSpPr>
              <p:spPr bwMode="auto">
                <a:xfrm>
                  <a:off x="1613" y="1211"/>
                  <a:ext cx="169" cy="1469"/>
                </a:xfrm>
                <a:custGeom>
                  <a:avLst/>
                  <a:gdLst>
                    <a:gd name="T0" fmla="*/ 169 w 169"/>
                    <a:gd name="T1" fmla="*/ 1468 h 1469"/>
                    <a:gd name="T2" fmla="*/ 0 w 169"/>
                    <a:gd name="T3" fmla="*/ 1469 h 1469"/>
                    <a:gd name="T4" fmla="*/ 1 w 169"/>
                    <a:gd name="T5" fmla="*/ 0 h 1469"/>
                    <a:gd name="T6" fmla="*/ 105 w 169"/>
                    <a:gd name="T7" fmla="*/ 0 h 1469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69"/>
                    <a:gd name="T13" fmla="*/ 0 h 1469"/>
                    <a:gd name="T14" fmla="*/ 169 w 169"/>
                    <a:gd name="T15" fmla="*/ 1469 h 1469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69" h="1469">
                      <a:moveTo>
                        <a:pt x="169" y="1468"/>
                      </a:moveTo>
                      <a:lnTo>
                        <a:pt x="0" y="1469"/>
                      </a:lnTo>
                      <a:lnTo>
                        <a:pt x="1" y="0"/>
                      </a:lnTo>
                      <a:lnTo>
                        <a:pt x="105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23" name="Freeform 147"/>
                <p:cNvSpPr/>
                <p:nvPr/>
              </p:nvSpPr>
              <p:spPr bwMode="auto">
                <a:xfrm>
                  <a:off x="1967" y="1211"/>
                  <a:ext cx="141" cy="1466"/>
                </a:xfrm>
                <a:custGeom>
                  <a:avLst/>
                  <a:gdLst>
                    <a:gd name="T0" fmla="*/ 38 w 141"/>
                    <a:gd name="T1" fmla="*/ 0 h 1466"/>
                    <a:gd name="T2" fmla="*/ 141 w 141"/>
                    <a:gd name="T3" fmla="*/ 0 h 1466"/>
                    <a:gd name="T4" fmla="*/ 140 w 141"/>
                    <a:gd name="T5" fmla="*/ 1466 h 1466"/>
                    <a:gd name="T6" fmla="*/ 0 w 141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1"/>
                    <a:gd name="T13" fmla="*/ 0 h 1466"/>
                    <a:gd name="T14" fmla="*/ 141 w 141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1" h="1466">
                      <a:moveTo>
                        <a:pt x="38" y="0"/>
                      </a:moveTo>
                      <a:lnTo>
                        <a:pt x="141" y="0"/>
                      </a:lnTo>
                      <a:lnTo>
                        <a:pt x="140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24" name="Freeform 148"/>
                <p:cNvSpPr/>
                <p:nvPr/>
              </p:nvSpPr>
              <p:spPr bwMode="auto">
                <a:xfrm>
                  <a:off x="2208" y="1211"/>
                  <a:ext cx="155" cy="1467"/>
                </a:xfrm>
                <a:custGeom>
                  <a:avLst/>
                  <a:gdLst>
                    <a:gd name="T0" fmla="*/ 155 w 155"/>
                    <a:gd name="T1" fmla="*/ 1467 h 1467"/>
                    <a:gd name="T2" fmla="*/ 3 w 155"/>
                    <a:gd name="T3" fmla="*/ 1467 h 1467"/>
                    <a:gd name="T4" fmla="*/ 0 w 155"/>
                    <a:gd name="T5" fmla="*/ 1 h 1467"/>
                    <a:gd name="T6" fmla="*/ 89 w 155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5"/>
                    <a:gd name="T13" fmla="*/ 0 h 1467"/>
                    <a:gd name="T14" fmla="*/ 155 w 155"/>
                    <a:gd name="T15" fmla="*/ 1467 h 146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5" h="1467">
                      <a:moveTo>
                        <a:pt x="155" y="1467"/>
                      </a:moveTo>
                      <a:lnTo>
                        <a:pt x="3" y="1467"/>
                      </a:lnTo>
                      <a:lnTo>
                        <a:pt x="0" y="1"/>
                      </a:lnTo>
                      <a:lnTo>
                        <a:pt x="89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25" name="Freeform 149"/>
                <p:cNvSpPr/>
                <p:nvPr/>
              </p:nvSpPr>
              <p:spPr bwMode="auto">
                <a:xfrm>
                  <a:off x="2557" y="1211"/>
                  <a:ext cx="142" cy="1466"/>
                </a:xfrm>
                <a:custGeom>
                  <a:avLst/>
                  <a:gdLst>
                    <a:gd name="T0" fmla="*/ 34 w 142"/>
                    <a:gd name="T1" fmla="*/ 0 h 1466"/>
                    <a:gd name="T2" fmla="*/ 142 w 142"/>
                    <a:gd name="T3" fmla="*/ 0 h 1466"/>
                    <a:gd name="T4" fmla="*/ 141 w 142"/>
                    <a:gd name="T5" fmla="*/ 1466 h 1466"/>
                    <a:gd name="T6" fmla="*/ 0 w 142"/>
                    <a:gd name="T7" fmla="*/ 1464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2"/>
                    <a:gd name="T13" fmla="*/ 0 h 1466"/>
                    <a:gd name="T14" fmla="*/ 142 w 142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2" h="1466">
                      <a:moveTo>
                        <a:pt x="34" y="0"/>
                      </a:moveTo>
                      <a:lnTo>
                        <a:pt x="142" y="0"/>
                      </a:lnTo>
                      <a:lnTo>
                        <a:pt x="141" y="1466"/>
                      </a:lnTo>
                      <a:lnTo>
                        <a:pt x="0" y="146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26" name="Freeform 150"/>
                <p:cNvSpPr/>
                <p:nvPr/>
              </p:nvSpPr>
              <p:spPr bwMode="auto">
                <a:xfrm>
                  <a:off x="2787" y="1211"/>
                  <a:ext cx="152" cy="1467"/>
                </a:xfrm>
                <a:custGeom>
                  <a:avLst/>
                  <a:gdLst>
                    <a:gd name="T0" fmla="*/ 152 w 152"/>
                    <a:gd name="T1" fmla="*/ 1467 h 1467"/>
                    <a:gd name="T2" fmla="*/ 0 w 152"/>
                    <a:gd name="T3" fmla="*/ 1467 h 1467"/>
                    <a:gd name="T4" fmla="*/ 0 w 152"/>
                    <a:gd name="T5" fmla="*/ 1 h 1467"/>
                    <a:gd name="T6" fmla="*/ 77 w 152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"/>
                    <a:gd name="T13" fmla="*/ 0 h 1467"/>
                    <a:gd name="T14" fmla="*/ 152 w 152"/>
                    <a:gd name="T15" fmla="*/ 1467 h 146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" h="1467">
                      <a:moveTo>
                        <a:pt x="152" y="1467"/>
                      </a:moveTo>
                      <a:lnTo>
                        <a:pt x="0" y="1467"/>
                      </a:lnTo>
                      <a:lnTo>
                        <a:pt x="0" y="1"/>
                      </a:lnTo>
                      <a:lnTo>
                        <a:pt x="77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27" name="Freeform 151"/>
                <p:cNvSpPr/>
                <p:nvPr/>
              </p:nvSpPr>
              <p:spPr bwMode="auto">
                <a:xfrm>
                  <a:off x="3130" y="1211"/>
                  <a:ext cx="145" cy="1466"/>
                </a:xfrm>
                <a:custGeom>
                  <a:avLst/>
                  <a:gdLst>
                    <a:gd name="T0" fmla="*/ 37 w 145"/>
                    <a:gd name="T1" fmla="*/ 0 h 1466"/>
                    <a:gd name="T2" fmla="*/ 145 w 145"/>
                    <a:gd name="T3" fmla="*/ 0 h 1466"/>
                    <a:gd name="T4" fmla="*/ 144 w 145"/>
                    <a:gd name="T5" fmla="*/ 1466 h 1466"/>
                    <a:gd name="T6" fmla="*/ 0 w 145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5"/>
                    <a:gd name="T13" fmla="*/ 0 h 1466"/>
                    <a:gd name="T14" fmla="*/ 145 w 145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5" h="1466">
                      <a:moveTo>
                        <a:pt x="37" y="0"/>
                      </a:moveTo>
                      <a:lnTo>
                        <a:pt x="145" y="0"/>
                      </a:lnTo>
                      <a:lnTo>
                        <a:pt x="144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28" name="Freeform 152"/>
                <p:cNvSpPr/>
                <p:nvPr/>
              </p:nvSpPr>
              <p:spPr bwMode="auto">
                <a:xfrm>
                  <a:off x="3360" y="1209"/>
                  <a:ext cx="155" cy="1469"/>
                </a:xfrm>
                <a:custGeom>
                  <a:avLst/>
                  <a:gdLst>
                    <a:gd name="T0" fmla="*/ 155 w 155"/>
                    <a:gd name="T1" fmla="*/ 1469 h 1469"/>
                    <a:gd name="T2" fmla="*/ 3 w 155"/>
                    <a:gd name="T3" fmla="*/ 1469 h 1469"/>
                    <a:gd name="T4" fmla="*/ 0 w 155"/>
                    <a:gd name="T5" fmla="*/ 0 h 1469"/>
                    <a:gd name="T6" fmla="*/ 103 w 155"/>
                    <a:gd name="T7" fmla="*/ 2 h 1469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5"/>
                    <a:gd name="T13" fmla="*/ 0 h 1469"/>
                    <a:gd name="T14" fmla="*/ 155 w 155"/>
                    <a:gd name="T15" fmla="*/ 1469 h 1469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5" h="1469">
                      <a:moveTo>
                        <a:pt x="155" y="1469"/>
                      </a:moveTo>
                      <a:lnTo>
                        <a:pt x="3" y="1469"/>
                      </a:lnTo>
                      <a:lnTo>
                        <a:pt x="0" y="0"/>
                      </a:lnTo>
                      <a:lnTo>
                        <a:pt x="103" y="2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29" name="Freeform 153"/>
                <p:cNvSpPr/>
                <p:nvPr/>
              </p:nvSpPr>
              <p:spPr bwMode="auto">
                <a:xfrm>
                  <a:off x="3710" y="1211"/>
                  <a:ext cx="141" cy="1466"/>
                </a:xfrm>
                <a:custGeom>
                  <a:avLst/>
                  <a:gdLst>
                    <a:gd name="T0" fmla="*/ 42 w 141"/>
                    <a:gd name="T1" fmla="*/ 0 h 1466"/>
                    <a:gd name="T2" fmla="*/ 141 w 141"/>
                    <a:gd name="T3" fmla="*/ 0 h 1466"/>
                    <a:gd name="T4" fmla="*/ 140 w 141"/>
                    <a:gd name="T5" fmla="*/ 1466 h 1466"/>
                    <a:gd name="T6" fmla="*/ 0 w 141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1"/>
                    <a:gd name="T13" fmla="*/ 0 h 1466"/>
                    <a:gd name="T14" fmla="*/ 141 w 141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1" h="1466">
                      <a:moveTo>
                        <a:pt x="42" y="0"/>
                      </a:moveTo>
                      <a:lnTo>
                        <a:pt x="141" y="0"/>
                      </a:lnTo>
                      <a:lnTo>
                        <a:pt x="140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30" name="Freeform 154"/>
                <p:cNvSpPr/>
                <p:nvPr/>
              </p:nvSpPr>
              <p:spPr bwMode="auto">
                <a:xfrm>
                  <a:off x="3939" y="1211"/>
                  <a:ext cx="152" cy="1467"/>
                </a:xfrm>
                <a:custGeom>
                  <a:avLst/>
                  <a:gdLst>
                    <a:gd name="T0" fmla="*/ 152 w 152"/>
                    <a:gd name="T1" fmla="*/ 1467 h 1467"/>
                    <a:gd name="T2" fmla="*/ 0 w 152"/>
                    <a:gd name="T3" fmla="*/ 1467 h 1467"/>
                    <a:gd name="T4" fmla="*/ 0 w 152"/>
                    <a:gd name="T5" fmla="*/ 1 h 1467"/>
                    <a:gd name="T6" fmla="*/ 103 w 152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"/>
                    <a:gd name="T13" fmla="*/ 0 h 1467"/>
                    <a:gd name="T14" fmla="*/ 152 w 152"/>
                    <a:gd name="T15" fmla="*/ 1467 h 146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" h="1467">
                      <a:moveTo>
                        <a:pt x="152" y="1467"/>
                      </a:moveTo>
                      <a:lnTo>
                        <a:pt x="0" y="1467"/>
                      </a:lnTo>
                      <a:lnTo>
                        <a:pt x="0" y="1"/>
                      </a:lnTo>
                      <a:lnTo>
                        <a:pt x="103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31" name="Freeform 155"/>
                <p:cNvSpPr/>
                <p:nvPr/>
              </p:nvSpPr>
              <p:spPr bwMode="auto">
                <a:xfrm>
                  <a:off x="4280" y="1211"/>
                  <a:ext cx="147" cy="1466"/>
                </a:xfrm>
                <a:custGeom>
                  <a:avLst/>
                  <a:gdLst>
                    <a:gd name="T0" fmla="*/ 51 w 147"/>
                    <a:gd name="T1" fmla="*/ 0 h 1466"/>
                    <a:gd name="T2" fmla="*/ 147 w 147"/>
                    <a:gd name="T3" fmla="*/ 0 h 1466"/>
                    <a:gd name="T4" fmla="*/ 146 w 147"/>
                    <a:gd name="T5" fmla="*/ 1466 h 1466"/>
                    <a:gd name="T6" fmla="*/ 0 w 147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7"/>
                    <a:gd name="T13" fmla="*/ 0 h 1466"/>
                    <a:gd name="T14" fmla="*/ 147 w 147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7" h="1466">
                      <a:moveTo>
                        <a:pt x="51" y="0"/>
                      </a:moveTo>
                      <a:lnTo>
                        <a:pt x="147" y="0"/>
                      </a:lnTo>
                      <a:lnTo>
                        <a:pt x="146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32" name="Freeform 156"/>
                <p:cNvSpPr/>
                <p:nvPr/>
              </p:nvSpPr>
              <p:spPr bwMode="auto">
                <a:xfrm>
                  <a:off x="4509" y="1211"/>
                  <a:ext cx="158" cy="1467"/>
                </a:xfrm>
                <a:custGeom>
                  <a:avLst/>
                  <a:gdLst>
                    <a:gd name="T0" fmla="*/ 158 w 158"/>
                    <a:gd name="T1" fmla="*/ 1467 h 1467"/>
                    <a:gd name="T2" fmla="*/ 0 w 158"/>
                    <a:gd name="T3" fmla="*/ 1467 h 1467"/>
                    <a:gd name="T4" fmla="*/ 0 w 158"/>
                    <a:gd name="T5" fmla="*/ 0 h 1467"/>
                    <a:gd name="T6" fmla="*/ 95 w 158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8"/>
                    <a:gd name="T13" fmla="*/ 0 h 1467"/>
                    <a:gd name="T14" fmla="*/ 158 w 158"/>
                    <a:gd name="T15" fmla="*/ 1467 h 146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8" h="1467">
                      <a:moveTo>
                        <a:pt x="158" y="1467"/>
                      </a:moveTo>
                      <a:lnTo>
                        <a:pt x="0" y="1467"/>
                      </a:lnTo>
                      <a:lnTo>
                        <a:pt x="0" y="0"/>
                      </a:lnTo>
                      <a:lnTo>
                        <a:pt x="95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33" name="Freeform 157"/>
                <p:cNvSpPr/>
                <p:nvPr/>
              </p:nvSpPr>
              <p:spPr bwMode="auto">
                <a:xfrm>
                  <a:off x="4861" y="1211"/>
                  <a:ext cx="142" cy="1466"/>
                </a:xfrm>
                <a:custGeom>
                  <a:avLst/>
                  <a:gdLst>
                    <a:gd name="T0" fmla="*/ 34 w 142"/>
                    <a:gd name="T1" fmla="*/ 0 h 1466"/>
                    <a:gd name="T2" fmla="*/ 142 w 142"/>
                    <a:gd name="T3" fmla="*/ 0 h 1466"/>
                    <a:gd name="T4" fmla="*/ 141 w 142"/>
                    <a:gd name="T5" fmla="*/ 1466 h 1466"/>
                    <a:gd name="T6" fmla="*/ 0 w 142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2"/>
                    <a:gd name="T13" fmla="*/ 0 h 1466"/>
                    <a:gd name="T14" fmla="*/ 142 w 142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2" h="1466">
                      <a:moveTo>
                        <a:pt x="34" y="0"/>
                      </a:moveTo>
                      <a:lnTo>
                        <a:pt x="142" y="0"/>
                      </a:lnTo>
                      <a:lnTo>
                        <a:pt x="141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34" name="Freeform 158"/>
                <p:cNvSpPr/>
                <p:nvPr/>
              </p:nvSpPr>
              <p:spPr bwMode="auto">
                <a:xfrm>
                  <a:off x="5069" y="1211"/>
                  <a:ext cx="159" cy="1469"/>
                </a:xfrm>
                <a:custGeom>
                  <a:avLst/>
                  <a:gdLst>
                    <a:gd name="T0" fmla="*/ 159 w 159"/>
                    <a:gd name="T1" fmla="*/ 1467 h 1469"/>
                    <a:gd name="T2" fmla="*/ 0 w 159"/>
                    <a:gd name="T3" fmla="*/ 1469 h 1469"/>
                    <a:gd name="T4" fmla="*/ 1 w 159"/>
                    <a:gd name="T5" fmla="*/ 0 h 1469"/>
                    <a:gd name="T6" fmla="*/ 104 w 159"/>
                    <a:gd name="T7" fmla="*/ 0 h 1469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9"/>
                    <a:gd name="T13" fmla="*/ 0 h 1469"/>
                    <a:gd name="T14" fmla="*/ 159 w 159"/>
                    <a:gd name="T15" fmla="*/ 1469 h 1469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9" h="1469">
                      <a:moveTo>
                        <a:pt x="159" y="1467"/>
                      </a:moveTo>
                      <a:lnTo>
                        <a:pt x="0" y="1469"/>
                      </a:lnTo>
                      <a:lnTo>
                        <a:pt x="1" y="0"/>
                      </a:lnTo>
                      <a:lnTo>
                        <a:pt x="104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35" name="Freeform 159"/>
                <p:cNvSpPr/>
                <p:nvPr/>
              </p:nvSpPr>
              <p:spPr bwMode="auto">
                <a:xfrm>
                  <a:off x="5417" y="1211"/>
                  <a:ext cx="147" cy="1466"/>
                </a:xfrm>
                <a:custGeom>
                  <a:avLst/>
                  <a:gdLst>
                    <a:gd name="T0" fmla="*/ 47 w 147"/>
                    <a:gd name="T1" fmla="*/ 0 h 1466"/>
                    <a:gd name="T2" fmla="*/ 147 w 147"/>
                    <a:gd name="T3" fmla="*/ 0 h 1466"/>
                    <a:gd name="T4" fmla="*/ 146 w 147"/>
                    <a:gd name="T5" fmla="*/ 1466 h 1466"/>
                    <a:gd name="T6" fmla="*/ 0 w 147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7"/>
                    <a:gd name="T13" fmla="*/ 0 h 1466"/>
                    <a:gd name="T14" fmla="*/ 147 w 147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7" h="1466">
                      <a:moveTo>
                        <a:pt x="47" y="0"/>
                      </a:moveTo>
                      <a:lnTo>
                        <a:pt x="147" y="0"/>
                      </a:lnTo>
                      <a:lnTo>
                        <a:pt x="146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36" name="Freeform 160"/>
                <p:cNvSpPr/>
                <p:nvPr/>
              </p:nvSpPr>
              <p:spPr bwMode="auto">
                <a:xfrm>
                  <a:off x="1055" y="2738"/>
                  <a:ext cx="730" cy="660"/>
                </a:xfrm>
                <a:custGeom>
                  <a:avLst/>
                  <a:gdLst>
                    <a:gd name="T0" fmla="*/ 160 w 730"/>
                    <a:gd name="T1" fmla="*/ 4 h 660"/>
                    <a:gd name="T2" fmla="*/ 0 w 730"/>
                    <a:gd name="T3" fmla="*/ 3 h 660"/>
                    <a:gd name="T4" fmla="*/ 0 w 730"/>
                    <a:gd name="T5" fmla="*/ 660 h 660"/>
                    <a:gd name="T6" fmla="*/ 558 w 730"/>
                    <a:gd name="T7" fmla="*/ 657 h 660"/>
                    <a:gd name="T8" fmla="*/ 558 w 730"/>
                    <a:gd name="T9" fmla="*/ 0 h 660"/>
                    <a:gd name="T10" fmla="*/ 730 w 730"/>
                    <a:gd name="T11" fmla="*/ 1 h 66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30"/>
                    <a:gd name="T19" fmla="*/ 0 h 660"/>
                    <a:gd name="T20" fmla="*/ 730 w 730"/>
                    <a:gd name="T21" fmla="*/ 660 h 66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30" h="660">
                      <a:moveTo>
                        <a:pt x="160" y="4"/>
                      </a:moveTo>
                      <a:lnTo>
                        <a:pt x="0" y="3"/>
                      </a:lnTo>
                      <a:lnTo>
                        <a:pt x="0" y="660"/>
                      </a:lnTo>
                      <a:lnTo>
                        <a:pt x="558" y="657"/>
                      </a:lnTo>
                      <a:lnTo>
                        <a:pt x="558" y="0"/>
                      </a:lnTo>
                      <a:lnTo>
                        <a:pt x="730" y="1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37" name="Freeform 161"/>
                <p:cNvSpPr/>
                <p:nvPr/>
              </p:nvSpPr>
              <p:spPr bwMode="auto">
                <a:xfrm>
                  <a:off x="2207" y="2744"/>
                  <a:ext cx="729" cy="658"/>
                </a:xfrm>
                <a:custGeom>
                  <a:avLst/>
                  <a:gdLst>
                    <a:gd name="T0" fmla="*/ 153 w 729"/>
                    <a:gd name="T1" fmla="*/ 0 h 658"/>
                    <a:gd name="T2" fmla="*/ 0 w 729"/>
                    <a:gd name="T3" fmla="*/ 0 h 658"/>
                    <a:gd name="T4" fmla="*/ 0 w 729"/>
                    <a:gd name="T5" fmla="*/ 657 h 658"/>
                    <a:gd name="T6" fmla="*/ 583 w 729"/>
                    <a:gd name="T7" fmla="*/ 658 h 658"/>
                    <a:gd name="T8" fmla="*/ 582 w 729"/>
                    <a:gd name="T9" fmla="*/ 3 h 658"/>
                    <a:gd name="T10" fmla="*/ 729 w 729"/>
                    <a:gd name="T11" fmla="*/ 3 h 65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29"/>
                    <a:gd name="T19" fmla="*/ 0 h 658"/>
                    <a:gd name="T20" fmla="*/ 729 w 729"/>
                    <a:gd name="T21" fmla="*/ 658 h 65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29" h="658">
                      <a:moveTo>
                        <a:pt x="153" y="0"/>
                      </a:moveTo>
                      <a:lnTo>
                        <a:pt x="0" y="0"/>
                      </a:lnTo>
                      <a:lnTo>
                        <a:pt x="0" y="657"/>
                      </a:lnTo>
                      <a:lnTo>
                        <a:pt x="583" y="658"/>
                      </a:lnTo>
                      <a:lnTo>
                        <a:pt x="582" y="3"/>
                      </a:lnTo>
                      <a:lnTo>
                        <a:pt x="729" y="3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38" name="Freeform 162"/>
                <p:cNvSpPr/>
                <p:nvPr/>
              </p:nvSpPr>
              <p:spPr bwMode="auto">
                <a:xfrm>
                  <a:off x="3356" y="2744"/>
                  <a:ext cx="729" cy="657"/>
                </a:xfrm>
                <a:custGeom>
                  <a:avLst/>
                  <a:gdLst>
                    <a:gd name="T0" fmla="*/ 158 w 729"/>
                    <a:gd name="T1" fmla="*/ 0 h 657"/>
                    <a:gd name="T2" fmla="*/ 0 w 729"/>
                    <a:gd name="T3" fmla="*/ 0 h 657"/>
                    <a:gd name="T4" fmla="*/ 0 w 729"/>
                    <a:gd name="T5" fmla="*/ 657 h 657"/>
                    <a:gd name="T6" fmla="*/ 579 w 729"/>
                    <a:gd name="T7" fmla="*/ 654 h 657"/>
                    <a:gd name="T8" fmla="*/ 582 w 729"/>
                    <a:gd name="T9" fmla="*/ 3 h 657"/>
                    <a:gd name="T10" fmla="*/ 729 w 729"/>
                    <a:gd name="T11" fmla="*/ 3 h 65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29"/>
                    <a:gd name="T19" fmla="*/ 0 h 657"/>
                    <a:gd name="T20" fmla="*/ 729 w 729"/>
                    <a:gd name="T21" fmla="*/ 657 h 65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29" h="657">
                      <a:moveTo>
                        <a:pt x="158" y="0"/>
                      </a:moveTo>
                      <a:lnTo>
                        <a:pt x="0" y="0"/>
                      </a:lnTo>
                      <a:lnTo>
                        <a:pt x="0" y="657"/>
                      </a:lnTo>
                      <a:lnTo>
                        <a:pt x="579" y="654"/>
                      </a:lnTo>
                      <a:lnTo>
                        <a:pt x="582" y="3"/>
                      </a:lnTo>
                      <a:lnTo>
                        <a:pt x="729" y="3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39" name="Freeform 163"/>
                <p:cNvSpPr/>
                <p:nvPr/>
              </p:nvSpPr>
              <p:spPr bwMode="auto">
                <a:xfrm>
                  <a:off x="4508" y="2744"/>
                  <a:ext cx="729" cy="657"/>
                </a:xfrm>
                <a:custGeom>
                  <a:avLst/>
                  <a:gdLst>
                    <a:gd name="T0" fmla="*/ 161 w 729"/>
                    <a:gd name="T1" fmla="*/ 2 h 657"/>
                    <a:gd name="T2" fmla="*/ 0 w 729"/>
                    <a:gd name="T3" fmla="*/ 0 h 657"/>
                    <a:gd name="T4" fmla="*/ 0 w 729"/>
                    <a:gd name="T5" fmla="*/ 657 h 657"/>
                    <a:gd name="T6" fmla="*/ 579 w 729"/>
                    <a:gd name="T7" fmla="*/ 654 h 657"/>
                    <a:gd name="T8" fmla="*/ 582 w 729"/>
                    <a:gd name="T9" fmla="*/ 3 h 657"/>
                    <a:gd name="T10" fmla="*/ 729 w 729"/>
                    <a:gd name="T11" fmla="*/ 3 h 65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29"/>
                    <a:gd name="T19" fmla="*/ 0 h 657"/>
                    <a:gd name="T20" fmla="*/ 729 w 729"/>
                    <a:gd name="T21" fmla="*/ 657 h 65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29" h="657">
                      <a:moveTo>
                        <a:pt x="161" y="2"/>
                      </a:moveTo>
                      <a:lnTo>
                        <a:pt x="0" y="0"/>
                      </a:lnTo>
                      <a:lnTo>
                        <a:pt x="0" y="657"/>
                      </a:lnTo>
                      <a:lnTo>
                        <a:pt x="579" y="654"/>
                      </a:lnTo>
                      <a:lnTo>
                        <a:pt x="582" y="3"/>
                      </a:lnTo>
                      <a:lnTo>
                        <a:pt x="729" y="3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40" name="Freeform 164"/>
                <p:cNvSpPr/>
                <p:nvPr/>
              </p:nvSpPr>
              <p:spPr bwMode="auto">
                <a:xfrm>
                  <a:off x="1400" y="2735"/>
                  <a:ext cx="708" cy="571"/>
                </a:xfrm>
                <a:custGeom>
                  <a:avLst/>
                  <a:gdLst>
                    <a:gd name="T0" fmla="*/ 0 w 708"/>
                    <a:gd name="T1" fmla="*/ 0 h 571"/>
                    <a:gd name="T2" fmla="*/ 132 w 708"/>
                    <a:gd name="T3" fmla="*/ 0 h 571"/>
                    <a:gd name="T4" fmla="*/ 133 w 708"/>
                    <a:gd name="T5" fmla="*/ 571 h 571"/>
                    <a:gd name="T6" fmla="*/ 708 w 708"/>
                    <a:gd name="T7" fmla="*/ 570 h 571"/>
                    <a:gd name="T8" fmla="*/ 708 w 708"/>
                    <a:gd name="T9" fmla="*/ 9 h 571"/>
                    <a:gd name="T10" fmla="*/ 573 w 708"/>
                    <a:gd name="T11" fmla="*/ 9 h 57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08"/>
                    <a:gd name="T19" fmla="*/ 0 h 571"/>
                    <a:gd name="T20" fmla="*/ 708 w 708"/>
                    <a:gd name="T21" fmla="*/ 571 h 57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08" h="571">
                      <a:moveTo>
                        <a:pt x="0" y="0"/>
                      </a:moveTo>
                      <a:lnTo>
                        <a:pt x="132" y="0"/>
                      </a:lnTo>
                      <a:lnTo>
                        <a:pt x="133" y="571"/>
                      </a:lnTo>
                      <a:lnTo>
                        <a:pt x="708" y="570"/>
                      </a:lnTo>
                      <a:lnTo>
                        <a:pt x="708" y="9"/>
                      </a:lnTo>
                      <a:lnTo>
                        <a:pt x="573" y="9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41" name="Freeform 165"/>
                <p:cNvSpPr/>
                <p:nvPr/>
              </p:nvSpPr>
              <p:spPr bwMode="auto">
                <a:xfrm>
                  <a:off x="2552" y="2735"/>
                  <a:ext cx="726" cy="567"/>
                </a:xfrm>
                <a:custGeom>
                  <a:avLst/>
                  <a:gdLst>
                    <a:gd name="T0" fmla="*/ 0 w 726"/>
                    <a:gd name="T1" fmla="*/ 0 h 567"/>
                    <a:gd name="T2" fmla="*/ 148 w 726"/>
                    <a:gd name="T3" fmla="*/ 1 h 567"/>
                    <a:gd name="T4" fmla="*/ 147 w 726"/>
                    <a:gd name="T5" fmla="*/ 567 h 567"/>
                    <a:gd name="T6" fmla="*/ 726 w 726"/>
                    <a:gd name="T7" fmla="*/ 567 h 567"/>
                    <a:gd name="T8" fmla="*/ 726 w 726"/>
                    <a:gd name="T9" fmla="*/ 6 h 567"/>
                    <a:gd name="T10" fmla="*/ 579 w 726"/>
                    <a:gd name="T11" fmla="*/ 6 h 56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26"/>
                    <a:gd name="T19" fmla="*/ 0 h 567"/>
                    <a:gd name="T20" fmla="*/ 726 w 726"/>
                    <a:gd name="T21" fmla="*/ 567 h 56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26" h="567">
                      <a:moveTo>
                        <a:pt x="0" y="0"/>
                      </a:moveTo>
                      <a:lnTo>
                        <a:pt x="148" y="1"/>
                      </a:lnTo>
                      <a:lnTo>
                        <a:pt x="147" y="567"/>
                      </a:lnTo>
                      <a:lnTo>
                        <a:pt x="726" y="567"/>
                      </a:lnTo>
                      <a:lnTo>
                        <a:pt x="726" y="6"/>
                      </a:lnTo>
                      <a:lnTo>
                        <a:pt x="579" y="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42" name="Freeform 166"/>
                <p:cNvSpPr/>
                <p:nvPr/>
              </p:nvSpPr>
              <p:spPr bwMode="auto">
                <a:xfrm>
                  <a:off x="3704" y="2738"/>
                  <a:ext cx="714" cy="567"/>
                </a:xfrm>
                <a:custGeom>
                  <a:avLst/>
                  <a:gdLst>
                    <a:gd name="T0" fmla="*/ 0 w 714"/>
                    <a:gd name="T1" fmla="*/ 0 h 567"/>
                    <a:gd name="T2" fmla="*/ 136 w 714"/>
                    <a:gd name="T3" fmla="*/ 1 h 567"/>
                    <a:gd name="T4" fmla="*/ 135 w 714"/>
                    <a:gd name="T5" fmla="*/ 567 h 567"/>
                    <a:gd name="T6" fmla="*/ 714 w 714"/>
                    <a:gd name="T7" fmla="*/ 567 h 567"/>
                    <a:gd name="T8" fmla="*/ 714 w 714"/>
                    <a:gd name="T9" fmla="*/ 6 h 567"/>
                    <a:gd name="T10" fmla="*/ 576 w 714"/>
                    <a:gd name="T11" fmla="*/ 5 h 56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14"/>
                    <a:gd name="T19" fmla="*/ 0 h 567"/>
                    <a:gd name="T20" fmla="*/ 714 w 714"/>
                    <a:gd name="T21" fmla="*/ 567 h 56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14" h="567">
                      <a:moveTo>
                        <a:pt x="0" y="0"/>
                      </a:moveTo>
                      <a:lnTo>
                        <a:pt x="136" y="1"/>
                      </a:lnTo>
                      <a:lnTo>
                        <a:pt x="135" y="567"/>
                      </a:lnTo>
                      <a:lnTo>
                        <a:pt x="714" y="567"/>
                      </a:lnTo>
                      <a:lnTo>
                        <a:pt x="714" y="6"/>
                      </a:lnTo>
                      <a:lnTo>
                        <a:pt x="576" y="5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43" name="Freeform 167"/>
                <p:cNvSpPr/>
                <p:nvPr/>
              </p:nvSpPr>
              <p:spPr bwMode="auto">
                <a:xfrm>
                  <a:off x="4859" y="2738"/>
                  <a:ext cx="711" cy="567"/>
                </a:xfrm>
                <a:custGeom>
                  <a:avLst/>
                  <a:gdLst>
                    <a:gd name="T0" fmla="*/ 0 w 711"/>
                    <a:gd name="T1" fmla="*/ 0 h 567"/>
                    <a:gd name="T2" fmla="*/ 130 w 711"/>
                    <a:gd name="T3" fmla="*/ 1 h 567"/>
                    <a:gd name="T4" fmla="*/ 132 w 711"/>
                    <a:gd name="T5" fmla="*/ 567 h 567"/>
                    <a:gd name="T6" fmla="*/ 711 w 711"/>
                    <a:gd name="T7" fmla="*/ 567 h 567"/>
                    <a:gd name="T8" fmla="*/ 711 w 711"/>
                    <a:gd name="T9" fmla="*/ 6 h 567"/>
                    <a:gd name="T10" fmla="*/ 564 w 711"/>
                    <a:gd name="T11" fmla="*/ 6 h 56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11"/>
                    <a:gd name="T19" fmla="*/ 0 h 567"/>
                    <a:gd name="T20" fmla="*/ 711 w 711"/>
                    <a:gd name="T21" fmla="*/ 567 h 56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11" h="567">
                      <a:moveTo>
                        <a:pt x="0" y="0"/>
                      </a:moveTo>
                      <a:lnTo>
                        <a:pt x="130" y="1"/>
                      </a:lnTo>
                      <a:lnTo>
                        <a:pt x="132" y="567"/>
                      </a:lnTo>
                      <a:lnTo>
                        <a:pt x="711" y="567"/>
                      </a:lnTo>
                      <a:lnTo>
                        <a:pt x="711" y="6"/>
                      </a:lnTo>
                      <a:lnTo>
                        <a:pt x="564" y="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44" name="Freeform 168"/>
                <p:cNvSpPr/>
                <p:nvPr/>
              </p:nvSpPr>
              <p:spPr bwMode="auto">
                <a:xfrm>
                  <a:off x="1322" y="3398"/>
                  <a:ext cx="1" cy="150"/>
                </a:xfrm>
                <a:custGeom>
                  <a:avLst/>
                  <a:gdLst>
                    <a:gd name="T0" fmla="*/ 0 w 1"/>
                    <a:gd name="T1" fmla="*/ 0 h 150"/>
                    <a:gd name="T2" fmla="*/ 0 w 1"/>
                    <a:gd name="T3" fmla="*/ 150 h 150"/>
                    <a:gd name="T4" fmla="*/ 0 60000 65536"/>
                    <a:gd name="T5" fmla="*/ 0 60000 65536"/>
                    <a:gd name="T6" fmla="*/ 0 w 1"/>
                    <a:gd name="T7" fmla="*/ 0 h 150"/>
                    <a:gd name="T8" fmla="*/ 1 w 1"/>
                    <a:gd name="T9" fmla="*/ 150 h 15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50">
                      <a:moveTo>
                        <a:pt x="0" y="0"/>
                      </a:moveTo>
                      <a:lnTo>
                        <a:pt x="0" y="15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45" name="Freeform 169"/>
                <p:cNvSpPr/>
                <p:nvPr/>
              </p:nvSpPr>
              <p:spPr bwMode="auto">
                <a:xfrm>
                  <a:off x="2491" y="3401"/>
                  <a:ext cx="1" cy="150"/>
                </a:xfrm>
                <a:custGeom>
                  <a:avLst/>
                  <a:gdLst>
                    <a:gd name="T0" fmla="*/ 0 w 1"/>
                    <a:gd name="T1" fmla="*/ 0 h 150"/>
                    <a:gd name="T2" fmla="*/ 0 w 1"/>
                    <a:gd name="T3" fmla="*/ 150 h 150"/>
                    <a:gd name="T4" fmla="*/ 0 60000 65536"/>
                    <a:gd name="T5" fmla="*/ 0 60000 65536"/>
                    <a:gd name="T6" fmla="*/ 0 w 1"/>
                    <a:gd name="T7" fmla="*/ 0 h 150"/>
                    <a:gd name="T8" fmla="*/ 1 w 1"/>
                    <a:gd name="T9" fmla="*/ 150 h 15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50">
                      <a:moveTo>
                        <a:pt x="0" y="0"/>
                      </a:moveTo>
                      <a:lnTo>
                        <a:pt x="0" y="15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46" name="Freeform 170"/>
                <p:cNvSpPr/>
                <p:nvPr/>
              </p:nvSpPr>
              <p:spPr bwMode="auto">
                <a:xfrm>
                  <a:off x="3643" y="3401"/>
                  <a:ext cx="1" cy="150"/>
                </a:xfrm>
                <a:custGeom>
                  <a:avLst/>
                  <a:gdLst>
                    <a:gd name="T0" fmla="*/ 0 w 1"/>
                    <a:gd name="T1" fmla="*/ 0 h 150"/>
                    <a:gd name="T2" fmla="*/ 0 w 1"/>
                    <a:gd name="T3" fmla="*/ 150 h 150"/>
                    <a:gd name="T4" fmla="*/ 0 60000 65536"/>
                    <a:gd name="T5" fmla="*/ 0 60000 65536"/>
                    <a:gd name="T6" fmla="*/ 0 w 1"/>
                    <a:gd name="T7" fmla="*/ 0 h 150"/>
                    <a:gd name="T8" fmla="*/ 1 w 1"/>
                    <a:gd name="T9" fmla="*/ 150 h 15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50">
                      <a:moveTo>
                        <a:pt x="0" y="0"/>
                      </a:moveTo>
                      <a:lnTo>
                        <a:pt x="0" y="15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47" name="Freeform 171"/>
                <p:cNvSpPr/>
                <p:nvPr/>
              </p:nvSpPr>
              <p:spPr bwMode="auto">
                <a:xfrm>
                  <a:off x="4795" y="3401"/>
                  <a:ext cx="1" cy="150"/>
                </a:xfrm>
                <a:custGeom>
                  <a:avLst/>
                  <a:gdLst>
                    <a:gd name="T0" fmla="*/ 0 w 1"/>
                    <a:gd name="T1" fmla="*/ 0 h 150"/>
                    <a:gd name="T2" fmla="*/ 0 w 1"/>
                    <a:gd name="T3" fmla="*/ 150 h 150"/>
                    <a:gd name="T4" fmla="*/ 0 60000 65536"/>
                    <a:gd name="T5" fmla="*/ 0 60000 65536"/>
                    <a:gd name="T6" fmla="*/ 0 w 1"/>
                    <a:gd name="T7" fmla="*/ 0 h 150"/>
                    <a:gd name="T8" fmla="*/ 1 w 1"/>
                    <a:gd name="T9" fmla="*/ 150 h 15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50">
                      <a:moveTo>
                        <a:pt x="0" y="0"/>
                      </a:moveTo>
                      <a:lnTo>
                        <a:pt x="0" y="15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48" name="Freeform 172"/>
                <p:cNvSpPr/>
                <p:nvPr/>
              </p:nvSpPr>
              <p:spPr bwMode="auto">
                <a:xfrm>
                  <a:off x="5276" y="3305"/>
                  <a:ext cx="1" cy="246"/>
                </a:xfrm>
                <a:custGeom>
                  <a:avLst/>
                  <a:gdLst>
                    <a:gd name="T0" fmla="*/ 0 w 1"/>
                    <a:gd name="T1" fmla="*/ 0 h 246"/>
                    <a:gd name="T2" fmla="*/ 0 w 1"/>
                    <a:gd name="T3" fmla="*/ 246 h 246"/>
                    <a:gd name="T4" fmla="*/ 0 60000 65536"/>
                    <a:gd name="T5" fmla="*/ 0 60000 65536"/>
                    <a:gd name="T6" fmla="*/ 0 w 1"/>
                    <a:gd name="T7" fmla="*/ 0 h 246"/>
                    <a:gd name="T8" fmla="*/ 1 w 1"/>
                    <a:gd name="T9" fmla="*/ 246 h 24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46">
                      <a:moveTo>
                        <a:pt x="0" y="0"/>
                      </a:moveTo>
                      <a:lnTo>
                        <a:pt x="0" y="24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49" name="Freeform 173"/>
                <p:cNvSpPr/>
                <p:nvPr/>
              </p:nvSpPr>
              <p:spPr bwMode="auto">
                <a:xfrm>
                  <a:off x="4124" y="3305"/>
                  <a:ext cx="1" cy="246"/>
                </a:xfrm>
                <a:custGeom>
                  <a:avLst/>
                  <a:gdLst>
                    <a:gd name="T0" fmla="*/ 0 w 1"/>
                    <a:gd name="T1" fmla="*/ 0 h 246"/>
                    <a:gd name="T2" fmla="*/ 0 w 1"/>
                    <a:gd name="T3" fmla="*/ 246 h 246"/>
                    <a:gd name="T4" fmla="*/ 0 60000 65536"/>
                    <a:gd name="T5" fmla="*/ 0 60000 65536"/>
                    <a:gd name="T6" fmla="*/ 0 w 1"/>
                    <a:gd name="T7" fmla="*/ 0 h 246"/>
                    <a:gd name="T8" fmla="*/ 1 w 1"/>
                    <a:gd name="T9" fmla="*/ 246 h 24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46">
                      <a:moveTo>
                        <a:pt x="0" y="0"/>
                      </a:moveTo>
                      <a:lnTo>
                        <a:pt x="0" y="24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50" name="Freeform 174"/>
                <p:cNvSpPr/>
                <p:nvPr/>
              </p:nvSpPr>
              <p:spPr bwMode="auto">
                <a:xfrm>
                  <a:off x="2972" y="3305"/>
                  <a:ext cx="1" cy="246"/>
                </a:xfrm>
                <a:custGeom>
                  <a:avLst/>
                  <a:gdLst>
                    <a:gd name="T0" fmla="*/ 0 w 1"/>
                    <a:gd name="T1" fmla="*/ 0 h 246"/>
                    <a:gd name="T2" fmla="*/ 0 w 1"/>
                    <a:gd name="T3" fmla="*/ 246 h 246"/>
                    <a:gd name="T4" fmla="*/ 0 60000 65536"/>
                    <a:gd name="T5" fmla="*/ 0 60000 65536"/>
                    <a:gd name="T6" fmla="*/ 0 w 1"/>
                    <a:gd name="T7" fmla="*/ 0 h 246"/>
                    <a:gd name="T8" fmla="*/ 1 w 1"/>
                    <a:gd name="T9" fmla="*/ 246 h 24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46">
                      <a:moveTo>
                        <a:pt x="0" y="0"/>
                      </a:moveTo>
                      <a:lnTo>
                        <a:pt x="0" y="24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51" name="Freeform 175"/>
                <p:cNvSpPr/>
                <p:nvPr/>
              </p:nvSpPr>
              <p:spPr bwMode="auto">
                <a:xfrm>
                  <a:off x="1819" y="3305"/>
                  <a:ext cx="1" cy="246"/>
                </a:xfrm>
                <a:custGeom>
                  <a:avLst/>
                  <a:gdLst>
                    <a:gd name="T0" fmla="*/ 0 w 1"/>
                    <a:gd name="T1" fmla="*/ 0 h 246"/>
                    <a:gd name="T2" fmla="*/ 0 w 1"/>
                    <a:gd name="T3" fmla="*/ 246 h 246"/>
                    <a:gd name="T4" fmla="*/ 0 60000 65536"/>
                    <a:gd name="T5" fmla="*/ 0 60000 65536"/>
                    <a:gd name="T6" fmla="*/ 0 w 1"/>
                    <a:gd name="T7" fmla="*/ 0 h 246"/>
                    <a:gd name="T8" fmla="*/ 1 w 1"/>
                    <a:gd name="T9" fmla="*/ 246 h 24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46">
                      <a:moveTo>
                        <a:pt x="0" y="0"/>
                      </a:moveTo>
                      <a:lnTo>
                        <a:pt x="0" y="24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52" name="Freeform 176"/>
                <p:cNvSpPr/>
                <p:nvPr/>
              </p:nvSpPr>
              <p:spPr bwMode="auto">
                <a:xfrm>
                  <a:off x="956" y="4025"/>
                  <a:ext cx="4317" cy="1"/>
                </a:xfrm>
                <a:custGeom>
                  <a:avLst/>
                  <a:gdLst>
                    <a:gd name="T0" fmla="*/ 0 w 4317"/>
                    <a:gd name="T1" fmla="*/ 0 h 1"/>
                    <a:gd name="T2" fmla="*/ 4317 w 4317"/>
                    <a:gd name="T3" fmla="*/ 0 h 1"/>
                    <a:gd name="T4" fmla="*/ 0 60000 65536"/>
                    <a:gd name="T5" fmla="*/ 0 60000 65536"/>
                    <a:gd name="T6" fmla="*/ 0 w 4317"/>
                    <a:gd name="T7" fmla="*/ 0 h 1"/>
                    <a:gd name="T8" fmla="*/ 4317 w 4317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317" h="1">
                      <a:moveTo>
                        <a:pt x="0" y="0"/>
                      </a:moveTo>
                      <a:lnTo>
                        <a:pt x="4317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53" name="Freeform 177"/>
                <p:cNvSpPr/>
                <p:nvPr/>
              </p:nvSpPr>
              <p:spPr bwMode="auto">
                <a:xfrm>
                  <a:off x="956" y="4121"/>
                  <a:ext cx="3837" cy="1"/>
                </a:xfrm>
                <a:custGeom>
                  <a:avLst/>
                  <a:gdLst>
                    <a:gd name="T0" fmla="*/ 0 w 3837"/>
                    <a:gd name="T1" fmla="*/ 0 h 1"/>
                    <a:gd name="T2" fmla="*/ 3837 w 3837"/>
                    <a:gd name="T3" fmla="*/ 0 h 1"/>
                    <a:gd name="T4" fmla="*/ 0 60000 65536"/>
                    <a:gd name="T5" fmla="*/ 0 60000 65536"/>
                    <a:gd name="T6" fmla="*/ 0 w 3837"/>
                    <a:gd name="T7" fmla="*/ 0 h 1"/>
                    <a:gd name="T8" fmla="*/ 3837 w 3837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837" h="1">
                      <a:moveTo>
                        <a:pt x="0" y="0"/>
                      </a:moveTo>
                      <a:lnTo>
                        <a:pt x="3837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54" name="Freeform 178"/>
                <p:cNvSpPr/>
                <p:nvPr/>
              </p:nvSpPr>
              <p:spPr bwMode="auto">
                <a:xfrm>
                  <a:off x="1322" y="3881"/>
                  <a:ext cx="1" cy="243"/>
                </a:xfrm>
                <a:custGeom>
                  <a:avLst/>
                  <a:gdLst>
                    <a:gd name="T0" fmla="*/ 0 w 1"/>
                    <a:gd name="T1" fmla="*/ 0 h 243"/>
                    <a:gd name="T2" fmla="*/ 0 w 1"/>
                    <a:gd name="T3" fmla="*/ 243 h 243"/>
                    <a:gd name="T4" fmla="*/ 0 60000 65536"/>
                    <a:gd name="T5" fmla="*/ 0 60000 65536"/>
                    <a:gd name="T6" fmla="*/ 0 w 1"/>
                    <a:gd name="T7" fmla="*/ 0 h 243"/>
                    <a:gd name="T8" fmla="*/ 1 w 1"/>
                    <a:gd name="T9" fmla="*/ 243 h 243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43">
                      <a:moveTo>
                        <a:pt x="0" y="0"/>
                      </a:moveTo>
                      <a:lnTo>
                        <a:pt x="0" y="243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55" name="Freeform 179"/>
                <p:cNvSpPr/>
                <p:nvPr/>
              </p:nvSpPr>
              <p:spPr bwMode="auto">
                <a:xfrm>
                  <a:off x="2491" y="3881"/>
                  <a:ext cx="1" cy="243"/>
                </a:xfrm>
                <a:custGeom>
                  <a:avLst/>
                  <a:gdLst>
                    <a:gd name="T0" fmla="*/ 0 w 1"/>
                    <a:gd name="T1" fmla="*/ 0 h 243"/>
                    <a:gd name="T2" fmla="*/ 0 w 1"/>
                    <a:gd name="T3" fmla="*/ 243 h 243"/>
                    <a:gd name="T4" fmla="*/ 0 60000 65536"/>
                    <a:gd name="T5" fmla="*/ 0 60000 65536"/>
                    <a:gd name="T6" fmla="*/ 0 w 1"/>
                    <a:gd name="T7" fmla="*/ 0 h 243"/>
                    <a:gd name="T8" fmla="*/ 1 w 1"/>
                    <a:gd name="T9" fmla="*/ 243 h 243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43">
                      <a:moveTo>
                        <a:pt x="0" y="0"/>
                      </a:moveTo>
                      <a:lnTo>
                        <a:pt x="0" y="243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56" name="Freeform 180"/>
                <p:cNvSpPr/>
                <p:nvPr/>
              </p:nvSpPr>
              <p:spPr bwMode="auto">
                <a:xfrm>
                  <a:off x="3643" y="3881"/>
                  <a:ext cx="1" cy="243"/>
                </a:xfrm>
                <a:custGeom>
                  <a:avLst/>
                  <a:gdLst>
                    <a:gd name="T0" fmla="*/ 0 w 1"/>
                    <a:gd name="T1" fmla="*/ 0 h 243"/>
                    <a:gd name="T2" fmla="*/ 0 w 1"/>
                    <a:gd name="T3" fmla="*/ 243 h 243"/>
                    <a:gd name="T4" fmla="*/ 0 60000 65536"/>
                    <a:gd name="T5" fmla="*/ 0 60000 65536"/>
                    <a:gd name="T6" fmla="*/ 0 w 1"/>
                    <a:gd name="T7" fmla="*/ 0 h 243"/>
                    <a:gd name="T8" fmla="*/ 1 w 1"/>
                    <a:gd name="T9" fmla="*/ 243 h 243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43">
                      <a:moveTo>
                        <a:pt x="0" y="0"/>
                      </a:moveTo>
                      <a:lnTo>
                        <a:pt x="0" y="243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57" name="Freeform 181"/>
                <p:cNvSpPr/>
                <p:nvPr/>
              </p:nvSpPr>
              <p:spPr bwMode="auto">
                <a:xfrm>
                  <a:off x="4791" y="3881"/>
                  <a:ext cx="4" cy="247"/>
                </a:xfrm>
                <a:custGeom>
                  <a:avLst/>
                  <a:gdLst>
                    <a:gd name="T0" fmla="*/ 4 w 4"/>
                    <a:gd name="T1" fmla="*/ 0 h 247"/>
                    <a:gd name="T2" fmla="*/ 0 w 4"/>
                    <a:gd name="T3" fmla="*/ 247 h 247"/>
                    <a:gd name="T4" fmla="*/ 0 60000 65536"/>
                    <a:gd name="T5" fmla="*/ 0 60000 65536"/>
                    <a:gd name="T6" fmla="*/ 0 w 4"/>
                    <a:gd name="T7" fmla="*/ 0 h 247"/>
                    <a:gd name="T8" fmla="*/ 4 w 4"/>
                    <a:gd name="T9" fmla="*/ 247 h 247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" h="247">
                      <a:moveTo>
                        <a:pt x="4" y="0"/>
                      </a:moveTo>
                      <a:lnTo>
                        <a:pt x="0" y="247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58" name="Freeform 182"/>
                <p:cNvSpPr/>
                <p:nvPr/>
              </p:nvSpPr>
              <p:spPr bwMode="auto">
                <a:xfrm>
                  <a:off x="5277" y="3881"/>
                  <a:ext cx="1" cy="151"/>
                </a:xfrm>
                <a:custGeom>
                  <a:avLst/>
                  <a:gdLst>
                    <a:gd name="T0" fmla="*/ 0 w 1"/>
                    <a:gd name="T1" fmla="*/ 0 h 151"/>
                    <a:gd name="T2" fmla="*/ 0 w 1"/>
                    <a:gd name="T3" fmla="*/ 151 h 151"/>
                    <a:gd name="T4" fmla="*/ 0 60000 65536"/>
                    <a:gd name="T5" fmla="*/ 0 60000 65536"/>
                    <a:gd name="T6" fmla="*/ 0 w 1"/>
                    <a:gd name="T7" fmla="*/ 0 h 151"/>
                    <a:gd name="T8" fmla="*/ 1 w 1"/>
                    <a:gd name="T9" fmla="*/ 151 h 15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51">
                      <a:moveTo>
                        <a:pt x="0" y="0"/>
                      </a:moveTo>
                      <a:lnTo>
                        <a:pt x="0" y="151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59" name="Line 183"/>
                <p:cNvSpPr>
                  <a:spLocks noChangeShapeType="1"/>
                </p:cNvSpPr>
                <p:nvPr/>
              </p:nvSpPr>
              <p:spPr bwMode="auto">
                <a:xfrm>
                  <a:off x="4124" y="38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60" name="Line 184"/>
                <p:cNvSpPr>
                  <a:spLocks noChangeShapeType="1"/>
                </p:cNvSpPr>
                <p:nvPr/>
              </p:nvSpPr>
              <p:spPr bwMode="auto">
                <a:xfrm>
                  <a:off x="2973" y="38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61" name="Line 185"/>
                <p:cNvSpPr>
                  <a:spLocks noChangeShapeType="1"/>
                </p:cNvSpPr>
                <p:nvPr/>
              </p:nvSpPr>
              <p:spPr bwMode="auto">
                <a:xfrm>
                  <a:off x="1820" y="38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62" name="Rectangle 186"/>
                <p:cNvSpPr>
                  <a:spLocks noChangeArrowheads="1"/>
                </p:cNvSpPr>
                <p:nvPr/>
              </p:nvSpPr>
              <p:spPr bwMode="auto">
                <a:xfrm>
                  <a:off x="2317" y="3545"/>
                  <a:ext cx="823" cy="33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37463" name="Text Box 187"/>
                <p:cNvSpPr txBox="1">
                  <a:spLocks noChangeArrowheads="1"/>
                </p:cNvSpPr>
                <p:nvPr/>
              </p:nvSpPr>
              <p:spPr bwMode="auto">
                <a:xfrm>
                  <a:off x="2348" y="3576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读写电路</a:t>
                  </a:r>
                </a:p>
              </p:txBody>
            </p:sp>
            <p:sp>
              <p:nvSpPr>
                <p:cNvPr id="137464" name="Rectangle 188"/>
                <p:cNvSpPr>
                  <a:spLocks noChangeArrowheads="1"/>
                </p:cNvSpPr>
                <p:nvPr/>
              </p:nvSpPr>
              <p:spPr bwMode="auto">
                <a:xfrm>
                  <a:off x="3469" y="3545"/>
                  <a:ext cx="823" cy="33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37465" name="Text Box 189"/>
                <p:cNvSpPr txBox="1">
                  <a:spLocks noChangeArrowheads="1"/>
                </p:cNvSpPr>
                <p:nvPr/>
              </p:nvSpPr>
              <p:spPr bwMode="auto">
                <a:xfrm>
                  <a:off x="3500" y="3576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读写电路</a:t>
                  </a:r>
                </a:p>
              </p:txBody>
            </p:sp>
            <p:sp>
              <p:nvSpPr>
                <p:cNvPr id="137466" name="Rectangle 190"/>
                <p:cNvSpPr>
                  <a:spLocks noChangeArrowheads="1"/>
                </p:cNvSpPr>
                <p:nvPr/>
              </p:nvSpPr>
              <p:spPr bwMode="auto">
                <a:xfrm>
                  <a:off x="4621" y="3545"/>
                  <a:ext cx="823" cy="33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37467" name="Text Box 191"/>
                <p:cNvSpPr txBox="1">
                  <a:spLocks noChangeArrowheads="1"/>
                </p:cNvSpPr>
                <p:nvPr/>
              </p:nvSpPr>
              <p:spPr bwMode="auto">
                <a:xfrm>
                  <a:off x="4652" y="3576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读写电路</a:t>
                  </a:r>
                </a:p>
              </p:txBody>
            </p:sp>
            <p:sp>
              <p:nvSpPr>
                <p:cNvPr id="137468" name="Line 192"/>
                <p:cNvSpPr>
                  <a:spLocks noChangeShapeType="1"/>
                </p:cNvSpPr>
                <p:nvPr/>
              </p:nvSpPr>
              <p:spPr bwMode="auto">
                <a:xfrm>
                  <a:off x="1964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69" name="Line 193"/>
                <p:cNvSpPr>
                  <a:spLocks noChangeShapeType="1"/>
                </p:cNvSpPr>
                <p:nvPr/>
              </p:nvSpPr>
              <p:spPr bwMode="auto">
                <a:xfrm>
                  <a:off x="3144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70" name="Line 194"/>
                <p:cNvSpPr>
                  <a:spLocks noChangeShapeType="1"/>
                </p:cNvSpPr>
                <p:nvPr/>
              </p:nvSpPr>
              <p:spPr bwMode="auto">
                <a:xfrm>
                  <a:off x="4293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71" name="Line 195"/>
                <p:cNvSpPr>
                  <a:spLocks noChangeShapeType="1"/>
                </p:cNvSpPr>
                <p:nvPr/>
              </p:nvSpPr>
              <p:spPr bwMode="auto">
                <a:xfrm>
                  <a:off x="5420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72" name="Freeform 196"/>
                <p:cNvSpPr/>
                <p:nvPr/>
              </p:nvSpPr>
              <p:spPr bwMode="auto">
                <a:xfrm>
                  <a:off x="3033" y="2708"/>
                  <a:ext cx="47" cy="501"/>
                </a:xfrm>
                <a:custGeom>
                  <a:avLst/>
                  <a:gdLst>
                    <a:gd name="T0" fmla="*/ 0 w 1"/>
                    <a:gd name="T1" fmla="*/ 0 h 406"/>
                    <a:gd name="T2" fmla="*/ 0 w 1"/>
                    <a:gd name="T3" fmla="*/ 7711 h 406"/>
                    <a:gd name="T4" fmla="*/ 0 60000 65536"/>
                    <a:gd name="T5" fmla="*/ 0 60000 65536"/>
                    <a:gd name="T6" fmla="*/ 0 w 1"/>
                    <a:gd name="T7" fmla="*/ 0 h 406"/>
                    <a:gd name="T8" fmla="*/ 1 w 1"/>
                    <a:gd name="T9" fmla="*/ 406 h 40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406">
                      <a:moveTo>
                        <a:pt x="0" y="0"/>
                      </a:moveTo>
                      <a:lnTo>
                        <a:pt x="0" y="40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73" name="Freeform 197"/>
                <p:cNvSpPr/>
                <p:nvPr/>
              </p:nvSpPr>
              <p:spPr bwMode="auto">
                <a:xfrm>
                  <a:off x="4185" y="2691"/>
                  <a:ext cx="1" cy="525"/>
                </a:xfrm>
                <a:custGeom>
                  <a:avLst/>
                  <a:gdLst>
                    <a:gd name="T0" fmla="*/ 0 w 1"/>
                    <a:gd name="T1" fmla="*/ 0 h 525"/>
                    <a:gd name="T2" fmla="*/ 0 w 1"/>
                    <a:gd name="T3" fmla="*/ 525 h 525"/>
                    <a:gd name="T4" fmla="*/ 0 60000 65536"/>
                    <a:gd name="T5" fmla="*/ 0 60000 65536"/>
                    <a:gd name="T6" fmla="*/ 0 w 1"/>
                    <a:gd name="T7" fmla="*/ 0 h 525"/>
                    <a:gd name="T8" fmla="*/ 1 w 1"/>
                    <a:gd name="T9" fmla="*/ 525 h 525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525">
                      <a:moveTo>
                        <a:pt x="0" y="0"/>
                      </a:moveTo>
                      <a:lnTo>
                        <a:pt x="0" y="525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74" name="Freeform 198"/>
                <p:cNvSpPr/>
                <p:nvPr/>
              </p:nvSpPr>
              <p:spPr bwMode="auto">
                <a:xfrm>
                  <a:off x="5325" y="2708"/>
                  <a:ext cx="47" cy="501"/>
                </a:xfrm>
                <a:custGeom>
                  <a:avLst/>
                  <a:gdLst>
                    <a:gd name="T0" fmla="*/ 0 w 1"/>
                    <a:gd name="T1" fmla="*/ 0 h 406"/>
                    <a:gd name="T2" fmla="*/ 0 w 1"/>
                    <a:gd name="T3" fmla="*/ 7711 h 406"/>
                    <a:gd name="T4" fmla="*/ 0 60000 65536"/>
                    <a:gd name="T5" fmla="*/ 0 60000 65536"/>
                    <a:gd name="T6" fmla="*/ 0 w 1"/>
                    <a:gd name="T7" fmla="*/ 0 h 406"/>
                    <a:gd name="T8" fmla="*/ 1 w 1"/>
                    <a:gd name="T9" fmla="*/ 406 h 40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406">
                      <a:moveTo>
                        <a:pt x="0" y="0"/>
                      </a:moveTo>
                      <a:lnTo>
                        <a:pt x="0" y="40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75" name="Text Box 199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1193" y="164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37476" name="Text Box 200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1769" y="164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37477" name="Text Box 201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2345" y="164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37478" name="Text Box 202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2921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37479" name="Text Box 203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3496" y="162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en-US" altLang="zh-CN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37480" name="Text Box 204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4073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en-US" altLang="zh-CN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37481" name="Text Box 205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4649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en-US" altLang="zh-CN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37482" name="Text Box 206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5244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en-US" altLang="zh-CN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37483" name="Text Box 207"/>
                <p:cNvSpPr txBox="1">
                  <a:spLocks noChangeArrowheads="1"/>
                </p:cNvSpPr>
                <p:nvPr/>
              </p:nvSpPr>
              <p:spPr bwMode="auto">
                <a:xfrm>
                  <a:off x="660" y="791"/>
                  <a:ext cx="188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1800"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7484" name="Text Box 208"/>
                <p:cNvSpPr txBox="1">
                  <a:spLocks noChangeArrowheads="1"/>
                </p:cNvSpPr>
                <p:nvPr/>
              </p:nvSpPr>
              <p:spPr bwMode="auto">
                <a:xfrm>
                  <a:off x="660" y="1383"/>
                  <a:ext cx="188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1800"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sp>
              <p:nvSpPr>
                <p:cNvPr id="137485" name="Text Box 209"/>
                <p:cNvSpPr txBox="1">
                  <a:spLocks noChangeArrowheads="1"/>
                </p:cNvSpPr>
                <p:nvPr/>
              </p:nvSpPr>
              <p:spPr bwMode="auto">
                <a:xfrm>
                  <a:off x="624" y="1959"/>
                  <a:ext cx="260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1800">
                      <a:latin typeface="Times New Roman" panose="02020603050405020304" pitchFamily="18" charset="0"/>
                    </a:rPr>
                    <a:t>63</a:t>
                  </a:r>
                </a:p>
              </p:txBody>
            </p:sp>
            <p:sp>
              <p:nvSpPr>
                <p:cNvPr id="137486" name="Line 210"/>
                <p:cNvSpPr>
                  <a:spLocks noChangeShapeType="1"/>
                </p:cNvSpPr>
                <p:nvPr/>
              </p:nvSpPr>
              <p:spPr bwMode="auto">
                <a:xfrm>
                  <a:off x="332" y="2537"/>
                  <a:ext cx="57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487" name="Text Box 211"/>
                <p:cNvSpPr txBox="1">
                  <a:spLocks noChangeArrowheads="1"/>
                </p:cNvSpPr>
                <p:nvPr/>
              </p:nvSpPr>
              <p:spPr bwMode="auto">
                <a:xfrm>
                  <a:off x="660" y="2727"/>
                  <a:ext cx="188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1800"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7488" name="Text Box 212"/>
                <p:cNvSpPr txBox="1">
                  <a:spLocks noChangeArrowheads="1"/>
                </p:cNvSpPr>
                <p:nvPr/>
              </p:nvSpPr>
              <p:spPr bwMode="auto">
                <a:xfrm>
                  <a:off x="624" y="3159"/>
                  <a:ext cx="260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1800">
                      <a:latin typeface="Times New Roman" panose="02020603050405020304" pitchFamily="18" charset="0"/>
                    </a:rPr>
                    <a:t>15</a:t>
                  </a:r>
                </a:p>
              </p:txBody>
            </p:sp>
            <p:sp>
              <p:nvSpPr>
                <p:cNvPr id="137489" name="Text Box 213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665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37490" name="Text Box 214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665" y="2876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37491" name="Text Box 215"/>
                <p:cNvSpPr txBox="1">
                  <a:spLocks noChangeArrowheads="1"/>
                </p:cNvSpPr>
                <p:nvPr/>
              </p:nvSpPr>
              <p:spPr bwMode="auto">
                <a:xfrm>
                  <a:off x="348" y="101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行</a:t>
                  </a:r>
                </a:p>
              </p:txBody>
            </p:sp>
            <p:sp>
              <p:nvSpPr>
                <p:cNvPr id="137492" name="Text Box 216"/>
                <p:cNvSpPr txBox="1">
                  <a:spLocks noChangeArrowheads="1"/>
                </p:cNvSpPr>
                <p:nvPr/>
              </p:nvSpPr>
              <p:spPr bwMode="auto">
                <a:xfrm>
                  <a:off x="348" y="126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地</a:t>
                  </a:r>
                </a:p>
              </p:txBody>
            </p:sp>
            <p:sp>
              <p:nvSpPr>
                <p:cNvPr id="137493" name="Text Box 217"/>
                <p:cNvSpPr txBox="1">
                  <a:spLocks noChangeArrowheads="1"/>
                </p:cNvSpPr>
                <p:nvPr/>
              </p:nvSpPr>
              <p:spPr bwMode="auto">
                <a:xfrm>
                  <a:off x="348" y="151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址</a:t>
                  </a:r>
                </a:p>
              </p:txBody>
            </p:sp>
            <p:sp>
              <p:nvSpPr>
                <p:cNvPr id="137494" name="Text Box 218"/>
                <p:cNvSpPr txBox="1">
                  <a:spLocks noChangeArrowheads="1"/>
                </p:cNvSpPr>
                <p:nvPr/>
              </p:nvSpPr>
              <p:spPr bwMode="auto">
                <a:xfrm>
                  <a:off x="348" y="1758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译</a:t>
                  </a:r>
                </a:p>
              </p:txBody>
            </p:sp>
            <p:sp>
              <p:nvSpPr>
                <p:cNvPr id="137495" name="Text Box 219"/>
                <p:cNvSpPr txBox="1">
                  <a:spLocks noChangeArrowheads="1"/>
                </p:cNvSpPr>
                <p:nvPr/>
              </p:nvSpPr>
              <p:spPr bwMode="auto">
                <a:xfrm>
                  <a:off x="348" y="2006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码</a:t>
                  </a:r>
                </a:p>
              </p:txBody>
            </p:sp>
            <p:sp>
              <p:nvSpPr>
                <p:cNvPr id="137496" name="Text Box 220"/>
                <p:cNvSpPr txBox="1">
                  <a:spLocks noChangeArrowheads="1"/>
                </p:cNvSpPr>
                <p:nvPr/>
              </p:nvSpPr>
              <p:spPr bwMode="auto">
                <a:xfrm>
                  <a:off x="375" y="263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列</a:t>
                  </a:r>
                </a:p>
              </p:txBody>
            </p:sp>
            <p:sp>
              <p:nvSpPr>
                <p:cNvPr id="137497" name="Text Box 221"/>
                <p:cNvSpPr txBox="1">
                  <a:spLocks noChangeArrowheads="1"/>
                </p:cNvSpPr>
                <p:nvPr/>
              </p:nvSpPr>
              <p:spPr bwMode="auto">
                <a:xfrm>
                  <a:off x="375" y="288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地</a:t>
                  </a:r>
                </a:p>
              </p:txBody>
            </p:sp>
            <p:sp>
              <p:nvSpPr>
                <p:cNvPr id="137498" name="Text Box 222"/>
                <p:cNvSpPr txBox="1">
                  <a:spLocks noChangeArrowheads="1"/>
                </p:cNvSpPr>
                <p:nvPr/>
              </p:nvSpPr>
              <p:spPr bwMode="auto">
                <a:xfrm>
                  <a:off x="375" y="313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址</a:t>
                  </a:r>
                </a:p>
              </p:txBody>
            </p:sp>
            <p:sp>
              <p:nvSpPr>
                <p:cNvPr id="137499" name="Text Box 223"/>
                <p:cNvSpPr txBox="1">
                  <a:spLocks noChangeArrowheads="1"/>
                </p:cNvSpPr>
                <p:nvPr/>
              </p:nvSpPr>
              <p:spPr bwMode="auto">
                <a:xfrm>
                  <a:off x="375" y="3378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译</a:t>
                  </a:r>
                </a:p>
              </p:txBody>
            </p:sp>
            <p:sp>
              <p:nvSpPr>
                <p:cNvPr id="137500" name="Text Box 224"/>
                <p:cNvSpPr txBox="1">
                  <a:spLocks noChangeArrowheads="1"/>
                </p:cNvSpPr>
                <p:nvPr/>
              </p:nvSpPr>
              <p:spPr bwMode="auto">
                <a:xfrm>
                  <a:off x="375" y="3626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码</a:t>
                  </a:r>
                </a:p>
              </p:txBody>
            </p:sp>
            <p:sp>
              <p:nvSpPr>
                <p:cNvPr id="137501" name="Text Box 225"/>
                <p:cNvSpPr txBox="1">
                  <a:spLocks noChangeArrowheads="1"/>
                </p:cNvSpPr>
                <p:nvPr/>
              </p:nvSpPr>
              <p:spPr bwMode="auto">
                <a:xfrm>
                  <a:off x="1944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US" altLang="zh-CN" sz="1600">
                      <a:latin typeface="Times New Roman" panose="02020603050405020304" pitchFamily="18" charset="0"/>
                    </a:rPr>
                    <a:t>I/O</a:t>
                  </a:r>
                  <a:r>
                    <a:rPr lang="en-US" altLang="zh-CN" sz="1600" baseline="-25000"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sp>
              <p:nvSpPr>
                <p:cNvPr id="137502" name="Text Box 226"/>
                <p:cNvSpPr txBox="1">
                  <a:spLocks noChangeArrowheads="1"/>
                </p:cNvSpPr>
                <p:nvPr/>
              </p:nvSpPr>
              <p:spPr bwMode="auto">
                <a:xfrm>
                  <a:off x="3104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US" altLang="zh-CN" sz="1600">
                      <a:latin typeface="Times New Roman" panose="02020603050405020304" pitchFamily="18" charset="0"/>
                    </a:rPr>
                    <a:t>I/O</a:t>
                  </a:r>
                  <a:r>
                    <a:rPr lang="en-US" altLang="zh-CN" sz="1600" baseline="-25000"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sp>
              <p:nvSpPr>
                <p:cNvPr id="137503" name="Text Box 227"/>
                <p:cNvSpPr txBox="1">
                  <a:spLocks noChangeArrowheads="1"/>
                </p:cNvSpPr>
                <p:nvPr/>
              </p:nvSpPr>
              <p:spPr bwMode="auto">
                <a:xfrm>
                  <a:off x="4256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US" altLang="zh-CN" sz="1600">
                      <a:latin typeface="Times New Roman" panose="02020603050405020304" pitchFamily="18" charset="0"/>
                    </a:rPr>
                    <a:t>I/O</a:t>
                  </a:r>
                  <a:r>
                    <a:rPr lang="en-US" altLang="zh-CN" sz="1600" baseline="-25000">
                      <a:latin typeface="Times New Roman" panose="02020603050405020304" pitchFamily="18" charset="0"/>
                    </a:rPr>
                    <a:t>3</a:t>
                  </a:r>
                </a:p>
              </p:txBody>
            </p:sp>
            <p:sp>
              <p:nvSpPr>
                <p:cNvPr id="137504" name="Text Box 228"/>
                <p:cNvSpPr txBox="1">
                  <a:spLocks noChangeArrowheads="1"/>
                </p:cNvSpPr>
                <p:nvPr/>
              </p:nvSpPr>
              <p:spPr bwMode="auto">
                <a:xfrm>
                  <a:off x="5414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US" altLang="zh-CN" sz="1600">
                      <a:latin typeface="Times New Roman" panose="02020603050405020304" pitchFamily="18" charset="0"/>
                    </a:rPr>
                    <a:t>I/O</a:t>
                  </a:r>
                  <a:r>
                    <a:rPr lang="en-US" altLang="zh-CN" sz="1600" baseline="-25000"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sp>
              <p:nvSpPr>
                <p:cNvPr id="137505" name="Line 229"/>
                <p:cNvSpPr>
                  <a:spLocks noChangeShapeType="1"/>
                </p:cNvSpPr>
                <p:nvPr/>
              </p:nvSpPr>
              <p:spPr bwMode="auto">
                <a:xfrm>
                  <a:off x="140" y="905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506" name="Line 230"/>
                <p:cNvSpPr>
                  <a:spLocks noChangeShapeType="1"/>
                </p:cNvSpPr>
                <p:nvPr/>
              </p:nvSpPr>
              <p:spPr bwMode="auto">
                <a:xfrm>
                  <a:off x="140" y="1164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507" name="Line 231"/>
                <p:cNvSpPr>
                  <a:spLocks noChangeShapeType="1"/>
                </p:cNvSpPr>
                <p:nvPr/>
              </p:nvSpPr>
              <p:spPr bwMode="auto">
                <a:xfrm>
                  <a:off x="140" y="1423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508" name="Line 232"/>
                <p:cNvSpPr>
                  <a:spLocks noChangeShapeType="1"/>
                </p:cNvSpPr>
                <p:nvPr/>
              </p:nvSpPr>
              <p:spPr bwMode="auto">
                <a:xfrm>
                  <a:off x="140" y="1682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509" name="Line 233"/>
                <p:cNvSpPr>
                  <a:spLocks noChangeShapeType="1"/>
                </p:cNvSpPr>
                <p:nvPr/>
              </p:nvSpPr>
              <p:spPr bwMode="auto">
                <a:xfrm>
                  <a:off x="140" y="1941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510" name="Line 234"/>
                <p:cNvSpPr>
                  <a:spLocks noChangeShapeType="1"/>
                </p:cNvSpPr>
                <p:nvPr/>
              </p:nvSpPr>
              <p:spPr bwMode="auto">
                <a:xfrm>
                  <a:off x="140" y="2201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511" name="Line 235"/>
                <p:cNvSpPr>
                  <a:spLocks noChangeShapeType="1"/>
                </p:cNvSpPr>
                <p:nvPr/>
              </p:nvSpPr>
              <p:spPr bwMode="auto">
                <a:xfrm>
                  <a:off x="140" y="2872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512" name="Line 236"/>
                <p:cNvSpPr>
                  <a:spLocks noChangeShapeType="1"/>
                </p:cNvSpPr>
                <p:nvPr/>
              </p:nvSpPr>
              <p:spPr bwMode="auto">
                <a:xfrm>
                  <a:off x="140" y="3131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513" name="Line 237"/>
                <p:cNvSpPr>
                  <a:spLocks noChangeShapeType="1"/>
                </p:cNvSpPr>
                <p:nvPr/>
              </p:nvSpPr>
              <p:spPr bwMode="auto">
                <a:xfrm>
                  <a:off x="140" y="3390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514" name="Line 238"/>
                <p:cNvSpPr>
                  <a:spLocks noChangeShapeType="1"/>
                </p:cNvSpPr>
                <p:nvPr/>
              </p:nvSpPr>
              <p:spPr bwMode="auto">
                <a:xfrm>
                  <a:off x="140" y="3650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515" name="Text Box 239"/>
                <p:cNvSpPr txBox="1">
                  <a:spLocks noChangeArrowheads="1"/>
                </p:cNvSpPr>
                <p:nvPr/>
              </p:nvSpPr>
              <p:spPr bwMode="auto">
                <a:xfrm>
                  <a:off x="648" y="3890"/>
                  <a:ext cx="356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US" altLang="zh-CN" sz="1800">
                      <a:latin typeface="Times New Roman" panose="02020603050405020304" pitchFamily="18" charset="0"/>
                    </a:rPr>
                    <a:t>WE</a:t>
                  </a:r>
                </a:p>
              </p:txBody>
            </p:sp>
            <p:sp>
              <p:nvSpPr>
                <p:cNvPr id="137516" name="Line 240"/>
                <p:cNvSpPr>
                  <a:spLocks noChangeShapeType="1"/>
                </p:cNvSpPr>
                <p:nvPr/>
              </p:nvSpPr>
              <p:spPr bwMode="auto">
                <a:xfrm>
                  <a:off x="682" y="3923"/>
                  <a:ext cx="28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517" name="Text Box 241"/>
                <p:cNvSpPr txBox="1">
                  <a:spLocks noChangeArrowheads="1"/>
                </p:cNvSpPr>
                <p:nvPr/>
              </p:nvSpPr>
              <p:spPr bwMode="auto">
                <a:xfrm>
                  <a:off x="668" y="4025"/>
                  <a:ext cx="321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CS</a:t>
                  </a:r>
                </a:p>
              </p:txBody>
            </p:sp>
            <p:sp>
              <p:nvSpPr>
                <p:cNvPr id="137518" name="Line 242"/>
                <p:cNvSpPr>
                  <a:spLocks noChangeShapeType="1"/>
                </p:cNvSpPr>
                <p:nvPr/>
              </p:nvSpPr>
              <p:spPr bwMode="auto">
                <a:xfrm>
                  <a:off x="726" y="4079"/>
                  <a:ext cx="19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7304" name="Group 243"/>
              <p:cNvGrpSpPr/>
              <p:nvPr/>
            </p:nvGrpSpPr>
            <p:grpSpPr bwMode="auto">
              <a:xfrm>
                <a:off x="140" y="674"/>
                <a:ext cx="196" cy="3010"/>
                <a:chOff x="140" y="674"/>
                <a:chExt cx="196" cy="3010"/>
              </a:xfrm>
            </p:grpSpPr>
            <p:sp>
              <p:nvSpPr>
                <p:cNvPr id="137305" name="Text Box 244"/>
                <p:cNvSpPr txBox="1">
                  <a:spLocks noChangeArrowheads="1"/>
                </p:cNvSpPr>
                <p:nvPr/>
              </p:nvSpPr>
              <p:spPr bwMode="auto">
                <a:xfrm>
                  <a:off x="140" y="674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7306" name="Text Box 245"/>
                <p:cNvSpPr txBox="1">
                  <a:spLocks noChangeArrowheads="1"/>
                </p:cNvSpPr>
                <p:nvPr/>
              </p:nvSpPr>
              <p:spPr bwMode="auto">
                <a:xfrm>
                  <a:off x="140" y="933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7307" name="Text Box 246"/>
                <p:cNvSpPr txBox="1">
                  <a:spLocks noChangeArrowheads="1"/>
                </p:cNvSpPr>
                <p:nvPr/>
              </p:nvSpPr>
              <p:spPr bwMode="auto">
                <a:xfrm>
                  <a:off x="140" y="1192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7308" name="Text Box 247"/>
                <p:cNvSpPr txBox="1">
                  <a:spLocks noChangeArrowheads="1"/>
                </p:cNvSpPr>
                <p:nvPr/>
              </p:nvSpPr>
              <p:spPr bwMode="auto">
                <a:xfrm>
                  <a:off x="140" y="1451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7309" name="Text Box 248"/>
                <p:cNvSpPr txBox="1">
                  <a:spLocks noChangeArrowheads="1"/>
                </p:cNvSpPr>
                <p:nvPr/>
              </p:nvSpPr>
              <p:spPr bwMode="auto">
                <a:xfrm>
                  <a:off x="140" y="1710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7310" name="Text Box 249"/>
                <p:cNvSpPr txBox="1">
                  <a:spLocks noChangeArrowheads="1"/>
                </p:cNvSpPr>
                <p:nvPr/>
              </p:nvSpPr>
              <p:spPr bwMode="auto">
                <a:xfrm>
                  <a:off x="140" y="1970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7311" name="Text Box 250"/>
                <p:cNvSpPr txBox="1">
                  <a:spLocks noChangeArrowheads="1"/>
                </p:cNvSpPr>
                <p:nvPr/>
              </p:nvSpPr>
              <p:spPr bwMode="auto">
                <a:xfrm>
                  <a:off x="140" y="2657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7312" name="Text Box 251"/>
                <p:cNvSpPr txBox="1">
                  <a:spLocks noChangeArrowheads="1"/>
                </p:cNvSpPr>
                <p:nvPr/>
              </p:nvSpPr>
              <p:spPr bwMode="auto">
                <a:xfrm>
                  <a:off x="140" y="2916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7313" name="Text Box 252"/>
                <p:cNvSpPr txBox="1">
                  <a:spLocks noChangeArrowheads="1"/>
                </p:cNvSpPr>
                <p:nvPr/>
              </p:nvSpPr>
              <p:spPr bwMode="auto">
                <a:xfrm>
                  <a:off x="140" y="3175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7314" name="Text Box 253"/>
                <p:cNvSpPr txBox="1">
                  <a:spLocks noChangeArrowheads="1"/>
                </p:cNvSpPr>
                <p:nvPr/>
              </p:nvSpPr>
              <p:spPr bwMode="auto">
                <a:xfrm>
                  <a:off x="140" y="3434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</p:grpSp>
        </p:grpSp>
        <p:grpSp>
          <p:nvGrpSpPr>
            <p:cNvPr id="137278" name="Group 254"/>
            <p:cNvGrpSpPr/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137279" name="Group 255"/>
              <p:cNvGrpSpPr/>
              <p:nvPr/>
            </p:nvGrpSpPr>
            <p:grpSpPr bwMode="auto">
              <a:xfrm>
                <a:off x="902" y="857"/>
                <a:ext cx="4567" cy="430"/>
                <a:chOff x="902" y="857"/>
                <a:chExt cx="4567" cy="430"/>
              </a:xfrm>
            </p:grpSpPr>
            <p:grpSp>
              <p:nvGrpSpPr>
                <p:cNvPr id="137284" name="Group 256"/>
                <p:cNvGrpSpPr/>
                <p:nvPr/>
              </p:nvGrpSpPr>
              <p:grpSpPr bwMode="auto">
                <a:xfrm>
                  <a:off x="1152" y="1013"/>
                  <a:ext cx="4317" cy="274"/>
                  <a:chOff x="1176" y="1068"/>
                  <a:chExt cx="4317" cy="274"/>
                </a:xfrm>
              </p:grpSpPr>
              <p:sp>
                <p:nvSpPr>
                  <p:cNvPr id="137295" name="Rectangle 257"/>
                  <p:cNvSpPr>
                    <a:spLocks noChangeArrowheads="1"/>
                  </p:cNvSpPr>
                  <p:nvPr/>
                </p:nvSpPr>
                <p:spPr bwMode="auto">
                  <a:xfrm>
                    <a:off x="175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15</a:t>
                    </a:r>
                  </a:p>
                </p:txBody>
              </p:sp>
              <p:sp>
                <p:nvSpPr>
                  <p:cNvPr id="137296" name="Rectangle 258"/>
                  <p:cNvSpPr>
                    <a:spLocks noChangeArrowheads="1"/>
                  </p:cNvSpPr>
                  <p:nvPr/>
                </p:nvSpPr>
                <p:spPr bwMode="auto">
                  <a:xfrm>
                    <a:off x="117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37297" name="Rectangle 259"/>
                  <p:cNvSpPr>
                    <a:spLocks noChangeArrowheads="1"/>
                  </p:cNvSpPr>
                  <p:nvPr/>
                </p:nvSpPr>
                <p:spPr bwMode="auto">
                  <a:xfrm>
                    <a:off x="289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31</a:t>
                    </a:r>
                  </a:p>
                </p:txBody>
              </p:sp>
              <p:sp>
                <p:nvSpPr>
                  <p:cNvPr id="137298" name="Rectangle 260"/>
                  <p:cNvSpPr>
                    <a:spLocks noChangeArrowheads="1"/>
                  </p:cNvSpPr>
                  <p:nvPr/>
                </p:nvSpPr>
                <p:spPr bwMode="auto">
                  <a:xfrm>
                    <a:off x="231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sp>
                <p:nvSpPr>
                  <p:cNvPr id="137299" name="Rectangle 261"/>
                  <p:cNvSpPr>
                    <a:spLocks noChangeArrowheads="1"/>
                  </p:cNvSpPr>
                  <p:nvPr/>
                </p:nvSpPr>
                <p:spPr bwMode="auto">
                  <a:xfrm>
                    <a:off x="4067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47</a:t>
                    </a:r>
                  </a:p>
                </p:txBody>
              </p:sp>
              <p:sp>
                <p:nvSpPr>
                  <p:cNvPr id="137300" name="Rectangle 262"/>
                  <p:cNvSpPr>
                    <a:spLocks noChangeArrowheads="1"/>
                  </p:cNvSpPr>
                  <p:nvPr/>
                </p:nvSpPr>
                <p:spPr bwMode="auto">
                  <a:xfrm>
                    <a:off x="3491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32</a:t>
                    </a:r>
                  </a:p>
                </p:txBody>
              </p:sp>
              <p:sp>
                <p:nvSpPr>
                  <p:cNvPr id="137301" name="Rectangle 263"/>
                  <p:cNvSpPr>
                    <a:spLocks noChangeArrowheads="1"/>
                  </p:cNvSpPr>
                  <p:nvPr/>
                </p:nvSpPr>
                <p:spPr bwMode="auto">
                  <a:xfrm>
                    <a:off x="5205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63</a:t>
                    </a:r>
                  </a:p>
                </p:txBody>
              </p:sp>
              <p:sp>
                <p:nvSpPr>
                  <p:cNvPr id="137302" name="Rectangle 264"/>
                  <p:cNvSpPr>
                    <a:spLocks noChangeArrowheads="1"/>
                  </p:cNvSpPr>
                  <p:nvPr/>
                </p:nvSpPr>
                <p:spPr bwMode="auto">
                  <a:xfrm>
                    <a:off x="462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48</a:t>
                    </a:r>
                  </a:p>
                </p:txBody>
              </p:sp>
            </p:grpSp>
            <p:grpSp>
              <p:nvGrpSpPr>
                <p:cNvPr id="137285" name="Group 265"/>
                <p:cNvGrpSpPr/>
                <p:nvPr/>
              </p:nvGrpSpPr>
              <p:grpSpPr bwMode="auto">
                <a:xfrm>
                  <a:off x="902" y="857"/>
                  <a:ext cx="4419" cy="145"/>
                  <a:chOff x="902" y="857"/>
                  <a:chExt cx="4419" cy="145"/>
                </a:xfrm>
              </p:grpSpPr>
              <p:sp>
                <p:nvSpPr>
                  <p:cNvPr id="137286" name="Freeform 266"/>
                  <p:cNvSpPr/>
                  <p:nvPr/>
                </p:nvSpPr>
                <p:spPr bwMode="auto">
                  <a:xfrm>
                    <a:off x="902" y="857"/>
                    <a:ext cx="4419" cy="1"/>
                  </a:xfrm>
                  <a:custGeom>
                    <a:avLst/>
                    <a:gdLst>
                      <a:gd name="T0" fmla="*/ 0 w 4419"/>
                      <a:gd name="T1" fmla="*/ 1 h 1"/>
                      <a:gd name="T2" fmla="*/ 4419 w 4419"/>
                      <a:gd name="T3" fmla="*/ 0 h 1"/>
                      <a:gd name="T4" fmla="*/ 0 60000 65536"/>
                      <a:gd name="T5" fmla="*/ 0 60000 65536"/>
                      <a:gd name="T6" fmla="*/ 0 w 4419"/>
                      <a:gd name="T7" fmla="*/ 0 h 1"/>
                      <a:gd name="T8" fmla="*/ 4419 w 441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9" h="1">
                        <a:moveTo>
                          <a:pt x="0" y="1"/>
                        </a:moveTo>
                        <a:lnTo>
                          <a:pt x="4419" y="0"/>
                        </a:lnTo>
                      </a:path>
                    </a:pathLst>
                  </a:custGeom>
                  <a:noFill/>
                  <a:ln w="76200" cmpd="sng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7287" name="Line 267"/>
                  <p:cNvSpPr>
                    <a:spLocks noChangeShapeType="1"/>
                  </p:cNvSpPr>
                  <p:nvPr/>
                </p:nvSpPr>
                <p:spPr bwMode="auto">
                  <a:xfrm>
                    <a:off x="127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7288" name="Line 268"/>
                  <p:cNvSpPr>
                    <a:spLocks noChangeShapeType="1"/>
                  </p:cNvSpPr>
                  <p:nvPr/>
                </p:nvSpPr>
                <p:spPr bwMode="auto">
                  <a:xfrm>
                    <a:off x="184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7289" name="Line 269"/>
                  <p:cNvSpPr>
                    <a:spLocks noChangeShapeType="1"/>
                  </p:cNvSpPr>
                  <p:nvPr/>
                </p:nvSpPr>
                <p:spPr bwMode="auto">
                  <a:xfrm>
                    <a:off x="242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7290" name="Line 270"/>
                  <p:cNvSpPr>
                    <a:spLocks noChangeShapeType="1"/>
                  </p:cNvSpPr>
                  <p:nvPr/>
                </p:nvSpPr>
                <p:spPr bwMode="auto">
                  <a:xfrm>
                    <a:off x="3000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7291" name="Line 271"/>
                  <p:cNvSpPr>
                    <a:spLocks noChangeShapeType="1"/>
                  </p:cNvSpPr>
                  <p:nvPr/>
                </p:nvSpPr>
                <p:spPr bwMode="auto">
                  <a:xfrm>
                    <a:off x="3576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7292" name="Line 272"/>
                  <p:cNvSpPr>
                    <a:spLocks noChangeShapeType="1"/>
                  </p:cNvSpPr>
                  <p:nvPr/>
                </p:nvSpPr>
                <p:spPr bwMode="auto">
                  <a:xfrm>
                    <a:off x="415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7293" name="Line 273"/>
                  <p:cNvSpPr>
                    <a:spLocks noChangeShapeType="1"/>
                  </p:cNvSpPr>
                  <p:nvPr/>
                </p:nvSpPr>
                <p:spPr bwMode="auto">
                  <a:xfrm>
                    <a:off x="472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7294" name="Line 274"/>
                  <p:cNvSpPr>
                    <a:spLocks noChangeShapeType="1"/>
                  </p:cNvSpPr>
                  <p:nvPr/>
                </p:nvSpPr>
                <p:spPr bwMode="auto">
                  <a:xfrm>
                    <a:off x="530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137280" name="Text Box 275"/>
              <p:cNvSpPr txBox="1">
                <a:spLocks noChangeArrowheads="1"/>
              </p:cNvSpPr>
              <p:nvPr/>
            </p:nvSpPr>
            <p:spPr bwMode="auto">
              <a:xfrm>
                <a:off x="140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7281" name="Text Box 276"/>
              <p:cNvSpPr txBox="1">
                <a:spLocks noChangeArrowheads="1"/>
              </p:cNvSpPr>
              <p:nvPr/>
            </p:nvSpPr>
            <p:spPr bwMode="auto">
              <a:xfrm>
                <a:off x="254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7282" name="Text Box 277"/>
              <p:cNvSpPr txBox="1">
                <a:spLocks noChangeArrowheads="1"/>
              </p:cNvSpPr>
              <p:nvPr/>
            </p:nvSpPr>
            <p:spPr bwMode="auto">
              <a:xfrm>
                <a:off x="371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7283" name="Text Box 278"/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</p:grpSp>
      <p:grpSp>
        <p:nvGrpSpPr>
          <p:cNvPr id="17" name="Group 279"/>
          <p:cNvGrpSpPr/>
          <p:nvPr/>
        </p:nvGrpSpPr>
        <p:grpSpPr bwMode="auto">
          <a:xfrm>
            <a:off x="1028700" y="6175375"/>
            <a:ext cx="565150" cy="366713"/>
            <a:chOff x="648" y="3890"/>
            <a:chExt cx="356" cy="231"/>
          </a:xfrm>
        </p:grpSpPr>
        <p:sp>
          <p:nvSpPr>
            <p:cNvPr id="137275" name="Text Box 280"/>
            <p:cNvSpPr txBox="1">
              <a:spLocks noChangeArrowheads="1"/>
            </p:cNvSpPr>
            <p:nvPr/>
          </p:nvSpPr>
          <p:spPr bwMode="auto">
            <a:xfrm>
              <a:off x="648" y="3890"/>
              <a:ext cx="35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WE</a:t>
              </a:r>
              <a:endParaRPr lang="zh-CN" altLang="en-US" sz="1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7276" name="Line 281"/>
            <p:cNvSpPr>
              <a:spLocks noChangeShapeType="1"/>
            </p:cNvSpPr>
            <p:nvPr/>
          </p:nvSpPr>
          <p:spPr bwMode="auto">
            <a:xfrm>
              <a:off x="682" y="3922"/>
              <a:ext cx="288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8" name="Group 282"/>
          <p:cNvGrpSpPr/>
          <p:nvPr/>
        </p:nvGrpSpPr>
        <p:grpSpPr bwMode="auto">
          <a:xfrm>
            <a:off x="1060450" y="6391275"/>
            <a:ext cx="509588" cy="396875"/>
            <a:chOff x="668" y="4026"/>
            <a:chExt cx="321" cy="250"/>
          </a:xfrm>
        </p:grpSpPr>
        <p:sp>
          <p:nvSpPr>
            <p:cNvPr id="137273" name="Text Box 283"/>
            <p:cNvSpPr txBox="1">
              <a:spLocks noChangeArrowheads="1"/>
            </p:cNvSpPr>
            <p:nvPr/>
          </p:nvSpPr>
          <p:spPr bwMode="auto">
            <a:xfrm>
              <a:off x="668" y="4026"/>
              <a:ext cx="32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CS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7274" name="Line 284"/>
            <p:cNvSpPr>
              <a:spLocks noChangeShapeType="1"/>
            </p:cNvSpPr>
            <p:nvPr/>
          </p:nvSpPr>
          <p:spPr bwMode="auto">
            <a:xfrm>
              <a:off x="724" y="4078"/>
              <a:ext cx="192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9" name="Group 285"/>
          <p:cNvGrpSpPr/>
          <p:nvPr/>
        </p:nvGrpSpPr>
        <p:grpSpPr bwMode="auto">
          <a:xfrm>
            <a:off x="1452563" y="2617788"/>
            <a:ext cx="6613525" cy="1963737"/>
            <a:chOff x="915" y="1649"/>
            <a:chExt cx="4166" cy="1237"/>
          </a:xfrm>
        </p:grpSpPr>
        <p:grpSp>
          <p:nvGrpSpPr>
            <p:cNvPr id="137226" name="Group 286"/>
            <p:cNvGrpSpPr/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137235" name="Group 287"/>
              <p:cNvGrpSpPr/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137268" name="Freeform 288"/>
                <p:cNvSpPr/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269" name="Freeform 289"/>
                <p:cNvSpPr/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270" name="Freeform 290"/>
                <p:cNvSpPr/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  <a:gd name="T6" fmla="*/ 0 w 1"/>
                    <a:gd name="T7" fmla="*/ 0 h 176"/>
                    <a:gd name="T8" fmla="*/ 1 w 1"/>
                    <a:gd name="T9" fmla="*/ 176 h 17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271" name="Freeform 291"/>
                <p:cNvSpPr/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  <a:gd name="T6" fmla="*/ 0 w 1"/>
                    <a:gd name="T7" fmla="*/ 0 h 178"/>
                    <a:gd name="T8" fmla="*/ 1 w 1"/>
                    <a:gd name="T9" fmla="*/ 178 h 178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272" name="Freeform 292"/>
                <p:cNvSpPr/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  <a:gd name="T6" fmla="*/ 0 w 3858"/>
                    <a:gd name="T7" fmla="*/ 0 h 2"/>
                    <a:gd name="T8" fmla="*/ 3858 w 3858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7236" name="Group 293"/>
              <p:cNvGrpSpPr/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137261" name="Group 294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7266" name="Line 295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7267" name="Line 296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7262" name="Freeform 297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7263" name="Group 298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7264" name="Line 299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7265" name="Line 300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37237" name="Group 301"/>
              <p:cNvGrpSpPr/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137254" name="Group 302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7259" name="Line 303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7260" name="Line 304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7255" name="Freeform 305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7256" name="Group 306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7257" name="Line 307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7258" name="Line 308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37238" name="Group 309"/>
              <p:cNvGrpSpPr/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137247" name="Group 310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7252" name="Line 311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7253" name="Line 312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7248" name="Freeform 313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7249" name="Group 314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7250" name="Line 315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7251" name="Line 316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37239" name="Group 317"/>
              <p:cNvGrpSpPr/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137240" name="Group 318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7245" name="Line 319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7246" name="Line 320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7241" name="Freeform 321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7242" name="Group 322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7243" name="Line 323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7244" name="Line 324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</p:grpSp>
        <p:sp>
          <p:nvSpPr>
            <p:cNvPr id="137227" name="Rectangle 325"/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7228" name="Text Box 326"/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7229" name="Rectangle 327"/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37230" name="Rectangle 328"/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48</a:t>
              </a:r>
            </a:p>
          </p:txBody>
        </p:sp>
        <p:sp>
          <p:nvSpPr>
            <p:cNvPr id="137231" name="Rectangle 329"/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32</a:t>
              </a:r>
            </a:p>
          </p:txBody>
        </p:sp>
        <p:sp>
          <p:nvSpPr>
            <p:cNvPr id="137232" name="Text Box 330"/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7233" name="Text Box 331"/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7234" name="Text Box 332"/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137225" name="AutoShape 333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8242" name="Group 2"/>
          <p:cNvGrpSpPr/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138610" name="Line 3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8611" name="Freeform 4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8612" name="Line 5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8613" name="Freeform 6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8614" name="Line 7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8615" name="Text Box 8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</a:p>
          </p:txBody>
        </p:sp>
        <p:sp>
          <p:nvSpPr>
            <p:cNvPr id="138616" name="Text Box 9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</a:p>
          </p:txBody>
        </p:sp>
        <p:sp>
          <p:nvSpPr>
            <p:cNvPr id="138617" name="Text Box 10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</a:p>
          </p:txBody>
        </p:sp>
        <p:sp>
          <p:nvSpPr>
            <p:cNvPr id="138618" name="Text Box 11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</a:p>
          </p:txBody>
        </p:sp>
        <p:sp>
          <p:nvSpPr>
            <p:cNvPr id="138619" name="Line 12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8620" name="Line 13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8621" name="Line 14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8622" name="Line 15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8623" name="Line 16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8624" name="Line 17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8625" name="Line 18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8626" name="Line 19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26324" name="Rectangle 20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38244" name="Text Box 21"/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③ </a:t>
            </a:r>
            <a:r>
              <a:rPr lang="en-US" altLang="zh-CN" sz="3200">
                <a:latin typeface="Times New Roman" panose="02020603050405020304" pitchFamily="18" charset="0"/>
              </a:rPr>
              <a:t>Intel 2114</a:t>
            </a: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200">
                <a:latin typeface="Times New Roman" panose="02020603050405020304" pitchFamily="18" charset="0"/>
              </a:rPr>
              <a:t>矩阵 </a:t>
            </a:r>
            <a:r>
              <a:rPr lang="en-US" altLang="zh-CN" sz="3200">
                <a:latin typeface="Times New Roman" panose="02020603050405020304" pitchFamily="18" charset="0"/>
              </a:rPr>
              <a:t>(64 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>
                <a:latin typeface="Times New Roman" panose="02020603050405020304" pitchFamily="18" charset="0"/>
              </a:rPr>
              <a:t> 64)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</a:p>
        </p:txBody>
      </p:sp>
      <p:grpSp>
        <p:nvGrpSpPr>
          <p:cNvPr id="138245" name="Group 22"/>
          <p:cNvGrpSpPr/>
          <p:nvPr/>
        </p:nvGrpSpPr>
        <p:grpSpPr bwMode="auto">
          <a:xfrm>
            <a:off x="3086100" y="5599113"/>
            <a:ext cx="6057900" cy="336550"/>
            <a:chOff x="1944" y="3527"/>
            <a:chExt cx="3816" cy="212"/>
          </a:xfrm>
        </p:grpSpPr>
        <p:sp>
          <p:nvSpPr>
            <p:cNvPr id="138606" name="Text Box 23"/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38607" name="Text Box 24"/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138608" name="Text Box 25"/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138609" name="Text Box 26"/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4</a:t>
              </a:r>
            </a:p>
          </p:txBody>
        </p:sp>
      </p:grpSp>
      <p:grpSp>
        <p:nvGrpSpPr>
          <p:cNvPr id="138246" name="Group 27"/>
          <p:cNvGrpSpPr/>
          <p:nvPr/>
        </p:nvGrpSpPr>
        <p:grpSpPr bwMode="auto">
          <a:xfrm>
            <a:off x="1028700" y="6175375"/>
            <a:ext cx="565150" cy="366713"/>
            <a:chOff x="648" y="3890"/>
            <a:chExt cx="356" cy="231"/>
          </a:xfrm>
        </p:grpSpPr>
        <p:sp>
          <p:nvSpPr>
            <p:cNvPr id="138604" name="Text Box 28"/>
            <p:cNvSpPr txBox="1">
              <a:spLocks noChangeArrowheads="1"/>
            </p:cNvSpPr>
            <p:nvPr/>
          </p:nvSpPr>
          <p:spPr bwMode="auto">
            <a:xfrm>
              <a:off x="648" y="3890"/>
              <a:ext cx="35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WE</a:t>
              </a:r>
              <a:endParaRPr lang="zh-CN" altLang="en-US" sz="1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8605" name="Line 29"/>
            <p:cNvSpPr>
              <a:spLocks noChangeShapeType="1"/>
            </p:cNvSpPr>
            <p:nvPr/>
          </p:nvSpPr>
          <p:spPr bwMode="auto">
            <a:xfrm>
              <a:off x="682" y="3922"/>
              <a:ext cx="288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38247" name="Group 30"/>
          <p:cNvGrpSpPr/>
          <p:nvPr/>
        </p:nvGrpSpPr>
        <p:grpSpPr bwMode="auto">
          <a:xfrm>
            <a:off x="1060450" y="6391275"/>
            <a:ext cx="509588" cy="396875"/>
            <a:chOff x="668" y="4026"/>
            <a:chExt cx="321" cy="250"/>
          </a:xfrm>
        </p:grpSpPr>
        <p:sp>
          <p:nvSpPr>
            <p:cNvPr id="138602" name="Text Box 31"/>
            <p:cNvSpPr txBox="1">
              <a:spLocks noChangeArrowheads="1"/>
            </p:cNvSpPr>
            <p:nvPr/>
          </p:nvSpPr>
          <p:spPr bwMode="auto">
            <a:xfrm>
              <a:off x="668" y="4026"/>
              <a:ext cx="32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CS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8603" name="Line 32"/>
            <p:cNvSpPr>
              <a:spLocks noChangeShapeType="1"/>
            </p:cNvSpPr>
            <p:nvPr/>
          </p:nvSpPr>
          <p:spPr bwMode="auto">
            <a:xfrm>
              <a:off x="724" y="4078"/>
              <a:ext cx="192" cy="0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38248" name="Group 33"/>
          <p:cNvGrpSpPr/>
          <p:nvPr/>
        </p:nvGrpSpPr>
        <p:grpSpPr bwMode="auto">
          <a:xfrm>
            <a:off x="3117850" y="5932488"/>
            <a:ext cx="5773738" cy="0"/>
            <a:chOff x="1964" y="3737"/>
            <a:chExt cx="3637" cy="0"/>
          </a:xfrm>
        </p:grpSpPr>
        <p:sp>
          <p:nvSpPr>
            <p:cNvPr id="138598" name="Line 34"/>
            <p:cNvSpPr>
              <a:spLocks noChangeShapeType="1"/>
            </p:cNvSpPr>
            <p:nvPr/>
          </p:nvSpPr>
          <p:spPr bwMode="auto">
            <a:xfrm>
              <a:off x="1964" y="3737"/>
              <a:ext cx="181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8599" name="Line 35"/>
            <p:cNvSpPr>
              <a:spLocks noChangeShapeType="1"/>
            </p:cNvSpPr>
            <p:nvPr/>
          </p:nvSpPr>
          <p:spPr bwMode="auto">
            <a:xfrm>
              <a:off x="3144" y="3737"/>
              <a:ext cx="181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8600" name="Line 36"/>
            <p:cNvSpPr>
              <a:spLocks noChangeShapeType="1"/>
            </p:cNvSpPr>
            <p:nvPr/>
          </p:nvSpPr>
          <p:spPr bwMode="auto">
            <a:xfrm>
              <a:off x="4293" y="3737"/>
              <a:ext cx="181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8601" name="Line 37"/>
            <p:cNvSpPr>
              <a:spLocks noChangeShapeType="1"/>
            </p:cNvSpPr>
            <p:nvPr/>
          </p:nvSpPr>
          <p:spPr bwMode="auto">
            <a:xfrm>
              <a:off x="5420" y="3737"/>
              <a:ext cx="181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38249" name="Group 38"/>
          <p:cNvGrpSpPr/>
          <p:nvPr/>
        </p:nvGrpSpPr>
        <p:grpSpPr bwMode="auto">
          <a:xfrm>
            <a:off x="222250" y="1069975"/>
            <a:ext cx="8686800" cy="5483225"/>
            <a:chOff x="140" y="674"/>
            <a:chExt cx="5472" cy="3454"/>
          </a:xfrm>
        </p:grpSpPr>
        <p:grpSp>
          <p:nvGrpSpPr>
            <p:cNvPr id="138349" name="Group 39"/>
            <p:cNvGrpSpPr/>
            <p:nvPr/>
          </p:nvGrpSpPr>
          <p:grpSpPr bwMode="auto">
            <a:xfrm>
              <a:off x="140" y="674"/>
              <a:ext cx="5472" cy="3454"/>
              <a:chOff x="140" y="674"/>
              <a:chExt cx="5472" cy="3454"/>
            </a:xfrm>
          </p:grpSpPr>
          <p:grpSp>
            <p:nvGrpSpPr>
              <p:cNvPr id="138375" name="Group 40"/>
              <p:cNvGrpSpPr/>
              <p:nvPr/>
            </p:nvGrpSpPr>
            <p:grpSpPr bwMode="auto">
              <a:xfrm>
                <a:off x="140" y="713"/>
                <a:ext cx="5472" cy="3415"/>
                <a:chOff x="140" y="713"/>
                <a:chExt cx="5472" cy="3415"/>
              </a:xfrm>
            </p:grpSpPr>
            <p:sp>
              <p:nvSpPr>
                <p:cNvPr id="138387" name="Rectangle 41"/>
                <p:cNvSpPr>
                  <a:spLocks noChangeArrowheads="1"/>
                </p:cNvSpPr>
                <p:nvPr/>
              </p:nvSpPr>
              <p:spPr bwMode="auto">
                <a:xfrm>
                  <a:off x="332" y="713"/>
                  <a:ext cx="576" cy="3168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38388" name="Rectangle 42"/>
                <p:cNvSpPr>
                  <a:spLocks noChangeArrowheads="1"/>
                </p:cNvSpPr>
                <p:nvPr/>
              </p:nvSpPr>
              <p:spPr bwMode="auto">
                <a:xfrm>
                  <a:off x="1728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15</a:t>
                  </a:r>
                </a:p>
              </p:txBody>
            </p:sp>
            <p:sp>
              <p:nvSpPr>
                <p:cNvPr id="138389" name="Text Box 43"/>
                <p:cNvSpPr txBox="1">
                  <a:spLocks noChangeArrowheads="1"/>
                </p:cNvSpPr>
                <p:nvPr/>
              </p:nvSpPr>
              <p:spPr bwMode="auto">
                <a:xfrm>
                  <a:off x="1408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38390" name="Rectangle 44"/>
                <p:cNvSpPr>
                  <a:spLocks noChangeArrowheads="1"/>
                </p:cNvSpPr>
                <p:nvPr/>
              </p:nvSpPr>
              <p:spPr bwMode="auto">
                <a:xfrm>
                  <a:off x="1152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8391" name="Rectangle 45"/>
                <p:cNvSpPr>
                  <a:spLocks noChangeArrowheads="1"/>
                </p:cNvSpPr>
                <p:nvPr/>
              </p:nvSpPr>
              <p:spPr bwMode="auto">
                <a:xfrm>
                  <a:off x="2869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31</a:t>
                  </a:r>
                </a:p>
              </p:txBody>
            </p:sp>
            <p:sp>
              <p:nvSpPr>
                <p:cNvPr id="138392" name="Text Box 46"/>
                <p:cNvSpPr txBox="1">
                  <a:spLocks noChangeArrowheads="1"/>
                </p:cNvSpPr>
                <p:nvPr/>
              </p:nvSpPr>
              <p:spPr bwMode="auto">
                <a:xfrm>
                  <a:off x="2549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38393" name="Rectangle 47"/>
                <p:cNvSpPr>
                  <a:spLocks noChangeArrowheads="1"/>
                </p:cNvSpPr>
                <p:nvPr/>
              </p:nvSpPr>
              <p:spPr bwMode="auto">
                <a:xfrm>
                  <a:off x="2293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16</a:t>
                  </a:r>
                </a:p>
              </p:txBody>
            </p:sp>
            <p:sp>
              <p:nvSpPr>
                <p:cNvPr id="138394" name="Rectangle 48"/>
                <p:cNvSpPr>
                  <a:spLocks noChangeArrowheads="1"/>
                </p:cNvSpPr>
                <p:nvPr/>
              </p:nvSpPr>
              <p:spPr bwMode="auto">
                <a:xfrm>
                  <a:off x="4044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47</a:t>
                  </a:r>
                </a:p>
              </p:txBody>
            </p:sp>
            <p:sp>
              <p:nvSpPr>
                <p:cNvPr id="138395" name="Text Box 49"/>
                <p:cNvSpPr txBox="1">
                  <a:spLocks noChangeArrowheads="1"/>
                </p:cNvSpPr>
                <p:nvPr/>
              </p:nvSpPr>
              <p:spPr bwMode="auto">
                <a:xfrm>
                  <a:off x="3724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38396" name="Rectangle 50"/>
                <p:cNvSpPr>
                  <a:spLocks noChangeArrowheads="1"/>
                </p:cNvSpPr>
                <p:nvPr/>
              </p:nvSpPr>
              <p:spPr bwMode="auto">
                <a:xfrm>
                  <a:off x="3468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32</a:t>
                  </a:r>
                </a:p>
              </p:txBody>
            </p:sp>
            <p:sp>
              <p:nvSpPr>
                <p:cNvPr id="138397" name="Rectangle 51"/>
                <p:cNvSpPr>
                  <a:spLocks noChangeArrowheads="1"/>
                </p:cNvSpPr>
                <p:nvPr/>
              </p:nvSpPr>
              <p:spPr bwMode="auto">
                <a:xfrm>
                  <a:off x="5180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63</a:t>
                  </a:r>
                </a:p>
              </p:txBody>
            </p:sp>
            <p:sp>
              <p:nvSpPr>
                <p:cNvPr id="138398" name="Text Box 52"/>
                <p:cNvSpPr txBox="1">
                  <a:spLocks noChangeArrowheads="1"/>
                </p:cNvSpPr>
                <p:nvPr/>
              </p:nvSpPr>
              <p:spPr bwMode="auto">
                <a:xfrm>
                  <a:off x="4860" y="87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38399" name="Rectangle 53"/>
                <p:cNvSpPr>
                  <a:spLocks noChangeArrowheads="1"/>
                </p:cNvSpPr>
                <p:nvPr/>
              </p:nvSpPr>
              <p:spPr bwMode="auto">
                <a:xfrm>
                  <a:off x="4604" y="1014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48</a:t>
                  </a:r>
                </a:p>
              </p:txBody>
            </p:sp>
            <p:sp>
              <p:nvSpPr>
                <p:cNvPr id="138400" name="Rectangle 54"/>
                <p:cNvSpPr>
                  <a:spLocks noChangeArrowheads="1"/>
                </p:cNvSpPr>
                <p:nvPr/>
              </p:nvSpPr>
              <p:spPr bwMode="auto">
                <a:xfrm>
                  <a:off x="1728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15</a:t>
                  </a:r>
                </a:p>
              </p:txBody>
            </p:sp>
            <p:sp>
              <p:nvSpPr>
                <p:cNvPr id="138401" name="Rectangle 55"/>
                <p:cNvSpPr>
                  <a:spLocks noChangeArrowheads="1"/>
                </p:cNvSpPr>
                <p:nvPr/>
              </p:nvSpPr>
              <p:spPr bwMode="auto">
                <a:xfrm>
                  <a:off x="1152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8402" name="Rectangle 56"/>
                <p:cNvSpPr>
                  <a:spLocks noChangeArrowheads="1"/>
                </p:cNvSpPr>
                <p:nvPr/>
              </p:nvSpPr>
              <p:spPr bwMode="auto">
                <a:xfrm>
                  <a:off x="2869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31</a:t>
                  </a:r>
                </a:p>
              </p:txBody>
            </p:sp>
            <p:sp>
              <p:nvSpPr>
                <p:cNvPr id="138403" name="Rectangle 57"/>
                <p:cNvSpPr>
                  <a:spLocks noChangeArrowheads="1"/>
                </p:cNvSpPr>
                <p:nvPr/>
              </p:nvSpPr>
              <p:spPr bwMode="auto">
                <a:xfrm>
                  <a:off x="2293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16</a:t>
                  </a:r>
                </a:p>
              </p:txBody>
            </p:sp>
            <p:sp>
              <p:nvSpPr>
                <p:cNvPr id="138404" name="Rectangle 58"/>
                <p:cNvSpPr>
                  <a:spLocks noChangeArrowheads="1"/>
                </p:cNvSpPr>
                <p:nvPr/>
              </p:nvSpPr>
              <p:spPr bwMode="auto">
                <a:xfrm>
                  <a:off x="4044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47</a:t>
                  </a:r>
                </a:p>
              </p:txBody>
            </p:sp>
            <p:sp>
              <p:nvSpPr>
                <p:cNvPr id="138405" name="Rectangle 59"/>
                <p:cNvSpPr>
                  <a:spLocks noChangeArrowheads="1"/>
                </p:cNvSpPr>
                <p:nvPr/>
              </p:nvSpPr>
              <p:spPr bwMode="auto">
                <a:xfrm>
                  <a:off x="3468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32</a:t>
                  </a:r>
                </a:p>
              </p:txBody>
            </p:sp>
            <p:sp>
              <p:nvSpPr>
                <p:cNvPr id="138406" name="Rectangle 60"/>
                <p:cNvSpPr>
                  <a:spLocks noChangeArrowheads="1"/>
                </p:cNvSpPr>
                <p:nvPr/>
              </p:nvSpPr>
              <p:spPr bwMode="auto">
                <a:xfrm>
                  <a:off x="5180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63</a:t>
                  </a:r>
                </a:p>
              </p:txBody>
            </p:sp>
            <p:sp>
              <p:nvSpPr>
                <p:cNvPr id="138407" name="Rectangle 61"/>
                <p:cNvSpPr>
                  <a:spLocks noChangeArrowheads="1"/>
                </p:cNvSpPr>
                <p:nvPr/>
              </p:nvSpPr>
              <p:spPr bwMode="auto">
                <a:xfrm>
                  <a:off x="4604" y="2215"/>
                  <a:ext cx="288" cy="274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lIns="0" rIns="0"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48</a:t>
                  </a:r>
                </a:p>
              </p:txBody>
            </p:sp>
            <p:sp>
              <p:nvSpPr>
                <p:cNvPr id="138408" name="Line 62"/>
                <p:cNvSpPr>
                  <a:spLocks noChangeShapeType="1"/>
                </p:cNvSpPr>
                <p:nvPr/>
              </p:nvSpPr>
              <p:spPr bwMode="auto">
                <a:xfrm rot="5400000">
                  <a:off x="1325" y="2712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09" name="Line 63"/>
                <p:cNvSpPr>
                  <a:spLocks noChangeShapeType="1"/>
                </p:cNvSpPr>
                <p:nvPr/>
              </p:nvSpPr>
              <p:spPr bwMode="auto">
                <a:xfrm rot="5400000">
                  <a:off x="1308" y="2710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10" name="Freeform 64"/>
                <p:cNvSpPr/>
                <p:nvPr/>
              </p:nvSpPr>
              <p:spPr bwMode="auto">
                <a:xfrm>
                  <a:off x="1260" y="2709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11" name="Line 65"/>
                <p:cNvSpPr>
                  <a:spLocks noChangeShapeType="1"/>
                </p:cNvSpPr>
                <p:nvPr/>
              </p:nvSpPr>
              <p:spPr bwMode="auto">
                <a:xfrm rot="-5400000">
                  <a:off x="1133" y="2712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12" name="Line 66"/>
                <p:cNvSpPr>
                  <a:spLocks noChangeShapeType="1"/>
                </p:cNvSpPr>
                <p:nvPr/>
              </p:nvSpPr>
              <p:spPr bwMode="auto">
                <a:xfrm rot="-5400000">
                  <a:off x="1212" y="2714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13" name="Freeform 67"/>
                <p:cNvSpPr/>
                <p:nvPr/>
              </p:nvSpPr>
              <p:spPr bwMode="auto">
                <a:xfrm>
                  <a:off x="1434" y="2353"/>
                  <a:ext cx="112" cy="1"/>
                </a:xfrm>
                <a:custGeom>
                  <a:avLst/>
                  <a:gdLst>
                    <a:gd name="T0" fmla="*/ 0 w 112"/>
                    <a:gd name="T1" fmla="*/ 0 h 1"/>
                    <a:gd name="T2" fmla="*/ 112 w 112"/>
                    <a:gd name="T3" fmla="*/ 0 h 1"/>
                    <a:gd name="T4" fmla="*/ 0 60000 65536"/>
                    <a:gd name="T5" fmla="*/ 0 60000 65536"/>
                    <a:gd name="T6" fmla="*/ 0 w 112"/>
                    <a:gd name="T7" fmla="*/ 0 h 1"/>
                    <a:gd name="T8" fmla="*/ 112 w 11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12" h="1">
                      <a:moveTo>
                        <a:pt x="0" y="0"/>
                      </a:moveTo>
                      <a:lnTo>
                        <a:pt x="112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14" name="Freeform 68"/>
                <p:cNvSpPr/>
                <p:nvPr/>
              </p:nvSpPr>
              <p:spPr bwMode="auto">
                <a:xfrm>
                  <a:off x="1059" y="1209"/>
                  <a:ext cx="152" cy="1469"/>
                </a:xfrm>
                <a:custGeom>
                  <a:avLst/>
                  <a:gdLst>
                    <a:gd name="T0" fmla="*/ 152 w 152"/>
                    <a:gd name="T1" fmla="*/ 1469 h 1469"/>
                    <a:gd name="T2" fmla="*/ 0 w 152"/>
                    <a:gd name="T3" fmla="*/ 1469 h 1469"/>
                    <a:gd name="T4" fmla="*/ 0 w 152"/>
                    <a:gd name="T5" fmla="*/ 0 h 1469"/>
                    <a:gd name="T6" fmla="*/ 95 w 152"/>
                    <a:gd name="T7" fmla="*/ 1 h 1469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"/>
                    <a:gd name="T13" fmla="*/ 0 h 1469"/>
                    <a:gd name="T14" fmla="*/ 152 w 152"/>
                    <a:gd name="T15" fmla="*/ 1469 h 1469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" h="1469">
                      <a:moveTo>
                        <a:pt x="152" y="1469"/>
                      </a:moveTo>
                      <a:lnTo>
                        <a:pt x="0" y="1469"/>
                      </a:lnTo>
                      <a:lnTo>
                        <a:pt x="0" y="0"/>
                      </a:lnTo>
                      <a:lnTo>
                        <a:pt x="95" y="1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15" name="Freeform 69"/>
                <p:cNvSpPr/>
                <p:nvPr/>
              </p:nvSpPr>
              <p:spPr bwMode="auto">
                <a:xfrm>
                  <a:off x="1055" y="2353"/>
                  <a:ext cx="102" cy="1"/>
                </a:xfrm>
                <a:custGeom>
                  <a:avLst/>
                  <a:gdLst>
                    <a:gd name="T0" fmla="*/ 102 w 102"/>
                    <a:gd name="T1" fmla="*/ 0 h 1"/>
                    <a:gd name="T2" fmla="*/ 0 w 102"/>
                    <a:gd name="T3" fmla="*/ 0 h 1"/>
                    <a:gd name="T4" fmla="*/ 0 60000 65536"/>
                    <a:gd name="T5" fmla="*/ 0 60000 65536"/>
                    <a:gd name="T6" fmla="*/ 0 w 102"/>
                    <a:gd name="T7" fmla="*/ 0 h 1"/>
                    <a:gd name="T8" fmla="*/ 102 w 1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2" h="1">
                      <a:moveTo>
                        <a:pt x="102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16" name="Line 70"/>
                <p:cNvSpPr>
                  <a:spLocks noChangeShapeType="1"/>
                </p:cNvSpPr>
                <p:nvPr/>
              </p:nvSpPr>
              <p:spPr bwMode="auto">
                <a:xfrm rot="5400000">
                  <a:off x="1896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17" name="Line 71"/>
                <p:cNvSpPr>
                  <a:spLocks noChangeShapeType="1"/>
                </p:cNvSpPr>
                <p:nvPr/>
              </p:nvSpPr>
              <p:spPr bwMode="auto">
                <a:xfrm rot="5400000">
                  <a:off x="1879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18" name="Freeform 72"/>
                <p:cNvSpPr/>
                <p:nvPr/>
              </p:nvSpPr>
              <p:spPr bwMode="auto">
                <a:xfrm>
                  <a:off x="1831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19" name="Line 73"/>
                <p:cNvSpPr>
                  <a:spLocks noChangeShapeType="1"/>
                </p:cNvSpPr>
                <p:nvPr/>
              </p:nvSpPr>
              <p:spPr bwMode="auto">
                <a:xfrm rot="-5400000">
                  <a:off x="1704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20" name="Line 74"/>
                <p:cNvSpPr>
                  <a:spLocks noChangeShapeType="1"/>
                </p:cNvSpPr>
                <p:nvPr/>
              </p:nvSpPr>
              <p:spPr bwMode="auto">
                <a:xfrm rot="-5400000">
                  <a:off x="1783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21" name="Freeform 75"/>
                <p:cNvSpPr/>
                <p:nvPr/>
              </p:nvSpPr>
              <p:spPr bwMode="auto">
                <a:xfrm>
                  <a:off x="2005" y="2353"/>
                  <a:ext cx="103" cy="1"/>
                </a:xfrm>
                <a:custGeom>
                  <a:avLst/>
                  <a:gdLst>
                    <a:gd name="T0" fmla="*/ 0 w 103"/>
                    <a:gd name="T1" fmla="*/ 0 h 1"/>
                    <a:gd name="T2" fmla="*/ 103 w 103"/>
                    <a:gd name="T3" fmla="*/ 0 h 1"/>
                    <a:gd name="T4" fmla="*/ 0 60000 65536"/>
                    <a:gd name="T5" fmla="*/ 0 60000 65536"/>
                    <a:gd name="T6" fmla="*/ 0 w 103"/>
                    <a:gd name="T7" fmla="*/ 0 h 1"/>
                    <a:gd name="T8" fmla="*/ 103 w 103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3" h="1">
                      <a:moveTo>
                        <a:pt x="0" y="0"/>
                      </a:moveTo>
                      <a:lnTo>
                        <a:pt x="103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22" name="Freeform 76"/>
                <p:cNvSpPr/>
                <p:nvPr/>
              </p:nvSpPr>
              <p:spPr bwMode="auto">
                <a:xfrm>
                  <a:off x="1611" y="2352"/>
                  <a:ext cx="113" cy="1"/>
                </a:xfrm>
                <a:custGeom>
                  <a:avLst/>
                  <a:gdLst>
                    <a:gd name="T0" fmla="*/ 113 w 113"/>
                    <a:gd name="T1" fmla="*/ 1 h 1"/>
                    <a:gd name="T2" fmla="*/ 0 w 113"/>
                    <a:gd name="T3" fmla="*/ 0 h 1"/>
                    <a:gd name="T4" fmla="*/ 0 60000 65536"/>
                    <a:gd name="T5" fmla="*/ 0 60000 65536"/>
                    <a:gd name="T6" fmla="*/ 0 w 113"/>
                    <a:gd name="T7" fmla="*/ 0 h 1"/>
                    <a:gd name="T8" fmla="*/ 113 w 113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13" h="1">
                      <a:moveTo>
                        <a:pt x="113" y="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23" name="Line 77"/>
                <p:cNvSpPr>
                  <a:spLocks noChangeShapeType="1"/>
                </p:cNvSpPr>
                <p:nvPr/>
              </p:nvSpPr>
              <p:spPr bwMode="auto">
                <a:xfrm rot="5400000">
                  <a:off x="2477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24" name="Line 78"/>
                <p:cNvSpPr>
                  <a:spLocks noChangeShapeType="1"/>
                </p:cNvSpPr>
                <p:nvPr/>
              </p:nvSpPr>
              <p:spPr bwMode="auto">
                <a:xfrm rot="5400000">
                  <a:off x="2460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25" name="Freeform 79"/>
                <p:cNvSpPr/>
                <p:nvPr/>
              </p:nvSpPr>
              <p:spPr bwMode="auto">
                <a:xfrm>
                  <a:off x="2412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26" name="Line 80"/>
                <p:cNvSpPr>
                  <a:spLocks noChangeShapeType="1"/>
                </p:cNvSpPr>
                <p:nvPr/>
              </p:nvSpPr>
              <p:spPr bwMode="auto">
                <a:xfrm rot="-5400000">
                  <a:off x="2285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27" name="Line 81"/>
                <p:cNvSpPr>
                  <a:spLocks noChangeShapeType="1"/>
                </p:cNvSpPr>
                <p:nvPr/>
              </p:nvSpPr>
              <p:spPr bwMode="auto">
                <a:xfrm rot="-5400000">
                  <a:off x="2364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28" name="Freeform 82"/>
                <p:cNvSpPr/>
                <p:nvPr/>
              </p:nvSpPr>
              <p:spPr bwMode="auto">
                <a:xfrm>
                  <a:off x="2586" y="2353"/>
                  <a:ext cx="109" cy="1"/>
                </a:xfrm>
                <a:custGeom>
                  <a:avLst/>
                  <a:gdLst>
                    <a:gd name="T0" fmla="*/ 0 w 109"/>
                    <a:gd name="T1" fmla="*/ 0 h 1"/>
                    <a:gd name="T2" fmla="*/ 109 w 109"/>
                    <a:gd name="T3" fmla="*/ 0 h 1"/>
                    <a:gd name="T4" fmla="*/ 0 60000 65536"/>
                    <a:gd name="T5" fmla="*/ 0 60000 65536"/>
                    <a:gd name="T6" fmla="*/ 0 w 109"/>
                    <a:gd name="T7" fmla="*/ 0 h 1"/>
                    <a:gd name="T8" fmla="*/ 109 w 109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9" h="1">
                      <a:moveTo>
                        <a:pt x="0" y="0"/>
                      </a:moveTo>
                      <a:lnTo>
                        <a:pt x="109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29" name="Freeform 83"/>
                <p:cNvSpPr/>
                <p:nvPr/>
              </p:nvSpPr>
              <p:spPr bwMode="auto">
                <a:xfrm>
                  <a:off x="2207" y="2353"/>
                  <a:ext cx="89" cy="1"/>
                </a:xfrm>
                <a:custGeom>
                  <a:avLst/>
                  <a:gdLst>
                    <a:gd name="T0" fmla="*/ 89 w 89"/>
                    <a:gd name="T1" fmla="*/ 0 h 1"/>
                    <a:gd name="T2" fmla="*/ 0 w 89"/>
                    <a:gd name="T3" fmla="*/ 0 h 1"/>
                    <a:gd name="T4" fmla="*/ 0 60000 65536"/>
                    <a:gd name="T5" fmla="*/ 0 60000 65536"/>
                    <a:gd name="T6" fmla="*/ 0 w 89"/>
                    <a:gd name="T7" fmla="*/ 0 h 1"/>
                    <a:gd name="T8" fmla="*/ 89 w 89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89" h="1">
                      <a:moveTo>
                        <a:pt x="89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30" name="Line 84"/>
                <p:cNvSpPr>
                  <a:spLocks noChangeShapeType="1"/>
                </p:cNvSpPr>
                <p:nvPr/>
              </p:nvSpPr>
              <p:spPr bwMode="auto">
                <a:xfrm rot="5400000">
                  <a:off x="3053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31" name="Line 85"/>
                <p:cNvSpPr>
                  <a:spLocks noChangeShapeType="1"/>
                </p:cNvSpPr>
                <p:nvPr/>
              </p:nvSpPr>
              <p:spPr bwMode="auto">
                <a:xfrm rot="5400000">
                  <a:off x="3036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32" name="Freeform 86"/>
                <p:cNvSpPr/>
                <p:nvPr/>
              </p:nvSpPr>
              <p:spPr bwMode="auto">
                <a:xfrm>
                  <a:off x="2988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33" name="Line 87"/>
                <p:cNvSpPr>
                  <a:spLocks noChangeShapeType="1"/>
                </p:cNvSpPr>
                <p:nvPr/>
              </p:nvSpPr>
              <p:spPr bwMode="auto">
                <a:xfrm rot="-5400000">
                  <a:off x="2861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34" name="Line 88"/>
                <p:cNvSpPr>
                  <a:spLocks noChangeShapeType="1"/>
                </p:cNvSpPr>
                <p:nvPr/>
              </p:nvSpPr>
              <p:spPr bwMode="auto">
                <a:xfrm rot="-5400000">
                  <a:off x="2940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35" name="Freeform 89"/>
                <p:cNvSpPr/>
                <p:nvPr/>
              </p:nvSpPr>
              <p:spPr bwMode="auto">
                <a:xfrm>
                  <a:off x="3162" y="2353"/>
                  <a:ext cx="115" cy="1"/>
                </a:xfrm>
                <a:custGeom>
                  <a:avLst/>
                  <a:gdLst>
                    <a:gd name="T0" fmla="*/ 0 w 115"/>
                    <a:gd name="T1" fmla="*/ 0 h 1"/>
                    <a:gd name="T2" fmla="*/ 115 w 115"/>
                    <a:gd name="T3" fmla="*/ 0 h 1"/>
                    <a:gd name="T4" fmla="*/ 0 60000 65536"/>
                    <a:gd name="T5" fmla="*/ 0 60000 65536"/>
                    <a:gd name="T6" fmla="*/ 0 w 115"/>
                    <a:gd name="T7" fmla="*/ 0 h 1"/>
                    <a:gd name="T8" fmla="*/ 115 w 115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15" h="1">
                      <a:moveTo>
                        <a:pt x="0" y="0"/>
                      </a:moveTo>
                      <a:lnTo>
                        <a:pt x="115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36" name="Freeform 90"/>
                <p:cNvSpPr/>
                <p:nvPr/>
              </p:nvSpPr>
              <p:spPr bwMode="auto">
                <a:xfrm>
                  <a:off x="2783" y="2353"/>
                  <a:ext cx="90" cy="1"/>
                </a:xfrm>
                <a:custGeom>
                  <a:avLst/>
                  <a:gdLst>
                    <a:gd name="T0" fmla="*/ 90 w 90"/>
                    <a:gd name="T1" fmla="*/ 0 h 1"/>
                    <a:gd name="T2" fmla="*/ 0 w 90"/>
                    <a:gd name="T3" fmla="*/ 0 h 1"/>
                    <a:gd name="T4" fmla="*/ 0 60000 65536"/>
                    <a:gd name="T5" fmla="*/ 0 60000 65536"/>
                    <a:gd name="T6" fmla="*/ 0 w 90"/>
                    <a:gd name="T7" fmla="*/ 0 h 1"/>
                    <a:gd name="T8" fmla="*/ 90 w 90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0" h="1">
                      <a:moveTo>
                        <a:pt x="90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37" name="Line 91"/>
                <p:cNvSpPr>
                  <a:spLocks noChangeShapeType="1"/>
                </p:cNvSpPr>
                <p:nvPr/>
              </p:nvSpPr>
              <p:spPr bwMode="auto">
                <a:xfrm rot="5400000">
                  <a:off x="3629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38" name="Line 92"/>
                <p:cNvSpPr>
                  <a:spLocks noChangeShapeType="1"/>
                </p:cNvSpPr>
                <p:nvPr/>
              </p:nvSpPr>
              <p:spPr bwMode="auto">
                <a:xfrm rot="5400000">
                  <a:off x="3612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39" name="Freeform 93"/>
                <p:cNvSpPr/>
                <p:nvPr/>
              </p:nvSpPr>
              <p:spPr bwMode="auto">
                <a:xfrm>
                  <a:off x="3564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40" name="Line 94"/>
                <p:cNvSpPr>
                  <a:spLocks noChangeShapeType="1"/>
                </p:cNvSpPr>
                <p:nvPr/>
              </p:nvSpPr>
              <p:spPr bwMode="auto">
                <a:xfrm rot="-5400000">
                  <a:off x="3437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41" name="Line 95"/>
                <p:cNvSpPr>
                  <a:spLocks noChangeShapeType="1"/>
                </p:cNvSpPr>
                <p:nvPr/>
              </p:nvSpPr>
              <p:spPr bwMode="auto">
                <a:xfrm rot="-5400000">
                  <a:off x="3516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42" name="Freeform 96"/>
                <p:cNvSpPr/>
                <p:nvPr/>
              </p:nvSpPr>
              <p:spPr bwMode="auto">
                <a:xfrm>
                  <a:off x="3751" y="2352"/>
                  <a:ext cx="100" cy="1"/>
                </a:xfrm>
                <a:custGeom>
                  <a:avLst/>
                  <a:gdLst>
                    <a:gd name="T0" fmla="*/ 0 w 100"/>
                    <a:gd name="T1" fmla="*/ 0 h 1"/>
                    <a:gd name="T2" fmla="*/ 100 w 100"/>
                    <a:gd name="T3" fmla="*/ 1 h 1"/>
                    <a:gd name="T4" fmla="*/ 0 60000 65536"/>
                    <a:gd name="T5" fmla="*/ 0 60000 65536"/>
                    <a:gd name="T6" fmla="*/ 0 w 100"/>
                    <a:gd name="T7" fmla="*/ 0 h 1"/>
                    <a:gd name="T8" fmla="*/ 100 w 100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0" h="1">
                      <a:moveTo>
                        <a:pt x="0" y="0"/>
                      </a:moveTo>
                      <a:lnTo>
                        <a:pt x="100" y="1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43" name="Freeform 97"/>
                <p:cNvSpPr/>
                <p:nvPr/>
              </p:nvSpPr>
              <p:spPr bwMode="auto">
                <a:xfrm>
                  <a:off x="3359" y="2353"/>
                  <a:ext cx="108" cy="1"/>
                </a:xfrm>
                <a:custGeom>
                  <a:avLst/>
                  <a:gdLst>
                    <a:gd name="T0" fmla="*/ 108 w 108"/>
                    <a:gd name="T1" fmla="*/ 0 h 1"/>
                    <a:gd name="T2" fmla="*/ 0 w 108"/>
                    <a:gd name="T3" fmla="*/ 0 h 1"/>
                    <a:gd name="T4" fmla="*/ 0 60000 65536"/>
                    <a:gd name="T5" fmla="*/ 0 60000 65536"/>
                    <a:gd name="T6" fmla="*/ 0 w 108"/>
                    <a:gd name="T7" fmla="*/ 0 h 1"/>
                    <a:gd name="T8" fmla="*/ 108 w 108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8" h="1">
                      <a:moveTo>
                        <a:pt x="108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44" name="Line 98"/>
                <p:cNvSpPr>
                  <a:spLocks noChangeShapeType="1"/>
                </p:cNvSpPr>
                <p:nvPr/>
              </p:nvSpPr>
              <p:spPr bwMode="auto">
                <a:xfrm rot="5400000">
                  <a:off x="4205" y="2698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45" name="Line 99"/>
                <p:cNvSpPr>
                  <a:spLocks noChangeShapeType="1"/>
                </p:cNvSpPr>
                <p:nvPr/>
              </p:nvSpPr>
              <p:spPr bwMode="auto">
                <a:xfrm rot="5400000">
                  <a:off x="4188" y="2696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46" name="Freeform 100"/>
                <p:cNvSpPr/>
                <p:nvPr/>
              </p:nvSpPr>
              <p:spPr bwMode="auto">
                <a:xfrm>
                  <a:off x="4140" y="2695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47" name="Line 101"/>
                <p:cNvSpPr>
                  <a:spLocks noChangeShapeType="1"/>
                </p:cNvSpPr>
                <p:nvPr/>
              </p:nvSpPr>
              <p:spPr bwMode="auto">
                <a:xfrm rot="-5400000">
                  <a:off x="4013" y="2698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48" name="Line 102"/>
                <p:cNvSpPr>
                  <a:spLocks noChangeShapeType="1"/>
                </p:cNvSpPr>
                <p:nvPr/>
              </p:nvSpPr>
              <p:spPr bwMode="auto">
                <a:xfrm rot="-5400000">
                  <a:off x="4092" y="2700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449" name="Freeform 103"/>
                <p:cNvSpPr/>
                <p:nvPr/>
              </p:nvSpPr>
              <p:spPr bwMode="auto">
                <a:xfrm>
                  <a:off x="4336" y="2351"/>
                  <a:ext cx="90" cy="2"/>
                </a:xfrm>
                <a:custGeom>
                  <a:avLst/>
                  <a:gdLst>
                    <a:gd name="T0" fmla="*/ 0 w 90"/>
                    <a:gd name="T1" fmla="*/ 0 h 2"/>
                    <a:gd name="T2" fmla="*/ 90 w 90"/>
                    <a:gd name="T3" fmla="*/ 2 h 2"/>
                    <a:gd name="T4" fmla="*/ 0 60000 65536"/>
                    <a:gd name="T5" fmla="*/ 0 60000 65536"/>
                    <a:gd name="T6" fmla="*/ 0 w 90"/>
                    <a:gd name="T7" fmla="*/ 0 h 2"/>
                    <a:gd name="T8" fmla="*/ 90 w 90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0" h="2">
                      <a:moveTo>
                        <a:pt x="0" y="0"/>
                      </a:moveTo>
                      <a:lnTo>
                        <a:pt x="90" y="2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50" name="Freeform 104"/>
                <p:cNvSpPr/>
                <p:nvPr/>
              </p:nvSpPr>
              <p:spPr bwMode="auto">
                <a:xfrm>
                  <a:off x="3935" y="2353"/>
                  <a:ext cx="104" cy="1"/>
                </a:xfrm>
                <a:custGeom>
                  <a:avLst/>
                  <a:gdLst>
                    <a:gd name="T0" fmla="*/ 104 w 104"/>
                    <a:gd name="T1" fmla="*/ 0 h 1"/>
                    <a:gd name="T2" fmla="*/ 0 w 104"/>
                    <a:gd name="T3" fmla="*/ 0 h 1"/>
                    <a:gd name="T4" fmla="*/ 0 60000 65536"/>
                    <a:gd name="T5" fmla="*/ 0 60000 65536"/>
                    <a:gd name="T6" fmla="*/ 0 w 104"/>
                    <a:gd name="T7" fmla="*/ 0 h 1"/>
                    <a:gd name="T8" fmla="*/ 104 w 104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4" h="1">
                      <a:moveTo>
                        <a:pt x="104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grpSp>
              <p:nvGrpSpPr>
                <p:cNvPr id="138451" name="Group 105"/>
                <p:cNvGrpSpPr/>
                <p:nvPr/>
              </p:nvGrpSpPr>
              <p:grpSpPr bwMode="auto">
                <a:xfrm>
                  <a:off x="4668" y="2634"/>
                  <a:ext cx="192" cy="158"/>
                  <a:chOff x="4692" y="2634"/>
                  <a:chExt cx="192" cy="158"/>
                </a:xfrm>
              </p:grpSpPr>
              <p:grpSp>
                <p:nvGrpSpPr>
                  <p:cNvPr id="138591" name="Group 106"/>
                  <p:cNvGrpSpPr/>
                  <p:nvPr/>
                </p:nvGrpSpPr>
                <p:grpSpPr bwMode="auto">
                  <a:xfrm>
                    <a:off x="4836" y="2634"/>
                    <a:ext cx="48" cy="158"/>
                    <a:chOff x="4836" y="2634"/>
                    <a:chExt cx="48" cy="158"/>
                  </a:xfrm>
                </p:grpSpPr>
                <p:sp>
                  <p:nvSpPr>
                    <p:cNvPr id="138596" name="Line 107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805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38597" name="Line 108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788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38592" name="Freeform 109"/>
                  <p:cNvSpPr/>
                  <p:nvPr/>
                </p:nvSpPr>
                <p:spPr bwMode="auto">
                  <a:xfrm>
                    <a:off x="4740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38593" name="Group 110"/>
                  <p:cNvGrpSpPr/>
                  <p:nvPr/>
                </p:nvGrpSpPr>
                <p:grpSpPr bwMode="auto">
                  <a:xfrm>
                    <a:off x="4692" y="2634"/>
                    <a:ext cx="48" cy="158"/>
                    <a:chOff x="4692" y="2634"/>
                    <a:chExt cx="48" cy="158"/>
                  </a:xfrm>
                </p:grpSpPr>
                <p:sp>
                  <p:nvSpPr>
                    <p:cNvPr id="138594" name="Line 111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613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38595" name="Line 112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692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sp>
              <p:nvSpPr>
                <p:cNvPr id="138452" name="Freeform 113"/>
                <p:cNvSpPr/>
                <p:nvPr/>
              </p:nvSpPr>
              <p:spPr bwMode="auto">
                <a:xfrm>
                  <a:off x="4890" y="2353"/>
                  <a:ext cx="107" cy="1"/>
                </a:xfrm>
                <a:custGeom>
                  <a:avLst/>
                  <a:gdLst>
                    <a:gd name="T0" fmla="*/ 0 w 107"/>
                    <a:gd name="T1" fmla="*/ 0 h 1"/>
                    <a:gd name="T2" fmla="*/ 107 w 107"/>
                    <a:gd name="T3" fmla="*/ 0 h 1"/>
                    <a:gd name="T4" fmla="*/ 0 60000 65536"/>
                    <a:gd name="T5" fmla="*/ 0 60000 65536"/>
                    <a:gd name="T6" fmla="*/ 0 w 107"/>
                    <a:gd name="T7" fmla="*/ 0 h 1"/>
                    <a:gd name="T8" fmla="*/ 107 w 107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7" h="1">
                      <a:moveTo>
                        <a:pt x="0" y="0"/>
                      </a:moveTo>
                      <a:lnTo>
                        <a:pt x="107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53" name="Freeform 114"/>
                <p:cNvSpPr/>
                <p:nvPr/>
              </p:nvSpPr>
              <p:spPr bwMode="auto">
                <a:xfrm>
                  <a:off x="4511" y="2353"/>
                  <a:ext cx="96" cy="1"/>
                </a:xfrm>
                <a:custGeom>
                  <a:avLst/>
                  <a:gdLst>
                    <a:gd name="T0" fmla="*/ 96 w 96"/>
                    <a:gd name="T1" fmla="*/ 0 h 1"/>
                    <a:gd name="T2" fmla="*/ 0 w 96"/>
                    <a:gd name="T3" fmla="*/ 0 h 1"/>
                    <a:gd name="T4" fmla="*/ 0 60000 65536"/>
                    <a:gd name="T5" fmla="*/ 0 60000 65536"/>
                    <a:gd name="T6" fmla="*/ 0 w 96"/>
                    <a:gd name="T7" fmla="*/ 0 h 1"/>
                    <a:gd name="T8" fmla="*/ 96 w 96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1">
                      <a:moveTo>
                        <a:pt x="96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grpSp>
              <p:nvGrpSpPr>
                <p:cNvPr id="2" name="Group 115"/>
                <p:cNvGrpSpPr/>
                <p:nvPr/>
              </p:nvGrpSpPr>
              <p:grpSpPr bwMode="auto">
                <a:xfrm>
                  <a:off x="5235" y="2634"/>
                  <a:ext cx="192" cy="158"/>
                  <a:chOff x="5259" y="2634"/>
                  <a:chExt cx="192" cy="158"/>
                </a:xfrm>
              </p:grpSpPr>
              <p:grpSp>
                <p:nvGrpSpPr>
                  <p:cNvPr id="138584" name="Group 116"/>
                  <p:cNvGrpSpPr/>
                  <p:nvPr/>
                </p:nvGrpSpPr>
                <p:grpSpPr bwMode="auto">
                  <a:xfrm>
                    <a:off x="5403" y="2634"/>
                    <a:ext cx="48" cy="158"/>
                    <a:chOff x="5403" y="2634"/>
                    <a:chExt cx="48" cy="158"/>
                  </a:xfrm>
                </p:grpSpPr>
                <p:sp>
                  <p:nvSpPr>
                    <p:cNvPr id="138589" name="Line 117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5372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38590" name="Line 118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5355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38585" name="Freeform 119"/>
                  <p:cNvSpPr/>
                  <p:nvPr/>
                </p:nvSpPr>
                <p:spPr bwMode="auto">
                  <a:xfrm>
                    <a:off x="5307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38586" name="Group 120"/>
                  <p:cNvGrpSpPr/>
                  <p:nvPr/>
                </p:nvGrpSpPr>
                <p:grpSpPr bwMode="auto">
                  <a:xfrm>
                    <a:off x="5259" y="2634"/>
                    <a:ext cx="48" cy="158"/>
                    <a:chOff x="5259" y="2634"/>
                    <a:chExt cx="48" cy="158"/>
                  </a:xfrm>
                </p:grpSpPr>
                <p:sp>
                  <p:nvSpPr>
                    <p:cNvPr id="138587" name="Line 121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5180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38588" name="Line 122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5259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sp>
              <p:nvSpPr>
                <p:cNvPr id="138455" name="Freeform 123"/>
                <p:cNvSpPr/>
                <p:nvPr/>
              </p:nvSpPr>
              <p:spPr bwMode="auto">
                <a:xfrm>
                  <a:off x="5467" y="2351"/>
                  <a:ext cx="96" cy="2"/>
                </a:xfrm>
                <a:custGeom>
                  <a:avLst/>
                  <a:gdLst>
                    <a:gd name="T0" fmla="*/ 0 w 96"/>
                    <a:gd name="T1" fmla="*/ 0 h 2"/>
                    <a:gd name="T2" fmla="*/ 96 w 96"/>
                    <a:gd name="T3" fmla="*/ 2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0"/>
                      </a:moveTo>
                      <a:lnTo>
                        <a:pt x="96" y="2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56" name="Freeform 124"/>
                <p:cNvSpPr/>
                <p:nvPr/>
              </p:nvSpPr>
              <p:spPr bwMode="auto">
                <a:xfrm>
                  <a:off x="5078" y="2353"/>
                  <a:ext cx="101" cy="1"/>
                </a:xfrm>
                <a:custGeom>
                  <a:avLst/>
                  <a:gdLst>
                    <a:gd name="T0" fmla="*/ 101 w 101"/>
                    <a:gd name="T1" fmla="*/ 0 h 1"/>
                    <a:gd name="T2" fmla="*/ 0 w 101"/>
                    <a:gd name="T3" fmla="*/ 0 h 1"/>
                    <a:gd name="T4" fmla="*/ 0 60000 65536"/>
                    <a:gd name="T5" fmla="*/ 0 60000 65536"/>
                    <a:gd name="T6" fmla="*/ 0 w 101"/>
                    <a:gd name="T7" fmla="*/ 0 h 1"/>
                    <a:gd name="T8" fmla="*/ 101 w 101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1" h="1">
                      <a:moveTo>
                        <a:pt x="101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57" name="Freeform 125"/>
                <p:cNvSpPr/>
                <p:nvPr/>
              </p:nvSpPr>
              <p:spPr bwMode="auto">
                <a:xfrm>
                  <a:off x="908" y="856"/>
                  <a:ext cx="4419" cy="1"/>
                </a:xfrm>
                <a:custGeom>
                  <a:avLst/>
                  <a:gdLst>
                    <a:gd name="T0" fmla="*/ 0 w 4419"/>
                    <a:gd name="T1" fmla="*/ 1 h 1"/>
                    <a:gd name="T2" fmla="*/ 4419 w 4419"/>
                    <a:gd name="T3" fmla="*/ 0 h 1"/>
                    <a:gd name="T4" fmla="*/ 0 60000 65536"/>
                    <a:gd name="T5" fmla="*/ 0 60000 65536"/>
                    <a:gd name="T6" fmla="*/ 0 w 4419"/>
                    <a:gd name="T7" fmla="*/ 0 h 1"/>
                    <a:gd name="T8" fmla="*/ 4419 w 4419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419" h="1">
                      <a:moveTo>
                        <a:pt x="0" y="1"/>
                      </a:moveTo>
                      <a:lnTo>
                        <a:pt x="4419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58" name="Line 126"/>
                <p:cNvSpPr>
                  <a:spLocks noChangeShapeType="1"/>
                </p:cNvSpPr>
                <p:nvPr/>
              </p:nvSpPr>
              <p:spPr bwMode="auto">
                <a:xfrm>
                  <a:off x="1292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59" name="Line 127"/>
                <p:cNvSpPr>
                  <a:spLocks noChangeShapeType="1"/>
                </p:cNvSpPr>
                <p:nvPr/>
              </p:nvSpPr>
              <p:spPr bwMode="auto">
                <a:xfrm>
                  <a:off x="1868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60" name="Line 128"/>
                <p:cNvSpPr>
                  <a:spLocks noChangeShapeType="1"/>
                </p:cNvSpPr>
                <p:nvPr/>
              </p:nvSpPr>
              <p:spPr bwMode="auto">
                <a:xfrm>
                  <a:off x="2444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61" name="Line 129"/>
                <p:cNvSpPr>
                  <a:spLocks noChangeShapeType="1"/>
                </p:cNvSpPr>
                <p:nvPr/>
              </p:nvSpPr>
              <p:spPr bwMode="auto">
                <a:xfrm>
                  <a:off x="3020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62" name="Line 130"/>
                <p:cNvSpPr>
                  <a:spLocks noChangeShapeType="1"/>
                </p:cNvSpPr>
                <p:nvPr/>
              </p:nvSpPr>
              <p:spPr bwMode="auto">
                <a:xfrm>
                  <a:off x="3596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63" name="Line 131"/>
                <p:cNvSpPr>
                  <a:spLocks noChangeShapeType="1"/>
                </p:cNvSpPr>
                <p:nvPr/>
              </p:nvSpPr>
              <p:spPr bwMode="auto">
                <a:xfrm>
                  <a:off x="4172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64" name="Line 132"/>
                <p:cNvSpPr>
                  <a:spLocks noChangeShapeType="1"/>
                </p:cNvSpPr>
                <p:nvPr/>
              </p:nvSpPr>
              <p:spPr bwMode="auto">
                <a:xfrm>
                  <a:off x="4748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65" name="Line 133"/>
                <p:cNvSpPr>
                  <a:spLocks noChangeShapeType="1"/>
                </p:cNvSpPr>
                <p:nvPr/>
              </p:nvSpPr>
              <p:spPr bwMode="auto">
                <a:xfrm>
                  <a:off x="5324" y="8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66" name="Freeform 134"/>
                <p:cNvSpPr/>
                <p:nvPr/>
              </p:nvSpPr>
              <p:spPr bwMode="auto">
                <a:xfrm>
                  <a:off x="1305" y="2708"/>
                  <a:ext cx="1" cy="166"/>
                </a:xfrm>
                <a:custGeom>
                  <a:avLst/>
                  <a:gdLst>
                    <a:gd name="T0" fmla="*/ 1 w 1"/>
                    <a:gd name="T1" fmla="*/ 0 h 166"/>
                    <a:gd name="T2" fmla="*/ 0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1" y="0"/>
                      </a:moveTo>
                      <a:lnTo>
                        <a:pt x="0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67" name="Freeform 135"/>
                <p:cNvSpPr/>
                <p:nvPr/>
              </p:nvSpPr>
              <p:spPr bwMode="auto">
                <a:xfrm>
                  <a:off x="1880" y="2708"/>
                  <a:ext cx="47" cy="501"/>
                </a:xfrm>
                <a:custGeom>
                  <a:avLst/>
                  <a:gdLst>
                    <a:gd name="T0" fmla="*/ 0 w 1"/>
                    <a:gd name="T1" fmla="*/ 0 h 406"/>
                    <a:gd name="T2" fmla="*/ 0 w 1"/>
                    <a:gd name="T3" fmla="*/ 7711 h 406"/>
                    <a:gd name="T4" fmla="*/ 0 60000 65536"/>
                    <a:gd name="T5" fmla="*/ 0 60000 65536"/>
                    <a:gd name="T6" fmla="*/ 0 w 1"/>
                    <a:gd name="T7" fmla="*/ 0 h 406"/>
                    <a:gd name="T8" fmla="*/ 1 w 1"/>
                    <a:gd name="T9" fmla="*/ 406 h 40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406">
                      <a:moveTo>
                        <a:pt x="0" y="0"/>
                      </a:moveTo>
                      <a:lnTo>
                        <a:pt x="0" y="40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68" name="Freeform 136"/>
                <p:cNvSpPr/>
                <p:nvPr/>
              </p:nvSpPr>
              <p:spPr bwMode="auto">
                <a:xfrm>
                  <a:off x="2454" y="2708"/>
                  <a:ext cx="4" cy="166"/>
                </a:xfrm>
                <a:custGeom>
                  <a:avLst/>
                  <a:gdLst>
                    <a:gd name="T0" fmla="*/ 4 w 4"/>
                    <a:gd name="T1" fmla="*/ 0 h 166"/>
                    <a:gd name="T2" fmla="*/ 0 w 4"/>
                    <a:gd name="T3" fmla="*/ 166 h 166"/>
                    <a:gd name="T4" fmla="*/ 0 60000 65536"/>
                    <a:gd name="T5" fmla="*/ 0 60000 65536"/>
                    <a:gd name="T6" fmla="*/ 0 w 4"/>
                    <a:gd name="T7" fmla="*/ 0 h 166"/>
                    <a:gd name="T8" fmla="*/ 4 w 4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" h="166">
                      <a:moveTo>
                        <a:pt x="4" y="0"/>
                      </a:moveTo>
                      <a:lnTo>
                        <a:pt x="0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69" name="Freeform 137"/>
                <p:cNvSpPr/>
                <p:nvPr/>
              </p:nvSpPr>
              <p:spPr bwMode="auto">
                <a:xfrm>
                  <a:off x="3606" y="2708"/>
                  <a:ext cx="2" cy="175"/>
                </a:xfrm>
                <a:custGeom>
                  <a:avLst/>
                  <a:gdLst>
                    <a:gd name="T0" fmla="*/ 2 w 2"/>
                    <a:gd name="T1" fmla="*/ 0 h 175"/>
                    <a:gd name="T2" fmla="*/ 0 w 2"/>
                    <a:gd name="T3" fmla="*/ 175 h 175"/>
                    <a:gd name="T4" fmla="*/ 0 60000 65536"/>
                    <a:gd name="T5" fmla="*/ 0 60000 65536"/>
                    <a:gd name="T6" fmla="*/ 0 w 2"/>
                    <a:gd name="T7" fmla="*/ 0 h 175"/>
                    <a:gd name="T8" fmla="*/ 2 w 2"/>
                    <a:gd name="T9" fmla="*/ 175 h 175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" h="175">
                      <a:moveTo>
                        <a:pt x="2" y="0"/>
                      </a:moveTo>
                      <a:lnTo>
                        <a:pt x="0" y="175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70" name="Freeform 138"/>
                <p:cNvSpPr/>
                <p:nvPr/>
              </p:nvSpPr>
              <p:spPr bwMode="auto">
                <a:xfrm>
                  <a:off x="4760" y="2697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  <a:gd name="T6" fmla="*/ 0 w 1"/>
                    <a:gd name="T7" fmla="*/ 0 h 176"/>
                    <a:gd name="T8" fmla="*/ 1 w 1"/>
                    <a:gd name="T9" fmla="*/ 176 h 17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71" name="Freeform 139"/>
                <p:cNvSpPr/>
                <p:nvPr/>
              </p:nvSpPr>
              <p:spPr bwMode="auto">
                <a:xfrm>
                  <a:off x="908" y="1480"/>
                  <a:ext cx="4422" cy="1"/>
                </a:xfrm>
                <a:custGeom>
                  <a:avLst/>
                  <a:gdLst>
                    <a:gd name="T0" fmla="*/ 0 w 4422"/>
                    <a:gd name="T1" fmla="*/ 1 h 1"/>
                    <a:gd name="T2" fmla="*/ 4422 w 4422"/>
                    <a:gd name="T3" fmla="*/ 0 h 1"/>
                    <a:gd name="T4" fmla="*/ 0 60000 65536"/>
                    <a:gd name="T5" fmla="*/ 0 60000 65536"/>
                    <a:gd name="T6" fmla="*/ 0 w 4422"/>
                    <a:gd name="T7" fmla="*/ 0 h 1"/>
                    <a:gd name="T8" fmla="*/ 4422 w 442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422" h="1">
                      <a:moveTo>
                        <a:pt x="0" y="1"/>
                      </a:moveTo>
                      <a:lnTo>
                        <a:pt x="4422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72" name="Line 140"/>
                <p:cNvSpPr>
                  <a:spLocks noChangeShapeType="1"/>
                </p:cNvSpPr>
                <p:nvPr/>
              </p:nvSpPr>
              <p:spPr bwMode="auto">
                <a:xfrm>
                  <a:off x="1292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73" name="Line 141"/>
                <p:cNvSpPr>
                  <a:spLocks noChangeShapeType="1"/>
                </p:cNvSpPr>
                <p:nvPr/>
              </p:nvSpPr>
              <p:spPr bwMode="auto">
                <a:xfrm>
                  <a:off x="1868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74" name="Line 142"/>
                <p:cNvSpPr>
                  <a:spLocks noChangeShapeType="1"/>
                </p:cNvSpPr>
                <p:nvPr/>
              </p:nvSpPr>
              <p:spPr bwMode="auto">
                <a:xfrm>
                  <a:off x="2444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75" name="Line 143"/>
                <p:cNvSpPr>
                  <a:spLocks noChangeShapeType="1"/>
                </p:cNvSpPr>
                <p:nvPr/>
              </p:nvSpPr>
              <p:spPr bwMode="auto">
                <a:xfrm>
                  <a:off x="3020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76" name="Line 144"/>
                <p:cNvSpPr>
                  <a:spLocks noChangeShapeType="1"/>
                </p:cNvSpPr>
                <p:nvPr/>
              </p:nvSpPr>
              <p:spPr bwMode="auto">
                <a:xfrm>
                  <a:off x="3596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77" name="Line 145"/>
                <p:cNvSpPr>
                  <a:spLocks noChangeShapeType="1"/>
                </p:cNvSpPr>
                <p:nvPr/>
              </p:nvSpPr>
              <p:spPr bwMode="auto">
                <a:xfrm>
                  <a:off x="4172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78" name="Line 146"/>
                <p:cNvSpPr>
                  <a:spLocks noChangeShapeType="1"/>
                </p:cNvSpPr>
                <p:nvPr/>
              </p:nvSpPr>
              <p:spPr bwMode="auto">
                <a:xfrm>
                  <a:off x="4748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79" name="Line 147"/>
                <p:cNvSpPr>
                  <a:spLocks noChangeShapeType="1"/>
                </p:cNvSpPr>
                <p:nvPr/>
              </p:nvSpPr>
              <p:spPr bwMode="auto">
                <a:xfrm>
                  <a:off x="5324" y="14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80" name="Freeform 148"/>
                <p:cNvSpPr/>
                <p:nvPr/>
              </p:nvSpPr>
              <p:spPr bwMode="auto">
                <a:xfrm>
                  <a:off x="908" y="2056"/>
                  <a:ext cx="4418" cy="1"/>
                </a:xfrm>
                <a:custGeom>
                  <a:avLst/>
                  <a:gdLst>
                    <a:gd name="T0" fmla="*/ 0 w 4418"/>
                    <a:gd name="T1" fmla="*/ 1 h 1"/>
                    <a:gd name="T2" fmla="*/ 4418 w 4418"/>
                    <a:gd name="T3" fmla="*/ 0 h 1"/>
                    <a:gd name="T4" fmla="*/ 0 60000 65536"/>
                    <a:gd name="T5" fmla="*/ 0 60000 65536"/>
                    <a:gd name="T6" fmla="*/ 0 w 4418"/>
                    <a:gd name="T7" fmla="*/ 0 h 1"/>
                    <a:gd name="T8" fmla="*/ 4418 w 4418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418" h="1">
                      <a:moveTo>
                        <a:pt x="0" y="1"/>
                      </a:moveTo>
                      <a:lnTo>
                        <a:pt x="4418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81" name="Line 149"/>
                <p:cNvSpPr>
                  <a:spLocks noChangeShapeType="1"/>
                </p:cNvSpPr>
                <p:nvPr/>
              </p:nvSpPr>
              <p:spPr bwMode="auto">
                <a:xfrm>
                  <a:off x="1292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82" name="Line 150"/>
                <p:cNvSpPr>
                  <a:spLocks noChangeShapeType="1"/>
                </p:cNvSpPr>
                <p:nvPr/>
              </p:nvSpPr>
              <p:spPr bwMode="auto">
                <a:xfrm>
                  <a:off x="1868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83" name="Line 151"/>
                <p:cNvSpPr>
                  <a:spLocks noChangeShapeType="1"/>
                </p:cNvSpPr>
                <p:nvPr/>
              </p:nvSpPr>
              <p:spPr bwMode="auto">
                <a:xfrm>
                  <a:off x="2444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84" name="Line 152"/>
                <p:cNvSpPr>
                  <a:spLocks noChangeShapeType="1"/>
                </p:cNvSpPr>
                <p:nvPr/>
              </p:nvSpPr>
              <p:spPr bwMode="auto">
                <a:xfrm>
                  <a:off x="3020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85" name="Line 153"/>
                <p:cNvSpPr>
                  <a:spLocks noChangeShapeType="1"/>
                </p:cNvSpPr>
                <p:nvPr/>
              </p:nvSpPr>
              <p:spPr bwMode="auto">
                <a:xfrm>
                  <a:off x="3596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86" name="Line 154"/>
                <p:cNvSpPr>
                  <a:spLocks noChangeShapeType="1"/>
                </p:cNvSpPr>
                <p:nvPr/>
              </p:nvSpPr>
              <p:spPr bwMode="auto">
                <a:xfrm>
                  <a:off x="4172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87" name="Line 155"/>
                <p:cNvSpPr>
                  <a:spLocks noChangeShapeType="1"/>
                </p:cNvSpPr>
                <p:nvPr/>
              </p:nvSpPr>
              <p:spPr bwMode="auto">
                <a:xfrm>
                  <a:off x="4748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88" name="Line 156"/>
                <p:cNvSpPr>
                  <a:spLocks noChangeShapeType="1"/>
                </p:cNvSpPr>
                <p:nvPr/>
              </p:nvSpPr>
              <p:spPr bwMode="auto">
                <a:xfrm>
                  <a:off x="5324" y="2057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89" name="Freeform 157"/>
                <p:cNvSpPr/>
                <p:nvPr/>
              </p:nvSpPr>
              <p:spPr bwMode="auto">
                <a:xfrm>
                  <a:off x="909" y="2879"/>
                  <a:ext cx="3860" cy="1"/>
                </a:xfrm>
                <a:custGeom>
                  <a:avLst/>
                  <a:gdLst>
                    <a:gd name="T0" fmla="*/ 0 w 3860"/>
                    <a:gd name="T1" fmla="*/ 1 h 1"/>
                    <a:gd name="T2" fmla="*/ 3860 w 3860"/>
                    <a:gd name="T3" fmla="*/ 0 h 1"/>
                    <a:gd name="T4" fmla="*/ 0 60000 65536"/>
                    <a:gd name="T5" fmla="*/ 0 60000 65536"/>
                    <a:gd name="T6" fmla="*/ 0 w 3860"/>
                    <a:gd name="T7" fmla="*/ 0 h 1"/>
                    <a:gd name="T8" fmla="*/ 3860 w 3860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860" h="1">
                      <a:moveTo>
                        <a:pt x="0" y="1"/>
                      </a:moveTo>
                      <a:lnTo>
                        <a:pt x="3860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90" name="Freeform 158"/>
                <p:cNvSpPr/>
                <p:nvPr/>
              </p:nvSpPr>
              <p:spPr bwMode="auto">
                <a:xfrm>
                  <a:off x="912" y="3209"/>
                  <a:ext cx="4418" cy="1"/>
                </a:xfrm>
                <a:custGeom>
                  <a:avLst/>
                  <a:gdLst>
                    <a:gd name="T0" fmla="*/ 0 w 4418"/>
                    <a:gd name="T1" fmla="*/ 1 h 1"/>
                    <a:gd name="T2" fmla="*/ 4418 w 4418"/>
                    <a:gd name="T3" fmla="*/ 0 h 1"/>
                    <a:gd name="T4" fmla="*/ 0 60000 65536"/>
                    <a:gd name="T5" fmla="*/ 0 60000 65536"/>
                    <a:gd name="T6" fmla="*/ 0 w 4418"/>
                    <a:gd name="T7" fmla="*/ 0 h 1"/>
                    <a:gd name="T8" fmla="*/ 4418 w 4418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418" h="1">
                      <a:moveTo>
                        <a:pt x="0" y="1"/>
                      </a:moveTo>
                      <a:lnTo>
                        <a:pt x="4418" y="0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91" name="Rectangle 159"/>
                <p:cNvSpPr>
                  <a:spLocks noChangeArrowheads="1"/>
                </p:cNvSpPr>
                <p:nvPr/>
              </p:nvSpPr>
              <p:spPr bwMode="auto">
                <a:xfrm>
                  <a:off x="1141" y="3545"/>
                  <a:ext cx="823" cy="33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38492" name="Text Box 160"/>
                <p:cNvSpPr txBox="1">
                  <a:spLocks noChangeArrowheads="1"/>
                </p:cNvSpPr>
                <p:nvPr/>
              </p:nvSpPr>
              <p:spPr bwMode="auto">
                <a:xfrm>
                  <a:off x="1172" y="3576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读写电路</a:t>
                  </a:r>
                </a:p>
              </p:txBody>
            </p:sp>
            <p:sp>
              <p:nvSpPr>
                <p:cNvPr id="138493" name="Freeform 161"/>
                <p:cNvSpPr/>
                <p:nvPr/>
              </p:nvSpPr>
              <p:spPr bwMode="auto">
                <a:xfrm>
                  <a:off x="1402" y="1211"/>
                  <a:ext cx="145" cy="1466"/>
                </a:xfrm>
                <a:custGeom>
                  <a:avLst/>
                  <a:gdLst>
                    <a:gd name="T0" fmla="*/ 37 w 145"/>
                    <a:gd name="T1" fmla="*/ 0 h 1466"/>
                    <a:gd name="T2" fmla="*/ 145 w 145"/>
                    <a:gd name="T3" fmla="*/ 0 h 1466"/>
                    <a:gd name="T4" fmla="*/ 144 w 145"/>
                    <a:gd name="T5" fmla="*/ 1466 h 1466"/>
                    <a:gd name="T6" fmla="*/ 0 w 145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5"/>
                    <a:gd name="T13" fmla="*/ 0 h 1466"/>
                    <a:gd name="T14" fmla="*/ 145 w 145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5" h="1466">
                      <a:moveTo>
                        <a:pt x="37" y="0"/>
                      </a:moveTo>
                      <a:lnTo>
                        <a:pt x="145" y="0"/>
                      </a:lnTo>
                      <a:lnTo>
                        <a:pt x="144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94" name="Freeform 162"/>
                <p:cNvSpPr/>
                <p:nvPr/>
              </p:nvSpPr>
              <p:spPr bwMode="auto">
                <a:xfrm>
                  <a:off x="1613" y="1211"/>
                  <a:ext cx="169" cy="1469"/>
                </a:xfrm>
                <a:custGeom>
                  <a:avLst/>
                  <a:gdLst>
                    <a:gd name="T0" fmla="*/ 169 w 169"/>
                    <a:gd name="T1" fmla="*/ 1468 h 1469"/>
                    <a:gd name="T2" fmla="*/ 0 w 169"/>
                    <a:gd name="T3" fmla="*/ 1469 h 1469"/>
                    <a:gd name="T4" fmla="*/ 1 w 169"/>
                    <a:gd name="T5" fmla="*/ 0 h 1469"/>
                    <a:gd name="T6" fmla="*/ 105 w 169"/>
                    <a:gd name="T7" fmla="*/ 0 h 1469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69"/>
                    <a:gd name="T13" fmla="*/ 0 h 1469"/>
                    <a:gd name="T14" fmla="*/ 169 w 169"/>
                    <a:gd name="T15" fmla="*/ 1469 h 1469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69" h="1469">
                      <a:moveTo>
                        <a:pt x="169" y="1468"/>
                      </a:moveTo>
                      <a:lnTo>
                        <a:pt x="0" y="1469"/>
                      </a:lnTo>
                      <a:lnTo>
                        <a:pt x="1" y="0"/>
                      </a:lnTo>
                      <a:lnTo>
                        <a:pt x="105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95" name="Freeform 163"/>
                <p:cNvSpPr/>
                <p:nvPr/>
              </p:nvSpPr>
              <p:spPr bwMode="auto">
                <a:xfrm>
                  <a:off x="1967" y="1211"/>
                  <a:ext cx="141" cy="1466"/>
                </a:xfrm>
                <a:custGeom>
                  <a:avLst/>
                  <a:gdLst>
                    <a:gd name="T0" fmla="*/ 38 w 141"/>
                    <a:gd name="T1" fmla="*/ 0 h 1466"/>
                    <a:gd name="T2" fmla="*/ 141 w 141"/>
                    <a:gd name="T3" fmla="*/ 0 h 1466"/>
                    <a:gd name="T4" fmla="*/ 140 w 141"/>
                    <a:gd name="T5" fmla="*/ 1466 h 1466"/>
                    <a:gd name="T6" fmla="*/ 0 w 141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1"/>
                    <a:gd name="T13" fmla="*/ 0 h 1466"/>
                    <a:gd name="T14" fmla="*/ 141 w 141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1" h="1466">
                      <a:moveTo>
                        <a:pt x="38" y="0"/>
                      </a:moveTo>
                      <a:lnTo>
                        <a:pt x="141" y="0"/>
                      </a:lnTo>
                      <a:lnTo>
                        <a:pt x="140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96" name="Freeform 164"/>
                <p:cNvSpPr/>
                <p:nvPr/>
              </p:nvSpPr>
              <p:spPr bwMode="auto">
                <a:xfrm>
                  <a:off x="2208" y="1211"/>
                  <a:ext cx="155" cy="1467"/>
                </a:xfrm>
                <a:custGeom>
                  <a:avLst/>
                  <a:gdLst>
                    <a:gd name="T0" fmla="*/ 155 w 155"/>
                    <a:gd name="T1" fmla="*/ 1467 h 1467"/>
                    <a:gd name="T2" fmla="*/ 3 w 155"/>
                    <a:gd name="T3" fmla="*/ 1467 h 1467"/>
                    <a:gd name="T4" fmla="*/ 0 w 155"/>
                    <a:gd name="T5" fmla="*/ 1 h 1467"/>
                    <a:gd name="T6" fmla="*/ 89 w 155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5"/>
                    <a:gd name="T13" fmla="*/ 0 h 1467"/>
                    <a:gd name="T14" fmla="*/ 155 w 155"/>
                    <a:gd name="T15" fmla="*/ 1467 h 146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5" h="1467">
                      <a:moveTo>
                        <a:pt x="155" y="1467"/>
                      </a:moveTo>
                      <a:lnTo>
                        <a:pt x="3" y="1467"/>
                      </a:lnTo>
                      <a:lnTo>
                        <a:pt x="0" y="1"/>
                      </a:lnTo>
                      <a:lnTo>
                        <a:pt x="89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97" name="Freeform 165"/>
                <p:cNvSpPr/>
                <p:nvPr/>
              </p:nvSpPr>
              <p:spPr bwMode="auto">
                <a:xfrm>
                  <a:off x="2557" y="1211"/>
                  <a:ext cx="142" cy="1466"/>
                </a:xfrm>
                <a:custGeom>
                  <a:avLst/>
                  <a:gdLst>
                    <a:gd name="T0" fmla="*/ 34 w 142"/>
                    <a:gd name="T1" fmla="*/ 0 h 1466"/>
                    <a:gd name="T2" fmla="*/ 142 w 142"/>
                    <a:gd name="T3" fmla="*/ 0 h 1466"/>
                    <a:gd name="T4" fmla="*/ 141 w 142"/>
                    <a:gd name="T5" fmla="*/ 1466 h 1466"/>
                    <a:gd name="T6" fmla="*/ 0 w 142"/>
                    <a:gd name="T7" fmla="*/ 1464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2"/>
                    <a:gd name="T13" fmla="*/ 0 h 1466"/>
                    <a:gd name="T14" fmla="*/ 142 w 142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2" h="1466">
                      <a:moveTo>
                        <a:pt x="34" y="0"/>
                      </a:moveTo>
                      <a:lnTo>
                        <a:pt x="142" y="0"/>
                      </a:lnTo>
                      <a:lnTo>
                        <a:pt x="141" y="1466"/>
                      </a:lnTo>
                      <a:lnTo>
                        <a:pt x="0" y="146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98" name="Freeform 166"/>
                <p:cNvSpPr/>
                <p:nvPr/>
              </p:nvSpPr>
              <p:spPr bwMode="auto">
                <a:xfrm>
                  <a:off x="2787" y="1211"/>
                  <a:ext cx="152" cy="1467"/>
                </a:xfrm>
                <a:custGeom>
                  <a:avLst/>
                  <a:gdLst>
                    <a:gd name="T0" fmla="*/ 152 w 152"/>
                    <a:gd name="T1" fmla="*/ 1467 h 1467"/>
                    <a:gd name="T2" fmla="*/ 0 w 152"/>
                    <a:gd name="T3" fmla="*/ 1467 h 1467"/>
                    <a:gd name="T4" fmla="*/ 0 w 152"/>
                    <a:gd name="T5" fmla="*/ 1 h 1467"/>
                    <a:gd name="T6" fmla="*/ 77 w 152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"/>
                    <a:gd name="T13" fmla="*/ 0 h 1467"/>
                    <a:gd name="T14" fmla="*/ 152 w 152"/>
                    <a:gd name="T15" fmla="*/ 1467 h 146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" h="1467">
                      <a:moveTo>
                        <a:pt x="152" y="1467"/>
                      </a:moveTo>
                      <a:lnTo>
                        <a:pt x="0" y="1467"/>
                      </a:lnTo>
                      <a:lnTo>
                        <a:pt x="0" y="1"/>
                      </a:lnTo>
                      <a:lnTo>
                        <a:pt x="77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499" name="Freeform 167"/>
                <p:cNvSpPr/>
                <p:nvPr/>
              </p:nvSpPr>
              <p:spPr bwMode="auto">
                <a:xfrm>
                  <a:off x="3130" y="1211"/>
                  <a:ext cx="145" cy="1466"/>
                </a:xfrm>
                <a:custGeom>
                  <a:avLst/>
                  <a:gdLst>
                    <a:gd name="T0" fmla="*/ 37 w 145"/>
                    <a:gd name="T1" fmla="*/ 0 h 1466"/>
                    <a:gd name="T2" fmla="*/ 145 w 145"/>
                    <a:gd name="T3" fmla="*/ 0 h 1466"/>
                    <a:gd name="T4" fmla="*/ 144 w 145"/>
                    <a:gd name="T5" fmla="*/ 1466 h 1466"/>
                    <a:gd name="T6" fmla="*/ 0 w 145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5"/>
                    <a:gd name="T13" fmla="*/ 0 h 1466"/>
                    <a:gd name="T14" fmla="*/ 145 w 145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5" h="1466">
                      <a:moveTo>
                        <a:pt x="37" y="0"/>
                      </a:moveTo>
                      <a:lnTo>
                        <a:pt x="145" y="0"/>
                      </a:lnTo>
                      <a:lnTo>
                        <a:pt x="144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00" name="Freeform 168"/>
                <p:cNvSpPr/>
                <p:nvPr/>
              </p:nvSpPr>
              <p:spPr bwMode="auto">
                <a:xfrm>
                  <a:off x="3360" y="1209"/>
                  <a:ext cx="155" cy="1469"/>
                </a:xfrm>
                <a:custGeom>
                  <a:avLst/>
                  <a:gdLst>
                    <a:gd name="T0" fmla="*/ 155 w 155"/>
                    <a:gd name="T1" fmla="*/ 1469 h 1469"/>
                    <a:gd name="T2" fmla="*/ 3 w 155"/>
                    <a:gd name="T3" fmla="*/ 1469 h 1469"/>
                    <a:gd name="T4" fmla="*/ 0 w 155"/>
                    <a:gd name="T5" fmla="*/ 0 h 1469"/>
                    <a:gd name="T6" fmla="*/ 103 w 155"/>
                    <a:gd name="T7" fmla="*/ 2 h 1469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5"/>
                    <a:gd name="T13" fmla="*/ 0 h 1469"/>
                    <a:gd name="T14" fmla="*/ 155 w 155"/>
                    <a:gd name="T15" fmla="*/ 1469 h 1469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5" h="1469">
                      <a:moveTo>
                        <a:pt x="155" y="1469"/>
                      </a:moveTo>
                      <a:lnTo>
                        <a:pt x="3" y="1469"/>
                      </a:lnTo>
                      <a:lnTo>
                        <a:pt x="0" y="0"/>
                      </a:lnTo>
                      <a:lnTo>
                        <a:pt x="103" y="2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01" name="Freeform 169"/>
                <p:cNvSpPr/>
                <p:nvPr/>
              </p:nvSpPr>
              <p:spPr bwMode="auto">
                <a:xfrm>
                  <a:off x="3710" y="1211"/>
                  <a:ext cx="141" cy="1466"/>
                </a:xfrm>
                <a:custGeom>
                  <a:avLst/>
                  <a:gdLst>
                    <a:gd name="T0" fmla="*/ 42 w 141"/>
                    <a:gd name="T1" fmla="*/ 0 h 1466"/>
                    <a:gd name="T2" fmla="*/ 141 w 141"/>
                    <a:gd name="T3" fmla="*/ 0 h 1466"/>
                    <a:gd name="T4" fmla="*/ 140 w 141"/>
                    <a:gd name="T5" fmla="*/ 1466 h 1466"/>
                    <a:gd name="T6" fmla="*/ 0 w 141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1"/>
                    <a:gd name="T13" fmla="*/ 0 h 1466"/>
                    <a:gd name="T14" fmla="*/ 141 w 141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1" h="1466">
                      <a:moveTo>
                        <a:pt x="42" y="0"/>
                      </a:moveTo>
                      <a:lnTo>
                        <a:pt x="141" y="0"/>
                      </a:lnTo>
                      <a:lnTo>
                        <a:pt x="140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02" name="Freeform 170"/>
                <p:cNvSpPr/>
                <p:nvPr/>
              </p:nvSpPr>
              <p:spPr bwMode="auto">
                <a:xfrm>
                  <a:off x="3939" y="1211"/>
                  <a:ext cx="152" cy="1467"/>
                </a:xfrm>
                <a:custGeom>
                  <a:avLst/>
                  <a:gdLst>
                    <a:gd name="T0" fmla="*/ 152 w 152"/>
                    <a:gd name="T1" fmla="*/ 1467 h 1467"/>
                    <a:gd name="T2" fmla="*/ 0 w 152"/>
                    <a:gd name="T3" fmla="*/ 1467 h 1467"/>
                    <a:gd name="T4" fmla="*/ 0 w 152"/>
                    <a:gd name="T5" fmla="*/ 1 h 1467"/>
                    <a:gd name="T6" fmla="*/ 103 w 152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"/>
                    <a:gd name="T13" fmla="*/ 0 h 1467"/>
                    <a:gd name="T14" fmla="*/ 152 w 152"/>
                    <a:gd name="T15" fmla="*/ 1467 h 146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" h="1467">
                      <a:moveTo>
                        <a:pt x="152" y="1467"/>
                      </a:moveTo>
                      <a:lnTo>
                        <a:pt x="0" y="1467"/>
                      </a:lnTo>
                      <a:lnTo>
                        <a:pt x="0" y="1"/>
                      </a:lnTo>
                      <a:lnTo>
                        <a:pt x="103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03" name="Freeform 171"/>
                <p:cNvSpPr/>
                <p:nvPr/>
              </p:nvSpPr>
              <p:spPr bwMode="auto">
                <a:xfrm>
                  <a:off x="4280" y="1211"/>
                  <a:ext cx="147" cy="1466"/>
                </a:xfrm>
                <a:custGeom>
                  <a:avLst/>
                  <a:gdLst>
                    <a:gd name="T0" fmla="*/ 51 w 147"/>
                    <a:gd name="T1" fmla="*/ 0 h 1466"/>
                    <a:gd name="T2" fmla="*/ 147 w 147"/>
                    <a:gd name="T3" fmla="*/ 0 h 1466"/>
                    <a:gd name="T4" fmla="*/ 146 w 147"/>
                    <a:gd name="T5" fmla="*/ 1466 h 1466"/>
                    <a:gd name="T6" fmla="*/ 0 w 147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7"/>
                    <a:gd name="T13" fmla="*/ 0 h 1466"/>
                    <a:gd name="T14" fmla="*/ 147 w 147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7" h="1466">
                      <a:moveTo>
                        <a:pt x="51" y="0"/>
                      </a:moveTo>
                      <a:lnTo>
                        <a:pt x="147" y="0"/>
                      </a:lnTo>
                      <a:lnTo>
                        <a:pt x="146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04" name="Freeform 172"/>
                <p:cNvSpPr/>
                <p:nvPr/>
              </p:nvSpPr>
              <p:spPr bwMode="auto">
                <a:xfrm>
                  <a:off x="4509" y="1211"/>
                  <a:ext cx="158" cy="1467"/>
                </a:xfrm>
                <a:custGeom>
                  <a:avLst/>
                  <a:gdLst>
                    <a:gd name="T0" fmla="*/ 158 w 158"/>
                    <a:gd name="T1" fmla="*/ 1467 h 1467"/>
                    <a:gd name="T2" fmla="*/ 0 w 158"/>
                    <a:gd name="T3" fmla="*/ 1467 h 1467"/>
                    <a:gd name="T4" fmla="*/ 0 w 158"/>
                    <a:gd name="T5" fmla="*/ 0 h 1467"/>
                    <a:gd name="T6" fmla="*/ 95 w 158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8"/>
                    <a:gd name="T13" fmla="*/ 0 h 1467"/>
                    <a:gd name="T14" fmla="*/ 158 w 158"/>
                    <a:gd name="T15" fmla="*/ 1467 h 146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8" h="1467">
                      <a:moveTo>
                        <a:pt x="158" y="1467"/>
                      </a:moveTo>
                      <a:lnTo>
                        <a:pt x="0" y="1467"/>
                      </a:lnTo>
                      <a:lnTo>
                        <a:pt x="0" y="0"/>
                      </a:lnTo>
                      <a:lnTo>
                        <a:pt x="95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05" name="Freeform 173"/>
                <p:cNvSpPr/>
                <p:nvPr/>
              </p:nvSpPr>
              <p:spPr bwMode="auto">
                <a:xfrm>
                  <a:off x="4861" y="1211"/>
                  <a:ext cx="142" cy="1466"/>
                </a:xfrm>
                <a:custGeom>
                  <a:avLst/>
                  <a:gdLst>
                    <a:gd name="T0" fmla="*/ 34 w 142"/>
                    <a:gd name="T1" fmla="*/ 0 h 1466"/>
                    <a:gd name="T2" fmla="*/ 142 w 142"/>
                    <a:gd name="T3" fmla="*/ 0 h 1466"/>
                    <a:gd name="T4" fmla="*/ 141 w 142"/>
                    <a:gd name="T5" fmla="*/ 1466 h 1466"/>
                    <a:gd name="T6" fmla="*/ 0 w 142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2"/>
                    <a:gd name="T13" fmla="*/ 0 h 1466"/>
                    <a:gd name="T14" fmla="*/ 142 w 142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2" h="1466">
                      <a:moveTo>
                        <a:pt x="34" y="0"/>
                      </a:moveTo>
                      <a:lnTo>
                        <a:pt x="142" y="0"/>
                      </a:lnTo>
                      <a:lnTo>
                        <a:pt x="141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06" name="Freeform 174"/>
                <p:cNvSpPr/>
                <p:nvPr/>
              </p:nvSpPr>
              <p:spPr bwMode="auto">
                <a:xfrm>
                  <a:off x="5069" y="1211"/>
                  <a:ext cx="159" cy="1469"/>
                </a:xfrm>
                <a:custGeom>
                  <a:avLst/>
                  <a:gdLst>
                    <a:gd name="T0" fmla="*/ 159 w 159"/>
                    <a:gd name="T1" fmla="*/ 1467 h 1469"/>
                    <a:gd name="T2" fmla="*/ 0 w 159"/>
                    <a:gd name="T3" fmla="*/ 1469 h 1469"/>
                    <a:gd name="T4" fmla="*/ 1 w 159"/>
                    <a:gd name="T5" fmla="*/ 0 h 1469"/>
                    <a:gd name="T6" fmla="*/ 104 w 159"/>
                    <a:gd name="T7" fmla="*/ 0 h 1469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9"/>
                    <a:gd name="T13" fmla="*/ 0 h 1469"/>
                    <a:gd name="T14" fmla="*/ 159 w 159"/>
                    <a:gd name="T15" fmla="*/ 1469 h 1469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9" h="1469">
                      <a:moveTo>
                        <a:pt x="159" y="1467"/>
                      </a:moveTo>
                      <a:lnTo>
                        <a:pt x="0" y="1469"/>
                      </a:lnTo>
                      <a:lnTo>
                        <a:pt x="1" y="0"/>
                      </a:lnTo>
                      <a:lnTo>
                        <a:pt x="104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07" name="Freeform 175"/>
                <p:cNvSpPr/>
                <p:nvPr/>
              </p:nvSpPr>
              <p:spPr bwMode="auto">
                <a:xfrm>
                  <a:off x="5417" y="1211"/>
                  <a:ext cx="147" cy="1466"/>
                </a:xfrm>
                <a:custGeom>
                  <a:avLst/>
                  <a:gdLst>
                    <a:gd name="T0" fmla="*/ 47 w 147"/>
                    <a:gd name="T1" fmla="*/ 0 h 1466"/>
                    <a:gd name="T2" fmla="*/ 147 w 147"/>
                    <a:gd name="T3" fmla="*/ 0 h 1466"/>
                    <a:gd name="T4" fmla="*/ 146 w 147"/>
                    <a:gd name="T5" fmla="*/ 1466 h 1466"/>
                    <a:gd name="T6" fmla="*/ 0 w 147"/>
                    <a:gd name="T7" fmla="*/ 1466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47"/>
                    <a:gd name="T13" fmla="*/ 0 h 1466"/>
                    <a:gd name="T14" fmla="*/ 147 w 147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47" h="1466">
                      <a:moveTo>
                        <a:pt x="47" y="0"/>
                      </a:moveTo>
                      <a:lnTo>
                        <a:pt x="147" y="0"/>
                      </a:lnTo>
                      <a:lnTo>
                        <a:pt x="146" y="1466"/>
                      </a:lnTo>
                      <a:lnTo>
                        <a:pt x="0" y="14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08" name="Freeform 176"/>
                <p:cNvSpPr/>
                <p:nvPr/>
              </p:nvSpPr>
              <p:spPr bwMode="auto">
                <a:xfrm>
                  <a:off x="1055" y="2738"/>
                  <a:ext cx="730" cy="660"/>
                </a:xfrm>
                <a:custGeom>
                  <a:avLst/>
                  <a:gdLst>
                    <a:gd name="T0" fmla="*/ 160 w 730"/>
                    <a:gd name="T1" fmla="*/ 4 h 660"/>
                    <a:gd name="T2" fmla="*/ 0 w 730"/>
                    <a:gd name="T3" fmla="*/ 3 h 660"/>
                    <a:gd name="T4" fmla="*/ 0 w 730"/>
                    <a:gd name="T5" fmla="*/ 660 h 660"/>
                    <a:gd name="T6" fmla="*/ 558 w 730"/>
                    <a:gd name="T7" fmla="*/ 657 h 660"/>
                    <a:gd name="T8" fmla="*/ 558 w 730"/>
                    <a:gd name="T9" fmla="*/ 0 h 660"/>
                    <a:gd name="T10" fmla="*/ 730 w 730"/>
                    <a:gd name="T11" fmla="*/ 1 h 66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30"/>
                    <a:gd name="T19" fmla="*/ 0 h 660"/>
                    <a:gd name="T20" fmla="*/ 730 w 730"/>
                    <a:gd name="T21" fmla="*/ 660 h 66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30" h="660">
                      <a:moveTo>
                        <a:pt x="160" y="4"/>
                      </a:moveTo>
                      <a:lnTo>
                        <a:pt x="0" y="3"/>
                      </a:lnTo>
                      <a:lnTo>
                        <a:pt x="0" y="660"/>
                      </a:lnTo>
                      <a:lnTo>
                        <a:pt x="558" y="657"/>
                      </a:lnTo>
                      <a:lnTo>
                        <a:pt x="558" y="0"/>
                      </a:lnTo>
                      <a:lnTo>
                        <a:pt x="730" y="1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09" name="Freeform 177"/>
                <p:cNvSpPr/>
                <p:nvPr/>
              </p:nvSpPr>
              <p:spPr bwMode="auto">
                <a:xfrm>
                  <a:off x="2207" y="2744"/>
                  <a:ext cx="729" cy="658"/>
                </a:xfrm>
                <a:custGeom>
                  <a:avLst/>
                  <a:gdLst>
                    <a:gd name="T0" fmla="*/ 153 w 729"/>
                    <a:gd name="T1" fmla="*/ 0 h 658"/>
                    <a:gd name="T2" fmla="*/ 0 w 729"/>
                    <a:gd name="T3" fmla="*/ 0 h 658"/>
                    <a:gd name="T4" fmla="*/ 0 w 729"/>
                    <a:gd name="T5" fmla="*/ 657 h 658"/>
                    <a:gd name="T6" fmla="*/ 583 w 729"/>
                    <a:gd name="T7" fmla="*/ 658 h 658"/>
                    <a:gd name="T8" fmla="*/ 582 w 729"/>
                    <a:gd name="T9" fmla="*/ 3 h 658"/>
                    <a:gd name="T10" fmla="*/ 729 w 729"/>
                    <a:gd name="T11" fmla="*/ 3 h 65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29"/>
                    <a:gd name="T19" fmla="*/ 0 h 658"/>
                    <a:gd name="T20" fmla="*/ 729 w 729"/>
                    <a:gd name="T21" fmla="*/ 658 h 65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29" h="658">
                      <a:moveTo>
                        <a:pt x="153" y="0"/>
                      </a:moveTo>
                      <a:lnTo>
                        <a:pt x="0" y="0"/>
                      </a:lnTo>
                      <a:lnTo>
                        <a:pt x="0" y="657"/>
                      </a:lnTo>
                      <a:lnTo>
                        <a:pt x="583" y="658"/>
                      </a:lnTo>
                      <a:lnTo>
                        <a:pt x="582" y="3"/>
                      </a:lnTo>
                      <a:lnTo>
                        <a:pt x="729" y="3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10" name="Freeform 178"/>
                <p:cNvSpPr/>
                <p:nvPr/>
              </p:nvSpPr>
              <p:spPr bwMode="auto">
                <a:xfrm>
                  <a:off x="3356" y="2744"/>
                  <a:ext cx="729" cy="657"/>
                </a:xfrm>
                <a:custGeom>
                  <a:avLst/>
                  <a:gdLst>
                    <a:gd name="T0" fmla="*/ 158 w 729"/>
                    <a:gd name="T1" fmla="*/ 0 h 657"/>
                    <a:gd name="T2" fmla="*/ 0 w 729"/>
                    <a:gd name="T3" fmla="*/ 0 h 657"/>
                    <a:gd name="T4" fmla="*/ 0 w 729"/>
                    <a:gd name="T5" fmla="*/ 657 h 657"/>
                    <a:gd name="T6" fmla="*/ 579 w 729"/>
                    <a:gd name="T7" fmla="*/ 654 h 657"/>
                    <a:gd name="T8" fmla="*/ 582 w 729"/>
                    <a:gd name="T9" fmla="*/ 3 h 657"/>
                    <a:gd name="T10" fmla="*/ 729 w 729"/>
                    <a:gd name="T11" fmla="*/ 3 h 65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29"/>
                    <a:gd name="T19" fmla="*/ 0 h 657"/>
                    <a:gd name="T20" fmla="*/ 729 w 729"/>
                    <a:gd name="T21" fmla="*/ 657 h 65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29" h="657">
                      <a:moveTo>
                        <a:pt x="158" y="0"/>
                      </a:moveTo>
                      <a:lnTo>
                        <a:pt x="0" y="0"/>
                      </a:lnTo>
                      <a:lnTo>
                        <a:pt x="0" y="657"/>
                      </a:lnTo>
                      <a:lnTo>
                        <a:pt x="579" y="654"/>
                      </a:lnTo>
                      <a:lnTo>
                        <a:pt x="582" y="3"/>
                      </a:lnTo>
                      <a:lnTo>
                        <a:pt x="729" y="3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11" name="Freeform 179"/>
                <p:cNvSpPr/>
                <p:nvPr/>
              </p:nvSpPr>
              <p:spPr bwMode="auto">
                <a:xfrm>
                  <a:off x="4508" y="2744"/>
                  <a:ext cx="729" cy="657"/>
                </a:xfrm>
                <a:custGeom>
                  <a:avLst/>
                  <a:gdLst>
                    <a:gd name="T0" fmla="*/ 161 w 729"/>
                    <a:gd name="T1" fmla="*/ 2 h 657"/>
                    <a:gd name="T2" fmla="*/ 0 w 729"/>
                    <a:gd name="T3" fmla="*/ 0 h 657"/>
                    <a:gd name="T4" fmla="*/ 0 w 729"/>
                    <a:gd name="T5" fmla="*/ 657 h 657"/>
                    <a:gd name="T6" fmla="*/ 579 w 729"/>
                    <a:gd name="T7" fmla="*/ 654 h 657"/>
                    <a:gd name="T8" fmla="*/ 582 w 729"/>
                    <a:gd name="T9" fmla="*/ 3 h 657"/>
                    <a:gd name="T10" fmla="*/ 729 w 729"/>
                    <a:gd name="T11" fmla="*/ 3 h 65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29"/>
                    <a:gd name="T19" fmla="*/ 0 h 657"/>
                    <a:gd name="T20" fmla="*/ 729 w 729"/>
                    <a:gd name="T21" fmla="*/ 657 h 65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29" h="657">
                      <a:moveTo>
                        <a:pt x="161" y="2"/>
                      </a:moveTo>
                      <a:lnTo>
                        <a:pt x="0" y="0"/>
                      </a:lnTo>
                      <a:lnTo>
                        <a:pt x="0" y="657"/>
                      </a:lnTo>
                      <a:lnTo>
                        <a:pt x="579" y="654"/>
                      </a:lnTo>
                      <a:lnTo>
                        <a:pt x="582" y="3"/>
                      </a:lnTo>
                      <a:lnTo>
                        <a:pt x="729" y="3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12" name="Freeform 180"/>
                <p:cNvSpPr/>
                <p:nvPr/>
              </p:nvSpPr>
              <p:spPr bwMode="auto">
                <a:xfrm>
                  <a:off x="1400" y="2735"/>
                  <a:ext cx="708" cy="571"/>
                </a:xfrm>
                <a:custGeom>
                  <a:avLst/>
                  <a:gdLst>
                    <a:gd name="T0" fmla="*/ 0 w 708"/>
                    <a:gd name="T1" fmla="*/ 0 h 571"/>
                    <a:gd name="T2" fmla="*/ 132 w 708"/>
                    <a:gd name="T3" fmla="*/ 0 h 571"/>
                    <a:gd name="T4" fmla="*/ 133 w 708"/>
                    <a:gd name="T5" fmla="*/ 571 h 571"/>
                    <a:gd name="T6" fmla="*/ 708 w 708"/>
                    <a:gd name="T7" fmla="*/ 570 h 571"/>
                    <a:gd name="T8" fmla="*/ 708 w 708"/>
                    <a:gd name="T9" fmla="*/ 9 h 571"/>
                    <a:gd name="T10" fmla="*/ 573 w 708"/>
                    <a:gd name="T11" fmla="*/ 9 h 57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08"/>
                    <a:gd name="T19" fmla="*/ 0 h 571"/>
                    <a:gd name="T20" fmla="*/ 708 w 708"/>
                    <a:gd name="T21" fmla="*/ 571 h 57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08" h="571">
                      <a:moveTo>
                        <a:pt x="0" y="0"/>
                      </a:moveTo>
                      <a:lnTo>
                        <a:pt x="132" y="0"/>
                      </a:lnTo>
                      <a:lnTo>
                        <a:pt x="133" y="571"/>
                      </a:lnTo>
                      <a:lnTo>
                        <a:pt x="708" y="570"/>
                      </a:lnTo>
                      <a:lnTo>
                        <a:pt x="708" y="9"/>
                      </a:lnTo>
                      <a:lnTo>
                        <a:pt x="573" y="9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13" name="Freeform 181"/>
                <p:cNvSpPr/>
                <p:nvPr/>
              </p:nvSpPr>
              <p:spPr bwMode="auto">
                <a:xfrm>
                  <a:off x="2552" y="2735"/>
                  <a:ext cx="726" cy="567"/>
                </a:xfrm>
                <a:custGeom>
                  <a:avLst/>
                  <a:gdLst>
                    <a:gd name="T0" fmla="*/ 0 w 726"/>
                    <a:gd name="T1" fmla="*/ 0 h 567"/>
                    <a:gd name="T2" fmla="*/ 148 w 726"/>
                    <a:gd name="T3" fmla="*/ 1 h 567"/>
                    <a:gd name="T4" fmla="*/ 147 w 726"/>
                    <a:gd name="T5" fmla="*/ 567 h 567"/>
                    <a:gd name="T6" fmla="*/ 726 w 726"/>
                    <a:gd name="T7" fmla="*/ 567 h 567"/>
                    <a:gd name="T8" fmla="*/ 726 w 726"/>
                    <a:gd name="T9" fmla="*/ 6 h 567"/>
                    <a:gd name="T10" fmla="*/ 579 w 726"/>
                    <a:gd name="T11" fmla="*/ 6 h 56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26"/>
                    <a:gd name="T19" fmla="*/ 0 h 567"/>
                    <a:gd name="T20" fmla="*/ 726 w 726"/>
                    <a:gd name="T21" fmla="*/ 567 h 56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26" h="567">
                      <a:moveTo>
                        <a:pt x="0" y="0"/>
                      </a:moveTo>
                      <a:lnTo>
                        <a:pt x="148" y="1"/>
                      </a:lnTo>
                      <a:lnTo>
                        <a:pt x="147" y="567"/>
                      </a:lnTo>
                      <a:lnTo>
                        <a:pt x="726" y="567"/>
                      </a:lnTo>
                      <a:lnTo>
                        <a:pt x="726" y="6"/>
                      </a:lnTo>
                      <a:lnTo>
                        <a:pt x="579" y="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14" name="Freeform 182"/>
                <p:cNvSpPr/>
                <p:nvPr/>
              </p:nvSpPr>
              <p:spPr bwMode="auto">
                <a:xfrm>
                  <a:off x="3704" y="2738"/>
                  <a:ext cx="714" cy="567"/>
                </a:xfrm>
                <a:custGeom>
                  <a:avLst/>
                  <a:gdLst>
                    <a:gd name="T0" fmla="*/ 0 w 714"/>
                    <a:gd name="T1" fmla="*/ 0 h 567"/>
                    <a:gd name="T2" fmla="*/ 136 w 714"/>
                    <a:gd name="T3" fmla="*/ 1 h 567"/>
                    <a:gd name="T4" fmla="*/ 135 w 714"/>
                    <a:gd name="T5" fmla="*/ 567 h 567"/>
                    <a:gd name="T6" fmla="*/ 714 w 714"/>
                    <a:gd name="T7" fmla="*/ 567 h 567"/>
                    <a:gd name="T8" fmla="*/ 714 w 714"/>
                    <a:gd name="T9" fmla="*/ 6 h 567"/>
                    <a:gd name="T10" fmla="*/ 576 w 714"/>
                    <a:gd name="T11" fmla="*/ 5 h 56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14"/>
                    <a:gd name="T19" fmla="*/ 0 h 567"/>
                    <a:gd name="T20" fmla="*/ 714 w 714"/>
                    <a:gd name="T21" fmla="*/ 567 h 56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14" h="567">
                      <a:moveTo>
                        <a:pt x="0" y="0"/>
                      </a:moveTo>
                      <a:lnTo>
                        <a:pt x="136" y="1"/>
                      </a:lnTo>
                      <a:lnTo>
                        <a:pt x="135" y="567"/>
                      </a:lnTo>
                      <a:lnTo>
                        <a:pt x="714" y="567"/>
                      </a:lnTo>
                      <a:lnTo>
                        <a:pt x="714" y="6"/>
                      </a:lnTo>
                      <a:lnTo>
                        <a:pt x="576" y="5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15" name="Freeform 183"/>
                <p:cNvSpPr/>
                <p:nvPr/>
              </p:nvSpPr>
              <p:spPr bwMode="auto">
                <a:xfrm>
                  <a:off x="4859" y="2738"/>
                  <a:ext cx="711" cy="567"/>
                </a:xfrm>
                <a:custGeom>
                  <a:avLst/>
                  <a:gdLst>
                    <a:gd name="T0" fmla="*/ 0 w 711"/>
                    <a:gd name="T1" fmla="*/ 0 h 567"/>
                    <a:gd name="T2" fmla="*/ 130 w 711"/>
                    <a:gd name="T3" fmla="*/ 1 h 567"/>
                    <a:gd name="T4" fmla="*/ 132 w 711"/>
                    <a:gd name="T5" fmla="*/ 567 h 567"/>
                    <a:gd name="T6" fmla="*/ 711 w 711"/>
                    <a:gd name="T7" fmla="*/ 567 h 567"/>
                    <a:gd name="T8" fmla="*/ 711 w 711"/>
                    <a:gd name="T9" fmla="*/ 6 h 567"/>
                    <a:gd name="T10" fmla="*/ 564 w 711"/>
                    <a:gd name="T11" fmla="*/ 6 h 56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11"/>
                    <a:gd name="T19" fmla="*/ 0 h 567"/>
                    <a:gd name="T20" fmla="*/ 711 w 711"/>
                    <a:gd name="T21" fmla="*/ 567 h 56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11" h="567">
                      <a:moveTo>
                        <a:pt x="0" y="0"/>
                      </a:moveTo>
                      <a:lnTo>
                        <a:pt x="130" y="1"/>
                      </a:lnTo>
                      <a:lnTo>
                        <a:pt x="132" y="567"/>
                      </a:lnTo>
                      <a:lnTo>
                        <a:pt x="711" y="567"/>
                      </a:lnTo>
                      <a:lnTo>
                        <a:pt x="711" y="6"/>
                      </a:lnTo>
                      <a:lnTo>
                        <a:pt x="564" y="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16" name="Freeform 184"/>
                <p:cNvSpPr/>
                <p:nvPr/>
              </p:nvSpPr>
              <p:spPr bwMode="auto">
                <a:xfrm>
                  <a:off x="1322" y="3398"/>
                  <a:ext cx="1" cy="150"/>
                </a:xfrm>
                <a:custGeom>
                  <a:avLst/>
                  <a:gdLst>
                    <a:gd name="T0" fmla="*/ 0 w 1"/>
                    <a:gd name="T1" fmla="*/ 0 h 150"/>
                    <a:gd name="T2" fmla="*/ 0 w 1"/>
                    <a:gd name="T3" fmla="*/ 150 h 150"/>
                    <a:gd name="T4" fmla="*/ 0 60000 65536"/>
                    <a:gd name="T5" fmla="*/ 0 60000 65536"/>
                    <a:gd name="T6" fmla="*/ 0 w 1"/>
                    <a:gd name="T7" fmla="*/ 0 h 150"/>
                    <a:gd name="T8" fmla="*/ 1 w 1"/>
                    <a:gd name="T9" fmla="*/ 150 h 15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50">
                      <a:moveTo>
                        <a:pt x="0" y="0"/>
                      </a:moveTo>
                      <a:lnTo>
                        <a:pt x="0" y="15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17" name="Freeform 185"/>
                <p:cNvSpPr/>
                <p:nvPr/>
              </p:nvSpPr>
              <p:spPr bwMode="auto">
                <a:xfrm>
                  <a:off x="2491" y="3401"/>
                  <a:ext cx="1" cy="150"/>
                </a:xfrm>
                <a:custGeom>
                  <a:avLst/>
                  <a:gdLst>
                    <a:gd name="T0" fmla="*/ 0 w 1"/>
                    <a:gd name="T1" fmla="*/ 0 h 150"/>
                    <a:gd name="T2" fmla="*/ 0 w 1"/>
                    <a:gd name="T3" fmla="*/ 150 h 150"/>
                    <a:gd name="T4" fmla="*/ 0 60000 65536"/>
                    <a:gd name="T5" fmla="*/ 0 60000 65536"/>
                    <a:gd name="T6" fmla="*/ 0 w 1"/>
                    <a:gd name="T7" fmla="*/ 0 h 150"/>
                    <a:gd name="T8" fmla="*/ 1 w 1"/>
                    <a:gd name="T9" fmla="*/ 150 h 15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50">
                      <a:moveTo>
                        <a:pt x="0" y="0"/>
                      </a:moveTo>
                      <a:lnTo>
                        <a:pt x="0" y="15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18" name="Freeform 186"/>
                <p:cNvSpPr/>
                <p:nvPr/>
              </p:nvSpPr>
              <p:spPr bwMode="auto">
                <a:xfrm>
                  <a:off x="3643" y="3401"/>
                  <a:ext cx="1" cy="150"/>
                </a:xfrm>
                <a:custGeom>
                  <a:avLst/>
                  <a:gdLst>
                    <a:gd name="T0" fmla="*/ 0 w 1"/>
                    <a:gd name="T1" fmla="*/ 0 h 150"/>
                    <a:gd name="T2" fmla="*/ 0 w 1"/>
                    <a:gd name="T3" fmla="*/ 150 h 150"/>
                    <a:gd name="T4" fmla="*/ 0 60000 65536"/>
                    <a:gd name="T5" fmla="*/ 0 60000 65536"/>
                    <a:gd name="T6" fmla="*/ 0 w 1"/>
                    <a:gd name="T7" fmla="*/ 0 h 150"/>
                    <a:gd name="T8" fmla="*/ 1 w 1"/>
                    <a:gd name="T9" fmla="*/ 150 h 15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50">
                      <a:moveTo>
                        <a:pt x="0" y="0"/>
                      </a:moveTo>
                      <a:lnTo>
                        <a:pt x="0" y="15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19" name="Freeform 187"/>
                <p:cNvSpPr/>
                <p:nvPr/>
              </p:nvSpPr>
              <p:spPr bwMode="auto">
                <a:xfrm>
                  <a:off x="4795" y="3401"/>
                  <a:ext cx="1" cy="150"/>
                </a:xfrm>
                <a:custGeom>
                  <a:avLst/>
                  <a:gdLst>
                    <a:gd name="T0" fmla="*/ 0 w 1"/>
                    <a:gd name="T1" fmla="*/ 0 h 150"/>
                    <a:gd name="T2" fmla="*/ 0 w 1"/>
                    <a:gd name="T3" fmla="*/ 150 h 150"/>
                    <a:gd name="T4" fmla="*/ 0 60000 65536"/>
                    <a:gd name="T5" fmla="*/ 0 60000 65536"/>
                    <a:gd name="T6" fmla="*/ 0 w 1"/>
                    <a:gd name="T7" fmla="*/ 0 h 150"/>
                    <a:gd name="T8" fmla="*/ 1 w 1"/>
                    <a:gd name="T9" fmla="*/ 150 h 15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50">
                      <a:moveTo>
                        <a:pt x="0" y="0"/>
                      </a:moveTo>
                      <a:lnTo>
                        <a:pt x="0" y="15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20" name="Freeform 188"/>
                <p:cNvSpPr/>
                <p:nvPr/>
              </p:nvSpPr>
              <p:spPr bwMode="auto">
                <a:xfrm>
                  <a:off x="5276" y="3305"/>
                  <a:ext cx="1" cy="246"/>
                </a:xfrm>
                <a:custGeom>
                  <a:avLst/>
                  <a:gdLst>
                    <a:gd name="T0" fmla="*/ 0 w 1"/>
                    <a:gd name="T1" fmla="*/ 0 h 246"/>
                    <a:gd name="T2" fmla="*/ 0 w 1"/>
                    <a:gd name="T3" fmla="*/ 246 h 246"/>
                    <a:gd name="T4" fmla="*/ 0 60000 65536"/>
                    <a:gd name="T5" fmla="*/ 0 60000 65536"/>
                    <a:gd name="T6" fmla="*/ 0 w 1"/>
                    <a:gd name="T7" fmla="*/ 0 h 246"/>
                    <a:gd name="T8" fmla="*/ 1 w 1"/>
                    <a:gd name="T9" fmla="*/ 246 h 24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46">
                      <a:moveTo>
                        <a:pt x="0" y="0"/>
                      </a:moveTo>
                      <a:lnTo>
                        <a:pt x="0" y="24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21" name="Freeform 189"/>
                <p:cNvSpPr/>
                <p:nvPr/>
              </p:nvSpPr>
              <p:spPr bwMode="auto">
                <a:xfrm>
                  <a:off x="4124" y="3305"/>
                  <a:ext cx="1" cy="246"/>
                </a:xfrm>
                <a:custGeom>
                  <a:avLst/>
                  <a:gdLst>
                    <a:gd name="T0" fmla="*/ 0 w 1"/>
                    <a:gd name="T1" fmla="*/ 0 h 246"/>
                    <a:gd name="T2" fmla="*/ 0 w 1"/>
                    <a:gd name="T3" fmla="*/ 246 h 246"/>
                    <a:gd name="T4" fmla="*/ 0 60000 65536"/>
                    <a:gd name="T5" fmla="*/ 0 60000 65536"/>
                    <a:gd name="T6" fmla="*/ 0 w 1"/>
                    <a:gd name="T7" fmla="*/ 0 h 246"/>
                    <a:gd name="T8" fmla="*/ 1 w 1"/>
                    <a:gd name="T9" fmla="*/ 246 h 24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46">
                      <a:moveTo>
                        <a:pt x="0" y="0"/>
                      </a:moveTo>
                      <a:lnTo>
                        <a:pt x="0" y="24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22" name="Freeform 190"/>
                <p:cNvSpPr/>
                <p:nvPr/>
              </p:nvSpPr>
              <p:spPr bwMode="auto">
                <a:xfrm>
                  <a:off x="2972" y="3305"/>
                  <a:ext cx="1" cy="246"/>
                </a:xfrm>
                <a:custGeom>
                  <a:avLst/>
                  <a:gdLst>
                    <a:gd name="T0" fmla="*/ 0 w 1"/>
                    <a:gd name="T1" fmla="*/ 0 h 246"/>
                    <a:gd name="T2" fmla="*/ 0 w 1"/>
                    <a:gd name="T3" fmla="*/ 246 h 246"/>
                    <a:gd name="T4" fmla="*/ 0 60000 65536"/>
                    <a:gd name="T5" fmla="*/ 0 60000 65536"/>
                    <a:gd name="T6" fmla="*/ 0 w 1"/>
                    <a:gd name="T7" fmla="*/ 0 h 246"/>
                    <a:gd name="T8" fmla="*/ 1 w 1"/>
                    <a:gd name="T9" fmla="*/ 246 h 24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46">
                      <a:moveTo>
                        <a:pt x="0" y="0"/>
                      </a:moveTo>
                      <a:lnTo>
                        <a:pt x="0" y="24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23" name="Freeform 191"/>
                <p:cNvSpPr/>
                <p:nvPr/>
              </p:nvSpPr>
              <p:spPr bwMode="auto">
                <a:xfrm>
                  <a:off x="1819" y="3305"/>
                  <a:ext cx="1" cy="246"/>
                </a:xfrm>
                <a:custGeom>
                  <a:avLst/>
                  <a:gdLst>
                    <a:gd name="T0" fmla="*/ 0 w 1"/>
                    <a:gd name="T1" fmla="*/ 0 h 246"/>
                    <a:gd name="T2" fmla="*/ 0 w 1"/>
                    <a:gd name="T3" fmla="*/ 246 h 246"/>
                    <a:gd name="T4" fmla="*/ 0 60000 65536"/>
                    <a:gd name="T5" fmla="*/ 0 60000 65536"/>
                    <a:gd name="T6" fmla="*/ 0 w 1"/>
                    <a:gd name="T7" fmla="*/ 0 h 246"/>
                    <a:gd name="T8" fmla="*/ 1 w 1"/>
                    <a:gd name="T9" fmla="*/ 246 h 24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46">
                      <a:moveTo>
                        <a:pt x="0" y="0"/>
                      </a:moveTo>
                      <a:lnTo>
                        <a:pt x="0" y="24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24" name="Freeform 192"/>
                <p:cNvSpPr/>
                <p:nvPr/>
              </p:nvSpPr>
              <p:spPr bwMode="auto">
                <a:xfrm>
                  <a:off x="956" y="4025"/>
                  <a:ext cx="4317" cy="1"/>
                </a:xfrm>
                <a:custGeom>
                  <a:avLst/>
                  <a:gdLst>
                    <a:gd name="T0" fmla="*/ 0 w 4317"/>
                    <a:gd name="T1" fmla="*/ 0 h 1"/>
                    <a:gd name="T2" fmla="*/ 4317 w 4317"/>
                    <a:gd name="T3" fmla="*/ 0 h 1"/>
                    <a:gd name="T4" fmla="*/ 0 60000 65536"/>
                    <a:gd name="T5" fmla="*/ 0 60000 65536"/>
                    <a:gd name="T6" fmla="*/ 0 w 4317"/>
                    <a:gd name="T7" fmla="*/ 0 h 1"/>
                    <a:gd name="T8" fmla="*/ 4317 w 4317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317" h="1">
                      <a:moveTo>
                        <a:pt x="0" y="0"/>
                      </a:moveTo>
                      <a:lnTo>
                        <a:pt x="4317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25" name="Freeform 193"/>
                <p:cNvSpPr/>
                <p:nvPr/>
              </p:nvSpPr>
              <p:spPr bwMode="auto">
                <a:xfrm>
                  <a:off x="956" y="4121"/>
                  <a:ext cx="3837" cy="1"/>
                </a:xfrm>
                <a:custGeom>
                  <a:avLst/>
                  <a:gdLst>
                    <a:gd name="T0" fmla="*/ 0 w 3837"/>
                    <a:gd name="T1" fmla="*/ 0 h 1"/>
                    <a:gd name="T2" fmla="*/ 3837 w 3837"/>
                    <a:gd name="T3" fmla="*/ 0 h 1"/>
                    <a:gd name="T4" fmla="*/ 0 60000 65536"/>
                    <a:gd name="T5" fmla="*/ 0 60000 65536"/>
                    <a:gd name="T6" fmla="*/ 0 w 3837"/>
                    <a:gd name="T7" fmla="*/ 0 h 1"/>
                    <a:gd name="T8" fmla="*/ 3837 w 3837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837" h="1">
                      <a:moveTo>
                        <a:pt x="0" y="0"/>
                      </a:moveTo>
                      <a:lnTo>
                        <a:pt x="3837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26" name="Freeform 194"/>
                <p:cNvSpPr/>
                <p:nvPr/>
              </p:nvSpPr>
              <p:spPr bwMode="auto">
                <a:xfrm>
                  <a:off x="1322" y="3881"/>
                  <a:ext cx="1" cy="243"/>
                </a:xfrm>
                <a:custGeom>
                  <a:avLst/>
                  <a:gdLst>
                    <a:gd name="T0" fmla="*/ 0 w 1"/>
                    <a:gd name="T1" fmla="*/ 0 h 243"/>
                    <a:gd name="T2" fmla="*/ 0 w 1"/>
                    <a:gd name="T3" fmla="*/ 243 h 243"/>
                    <a:gd name="T4" fmla="*/ 0 60000 65536"/>
                    <a:gd name="T5" fmla="*/ 0 60000 65536"/>
                    <a:gd name="T6" fmla="*/ 0 w 1"/>
                    <a:gd name="T7" fmla="*/ 0 h 243"/>
                    <a:gd name="T8" fmla="*/ 1 w 1"/>
                    <a:gd name="T9" fmla="*/ 243 h 243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43">
                      <a:moveTo>
                        <a:pt x="0" y="0"/>
                      </a:moveTo>
                      <a:lnTo>
                        <a:pt x="0" y="243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27" name="Freeform 195"/>
                <p:cNvSpPr/>
                <p:nvPr/>
              </p:nvSpPr>
              <p:spPr bwMode="auto">
                <a:xfrm>
                  <a:off x="2491" y="3881"/>
                  <a:ext cx="1" cy="243"/>
                </a:xfrm>
                <a:custGeom>
                  <a:avLst/>
                  <a:gdLst>
                    <a:gd name="T0" fmla="*/ 0 w 1"/>
                    <a:gd name="T1" fmla="*/ 0 h 243"/>
                    <a:gd name="T2" fmla="*/ 0 w 1"/>
                    <a:gd name="T3" fmla="*/ 243 h 243"/>
                    <a:gd name="T4" fmla="*/ 0 60000 65536"/>
                    <a:gd name="T5" fmla="*/ 0 60000 65536"/>
                    <a:gd name="T6" fmla="*/ 0 w 1"/>
                    <a:gd name="T7" fmla="*/ 0 h 243"/>
                    <a:gd name="T8" fmla="*/ 1 w 1"/>
                    <a:gd name="T9" fmla="*/ 243 h 243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43">
                      <a:moveTo>
                        <a:pt x="0" y="0"/>
                      </a:moveTo>
                      <a:lnTo>
                        <a:pt x="0" y="243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28" name="Freeform 196"/>
                <p:cNvSpPr/>
                <p:nvPr/>
              </p:nvSpPr>
              <p:spPr bwMode="auto">
                <a:xfrm>
                  <a:off x="3643" y="3881"/>
                  <a:ext cx="1" cy="243"/>
                </a:xfrm>
                <a:custGeom>
                  <a:avLst/>
                  <a:gdLst>
                    <a:gd name="T0" fmla="*/ 0 w 1"/>
                    <a:gd name="T1" fmla="*/ 0 h 243"/>
                    <a:gd name="T2" fmla="*/ 0 w 1"/>
                    <a:gd name="T3" fmla="*/ 243 h 243"/>
                    <a:gd name="T4" fmla="*/ 0 60000 65536"/>
                    <a:gd name="T5" fmla="*/ 0 60000 65536"/>
                    <a:gd name="T6" fmla="*/ 0 w 1"/>
                    <a:gd name="T7" fmla="*/ 0 h 243"/>
                    <a:gd name="T8" fmla="*/ 1 w 1"/>
                    <a:gd name="T9" fmla="*/ 243 h 243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43">
                      <a:moveTo>
                        <a:pt x="0" y="0"/>
                      </a:moveTo>
                      <a:lnTo>
                        <a:pt x="0" y="243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29" name="Freeform 197"/>
                <p:cNvSpPr/>
                <p:nvPr/>
              </p:nvSpPr>
              <p:spPr bwMode="auto">
                <a:xfrm>
                  <a:off x="4791" y="3881"/>
                  <a:ext cx="4" cy="247"/>
                </a:xfrm>
                <a:custGeom>
                  <a:avLst/>
                  <a:gdLst>
                    <a:gd name="T0" fmla="*/ 4 w 4"/>
                    <a:gd name="T1" fmla="*/ 0 h 247"/>
                    <a:gd name="T2" fmla="*/ 0 w 4"/>
                    <a:gd name="T3" fmla="*/ 247 h 247"/>
                    <a:gd name="T4" fmla="*/ 0 60000 65536"/>
                    <a:gd name="T5" fmla="*/ 0 60000 65536"/>
                    <a:gd name="T6" fmla="*/ 0 w 4"/>
                    <a:gd name="T7" fmla="*/ 0 h 247"/>
                    <a:gd name="T8" fmla="*/ 4 w 4"/>
                    <a:gd name="T9" fmla="*/ 247 h 247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" h="247">
                      <a:moveTo>
                        <a:pt x="4" y="0"/>
                      </a:moveTo>
                      <a:lnTo>
                        <a:pt x="0" y="247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30" name="Freeform 198"/>
                <p:cNvSpPr/>
                <p:nvPr/>
              </p:nvSpPr>
              <p:spPr bwMode="auto">
                <a:xfrm>
                  <a:off x="5277" y="3881"/>
                  <a:ext cx="1" cy="151"/>
                </a:xfrm>
                <a:custGeom>
                  <a:avLst/>
                  <a:gdLst>
                    <a:gd name="T0" fmla="*/ 0 w 1"/>
                    <a:gd name="T1" fmla="*/ 0 h 151"/>
                    <a:gd name="T2" fmla="*/ 0 w 1"/>
                    <a:gd name="T3" fmla="*/ 151 h 151"/>
                    <a:gd name="T4" fmla="*/ 0 60000 65536"/>
                    <a:gd name="T5" fmla="*/ 0 60000 65536"/>
                    <a:gd name="T6" fmla="*/ 0 w 1"/>
                    <a:gd name="T7" fmla="*/ 0 h 151"/>
                    <a:gd name="T8" fmla="*/ 1 w 1"/>
                    <a:gd name="T9" fmla="*/ 151 h 15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51">
                      <a:moveTo>
                        <a:pt x="0" y="0"/>
                      </a:moveTo>
                      <a:lnTo>
                        <a:pt x="0" y="151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  <a:round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31" name="Line 199"/>
                <p:cNvSpPr>
                  <a:spLocks noChangeShapeType="1"/>
                </p:cNvSpPr>
                <p:nvPr/>
              </p:nvSpPr>
              <p:spPr bwMode="auto">
                <a:xfrm>
                  <a:off x="4124" y="38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32" name="Line 200"/>
                <p:cNvSpPr>
                  <a:spLocks noChangeShapeType="1"/>
                </p:cNvSpPr>
                <p:nvPr/>
              </p:nvSpPr>
              <p:spPr bwMode="auto">
                <a:xfrm>
                  <a:off x="2973" y="38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33" name="Line 201"/>
                <p:cNvSpPr>
                  <a:spLocks noChangeShapeType="1"/>
                </p:cNvSpPr>
                <p:nvPr/>
              </p:nvSpPr>
              <p:spPr bwMode="auto">
                <a:xfrm>
                  <a:off x="1820" y="3881"/>
                  <a:ext cx="0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34" name="Rectangle 202"/>
                <p:cNvSpPr>
                  <a:spLocks noChangeArrowheads="1"/>
                </p:cNvSpPr>
                <p:nvPr/>
              </p:nvSpPr>
              <p:spPr bwMode="auto">
                <a:xfrm>
                  <a:off x="2317" y="3545"/>
                  <a:ext cx="823" cy="33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38535" name="Text Box 203"/>
                <p:cNvSpPr txBox="1">
                  <a:spLocks noChangeArrowheads="1"/>
                </p:cNvSpPr>
                <p:nvPr/>
              </p:nvSpPr>
              <p:spPr bwMode="auto">
                <a:xfrm>
                  <a:off x="2348" y="3576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读写电路</a:t>
                  </a:r>
                </a:p>
              </p:txBody>
            </p:sp>
            <p:sp>
              <p:nvSpPr>
                <p:cNvPr id="138536" name="Rectangle 204"/>
                <p:cNvSpPr>
                  <a:spLocks noChangeArrowheads="1"/>
                </p:cNvSpPr>
                <p:nvPr/>
              </p:nvSpPr>
              <p:spPr bwMode="auto">
                <a:xfrm>
                  <a:off x="3469" y="3545"/>
                  <a:ext cx="823" cy="33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38537" name="Text Box 205"/>
                <p:cNvSpPr txBox="1">
                  <a:spLocks noChangeArrowheads="1"/>
                </p:cNvSpPr>
                <p:nvPr/>
              </p:nvSpPr>
              <p:spPr bwMode="auto">
                <a:xfrm>
                  <a:off x="3500" y="3576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读写电路</a:t>
                  </a:r>
                </a:p>
              </p:txBody>
            </p:sp>
            <p:sp>
              <p:nvSpPr>
                <p:cNvPr id="138538" name="Rectangle 206"/>
                <p:cNvSpPr>
                  <a:spLocks noChangeArrowheads="1"/>
                </p:cNvSpPr>
                <p:nvPr/>
              </p:nvSpPr>
              <p:spPr bwMode="auto">
                <a:xfrm>
                  <a:off x="4621" y="3545"/>
                  <a:ext cx="823" cy="33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38539" name="Text Box 207"/>
                <p:cNvSpPr txBox="1">
                  <a:spLocks noChangeArrowheads="1"/>
                </p:cNvSpPr>
                <p:nvPr/>
              </p:nvSpPr>
              <p:spPr bwMode="auto">
                <a:xfrm>
                  <a:off x="4652" y="3576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读写电路</a:t>
                  </a:r>
                </a:p>
              </p:txBody>
            </p:sp>
            <p:sp>
              <p:nvSpPr>
                <p:cNvPr id="138540" name="Line 208"/>
                <p:cNvSpPr>
                  <a:spLocks noChangeShapeType="1"/>
                </p:cNvSpPr>
                <p:nvPr/>
              </p:nvSpPr>
              <p:spPr bwMode="auto">
                <a:xfrm>
                  <a:off x="1964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41" name="Line 209"/>
                <p:cNvSpPr>
                  <a:spLocks noChangeShapeType="1"/>
                </p:cNvSpPr>
                <p:nvPr/>
              </p:nvSpPr>
              <p:spPr bwMode="auto">
                <a:xfrm>
                  <a:off x="3144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42" name="Line 210"/>
                <p:cNvSpPr>
                  <a:spLocks noChangeShapeType="1"/>
                </p:cNvSpPr>
                <p:nvPr/>
              </p:nvSpPr>
              <p:spPr bwMode="auto">
                <a:xfrm>
                  <a:off x="4293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43" name="Line 211"/>
                <p:cNvSpPr>
                  <a:spLocks noChangeShapeType="1"/>
                </p:cNvSpPr>
                <p:nvPr/>
              </p:nvSpPr>
              <p:spPr bwMode="auto">
                <a:xfrm>
                  <a:off x="5420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44" name="Freeform 212"/>
                <p:cNvSpPr/>
                <p:nvPr/>
              </p:nvSpPr>
              <p:spPr bwMode="auto">
                <a:xfrm>
                  <a:off x="3033" y="2708"/>
                  <a:ext cx="47" cy="501"/>
                </a:xfrm>
                <a:custGeom>
                  <a:avLst/>
                  <a:gdLst>
                    <a:gd name="T0" fmla="*/ 0 w 1"/>
                    <a:gd name="T1" fmla="*/ 0 h 406"/>
                    <a:gd name="T2" fmla="*/ 0 w 1"/>
                    <a:gd name="T3" fmla="*/ 7711 h 406"/>
                    <a:gd name="T4" fmla="*/ 0 60000 65536"/>
                    <a:gd name="T5" fmla="*/ 0 60000 65536"/>
                    <a:gd name="T6" fmla="*/ 0 w 1"/>
                    <a:gd name="T7" fmla="*/ 0 h 406"/>
                    <a:gd name="T8" fmla="*/ 1 w 1"/>
                    <a:gd name="T9" fmla="*/ 406 h 40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406">
                      <a:moveTo>
                        <a:pt x="0" y="0"/>
                      </a:moveTo>
                      <a:lnTo>
                        <a:pt x="0" y="40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45" name="Freeform 213"/>
                <p:cNvSpPr/>
                <p:nvPr/>
              </p:nvSpPr>
              <p:spPr bwMode="auto">
                <a:xfrm>
                  <a:off x="4185" y="2691"/>
                  <a:ext cx="1" cy="525"/>
                </a:xfrm>
                <a:custGeom>
                  <a:avLst/>
                  <a:gdLst>
                    <a:gd name="T0" fmla="*/ 0 w 1"/>
                    <a:gd name="T1" fmla="*/ 0 h 525"/>
                    <a:gd name="T2" fmla="*/ 0 w 1"/>
                    <a:gd name="T3" fmla="*/ 525 h 525"/>
                    <a:gd name="T4" fmla="*/ 0 60000 65536"/>
                    <a:gd name="T5" fmla="*/ 0 60000 65536"/>
                    <a:gd name="T6" fmla="*/ 0 w 1"/>
                    <a:gd name="T7" fmla="*/ 0 h 525"/>
                    <a:gd name="T8" fmla="*/ 1 w 1"/>
                    <a:gd name="T9" fmla="*/ 525 h 525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525">
                      <a:moveTo>
                        <a:pt x="0" y="0"/>
                      </a:moveTo>
                      <a:lnTo>
                        <a:pt x="0" y="525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46" name="Freeform 214"/>
                <p:cNvSpPr/>
                <p:nvPr/>
              </p:nvSpPr>
              <p:spPr bwMode="auto">
                <a:xfrm>
                  <a:off x="5325" y="2708"/>
                  <a:ext cx="47" cy="501"/>
                </a:xfrm>
                <a:custGeom>
                  <a:avLst/>
                  <a:gdLst>
                    <a:gd name="T0" fmla="*/ 0 w 1"/>
                    <a:gd name="T1" fmla="*/ 0 h 406"/>
                    <a:gd name="T2" fmla="*/ 0 w 1"/>
                    <a:gd name="T3" fmla="*/ 7711 h 406"/>
                    <a:gd name="T4" fmla="*/ 0 60000 65536"/>
                    <a:gd name="T5" fmla="*/ 0 60000 65536"/>
                    <a:gd name="T6" fmla="*/ 0 w 1"/>
                    <a:gd name="T7" fmla="*/ 0 h 406"/>
                    <a:gd name="T8" fmla="*/ 1 w 1"/>
                    <a:gd name="T9" fmla="*/ 406 h 40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406">
                      <a:moveTo>
                        <a:pt x="0" y="0"/>
                      </a:moveTo>
                      <a:lnTo>
                        <a:pt x="0" y="40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oval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47" name="Text Box 215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1193" y="164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38548" name="Text Box 216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1769" y="164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38549" name="Text Box 217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2345" y="164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38550" name="Text Box 218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2921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38551" name="Text Box 219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3496" y="162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en-US" altLang="zh-CN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38552" name="Text Box 220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4073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en-US" altLang="zh-CN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38553" name="Text Box 221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4649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en-US" altLang="zh-CN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38554" name="Text Box 222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5244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  <a:endParaRPr lang="en-US" altLang="zh-CN" sz="32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38555" name="Text Box 223"/>
                <p:cNvSpPr txBox="1">
                  <a:spLocks noChangeArrowheads="1"/>
                </p:cNvSpPr>
                <p:nvPr/>
              </p:nvSpPr>
              <p:spPr bwMode="auto">
                <a:xfrm>
                  <a:off x="660" y="791"/>
                  <a:ext cx="188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1800"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8556" name="Text Box 224"/>
                <p:cNvSpPr txBox="1">
                  <a:spLocks noChangeArrowheads="1"/>
                </p:cNvSpPr>
                <p:nvPr/>
              </p:nvSpPr>
              <p:spPr bwMode="auto">
                <a:xfrm>
                  <a:off x="660" y="1383"/>
                  <a:ext cx="188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1800"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sp>
              <p:nvSpPr>
                <p:cNvPr id="138557" name="Text Box 225"/>
                <p:cNvSpPr txBox="1">
                  <a:spLocks noChangeArrowheads="1"/>
                </p:cNvSpPr>
                <p:nvPr/>
              </p:nvSpPr>
              <p:spPr bwMode="auto">
                <a:xfrm>
                  <a:off x="624" y="1959"/>
                  <a:ext cx="260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1800">
                      <a:latin typeface="Times New Roman" panose="02020603050405020304" pitchFamily="18" charset="0"/>
                    </a:rPr>
                    <a:t>63</a:t>
                  </a:r>
                </a:p>
              </p:txBody>
            </p:sp>
            <p:sp>
              <p:nvSpPr>
                <p:cNvPr id="138558" name="Line 226"/>
                <p:cNvSpPr>
                  <a:spLocks noChangeShapeType="1"/>
                </p:cNvSpPr>
                <p:nvPr/>
              </p:nvSpPr>
              <p:spPr bwMode="auto">
                <a:xfrm>
                  <a:off x="332" y="2537"/>
                  <a:ext cx="57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59" name="Text Box 227"/>
                <p:cNvSpPr txBox="1">
                  <a:spLocks noChangeArrowheads="1"/>
                </p:cNvSpPr>
                <p:nvPr/>
              </p:nvSpPr>
              <p:spPr bwMode="auto">
                <a:xfrm>
                  <a:off x="660" y="2727"/>
                  <a:ext cx="188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1800"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8560" name="Text Box 228"/>
                <p:cNvSpPr txBox="1">
                  <a:spLocks noChangeArrowheads="1"/>
                </p:cNvSpPr>
                <p:nvPr/>
              </p:nvSpPr>
              <p:spPr bwMode="auto">
                <a:xfrm>
                  <a:off x="624" y="3159"/>
                  <a:ext cx="260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1800">
                      <a:latin typeface="Times New Roman" panose="02020603050405020304" pitchFamily="18" charset="0"/>
                    </a:rPr>
                    <a:t>15</a:t>
                  </a:r>
                </a:p>
              </p:txBody>
            </p:sp>
            <p:sp>
              <p:nvSpPr>
                <p:cNvPr id="138561" name="Text Box 229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665" y="162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38562" name="Text Box 230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665" y="2876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38563" name="Text Box 231"/>
                <p:cNvSpPr txBox="1">
                  <a:spLocks noChangeArrowheads="1"/>
                </p:cNvSpPr>
                <p:nvPr/>
              </p:nvSpPr>
              <p:spPr bwMode="auto">
                <a:xfrm>
                  <a:off x="348" y="101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行</a:t>
                  </a:r>
                </a:p>
              </p:txBody>
            </p:sp>
            <p:sp>
              <p:nvSpPr>
                <p:cNvPr id="138564" name="Text Box 232"/>
                <p:cNvSpPr txBox="1">
                  <a:spLocks noChangeArrowheads="1"/>
                </p:cNvSpPr>
                <p:nvPr/>
              </p:nvSpPr>
              <p:spPr bwMode="auto">
                <a:xfrm>
                  <a:off x="348" y="126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地</a:t>
                  </a:r>
                </a:p>
              </p:txBody>
            </p:sp>
            <p:sp>
              <p:nvSpPr>
                <p:cNvPr id="138565" name="Text Box 233"/>
                <p:cNvSpPr txBox="1">
                  <a:spLocks noChangeArrowheads="1"/>
                </p:cNvSpPr>
                <p:nvPr/>
              </p:nvSpPr>
              <p:spPr bwMode="auto">
                <a:xfrm>
                  <a:off x="348" y="151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址</a:t>
                  </a:r>
                </a:p>
              </p:txBody>
            </p:sp>
            <p:sp>
              <p:nvSpPr>
                <p:cNvPr id="138566" name="Text Box 234"/>
                <p:cNvSpPr txBox="1">
                  <a:spLocks noChangeArrowheads="1"/>
                </p:cNvSpPr>
                <p:nvPr/>
              </p:nvSpPr>
              <p:spPr bwMode="auto">
                <a:xfrm>
                  <a:off x="348" y="1758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译</a:t>
                  </a:r>
                </a:p>
              </p:txBody>
            </p:sp>
            <p:sp>
              <p:nvSpPr>
                <p:cNvPr id="138567" name="Text Box 235"/>
                <p:cNvSpPr txBox="1">
                  <a:spLocks noChangeArrowheads="1"/>
                </p:cNvSpPr>
                <p:nvPr/>
              </p:nvSpPr>
              <p:spPr bwMode="auto">
                <a:xfrm>
                  <a:off x="348" y="2006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码</a:t>
                  </a:r>
                </a:p>
              </p:txBody>
            </p:sp>
            <p:sp>
              <p:nvSpPr>
                <p:cNvPr id="138568" name="Text Box 236"/>
                <p:cNvSpPr txBox="1">
                  <a:spLocks noChangeArrowheads="1"/>
                </p:cNvSpPr>
                <p:nvPr/>
              </p:nvSpPr>
              <p:spPr bwMode="auto">
                <a:xfrm>
                  <a:off x="375" y="263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列</a:t>
                  </a:r>
                </a:p>
              </p:txBody>
            </p:sp>
            <p:sp>
              <p:nvSpPr>
                <p:cNvPr id="138569" name="Text Box 237"/>
                <p:cNvSpPr txBox="1">
                  <a:spLocks noChangeArrowheads="1"/>
                </p:cNvSpPr>
                <p:nvPr/>
              </p:nvSpPr>
              <p:spPr bwMode="auto">
                <a:xfrm>
                  <a:off x="375" y="288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地</a:t>
                  </a:r>
                </a:p>
              </p:txBody>
            </p:sp>
            <p:sp>
              <p:nvSpPr>
                <p:cNvPr id="138570" name="Text Box 238"/>
                <p:cNvSpPr txBox="1">
                  <a:spLocks noChangeArrowheads="1"/>
                </p:cNvSpPr>
                <p:nvPr/>
              </p:nvSpPr>
              <p:spPr bwMode="auto">
                <a:xfrm>
                  <a:off x="375" y="313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址</a:t>
                  </a:r>
                </a:p>
              </p:txBody>
            </p:sp>
            <p:sp>
              <p:nvSpPr>
                <p:cNvPr id="138571" name="Text Box 239"/>
                <p:cNvSpPr txBox="1">
                  <a:spLocks noChangeArrowheads="1"/>
                </p:cNvSpPr>
                <p:nvPr/>
              </p:nvSpPr>
              <p:spPr bwMode="auto">
                <a:xfrm>
                  <a:off x="375" y="3378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译</a:t>
                  </a:r>
                </a:p>
              </p:txBody>
            </p:sp>
            <p:sp>
              <p:nvSpPr>
                <p:cNvPr id="138572" name="Text Box 240"/>
                <p:cNvSpPr txBox="1">
                  <a:spLocks noChangeArrowheads="1"/>
                </p:cNvSpPr>
                <p:nvPr/>
              </p:nvSpPr>
              <p:spPr bwMode="auto">
                <a:xfrm>
                  <a:off x="375" y="3626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码</a:t>
                  </a:r>
                </a:p>
              </p:txBody>
            </p:sp>
            <p:sp>
              <p:nvSpPr>
                <p:cNvPr id="138573" name="Line 241"/>
                <p:cNvSpPr>
                  <a:spLocks noChangeShapeType="1"/>
                </p:cNvSpPr>
                <p:nvPr/>
              </p:nvSpPr>
              <p:spPr bwMode="auto">
                <a:xfrm>
                  <a:off x="140" y="905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74" name="Line 242"/>
                <p:cNvSpPr>
                  <a:spLocks noChangeShapeType="1"/>
                </p:cNvSpPr>
                <p:nvPr/>
              </p:nvSpPr>
              <p:spPr bwMode="auto">
                <a:xfrm>
                  <a:off x="140" y="1164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75" name="Line 243"/>
                <p:cNvSpPr>
                  <a:spLocks noChangeShapeType="1"/>
                </p:cNvSpPr>
                <p:nvPr/>
              </p:nvSpPr>
              <p:spPr bwMode="auto">
                <a:xfrm>
                  <a:off x="140" y="1423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76" name="Line 244"/>
                <p:cNvSpPr>
                  <a:spLocks noChangeShapeType="1"/>
                </p:cNvSpPr>
                <p:nvPr/>
              </p:nvSpPr>
              <p:spPr bwMode="auto">
                <a:xfrm>
                  <a:off x="140" y="1682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77" name="Line 245"/>
                <p:cNvSpPr>
                  <a:spLocks noChangeShapeType="1"/>
                </p:cNvSpPr>
                <p:nvPr/>
              </p:nvSpPr>
              <p:spPr bwMode="auto">
                <a:xfrm>
                  <a:off x="140" y="1941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78" name="Line 246"/>
                <p:cNvSpPr>
                  <a:spLocks noChangeShapeType="1"/>
                </p:cNvSpPr>
                <p:nvPr/>
              </p:nvSpPr>
              <p:spPr bwMode="auto">
                <a:xfrm>
                  <a:off x="140" y="2201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79" name="Line 247"/>
                <p:cNvSpPr>
                  <a:spLocks noChangeShapeType="1"/>
                </p:cNvSpPr>
                <p:nvPr/>
              </p:nvSpPr>
              <p:spPr bwMode="auto">
                <a:xfrm>
                  <a:off x="140" y="2872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80" name="Line 248"/>
                <p:cNvSpPr>
                  <a:spLocks noChangeShapeType="1"/>
                </p:cNvSpPr>
                <p:nvPr/>
              </p:nvSpPr>
              <p:spPr bwMode="auto">
                <a:xfrm>
                  <a:off x="140" y="3131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81" name="Line 249"/>
                <p:cNvSpPr>
                  <a:spLocks noChangeShapeType="1"/>
                </p:cNvSpPr>
                <p:nvPr/>
              </p:nvSpPr>
              <p:spPr bwMode="auto">
                <a:xfrm>
                  <a:off x="140" y="3390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82" name="Line 250"/>
                <p:cNvSpPr>
                  <a:spLocks noChangeShapeType="1"/>
                </p:cNvSpPr>
                <p:nvPr/>
              </p:nvSpPr>
              <p:spPr bwMode="auto">
                <a:xfrm>
                  <a:off x="140" y="3650"/>
                  <a:ext cx="19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583" name="Line 251"/>
                <p:cNvSpPr>
                  <a:spLocks noChangeShapeType="1"/>
                </p:cNvSpPr>
                <p:nvPr/>
              </p:nvSpPr>
              <p:spPr bwMode="auto">
                <a:xfrm>
                  <a:off x="726" y="4079"/>
                  <a:ext cx="192" cy="0"/>
                </a:xfrm>
                <a:prstGeom prst="line">
                  <a:avLst/>
                </a:prstGeom>
                <a:noFill/>
                <a:ln w="28575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8376" name="Group 252"/>
              <p:cNvGrpSpPr/>
              <p:nvPr/>
            </p:nvGrpSpPr>
            <p:grpSpPr bwMode="auto">
              <a:xfrm>
                <a:off x="140" y="674"/>
                <a:ext cx="196" cy="3010"/>
                <a:chOff x="140" y="674"/>
                <a:chExt cx="196" cy="3010"/>
              </a:xfrm>
            </p:grpSpPr>
            <p:sp>
              <p:nvSpPr>
                <p:cNvPr id="138377" name="Text Box 253"/>
                <p:cNvSpPr txBox="1">
                  <a:spLocks noChangeArrowheads="1"/>
                </p:cNvSpPr>
                <p:nvPr/>
              </p:nvSpPr>
              <p:spPr bwMode="auto">
                <a:xfrm>
                  <a:off x="140" y="674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8378" name="Text Box 254"/>
                <p:cNvSpPr txBox="1">
                  <a:spLocks noChangeArrowheads="1"/>
                </p:cNvSpPr>
                <p:nvPr/>
              </p:nvSpPr>
              <p:spPr bwMode="auto">
                <a:xfrm>
                  <a:off x="140" y="933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8379" name="Text Box 255"/>
                <p:cNvSpPr txBox="1">
                  <a:spLocks noChangeArrowheads="1"/>
                </p:cNvSpPr>
                <p:nvPr/>
              </p:nvSpPr>
              <p:spPr bwMode="auto">
                <a:xfrm>
                  <a:off x="140" y="1192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8380" name="Text Box 256"/>
                <p:cNvSpPr txBox="1">
                  <a:spLocks noChangeArrowheads="1"/>
                </p:cNvSpPr>
                <p:nvPr/>
              </p:nvSpPr>
              <p:spPr bwMode="auto">
                <a:xfrm>
                  <a:off x="140" y="1451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8381" name="Text Box 257"/>
                <p:cNvSpPr txBox="1">
                  <a:spLocks noChangeArrowheads="1"/>
                </p:cNvSpPr>
                <p:nvPr/>
              </p:nvSpPr>
              <p:spPr bwMode="auto">
                <a:xfrm>
                  <a:off x="140" y="1710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8382" name="Text Box 258"/>
                <p:cNvSpPr txBox="1">
                  <a:spLocks noChangeArrowheads="1"/>
                </p:cNvSpPr>
                <p:nvPr/>
              </p:nvSpPr>
              <p:spPr bwMode="auto">
                <a:xfrm>
                  <a:off x="140" y="1970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8383" name="Text Box 259"/>
                <p:cNvSpPr txBox="1">
                  <a:spLocks noChangeArrowheads="1"/>
                </p:cNvSpPr>
                <p:nvPr/>
              </p:nvSpPr>
              <p:spPr bwMode="auto">
                <a:xfrm>
                  <a:off x="140" y="2657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8384" name="Text Box 260"/>
                <p:cNvSpPr txBox="1">
                  <a:spLocks noChangeArrowheads="1"/>
                </p:cNvSpPr>
                <p:nvPr/>
              </p:nvSpPr>
              <p:spPr bwMode="auto">
                <a:xfrm>
                  <a:off x="140" y="2916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8385" name="Text Box 261"/>
                <p:cNvSpPr txBox="1">
                  <a:spLocks noChangeArrowheads="1"/>
                </p:cNvSpPr>
                <p:nvPr/>
              </p:nvSpPr>
              <p:spPr bwMode="auto">
                <a:xfrm>
                  <a:off x="140" y="3175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138386" name="Text Box 262"/>
                <p:cNvSpPr txBox="1">
                  <a:spLocks noChangeArrowheads="1"/>
                </p:cNvSpPr>
                <p:nvPr/>
              </p:nvSpPr>
              <p:spPr bwMode="auto">
                <a:xfrm>
                  <a:off x="140" y="3434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</p:grpSp>
        </p:grpSp>
        <p:grpSp>
          <p:nvGrpSpPr>
            <p:cNvPr id="138350" name="Group 263"/>
            <p:cNvGrpSpPr/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138351" name="Group 264"/>
              <p:cNvGrpSpPr/>
              <p:nvPr/>
            </p:nvGrpSpPr>
            <p:grpSpPr bwMode="auto">
              <a:xfrm>
                <a:off x="902" y="857"/>
                <a:ext cx="4567" cy="430"/>
                <a:chOff x="902" y="857"/>
                <a:chExt cx="4567" cy="430"/>
              </a:xfrm>
            </p:grpSpPr>
            <p:grpSp>
              <p:nvGrpSpPr>
                <p:cNvPr id="138356" name="Group 265"/>
                <p:cNvGrpSpPr/>
                <p:nvPr/>
              </p:nvGrpSpPr>
              <p:grpSpPr bwMode="auto">
                <a:xfrm>
                  <a:off x="1152" y="1013"/>
                  <a:ext cx="4317" cy="274"/>
                  <a:chOff x="1176" y="1068"/>
                  <a:chExt cx="4317" cy="274"/>
                </a:xfrm>
              </p:grpSpPr>
              <p:sp>
                <p:nvSpPr>
                  <p:cNvPr id="138367" name="Rectangle 266"/>
                  <p:cNvSpPr>
                    <a:spLocks noChangeArrowheads="1"/>
                  </p:cNvSpPr>
                  <p:nvPr/>
                </p:nvSpPr>
                <p:spPr bwMode="auto">
                  <a:xfrm>
                    <a:off x="175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15</a:t>
                    </a:r>
                  </a:p>
                </p:txBody>
              </p:sp>
              <p:sp>
                <p:nvSpPr>
                  <p:cNvPr id="138368" name="Rectangle 267"/>
                  <p:cNvSpPr>
                    <a:spLocks noChangeArrowheads="1"/>
                  </p:cNvSpPr>
                  <p:nvPr/>
                </p:nvSpPr>
                <p:spPr bwMode="auto">
                  <a:xfrm>
                    <a:off x="117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38369" name="Rectangle 268"/>
                  <p:cNvSpPr>
                    <a:spLocks noChangeArrowheads="1"/>
                  </p:cNvSpPr>
                  <p:nvPr/>
                </p:nvSpPr>
                <p:spPr bwMode="auto">
                  <a:xfrm>
                    <a:off x="289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31</a:t>
                    </a:r>
                  </a:p>
                </p:txBody>
              </p:sp>
              <p:sp>
                <p:nvSpPr>
                  <p:cNvPr id="138370" name="Rectangle 269"/>
                  <p:cNvSpPr>
                    <a:spLocks noChangeArrowheads="1"/>
                  </p:cNvSpPr>
                  <p:nvPr/>
                </p:nvSpPr>
                <p:spPr bwMode="auto">
                  <a:xfrm>
                    <a:off x="231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sp>
                <p:nvSpPr>
                  <p:cNvPr id="138371" name="Rectangle 270"/>
                  <p:cNvSpPr>
                    <a:spLocks noChangeArrowheads="1"/>
                  </p:cNvSpPr>
                  <p:nvPr/>
                </p:nvSpPr>
                <p:spPr bwMode="auto">
                  <a:xfrm>
                    <a:off x="4067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47</a:t>
                    </a:r>
                  </a:p>
                </p:txBody>
              </p:sp>
              <p:sp>
                <p:nvSpPr>
                  <p:cNvPr id="138372" name="Rectangle 271"/>
                  <p:cNvSpPr>
                    <a:spLocks noChangeArrowheads="1"/>
                  </p:cNvSpPr>
                  <p:nvPr/>
                </p:nvSpPr>
                <p:spPr bwMode="auto">
                  <a:xfrm>
                    <a:off x="3491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32</a:t>
                    </a:r>
                  </a:p>
                </p:txBody>
              </p:sp>
              <p:sp>
                <p:nvSpPr>
                  <p:cNvPr id="138373" name="Rectangle 272"/>
                  <p:cNvSpPr>
                    <a:spLocks noChangeArrowheads="1"/>
                  </p:cNvSpPr>
                  <p:nvPr/>
                </p:nvSpPr>
                <p:spPr bwMode="auto">
                  <a:xfrm>
                    <a:off x="5205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63</a:t>
                    </a:r>
                  </a:p>
                </p:txBody>
              </p:sp>
              <p:sp>
                <p:nvSpPr>
                  <p:cNvPr id="138374" name="Rectangle 273"/>
                  <p:cNvSpPr>
                    <a:spLocks noChangeArrowheads="1"/>
                  </p:cNvSpPr>
                  <p:nvPr/>
                </p:nvSpPr>
                <p:spPr bwMode="auto">
                  <a:xfrm>
                    <a:off x="462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48</a:t>
                    </a:r>
                  </a:p>
                </p:txBody>
              </p:sp>
            </p:grpSp>
            <p:grpSp>
              <p:nvGrpSpPr>
                <p:cNvPr id="138357" name="Group 274"/>
                <p:cNvGrpSpPr/>
                <p:nvPr/>
              </p:nvGrpSpPr>
              <p:grpSpPr bwMode="auto">
                <a:xfrm>
                  <a:off x="902" y="857"/>
                  <a:ext cx="4419" cy="145"/>
                  <a:chOff x="902" y="857"/>
                  <a:chExt cx="4419" cy="145"/>
                </a:xfrm>
              </p:grpSpPr>
              <p:sp>
                <p:nvSpPr>
                  <p:cNvPr id="138358" name="Freeform 275"/>
                  <p:cNvSpPr/>
                  <p:nvPr/>
                </p:nvSpPr>
                <p:spPr bwMode="auto">
                  <a:xfrm>
                    <a:off x="902" y="857"/>
                    <a:ext cx="4419" cy="1"/>
                  </a:xfrm>
                  <a:custGeom>
                    <a:avLst/>
                    <a:gdLst>
                      <a:gd name="T0" fmla="*/ 0 w 4419"/>
                      <a:gd name="T1" fmla="*/ 1 h 1"/>
                      <a:gd name="T2" fmla="*/ 4419 w 4419"/>
                      <a:gd name="T3" fmla="*/ 0 h 1"/>
                      <a:gd name="T4" fmla="*/ 0 60000 65536"/>
                      <a:gd name="T5" fmla="*/ 0 60000 65536"/>
                      <a:gd name="T6" fmla="*/ 0 w 4419"/>
                      <a:gd name="T7" fmla="*/ 0 h 1"/>
                      <a:gd name="T8" fmla="*/ 4419 w 441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9" h="1">
                        <a:moveTo>
                          <a:pt x="0" y="1"/>
                        </a:moveTo>
                        <a:lnTo>
                          <a:pt x="4419" y="0"/>
                        </a:lnTo>
                      </a:path>
                    </a:pathLst>
                  </a:custGeom>
                  <a:noFill/>
                  <a:ln w="76200" cmpd="sng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8359" name="Line 276"/>
                  <p:cNvSpPr>
                    <a:spLocks noChangeShapeType="1"/>
                  </p:cNvSpPr>
                  <p:nvPr/>
                </p:nvSpPr>
                <p:spPr bwMode="auto">
                  <a:xfrm>
                    <a:off x="127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8360" name="Line 277"/>
                  <p:cNvSpPr>
                    <a:spLocks noChangeShapeType="1"/>
                  </p:cNvSpPr>
                  <p:nvPr/>
                </p:nvSpPr>
                <p:spPr bwMode="auto">
                  <a:xfrm>
                    <a:off x="184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8361" name="Line 278"/>
                  <p:cNvSpPr>
                    <a:spLocks noChangeShapeType="1"/>
                  </p:cNvSpPr>
                  <p:nvPr/>
                </p:nvSpPr>
                <p:spPr bwMode="auto">
                  <a:xfrm>
                    <a:off x="242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8362" name="Line 279"/>
                  <p:cNvSpPr>
                    <a:spLocks noChangeShapeType="1"/>
                  </p:cNvSpPr>
                  <p:nvPr/>
                </p:nvSpPr>
                <p:spPr bwMode="auto">
                  <a:xfrm>
                    <a:off x="3000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8363" name="Line 280"/>
                  <p:cNvSpPr>
                    <a:spLocks noChangeShapeType="1"/>
                  </p:cNvSpPr>
                  <p:nvPr/>
                </p:nvSpPr>
                <p:spPr bwMode="auto">
                  <a:xfrm>
                    <a:off x="3576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8364" name="Line 281"/>
                  <p:cNvSpPr>
                    <a:spLocks noChangeShapeType="1"/>
                  </p:cNvSpPr>
                  <p:nvPr/>
                </p:nvSpPr>
                <p:spPr bwMode="auto">
                  <a:xfrm>
                    <a:off x="415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8365" name="Line 282"/>
                  <p:cNvSpPr>
                    <a:spLocks noChangeShapeType="1"/>
                  </p:cNvSpPr>
                  <p:nvPr/>
                </p:nvSpPr>
                <p:spPr bwMode="auto">
                  <a:xfrm>
                    <a:off x="472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8366" name="Line 283"/>
                  <p:cNvSpPr>
                    <a:spLocks noChangeShapeType="1"/>
                  </p:cNvSpPr>
                  <p:nvPr/>
                </p:nvSpPr>
                <p:spPr bwMode="auto">
                  <a:xfrm>
                    <a:off x="530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138352" name="Text Box 284"/>
              <p:cNvSpPr txBox="1">
                <a:spLocks noChangeArrowheads="1"/>
              </p:cNvSpPr>
              <p:nvPr/>
            </p:nvSpPr>
            <p:spPr bwMode="auto">
              <a:xfrm>
                <a:off x="140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8353" name="Text Box 285"/>
              <p:cNvSpPr txBox="1">
                <a:spLocks noChangeArrowheads="1"/>
              </p:cNvSpPr>
              <p:nvPr/>
            </p:nvSpPr>
            <p:spPr bwMode="auto">
              <a:xfrm>
                <a:off x="254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8354" name="Text Box 286"/>
              <p:cNvSpPr txBox="1">
                <a:spLocks noChangeArrowheads="1"/>
              </p:cNvSpPr>
              <p:nvPr/>
            </p:nvSpPr>
            <p:spPr bwMode="auto">
              <a:xfrm>
                <a:off x="371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8355" name="Text Box 287"/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</p:grpSp>
      <p:grpSp>
        <p:nvGrpSpPr>
          <p:cNvPr id="138250" name="Group 288"/>
          <p:cNvGrpSpPr/>
          <p:nvPr/>
        </p:nvGrpSpPr>
        <p:grpSpPr bwMode="auto">
          <a:xfrm>
            <a:off x="1452563" y="4178300"/>
            <a:ext cx="6261100" cy="403225"/>
            <a:chOff x="915" y="2632"/>
            <a:chExt cx="3944" cy="254"/>
          </a:xfrm>
        </p:grpSpPr>
        <p:grpSp>
          <p:nvGrpSpPr>
            <p:cNvPr id="138311" name="Group 289"/>
            <p:cNvGrpSpPr/>
            <p:nvPr/>
          </p:nvGrpSpPr>
          <p:grpSpPr bwMode="auto">
            <a:xfrm>
              <a:off x="915" y="2696"/>
              <a:ext cx="3858" cy="190"/>
              <a:chOff x="915" y="2696"/>
              <a:chExt cx="3858" cy="190"/>
            </a:xfrm>
          </p:grpSpPr>
          <p:sp>
            <p:nvSpPr>
              <p:cNvPr id="138344" name="Freeform 290"/>
              <p:cNvSpPr/>
              <p:nvPr/>
            </p:nvSpPr>
            <p:spPr bwMode="auto">
              <a:xfrm>
                <a:off x="1304" y="2707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8345" name="Freeform 291"/>
              <p:cNvSpPr/>
              <p:nvPr/>
            </p:nvSpPr>
            <p:spPr bwMode="auto">
              <a:xfrm>
                <a:off x="2457" y="2710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8346" name="Freeform 292"/>
              <p:cNvSpPr/>
              <p:nvPr/>
            </p:nvSpPr>
            <p:spPr bwMode="auto">
              <a:xfrm>
                <a:off x="3609" y="2710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  <a:gd name="T6" fmla="*/ 0 w 1"/>
                  <a:gd name="T7" fmla="*/ 0 h 176"/>
                  <a:gd name="T8" fmla="*/ 1 w 1"/>
                  <a:gd name="T9" fmla="*/ 176 h 17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8347" name="Freeform 293"/>
              <p:cNvSpPr/>
              <p:nvPr/>
            </p:nvSpPr>
            <p:spPr bwMode="auto">
              <a:xfrm>
                <a:off x="4761" y="2696"/>
                <a:ext cx="1" cy="178"/>
              </a:xfrm>
              <a:custGeom>
                <a:avLst/>
                <a:gdLst>
                  <a:gd name="T0" fmla="*/ 0 w 1"/>
                  <a:gd name="T1" fmla="*/ 0 h 178"/>
                  <a:gd name="T2" fmla="*/ 0 w 1"/>
                  <a:gd name="T3" fmla="*/ 178 h 178"/>
                  <a:gd name="T4" fmla="*/ 0 60000 65536"/>
                  <a:gd name="T5" fmla="*/ 0 60000 65536"/>
                  <a:gd name="T6" fmla="*/ 0 w 1"/>
                  <a:gd name="T7" fmla="*/ 0 h 178"/>
                  <a:gd name="T8" fmla="*/ 1 w 1"/>
                  <a:gd name="T9" fmla="*/ 178 h 17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8">
                    <a:moveTo>
                      <a:pt x="0" y="0"/>
                    </a:moveTo>
                    <a:lnTo>
                      <a:pt x="0" y="178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8348" name="Freeform 294"/>
              <p:cNvSpPr/>
              <p:nvPr/>
            </p:nvSpPr>
            <p:spPr bwMode="auto">
              <a:xfrm>
                <a:off x="915" y="2865"/>
                <a:ext cx="3858" cy="2"/>
              </a:xfrm>
              <a:custGeom>
                <a:avLst/>
                <a:gdLst>
                  <a:gd name="T0" fmla="*/ 0 w 3858"/>
                  <a:gd name="T1" fmla="*/ 2 h 2"/>
                  <a:gd name="T2" fmla="*/ 3858 w 3858"/>
                  <a:gd name="T3" fmla="*/ 0 h 2"/>
                  <a:gd name="T4" fmla="*/ 0 60000 65536"/>
                  <a:gd name="T5" fmla="*/ 0 60000 65536"/>
                  <a:gd name="T6" fmla="*/ 0 w 3858"/>
                  <a:gd name="T7" fmla="*/ 0 h 2"/>
                  <a:gd name="T8" fmla="*/ 3858 w 3858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58" h="2">
                    <a:moveTo>
                      <a:pt x="0" y="2"/>
                    </a:moveTo>
                    <a:lnTo>
                      <a:pt x="3858" y="0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38312" name="Group 295"/>
            <p:cNvGrpSpPr/>
            <p:nvPr/>
          </p:nvGrpSpPr>
          <p:grpSpPr bwMode="auto">
            <a:xfrm>
              <a:off x="1212" y="2632"/>
              <a:ext cx="192" cy="158"/>
              <a:chOff x="1212" y="2632"/>
              <a:chExt cx="192" cy="158"/>
            </a:xfrm>
          </p:grpSpPr>
          <p:grpSp>
            <p:nvGrpSpPr>
              <p:cNvPr id="138337" name="Group 296"/>
              <p:cNvGrpSpPr/>
              <p:nvPr/>
            </p:nvGrpSpPr>
            <p:grpSpPr bwMode="auto">
              <a:xfrm>
                <a:off x="1356" y="2632"/>
                <a:ext cx="48" cy="158"/>
                <a:chOff x="1356" y="2632"/>
                <a:chExt cx="48" cy="158"/>
              </a:xfrm>
            </p:grpSpPr>
            <p:sp>
              <p:nvSpPr>
                <p:cNvPr id="138342" name="Line 297"/>
                <p:cNvSpPr>
                  <a:spLocks noChangeShapeType="1"/>
                </p:cNvSpPr>
                <p:nvPr/>
              </p:nvSpPr>
              <p:spPr bwMode="auto">
                <a:xfrm rot="5400000">
                  <a:off x="1325" y="2711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343" name="Line 298"/>
                <p:cNvSpPr>
                  <a:spLocks noChangeShapeType="1"/>
                </p:cNvSpPr>
                <p:nvPr/>
              </p:nvSpPr>
              <p:spPr bwMode="auto">
                <a:xfrm rot="5400000">
                  <a:off x="1308" y="2709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38338" name="Freeform 299"/>
              <p:cNvSpPr/>
              <p:nvPr/>
            </p:nvSpPr>
            <p:spPr bwMode="auto">
              <a:xfrm>
                <a:off x="1260" y="2708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38339" name="Group 300"/>
              <p:cNvGrpSpPr/>
              <p:nvPr/>
            </p:nvGrpSpPr>
            <p:grpSpPr bwMode="auto">
              <a:xfrm>
                <a:off x="1212" y="2632"/>
                <a:ext cx="48" cy="158"/>
                <a:chOff x="1212" y="2632"/>
                <a:chExt cx="48" cy="158"/>
              </a:xfrm>
            </p:grpSpPr>
            <p:sp>
              <p:nvSpPr>
                <p:cNvPr id="138340" name="Line 301"/>
                <p:cNvSpPr>
                  <a:spLocks noChangeShapeType="1"/>
                </p:cNvSpPr>
                <p:nvPr/>
              </p:nvSpPr>
              <p:spPr bwMode="auto">
                <a:xfrm rot="-5400000">
                  <a:off x="1133" y="2711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341" name="Line 302"/>
                <p:cNvSpPr>
                  <a:spLocks noChangeShapeType="1"/>
                </p:cNvSpPr>
                <p:nvPr/>
              </p:nvSpPr>
              <p:spPr bwMode="auto">
                <a:xfrm rot="-5400000">
                  <a:off x="1212" y="2713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38313" name="Group 303"/>
            <p:cNvGrpSpPr/>
            <p:nvPr/>
          </p:nvGrpSpPr>
          <p:grpSpPr bwMode="auto">
            <a:xfrm>
              <a:off x="2364" y="2634"/>
              <a:ext cx="192" cy="158"/>
              <a:chOff x="2364" y="2634"/>
              <a:chExt cx="192" cy="158"/>
            </a:xfrm>
          </p:grpSpPr>
          <p:grpSp>
            <p:nvGrpSpPr>
              <p:cNvPr id="138330" name="Group 304"/>
              <p:cNvGrpSpPr/>
              <p:nvPr/>
            </p:nvGrpSpPr>
            <p:grpSpPr bwMode="auto">
              <a:xfrm>
                <a:off x="2508" y="2634"/>
                <a:ext cx="48" cy="158"/>
                <a:chOff x="2508" y="2634"/>
                <a:chExt cx="48" cy="158"/>
              </a:xfrm>
            </p:grpSpPr>
            <p:sp>
              <p:nvSpPr>
                <p:cNvPr id="138335" name="Line 305"/>
                <p:cNvSpPr>
                  <a:spLocks noChangeShapeType="1"/>
                </p:cNvSpPr>
                <p:nvPr/>
              </p:nvSpPr>
              <p:spPr bwMode="auto">
                <a:xfrm rot="5400000">
                  <a:off x="2477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336" name="Line 306"/>
                <p:cNvSpPr>
                  <a:spLocks noChangeShapeType="1"/>
                </p:cNvSpPr>
                <p:nvPr/>
              </p:nvSpPr>
              <p:spPr bwMode="auto">
                <a:xfrm rot="5400000">
                  <a:off x="2460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38331" name="Freeform 307"/>
              <p:cNvSpPr/>
              <p:nvPr/>
            </p:nvSpPr>
            <p:spPr bwMode="auto">
              <a:xfrm>
                <a:off x="2412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38332" name="Group 308"/>
              <p:cNvGrpSpPr/>
              <p:nvPr/>
            </p:nvGrpSpPr>
            <p:grpSpPr bwMode="auto">
              <a:xfrm>
                <a:off x="2364" y="2634"/>
                <a:ext cx="48" cy="158"/>
                <a:chOff x="2364" y="2634"/>
                <a:chExt cx="48" cy="158"/>
              </a:xfrm>
            </p:grpSpPr>
            <p:sp>
              <p:nvSpPr>
                <p:cNvPr id="138333" name="Line 309"/>
                <p:cNvSpPr>
                  <a:spLocks noChangeShapeType="1"/>
                </p:cNvSpPr>
                <p:nvPr/>
              </p:nvSpPr>
              <p:spPr bwMode="auto">
                <a:xfrm rot="-5400000">
                  <a:off x="2285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334" name="Line 310"/>
                <p:cNvSpPr>
                  <a:spLocks noChangeShapeType="1"/>
                </p:cNvSpPr>
                <p:nvPr/>
              </p:nvSpPr>
              <p:spPr bwMode="auto">
                <a:xfrm rot="-5400000">
                  <a:off x="2364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38314" name="Group 311"/>
            <p:cNvGrpSpPr/>
            <p:nvPr/>
          </p:nvGrpSpPr>
          <p:grpSpPr bwMode="auto">
            <a:xfrm>
              <a:off x="3516" y="2634"/>
              <a:ext cx="192" cy="158"/>
              <a:chOff x="3516" y="2634"/>
              <a:chExt cx="192" cy="158"/>
            </a:xfrm>
          </p:grpSpPr>
          <p:grpSp>
            <p:nvGrpSpPr>
              <p:cNvPr id="138323" name="Group 312"/>
              <p:cNvGrpSpPr/>
              <p:nvPr/>
            </p:nvGrpSpPr>
            <p:grpSpPr bwMode="auto">
              <a:xfrm>
                <a:off x="3660" y="2634"/>
                <a:ext cx="48" cy="158"/>
                <a:chOff x="3660" y="2634"/>
                <a:chExt cx="48" cy="158"/>
              </a:xfrm>
            </p:grpSpPr>
            <p:sp>
              <p:nvSpPr>
                <p:cNvPr id="138328" name="Line 313"/>
                <p:cNvSpPr>
                  <a:spLocks noChangeShapeType="1"/>
                </p:cNvSpPr>
                <p:nvPr/>
              </p:nvSpPr>
              <p:spPr bwMode="auto">
                <a:xfrm rot="5400000">
                  <a:off x="3629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329" name="Line 314"/>
                <p:cNvSpPr>
                  <a:spLocks noChangeShapeType="1"/>
                </p:cNvSpPr>
                <p:nvPr/>
              </p:nvSpPr>
              <p:spPr bwMode="auto">
                <a:xfrm rot="5400000">
                  <a:off x="3612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38324" name="Freeform 315"/>
              <p:cNvSpPr/>
              <p:nvPr/>
            </p:nvSpPr>
            <p:spPr bwMode="auto">
              <a:xfrm>
                <a:off x="3564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38325" name="Group 316"/>
              <p:cNvGrpSpPr/>
              <p:nvPr/>
            </p:nvGrpSpPr>
            <p:grpSpPr bwMode="auto">
              <a:xfrm>
                <a:off x="3516" y="2634"/>
                <a:ext cx="48" cy="158"/>
                <a:chOff x="3516" y="2634"/>
                <a:chExt cx="48" cy="158"/>
              </a:xfrm>
            </p:grpSpPr>
            <p:sp>
              <p:nvSpPr>
                <p:cNvPr id="138326" name="Line 317"/>
                <p:cNvSpPr>
                  <a:spLocks noChangeShapeType="1"/>
                </p:cNvSpPr>
                <p:nvPr/>
              </p:nvSpPr>
              <p:spPr bwMode="auto">
                <a:xfrm rot="-5400000">
                  <a:off x="3437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327" name="Line 318"/>
                <p:cNvSpPr>
                  <a:spLocks noChangeShapeType="1"/>
                </p:cNvSpPr>
                <p:nvPr/>
              </p:nvSpPr>
              <p:spPr bwMode="auto">
                <a:xfrm rot="-5400000">
                  <a:off x="3516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38315" name="Group 319"/>
            <p:cNvGrpSpPr/>
            <p:nvPr/>
          </p:nvGrpSpPr>
          <p:grpSpPr bwMode="auto">
            <a:xfrm>
              <a:off x="4667" y="2634"/>
              <a:ext cx="192" cy="158"/>
              <a:chOff x="4667" y="2634"/>
              <a:chExt cx="192" cy="158"/>
            </a:xfrm>
          </p:grpSpPr>
          <p:grpSp>
            <p:nvGrpSpPr>
              <p:cNvPr id="138316" name="Group 320"/>
              <p:cNvGrpSpPr/>
              <p:nvPr/>
            </p:nvGrpSpPr>
            <p:grpSpPr bwMode="auto">
              <a:xfrm>
                <a:off x="4811" y="2634"/>
                <a:ext cx="48" cy="158"/>
                <a:chOff x="4811" y="2634"/>
                <a:chExt cx="48" cy="158"/>
              </a:xfrm>
            </p:grpSpPr>
            <p:sp>
              <p:nvSpPr>
                <p:cNvPr id="138321" name="Line 321"/>
                <p:cNvSpPr>
                  <a:spLocks noChangeShapeType="1"/>
                </p:cNvSpPr>
                <p:nvPr/>
              </p:nvSpPr>
              <p:spPr bwMode="auto">
                <a:xfrm rot="5400000">
                  <a:off x="4780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322" name="Line 322"/>
                <p:cNvSpPr>
                  <a:spLocks noChangeShapeType="1"/>
                </p:cNvSpPr>
                <p:nvPr/>
              </p:nvSpPr>
              <p:spPr bwMode="auto">
                <a:xfrm rot="5400000">
                  <a:off x="4763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38317" name="Freeform 323"/>
              <p:cNvSpPr/>
              <p:nvPr/>
            </p:nvSpPr>
            <p:spPr bwMode="auto">
              <a:xfrm>
                <a:off x="4715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38318" name="Group 324"/>
              <p:cNvGrpSpPr/>
              <p:nvPr/>
            </p:nvGrpSpPr>
            <p:grpSpPr bwMode="auto">
              <a:xfrm>
                <a:off x="4667" y="2634"/>
                <a:ext cx="48" cy="158"/>
                <a:chOff x="4667" y="2634"/>
                <a:chExt cx="48" cy="158"/>
              </a:xfrm>
            </p:grpSpPr>
            <p:sp>
              <p:nvSpPr>
                <p:cNvPr id="138319" name="Line 325"/>
                <p:cNvSpPr>
                  <a:spLocks noChangeShapeType="1"/>
                </p:cNvSpPr>
                <p:nvPr/>
              </p:nvSpPr>
              <p:spPr bwMode="auto">
                <a:xfrm rot="-5400000">
                  <a:off x="4588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38320" name="Line 326"/>
                <p:cNvSpPr>
                  <a:spLocks noChangeShapeType="1"/>
                </p:cNvSpPr>
                <p:nvPr/>
              </p:nvSpPr>
              <p:spPr bwMode="auto">
                <a:xfrm rot="-5400000">
                  <a:off x="4667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138454" name="Group 327"/>
          <p:cNvGrpSpPr/>
          <p:nvPr/>
        </p:nvGrpSpPr>
        <p:grpSpPr bwMode="auto">
          <a:xfrm>
            <a:off x="3086100" y="5599113"/>
            <a:ext cx="6057900" cy="336550"/>
            <a:chOff x="1944" y="3527"/>
            <a:chExt cx="3816" cy="212"/>
          </a:xfrm>
        </p:grpSpPr>
        <p:grpSp>
          <p:nvGrpSpPr>
            <p:cNvPr id="138301" name="Group 328"/>
            <p:cNvGrpSpPr/>
            <p:nvPr/>
          </p:nvGrpSpPr>
          <p:grpSpPr bwMode="auto">
            <a:xfrm>
              <a:off x="1964" y="3737"/>
              <a:ext cx="3637" cy="0"/>
              <a:chOff x="1964" y="3737"/>
              <a:chExt cx="3637" cy="0"/>
            </a:xfrm>
          </p:grpSpPr>
          <p:sp>
            <p:nvSpPr>
              <p:cNvPr id="138307" name="Line 329"/>
              <p:cNvSpPr>
                <a:spLocks noChangeShapeType="1"/>
              </p:cNvSpPr>
              <p:nvPr/>
            </p:nvSpPr>
            <p:spPr bwMode="auto">
              <a:xfrm>
                <a:off x="196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8308" name="Line 330"/>
              <p:cNvSpPr>
                <a:spLocks noChangeShapeType="1"/>
              </p:cNvSpPr>
              <p:nvPr/>
            </p:nvSpPr>
            <p:spPr bwMode="auto">
              <a:xfrm>
                <a:off x="31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8309" name="Line 331"/>
              <p:cNvSpPr>
                <a:spLocks noChangeShapeType="1"/>
              </p:cNvSpPr>
              <p:nvPr/>
            </p:nvSpPr>
            <p:spPr bwMode="auto">
              <a:xfrm>
                <a:off x="4293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8310" name="Line 332"/>
              <p:cNvSpPr>
                <a:spLocks noChangeShapeType="1"/>
              </p:cNvSpPr>
              <p:nvPr/>
            </p:nvSpPr>
            <p:spPr bwMode="auto">
              <a:xfrm>
                <a:off x="5420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38302" name="Group 333"/>
            <p:cNvGrpSpPr/>
            <p:nvPr/>
          </p:nvGrpSpPr>
          <p:grpSpPr bwMode="auto">
            <a:xfrm>
              <a:off x="1944" y="3527"/>
              <a:ext cx="3816" cy="212"/>
              <a:chOff x="1944" y="3527"/>
              <a:chExt cx="3816" cy="212"/>
            </a:xfrm>
          </p:grpSpPr>
          <p:sp>
            <p:nvSpPr>
              <p:cNvPr id="138303" name="Text Box 334"/>
              <p:cNvSpPr txBox="1">
                <a:spLocks noChangeArrowheads="1"/>
              </p:cNvSpPr>
              <p:nvPr/>
            </p:nvSpPr>
            <p:spPr bwMode="auto">
              <a:xfrm>
                <a:off x="194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38304" name="Text Box 335"/>
              <p:cNvSpPr txBox="1">
                <a:spLocks noChangeArrowheads="1"/>
              </p:cNvSpPr>
              <p:nvPr/>
            </p:nvSpPr>
            <p:spPr bwMode="auto">
              <a:xfrm>
                <a:off x="310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2</a:t>
                </a:r>
              </a:p>
            </p:txBody>
          </p:sp>
          <p:sp>
            <p:nvSpPr>
              <p:cNvPr id="138305" name="Text Box 336"/>
              <p:cNvSpPr txBox="1">
                <a:spLocks noChangeArrowheads="1"/>
              </p:cNvSpPr>
              <p:nvPr/>
            </p:nvSpPr>
            <p:spPr bwMode="auto">
              <a:xfrm>
                <a:off x="4256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sp>
            <p:nvSpPr>
              <p:cNvPr id="138306" name="Text Box 337"/>
              <p:cNvSpPr txBox="1">
                <a:spLocks noChangeArrowheads="1"/>
              </p:cNvSpPr>
              <p:nvPr/>
            </p:nvSpPr>
            <p:spPr bwMode="auto">
              <a:xfrm>
                <a:off x="541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</p:grpSp>
      <p:grpSp>
        <p:nvGrpSpPr>
          <p:cNvPr id="138252" name="Group 338"/>
          <p:cNvGrpSpPr/>
          <p:nvPr/>
        </p:nvGrpSpPr>
        <p:grpSpPr bwMode="auto">
          <a:xfrm>
            <a:off x="1452563" y="2617788"/>
            <a:ext cx="6613525" cy="1963737"/>
            <a:chOff x="915" y="1649"/>
            <a:chExt cx="4166" cy="1237"/>
          </a:xfrm>
        </p:grpSpPr>
        <p:grpSp>
          <p:nvGrpSpPr>
            <p:cNvPr id="138254" name="Group 339"/>
            <p:cNvGrpSpPr/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138263" name="Group 340"/>
              <p:cNvGrpSpPr/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138296" name="Freeform 341"/>
                <p:cNvSpPr/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297" name="Freeform 342"/>
                <p:cNvSpPr/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298" name="Freeform 343"/>
                <p:cNvSpPr/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  <a:gd name="T6" fmla="*/ 0 w 1"/>
                    <a:gd name="T7" fmla="*/ 0 h 176"/>
                    <a:gd name="T8" fmla="*/ 1 w 1"/>
                    <a:gd name="T9" fmla="*/ 176 h 17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299" name="Freeform 344"/>
                <p:cNvSpPr/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  <a:gd name="T6" fmla="*/ 0 w 1"/>
                    <a:gd name="T7" fmla="*/ 0 h 178"/>
                    <a:gd name="T8" fmla="*/ 1 w 1"/>
                    <a:gd name="T9" fmla="*/ 178 h 178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300" name="Freeform 345"/>
                <p:cNvSpPr/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  <a:gd name="T6" fmla="*/ 0 w 3858"/>
                    <a:gd name="T7" fmla="*/ 0 h 2"/>
                    <a:gd name="T8" fmla="*/ 3858 w 3858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8264" name="Group 346"/>
              <p:cNvGrpSpPr/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138289" name="Group 347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8294" name="Line 348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8295" name="Line 349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8290" name="Freeform 350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8291" name="Group 351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8292" name="Line 352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8293" name="Line 353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38265" name="Group 354"/>
              <p:cNvGrpSpPr/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138282" name="Group 355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8287" name="Line 356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8288" name="Line 357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8283" name="Freeform 358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8284" name="Group 359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8285" name="Line 360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8286" name="Line 361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38266" name="Group 362"/>
              <p:cNvGrpSpPr/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138275" name="Group 363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8280" name="Line 364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8281" name="Line 365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8276" name="Freeform 366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8277" name="Group 367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8278" name="Line 368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8279" name="Line 369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38267" name="Group 370"/>
              <p:cNvGrpSpPr/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138268" name="Group 371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8273" name="Line 372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8274" name="Line 373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8269" name="Freeform 374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8270" name="Group 375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8271" name="Line 376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8272" name="Line 377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</p:grpSp>
        <p:sp>
          <p:nvSpPr>
            <p:cNvPr id="138255" name="Rectangle 378"/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8256" name="Text Box 379"/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8257" name="Rectangle 380"/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38258" name="Rectangle 381"/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48</a:t>
              </a:r>
            </a:p>
          </p:txBody>
        </p:sp>
        <p:sp>
          <p:nvSpPr>
            <p:cNvPr id="138259" name="Rectangle 382"/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32</a:t>
              </a:r>
            </a:p>
          </p:txBody>
        </p:sp>
        <p:sp>
          <p:nvSpPr>
            <p:cNvPr id="138260" name="Text Box 383"/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8261" name="Text Box 384"/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8262" name="Text Box 385"/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138253" name="AutoShape 386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38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266" name="Group 2"/>
          <p:cNvGrpSpPr/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139643" name="Line 3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9644" name="Freeform 4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9645" name="Line 5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9646" name="Freeform 6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9647" name="Line 7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39648" name="Text Box 8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</a:p>
          </p:txBody>
        </p:sp>
        <p:sp>
          <p:nvSpPr>
            <p:cNvPr id="139649" name="Text Box 9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</a:p>
          </p:txBody>
        </p:sp>
        <p:sp>
          <p:nvSpPr>
            <p:cNvPr id="139650" name="Text Box 10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</a:p>
          </p:txBody>
        </p:sp>
        <p:sp>
          <p:nvSpPr>
            <p:cNvPr id="139651" name="Text Box 11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</a:p>
          </p:txBody>
        </p:sp>
        <p:sp>
          <p:nvSpPr>
            <p:cNvPr id="139652" name="Line 12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9653" name="Line 13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9654" name="Line 14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9655" name="Line 15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9656" name="Line 16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9657" name="Line 17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9658" name="Line 18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39659" name="Line 19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27348" name="Rectangle 20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39268" name="Text Box 21"/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③ </a:t>
            </a:r>
            <a:r>
              <a:rPr lang="en-US" altLang="zh-CN" sz="3200">
                <a:latin typeface="Times New Roman" panose="02020603050405020304" pitchFamily="18" charset="0"/>
              </a:rPr>
              <a:t>Intel 2114</a:t>
            </a: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200">
                <a:latin typeface="Times New Roman" panose="02020603050405020304" pitchFamily="18" charset="0"/>
              </a:rPr>
              <a:t>矩阵 </a:t>
            </a:r>
            <a:r>
              <a:rPr lang="en-US" altLang="zh-CN" sz="3200">
                <a:latin typeface="Times New Roman" panose="02020603050405020304" pitchFamily="18" charset="0"/>
              </a:rPr>
              <a:t>(64 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>
                <a:latin typeface="Times New Roman" panose="02020603050405020304" pitchFamily="18" charset="0"/>
              </a:rPr>
              <a:t> 64)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</a:p>
        </p:txBody>
      </p:sp>
      <p:grpSp>
        <p:nvGrpSpPr>
          <p:cNvPr id="139269" name="Group 22"/>
          <p:cNvGrpSpPr/>
          <p:nvPr/>
        </p:nvGrpSpPr>
        <p:grpSpPr bwMode="auto">
          <a:xfrm>
            <a:off x="3086100" y="5599113"/>
            <a:ext cx="6057900" cy="336550"/>
            <a:chOff x="1944" y="3527"/>
            <a:chExt cx="3816" cy="212"/>
          </a:xfrm>
        </p:grpSpPr>
        <p:sp>
          <p:nvSpPr>
            <p:cNvPr id="139639" name="Text Box 23"/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39640" name="Text Box 24"/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139641" name="Text Box 25"/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139642" name="Text Box 26"/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4</a:t>
              </a:r>
            </a:p>
          </p:txBody>
        </p:sp>
      </p:grpSp>
      <p:grpSp>
        <p:nvGrpSpPr>
          <p:cNvPr id="139270" name="Group 27"/>
          <p:cNvGrpSpPr/>
          <p:nvPr/>
        </p:nvGrpSpPr>
        <p:grpSpPr bwMode="auto">
          <a:xfrm>
            <a:off x="1028700" y="6175375"/>
            <a:ext cx="565150" cy="366713"/>
            <a:chOff x="648" y="3890"/>
            <a:chExt cx="356" cy="231"/>
          </a:xfrm>
        </p:grpSpPr>
        <p:sp>
          <p:nvSpPr>
            <p:cNvPr id="139637" name="Text Box 28"/>
            <p:cNvSpPr txBox="1">
              <a:spLocks noChangeArrowheads="1"/>
            </p:cNvSpPr>
            <p:nvPr/>
          </p:nvSpPr>
          <p:spPr bwMode="auto">
            <a:xfrm>
              <a:off x="648" y="3890"/>
              <a:ext cx="35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WE</a:t>
              </a:r>
              <a:endParaRPr lang="zh-CN" altLang="en-US" sz="1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9638" name="Line 29"/>
            <p:cNvSpPr>
              <a:spLocks noChangeShapeType="1"/>
            </p:cNvSpPr>
            <p:nvPr/>
          </p:nvSpPr>
          <p:spPr bwMode="auto">
            <a:xfrm>
              <a:off x="682" y="3922"/>
              <a:ext cx="288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39271" name="Group 30"/>
          <p:cNvGrpSpPr/>
          <p:nvPr/>
        </p:nvGrpSpPr>
        <p:grpSpPr bwMode="auto">
          <a:xfrm>
            <a:off x="1060450" y="6391275"/>
            <a:ext cx="509588" cy="396875"/>
            <a:chOff x="668" y="4026"/>
            <a:chExt cx="321" cy="250"/>
          </a:xfrm>
        </p:grpSpPr>
        <p:sp>
          <p:nvSpPr>
            <p:cNvPr id="139635" name="Text Box 31"/>
            <p:cNvSpPr txBox="1">
              <a:spLocks noChangeArrowheads="1"/>
            </p:cNvSpPr>
            <p:nvPr/>
          </p:nvSpPr>
          <p:spPr bwMode="auto">
            <a:xfrm>
              <a:off x="668" y="4026"/>
              <a:ext cx="32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CS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9636" name="Line 32"/>
            <p:cNvSpPr>
              <a:spLocks noChangeShapeType="1"/>
            </p:cNvSpPr>
            <p:nvPr/>
          </p:nvSpPr>
          <p:spPr bwMode="auto">
            <a:xfrm>
              <a:off x="724" y="4078"/>
              <a:ext cx="192" cy="0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39272" name="Group 33"/>
          <p:cNvGrpSpPr/>
          <p:nvPr/>
        </p:nvGrpSpPr>
        <p:grpSpPr bwMode="auto">
          <a:xfrm>
            <a:off x="222250" y="1069975"/>
            <a:ext cx="8686800" cy="5483225"/>
            <a:chOff x="140" y="674"/>
            <a:chExt cx="5472" cy="3454"/>
          </a:xfrm>
        </p:grpSpPr>
        <p:grpSp>
          <p:nvGrpSpPr>
            <p:cNvPr id="139346" name="Group 34"/>
            <p:cNvGrpSpPr/>
            <p:nvPr/>
          </p:nvGrpSpPr>
          <p:grpSpPr bwMode="auto">
            <a:xfrm>
              <a:off x="140" y="674"/>
              <a:ext cx="5472" cy="3454"/>
              <a:chOff x="140" y="674"/>
              <a:chExt cx="5472" cy="3454"/>
            </a:xfrm>
          </p:grpSpPr>
          <p:grpSp>
            <p:nvGrpSpPr>
              <p:cNvPr id="139372" name="Group 35"/>
              <p:cNvGrpSpPr/>
              <p:nvPr/>
            </p:nvGrpSpPr>
            <p:grpSpPr bwMode="auto">
              <a:xfrm>
                <a:off x="140" y="674"/>
                <a:ext cx="5472" cy="3454"/>
                <a:chOff x="140" y="674"/>
                <a:chExt cx="5472" cy="3454"/>
              </a:xfrm>
            </p:grpSpPr>
            <p:grpSp>
              <p:nvGrpSpPr>
                <p:cNvPr id="139412" name="Group 36"/>
                <p:cNvGrpSpPr/>
                <p:nvPr/>
              </p:nvGrpSpPr>
              <p:grpSpPr bwMode="auto">
                <a:xfrm>
                  <a:off x="140" y="713"/>
                  <a:ext cx="5472" cy="3415"/>
                  <a:chOff x="140" y="713"/>
                  <a:chExt cx="5472" cy="3415"/>
                </a:xfrm>
              </p:grpSpPr>
              <p:sp>
                <p:nvSpPr>
                  <p:cNvPr id="139424" name="Rectangle 37"/>
                  <p:cNvSpPr>
                    <a:spLocks noChangeArrowheads="1"/>
                  </p:cNvSpPr>
                  <p:nvPr/>
                </p:nvSpPr>
                <p:spPr bwMode="auto">
                  <a:xfrm>
                    <a:off x="332" y="713"/>
                    <a:ext cx="576" cy="3168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/>
                  </a:p>
                </p:txBody>
              </p:sp>
              <p:sp>
                <p:nvSpPr>
                  <p:cNvPr id="139425" name="Rectangle 38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15</a:t>
                    </a:r>
                  </a:p>
                </p:txBody>
              </p:sp>
              <p:sp>
                <p:nvSpPr>
                  <p:cNvPr id="139426" name="Text Box 3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8" y="87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39427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39428" name="Rectangle 41"/>
                  <p:cNvSpPr>
                    <a:spLocks noChangeArrowheads="1"/>
                  </p:cNvSpPr>
                  <p:nvPr/>
                </p:nvSpPr>
                <p:spPr bwMode="auto">
                  <a:xfrm>
                    <a:off x="2869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31</a:t>
                    </a:r>
                  </a:p>
                </p:txBody>
              </p:sp>
              <p:sp>
                <p:nvSpPr>
                  <p:cNvPr id="139429" name="Text Box 42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549" y="87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39430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2293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sp>
                <p:nvSpPr>
                  <p:cNvPr id="139431" name="Rectangle 44"/>
                  <p:cNvSpPr>
                    <a:spLocks noChangeArrowheads="1"/>
                  </p:cNvSpPr>
                  <p:nvPr/>
                </p:nvSpPr>
                <p:spPr bwMode="auto">
                  <a:xfrm>
                    <a:off x="4044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47</a:t>
                    </a:r>
                  </a:p>
                </p:txBody>
              </p:sp>
              <p:sp>
                <p:nvSpPr>
                  <p:cNvPr id="139432" name="Text Box 45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24" y="87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39433" name="Rectangle 46"/>
                  <p:cNvSpPr>
                    <a:spLocks noChangeArrowheads="1"/>
                  </p:cNvSpPr>
                  <p:nvPr/>
                </p:nvSpPr>
                <p:spPr bwMode="auto">
                  <a:xfrm>
                    <a:off x="3468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32</a:t>
                    </a:r>
                  </a:p>
                </p:txBody>
              </p:sp>
              <p:sp>
                <p:nvSpPr>
                  <p:cNvPr id="139434" name="Rectangle 47"/>
                  <p:cNvSpPr>
                    <a:spLocks noChangeArrowheads="1"/>
                  </p:cNvSpPr>
                  <p:nvPr/>
                </p:nvSpPr>
                <p:spPr bwMode="auto">
                  <a:xfrm>
                    <a:off x="5180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63</a:t>
                    </a:r>
                  </a:p>
                </p:txBody>
              </p:sp>
              <p:sp>
                <p:nvSpPr>
                  <p:cNvPr id="139435" name="Text Box 48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860" y="87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39436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4604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48</a:t>
                    </a:r>
                  </a:p>
                </p:txBody>
              </p:sp>
              <p:sp>
                <p:nvSpPr>
                  <p:cNvPr id="139437" name="Rectangle 50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15</a:t>
                    </a:r>
                  </a:p>
                </p:txBody>
              </p:sp>
              <p:sp>
                <p:nvSpPr>
                  <p:cNvPr id="139438" name="Rectangle 51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39439" name="Rectangle 52"/>
                  <p:cNvSpPr>
                    <a:spLocks noChangeArrowheads="1"/>
                  </p:cNvSpPr>
                  <p:nvPr/>
                </p:nvSpPr>
                <p:spPr bwMode="auto">
                  <a:xfrm>
                    <a:off x="2869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31</a:t>
                    </a:r>
                  </a:p>
                </p:txBody>
              </p:sp>
              <p:sp>
                <p:nvSpPr>
                  <p:cNvPr id="139440" name="Rectangle 53"/>
                  <p:cNvSpPr>
                    <a:spLocks noChangeArrowheads="1"/>
                  </p:cNvSpPr>
                  <p:nvPr/>
                </p:nvSpPr>
                <p:spPr bwMode="auto">
                  <a:xfrm>
                    <a:off x="2293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sp>
                <p:nvSpPr>
                  <p:cNvPr id="139441" name="Rectangle 54"/>
                  <p:cNvSpPr>
                    <a:spLocks noChangeArrowheads="1"/>
                  </p:cNvSpPr>
                  <p:nvPr/>
                </p:nvSpPr>
                <p:spPr bwMode="auto">
                  <a:xfrm>
                    <a:off x="4044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47</a:t>
                    </a:r>
                  </a:p>
                </p:txBody>
              </p:sp>
              <p:sp>
                <p:nvSpPr>
                  <p:cNvPr id="139442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3468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32</a:t>
                    </a:r>
                  </a:p>
                </p:txBody>
              </p:sp>
              <p:sp>
                <p:nvSpPr>
                  <p:cNvPr id="139443" name="Rectangle 56"/>
                  <p:cNvSpPr>
                    <a:spLocks noChangeArrowheads="1"/>
                  </p:cNvSpPr>
                  <p:nvPr/>
                </p:nvSpPr>
                <p:spPr bwMode="auto">
                  <a:xfrm>
                    <a:off x="5180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63</a:t>
                    </a:r>
                  </a:p>
                </p:txBody>
              </p:sp>
              <p:sp>
                <p:nvSpPr>
                  <p:cNvPr id="139444" name="Rectangle 57"/>
                  <p:cNvSpPr>
                    <a:spLocks noChangeArrowheads="1"/>
                  </p:cNvSpPr>
                  <p:nvPr/>
                </p:nvSpPr>
                <p:spPr bwMode="auto">
                  <a:xfrm>
                    <a:off x="4604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48</a:t>
                    </a:r>
                  </a:p>
                </p:txBody>
              </p:sp>
              <p:sp>
                <p:nvSpPr>
                  <p:cNvPr id="139445" name="Line 58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325" y="2712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46" name="Line 59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308" y="2710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47" name="Freeform 60"/>
                  <p:cNvSpPr/>
                  <p:nvPr/>
                </p:nvSpPr>
                <p:spPr bwMode="auto">
                  <a:xfrm>
                    <a:off x="1260" y="2709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48" name="Line 61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133" y="2712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49" name="Line 62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212" y="2714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50" name="Freeform 63"/>
                  <p:cNvSpPr/>
                  <p:nvPr/>
                </p:nvSpPr>
                <p:spPr bwMode="auto">
                  <a:xfrm>
                    <a:off x="1434" y="2353"/>
                    <a:ext cx="112" cy="1"/>
                  </a:xfrm>
                  <a:custGeom>
                    <a:avLst/>
                    <a:gdLst>
                      <a:gd name="T0" fmla="*/ 0 w 112"/>
                      <a:gd name="T1" fmla="*/ 0 h 1"/>
                      <a:gd name="T2" fmla="*/ 112 w 112"/>
                      <a:gd name="T3" fmla="*/ 0 h 1"/>
                      <a:gd name="T4" fmla="*/ 0 60000 65536"/>
                      <a:gd name="T5" fmla="*/ 0 60000 65536"/>
                      <a:gd name="T6" fmla="*/ 0 w 112"/>
                      <a:gd name="T7" fmla="*/ 0 h 1"/>
                      <a:gd name="T8" fmla="*/ 112 w 112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12" h="1">
                        <a:moveTo>
                          <a:pt x="0" y="0"/>
                        </a:moveTo>
                        <a:lnTo>
                          <a:pt x="112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51" name="Freeform 64"/>
                  <p:cNvSpPr/>
                  <p:nvPr/>
                </p:nvSpPr>
                <p:spPr bwMode="auto">
                  <a:xfrm>
                    <a:off x="1059" y="1209"/>
                    <a:ext cx="152" cy="1469"/>
                  </a:xfrm>
                  <a:custGeom>
                    <a:avLst/>
                    <a:gdLst>
                      <a:gd name="T0" fmla="*/ 152 w 152"/>
                      <a:gd name="T1" fmla="*/ 1469 h 1469"/>
                      <a:gd name="T2" fmla="*/ 0 w 152"/>
                      <a:gd name="T3" fmla="*/ 1469 h 1469"/>
                      <a:gd name="T4" fmla="*/ 0 w 152"/>
                      <a:gd name="T5" fmla="*/ 0 h 1469"/>
                      <a:gd name="T6" fmla="*/ 95 w 152"/>
                      <a:gd name="T7" fmla="*/ 1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2"/>
                      <a:gd name="T13" fmla="*/ 0 h 1469"/>
                      <a:gd name="T14" fmla="*/ 152 w 152"/>
                      <a:gd name="T15" fmla="*/ 1469 h 146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2" h="1469">
                        <a:moveTo>
                          <a:pt x="152" y="1469"/>
                        </a:moveTo>
                        <a:lnTo>
                          <a:pt x="0" y="1469"/>
                        </a:lnTo>
                        <a:lnTo>
                          <a:pt x="0" y="0"/>
                        </a:lnTo>
                        <a:lnTo>
                          <a:pt x="95" y="1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52" name="Freeform 65"/>
                  <p:cNvSpPr/>
                  <p:nvPr/>
                </p:nvSpPr>
                <p:spPr bwMode="auto">
                  <a:xfrm>
                    <a:off x="1055" y="2353"/>
                    <a:ext cx="102" cy="1"/>
                  </a:xfrm>
                  <a:custGeom>
                    <a:avLst/>
                    <a:gdLst>
                      <a:gd name="T0" fmla="*/ 102 w 102"/>
                      <a:gd name="T1" fmla="*/ 0 h 1"/>
                      <a:gd name="T2" fmla="*/ 0 w 102"/>
                      <a:gd name="T3" fmla="*/ 0 h 1"/>
                      <a:gd name="T4" fmla="*/ 0 60000 65536"/>
                      <a:gd name="T5" fmla="*/ 0 60000 65536"/>
                      <a:gd name="T6" fmla="*/ 0 w 102"/>
                      <a:gd name="T7" fmla="*/ 0 h 1"/>
                      <a:gd name="T8" fmla="*/ 102 w 102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2" h="1">
                        <a:moveTo>
                          <a:pt x="102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53" name="Line 66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896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54" name="Line 67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879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55" name="Freeform 68"/>
                  <p:cNvSpPr/>
                  <p:nvPr/>
                </p:nvSpPr>
                <p:spPr bwMode="auto">
                  <a:xfrm>
                    <a:off x="1831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56" name="Line 69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704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57" name="Line 70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783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58" name="Freeform 71"/>
                  <p:cNvSpPr/>
                  <p:nvPr/>
                </p:nvSpPr>
                <p:spPr bwMode="auto">
                  <a:xfrm>
                    <a:off x="2005" y="2353"/>
                    <a:ext cx="103" cy="1"/>
                  </a:xfrm>
                  <a:custGeom>
                    <a:avLst/>
                    <a:gdLst>
                      <a:gd name="T0" fmla="*/ 0 w 103"/>
                      <a:gd name="T1" fmla="*/ 0 h 1"/>
                      <a:gd name="T2" fmla="*/ 103 w 103"/>
                      <a:gd name="T3" fmla="*/ 0 h 1"/>
                      <a:gd name="T4" fmla="*/ 0 60000 65536"/>
                      <a:gd name="T5" fmla="*/ 0 60000 65536"/>
                      <a:gd name="T6" fmla="*/ 0 w 103"/>
                      <a:gd name="T7" fmla="*/ 0 h 1"/>
                      <a:gd name="T8" fmla="*/ 103 w 103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3" h="1">
                        <a:moveTo>
                          <a:pt x="0" y="0"/>
                        </a:moveTo>
                        <a:lnTo>
                          <a:pt x="103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59" name="Freeform 72"/>
                  <p:cNvSpPr/>
                  <p:nvPr/>
                </p:nvSpPr>
                <p:spPr bwMode="auto">
                  <a:xfrm>
                    <a:off x="1611" y="2352"/>
                    <a:ext cx="113" cy="1"/>
                  </a:xfrm>
                  <a:custGeom>
                    <a:avLst/>
                    <a:gdLst>
                      <a:gd name="T0" fmla="*/ 113 w 113"/>
                      <a:gd name="T1" fmla="*/ 1 h 1"/>
                      <a:gd name="T2" fmla="*/ 0 w 113"/>
                      <a:gd name="T3" fmla="*/ 0 h 1"/>
                      <a:gd name="T4" fmla="*/ 0 60000 65536"/>
                      <a:gd name="T5" fmla="*/ 0 60000 65536"/>
                      <a:gd name="T6" fmla="*/ 0 w 113"/>
                      <a:gd name="T7" fmla="*/ 0 h 1"/>
                      <a:gd name="T8" fmla="*/ 113 w 113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13" h="1">
                        <a:moveTo>
                          <a:pt x="113" y="1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60" name="Line 73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2477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61" name="Line 74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2460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62" name="Freeform 75"/>
                  <p:cNvSpPr/>
                  <p:nvPr/>
                </p:nvSpPr>
                <p:spPr bwMode="auto">
                  <a:xfrm>
                    <a:off x="2412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63" name="Line 76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285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64" name="Line 77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364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65" name="Freeform 78"/>
                  <p:cNvSpPr/>
                  <p:nvPr/>
                </p:nvSpPr>
                <p:spPr bwMode="auto">
                  <a:xfrm>
                    <a:off x="2586" y="2353"/>
                    <a:ext cx="109" cy="1"/>
                  </a:xfrm>
                  <a:custGeom>
                    <a:avLst/>
                    <a:gdLst>
                      <a:gd name="T0" fmla="*/ 0 w 109"/>
                      <a:gd name="T1" fmla="*/ 0 h 1"/>
                      <a:gd name="T2" fmla="*/ 109 w 109"/>
                      <a:gd name="T3" fmla="*/ 0 h 1"/>
                      <a:gd name="T4" fmla="*/ 0 60000 65536"/>
                      <a:gd name="T5" fmla="*/ 0 60000 65536"/>
                      <a:gd name="T6" fmla="*/ 0 w 109"/>
                      <a:gd name="T7" fmla="*/ 0 h 1"/>
                      <a:gd name="T8" fmla="*/ 109 w 10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9" h="1">
                        <a:moveTo>
                          <a:pt x="0" y="0"/>
                        </a:moveTo>
                        <a:lnTo>
                          <a:pt x="109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66" name="Freeform 79"/>
                  <p:cNvSpPr/>
                  <p:nvPr/>
                </p:nvSpPr>
                <p:spPr bwMode="auto">
                  <a:xfrm>
                    <a:off x="2207" y="2353"/>
                    <a:ext cx="89" cy="1"/>
                  </a:xfrm>
                  <a:custGeom>
                    <a:avLst/>
                    <a:gdLst>
                      <a:gd name="T0" fmla="*/ 89 w 89"/>
                      <a:gd name="T1" fmla="*/ 0 h 1"/>
                      <a:gd name="T2" fmla="*/ 0 w 89"/>
                      <a:gd name="T3" fmla="*/ 0 h 1"/>
                      <a:gd name="T4" fmla="*/ 0 60000 65536"/>
                      <a:gd name="T5" fmla="*/ 0 60000 65536"/>
                      <a:gd name="T6" fmla="*/ 0 w 89"/>
                      <a:gd name="T7" fmla="*/ 0 h 1"/>
                      <a:gd name="T8" fmla="*/ 89 w 8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89" h="1">
                        <a:moveTo>
                          <a:pt x="89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67" name="Line 80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053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68" name="Line 81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036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69" name="Freeform 82"/>
                  <p:cNvSpPr/>
                  <p:nvPr/>
                </p:nvSpPr>
                <p:spPr bwMode="auto">
                  <a:xfrm>
                    <a:off x="2988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70" name="Line 83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861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71" name="Line 84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940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72" name="Freeform 85"/>
                  <p:cNvSpPr/>
                  <p:nvPr/>
                </p:nvSpPr>
                <p:spPr bwMode="auto">
                  <a:xfrm>
                    <a:off x="3162" y="2353"/>
                    <a:ext cx="115" cy="1"/>
                  </a:xfrm>
                  <a:custGeom>
                    <a:avLst/>
                    <a:gdLst>
                      <a:gd name="T0" fmla="*/ 0 w 115"/>
                      <a:gd name="T1" fmla="*/ 0 h 1"/>
                      <a:gd name="T2" fmla="*/ 115 w 115"/>
                      <a:gd name="T3" fmla="*/ 0 h 1"/>
                      <a:gd name="T4" fmla="*/ 0 60000 65536"/>
                      <a:gd name="T5" fmla="*/ 0 60000 65536"/>
                      <a:gd name="T6" fmla="*/ 0 w 115"/>
                      <a:gd name="T7" fmla="*/ 0 h 1"/>
                      <a:gd name="T8" fmla="*/ 115 w 115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15" h="1">
                        <a:moveTo>
                          <a:pt x="0" y="0"/>
                        </a:moveTo>
                        <a:lnTo>
                          <a:pt x="115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73" name="Freeform 86"/>
                  <p:cNvSpPr/>
                  <p:nvPr/>
                </p:nvSpPr>
                <p:spPr bwMode="auto">
                  <a:xfrm>
                    <a:off x="2783" y="2353"/>
                    <a:ext cx="90" cy="1"/>
                  </a:xfrm>
                  <a:custGeom>
                    <a:avLst/>
                    <a:gdLst>
                      <a:gd name="T0" fmla="*/ 90 w 90"/>
                      <a:gd name="T1" fmla="*/ 0 h 1"/>
                      <a:gd name="T2" fmla="*/ 0 w 90"/>
                      <a:gd name="T3" fmla="*/ 0 h 1"/>
                      <a:gd name="T4" fmla="*/ 0 60000 65536"/>
                      <a:gd name="T5" fmla="*/ 0 60000 65536"/>
                      <a:gd name="T6" fmla="*/ 0 w 90"/>
                      <a:gd name="T7" fmla="*/ 0 h 1"/>
                      <a:gd name="T8" fmla="*/ 90 w 90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0" h="1">
                        <a:moveTo>
                          <a:pt x="90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74" name="Line 87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629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75" name="Line 88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612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76" name="Freeform 89"/>
                  <p:cNvSpPr/>
                  <p:nvPr/>
                </p:nvSpPr>
                <p:spPr bwMode="auto">
                  <a:xfrm>
                    <a:off x="3564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77" name="Line 90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3437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78" name="Line 91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3516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79" name="Freeform 92"/>
                  <p:cNvSpPr/>
                  <p:nvPr/>
                </p:nvSpPr>
                <p:spPr bwMode="auto">
                  <a:xfrm>
                    <a:off x="3751" y="2352"/>
                    <a:ext cx="100" cy="1"/>
                  </a:xfrm>
                  <a:custGeom>
                    <a:avLst/>
                    <a:gdLst>
                      <a:gd name="T0" fmla="*/ 0 w 100"/>
                      <a:gd name="T1" fmla="*/ 0 h 1"/>
                      <a:gd name="T2" fmla="*/ 100 w 100"/>
                      <a:gd name="T3" fmla="*/ 1 h 1"/>
                      <a:gd name="T4" fmla="*/ 0 60000 65536"/>
                      <a:gd name="T5" fmla="*/ 0 60000 65536"/>
                      <a:gd name="T6" fmla="*/ 0 w 100"/>
                      <a:gd name="T7" fmla="*/ 0 h 1"/>
                      <a:gd name="T8" fmla="*/ 100 w 100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0" h="1">
                        <a:moveTo>
                          <a:pt x="0" y="0"/>
                        </a:moveTo>
                        <a:lnTo>
                          <a:pt x="100" y="1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80" name="Freeform 93"/>
                  <p:cNvSpPr/>
                  <p:nvPr/>
                </p:nvSpPr>
                <p:spPr bwMode="auto">
                  <a:xfrm>
                    <a:off x="3359" y="2353"/>
                    <a:ext cx="108" cy="1"/>
                  </a:xfrm>
                  <a:custGeom>
                    <a:avLst/>
                    <a:gdLst>
                      <a:gd name="T0" fmla="*/ 108 w 108"/>
                      <a:gd name="T1" fmla="*/ 0 h 1"/>
                      <a:gd name="T2" fmla="*/ 0 w 108"/>
                      <a:gd name="T3" fmla="*/ 0 h 1"/>
                      <a:gd name="T4" fmla="*/ 0 60000 65536"/>
                      <a:gd name="T5" fmla="*/ 0 60000 65536"/>
                      <a:gd name="T6" fmla="*/ 0 w 108"/>
                      <a:gd name="T7" fmla="*/ 0 h 1"/>
                      <a:gd name="T8" fmla="*/ 108 w 108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8" h="1">
                        <a:moveTo>
                          <a:pt x="108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81" name="Line 94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205" y="2698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82" name="Line 95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188" y="2696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83" name="Freeform 96"/>
                  <p:cNvSpPr/>
                  <p:nvPr/>
                </p:nvSpPr>
                <p:spPr bwMode="auto">
                  <a:xfrm>
                    <a:off x="4140" y="2695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84" name="Line 97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013" y="2698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85" name="Line 98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092" y="2700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86" name="Freeform 99"/>
                  <p:cNvSpPr/>
                  <p:nvPr/>
                </p:nvSpPr>
                <p:spPr bwMode="auto">
                  <a:xfrm>
                    <a:off x="4336" y="2351"/>
                    <a:ext cx="90" cy="2"/>
                  </a:xfrm>
                  <a:custGeom>
                    <a:avLst/>
                    <a:gdLst>
                      <a:gd name="T0" fmla="*/ 0 w 90"/>
                      <a:gd name="T1" fmla="*/ 0 h 2"/>
                      <a:gd name="T2" fmla="*/ 90 w 90"/>
                      <a:gd name="T3" fmla="*/ 2 h 2"/>
                      <a:gd name="T4" fmla="*/ 0 60000 65536"/>
                      <a:gd name="T5" fmla="*/ 0 60000 65536"/>
                      <a:gd name="T6" fmla="*/ 0 w 90"/>
                      <a:gd name="T7" fmla="*/ 0 h 2"/>
                      <a:gd name="T8" fmla="*/ 90 w 90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0" h="2">
                        <a:moveTo>
                          <a:pt x="0" y="0"/>
                        </a:moveTo>
                        <a:lnTo>
                          <a:pt x="90" y="2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87" name="Freeform 100"/>
                  <p:cNvSpPr/>
                  <p:nvPr/>
                </p:nvSpPr>
                <p:spPr bwMode="auto">
                  <a:xfrm>
                    <a:off x="3935" y="2353"/>
                    <a:ext cx="104" cy="1"/>
                  </a:xfrm>
                  <a:custGeom>
                    <a:avLst/>
                    <a:gdLst>
                      <a:gd name="T0" fmla="*/ 104 w 104"/>
                      <a:gd name="T1" fmla="*/ 0 h 1"/>
                      <a:gd name="T2" fmla="*/ 0 w 104"/>
                      <a:gd name="T3" fmla="*/ 0 h 1"/>
                      <a:gd name="T4" fmla="*/ 0 60000 65536"/>
                      <a:gd name="T5" fmla="*/ 0 60000 65536"/>
                      <a:gd name="T6" fmla="*/ 0 w 104"/>
                      <a:gd name="T7" fmla="*/ 0 h 1"/>
                      <a:gd name="T8" fmla="*/ 104 w 104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4" h="1">
                        <a:moveTo>
                          <a:pt x="104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39488" name="Group 101"/>
                  <p:cNvGrpSpPr/>
                  <p:nvPr/>
                </p:nvGrpSpPr>
                <p:grpSpPr bwMode="auto">
                  <a:xfrm>
                    <a:off x="4668" y="2634"/>
                    <a:ext cx="192" cy="158"/>
                    <a:chOff x="4692" y="2634"/>
                    <a:chExt cx="192" cy="158"/>
                  </a:xfrm>
                </p:grpSpPr>
                <p:grpSp>
                  <p:nvGrpSpPr>
                    <p:cNvPr id="139628" name="Group 102"/>
                    <p:cNvGrpSpPr/>
                    <p:nvPr/>
                  </p:nvGrpSpPr>
                  <p:grpSpPr bwMode="auto">
                    <a:xfrm>
                      <a:off x="4836" y="2634"/>
                      <a:ext cx="48" cy="158"/>
                      <a:chOff x="4836" y="2634"/>
                      <a:chExt cx="48" cy="158"/>
                    </a:xfrm>
                  </p:grpSpPr>
                  <p:sp>
                    <p:nvSpPr>
                      <p:cNvPr id="139633" name="Line 103"/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4805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139634" name="Line 104"/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4788" y="2711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  <p:sp>
                  <p:nvSpPr>
                    <p:cNvPr id="139629" name="Freeform 105"/>
                    <p:cNvSpPr/>
                    <p:nvPr/>
                  </p:nvSpPr>
                  <p:spPr bwMode="auto">
                    <a:xfrm>
                      <a:off x="4740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grpSp>
                  <p:nvGrpSpPr>
                    <p:cNvPr id="139630" name="Group 106"/>
                    <p:cNvGrpSpPr/>
                    <p:nvPr/>
                  </p:nvGrpSpPr>
                  <p:grpSpPr bwMode="auto">
                    <a:xfrm>
                      <a:off x="4692" y="2634"/>
                      <a:ext cx="48" cy="158"/>
                      <a:chOff x="4692" y="2634"/>
                      <a:chExt cx="48" cy="158"/>
                    </a:xfrm>
                  </p:grpSpPr>
                  <p:sp>
                    <p:nvSpPr>
                      <p:cNvPr id="139631" name="Line 107"/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4613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139632" name="Line 108"/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4692" y="2715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</p:grpSp>
              <p:sp>
                <p:nvSpPr>
                  <p:cNvPr id="139489" name="Freeform 109"/>
                  <p:cNvSpPr/>
                  <p:nvPr/>
                </p:nvSpPr>
                <p:spPr bwMode="auto">
                  <a:xfrm>
                    <a:off x="4890" y="2353"/>
                    <a:ext cx="107" cy="1"/>
                  </a:xfrm>
                  <a:custGeom>
                    <a:avLst/>
                    <a:gdLst>
                      <a:gd name="T0" fmla="*/ 0 w 107"/>
                      <a:gd name="T1" fmla="*/ 0 h 1"/>
                      <a:gd name="T2" fmla="*/ 107 w 107"/>
                      <a:gd name="T3" fmla="*/ 0 h 1"/>
                      <a:gd name="T4" fmla="*/ 0 60000 65536"/>
                      <a:gd name="T5" fmla="*/ 0 60000 65536"/>
                      <a:gd name="T6" fmla="*/ 0 w 107"/>
                      <a:gd name="T7" fmla="*/ 0 h 1"/>
                      <a:gd name="T8" fmla="*/ 107 w 107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7" h="1">
                        <a:moveTo>
                          <a:pt x="0" y="0"/>
                        </a:moveTo>
                        <a:lnTo>
                          <a:pt x="107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90" name="Freeform 110"/>
                  <p:cNvSpPr/>
                  <p:nvPr/>
                </p:nvSpPr>
                <p:spPr bwMode="auto">
                  <a:xfrm>
                    <a:off x="4511" y="2353"/>
                    <a:ext cx="96" cy="1"/>
                  </a:xfrm>
                  <a:custGeom>
                    <a:avLst/>
                    <a:gdLst>
                      <a:gd name="T0" fmla="*/ 96 w 96"/>
                      <a:gd name="T1" fmla="*/ 0 h 1"/>
                      <a:gd name="T2" fmla="*/ 0 w 96"/>
                      <a:gd name="T3" fmla="*/ 0 h 1"/>
                      <a:gd name="T4" fmla="*/ 0 60000 65536"/>
                      <a:gd name="T5" fmla="*/ 0 60000 65536"/>
                      <a:gd name="T6" fmla="*/ 0 w 96"/>
                      <a:gd name="T7" fmla="*/ 0 h 1"/>
                      <a:gd name="T8" fmla="*/ 96 w 96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1">
                        <a:moveTo>
                          <a:pt x="96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39491" name="Group 111"/>
                  <p:cNvGrpSpPr/>
                  <p:nvPr/>
                </p:nvGrpSpPr>
                <p:grpSpPr bwMode="auto">
                  <a:xfrm>
                    <a:off x="5235" y="2634"/>
                    <a:ext cx="192" cy="158"/>
                    <a:chOff x="5259" y="2634"/>
                    <a:chExt cx="192" cy="158"/>
                  </a:xfrm>
                </p:grpSpPr>
                <p:grpSp>
                  <p:nvGrpSpPr>
                    <p:cNvPr id="139621" name="Group 112"/>
                    <p:cNvGrpSpPr/>
                    <p:nvPr/>
                  </p:nvGrpSpPr>
                  <p:grpSpPr bwMode="auto">
                    <a:xfrm>
                      <a:off x="5403" y="2634"/>
                      <a:ext cx="48" cy="158"/>
                      <a:chOff x="5403" y="2634"/>
                      <a:chExt cx="48" cy="158"/>
                    </a:xfrm>
                  </p:grpSpPr>
                  <p:sp>
                    <p:nvSpPr>
                      <p:cNvPr id="139626" name="Line 113"/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5372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139627" name="Line 114"/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5355" y="2711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  <p:sp>
                  <p:nvSpPr>
                    <p:cNvPr id="139622" name="Freeform 115"/>
                    <p:cNvSpPr/>
                    <p:nvPr/>
                  </p:nvSpPr>
                  <p:spPr bwMode="auto">
                    <a:xfrm>
                      <a:off x="5307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grpSp>
                  <p:nvGrpSpPr>
                    <p:cNvPr id="139623" name="Group 116"/>
                    <p:cNvGrpSpPr/>
                    <p:nvPr/>
                  </p:nvGrpSpPr>
                  <p:grpSpPr bwMode="auto">
                    <a:xfrm>
                      <a:off x="5259" y="2634"/>
                      <a:ext cx="48" cy="158"/>
                      <a:chOff x="5259" y="2634"/>
                      <a:chExt cx="48" cy="158"/>
                    </a:xfrm>
                  </p:grpSpPr>
                  <p:sp>
                    <p:nvSpPr>
                      <p:cNvPr id="139624" name="Line 117"/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5180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139625" name="Line 118"/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5259" y="2715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</p:grpSp>
              <p:sp>
                <p:nvSpPr>
                  <p:cNvPr id="139492" name="Freeform 119"/>
                  <p:cNvSpPr/>
                  <p:nvPr/>
                </p:nvSpPr>
                <p:spPr bwMode="auto">
                  <a:xfrm>
                    <a:off x="5467" y="2351"/>
                    <a:ext cx="96" cy="2"/>
                  </a:xfrm>
                  <a:custGeom>
                    <a:avLst/>
                    <a:gdLst>
                      <a:gd name="T0" fmla="*/ 0 w 96"/>
                      <a:gd name="T1" fmla="*/ 0 h 2"/>
                      <a:gd name="T2" fmla="*/ 96 w 96"/>
                      <a:gd name="T3" fmla="*/ 2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0"/>
                        </a:moveTo>
                        <a:lnTo>
                          <a:pt x="96" y="2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93" name="Freeform 120"/>
                  <p:cNvSpPr/>
                  <p:nvPr/>
                </p:nvSpPr>
                <p:spPr bwMode="auto">
                  <a:xfrm>
                    <a:off x="5078" y="2353"/>
                    <a:ext cx="101" cy="1"/>
                  </a:xfrm>
                  <a:custGeom>
                    <a:avLst/>
                    <a:gdLst>
                      <a:gd name="T0" fmla="*/ 101 w 101"/>
                      <a:gd name="T1" fmla="*/ 0 h 1"/>
                      <a:gd name="T2" fmla="*/ 0 w 101"/>
                      <a:gd name="T3" fmla="*/ 0 h 1"/>
                      <a:gd name="T4" fmla="*/ 0 60000 65536"/>
                      <a:gd name="T5" fmla="*/ 0 60000 65536"/>
                      <a:gd name="T6" fmla="*/ 0 w 101"/>
                      <a:gd name="T7" fmla="*/ 0 h 1"/>
                      <a:gd name="T8" fmla="*/ 101 w 101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1" h="1">
                        <a:moveTo>
                          <a:pt x="101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94" name="Freeform 121"/>
                  <p:cNvSpPr/>
                  <p:nvPr/>
                </p:nvSpPr>
                <p:spPr bwMode="auto">
                  <a:xfrm>
                    <a:off x="908" y="856"/>
                    <a:ext cx="4419" cy="1"/>
                  </a:xfrm>
                  <a:custGeom>
                    <a:avLst/>
                    <a:gdLst>
                      <a:gd name="T0" fmla="*/ 0 w 4419"/>
                      <a:gd name="T1" fmla="*/ 1 h 1"/>
                      <a:gd name="T2" fmla="*/ 4419 w 4419"/>
                      <a:gd name="T3" fmla="*/ 0 h 1"/>
                      <a:gd name="T4" fmla="*/ 0 60000 65536"/>
                      <a:gd name="T5" fmla="*/ 0 60000 65536"/>
                      <a:gd name="T6" fmla="*/ 0 w 4419"/>
                      <a:gd name="T7" fmla="*/ 0 h 1"/>
                      <a:gd name="T8" fmla="*/ 4419 w 441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9" h="1">
                        <a:moveTo>
                          <a:pt x="0" y="1"/>
                        </a:moveTo>
                        <a:lnTo>
                          <a:pt x="4419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95" name="Line 122"/>
                  <p:cNvSpPr>
                    <a:spLocks noChangeShapeType="1"/>
                  </p:cNvSpPr>
                  <p:nvPr/>
                </p:nvSpPr>
                <p:spPr bwMode="auto">
                  <a:xfrm>
                    <a:off x="1292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96" name="Line 123"/>
                  <p:cNvSpPr>
                    <a:spLocks noChangeShapeType="1"/>
                  </p:cNvSpPr>
                  <p:nvPr/>
                </p:nvSpPr>
                <p:spPr bwMode="auto">
                  <a:xfrm>
                    <a:off x="1868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97" name="Line 124"/>
                  <p:cNvSpPr>
                    <a:spLocks noChangeShapeType="1"/>
                  </p:cNvSpPr>
                  <p:nvPr/>
                </p:nvSpPr>
                <p:spPr bwMode="auto">
                  <a:xfrm>
                    <a:off x="2444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98" name="Line 125"/>
                  <p:cNvSpPr>
                    <a:spLocks noChangeShapeType="1"/>
                  </p:cNvSpPr>
                  <p:nvPr/>
                </p:nvSpPr>
                <p:spPr bwMode="auto">
                  <a:xfrm>
                    <a:off x="3020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99" name="Line 126"/>
                  <p:cNvSpPr>
                    <a:spLocks noChangeShapeType="1"/>
                  </p:cNvSpPr>
                  <p:nvPr/>
                </p:nvSpPr>
                <p:spPr bwMode="auto">
                  <a:xfrm>
                    <a:off x="3596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00" name="Line 127"/>
                  <p:cNvSpPr>
                    <a:spLocks noChangeShapeType="1"/>
                  </p:cNvSpPr>
                  <p:nvPr/>
                </p:nvSpPr>
                <p:spPr bwMode="auto">
                  <a:xfrm>
                    <a:off x="4172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01" name="Line 128"/>
                  <p:cNvSpPr>
                    <a:spLocks noChangeShapeType="1"/>
                  </p:cNvSpPr>
                  <p:nvPr/>
                </p:nvSpPr>
                <p:spPr bwMode="auto">
                  <a:xfrm>
                    <a:off x="4748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02" name="Line 129"/>
                  <p:cNvSpPr>
                    <a:spLocks noChangeShapeType="1"/>
                  </p:cNvSpPr>
                  <p:nvPr/>
                </p:nvSpPr>
                <p:spPr bwMode="auto">
                  <a:xfrm>
                    <a:off x="5324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03" name="Freeform 130"/>
                  <p:cNvSpPr/>
                  <p:nvPr/>
                </p:nvSpPr>
                <p:spPr bwMode="auto">
                  <a:xfrm>
                    <a:off x="1305" y="2708"/>
                    <a:ext cx="1" cy="166"/>
                  </a:xfrm>
                  <a:custGeom>
                    <a:avLst/>
                    <a:gdLst>
                      <a:gd name="T0" fmla="*/ 1 w 1"/>
                      <a:gd name="T1" fmla="*/ 0 h 166"/>
                      <a:gd name="T2" fmla="*/ 0 w 1"/>
                      <a:gd name="T3" fmla="*/ 166 h 166"/>
                      <a:gd name="T4" fmla="*/ 0 60000 65536"/>
                      <a:gd name="T5" fmla="*/ 0 60000 65536"/>
                      <a:gd name="T6" fmla="*/ 0 w 1"/>
                      <a:gd name="T7" fmla="*/ 0 h 166"/>
                      <a:gd name="T8" fmla="*/ 1 w 1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66">
                        <a:moveTo>
                          <a:pt x="1" y="0"/>
                        </a:moveTo>
                        <a:lnTo>
                          <a:pt x="0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04" name="Freeform 131"/>
                  <p:cNvSpPr/>
                  <p:nvPr/>
                </p:nvSpPr>
                <p:spPr bwMode="auto">
                  <a:xfrm>
                    <a:off x="1880" y="2708"/>
                    <a:ext cx="47" cy="501"/>
                  </a:xfrm>
                  <a:custGeom>
                    <a:avLst/>
                    <a:gdLst>
                      <a:gd name="T0" fmla="*/ 0 w 1"/>
                      <a:gd name="T1" fmla="*/ 0 h 406"/>
                      <a:gd name="T2" fmla="*/ 0 w 1"/>
                      <a:gd name="T3" fmla="*/ 7711 h 406"/>
                      <a:gd name="T4" fmla="*/ 0 60000 65536"/>
                      <a:gd name="T5" fmla="*/ 0 60000 65536"/>
                      <a:gd name="T6" fmla="*/ 0 w 1"/>
                      <a:gd name="T7" fmla="*/ 0 h 406"/>
                      <a:gd name="T8" fmla="*/ 1 w 1"/>
                      <a:gd name="T9" fmla="*/ 406 h 40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406">
                        <a:moveTo>
                          <a:pt x="0" y="0"/>
                        </a:moveTo>
                        <a:lnTo>
                          <a:pt x="0" y="40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05" name="Freeform 132"/>
                  <p:cNvSpPr/>
                  <p:nvPr/>
                </p:nvSpPr>
                <p:spPr bwMode="auto">
                  <a:xfrm>
                    <a:off x="2454" y="2708"/>
                    <a:ext cx="4" cy="166"/>
                  </a:xfrm>
                  <a:custGeom>
                    <a:avLst/>
                    <a:gdLst>
                      <a:gd name="T0" fmla="*/ 4 w 4"/>
                      <a:gd name="T1" fmla="*/ 0 h 166"/>
                      <a:gd name="T2" fmla="*/ 0 w 4"/>
                      <a:gd name="T3" fmla="*/ 166 h 166"/>
                      <a:gd name="T4" fmla="*/ 0 60000 65536"/>
                      <a:gd name="T5" fmla="*/ 0 60000 65536"/>
                      <a:gd name="T6" fmla="*/ 0 w 4"/>
                      <a:gd name="T7" fmla="*/ 0 h 166"/>
                      <a:gd name="T8" fmla="*/ 4 w 4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" h="166">
                        <a:moveTo>
                          <a:pt x="4" y="0"/>
                        </a:moveTo>
                        <a:lnTo>
                          <a:pt x="0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06" name="Freeform 133"/>
                  <p:cNvSpPr/>
                  <p:nvPr/>
                </p:nvSpPr>
                <p:spPr bwMode="auto">
                  <a:xfrm>
                    <a:off x="3606" y="2708"/>
                    <a:ext cx="2" cy="175"/>
                  </a:xfrm>
                  <a:custGeom>
                    <a:avLst/>
                    <a:gdLst>
                      <a:gd name="T0" fmla="*/ 2 w 2"/>
                      <a:gd name="T1" fmla="*/ 0 h 175"/>
                      <a:gd name="T2" fmla="*/ 0 w 2"/>
                      <a:gd name="T3" fmla="*/ 175 h 175"/>
                      <a:gd name="T4" fmla="*/ 0 60000 65536"/>
                      <a:gd name="T5" fmla="*/ 0 60000 65536"/>
                      <a:gd name="T6" fmla="*/ 0 w 2"/>
                      <a:gd name="T7" fmla="*/ 0 h 175"/>
                      <a:gd name="T8" fmla="*/ 2 w 2"/>
                      <a:gd name="T9" fmla="*/ 175 h 175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2" h="175">
                        <a:moveTo>
                          <a:pt x="2" y="0"/>
                        </a:moveTo>
                        <a:lnTo>
                          <a:pt x="0" y="175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07" name="Freeform 134"/>
                  <p:cNvSpPr/>
                  <p:nvPr/>
                </p:nvSpPr>
                <p:spPr bwMode="auto">
                  <a:xfrm>
                    <a:off x="4760" y="2697"/>
                    <a:ext cx="1" cy="176"/>
                  </a:xfrm>
                  <a:custGeom>
                    <a:avLst/>
                    <a:gdLst>
                      <a:gd name="T0" fmla="*/ 0 w 1"/>
                      <a:gd name="T1" fmla="*/ 0 h 176"/>
                      <a:gd name="T2" fmla="*/ 0 w 1"/>
                      <a:gd name="T3" fmla="*/ 176 h 176"/>
                      <a:gd name="T4" fmla="*/ 0 60000 65536"/>
                      <a:gd name="T5" fmla="*/ 0 60000 65536"/>
                      <a:gd name="T6" fmla="*/ 0 w 1"/>
                      <a:gd name="T7" fmla="*/ 0 h 176"/>
                      <a:gd name="T8" fmla="*/ 1 w 1"/>
                      <a:gd name="T9" fmla="*/ 176 h 17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76">
                        <a:moveTo>
                          <a:pt x="0" y="0"/>
                        </a:moveTo>
                        <a:lnTo>
                          <a:pt x="0" y="17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08" name="Freeform 135"/>
                  <p:cNvSpPr/>
                  <p:nvPr/>
                </p:nvSpPr>
                <p:spPr bwMode="auto">
                  <a:xfrm>
                    <a:off x="908" y="1480"/>
                    <a:ext cx="4422" cy="1"/>
                  </a:xfrm>
                  <a:custGeom>
                    <a:avLst/>
                    <a:gdLst>
                      <a:gd name="T0" fmla="*/ 0 w 4422"/>
                      <a:gd name="T1" fmla="*/ 1 h 1"/>
                      <a:gd name="T2" fmla="*/ 4422 w 4422"/>
                      <a:gd name="T3" fmla="*/ 0 h 1"/>
                      <a:gd name="T4" fmla="*/ 0 60000 65536"/>
                      <a:gd name="T5" fmla="*/ 0 60000 65536"/>
                      <a:gd name="T6" fmla="*/ 0 w 4422"/>
                      <a:gd name="T7" fmla="*/ 0 h 1"/>
                      <a:gd name="T8" fmla="*/ 4422 w 4422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22" h="1">
                        <a:moveTo>
                          <a:pt x="0" y="1"/>
                        </a:moveTo>
                        <a:lnTo>
                          <a:pt x="4422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09" name="Line 136"/>
                  <p:cNvSpPr>
                    <a:spLocks noChangeShapeType="1"/>
                  </p:cNvSpPr>
                  <p:nvPr/>
                </p:nvSpPr>
                <p:spPr bwMode="auto">
                  <a:xfrm>
                    <a:off x="1292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10" name="Line 137"/>
                  <p:cNvSpPr>
                    <a:spLocks noChangeShapeType="1"/>
                  </p:cNvSpPr>
                  <p:nvPr/>
                </p:nvSpPr>
                <p:spPr bwMode="auto">
                  <a:xfrm>
                    <a:off x="1868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11" name="Line 138"/>
                  <p:cNvSpPr>
                    <a:spLocks noChangeShapeType="1"/>
                  </p:cNvSpPr>
                  <p:nvPr/>
                </p:nvSpPr>
                <p:spPr bwMode="auto">
                  <a:xfrm>
                    <a:off x="2444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12" name="Line 139"/>
                  <p:cNvSpPr>
                    <a:spLocks noChangeShapeType="1"/>
                  </p:cNvSpPr>
                  <p:nvPr/>
                </p:nvSpPr>
                <p:spPr bwMode="auto">
                  <a:xfrm>
                    <a:off x="3020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13" name="Line 140"/>
                  <p:cNvSpPr>
                    <a:spLocks noChangeShapeType="1"/>
                  </p:cNvSpPr>
                  <p:nvPr/>
                </p:nvSpPr>
                <p:spPr bwMode="auto">
                  <a:xfrm>
                    <a:off x="3596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14" name="Line 141"/>
                  <p:cNvSpPr>
                    <a:spLocks noChangeShapeType="1"/>
                  </p:cNvSpPr>
                  <p:nvPr/>
                </p:nvSpPr>
                <p:spPr bwMode="auto">
                  <a:xfrm>
                    <a:off x="4172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15" name="Line 142"/>
                  <p:cNvSpPr>
                    <a:spLocks noChangeShapeType="1"/>
                  </p:cNvSpPr>
                  <p:nvPr/>
                </p:nvSpPr>
                <p:spPr bwMode="auto">
                  <a:xfrm>
                    <a:off x="4748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16" name="Line 143"/>
                  <p:cNvSpPr>
                    <a:spLocks noChangeShapeType="1"/>
                  </p:cNvSpPr>
                  <p:nvPr/>
                </p:nvSpPr>
                <p:spPr bwMode="auto">
                  <a:xfrm>
                    <a:off x="5324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17" name="Freeform 144"/>
                  <p:cNvSpPr/>
                  <p:nvPr/>
                </p:nvSpPr>
                <p:spPr bwMode="auto">
                  <a:xfrm>
                    <a:off x="908" y="2056"/>
                    <a:ext cx="4418" cy="1"/>
                  </a:xfrm>
                  <a:custGeom>
                    <a:avLst/>
                    <a:gdLst>
                      <a:gd name="T0" fmla="*/ 0 w 4418"/>
                      <a:gd name="T1" fmla="*/ 1 h 1"/>
                      <a:gd name="T2" fmla="*/ 4418 w 4418"/>
                      <a:gd name="T3" fmla="*/ 0 h 1"/>
                      <a:gd name="T4" fmla="*/ 0 60000 65536"/>
                      <a:gd name="T5" fmla="*/ 0 60000 65536"/>
                      <a:gd name="T6" fmla="*/ 0 w 4418"/>
                      <a:gd name="T7" fmla="*/ 0 h 1"/>
                      <a:gd name="T8" fmla="*/ 4418 w 4418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8" h="1">
                        <a:moveTo>
                          <a:pt x="0" y="1"/>
                        </a:moveTo>
                        <a:lnTo>
                          <a:pt x="4418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18" name="Line 145"/>
                  <p:cNvSpPr>
                    <a:spLocks noChangeShapeType="1"/>
                  </p:cNvSpPr>
                  <p:nvPr/>
                </p:nvSpPr>
                <p:spPr bwMode="auto">
                  <a:xfrm>
                    <a:off x="1292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19" name="Line 146"/>
                  <p:cNvSpPr>
                    <a:spLocks noChangeShapeType="1"/>
                  </p:cNvSpPr>
                  <p:nvPr/>
                </p:nvSpPr>
                <p:spPr bwMode="auto">
                  <a:xfrm>
                    <a:off x="1868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20" name="Line 147"/>
                  <p:cNvSpPr>
                    <a:spLocks noChangeShapeType="1"/>
                  </p:cNvSpPr>
                  <p:nvPr/>
                </p:nvSpPr>
                <p:spPr bwMode="auto">
                  <a:xfrm>
                    <a:off x="2444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21" name="Line 148"/>
                  <p:cNvSpPr>
                    <a:spLocks noChangeShapeType="1"/>
                  </p:cNvSpPr>
                  <p:nvPr/>
                </p:nvSpPr>
                <p:spPr bwMode="auto">
                  <a:xfrm>
                    <a:off x="3020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22" name="Line 149"/>
                  <p:cNvSpPr>
                    <a:spLocks noChangeShapeType="1"/>
                  </p:cNvSpPr>
                  <p:nvPr/>
                </p:nvSpPr>
                <p:spPr bwMode="auto">
                  <a:xfrm>
                    <a:off x="3596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23" name="Line 150"/>
                  <p:cNvSpPr>
                    <a:spLocks noChangeShapeType="1"/>
                  </p:cNvSpPr>
                  <p:nvPr/>
                </p:nvSpPr>
                <p:spPr bwMode="auto">
                  <a:xfrm>
                    <a:off x="4172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24" name="Line 151"/>
                  <p:cNvSpPr>
                    <a:spLocks noChangeShapeType="1"/>
                  </p:cNvSpPr>
                  <p:nvPr/>
                </p:nvSpPr>
                <p:spPr bwMode="auto">
                  <a:xfrm>
                    <a:off x="4748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25" name="Line 152"/>
                  <p:cNvSpPr>
                    <a:spLocks noChangeShapeType="1"/>
                  </p:cNvSpPr>
                  <p:nvPr/>
                </p:nvSpPr>
                <p:spPr bwMode="auto">
                  <a:xfrm>
                    <a:off x="5324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26" name="Freeform 153"/>
                  <p:cNvSpPr/>
                  <p:nvPr/>
                </p:nvSpPr>
                <p:spPr bwMode="auto">
                  <a:xfrm>
                    <a:off x="909" y="2879"/>
                    <a:ext cx="3860" cy="1"/>
                  </a:xfrm>
                  <a:custGeom>
                    <a:avLst/>
                    <a:gdLst>
                      <a:gd name="T0" fmla="*/ 0 w 3860"/>
                      <a:gd name="T1" fmla="*/ 1 h 1"/>
                      <a:gd name="T2" fmla="*/ 3860 w 3860"/>
                      <a:gd name="T3" fmla="*/ 0 h 1"/>
                      <a:gd name="T4" fmla="*/ 0 60000 65536"/>
                      <a:gd name="T5" fmla="*/ 0 60000 65536"/>
                      <a:gd name="T6" fmla="*/ 0 w 3860"/>
                      <a:gd name="T7" fmla="*/ 0 h 1"/>
                      <a:gd name="T8" fmla="*/ 3860 w 3860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3860" h="1">
                        <a:moveTo>
                          <a:pt x="0" y="1"/>
                        </a:moveTo>
                        <a:lnTo>
                          <a:pt x="386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27" name="Freeform 154"/>
                  <p:cNvSpPr/>
                  <p:nvPr/>
                </p:nvSpPr>
                <p:spPr bwMode="auto">
                  <a:xfrm>
                    <a:off x="912" y="3209"/>
                    <a:ext cx="4418" cy="1"/>
                  </a:xfrm>
                  <a:custGeom>
                    <a:avLst/>
                    <a:gdLst>
                      <a:gd name="T0" fmla="*/ 0 w 4418"/>
                      <a:gd name="T1" fmla="*/ 1 h 1"/>
                      <a:gd name="T2" fmla="*/ 4418 w 4418"/>
                      <a:gd name="T3" fmla="*/ 0 h 1"/>
                      <a:gd name="T4" fmla="*/ 0 60000 65536"/>
                      <a:gd name="T5" fmla="*/ 0 60000 65536"/>
                      <a:gd name="T6" fmla="*/ 0 w 4418"/>
                      <a:gd name="T7" fmla="*/ 0 h 1"/>
                      <a:gd name="T8" fmla="*/ 4418 w 4418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8" h="1">
                        <a:moveTo>
                          <a:pt x="0" y="1"/>
                        </a:moveTo>
                        <a:lnTo>
                          <a:pt x="4418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28" name="Rectangle 155"/>
                  <p:cNvSpPr>
                    <a:spLocks noChangeArrowheads="1"/>
                  </p:cNvSpPr>
                  <p:nvPr/>
                </p:nvSpPr>
                <p:spPr bwMode="auto">
                  <a:xfrm>
                    <a:off x="1141" y="3545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/>
                  </a:p>
                </p:txBody>
              </p:sp>
              <p:sp>
                <p:nvSpPr>
                  <p:cNvPr id="139529" name="Text Box 156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72" y="3576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读写电路</a:t>
                    </a:r>
                  </a:p>
                </p:txBody>
              </p:sp>
              <p:sp>
                <p:nvSpPr>
                  <p:cNvPr id="139530" name="Freeform 157"/>
                  <p:cNvSpPr/>
                  <p:nvPr/>
                </p:nvSpPr>
                <p:spPr bwMode="auto">
                  <a:xfrm>
                    <a:off x="1402" y="1211"/>
                    <a:ext cx="145" cy="1466"/>
                  </a:xfrm>
                  <a:custGeom>
                    <a:avLst/>
                    <a:gdLst>
                      <a:gd name="T0" fmla="*/ 37 w 145"/>
                      <a:gd name="T1" fmla="*/ 0 h 1466"/>
                      <a:gd name="T2" fmla="*/ 145 w 145"/>
                      <a:gd name="T3" fmla="*/ 0 h 1466"/>
                      <a:gd name="T4" fmla="*/ 144 w 145"/>
                      <a:gd name="T5" fmla="*/ 1466 h 1466"/>
                      <a:gd name="T6" fmla="*/ 0 w 145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5"/>
                      <a:gd name="T13" fmla="*/ 0 h 1466"/>
                      <a:gd name="T14" fmla="*/ 145 w 145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5" h="1466">
                        <a:moveTo>
                          <a:pt x="37" y="0"/>
                        </a:moveTo>
                        <a:lnTo>
                          <a:pt x="145" y="0"/>
                        </a:lnTo>
                        <a:lnTo>
                          <a:pt x="144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31" name="Freeform 158"/>
                  <p:cNvSpPr/>
                  <p:nvPr/>
                </p:nvSpPr>
                <p:spPr bwMode="auto">
                  <a:xfrm>
                    <a:off x="1613" y="1211"/>
                    <a:ext cx="169" cy="1469"/>
                  </a:xfrm>
                  <a:custGeom>
                    <a:avLst/>
                    <a:gdLst>
                      <a:gd name="T0" fmla="*/ 169 w 169"/>
                      <a:gd name="T1" fmla="*/ 1468 h 1469"/>
                      <a:gd name="T2" fmla="*/ 0 w 169"/>
                      <a:gd name="T3" fmla="*/ 1469 h 1469"/>
                      <a:gd name="T4" fmla="*/ 1 w 169"/>
                      <a:gd name="T5" fmla="*/ 0 h 1469"/>
                      <a:gd name="T6" fmla="*/ 105 w 169"/>
                      <a:gd name="T7" fmla="*/ 0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69"/>
                      <a:gd name="T13" fmla="*/ 0 h 1469"/>
                      <a:gd name="T14" fmla="*/ 169 w 169"/>
                      <a:gd name="T15" fmla="*/ 1469 h 146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69" h="1469">
                        <a:moveTo>
                          <a:pt x="169" y="1468"/>
                        </a:moveTo>
                        <a:lnTo>
                          <a:pt x="0" y="1469"/>
                        </a:lnTo>
                        <a:lnTo>
                          <a:pt x="1" y="0"/>
                        </a:lnTo>
                        <a:lnTo>
                          <a:pt x="105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32" name="Freeform 159"/>
                  <p:cNvSpPr/>
                  <p:nvPr/>
                </p:nvSpPr>
                <p:spPr bwMode="auto">
                  <a:xfrm>
                    <a:off x="1967" y="1211"/>
                    <a:ext cx="141" cy="1466"/>
                  </a:xfrm>
                  <a:custGeom>
                    <a:avLst/>
                    <a:gdLst>
                      <a:gd name="T0" fmla="*/ 38 w 141"/>
                      <a:gd name="T1" fmla="*/ 0 h 1466"/>
                      <a:gd name="T2" fmla="*/ 141 w 141"/>
                      <a:gd name="T3" fmla="*/ 0 h 1466"/>
                      <a:gd name="T4" fmla="*/ 140 w 141"/>
                      <a:gd name="T5" fmla="*/ 1466 h 1466"/>
                      <a:gd name="T6" fmla="*/ 0 w 141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1"/>
                      <a:gd name="T13" fmla="*/ 0 h 1466"/>
                      <a:gd name="T14" fmla="*/ 141 w 141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1" h="1466">
                        <a:moveTo>
                          <a:pt x="38" y="0"/>
                        </a:moveTo>
                        <a:lnTo>
                          <a:pt x="141" y="0"/>
                        </a:lnTo>
                        <a:lnTo>
                          <a:pt x="140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33" name="Freeform 160"/>
                  <p:cNvSpPr/>
                  <p:nvPr/>
                </p:nvSpPr>
                <p:spPr bwMode="auto">
                  <a:xfrm>
                    <a:off x="2208" y="1211"/>
                    <a:ext cx="155" cy="1467"/>
                  </a:xfrm>
                  <a:custGeom>
                    <a:avLst/>
                    <a:gdLst>
                      <a:gd name="T0" fmla="*/ 155 w 155"/>
                      <a:gd name="T1" fmla="*/ 1467 h 1467"/>
                      <a:gd name="T2" fmla="*/ 3 w 155"/>
                      <a:gd name="T3" fmla="*/ 1467 h 1467"/>
                      <a:gd name="T4" fmla="*/ 0 w 155"/>
                      <a:gd name="T5" fmla="*/ 1 h 1467"/>
                      <a:gd name="T6" fmla="*/ 89 w 155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5"/>
                      <a:gd name="T13" fmla="*/ 0 h 1467"/>
                      <a:gd name="T14" fmla="*/ 155 w 155"/>
                      <a:gd name="T15" fmla="*/ 1467 h 146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5" h="1467">
                        <a:moveTo>
                          <a:pt x="155" y="1467"/>
                        </a:moveTo>
                        <a:lnTo>
                          <a:pt x="3" y="1467"/>
                        </a:lnTo>
                        <a:lnTo>
                          <a:pt x="0" y="1"/>
                        </a:lnTo>
                        <a:lnTo>
                          <a:pt x="89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34" name="Freeform 161"/>
                  <p:cNvSpPr/>
                  <p:nvPr/>
                </p:nvSpPr>
                <p:spPr bwMode="auto">
                  <a:xfrm>
                    <a:off x="2557" y="1211"/>
                    <a:ext cx="142" cy="1466"/>
                  </a:xfrm>
                  <a:custGeom>
                    <a:avLst/>
                    <a:gdLst>
                      <a:gd name="T0" fmla="*/ 34 w 142"/>
                      <a:gd name="T1" fmla="*/ 0 h 1466"/>
                      <a:gd name="T2" fmla="*/ 142 w 142"/>
                      <a:gd name="T3" fmla="*/ 0 h 1466"/>
                      <a:gd name="T4" fmla="*/ 141 w 142"/>
                      <a:gd name="T5" fmla="*/ 1466 h 1466"/>
                      <a:gd name="T6" fmla="*/ 0 w 142"/>
                      <a:gd name="T7" fmla="*/ 1464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2"/>
                      <a:gd name="T13" fmla="*/ 0 h 1466"/>
                      <a:gd name="T14" fmla="*/ 142 w 142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2" h="1466">
                        <a:moveTo>
                          <a:pt x="34" y="0"/>
                        </a:moveTo>
                        <a:lnTo>
                          <a:pt x="142" y="0"/>
                        </a:lnTo>
                        <a:lnTo>
                          <a:pt x="141" y="1466"/>
                        </a:lnTo>
                        <a:lnTo>
                          <a:pt x="0" y="1464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35" name="Freeform 162"/>
                  <p:cNvSpPr/>
                  <p:nvPr/>
                </p:nvSpPr>
                <p:spPr bwMode="auto">
                  <a:xfrm>
                    <a:off x="2787" y="1211"/>
                    <a:ext cx="152" cy="1467"/>
                  </a:xfrm>
                  <a:custGeom>
                    <a:avLst/>
                    <a:gdLst>
                      <a:gd name="T0" fmla="*/ 152 w 152"/>
                      <a:gd name="T1" fmla="*/ 1467 h 1467"/>
                      <a:gd name="T2" fmla="*/ 0 w 152"/>
                      <a:gd name="T3" fmla="*/ 1467 h 1467"/>
                      <a:gd name="T4" fmla="*/ 0 w 152"/>
                      <a:gd name="T5" fmla="*/ 1 h 1467"/>
                      <a:gd name="T6" fmla="*/ 77 w 152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2"/>
                      <a:gd name="T13" fmla="*/ 0 h 1467"/>
                      <a:gd name="T14" fmla="*/ 152 w 152"/>
                      <a:gd name="T15" fmla="*/ 1467 h 146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2" h="1467">
                        <a:moveTo>
                          <a:pt x="152" y="1467"/>
                        </a:moveTo>
                        <a:lnTo>
                          <a:pt x="0" y="1467"/>
                        </a:lnTo>
                        <a:lnTo>
                          <a:pt x="0" y="1"/>
                        </a:lnTo>
                        <a:lnTo>
                          <a:pt x="77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36" name="Freeform 163"/>
                  <p:cNvSpPr/>
                  <p:nvPr/>
                </p:nvSpPr>
                <p:spPr bwMode="auto">
                  <a:xfrm>
                    <a:off x="3130" y="1211"/>
                    <a:ext cx="145" cy="1466"/>
                  </a:xfrm>
                  <a:custGeom>
                    <a:avLst/>
                    <a:gdLst>
                      <a:gd name="T0" fmla="*/ 37 w 145"/>
                      <a:gd name="T1" fmla="*/ 0 h 1466"/>
                      <a:gd name="T2" fmla="*/ 145 w 145"/>
                      <a:gd name="T3" fmla="*/ 0 h 1466"/>
                      <a:gd name="T4" fmla="*/ 144 w 145"/>
                      <a:gd name="T5" fmla="*/ 1466 h 1466"/>
                      <a:gd name="T6" fmla="*/ 0 w 145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5"/>
                      <a:gd name="T13" fmla="*/ 0 h 1466"/>
                      <a:gd name="T14" fmla="*/ 145 w 145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5" h="1466">
                        <a:moveTo>
                          <a:pt x="37" y="0"/>
                        </a:moveTo>
                        <a:lnTo>
                          <a:pt x="145" y="0"/>
                        </a:lnTo>
                        <a:lnTo>
                          <a:pt x="144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37" name="Freeform 164"/>
                  <p:cNvSpPr/>
                  <p:nvPr/>
                </p:nvSpPr>
                <p:spPr bwMode="auto">
                  <a:xfrm>
                    <a:off x="3360" y="1209"/>
                    <a:ext cx="155" cy="1469"/>
                  </a:xfrm>
                  <a:custGeom>
                    <a:avLst/>
                    <a:gdLst>
                      <a:gd name="T0" fmla="*/ 155 w 155"/>
                      <a:gd name="T1" fmla="*/ 1469 h 1469"/>
                      <a:gd name="T2" fmla="*/ 3 w 155"/>
                      <a:gd name="T3" fmla="*/ 1469 h 1469"/>
                      <a:gd name="T4" fmla="*/ 0 w 155"/>
                      <a:gd name="T5" fmla="*/ 0 h 1469"/>
                      <a:gd name="T6" fmla="*/ 103 w 155"/>
                      <a:gd name="T7" fmla="*/ 2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5"/>
                      <a:gd name="T13" fmla="*/ 0 h 1469"/>
                      <a:gd name="T14" fmla="*/ 155 w 155"/>
                      <a:gd name="T15" fmla="*/ 1469 h 146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5" h="1469">
                        <a:moveTo>
                          <a:pt x="155" y="1469"/>
                        </a:moveTo>
                        <a:lnTo>
                          <a:pt x="3" y="1469"/>
                        </a:lnTo>
                        <a:lnTo>
                          <a:pt x="0" y="0"/>
                        </a:lnTo>
                        <a:lnTo>
                          <a:pt x="103" y="2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38" name="Freeform 165"/>
                  <p:cNvSpPr/>
                  <p:nvPr/>
                </p:nvSpPr>
                <p:spPr bwMode="auto">
                  <a:xfrm>
                    <a:off x="3710" y="1211"/>
                    <a:ext cx="141" cy="1466"/>
                  </a:xfrm>
                  <a:custGeom>
                    <a:avLst/>
                    <a:gdLst>
                      <a:gd name="T0" fmla="*/ 42 w 141"/>
                      <a:gd name="T1" fmla="*/ 0 h 1466"/>
                      <a:gd name="T2" fmla="*/ 141 w 141"/>
                      <a:gd name="T3" fmla="*/ 0 h 1466"/>
                      <a:gd name="T4" fmla="*/ 140 w 141"/>
                      <a:gd name="T5" fmla="*/ 1466 h 1466"/>
                      <a:gd name="T6" fmla="*/ 0 w 141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1"/>
                      <a:gd name="T13" fmla="*/ 0 h 1466"/>
                      <a:gd name="T14" fmla="*/ 141 w 141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1" h="1466">
                        <a:moveTo>
                          <a:pt x="42" y="0"/>
                        </a:moveTo>
                        <a:lnTo>
                          <a:pt x="141" y="0"/>
                        </a:lnTo>
                        <a:lnTo>
                          <a:pt x="140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39" name="Freeform 166"/>
                  <p:cNvSpPr/>
                  <p:nvPr/>
                </p:nvSpPr>
                <p:spPr bwMode="auto">
                  <a:xfrm>
                    <a:off x="3939" y="1211"/>
                    <a:ext cx="152" cy="1467"/>
                  </a:xfrm>
                  <a:custGeom>
                    <a:avLst/>
                    <a:gdLst>
                      <a:gd name="T0" fmla="*/ 152 w 152"/>
                      <a:gd name="T1" fmla="*/ 1467 h 1467"/>
                      <a:gd name="T2" fmla="*/ 0 w 152"/>
                      <a:gd name="T3" fmla="*/ 1467 h 1467"/>
                      <a:gd name="T4" fmla="*/ 0 w 152"/>
                      <a:gd name="T5" fmla="*/ 1 h 1467"/>
                      <a:gd name="T6" fmla="*/ 103 w 152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2"/>
                      <a:gd name="T13" fmla="*/ 0 h 1467"/>
                      <a:gd name="T14" fmla="*/ 152 w 152"/>
                      <a:gd name="T15" fmla="*/ 1467 h 146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2" h="1467">
                        <a:moveTo>
                          <a:pt x="152" y="1467"/>
                        </a:moveTo>
                        <a:lnTo>
                          <a:pt x="0" y="1467"/>
                        </a:lnTo>
                        <a:lnTo>
                          <a:pt x="0" y="1"/>
                        </a:lnTo>
                        <a:lnTo>
                          <a:pt x="103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40" name="Freeform 167"/>
                  <p:cNvSpPr/>
                  <p:nvPr/>
                </p:nvSpPr>
                <p:spPr bwMode="auto">
                  <a:xfrm>
                    <a:off x="4280" y="1211"/>
                    <a:ext cx="147" cy="1466"/>
                  </a:xfrm>
                  <a:custGeom>
                    <a:avLst/>
                    <a:gdLst>
                      <a:gd name="T0" fmla="*/ 51 w 147"/>
                      <a:gd name="T1" fmla="*/ 0 h 1466"/>
                      <a:gd name="T2" fmla="*/ 147 w 147"/>
                      <a:gd name="T3" fmla="*/ 0 h 1466"/>
                      <a:gd name="T4" fmla="*/ 146 w 147"/>
                      <a:gd name="T5" fmla="*/ 1466 h 1466"/>
                      <a:gd name="T6" fmla="*/ 0 w 147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7"/>
                      <a:gd name="T13" fmla="*/ 0 h 1466"/>
                      <a:gd name="T14" fmla="*/ 147 w 147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7" h="1466">
                        <a:moveTo>
                          <a:pt x="51" y="0"/>
                        </a:moveTo>
                        <a:lnTo>
                          <a:pt x="147" y="0"/>
                        </a:lnTo>
                        <a:lnTo>
                          <a:pt x="146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41" name="Freeform 168"/>
                  <p:cNvSpPr/>
                  <p:nvPr/>
                </p:nvSpPr>
                <p:spPr bwMode="auto">
                  <a:xfrm>
                    <a:off x="4509" y="1211"/>
                    <a:ext cx="158" cy="1467"/>
                  </a:xfrm>
                  <a:custGeom>
                    <a:avLst/>
                    <a:gdLst>
                      <a:gd name="T0" fmla="*/ 158 w 158"/>
                      <a:gd name="T1" fmla="*/ 1467 h 1467"/>
                      <a:gd name="T2" fmla="*/ 0 w 158"/>
                      <a:gd name="T3" fmla="*/ 1467 h 1467"/>
                      <a:gd name="T4" fmla="*/ 0 w 158"/>
                      <a:gd name="T5" fmla="*/ 0 h 1467"/>
                      <a:gd name="T6" fmla="*/ 95 w 158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8"/>
                      <a:gd name="T13" fmla="*/ 0 h 1467"/>
                      <a:gd name="T14" fmla="*/ 158 w 158"/>
                      <a:gd name="T15" fmla="*/ 1467 h 146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8" h="1467">
                        <a:moveTo>
                          <a:pt x="158" y="1467"/>
                        </a:moveTo>
                        <a:lnTo>
                          <a:pt x="0" y="1467"/>
                        </a:lnTo>
                        <a:lnTo>
                          <a:pt x="0" y="0"/>
                        </a:lnTo>
                        <a:lnTo>
                          <a:pt x="95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42" name="Freeform 169"/>
                  <p:cNvSpPr/>
                  <p:nvPr/>
                </p:nvSpPr>
                <p:spPr bwMode="auto">
                  <a:xfrm>
                    <a:off x="4861" y="1211"/>
                    <a:ext cx="142" cy="1466"/>
                  </a:xfrm>
                  <a:custGeom>
                    <a:avLst/>
                    <a:gdLst>
                      <a:gd name="T0" fmla="*/ 34 w 142"/>
                      <a:gd name="T1" fmla="*/ 0 h 1466"/>
                      <a:gd name="T2" fmla="*/ 142 w 142"/>
                      <a:gd name="T3" fmla="*/ 0 h 1466"/>
                      <a:gd name="T4" fmla="*/ 141 w 142"/>
                      <a:gd name="T5" fmla="*/ 1466 h 1466"/>
                      <a:gd name="T6" fmla="*/ 0 w 142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2"/>
                      <a:gd name="T13" fmla="*/ 0 h 1466"/>
                      <a:gd name="T14" fmla="*/ 142 w 142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2" h="1466">
                        <a:moveTo>
                          <a:pt x="34" y="0"/>
                        </a:moveTo>
                        <a:lnTo>
                          <a:pt x="142" y="0"/>
                        </a:lnTo>
                        <a:lnTo>
                          <a:pt x="141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43" name="Freeform 170"/>
                  <p:cNvSpPr/>
                  <p:nvPr/>
                </p:nvSpPr>
                <p:spPr bwMode="auto">
                  <a:xfrm>
                    <a:off x="5069" y="1211"/>
                    <a:ext cx="159" cy="1469"/>
                  </a:xfrm>
                  <a:custGeom>
                    <a:avLst/>
                    <a:gdLst>
                      <a:gd name="T0" fmla="*/ 159 w 159"/>
                      <a:gd name="T1" fmla="*/ 1467 h 1469"/>
                      <a:gd name="T2" fmla="*/ 0 w 159"/>
                      <a:gd name="T3" fmla="*/ 1469 h 1469"/>
                      <a:gd name="T4" fmla="*/ 1 w 159"/>
                      <a:gd name="T5" fmla="*/ 0 h 1469"/>
                      <a:gd name="T6" fmla="*/ 104 w 159"/>
                      <a:gd name="T7" fmla="*/ 0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9"/>
                      <a:gd name="T13" fmla="*/ 0 h 1469"/>
                      <a:gd name="T14" fmla="*/ 159 w 159"/>
                      <a:gd name="T15" fmla="*/ 1469 h 146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9" h="1469">
                        <a:moveTo>
                          <a:pt x="159" y="1467"/>
                        </a:moveTo>
                        <a:lnTo>
                          <a:pt x="0" y="1469"/>
                        </a:lnTo>
                        <a:lnTo>
                          <a:pt x="1" y="0"/>
                        </a:lnTo>
                        <a:lnTo>
                          <a:pt x="104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44" name="Freeform 171"/>
                  <p:cNvSpPr/>
                  <p:nvPr/>
                </p:nvSpPr>
                <p:spPr bwMode="auto">
                  <a:xfrm>
                    <a:off x="5417" y="1211"/>
                    <a:ext cx="147" cy="1466"/>
                  </a:xfrm>
                  <a:custGeom>
                    <a:avLst/>
                    <a:gdLst>
                      <a:gd name="T0" fmla="*/ 47 w 147"/>
                      <a:gd name="T1" fmla="*/ 0 h 1466"/>
                      <a:gd name="T2" fmla="*/ 147 w 147"/>
                      <a:gd name="T3" fmla="*/ 0 h 1466"/>
                      <a:gd name="T4" fmla="*/ 146 w 147"/>
                      <a:gd name="T5" fmla="*/ 1466 h 1466"/>
                      <a:gd name="T6" fmla="*/ 0 w 147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7"/>
                      <a:gd name="T13" fmla="*/ 0 h 1466"/>
                      <a:gd name="T14" fmla="*/ 147 w 147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7" h="1466">
                        <a:moveTo>
                          <a:pt x="47" y="0"/>
                        </a:moveTo>
                        <a:lnTo>
                          <a:pt x="147" y="0"/>
                        </a:lnTo>
                        <a:lnTo>
                          <a:pt x="146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45" name="Freeform 172"/>
                  <p:cNvSpPr/>
                  <p:nvPr/>
                </p:nvSpPr>
                <p:spPr bwMode="auto">
                  <a:xfrm>
                    <a:off x="1055" y="2738"/>
                    <a:ext cx="730" cy="660"/>
                  </a:xfrm>
                  <a:custGeom>
                    <a:avLst/>
                    <a:gdLst>
                      <a:gd name="T0" fmla="*/ 160 w 730"/>
                      <a:gd name="T1" fmla="*/ 4 h 660"/>
                      <a:gd name="T2" fmla="*/ 0 w 730"/>
                      <a:gd name="T3" fmla="*/ 3 h 660"/>
                      <a:gd name="T4" fmla="*/ 0 w 730"/>
                      <a:gd name="T5" fmla="*/ 660 h 660"/>
                      <a:gd name="T6" fmla="*/ 558 w 730"/>
                      <a:gd name="T7" fmla="*/ 657 h 660"/>
                      <a:gd name="T8" fmla="*/ 558 w 730"/>
                      <a:gd name="T9" fmla="*/ 0 h 660"/>
                      <a:gd name="T10" fmla="*/ 730 w 730"/>
                      <a:gd name="T11" fmla="*/ 1 h 660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30"/>
                      <a:gd name="T19" fmla="*/ 0 h 660"/>
                      <a:gd name="T20" fmla="*/ 730 w 730"/>
                      <a:gd name="T21" fmla="*/ 660 h 660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30" h="660">
                        <a:moveTo>
                          <a:pt x="160" y="4"/>
                        </a:moveTo>
                        <a:lnTo>
                          <a:pt x="0" y="3"/>
                        </a:lnTo>
                        <a:lnTo>
                          <a:pt x="0" y="660"/>
                        </a:lnTo>
                        <a:lnTo>
                          <a:pt x="558" y="657"/>
                        </a:lnTo>
                        <a:lnTo>
                          <a:pt x="558" y="0"/>
                        </a:lnTo>
                        <a:lnTo>
                          <a:pt x="730" y="1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46" name="Freeform 173"/>
                  <p:cNvSpPr/>
                  <p:nvPr/>
                </p:nvSpPr>
                <p:spPr bwMode="auto">
                  <a:xfrm>
                    <a:off x="2207" y="2744"/>
                    <a:ext cx="729" cy="658"/>
                  </a:xfrm>
                  <a:custGeom>
                    <a:avLst/>
                    <a:gdLst>
                      <a:gd name="T0" fmla="*/ 153 w 729"/>
                      <a:gd name="T1" fmla="*/ 0 h 658"/>
                      <a:gd name="T2" fmla="*/ 0 w 729"/>
                      <a:gd name="T3" fmla="*/ 0 h 658"/>
                      <a:gd name="T4" fmla="*/ 0 w 729"/>
                      <a:gd name="T5" fmla="*/ 657 h 658"/>
                      <a:gd name="T6" fmla="*/ 583 w 729"/>
                      <a:gd name="T7" fmla="*/ 658 h 658"/>
                      <a:gd name="T8" fmla="*/ 582 w 729"/>
                      <a:gd name="T9" fmla="*/ 3 h 658"/>
                      <a:gd name="T10" fmla="*/ 729 w 729"/>
                      <a:gd name="T11" fmla="*/ 3 h 65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29"/>
                      <a:gd name="T19" fmla="*/ 0 h 658"/>
                      <a:gd name="T20" fmla="*/ 729 w 729"/>
                      <a:gd name="T21" fmla="*/ 658 h 65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29" h="658">
                        <a:moveTo>
                          <a:pt x="153" y="0"/>
                        </a:moveTo>
                        <a:lnTo>
                          <a:pt x="0" y="0"/>
                        </a:lnTo>
                        <a:lnTo>
                          <a:pt x="0" y="657"/>
                        </a:lnTo>
                        <a:lnTo>
                          <a:pt x="583" y="658"/>
                        </a:lnTo>
                        <a:lnTo>
                          <a:pt x="582" y="3"/>
                        </a:lnTo>
                        <a:lnTo>
                          <a:pt x="729" y="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47" name="Freeform 174"/>
                  <p:cNvSpPr/>
                  <p:nvPr/>
                </p:nvSpPr>
                <p:spPr bwMode="auto">
                  <a:xfrm>
                    <a:off x="3356" y="2744"/>
                    <a:ext cx="729" cy="657"/>
                  </a:xfrm>
                  <a:custGeom>
                    <a:avLst/>
                    <a:gdLst>
                      <a:gd name="T0" fmla="*/ 158 w 729"/>
                      <a:gd name="T1" fmla="*/ 0 h 657"/>
                      <a:gd name="T2" fmla="*/ 0 w 729"/>
                      <a:gd name="T3" fmla="*/ 0 h 657"/>
                      <a:gd name="T4" fmla="*/ 0 w 729"/>
                      <a:gd name="T5" fmla="*/ 657 h 657"/>
                      <a:gd name="T6" fmla="*/ 579 w 729"/>
                      <a:gd name="T7" fmla="*/ 654 h 657"/>
                      <a:gd name="T8" fmla="*/ 582 w 729"/>
                      <a:gd name="T9" fmla="*/ 3 h 657"/>
                      <a:gd name="T10" fmla="*/ 729 w 729"/>
                      <a:gd name="T11" fmla="*/ 3 h 65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29"/>
                      <a:gd name="T19" fmla="*/ 0 h 657"/>
                      <a:gd name="T20" fmla="*/ 729 w 729"/>
                      <a:gd name="T21" fmla="*/ 657 h 65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29" h="657">
                        <a:moveTo>
                          <a:pt x="158" y="0"/>
                        </a:moveTo>
                        <a:lnTo>
                          <a:pt x="0" y="0"/>
                        </a:lnTo>
                        <a:lnTo>
                          <a:pt x="0" y="657"/>
                        </a:lnTo>
                        <a:lnTo>
                          <a:pt x="579" y="654"/>
                        </a:lnTo>
                        <a:lnTo>
                          <a:pt x="582" y="3"/>
                        </a:lnTo>
                        <a:lnTo>
                          <a:pt x="729" y="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48" name="Freeform 175"/>
                  <p:cNvSpPr/>
                  <p:nvPr/>
                </p:nvSpPr>
                <p:spPr bwMode="auto">
                  <a:xfrm>
                    <a:off x="4508" y="2744"/>
                    <a:ext cx="729" cy="657"/>
                  </a:xfrm>
                  <a:custGeom>
                    <a:avLst/>
                    <a:gdLst>
                      <a:gd name="T0" fmla="*/ 161 w 729"/>
                      <a:gd name="T1" fmla="*/ 2 h 657"/>
                      <a:gd name="T2" fmla="*/ 0 w 729"/>
                      <a:gd name="T3" fmla="*/ 0 h 657"/>
                      <a:gd name="T4" fmla="*/ 0 w 729"/>
                      <a:gd name="T5" fmla="*/ 657 h 657"/>
                      <a:gd name="T6" fmla="*/ 579 w 729"/>
                      <a:gd name="T7" fmla="*/ 654 h 657"/>
                      <a:gd name="T8" fmla="*/ 582 w 729"/>
                      <a:gd name="T9" fmla="*/ 3 h 657"/>
                      <a:gd name="T10" fmla="*/ 729 w 729"/>
                      <a:gd name="T11" fmla="*/ 3 h 65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29"/>
                      <a:gd name="T19" fmla="*/ 0 h 657"/>
                      <a:gd name="T20" fmla="*/ 729 w 729"/>
                      <a:gd name="T21" fmla="*/ 657 h 65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29" h="657">
                        <a:moveTo>
                          <a:pt x="161" y="2"/>
                        </a:moveTo>
                        <a:lnTo>
                          <a:pt x="0" y="0"/>
                        </a:lnTo>
                        <a:lnTo>
                          <a:pt x="0" y="657"/>
                        </a:lnTo>
                        <a:lnTo>
                          <a:pt x="579" y="654"/>
                        </a:lnTo>
                        <a:lnTo>
                          <a:pt x="582" y="3"/>
                        </a:lnTo>
                        <a:lnTo>
                          <a:pt x="729" y="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49" name="Freeform 176"/>
                  <p:cNvSpPr/>
                  <p:nvPr/>
                </p:nvSpPr>
                <p:spPr bwMode="auto">
                  <a:xfrm>
                    <a:off x="1400" y="2735"/>
                    <a:ext cx="708" cy="571"/>
                  </a:xfrm>
                  <a:custGeom>
                    <a:avLst/>
                    <a:gdLst>
                      <a:gd name="T0" fmla="*/ 0 w 708"/>
                      <a:gd name="T1" fmla="*/ 0 h 571"/>
                      <a:gd name="T2" fmla="*/ 132 w 708"/>
                      <a:gd name="T3" fmla="*/ 0 h 571"/>
                      <a:gd name="T4" fmla="*/ 133 w 708"/>
                      <a:gd name="T5" fmla="*/ 571 h 571"/>
                      <a:gd name="T6" fmla="*/ 708 w 708"/>
                      <a:gd name="T7" fmla="*/ 570 h 571"/>
                      <a:gd name="T8" fmla="*/ 708 w 708"/>
                      <a:gd name="T9" fmla="*/ 9 h 571"/>
                      <a:gd name="T10" fmla="*/ 573 w 708"/>
                      <a:gd name="T11" fmla="*/ 9 h 571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08"/>
                      <a:gd name="T19" fmla="*/ 0 h 571"/>
                      <a:gd name="T20" fmla="*/ 708 w 708"/>
                      <a:gd name="T21" fmla="*/ 571 h 571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08" h="571">
                        <a:moveTo>
                          <a:pt x="0" y="0"/>
                        </a:moveTo>
                        <a:lnTo>
                          <a:pt x="132" y="0"/>
                        </a:lnTo>
                        <a:lnTo>
                          <a:pt x="133" y="571"/>
                        </a:lnTo>
                        <a:lnTo>
                          <a:pt x="708" y="570"/>
                        </a:lnTo>
                        <a:lnTo>
                          <a:pt x="708" y="9"/>
                        </a:lnTo>
                        <a:lnTo>
                          <a:pt x="573" y="9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50" name="Freeform 177"/>
                  <p:cNvSpPr/>
                  <p:nvPr/>
                </p:nvSpPr>
                <p:spPr bwMode="auto">
                  <a:xfrm>
                    <a:off x="2552" y="2735"/>
                    <a:ext cx="726" cy="567"/>
                  </a:xfrm>
                  <a:custGeom>
                    <a:avLst/>
                    <a:gdLst>
                      <a:gd name="T0" fmla="*/ 0 w 726"/>
                      <a:gd name="T1" fmla="*/ 0 h 567"/>
                      <a:gd name="T2" fmla="*/ 148 w 726"/>
                      <a:gd name="T3" fmla="*/ 1 h 567"/>
                      <a:gd name="T4" fmla="*/ 147 w 726"/>
                      <a:gd name="T5" fmla="*/ 567 h 567"/>
                      <a:gd name="T6" fmla="*/ 726 w 726"/>
                      <a:gd name="T7" fmla="*/ 567 h 567"/>
                      <a:gd name="T8" fmla="*/ 726 w 726"/>
                      <a:gd name="T9" fmla="*/ 6 h 567"/>
                      <a:gd name="T10" fmla="*/ 579 w 726"/>
                      <a:gd name="T11" fmla="*/ 6 h 56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26"/>
                      <a:gd name="T19" fmla="*/ 0 h 567"/>
                      <a:gd name="T20" fmla="*/ 726 w 726"/>
                      <a:gd name="T21" fmla="*/ 567 h 56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26" h="567">
                        <a:moveTo>
                          <a:pt x="0" y="0"/>
                        </a:moveTo>
                        <a:lnTo>
                          <a:pt x="148" y="1"/>
                        </a:lnTo>
                        <a:lnTo>
                          <a:pt x="147" y="567"/>
                        </a:lnTo>
                        <a:lnTo>
                          <a:pt x="726" y="567"/>
                        </a:lnTo>
                        <a:lnTo>
                          <a:pt x="726" y="6"/>
                        </a:lnTo>
                        <a:lnTo>
                          <a:pt x="579" y="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51" name="Freeform 178"/>
                  <p:cNvSpPr/>
                  <p:nvPr/>
                </p:nvSpPr>
                <p:spPr bwMode="auto">
                  <a:xfrm>
                    <a:off x="3704" y="2738"/>
                    <a:ext cx="714" cy="567"/>
                  </a:xfrm>
                  <a:custGeom>
                    <a:avLst/>
                    <a:gdLst>
                      <a:gd name="T0" fmla="*/ 0 w 714"/>
                      <a:gd name="T1" fmla="*/ 0 h 567"/>
                      <a:gd name="T2" fmla="*/ 136 w 714"/>
                      <a:gd name="T3" fmla="*/ 1 h 567"/>
                      <a:gd name="T4" fmla="*/ 135 w 714"/>
                      <a:gd name="T5" fmla="*/ 567 h 567"/>
                      <a:gd name="T6" fmla="*/ 714 w 714"/>
                      <a:gd name="T7" fmla="*/ 567 h 567"/>
                      <a:gd name="T8" fmla="*/ 714 w 714"/>
                      <a:gd name="T9" fmla="*/ 6 h 567"/>
                      <a:gd name="T10" fmla="*/ 576 w 714"/>
                      <a:gd name="T11" fmla="*/ 5 h 56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14"/>
                      <a:gd name="T19" fmla="*/ 0 h 567"/>
                      <a:gd name="T20" fmla="*/ 714 w 714"/>
                      <a:gd name="T21" fmla="*/ 567 h 56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14" h="567">
                        <a:moveTo>
                          <a:pt x="0" y="0"/>
                        </a:moveTo>
                        <a:lnTo>
                          <a:pt x="136" y="1"/>
                        </a:lnTo>
                        <a:lnTo>
                          <a:pt x="135" y="567"/>
                        </a:lnTo>
                        <a:lnTo>
                          <a:pt x="714" y="567"/>
                        </a:lnTo>
                        <a:lnTo>
                          <a:pt x="714" y="6"/>
                        </a:lnTo>
                        <a:lnTo>
                          <a:pt x="576" y="5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52" name="Freeform 179"/>
                  <p:cNvSpPr/>
                  <p:nvPr/>
                </p:nvSpPr>
                <p:spPr bwMode="auto">
                  <a:xfrm>
                    <a:off x="4859" y="2738"/>
                    <a:ext cx="711" cy="567"/>
                  </a:xfrm>
                  <a:custGeom>
                    <a:avLst/>
                    <a:gdLst>
                      <a:gd name="T0" fmla="*/ 0 w 711"/>
                      <a:gd name="T1" fmla="*/ 0 h 567"/>
                      <a:gd name="T2" fmla="*/ 130 w 711"/>
                      <a:gd name="T3" fmla="*/ 1 h 567"/>
                      <a:gd name="T4" fmla="*/ 132 w 711"/>
                      <a:gd name="T5" fmla="*/ 567 h 567"/>
                      <a:gd name="T6" fmla="*/ 711 w 711"/>
                      <a:gd name="T7" fmla="*/ 567 h 567"/>
                      <a:gd name="T8" fmla="*/ 711 w 711"/>
                      <a:gd name="T9" fmla="*/ 6 h 567"/>
                      <a:gd name="T10" fmla="*/ 564 w 711"/>
                      <a:gd name="T11" fmla="*/ 6 h 56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11"/>
                      <a:gd name="T19" fmla="*/ 0 h 567"/>
                      <a:gd name="T20" fmla="*/ 711 w 711"/>
                      <a:gd name="T21" fmla="*/ 567 h 56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11" h="567">
                        <a:moveTo>
                          <a:pt x="0" y="0"/>
                        </a:moveTo>
                        <a:lnTo>
                          <a:pt x="130" y="1"/>
                        </a:lnTo>
                        <a:lnTo>
                          <a:pt x="132" y="567"/>
                        </a:lnTo>
                        <a:lnTo>
                          <a:pt x="711" y="567"/>
                        </a:lnTo>
                        <a:lnTo>
                          <a:pt x="711" y="6"/>
                        </a:lnTo>
                        <a:lnTo>
                          <a:pt x="564" y="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53" name="Freeform 180"/>
                  <p:cNvSpPr/>
                  <p:nvPr/>
                </p:nvSpPr>
                <p:spPr bwMode="auto">
                  <a:xfrm>
                    <a:off x="1322" y="3398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  <a:gd name="T6" fmla="*/ 0 w 1"/>
                      <a:gd name="T7" fmla="*/ 0 h 150"/>
                      <a:gd name="T8" fmla="*/ 1 w 1"/>
                      <a:gd name="T9" fmla="*/ 150 h 150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54" name="Freeform 181"/>
                  <p:cNvSpPr/>
                  <p:nvPr/>
                </p:nvSpPr>
                <p:spPr bwMode="auto">
                  <a:xfrm>
                    <a:off x="2491" y="3401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  <a:gd name="T6" fmla="*/ 0 w 1"/>
                      <a:gd name="T7" fmla="*/ 0 h 150"/>
                      <a:gd name="T8" fmla="*/ 1 w 1"/>
                      <a:gd name="T9" fmla="*/ 150 h 150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55" name="Freeform 182"/>
                  <p:cNvSpPr/>
                  <p:nvPr/>
                </p:nvSpPr>
                <p:spPr bwMode="auto">
                  <a:xfrm>
                    <a:off x="3643" y="3401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  <a:gd name="T6" fmla="*/ 0 w 1"/>
                      <a:gd name="T7" fmla="*/ 0 h 150"/>
                      <a:gd name="T8" fmla="*/ 1 w 1"/>
                      <a:gd name="T9" fmla="*/ 150 h 150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56" name="Freeform 183"/>
                  <p:cNvSpPr/>
                  <p:nvPr/>
                </p:nvSpPr>
                <p:spPr bwMode="auto">
                  <a:xfrm>
                    <a:off x="4795" y="3401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  <a:gd name="T6" fmla="*/ 0 w 1"/>
                      <a:gd name="T7" fmla="*/ 0 h 150"/>
                      <a:gd name="T8" fmla="*/ 1 w 1"/>
                      <a:gd name="T9" fmla="*/ 150 h 150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57" name="Freeform 184"/>
                  <p:cNvSpPr/>
                  <p:nvPr/>
                </p:nvSpPr>
                <p:spPr bwMode="auto">
                  <a:xfrm>
                    <a:off x="5276" y="3305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  <a:gd name="T6" fmla="*/ 0 w 1"/>
                      <a:gd name="T7" fmla="*/ 0 h 246"/>
                      <a:gd name="T8" fmla="*/ 1 w 1"/>
                      <a:gd name="T9" fmla="*/ 246 h 24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58" name="Freeform 185"/>
                  <p:cNvSpPr/>
                  <p:nvPr/>
                </p:nvSpPr>
                <p:spPr bwMode="auto">
                  <a:xfrm>
                    <a:off x="4124" y="3305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  <a:gd name="T6" fmla="*/ 0 w 1"/>
                      <a:gd name="T7" fmla="*/ 0 h 246"/>
                      <a:gd name="T8" fmla="*/ 1 w 1"/>
                      <a:gd name="T9" fmla="*/ 246 h 24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59" name="Freeform 186"/>
                  <p:cNvSpPr/>
                  <p:nvPr/>
                </p:nvSpPr>
                <p:spPr bwMode="auto">
                  <a:xfrm>
                    <a:off x="2972" y="3305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  <a:gd name="T6" fmla="*/ 0 w 1"/>
                      <a:gd name="T7" fmla="*/ 0 h 246"/>
                      <a:gd name="T8" fmla="*/ 1 w 1"/>
                      <a:gd name="T9" fmla="*/ 246 h 24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60" name="Freeform 187"/>
                  <p:cNvSpPr/>
                  <p:nvPr/>
                </p:nvSpPr>
                <p:spPr bwMode="auto">
                  <a:xfrm>
                    <a:off x="1819" y="3305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  <a:gd name="T6" fmla="*/ 0 w 1"/>
                      <a:gd name="T7" fmla="*/ 0 h 246"/>
                      <a:gd name="T8" fmla="*/ 1 w 1"/>
                      <a:gd name="T9" fmla="*/ 246 h 24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61" name="Freeform 188"/>
                  <p:cNvSpPr/>
                  <p:nvPr/>
                </p:nvSpPr>
                <p:spPr bwMode="auto">
                  <a:xfrm>
                    <a:off x="956" y="4025"/>
                    <a:ext cx="4317" cy="1"/>
                  </a:xfrm>
                  <a:custGeom>
                    <a:avLst/>
                    <a:gdLst>
                      <a:gd name="T0" fmla="*/ 0 w 4317"/>
                      <a:gd name="T1" fmla="*/ 0 h 1"/>
                      <a:gd name="T2" fmla="*/ 4317 w 4317"/>
                      <a:gd name="T3" fmla="*/ 0 h 1"/>
                      <a:gd name="T4" fmla="*/ 0 60000 65536"/>
                      <a:gd name="T5" fmla="*/ 0 60000 65536"/>
                      <a:gd name="T6" fmla="*/ 0 w 4317"/>
                      <a:gd name="T7" fmla="*/ 0 h 1"/>
                      <a:gd name="T8" fmla="*/ 4317 w 4317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317" h="1">
                        <a:moveTo>
                          <a:pt x="0" y="0"/>
                        </a:moveTo>
                        <a:lnTo>
                          <a:pt x="4317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62" name="Freeform 189"/>
                  <p:cNvSpPr/>
                  <p:nvPr/>
                </p:nvSpPr>
                <p:spPr bwMode="auto">
                  <a:xfrm>
                    <a:off x="956" y="4121"/>
                    <a:ext cx="3837" cy="1"/>
                  </a:xfrm>
                  <a:custGeom>
                    <a:avLst/>
                    <a:gdLst>
                      <a:gd name="T0" fmla="*/ 0 w 3837"/>
                      <a:gd name="T1" fmla="*/ 0 h 1"/>
                      <a:gd name="T2" fmla="*/ 3837 w 3837"/>
                      <a:gd name="T3" fmla="*/ 0 h 1"/>
                      <a:gd name="T4" fmla="*/ 0 60000 65536"/>
                      <a:gd name="T5" fmla="*/ 0 60000 65536"/>
                      <a:gd name="T6" fmla="*/ 0 w 3837"/>
                      <a:gd name="T7" fmla="*/ 0 h 1"/>
                      <a:gd name="T8" fmla="*/ 3837 w 3837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3837" h="1">
                        <a:moveTo>
                          <a:pt x="0" y="0"/>
                        </a:moveTo>
                        <a:lnTo>
                          <a:pt x="3837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63" name="Freeform 190"/>
                  <p:cNvSpPr/>
                  <p:nvPr/>
                </p:nvSpPr>
                <p:spPr bwMode="auto">
                  <a:xfrm>
                    <a:off x="1322" y="3881"/>
                    <a:ext cx="1" cy="243"/>
                  </a:xfrm>
                  <a:custGeom>
                    <a:avLst/>
                    <a:gdLst>
                      <a:gd name="T0" fmla="*/ 0 w 1"/>
                      <a:gd name="T1" fmla="*/ 0 h 243"/>
                      <a:gd name="T2" fmla="*/ 0 w 1"/>
                      <a:gd name="T3" fmla="*/ 243 h 243"/>
                      <a:gd name="T4" fmla="*/ 0 60000 65536"/>
                      <a:gd name="T5" fmla="*/ 0 60000 65536"/>
                      <a:gd name="T6" fmla="*/ 0 w 1"/>
                      <a:gd name="T7" fmla="*/ 0 h 243"/>
                      <a:gd name="T8" fmla="*/ 1 w 1"/>
                      <a:gd name="T9" fmla="*/ 243 h 243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3">
                        <a:moveTo>
                          <a:pt x="0" y="0"/>
                        </a:moveTo>
                        <a:lnTo>
                          <a:pt x="0" y="24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64" name="Freeform 191"/>
                  <p:cNvSpPr/>
                  <p:nvPr/>
                </p:nvSpPr>
                <p:spPr bwMode="auto">
                  <a:xfrm>
                    <a:off x="2491" y="3881"/>
                    <a:ext cx="1" cy="243"/>
                  </a:xfrm>
                  <a:custGeom>
                    <a:avLst/>
                    <a:gdLst>
                      <a:gd name="T0" fmla="*/ 0 w 1"/>
                      <a:gd name="T1" fmla="*/ 0 h 243"/>
                      <a:gd name="T2" fmla="*/ 0 w 1"/>
                      <a:gd name="T3" fmla="*/ 243 h 243"/>
                      <a:gd name="T4" fmla="*/ 0 60000 65536"/>
                      <a:gd name="T5" fmla="*/ 0 60000 65536"/>
                      <a:gd name="T6" fmla="*/ 0 w 1"/>
                      <a:gd name="T7" fmla="*/ 0 h 243"/>
                      <a:gd name="T8" fmla="*/ 1 w 1"/>
                      <a:gd name="T9" fmla="*/ 243 h 243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3">
                        <a:moveTo>
                          <a:pt x="0" y="0"/>
                        </a:moveTo>
                        <a:lnTo>
                          <a:pt x="0" y="24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65" name="Freeform 192"/>
                  <p:cNvSpPr/>
                  <p:nvPr/>
                </p:nvSpPr>
                <p:spPr bwMode="auto">
                  <a:xfrm>
                    <a:off x="3643" y="3881"/>
                    <a:ext cx="1" cy="243"/>
                  </a:xfrm>
                  <a:custGeom>
                    <a:avLst/>
                    <a:gdLst>
                      <a:gd name="T0" fmla="*/ 0 w 1"/>
                      <a:gd name="T1" fmla="*/ 0 h 243"/>
                      <a:gd name="T2" fmla="*/ 0 w 1"/>
                      <a:gd name="T3" fmla="*/ 243 h 243"/>
                      <a:gd name="T4" fmla="*/ 0 60000 65536"/>
                      <a:gd name="T5" fmla="*/ 0 60000 65536"/>
                      <a:gd name="T6" fmla="*/ 0 w 1"/>
                      <a:gd name="T7" fmla="*/ 0 h 243"/>
                      <a:gd name="T8" fmla="*/ 1 w 1"/>
                      <a:gd name="T9" fmla="*/ 243 h 243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3">
                        <a:moveTo>
                          <a:pt x="0" y="0"/>
                        </a:moveTo>
                        <a:lnTo>
                          <a:pt x="0" y="24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66" name="Freeform 193"/>
                  <p:cNvSpPr/>
                  <p:nvPr/>
                </p:nvSpPr>
                <p:spPr bwMode="auto">
                  <a:xfrm>
                    <a:off x="4791" y="3881"/>
                    <a:ext cx="4" cy="247"/>
                  </a:xfrm>
                  <a:custGeom>
                    <a:avLst/>
                    <a:gdLst>
                      <a:gd name="T0" fmla="*/ 4 w 4"/>
                      <a:gd name="T1" fmla="*/ 0 h 247"/>
                      <a:gd name="T2" fmla="*/ 0 w 4"/>
                      <a:gd name="T3" fmla="*/ 247 h 247"/>
                      <a:gd name="T4" fmla="*/ 0 60000 65536"/>
                      <a:gd name="T5" fmla="*/ 0 60000 65536"/>
                      <a:gd name="T6" fmla="*/ 0 w 4"/>
                      <a:gd name="T7" fmla="*/ 0 h 247"/>
                      <a:gd name="T8" fmla="*/ 4 w 4"/>
                      <a:gd name="T9" fmla="*/ 247 h 247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" h="247">
                        <a:moveTo>
                          <a:pt x="4" y="0"/>
                        </a:moveTo>
                        <a:lnTo>
                          <a:pt x="0" y="247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67" name="Freeform 194"/>
                  <p:cNvSpPr/>
                  <p:nvPr/>
                </p:nvSpPr>
                <p:spPr bwMode="auto">
                  <a:xfrm>
                    <a:off x="5277" y="3881"/>
                    <a:ext cx="1" cy="151"/>
                  </a:xfrm>
                  <a:custGeom>
                    <a:avLst/>
                    <a:gdLst>
                      <a:gd name="T0" fmla="*/ 0 w 1"/>
                      <a:gd name="T1" fmla="*/ 0 h 151"/>
                      <a:gd name="T2" fmla="*/ 0 w 1"/>
                      <a:gd name="T3" fmla="*/ 151 h 151"/>
                      <a:gd name="T4" fmla="*/ 0 60000 65536"/>
                      <a:gd name="T5" fmla="*/ 0 60000 65536"/>
                      <a:gd name="T6" fmla="*/ 0 w 1"/>
                      <a:gd name="T7" fmla="*/ 0 h 151"/>
                      <a:gd name="T8" fmla="*/ 1 w 1"/>
                      <a:gd name="T9" fmla="*/ 151 h 15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1">
                        <a:moveTo>
                          <a:pt x="0" y="0"/>
                        </a:moveTo>
                        <a:lnTo>
                          <a:pt x="0" y="151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68" name="Line 195"/>
                  <p:cNvSpPr>
                    <a:spLocks noChangeShapeType="1"/>
                  </p:cNvSpPr>
                  <p:nvPr/>
                </p:nvSpPr>
                <p:spPr bwMode="auto">
                  <a:xfrm>
                    <a:off x="4124" y="38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69" name="Line 196"/>
                  <p:cNvSpPr>
                    <a:spLocks noChangeShapeType="1"/>
                  </p:cNvSpPr>
                  <p:nvPr/>
                </p:nvSpPr>
                <p:spPr bwMode="auto">
                  <a:xfrm>
                    <a:off x="2973" y="38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70" name="Line 197"/>
                  <p:cNvSpPr>
                    <a:spLocks noChangeShapeType="1"/>
                  </p:cNvSpPr>
                  <p:nvPr/>
                </p:nvSpPr>
                <p:spPr bwMode="auto">
                  <a:xfrm>
                    <a:off x="1820" y="38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71" name="Rectangle 198"/>
                  <p:cNvSpPr>
                    <a:spLocks noChangeArrowheads="1"/>
                  </p:cNvSpPr>
                  <p:nvPr/>
                </p:nvSpPr>
                <p:spPr bwMode="auto">
                  <a:xfrm>
                    <a:off x="2317" y="3545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/>
                  </a:p>
                </p:txBody>
              </p:sp>
              <p:sp>
                <p:nvSpPr>
                  <p:cNvPr id="139572" name="Text Box 19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348" y="3576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读写电路</a:t>
                    </a:r>
                  </a:p>
                </p:txBody>
              </p:sp>
              <p:sp>
                <p:nvSpPr>
                  <p:cNvPr id="139573" name="Rectangle 200"/>
                  <p:cNvSpPr>
                    <a:spLocks noChangeArrowheads="1"/>
                  </p:cNvSpPr>
                  <p:nvPr/>
                </p:nvSpPr>
                <p:spPr bwMode="auto">
                  <a:xfrm>
                    <a:off x="3469" y="3545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/>
                  </a:p>
                </p:txBody>
              </p:sp>
              <p:sp>
                <p:nvSpPr>
                  <p:cNvPr id="139574" name="Text Box 201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500" y="3576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读写电路</a:t>
                    </a:r>
                  </a:p>
                </p:txBody>
              </p:sp>
              <p:sp>
                <p:nvSpPr>
                  <p:cNvPr id="139575" name="Rectangle 202"/>
                  <p:cNvSpPr>
                    <a:spLocks noChangeArrowheads="1"/>
                  </p:cNvSpPr>
                  <p:nvPr/>
                </p:nvSpPr>
                <p:spPr bwMode="auto">
                  <a:xfrm>
                    <a:off x="4621" y="3545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/>
                  </a:p>
                </p:txBody>
              </p:sp>
              <p:sp>
                <p:nvSpPr>
                  <p:cNvPr id="139576" name="Text Box 20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52" y="3576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读写电路</a:t>
                    </a:r>
                  </a:p>
                </p:txBody>
              </p:sp>
              <p:sp>
                <p:nvSpPr>
                  <p:cNvPr id="139577" name="Line 204"/>
                  <p:cNvSpPr>
                    <a:spLocks noChangeShapeType="1"/>
                  </p:cNvSpPr>
                  <p:nvPr/>
                </p:nvSpPr>
                <p:spPr bwMode="auto">
                  <a:xfrm>
                    <a:off x="1964" y="3737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78" name="Line 205"/>
                  <p:cNvSpPr>
                    <a:spLocks noChangeShapeType="1"/>
                  </p:cNvSpPr>
                  <p:nvPr/>
                </p:nvSpPr>
                <p:spPr bwMode="auto">
                  <a:xfrm>
                    <a:off x="3144" y="3737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79" name="Line 206"/>
                  <p:cNvSpPr>
                    <a:spLocks noChangeShapeType="1"/>
                  </p:cNvSpPr>
                  <p:nvPr/>
                </p:nvSpPr>
                <p:spPr bwMode="auto">
                  <a:xfrm>
                    <a:off x="4293" y="3737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80" name="Line 207"/>
                  <p:cNvSpPr>
                    <a:spLocks noChangeShapeType="1"/>
                  </p:cNvSpPr>
                  <p:nvPr/>
                </p:nvSpPr>
                <p:spPr bwMode="auto">
                  <a:xfrm>
                    <a:off x="5420" y="3737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81" name="Freeform 208"/>
                  <p:cNvSpPr/>
                  <p:nvPr/>
                </p:nvSpPr>
                <p:spPr bwMode="auto">
                  <a:xfrm>
                    <a:off x="3033" y="2708"/>
                    <a:ext cx="47" cy="501"/>
                  </a:xfrm>
                  <a:custGeom>
                    <a:avLst/>
                    <a:gdLst>
                      <a:gd name="T0" fmla="*/ 0 w 1"/>
                      <a:gd name="T1" fmla="*/ 0 h 406"/>
                      <a:gd name="T2" fmla="*/ 0 w 1"/>
                      <a:gd name="T3" fmla="*/ 7711 h 406"/>
                      <a:gd name="T4" fmla="*/ 0 60000 65536"/>
                      <a:gd name="T5" fmla="*/ 0 60000 65536"/>
                      <a:gd name="T6" fmla="*/ 0 w 1"/>
                      <a:gd name="T7" fmla="*/ 0 h 406"/>
                      <a:gd name="T8" fmla="*/ 1 w 1"/>
                      <a:gd name="T9" fmla="*/ 406 h 40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406">
                        <a:moveTo>
                          <a:pt x="0" y="0"/>
                        </a:moveTo>
                        <a:lnTo>
                          <a:pt x="0" y="40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82" name="Freeform 209"/>
                  <p:cNvSpPr/>
                  <p:nvPr/>
                </p:nvSpPr>
                <p:spPr bwMode="auto">
                  <a:xfrm>
                    <a:off x="4185" y="2691"/>
                    <a:ext cx="1" cy="525"/>
                  </a:xfrm>
                  <a:custGeom>
                    <a:avLst/>
                    <a:gdLst>
                      <a:gd name="T0" fmla="*/ 0 w 1"/>
                      <a:gd name="T1" fmla="*/ 0 h 525"/>
                      <a:gd name="T2" fmla="*/ 0 w 1"/>
                      <a:gd name="T3" fmla="*/ 525 h 525"/>
                      <a:gd name="T4" fmla="*/ 0 60000 65536"/>
                      <a:gd name="T5" fmla="*/ 0 60000 65536"/>
                      <a:gd name="T6" fmla="*/ 0 w 1"/>
                      <a:gd name="T7" fmla="*/ 0 h 525"/>
                      <a:gd name="T8" fmla="*/ 1 w 1"/>
                      <a:gd name="T9" fmla="*/ 525 h 525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525">
                        <a:moveTo>
                          <a:pt x="0" y="0"/>
                        </a:moveTo>
                        <a:lnTo>
                          <a:pt x="0" y="525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83" name="Freeform 210"/>
                  <p:cNvSpPr/>
                  <p:nvPr/>
                </p:nvSpPr>
                <p:spPr bwMode="auto">
                  <a:xfrm>
                    <a:off x="5325" y="2708"/>
                    <a:ext cx="47" cy="501"/>
                  </a:xfrm>
                  <a:custGeom>
                    <a:avLst/>
                    <a:gdLst>
                      <a:gd name="T0" fmla="*/ 0 w 1"/>
                      <a:gd name="T1" fmla="*/ 0 h 406"/>
                      <a:gd name="T2" fmla="*/ 0 w 1"/>
                      <a:gd name="T3" fmla="*/ 7711 h 406"/>
                      <a:gd name="T4" fmla="*/ 0 60000 65536"/>
                      <a:gd name="T5" fmla="*/ 0 60000 65536"/>
                      <a:gd name="T6" fmla="*/ 0 w 1"/>
                      <a:gd name="T7" fmla="*/ 0 h 406"/>
                      <a:gd name="T8" fmla="*/ 1 w 1"/>
                      <a:gd name="T9" fmla="*/ 406 h 40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406">
                        <a:moveTo>
                          <a:pt x="0" y="0"/>
                        </a:moveTo>
                        <a:lnTo>
                          <a:pt x="0" y="40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84" name="Text Box 211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1193" y="164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39585" name="Text Box 212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1769" y="164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39586" name="Text Box 213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2345" y="164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39587" name="Text Box 214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2921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39588" name="Text Box 215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3496" y="1627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en-US" altLang="zh-CN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39589" name="Text Box 216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4073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en-US" altLang="zh-CN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39590" name="Text Box 217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4649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en-US" altLang="zh-CN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39591" name="Text Box 218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5244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en-US" altLang="zh-CN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39592" name="Text Box 21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0" y="791"/>
                    <a:ext cx="188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39593" name="Text Box 22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0" y="1383"/>
                    <a:ext cx="188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1</a:t>
                    </a:r>
                  </a:p>
                </p:txBody>
              </p:sp>
              <p:sp>
                <p:nvSpPr>
                  <p:cNvPr id="139594" name="Text Box 221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4" y="1959"/>
                    <a:ext cx="260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63</a:t>
                    </a:r>
                  </a:p>
                </p:txBody>
              </p:sp>
              <p:sp>
                <p:nvSpPr>
                  <p:cNvPr id="139595" name="Line 222"/>
                  <p:cNvSpPr>
                    <a:spLocks noChangeShapeType="1"/>
                  </p:cNvSpPr>
                  <p:nvPr/>
                </p:nvSpPr>
                <p:spPr bwMode="auto">
                  <a:xfrm>
                    <a:off x="332" y="2537"/>
                    <a:ext cx="57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596" name="Text Box 22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0" y="2727"/>
                    <a:ext cx="188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39597" name="Text Box 22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4" y="3159"/>
                    <a:ext cx="260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15</a:t>
                    </a:r>
                  </a:p>
                </p:txBody>
              </p:sp>
              <p:sp>
                <p:nvSpPr>
                  <p:cNvPr id="139598" name="Text Box 225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665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39599" name="Text Box 226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665" y="2876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39600" name="Text Box 22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1015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行</a:t>
                    </a:r>
                  </a:p>
                </p:txBody>
              </p:sp>
              <p:sp>
                <p:nvSpPr>
                  <p:cNvPr id="139601" name="Text Box 228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1263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地</a:t>
                    </a:r>
                  </a:p>
                </p:txBody>
              </p:sp>
              <p:sp>
                <p:nvSpPr>
                  <p:cNvPr id="139602" name="Text Box 22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1511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址</a:t>
                    </a:r>
                  </a:p>
                </p:txBody>
              </p:sp>
              <p:sp>
                <p:nvSpPr>
                  <p:cNvPr id="139603" name="Text Box 23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1758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译</a:t>
                    </a:r>
                  </a:p>
                </p:txBody>
              </p:sp>
              <p:sp>
                <p:nvSpPr>
                  <p:cNvPr id="139604" name="Text Box 231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2006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码</a:t>
                    </a:r>
                  </a:p>
                </p:txBody>
              </p:sp>
              <p:sp>
                <p:nvSpPr>
                  <p:cNvPr id="139605" name="Text Box 232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2635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列</a:t>
                    </a:r>
                  </a:p>
                </p:txBody>
              </p:sp>
              <p:sp>
                <p:nvSpPr>
                  <p:cNvPr id="139606" name="Text Box 23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2883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地</a:t>
                    </a:r>
                  </a:p>
                </p:txBody>
              </p:sp>
              <p:sp>
                <p:nvSpPr>
                  <p:cNvPr id="139607" name="Text Box 23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3131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址</a:t>
                    </a:r>
                  </a:p>
                </p:txBody>
              </p:sp>
              <p:sp>
                <p:nvSpPr>
                  <p:cNvPr id="139608" name="Text Box 235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3378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译</a:t>
                    </a:r>
                  </a:p>
                </p:txBody>
              </p:sp>
              <p:sp>
                <p:nvSpPr>
                  <p:cNvPr id="139609" name="Text Box 236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3626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码</a:t>
                    </a:r>
                  </a:p>
                </p:txBody>
              </p:sp>
              <p:sp>
                <p:nvSpPr>
                  <p:cNvPr id="139610" name="Line 237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905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611" name="Line 238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1164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612" name="Line 239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1423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613" name="Line 240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1682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614" name="Line 241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1941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615" name="Line 242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2201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616" name="Line 243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2872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617" name="Line 244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3131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618" name="Line 245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3390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619" name="Line 246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3650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620" name="Line 247"/>
                  <p:cNvSpPr>
                    <a:spLocks noChangeShapeType="1"/>
                  </p:cNvSpPr>
                  <p:nvPr/>
                </p:nvSpPr>
                <p:spPr bwMode="auto">
                  <a:xfrm>
                    <a:off x="726" y="4079"/>
                    <a:ext cx="192" cy="0"/>
                  </a:xfrm>
                  <a:prstGeom prst="line">
                    <a:avLst/>
                  </a:prstGeom>
                  <a:noFill/>
                  <a:ln w="28575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39413" name="Group 248"/>
                <p:cNvGrpSpPr/>
                <p:nvPr/>
              </p:nvGrpSpPr>
              <p:grpSpPr bwMode="auto">
                <a:xfrm>
                  <a:off x="140" y="674"/>
                  <a:ext cx="196" cy="3010"/>
                  <a:chOff x="140" y="674"/>
                  <a:chExt cx="196" cy="3010"/>
                </a:xfrm>
              </p:grpSpPr>
              <p:sp>
                <p:nvSpPr>
                  <p:cNvPr id="139414" name="Text Box 24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674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39415" name="Text Box 25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933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39416" name="Text Box 251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192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39417" name="Text Box 252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451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39418" name="Text Box 25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710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39419" name="Text Box 25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970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39420" name="Text Box 255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2657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39421" name="Text Box 256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2916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39422" name="Text Box 25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3175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39423" name="Text Box 258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3434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</p:grpSp>
          </p:grpSp>
          <p:grpSp>
            <p:nvGrpSpPr>
              <p:cNvPr id="139373" name="Group 259"/>
              <p:cNvGrpSpPr/>
              <p:nvPr/>
            </p:nvGrpSpPr>
            <p:grpSpPr bwMode="auto">
              <a:xfrm>
                <a:off x="915" y="2632"/>
                <a:ext cx="3944" cy="254"/>
                <a:chOff x="915" y="2632"/>
                <a:chExt cx="3944" cy="254"/>
              </a:xfrm>
            </p:grpSpPr>
            <p:grpSp>
              <p:nvGrpSpPr>
                <p:cNvPr id="139374" name="Group 260"/>
                <p:cNvGrpSpPr/>
                <p:nvPr/>
              </p:nvGrpSpPr>
              <p:grpSpPr bwMode="auto">
                <a:xfrm>
                  <a:off x="915" y="2696"/>
                  <a:ext cx="3858" cy="190"/>
                  <a:chOff x="915" y="2696"/>
                  <a:chExt cx="3858" cy="190"/>
                </a:xfrm>
              </p:grpSpPr>
              <p:sp>
                <p:nvSpPr>
                  <p:cNvPr id="139407" name="Freeform 261"/>
                  <p:cNvSpPr/>
                  <p:nvPr/>
                </p:nvSpPr>
                <p:spPr bwMode="auto">
                  <a:xfrm>
                    <a:off x="1304" y="2707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  <a:gd name="T6" fmla="*/ 0 w 1"/>
                      <a:gd name="T7" fmla="*/ 0 h 166"/>
                      <a:gd name="T8" fmla="*/ 1 w 1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08" name="Freeform 262"/>
                  <p:cNvSpPr/>
                  <p:nvPr/>
                </p:nvSpPr>
                <p:spPr bwMode="auto">
                  <a:xfrm>
                    <a:off x="2457" y="2710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  <a:gd name="T6" fmla="*/ 0 w 1"/>
                      <a:gd name="T7" fmla="*/ 0 h 166"/>
                      <a:gd name="T8" fmla="*/ 1 w 1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09" name="Freeform 263"/>
                  <p:cNvSpPr/>
                  <p:nvPr/>
                </p:nvSpPr>
                <p:spPr bwMode="auto">
                  <a:xfrm>
                    <a:off x="3609" y="2710"/>
                    <a:ext cx="1" cy="176"/>
                  </a:xfrm>
                  <a:custGeom>
                    <a:avLst/>
                    <a:gdLst>
                      <a:gd name="T0" fmla="*/ 0 w 1"/>
                      <a:gd name="T1" fmla="*/ 0 h 176"/>
                      <a:gd name="T2" fmla="*/ 0 w 1"/>
                      <a:gd name="T3" fmla="*/ 176 h 176"/>
                      <a:gd name="T4" fmla="*/ 0 60000 65536"/>
                      <a:gd name="T5" fmla="*/ 0 60000 65536"/>
                      <a:gd name="T6" fmla="*/ 0 w 1"/>
                      <a:gd name="T7" fmla="*/ 0 h 176"/>
                      <a:gd name="T8" fmla="*/ 1 w 1"/>
                      <a:gd name="T9" fmla="*/ 176 h 17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76">
                        <a:moveTo>
                          <a:pt x="0" y="0"/>
                        </a:moveTo>
                        <a:lnTo>
                          <a:pt x="0" y="17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10" name="Freeform 264"/>
                  <p:cNvSpPr/>
                  <p:nvPr/>
                </p:nvSpPr>
                <p:spPr bwMode="auto">
                  <a:xfrm>
                    <a:off x="4761" y="2696"/>
                    <a:ext cx="1" cy="178"/>
                  </a:xfrm>
                  <a:custGeom>
                    <a:avLst/>
                    <a:gdLst>
                      <a:gd name="T0" fmla="*/ 0 w 1"/>
                      <a:gd name="T1" fmla="*/ 0 h 178"/>
                      <a:gd name="T2" fmla="*/ 0 w 1"/>
                      <a:gd name="T3" fmla="*/ 178 h 178"/>
                      <a:gd name="T4" fmla="*/ 0 60000 65536"/>
                      <a:gd name="T5" fmla="*/ 0 60000 65536"/>
                      <a:gd name="T6" fmla="*/ 0 w 1"/>
                      <a:gd name="T7" fmla="*/ 0 h 178"/>
                      <a:gd name="T8" fmla="*/ 1 w 1"/>
                      <a:gd name="T9" fmla="*/ 178 h 178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78">
                        <a:moveTo>
                          <a:pt x="0" y="0"/>
                        </a:moveTo>
                        <a:lnTo>
                          <a:pt x="0" y="178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411" name="Freeform 265"/>
                  <p:cNvSpPr/>
                  <p:nvPr/>
                </p:nvSpPr>
                <p:spPr bwMode="auto">
                  <a:xfrm>
                    <a:off x="915" y="2865"/>
                    <a:ext cx="3858" cy="2"/>
                  </a:xfrm>
                  <a:custGeom>
                    <a:avLst/>
                    <a:gdLst>
                      <a:gd name="T0" fmla="*/ 0 w 3858"/>
                      <a:gd name="T1" fmla="*/ 2 h 2"/>
                      <a:gd name="T2" fmla="*/ 3858 w 3858"/>
                      <a:gd name="T3" fmla="*/ 0 h 2"/>
                      <a:gd name="T4" fmla="*/ 0 60000 65536"/>
                      <a:gd name="T5" fmla="*/ 0 60000 65536"/>
                      <a:gd name="T6" fmla="*/ 0 w 3858"/>
                      <a:gd name="T7" fmla="*/ 0 h 2"/>
                      <a:gd name="T8" fmla="*/ 3858 w 3858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3858" h="2">
                        <a:moveTo>
                          <a:pt x="0" y="2"/>
                        </a:moveTo>
                        <a:lnTo>
                          <a:pt x="3858" y="0"/>
                        </a:lnTo>
                      </a:path>
                    </a:pathLst>
                  </a:custGeom>
                  <a:noFill/>
                  <a:ln w="76200" cmpd="sng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39375" name="Group 266"/>
                <p:cNvGrpSpPr/>
                <p:nvPr/>
              </p:nvGrpSpPr>
              <p:grpSpPr bwMode="auto">
                <a:xfrm>
                  <a:off x="1212" y="2632"/>
                  <a:ext cx="192" cy="158"/>
                  <a:chOff x="1212" y="2632"/>
                  <a:chExt cx="192" cy="158"/>
                </a:xfrm>
              </p:grpSpPr>
              <p:grpSp>
                <p:nvGrpSpPr>
                  <p:cNvPr id="139400" name="Group 267"/>
                  <p:cNvGrpSpPr/>
                  <p:nvPr/>
                </p:nvGrpSpPr>
                <p:grpSpPr bwMode="auto">
                  <a:xfrm>
                    <a:off x="1356" y="2632"/>
                    <a:ext cx="48" cy="158"/>
                    <a:chOff x="1356" y="2632"/>
                    <a:chExt cx="48" cy="158"/>
                  </a:xfrm>
                </p:grpSpPr>
                <p:sp>
                  <p:nvSpPr>
                    <p:cNvPr id="139405" name="Line 268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325" y="2711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39406" name="Line 269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308" y="2709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39401" name="Freeform 270"/>
                  <p:cNvSpPr/>
                  <p:nvPr/>
                </p:nvSpPr>
                <p:spPr bwMode="auto">
                  <a:xfrm>
                    <a:off x="1260" y="2708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39402" name="Group 271"/>
                  <p:cNvGrpSpPr/>
                  <p:nvPr/>
                </p:nvGrpSpPr>
                <p:grpSpPr bwMode="auto">
                  <a:xfrm>
                    <a:off x="1212" y="2632"/>
                    <a:ext cx="48" cy="158"/>
                    <a:chOff x="1212" y="2632"/>
                    <a:chExt cx="48" cy="158"/>
                  </a:xfrm>
                </p:grpSpPr>
                <p:sp>
                  <p:nvSpPr>
                    <p:cNvPr id="139403" name="Line 272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133" y="2711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39404" name="Line 273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212" y="2713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139376" name="Group 274"/>
                <p:cNvGrpSpPr/>
                <p:nvPr/>
              </p:nvGrpSpPr>
              <p:grpSpPr bwMode="auto">
                <a:xfrm>
                  <a:off x="2364" y="2634"/>
                  <a:ext cx="192" cy="158"/>
                  <a:chOff x="2364" y="2634"/>
                  <a:chExt cx="192" cy="158"/>
                </a:xfrm>
              </p:grpSpPr>
              <p:grpSp>
                <p:nvGrpSpPr>
                  <p:cNvPr id="139393" name="Group 275"/>
                  <p:cNvGrpSpPr/>
                  <p:nvPr/>
                </p:nvGrpSpPr>
                <p:grpSpPr bwMode="auto">
                  <a:xfrm>
                    <a:off x="2508" y="2634"/>
                    <a:ext cx="48" cy="158"/>
                    <a:chOff x="2508" y="2634"/>
                    <a:chExt cx="48" cy="158"/>
                  </a:xfrm>
                </p:grpSpPr>
                <p:sp>
                  <p:nvSpPr>
                    <p:cNvPr id="139398" name="Line 276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2477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39399" name="Line 277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2460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39394" name="Freeform 278"/>
                  <p:cNvSpPr/>
                  <p:nvPr/>
                </p:nvSpPr>
                <p:spPr bwMode="auto">
                  <a:xfrm>
                    <a:off x="2412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39395" name="Group 279"/>
                  <p:cNvGrpSpPr/>
                  <p:nvPr/>
                </p:nvGrpSpPr>
                <p:grpSpPr bwMode="auto">
                  <a:xfrm>
                    <a:off x="2364" y="2634"/>
                    <a:ext cx="48" cy="158"/>
                    <a:chOff x="2364" y="2634"/>
                    <a:chExt cx="48" cy="158"/>
                  </a:xfrm>
                </p:grpSpPr>
                <p:sp>
                  <p:nvSpPr>
                    <p:cNvPr id="139396" name="Line 280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285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39397" name="Line 281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364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139377" name="Group 282"/>
                <p:cNvGrpSpPr/>
                <p:nvPr/>
              </p:nvGrpSpPr>
              <p:grpSpPr bwMode="auto">
                <a:xfrm>
                  <a:off x="3516" y="2634"/>
                  <a:ext cx="192" cy="158"/>
                  <a:chOff x="3516" y="2634"/>
                  <a:chExt cx="192" cy="158"/>
                </a:xfrm>
              </p:grpSpPr>
              <p:grpSp>
                <p:nvGrpSpPr>
                  <p:cNvPr id="139386" name="Group 283"/>
                  <p:cNvGrpSpPr/>
                  <p:nvPr/>
                </p:nvGrpSpPr>
                <p:grpSpPr bwMode="auto">
                  <a:xfrm>
                    <a:off x="3660" y="2634"/>
                    <a:ext cx="48" cy="158"/>
                    <a:chOff x="3660" y="2634"/>
                    <a:chExt cx="48" cy="158"/>
                  </a:xfrm>
                </p:grpSpPr>
                <p:sp>
                  <p:nvSpPr>
                    <p:cNvPr id="139391" name="Line 284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629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39392" name="Line 285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612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39387" name="Freeform 286"/>
                  <p:cNvSpPr/>
                  <p:nvPr/>
                </p:nvSpPr>
                <p:spPr bwMode="auto">
                  <a:xfrm>
                    <a:off x="3564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39388" name="Group 287"/>
                  <p:cNvGrpSpPr/>
                  <p:nvPr/>
                </p:nvGrpSpPr>
                <p:grpSpPr bwMode="auto">
                  <a:xfrm>
                    <a:off x="3516" y="2634"/>
                    <a:ext cx="48" cy="158"/>
                    <a:chOff x="3516" y="2634"/>
                    <a:chExt cx="48" cy="158"/>
                  </a:xfrm>
                </p:grpSpPr>
                <p:sp>
                  <p:nvSpPr>
                    <p:cNvPr id="139389" name="Line 288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3437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39390" name="Line 289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3516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139378" name="Group 290"/>
                <p:cNvGrpSpPr/>
                <p:nvPr/>
              </p:nvGrpSpPr>
              <p:grpSpPr bwMode="auto">
                <a:xfrm>
                  <a:off x="4667" y="2634"/>
                  <a:ext cx="192" cy="158"/>
                  <a:chOff x="4667" y="2634"/>
                  <a:chExt cx="192" cy="158"/>
                </a:xfrm>
              </p:grpSpPr>
              <p:grpSp>
                <p:nvGrpSpPr>
                  <p:cNvPr id="139379" name="Group 291"/>
                  <p:cNvGrpSpPr/>
                  <p:nvPr/>
                </p:nvGrpSpPr>
                <p:grpSpPr bwMode="auto">
                  <a:xfrm>
                    <a:off x="4811" y="2634"/>
                    <a:ext cx="48" cy="158"/>
                    <a:chOff x="4811" y="2634"/>
                    <a:chExt cx="48" cy="158"/>
                  </a:xfrm>
                </p:grpSpPr>
                <p:sp>
                  <p:nvSpPr>
                    <p:cNvPr id="139384" name="Line 292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780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39385" name="Line 293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763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39380" name="Freeform 294"/>
                  <p:cNvSpPr/>
                  <p:nvPr/>
                </p:nvSpPr>
                <p:spPr bwMode="auto">
                  <a:xfrm>
                    <a:off x="4715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39381" name="Group 295"/>
                  <p:cNvGrpSpPr/>
                  <p:nvPr/>
                </p:nvGrpSpPr>
                <p:grpSpPr bwMode="auto">
                  <a:xfrm>
                    <a:off x="4667" y="2634"/>
                    <a:ext cx="48" cy="158"/>
                    <a:chOff x="4667" y="2634"/>
                    <a:chExt cx="48" cy="158"/>
                  </a:xfrm>
                </p:grpSpPr>
                <p:sp>
                  <p:nvSpPr>
                    <p:cNvPr id="139382" name="Line 296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588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39383" name="Line 297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667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</p:grpSp>
        </p:grpSp>
        <p:grpSp>
          <p:nvGrpSpPr>
            <p:cNvPr id="139347" name="Group 298"/>
            <p:cNvGrpSpPr/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139348" name="Group 299"/>
              <p:cNvGrpSpPr/>
              <p:nvPr/>
            </p:nvGrpSpPr>
            <p:grpSpPr bwMode="auto">
              <a:xfrm>
                <a:off x="902" y="857"/>
                <a:ext cx="4567" cy="430"/>
                <a:chOff x="902" y="857"/>
                <a:chExt cx="4567" cy="430"/>
              </a:xfrm>
            </p:grpSpPr>
            <p:grpSp>
              <p:nvGrpSpPr>
                <p:cNvPr id="139353" name="Group 300"/>
                <p:cNvGrpSpPr/>
                <p:nvPr/>
              </p:nvGrpSpPr>
              <p:grpSpPr bwMode="auto">
                <a:xfrm>
                  <a:off x="1152" y="1013"/>
                  <a:ext cx="4317" cy="274"/>
                  <a:chOff x="1176" y="1068"/>
                  <a:chExt cx="4317" cy="274"/>
                </a:xfrm>
              </p:grpSpPr>
              <p:sp>
                <p:nvSpPr>
                  <p:cNvPr id="139364" name="Rectangle 301"/>
                  <p:cNvSpPr>
                    <a:spLocks noChangeArrowheads="1"/>
                  </p:cNvSpPr>
                  <p:nvPr/>
                </p:nvSpPr>
                <p:spPr bwMode="auto">
                  <a:xfrm>
                    <a:off x="175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15</a:t>
                    </a:r>
                  </a:p>
                </p:txBody>
              </p:sp>
              <p:sp>
                <p:nvSpPr>
                  <p:cNvPr id="139365" name="Rectangle 302"/>
                  <p:cNvSpPr>
                    <a:spLocks noChangeArrowheads="1"/>
                  </p:cNvSpPr>
                  <p:nvPr/>
                </p:nvSpPr>
                <p:spPr bwMode="auto">
                  <a:xfrm>
                    <a:off x="117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39366" name="Rectangle 303"/>
                  <p:cNvSpPr>
                    <a:spLocks noChangeArrowheads="1"/>
                  </p:cNvSpPr>
                  <p:nvPr/>
                </p:nvSpPr>
                <p:spPr bwMode="auto">
                  <a:xfrm>
                    <a:off x="289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31</a:t>
                    </a:r>
                  </a:p>
                </p:txBody>
              </p:sp>
              <p:sp>
                <p:nvSpPr>
                  <p:cNvPr id="139367" name="Rectangle 304"/>
                  <p:cNvSpPr>
                    <a:spLocks noChangeArrowheads="1"/>
                  </p:cNvSpPr>
                  <p:nvPr/>
                </p:nvSpPr>
                <p:spPr bwMode="auto">
                  <a:xfrm>
                    <a:off x="231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sp>
                <p:nvSpPr>
                  <p:cNvPr id="139368" name="Rectangle 305"/>
                  <p:cNvSpPr>
                    <a:spLocks noChangeArrowheads="1"/>
                  </p:cNvSpPr>
                  <p:nvPr/>
                </p:nvSpPr>
                <p:spPr bwMode="auto">
                  <a:xfrm>
                    <a:off x="4067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47</a:t>
                    </a:r>
                  </a:p>
                </p:txBody>
              </p:sp>
              <p:sp>
                <p:nvSpPr>
                  <p:cNvPr id="139369" name="Rectangle 306"/>
                  <p:cNvSpPr>
                    <a:spLocks noChangeArrowheads="1"/>
                  </p:cNvSpPr>
                  <p:nvPr/>
                </p:nvSpPr>
                <p:spPr bwMode="auto">
                  <a:xfrm>
                    <a:off x="3491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32</a:t>
                    </a:r>
                  </a:p>
                </p:txBody>
              </p:sp>
              <p:sp>
                <p:nvSpPr>
                  <p:cNvPr id="139370" name="Rectangle 307"/>
                  <p:cNvSpPr>
                    <a:spLocks noChangeArrowheads="1"/>
                  </p:cNvSpPr>
                  <p:nvPr/>
                </p:nvSpPr>
                <p:spPr bwMode="auto">
                  <a:xfrm>
                    <a:off x="5205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63</a:t>
                    </a:r>
                  </a:p>
                </p:txBody>
              </p:sp>
              <p:sp>
                <p:nvSpPr>
                  <p:cNvPr id="139371" name="Rectangle 308"/>
                  <p:cNvSpPr>
                    <a:spLocks noChangeArrowheads="1"/>
                  </p:cNvSpPr>
                  <p:nvPr/>
                </p:nvSpPr>
                <p:spPr bwMode="auto">
                  <a:xfrm>
                    <a:off x="462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48</a:t>
                    </a:r>
                  </a:p>
                </p:txBody>
              </p:sp>
            </p:grpSp>
            <p:grpSp>
              <p:nvGrpSpPr>
                <p:cNvPr id="139354" name="Group 309"/>
                <p:cNvGrpSpPr/>
                <p:nvPr/>
              </p:nvGrpSpPr>
              <p:grpSpPr bwMode="auto">
                <a:xfrm>
                  <a:off x="902" y="857"/>
                  <a:ext cx="4419" cy="145"/>
                  <a:chOff x="902" y="857"/>
                  <a:chExt cx="4419" cy="145"/>
                </a:xfrm>
              </p:grpSpPr>
              <p:sp>
                <p:nvSpPr>
                  <p:cNvPr id="139355" name="Freeform 310"/>
                  <p:cNvSpPr/>
                  <p:nvPr/>
                </p:nvSpPr>
                <p:spPr bwMode="auto">
                  <a:xfrm>
                    <a:off x="902" y="857"/>
                    <a:ext cx="4419" cy="1"/>
                  </a:xfrm>
                  <a:custGeom>
                    <a:avLst/>
                    <a:gdLst>
                      <a:gd name="T0" fmla="*/ 0 w 4419"/>
                      <a:gd name="T1" fmla="*/ 1 h 1"/>
                      <a:gd name="T2" fmla="*/ 4419 w 4419"/>
                      <a:gd name="T3" fmla="*/ 0 h 1"/>
                      <a:gd name="T4" fmla="*/ 0 60000 65536"/>
                      <a:gd name="T5" fmla="*/ 0 60000 65536"/>
                      <a:gd name="T6" fmla="*/ 0 w 4419"/>
                      <a:gd name="T7" fmla="*/ 0 h 1"/>
                      <a:gd name="T8" fmla="*/ 4419 w 441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9" h="1">
                        <a:moveTo>
                          <a:pt x="0" y="1"/>
                        </a:moveTo>
                        <a:lnTo>
                          <a:pt x="4419" y="0"/>
                        </a:lnTo>
                      </a:path>
                    </a:pathLst>
                  </a:custGeom>
                  <a:noFill/>
                  <a:ln w="76200" cmpd="sng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356" name="Line 311"/>
                  <p:cNvSpPr>
                    <a:spLocks noChangeShapeType="1"/>
                  </p:cNvSpPr>
                  <p:nvPr/>
                </p:nvSpPr>
                <p:spPr bwMode="auto">
                  <a:xfrm>
                    <a:off x="127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357" name="Line 312"/>
                  <p:cNvSpPr>
                    <a:spLocks noChangeShapeType="1"/>
                  </p:cNvSpPr>
                  <p:nvPr/>
                </p:nvSpPr>
                <p:spPr bwMode="auto">
                  <a:xfrm>
                    <a:off x="184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358" name="Line 313"/>
                  <p:cNvSpPr>
                    <a:spLocks noChangeShapeType="1"/>
                  </p:cNvSpPr>
                  <p:nvPr/>
                </p:nvSpPr>
                <p:spPr bwMode="auto">
                  <a:xfrm>
                    <a:off x="242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359" name="Line 314"/>
                  <p:cNvSpPr>
                    <a:spLocks noChangeShapeType="1"/>
                  </p:cNvSpPr>
                  <p:nvPr/>
                </p:nvSpPr>
                <p:spPr bwMode="auto">
                  <a:xfrm>
                    <a:off x="3000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360" name="Line 315"/>
                  <p:cNvSpPr>
                    <a:spLocks noChangeShapeType="1"/>
                  </p:cNvSpPr>
                  <p:nvPr/>
                </p:nvSpPr>
                <p:spPr bwMode="auto">
                  <a:xfrm>
                    <a:off x="3576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361" name="Line 316"/>
                  <p:cNvSpPr>
                    <a:spLocks noChangeShapeType="1"/>
                  </p:cNvSpPr>
                  <p:nvPr/>
                </p:nvSpPr>
                <p:spPr bwMode="auto">
                  <a:xfrm>
                    <a:off x="415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362" name="Line 317"/>
                  <p:cNvSpPr>
                    <a:spLocks noChangeShapeType="1"/>
                  </p:cNvSpPr>
                  <p:nvPr/>
                </p:nvSpPr>
                <p:spPr bwMode="auto">
                  <a:xfrm>
                    <a:off x="472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363" name="Line 318"/>
                  <p:cNvSpPr>
                    <a:spLocks noChangeShapeType="1"/>
                  </p:cNvSpPr>
                  <p:nvPr/>
                </p:nvSpPr>
                <p:spPr bwMode="auto">
                  <a:xfrm>
                    <a:off x="530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139349" name="Text Box 319"/>
              <p:cNvSpPr txBox="1">
                <a:spLocks noChangeArrowheads="1"/>
              </p:cNvSpPr>
              <p:nvPr/>
            </p:nvSpPr>
            <p:spPr bwMode="auto">
              <a:xfrm>
                <a:off x="140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9350" name="Text Box 320"/>
              <p:cNvSpPr txBox="1">
                <a:spLocks noChangeArrowheads="1"/>
              </p:cNvSpPr>
              <p:nvPr/>
            </p:nvSpPr>
            <p:spPr bwMode="auto">
              <a:xfrm>
                <a:off x="254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9351" name="Text Box 321"/>
              <p:cNvSpPr txBox="1">
                <a:spLocks noChangeArrowheads="1"/>
              </p:cNvSpPr>
              <p:nvPr/>
            </p:nvSpPr>
            <p:spPr bwMode="auto">
              <a:xfrm>
                <a:off x="371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39352" name="Text Box 322"/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</p:grpSp>
      <p:grpSp>
        <p:nvGrpSpPr>
          <p:cNvPr id="139273" name="Group 323"/>
          <p:cNvGrpSpPr/>
          <p:nvPr/>
        </p:nvGrpSpPr>
        <p:grpSpPr bwMode="auto">
          <a:xfrm>
            <a:off x="3086100" y="5599113"/>
            <a:ext cx="6057900" cy="336550"/>
            <a:chOff x="1944" y="3527"/>
            <a:chExt cx="3816" cy="212"/>
          </a:xfrm>
        </p:grpSpPr>
        <p:grpSp>
          <p:nvGrpSpPr>
            <p:cNvPr id="139336" name="Group 324"/>
            <p:cNvGrpSpPr/>
            <p:nvPr/>
          </p:nvGrpSpPr>
          <p:grpSpPr bwMode="auto">
            <a:xfrm>
              <a:off x="1964" y="3737"/>
              <a:ext cx="3637" cy="0"/>
              <a:chOff x="1964" y="3737"/>
              <a:chExt cx="3637" cy="0"/>
            </a:xfrm>
          </p:grpSpPr>
          <p:sp>
            <p:nvSpPr>
              <p:cNvPr id="139342" name="Line 325"/>
              <p:cNvSpPr>
                <a:spLocks noChangeShapeType="1"/>
              </p:cNvSpPr>
              <p:nvPr/>
            </p:nvSpPr>
            <p:spPr bwMode="auto">
              <a:xfrm>
                <a:off x="196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9343" name="Line 326"/>
              <p:cNvSpPr>
                <a:spLocks noChangeShapeType="1"/>
              </p:cNvSpPr>
              <p:nvPr/>
            </p:nvSpPr>
            <p:spPr bwMode="auto">
              <a:xfrm>
                <a:off x="31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9344" name="Line 327"/>
              <p:cNvSpPr>
                <a:spLocks noChangeShapeType="1"/>
              </p:cNvSpPr>
              <p:nvPr/>
            </p:nvSpPr>
            <p:spPr bwMode="auto">
              <a:xfrm>
                <a:off x="4293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39345" name="Line 328"/>
              <p:cNvSpPr>
                <a:spLocks noChangeShapeType="1"/>
              </p:cNvSpPr>
              <p:nvPr/>
            </p:nvSpPr>
            <p:spPr bwMode="auto">
              <a:xfrm>
                <a:off x="5420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39337" name="Group 329"/>
            <p:cNvGrpSpPr/>
            <p:nvPr/>
          </p:nvGrpSpPr>
          <p:grpSpPr bwMode="auto">
            <a:xfrm>
              <a:off x="1944" y="3527"/>
              <a:ext cx="3816" cy="212"/>
              <a:chOff x="1944" y="3527"/>
              <a:chExt cx="3816" cy="212"/>
            </a:xfrm>
          </p:grpSpPr>
          <p:sp>
            <p:nvSpPr>
              <p:cNvPr id="139338" name="Text Box 330"/>
              <p:cNvSpPr txBox="1">
                <a:spLocks noChangeArrowheads="1"/>
              </p:cNvSpPr>
              <p:nvPr/>
            </p:nvSpPr>
            <p:spPr bwMode="auto">
              <a:xfrm>
                <a:off x="194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39339" name="Text Box 331"/>
              <p:cNvSpPr txBox="1">
                <a:spLocks noChangeArrowheads="1"/>
              </p:cNvSpPr>
              <p:nvPr/>
            </p:nvSpPr>
            <p:spPr bwMode="auto">
              <a:xfrm>
                <a:off x="310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2</a:t>
                </a:r>
              </a:p>
            </p:txBody>
          </p:sp>
          <p:sp>
            <p:nvSpPr>
              <p:cNvPr id="139340" name="Text Box 332"/>
              <p:cNvSpPr txBox="1">
                <a:spLocks noChangeArrowheads="1"/>
              </p:cNvSpPr>
              <p:nvPr/>
            </p:nvSpPr>
            <p:spPr bwMode="auto">
              <a:xfrm>
                <a:off x="4256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sp>
            <p:nvSpPr>
              <p:cNvPr id="139341" name="Text Box 333"/>
              <p:cNvSpPr txBox="1">
                <a:spLocks noChangeArrowheads="1"/>
              </p:cNvSpPr>
              <p:nvPr/>
            </p:nvSpPr>
            <p:spPr bwMode="auto">
              <a:xfrm>
                <a:off x="541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</p:grpSp>
      <p:grpSp>
        <p:nvGrpSpPr>
          <p:cNvPr id="2" name="Group 334"/>
          <p:cNvGrpSpPr/>
          <p:nvPr/>
        </p:nvGrpSpPr>
        <p:grpSpPr bwMode="auto">
          <a:xfrm>
            <a:off x="1812925" y="5629275"/>
            <a:ext cx="6832600" cy="533400"/>
            <a:chOff x="1142" y="3546"/>
            <a:chExt cx="4304" cy="336"/>
          </a:xfrm>
        </p:grpSpPr>
        <p:grpSp>
          <p:nvGrpSpPr>
            <p:cNvPr id="139324" name="Group 335"/>
            <p:cNvGrpSpPr/>
            <p:nvPr/>
          </p:nvGrpSpPr>
          <p:grpSpPr bwMode="auto">
            <a:xfrm>
              <a:off x="1142" y="3546"/>
              <a:ext cx="823" cy="336"/>
              <a:chOff x="1142" y="3546"/>
              <a:chExt cx="823" cy="336"/>
            </a:xfrm>
          </p:grpSpPr>
          <p:sp>
            <p:nvSpPr>
              <p:cNvPr id="139334" name="Rectangle 336"/>
              <p:cNvSpPr>
                <a:spLocks noChangeArrowheads="1"/>
              </p:cNvSpPr>
              <p:nvPr/>
            </p:nvSpPr>
            <p:spPr bwMode="auto">
              <a:xfrm>
                <a:off x="1142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9335" name="Text Box 337"/>
              <p:cNvSpPr txBox="1">
                <a:spLocks noChangeArrowheads="1"/>
              </p:cNvSpPr>
              <p:nvPr/>
            </p:nvSpPr>
            <p:spPr bwMode="auto">
              <a:xfrm>
                <a:off x="1200" y="3590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</p:grpSp>
        <p:grpSp>
          <p:nvGrpSpPr>
            <p:cNvPr id="139325" name="Group 338"/>
            <p:cNvGrpSpPr/>
            <p:nvPr/>
          </p:nvGrpSpPr>
          <p:grpSpPr bwMode="auto">
            <a:xfrm>
              <a:off x="2318" y="3546"/>
              <a:ext cx="823" cy="336"/>
              <a:chOff x="2318" y="3546"/>
              <a:chExt cx="823" cy="336"/>
            </a:xfrm>
          </p:grpSpPr>
          <p:sp>
            <p:nvSpPr>
              <p:cNvPr id="139332" name="Rectangle 339"/>
              <p:cNvSpPr>
                <a:spLocks noChangeArrowheads="1"/>
              </p:cNvSpPr>
              <p:nvPr/>
            </p:nvSpPr>
            <p:spPr bwMode="auto">
              <a:xfrm>
                <a:off x="2318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9333" name="Text Box 340"/>
              <p:cNvSpPr txBox="1">
                <a:spLocks noChangeArrowheads="1"/>
              </p:cNvSpPr>
              <p:nvPr/>
            </p:nvSpPr>
            <p:spPr bwMode="auto">
              <a:xfrm>
                <a:off x="2352" y="3600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</p:grpSp>
        <p:grpSp>
          <p:nvGrpSpPr>
            <p:cNvPr id="139326" name="Group 341"/>
            <p:cNvGrpSpPr/>
            <p:nvPr/>
          </p:nvGrpSpPr>
          <p:grpSpPr bwMode="auto">
            <a:xfrm>
              <a:off x="3470" y="3546"/>
              <a:ext cx="823" cy="336"/>
              <a:chOff x="3470" y="3546"/>
              <a:chExt cx="823" cy="336"/>
            </a:xfrm>
          </p:grpSpPr>
          <p:sp>
            <p:nvSpPr>
              <p:cNvPr id="139330" name="Rectangle 342"/>
              <p:cNvSpPr>
                <a:spLocks noChangeArrowheads="1"/>
              </p:cNvSpPr>
              <p:nvPr/>
            </p:nvSpPr>
            <p:spPr bwMode="auto">
              <a:xfrm>
                <a:off x="3470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9331" name="Text Box 343"/>
              <p:cNvSpPr txBox="1">
                <a:spLocks noChangeArrowheads="1"/>
              </p:cNvSpPr>
              <p:nvPr/>
            </p:nvSpPr>
            <p:spPr bwMode="auto">
              <a:xfrm>
                <a:off x="3504" y="3600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</p:grpSp>
        <p:grpSp>
          <p:nvGrpSpPr>
            <p:cNvPr id="139327" name="Group 344"/>
            <p:cNvGrpSpPr/>
            <p:nvPr/>
          </p:nvGrpSpPr>
          <p:grpSpPr bwMode="auto">
            <a:xfrm>
              <a:off x="4623" y="3546"/>
              <a:ext cx="823" cy="336"/>
              <a:chOff x="4623" y="3546"/>
              <a:chExt cx="823" cy="336"/>
            </a:xfrm>
          </p:grpSpPr>
          <p:sp>
            <p:nvSpPr>
              <p:cNvPr id="139328" name="Rectangle 345"/>
              <p:cNvSpPr>
                <a:spLocks noChangeArrowheads="1"/>
              </p:cNvSpPr>
              <p:nvPr/>
            </p:nvSpPr>
            <p:spPr bwMode="auto">
              <a:xfrm>
                <a:off x="4623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39329" name="Text Box 346"/>
              <p:cNvSpPr txBox="1">
                <a:spLocks noChangeArrowheads="1"/>
              </p:cNvSpPr>
              <p:nvPr/>
            </p:nvSpPr>
            <p:spPr bwMode="auto">
              <a:xfrm>
                <a:off x="4656" y="3600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</p:grpSp>
      </p:grpSp>
      <p:grpSp>
        <p:nvGrpSpPr>
          <p:cNvPr id="139275" name="Group 347"/>
          <p:cNvGrpSpPr/>
          <p:nvPr/>
        </p:nvGrpSpPr>
        <p:grpSpPr bwMode="auto">
          <a:xfrm>
            <a:off x="1452563" y="2617788"/>
            <a:ext cx="6613525" cy="1963737"/>
            <a:chOff x="915" y="1649"/>
            <a:chExt cx="4166" cy="1237"/>
          </a:xfrm>
        </p:grpSpPr>
        <p:grpSp>
          <p:nvGrpSpPr>
            <p:cNvPr id="139277" name="Group 348"/>
            <p:cNvGrpSpPr/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139286" name="Group 349"/>
              <p:cNvGrpSpPr/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139319" name="Freeform 350"/>
                <p:cNvSpPr/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9320" name="Freeform 351"/>
                <p:cNvSpPr/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9321" name="Freeform 352"/>
                <p:cNvSpPr/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  <a:gd name="T6" fmla="*/ 0 w 1"/>
                    <a:gd name="T7" fmla="*/ 0 h 176"/>
                    <a:gd name="T8" fmla="*/ 1 w 1"/>
                    <a:gd name="T9" fmla="*/ 176 h 17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9322" name="Freeform 353"/>
                <p:cNvSpPr/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  <a:gd name="T6" fmla="*/ 0 w 1"/>
                    <a:gd name="T7" fmla="*/ 0 h 178"/>
                    <a:gd name="T8" fmla="*/ 1 w 1"/>
                    <a:gd name="T9" fmla="*/ 178 h 178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9323" name="Freeform 354"/>
                <p:cNvSpPr/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  <a:gd name="T6" fmla="*/ 0 w 3858"/>
                    <a:gd name="T7" fmla="*/ 0 h 2"/>
                    <a:gd name="T8" fmla="*/ 3858 w 3858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9287" name="Group 355"/>
              <p:cNvGrpSpPr/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139312" name="Group 356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9317" name="Line 357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318" name="Line 358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9313" name="Freeform 359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9314" name="Group 360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9315" name="Line 361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316" name="Line 362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39288" name="Group 363"/>
              <p:cNvGrpSpPr/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139305" name="Group 364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9310" name="Line 365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311" name="Line 366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9306" name="Freeform 367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9307" name="Group 368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9308" name="Line 369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309" name="Line 370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39289" name="Group 371"/>
              <p:cNvGrpSpPr/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139298" name="Group 372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9303" name="Line 373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304" name="Line 374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9299" name="Freeform 375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9300" name="Group 376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9301" name="Line 377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302" name="Line 378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39290" name="Group 379"/>
              <p:cNvGrpSpPr/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139291" name="Group 380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9296" name="Line 381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297" name="Line 382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9292" name="Freeform 383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39293" name="Group 384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39294" name="Line 385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295" name="Line 386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</p:grpSp>
        <p:sp>
          <p:nvSpPr>
            <p:cNvPr id="139278" name="Rectangle 387"/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39279" name="Text Box 388"/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9280" name="Rectangle 389"/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39281" name="Rectangle 390"/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48</a:t>
              </a:r>
            </a:p>
          </p:txBody>
        </p:sp>
        <p:sp>
          <p:nvSpPr>
            <p:cNvPr id="139282" name="Rectangle 391"/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32</a:t>
              </a:r>
            </a:p>
          </p:txBody>
        </p:sp>
        <p:sp>
          <p:nvSpPr>
            <p:cNvPr id="139283" name="Text Box 392"/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9284" name="Text Box 393"/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39285" name="Text Box 394"/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139276" name="AutoShape 395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290" name="Group 2"/>
          <p:cNvGrpSpPr/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140679" name="Line 3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40680" name="Freeform 4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40681" name="Line 5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40682" name="Freeform 6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40683" name="Line 7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40684" name="Text Box 8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</a:p>
          </p:txBody>
        </p:sp>
        <p:sp>
          <p:nvSpPr>
            <p:cNvPr id="140685" name="Text Box 9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</a:p>
          </p:txBody>
        </p:sp>
        <p:sp>
          <p:nvSpPr>
            <p:cNvPr id="140686" name="Text Box 10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</a:p>
          </p:txBody>
        </p:sp>
        <p:sp>
          <p:nvSpPr>
            <p:cNvPr id="140687" name="Text Box 11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</a:p>
          </p:txBody>
        </p:sp>
        <p:sp>
          <p:nvSpPr>
            <p:cNvPr id="140688" name="Line 12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0689" name="Line 13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0690" name="Line 14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0691" name="Line 15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0692" name="Line 16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0693" name="Line 17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0694" name="Line 18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0695" name="Line 19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28372" name="Rectangle 20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40292" name="Text Box 21"/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③ </a:t>
            </a:r>
            <a:r>
              <a:rPr lang="en-US" altLang="zh-CN" sz="3200">
                <a:latin typeface="Times New Roman" panose="02020603050405020304" pitchFamily="18" charset="0"/>
              </a:rPr>
              <a:t>Intel 2114</a:t>
            </a: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200">
                <a:latin typeface="Times New Roman" panose="02020603050405020304" pitchFamily="18" charset="0"/>
              </a:rPr>
              <a:t>矩阵 </a:t>
            </a:r>
            <a:r>
              <a:rPr lang="en-US" altLang="zh-CN" sz="3200">
                <a:latin typeface="Times New Roman" panose="02020603050405020304" pitchFamily="18" charset="0"/>
              </a:rPr>
              <a:t>(64 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>
                <a:latin typeface="Times New Roman" panose="02020603050405020304" pitchFamily="18" charset="0"/>
              </a:rPr>
              <a:t> 64)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</a:p>
        </p:txBody>
      </p:sp>
      <p:grpSp>
        <p:nvGrpSpPr>
          <p:cNvPr id="140293" name="Group 22"/>
          <p:cNvGrpSpPr/>
          <p:nvPr/>
        </p:nvGrpSpPr>
        <p:grpSpPr bwMode="auto">
          <a:xfrm>
            <a:off x="3086100" y="5599113"/>
            <a:ext cx="6057900" cy="336550"/>
            <a:chOff x="1944" y="3527"/>
            <a:chExt cx="3816" cy="212"/>
          </a:xfrm>
        </p:grpSpPr>
        <p:sp>
          <p:nvSpPr>
            <p:cNvPr id="140675" name="Text Box 23"/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40676" name="Text Box 24"/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140677" name="Text Box 25"/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140678" name="Text Box 26"/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4</a:t>
              </a:r>
            </a:p>
          </p:txBody>
        </p:sp>
      </p:grpSp>
      <p:grpSp>
        <p:nvGrpSpPr>
          <p:cNvPr id="140294" name="Group 27"/>
          <p:cNvGrpSpPr/>
          <p:nvPr/>
        </p:nvGrpSpPr>
        <p:grpSpPr bwMode="auto">
          <a:xfrm>
            <a:off x="1028700" y="6175375"/>
            <a:ext cx="565150" cy="366713"/>
            <a:chOff x="648" y="3890"/>
            <a:chExt cx="356" cy="231"/>
          </a:xfrm>
        </p:grpSpPr>
        <p:sp>
          <p:nvSpPr>
            <p:cNvPr id="140673" name="Text Box 28"/>
            <p:cNvSpPr txBox="1">
              <a:spLocks noChangeArrowheads="1"/>
            </p:cNvSpPr>
            <p:nvPr/>
          </p:nvSpPr>
          <p:spPr bwMode="auto">
            <a:xfrm>
              <a:off x="648" y="3890"/>
              <a:ext cx="35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WE</a:t>
              </a:r>
              <a:endParaRPr lang="zh-CN" altLang="en-US" sz="1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40674" name="Line 29"/>
            <p:cNvSpPr>
              <a:spLocks noChangeShapeType="1"/>
            </p:cNvSpPr>
            <p:nvPr/>
          </p:nvSpPr>
          <p:spPr bwMode="auto">
            <a:xfrm>
              <a:off x="682" y="3922"/>
              <a:ext cx="288" cy="0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40295" name="Group 30"/>
          <p:cNvGrpSpPr/>
          <p:nvPr/>
        </p:nvGrpSpPr>
        <p:grpSpPr bwMode="auto">
          <a:xfrm>
            <a:off x="1060450" y="6391275"/>
            <a:ext cx="509588" cy="396875"/>
            <a:chOff x="668" y="4026"/>
            <a:chExt cx="321" cy="250"/>
          </a:xfrm>
        </p:grpSpPr>
        <p:sp>
          <p:nvSpPr>
            <p:cNvPr id="140671" name="Text Box 31"/>
            <p:cNvSpPr txBox="1">
              <a:spLocks noChangeArrowheads="1"/>
            </p:cNvSpPr>
            <p:nvPr/>
          </p:nvSpPr>
          <p:spPr bwMode="auto">
            <a:xfrm>
              <a:off x="668" y="4026"/>
              <a:ext cx="32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CS</a:t>
              </a:r>
              <a:endPara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40672" name="Line 32"/>
            <p:cNvSpPr>
              <a:spLocks noChangeShapeType="1"/>
            </p:cNvSpPr>
            <p:nvPr/>
          </p:nvSpPr>
          <p:spPr bwMode="auto">
            <a:xfrm>
              <a:off x="724" y="4078"/>
              <a:ext cx="192" cy="0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40296" name="Group 33"/>
          <p:cNvGrpSpPr/>
          <p:nvPr/>
        </p:nvGrpSpPr>
        <p:grpSpPr bwMode="auto">
          <a:xfrm>
            <a:off x="222250" y="1069975"/>
            <a:ext cx="8686800" cy="5483225"/>
            <a:chOff x="140" y="674"/>
            <a:chExt cx="5472" cy="3454"/>
          </a:xfrm>
        </p:grpSpPr>
        <p:grpSp>
          <p:nvGrpSpPr>
            <p:cNvPr id="140382" name="Group 34"/>
            <p:cNvGrpSpPr/>
            <p:nvPr/>
          </p:nvGrpSpPr>
          <p:grpSpPr bwMode="auto">
            <a:xfrm>
              <a:off x="140" y="674"/>
              <a:ext cx="5472" cy="3454"/>
              <a:chOff x="140" y="674"/>
              <a:chExt cx="5472" cy="3454"/>
            </a:xfrm>
          </p:grpSpPr>
          <p:grpSp>
            <p:nvGrpSpPr>
              <p:cNvPr id="140408" name="Group 35"/>
              <p:cNvGrpSpPr/>
              <p:nvPr/>
            </p:nvGrpSpPr>
            <p:grpSpPr bwMode="auto">
              <a:xfrm>
                <a:off x="140" y="674"/>
                <a:ext cx="5472" cy="3454"/>
                <a:chOff x="140" y="674"/>
                <a:chExt cx="5472" cy="3454"/>
              </a:xfrm>
            </p:grpSpPr>
            <p:grpSp>
              <p:nvGrpSpPr>
                <p:cNvPr id="140448" name="Group 36"/>
                <p:cNvGrpSpPr/>
                <p:nvPr/>
              </p:nvGrpSpPr>
              <p:grpSpPr bwMode="auto">
                <a:xfrm>
                  <a:off x="140" y="713"/>
                  <a:ext cx="5472" cy="3415"/>
                  <a:chOff x="140" y="713"/>
                  <a:chExt cx="5472" cy="3415"/>
                </a:xfrm>
              </p:grpSpPr>
              <p:sp>
                <p:nvSpPr>
                  <p:cNvPr id="140460" name="Rectangle 37"/>
                  <p:cNvSpPr>
                    <a:spLocks noChangeArrowheads="1"/>
                  </p:cNvSpPr>
                  <p:nvPr/>
                </p:nvSpPr>
                <p:spPr bwMode="auto">
                  <a:xfrm>
                    <a:off x="332" y="713"/>
                    <a:ext cx="576" cy="3168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/>
                  </a:p>
                </p:txBody>
              </p:sp>
              <p:sp>
                <p:nvSpPr>
                  <p:cNvPr id="140461" name="Rectangle 38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15</a:t>
                    </a:r>
                  </a:p>
                </p:txBody>
              </p:sp>
              <p:sp>
                <p:nvSpPr>
                  <p:cNvPr id="140462" name="Text Box 3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8" y="87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40463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40464" name="Rectangle 41"/>
                  <p:cNvSpPr>
                    <a:spLocks noChangeArrowheads="1"/>
                  </p:cNvSpPr>
                  <p:nvPr/>
                </p:nvSpPr>
                <p:spPr bwMode="auto">
                  <a:xfrm>
                    <a:off x="2869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31</a:t>
                    </a:r>
                  </a:p>
                </p:txBody>
              </p:sp>
              <p:sp>
                <p:nvSpPr>
                  <p:cNvPr id="140465" name="Text Box 42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549" y="87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40466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2293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sp>
                <p:nvSpPr>
                  <p:cNvPr id="140467" name="Rectangle 44"/>
                  <p:cNvSpPr>
                    <a:spLocks noChangeArrowheads="1"/>
                  </p:cNvSpPr>
                  <p:nvPr/>
                </p:nvSpPr>
                <p:spPr bwMode="auto">
                  <a:xfrm>
                    <a:off x="4044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47</a:t>
                    </a:r>
                  </a:p>
                </p:txBody>
              </p:sp>
              <p:sp>
                <p:nvSpPr>
                  <p:cNvPr id="140468" name="Text Box 45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24" y="87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40469" name="Rectangle 46"/>
                  <p:cNvSpPr>
                    <a:spLocks noChangeArrowheads="1"/>
                  </p:cNvSpPr>
                  <p:nvPr/>
                </p:nvSpPr>
                <p:spPr bwMode="auto">
                  <a:xfrm>
                    <a:off x="3468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32</a:t>
                    </a:r>
                  </a:p>
                </p:txBody>
              </p:sp>
              <p:sp>
                <p:nvSpPr>
                  <p:cNvPr id="140470" name="Rectangle 47"/>
                  <p:cNvSpPr>
                    <a:spLocks noChangeArrowheads="1"/>
                  </p:cNvSpPr>
                  <p:nvPr/>
                </p:nvSpPr>
                <p:spPr bwMode="auto">
                  <a:xfrm>
                    <a:off x="5180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63</a:t>
                    </a:r>
                  </a:p>
                </p:txBody>
              </p:sp>
              <p:sp>
                <p:nvSpPr>
                  <p:cNvPr id="140471" name="Text Box 48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860" y="87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40472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4604" y="1014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48</a:t>
                    </a:r>
                  </a:p>
                </p:txBody>
              </p:sp>
              <p:sp>
                <p:nvSpPr>
                  <p:cNvPr id="140473" name="Rectangle 50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15</a:t>
                    </a:r>
                  </a:p>
                </p:txBody>
              </p:sp>
              <p:sp>
                <p:nvSpPr>
                  <p:cNvPr id="140474" name="Rectangle 51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40475" name="Rectangle 52"/>
                  <p:cNvSpPr>
                    <a:spLocks noChangeArrowheads="1"/>
                  </p:cNvSpPr>
                  <p:nvPr/>
                </p:nvSpPr>
                <p:spPr bwMode="auto">
                  <a:xfrm>
                    <a:off x="2869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31</a:t>
                    </a:r>
                  </a:p>
                </p:txBody>
              </p:sp>
              <p:sp>
                <p:nvSpPr>
                  <p:cNvPr id="140476" name="Rectangle 53"/>
                  <p:cNvSpPr>
                    <a:spLocks noChangeArrowheads="1"/>
                  </p:cNvSpPr>
                  <p:nvPr/>
                </p:nvSpPr>
                <p:spPr bwMode="auto">
                  <a:xfrm>
                    <a:off x="2293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sp>
                <p:nvSpPr>
                  <p:cNvPr id="140477" name="Rectangle 54"/>
                  <p:cNvSpPr>
                    <a:spLocks noChangeArrowheads="1"/>
                  </p:cNvSpPr>
                  <p:nvPr/>
                </p:nvSpPr>
                <p:spPr bwMode="auto">
                  <a:xfrm>
                    <a:off x="4044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47</a:t>
                    </a:r>
                  </a:p>
                </p:txBody>
              </p:sp>
              <p:sp>
                <p:nvSpPr>
                  <p:cNvPr id="140478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3468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32</a:t>
                    </a:r>
                  </a:p>
                </p:txBody>
              </p:sp>
              <p:sp>
                <p:nvSpPr>
                  <p:cNvPr id="140479" name="Rectangle 56"/>
                  <p:cNvSpPr>
                    <a:spLocks noChangeArrowheads="1"/>
                  </p:cNvSpPr>
                  <p:nvPr/>
                </p:nvSpPr>
                <p:spPr bwMode="auto">
                  <a:xfrm>
                    <a:off x="5180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63</a:t>
                    </a:r>
                  </a:p>
                </p:txBody>
              </p:sp>
              <p:sp>
                <p:nvSpPr>
                  <p:cNvPr id="140480" name="Rectangle 57"/>
                  <p:cNvSpPr>
                    <a:spLocks noChangeArrowheads="1"/>
                  </p:cNvSpPr>
                  <p:nvPr/>
                </p:nvSpPr>
                <p:spPr bwMode="auto">
                  <a:xfrm>
                    <a:off x="4604" y="2215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48</a:t>
                    </a:r>
                  </a:p>
                </p:txBody>
              </p:sp>
              <p:sp>
                <p:nvSpPr>
                  <p:cNvPr id="140481" name="Line 58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325" y="2712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482" name="Line 59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308" y="2710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483" name="Freeform 60"/>
                  <p:cNvSpPr/>
                  <p:nvPr/>
                </p:nvSpPr>
                <p:spPr bwMode="auto">
                  <a:xfrm>
                    <a:off x="1260" y="2709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484" name="Line 61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133" y="2712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485" name="Line 62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212" y="2714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486" name="Freeform 63"/>
                  <p:cNvSpPr/>
                  <p:nvPr/>
                </p:nvSpPr>
                <p:spPr bwMode="auto">
                  <a:xfrm>
                    <a:off x="1434" y="2353"/>
                    <a:ext cx="112" cy="1"/>
                  </a:xfrm>
                  <a:custGeom>
                    <a:avLst/>
                    <a:gdLst>
                      <a:gd name="T0" fmla="*/ 0 w 112"/>
                      <a:gd name="T1" fmla="*/ 0 h 1"/>
                      <a:gd name="T2" fmla="*/ 112 w 112"/>
                      <a:gd name="T3" fmla="*/ 0 h 1"/>
                      <a:gd name="T4" fmla="*/ 0 60000 65536"/>
                      <a:gd name="T5" fmla="*/ 0 60000 65536"/>
                      <a:gd name="T6" fmla="*/ 0 w 112"/>
                      <a:gd name="T7" fmla="*/ 0 h 1"/>
                      <a:gd name="T8" fmla="*/ 112 w 112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12" h="1">
                        <a:moveTo>
                          <a:pt x="0" y="0"/>
                        </a:moveTo>
                        <a:lnTo>
                          <a:pt x="112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487" name="Freeform 64"/>
                  <p:cNvSpPr/>
                  <p:nvPr/>
                </p:nvSpPr>
                <p:spPr bwMode="auto">
                  <a:xfrm>
                    <a:off x="1059" y="1209"/>
                    <a:ext cx="152" cy="1469"/>
                  </a:xfrm>
                  <a:custGeom>
                    <a:avLst/>
                    <a:gdLst>
                      <a:gd name="T0" fmla="*/ 152 w 152"/>
                      <a:gd name="T1" fmla="*/ 1469 h 1469"/>
                      <a:gd name="T2" fmla="*/ 0 w 152"/>
                      <a:gd name="T3" fmla="*/ 1469 h 1469"/>
                      <a:gd name="T4" fmla="*/ 0 w 152"/>
                      <a:gd name="T5" fmla="*/ 0 h 1469"/>
                      <a:gd name="T6" fmla="*/ 95 w 152"/>
                      <a:gd name="T7" fmla="*/ 1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2"/>
                      <a:gd name="T13" fmla="*/ 0 h 1469"/>
                      <a:gd name="T14" fmla="*/ 152 w 152"/>
                      <a:gd name="T15" fmla="*/ 1469 h 146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2" h="1469">
                        <a:moveTo>
                          <a:pt x="152" y="1469"/>
                        </a:moveTo>
                        <a:lnTo>
                          <a:pt x="0" y="1469"/>
                        </a:lnTo>
                        <a:lnTo>
                          <a:pt x="0" y="0"/>
                        </a:lnTo>
                        <a:lnTo>
                          <a:pt x="95" y="1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488" name="Freeform 65"/>
                  <p:cNvSpPr/>
                  <p:nvPr/>
                </p:nvSpPr>
                <p:spPr bwMode="auto">
                  <a:xfrm>
                    <a:off x="1055" y="2353"/>
                    <a:ext cx="102" cy="1"/>
                  </a:xfrm>
                  <a:custGeom>
                    <a:avLst/>
                    <a:gdLst>
                      <a:gd name="T0" fmla="*/ 102 w 102"/>
                      <a:gd name="T1" fmla="*/ 0 h 1"/>
                      <a:gd name="T2" fmla="*/ 0 w 102"/>
                      <a:gd name="T3" fmla="*/ 0 h 1"/>
                      <a:gd name="T4" fmla="*/ 0 60000 65536"/>
                      <a:gd name="T5" fmla="*/ 0 60000 65536"/>
                      <a:gd name="T6" fmla="*/ 0 w 102"/>
                      <a:gd name="T7" fmla="*/ 0 h 1"/>
                      <a:gd name="T8" fmla="*/ 102 w 102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2" h="1">
                        <a:moveTo>
                          <a:pt x="102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489" name="Line 66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896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490" name="Line 67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879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491" name="Freeform 68"/>
                  <p:cNvSpPr/>
                  <p:nvPr/>
                </p:nvSpPr>
                <p:spPr bwMode="auto">
                  <a:xfrm>
                    <a:off x="1831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492" name="Line 69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704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493" name="Line 70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783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494" name="Freeform 71"/>
                  <p:cNvSpPr/>
                  <p:nvPr/>
                </p:nvSpPr>
                <p:spPr bwMode="auto">
                  <a:xfrm>
                    <a:off x="2005" y="2353"/>
                    <a:ext cx="103" cy="1"/>
                  </a:xfrm>
                  <a:custGeom>
                    <a:avLst/>
                    <a:gdLst>
                      <a:gd name="T0" fmla="*/ 0 w 103"/>
                      <a:gd name="T1" fmla="*/ 0 h 1"/>
                      <a:gd name="T2" fmla="*/ 103 w 103"/>
                      <a:gd name="T3" fmla="*/ 0 h 1"/>
                      <a:gd name="T4" fmla="*/ 0 60000 65536"/>
                      <a:gd name="T5" fmla="*/ 0 60000 65536"/>
                      <a:gd name="T6" fmla="*/ 0 w 103"/>
                      <a:gd name="T7" fmla="*/ 0 h 1"/>
                      <a:gd name="T8" fmla="*/ 103 w 103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3" h="1">
                        <a:moveTo>
                          <a:pt x="0" y="0"/>
                        </a:moveTo>
                        <a:lnTo>
                          <a:pt x="103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495" name="Freeform 72"/>
                  <p:cNvSpPr/>
                  <p:nvPr/>
                </p:nvSpPr>
                <p:spPr bwMode="auto">
                  <a:xfrm>
                    <a:off x="1611" y="2352"/>
                    <a:ext cx="113" cy="1"/>
                  </a:xfrm>
                  <a:custGeom>
                    <a:avLst/>
                    <a:gdLst>
                      <a:gd name="T0" fmla="*/ 113 w 113"/>
                      <a:gd name="T1" fmla="*/ 1 h 1"/>
                      <a:gd name="T2" fmla="*/ 0 w 113"/>
                      <a:gd name="T3" fmla="*/ 0 h 1"/>
                      <a:gd name="T4" fmla="*/ 0 60000 65536"/>
                      <a:gd name="T5" fmla="*/ 0 60000 65536"/>
                      <a:gd name="T6" fmla="*/ 0 w 113"/>
                      <a:gd name="T7" fmla="*/ 0 h 1"/>
                      <a:gd name="T8" fmla="*/ 113 w 113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13" h="1">
                        <a:moveTo>
                          <a:pt x="113" y="1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496" name="Line 73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2477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497" name="Line 74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2460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498" name="Freeform 75"/>
                  <p:cNvSpPr/>
                  <p:nvPr/>
                </p:nvSpPr>
                <p:spPr bwMode="auto">
                  <a:xfrm>
                    <a:off x="2412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499" name="Line 76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285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00" name="Line 77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364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01" name="Freeform 78"/>
                  <p:cNvSpPr/>
                  <p:nvPr/>
                </p:nvSpPr>
                <p:spPr bwMode="auto">
                  <a:xfrm>
                    <a:off x="2586" y="2353"/>
                    <a:ext cx="109" cy="1"/>
                  </a:xfrm>
                  <a:custGeom>
                    <a:avLst/>
                    <a:gdLst>
                      <a:gd name="T0" fmla="*/ 0 w 109"/>
                      <a:gd name="T1" fmla="*/ 0 h 1"/>
                      <a:gd name="T2" fmla="*/ 109 w 109"/>
                      <a:gd name="T3" fmla="*/ 0 h 1"/>
                      <a:gd name="T4" fmla="*/ 0 60000 65536"/>
                      <a:gd name="T5" fmla="*/ 0 60000 65536"/>
                      <a:gd name="T6" fmla="*/ 0 w 109"/>
                      <a:gd name="T7" fmla="*/ 0 h 1"/>
                      <a:gd name="T8" fmla="*/ 109 w 10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9" h="1">
                        <a:moveTo>
                          <a:pt x="0" y="0"/>
                        </a:moveTo>
                        <a:lnTo>
                          <a:pt x="109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02" name="Freeform 79"/>
                  <p:cNvSpPr/>
                  <p:nvPr/>
                </p:nvSpPr>
                <p:spPr bwMode="auto">
                  <a:xfrm>
                    <a:off x="2207" y="2353"/>
                    <a:ext cx="89" cy="1"/>
                  </a:xfrm>
                  <a:custGeom>
                    <a:avLst/>
                    <a:gdLst>
                      <a:gd name="T0" fmla="*/ 89 w 89"/>
                      <a:gd name="T1" fmla="*/ 0 h 1"/>
                      <a:gd name="T2" fmla="*/ 0 w 89"/>
                      <a:gd name="T3" fmla="*/ 0 h 1"/>
                      <a:gd name="T4" fmla="*/ 0 60000 65536"/>
                      <a:gd name="T5" fmla="*/ 0 60000 65536"/>
                      <a:gd name="T6" fmla="*/ 0 w 89"/>
                      <a:gd name="T7" fmla="*/ 0 h 1"/>
                      <a:gd name="T8" fmla="*/ 89 w 8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89" h="1">
                        <a:moveTo>
                          <a:pt x="89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03" name="Line 80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053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04" name="Line 81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036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05" name="Freeform 82"/>
                  <p:cNvSpPr/>
                  <p:nvPr/>
                </p:nvSpPr>
                <p:spPr bwMode="auto">
                  <a:xfrm>
                    <a:off x="2988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06" name="Line 83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861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07" name="Line 84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940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08" name="Freeform 85"/>
                  <p:cNvSpPr/>
                  <p:nvPr/>
                </p:nvSpPr>
                <p:spPr bwMode="auto">
                  <a:xfrm>
                    <a:off x="3162" y="2353"/>
                    <a:ext cx="115" cy="1"/>
                  </a:xfrm>
                  <a:custGeom>
                    <a:avLst/>
                    <a:gdLst>
                      <a:gd name="T0" fmla="*/ 0 w 115"/>
                      <a:gd name="T1" fmla="*/ 0 h 1"/>
                      <a:gd name="T2" fmla="*/ 115 w 115"/>
                      <a:gd name="T3" fmla="*/ 0 h 1"/>
                      <a:gd name="T4" fmla="*/ 0 60000 65536"/>
                      <a:gd name="T5" fmla="*/ 0 60000 65536"/>
                      <a:gd name="T6" fmla="*/ 0 w 115"/>
                      <a:gd name="T7" fmla="*/ 0 h 1"/>
                      <a:gd name="T8" fmla="*/ 115 w 115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15" h="1">
                        <a:moveTo>
                          <a:pt x="0" y="0"/>
                        </a:moveTo>
                        <a:lnTo>
                          <a:pt x="115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09" name="Freeform 86"/>
                  <p:cNvSpPr/>
                  <p:nvPr/>
                </p:nvSpPr>
                <p:spPr bwMode="auto">
                  <a:xfrm>
                    <a:off x="2783" y="2353"/>
                    <a:ext cx="90" cy="1"/>
                  </a:xfrm>
                  <a:custGeom>
                    <a:avLst/>
                    <a:gdLst>
                      <a:gd name="T0" fmla="*/ 90 w 90"/>
                      <a:gd name="T1" fmla="*/ 0 h 1"/>
                      <a:gd name="T2" fmla="*/ 0 w 90"/>
                      <a:gd name="T3" fmla="*/ 0 h 1"/>
                      <a:gd name="T4" fmla="*/ 0 60000 65536"/>
                      <a:gd name="T5" fmla="*/ 0 60000 65536"/>
                      <a:gd name="T6" fmla="*/ 0 w 90"/>
                      <a:gd name="T7" fmla="*/ 0 h 1"/>
                      <a:gd name="T8" fmla="*/ 90 w 90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0" h="1">
                        <a:moveTo>
                          <a:pt x="90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10" name="Line 87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629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11" name="Line 88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612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12" name="Freeform 89"/>
                  <p:cNvSpPr/>
                  <p:nvPr/>
                </p:nvSpPr>
                <p:spPr bwMode="auto">
                  <a:xfrm>
                    <a:off x="3564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13" name="Line 90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3437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14" name="Line 91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3516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15" name="Freeform 92"/>
                  <p:cNvSpPr/>
                  <p:nvPr/>
                </p:nvSpPr>
                <p:spPr bwMode="auto">
                  <a:xfrm>
                    <a:off x="3751" y="2352"/>
                    <a:ext cx="100" cy="1"/>
                  </a:xfrm>
                  <a:custGeom>
                    <a:avLst/>
                    <a:gdLst>
                      <a:gd name="T0" fmla="*/ 0 w 100"/>
                      <a:gd name="T1" fmla="*/ 0 h 1"/>
                      <a:gd name="T2" fmla="*/ 100 w 100"/>
                      <a:gd name="T3" fmla="*/ 1 h 1"/>
                      <a:gd name="T4" fmla="*/ 0 60000 65536"/>
                      <a:gd name="T5" fmla="*/ 0 60000 65536"/>
                      <a:gd name="T6" fmla="*/ 0 w 100"/>
                      <a:gd name="T7" fmla="*/ 0 h 1"/>
                      <a:gd name="T8" fmla="*/ 100 w 100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0" h="1">
                        <a:moveTo>
                          <a:pt x="0" y="0"/>
                        </a:moveTo>
                        <a:lnTo>
                          <a:pt x="100" y="1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16" name="Freeform 93"/>
                  <p:cNvSpPr/>
                  <p:nvPr/>
                </p:nvSpPr>
                <p:spPr bwMode="auto">
                  <a:xfrm>
                    <a:off x="3359" y="2353"/>
                    <a:ext cx="108" cy="1"/>
                  </a:xfrm>
                  <a:custGeom>
                    <a:avLst/>
                    <a:gdLst>
                      <a:gd name="T0" fmla="*/ 108 w 108"/>
                      <a:gd name="T1" fmla="*/ 0 h 1"/>
                      <a:gd name="T2" fmla="*/ 0 w 108"/>
                      <a:gd name="T3" fmla="*/ 0 h 1"/>
                      <a:gd name="T4" fmla="*/ 0 60000 65536"/>
                      <a:gd name="T5" fmla="*/ 0 60000 65536"/>
                      <a:gd name="T6" fmla="*/ 0 w 108"/>
                      <a:gd name="T7" fmla="*/ 0 h 1"/>
                      <a:gd name="T8" fmla="*/ 108 w 108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8" h="1">
                        <a:moveTo>
                          <a:pt x="108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17" name="Line 94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205" y="2698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18" name="Line 95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188" y="2696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19" name="Freeform 96"/>
                  <p:cNvSpPr/>
                  <p:nvPr/>
                </p:nvSpPr>
                <p:spPr bwMode="auto">
                  <a:xfrm>
                    <a:off x="4140" y="2695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20" name="Line 97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013" y="2698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21" name="Line 98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092" y="2700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22" name="Freeform 99"/>
                  <p:cNvSpPr/>
                  <p:nvPr/>
                </p:nvSpPr>
                <p:spPr bwMode="auto">
                  <a:xfrm>
                    <a:off x="4336" y="2351"/>
                    <a:ext cx="90" cy="2"/>
                  </a:xfrm>
                  <a:custGeom>
                    <a:avLst/>
                    <a:gdLst>
                      <a:gd name="T0" fmla="*/ 0 w 90"/>
                      <a:gd name="T1" fmla="*/ 0 h 2"/>
                      <a:gd name="T2" fmla="*/ 90 w 90"/>
                      <a:gd name="T3" fmla="*/ 2 h 2"/>
                      <a:gd name="T4" fmla="*/ 0 60000 65536"/>
                      <a:gd name="T5" fmla="*/ 0 60000 65536"/>
                      <a:gd name="T6" fmla="*/ 0 w 90"/>
                      <a:gd name="T7" fmla="*/ 0 h 2"/>
                      <a:gd name="T8" fmla="*/ 90 w 90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0" h="2">
                        <a:moveTo>
                          <a:pt x="0" y="0"/>
                        </a:moveTo>
                        <a:lnTo>
                          <a:pt x="90" y="2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23" name="Freeform 100"/>
                  <p:cNvSpPr/>
                  <p:nvPr/>
                </p:nvSpPr>
                <p:spPr bwMode="auto">
                  <a:xfrm>
                    <a:off x="3935" y="2353"/>
                    <a:ext cx="104" cy="1"/>
                  </a:xfrm>
                  <a:custGeom>
                    <a:avLst/>
                    <a:gdLst>
                      <a:gd name="T0" fmla="*/ 104 w 104"/>
                      <a:gd name="T1" fmla="*/ 0 h 1"/>
                      <a:gd name="T2" fmla="*/ 0 w 104"/>
                      <a:gd name="T3" fmla="*/ 0 h 1"/>
                      <a:gd name="T4" fmla="*/ 0 60000 65536"/>
                      <a:gd name="T5" fmla="*/ 0 60000 65536"/>
                      <a:gd name="T6" fmla="*/ 0 w 104"/>
                      <a:gd name="T7" fmla="*/ 0 h 1"/>
                      <a:gd name="T8" fmla="*/ 104 w 104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4" h="1">
                        <a:moveTo>
                          <a:pt x="104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40524" name="Group 101"/>
                  <p:cNvGrpSpPr/>
                  <p:nvPr/>
                </p:nvGrpSpPr>
                <p:grpSpPr bwMode="auto">
                  <a:xfrm>
                    <a:off x="4668" y="2634"/>
                    <a:ext cx="192" cy="158"/>
                    <a:chOff x="4692" y="2634"/>
                    <a:chExt cx="192" cy="158"/>
                  </a:xfrm>
                </p:grpSpPr>
                <p:grpSp>
                  <p:nvGrpSpPr>
                    <p:cNvPr id="140664" name="Group 102"/>
                    <p:cNvGrpSpPr/>
                    <p:nvPr/>
                  </p:nvGrpSpPr>
                  <p:grpSpPr bwMode="auto">
                    <a:xfrm>
                      <a:off x="4836" y="2634"/>
                      <a:ext cx="48" cy="158"/>
                      <a:chOff x="4836" y="2634"/>
                      <a:chExt cx="48" cy="158"/>
                    </a:xfrm>
                  </p:grpSpPr>
                  <p:sp>
                    <p:nvSpPr>
                      <p:cNvPr id="140669" name="Line 103"/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4805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140670" name="Line 104"/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4788" y="2711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  <p:sp>
                  <p:nvSpPr>
                    <p:cNvPr id="140665" name="Freeform 105"/>
                    <p:cNvSpPr/>
                    <p:nvPr/>
                  </p:nvSpPr>
                  <p:spPr bwMode="auto">
                    <a:xfrm>
                      <a:off x="4740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grpSp>
                  <p:nvGrpSpPr>
                    <p:cNvPr id="140666" name="Group 106"/>
                    <p:cNvGrpSpPr/>
                    <p:nvPr/>
                  </p:nvGrpSpPr>
                  <p:grpSpPr bwMode="auto">
                    <a:xfrm>
                      <a:off x="4692" y="2634"/>
                      <a:ext cx="48" cy="158"/>
                      <a:chOff x="4692" y="2634"/>
                      <a:chExt cx="48" cy="158"/>
                    </a:xfrm>
                  </p:grpSpPr>
                  <p:sp>
                    <p:nvSpPr>
                      <p:cNvPr id="140667" name="Line 107"/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4613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140668" name="Line 108"/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4692" y="2715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</p:grpSp>
              <p:sp>
                <p:nvSpPr>
                  <p:cNvPr id="140525" name="Freeform 109"/>
                  <p:cNvSpPr/>
                  <p:nvPr/>
                </p:nvSpPr>
                <p:spPr bwMode="auto">
                  <a:xfrm>
                    <a:off x="4890" y="2353"/>
                    <a:ext cx="107" cy="1"/>
                  </a:xfrm>
                  <a:custGeom>
                    <a:avLst/>
                    <a:gdLst>
                      <a:gd name="T0" fmla="*/ 0 w 107"/>
                      <a:gd name="T1" fmla="*/ 0 h 1"/>
                      <a:gd name="T2" fmla="*/ 107 w 107"/>
                      <a:gd name="T3" fmla="*/ 0 h 1"/>
                      <a:gd name="T4" fmla="*/ 0 60000 65536"/>
                      <a:gd name="T5" fmla="*/ 0 60000 65536"/>
                      <a:gd name="T6" fmla="*/ 0 w 107"/>
                      <a:gd name="T7" fmla="*/ 0 h 1"/>
                      <a:gd name="T8" fmla="*/ 107 w 107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7" h="1">
                        <a:moveTo>
                          <a:pt x="0" y="0"/>
                        </a:moveTo>
                        <a:lnTo>
                          <a:pt x="107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26" name="Freeform 110"/>
                  <p:cNvSpPr/>
                  <p:nvPr/>
                </p:nvSpPr>
                <p:spPr bwMode="auto">
                  <a:xfrm>
                    <a:off x="4511" y="2353"/>
                    <a:ext cx="96" cy="1"/>
                  </a:xfrm>
                  <a:custGeom>
                    <a:avLst/>
                    <a:gdLst>
                      <a:gd name="T0" fmla="*/ 96 w 96"/>
                      <a:gd name="T1" fmla="*/ 0 h 1"/>
                      <a:gd name="T2" fmla="*/ 0 w 96"/>
                      <a:gd name="T3" fmla="*/ 0 h 1"/>
                      <a:gd name="T4" fmla="*/ 0 60000 65536"/>
                      <a:gd name="T5" fmla="*/ 0 60000 65536"/>
                      <a:gd name="T6" fmla="*/ 0 w 96"/>
                      <a:gd name="T7" fmla="*/ 0 h 1"/>
                      <a:gd name="T8" fmla="*/ 96 w 96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1">
                        <a:moveTo>
                          <a:pt x="96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40527" name="Group 111"/>
                  <p:cNvGrpSpPr/>
                  <p:nvPr/>
                </p:nvGrpSpPr>
                <p:grpSpPr bwMode="auto">
                  <a:xfrm>
                    <a:off x="5235" y="2634"/>
                    <a:ext cx="192" cy="158"/>
                    <a:chOff x="5259" y="2634"/>
                    <a:chExt cx="192" cy="158"/>
                  </a:xfrm>
                </p:grpSpPr>
                <p:grpSp>
                  <p:nvGrpSpPr>
                    <p:cNvPr id="140657" name="Group 112"/>
                    <p:cNvGrpSpPr/>
                    <p:nvPr/>
                  </p:nvGrpSpPr>
                  <p:grpSpPr bwMode="auto">
                    <a:xfrm>
                      <a:off x="5403" y="2634"/>
                      <a:ext cx="48" cy="158"/>
                      <a:chOff x="5403" y="2634"/>
                      <a:chExt cx="48" cy="158"/>
                    </a:xfrm>
                  </p:grpSpPr>
                  <p:sp>
                    <p:nvSpPr>
                      <p:cNvPr id="140662" name="Line 113"/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5372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140663" name="Line 114"/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5355" y="2711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  <p:sp>
                  <p:nvSpPr>
                    <p:cNvPr id="140658" name="Freeform 115"/>
                    <p:cNvSpPr/>
                    <p:nvPr/>
                  </p:nvSpPr>
                  <p:spPr bwMode="auto">
                    <a:xfrm>
                      <a:off x="5307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grpSp>
                  <p:nvGrpSpPr>
                    <p:cNvPr id="140659" name="Group 116"/>
                    <p:cNvGrpSpPr/>
                    <p:nvPr/>
                  </p:nvGrpSpPr>
                  <p:grpSpPr bwMode="auto">
                    <a:xfrm>
                      <a:off x="5259" y="2634"/>
                      <a:ext cx="48" cy="158"/>
                      <a:chOff x="5259" y="2634"/>
                      <a:chExt cx="48" cy="158"/>
                    </a:xfrm>
                  </p:grpSpPr>
                  <p:sp>
                    <p:nvSpPr>
                      <p:cNvPr id="140660" name="Line 117"/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5180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140661" name="Line 118"/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5259" y="2715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</p:grpSp>
              <p:sp>
                <p:nvSpPr>
                  <p:cNvPr id="140528" name="Freeform 119"/>
                  <p:cNvSpPr/>
                  <p:nvPr/>
                </p:nvSpPr>
                <p:spPr bwMode="auto">
                  <a:xfrm>
                    <a:off x="5467" y="2351"/>
                    <a:ext cx="96" cy="2"/>
                  </a:xfrm>
                  <a:custGeom>
                    <a:avLst/>
                    <a:gdLst>
                      <a:gd name="T0" fmla="*/ 0 w 96"/>
                      <a:gd name="T1" fmla="*/ 0 h 2"/>
                      <a:gd name="T2" fmla="*/ 96 w 96"/>
                      <a:gd name="T3" fmla="*/ 2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0"/>
                        </a:moveTo>
                        <a:lnTo>
                          <a:pt x="96" y="2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29" name="Freeform 120"/>
                  <p:cNvSpPr/>
                  <p:nvPr/>
                </p:nvSpPr>
                <p:spPr bwMode="auto">
                  <a:xfrm>
                    <a:off x="5078" y="2353"/>
                    <a:ext cx="101" cy="1"/>
                  </a:xfrm>
                  <a:custGeom>
                    <a:avLst/>
                    <a:gdLst>
                      <a:gd name="T0" fmla="*/ 101 w 101"/>
                      <a:gd name="T1" fmla="*/ 0 h 1"/>
                      <a:gd name="T2" fmla="*/ 0 w 101"/>
                      <a:gd name="T3" fmla="*/ 0 h 1"/>
                      <a:gd name="T4" fmla="*/ 0 60000 65536"/>
                      <a:gd name="T5" fmla="*/ 0 60000 65536"/>
                      <a:gd name="T6" fmla="*/ 0 w 101"/>
                      <a:gd name="T7" fmla="*/ 0 h 1"/>
                      <a:gd name="T8" fmla="*/ 101 w 101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1" h="1">
                        <a:moveTo>
                          <a:pt x="101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30" name="Freeform 121"/>
                  <p:cNvSpPr/>
                  <p:nvPr/>
                </p:nvSpPr>
                <p:spPr bwMode="auto">
                  <a:xfrm>
                    <a:off x="908" y="856"/>
                    <a:ext cx="4419" cy="1"/>
                  </a:xfrm>
                  <a:custGeom>
                    <a:avLst/>
                    <a:gdLst>
                      <a:gd name="T0" fmla="*/ 0 w 4419"/>
                      <a:gd name="T1" fmla="*/ 1 h 1"/>
                      <a:gd name="T2" fmla="*/ 4419 w 4419"/>
                      <a:gd name="T3" fmla="*/ 0 h 1"/>
                      <a:gd name="T4" fmla="*/ 0 60000 65536"/>
                      <a:gd name="T5" fmla="*/ 0 60000 65536"/>
                      <a:gd name="T6" fmla="*/ 0 w 4419"/>
                      <a:gd name="T7" fmla="*/ 0 h 1"/>
                      <a:gd name="T8" fmla="*/ 4419 w 441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9" h="1">
                        <a:moveTo>
                          <a:pt x="0" y="1"/>
                        </a:moveTo>
                        <a:lnTo>
                          <a:pt x="4419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31" name="Line 122"/>
                  <p:cNvSpPr>
                    <a:spLocks noChangeShapeType="1"/>
                  </p:cNvSpPr>
                  <p:nvPr/>
                </p:nvSpPr>
                <p:spPr bwMode="auto">
                  <a:xfrm>
                    <a:off x="1292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32" name="Line 123"/>
                  <p:cNvSpPr>
                    <a:spLocks noChangeShapeType="1"/>
                  </p:cNvSpPr>
                  <p:nvPr/>
                </p:nvSpPr>
                <p:spPr bwMode="auto">
                  <a:xfrm>
                    <a:off x="1868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33" name="Line 124"/>
                  <p:cNvSpPr>
                    <a:spLocks noChangeShapeType="1"/>
                  </p:cNvSpPr>
                  <p:nvPr/>
                </p:nvSpPr>
                <p:spPr bwMode="auto">
                  <a:xfrm>
                    <a:off x="2444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34" name="Line 125"/>
                  <p:cNvSpPr>
                    <a:spLocks noChangeShapeType="1"/>
                  </p:cNvSpPr>
                  <p:nvPr/>
                </p:nvSpPr>
                <p:spPr bwMode="auto">
                  <a:xfrm>
                    <a:off x="3020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35" name="Line 126"/>
                  <p:cNvSpPr>
                    <a:spLocks noChangeShapeType="1"/>
                  </p:cNvSpPr>
                  <p:nvPr/>
                </p:nvSpPr>
                <p:spPr bwMode="auto">
                  <a:xfrm>
                    <a:off x="3596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36" name="Line 127"/>
                  <p:cNvSpPr>
                    <a:spLocks noChangeShapeType="1"/>
                  </p:cNvSpPr>
                  <p:nvPr/>
                </p:nvSpPr>
                <p:spPr bwMode="auto">
                  <a:xfrm>
                    <a:off x="4172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37" name="Line 128"/>
                  <p:cNvSpPr>
                    <a:spLocks noChangeShapeType="1"/>
                  </p:cNvSpPr>
                  <p:nvPr/>
                </p:nvSpPr>
                <p:spPr bwMode="auto">
                  <a:xfrm>
                    <a:off x="4748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38" name="Line 129"/>
                  <p:cNvSpPr>
                    <a:spLocks noChangeShapeType="1"/>
                  </p:cNvSpPr>
                  <p:nvPr/>
                </p:nvSpPr>
                <p:spPr bwMode="auto">
                  <a:xfrm>
                    <a:off x="5324" y="8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39" name="Freeform 130"/>
                  <p:cNvSpPr/>
                  <p:nvPr/>
                </p:nvSpPr>
                <p:spPr bwMode="auto">
                  <a:xfrm>
                    <a:off x="1305" y="2708"/>
                    <a:ext cx="1" cy="166"/>
                  </a:xfrm>
                  <a:custGeom>
                    <a:avLst/>
                    <a:gdLst>
                      <a:gd name="T0" fmla="*/ 1 w 1"/>
                      <a:gd name="T1" fmla="*/ 0 h 166"/>
                      <a:gd name="T2" fmla="*/ 0 w 1"/>
                      <a:gd name="T3" fmla="*/ 166 h 166"/>
                      <a:gd name="T4" fmla="*/ 0 60000 65536"/>
                      <a:gd name="T5" fmla="*/ 0 60000 65536"/>
                      <a:gd name="T6" fmla="*/ 0 w 1"/>
                      <a:gd name="T7" fmla="*/ 0 h 166"/>
                      <a:gd name="T8" fmla="*/ 1 w 1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66">
                        <a:moveTo>
                          <a:pt x="1" y="0"/>
                        </a:moveTo>
                        <a:lnTo>
                          <a:pt x="0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40" name="Freeform 131"/>
                  <p:cNvSpPr/>
                  <p:nvPr/>
                </p:nvSpPr>
                <p:spPr bwMode="auto">
                  <a:xfrm>
                    <a:off x="1880" y="2708"/>
                    <a:ext cx="47" cy="501"/>
                  </a:xfrm>
                  <a:custGeom>
                    <a:avLst/>
                    <a:gdLst>
                      <a:gd name="T0" fmla="*/ 0 w 1"/>
                      <a:gd name="T1" fmla="*/ 0 h 406"/>
                      <a:gd name="T2" fmla="*/ 0 w 1"/>
                      <a:gd name="T3" fmla="*/ 7711 h 406"/>
                      <a:gd name="T4" fmla="*/ 0 60000 65536"/>
                      <a:gd name="T5" fmla="*/ 0 60000 65536"/>
                      <a:gd name="T6" fmla="*/ 0 w 1"/>
                      <a:gd name="T7" fmla="*/ 0 h 406"/>
                      <a:gd name="T8" fmla="*/ 1 w 1"/>
                      <a:gd name="T9" fmla="*/ 406 h 40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406">
                        <a:moveTo>
                          <a:pt x="0" y="0"/>
                        </a:moveTo>
                        <a:lnTo>
                          <a:pt x="0" y="40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41" name="Freeform 132"/>
                  <p:cNvSpPr/>
                  <p:nvPr/>
                </p:nvSpPr>
                <p:spPr bwMode="auto">
                  <a:xfrm>
                    <a:off x="2454" y="2708"/>
                    <a:ext cx="4" cy="166"/>
                  </a:xfrm>
                  <a:custGeom>
                    <a:avLst/>
                    <a:gdLst>
                      <a:gd name="T0" fmla="*/ 4 w 4"/>
                      <a:gd name="T1" fmla="*/ 0 h 166"/>
                      <a:gd name="T2" fmla="*/ 0 w 4"/>
                      <a:gd name="T3" fmla="*/ 166 h 166"/>
                      <a:gd name="T4" fmla="*/ 0 60000 65536"/>
                      <a:gd name="T5" fmla="*/ 0 60000 65536"/>
                      <a:gd name="T6" fmla="*/ 0 w 4"/>
                      <a:gd name="T7" fmla="*/ 0 h 166"/>
                      <a:gd name="T8" fmla="*/ 4 w 4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" h="166">
                        <a:moveTo>
                          <a:pt x="4" y="0"/>
                        </a:moveTo>
                        <a:lnTo>
                          <a:pt x="0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42" name="Freeform 133"/>
                  <p:cNvSpPr/>
                  <p:nvPr/>
                </p:nvSpPr>
                <p:spPr bwMode="auto">
                  <a:xfrm>
                    <a:off x="3606" y="2708"/>
                    <a:ext cx="2" cy="175"/>
                  </a:xfrm>
                  <a:custGeom>
                    <a:avLst/>
                    <a:gdLst>
                      <a:gd name="T0" fmla="*/ 2 w 2"/>
                      <a:gd name="T1" fmla="*/ 0 h 175"/>
                      <a:gd name="T2" fmla="*/ 0 w 2"/>
                      <a:gd name="T3" fmla="*/ 175 h 175"/>
                      <a:gd name="T4" fmla="*/ 0 60000 65536"/>
                      <a:gd name="T5" fmla="*/ 0 60000 65536"/>
                      <a:gd name="T6" fmla="*/ 0 w 2"/>
                      <a:gd name="T7" fmla="*/ 0 h 175"/>
                      <a:gd name="T8" fmla="*/ 2 w 2"/>
                      <a:gd name="T9" fmla="*/ 175 h 175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2" h="175">
                        <a:moveTo>
                          <a:pt x="2" y="0"/>
                        </a:moveTo>
                        <a:lnTo>
                          <a:pt x="0" y="175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43" name="Freeform 134"/>
                  <p:cNvSpPr/>
                  <p:nvPr/>
                </p:nvSpPr>
                <p:spPr bwMode="auto">
                  <a:xfrm>
                    <a:off x="4760" y="2697"/>
                    <a:ext cx="1" cy="176"/>
                  </a:xfrm>
                  <a:custGeom>
                    <a:avLst/>
                    <a:gdLst>
                      <a:gd name="T0" fmla="*/ 0 w 1"/>
                      <a:gd name="T1" fmla="*/ 0 h 176"/>
                      <a:gd name="T2" fmla="*/ 0 w 1"/>
                      <a:gd name="T3" fmla="*/ 176 h 176"/>
                      <a:gd name="T4" fmla="*/ 0 60000 65536"/>
                      <a:gd name="T5" fmla="*/ 0 60000 65536"/>
                      <a:gd name="T6" fmla="*/ 0 w 1"/>
                      <a:gd name="T7" fmla="*/ 0 h 176"/>
                      <a:gd name="T8" fmla="*/ 1 w 1"/>
                      <a:gd name="T9" fmla="*/ 176 h 17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76">
                        <a:moveTo>
                          <a:pt x="0" y="0"/>
                        </a:moveTo>
                        <a:lnTo>
                          <a:pt x="0" y="17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44" name="Freeform 135"/>
                  <p:cNvSpPr/>
                  <p:nvPr/>
                </p:nvSpPr>
                <p:spPr bwMode="auto">
                  <a:xfrm>
                    <a:off x="908" y="1480"/>
                    <a:ext cx="4422" cy="1"/>
                  </a:xfrm>
                  <a:custGeom>
                    <a:avLst/>
                    <a:gdLst>
                      <a:gd name="T0" fmla="*/ 0 w 4422"/>
                      <a:gd name="T1" fmla="*/ 1 h 1"/>
                      <a:gd name="T2" fmla="*/ 4422 w 4422"/>
                      <a:gd name="T3" fmla="*/ 0 h 1"/>
                      <a:gd name="T4" fmla="*/ 0 60000 65536"/>
                      <a:gd name="T5" fmla="*/ 0 60000 65536"/>
                      <a:gd name="T6" fmla="*/ 0 w 4422"/>
                      <a:gd name="T7" fmla="*/ 0 h 1"/>
                      <a:gd name="T8" fmla="*/ 4422 w 4422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22" h="1">
                        <a:moveTo>
                          <a:pt x="0" y="1"/>
                        </a:moveTo>
                        <a:lnTo>
                          <a:pt x="4422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45" name="Line 136"/>
                  <p:cNvSpPr>
                    <a:spLocks noChangeShapeType="1"/>
                  </p:cNvSpPr>
                  <p:nvPr/>
                </p:nvSpPr>
                <p:spPr bwMode="auto">
                  <a:xfrm>
                    <a:off x="1292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46" name="Line 137"/>
                  <p:cNvSpPr>
                    <a:spLocks noChangeShapeType="1"/>
                  </p:cNvSpPr>
                  <p:nvPr/>
                </p:nvSpPr>
                <p:spPr bwMode="auto">
                  <a:xfrm>
                    <a:off x="1868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47" name="Line 138"/>
                  <p:cNvSpPr>
                    <a:spLocks noChangeShapeType="1"/>
                  </p:cNvSpPr>
                  <p:nvPr/>
                </p:nvSpPr>
                <p:spPr bwMode="auto">
                  <a:xfrm>
                    <a:off x="2444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48" name="Line 139"/>
                  <p:cNvSpPr>
                    <a:spLocks noChangeShapeType="1"/>
                  </p:cNvSpPr>
                  <p:nvPr/>
                </p:nvSpPr>
                <p:spPr bwMode="auto">
                  <a:xfrm>
                    <a:off x="3020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49" name="Line 140"/>
                  <p:cNvSpPr>
                    <a:spLocks noChangeShapeType="1"/>
                  </p:cNvSpPr>
                  <p:nvPr/>
                </p:nvSpPr>
                <p:spPr bwMode="auto">
                  <a:xfrm>
                    <a:off x="3596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50" name="Line 141"/>
                  <p:cNvSpPr>
                    <a:spLocks noChangeShapeType="1"/>
                  </p:cNvSpPr>
                  <p:nvPr/>
                </p:nvSpPr>
                <p:spPr bwMode="auto">
                  <a:xfrm>
                    <a:off x="4172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51" name="Line 142"/>
                  <p:cNvSpPr>
                    <a:spLocks noChangeShapeType="1"/>
                  </p:cNvSpPr>
                  <p:nvPr/>
                </p:nvSpPr>
                <p:spPr bwMode="auto">
                  <a:xfrm>
                    <a:off x="4748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52" name="Line 143"/>
                  <p:cNvSpPr>
                    <a:spLocks noChangeShapeType="1"/>
                  </p:cNvSpPr>
                  <p:nvPr/>
                </p:nvSpPr>
                <p:spPr bwMode="auto">
                  <a:xfrm>
                    <a:off x="5324" y="14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53" name="Freeform 144"/>
                  <p:cNvSpPr/>
                  <p:nvPr/>
                </p:nvSpPr>
                <p:spPr bwMode="auto">
                  <a:xfrm>
                    <a:off x="908" y="2056"/>
                    <a:ext cx="4418" cy="1"/>
                  </a:xfrm>
                  <a:custGeom>
                    <a:avLst/>
                    <a:gdLst>
                      <a:gd name="T0" fmla="*/ 0 w 4418"/>
                      <a:gd name="T1" fmla="*/ 1 h 1"/>
                      <a:gd name="T2" fmla="*/ 4418 w 4418"/>
                      <a:gd name="T3" fmla="*/ 0 h 1"/>
                      <a:gd name="T4" fmla="*/ 0 60000 65536"/>
                      <a:gd name="T5" fmla="*/ 0 60000 65536"/>
                      <a:gd name="T6" fmla="*/ 0 w 4418"/>
                      <a:gd name="T7" fmla="*/ 0 h 1"/>
                      <a:gd name="T8" fmla="*/ 4418 w 4418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8" h="1">
                        <a:moveTo>
                          <a:pt x="0" y="1"/>
                        </a:moveTo>
                        <a:lnTo>
                          <a:pt x="4418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54" name="Line 145"/>
                  <p:cNvSpPr>
                    <a:spLocks noChangeShapeType="1"/>
                  </p:cNvSpPr>
                  <p:nvPr/>
                </p:nvSpPr>
                <p:spPr bwMode="auto">
                  <a:xfrm>
                    <a:off x="1292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55" name="Line 146"/>
                  <p:cNvSpPr>
                    <a:spLocks noChangeShapeType="1"/>
                  </p:cNvSpPr>
                  <p:nvPr/>
                </p:nvSpPr>
                <p:spPr bwMode="auto">
                  <a:xfrm>
                    <a:off x="1868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56" name="Line 147"/>
                  <p:cNvSpPr>
                    <a:spLocks noChangeShapeType="1"/>
                  </p:cNvSpPr>
                  <p:nvPr/>
                </p:nvSpPr>
                <p:spPr bwMode="auto">
                  <a:xfrm>
                    <a:off x="2444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57" name="Line 148"/>
                  <p:cNvSpPr>
                    <a:spLocks noChangeShapeType="1"/>
                  </p:cNvSpPr>
                  <p:nvPr/>
                </p:nvSpPr>
                <p:spPr bwMode="auto">
                  <a:xfrm>
                    <a:off x="3020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58" name="Line 149"/>
                  <p:cNvSpPr>
                    <a:spLocks noChangeShapeType="1"/>
                  </p:cNvSpPr>
                  <p:nvPr/>
                </p:nvSpPr>
                <p:spPr bwMode="auto">
                  <a:xfrm>
                    <a:off x="3596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59" name="Line 150"/>
                  <p:cNvSpPr>
                    <a:spLocks noChangeShapeType="1"/>
                  </p:cNvSpPr>
                  <p:nvPr/>
                </p:nvSpPr>
                <p:spPr bwMode="auto">
                  <a:xfrm>
                    <a:off x="4172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60" name="Line 151"/>
                  <p:cNvSpPr>
                    <a:spLocks noChangeShapeType="1"/>
                  </p:cNvSpPr>
                  <p:nvPr/>
                </p:nvSpPr>
                <p:spPr bwMode="auto">
                  <a:xfrm>
                    <a:off x="4748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61" name="Line 152"/>
                  <p:cNvSpPr>
                    <a:spLocks noChangeShapeType="1"/>
                  </p:cNvSpPr>
                  <p:nvPr/>
                </p:nvSpPr>
                <p:spPr bwMode="auto">
                  <a:xfrm>
                    <a:off x="5324" y="2057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62" name="Freeform 153"/>
                  <p:cNvSpPr/>
                  <p:nvPr/>
                </p:nvSpPr>
                <p:spPr bwMode="auto">
                  <a:xfrm>
                    <a:off x="909" y="2879"/>
                    <a:ext cx="3860" cy="1"/>
                  </a:xfrm>
                  <a:custGeom>
                    <a:avLst/>
                    <a:gdLst>
                      <a:gd name="T0" fmla="*/ 0 w 3860"/>
                      <a:gd name="T1" fmla="*/ 1 h 1"/>
                      <a:gd name="T2" fmla="*/ 3860 w 3860"/>
                      <a:gd name="T3" fmla="*/ 0 h 1"/>
                      <a:gd name="T4" fmla="*/ 0 60000 65536"/>
                      <a:gd name="T5" fmla="*/ 0 60000 65536"/>
                      <a:gd name="T6" fmla="*/ 0 w 3860"/>
                      <a:gd name="T7" fmla="*/ 0 h 1"/>
                      <a:gd name="T8" fmla="*/ 3860 w 3860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3860" h="1">
                        <a:moveTo>
                          <a:pt x="0" y="1"/>
                        </a:moveTo>
                        <a:lnTo>
                          <a:pt x="386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63" name="Freeform 154"/>
                  <p:cNvSpPr/>
                  <p:nvPr/>
                </p:nvSpPr>
                <p:spPr bwMode="auto">
                  <a:xfrm>
                    <a:off x="912" y="3209"/>
                    <a:ext cx="4418" cy="1"/>
                  </a:xfrm>
                  <a:custGeom>
                    <a:avLst/>
                    <a:gdLst>
                      <a:gd name="T0" fmla="*/ 0 w 4418"/>
                      <a:gd name="T1" fmla="*/ 1 h 1"/>
                      <a:gd name="T2" fmla="*/ 4418 w 4418"/>
                      <a:gd name="T3" fmla="*/ 0 h 1"/>
                      <a:gd name="T4" fmla="*/ 0 60000 65536"/>
                      <a:gd name="T5" fmla="*/ 0 60000 65536"/>
                      <a:gd name="T6" fmla="*/ 0 w 4418"/>
                      <a:gd name="T7" fmla="*/ 0 h 1"/>
                      <a:gd name="T8" fmla="*/ 4418 w 4418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8" h="1">
                        <a:moveTo>
                          <a:pt x="0" y="1"/>
                        </a:moveTo>
                        <a:lnTo>
                          <a:pt x="4418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64" name="Rectangle 155"/>
                  <p:cNvSpPr>
                    <a:spLocks noChangeArrowheads="1"/>
                  </p:cNvSpPr>
                  <p:nvPr/>
                </p:nvSpPr>
                <p:spPr bwMode="auto">
                  <a:xfrm>
                    <a:off x="1141" y="3545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/>
                  </a:p>
                </p:txBody>
              </p:sp>
              <p:sp>
                <p:nvSpPr>
                  <p:cNvPr id="140565" name="Text Box 156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72" y="3576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读写电路</a:t>
                    </a:r>
                  </a:p>
                </p:txBody>
              </p:sp>
              <p:sp>
                <p:nvSpPr>
                  <p:cNvPr id="140566" name="Freeform 157"/>
                  <p:cNvSpPr/>
                  <p:nvPr/>
                </p:nvSpPr>
                <p:spPr bwMode="auto">
                  <a:xfrm>
                    <a:off x="1402" y="1211"/>
                    <a:ext cx="145" cy="1466"/>
                  </a:xfrm>
                  <a:custGeom>
                    <a:avLst/>
                    <a:gdLst>
                      <a:gd name="T0" fmla="*/ 37 w 145"/>
                      <a:gd name="T1" fmla="*/ 0 h 1466"/>
                      <a:gd name="T2" fmla="*/ 145 w 145"/>
                      <a:gd name="T3" fmla="*/ 0 h 1466"/>
                      <a:gd name="T4" fmla="*/ 144 w 145"/>
                      <a:gd name="T5" fmla="*/ 1466 h 1466"/>
                      <a:gd name="T6" fmla="*/ 0 w 145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5"/>
                      <a:gd name="T13" fmla="*/ 0 h 1466"/>
                      <a:gd name="T14" fmla="*/ 145 w 145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5" h="1466">
                        <a:moveTo>
                          <a:pt x="37" y="0"/>
                        </a:moveTo>
                        <a:lnTo>
                          <a:pt x="145" y="0"/>
                        </a:lnTo>
                        <a:lnTo>
                          <a:pt x="144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67" name="Freeform 158"/>
                  <p:cNvSpPr/>
                  <p:nvPr/>
                </p:nvSpPr>
                <p:spPr bwMode="auto">
                  <a:xfrm>
                    <a:off x="1613" y="1211"/>
                    <a:ext cx="169" cy="1469"/>
                  </a:xfrm>
                  <a:custGeom>
                    <a:avLst/>
                    <a:gdLst>
                      <a:gd name="T0" fmla="*/ 169 w 169"/>
                      <a:gd name="T1" fmla="*/ 1468 h 1469"/>
                      <a:gd name="T2" fmla="*/ 0 w 169"/>
                      <a:gd name="T3" fmla="*/ 1469 h 1469"/>
                      <a:gd name="T4" fmla="*/ 1 w 169"/>
                      <a:gd name="T5" fmla="*/ 0 h 1469"/>
                      <a:gd name="T6" fmla="*/ 105 w 169"/>
                      <a:gd name="T7" fmla="*/ 0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69"/>
                      <a:gd name="T13" fmla="*/ 0 h 1469"/>
                      <a:gd name="T14" fmla="*/ 169 w 169"/>
                      <a:gd name="T15" fmla="*/ 1469 h 146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69" h="1469">
                        <a:moveTo>
                          <a:pt x="169" y="1468"/>
                        </a:moveTo>
                        <a:lnTo>
                          <a:pt x="0" y="1469"/>
                        </a:lnTo>
                        <a:lnTo>
                          <a:pt x="1" y="0"/>
                        </a:lnTo>
                        <a:lnTo>
                          <a:pt x="105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68" name="Freeform 159"/>
                  <p:cNvSpPr/>
                  <p:nvPr/>
                </p:nvSpPr>
                <p:spPr bwMode="auto">
                  <a:xfrm>
                    <a:off x="1967" y="1211"/>
                    <a:ext cx="141" cy="1466"/>
                  </a:xfrm>
                  <a:custGeom>
                    <a:avLst/>
                    <a:gdLst>
                      <a:gd name="T0" fmla="*/ 38 w 141"/>
                      <a:gd name="T1" fmla="*/ 0 h 1466"/>
                      <a:gd name="T2" fmla="*/ 141 w 141"/>
                      <a:gd name="T3" fmla="*/ 0 h 1466"/>
                      <a:gd name="T4" fmla="*/ 140 w 141"/>
                      <a:gd name="T5" fmla="*/ 1466 h 1466"/>
                      <a:gd name="T6" fmla="*/ 0 w 141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1"/>
                      <a:gd name="T13" fmla="*/ 0 h 1466"/>
                      <a:gd name="T14" fmla="*/ 141 w 141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1" h="1466">
                        <a:moveTo>
                          <a:pt x="38" y="0"/>
                        </a:moveTo>
                        <a:lnTo>
                          <a:pt x="141" y="0"/>
                        </a:lnTo>
                        <a:lnTo>
                          <a:pt x="140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69" name="Freeform 160"/>
                  <p:cNvSpPr/>
                  <p:nvPr/>
                </p:nvSpPr>
                <p:spPr bwMode="auto">
                  <a:xfrm>
                    <a:off x="2208" y="1211"/>
                    <a:ext cx="155" cy="1467"/>
                  </a:xfrm>
                  <a:custGeom>
                    <a:avLst/>
                    <a:gdLst>
                      <a:gd name="T0" fmla="*/ 155 w 155"/>
                      <a:gd name="T1" fmla="*/ 1467 h 1467"/>
                      <a:gd name="T2" fmla="*/ 3 w 155"/>
                      <a:gd name="T3" fmla="*/ 1467 h 1467"/>
                      <a:gd name="T4" fmla="*/ 0 w 155"/>
                      <a:gd name="T5" fmla="*/ 1 h 1467"/>
                      <a:gd name="T6" fmla="*/ 89 w 155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5"/>
                      <a:gd name="T13" fmla="*/ 0 h 1467"/>
                      <a:gd name="T14" fmla="*/ 155 w 155"/>
                      <a:gd name="T15" fmla="*/ 1467 h 146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5" h="1467">
                        <a:moveTo>
                          <a:pt x="155" y="1467"/>
                        </a:moveTo>
                        <a:lnTo>
                          <a:pt x="3" y="1467"/>
                        </a:lnTo>
                        <a:lnTo>
                          <a:pt x="0" y="1"/>
                        </a:lnTo>
                        <a:lnTo>
                          <a:pt x="89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70" name="Freeform 161"/>
                  <p:cNvSpPr/>
                  <p:nvPr/>
                </p:nvSpPr>
                <p:spPr bwMode="auto">
                  <a:xfrm>
                    <a:off x="2557" y="1211"/>
                    <a:ext cx="142" cy="1466"/>
                  </a:xfrm>
                  <a:custGeom>
                    <a:avLst/>
                    <a:gdLst>
                      <a:gd name="T0" fmla="*/ 34 w 142"/>
                      <a:gd name="T1" fmla="*/ 0 h 1466"/>
                      <a:gd name="T2" fmla="*/ 142 w 142"/>
                      <a:gd name="T3" fmla="*/ 0 h 1466"/>
                      <a:gd name="T4" fmla="*/ 141 w 142"/>
                      <a:gd name="T5" fmla="*/ 1466 h 1466"/>
                      <a:gd name="T6" fmla="*/ 0 w 142"/>
                      <a:gd name="T7" fmla="*/ 1464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2"/>
                      <a:gd name="T13" fmla="*/ 0 h 1466"/>
                      <a:gd name="T14" fmla="*/ 142 w 142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2" h="1466">
                        <a:moveTo>
                          <a:pt x="34" y="0"/>
                        </a:moveTo>
                        <a:lnTo>
                          <a:pt x="142" y="0"/>
                        </a:lnTo>
                        <a:lnTo>
                          <a:pt x="141" y="1466"/>
                        </a:lnTo>
                        <a:lnTo>
                          <a:pt x="0" y="1464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71" name="Freeform 162"/>
                  <p:cNvSpPr/>
                  <p:nvPr/>
                </p:nvSpPr>
                <p:spPr bwMode="auto">
                  <a:xfrm>
                    <a:off x="2787" y="1211"/>
                    <a:ext cx="152" cy="1467"/>
                  </a:xfrm>
                  <a:custGeom>
                    <a:avLst/>
                    <a:gdLst>
                      <a:gd name="T0" fmla="*/ 152 w 152"/>
                      <a:gd name="T1" fmla="*/ 1467 h 1467"/>
                      <a:gd name="T2" fmla="*/ 0 w 152"/>
                      <a:gd name="T3" fmla="*/ 1467 h 1467"/>
                      <a:gd name="T4" fmla="*/ 0 w 152"/>
                      <a:gd name="T5" fmla="*/ 1 h 1467"/>
                      <a:gd name="T6" fmla="*/ 77 w 152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2"/>
                      <a:gd name="T13" fmla="*/ 0 h 1467"/>
                      <a:gd name="T14" fmla="*/ 152 w 152"/>
                      <a:gd name="T15" fmla="*/ 1467 h 146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2" h="1467">
                        <a:moveTo>
                          <a:pt x="152" y="1467"/>
                        </a:moveTo>
                        <a:lnTo>
                          <a:pt x="0" y="1467"/>
                        </a:lnTo>
                        <a:lnTo>
                          <a:pt x="0" y="1"/>
                        </a:lnTo>
                        <a:lnTo>
                          <a:pt x="77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72" name="Freeform 163"/>
                  <p:cNvSpPr/>
                  <p:nvPr/>
                </p:nvSpPr>
                <p:spPr bwMode="auto">
                  <a:xfrm>
                    <a:off x="3130" y="1211"/>
                    <a:ext cx="145" cy="1466"/>
                  </a:xfrm>
                  <a:custGeom>
                    <a:avLst/>
                    <a:gdLst>
                      <a:gd name="T0" fmla="*/ 37 w 145"/>
                      <a:gd name="T1" fmla="*/ 0 h 1466"/>
                      <a:gd name="T2" fmla="*/ 145 w 145"/>
                      <a:gd name="T3" fmla="*/ 0 h 1466"/>
                      <a:gd name="T4" fmla="*/ 144 w 145"/>
                      <a:gd name="T5" fmla="*/ 1466 h 1466"/>
                      <a:gd name="T6" fmla="*/ 0 w 145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5"/>
                      <a:gd name="T13" fmla="*/ 0 h 1466"/>
                      <a:gd name="T14" fmla="*/ 145 w 145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5" h="1466">
                        <a:moveTo>
                          <a:pt x="37" y="0"/>
                        </a:moveTo>
                        <a:lnTo>
                          <a:pt x="145" y="0"/>
                        </a:lnTo>
                        <a:lnTo>
                          <a:pt x="144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73" name="Freeform 164"/>
                  <p:cNvSpPr/>
                  <p:nvPr/>
                </p:nvSpPr>
                <p:spPr bwMode="auto">
                  <a:xfrm>
                    <a:off x="3360" y="1209"/>
                    <a:ext cx="155" cy="1469"/>
                  </a:xfrm>
                  <a:custGeom>
                    <a:avLst/>
                    <a:gdLst>
                      <a:gd name="T0" fmla="*/ 155 w 155"/>
                      <a:gd name="T1" fmla="*/ 1469 h 1469"/>
                      <a:gd name="T2" fmla="*/ 3 w 155"/>
                      <a:gd name="T3" fmla="*/ 1469 h 1469"/>
                      <a:gd name="T4" fmla="*/ 0 w 155"/>
                      <a:gd name="T5" fmla="*/ 0 h 1469"/>
                      <a:gd name="T6" fmla="*/ 103 w 155"/>
                      <a:gd name="T7" fmla="*/ 2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5"/>
                      <a:gd name="T13" fmla="*/ 0 h 1469"/>
                      <a:gd name="T14" fmla="*/ 155 w 155"/>
                      <a:gd name="T15" fmla="*/ 1469 h 146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5" h="1469">
                        <a:moveTo>
                          <a:pt x="155" y="1469"/>
                        </a:moveTo>
                        <a:lnTo>
                          <a:pt x="3" y="1469"/>
                        </a:lnTo>
                        <a:lnTo>
                          <a:pt x="0" y="0"/>
                        </a:lnTo>
                        <a:lnTo>
                          <a:pt x="103" y="2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74" name="Freeform 165"/>
                  <p:cNvSpPr/>
                  <p:nvPr/>
                </p:nvSpPr>
                <p:spPr bwMode="auto">
                  <a:xfrm>
                    <a:off x="3710" y="1211"/>
                    <a:ext cx="141" cy="1466"/>
                  </a:xfrm>
                  <a:custGeom>
                    <a:avLst/>
                    <a:gdLst>
                      <a:gd name="T0" fmla="*/ 42 w 141"/>
                      <a:gd name="T1" fmla="*/ 0 h 1466"/>
                      <a:gd name="T2" fmla="*/ 141 w 141"/>
                      <a:gd name="T3" fmla="*/ 0 h 1466"/>
                      <a:gd name="T4" fmla="*/ 140 w 141"/>
                      <a:gd name="T5" fmla="*/ 1466 h 1466"/>
                      <a:gd name="T6" fmla="*/ 0 w 141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1"/>
                      <a:gd name="T13" fmla="*/ 0 h 1466"/>
                      <a:gd name="T14" fmla="*/ 141 w 141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1" h="1466">
                        <a:moveTo>
                          <a:pt x="42" y="0"/>
                        </a:moveTo>
                        <a:lnTo>
                          <a:pt x="141" y="0"/>
                        </a:lnTo>
                        <a:lnTo>
                          <a:pt x="140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75" name="Freeform 166"/>
                  <p:cNvSpPr/>
                  <p:nvPr/>
                </p:nvSpPr>
                <p:spPr bwMode="auto">
                  <a:xfrm>
                    <a:off x="3939" y="1211"/>
                    <a:ext cx="152" cy="1467"/>
                  </a:xfrm>
                  <a:custGeom>
                    <a:avLst/>
                    <a:gdLst>
                      <a:gd name="T0" fmla="*/ 152 w 152"/>
                      <a:gd name="T1" fmla="*/ 1467 h 1467"/>
                      <a:gd name="T2" fmla="*/ 0 w 152"/>
                      <a:gd name="T3" fmla="*/ 1467 h 1467"/>
                      <a:gd name="T4" fmla="*/ 0 w 152"/>
                      <a:gd name="T5" fmla="*/ 1 h 1467"/>
                      <a:gd name="T6" fmla="*/ 103 w 152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2"/>
                      <a:gd name="T13" fmla="*/ 0 h 1467"/>
                      <a:gd name="T14" fmla="*/ 152 w 152"/>
                      <a:gd name="T15" fmla="*/ 1467 h 146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2" h="1467">
                        <a:moveTo>
                          <a:pt x="152" y="1467"/>
                        </a:moveTo>
                        <a:lnTo>
                          <a:pt x="0" y="1467"/>
                        </a:lnTo>
                        <a:lnTo>
                          <a:pt x="0" y="1"/>
                        </a:lnTo>
                        <a:lnTo>
                          <a:pt x="103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76" name="Freeform 167"/>
                  <p:cNvSpPr/>
                  <p:nvPr/>
                </p:nvSpPr>
                <p:spPr bwMode="auto">
                  <a:xfrm>
                    <a:off x="4280" y="1211"/>
                    <a:ext cx="147" cy="1466"/>
                  </a:xfrm>
                  <a:custGeom>
                    <a:avLst/>
                    <a:gdLst>
                      <a:gd name="T0" fmla="*/ 51 w 147"/>
                      <a:gd name="T1" fmla="*/ 0 h 1466"/>
                      <a:gd name="T2" fmla="*/ 147 w 147"/>
                      <a:gd name="T3" fmla="*/ 0 h 1466"/>
                      <a:gd name="T4" fmla="*/ 146 w 147"/>
                      <a:gd name="T5" fmla="*/ 1466 h 1466"/>
                      <a:gd name="T6" fmla="*/ 0 w 147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7"/>
                      <a:gd name="T13" fmla="*/ 0 h 1466"/>
                      <a:gd name="T14" fmla="*/ 147 w 147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7" h="1466">
                        <a:moveTo>
                          <a:pt x="51" y="0"/>
                        </a:moveTo>
                        <a:lnTo>
                          <a:pt x="147" y="0"/>
                        </a:lnTo>
                        <a:lnTo>
                          <a:pt x="146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77" name="Freeform 168"/>
                  <p:cNvSpPr/>
                  <p:nvPr/>
                </p:nvSpPr>
                <p:spPr bwMode="auto">
                  <a:xfrm>
                    <a:off x="4509" y="1211"/>
                    <a:ext cx="158" cy="1467"/>
                  </a:xfrm>
                  <a:custGeom>
                    <a:avLst/>
                    <a:gdLst>
                      <a:gd name="T0" fmla="*/ 158 w 158"/>
                      <a:gd name="T1" fmla="*/ 1467 h 1467"/>
                      <a:gd name="T2" fmla="*/ 0 w 158"/>
                      <a:gd name="T3" fmla="*/ 1467 h 1467"/>
                      <a:gd name="T4" fmla="*/ 0 w 158"/>
                      <a:gd name="T5" fmla="*/ 0 h 1467"/>
                      <a:gd name="T6" fmla="*/ 95 w 158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8"/>
                      <a:gd name="T13" fmla="*/ 0 h 1467"/>
                      <a:gd name="T14" fmla="*/ 158 w 158"/>
                      <a:gd name="T15" fmla="*/ 1467 h 146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8" h="1467">
                        <a:moveTo>
                          <a:pt x="158" y="1467"/>
                        </a:moveTo>
                        <a:lnTo>
                          <a:pt x="0" y="1467"/>
                        </a:lnTo>
                        <a:lnTo>
                          <a:pt x="0" y="0"/>
                        </a:lnTo>
                        <a:lnTo>
                          <a:pt x="95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78" name="Freeform 169"/>
                  <p:cNvSpPr/>
                  <p:nvPr/>
                </p:nvSpPr>
                <p:spPr bwMode="auto">
                  <a:xfrm>
                    <a:off x="4861" y="1211"/>
                    <a:ext cx="142" cy="1466"/>
                  </a:xfrm>
                  <a:custGeom>
                    <a:avLst/>
                    <a:gdLst>
                      <a:gd name="T0" fmla="*/ 34 w 142"/>
                      <a:gd name="T1" fmla="*/ 0 h 1466"/>
                      <a:gd name="T2" fmla="*/ 142 w 142"/>
                      <a:gd name="T3" fmla="*/ 0 h 1466"/>
                      <a:gd name="T4" fmla="*/ 141 w 142"/>
                      <a:gd name="T5" fmla="*/ 1466 h 1466"/>
                      <a:gd name="T6" fmla="*/ 0 w 142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2"/>
                      <a:gd name="T13" fmla="*/ 0 h 1466"/>
                      <a:gd name="T14" fmla="*/ 142 w 142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2" h="1466">
                        <a:moveTo>
                          <a:pt x="34" y="0"/>
                        </a:moveTo>
                        <a:lnTo>
                          <a:pt x="142" y="0"/>
                        </a:lnTo>
                        <a:lnTo>
                          <a:pt x="141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79" name="Freeform 170"/>
                  <p:cNvSpPr/>
                  <p:nvPr/>
                </p:nvSpPr>
                <p:spPr bwMode="auto">
                  <a:xfrm>
                    <a:off x="5069" y="1211"/>
                    <a:ext cx="159" cy="1469"/>
                  </a:xfrm>
                  <a:custGeom>
                    <a:avLst/>
                    <a:gdLst>
                      <a:gd name="T0" fmla="*/ 159 w 159"/>
                      <a:gd name="T1" fmla="*/ 1467 h 1469"/>
                      <a:gd name="T2" fmla="*/ 0 w 159"/>
                      <a:gd name="T3" fmla="*/ 1469 h 1469"/>
                      <a:gd name="T4" fmla="*/ 1 w 159"/>
                      <a:gd name="T5" fmla="*/ 0 h 1469"/>
                      <a:gd name="T6" fmla="*/ 104 w 159"/>
                      <a:gd name="T7" fmla="*/ 0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9"/>
                      <a:gd name="T13" fmla="*/ 0 h 1469"/>
                      <a:gd name="T14" fmla="*/ 159 w 159"/>
                      <a:gd name="T15" fmla="*/ 1469 h 146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9" h="1469">
                        <a:moveTo>
                          <a:pt x="159" y="1467"/>
                        </a:moveTo>
                        <a:lnTo>
                          <a:pt x="0" y="1469"/>
                        </a:lnTo>
                        <a:lnTo>
                          <a:pt x="1" y="0"/>
                        </a:lnTo>
                        <a:lnTo>
                          <a:pt x="104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80" name="Freeform 171"/>
                  <p:cNvSpPr/>
                  <p:nvPr/>
                </p:nvSpPr>
                <p:spPr bwMode="auto">
                  <a:xfrm>
                    <a:off x="5417" y="1211"/>
                    <a:ext cx="147" cy="1466"/>
                  </a:xfrm>
                  <a:custGeom>
                    <a:avLst/>
                    <a:gdLst>
                      <a:gd name="T0" fmla="*/ 47 w 147"/>
                      <a:gd name="T1" fmla="*/ 0 h 1466"/>
                      <a:gd name="T2" fmla="*/ 147 w 147"/>
                      <a:gd name="T3" fmla="*/ 0 h 1466"/>
                      <a:gd name="T4" fmla="*/ 146 w 147"/>
                      <a:gd name="T5" fmla="*/ 1466 h 1466"/>
                      <a:gd name="T6" fmla="*/ 0 w 147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7"/>
                      <a:gd name="T13" fmla="*/ 0 h 1466"/>
                      <a:gd name="T14" fmla="*/ 147 w 147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7" h="1466">
                        <a:moveTo>
                          <a:pt x="47" y="0"/>
                        </a:moveTo>
                        <a:lnTo>
                          <a:pt x="147" y="0"/>
                        </a:lnTo>
                        <a:lnTo>
                          <a:pt x="146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81" name="Freeform 172"/>
                  <p:cNvSpPr/>
                  <p:nvPr/>
                </p:nvSpPr>
                <p:spPr bwMode="auto">
                  <a:xfrm>
                    <a:off x="1055" y="2738"/>
                    <a:ext cx="730" cy="660"/>
                  </a:xfrm>
                  <a:custGeom>
                    <a:avLst/>
                    <a:gdLst>
                      <a:gd name="T0" fmla="*/ 160 w 730"/>
                      <a:gd name="T1" fmla="*/ 4 h 660"/>
                      <a:gd name="T2" fmla="*/ 0 w 730"/>
                      <a:gd name="T3" fmla="*/ 3 h 660"/>
                      <a:gd name="T4" fmla="*/ 0 w 730"/>
                      <a:gd name="T5" fmla="*/ 660 h 660"/>
                      <a:gd name="T6" fmla="*/ 558 w 730"/>
                      <a:gd name="T7" fmla="*/ 657 h 660"/>
                      <a:gd name="T8" fmla="*/ 558 w 730"/>
                      <a:gd name="T9" fmla="*/ 0 h 660"/>
                      <a:gd name="T10" fmla="*/ 730 w 730"/>
                      <a:gd name="T11" fmla="*/ 1 h 660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30"/>
                      <a:gd name="T19" fmla="*/ 0 h 660"/>
                      <a:gd name="T20" fmla="*/ 730 w 730"/>
                      <a:gd name="T21" fmla="*/ 660 h 660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30" h="660">
                        <a:moveTo>
                          <a:pt x="160" y="4"/>
                        </a:moveTo>
                        <a:lnTo>
                          <a:pt x="0" y="3"/>
                        </a:lnTo>
                        <a:lnTo>
                          <a:pt x="0" y="660"/>
                        </a:lnTo>
                        <a:lnTo>
                          <a:pt x="558" y="657"/>
                        </a:lnTo>
                        <a:lnTo>
                          <a:pt x="558" y="0"/>
                        </a:lnTo>
                        <a:lnTo>
                          <a:pt x="730" y="1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82" name="Freeform 173"/>
                  <p:cNvSpPr/>
                  <p:nvPr/>
                </p:nvSpPr>
                <p:spPr bwMode="auto">
                  <a:xfrm>
                    <a:off x="2207" y="2744"/>
                    <a:ext cx="729" cy="658"/>
                  </a:xfrm>
                  <a:custGeom>
                    <a:avLst/>
                    <a:gdLst>
                      <a:gd name="T0" fmla="*/ 153 w 729"/>
                      <a:gd name="T1" fmla="*/ 0 h 658"/>
                      <a:gd name="T2" fmla="*/ 0 w 729"/>
                      <a:gd name="T3" fmla="*/ 0 h 658"/>
                      <a:gd name="T4" fmla="*/ 0 w 729"/>
                      <a:gd name="T5" fmla="*/ 657 h 658"/>
                      <a:gd name="T6" fmla="*/ 583 w 729"/>
                      <a:gd name="T7" fmla="*/ 658 h 658"/>
                      <a:gd name="T8" fmla="*/ 582 w 729"/>
                      <a:gd name="T9" fmla="*/ 3 h 658"/>
                      <a:gd name="T10" fmla="*/ 729 w 729"/>
                      <a:gd name="T11" fmla="*/ 3 h 65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29"/>
                      <a:gd name="T19" fmla="*/ 0 h 658"/>
                      <a:gd name="T20" fmla="*/ 729 w 729"/>
                      <a:gd name="T21" fmla="*/ 658 h 65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29" h="658">
                        <a:moveTo>
                          <a:pt x="153" y="0"/>
                        </a:moveTo>
                        <a:lnTo>
                          <a:pt x="0" y="0"/>
                        </a:lnTo>
                        <a:lnTo>
                          <a:pt x="0" y="657"/>
                        </a:lnTo>
                        <a:lnTo>
                          <a:pt x="583" y="658"/>
                        </a:lnTo>
                        <a:lnTo>
                          <a:pt x="582" y="3"/>
                        </a:lnTo>
                        <a:lnTo>
                          <a:pt x="729" y="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83" name="Freeform 174"/>
                  <p:cNvSpPr/>
                  <p:nvPr/>
                </p:nvSpPr>
                <p:spPr bwMode="auto">
                  <a:xfrm>
                    <a:off x="3356" y="2744"/>
                    <a:ext cx="729" cy="657"/>
                  </a:xfrm>
                  <a:custGeom>
                    <a:avLst/>
                    <a:gdLst>
                      <a:gd name="T0" fmla="*/ 158 w 729"/>
                      <a:gd name="T1" fmla="*/ 0 h 657"/>
                      <a:gd name="T2" fmla="*/ 0 w 729"/>
                      <a:gd name="T3" fmla="*/ 0 h 657"/>
                      <a:gd name="T4" fmla="*/ 0 w 729"/>
                      <a:gd name="T5" fmla="*/ 657 h 657"/>
                      <a:gd name="T6" fmla="*/ 579 w 729"/>
                      <a:gd name="T7" fmla="*/ 654 h 657"/>
                      <a:gd name="T8" fmla="*/ 582 w 729"/>
                      <a:gd name="T9" fmla="*/ 3 h 657"/>
                      <a:gd name="T10" fmla="*/ 729 w 729"/>
                      <a:gd name="T11" fmla="*/ 3 h 65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29"/>
                      <a:gd name="T19" fmla="*/ 0 h 657"/>
                      <a:gd name="T20" fmla="*/ 729 w 729"/>
                      <a:gd name="T21" fmla="*/ 657 h 65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29" h="657">
                        <a:moveTo>
                          <a:pt x="158" y="0"/>
                        </a:moveTo>
                        <a:lnTo>
                          <a:pt x="0" y="0"/>
                        </a:lnTo>
                        <a:lnTo>
                          <a:pt x="0" y="657"/>
                        </a:lnTo>
                        <a:lnTo>
                          <a:pt x="579" y="654"/>
                        </a:lnTo>
                        <a:lnTo>
                          <a:pt x="582" y="3"/>
                        </a:lnTo>
                        <a:lnTo>
                          <a:pt x="729" y="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84" name="Freeform 175"/>
                  <p:cNvSpPr/>
                  <p:nvPr/>
                </p:nvSpPr>
                <p:spPr bwMode="auto">
                  <a:xfrm>
                    <a:off x="4508" y="2744"/>
                    <a:ext cx="729" cy="657"/>
                  </a:xfrm>
                  <a:custGeom>
                    <a:avLst/>
                    <a:gdLst>
                      <a:gd name="T0" fmla="*/ 161 w 729"/>
                      <a:gd name="T1" fmla="*/ 2 h 657"/>
                      <a:gd name="T2" fmla="*/ 0 w 729"/>
                      <a:gd name="T3" fmla="*/ 0 h 657"/>
                      <a:gd name="T4" fmla="*/ 0 w 729"/>
                      <a:gd name="T5" fmla="*/ 657 h 657"/>
                      <a:gd name="T6" fmla="*/ 579 w 729"/>
                      <a:gd name="T7" fmla="*/ 654 h 657"/>
                      <a:gd name="T8" fmla="*/ 582 w 729"/>
                      <a:gd name="T9" fmla="*/ 3 h 657"/>
                      <a:gd name="T10" fmla="*/ 729 w 729"/>
                      <a:gd name="T11" fmla="*/ 3 h 65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29"/>
                      <a:gd name="T19" fmla="*/ 0 h 657"/>
                      <a:gd name="T20" fmla="*/ 729 w 729"/>
                      <a:gd name="T21" fmla="*/ 657 h 65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29" h="657">
                        <a:moveTo>
                          <a:pt x="161" y="2"/>
                        </a:moveTo>
                        <a:lnTo>
                          <a:pt x="0" y="0"/>
                        </a:lnTo>
                        <a:lnTo>
                          <a:pt x="0" y="657"/>
                        </a:lnTo>
                        <a:lnTo>
                          <a:pt x="579" y="654"/>
                        </a:lnTo>
                        <a:lnTo>
                          <a:pt x="582" y="3"/>
                        </a:lnTo>
                        <a:lnTo>
                          <a:pt x="729" y="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85" name="Freeform 176"/>
                  <p:cNvSpPr/>
                  <p:nvPr/>
                </p:nvSpPr>
                <p:spPr bwMode="auto">
                  <a:xfrm>
                    <a:off x="1400" y="2735"/>
                    <a:ext cx="708" cy="571"/>
                  </a:xfrm>
                  <a:custGeom>
                    <a:avLst/>
                    <a:gdLst>
                      <a:gd name="T0" fmla="*/ 0 w 708"/>
                      <a:gd name="T1" fmla="*/ 0 h 571"/>
                      <a:gd name="T2" fmla="*/ 132 w 708"/>
                      <a:gd name="T3" fmla="*/ 0 h 571"/>
                      <a:gd name="T4" fmla="*/ 133 w 708"/>
                      <a:gd name="T5" fmla="*/ 571 h 571"/>
                      <a:gd name="T6" fmla="*/ 708 w 708"/>
                      <a:gd name="T7" fmla="*/ 570 h 571"/>
                      <a:gd name="T8" fmla="*/ 708 w 708"/>
                      <a:gd name="T9" fmla="*/ 9 h 571"/>
                      <a:gd name="T10" fmla="*/ 573 w 708"/>
                      <a:gd name="T11" fmla="*/ 9 h 571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08"/>
                      <a:gd name="T19" fmla="*/ 0 h 571"/>
                      <a:gd name="T20" fmla="*/ 708 w 708"/>
                      <a:gd name="T21" fmla="*/ 571 h 571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08" h="571">
                        <a:moveTo>
                          <a:pt x="0" y="0"/>
                        </a:moveTo>
                        <a:lnTo>
                          <a:pt x="132" y="0"/>
                        </a:lnTo>
                        <a:lnTo>
                          <a:pt x="133" y="571"/>
                        </a:lnTo>
                        <a:lnTo>
                          <a:pt x="708" y="570"/>
                        </a:lnTo>
                        <a:lnTo>
                          <a:pt x="708" y="9"/>
                        </a:lnTo>
                        <a:lnTo>
                          <a:pt x="573" y="9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86" name="Freeform 177"/>
                  <p:cNvSpPr/>
                  <p:nvPr/>
                </p:nvSpPr>
                <p:spPr bwMode="auto">
                  <a:xfrm>
                    <a:off x="2552" y="2735"/>
                    <a:ext cx="726" cy="567"/>
                  </a:xfrm>
                  <a:custGeom>
                    <a:avLst/>
                    <a:gdLst>
                      <a:gd name="T0" fmla="*/ 0 w 726"/>
                      <a:gd name="T1" fmla="*/ 0 h 567"/>
                      <a:gd name="T2" fmla="*/ 148 w 726"/>
                      <a:gd name="T3" fmla="*/ 1 h 567"/>
                      <a:gd name="T4" fmla="*/ 147 w 726"/>
                      <a:gd name="T5" fmla="*/ 567 h 567"/>
                      <a:gd name="T6" fmla="*/ 726 w 726"/>
                      <a:gd name="T7" fmla="*/ 567 h 567"/>
                      <a:gd name="T8" fmla="*/ 726 w 726"/>
                      <a:gd name="T9" fmla="*/ 6 h 567"/>
                      <a:gd name="T10" fmla="*/ 579 w 726"/>
                      <a:gd name="T11" fmla="*/ 6 h 56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26"/>
                      <a:gd name="T19" fmla="*/ 0 h 567"/>
                      <a:gd name="T20" fmla="*/ 726 w 726"/>
                      <a:gd name="T21" fmla="*/ 567 h 56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26" h="567">
                        <a:moveTo>
                          <a:pt x="0" y="0"/>
                        </a:moveTo>
                        <a:lnTo>
                          <a:pt x="148" y="1"/>
                        </a:lnTo>
                        <a:lnTo>
                          <a:pt x="147" y="567"/>
                        </a:lnTo>
                        <a:lnTo>
                          <a:pt x="726" y="567"/>
                        </a:lnTo>
                        <a:lnTo>
                          <a:pt x="726" y="6"/>
                        </a:lnTo>
                        <a:lnTo>
                          <a:pt x="579" y="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87" name="Freeform 178"/>
                  <p:cNvSpPr/>
                  <p:nvPr/>
                </p:nvSpPr>
                <p:spPr bwMode="auto">
                  <a:xfrm>
                    <a:off x="3704" y="2738"/>
                    <a:ext cx="714" cy="567"/>
                  </a:xfrm>
                  <a:custGeom>
                    <a:avLst/>
                    <a:gdLst>
                      <a:gd name="T0" fmla="*/ 0 w 714"/>
                      <a:gd name="T1" fmla="*/ 0 h 567"/>
                      <a:gd name="T2" fmla="*/ 136 w 714"/>
                      <a:gd name="T3" fmla="*/ 1 h 567"/>
                      <a:gd name="T4" fmla="*/ 135 w 714"/>
                      <a:gd name="T5" fmla="*/ 567 h 567"/>
                      <a:gd name="T6" fmla="*/ 714 w 714"/>
                      <a:gd name="T7" fmla="*/ 567 h 567"/>
                      <a:gd name="T8" fmla="*/ 714 w 714"/>
                      <a:gd name="T9" fmla="*/ 6 h 567"/>
                      <a:gd name="T10" fmla="*/ 576 w 714"/>
                      <a:gd name="T11" fmla="*/ 5 h 56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14"/>
                      <a:gd name="T19" fmla="*/ 0 h 567"/>
                      <a:gd name="T20" fmla="*/ 714 w 714"/>
                      <a:gd name="T21" fmla="*/ 567 h 56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14" h="567">
                        <a:moveTo>
                          <a:pt x="0" y="0"/>
                        </a:moveTo>
                        <a:lnTo>
                          <a:pt x="136" y="1"/>
                        </a:lnTo>
                        <a:lnTo>
                          <a:pt x="135" y="567"/>
                        </a:lnTo>
                        <a:lnTo>
                          <a:pt x="714" y="567"/>
                        </a:lnTo>
                        <a:lnTo>
                          <a:pt x="714" y="6"/>
                        </a:lnTo>
                        <a:lnTo>
                          <a:pt x="576" y="5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88" name="Freeform 179"/>
                  <p:cNvSpPr/>
                  <p:nvPr/>
                </p:nvSpPr>
                <p:spPr bwMode="auto">
                  <a:xfrm>
                    <a:off x="4859" y="2738"/>
                    <a:ext cx="711" cy="567"/>
                  </a:xfrm>
                  <a:custGeom>
                    <a:avLst/>
                    <a:gdLst>
                      <a:gd name="T0" fmla="*/ 0 w 711"/>
                      <a:gd name="T1" fmla="*/ 0 h 567"/>
                      <a:gd name="T2" fmla="*/ 130 w 711"/>
                      <a:gd name="T3" fmla="*/ 1 h 567"/>
                      <a:gd name="T4" fmla="*/ 132 w 711"/>
                      <a:gd name="T5" fmla="*/ 567 h 567"/>
                      <a:gd name="T6" fmla="*/ 711 w 711"/>
                      <a:gd name="T7" fmla="*/ 567 h 567"/>
                      <a:gd name="T8" fmla="*/ 711 w 711"/>
                      <a:gd name="T9" fmla="*/ 6 h 567"/>
                      <a:gd name="T10" fmla="*/ 564 w 711"/>
                      <a:gd name="T11" fmla="*/ 6 h 56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11"/>
                      <a:gd name="T19" fmla="*/ 0 h 567"/>
                      <a:gd name="T20" fmla="*/ 711 w 711"/>
                      <a:gd name="T21" fmla="*/ 567 h 56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11" h="567">
                        <a:moveTo>
                          <a:pt x="0" y="0"/>
                        </a:moveTo>
                        <a:lnTo>
                          <a:pt x="130" y="1"/>
                        </a:lnTo>
                        <a:lnTo>
                          <a:pt x="132" y="567"/>
                        </a:lnTo>
                        <a:lnTo>
                          <a:pt x="711" y="567"/>
                        </a:lnTo>
                        <a:lnTo>
                          <a:pt x="711" y="6"/>
                        </a:lnTo>
                        <a:lnTo>
                          <a:pt x="564" y="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89" name="Freeform 180"/>
                  <p:cNvSpPr/>
                  <p:nvPr/>
                </p:nvSpPr>
                <p:spPr bwMode="auto">
                  <a:xfrm>
                    <a:off x="1322" y="3398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  <a:gd name="T6" fmla="*/ 0 w 1"/>
                      <a:gd name="T7" fmla="*/ 0 h 150"/>
                      <a:gd name="T8" fmla="*/ 1 w 1"/>
                      <a:gd name="T9" fmla="*/ 150 h 150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90" name="Freeform 181"/>
                  <p:cNvSpPr/>
                  <p:nvPr/>
                </p:nvSpPr>
                <p:spPr bwMode="auto">
                  <a:xfrm>
                    <a:off x="2491" y="3401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  <a:gd name="T6" fmla="*/ 0 w 1"/>
                      <a:gd name="T7" fmla="*/ 0 h 150"/>
                      <a:gd name="T8" fmla="*/ 1 w 1"/>
                      <a:gd name="T9" fmla="*/ 150 h 150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91" name="Freeform 182"/>
                  <p:cNvSpPr/>
                  <p:nvPr/>
                </p:nvSpPr>
                <p:spPr bwMode="auto">
                  <a:xfrm>
                    <a:off x="3643" y="3401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  <a:gd name="T6" fmla="*/ 0 w 1"/>
                      <a:gd name="T7" fmla="*/ 0 h 150"/>
                      <a:gd name="T8" fmla="*/ 1 w 1"/>
                      <a:gd name="T9" fmla="*/ 150 h 150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92" name="Freeform 183"/>
                  <p:cNvSpPr/>
                  <p:nvPr/>
                </p:nvSpPr>
                <p:spPr bwMode="auto">
                  <a:xfrm>
                    <a:off x="4795" y="3401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  <a:gd name="T6" fmla="*/ 0 w 1"/>
                      <a:gd name="T7" fmla="*/ 0 h 150"/>
                      <a:gd name="T8" fmla="*/ 1 w 1"/>
                      <a:gd name="T9" fmla="*/ 150 h 150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93" name="Freeform 184"/>
                  <p:cNvSpPr/>
                  <p:nvPr/>
                </p:nvSpPr>
                <p:spPr bwMode="auto">
                  <a:xfrm>
                    <a:off x="5276" y="3305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  <a:gd name="T6" fmla="*/ 0 w 1"/>
                      <a:gd name="T7" fmla="*/ 0 h 246"/>
                      <a:gd name="T8" fmla="*/ 1 w 1"/>
                      <a:gd name="T9" fmla="*/ 246 h 24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94" name="Freeform 185"/>
                  <p:cNvSpPr/>
                  <p:nvPr/>
                </p:nvSpPr>
                <p:spPr bwMode="auto">
                  <a:xfrm>
                    <a:off x="4124" y="3305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  <a:gd name="T6" fmla="*/ 0 w 1"/>
                      <a:gd name="T7" fmla="*/ 0 h 246"/>
                      <a:gd name="T8" fmla="*/ 1 w 1"/>
                      <a:gd name="T9" fmla="*/ 246 h 24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95" name="Freeform 186"/>
                  <p:cNvSpPr/>
                  <p:nvPr/>
                </p:nvSpPr>
                <p:spPr bwMode="auto">
                  <a:xfrm>
                    <a:off x="2972" y="3305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  <a:gd name="T6" fmla="*/ 0 w 1"/>
                      <a:gd name="T7" fmla="*/ 0 h 246"/>
                      <a:gd name="T8" fmla="*/ 1 w 1"/>
                      <a:gd name="T9" fmla="*/ 246 h 24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96" name="Freeform 187"/>
                  <p:cNvSpPr/>
                  <p:nvPr/>
                </p:nvSpPr>
                <p:spPr bwMode="auto">
                  <a:xfrm>
                    <a:off x="1819" y="3305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  <a:gd name="T6" fmla="*/ 0 w 1"/>
                      <a:gd name="T7" fmla="*/ 0 h 246"/>
                      <a:gd name="T8" fmla="*/ 1 w 1"/>
                      <a:gd name="T9" fmla="*/ 246 h 24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97" name="Freeform 188"/>
                  <p:cNvSpPr/>
                  <p:nvPr/>
                </p:nvSpPr>
                <p:spPr bwMode="auto">
                  <a:xfrm>
                    <a:off x="956" y="4025"/>
                    <a:ext cx="4317" cy="1"/>
                  </a:xfrm>
                  <a:custGeom>
                    <a:avLst/>
                    <a:gdLst>
                      <a:gd name="T0" fmla="*/ 0 w 4317"/>
                      <a:gd name="T1" fmla="*/ 0 h 1"/>
                      <a:gd name="T2" fmla="*/ 4317 w 4317"/>
                      <a:gd name="T3" fmla="*/ 0 h 1"/>
                      <a:gd name="T4" fmla="*/ 0 60000 65536"/>
                      <a:gd name="T5" fmla="*/ 0 60000 65536"/>
                      <a:gd name="T6" fmla="*/ 0 w 4317"/>
                      <a:gd name="T7" fmla="*/ 0 h 1"/>
                      <a:gd name="T8" fmla="*/ 4317 w 4317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317" h="1">
                        <a:moveTo>
                          <a:pt x="0" y="0"/>
                        </a:moveTo>
                        <a:lnTo>
                          <a:pt x="4317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98" name="Freeform 189"/>
                  <p:cNvSpPr/>
                  <p:nvPr/>
                </p:nvSpPr>
                <p:spPr bwMode="auto">
                  <a:xfrm>
                    <a:off x="956" y="4121"/>
                    <a:ext cx="3837" cy="1"/>
                  </a:xfrm>
                  <a:custGeom>
                    <a:avLst/>
                    <a:gdLst>
                      <a:gd name="T0" fmla="*/ 0 w 3837"/>
                      <a:gd name="T1" fmla="*/ 0 h 1"/>
                      <a:gd name="T2" fmla="*/ 3837 w 3837"/>
                      <a:gd name="T3" fmla="*/ 0 h 1"/>
                      <a:gd name="T4" fmla="*/ 0 60000 65536"/>
                      <a:gd name="T5" fmla="*/ 0 60000 65536"/>
                      <a:gd name="T6" fmla="*/ 0 w 3837"/>
                      <a:gd name="T7" fmla="*/ 0 h 1"/>
                      <a:gd name="T8" fmla="*/ 3837 w 3837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3837" h="1">
                        <a:moveTo>
                          <a:pt x="0" y="0"/>
                        </a:moveTo>
                        <a:lnTo>
                          <a:pt x="3837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599" name="Freeform 190"/>
                  <p:cNvSpPr/>
                  <p:nvPr/>
                </p:nvSpPr>
                <p:spPr bwMode="auto">
                  <a:xfrm>
                    <a:off x="1322" y="3881"/>
                    <a:ext cx="1" cy="243"/>
                  </a:xfrm>
                  <a:custGeom>
                    <a:avLst/>
                    <a:gdLst>
                      <a:gd name="T0" fmla="*/ 0 w 1"/>
                      <a:gd name="T1" fmla="*/ 0 h 243"/>
                      <a:gd name="T2" fmla="*/ 0 w 1"/>
                      <a:gd name="T3" fmla="*/ 243 h 243"/>
                      <a:gd name="T4" fmla="*/ 0 60000 65536"/>
                      <a:gd name="T5" fmla="*/ 0 60000 65536"/>
                      <a:gd name="T6" fmla="*/ 0 w 1"/>
                      <a:gd name="T7" fmla="*/ 0 h 243"/>
                      <a:gd name="T8" fmla="*/ 1 w 1"/>
                      <a:gd name="T9" fmla="*/ 243 h 243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3">
                        <a:moveTo>
                          <a:pt x="0" y="0"/>
                        </a:moveTo>
                        <a:lnTo>
                          <a:pt x="0" y="24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600" name="Freeform 191"/>
                  <p:cNvSpPr/>
                  <p:nvPr/>
                </p:nvSpPr>
                <p:spPr bwMode="auto">
                  <a:xfrm>
                    <a:off x="2491" y="3881"/>
                    <a:ext cx="1" cy="243"/>
                  </a:xfrm>
                  <a:custGeom>
                    <a:avLst/>
                    <a:gdLst>
                      <a:gd name="T0" fmla="*/ 0 w 1"/>
                      <a:gd name="T1" fmla="*/ 0 h 243"/>
                      <a:gd name="T2" fmla="*/ 0 w 1"/>
                      <a:gd name="T3" fmla="*/ 243 h 243"/>
                      <a:gd name="T4" fmla="*/ 0 60000 65536"/>
                      <a:gd name="T5" fmla="*/ 0 60000 65536"/>
                      <a:gd name="T6" fmla="*/ 0 w 1"/>
                      <a:gd name="T7" fmla="*/ 0 h 243"/>
                      <a:gd name="T8" fmla="*/ 1 w 1"/>
                      <a:gd name="T9" fmla="*/ 243 h 243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3">
                        <a:moveTo>
                          <a:pt x="0" y="0"/>
                        </a:moveTo>
                        <a:lnTo>
                          <a:pt x="0" y="24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601" name="Freeform 192"/>
                  <p:cNvSpPr/>
                  <p:nvPr/>
                </p:nvSpPr>
                <p:spPr bwMode="auto">
                  <a:xfrm>
                    <a:off x="3643" y="3881"/>
                    <a:ext cx="1" cy="243"/>
                  </a:xfrm>
                  <a:custGeom>
                    <a:avLst/>
                    <a:gdLst>
                      <a:gd name="T0" fmla="*/ 0 w 1"/>
                      <a:gd name="T1" fmla="*/ 0 h 243"/>
                      <a:gd name="T2" fmla="*/ 0 w 1"/>
                      <a:gd name="T3" fmla="*/ 243 h 243"/>
                      <a:gd name="T4" fmla="*/ 0 60000 65536"/>
                      <a:gd name="T5" fmla="*/ 0 60000 65536"/>
                      <a:gd name="T6" fmla="*/ 0 w 1"/>
                      <a:gd name="T7" fmla="*/ 0 h 243"/>
                      <a:gd name="T8" fmla="*/ 1 w 1"/>
                      <a:gd name="T9" fmla="*/ 243 h 243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3">
                        <a:moveTo>
                          <a:pt x="0" y="0"/>
                        </a:moveTo>
                        <a:lnTo>
                          <a:pt x="0" y="24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602" name="Freeform 193"/>
                  <p:cNvSpPr/>
                  <p:nvPr/>
                </p:nvSpPr>
                <p:spPr bwMode="auto">
                  <a:xfrm>
                    <a:off x="4791" y="3881"/>
                    <a:ext cx="4" cy="247"/>
                  </a:xfrm>
                  <a:custGeom>
                    <a:avLst/>
                    <a:gdLst>
                      <a:gd name="T0" fmla="*/ 4 w 4"/>
                      <a:gd name="T1" fmla="*/ 0 h 247"/>
                      <a:gd name="T2" fmla="*/ 0 w 4"/>
                      <a:gd name="T3" fmla="*/ 247 h 247"/>
                      <a:gd name="T4" fmla="*/ 0 60000 65536"/>
                      <a:gd name="T5" fmla="*/ 0 60000 65536"/>
                      <a:gd name="T6" fmla="*/ 0 w 4"/>
                      <a:gd name="T7" fmla="*/ 0 h 247"/>
                      <a:gd name="T8" fmla="*/ 4 w 4"/>
                      <a:gd name="T9" fmla="*/ 247 h 247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" h="247">
                        <a:moveTo>
                          <a:pt x="4" y="0"/>
                        </a:moveTo>
                        <a:lnTo>
                          <a:pt x="0" y="247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603" name="Freeform 194"/>
                  <p:cNvSpPr/>
                  <p:nvPr/>
                </p:nvSpPr>
                <p:spPr bwMode="auto">
                  <a:xfrm>
                    <a:off x="5277" y="3881"/>
                    <a:ext cx="1" cy="151"/>
                  </a:xfrm>
                  <a:custGeom>
                    <a:avLst/>
                    <a:gdLst>
                      <a:gd name="T0" fmla="*/ 0 w 1"/>
                      <a:gd name="T1" fmla="*/ 0 h 151"/>
                      <a:gd name="T2" fmla="*/ 0 w 1"/>
                      <a:gd name="T3" fmla="*/ 151 h 151"/>
                      <a:gd name="T4" fmla="*/ 0 60000 65536"/>
                      <a:gd name="T5" fmla="*/ 0 60000 65536"/>
                      <a:gd name="T6" fmla="*/ 0 w 1"/>
                      <a:gd name="T7" fmla="*/ 0 h 151"/>
                      <a:gd name="T8" fmla="*/ 1 w 1"/>
                      <a:gd name="T9" fmla="*/ 151 h 15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1">
                        <a:moveTo>
                          <a:pt x="0" y="0"/>
                        </a:moveTo>
                        <a:lnTo>
                          <a:pt x="0" y="151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604" name="Line 195"/>
                  <p:cNvSpPr>
                    <a:spLocks noChangeShapeType="1"/>
                  </p:cNvSpPr>
                  <p:nvPr/>
                </p:nvSpPr>
                <p:spPr bwMode="auto">
                  <a:xfrm>
                    <a:off x="4124" y="38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605" name="Line 196"/>
                  <p:cNvSpPr>
                    <a:spLocks noChangeShapeType="1"/>
                  </p:cNvSpPr>
                  <p:nvPr/>
                </p:nvSpPr>
                <p:spPr bwMode="auto">
                  <a:xfrm>
                    <a:off x="2973" y="38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606" name="Line 197"/>
                  <p:cNvSpPr>
                    <a:spLocks noChangeShapeType="1"/>
                  </p:cNvSpPr>
                  <p:nvPr/>
                </p:nvSpPr>
                <p:spPr bwMode="auto">
                  <a:xfrm>
                    <a:off x="1820" y="3881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607" name="Rectangle 198"/>
                  <p:cNvSpPr>
                    <a:spLocks noChangeArrowheads="1"/>
                  </p:cNvSpPr>
                  <p:nvPr/>
                </p:nvSpPr>
                <p:spPr bwMode="auto">
                  <a:xfrm>
                    <a:off x="2317" y="3545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/>
                  </a:p>
                </p:txBody>
              </p:sp>
              <p:sp>
                <p:nvSpPr>
                  <p:cNvPr id="140608" name="Text Box 19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348" y="3576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读写电路</a:t>
                    </a:r>
                  </a:p>
                </p:txBody>
              </p:sp>
              <p:sp>
                <p:nvSpPr>
                  <p:cNvPr id="140609" name="Rectangle 200"/>
                  <p:cNvSpPr>
                    <a:spLocks noChangeArrowheads="1"/>
                  </p:cNvSpPr>
                  <p:nvPr/>
                </p:nvSpPr>
                <p:spPr bwMode="auto">
                  <a:xfrm>
                    <a:off x="3469" y="3545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/>
                  </a:p>
                </p:txBody>
              </p:sp>
              <p:sp>
                <p:nvSpPr>
                  <p:cNvPr id="140610" name="Text Box 201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500" y="3576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读写电路</a:t>
                    </a:r>
                  </a:p>
                </p:txBody>
              </p:sp>
              <p:sp>
                <p:nvSpPr>
                  <p:cNvPr id="140611" name="Rectangle 202"/>
                  <p:cNvSpPr>
                    <a:spLocks noChangeArrowheads="1"/>
                  </p:cNvSpPr>
                  <p:nvPr/>
                </p:nvSpPr>
                <p:spPr bwMode="auto">
                  <a:xfrm>
                    <a:off x="4621" y="3545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/>
                  </a:p>
                </p:txBody>
              </p:sp>
              <p:sp>
                <p:nvSpPr>
                  <p:cNvPr id="140612" name="Text Box 20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52" y="3576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读写电路</a:t>
                    </a:r>
                  </a:p>
                </p:txBody>
              </p:sp>
              <p:sp>
                <p:nvSpPr>
                  <p:cNvPr id="140613" name="Line 204"/>
                  <p:cNvSpPr>
                    <a:spLocks noChangeShapeType="1"/>
                  </p:cNvSpPr>
                  <p:nvPr/>
                </p:nvSpPr>
                <p:spPr bwMode="auto">
                  <a:xfrm>
                    <a:off x="1964" y="3737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614" name="Line 205"/>
                  <p:cNvSpPr>
                    <a:spLocks noChangeShapeType="1"/>
                  </p:cNvSpPr>
                  <p:nvPr/>
                </p:nvSpPr>
                <p:spPr bwMode="auto">
                  <a:xfrm>
                    <a:off x="3144" y="3737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615" name="Line 206"/>
                  <p:cNvSpPr>
                    <a:spLocks noChangeShapeType="1"/>
                  </p:cNvSpPr>
                  <p:nvPr/>
                </p:nvSpPr>
                <p:spPr bwMode="auto">
                  <a:xfrm>
                    <a:off x="4293" y="3737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616" name="Line 207"/>
                  <p:cNvSpPr>
                    <a:spLocks noChangeShapeType="1"/>
                  </p:cNvSpPr>
                  <p:nvPr/>
                </p:nvSpPr>
                <p:spPr bwMode="auto">
                  <a:xfrm>
                    <a:off x="5420" y="3737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617" name="Freeform 208"/>
                  <p:cNvSpPr/>
                  <p:nvPr/>
                </p:nvSpPr>
                <p:spPr bwMode="auto">
                  <a:xfrm>
                    <a:off x="3033" y="2708"/>
                    <a:ext cx="47" cy="501"/>
                  </a:xfrm>
                  <a:custGeom>
                    <a:avLst/>
                    <a:gdLst>
                      <a:gd name="T0" fmla="*/ 0 w 1"/>
                      <a:gd name="T1" fmla="*/ 0 h 406"/>
                      <a:gd name="T2" fmla="*/ 0 w 1"/>
                      <a:gd name="T3" fmla="*/ 7711 h 406"/>
                      <a:gd name="T4" fmla="*/ 0 60000 65536"/>
                      <a:gd name="T5" fmla="*/ 0 60000 65536"/>
                      <a:gd name="T6" fmla="*/ 0 w 1"/>
                      <a:gd name="T7" fmla="*/ 0 h 406"/>
                      <a:gd name="T8" fmla="*/ 1 w 1"/>
                      <a:gd name="T9" fmla="*/ 406 h 40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406">
                        <a:moveTo>
                          <a:pt x="0" y="0"/>
                        </a:moveTo>
                        <a:lnTo>
                          <a:pt x="0" y="40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618" name="Freeform 209"/>
                  <p:cNvSpPr/>
                  <p:nvPr/>
                </p:nvSpPr>
                <p:spPr bwMode="auto">
                  <a:xfrm>
                    <a:off x="4185" y="2691"/>
                    <a:ext cx="1" cy="525"/>
                  </a:xfrm>
                  <a:custGeom>
                    <a:avLst/>
                    <a:gdLst>
                      <a:gd name="T0" fmla="*/ 0 w 1"/>
                      <a:gd name="T1" fmla="*/ 0 h 525"/>
                      <a:gd name="T2" fmla="*/ 0 w 1"/>
                      <a:gd name="T3" fmla="*/ 525 h 525"/>
                      <a:gd name="T4" fmla="*/ 0 60000 65536"/>
                      <a:gd name="T5" fmla="*/ 0 60000 65536"/>
                      <a:gd name="T6" fmla="*/ 0 w 1"/>
                      <a:gd name="T7" fmla="*/ 0 h 525"/>
                      <a:gd name="T8" fmla="*/ 1 w 1"/>
                      <a:gd name="T9" fmla="*/ 525 h 525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525">
                        <a:moveTo>
                          <a:pt x="0" y="0"/>
                        </a:moveTo>
                        <a:lnTo>
                          <a:pt x="0" y="525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619" name="Freeform 210"/>
                  <p:cNvSpPr/>
                  <p:nvPr/>
                </p:nvSpPr>
                <p:spPr bwMode="auto">
                  <a:xfrm>
                    <a:off x="5325" y="2708"/>
                    <a:ext cx="47" cy="501"/>
                  </a:xfrm>
                  <a:custGeom>
                    <a:avLst/>
                    <a:gdLst>
                      <a:gd name="T0" fmla="*/ 0 w 1"/>
                      <a:gd name="T1" fmla="*/ 0 h 406"/>
                      <a:gd name="T2" fmla="*/ 0 w 1"/>
                      <a:gd name="T3" fmla="*/ 7711 h 406"/>
                      <a:gd name="T4" fmla="*/ 0 60000 65536"/>
                      <a:gd name="T5" fmla="*/ 0 60000 65536"/>
                      <a:gd name="T6" fmla="*/ 0 w 1"/>
                      <a:gd name="T7" fmla="*/ 0 h 406"/>
                      <a:gd name="T8" fmla="*/ 1 w 1"/>
                      <a:gd name="T9" fmla="*/ 406 h 40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406">
                        <a:moveTo>
                          <a:pt x="0" y="0"/>
                        </a:moveTo>
                        <a:lnTo>
                          <a:pt x="0" y="40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620" name="Text Box 211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1193" y="164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40621" name="Text Box 212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1769" y="164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40622" name="Text Box 213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2345" y="1640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40623" name="Text Box 214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2921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40624" name="Text Box 215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3496" y="1627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en-US" altLang="zh-CN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40625" name="Text Box 216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4073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en-US" altLang="zh-CN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40626" name="Text Box 217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4649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en-US" altLang="zh-CN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40627" name="Text Box 218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5244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en-US" altLang="zh-CN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40628" name="Text Box 21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0" y="791"/>
                    <a:ext cx="188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40629" name="Text Box 22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0" y="1383"/>
                    <a:ext cx="188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1</a:t>
                    </a:r>
                  </a:p>
                </p:txBody>
              </p:sp>
              <p:sp>
                <p:nvSpPr>
                  <p:cNvPr id="140630" name="Text Box 221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4" y="1959"/>
                    <a:ext cx="260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63</a:t>
                    </a:r>
                  </a:p>
                </p:txBody>
              </p:sp>
              <p:sp>
                <p:nvSpPr>
                  <p:cNvPr id="140631" name="Line 222"/>
                  <p:cNvSpPr>
                    <a:spLocks noChangeShapeType="1"/>
                  </p:cNvSpPr>
                  <p:nvPr/>
                </p:nvSpPr>
                <p:spPr bwMode="auto">
                  <a:xfrm>
                    <a:off x="332" y="2537"/>
                    <a:ext cx="57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632" name="Text Box 22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0" y="2727"/>
                    <a:ext cx="188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40633" name="Text Box 22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4" y="3159"/>
                    <a:ext cx="260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15</a:t>
                    </a:r>
                  </a:p>
                </p:txBody>
              </p:sp>
              <p:sp>
                <p:nvSpPr>
                  <p:cNvPr id="140634" name="Text Box 225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665" y="162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40635" name="Text Box 226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665" y="2876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40636" name="Text Box 22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1015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行</a:t>
                    </a:r>
                  </a:p>
                </p:txBody>
              </p:sp>
              <p:sp>
                <p:nvSpPr>
                  <p:cNvPr id="140637" name="Text Box 228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1263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地</a:t>
                    </a:r>
                  </a:p>
                </p:txBody>
              </p:sp>
              <p:sp>
                <p:nvSpPr>
                  <p:cNvPr id="140638" name="Text Box 22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1511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址</a:t>
                    </a:r>
                  </a:p>
                </p:txBody>
              </p:sp>
              <p:sp>
                <p:nvSpPr>
                  <p:cNvPr id="140639" name="Text Box 23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1758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译</a:t>
                    </a:r>
                  </a:p>
                </p:txBody>
              </p:sp>
              <p:sp>
                <p:nvSpPr>
                  <p:cNvPr id="140640" name="Text Box 231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8" y="2006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码</a:t>
                    </a:r>
                  </a:p>
                </p:txBody>
              </p:sp>
              <p:sp>
                <p:nvSpPr>
                  <p:cNvPr id="140641" name="Text Box 232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2635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列</a:t>
                    </a:r>
                  </a:p>
                </p:txBody>
              </p:sp>
              <p:sp>
                <p:nvSpPr>
                  <p:cNvPr id="140642" name="Text Box 23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2883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地</a:t>
                    </a:r>
                  </a:p>
                </p:txBody>
              </p:sp>
              <p:sp>
                <p:nvSpPr>
                  <p:cNvPr id="140643" name="Text Box 23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3131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址</a:t>
                    </a:r>
                  </a:p>
                </p:txBody>
              </p:sp>
              <p:sp>
                <p:nvSpPr>
                  <p:cNvPr id="140644" name="Text Box 235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3378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译</a:t>
                    </a:r>
                  </a:p>
                </p:txBody>
              </p:sp>
              <p:sp>
                <p:nvSpPr>
                  <p:cNvPr id="140645" name="Text Box 236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" y="3626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码</a:t>
                    </a:r>
                  </a:p>
                </p:txBody>
              </p:sp>
              <p:sp>
                <p:nvSpPr>
                  <p:cNvPr id="140646" name="Line 237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905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647" name="Line 238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1164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648" name="Line 239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1423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649" name="Line 240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1682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650" name="Line 241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1941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651" name="Line 242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2201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652" name="Line 243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2872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653" name="Line 244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3131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654" name="Line 245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3390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655" name="Line 246"/>
                  <p:cNvSpPr>
                    <a:spLocks noChangeShapeType="1"/>
                  </p:cNvSpPr>
                  <p:nvPr/>
                </p:nvSpPr>
                <p:spPr bwMode="auto">
                  <a:xfrm>
                    <a:off x="140" y="3650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656" name="Line 247"/>
                  <p:cNvSpPr>
                    <a:spLocks noChangeShapeType="1"/>
                  </p:cNvSpPr>
                  <p:nvPr/>
                </p:nvSpPr>
                <p:spPr bwMode="auto">
                  <a:xfrm>
                    <a:off x="726" y="4079"/>
                    <a:ext cx="192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40449" name="Group 248"/>
                <p:cNvGrpSpPr/>
                <p:nvPr/>
              </p:nvGrpSpPr>
              <p:grpSpPr bwMode="auto">
                <a:xfrm>
                  <a:off x="140" y="674"/>
                  <a:ext cx="196" cy="3010"/>
                  <a:chOff x="140" y="674"/>
                  <a:chExt cx="196" cy="3010"/>
                </a:xfrm>
              </p:grpSpPr>
              <p:sp>
                <p:nvSpPr>
                  <p:cNvPr id="140450" name="Text Box 24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674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40451" name="Text Box 25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933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40452" name="Text Box 251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192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40453" name="Text Box 252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451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40454" name="Text Box 25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710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40455" name="Text Box 25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970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40456" name="Text Box 255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2657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40457" name="Text Box 256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2916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40458" name="Text Box 25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3175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40459" name="Text Box 258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3434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</p:grpSp>
          </p:grpSp>
          <p:grpSp>
            <p:nvGrpSpPr>
              <p:cNvPr id="140409" name="Group 259"/>
              <p:cNvGrpSpPr/>
              <p:nvPr/>
            </p:nvGrpSpPr>
            <p:grpSpPr bwMode="auto">
              <a:xfrm>
                <a:off x="915" y="2632"/>
                <a:ext cx="3944" cy="254"/>
                <a:chOff x="915" y="2632"/>
                <a:chExt cx="3944" cy="254"/>
              </a:xfrm>
            </p:grpSpPr>
            <p:grpSp>
              <p:nvGrpSpPr>
                <p:cNvPr id="140410" name="Group 260"/>
                <p:cNvGrpSpPr/>
                <p:nvPr/>
              </p:nvGrpSpPr>
              <p:grpSpPr bwMode="auto">
                <a:xfrm>
                  <a:off x="915" y="2696"/>
                  <a:ext cx="3858" cy="190"/>
                  <a:chOff x="915" y="2696"/>
                  <a:chExt cx="3858" cy="190"/>
                </a:xfrm>
              </p:grpSpPr>
              <p:sp>
                <p:nvSpPr>
                  <p:cNvPr id="140443" name="Freeform 261"/>
                  <p:cNvSpPr/>
                  <p:nvPr/>
                </p:nvSpPr>
                <p:spPr bwMode="auto">
                  <a:xfrm>
                    <a:off x="1304" y="2707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  <a:gd name="T6" fmla="*/ 0 w 1"/>
                      <a:gd name="T7" fmla="*/ 0 h 166"/>
                      <a:gd name="T8" fmla="*/ 1 w 1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444" name="Freeform 262"/>
                  <p:cNvSpPr/>
                  <p:nvPr/>
                </p:nvSpPr>
                <p:spPr bwMode="auto">
                  <a:xfrm>
                    <a:off x="2457" y="2710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  <a:gd name="T6" fmla="*/ 0 w 1"/>
                      <a:gd name="T7" fmla="*/ 0 h 166"/>
                      <a:gd name="T8" fmla="*/ 1 w 1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445" name="Freeform 263"/>
                  <p:cNvSpPr/>
                  <p:nvPr/>
                </p:nvSpPr>
                <p:spPr bwMode="auto">
                  <a:xfrm>
                    <a:off x="3609" y="2710"/>
                    <a:ext cx="1" cy="176"/>
                  </a:xfrm>
                  <a:custGeom>
                    <a:avLst/>
                    <a:gdLst>
                      <a:gd name="T0" fmla="*/ 0 w 1"/>
                      <a:gd name="T1" fmla="*/ 0 h 176"/>
                      <a:gd name="T2" fmla="*/ 0 w 1"/>
                      <a:gd name="T3" fmla="*/ 176 h 176"/>
                      <a:gd name="T4" fmla="*/ 0 60000 65536"/>
                      <a:gd name="T5" fmla="*/ 0 60000 65536"/>
                      <a:gd name="T6" fmla="*/ 0 w 1"/>
                      <a:gd name="T7" fmla="*/ 0 h 176"/>
                      <a:gd name="T8" fmla="*/ 1 w 1"/>
                      <a:gd name="T9" fmla="*/ 176 h 17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76">
                        <a:moveTo>
                          <a:pt x="0" y="0"/>
                        </a:moveTo>
                        <a:lnTo>
                          <a:pt x="0" y="17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446" name="Freeform 264"/>
                  <p:cNvSpPr/>
                  <p:nvPr/>
                </p:nvSpPr>
                <p:spPr bwMode="auto">
                  <a:xfrm>
                    <a:off x="4761" y="2696"/>
                    <a:ext cx="1" cy="178"/>
                  </a:xfrm>
                  <a:custGeom>
                    <a:avLst/>
                    <a:gdLst>
                      <a:gd name="T0" fmla="*/ 0 w 1"/>
                      <a:gd name="T1" fmla="*/ 0 h 178"/>
                      <a:gd name="T2" fmla="*/ 0 w 1"/>
                      <a:gd name="T3" fmla="*/ 178 h 178"/>
                      <a:gd name="T4" fmla="*/ 0 60000 65536"/>
                      <a:gd name="T5" fmla="*/ 0 60000 65536"/>
                      <a:gd name="T6" fmla="*/ 0 w 1"/>
                      <a:gd name="T7" fmla="*/ 0 h 178"/>
                      <a:gd name="T8" fmla="*/ 1 w 1"/>
                      <a:gd name="T9" fmla="*/ 178 h 178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78">
                        <a:moveTo>
                          <a:pt x="0" y="0"/>
                        </a:moveTo>
                        <a:lnTo>
                          <a:pt x="0" y="178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447" name="Freeform 265"/>
                  <p:cNvSpPr/>
                  <p:nvPr/>
                </p:nvSpPr>
                <p:spPr bwMode="auto">
                  <a:xfrm>
                    <a:off x="915" y="2865"/>
                    <a:ext cx="3858" cy="2"/>
                  </a:xfrm>
                  <a:custGeom>
                    <a:avLst/>
                    <a:gdLst>
                      <a:gd name="T0" fmla="*/ 0 w 3858"/>
                      <a:gd name="T1" fmla="*/ 2 h 2"/>
                      <a:gd name="T2" fmla="*/ 3858 w 3858"/>
                      <a:gd name="T3" fmla="*/ 0 h 2"/>
                      <a:gd name="T4" fmla="*/ 0 60000 65536"/>
                      <a:gd name="T5" fmla="*/ 0 60000 65536"/>
                      <a:gd name="T6" fmla="*/ 0 w 3858"/>
                      <a:gd name="T7" fmla="*/ 0 h 2"/>
                      <a:gd name="T8" fmla="*/ 3858 w 3858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3858" h="2">
                        <a:moveTo>
                          <a:pt x="0" y="2"/>
                        </a:moveTo>
                        <a:lnTo>
                          <a:pt x="3858" y="0"/>
                        </a:lnTo>
                      </a:path>
                    </a:pathLst>
                  </a:custGeom>
                  <a:noFill/>
                  <a:ln w="76200" cmpd="sng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40411" name="Group 266"/>
                <p:cNvGrpSpPr/>
                <p:nvPr/>
              </p:nvGrpSpPr>
              <p:grpSpPr bwMode="auto">
                <a:xfrm>
                  <a:off x="1212" y="2632"/>
                  <a:ext cx="192" cy="158"/>
                  <a:chOff x="1212" y="2632"/>
                  <a:chExt cx="192" cy="158"/>
                </a:xfrm>
              </p:grpSpPr>
              <p:grpSp>
                <p:nvGrpSpPr>
                  <p:cNvPr id="140436" name="Group 267"/>
                  <p:cNvGrpSpPr/>
                  <p:nvPr/>
                </p:nvGrpSpPr>
                <p:grpSpPr bwMode="auto">
                  <a:xfrm>
                    <a:off x="1356" y="2632"/>
                    <a:ext cx="48" cy="158"/>
                    <a:chOff x="1356" y="2632"/>
                    <a:chExt cx="48" cy="158"/>
                  </a:xfrm>
                </p:grpSpPr>
                <p:sp>
                  <p:nvSpPr>
                    <p:cNvPr id="140441" name="Line 268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325" y="2711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0442" name="Line 269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308" y="2709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40437" name="Freeform 270"/>
                  <p:cNvSpPr/>
                  <p:nvPr/>
                </p:nvSpPr>
                <p:spPr bwMode="auto">
                  <a:xfrm>
                    <a:off x="1260" y="2708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40438" name="Group 271"/>
                  <p:cNvGrpSpPr/>
                  <p:nvPr/>
                </p:nvGrpSpPr>
                <p:grpSpPr bwMode="auto">
                  <a:xfrm>
                    <a:off x="1212" y="2632"/>
                    <a:ext cx="48" cy="158"/>
                    <a:chOff x="1212" y="2632"/>
                    <a:chExt cx="48" cy="158"/>
                  </a:xfrm>
                </p:grpSpPr>
                <p:sp>
                  <p:nvSpPr>
                    <p:cNvPr id="140439" name="Line 272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133" y="2711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0440" name="Line 273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212" y="2713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140412" name="Group 274"/>
                <p:cNvGrpSpPr/>
                <p:nvPr/>
              </p:nvGrpSpPr>
              <p:grpSpPr bwMode="auto">
                <a:xfrm>
                  <a:off x="2364" y="2634"/>
                  <a:ext cx="192" cy="158"/>
                  <a:chOff x="2364" y="2634"/>
                  <a:chExt cx="192" cy="158"/>
                </a:xfrm>
              </p:grpSpPr>
              <p:grpSp>
                <p:nvGrpSpPr>
                  <p:cNvPr id="140429" name="Group 275"/>
                  <p:cNvGrpSpPr/>
                  <p:nvPr/>
                </p:nvGrpSpPr>
                <p:grpSpPr bwMode="auto">
                  <a:xfrm>
                    <a:off x="2508" y="2634"/>
                    <a:ext cx="48" cy="158"/>
                    <a:chOff x="2508" y="2634"/>
                    <a:chExt cx="48" cy="158"/>
                  </a:xfrm>
                </p:grpSpPr>
                <p:sp>
                  <p:nvSpPr>
                    <p:cNvPr id="140434" name="Line 276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2477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0435" name="Line 277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2460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40430" name="Freeform 278"/>
                  <p:cNvSpPr/>
                  <p:nvPr/>
                </p:nvSpPr>
                <p:spPr bwMode="auto">
                  <a:xfrm>
                    <a:off x="2412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40431" name="Group 279"/>
                  <p:cNvGrpSpPr/>
                  <p:nvPr/>
                </p:nvGrpSpPr>
                <p:grpSpPr bwMode="auto">
                  <a:xfrm>
                    <a:off x="2364" y="2634"/>
                    <a:ext cx="48" cy="158"/>
                    <a:chOff x="2364" y="2634"/>
                    <a:chExt cx="48" cy="158"/>
                  </a:xfrm>
                </p:grpSpPr>
                <p:sp>
                  <p:nvSpPr>
                    <p:cNvPr id="140432" name="Line 280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285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0433" name="Line 281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364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140413" name="Group 282"/>
                <p:cNvGrpSpPr/>
                <p:nvPr/>
              </p:nvGrpSpPr>
              <p:grpSpPr bwMode="auto">
                <a:xfrm>
                  <a:off x="3516" y="2634"/>
                  <a:ext cx="192" cy="158"/>
                  <a:chOff x="3516" y="2634"/>
                  <a:chExt cx="192" cy="158"/>
                </a:xfrm>
              </p:grpSpPr>
              <p:grpSp>
                <p:nvGrpSpPr>
                  <p:cNvPr id="140422" name="Group 283"/>
                  <p:cNvGrpSpPr/>
                  <p:nvPr/>
                </p:nvGrpSpPr>
                <p:grpSpPr bwMode="auto">
                  <a:xfrm>
                    <a:off x="3660" y="2634"/>
                    <a:ext cx="48" cy="158"/>
                    <a:chOff x="3660" y="2634"/>
                    <a:chExt cx="48" cy="158"/>
                  </a:xfrm>
                </p:grpSpPr>
                <p:sp>
                  <p:nvSpPr>
                    <p:cNvPr id="140427" name="Line 284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629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0428" name="Line 285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612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40423" name="Freeform 286"/>
                  <p:cNvSpPr/>
                  <p:nvPr/>
                </p:nvSpPr>
                <p:spPr bwMode="auto">
                  <a:xfrm>
                    <a:off x="3564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40424" name="Group 287"/>
                  <p:cNvGrpSpPr/>
                  <p:nvPr/>
                </p:nvGrpSpPr>
                <p:grpSpPr bwMode="auto">
                  <a:xfrm>
                    <a:off x="3516" y="2634"/>
                    <a:ext cx="48" cy="158"/>
                    <a:chOff x="3516" y="2634"/>
                    <a:chExt cx="48" cy="158"/>
                  </a:xfrm>
                </p:grpSpPr>
                <p:sp>
                  <p:nvSpPr>
                    <p:cNvPr id="140425" name="Line 288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3437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0426" name="Line 289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3516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140414" name="Group 290"/>
                <p:cNvGrpSpPr/>
                <p:nvPr/>
              </p:nvGrpSpPr>
              <p:grpSpPr bwMode="auto">
                <a:xfrm>
                  <a:off x="4667" y="2634"/>
                  <a:ext cx="192" cy="158"/>
                  <a:chOff x="4667" y="2634"/>
                  <a:chExt cx="192" cy="158"/>
                </a:xfrm>
              </p:grpSpPr>
              <p:grpSp>
                <p:nvGrpSpPr>
                  <p:cNvPr id="140415" name="Group 291"/>
                  <p:cNvGrpSpPr/>
                  <p:nvPr/>
                </p:nvGrpSpPr>
                <p:grpSpPr bwMode="auto">
                  <a:xfrm>
                    <a:off x="4811" y="2634"/>
                    <a:ext cx="48" cy="158"/>
                    <a:chOff x="4811" y="2634"/>
                    <a:chExt cx="48" cy="158"/>
                  </a:xfrm>
                </p:grpSpPr>
                <p:sp>
                  <p:nvSpPr>
                    <p:cNvPr id="140420" name="Line 292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780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0421" name="Line 293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763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40416" name="Freeform 294"/>
                  <p:cNvSpPr/>
                  <p:nvPr/>
                </p:nvSpPr>
                <p:spPr bwMode="auto">
                  <a:xfrm>
                    <a:off x="4715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40417" name="Group 295"/>
                  <p:cNvGrpSpPr/>
                  <p:nvPr/>
                </p:nvGrpSpPr>
                <p:grpSpPr bwMode="auto">
                  <a:xfrm>
                    <a:off x="4667" y="2634"/>
                    <a:ext cx="48" cy="158"/>
                    <a:chOff x="4667" y="2634"/>
                    <a:chExt cx="48" cy="158"/>
                  </a:xfrm>
                </p:grpSpPr>
                <p:sp>
                  <p:nvSpPr>
                    <p:cNvPr id="140418" name="Line 296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588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0419" name="Line 297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667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</p:grpSp>
        </p:grpSp>
        <p:grpSp>
          <p:nvGrpSpPr>
            <p:cNvPr id="140383" name="Group 298"/>
            <p:cNvGrpSpPr/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140384" name="Group 299"/>
              <p:cNvGrpSpPr/>
              <p:nvPr/>
            </p:nvGrpSpPr>
            <p:grpSpPr bwMode="auto">
              <a:xfrm>
                <a:off x="902" y="857"/>
                <a:ext cx="4567" cy="430"/>
                <a:chOff x="902" y="857"/>
                <a:chExt cx="4567" cy="430"/>
              </a:xfrm>
            </p:grpSpPr>
            <p:grpSp>
              <p:nvGrpSpPr>
                <p:cNvPr id="140389" name="Group 300"/>
                <p:cNvGrpSpPr/>
                <p:nvPr/>
              </p:nvGrpSpPr>
              <p:grpSpPr bwMode="auto">
                <a:xfrm>
                  <a:off x="1152" y="1013"/>
                  <a:ext cx="4317" cy="274"/>
                  <a:chOff x="1176" y="1068"/>
                  <a:chExt cx="4317" cy="274"/>
                </a:xfrm>
              </p:grpSpPr>
              <p:sp>
                <p:nvSpPr>
                  <p:cNvPr id="140400" name="Rectangle 301"/>
                  <p:cNvSpPr>
                    <a:spLocks noChangeArrowheads="1"/>
                  </p:cNvSpPr>
                  <p:nvPr/>
                </p:nvSpPr>
                <p:spPr bwMode="auto">
                  <a:xfrm>
                    <a:off x="175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15</a:t>
                    </a:r>
                  </a:p>
                </p:txBody>
              </p:sp>
              <p:sp>
                <p:nvSpPr>
                  <p:cNvPr id="140401" name="Rectangle 302"/>
                  <p:cNvSpPr>
                    <a:spLocks noChangeArrowheads="1"/>
                  </p:cNvSpPr>
                  <p:nvPr/>
                </p:nvSpPr>
                <p:spPr bwMode="auto">
                  <a:xfrm>
                    <a:off x="117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40402" name="Rectangle 303"/>
                  <p:cNvSpPr>
                    <a:spLocks noChangeArrowheads="1"/>
                  </p:cNvSpPr>
                  <p:nvPr/>
                </p:nvSpPr>
                <p:spPr bwMode="auto">
                  <a:xfrm>
                    <a:off x="289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31</a:t>
                    </a:r>
                  </a:p>
                </p:txBody>
              </p:sp>
              <p:sp>
                <p:nvSpPr>
                  <p:cNvPr id="140403" name="Rectangle 304"/>
                  <p:cNvSpPr>
                    <a:spLocks noChangeArrowheads="1"/>
                  </p:cNvSpPr>
                  <p:nvPr/>
                </p:nvSpPr>
                <p:spPr bwMode="auto">
                  <a:xfrm>
                    <a:off x="231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sp>
                <p:nvSpPr>
                  <p:cNvPr id="140404" name="Rectangle 305"/>
                  <p:cNvSpPr>
                    <a:spLocks noChangeArrowheads="1"/>
                  </p:cNvSpPr>
                  <p:nvPr/>
                </p:nvSpPr>
                <p:spPr bwMode="auto">
                  <a:xfrm>
                    <a:off x="4067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47</a:t>
                    </a:r>
                  </a:p>
                </p:txBody>
              </p:sp>
              <p:sp>
                <p:nvSpPr>
                  <p:cNvPr id="140405" name="Rectangle 306"/>
                  <p:cNvSpPr>
                    <a:spLocks noChangeArrowheads="1"/>
                  </p:cNvSpPr>
                  <p:nvPr/>
                </p:nvSpPr>
                <p:spPr bwMode="auto">
                  <a:xfrm>
                    <a:off x="3491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32</a:t>
                    </a:r>
                  </a:p>
                </p:txBody>
              </p:sp>
              <p:sp>
                <p:nvSpPr>
                  <p:cNvPr id="140406" name="Rectangle 307"/>
                  <p:cNvSpPr>
                    <a:spLocks noChangeArrowheads="1"/>
                  </p:cNvSpPr>
                  <p:nvPr/>
                </p:nvSpPr>
                <p:spPr bwMode="auto">
                  <a:xfrm>
                    <a:off x="5205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63</a:t>
                    </a:r>
                  </a:p>
                </p:txBody>
              </p:sp>
              <p:sp>
                <p:nvSpPr>
                  <p:cNvPr id="140407" name="Rectangle 308"/>
                  <p:cNvSpPr>
                    <a:spLocks noChangeArrowheads="1"/>
                  </p:cNvSpPr>
                  <p:nvPr/>
                </p:nvSpPr>
                <p:spPr bwMode="auto">
                  <a:xfrm>
                    <a:off x="462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48</a:t>
                    </a:r>
                  </a:p>
                </p:txBody>
              </p:sp>
            </p:grpSp>
            <p:grpSp>
              <p:nvGrpSpPr>
                <p:cNvPr id="140390" name="Group 309"/>
                <p:cNvGrpSpPr/>
                <p:nvPr/>
              </p:nvGrpSpPr>
              <p:grpSpPr bwMode="auto">
                <a:xfrm>
                  <a:off x="902" y="857"/>
                  <a:ext cx="4419" cy="145"/>
                  <a:chOff x="902" y="857"/>
                  <a:chExt cx="4419" cy="145"/>
                </a:xfrm>
              </p:grpSpPr>
              <p:sp>
                <p:nvSpPr>
                  <p:cNvPr id="140391" name="Freeform 310"/>
                  <p:cNvSpPr/>
                  <p:nvPr/>
                </p:nvSpPr>
                <p:spPr bwMode="auto">
                  <a:xfrm>
                    <a:off x="902" y="857"/>
                    <a:ext cx="4419" cy="1"/>
                  </a:xfrm>
                  <a:custGeom>
                    <a:avLst/>
                    <a:gdLst>
                      <a:gd name="T0" fmla="*/ 0 w 4419"/>
                      <a:gd name="T1" fmla="*/ 1 h 1"/>
                      <a:gd name="T2" fmla="*/ 4419 w 4419"/>
                      <a:gd name="T3" fmla="*/ 0 h 1"/>
                      <a:gd name="T4" fmla="*/ 0 60000 65536"/>
                      <a:gd name="T5" fmla="*/ 0 60000 65536"/>
                      <a:gd name="T6" fmla="*/ 0 w 4419"/>
                      <a:gd name="T7" fmla="*/ 0 h 1"/>
                      <a:gd name="T8" fmla="*/ 4419 w 441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9" h="1">
                        <a:moveTo>
                          <a:pt x="0" y="1"/>
                        </a:moveTo>
                        <a:lnTo>
                          <a:pt x="4419" y="0"/>
                        </a:lnTo>
                      </a:path>
                    </a:pathLst>
                  </a:custGeom>
                  <a:noFill/>
                  <a:ln w="76200" cmpd="sng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392" name="Line 311"/>
                  <p:cNvSpPr>
                    <a:spLocks noChangeShapeType="1"/>
                  </p:cNvSpPr>
                  <p:nvPr/>
                </p:nvSpPr>
                <p:spPr bwMode="auto">
                  <a:xfrm>
                    <a:off x="127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393" name="Line 312"/>
                  <p:cNvSpPr>
                    <a:spLocks noChangeShapeType="1"/>
                  </p:cNvSpPr>
                  <p:nvPr/>
                </p:nvSpPr>
                <p:spPr bwMode="auto">
                  <a:xfrm>
                    <a:off x="184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394" name="Line 313"/>
                  <p:cNvSpPr>
                    <a:spLocks noChangeShapeType="1"/>
                  </p:cNvSpPr>
                  <p:nvPr/>
                </p:nvSpPr>
                <p:spPr bwMode="auto">
                  <a:xfrm>
                    <a:off x="242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395" name="Line 314"/>
                  <p:cNvSpPr>
                    <a:spLocks noChangeShapeType="1"/>
                  </p:cNvSpPr>
                  <p:nvPr/>
                </p:nvSpPr>
                <p:spPr bwMode="auto">
                  <a:xfrm>
                    <a:off x="3000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396" name="Line 315"/>
                  <p:cNvSpPr>
                    <a:spLocks noChangeShapeType="1"/>
                  </p:cNvSpPr>
                  <p:nvPr/>
                </p:nvSpPr>
                <p:spPr bwMode="auto">
                  <a:xfrm>
                    <a:off x="3576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397" name="Line 316"/>
                  <p:cNvSpPr>
                    <a:spLocks noChangeShapeType="1"/>
                  </p:cNvSpPr>
                  <p:nvPr/>
                </p:nvSpPr>
                <p:spPr bwMode="auto">
                  <a:xfrm>
                    <a:off x="415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398" name="Line 317"/>
                  <p:cNvSpPr>
                    <a:spLocks noChangeShapeType="1"/>
                  </p:cNvSpPr>
                  <p:nvPr/>
                </p:nvSpPr>
                <p:spPr bwMode="auto">
                  <a:xfrm>
                    <a:off x="472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399" name="Line 318"/>
                  <p:cNvSpPr>
                    <a:spLocks noChangeShapeType="1"/>
                  </p:cNvSpPr>
                  <p:nvPr/>
                </p:nvSpPr>
                <p:spPr bwMode="auto">
                  <a:xfrm>
                    <a:off x="530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140385" name="Text Box 319"/>
              <p:cNvSpPr txBox="1">
                <a:spLocks noChangeArrowheads="1"/>
              </p:cNvSpPr>
              <p:nvPr/>
            </p:nvSpPr>
            <p:spPr bwMode="auto">
              <a:xfrm>
                <a:off x="140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0386" name="Text Box 320"/>
              <p:cNvSpPr txBox="1">
                <a:spLocks noChangeArrowheads="1"/>
              </p:cNvSpPr>
              <p:nvPr/>
            </p:nvSpPr>
            <p:spPr bwMode="auto">
              <a:xfrm>
                <a:off x="254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0387" name="Text Box 321"/>
              <p:cNvSpPr txBox="1">
                <a:spLocks noChangeArrowheads="1"/>
              </p:cNvSpPr>
              <p:nvPr/>
            </p:nvSpPr>
            <p:spPr bwMode="auto">
              <a:xfrm>
                <a:off x="371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0388" name="Text Box 322"/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</p:grpSp>
      <p:sp>
        <p:nvSpPr>
          <p:cNvPr id="140297" name="Line 323"/>
          <p:cNvSpPr>
            <a:spLocks noChangeShapeType="1"/>
          </p:cNvSpPr>
          <p:nvPr/>
        </p:nvSpPr>
        <p:spPr bwMode="auto">
          <a:xfrm>
            <a:off x="1149350" y="6473825"/>
            <a:ext cx="304800" cy="0"/>
          </a:xfrm>
          <a:prstGeom prst="line">
            <a:avLst/>
          </a:prstGeom>
          <a:noFill/>
          <a:ln w="28575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40298" name="Group 324"/>
          <p:cNvGrpSpPr/>
          <p:nvPr/>
        </p:nvGrpSpPr>
        <p:grpSpPr bwMode="auto">
          <a:xfrm>
            <a:off x="3086100" y="5599113"/>
            <a:ext cx="6057900" cy="336550"/>
            <a:chOff x="1944" y="3527"/>
            <a:chExt cx="3816" cy="212"/>
          </a:xfrm>
        </p:grpSpPr>
        <p:grpSp>
          <p:nvGrpSpPr>
            <p:cNvPr id="140372" name="Group 325"/>
            <p:cNvGrpSpPr/>
            <p:nvPr/>
          </p:nvGrpSpPr>
          <p:grpSpPr bwMode="auto">
            <a:xfrm>
              <a:off x="1964" y="3737"/>
              <a:ext cx="3637" cy="0"/>
              <a:chOff x="1964" y="3737"/>
              <a:chExt cx="3637" cy="0"/>
            </a:xfrm>
          </p:grpSpPr>
          <p:sp>
            <p:nvSpPr>
              <p:cNvPr id="140378" name="Line 326"/>
              <p:cNvSpPr>
                <a:spLocks noChangeShapeType="1"/>
              </p:cNvSpPr>
              <p:nvPr/>
            </p:nvSpPr>
            <p:spPr bwMode="auto">
              <a:xfrm>
                <a:off x="196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0379" name="Line 327"/>
              <p:cNvSpPr>
                <a:spLocks noChangeShapeType="1"/>
              </p:cNvSpPr>
              <p:nvPr/>
            </p:nvSpPr>
            <p:spPr bwMode="auto">
              <a:xfrm>
                <a:off x="31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0380" name="Line 328"/>
              <p:cNvSpPr>
                <a:spLocks noChangeShapeType="1"/>
              </p:cNvSpPr>
              <p:nvPr/>
            </p:nvSpPr>
            <p:spPr bwMode="auto">
              <a:xfrm>
                <a:off x="4293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0381" name="Line 329"/>
              <p:cNvSpPr>
                <a:spLocks noChangeShapeType="1"/>
              </p:cNvSpPr>
              <p:nvPr/>
            </p:nvSpPr>
            <p:spPr bwMode="auto">
              <a:xfrm>
                <a:off x="5420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40373" name="Group 330"/>
            <p:cNvGrpSpPr/>
            <p:nvPr/>
          </p:nvGrpSpPr>
          <p:grpSpPr bwMode="auto">
            <a:xfrm>
              <a:off x="1944" y="3527"/>
              <a:ext cx="3816" cy="212"/>
              <a:chOff x="1944" y="3527"/>
              <a:chExt cx="3816" cy="212"/>
            </a:xfrm>
          </p:grpSpPr>
          <p:sp>
            <p:nvSpPr>
              <p:cNvPr id="140374" name="Text Box 331"/>
              <p:cNvSpPr txBox="1">
                <a:spLocks noChangeArrowheads="1"/>
              </p:cNvSpPr>
              <p:nvPr/>
            </p:nvSpPr>
            <p:spPr bwMode="auto">
              <a:xfrm>
                <a:off x="194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40375" name="Text Box 332"/>
              <p:cNvSpPr txBox="1">
                <a:spLocks noChangeArrowheads="1"/>
              </p:cNvSpPr>
              <p:nvPr/>
            </p:nvSpPr>
            <p:spPr bwMode="auto">
              <a:xfrm>
                <a:off x="310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2</a:t>
                </a:r>
              </a:p>
            </p:txBody>
          </p:sp>
          <p:sp>
            <p:nvSpPr>
              <p:cNvPr id="140376" name="Text Box 333"/>
              <p:cNvSpPr txBox="1">
                <a:spLocks noChangeArrowheads="1"/>
              </p:cNvSpPr>
              <p:nvPr/>
            </p:nvSpPr>
            <p:spPr bwMode="auto">
              <a:xfrm>
                <a:off x="4256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sp>
            <p:nvSpPr>
              <p:cNvPr id="140377" name="Text Box 334"/>
              <p:cNvSpPr txBox="1">
                <a:spLocks noChangeArrowheads="1"/>
              </p:cNvSpPr>
              <p:nvPr/>
            </p:nvSpPr>
            <p:spPr bwMode="auto">
              <a:xfrm>
                <a:off x="5414" y="3527"/>
                <a:ext cx="3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I/O</a:t>
                </a:r>
                <a:r>
                  <a:rPr lang="en-US" altLang="zh-CN" sz="1600" baseline="-25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</p:grpSp>
      <p:grpSp>
        <p:nvGrpSpPr>
          <p:cNvPr id="140299" name="Group 335"/>
          <p:cNvGrpSpPr/>
          <p:nvPr/>
        </p:nvGrpSpPr>
        <p:grpSpPr bwMode="auto">
          <a:xfrm>
            <a:off x="1812925" y="5629275"/>
            <a:ext cx="6832600" cy="533400"/>
            <a:chOff x="1142" y="3546"/>
            <a:chExt cx="4304" cy="336"/>
          </a:xfrm>
        </p:grpSpPr>
        <p:grpSp>
          <p:nvGrpSpPr>
            <p:cNvPr id="140360" name="Group 336"/>
            <p:cNvGrpSpPr/>
            <p:nvPr/>
          </p:nvGrpSpPr>
          <p:grpSpPr bwMode="auto">
            <a:xfrm>
              <a:off x="1142" y="3546"/>
              <a:ext cx="823" cy="336"/>
              <a:chOff x="1142" y="3546"/>
              <a:chExt cx="823" cy="336"/>
            </a:xfrm>
          </p:grpSpPr>
          <p:sp>
            <p:nvSpPr>
              <p:cNvPr id="140370" name="Rectangle 337"/>
              <p:cNvSpPr>
                <a:spLocks noChangeArrowheads="1"/>
              </p:cNvSpPr>
              <p:nvPr/>
            </p:nvSpPr>
            <p:spPr bwMode="auto">
              <a:xfrm>
                <a:off x="1142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0371" name="Text Box 338"/>
              <p:cNvSpPr txBox="1">
                <a:spLocks noChangeArrowheads="1"/>
              </p:cNvSpPr>
              <p:nvPr/>
            </p:nvSpPr>
            <p:spPr bwMode="auto">
              <a:xfrm>
                <a:off x="1200" y="3590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</p:grpSp>
        <p:grpSp>
          <p:nvGrpSpPr>
            <p:cNvPr id="140361" name="Group 339"/>
            <p:cNvGrpSpPr/>
            <p:nvPr/>
          </p:nvGrpSpPr>
          <p:grpSpPr bwMode="auto">
            <a:xfrm>
              <a:off x="2318" y="3546"/>
              <a:ext cx="823" cy="336"/>
              <a:chOff x="2318" y="3546"/>
              <a:chExt cx="823" cy="336"/>
            </a:xfrm>
          </p:grpSpPr>
          <p:sp>
            <p:nvSpPr>
              <p:cNvPr id="140368" name="Rectangle 340"/>
              <p:cNvSpPr>
                <a:spLocks noChangeArrowheads="1"/>
              </p:cNvSpPr>
              <p:nvPr/>
            </p:nvSpPr>
            <p:spPr bwMode="auto">
              <a:xfrm>
                <a:off x="2318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0369" name="Text Box 341"/>
              <p:cNvSpPr txBox="1">
                <a:spLocks noChangeArrowheads="1"/>
              </p:cNvSpPr>
              <p:nvPr/>
            </p:nvSpPr>
            <p:spPr bwMode="auto">
              <a:xfrm>
                <a:off x="2352" y="3600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</p:grpSp>
        <p:grpSp>
          <p:nvGrpSpPr>
            <p:cNvPr id="140362" name="Group 342"/>
            <p:cNvGrpSpPr/>
            <p:nvPr/>
          </p:nvGrpSpPr>
          <p:grpSpPr bwMode="auto">
            <a:xfrm>
              <a:off x="3470" y="3546"/>
              <a:ext cx="823" cy="336"/>
              <a:chOff x="3470" y="3546"/>
              <a:chExt cx="823" cy="336"/>
            </a:xfrm>
          </p:grpSpPr>
          <p:sp>
            <p:nvSpPr>
              <p:cNvPr id="140366" name="Rectangle 343"/>
              <p:cNvSpPr>
                <a:spLocks noChangeArrowheads="1"/>
              </p:cNvSpPr>
              <p:nvPr/>
            </p:nvSpPr>
            <p:spPr bwMode="auto">
              <a:xfrm>
                <a:off x="3470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0367" name="Text Box 344"/>
              <p:cNvSpPr txBox="1">
                <a:spLocks noChangeArrowheads="1"/>
              </p:cNvSpPr>
              <p:nvPr/>
            </p:nvSpPr>
            <p:spPr bwMode="auto">
              <a:xfrm>
                <a:off x="3504" y="3600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</p:grpSp>
        <p:grpSp>
          <p:nvGrpSpPr>
            <p:cNvPr id="140363" name="Group 345"/>
            <p:cNvGrpSpPr/>
            <p:nvPr/>
          </p:nvGrpSpPr>
          <p:grpSpPr bwMode="auto">
            <a:xfrm>
              <a:off x="4623" y="3546"/>
              <a:ext cx="823" cy="336"/>
              <a:chOff x="4623" y="3546"/>
              <a:chExt cx="823" cy="336"/>
            </a:xfrm>
          </p:grpSpPr>
          <p:sp>
            <p:nvSpPr>
              <p:cNvPr id="140364" name="Rectangle 346"/>
              <p:cNvSpPr>
                <a:spLocks noChangeArrowheads="1"/>
              </p:cNvSpPr>
              <p:nvPr/>
            </p:nvSpPr>
            <p:spPr bwMode="auto">
              <a:xfrm>
                <a:off x="4623" y="3546"/>
                <a:ext cx="823" cy="336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0365" name="Text Box 347"/>
              <p:cNvSpPr txBox="1">
                <a:spLocks noChangeArrowheads="1"/>
              </p:cNvSpPr>
              <p:nvPr/>
            </p:nvSpPr>
            <p:spPr bwMode="auto">
              <a:xfrm>
                <a:off x="4656" y="3600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</p:grpSp>
      </p:grpSp>
      <p:grpSp>
        <p:nvGrpSpPr>
          <p:cNvPr id="140703" name="Group 348"/>
          <p:cNvGrpSpPr/>
          <p:nvPr/>
        </p:nvGrpSpPr>
        <p:grpSpPr bwMode="auto">
          <a:xfrm>
            <a:off x="1674813" y="4343400"/>
            <a:ext cx="6707187" cy="1295400"/>
            <a:chOff x="1055" y="2736"/>
            <a:chExt cx="4225" cy="816"/>
          </a:xfrm>
        </p:grpSpPr>
        <p:grpSp>
          <p:nvGrpSpPr>
            <p:cNvPr id="140350" name="Group 349"/>
            <p:cNvGrpSpPr/>
            <p:nvPr/>
          </p:nvGrpSpPr>
          <p:grpSpPr bwMode="auto">
            <a:xfrm>
              <a:off x="1391" y="2736"/>
              <a:ext cx="3889" cy="816"/>
              <a:chOff x="1428" y="2784"/>
              <a:chExt cx="3889" cy="816"/>
            </a:xfrm>
          </p:grpSpPr>
          <p:sp>
            <p:nvSpPr>
              <p:cNvPr id="140356" name="Freeform 350"/>
              <p:cNvSpPr/>
              <p:nvPr/>
            </p:nvSpPr>
            <p:spPr bwMode="auto">
              <a:xfrm>
                <a:off x="1428" y="2784"/>
                <a:ext cx="432" cy="816"/>
              </a:xfrm>
              <a:custGeom>
                <a:avLst/>
                <a:gdLst>
                  <a:gd name="T0" fmla="*/ 0 w 432"/>
                  <a:gd name="T1" fmla="*/ 0 h 816"/>
                  <a:gd name="T2" fmla="*/ 144 w 432"/>
                  <a:gd name="T3" fmla="*/ 0 h 816"/>
                  <a:gd name="T4" fmla="*/ 144 w 432"/>
                  <a:gd name="T5" fmla="*/ 576 h 816"/>
                  <a:gd name="T6" fmla="*/ 432 w 432"/>
                  <a:gd name="T7" fmla="*/ 576 h 816"/>
                  <a:gd name="T8" fmla="*/ 432 w 432"/>
                  <a:gd name="T9" fmla="*/ 816 h 8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2"/>
                  <a:gd name="T16" fmla="*/ 0 h 816"/>
                  <a:gd name="T17" fmla="*/ 432 w 432"/>
                  <a:gd name="T18" fmla="*/ 816 h 8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2" h="816">
                    <a:moveTo>
                      <a:pt x="0" y="0"/>
                    </a:moveTo>
                    <a:lnTo>
                      <a:pt x="144" y="0"/>
                    </a:lnTo>
                    <a:lnTo>
                      <a:pt x="144" y="576"/>
                    </a:lnTo>
                    <a:lnTo>
                      <a:pt x="432" y="576"/>
                    </a:lnTo>
                    <a:lnTo>
                      <a:pt x="432" y="816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0357" name="Freeform 351"/>
              <p:cNvSpPr/>
              <p:nvPr/>
            </p:nvSpPr>
            <p:spPr bwMode="auto">
              <a:xfrm>
                <a:off x="4885" y="2784"/>
                <a:ext cx="432" cy="816"/>
              </a:xfrm>
              <a:custGeom>
                <a:avLst/>
                <a:gdLst>
                  <a:gd name="T0" fmla="*/ 0 w 432"/>
                  <a:gd name="T1" fmla="*/ 0 h 816"/>
                  <a:gd name="T2" fmla="*/ 144 w 432"/>
                  <a:gd name="T3" fmla="*/ 0 h 816"/>
                  <a:gd name="T4" fmla="*/ 144 w 432"/>
                  <a:gd name="T5" fmla="*/ 576 h 816"/>
                  <a:gd name="T6" fmla="*/ 432 w 432"/>
                  <a:gd name="T7" fmla="*/ 576 h 816"/>
                  <a:gd name="T8" fmla="*/ 432 w 432"/>
                  <a:gd name="T9" fmla="*/ 816 h 8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2"/>
                  <a:gd name="T16" fmla="*/ 0 h 816"/>
                  <a:gd name="T17" fmla="*/ 432 w 432"/>
                  <a:gd name="T18" fmla="*/ 816 h 8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2" h="816">
                    <a:moveTo>
                      <a:pt x="0" y="0"/>
                    </a:moveTo>
                    <a:lnTo>
                      <a:pt x="144" y="0"/>
                    </a:lnTo>
                    <a:lnTo>
                      <a:pt x="144" y="576"/>
                    </a:lnTo>
                    <a:lnTo>
                      <a:pt x="432" y="576"/>
                    </a:lnTo>
                    <a:lnTo>
                      <a:pt x="432" y="816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0358" name="Freeform 352"/>
              <p:cNvSpPr/>
              <p:nvPr/>
            </p:nvSpPr>
            <p:spPr bwMode="auto">
              <a:xfrm>
                <a:off x="3733" y="2784"/>
                <a:ext cx="432" cy="816"/>
              </a:xfrm>
              <a:custGeom>
                <a:avLst/>
                <a:gdLst>
                  <a:gd name="T0" fmla="*/ 0 w 432"/>
                  <a:gd name="T1" fmla="*/ 0 h 816"/>
                  <a:gd name="T2" fmla="*/ 144 w 432"/>
                  <a:gd name="T3" fmla="*/ 0 h 816"/>
                  <a:gd name="T4" fmla="*/ 144 w 432"/>
                  <a:gd name="T5" fmla="*/ 576 h 816"/>
                  <a:gd name="T6" fmla="*/ 432 w 432"/>
                  <a:gd name="T7" fmla="*/ 576 h 816"/>
                  <a:gd name="T8" fmla="*/ 432 w 432"/>
                  <a:gd name="T9" fmla="*/ 816 h 8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2"/>
                  <a:gd name="T16" fmla="*/ 0 h 816"/>
                  <a:gd name="T17" fmla="*/ 432 w 432"/>
                  <a:gd name="T18" fmla="*/ 816 h 8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2" h="816">
                    <a:moveTo>
                      <a:pt x="0" y="0"/>
                    </a:moveTo>
                    <a:lnTo>
                      <a:pt x="144" y="0"/>
                    </a:lnTo>
                    <a:lnTo>
                      <a:pt x="144" y="576"/>
                    </a:lnTo>
                    <a:lnTo>
                      <a:pt x="432" y="576"/>
                    </a:lnTo>
                    <a:lnTo>
                      <a:pt x="432" y="816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0359" name="Freeform 353"/>
              <p:cNvSpPr/>
              <p:nvPr/>
            </p:nvSpPr>
            <p:spPr bwMode="auto">
              <a:xfrm>
                <a:off x="2579" y="2784"/>
                <a:ext cx="432" cy="816"/>
              </a:xfrm>
              <a:custGeom>
                <a:avLst/>
                <a:gdLst>
                  <a:gd name="T0" fmla="*/ 0 w 432"/>
                  <a:gd name="T1" fmla="*/ 0 h 816"/>
                  <a:gd name="T2" fmla="*/ 144 w 432"/>
                  <a:gd name="T3" fmla="*/ 0 h 816"/>
                  <a:gd name="T4" fmla="*/ 144 w 432"/>
                  <a:gd name="T5" fmla="*/ 576 h 816"/>
                  <a:gd name="T6" fmla="*/ 432 w 432"/>
                  <a:gd name="T7" fmla="*/ 576 h 816"/>
                  <a:gd name="T8" fmla="*/ 432 w 432"/>
                  <a:gd name="T9" fmla="*/ 816 h 8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2"/>
                  <a:gd name="T16" fmla="*/ 0 h 816"/>
                  <a:gd name="T17" fmla="*/ 432 w 432"/>
                  <a:gd name="T18" fmla="*/ 816 h 8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2" h="816">
                    <a:moveTo>
                      <a:pt x="0" y="0"/>
                    </a:moveTo>
                    <a:lnTo>
                      <a:pt x="144" y="0"/>
                    </a:lnTo>
                    <a:lnTo>
                      <a:pt x="144" y="576"/>
                    </a:lnTo>
                    <a:lnTo>
                      <a:pt x="432" y="576"/>
                    </a:lnTo>
                    <a:lnTo>
                      <a:pt x="432" y="816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40351" name="Group 354"/>
            <p:cNvGrpSpPr/>
            <p:nvPr/>
          </p:nvGrpSpPr>
          <p:grpSpPr bwMode="auto">
            <a:xfrm>
              <a:off x="1055" y="2748"/>
              <a:ext cx="3750" cy="804"/>
              <a:chOff x="1055" y="2748"/>
              <a:chExt cx="3750" cy="804"/>
            </a:xfrm>
          </p:grpSpPr>
          <p:sp>
            <p:nvSpPr>
              <p:cNvPr id="140352" name="Freeform 355"/>
              <p:cNvSpPr/>
              <p:nvPr/>
            </p:nvSpPr>
            <p:spPr bwMode="auto">
              <a:xfrm>
                <a:off x="1055" y="2748"/>
                <a:ext cx="280" cy="795"/>
              </a:xfrm>
              <a:custGeom>
                <a:avLst/>
                <a:gdLst>
                  <a:gd name="T0" fmla="*/ 276 w 280"/>
                  <a:gd name="T1" fmla="*/ 795 h 795"/>
                  <a:gd name="T2" fmla="*/ 280 w 280"/>
                  <a:gd name="T3" fmla="*/ 657 h 795"/>
                  <a:gd name="T4" fmla="*/ 0 w 280"/>
                  <a:gd name="T5" fmla="*/ 660 h 795"/>
                  <a:gd name="T6" fmla="*/ 3 w 280"/>
                  <a:gd name="T7" fmla="*/ 0 h 795"/>
                  <a:gd name="T8" fmla="*/ 144 w 280"/>
                  <a:gd name="T9" fmla="*/ 0 h 7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0"/>
                  <a:gd name="T16" fmla="*/ 0 h 795"/>
                  <a:gd name="T17" fmla="*/ 280 w 280"/>
                  <a:gd name="T18" fmla="*/ 795 h 7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0" h="795">
                    <a:moveTo>
                      <a:pt x="276" y="795"/>
                    </a:moveTo>
                    <a:lnTo>
                      <a:pt x="280" y="657"/>
                    </a:lnTo>
                    <a:lnTo>
                      <a:pt x="0" y="660"/>
                    </a:lnTo>
                    <a:lnTo>
                      <a:pt x="3" y="0"/>
                    </a:lnTo>
                    <a:lnTo>
                      <a:pt x="144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0353" name="Freeform 356"/>
              <p:cNvSpPr/>
              <p:nvPr/>
            </p:nvSpPr>
            <p:spPr bwMode="auto">
              <a:xfrm>
                <a:off x="2207" y="2757"/>
                <a:ext cx="294" cy="795"/>
              </a:xfrm>
              <a:custGeom>
                <a:avLst/>
                <a:gdLst>
                  <a:gd name="T0" fmla="*/ 294 w 294"/>
                  <a:gd name="T1" fmla="*/ 795 h 795"/>
                  <a:gd name="T2" fmla="*/ 294 w 294"/>
                  <a:gd name="T3" fmla="*/ 657 h 795"/>
                  <a:gd name="T4" fmla="*/ 0 w 294"/>
                  <a:gd name="T5" fmla="*/ 657 h 795"/>
                  <a:gd name="T6" fmla="*/ 3 w 294"/>
                  <a:gd name="T7" fmla="*/ 0 h 795"/>
                  <a:gd name="T8" fmla="*/ 144 w 294"/>
                  <a:gd name="T9" fmla="*/ 0 h 7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4"/>
                  <a:gd name="T16" fmla="*/ 0 h 795"/>
                  <a:gd name="T17" fmla="*/ 294 w 294"/>
                  <a:gd name="T18" fmla="*/ 795 h 7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4" h="795">
                    <a:moveTo>
                      <a:pt x="294" y="795"/>
                    </a:moveTo>
                    <a:lnTo>
                      <a:pt x="294" y="657"/>
                    </a:lnTo>
                    <a:lnTo>
                      <a:pt x="0" y="657"/>
                    </a:lnTo>
                    <a:lnTo>
                      <a:pt x="3" y="0"/>
                    </a:lnTo>
                    <a:lnTo>
                      <a:pt x="144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0354" name="Freeform 357"/>
              <p:cNvSpPr/>
              <p:nvPr/>
            </p:nvSpPr>
            <p:spPr bwMode="auto">
              <a:xfrm>
                <a:off x="3359" y="2757"/>
                <a:ext cx="294" cy="795"/>
              </a:xfrm>
              <a:custGeom>
                <a:avLst/>
                <a:gdLst>
                  <a:gd name="T0" fmla="*/ 294 w 294"/>
                  <a:gd name="T1" fmla="*/ 795 h 795"/>
                  <a:gd name="T2" fmla="*/ 294 w 294"/>
                  <a:gd name="T3" fmla="*/ 657 h 795"/>
                  <a:gd name="T4" fmla="*/ 0 w 294"/>
                  <a:gd name="T5" fmla="*/ 657 h 795"/>
                  <a:gd name="T6" fmla="*/ 3 w 294"/>
                  <a:gd name="T7" fmla="*/ 0 h 795"/>
                  <a:gd name="T8" fmla="*/ 144 w 294"/>
                  <a:gd name="T9" fmla="*/ 0 h 7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4"/>
                  <a:gd name="T16" fmla="*/ 0 h 795"/>
                  <a:gd name="T17" fmla="*/ 294 w 294"/>
                  <a:gd name="T18" fmla="*/ 795 h 7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4" h="795">
                    <a:moveTo>
                      <a:pt x="294" y="795"/>
                    </a:moveTo>
                    <a:lnTo>
                      <a:pt x="294" y="657"/>
                    </a:lnTo>
                    <a:lnTo>
                      <a:pt x="0" y="657"/>
                    </a:lnTo>
                    <a:lnTo>
                      <a:pt x="3" y="0"/>
                    </a:lnTo>
                    <a:lnTo>
                      <a:pt x="144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0355" name="Freeform 358"/>
              <p:cNvSpPr/>
              <p:nvPr/>
            </p:nvSpPr>
            <p:spPr bwMode="auto">
              <a:xfrm>
                <a:off x="4511" y="2757"/>
                <a:ext cx="294" cy="795"/>
              </a:xfrm>
              <a:custGeom>
                <a:avLst/>
                <a:gdLst>
                  <a:gd name="T0" fmla="*/ 294 w 294"/>
                  <a:gd name="T1" fmla="*/ 795 h 795"/>
                  <a:gd name="T2" fmla="*/ 294 w 294"/>
                  <a:gd name="T3" fmla="*/ 657 h 795"/>
                  <a:gd name="T4" fmla="*/ 0 w 294"/>
                  <a:gd name="T5" fmla="*/ 657 h 795"/>
                  <a:gd name="T6" fmla="*/ 3 w 294"/>
                  <a:gd name="T7" fmla="*/ 0 h 795"/>
                  <a:gd name="T8" fmla="*/ 144 w 294"/>
                  <a:gd name="T9" fmla="*/ 0 h 7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4"/>
                  <a:gd name="T16" fmla="*/ 0 h 795"/>
                  <a:gd name="T17" fmla="*/ 294 w 294"/>
                  <a:gd name="T18" fmla="*/ 795 h 7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4" h="795">
                    <a:moveTo>
                      <a:pt x="294" y="795"/>
                    </a:moveTo>
                    <a:lnTo>
                      <a:pt x="294" y="657"/>
                    </a:lnTo>
                    <a:lnTo>
                      <a:pt x="0" y="657"/>
                    </a:lnTo>
                    <a:lnTo>
                      <a:pt x="3" y="0"/>
                    </a:lnTo>
                    <a:lnTo>
                      <a:pt x="144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140301" name="Group 359"/>
          <p:cNvGrpSpPr/>
          <p:nvPr/>
        </p:nvGrpSpPr>
        <p:grpSpPr bwMode="auto">
          <a:xfrm>
            <a:off x="1452563" y="2617788"/>
            <a:ext cx="6613525" cy="1963737"/>
            <a:chOff x="915" y="1649"/>
            <a:chExt cx="4166" cy="1237"/>
          </a:xfrm>
        </p:grpSpPr>
        <p:grpSp>
          <p:nvGrpSpPr>
            <p:cNvPr id="140303" name="Group 360"/>
            <p:cNvGrpSpPr/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140312" name="Group 361"/>
              <p:cNvGrpSpPr/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140345" name="Freeform 362"/>
                <p:cNvSpPr/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0346" name="Freeform 363"/>
                <p:cNvSpPr/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0347" name="Freeform 364"/>
                <p:cNvSpPr/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  <a:gd name="T6" fmla="*/ 0 w 1"/>
                    <a:gd name="T7" fmla="*/ 0 h 176"/>
                    <a:gd name="T8" fmla="*/ 1 w 1"/>
                    <a:gd name="T9" fmla="*/ 176 h 17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0348" name="Freeform 365"/>
                <p:cNvSpPr/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  <a:gd name="T6" fmla="*/ 0 w 1"/>
                    <a:gd name="T7" fmla="*/ 0 h 178"/>
                    <a:gd name="T8" fmla="*/ 1 w 1"/>
                    <a:gd name="T9" fmla="*/ 178 h 178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0349" name="Freeform 366"/>
                <p:cNvSpPr/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  <a:gd name="T6" fmla="*/ 0 w 3858"/>
                    <a:gd name="T7" fmla="*/ 0 h 2"/>
                    <a:gd name="T8" fmla="*/ 3858 w 3858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40313" name="Group 367"/>
              <p:cNvGrpSpPr/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140338" name="Group 368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40343" name="Line 369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344" name="Line 370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40339" name="Freeform 371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40340" name="Group 372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40341" name="Line 373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342" name="Line 374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40314" name="Group 375"/>
              <p:cNvGrpSpPr/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140331" name="Group 376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40336" name="Line 377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337" name="Line 378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40332" name="Freeform 379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40333" name="Group 380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40334" name="Line 381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335" name="Line 382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40315" name="Group 383"/>
              <p:cNvGrpSpPr/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140324" name="Group 384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40329" name="Line 385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330" name="Line 386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40325" name="Freeform 387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40326" name="Group 388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40327" name="Line 389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328" name="Line 390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40316" name="Group 391"/>
              <p:cNvGrpSpPr/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140317" name="Group 392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40322" name="Line 393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323" name="Line 394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40318" name="Freeform 395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40319" name="Group 396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40320" name="Line 397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321" name="Line 398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</p:grpSp>
        <p:sp>
          <p:nvSpPr>
            <p:cNvPr id="140304" name="Rectangle 399"/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40305" name="Text Box 400"/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40306" name="Rectangle 401"/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40307" name="Rectangle 402"/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48</a:t>
              </a:r>
            </a:p>
          </p:txBody>
        </p:sp>
        <p:sp>
          <p:nvSpPr>
            <p:cNvPr id="140308" name="Rectangle 403"/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32</a:t>
              </a:r>
            </a:p>
          </p:txBody>
        </p:sp>
        <p:sp>
          <p:nvSpPr>
            <p:cNvPr id="140309" name="Text Box 404"/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40310" name="Text Box 405"/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40311" name="Text Box 406"/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140302" name="AutoShape 407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" dur="500"/>
                                        <p:tgtEl>
                                          <p:spTgt spid="1407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314" name="Group 2"/>
          <p:cNvGrpSpPr/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141718" name="Line 3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41719" name="Freeform 4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41720" name="Line 5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41721" name="Freeform 6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41722" name="Line 7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41723" name="Text Box 8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</a:p>
          </p:txBody>
        </p:sp>
        <p:sp>
          <p:nvSpPr>
            <p:cNvPr id="141724" name="Text Box 9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</a:p>
          </p:txBody>
        </p:sp>
        <p:sp>
          <p:nvSpPr>
            <p:cNvPr id="141725" name="Text Box 10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</a:p>
          </p:txBody>
        </p:sp>
        <p:sp>
          <p:nvSpPr>
            <p:cNvPr id="141726" name="Text Box 11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</a:p>
          </p:txBody>
        </p:sp>
        <p:sp>
          <p:nvSpPr>
            <p:cNvPr id="141727" name="Line 12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1728" name="Line 13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1729" name="Line 14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1730" name="Line 15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1731" name="Line 16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1732" name="Line 17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1733" name="Line 18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1734" name="Line 19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29396" name="Rectangle 20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41316" name="Text Box 21"/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③ </a:t>
            </a:r>
            <a:r>
              <a:rPr lang="en-US" altLang="zh-CN" sz="3200">
                <a:latin typeface="Times New Roman" panose="02020603050405020304" pitchFamily="18" charset="0"/>
              </a:rPr>
              <a:t>Intel 2114</a:t>
            </a: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200">
                <a:latin typeface="Times New Roman" panose="02020603050405020304" pitchFamily="18" charset="0"/>
              </a:rPr>
              <a:t>矩阵 </a:t>
            </a:r>
            <a:r>
              <a:rPr lang="en-US" altLang="zh-CN" sz="3200">
                <a:latin typeface="Times New Roman" panose="02020603050405020304" pitchFamily="18" charset="0"/>
              </a:rPr>
              <a:t>(64 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>
                <a:latin typeface="Times New Roman" panose="02020603050405020304" pitchFamily="18" charset="0"/>
              </a:rPr>
              <a:t> 64)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</a:p>
        </p:txBody>
      </p:sp>
      <p:grpSp>
        <p:nvGrpSpPr>
          <p:cNvPr id="141317" name="Group 22"/>
          <p:cNvGrpSpPr/>
          <p:nvPr/>
        </p:nvGrpSpPr>
        <p:grpSpPr bwMode="auto">
          <a:xfrm>
            <a:off x="3086100" y="5599113"/>
            <a:ext cx="6057900" cy="336550"/>
            <a:chOff x="1944" y="3527"/>
            <a:chExt cx="3816" cy="212"/>
          </a:xfrm>
        </p:grpSpPr>
        <p:sp>
          <p:nvSpPr>
            <p:cNvPr id="141714" name="Text Box 23"/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41715" name="Text Box 24"/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141716" name="Text Box 25"/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141717" name="Text Box 26"/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4</a:t>
              </a:r>
            </a:p>
          </p:txBody>
        </p:sp>
      </p:grpSp>
      <p:grpSp>
        <p:nvGrpSpPr>
          <p:cNvPr id="141318" name="Group 27"/>
          <p:cNvGrpSpPr/>
          <p:nvPr/>
        </p:nvGrpSpPr>
        <p:grpSpPr bwMode="auto">
          <a:xfrm>
            <a:off x="228600" y="1066800"/>
            <a:ext cx="8915400" cy="5716588"/>
            <a:chOff x="144" y="672"/>
            <a:chExt cx="5616" cy="3601"/>
          </a:xfrm>
        </p:grpSpPr>
        <p:grpSp>
          <p:nvGrpSpPr>
            <p:cNvPr id="141387" name="Group 28"/>
            <p:cNvGrpSpPr/>
            <p:nvPr/>
          </p:nvGrpSpPr>
          <p:grpSpPr bwMode="auto">
            <a:xfrm>
              <a:off x="144" y="672"/>
              <a:ext cx="5472" cy="3601"/>
              <a:chOff x="144" y="672"/>
              <a:chExt cx="5472" cy="3601"/>
            </a:xfrm>
          </p:grpSpPr>
          <p:grpSp>
            <p:nvGrpSpPr>
              <p:cNvPr id="141399" name="Group 29"/>
              <p:cNvGrpSpPr/>
              <p:nvPr/>
            </p:nvGrpSpPr>
            <p:grpSpPr bwMode="auto">
              <a:xfrm>
                <a:off x="144" y="672"/>
                <a:ext cx="5472" cy="3601"/>
                <a:chOff x="144" y="672"/>
                <a:chExt cx="5472" cy="3601"/>
              </a:xfrm>
            </p:grpSpPr>
            <p:grpSp>
              <p:nvGrpSpPr>
                <p:cNvPr id="141488" name="Group 30"/>
                <p:cNvGrpSpPr/>
                <p:nvPr/>
              </p:nvGrpSpPr>
              <p:grpSpPr bwMode="auto">
                <a:xfrm>
                  <a:off x="144" y="711"/>
                  <a:ext cx="5472" cy="3562"/>
                  <a:chOff x="144" y="711"/>
                  <a:chExt cx="5472" cy="3562"/>
                </a:xfrm>
              </p:grpSpPr>
              <p:sp>
                <p:nvSpPr>
                  <p:cNvPr id="141500" name="Rectangle 31"/>
                  <p:cNvSpPr>
                    <a:spLocks noChangeArrowheads="1"/>
                  </p:cNvSpPr>
                  <p:nvPr/>
                </p:nvSpPr>
                <p:spPr bwMode="auto">
                  <a:xfrm>
                    <a:off x="336" y="711"/>
                    <a:ext cx="576" cy="3168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/>
                  </a:p>
                </p:txBody>
              </p:sp>
              <p:sp>
                <p:nvSpPr>
                  <p:cNvPr id="141501" name="Rectangle 32"/>
                  <p:cNvSpPr>
                    <a:spLocks noChangeArrowheads="1"/>
                  </p:cNvSpPr>
                  <p:nvPr/>
                </p:nvSpPr>
                <p:spPr bwMode="auto">
                  <a:xfrm>
                    <a:off x="1732" y="1012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15</a:t>
                    </a:r>
                  </a:p>
                </p:txBody>
              </p:sp>
              <p:sp>
                <p:nvSpPr>
                  <p:cNvPr id="141502" name="Text Box 3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12" y="86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41503" name="Rectangle 34"/>
                  <p:cNvSpPr>
                    <a:spLocks noChangeArrowheads="1"/>
                  </p:cNvSpPr>
                  <p:nvPr/>
                </p:nvSpPr>
                <p:spPr bwMode="auto">
                  <a:xfrm>
                    <a:off x="1156" y="1012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41504" name="Rectangle 35"/>
                  <p:cNvSpPr>
                    <a:spLocks noChangeArrowheads="1"/>
                  </p:cNvSpPr>
                  <p:nvPr/>
                </p:nvSpPr>
                <p:spPr bwMode="auto">
                  <a:xfrm>
                    <a:off x="2873" y="1012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31</a:t>
                    </a:r>
                  </a:p>
                </p:txBody>
              </p:sp>
              <p:sp>
                <p:nvSpPr>
                  <p:cNvPr id="141505" name="Text Box 36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553" y="86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41506" name="Rectangle 37"/>
                  <p:cNvSpPr>
                    <a:spLocks noChangeArrowheads="1"/>
                  </p:cNvSpPr>
                  <p:nvPr/>
                </p:nvSpPr>
                <p:spPr bwMode="auto">
                  <a:xfrm>
                    <a:off x="2297" y="1012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sp>
                <p:nvSpPr>
                  <p:cNvPr id="141507" name="Rectangle 38"/>
                  <p:cNvSpPr>
                    <a:spLocks noChangeArrowheads="1"/>
                  </p:cNvSpPr>
                  <p:nvPr/>
                </p:nvSpPr>
                <p:spPr bwMode="auto">
                  <a:xfrm>
                    <a:off x="4048" y="1012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47</a:t>
                    </a:r>
                  </a:p>
                </p:txBody>
              </p:sp>
              <p:sp>
                <p:nvSpPr>
                  <p:cNvPr id="141508" name="Text Box 3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28" y="86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41509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3472" y="1012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32</a:t>
                    </a:r>
                  </a:p>
                </p:txBody>
              </p:sp>
              <p:sp>
                <p:nvSpPr>
                  <p:cNvPr id="141510" name="Rectangle 41"/>
                  <p:cNvSpPr>
                    <a:spLocks noChangeArrowheads="1"/>
                  </p:cNvSpPr>
                  <p:nvPr/>
                </p:nvSpPr>
                <p:spPr bwMode="auto">
                  <a:xfrm>
                    <a:off x="5184" y="1012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63</a:t>
                    </a:r>
                  </a:p>
                </p:txBody>
              </p:sp>
              <p:sp>
                <p:nvSpPr>
                  <p:cNvPr id="141511" name="Text Box 42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864" y="86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41512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4608" y="1012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48</a:t>
                    </a:r>
                  </a:p>
                </p:txBody>
              </p:sp>
              <p:sp>
                <p:nvSpPr>
                  <p:cNvPr id="141513" name="Rectangle 44"/>
                  <p:cNvSpPr>
                    <a:spLocks noChangeArrowheads="1"/>
                  </p:cNvSpPr>
                  <p:nvPr/>
                </p:nvSpPr>
                <p:spPr bwMode="auto">
                  <a:xfrm>
                    <a:off x="1732" y="2213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15</a:t>
                    </a:r>
                  </a:p>
                </p:txBody>
              </p:sp>
              <p:sp>
                <p:nvSpPr>
                  <p:cNvPr id="141514" name="Rectangle 45"/>
                  <p:cNvSpPr>
                    <a:spLocks noChangeArrowheads="1"/>
                  </p:cNvSpPr>
                  <p:nvPr/>
                </p:nvSpPr>
                <p:spPr bwMode="auto">
                  <a:xfrm>
                    <a:off x="1156" y="2213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41515" name="Rectangle 46"/>
                  <p:cNvSpPr>
                    <a:spLocks noChangeArrowheads="1"/>
                  </p:cNvSpPr>
                  <p:nvPr/>
                </p:nvSpPr>
                <p:spPr bwMode="auto">
                  <a:xfrm>
                    <a:off x="2873" y="2213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31</a:t>
                    </a:r>
                  </a:p>
                </p:txBody>
              </p:sp>
              <p:sp>
                <p:nvSpPr>
                  <p:cNvPr id="141516" name="Rectangle 47"/>
                  <p:cNvSpPr>
                    <a:spLocks noChangeArrowheads="1"/>
                  </p:cNvSpPr>
                  <p:nvPr/>
                </p:nvSpPr>
                <p:spPr bwMode="auto">
                  <a:xfrm>
                    <a:off x="2297" y="2213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sp>
                <p:nvSpPr>
                  <p:cNvPr id="141517" name="Rectangle 48"/>
                  <p:cNvSpPr>
                    <a:spLocks noChangeArrowheads="1"/>
                  </p:cNvSpPr>
                  <p:nvPr/>
                </p:nvSpPr>
                <p:spPr bwMode="auto">
                  <a:xfrm>
                    <a:off x="4048" y="2213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47</a:t>
                    </a:r>
                  </a:p>
                </p:txBody>
              </p:sp>
              <p:sp>
                <p:nvSpPr>
                  <p:cNvPr id="141518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3472" y="2213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32</a:t>
                    </a:r>
                  </a:p>
                </p:txBody>
              </p:sp>
              <p:sp>
                <p:nvSpPr>
                  <p:cNvPr id="141519" name="Rectangle 50"/>
                  <p:cNvSpPr>
                    <a:spLocks noChangeArrowheads="1"/>
                  </p:cNvSpPr>
                  <p:nvPr/>
                </p:nvSpPr>
                <p:spPr bwMode="auto">
                  <a:xfrm>
                    <a:off x="5184" y="2213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63</a:t>
                    </a:r>
                  </a:p>
                </p:txBody>
              </p:sp>
              <p:sp>
                <p:nvSpPr>
                  <p:cNvPr id="141520" name="Rectangle 51"/>
                  <p:cNvSpPr>
                    <a:spLocks noChangeArrowheads="1"/>
                  </p:cNvSpPr>
                  <p:nvPr/>
                </p:nvSpPr>
                <p:spPr bwMode="auto">
                  <a:xfrm>
                    <a:off x="4608" y="2213"/>
                    <a:ext cx="288" cy="274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48</a:t>
                    </a:r>
                  </a:p>
                </p:txBody>
              </p:sp>
              <p:sp>
                <p:nvSpPr>
                  <p:cNvPr id="141521" name="Line 52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329" y="2710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22" name="Line 53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312" y="2708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23" name="Freeform 54"/>
                  <p:cNvSpPr/>
                  <p:nvPr/>
                </p:nvSpPr>
                <p:spPr bwMode="auto">
                  <a:xfrm>
                    <a:off x="1264" y="2707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24" name="Line 55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137" y="2710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25" name="Line 56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216" y="2712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26" name="Freeform 57"/>
                  <p:cNvSpPr/>
                  <p:nvPr/>
                </p:nvSpPr>
                <p:spPr bwMode="auto">
                  <a:xfrm>
                    <a:off x="1438" y="2351"/>
                    <a:ext cx="112" cy="1"/>
                  </a:xfrm>
                  <a:custGeom>
                    <a:avLst/>
                    <a:gdLst>
                      <a:gd name="T0" fmla="*/ 0 w 112"/>
                      <a:gd name="T1" fmla="*/ 0 h 1"/>
                      <a:gd name="T2" fmla="*/ 112 w 112"/>
                      <a:gd name="T3" fmla="*/ 0 h 1"/>
                      <a:gd name="T4" fmla="*/ 0 60000 65536"/>
                      <a:gd name="T5" fmla="*/ 0 60000 65536"/>
                      <a:gd name="T6" fmla="*/ 0 w 112"/>
                      <a:gd name="T7" fmla="*/ 0 h 1"/>
                      <a:gd name="T8" fmla="*/ 112 w 112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12" h="1">
                        <a:moveTo>
                          <a:pt x="0" y="0"/>
                        </a:moveTo>
                        <a:lnTo>
                          <a:pt x="112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27" name="Freeform 58"/>
                  <p:cNvSpPr/>
                  <p:nvPr/>
                </p:nvSpPr>
                <p:spPr bwMode="auto">
                  <a:xfrm>
                    <a:off x="1063" y="1207"/>
                    <a:ext cx="152" cy="1469"/>
                  </a:xfrm>
                  <a:custGeom>
                    <a:avLst/>
                    <a:gdLst>
                      <a:gd name="T0" fmla="*/ 152 w 152"/>
                      <a:gd name="T1" fmla="*/ 1469 h 1469"/>
                      <a:gd name="T2" fmla="*/ 0 w 152"/>
                      <a:gd name="T3" fmla="*/ 1469 h 1469"/>
                      <a:gd name="T4" fmla="*/ 0 w 152"/>
                      <a:gd name="T5" fmla="*/ 0 h 1469"/>
                      <a:gd name="T6" fmla="*/ 95 w 152"/>
                      <a:gd name="T7" fmla="*/ 1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2"/>
                      <a:gd name="T13" fmla="*/ 0 h 1469"/>
                      <a:gd name="T14" fmla="*/ 152 w 152"/>
                      <a:gd name="T15" fmla="*/ 1469 h 146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2" h="1469">
                        <a:moveTo>
                          <a:pt x="152" y="1469"/>
                        </a:moveTo>
                        <a:lnTo>
                          <a:pt x="0" y="1469"/>
                        </a:lnTo>
                        <a:lnTo>
                          <a:pt x="0" y="0"/>
                        </a:lnTo>
                        <a:lnTo>
                          <a:pt x="95" y="1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28" name="Freeform 59"/>
                  <p:cNvSpPr/>
                  <p:nvPr/>
                </p:nvSpPr>
                <p:spPr bwMode="auto">
                  <a:xfrm>
                    <a:off x="1059" y="2351"/>
                    <a:ext cx="102" cy="1"/>
                  </a:xfrm>
                  <a:custGeom>
                    <a:avLst/>
                    <a:gdLst>
                      <a:gd name="T0" fmla="*/ 102 w 102"/>
                      <a:gd name="T1" fmla="*/ 0 h 1"/>
                      <a:gd name="T2" fmla="*/ 0 w 102"/>
                      <a:gd name="T3" fmla="*/ 0 h 1"/>
                      <a:gd name="T4" fmla="*/ 0 60000 65536"/>
                      <a:gd name="T5" fmla="*/ 0 60000 65536"/>
                      <a:gd name="T6" fmla="*/ 0 w 102"/>
                      <a:gd name="T7" fmla="*/ 0 h 1"/>
                      <a:gd name="T8" fmla="*/ 102 w 102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2" h="1">
                        <a:moveTo>
                          <a:pt x="102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29" name="Line 60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900" y="2711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30" name="Line 61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1883" y="2709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31" name="Freeform 62"/>
                  <p:cNvSpPr/>
                  <p:nvPr/>
                </p:nvSpPr>
                <p:spPr bwMode="auto">
                  <a:xfrm>
                    <a:off x="1835" y="2708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32" name="Line 63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708" y="2711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33" name="Line 64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1787" y="2713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34" name="Freeform 65"/>
                  <p:cNvSpPr/>
                  <p:nvPr/>
                </p:nvSpPr>
                <p:spPr bwMode="auto">
                  <a:xfrm>
                    <a:off x="2009" y="2351"/>
                    <a:ext cx="103" cy="1"/>
                  </a:xfrm>
                  <a:custGeom>
                    <a:avLst/>
                    <a:gdLst>
                      <a:gd name="T0" fmla="*/ 0 w 103"/>
                      <a:gd name="T1" fmla="*/ 0 h 1"/>
                      <a:gd name="T2" fmla="*/ 103 w 103"/>
                      <a:gd name="T3" fmla="*/ 0 h 1"/>
                      <a:gd name="T4" fmla="*/ 0 60000 65536"/>
                      <a:gd name="T5" fmla="*/ 0 60000 65536"/>
                      <a:gd name="T6" fmla="*/ 0 w 103"/>
                      <a:gd name="T7" fmla="*/ 0 h 1"/>
                      <a:gd name="T8" fmla="*/ 103 w 103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3" h="1">
                        <a:moveTo>
                          <a:pt x="0" y="0"/>
                        </a:moveTo>
                        <a:lnTo>
                          <a:pt x="103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35" name="Freeform 66"/>
                  <p:cNvSpPr/>
                  <p:nvPr/>
                </p:nvSpPr>
                <p:spPr bwMode="auto">
                  <a:xfrm>
                    <a:off x="1615" y="2350"/>
                    <a:ext cx="113" cy="1"/>
                  </a:xfrm>
                  <a:custGeom>
                    <a:avLst/>
                    <a:gdLst>
                      <a:gd name="T0" fmla="*/ 113 w 113"/>
                      <a:gd name="T1" fmla="*/ 1 h 1"/>
                      <a:gd name="T2" fmla="*/ 0 w 113"/>
                      <a:gd name="T3" fmla="*/ 0 h 1"/>
                      <a:gd name="T4" fmla="*/ 0 60000 65536"/>
                      <a:gd name="T5" fmla="*/ 0 60000 65536"/>
                      <a:gd name="T6" fmla="*/ 0 w 113"/>
                      <a:gd name="T7" fmla="*/ 0 h 1"/>
                      <a:gd name="T8" fmla="*/ 113 w 113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13" h="1">
                        <a:moveTo>
                          <a:pt x="113" y="1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36" name="Line 67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2481" y="2711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37" name="Line 68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2464" y="2709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38" name="Freeform 69"/>
                  <p:cNvSpPr/>
                  <p:nvPr/>
                </p:nvSpPr>
                <p:spPr bwMode="auto">
                  <a:xfrm>
                    <a:off x="2416" y="2708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39" name="Line 70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289" y="2711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40" name="Line 71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368" y="2713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41" name="Freeform 72"/>
                  <p:cNvSpPr/>
                  <p:nvPr/>
                </p:nvSpPr>
                <p:spPr bwMode="auto">
                  <a:xfrm>
                    <a:off x="2590" y="2351"/>
                    <a:ext cx="109" cy="1"/>
                  </a:xfrm>
                  <a:custGeom>
                    <a:avLst/>
                    <a:gdLst>
                      <a:gd name="T0" fmla="*/ 0 w 109"/>
                      <a:gd name="T1" fmla="*/ 0 h 1"/>
                      <a:gd name="T2" fmla="*/ 109 w 109"/>
                      <a:gd name="T3" fmla="*/ 0 h 1"/>
                      <a:gd name="T4" fmla="*/ 0 60000 65536"/>
                      <a:gd name="T5" fmla="*/ 0 60000 65536"/>
                      <a:gd name="T6" fmla="*/ 0 w 109"/>
                      <a:gd name="T7" fmla="*/ 0 h 1"/>
                      <a:gd name="T8" fmla="*/ 109 w 10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9" h="1">
                        <a:moveTo>
                          <a:pt x="0" y="0"/>
                        </a:moveTo>
                        <a:lnTo>
                          <a:pt x="109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42" name="Freeform 73"/>
                  <p:cNvSpPr/>
                  <p:nvPr/>
                </p:nvSpPr>
                <p:spPr bwMode="auto">
                  <a:xfrm>
                    <a:off x="2211" y="2351"/>
                    <a:ext cx="89" cy="1"/>
                  </a:xfrm>
                  <a:custGeom>
                    <a:avLst/>
                    <a:gdLst>
                      <a:gd name="T0" fmla="*/ 89 w 89"/>
                      <a:gd name="T1" fmla="*/ 0 h 1"/>
                      <a:gd name="T2" fmla="*/ 0 w 89"/>
                      <a:gd name="T3" fmla="*/ 0 h 1"/>
                      <a:gd name="T4" fmla="*/ 0 60000 65536"/>
                      <a:gd name="T5" fmla="*/ 0 60000 65536"/>
                      <a:gd name="T6" fmla="*/ 0 w 89"/>
                      <a:gd name="T7" fmla="*/ 0 h 1"/>
                      <a:gd name="T8" fmla="*/ 89 w 8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89" h="1">
                        <a:moveTo>
                          <a:pt x="89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43" name="Line 74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057" y="2711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44" name="Line 75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040" y="2709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45" name="Freeform 76"/>
                  <p:cNvSpPr/>
                  <p:nvPr/>
                </p:nvSpPr>
                <p:spPr bwMode="auto">
                  <a:xfrm>
                    <a:off x="2992" y="2708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46" name="Line 77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865" y="2711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47" name="Line 78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2944" y="2713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48" name="Freeform 79"/>
                  <p:cNvSpPr/>
                  <p:nvPr/>
                </p:nvSpPr>
                <p:spPr bwMode="auto">
                  <a:xfrm>
                    <a:off x="3166" y="2351"/>
                    <a:ext cx="115" cy="1"/>
                  </a:xfrm>
                  <a:custGeom>
                    <a:avLst/>
                    <a:gdLst>
                      <a:gd name="T0" fmla="*/ 0 w 115"/>
                      <a:gd name="T1" fmla="*/ 0 h 1"/>
                      <a:gd name="T2" fmla="*/ 115 w 115"/>
                      <a:gd name="T3" fmla="*/ 0 h 1"/>
                      <a:gd name="T4" fmla="*/ 0 60000 65536"/>
                      <a:gd name="T5" fmla="*/ 0 60000 65536"/>
                      <a:gd name="T6" fmla="*/ 0 w 115"/>
                      <a:gd name="T7" fmla="*/ 0 h 1"/>
                      <a:gd name="T8" fmla="*/ 115 w 115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15" h="1">
                        <a:moveTo>
                          <a:pt x="0" y="0"/>
                        </a:moveTo>
                        <a:lnTo>
                          <a:pt x="115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49" name="Freeform 80"/>
                  <p:cNvSpPr/>
                  <p:nvPr/>
                </p:nvSpPr>
                <p:spPr bwMode="auto">
                  <a:xfrm>
                    <a:off x="2787" y="2351"/>
                    <a:ext cx="90" cy="1"/>
                  </a:xfrm>
                  <a:custGeom>
                    <a:avLst/>
                    <a:gdLst>
                      <a:gd name="T0" fmla="*/ 90 w 90"/>
                      <a:gd name="T1" fmla="*/ 0 h 1"/>
                      <a:gd name="T2" fmla="*/ 0 w 90"/>
                      <a:gd name="T3" fmla="*/ 0 h 1"/>
                      <a:gd name="T4" fmla="*/ 0 60000 65536"/>
                      <a:gd name="T5" fmla="*/ 0 60000 65536"/>
                      <a:gd name="T6" fmla="*/ 0 w 90"/>
                      <a:gd name="T7" fmla="*/ 0 h 1"/>
                      <a:gd name="T8" fmla="*/ 90 w 90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0" h="1">
                        <a:moveTo>
                          <a:pt x="90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50" name="Line 81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633" y="2711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51" name="Line 82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3616" y="2709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52" name="Freeform 83"/>
                  <p:cNvSpPr/>
                  <p:nvPr/>
                </p:nvSpPr>
                <p:spPr bwMode="auto">
                  <a:xfrm>
                    <a:off x="3568" y="2708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53" name="Line 84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3441" y="2711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54" name="Line 85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3520" y="2713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55" name="Freeform 86"/>
                  <p:cNvSpPr/>
                  <p:nvPr/>
                </p:nvSpPr>
                <p:spPr bwMode="auto">
                  <a:xfrm>
                    <a:off x="3755" y="2350"/>
                    <a:ext cx="100" cy="1"/>
                  </a:xfrm>
                  <a:custGeom>
                    <a:avLst/>
                    <a:gdLst>
                      <a:gd name="T0" fmla="*/ 0 w 100"/>
                      <a:gd name="T1" fmla="*/ 0 h 1"/>
                      <a:gd name="T2" fmla="*/ 100 w 100"/>
                      <a:gd name="T3" fmla="*/ 1 h 1"/>
                      <a:gd name="T4" fmla="*/ 0 60000 65536"/>
                      <a:gd name="T5" fmla="*/ 0 60000 65536"/>
                      <a:gd name="T6" fmla="*/ 0 w 100"/>
                      <a:gd name="T7" fmla="*/ 0 h 1"/>
                      <a:gd name="T8" fmla="*/ 100 w 100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0" h="1">
                        <a:moveTo>
                          <a:pt x="0" y="0"/>
                        </a:moveTo>
                        <a:lnTo>
                          <a:pt x="100" y="1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56" name="Freeform 87"/>
                  <p:cNvSpPr/>
                  <p:nvPr/>
                </p:nvSpPr>
                <p:spPr bwMode="auto">
                  <a:xfrm>
                    <a:off x="3363" y="2351"/>
                    <a:ext cx="108" cy="1"/>
                  </a:xfrm>
                  <a:custGeom>
                    <a:avLst/>
                    <a:gdLst>
                      <a:gd name="T0" fmla="*/ 108 w 108"/>
                      <a:gd name="T1" fmla="*/ 0 h 1"/>
                      <a:gd name="T2" fmla="*/ 0 w 108"/>
                      <a:gd name="T3" fmla="*/ 0 h 1"/>
                      <a:gd name="T4" fmla="*/ 0 60000 65536"/>
                      <a:gd name="T5" fmla="*/ 0 60000 65536"/>
                      <a:gd name="T6" fmla="*/ 0 w 108"/>
                      <a:gd name="T7" fmla="*/ 0 h 1"/>
                      <a:gd name="T8" fmla="*/ 108 w 108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8" h="1">
                        <a:moveTo>
                          <a:pt x="108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57" name="Line 88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209" y="2696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58" name="Line 89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192" y="2694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59" name="Freeform 90"/>
                  <p:cNvSpPr/>
                  <p:nvPr/>
                </p:nvSpPr>
                <p:spPr bwMode="auto">
                  <a:xfrm>
                    <a:off x="4144" y="2693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60" name="Line 91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017" y="2696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61" name="Line 92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096" y="2698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62" name="Freeform 93"/>
                  <p:cNvSpPr/>
                  <p:nvPr/>
                </p:nvSpPr>
                <p:spPr bwMode="auto">
                  <a:xfrm>
                    <a:off x="4340" y="2349"/>
                    <a:ext cx="90" cy="2"/>
                  </a:xfrm>
                  <a:custGeom>
                    <a:avLst/>
                    <a:gdLst>
                      <a:gd name="T0" fmla="*/ 0 w 90"/>
                      <a:gd name="T1" fmla="*/ 0 h 2"/>
                      <a:gd name="T2" fmla="*/ 90 w 90"/>
                      <a:gd name="T3" fmla="*/ 2 h 2"/>
                      <a:gd name="T4" fmla="*/ 0 60000 65536"/>
                      <a:gd name="T5" fmla="*/ 0 60000 65536"/>
                      <a:gd name="T6" fmla="*/ 0 w 90"/>
                      <a:gd name="T7" fmla="*/ 0 h 2"/>
                      <a:gd name="T8" fmla="*/ 90 w 90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0" h="2">
                        <a:moveTo>
                          <a:pt x="0" y="0"/>
                        </a:moveTo>
                        <a:lnTo>
                          <a:pt x="90" y="2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63" name="Freeform 94"/>
                  <p:cNvSpPr/>
                  <p:nvPr/>
                </p:nvSpPr>
                <p:spPr bwMode="auto">
                  <a:xfrm>
                    <a:off x="3939" y="2351"/>
                    <a:ext cx="104" cy="1"/>
                  </a:xfrm>
                  <a:custGeom>
                    <a:avLst/>
                    <a:gdLst>
                      <a:gd name="T0" fmla="*/ 104 w 104"/>
                      <a:gd name="T1" fmla="*/ 0 h 1"/>
                      <a:gd name="T2" fmla="*/ 0 w 104"/>
                      <a:gd name="T3" fmla="*/ 0 h 1"/>
                      <a:gd name="T4" fmla="*/ 0 60000 65536"/>
                      <a:gd name="T5" fmla="*/ 0 60000 65536"/>
                      <a:gd name="T6" fmla="*/ 0 w 104"/>
                      <a:gd name="T7" fmla="*/ 0 h 1"/>
                      <a:gd name="T8" fmla="*/ 104 w 104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4" h="1">
                        <a:moveTo>
                          <a:pt x="104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41564" name="Group 95"/>
                  <p:cNvGrpSpPr/>
                  <p:nvPr/>
                </p:nvGrpSpPr>
                <p:grpSpPr bwMode="auto">
                  <a:xfrm>
                    <a:off x="4672" y="2632"/>
                    <a:ext cx="192" cy="158"/>
                    <a:chOff x="4692" y="2634"/>
                    <a:chExt cx="192" cy="158"/>
                  </a:xfrm>
                </p:grpSpPr>
                <p:grpSp>
                  <p:nvGrpSpPr>
                    <p:cNvPr id="141707" name="Group 96"/>
                    <p:cNvGrpSpPr/>
                    <p:nvPr/>
                  </p:nvGrpSpPr>
                  <p:grpSpPr bwMode="auto">
                    <a:xfrm>
                      <a:off x="4836" y="2634"/>
                      <a:ext cx="48" cy="158"/>
                      <a:chOff x="4836" y="2634"/>
                      <a:chExt cx="48" cy="158"/>
                    </a:xfrm>
                  </p:grpSpPr>
                  <p:sp>
                    <p:nvSpPr>
                      <p:cNvPr id="141712" name="Line 97"/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4805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141713" name="Line 98"/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4788" y="2711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  <p:sp>
                  <p:nvSpPr>
                    <p:cNvPr id="141708" name="Freeform 99"/>
                    <p:cNvSpPr/>
                    <p:nvPr/>
                  </p:nvSpPr>
                  <p:spPr bwMode="auto">
                    <a:xfrm>
                      <a:off x="4740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grpSp>
                  <p:nvGrpSpPr>
                    <p:cNvPr id="141709" name="Group 100"/>
                    <p:cNvGrpSpPr/>
                    <p:nvPr/>
                  </p:nvGrpSpPr>
                  <p:grpSpPr bwMode="auto">
                    <a:xfrm>
                      <a:off x="4692" y="2634"/>
                      <a:ext cx="48" cy="158"/>
                      <a:chOff x="4692" y="2634"/>
                      <a:chExt cx="48" cy="158"/>
                    </a:xfrm>
                  </p:grpSpPr>
                  <p:sp>
                    <p:nvSpPr>
                      <p:cNvPr id="141710" name="Line 101"/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4613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141711" name="Line 102"/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4692" y="2715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</p:grpSp>
              <p:sp>
                <p:nvSpPr>
                  <p:cNvPr id="141565" name="Freeform 103"/>
                  <p:cNvSpPr/>
                  <p:nvPr/>
                </p:nvSpPr>
                <p:spPr bwMode="auto">
                  <a:xfrm>
                    <a:off x="4894" y="2351"/>
                    <a:ext cx="107" cy="1"/>
                  </a:xfrm>
                  <a:custGeom>
                    <a:avLst/>
                    <a:gdLst>
                      <a:gd name="T0" fmla="*/ 0 w 107"/>
                      <a:gd name="T1" fmla="*/ 0 h 1"/>
                      <a:gd name="T2" fmla="*/ 107 w 107"/>
                      <a:gd name="T3" fmla="*/ 0 h 1"/>
                      <a:gd name="T4" fmla="*/ 0 60000 65536"/>
                      <a:gd name="T5" fmla="*/ 0 60000 65536"/>
                      <a:gd name="T6" fmla="*/ 0 w 107"/>
                      <a:gd name="T7" fmla="*/ 0 h 1"/>
                      <a:gd name="T8" fmla="*/ 107 w 107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7" h="1">
                        <a:moveTo>
                          <a:pt x="0" y="0"/>
                        </a:moveTo>
                        <a:lnTo>
                          <a:pt x="107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66" name="Freeform 104"/>
                  <p:cNvSpPr/>
                  <p:nvPr/>
                </p:nvSpPr>
                <p:spPr bwMode="auto">
                  <a:xfrm>
                    <a:off x="4515" y="2351"/>
                    <a:ext cx="96" cy="1"/>
                  </a:xfrm>
                  <a:custGeom>
                    <a:avLst/>
                    <a:gdLst>
                      <a:gd name="T0" fmla="*/ 96 w 96"/>
                      <a:gd name="T1" fmla="*/ 0 h 1"/>
                      <a:gd name="T2" fmla="*/ 0 w 96"/>
                      <a:gd name="T3" fmla="*/ 0 h 1"/>
                      <a:gd name="T4" fmla="*/ 0 60000 65536"/>
                      <a:gd name="T5" fmla="*/ 0 60000 65536"/>
                      <a:gd name="T6" fmla="*/ 0 w 96"/>
                      <a:gd name="T7" fmla="*/ 0 h 1"/>
                      <a:gd name="T8" fmla="*/ 96 w 96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1">
                        <a:moveTo>
                          <a:pt x="96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41567" name="Group 105"/>
                  <p:cNvGrpSpPr/>
                  <p:nvPr/>
                </p:nvGrpSpPr>
                <p:grpSpPr bwMode="auto">
                  <a:xfrm>
                    <a:off x="5239" y="2632"/>
                    <a:ext cx="192" cy="158"/>
                    <a:chOff x="5259" y="2634"/>
                    <a:chExt cx="192" cy="158"/>
                  </a:xfrm>
                </p:grpSpPr>
                <p:grpSp>
                  <p:nvGrpSpPr>
                    <p:cNvPr id="141700" name="Group 106"/>
                    <p:cNvGrpSpPr/>
                    <p:nvPr/>
                  </p:nvGrpSpPr>
                  <p:grpSpPr bwMode="auto">
                    <a:xfrm>
                      <a:off x="5403" y="2634"/>
                      <a:ext cx="48" cy="158"/>
                      <a:chOff x="5403" y="2634"/>
                      <a:chExt cx="48" cy="158"/>
                    </a:xfrm>
                  </p:grpSpPr>
                  <p:sp>
                    <p:nvSpPr>
                      <p:cNvPr id="141705" name="Line 107"/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5372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141706" name="Line 108"/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5355" y="2711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  <p:sp>
                  <p:nvSpPr>
                    <p:cNvPr id="141701" name="Freeform 109"/>
                    <p:cNvSpPr/>
                    <p:nvPr/>
                  </p:nvSpPr>
                  <p:spPr bwMode="auto">
                    <a:xfrm>
                      <a:off x="5307" y="2710"/>
                      <a:ext cx="96" cy="2"/>
                    </a:xfrm>
                    <a:custGeom>
                      <a:avLst/>
                      <a:gdLst>
                        <a:gd name="T0" fmla="*/ 0 w 96"/>
                        <a:gd name="T1" fmla="*/ 2 h 2"/>
                        <a:gd name="T2" fmla="*/ 96 w 96"/>
                        <a:gd name="T3" fmla="*/ 0 h 2"/>
                        <a:gd name="T4" fmla="*/ 0 60000 65536"/>
                        <a:gd name="T5" fmla="*/ 0 60000 65536"/>
                        <a:gd name="T6" fmla="*/ 0 w 96"/>
                        <a:gd name="T7" fmla="*/ 0 h 2"/>
                        <a:gd name="T8" fmla="*/ 96 w 96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96" h="2">
                          <a:moveTo>
                            <a:pt x="0" y="2"/>
                          </a:moveTo>
                          <a:lnTo>
                            <a:pt x="96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grpSp>
                  <p:nvGrpSpPr>
                    <p:cNvPr id="141702" name="Group 110"/>
                    <p:cNvGrpSpPr/>
                    <p:nvPr/>
                  </p:nvGrpSpPr>
                  <p:grpSpPr bwMode="auto">
                    <a:xfrm>
                      <a:off x="5259" y="2634"/>
                      <a:ext cx="48" cy="158"/>
                      <a:chOff x="5259" y="2634"/>
                      <a:chExt cx="48" cy="158"/>
                    </a:xfrm>
                  </p:grpSpPr>
                  <p:sp>
                    <p:nvSpPr>
                      <p:cNvPr id="141703" name="Line 111"/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5180" y="2713"/>
                        <a:ext cx="158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141704" name="Line 112"/>
                      <p:cNvSpPr>
                        <a:spLocks noChangeShapeType="1"/>
                      </p:cNvSpPr>
                      <p:nvPr/>
                    </p:nvSpPr>
                    <p:spPr bwMode="auto">
                      <a:xfrm rot="-5400000">
                        <a:off x="5259" y="2715"/>
                        <a:ext cx="96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endParaRPr lang="zh-CN" altLang="en-US"/>
                      </a:p>
                    </p:txBody>
                  </p:sp>
                </p:grpSp>
              </p:grpSp>
              <p:sp>
                <p:nvSpPr>
                  <p:cNvPr id="141568" name="Freeform 113"/>
                  <p:cNvSpPr/>
                  <p:nvPr/>
                </p:nvSpPr>
                <p:spPr bwMode="auto">
                  <a:xfrm>
                    <a:off x="5471" y="2349"/>
                    <a:ext cx="96" cy="2"/>
                  </a:xfrm>
                  <a:custGeom>
                    <a:avLst/>
                    <a:gdLst>
                      <a:gd name="T0" fmla="*/ 0 w 96"/>
                      <a:gd name="T1" fmla="*/ 0 h 2"/>
                      <a:gd name="T2" fmla="*/ 96 w 96"/>
                      <a:gd name="T3" fmla="*/ 2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0"/>
                        </a:moveTo>
                        <a:lnTo>
                          <a:pt x="96" y="2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69" name="Freeform 114"/>
                  <p:cNvSpPr/>
                  <p:nvPr/>
                </p:nvSpPr>
                <p:spPr bwMode="auto">
                  <a:xfrm>
                    <a:off x="5082" y="2351"/>
                    <a:ext cx="101" cy="1"/>
                  </a:xfrm>
                  <a:custGeom>
                    <a:avLst/>
                    <a:gdLst>
                      <a:gd name="T0" fmla="*/ 101 w 101"/>
                      <a:gd name="T1" fmla="*/ 0 h 1"/>
                      <a:gd name="T2" fmla="*/ 0 w 101"/>
                      <a:gd name="T3" fmla="*/ 0 h 1"/>
                      <a:gd name="T4" fmla="*/ 0 60000 65536"/>
                      <a:gd name="T5" fmla="*/ 0 60000 65536"/>
                      <a:gd name="T6" fmla="*/ 0 w 101"/>
                      <a:gd name="T7" fmla="*/ 0 h 1"/>
                      <a:gd name="T8" fmla="*/ 101 w 101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01" h="1">
                        <a:moveTo>
                          <a:pt x="101" y="0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70" name="Freeform 115"/>
                  <p:cNvSpPr/>
                  <p:nvPr/>
                </p:nvSpPr>
                <p:spPr bwMode="auto">
                  <a:xfrm>
                    <a:off x="912" y="854"/>
                    <a:ext cx="4419" cy="1"/>
                  </a:xfrm>
                  <a:custGeom>
                    <a:avLst/>
                    <a:gdLst>
                      <a:gd name="T0" fmla="*/ 0 w 4419"/>
                      <a:gd name="T1" fmla="*/ 1 h 1"/>
                      <a:gd name="T2" fmla="*/ 4419 w 4419"/>
                      <a:gd name="T3" fmla="*/ 0 h 1"/>
                      <a:gd name="T4" fmla="*/ 0 60000 65536"/>
                      <a:gd name="T5" fmla="*/ 0 60000 65536"/>
                      <a:gd name="T6" fmla="*/ 0 w 4419"/>
                      <a:gd name="T7" fmla="*/ 0 h 1"/>
                      <a:gd name="T8" fmla="*/ 4419 w 441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9" h="1">
                        <a:moveTo>
                          <a:pt x="0" y="1"/>
                        </a:moveTo>
                        <a:lnTo>
                          <a:pt x="4419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71" name="Line 116"/>
                  <p:cNvSpPr>
                    <a:spLocks noChangeShapeType="1"/>
                  </p:cNvSpPr>
                  <p:nvPr/>
                </p:nvSpPr>
                <p:spPr bwMode="auto">
                  <a:xfrm>
                    <a:off x="1296" y="8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72" name="Line 117"/>
                  <p:cNvSpPr>
                    <a:spLocks noChangeShapeType="1"/>
                  </p:cNvSpPr>
                  <p:nvPr/>
                </p:nvSpPr>
                <p:spPr bwMode="auto">
                  <a:xfrm>
                    <a:off x="1872" y="8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73" name="Line 118"/>
                  <p:cNvSpPr>
                    <a:spLocks noChangeShapeType="1"/>
                  </p:cNvSpPr>
                  <p:nvPr/>
                </p:nvSpPr>
                <p:spPr bwMode="auto">
                  <a:xfrm>
                    <a:off x="2448" y="8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74" name="Line 119"/>
                  <p:cNvSpPr>
                    <a:spLocks noChangeShapeType="1"/>
                  </p:cNvSpPr>
                  <p:nvPr/>
                </p:nvSpPr>
                <p:spPr bwMode="auto">
                  <a:xfrm>
                    <a:off x="3024" y="8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75" name="Line 120"/>
                  <p:cNvSpPr>
                    <a:spLocks noChangeShapeType="1"/>
                  </p:cNvSpPr>
                  <p:nvPr/>
                </p:nvSpPr>
                <p:spPr bwMode="auto">
                  <a:xfrm>
                    <a:off x="3600" y="8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76" name="Line 121"/>
                  <p:cNvSpPr>
                    <a:spLocks noChangeShapeType="1"/>
                  </p:cNvSpPr>
                  <p:nvPr/>
                </p:nvSpPr>
                <p:spPr bwMode="auto">
                  <a:xfrm>
                    <a:off x="4176" y="8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77" name="Line 122"/>
                  <p:cNvSpPr>
                    <a:spLocks noChangeShapeType="1"/>
                  </p:cNvSpPr>
                  <p:nvPr/>
                </p:nvSpPr>
                <p:spPr bwMode="auto">
                  <a:xfrm>
                    <a:off x="4752" y="8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78" name="Line 123"/>
                  <p:cNvSpPr>
                    <a:spLocks noChangeShapeType="1"/>
                  </p:cNvSpPr>
                  <p:nvPr/>
                </p:nvSpPr>
                <p:spPr bwMode="auto">
                  <a:xfrm>
                    <a:off x="5328" y="8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79" name="Freeform 124"/>
                  <p:cNvSpPr/>
                  <p:nvPr/>
                </p:nvSpPr>
                <p:spPr bwMode="auto">
                  <a:xfrm>
                    <a:off x="1309" y="2706"/>
                    <a:ext cx="1" cy="166"/>
                  </a:xfrm>
                  <a:custGeom>
                    <a:avLst/>
                    <a:gdLst>
                      <a:gd name="T0" fmla="*/ 1 w 1"/>
                      <a:gd name="T1" fmla="*/ 0 h 166"/>
                      <a:gd name="T2" fmla="*/ 0 w 1"/>
                      <a:gd name="T3" fmla="*/ 166 h 166"/>
                      <a:gd name="T4" fmla="*/ 0 60000 65536"/>
                      <a:gd name="T5" fmla="*/ 0 60000 65536"/>
                      <a:gd name="T6" fmla="*/ 0 w 1"/>
                      <a:gd name="T7" fmla="*/ 0 h 166"/>
                      <a:gd name="T8" fmla="*/ 1 w 1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66">
                        <a:moveTo>
                          <a:pt x="1" y="0"/>
                        </a:moveTo>
                        <a:lnTo>
                          <a:pt x="0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80" name="Freeform 125"/>
                  <p:cNvSpPr/>
                  <p:nvPr/>
                </p:nvSpPr>
                <p:spPr bwMode="auto">
                  <a:xfrm>
                    <a:off x="1884" y="2706"/>
                    <a:ext cx="47" cy="501"/>
                  </a:xfrm>
                  <a:custGeom>
                    <a:avLst/>
                    <a:gdLst>
                      <a:gd name="T0" fmla="*/ 0 w 1"/>
                      <a:gd name="T1" fmla="*/ 0 h 406"/>
                      <a:gd name="T2" fmla="*/ 0 w 1"/>
                      <a:gd name="T3" fmla="*/ 7711 h 406"/>
                      <a:gd name="T4" fmla="*/ 0 60000 65536"/>
                      <a:gd name="T5" fmla="*/ 0 60000 65536"/>
                      <a:gd name="T6" fmla="*/ 0 w 1"/>
                      <a:gd name="T7" fmla="*/ 0 h 406"/>
                      <a:gd name="T8" fmla="*/ 1 w 1"/>
                      <a:gd name="T9" fmla="*/ 406 h 40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406">
                        <a:moveTo>
                          <a:pt x="0" y="0"/>
                        </a:moveTo>
                        <a:lnTo>
                          <a:pt x="0" y="40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81" name="Freeform 126"/>
                  <p:cNvSpPr/>
                  <p:nvPr/>
                </p:nvSpPr>
                <p:spPr bwMode="auto">
                  <a:xfrm>
                    <a:off x="2458" y="2706"/>
                    <a:ext cx="4" cy="166"/>
                  </a:xfrm>
                  <a:custGeom>
                    <a:avLst/>
                    <a:gdLst>
                      <a:gd name="T0" fmla="*/ 4 w 4"/>
                      <a:gd name="T1" fmla="*/ 0 h 166"/>
                      <a:gd name="T2" fmla="*/ 0 w 4"/>
                      <a:gd name="T3" fmla="*/ 166 h 166"/>
                      <a:gd name="T4" fmla="*/ 0 60000 65536"/>
                      <a:gd name="T5" fmla="*/ 0 60000 65536"/>
                      <a:gd name="T6" fmla="*/ 0 w 4"/>
                      <a:gd name="T7" fmla="*/ 0 h 166"/>
                      <a:gd name="T8" fmla="*/ 4 w 4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" h="166">
                        <a:moveTo>
                          <a:pt x="4" y="0"/>
                        </a:moveTo>
                        <a:lnTo>
                          <a:pt x="0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82" name="Freeform 127"/>
                  <p:cNvSpPr/>
                  <p:nvPr/>
                </p:nvSpPr>
                <p:spPr bwMode="auto">
                  <a:xfrm>
                    <a:off x="3610" y="2706"/>
                    <a:ext cx="2" cy="175"/>
                  </a:xfrm>
                  <a:custGeom>
                    <a:avLst/>
                    <a:gdLst>
                      <a:gd name="T0" fmla="*/ 2 w 2"/>
                      <a:gd name="T1" fmla="*/ 0 h 175"/>
                      <a:gd name="T2" fmla="*/ 0 w 2"/>
                      <a:gd name="T3" fmla="*/ 175 h 175"/>
                      <a:gd name="T4" fmla="*/ 0 60000 65536"/>
                      <a:gd name="T5" fmla="*/ 0 60000 65536"/>
                      <a:gd name="T6" fmla="*/ 0 w 2"/>
                      <a:gd name="T7" fmla="*/ 0 h 175"/>
                      <a:gd name="T8" fmla="*/ 2 w 2"/>
                      <a:gd name="T9" fmla="*/ 175 h 175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2" h="175">
                        <a:moveTo>
                          <a:pt x="2" y="0"/>
                        </a:moveTo>
                        <a:lnTo>
                          <a:pt x="0" y="175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83" name="Freeform 128"/>
                  <p:cNvSpPr/>
                  <p:nvPr/>
                </p:nvSpPr>
                <p:spPr bwMode="auto">
                  <a:xfrm>
                    <a:off x="4764" y="2695"/>
                    <a:ext cx="1" cy="176"/>
                  </a:xfrm>
                  <a:custGeom>
                    <a:avLst/>
                    <a:gdLst>
                      <a:gd name="T0" fmla="*/ 0 w 1"/>
                      <a:gd name="T1" fmla="*/ 0 h 176"/>
                      <a:gd name="T2" fmla="*/ 0 w 1"/>
                      <a:gd name="T3" fmla="*/ 176 h 176"/>
                      <a:gd name="T4" fmla="*/ 0 60000 65536"/>
                      <a:gd name="T5" fmla="*/ 0 60000 65536"/>
                      <a:gd name="T6" fmla="*/ 0 w 1"/>
                      <a:gd name="T7" fmla="*/ 0 h 176"/>
                      <a:gd name="T8" fmla="*/ 1 w 1"/>
                      <a:gd name="T9" fmla="*/ 176 h 17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76">
                        <a:moveTo>
                          <a:pt x="0" y="0"/>
                        </a:moveTo>
                        <a:lnTo>
                          <a:pt x="0" y="17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84" name="Freeform 129"/>
                  <p:cNvSpPr/>
                  <p:nvPr/>
                </p:nvSpPr>
                <p:spPr bwMode="auto">
                  <a:xfrm>
                    <a:off x="912" y="1478"/>
                    <a:ext cx="4422" cy="1"/>
                  </a:xfrm>
                  <a:custGeom>
                    <a:avLst/>
                    <a:gdLst>
                      <a:gd name="T0" fmla="*/ 0 w 4422"/>
                      <a:gd name="T1" fmla="*/ 1 h 1"/>
                      <a:gd name="T2" fmla="*/ 4422 w 4422"/>
                      <a:gd name="T3" fmla="*/ 0 h 1"/>
                      <a:gd name="T4" fmla="*/ 0 60000 65536"/>
                      <a:gd name="T5" fmla="*/ 0 60000 65536"/>
                      <a:gd name="T6" fmla="*/ 0 w 4422"/>
                      <a:gd name="T7" fmla="*/ 0 h 1"/>
                      <a:gd name="T8" fmla="*/ 4422 w 4422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22" h="1">
                        <a:moveTo>
                          <a:pt x="0" y="1"/>
                        </a:moveTo>
                        <a:lnTo>
                          <a:pt x="4422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85" name="Line 130"/>
                  <p:cNvSpPr>
                    <a:spLocks noChangeShapeType="1"/>
                  </p:cNvSpPr>
                  <p:nvPr/>
                </p:nvSpPr>
                <p:spPr bwMode="auto">
                  <a:xfrm>
                    <a:off x="1296" y="14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86" name="Line 131"/>
                  <p:cNvSpPr>
                    <a:spLocks noChangeShapeType="1"/>
                  </p:cNvSpPr>
                  <p:nvPr/>
                </p:nvSpPr>
                <p:spPr bwMode="auto">
                  <a:xfrm>
                    <a:off x="1872" y="14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87" name="Line 132"/>
                  <p:cNvSpPr>
                    <a:spLocks noChangeShapeType="1"/>
                  </p:cNvSpPr>
                  <p:nvPr/>
                </p:nvSpPr>
                <p:spPr bwMode="auto">
                  <a:xfrm>
                    <a:off x="2448" y="14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88" name="Line 133"/>
                  <p:cNvSpPr>
                    <a:spLocks noChangeShapeType="1"/>
                  </p:cNvSpPr>
                  <p:nvPr/>
                </p:nvSpPr>
                <p:spPr bwMode="auto">
                  <a:xfrm>
                    <a:off x="3024" y="14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89" name="Line 134"/>
                  <p:cNvSpPr>
                    <a:spLocks noChangeShapeType="1"/>
                  </p:cNvSpPr>
                  <p:nvPr/>
                </p:nvSpPr>
                <p:spPr bwMode="auto">
                  <a:xfrm>
                    <a:off x="3600" y="14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90" name="Line 135"/>
                  <p:cNvSpPr>
                    <a:spLocks noChangeShapeType="1"/>
                  </p:cNvSpPr>
                  <p:nvPr/>
                </p:nvSpPr>
                <p:spPr bwMode="auto">
                  <a:xfrm>
                    <a:off x="4176" y="14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91" name="Line 136"/>
                  <p:cNvSpPr>
                    <a:spLocks noChangeShapeType="1"/>
                  </p:cNvSpPr>
                  <p:nvPr/>
                </p:nvSpPr>
                <p:spPr bwMode="auto">
                  <a:xfrm>
                    <a:off x="4752" y="14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92" name="Line 137"/>
                  <p:cNvSpPr>
                    <a:spLocks noChangeShapeType="1"/>
                  </p:cNvSpPr>
                  <p:nvPr/>
                </p:nvSpPr>
                <p:spPr bwMode="auto">
                  <a:xfrm>
                    <a:off x="5328" y="14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93" name="Freeform 138"/>
                  <p:cNvSpPr/>
                  <p:nvPr/>
                </p:nvSpPr>
                <p:spPr bwMode="auto">
                  <a:xfrm>
                    <a:off x="912" y="2054"/>
                    <a:ext cx="4418" cy="1"/>
                  </a:xfrm>
                  <a:custGeom>
                    <a:avLst/>
                    <a:gdLst>
                      <a:gd name="T0" fmla="*/ 0 w 4418"/>
                      <a:gd name="T1" fmla="*/ 1 h 1"/>
                      <a:gd name="T2" fmla="*/ 4418 w 4418"/>
                      <a:gd name="T3" fmla="*/ 0 h 1"/>
                      <a:gd name="T4" fmla="*/ 0 60000 65536"/>
                      <a:gd name="T5" fmla="*/ 0 60000 65536"/>
                      <a:gd name="T6" fmla="*/ 0 w 4418"/>
                      <a:gd name="T7" fmla="*/ 0 h 1"/>
                      <a:gd name="T8" fmla="*/ 4418 w 4418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8" h="1">
                        <a:moveTo>
                          <a:pt x="0" y="1"/>
                        </a:moveTo>
                        <a:lnTo>
                          <a:pt x="4418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94" name="Line 139"/>
                  <p:cNvSpPr>
                    <a:spLocks noChangeShapeType="1"/>
                  </p:cNvSpPr>
                  <p:nvPr/>
                </p:nvSpPr>
                <p:spPr bwMode="auto">
                  <a:xfrm>
                    <a:off x="1296" y="20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95" name="Line 140"/>
                  <p:cNvSpPr>
                    <a:spLocks noChangeShapeType="1"/>
                  </p:cNvSpPr>
                  <p:nvPr/>
                </p:nvSpPr>
                <p:spPr bwMode="auto">
                  <a:xfrm>
                    <a:off x="1872" y="20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96" name="Line 141"/>
                  <p:cNvSpPr>
                    <a:spLocks noChangeShapeType="1"/>
                  </p:cNvSpPr>
                  <p:nvPr/>
                </p:nvSpPr>
                <p:spPr bwMode="auto">
                  <a:xfrm>
                    <a:off x="2448" y="20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97" name="Line 142"/>
                  <p:cNvSpPr>
                    <a:spLocks noChangeShapeType="1"/>
                  </p:cNvSpPr>
                  <p:nvPr/>
                </p:nvSpPr>
                <p:spPr bwMode="auto">
                  <a:xfrm>
                    <a:off x="3024" y="20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98" name="Line 143"/>
                  <p:cNvSpPr>
                    <a:spLocks noChangeShapeType="1"/>
                  </p:cNvSpPr>
                  <p:nvPr/>
                </p:nvSpPr>
                <p:spPr bwMode="auto">
                  <a:xfrm>
                    <a:off x="3600" y="20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599" name="Line 144"/>
                  <p:cNvSpPr>
                    <a:spLocks noChangeShapeType="1"/>
                  </p:cNvSpPr>
                  <p:nvPr/>
                </p:nvSpPr>
                <p:spPr bwMode="auto">
                  <a:xfrm>
                    <a:off x="4176" y="20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00" name="Line 145"/>
                  <p:cNvSpPr>
                    <a:spLocks noChangeShapeType="1"/>
                  </p:cNvSpPr>
                  <p:nvPr/>
                </p:nvSpPr>
                <p:spPr bwMode="auto">
                  <a:xfrm>
                    <a:off x="4752" y="20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01" name="Line 146"/>
                  <p:cNvSpPr>
                    <a:spLocks noChangeShapeType="1"/>
                  </p:cNvSpPr>
                  <p:nvPr/>
                </p:nvSpPr>
                <p:spPr bwMode="auto">
                  <a:xfrm>
                    <a:off x="5328" y="2055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02" name="Freeform 147"/>
                  <p:cNvSpPr/>
                  <p:nvPr/>
                </p:nvSpPr>
                <p:spPr bwMode="auto">
                  <a:xfrm>
                    <a:off x="913" y="2877"/>
                    <a:ext cx="3860" cy="1"/>
                  </a:xfrm>
                  <a:custGeom>
                    <a:avLst/>
                    <a:gdLst>
                      <a:gd name="T0" fmla="*/ 0 w 3860"/>
                      <a:gd name="T1" fmla="*/ 1 h 1"/>
                      <a:gd name="T2" fmla="*/ 3860 w 3860"/>
                      <a:gd name="T3" fmla="*/ 0 h 1"/>
                      <a:gd name="T4" fmla="*/ 0 60000 65536"/>
                      <a:gd name="T5" fmla="*/ 0 60000 65536"/>
                      <a:gd name="T6" fmla="*/ 0 w 3860"/>
                      <a:gd name="T7" fmla="*/ 0 h 1"/>
                      <a:gd name="T8" fmla="*/ 3860 w 3860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3860" h="1">
                        <a:moveTo>
                          <a:pt x="0" y="1"/>
                        </a:moveTo>
                        <a:lnTo>
                          <a:pt x="3860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03" name="Freeform 148"/>
                  <p:cNvSpPr/>
                  <p:nvPr/>
                </p:nvSpPr>
                <p:spPr bwMode="auto">
                  <a:xfrm>
                    <a:off x="916" y="3207"/>
                    <a:ext cx="4418" cy="1"/>
                  </a:xfrm>
                  <a:custGeom>
                    <a:avLst/>
                    <a:gdLst>
                      <a:gd name="T0" fmla="*/ 0 w 4418"/>
                      <a:gd name="T1" fmla="*/ 1 h 1"/>
                      <a:gd name="T2" fmla="*/ 4418 w 4418"/>
                      <a:gd name="T3" fmla="*/ 0 h 1"/>
                      <a:gd name="T4" fmla="*/ 0 60000 65536"/>
                      <a:gd name="T5" fmla="*/ 0 60000 65536"/>
                      <a:gd name="T6" fmla="*/ 0 w 4418"/>
                      <a:gd name="T7" fmla="*/ 0 h 1"/>
                      <a:gd name="T8" fmla="*/ 4418 w 4418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8" h="1">
                        <a:moveTo>
                          <a:pt x="0" y="1"/>
                        </a:moveTo>
                        <a:lnTo>
                          <a:pt x="4418" y="0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04" name="Rectangle 149"/>
                  <p:cNvSpPr>
                    <a:spLocks noChangeArrowheads="1"/>
                  </p:cNvSpPr>
                  <p:nvPr/>
                </p:nvSpPr>
                <p:spPr bwMode="auto">
                  <a:xfrm>
                    <a:off x="1145" y="3543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/>
                  </a:p>
                </p:txBody>
              </p:sp>
              <p:sp>
                <p:nvSpPr>
                  <p:cNvPr id="141605" name="Text Box 15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76" y="3574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读写电路</a:t>
                    </a:r>
                  </a:p>
                </p:txBody>
              </p:sp>
              <p:sp>
                <p:nvSpPr>
                  <p:cNvPr id="141606" name="Freeform 151"/>
                  <p:cNvSpPr/>
                  <p:nvPr/>
                </p:nvSpPr>
                <p:spPr bwMode="auto">
                  <a:xfrm>
                    <a:off x="1406" y="1209"/>
                    <a:ext cx="145" cy="1466"/>
                  </a:xfrm>
                  <a:custGeom>
                    <a:avLst/>
                    <a:gdLst>
                      <a:gd name="T0" fmla="*/ 37 w 145"/>
                      <a:gd name="T1" fmla="*/ 0 h 1466"/>
                      <a:gd name="T2" fmla="*/ 145 w 145"/>
                      <a:gd name="T3" fmla="*/ 0 h 1466"/>
                      <a:gd name="T4" fmla="*/ 144 w 145"/>
                      <a:gd name="T5" fmla="*/ 1466 h 1466"/>
                      <a:gd name="T6" fmla="*/ 0 w 145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5"/>
                      <a:gd name="T13" fmla="*/ 0 h 1466"/>
                      <a:gd name="T14" fmla="*/ 145 w 145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5" h="1466">
                        <a:moveTo>
                          <a:pt x="37" y="0"/>
                        </a:moveTo>
                        <a:lnTo>
                          <a:pt x="145" y="0"/>
                        </a:lnTo>
                        <a:lnTo>
                          <a:pt x="144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07" name="Freeform 152"/>
                  <p:cNvSpPr/>
                  <p:nvPr/>
                </p:nvSpPr>
                <p:spPr bwMode="auto">
                  <a:xfrm>
                    <a:off x="1617" y="1209"/>
                    <a:ext cx="169" cy="1469"/>
                  </a:xfrm>
                  <a:custGeom>
                    <a:avLst/>
                    <a:gdLst>
                      <a:gd name="T0" fmla="*/ 169 w 169"/>
                      <a:gd name="T1" fmla="*/ 1468 h 1469"/>
                      <a:gd name="T2" fmla="*/ 0 w 169"/>
                      <a:gd name="T3" fmla="*/ 1469 h 1469"/>
                      <a:gd name="T4" fmla="*/ 1 w 169"/>
                      <a:gd name="T5" fmla="*/ 0 h 1469"/>
                      <a:gd name="T6" fmla="*/ 105 w 169"/>
                      <a:gd name="T7" fmla="*/ 0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69"/>
                      <a:gd name="T13" fmla="*/ 0 h 1469"/>
                      <a:gd name="T14" fmla="*/ 169 w 169"/>
                      <a:gd name="T15" fmla="*/ 1469 h 146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69" h="1469">
                        <a:moveTo>
                          <a:pt x="169" y="1468"/>
                        </a:moveTo>
                        <a:lnTo>
                          <a:pt x="0" y="1469"/>
                        </a:lnTo>
                        <a:lnTo>
                          <a:pt x="1" y="0"/>
                        </a:lnTo>
                        <a:lnTo>
                          <a:pt x="105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08" name="Freeform 153"/>
                  <p:cNvSpPr/>
                  <p:nvPr/>
                </p:nvSpPr>
                <p:spPr bwMode="auto">
                  <a:xfrm>
                    <a:off x="1971" y="1209"/>
                    <a:ext cx="141" cy="1466"/>
                  </a:xfrm>
                  <a:custGeom>
                    <a:avLst/>
                    <a:gdLst>
                      <a:gd name="T0" fmla="*/ 38 w 141"/>
                      <a:gd name="T1" fmla="*/ 0 h 1466"/>
                      <a:gd name="T2" fmla="*/ 141 w 141"/>
                      <a:gd name="T3" fmla="*/ 0 h 1466"/>
                      <a:gd name="T4" fmla="*/ 140 w 141"/>
                      <a:gd name="T5" fmla="*/ 1466 h 1466"/>
                      <a:gd name="T6" fmla="*/ 0 w 141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1"/>
                      <a:gd name="T13" fmla="*/ 0 h 1466"/>
                      <a:gd name="T14" fmla="*/ 141 w 141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1" h="1466">
                        <a:moveTo>
                          <a:pt x="38" y="0"/>
                        </a:moveTo>
                        <a:lnTo>
                          <a:pt x="141" y="0"/>
                        </a:lnTo>
                        <a:lnTo>
                          <a:pt x="140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09" name="Freeform 154"/>
                  <p:cNvSpPr/>
                  <p:nvPr/>
                </p:nvSpPr>
                <p:spPr bwMode="auto">
                  <a:xfrm>
                    <a:off x="2212" y="1209"/>
                    <a:ext cx="155" cy="1467"/>
                  </a:xfrm>
                  <a:custGeom>
                    <a:avLst/>
                    <a:gdLst>
                      <a:gd name="T0" fmla="*/ 155 w 155"/>
                      <a:gd name="T1" fmla="*/ 1467 h 1467"/>
                      <a:gd name="T2" fmla="*/ 3 w 155"/>
                      <a:gd name="T3" fmla="*/ 1467 h 1467"/>
                      <a:gd name="T4" fmla="*/ 0 w 155"/>
                      <a:gd name="T5" fmla="*/ 1 h 1467"/>
                      <a:gd name="T6" fmla="*/ 89 w 155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5"/>
                      <a:gd name="T13" fmla="*/ 0 h 1467"/>
                      <a:gd name="T14" fmla="*/ 155 w 155"/>
                      <a:gd name="T15" fmla="*/ 1467 h 146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5" h="1467">
                        <a:moveTo>
                          <a:pt x="155" y="1467"/>
                        </a:moveTo>
                        <a:lnTo>
                          <a:pt x="3" y="1467"/>
                        </a:lnTo>
                        <a:lnTo>
                          <a:pt x="0" y="1"/>
                        </a:lnTo>
                        <a:lnTo>
                          <a:pt x="89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10" name="Freeform 155"/>
                  <p:cNvSpPr/>
                  <p:nvPr/>
                </p:nvSpPr>
                <p:spPr bwMode="auto">
                  <a:xfrm>
                    <a:off x="2561" y="1209"/>
                    <a:ext cx="142" cy="1466"/>
                  </a:xfrm>
                  <a:custGeom>
                    <a:avLst/>
                    <a:gdLst>
                      <a:gd name="T0" fmla="*/ 34 w 142"/>
                      <a:gd name="T1" fmla="*/ 0 h 1466"/>
                      <a:gd name="T2" fmla="*/ 142 w 142"/>
                      <a:gd name="T3" fmla="*/ 0 h 1466"/>
                      <a:gd name="T4" fmla="*/ 141 w 142"/>
                      <a:gd name="T5" fmla="*/ 1466 h 1466"/>
                      <a:gd name="T6" fmla="*/ 0 w 142"/>
                      <a:gd name="T7" fmla="*/ 1464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2"/>
                      <a:gd name="T13" fmla="*/ 0 h 1466"/>
                      <a:gd name="T14" fmla="*/ 142 w 142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2" h="1466">
                        <a:moveTo>
                          <a:pt x="34" y="0"/>
                        </a:moveTo>
                        <a:lnTo>
                          <a:pt x="142" y="0"/>
                        </a:lnTo>
                        <a:lnTo>
                          <a:pt x="141" y="1466"/>
                        </a:lnTo>
                        <a:lnTo>
                          <a:pt x="0" y="1464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11" name="Freeform 156"/>
                  <p:cNvSpPr/>
                  <p:nvPr/>
                </p:nvSpPr>
                <p:spPr bwMode="auto">
                  <a:xfrm>
                    <a:off x="2791" y="1209"/>
                    <a:ext cx="152" cy="1467"/>
                  </a:xfrm>
                  <a:custGeom>
                    <a:avLst/>
                    <a:gdLst>
                      <a:gd name="T0" fmla="*/ 152 w 152"/>
                      <a:gd name="T1" fmla="*/ 1467 h 1467"/>
                      <a:gd name="T2" fmla="*/ 0 w 152"/>
                      <a:gd name="T3" fmla="*/ 1467 h 1467"/>
                      <a:gd name="T4" fmla="*/ 0 w 152"/>
                      <a:gd name="T5" fmla="*/ 1 h 1467"/>
                      <a:gd name="T6" fmla="*/ 77 w 152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2"/>
                      <a:gd name="T13" fmla="*/ 0 h 1467"/>
                      <a:gd name="T14" fmla="*/ 152 w 152"/>
                      <a:gd name="T15" fmla="*/ 1467 h 146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2" h="1467">
                        <a:moveTo>
                          <a:pt x="152" y="1467"/>
                        </a:moveTo>
                        <a:lnTo>
                          <a:pt x="0" y="1467"/>
                        </a:lnTo>
                        <a:lnTo>
                          <a:pt x="0" y="1"/>
                        </a:lnTo>
                        <a:lnTo>
                          <a:pt x="77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12" name="Freeform 157"/>
                  <p:cNvSpPr/>
                  <p:nvPr/>
                </p:nvSpPr>
                <p:spPr bwMode="auto">
                  <a:xfrm>
                    <a:off x="3134" y="1209"/>
                    <a:ext cx="145" cy="1466"/>
                  </a:xfrm>
                  <a:custGeom>
                    <a:avLst/>
                    <a:gdLst>
                      <a:gd name="T0" fmla="*/ 37 w 145"/>
                      <a:gd name="T1" fmla="*/ 0 h 1466"/>
                      <a:gd name="T2" fmla="*/ 145 w 145"/>
                      <a:gd name="T3" fmla="*/ 0 h 1466"/>
                      <a:gd name="T4" fmla="*/ 144 w 145"/>
                      <a:gd name="T5" fmla="*/ 1466 h 1466"/>
                      <a:gd name="T6" fmla="*/ 0 w 145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5"/>
                      <a:gd name="T13" fmla="*/ 0 h 1466"/>
                      <a:gd name="T14" fmla="*/ 145 w 145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5" h="1466">
                        <a:moveTo>
                          <a:pt x="37" y="0"/>
                        </a:moveTo>
                        <a:lnTo>
                          <a:pt x="145" y="0"/>
                        </a:lnTo>
                        <a:lnTo>
                          <a:pt x="144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13" name="Freeform 158"/>
                  <p:cNvSpPr/>
                  <p:nvPr/>
                </p:nvSpPr>
                <p:spPr bwMode="auto">
                  <a:xfrm>
                    <a:off x="3364" y="1207"/>
                    <a:ext cx="155" cy="1469"/>
                  </a:xfrm>
                  <a:custGeom>
                    <a:avLst/>
                    <a:gdLst>
                      <a:gd name="T0" fmla="*/ 155 w 155"/>
                      <a:gd name="T1" fmla="*/ 1469 h 1469"/>
                      <a:gd name="T2" fmla="*/ 3 w 155"/>
                      <a:gd name="T3" fmla="*/ 1469 h 1469"/>
                      <a:gd name="T4" fmla="*/ 0 w 155"/>
                      <a:gd name="T5" fmla="*/ 0 h 1469"/>
                      <a:gd name="T6" fmla="*/ 103 w 155"/>
                      <a:gd name="T7" fmla="*/ 2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5"/>
                      <a:gd name="T13" fmla="*/ 0 h 1469"/>
                      <a:gd name="T14" fmla="*/ 155 w 155"/>
                      <a:gd name="T15" fmla="*/ 1469 h 146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5" h="1469">
                        <a:moveTo>
                          <a:pt x="155" y="1469"/>
                        </a:moveTo>
                        <a:lnTo>
                          <a:pt x="3" y="1469"/>
                        </a:lnTo>
                        <a:lnTo>
                          <a:pt x="0" y="0"/>
                        </a:lnTo>
                        <a:lnTo>
                          <a:pt x="103" y="2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14" name="Freeform 159"/>
                  <p:cNvSpPr/>
                  <p:nvPr/>
                </p:nvSpPr>
                <p:spPr bwMode="auto">
                  <a:xfrm>
                    <a:off x="3714" y="1209"/>
                    <a:ext cx="141" cy="1466"/>
                  </a:xfrm>
                  <a:custGeom>
                    <a:avLst/>
                    <a:gdLst>
                      <a:gd name="T0" fmla="*/ 42 w 141"/>
                      <a:gd name="T1" fmla="*/ 0 h 1466"/>
                      <a:gd name="T2" fmla="*/ 141 w 141"/>
                      <a:gd name="T3" fmla="*/ 0 h 1466"/>
                      <a:gd name="T4" fmla="*/ 140 w 141"/>
                      <a:gd name="T5" fmla="*/ 1466 h 1466"/>
                      <a:gd name="T6" fmla="*/ 0 w 141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1"/>
                      <a:gd name="T13" fmla="*/ 0 h 1466"/>
                      <a:gd name="T14" fmla="*/ 141 w 141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1" h="1466">
                        <a:moveTo>
                          <a:pt x="42" y="0"/>
                        </a:moveTo>
                        <a:lnTo>
                          <a:pt x="141" y="0"/>
                        </a:lnTo>
                        <a:lnTo>
                          <a:pt x="140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15" name="Freeform 160"/>
                  <p:cNvSpPr/>
                  <p:nvPr/>
                </p:nvSpPr>
                <p:spPr bwMode="auto">
                  <a:xfrm>
                    <a:off x="3943" y="1209"/>
                    <a:ext cx="152" cy="1467"/>
                  </a:xfrm>
                  <a:custGeom>
                    <a:avLst/>
                    <a:gdLst>
                      <a:gd name="T0" fmla="*/ 152 w 152"/>
                      <a:gd name="T1" fmla="*/ 1467 h 1467"/>
                      <a:gd name="T2" fmla="*/ 0 w 152"/>
                      <a:gd name="T3" fmla="*/ 1467 h 1467"/>
                      <a:gd name="T4" fmla="*/ 0 w 152"/>
                      <a:gd name="T5" fmla="*/ 1 h 1467"/>
                      <a:gd name="T6" fmla="*/ 103 w 152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2"/>
                      <a:gd name="T13" fmla="*/ 0 h 1467"/>
                      <a:gd name="T14" fmla="*/ 152 w 152"/>
                      <a:gd name="T15" fmla="*/ 1467 h 146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2" h="1467">
                        <a:moveTo>
                          <a:pt x="152" y="1467"/>
                        </a:moveTo>
                        <a:lnTo>
                          <a:pt x="0" y="1467"/>
                        </a:lnTo>
                        <a:lnTo>
                          <a:pt x="0" y="1"/>
                        </a:lnTo>
                        <a:lnTo>
                          <a:pt x="103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16" name="Freeform 161"/>
                  <p:cNvSpPr/>
                  <p:nvPr/>
                </p:nvSpPr>
                <p:spPr bwMode="auto">
                  <a:xfrm>
                    <a:off x="4284" y="1209"/>
                    <a:ext cx="147" cy="1466"/>
                  </a:xfrm>
                  <a:custGeom>
                    <a:avLst/>
                    <a:gdLst>
                      <a:gd name="T0" fmla="*/ 51 w 147"/>
                      <a:gd name="T1" fmla="*/ 0 h 1466"/>
                      <a:gd name="T2" fmla="*/ 147 w 147"/>
                      <a:gd name="T3" fmla="*/ 0 h 1466"/>
                      <a:gd name="T4" fmla="*/ 146 w 147"/>
                      <a:gd name="T5" fmla="*/ 1466 h 1466"/>
                      <a:gd name="T6" fmla="*/ 0 w 147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7"/>
                      <a:gd name="T13" fmla="*/ 0 h 1466"/>
                      <a:gd name="T14" fmla="*/ 147 w 147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7" h="1466">
                        <a:moveTo>
                          <a:pt x="51" y="0"/>
                        </a:moveTo>
                        <a:lnTo>
                          <a:pt x="147" y="0"/>
                        </a:lnTo>
                        <a:lnTo>
                          <a:pt x="146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17" name="Freeform 162"/>
                  <p:cNvSpPr/>
                  <p:nvPr/>
                </p:nvSpPr>
                <p:spPr bwMode="auto">
                  <a:xfrm>
                    <a:off x="4513" y="1209"/>
                    <a:ext cx="158" cy="1467"/>
                  </a:xfrm>
                  <a:custGeom>
                    <a:avLst/>
                    <a:gdLst>
                      <a:gd name="T0" fmla="*/ 158 w 158"/>
                      <a:gd name="T1" fmla="*/ 1467 h 1467"/>
                      <a:gd name="T2" fmla="*/ 0 w 158"/>
                      <a:gd name="T3" fmla="*/ 1467 h 1467"/>
                      <a:gd name="T4" fmla="*/ 0 w 158"/>
                      <a:gd name="T5" fmla="*/ 0 h 1467"/>
                      <a:gd name="T6" fmla="*/ 95 w 158"/>
                      <a:gd name="T7" fmla="*/ 0 h 146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8"/>
                      <a:gd name="T13" fmla="*/ 0 h 1467"/>
                      <a:gd name="T14" fmla="*/ 158 w 158"/>
                      <a:gd name="T15" fmla="*/ 1467 h 146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8" h="1467">
                        <a:moveTo>
                          <a:pt x="158" y="1467"/>
                        </a:moveTo>
                        <a:lnTo>
                          <a:pt x="0" y="1467"/>
                        </a:lnTo>
                        <a:lnTo>
                          <a:pt x="0" y="0"/>
                        </a:lnTo>
                        <a:lnTo>
                          <a:pt x="95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18" name="Freeform 163"/>
                  <p:cNvSpPr/>
                  <p:nvPr/>
                </p:nvSpPr>
                <p:spPr bwMode="auto">
                  <a:xfrm>
                    <a:off x="4865" y="1209"/>
                    <a:ext cx="142" cy="1466"/>
                  </a:xfrm>
                  <a:custGeom>
                    <a:avLst/>
                    <a:gdLst>
                      <a:gd name="T0" fmla="*/ 34 w 142"/>
                      <a:gd name="T1" fmla="*/ 0 h 1466"/>
                      <a:gd name="T2" fmla="*/ 142 w 142"/>
                      <a:gd name="T3" fmla="*/ 0 h 1466"/>
                      <a:gd name="T4" fmla="*/ 141 w 142"/>
                      <a:gd name="T5" fmla="*/ 1466 h 1466"/>
                      <a:gd name="T6" fmla="*/ 0 w 142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2"/>
                      <a:gd name="T13" fmla="*/ 0 h 1466"/>
                      <a:gd name="T14" fmla="*/ 142 w 142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2" h="1466">
                        <a:moveTo>
                          <a:pt x="34" y="0"/>
                        </a:moveTo>
                        <a:lnTo>
                          <a:pt x="142" y="0"/>
                        </a:lnTo>
                        <a:lnTo>
                          <a:pt x="141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19" name="Freeform 164"/>
                  <p:cNvSpPr/>
                  <p:nvPr/>
                </p:nvSpPr>
                <p:spPr bwMode="auto">
                  <a:xfrm>
                    <a:off x="5073" y="1209"/>
                    <a:ext cx="159" cy="1469"/>
                  </a:xfrm>
                  <a:custGeom>
                    <a:avLst/>
                    <a:gdLst>
                      <a:gd name="T0" fmla="*/ 159 w 159"/>
                      <a:gd name="T1" fmla="*/ 1467 h 1469"/>
                      <a:gd name="T2" fmla="*/ 0 w 159"/>
                      <a:gd name="T3" fmla="*/ 1469 h 1469"/>
                      <a:gd name="T4" fmla="*/ 1 w 159"/>
                      <a:gd name="T5" fmla="*/ 0 h 1469"/>
                      <a:gd name="T6" fmla="*/ 104 w 159"/>
                      <a:gd name="T7" fmla="*/ 0 h 146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59"/>
                      <a:gd name="T13" fmla="*/ 0 h 1469"/>
                      <a:gd name="T14" fmla="*/ 159 w 159"/>
                      <a:gd name="T15" fmla="*/ 1469 h 146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59" h="1469">
                        <a:moveTo>
                          <a:pt x="159" y="1467"/>
                        </a:moveTo>
                        <a:lnTo>
                          <a:pt x="0" y="1469"/>
                        </a:lnTo>
                        <a:lnTo>
                          <a:pt x="1" y="0"/>
                        </a:lnTo>
                        <a:lnTo>
                          <a:pt x="104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20" name="Freeform 165"/>
                  <p:cNvSpPr/>
                  <p:nvPr/>
                </p:nvSpPr>
                <p:spPr bwMode="auto">
                  <a:xfrm>
                    <a:off x="5421" y="1209"/>
                    <a:ext cx="147" cy="1466"/>
                  </a:xfrm>
                  <a:custGeom>
                    <a:avLst/>
                    <a:gdLst>
                      <a:gd name="T0" fmla="*/ 47 w 147"/>
                      <a:gd name="T1" fmla="*/ 0 h 1466"/>
                      <a:gd name="T2" fmla="*/ 147 w 147"/>
                      <a:gd name="T3" fmla="*/ 0 h 1466"/>
                      <a:gd name="T4" fmla="*/ 146 w 147"/>
                      <a:gd name="T5" fmla="*/ 1466 h 1466"/>
                      <a:gd name="T6" fmla="*/ 0 w 147"/>
                      <a:gd name="T7" fmla="*/ 1466 h 146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47"/>
                      <a:gd name="T13" fmla="*/ 0 h 1466"/>
                      <a:gd name="T14" fmla="*/ 147 w 147"/>
                      <a:gd name="T15" fmla="*/ 1466 h 146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47" h="1466">
                        <a:moveTo>
                          <a:pt x="47" y="0"/>
                        </a:moveTo>
                        <a:lnTo>
                          <a:pt x="147" y="0"/>
                        </a:lnTo>
                        <a:lnTo>
                          <a:pt x="146" y="1466"/>
                        </a:lnTo>
                        <a:lnTo>
                          <a:pt x="0" y="14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21" name="Freeform 166"/>
                  <p:cNvSpPr/>
                  <p:nvPr/>
                </p:nvSpPr>
                <p:spPr bwMode="auto">
                  <a:xfrm>
                    <a:off x="1059" y="2736"/>
                    <a:ext cx="730" cy="660"/>
                  </a:xfrm>
                  <a:custGeom>
                    <a:avLst/>
                    <a:gdLst>
                      <a:gd name="T0" fmla="*/ 160 w 730"/>
                      <a:gd name="T1" fmla="*/ 4 h 660"/>
                      <a:gd name="T2" fmla="*/ 0 w 730"/>
                      <a:gd name="T3" fmla="*/ 3 h 660"/>
                      <a:gd name="T4" fmla="*/ 0 w 730"/>
                      <a:gd name="T5" fmla="*/ 660 h 660"/>
                      <a:gd name="T6" fmla="*/ 558 w 730"/>
                      <a:gd name="T7" fmla="*/ 657 h 660"/>
                      <a:gd name="T8" fmla="*/ 558 w 730"/>
                      <a:gd name="T9" fmla="*/ 0 h 660"/>
                      <a:gd name="T10" fmla="*/ 730 w 730"/>
                      <a:gd name="T11" fmla="*/ 1 h 660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30"/>
                      <a:gd name="T19" fmla="*/ 0 h 660"/>
                      <a:gd name="T20" fmla="*/ 730 w 730"/>
                      <a:gd name="T21" fmla="*/ 660 h 660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30" h="660">
                        <a:moveTo>
                          <a:pt x="160" y="4"/>
                        </a:moveTo>
                        <a:lnTo>
                          <a:pt x="0" y="3"/>
                        </a:lnTo>
                        <a:lnTo>
                          <a:pt x="0" y="660"/>
                        </a:lnTo>
                        <a:lnTo>
                          <a:pt x="558" y="657"/>
                        </a:lnTo>
                        <a:lnTo>
                          <a:pt x="558" y="0"/>
                        </a:lnTo>
                        <a:lnTo>
                          <a:pt x="730" y="1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22" name="Freeform 167"/>
                  <p:cNvSpPr/>
                  <p:nvPr/>
                </p:nvSpPr>
                <p:spPr bwMode="auto">
                  <a:xfrm>
                    <a:off x="2211" y="2742"/>
                    <a:ext cx="729" cy="658"/>
                  </a:xfrm>
                  <a:custGeom>
                    <a:avLst/>
                    <a:gdLst>
                      <a:gd name="T0" fmla="*/ 153 w 729"/>
                      <a:gd name="T1" fmla="*/ 0 h 658"/>
                      <a:gd name="T2" fmla="*/ 0 w 729"/>
                      <a:gd name="T3" fmla="*/ 0 h 658"/>
                      <a:gd name="T4" fmla="*/ 0 w 729"/>
                      <a:gd name="T5" fmla="*/ 657 h 658"/>
                      <a:gd name="T6" fmla="*/ 583 w 729"/>
                      <a:gd name="T7" fmla="*/ 658 h 658"/>
                      <a:gd name="T8" fmla="*/ 582 w 729"/>
                      <a:gd name="T9" fmla="*/ 3 h 658"/>
                      <a:gd name="T10" fmla="*/ 729 w 729"/>
                      <a:gd name="T11" fmla="*/ 3 h 65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29"/>
                      <a:gd name="T19" fmla="*/ 0 h 658"/>
                      <a:gd name="T20" fmla="*/ 729 w 729"/>
                      <a:gd name="T21" fmla="*/ 658 h 65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29" h="658">
                        <a:moveTo>
                          <a:pt x="153" y="0"/>
                        </a:moveTo>
                        <a:lnTo>
                          <a:pt x="0" y="0"/>
                        </a:lnTo>
                        <a:lnTo>
                          <a:pt x="0" y="657"/>
                        </a:lnTo>
                        <a:lnTo>
                          <a:pt x="583" y="658"/>
                        </a:lnTo>
                        <a:lnTo>
                          <a:pt x="582" y="3"/>
                        </a:lnTo>
                        <a:lnTo>
                          <a:pt x="729" y="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23" name="Freeform 168"/>
                  <p:cNvSpPr/>
                  <p:nvPr/>
                </p:nvSpPr>
                <p:spPr bwMode="auto">
                  <a:xfrm>
                    <a:off x="3360" y="2742"/>
                    <a:ext cx="729" cy="657"/>
                  </a:xfrm>
                  <a:custGeom>
                    <a:avLst/>
                    <a:gdLst>
                      <a:gd name="T0" fmla="*/ 158 w 729"/>
                      <a:gd name="T1" fmla="*/ 0 h 657"/>
                      <a:gd name="T2" fmla="*/ 0 w 729"/>
                      <a:gd name="T3" fmla="*/ 0 h 657"/>
                      <a:gd name="T4" fmla="*/ 0 w 729"/>
                      <a:gd name="T5" fmla="*/ 657 h 657"/>
                      <a:gd name="T6" fmla="*/ 579 w 729"/>
                      <a:gd name="T7" fmla="*/ 654 h 657"/>
                      <a:gd name="T8" fmla="*/ 582 w 729"/>
                      <a:gd name="T9" fmla="*/ 3 h 657"/>
                      <a:gd name="T10" fmla="*/ 729 w 729"/>
                      <a:gd name="T11" fmla="*/ 3 h 65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29"/>
                      <a:gd name="T19" fmla="*/ 0 h 657"/>
                      <a:gd name="T20" fmla="*/ 729 w 729"/>
                      <a:gd name="T21" fmla="*/ 657 h 65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29" h="657">
                        <a:moveTo>
                          <a:pt x="158" y="0"/>
                        </a:moveTo>
                        <a:lnTo>
                          <a:pt x="0" y="0"/>
                        </a:lnTo>
                        <a:lnTo>
                          <a:pt x="0" y="657"/>
                        </a:lnTo>
                        <a:lnTo>
                          <a:pt x="579" y="654"/>
                        </a:lnTo>
                        <a:lnTo>
                          <a:pt x="582" y="3"/>
                        </a:lnTo>
                        <a:lnTo>
                          <a:pt x="729" y="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24" name="Freeform 169"/>
                  <p:cNvSpPr/>
                  <p:nvPr/>
                </p:nvSpPr>
                <p:spPr bwMode="auto">
                  <a:xfrm>
                    <a:off x="4512" y="2742"/>
                    <a:ext cx="729" cy="657"/>
                  </a:xfrm>
                  <a:custGeom>
                    <a:avLst/>
                    <a:gdLst>
                      <a:gd name="T0" fmla="*/ 161 w 729"/>
                      <a:gd name="T1" fmla="*/ 2 h 657"/>
                      <a:gd name="T2" fmla="*/ 0 w 729"/>
                      <a:gd name="T3" fmla="*/ 0 h 657"/>
                      <a:gd name="T4" fmla="*/ 0 w 729"/>
                      <a:gd name="T5" fmla="*/ 657 h 657"/>
                      <a:gd name="T6" fmla="*/ 579 w 729"/>
                      <a:gd name="T7" fmla="*/ 654 h 657"/>
                      <a:gd name="T8" fmla="*/ 582 w 729"/>
                      <a:gd name="T9" fmla="*/ 3 h 657"/>
                      <a:gd name="T10" fmla="*/ 729 w 729"/>
                      <a:gd name="T11" fmla="*/ 3 h 65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29"/>
                      <a:gd name="T19" fmla="*/ 0 h 657"/>
                      <a:gd name="T20" fmla="*/ 729 w 729"/>
                      <a:gd name="T21" fmla="*/ 657 h 65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29" h="657">
                        <a:moveTo>
                          <a:pt x="161" y="2"/>
                        </a:moveTo>
                        <a:lnTo>
                          <a:pt x="0" y="0"/>
                        </a:lnTo>
                        <a:lnTo>
                          <a:pt x="0" y="657"/>
                        </a:lnTo>
                        <a:lnTo>
                          <a:pt x="579" y="654"/>
                        </a:lnTo>
                        <a:lnTo>
                          <a:pt x="582" y="3"/>
                        </a:lnTo>
                        <a:lnTo>
                          <a:pt x="729" y="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25" name="Freeform 170"/>
                  <p:cNvSpPr/>
                  <p:nvPr/>
                </p:nvSpPr>
                <p:spPr bwMode="auto">
                  <a:xfrm>
                    <a:off x="1404" y="2733"/>
                    <a:ext cx="708" cy="571"/>
                  </a:xfrm>
                  <a:custGeom>
                    <a:avLst/>
                    <a:gdLst>
                      <a:gd name="T0" fmla="*/ 0 w 708"/>
                      <a:gd name="T1" fmla="*/ 0 h 571"/>
                      <a:gd name="T2" fmla="*/ 132 w 708"/>
                      <a:gd name="T3" fmla="*/ 0 h 571"/>
                      <a:gd name="T4" fmla="*/ 133 w 708"/>
                      <a:gd name="T5" fmla="*/ 571 h 571"/>
                      <a:gd name="T6" fmla="*/ 708 w 708"/>
                      <a:gd name="T7" fmla="*/ 570 h 571"/>
                      <a:gd name="T8" fmla="*/ 708 w 708"/>
                      <a:gd name="T9" fmla="*/ 9 h 571"/>
                      <a:gd name="T10" fmla="*/ 573 w 708"/>
                      <a:gd name="T11" fmla="*/ 9 h 571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08"/>
                      <a:gd name="T19" fmla="*/ 0 h 571"/>
                      <a:gd name="T20" fmla="*/ 708 w 708"/>
                      <a:gd name="T21" fmla="*/ 571 h 571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08" h="571">
                        <a:moveTo>
                          <a:pt x="0" y="0"/>
                        </a:moveTo>
                        <a:lnTo>
                          <a:pt x="132" y="0"/>
                        </a:lnTo>
                        <a:lnTo>
                          <a:pt x="133" y="571"/>
                        </a:lnTo>
                        <a:lnTo>
                          <a:pt x="708" y="570"/>
                        </a:lnTo>
                        <a:lnTo>
                          <a:pt x="708" y="9"/>
                        </a:lnTo>
                        <a:lnTo>
                          <a:pt x="573" y="9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26" name="Freeform 171"/>
                  <p:cNvSpPr/>
                  <p:nvPr/>
                </p:nvSpPr>
                <p:spPr bwMode="auto">
                  <a:xfrm>
                    <a:off x="2556" y="2733"/>
                    <a:ext cx="726" cy="567"/>
                  </a:xfrm>
                  <a:custGeom>
                    <a:avLst/>
                    <a:gdLst>
                      <a:gd name="T0" fmla="*/ 0 w 726"/>
                      <a:gd name="T1" fmla="*/ 0 h 567"/>
                      <a:gd name="T2" fmla="*/ 148 w 726"/>
                      <a:gd name="T3" fmla="*/ 1 h 567"/>
                      <a:gd name="T4" fmla="*/ 147 w 726"/>
                      <a:gd name="T5" fmla="*/ 567 h 567"/>
                      <a:gd name="T6" fmla="*/ 726 w 726"/>
                      <a:gd name="T7" fmla="*/ 567 h 567"/>
                      <a:gd name="T8" fmla="*/ 726 w 726"/>
                      <a:gd name="T9" fmla="*/ 6 h 567"/>
                      <a:gd name="T10" fmla="*/ 579 w 726"/>
                      <a:gd name="T11" fmla="*/ 6 h 56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26"/>
                      <a:gd name="T19" fmla="*/ 0 h 567"/>
                      <a:gd name="T20" fmla="*/ 726 w 726"/>
                      <a:gd name="T21" fmla="*/ 567 h 56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26" h="567">
                        <a:moveTo>
                          <a:pt x="0" y="0"/>
                        </a:moveTo>
                        <a:lnTo>
                          <a:pt x="148" y="1"/>
                        </a:lnTo>
                        <a:lnTo>
                          <a:pt x="147" y="567"/>
                        </a:lnTo>
                        <a:lnTo>
                          <a:pt x="726" y="567"/>
                        </a:lnTo>
                        <a:lnTo>
                          <a:pt x="726" y="6"/>
                        </a:lnTo>
                        <a:lnTo>
                          <a:pt x="579" y="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27" name="Freeform 172"/>
                  <p:cNvSpPr/>
                  <p:nvPr/>
                </p:nvSpPr>
                <p:spPr bwMode="auto">
                  <a:xfrm>
                    <a:off x="3708" y="2736"/>
                    <a:ext cx="714" cy="567"/>
                  </a:xfrm>
                  <a:custGeom>
                    <a:avLst/>
                    <a:gdLst>
                      <a:gd name="T0" fmla="*/ 0 w 714"/>
                      <a:gd name="T1" fmla="*/ 0 h 567"/>
                      <a:gd name="T2" fmla="*/ 136 w 714"/>
                      <a:gd name="T3" fmla="*/ 1 h 567"/>
                      <a:gd name="T4" fmla="*/ 135 w 714"/>
                      <a:gd name="T5" fmla="*/ 567 h 567"/>
                      <a:gd name="T6" fmla="*/ 714 w 714"/>
                      <a:gd name="T7" fmla="*/ 567 h 567"/>
                      <a:gd name="T8" fmla="*/ 714 w 714"/>
                      <a:gd name="T9" fmla="*/ 6 h 567"/>
                      <a:gd name="T10" fmla="*/ 576 w 714"/>
                      <a:gd name="T11" fmla="*/ 5 h 56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14"/>
                      <a:gd name="T19" fmla="*/ 0 h 567"/>
                      <a:gd name="T20" fmla="*/ 714 w 714"/>
                      <a:gd name="T21" fmla="*/ 567 h 56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14" h="567">
                        <a:moveTo>
                          <a:pt x="0" y="0"/>
                        </a:moveTo>
                        <a:lnTo>
                          <a:pt x="136" y="1"/>
                        </a:lnTo>
                        <a:lnTo>
                          <a:pt x="135" y="567"/>
                        </a:lnTo>
                        <a:lnTo>
                          <a:pt x="714" y="567"/>
                        </a:lnTo>
                        <a:lnTo>
                          <a:pt x="714" y="6"/>
                        </a:lnTo>
                        <a:lnTo>
                          <a:pt x="576" y="5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28" name="Freeform 173"/>
                  <p:cNvSpPr/>
                  <p:nvPr/>
                </p:nvSpPr>
                <p:spPr bwMode="auto">
                  <a:xfrm>
                    <a:off x="4863" y="2736"/>
                    <a:ext cx="711" cy="567"/>
                  </a:xfrm>
                  <a:custGeom>
                    <a:avLst/>
                    <a:gdLst>
                      <a:gd name="T0" fmla="*/ 0 w 711"/>
                      <a:gd name="T1" fmla="*/ 0 h 567"/>
                      <a:gd name="T2" fmla="*/ 130 w 711"/>
                      <a:gd name="T3" fmla="*/ 1 h 567"/>
                      <a:gd name="T4" fmla="*/ 132 w 711"/>
                      <a:gd name="T5" fmla="*/ 567 h 567"/>
                      <a:gd name="T6" fmla="*/ 711 w 711"/>
                      <a:gd name="T7" fmla="*/ 567 h 567"/>
                      <a:gd name="T8" fmla="*/ 711 w 711"/>
                      <a:gd name="T9" fmla="*/ 6 h 567"/>
                      <a:gd name="T10" fmla="*/ 564 w 711"/>
                      <a:gd name="T11" fmla="*/ 6 h 56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711"/>
                      <a:gd name="T19" fmla="*/ 0 h 567"/>
                      <a:gd name="T20" fmla="*/ 711 w 711"/>
                      <a:gd name="T21" fmla="*/ 567 h 56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711" h="567">
                        <a:moveTo>
                          <a:pt x="0" y="0"/>
                        </a:moveTo>
                        <a:lnTo>
                          <a:pt x="130" y="1"/>
                        </a:lnTo>
                        <a:lnTo>
                          <a:pt x="132" y="567"/>
                        </a:lnTo>
                        <a:lnTo>
                          <a:pt x="711" y="567"/>
                        </a:lnTo>
                        <a:lnTo>
                          <a:pt x="711" y="6"/>
                        </a:lnTo>
                        <a:lnTo>
                          <a:pt x="564" y="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29" name="Freeform 174"/>
                  <p:cNvSpPr/>
                  <p:nvPr/>
                </p:nvSpPr>
                <p:spPr bwMode="auto">
                  <a:xfrm>
                    <a:off x="1326" y="3396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  <a:gd name="T6" fmla="*/ 0 w 1"/>
                      <a:gd name="T7" fmla="*/ 0 h 150"/>
                      <a:gd name="T8" fmla="*/ 1 w 1"/>
                      <a:gd name="T9" fmla="*/ 150 h 150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30" name="Freeform 175"/>
                  <p:cNvSpPr/>
                  <p:nvPr/>
                </p:nvSpPr>
                <p:spPr bwMode="auto">
                  <a:xfrm>
                    <a:off x="2495" y="3399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  <a:gd name="T6" fmla="*/ 0 w 1"/>
                      <a:gd name="T7" fmla="*/ 0 h 150"/>
                      <a:gd name="T8" fmla="*/ 1 w 1"/>
                      <a:gd name="T9" fmla="*/ 150 h 150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31" name="Freeform 176"/>
                  <p:cNvSpPr/>
                  <p:nvPr/>
                </p:nvSpPr>
                <p:spPr bwMode="auto">
                  <a:xfrm>
                    <a:off x="3647" y="3399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  <a:gd name="T6" fmla="*/ 0 w 1"/>
                      <a:gd name="T7" fmla="*/ 0 h 150"/>
                      <a:gd name="T8" fmla="*/ 1 w 1"/>
                      <a:gd name="T9" fmla="*/ 150 h 150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32" name="Freeform 177"/>
                  <p:cNvSpPr/>
                  <p:nvPr/>
                </p:nvSpPr>
                <p:spPr bwMode="auto">
                  <a:xfrm>
                    <a:off x="4799" y="3399"/>
                    <a:ext cx="1" cy="150"/>
                  </a:xfrm>
                  <a:custGeom>
                    <a:avLst/>
                    <a:gdLst>
                      <a:gd name="T0" fmla="*/ 0 w 1"/>
                      <a:gd name="T1" fmla="*/ 0 h 150"/>
                      <a:gd name="T2" fmla="*/ 0 w 1"/>
                      <a:gd name="T3" fmla="*/ 150 h 150"/>
                      <a:gd name="T4" fmla="*/ 0 60000 65536"/>
                      <a:gd name="T5" fmla="*/ 0 60000 65536"/>
                      <a:gd name="T6" fmla="*/ 0 w 1"/>
                      <a:gd name="T7" fmla="*/ 0 h 150"/>
                      <a:gd name="T8" fmla="*/ 1 w 1"/>
                      <a:gd name="T9" fmla="*/ 150 h 150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0">
                        <a:moveTo>
                          <a:pt x="0" y="0"/>
                        </a:moveTo>
                        <a:lnTo>
                          <a:pt x="0" y="15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33" name="Freeform 178"/>
                  <p:cNvSpPr/>
                  <p:nvPr/>
                </p:nvSpPr>
                <p:spPr bwMode="auto">
                  <a:xfrm>
                    <a:off x="5280" y="3303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  <a:gd name="T6" fmla="*/ 0 w 1"/>
                      <a:gd name="T7" fmla="*/ 0 h 246"/>
                      <a:gd name="T8" fmla="*/ 1 w 1"/>
                      <a:gd name="T9" fmla="*/ 246 h 24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34" name="Freeform 179"/>
                  <p:cNvSpPr/>
                  <p:nvPr/>
                </p:nvSpPr>
                <p:spPr bwMode="auto">
                  <a:xfrm>
                    <a:off x="4128" y="3303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  <a:gd name="T6" fmla="*/ 0 w 1"/>
                      <a:gd name="T7" fmla="*/ 0 h 246"/>
                      <a:gd name="T8" fmla="*/ 1 w 1"/>
                      <a:gd name="T9" fmla="*/ 246 h 24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35" name="Freeform 180"/>
                  <p:cNvSpPr/>
                  <p:nvPr/>
                </p:nvSpPr>
                <p:spPr bwMode="auto">
                  <a:xfrm>
                    <a:off x="2976" y="3303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  <a:gd name="T6" fmla="*/ 0 w 1"/>
                      <a:gd name="T7" fmla="*/ 0 h 246"/>
                      <a:gd name="T8" fmla="*/ 1 w 1"/>
                      <a:gd name="T9" fmla="*/ 246 h 24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36" name="Freeform 181"/>
                  <p:cNvSpPr/>
                  <p:nvPr/>
                </p:nvSpPr>
                <p:spPr bwMode="auto">
                  <a:xfrm>
                    <a:off x="1823" y="3303"/>
                    <a:ext cx="1" cy="246"/>
                  </a:xfrm>
                  <a:custGeom>
                    <a:avLst/>
                    <a:gdLst>
                      <a:gd name="T0" fmla="*/ 0 w 1"/>
                      <a:gd name="T1" fmla="*/ 0 h 246"/>
                      <a:gd name="T2" fmla="*/ 0 w 1"/>
                      <a:gd name="T3" fmla="*/ 246 h 246"/>
                      <a:gd name="T4" fmla="*/ 0 60000 65536"/>
                      <a:gd name="T5" fmla="*/ 0 60000 65536"/>
                      <a:gd name="T6" fmla="*/ 0 w 1"/>
                      <a:gd name="T7" fmla="*/ 0 h 246"/>
                      <a:gd name="T8" fmla="*/ 1 w 1"/>
                      <a:gd name="T9" fmla="*/ 246 h 24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6">
                        <a:moveTo>
                          <a:pt x="0" y="0"/>
                        </a:moveTo>
                        <a:lnTo>
                          <a:pt x="0" y="24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37" name="Freeform 182"/>
                  <p:cNvSpPr/>
                  <p:nvPr/>
                </p:nvSpPr>
                <p:spPr bwMode="auto">
                  <a:xfrm>
                    <a:off x="960" y="4023"/>
                    <a:ext cx="4317" cy="1"/>
                  </a:xfrm>
                  <a:custGeom>
                    <a:avLst/>
                    <a:gdLst>
                      <a:gd name="T0" fmla="*/ 0 w 4317"/>
                      <a:gd name="T1" fmla="*/ 0 h 1"/>
                      <a:gd name="T2" fmla="*/ 4317 w 4317"/>
                      <a:gd name="T3" fmla="*/ 0 h 1"/>
                      <a:gd name="T4" fmla="*/ 0 60000 65536"/>
                      <a:gd name="T5" fmla="*/ 0 60000 65536"/>
                      <a:gd name="T6" fmla="*/ 0 w 4317"/>
                      <a:gd name="T7" fmla="*/ 0 h 1"/>
                      <a:gd name="T8" fmla="*/ 4317 w 4317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317" h="1">
                        <a:moveTo>
                          <a:pt x="0" y="0"/>
                        </a:moveTo>
                        <a:lnTo>
                          <a:pt x="4317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38" name="Freeform 183"/>
                  <p:cNvSpPr/>
                  <p:nvPr/>
                </p:nvSpPr>
                <p:spPr bwMode="auto">
                  <a:xfrm>
                    <a:off x="960" y="4119"/>
                    <a:ext cx="3837" cy="1"/>
                  </a:xfrm>
                  <a:custGeom>
                    <a:avLst/>
                    <a:gdLst>
                      <a:gd name="T0" fmla="*/ 0 w 3837"/>
                      <a:gd name="T1" fmla="*/ 0 h 1"/>
                      <a:gd name="T2" fmla="*/ 3837 w 3837"/>
                      <a:gd name="T3" fmla="*/ 0 h 1"/>
                      <a:gd name="T4" fmla="*/ 0 60000 65536"/>
                      <a:gd name="T5" fmla="*/ 0 60000 65536"/>
                      <a:gd name="T6" fmla="*/ 0 w 3837"/>
                      <a:gd name="T7" fmla="*/ 0 h 1"/>
                      <a:gd name="T8" fmla="*/ 3837 w 3837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3837" h="1">
                        <a:moveTo>
                          <a:pt x="0" y="0"/>
                        </a:moveTo>
                        <a:lnTo>
                          <a:pt x="3837" y="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39" name="Freeform 184"/>
                  <p:cNvSpPr/>
                  <p:nvPr/>
                </p:nvSpPr>
                <p:spPr bwMode="auto">
                  <a:xfrm>
                    <a:off x="1326" y="3879"/>
                    <a:ext cx="1" cy="243"/>
                  </a:xfrm>
                  <a:custGeom>
                    <a:avLst/>
                    <a:gdLst>
                      <a:gd name="T0" fmla="*/ 0 w 1"/>
                      <a:gd name="T1" fmla="*/ 0 h 243"/>
                      <a:gd name="T2" fmla="*/ 0 w 1"/>
                      <a:gd name="T3" fmla="*/ 243 h 243"/>
                      <a:gd name="T4" fmla="*/ 0 60000 65536"/>
                      <a:gd name="T5" fmla="*/ 0 60000 65536"/>
                      <a:gd name="T6" fmla="*/ 0 w 1"/>
                      <a:gd name="T7" fmla="*/ 0 h 243"/>
                      <a:gd name="T8" fmla="*/ 1 w 1"/>
                      <a:gd name="T9" fmla="*/ 243 h 243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3">
                        <a:moveTo>
                          <a:pt x="0" y="0"/>
                        </a:moveTo>
                        <a:lnTo>
                          <a:pt x="0" y="24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40" name="Freeform 185"/>
                  <p:cNvSpPr/>
                  <p:nvPr/>
                </p:nvSpPr>
                <p:spPr bwMode="auto">
                  <a:xfrm>
                    <a:off x="2495" y="3879"/>
                    <a:ext cx="1" cy="243"/>
                  </a:xfrm>
                  <a:custGeom>
                    <a:avLst/>
                    <a:gdLst>
                      <a:gd name="T0" fmla="*/ 0 w 1"/>
                      <a:gd name="T1" fmla="*/ 0 h 243"/>
                      <a:gd name="T2" fmla="*/ 0 w 1"/>
                      <a:gd name="T3" fmla="*/ 243 h 243"/>
                      <a:gd name="T4" fmla="*/ 0 60000 65536"/>
                      <a:gd name="T5" fmla="*/ 0 60000 65536"/>
                      <a:gd name="T6" fmla="*/ 0 w 1"/>
                      <a:gd name="T7" fmla="*/ 0 h 243"/>
                      <a:gd name="T8" fmla="*/ 1 w 1"/>
                      <a:gd name="T9" fmla="*/ 243 h 243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3">
                        <a:moveTo>
                          <a:pt x="0" y="0"/>
                        </a:moveTo>
                        <a:lnTo>
                          <a:pt x="0" y="24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41" name="Freeform 186"/>
                  <p:cNvSpPr/>
                  <p:nvPr/>
                </p:nvSpPr>
                <p:spPr bwMode="auto">
                  <a:xfrm>
                    <a:off x="3647" y="3879"/>
                    <a:ext cx="1" cy="243"/>
                  </a:xfrm>
                  <a:custGeom>
                    <a:avLst/>
                    <a:gdLst>
                      <a:gd name="T0" fmla="*/ 0 w 1"/>
                      <a:gd name="T1" fmla="*/ 0 h 243"/>
                      <a:gd name="T2" fmla="*/ 0 w 1"/>
                      <a:gd name="T3" fmla="*/ 243 h 243"/>
                      <a:gd name="T4" fmla="*/ 0 60000 65536"/>
                      <a:gd name="T5" fmla="*/ 0 60000 65536"/>
                      <a:gd name="T6" fmla="*/ 0 w 1"/>
                      <a:gd name="T7" fmla="*/ 0 h 243"/>
                      <a:gd name="T8" fmla="*/ 1 w 1"/>
                      <a:gd name="T9" fmla="*/ 243 h 243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243">
                        <a:moveTo>
                          <a:pt x="0" y="0"/>
                        </a:moveTo>
                        <a:lnTo>
                          <a:pt x="0" y="243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42" name="Freeform 187"/>
                  <p:cNvSpPr/>
                  <p:nvPr/>
                </p:nvSpPr>
                <p:spPr bwMode="auto">
                  <a:xfrm>
                    <a:off x="4795" y="3879"/>
                    <a:ext cx="4" cy="247"/>
                  </a:xfrm>
                  <a:custGeom>
                    <a:avLst/>
                    <a:gdLst>
                      <a:gd name="T0" fmla="*/ 4 w 4"/>
                      <a:gd name="T1" fmla="*/ 0 h 247"/>
                      <a:gd name="T2" fmla="*/ 0 w 4"/>
                      <a:gd name="T3" fmla="*/ 247 h 247"/>
                      <a:gd name="T4" fmla="*/ 0 60000 65536"/>
                      <a:gd name="T5" fmla="*/ 0 60000 65536"/>
                      <a:gd name="T6" fmla="*/ 0 w 4"/>
                      <a:gd name="T7" fmla="*/ 0 h 247"/>
                      <a:gd name="T8" fmla="*/ 4 w 4"/>
                      <a:gd name="T9" fmla="*/ 247 h 247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" h="247">
                        <a:moveTo>
                          <a:pt x="4" y="0"/>
                        </a:moveTo>
                        <a:lnTo>
                          <a:pt x="0" y="247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43" name="Freeform 188"/>
                  <p:cNvSpPr/>
                  <p:nvPr/>
                </p:nvSpPr>
                <p:spPr bwMode="auto">
                  <a:xfrm>
                    <a:off x="5281" y="3879"/>
                    <a:ext cx="1" cy="151"/>
                  </a:xfrm>
                  <a:custGeom>
                    <a:avLst/>
                    <a:gdLst>
                      <a:gd name="T0" fmla="*/ 0 w 1"/>
                      <a:gd name="T1" fmla="*/ 0 h 151"/>
                      <a:gd name="T2" fmla="*/ 0 w 1"/>
                      <a:gd name="T3" fmla="*/ 151 h 151"/>
                      <a:gd name="T4" fmla="*/ 0 60000 65536"/>
                      <a:gd name="T5" fmla="*/ 0 60000 65536"/>
                      <a:gd name="T6" fmla="*/ 0 w 1"/>
                      <a:gd name="T7" fmla="*/ 0 h 151"/>
                      <a:gd name="T8" fmla="*/ 1 w 1"/>
                      <a:gd name="T9" fmla="*/ 151 h 15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51">
                        <a:moveTo>
                          <a:pt x="0" y="0"/>
                        </a:moveTo>
                        <a:lnTo>
                          <a:pt x="0" y="151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  <a:round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44" name="Line 189"/>
                  <p:cNvSpPr>
                    <a:spLocks noChangeShapeType="1"/>
                  </p:cNvSpPr>
                  <p:nvPr/>
                </p:nvSpPr>
                <p:spPr bwMode="auto">
                  <a:xfrm>
                    <a:off x="4128" y="38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45" name="Line 190"/>
                  <p:cNvSpPr>
                    <a:spLocks noChangeShapeType="1"/>
                  </p:cNvSpPr>
                  <p:nvPr/>
                </p:nvSpPr>
                <p:spPr bwMode="auto">
                  <a:xfrm>
                    <a:off x="2977" y="38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46" name="Line 191"/>
                  <p:cNvSpPr>
                    <a:spLocks noChangeShapeType="1"/>
                  </p:cNvSpPr>
                  <p:nvPr/>
                </p:nvSpPr>
                <p:spPr bwMode="auto">
                  <a:xfrm>
                    <a:off x="1824" y="3879"/>
                    <a:ext cx="0" cy="14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47" name="Rectangle 192"/>
                  <p:cNvSpPr>
                    <a:spLocks noChangeArrowheads="1"/>
                  </p:cNvSpPr>
                  <p:nvPr/>
                </p:nvSpPr>
                <p:spPr bwMode="auto">
                  <a:xfrm>
                    <a:off x="2321" y="3543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/>
                  </a:p>
                </p:txBody>
              </p:sp>
              <p:sp>
                <p:nvSpPr>
                  <p:cNvPr id="141648" name="Text Box 19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352" y="3574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读写电路</a:t>
                    </a:r>
                  </a:p>
                </p:txBody>
              </p:sp>
              <p:sp>
                <p:nvSpPr>
                  <p:cNvPr id="141649" name="Rectangle 194"/>
                  <p:cNvSpPr>
                    <a:spLocks noChangeArrowheads="1"/>
                  </p:cNvSpPr>
                  <p:nvPr/>
                </p:nvSpPr>
                <p:spPr bwMode="auto">
                  <a:xfrm>
                    <a:off x="3473" y="3543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/>
                  </a:p>
                </p:txBody>
              </p:sp>
              <p:sp>
                <p:nvSpPr>
                  <p:cNvPr id="141650" name="Text Box 195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504" y="3574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读写电路</a:t>
                    </a:r>
                  </a:p>
                </p:txBody>
              </p:sp>
              <p:sp>
                <p:nvSpPr>
                  <p:cNvPr id="141651" name="Rectangle 196"/>
                  <p:cNvSpPr>
                    <a:spLocks noChangeArrowheads="1"/>
                  </p:cNvSpPr>
                  <p:nvPr/>
                </p:nvSpPr>
                <p:spPr bwMode="auto">
                  <a:xfrm>
                    <a:off x="4625" y="3543"/>
                    <a:ext cx="823" cy="336"/>
                  </a:xfrm>
                  <a:prstGeom prst="rect">
                    <a:avLst/>
                  </a:prstGeom>
                  <a:noFill/>
                  <a:ln w="38100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/>
                  </a:p>
                </p:txBody>
              </p:sp>
              <p:sp>
                <p:nvSpPr>
                  <p:cNvPr id="141652" name="Text Box 1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56" y="3574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读写电路</a:t>
                    </a:r>
                  </a:p>
                </p:txBody>
              </p:sp>
              <p:sp>
                <p:nvSpPr>
                  <p:cNvPr id="141653" name="Line 198"/>
                  <p:cNvSpPr>
                    <a:spLocks noChangeShapeType="1"/>
                  </p:cNvSpPr>
                  <p:nvPr/>
                </p:nvSpPr>
                <p:spPr bwMode="auto">
                  <a:xfrm>
                    <a:off x="1968" y="3735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54" name="Line 199"/>
                  <p:cNvSpPr>
                    <a:spLocks noChangeShapeType="1"/>
                  </p:cNvSpPr>
                  <p:nvPr/>
                </p:nvSpPr>
                <p:spPr bwMode="auto">
                  <a:xfrm>
                    <a:off x="3148" y="3735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55" name="Line 200"/>
                  <p:cNvSpPr>
                    <a:spLocks noChangeShapeType="1"/>
                  </p:cNvSpPr>
                  <p:nvPr/>
                </p:nvSpPr>
                <p:spPr bwMode="auto">
                  <a:xfrm>
                    <a:off x="4297" y="3735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56" name="Line 201"/>
                  <p:cNvSpPr>
                    <a:spLocks noChangeShapeType="1"/>
                  </p:cNvSpPr>
                  <p:nvPr/>
                </p:nvSpPr>
                <p:spPr bwMode="auto">
                  <a:xfrm>
                    <a:off x="5424" y="3735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 type="stealth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57" name="Freeform 202"/>
                  <p:cNvSpPr/>
                  <p:nvPr/>
                </p:nvSpPr>
                <p:spPr bwMode="auto">
                  <a:xfrm>
                    <a:off x="3037" y="2706"/>
                    <a:ext cx="47" cy="501"/>
                  </a:xfrm>
                  <a:custGeom>
                    <a:avLst/>
                    <a:gdLst>
                      <a:gd name="T0" fmla="*/ 0 w 1"/>
                      <a:gd name="T1" fmla="*/ 0 h 406"/>
                      <a:gd name="T2" fmla="*/ 0 w 1"/>
                      <a:gd name="T3" fmla="*/ 7711 h 406"/>
                      <a:gd name="T4" fmla="*/ 0 60000 65536"/>
                      <a:gd name="T5" fmla="*/ 0 60000 65536"/>
                      <a:gd name="T6" fmla="*/ 0 w 1"/>
                      <a:gd name="T7" fmla="*/ 0 h 406"/>
                      <a:gd name="T8" fmla="*/ 1 w 1"/>
                      <a:gd name="T9" fmla="*/ 406 h 40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406">
                        <a:moveTo>
                          <a:pt x="0" y="0"/>
                        </a:moveTo>
                        <a:lnTo>
                          <a:pt x="0" y="40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58" name="Freeform 203"/>
                  <p:cNvSpPr/>
                  <p:nvPr/>
                </p:nvSpPr>
                <p:spPr bwMode="auto">
                  <a:xfrm>
                    <a:off x="4189" y="2689"/>
                    <a:ext cx="1" cy="525"/>
                  </a:xfrm>
                  <a:custGeom>
                    <a:avLst/>
                    <a:gdLst>
                      <a:gd name="T0" fmla="*/ 0 w 1"/>
                      <a:gd name="T1" fmla="*/ 0 h 525"/>
                      <a:gd name="T2" fmla="*/ 0 w 1"/>
                      <a:gd name="T3" fmla="*/ 525 h 525"/>
                      <a:gd name="T4" fmla="*/ 0 60000 65536"/>
                      <a:gd name="T5" fmla="*/ 0 60000 65536"/>
                      <a:gd name="T6" fmla="*/ 0 w 1"/>
                      <a:gd name="T7" fmla="*/ 0 h 525"/>
                      <a:gd name="T8" fmla="*/ 1 w 1"/>
                      <a:gd name="T9" fmla="*/ 525 h 525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525">
                        <a:moveTo>
                          <a:pt x="0" y="0"/>
                        </a:moveTo>
                        <a:lnTo>
                          <a:pt x="0" y="525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59" name="Freeform 204"/>
                  <p:cNvSpPr/>
                  <p:nvPr/>
                </p:nvSpPr>
                <p:spPr bwMode="auto">
                  <a:xfrm>
                    <a:off x="5329" y="2706"/>
                    <a:ext cx="47" cy="501"/>
                  </a:xfrm>
                  <a:custGeom>
                    <a:avLst/>
                    <a:gdLst>
                      <a:gd name="T0" fmla="*/ 0 w 1"/>
                      <a:gd name="T1" fmla="*/ 0 h 406"/>
                      <a:gd name="T2" fmla="*/ 0 w 1"/>
                      <a:gd name="T3" fmla="*/ 7711 h 406"/>
                      <a:gd name="T4" fmla="*/ 0 60000 65536"/>
                      <a:gd name="T5" fmla="*/ 0 60000 65536"/>
                      <a:gd name="T6" fmla="*/ 0 w 1"/>
                      <a:gd name="T7" fmla="*/ 0 h 406"/>
                      <a:gd name="T8" fmla="*/ 1 w 1"/>
                      <a:gd name="T9" fmla="*/ 406 h 40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406">
                        <a:moveTo>
                          <a:pt x="0" y="0"/>
                        </a:moveTo>
                        <a:lnTo>
                          <a:pt x="0" y="40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tx1"/>
                    </a:solidFill>
                    <a:prstDash val="solid"/>
                    <a:round/>
                    <a:headEnd type="oval" w="sm" len="sm"/>
                    <a:tailEnd type="none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60" name="Text Box 205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1197" y="163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41661" name="Text Box 206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1773" y="163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41662" name="Text Box 207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2349" y="1638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41663" name="Text Box 208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2925" y="1626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41664" name="Text Box 209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3500" y="1625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en-US" altLang="zh-CN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41665" name="Text Box 210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4077" y="1626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en-US" altLang="zh-CN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41666" name="Text Box 211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4653" y="1626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en-US" altLang="zh-CN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41667" name="Text Box 212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5248" y="1626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  <a:endParaRPr lang="en-US" altLang="zh-CN" sz="32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41668" name="Text Box 21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4" y="789"/>
                    <a:ext cx="188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41669" name="Text Box 21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4" y="1381"/>
                    <a:ext cx="188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1</a:t>
                    </a:r>
                  </a:p>
                </p:txBody>
              </p:sp>
              <p:sp>
                <p:nvSpPr>
                  <p:cNvPr id="141670" name="Text Box 215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8" y="1957"/>
                    <a:ext cx="260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63</a:t>
                    </a:r>
                  </a:p>
                </p:txBody>
              </p:sp>
              <p:sp>
                <p:nvSpPr>
                  <p:cNvPr id="141671" name="Line 216"/>
                  <p:cNvSpPr>
                    <a:spLocks noChangeShapeType="1"/>
                  </p:cNvSpPr>
                  <p:nvPr/>
                </p:nvSpPr>
                <p:spPr bwMode="auto">
                  <a:xfrm>
                    <a:off x="336" y="2535"/>
                    <a:ext cx="57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72" name="Text Box 21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4" y="2725"/>
                    <a:ext cx="188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41673" name="Text Box 218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8" y="3157"/>
                    <a:ext cx="260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1800">
                        <a:latin typeface="Times New Roman" panose="02020603050405020304" pitchFamily="18" charset="0"/>
                      </a:rPr>
                      <a:t>15</a:t>
                    </a:r>
                  </a:p>
                </p:txBody>
              </p:sp>
              <p:sp>
                <p:nvSpPr>
                  <p:cNvPr id="141674" name="Text Box 219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669" y="1626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41675" name="Text Box 220"/>
                  <p:cNvSpPr txBox="1">
                    <a:spLocks noChangeArrowheads="1"/>
                  </p:cNvSpPr>
                  <p:nvPr/>
                </p:nvSpPr>
                <p:spPr bwMode="auto">
                  <a:xfrm rot="5400000">
                    <a:off x="669" y="2874"/>
                    <a:ext cx="372" cy="3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32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141676" name="Text Box 221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52" y="1013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行</a:t>
                    </a:r>
                  </a:p>
                </p:txBody>
              </p:sp>
              <p:sp>
                <p:nvSpPr>
                  <p:cNvPr id="141677" name="Text Box 222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52" y="1261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地</a:t>
                    </a:r>
                  </a:p>
                </p:txBody>
              </p:sp>
              <p:sp>
                <p:nvSpPr>
                  <p:cNvPr id="141678" name="Text Box 22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52" y="1509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址</a:t>
                    </a:r>
                  </a:p>
                </p:txBody>
              </p:sp>
              <p:sp>
                <p:nvSpPr>
                  <p:cNvPr id="141679" name="Text Box 22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52" y="1756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译</a:t>
                    </a:r>
                  </a:p>
                </p:txBody>
              </p:sp>
              <p:sp>
                <p:nvSpPr>
                  <p:cNvPr id="141680" name="Text Box 225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52" y="2004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码</a:t>
                    </a:r>
                  </a:p>
                </p:txBody>
              </p:sp>
              <p:sp>
                <p:nvSpPr>
                  <p:cNvPr id="141681" name="Text Box 226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9" y="2633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列</a:t>
                    </a:r>
                  </a:p>
                </p:txBody>
              </p:sp>
              <p:sp>
                <p:nvSpPr>
                  <p:cNvPr id="141682" name="Text Box 22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9" y="2881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地</a:t>
                    </a:r>
                  </a:p>
                </p:txBody>
              </p:sp>
              <p:sp>
                <p:nvSpPr>
                  <p:cNvPr id="141683" name="Text Box 228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9" y="3129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址</a:t>
                    </a:r>
                  </a:p>
                </p:txBody>
              </p:sp>
              <p:sp>
                <p:nvSpPr>
                  <p:cNvPr id="141684" name="Text Box 22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9" y="3376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译</a:t>
                    </a:r>
                  </a:p>
                </p:txBody>
              </p:sp>
              <p:sp>
                <p:nvSpPr>
                  <p:cNvPr id="141685" name="Text Box 23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9" y="3624"/>
                    <a:ext cx="277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码</a:t>
                    </a:r>
                  </a:p>
                </p:txBody>
              </p:sp>
              <p:sp>
                <p:nvSpPr>
                  <p:cNvPr id="141686" name="Line 231"/>
                  <p:cNvSpPr>
                    <a:spLocks noChangeShapeType="1"/>
                  </p:cNvSpPr>
                  <p:nvPr/>
                </p:nvSpPr>
                <p:spPr bwMode="auto">
                  <a:xfrm>
                    <a:off x="144" y="903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87" name="Line 232"/>
                  <p:cNvSpPr>
                    <a:spLocks noChangeShapeType="1"/>
                  </p:cNvSpPr>
                  <p:nvPr/>
                </p:nvSpPr>
                <p:spPr bwMode="auto">
                  <a:xfrm>
                    <a:off x="144" y="1162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88" name="Line 233"/>
                  <p:cNvSpPr>
                    <a:spLocks noChangeShapeType="1"/>
                  </p:cNvSpPr>
                  <p:nvPr/>
                </p:nvSpPr>
                <p:spPr bwMode="auto">
                  <a:xfrm>
                    <a:off x="144" y="1421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89" name="Line 234"/>
                  <p:cNvSpPr>
                    <a:spLocks noChangeShapeType="1"/>
                  </p:cNvSpPr>
                  <p:nvPr/>
                </p:nvSpPr>
                <p:spPr bwMode="auto">
                  <a:xfrm>
                    <a:off x="144" y="1680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90" name="Line 235"/>
                  <p:cNvSpPr>
                    <a:spLocks noChangeShapeType="1"/>
                  </p:cNvSpPr>
                  <p:nvPr/>
                </p:nvSpPr>
                <p:spPr bwMode="auto">
                  <a:xfrm>
                    <a:off x="144" y="1939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91" name="Line 236"/>
                  <p:cNvSpPr>
                    <a:spLocks noChangeShapeType="1"/>
                  </p:cNvSpPr>
                  <p:nvPr/>
                </p:nvSpPr>
                <p:spPr bwMode="auto">
                  <a:xfrm>
                    <a:off x="144" y="2199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92" name="Line 237"/>
                  <p:cNvSpPr>
                    <a:spLocks noChangeShapeType="1"/>
                  </p:cNvSpPr>
                  <p:nvPr/>
                </p:nvSpPr>
                <p:spPr bwMode="auto">
                  <a:xfrm>
                    <a:off x="144" y="2870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93" name="Line 238"/>
                  <p:cNvSpPr>
                    <a:spLocks noChangeShapeType="1"/>
                  </p:cNvSpPr>
                  <p:nvPr/>
                </p:nvSpPr>
                <p:spPr bwMode="auto">
                  <a:xfrm>
                    <a:off x="144" y="3129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94" name="Line 239"/>
                  <p:cNvSpPr>
                    <a:spLocks noChangeShapeType="1"/>
                  </p:cNvSpPr>
                  <p:nvPr/>
                </p:nvSpPr>
                <p:spPr bwMode="auto">
                  <a:xfrm>
                    <a:off x="144" y="3388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95" name="Line 240"/>
                  <p:cNvSpPr>
                    <a:spLocks noChangeShapeType="1"/>
                  </p:cNvSpPr>
                  <p:nvPr/>
                </p:nvSpPr>
                <p:spPr bwMode="auto">
                  <a:xfrm>
                    <a:off x="144" y="3648"/>
                    <a:ext cx="19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96" name="Text Box 241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52" y="3888"/>
                    <a:ext cx="356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en-US" altLang="zh-CN" sz="18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WE</a:t>
                    </a:r>
                  </a:p>
                </p:txBody>
              </p:sp>
              <p:sp>
                <p:nvSpPr>
                  <p:cNvPr id="141697" name="Line 242"/>
                  <p:cNvSpPr>
                    <a:spLocks noChangeShapeType="1"/>
                  </p:cNvSpPr>
                  <p:nvPr/>
                </p:nvSpPr>
                <p:spPr bwMode="auto">
                  <a:xfrm>
                    <a:off x="686" y="3921"/>
                    <a:ext cx="288" cy="0"/>
                  </a:xfrm>
                  <a:prstGeom prst="line">
                    <a:avLst/>
                  </a:prstGeom>
                  <a:noFill/>
                  <a:ln w="28575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698" name="Text Box 24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72" y="4023"/>
                    <a:ext cx="321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en-US" altLang="zh-CN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CS</a:t>
                    </a:r>
                  </a:p>
                </p:txBody>
              </p:sp>
              <p:sp>
                <p:nvSpPr>
                  <p:cNvPr id="141699" name="Line 244"/>
                  <p:cNvSpPr>
                    <a:spLocks noChangeShapeType="1"/>
                  </p:cNvSpPr>
                  <p:nvPr/>
                </p:nvSpPr>
                <p:spPr bwMode="auto">
                  <a:xfrm>
                    <a:off x="730" y="4077"/>
                    <a:ext cx="192" cy="0"/>
                  </a:xfrm>
                  <a:prstGeom prst="line">
                    <a:avLst/>
                  </a:prstGeom>
                  <a:noFill/>
                  <a:ln w="28575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41489" name="Group 245"/>
                <p:cNvGrpSpPr/>
                <p:nvPr/>
              </p:nvGrpSpPr>
              <p:grpSpPr bwMode="auto">
                <a:xfrm>
                  <a:off x="144" y="672"/>
                  <a:ext cx="196" cy="3010"/>
                  <a:chOff x="140" y="674"/>
                  <a:chExt cx="196" cy="3010"/>
                </a:xfrm>
              </p:grpSpPr>
              <p:sp>
                <p:nvSpPr>
                  <p:cNvPr id="141490" name="Text Box 246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674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41491" name="Text Box 24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933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41492" name="Text Box 248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192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41493" name="Text Box 24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451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41494" name="Text Box 25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710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41495" name="Text Box 251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1970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41496" name="Text Box 252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2657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41497" name="Text Box 25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2916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41498" name="Text Box 25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3175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41499" name="Text Box 255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" y="3434"/>
                    <a:ext cx="19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folHlink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</p:grpSp>
          </p:grpSp>
          <p:grpSp>
            <p:nvGrpSpPr>
              <p:cNvPr id="141400" name="Group 256"/>
              <p:cNvGrpSpPr/>
              <p:nvPr/>
            </p:nvGrpSpPr>
            <p:grpSpPr bwMode="auto">
              <a:xfrm>
                <a:off x="906" y="855"/>
                <a:ext cx="4567" cy="430"/>
                <a:chOff x="906" y="855"/>
                <a:chExt cx="4567" cy="430"/>
              </a:xfrm>
            </p:grpSpPr>
            <p:grpSp>
              <p:nvGrpSpPr>
                <p:cNvPr id="141464" name="Group 257"/>
                <p:cNvGrpSpPr/>
                <p:nvPr/>
              </p:nvGrpSpPr>
              <p:grpSpPr bwMode="auto">
                <a:xfrm>
                  <a:off x="906" y="855"/>
                  <a:ext cx="4567" cy="430"/>
                  <a:chOff x="902" y="857"/>
                  <a:chExt cx="4567" cy="430"/>
                </a:xfrm>
              </p:grpSpPr>
              <p:grpSp>
                <p:nvGrpSpPr>
                  <p:cNvPr id="141469" name="Group 258"/>
                  <p:cNvGrpSpPr/>
                  <p:nvPr/>
                </p:nvGrpSpPr>
                <p:grpSpPr bwMode="auto">
                  <a:xfrm>
                    <a:off x="1152" y="1013"/>
                    <a:ext cx="4317" cy="274"/>
                    <a:chOff x="1176" y="1068"/>
                    <a:chExt cx="4317" cy="274"/>
                  </a:xfrm>
                </p:grpSpPr>
                <p:sp>
                  <p:nvSpPr>
                    <p:cNvPr id="141480" name="Rectangle 25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752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15</a:t>
                      </a:r>
                    </a:p>
                  </p:txBody>
                </p:sp>
                <p:sp>
                  <p:nvSpPr>
                    <p:cNvPr id="141481" name="Rectangle 26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76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0</a:t>
                      </a:r>
                    </a:p>
                  </p:txBody>
                </p:sp>
                <p:sp>
                  <p:nvSpPr>
                    <p:cNvPr id="141482" name="Rectangle 26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92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31</a:t>
                      </a:r>
                    </a:p>
                  </p:txBody>
                </p:sp>
                <p:sp>
                  <p:nvSpPr>
                    <p:cNvPr id="141483" name="Rectangle 26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16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16</a:t>
                      </a:r>
                    </a:p>
                  </p:txBody>
                </p:sp>
                <p:sp>
                  <p:nvSpPr>
                    <p:cNvPr id="141484" name="Rectangle 26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67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47</a:t>
                      </a:r>
                    </a:p>
                  </p:txBody>
                </p:sp>
                <p:sp>
                  <p:nvSpPr>
                    <p:cNvPr id="141485" name="Rectangle 26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491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32</a:t>
                      </a:r>
                    </a:p>
                  </p:txBody>
                </p:sp>
                <p:sp>
                  <p:nvSpPr>
                    <p:cNvPr id="141486" name="Rectangle 26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205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63</a:t>
                      </a:r>
                    </a:p>
                  </p:txBody>
                </p:sp>
                <p:sp>
                  <p:nvSpPr>
                    <p:cNvPr id="141487" name="Rectangle 26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26" y="1068"/>
                      <a:ext cx="288" cy="274"/>
                    </a:xfrm>
                    <a:prstGeom prst="rect">
                      <a:avLst/>
                    </a:prstGeom>
                    <a:solidFill>
                      <a:schemeClr val="folHlink"/>
                    </a:solidFill>
                    <a:ln w="38100">
                      <a:solidFill>
                        <a:schemeClr val="folHlink"/>
                      </a:solidFill>
                      <a:miter lim="800000"/>
                    </a:ln>
                  </p:spPr>
                  <p:txBody>
                    <a:bodyPr lIns="0" rIns="0" anchor="ctr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solidFill>
                            <a:schemeClr val="bg2"/>
                          </a:solidFill>
                          <a:latin typeface="Times New Roman" panose="02020603050405020304" pitchFamily="18" charset="0"/>
                        </a:rPr>
                        <a:t>48</a:t>
                      </a:r>
                    </a:p>
                  </p:txBody>
                </p:sp>
              </p:grpSp>
              <p:grpSp>
                <p:nvGrpSpPr>
                  <p:cNvPr id="141470" name="Group 267"/>
                  <p:cNvGrpSpPr/>
                  <p:nvPr/>
                </p:nvGrpSpPr>
                <p:grpSpPr bwMode="auto">
                  <a:xfrm>
                    <a:off x="902" y="857"/>
                    <a:ext cx="4419" cy="145"/>
                    <a:chOff x="902" y="857"/>
                    <a:chExt cx="4419" cy="145"/>
                  </a:xfrm>
                </p:grpSpPr>
                <p:sp>
                  <p:nvSpPr>
                    <p:cNvPr id="141471" name="Freeform 268"/>
                    <p:cNvSpPr/>
                    <p:nvPr/>
                  </p:nvSpPr>
                  <p:spPr bwMode="auto">
                    <a:xfrm>
                      <a:off x="902" y="857"/>
                      <a:ext cx="4419" cy="1"/>
                    </a:xfrm>
                    <a:custGeom>
                      <a:avLst/>
                      <a:gdLst>
                        <a:gd name="T0" fmla="*/ 0 w 4419"/>
                        <a:gd name="T1" fmla="*/ 1 h 1"/>
                        <a:gd name="T2" fmla="*/ 4419 w 4419"/>
                        <a:gd name="T3" fmla="*/ 0 h 1"/>
                        <a:gd name="T4" fmla="*/ 0 60000 65536"/>
                        <a:gd name="T5" fmla="*/ 0 60000 65536"/>
                        <a:gd name="T6" fmla="*/ 0 w 4419"/>
                        <a:gd name="T7" fmla="*/ 0 h 1"/>
                        <a:gd name="T8" fmla="*/ 4419 w 4419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4419" h="1">
                          <a:moveTo>
                            <a:pt x="0" y="1"/>
                          </a:moveTo>
                          <a:lnTo>
                            <a:pt x="4419" y="0"/>
                          </a:lnTo>
                        </a:path>
                      </a:pathLst>
                    </a:custGeom>
                    <a:noFill/>
                    <a:ln w="76200" cmpd="sng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1472" name="Line 26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72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1473" name="Line 27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848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1474" name="Line 27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424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1475" name="Line 27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000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1476" name="Line 27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76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1477" name="Line 27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152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1478" name="Line 27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728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1479" name="Line 27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304" y="858"/>
                      <a:ext cx="0" cy="144"/>
                    </a:xfrm>
                    <a:prstGeom prst="line">
                      <a:avLst/>
                    </a:prstGeom>
                    <a:noFill/>
                    <a:ln w="76200">
                      <a:solidFill>
                        <a:schemeClr val="folHlink"/>
                      </a:solidFill>
                      <a:round/>
                      <a:headEnd type="oval" w="sm" len="sm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</p:grpSp>
            </p:grpSp>
            <p:sp>
              <p:nvSpPr>
                <p:cNvPr id="141465" name="Text Box 277"/>
                <p:cNvSpPr txBox="1">
                  <a:spLocks noChangeArrowheads="1"/>
                </p:cNvSpPr>
                <p:nvPr/>
              </p:nvSpPr>
              <p:spPr bwMode="auto">
                <a:xfrm>
                  <a:off x="1404" y="86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41466" name="Text Box 278"/>
                <p:cNvSpPr txBox="1">
                  <a:spLocks noChangeArrowheads="1"/>
                </p:cNvSpPr>
                <p:nvPr/>
              </p:nvSpPr>
              <p:spPr bwMode="auto">
                <a:xfrm>
                  <a:off x="2544" y="86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41467" name="Text Box 279"/>
                <p:cNvSpPr txBox="1">
                  <a:spLocks noChangeArrowheads="1"/>
                </p:cNvSpPr>
                <p:nvPr/>
              </p:nvSpPr>
              <p:spPr bwMode="auto">
                <a:xfrm>
                  <a:off x="3722" y="86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41468" name="Text Box 280"/>
                <p:cNvSpPr txBox="1">
                  <a:spLocks noChangeArrowheads="1"/>
                </p:cNvSpPr>
                <p:nvPr/>
              </p:nvSpPr>
              <p:spPr bwMode="auto">
                <a:xfrm>
                  <a:off x="4864" y="868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</p:grpSp>
          <p:grpSp>
            <p:nvGrpSpPr>
              <p:cNvPr id="141401" name="Group 281"/>
              <p:cNvGrpSpPr/>
              <p:nvPr/>
            </p:nvGrpSpPr>
            <p:grpSpPr bwMode="auto">
              <a:xfrm>
                <a:off x="1146" y="3544"/>
                <a:ext cx="4304" cy="336"/>
                <a:chOff x="1146" y="3544"/>
                <a:chExt cx="4304" cy="336"/>
              </a:xfrm>
            </p:grpSpPr>
            <p:grpSp>
              <p:nvGrpSpPr>
                <p:cNvPr id="141452" name="Group 282"/>
                <p:cNvGrpSpPr/>
                <p:nvPr/>
              </p:nvGrpSpPr>
              <p:grpSpPr bwMode="auto">
                <a:xfrm>
                  <a:off x="1146" y="3544"/>
                  <a:ext cx="823" cy="336"/>
                  <a:chOff x="1142" y="3546"/>
                  <a:chExt cx="823" cy="336"/>
                </a:xfrm>
              </p:grpSpPr>
              <p:sp>
                <p:nvSpPr>
                  <p:cNvPr id="141462" name="Rectangle 283"/>
                  <p:cNvSpPr>
                    <a:spLocks noChangeArrowheads="1"/>
                  </p:cNvSpPr>
                  <p:nvPr/>
                </p:nvSpPr>
                <p:spPr bwMode="auto">
                  <a:xfrm>
                    <a:off x="1142" y="3546"/>
                    <a:ext cx="823" cy="336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/>
                  </a:p>
                </p:txBody>
              </p:sp>
              <p:sp>
                <p:nvSpPr>
                  <p:cNvPr id="141463" name="Text Box 28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200" y="3590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读写电路</a:t>
                    </a:r>
                  </a:p>
                </p:txBody>
              </p:sp>
            </p:grpSp>
            <p:grpSp>
              <p:nvGrpSpPr>
                <p:cNvPr id="141453" name="Group 285"/>
                <p:cNvGrpSpPr/>
                <p:nvPr/>
              </p:nvGrpSpPr>
              <p:grpSpPr bwMode="auto">
                <a:xfrm>
                  <a:off x="2322" y="3544"/>
                  <a:ext cx="823" cy="336"/>
                  <a:chOff x="2318" y="3546"/>
                  <a:chExt cx="823" cy="336"/>
                </a:xfrm>
              </p:grpSpPr>
              <p:sp>
                <p:nvSpPr>
                  <p:cNvPr id="141460" name="Rectangle 286"/>
                  <p:cNvSpPr>
                    <a:spLocks noChangeArrowheads="1"/>
                  </p:cNvSpPr>
                  <p:nvPr/>
                </p:nvSpPr>
                <p:spPr bwMode="auto">
                  <a:xfrm>
                    <a:off x="2318" y="3546"/>
                    <a:ext cx="823" cy="336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/>
                  </a:p>
                </p:txBody>
              </p:sp>
              <p:sp>
                <p:nvSpPr>
                  <p:cNvPr id="141461" name="Text Box 28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352" y="3600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读写电路</a:t>
                    </a:r>
                  </a:p>
                </p:txBody>
              </p:sp>
            </p:grpSp>
            <p:grpSp>
              <p:nvGrpSpPr>
                <p:cNvPr id="141454" name="Group 288"/>
                <p:cNvGrpSpPr/>
                <p:nvPr/>
              </p:nvGrpSpPr>
              <p:grpSpPr bwMode="auto">
                <a:xfrm>
                  <a:off x="3474" y="3544"/>
                  <a:ext cx="823" cy="336"/>
                  <a:chOff x="3470" y="3546"/>
                  <a:chExt cx="823" cy="336"/>
                </a:xfrm>
              </p:grpSpPr>
              <p:sp>
                <p:nvSpPr>
                  <p:cNvPr id="141458" name="Rectangle 289"/>
                  <p:cNvSpPr>
                    <a:spLocks noChangeArrowheads="1"/>
                  </p:cNvSpPr>
                  <p:nvPr/>
                </p:nvSpPr>
                <p:spPr bwMode="auto">
                  <a:xfrm>
                    <a:off x="3470" y="3546"/>
                    <a:ext cx="823" cy="336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/>
                  </a:p>
                </p:txBody>
              </p:sp>
              <p:sp>
                <p:nvSpPr>
                  <p:cNvPr id="141459" name="Text Box 29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504" y="3600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读写电路</a:t>
                    </a:r>
                  </a:p>
                </p:txBody>
              </p:sp>
            </p:grpSp>
            <p:grpSp>
              <p:nvGrpSpPr>
                <p:cNvPr id="141455" name="Group 291"/>
                <p:cNvGrpSpPr/>
                <p:nvPr/>
              </p:nvGrpSpPr>
              <p:grpSpPr bwMode="auto">
                <a:xfrm>
                  <a:off x="4627" y="3544"/>
                  <a:ext cx="823" cy="336"/>
                  <a:chOff x="4623" y="3546"/>
                  <a:chExt cx="823" cy="336"/>
                </a:xfrm>
              </p:grpSpPr>
              <p:sp>
                <p:nvSpPr>
                  <p:cNvPr id="141456" name="Rectangle 292"/>
                  <p:cNvSpPr>
                    <a:spLocks noChangeArrowheads="1"/>
                  </p:cNvSpPr>
                  <p:nvPr/>
                </p:nvSpPr>
                <p:spPr bwMode="auto">
                  <a:xfrm>
                    <a:off x="4623" y="3546"/>
                    <a:ext cx="823" cy="336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en-US"/>
                  </a:p>
                </p:txBody>
              </p:sp>
              <p:sp>
                <p:nvSpPr>
                  <p:cNvPr id="141457" name="Text Box 29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56" y="3600"/>
                    <a:ext cx="75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读写电路</a:t>
                    </a:r>
                  </a:p>
                </p:txBody>
              </p:sp>
            </p:grpSp>
          </p:grpSp>
          <p:grpSp>
            <p:nvGrpSpPr>
              <p:cNvPr id="141402" name="Group 294"/>
              <p:cNvGrpSpPr/>
              <p:nvPr/>
            </p:nvGrpSpPr>
            <p:grpSpPr bwMode="auto">
              <a:xfrm>
                <a:off x="919" y="2630"/>
                <a:ext cx="3944" cy="254"/>
                <a:chOff x="919" y="2630"/>
                <a:chExt cx="3944" cy="254"/>
              </a:xfrm>
            </p:grpSpPr>
            <p:grpSp>
              <p:nvGrpSpPr>
                <p:cNvPr id="141414" name="Group 295"/>
                <p:cNvGrpSpPr/>
                <p:nvPr/>
              </p:nvGrpSpPr>
              <p:grpSpPr bwMode="auto">
                <a:xfrm>
                  <a:off x="919" y="2694"/>
                  <a:ext cx="3858" cy="190"/>
                  <a:chOff x="915" y="2696"/>
                  <a:chExt cx="3858" cy="190"/>
                </a:xfrm>
              </p:grpSpPr>
              <p:sp>
                <p:nvSpPr>
                  <p:cNvPr id="141447" name="Freeform 296"/>
                  <p:cNvSpPr/>
                  <p:nvPr/>
                </p:nvSpPr>
                <p:spPr bwMode="auto">
                  <a:xfrm>
                    <a:off x="1304" y="2707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  <a:gd name="T6" fmla="*/ 0 w 1"/>
                      <a:gd name="T7" fmla="*/ 0 h 166"/>
                      <a:gd name="T8" fmla="*/ 1 w 1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448" name="Freeform 297"/>
                  <p:cNvSpPr/>
                  <p:nvPr/>
                </p:nvSpPr>
                <p:spPr bwMode="auto">
                  <a:xfrm>
                    <a:off x="2457" y="2710"/>
                    <a:ext cx="1" cy="166"/>
                  </a:xfrm>
                  <a:custGeom>
                    <a:avLst/>
                    <a:gdLst>
                      <a:gd name="T0" fmla="*/ 0 w 1"/>
                      <a:gd name="T1" fmla="*/ 0 h 166"/>
                      <a:gd name="T2" fmla="*/ 1 w 1"/>
                      <a:gd name="T3" fmla="*/ 166 h 166"/>
                      <a:gd name="T4" fmla="*/ 0 60000 65536"/>
                      <a:gd name="T5" fmla="*/ 0 60000 65536"/>
                      <a:gd name="T6" fmla="*/ 0 w 1"/>
                      <a:gd name="T7" fmla="*/ 0 h 166"/>
                      <a:gd name="T8" fmla="*/ 1 w 1"/>
                      <a:gd name="T9" fmla="*/ 166 h 16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66">
                        <a:moveTo>
                          <a:pt x="0" y="0"/>
                        </a:moveTo>
                        <a:lnTo>
                          <a:pt x="1" y="16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449" name="Freeform 298"/>
                  <p:cNvSpPr/>
                  <p:nvPr/>
                </p:nvSpPr>
                <p:spPr bwMode="auto">
                  <a:xfrm>
                    <a:off x="3609" y="2710"/>
                    <a:ext cx="1" cy="176"/>
                  </a:xfrm>
                  <a:custGeom>
                    <a:avLst/>
                    <a:gdLst>
                      <a:gd name="T0" fmla="*/ 0 w 1"/>
                      <a:gd name="T1" fmla="*/ 0 h 176"/>
                      <a:gd name="T2" fmla="*/ 0 w 1"/>
                      <a:gd name="T3" fmla="*/ 176 h 176"/>
                      <a:gd name="T4" fmla="*/ 0 60000 65536"/>
                      <a:gd name="T5" fmla="*/ 0 60000 65536"/>
                      <a:gd name="T6" fmla="*/ 0 w 1"/>
                      <a:gd name="T7" fmla="*/ 0 h 176"/>
                      <a:gd name="T8" fmla="*/ 1 w 1"/>
                      <a:gd name="T9" fmla="*/ 176 h 17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76">
                        <a:moveTo>
                          <a:pt x="0" y="0"/>
                        </a:moveTo>
                        <a:lnTo>
                          <a:pt x="0" y="176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450" name="Freeform 299"/>
                  <p:cNvSpPr/>
                  <p:nvPr/>
                </p:nvSpPr>
                <p:spPr bwMode="auto">
                  <a:xfrm>
                    <a:off x="4761" y="2696"/>
                    <a:ext cx="1" cy="178"/>
                  </a:xfrm>
                  <a:custGeom>
                    <a:avLst/>
                    <a:gdLst>
                      <a:gd name="T0" fmla="*/ 0 w 1"/>
                      <a:gd name="T1" fmla="*/ 0 h 178"/>
                      <a:gd name="T2" fmla="*/ 0 w 1"/>
                      <a:gd name="T3" fmla="*/ 178 h 178"/>
                      <a:gd name="T4" fmla="*/ 0 60000 65536"/>
                      <a:gd name="T5" fmla="*/ 0 60000 65536"/>
                      <a:gd name="T6" fmla="*/ 0 w 1"/>
                      <a:gd name="T7" fmla="*/ 0 h 178"/>
                      <a:gd name="T8" fmla="*/ 1 w 1"/>
                      <a:gd name="T9" fmla="*/ 178 h 178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1" h="178">
                        <a:moveTo>
                          <a:pt x="0" y="0"/>
                        </a:moveTo>
                        <a:lnTo>
                          <a:pt x="0" y="178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chemeClr val="folHlink"/>
                    </a:solidFill>
                    <a:prstDash val="solid"/>
                    <a:round/>
                    <a:headEnd type="oval" w="sm" len="sm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451" name="Freeform 300"/>
                  <p:cNvSpPr/>
                  <p:nvPr/>
                </p:nvSpPr>
                <p:spPr bwMode="auto">
                  <a:xfrm>
                    <a:off x="915" y="2865"/>
                    <a:ext cx="3858" cy="2"/>
                  </a:xfrm>
                  <a:custGeom>
                    <a:avLst/>
                    <a:gdLst>
                      <a:gd name="T0" fmla="*/ 0 w 3858"/>
                      <a:gd name="T1" fmla="*/ 2 h 2"/>
                      <a:gd name="T2" fmla="*/ 3858 w 3858"/>
                      <a:gd name="T3" fmla="*/ 0 h 2"/>
                      <a:gd name="T4" fmla="*/ 0 60000 65536"/>
                      <a:gd name="T5" fmla="*/ 0 60000 65536"/>
                      <a:gd name="T6" fmla="*/ 0 w 3858"/>
                      <a:gd name="T7" fmla="*/ 0 h 2"/>
                      <a:gd name="T8" fmla="*/ 3858 w 3858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3858" h="2">
                        <a:moveTo>
                          <a:pt x="0" y="2"/>
                        </a:moveTo>
                        <a:lnTo>
                          <a:pt x="3858" y="0"/>
                        </a:lnTo>
                      </a:path>
                    </a:pathLst>
                  </a:custGeom>
                  <a:noFill/>
                  <a:ln w="76200" cmpd="sng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41415" name="Group 301"/>
                <p:cNvGrpSpPr/>
                <p:nvPr/>
              </p:nvGrpSpPr>
              <p:grpSpPr bwMode="auto">
                <a:xfrm>
                  <a:off x="1216" y="2630"/>
                  <a:ext cx="192" cy="158"/>
                  <a:chOff x="1212" y="2632"/>
                  <a:chExt cx="192" cy="158"/>
                </a:xfrm>
              </p:grpSpPr>
              <p:grpSp>
                <p:nvGrpSpPr>
                  <p:cNvPr id="141440" name="Group 302"/>
                  <p:cNvGrpSpPr/>
                  <p:nvPr/>
                </p:nvGrpSpPr>
                <p:grpSpPr bwMode="auto">
                  <a:xfrm>
                    <a:off x="1356" y="2632"/>
                    <a:ext cx="48" cy="158"/>
                    <a:chOff x="1356" y="2632"/>
                    <a:chExt cx="48" cy="158"/>
                  </a:xfrm>
                </p:grpSpPr>
                <p:sp>
                  <p:nvSpPr>
                    <p:cNvPr id="141445" name="Line 303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325" y="2711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1446" name="Line 304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1308" y="2709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41441" name="Freeform 305"/>
                  <p:cNvSpPr/>
                  <p:nvPr/>
                </p:nvSpPr>
                <p:spPr bwMode="auto">
                  <a:xfrm>
                    <a:off x="1260" y="2708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41442" name="Group 306"/>
                  <p:cNvGrpSpPr/>
                  <p:nvPr/>
                </p:nvGrpSpPr>
                <p:grpSpPr bwMode="auto">
                  <a:xfrm>
                    <a:off x="1212" y="2632"/>
                    <a:ext cx="48" cy="158"/>
                    <a:chOff x="1212" y="2632"/>
                    <a:chExt cx="48" cy="158"/>
                  </a:xfrm>
                </p:grpSpPr>
                <p:sp>
                  <p:nvSpPr>
                    <p:cNvPr id="141443" name="Line 307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133" y="2711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1444" name="Line 308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1212" y="2713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141416" name="Group 309"/>
                <p:cNvGrpSpPr/>
                <p:nvPr/>
              </p:nvGrpSpPr>
              <p:grpSpPr bwMode="auto">
                <a:xfrm>
                  <a:off x="2368" y="2632"/>
                  <a:ext cx="192" cy="158"/>
                  <a:chOff x="2364" y="2634"/>
                  <a:chExt cx="192" cy="158"/>
                </a:xfrm>
              </p:grpSpPr>
              <p:grpSp>
                <p:nvGrpSpPr>
                  <p:cNvPr id="141433" name="Group 310"/>
                  <p:cNvGrpSpPr/>
                  <p:nvPr/>
                </p:nvGrpSpPr>
                <p:grpSpPr bwMode="auto">
                  <a:xfrm>
                    <a:off x="2508" y="2634"/>
                    <a:ext cx="48" cy="158"/>
                    <a:chOff x="2508" y="2634"/>
                    <a:chExt cx="48" cy="158"/>
                  </a:xfrm>
                </p:grpSpPr>
                <p:sp>
                  <p:nvSpPr>
                    <p:cNvPr id="141438" name="Line 311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2477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1439" name="Line 312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2460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41434" name="Freeform 313"/>
                  <p:cNvSpPr/>
                  <p:nvPr/>
                </p:nvSpPr>
                <p:spPr bwMode="auto">
                  <a:xfrm>
                    <a:off x="2412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41435" name="Group 314"/>
                  <p:cNvGrpSpPr/>
                  <p:nvPr/>
                </p:nvGrpSpPr>
                <p:grpSpPr bwMode="auto">
                  <a:xfrm>
                    <a:off x="2364" y="2634"/>
                    <a:ext cx="48" cy="158"/>
                    <a:chOff x="2364" y="2634"/>
                    <a:chExt cx="48" cy="158"/>
                  </a:xfrm>
                </p:grpSpPr>
                <p:sp>
                  <p:nvSpPr>
                    <p:cNvPr id="141436" name="Line 315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285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1437" name="Line 316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2364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141417" name="Group 317"/>
                <p:cNvGrpSpPr/>
                <p:nvPr/>
              </p:nvGrpSpPr>
              <p:grpSpPr bwMode="auto">
                <a:xfrm>
                  <a:off x="3520" y="2632"/>
                  <a:ext cx="192" cy="158"/>
                  <a:chOff x="3516" y="2634"/>
                  <a:chExt cx="192" cy="158"/>
                </a:xfrm>
              </p:grpSpPr>
              <p:grpSp>
                <p:nvGrpSpPr>
                  <p:cNvPr id="141426" name="Group 318"/>
                  <p:cNvGrpSpPr/>
                  <p:nvPr/>
                </p:nvGrpSpPr>
                <p:grpSpPr bwMode="auto">
                  <a:xfrm>
                    <a:off x="3660" y="2634"/>
                    <a:ext cx="48" cy="158"/>
                    <a:chOff x="3660" y="2634"/>
                    <a:chExt cx="48" cy="158"/>
                  </a:xfrm>
                </p:grpSpPr>
                <p:sp>
                  <p:nvSpPr>
                    <p:cNvPr id="141431" name="Line 319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629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1432" name="Line 320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3612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41427" name="Freeform 321"/>
                  <p:cNvSpPr/>
                  <p:nvPr/>
                </p:nvSpPr>
                <p:spPr bwMode="auto">
                  <a:xfrm>
                    <a:off x="3564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41428" name="Group 322"/>
                  <p:cNvGrpSpPr/>
                  <p:nvPr/>
                </p:nvGrpSpPr>
                <p:grpSpPr bwMode="auto">
                  <a:xfrm>
                    <a:off x="3516" y="2634"/>
                    <a:ext cx="48" cy="158"/>
                    <a:chOff x="3516" y="2634"/>
                    <a:chExt cx="48" cy="158"/>
                  </a:xfrm>
                </p:grpSpPr>
                <p:sp>
                  <p:nvSpPr>
                    <p:cNvPr id="141429" name="Line 323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3437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1430" name="Line 324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3516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141418" name="Group 325"/>
                <p:cNvGrpSpPr/>
                <p:nvPr/>
              </p:nvGrpSpPr>
              <p:grpSpPr bwMode="auto">
                <a:xfrm>
                  <a:off x="4671" y="2632"/>
                  <a:ext cx="192" cy="158"/>
                  <a:chOff x="4667" y="2634"/>
                  <a:chExt cx="192" cy="158"/>
                </a:xfrm>
              </p:grpSpPr>
              <p:grpSp>
                <p:nvGrpSpPr>
                  <p:cNvPr id="141419" name="Group 326"/>
                  <p:cNvGrpSpPr/>
                  <p:nvPr/>
                </p:nvGrpSpPr>
                <p:grpSpPr bwMode="auto">
                  <a:xfrm>
                    <a:off x="4811" y="2634"/>
                    <a:ext cx="48" cy="158"/>
                    <a:chOff x="4811" y="2634"/>
                    <a:chExt cx="48" cy="158"/>
                  </a:xfrm>
                </p:grpSpPr>
                <p:sp>
                  <p:nvSpPr>
                    <p:cNvPr id="141424" name="Line 327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780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1425" name="Line 328"/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4763" y="2711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41420" name="Freeform 329"/>
                  <p:cNvSpPr/>
                  <p:nvPr/>
                </p:nvSpPr>
                <p:spPr bwMode="auto">
                  <a:xfrm>
                    <a:off x="4715" y="2710"/>
                    <a:ext cx="96" cy="2"/>
                  </a:xfrm>
                  <a:custGeom>
                    <a:avLst/>
                    <a:gdLst>
                      <a:gd name="T0" fmla="*/ 0 w 96"/>
                      <a:gd name="T1" fmla="*/ 2 h 2"/>
                      <a:gd name="T2" fmla="*/ 96 w 96"/>
                      <a:gd name="T3" fmla="*/ 0 h 2"/>
                      <a:gd name="T4" fmla="*/ 0 60000 65536"/>
                      <a:gd name="T5" fmla="*/ 0 60000 65536"/>
                      <a:gd name="T6" fmla="*/ 0 w 96"/>
                      <a:gd name="T7" fmla="*/ 0 h 2"/>
                      <a:gd name="T8" fmla="*/ 96 w 96"/>
                      <a:gd name="T9" fmla="*/ 2 h 2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96" h="2">
                        <a:moveTo>
                          <a:pt x="0" y="2"/>
                        </a:moveTo>
                        <a:lnTo>
                          <a:pt x="96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folHlink"/>
                    </a:solidFill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41421" name="Group 330"/>
                  <p:cNvGrpSpPr/>
                  <p:nvPr/>
                </p:nvGrpSpPr>
                <p:grpSpPr bwMode="auto">
                  <a:xfrm>
                    <a:off x="4667" y="2634"/>
                    <a:ext cx="48" cy="158"/>
                    <a:chOff x="4667" y="2634"/>
                    <a:chExt cx="48" cy="158"/>
                  </a:xfrm>
                </p:grpSpPr>
                <p:sp>
                  <p:nvSpPr>
                    <p:cNvPr id="141422" name="Line 331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588" y="2713"/>
                      <a:ext cx="1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1423" name="Line 332"/>
                    <p:cNvSpPr>
                      <a:spLocks noChangeShapeType="1"/>
                    </p:cNvSpPr>
                    <p:nvPr/>
                  </p:nvSpPr>
                  <p:spPr bwMode="auto">
                    <a:xfrm rot="-5400000">
                      <a:off x="4667" y="2715"/>
                      <a:ext cx="9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/>
                    </a:p>
                  </p:txBody>
                </p:sp>
              </p:grpSp>
            </p:grpSp>
          </p:grpSp>
          <p:grpSp>
            <p:nvGrpSpPr>
              <p:cNvPr id="141403" name="Group 333"/>
              <p:cNvGrpSpPr/>
              <p:nvPr/>
            </p:nvGrpSpPr>
            <p:grpSpPr bwMode="auto">
              <a:xfrm>
                <a:off x="1059" y="2734"/>
                <a:ext cx="4225" cy="816"/>
                <a:chOff x="1059" y="2734"/>
                <a:chExt cx="4225" cy="816"/>
              </a:xfrm>
            </p:grpSpPr>
            <p:grpSp>
              <p:nvGrpSpPr>
                <p:cNvPr id="141404" name="Group 334"/>
                <p:cNvGrpSpPr/>
                <p:nvPr/>
              </p:nvGrpSpPr>
              <p:grpSpPr bwMode="auto">
                <a:xfrm>
                  <a:off x="1395" y="2734"/>
                  <a:ext cx="3889" cy="816"/>
                  <a:chOff x="1395" y="2734"/>
                  <a:chExt cx="3889" cy="816"/>
                </a:xfrm>
              </p:grpSpPr>
              <p:sp>
                <p:nvSpPr>
                  <p:cNvPr id="141410" name="Freeform 335"/>
                  <p:cNvSpPr/>
                  <p:nvPr/>
                </p:nvSpPr>
                <p:spPr bwMode="auto">
                  <a:xfrm>
                    <a:off x="1395" y="2734"/>
                    <a:ext cx="432" cy="816"/>
                  </a:xfrm>
                  <a:custGeom>
                    <a:avLst/>
                    <a:gdLst>
                      <a:gd name="T0" fmla="*/ 0 w 432"/>
                      <a:gd name="T1" fmla="*/ 0 h 816"/>
                      <a:gd name="T2" fmla="*/ 144 w 432"/>
                      <a:gd name="T3" fmla="*/ 0 h 816"/>
                      <a:gd name="T4" fmla="*/ 144 w 432"/>
                      <a:gd name="T5" fmla="*/ 576 h 816"/>
                      <a:gd name="T6" fmla="*/ 432 w 432"/>
                      <a:gd name="T7" fmla="*/ 576 h 816"/>
                      <a:gd name="T8" fmla="*/ 432 w 432"/>
                      <a:gd name="T9" fmla="*/ 816 h 81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32"/>
                      <a:gd name="T16" fmla="*/ 0 h 816"/>
                      <a:gd name="T17" fmla="*/ 432 w 432"/>
                      <a:gd name="T18" fmla="*/ 816 h 81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32" h="816">
                        <a:moveTo>
                          <a:pt x="0" y="0"/>
                        </a:moveTo>
                        <a:lnTo>
                          <a:pt x="144" y="0"/>
                        </a:lnTo>
                        <a:lnTo>
                          <a:pt x="144" y="576"/>
                        </a:lnTo>
                        <a:lnTo>
                          <a:pt x="432" y="576"/>
                        </a:lnTo>
                        <a:lnTo>
                          <a:pt x="432" y="816"/>
                        </a:lnTo>
                      </a:path>
                    </a:pathLst>
                  </a:custGeom>
                  <a:noFill/>
                  <a:ln w="57150" cap="flat" cmpd="sng">
                    <a:solidFill>
                      <a:schemeClr val="folHlink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411" name="Freeform 336"/>
                  <p:cNvSpPr/>
                  <p:nvPr/>
                </p:nvSpPr>
                <p:spPr bwMode="auto">
                  <a:xfrm>
                    <a:off x="4852" y="2734"/>
                    <a:ext cx="432" cy="816"/>
                  </a:xfrm>
                  <a:custGeom>
                    <a:avLst/>
                    <a:gdLst>
                      <a:gd name="T0" fmla="*/ 0 w 432"/>
                      <a:gd name="T1" fmla="*/ 0 h 816"/>
                      <a:gd name="T2" fmla="*/ 144 w 432"/>
                      <a:gd name="T3" fmla="*/ 0 h 816"/>
                      <a:gd name="T4" fmla="*/ 144 w 432"/>
                      <a:gd name="T5" fmla="*/ 576 h 816"/>
                      <a:gd name="T6" fmla="*/ 432 w 432"/>
                      <a:gd name="T7" fmla="*/ 576 h 816"/>
                      <a:gd name="T8" fmla="*/ 432 w 432"/>
                      <a:gd name="T9" fmla="*/ 816 h 81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32"/>
                      <a:gd name="T16" fmla="*/ 0 h 816"/>
                      <a:gd name="T17" fmla="*/ 432 w 432"/>
                      <a:gd name="T18" fmla="*/ 816 h 81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32" h="816">
                        <a:moveTo>
                          <a:pt x="0" y="0"/>
                        </a:moveTo>
                        <a:lnTo>
                          <a:pt x="144" y="0"/>
                        </a:lnTo>
                        <a:lnTo>
                          <a:pt x="144" y="576"/>
                        </a:lnTo>
                        <a:lnTo>
                          <a:pt x="432" y="576"/>
                        </a:lnTo>
                        <a:lnTo>
                          <a:pt x="432" y="816"/>
                        </a:lnTo>
                      </a:path>
                    </a:pathLst>
                  </a:custGeom>
                  <a:noFill/>
                  <a:ln w="57150" cap="flat" cmpd="sng">
                    <a:solidFill>
                      <a:schemeClr val="folHlink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412" name="Freeform 337"/>
                  <p:cNvSpPr/>
                  <p:nvPr/>
                </p:nvSpPr>
                <p:spPr bwMode="auto">
                  <a:xfrm>
                    <a:off x="3700" y="2734"/>
                    <a:ext cx="432" cy="816"/>
                  </a:xfrm>
                  <a:custGeom>
                    <a:avLst/>
                    <a:gdLst>
                      <a:gd name="T0" fmla="*/ 0 w 432"/>
                      <a:gd name="T1" fmla="*/ 0 h 816"/>
                      <a:gd name="T2" fmla="*/ 144 w 432"/>
                      <a:gd name="T3" fmla="*/ 0 h 816"/>
                      <a:gd name="T4" fmla="*/ 144 w 432"/>
                      <a:gd name="T5" fmla="*/ 576 h 816"/>
                      <a:gd name="T6" fmla="*/ 432 w 432"/>
                      <a:gd name="T7" fmla="*/ 576 h 816"/>
                      <a:gd name="T8" fmla="*/ 432 w 432"/>
                      <a:gd name="T9" fmla="*/ 816 h 81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32"/>
                      <a:gd name="T16" fmla="*/ 0 h 816"/>
                      <a:gd name="T17" fmla="*/ 432 w 432"/>
                      <a:gd name="T18" fmla="*/ 816 h 81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32" h="816">
                        <a:moveTo>
                          <a:pt x="0" y="0"/>
                        </a:moveTo>
                        <a:lnTo>
                          <a:pt x="144" y="0"/>
                        </a:lnTo>
                        <a:lnTo>
                          <a:pt x="144" y="576"/>
                        </a:lnTo>
                        <a:lnTo>
                          <a:pt x="432" y="576"/>
                        </a:lnTo>
                        <a:lnTo>
                          <a:pt x="432" y="816"/>
                        </a:lnTo>
                      </a:path>
                    </a:pathLst>
                  </a:custGeom>
                  <a:noFill/>
                  <a:ln w="57150" cap="flat" cmpd="sng">
                    <a:solidFill>
                      <a:schemeClr val="folHlink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413" name="Freeform 338"/>
                  <p:cNvSpPr/>
                  <p:nvPr/>
                </p:nvSpPr>
                <p:spPr bwMode="auto">
                  <a:xfrm>
                    <a:off x="2546" y="2734"/>
                    <a:ext cx="432" cy="816"/>
                  </a:xfrm>
                  <a:custGeom>
                    <a:avLst/>
                    <a:gdLst>
                      <a:gd name="T0" fmla="*/ 0 w 432"/>
                      <a:gd name="T1" fmla="*/ 0 h 816"/>
                      <a:gd name="T2" fmla="*/ 144 w 432"/>
                      <a:gd name="T3" fmla="*/ 0 h 816"/>
                      <a:gd name="T4" fmla="*/ 144 w 432"/>
                      <a:gd name="T5" fmla="*/ 576 h 816"/>
                      <a:gd name="T6" fmla="*/ 432 w 432"/>
                      <a:gd name="T7" fmla="*/ 576 h 816"/>
                      <a:gd name="T8" fmla="*/ 432 w 432"/>
                      <a:gd name="T9" fmla="*/ 816 h 81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32"/>
                      <a:gd name="T16" fmla="*/ 0 h 816"/>
                      <a:gd name="T17" fmla="*/ 432 w 432"/>
                      <a:gd name="T18" fmla="*/ 816 h 81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32" h="816">
                        <a:moveTo>
                          <a:pt x="0" y="0"/>
                        </a:moveTo>
                        <a:lnTo>
                          <a:pt x="144" y="0"/>
                        </a:lnTo>
                        <a:lnTo>
                          <a:pt x="144" y="576"/>
                        </a:lnTo>
                        <a:lnTo>
                          <a:pt x="432" y="576"/>
                        </a:lnTo>
                        <a:lnTo>
                          <a:pt x="432" y="816"/>
                        </a:lnTo>
                      </a:path>
                    </a:pathLst>
                  </a:custGeom>
                  <a:noFill/>
                  <a:ln w="57150" cap="flat" cmpd="sng">
                    <a:solidFill>
                      <a:schemeClr val="folHlink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41405" name="Group 339"/>
                <p:cNvGrpSpPr/>
                <p:nvPr/>
              </p:nvGrpSpPr>
              <p:grpSpPr bwMode="auto">
                <a:xfrm>
                  <a:off x="1059" y="2746"/>
                  <a:ext cx="3750" cy="804"/>
                  <a:chOff x="1059" y="2746"/>
                  <a:chExt cx="3750" cy="804"/>
                </a:xfrm>
              </p:grpSpPr>
              <p:sp>
                <p:nvSpPr>
                  <p:cNvPr id="141406" name="Freeform 340"/>
                  <p:cNvSpPr/>
                  <p:nvPr/>
                </p:nvSpPr>
                <p:spPr bwMode="auto">
                  <a:xfrm>
                    <a:off x="1059" y="2746"/>
                    <a:ext cx="280" cy="795"/>
                  </a:xfrm>
                  <a:custGeom>
                    <a:avLst/>
                    <a:gdLst>
                      <a:gd name="T0" fmla="*/ 276 w 280"/>
                      <a:gd name="T1" fmla="*/ 795 h 795"/>
                      <a:gd name="T2" fmla="*/ 280 w 280"/>
                      <a:gd name="T3" fmla="*/ 657 h 795"/>
                      <a:gd name="T4" fmla="*/ 0 w 280"/>
                      <a:gd name="T5" fmla="*/ 660 h 795"/>
                      <a:gd name="T6" fmla="*/ 3 w 280"/>
                      <a:gd name="T7" fmla="*/ 0 h 795"/>
                      <a:gd name="T8" fmla="*/ 144 w 280"/>
                      <a:gd name="T9" fmla="*/ 0 h 79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80"/>
                      <a:gd name="T16" fmla="*/ 0 h 795"/>
                      <a:gd name="T17" fmla="*/ 280 w 280"/>
                      <a:gd name="T18" fmla="*/ 795 h 79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80" h="795">
                        <a:moveTo>
                          <a:pt x="276" y="795"/>
                        </a:moveTo>
                        <a:lnTo>
                          <a:pt x="280" y="657"/>
                        </a:lnTo>
                        <a:lnTo>
                          <a:pt x="0" y="660"/>
                        </a:lnTo>
                        <a:lnTo>
                          <a:pt x="3" y="0"/>
                        </a:lnTo>
                        <a:lnTo>
                          <a:pt x="144" y="0"/>
                        </a:lnTo>
                      </a:path>
                    </a:pathLst>
                  </a:custGeom>
                  <a:noFill/>
                  <a:ln w="57150" cap="flat" cmpd="sng">
                    <a:solidFill>
                      <a:schemeClr val="folHlink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407" name="Freeform 341"/>
                  <p:cNvSpPr/>
                  <p:nvPr/>
                </p:nvSpPr>
                <p:spPr bwMode="auto">
                  <a:xfrm>
                    <a:off x="2211" y="2755"/>
                    <a:ext cx="294" cy="795"/>
                  </a:xfrm>
                  <a:custGeom>
                    <a:avLst/>
                    <a:gdLst>
                      <a:gd name="T0" fmla="*/ 294 w 294"/>
                      <a:gd name="T1" fmla="*/ 795 h 795"/>
                      <a:gd name="T2" fmla="*/ 294 w 294"/>
                      <a:gd name="T3" fmla="*/ 657 h 795"/>
                      <a:gd name="T4" fmla="*/ 0 w 294"/>
                      <a:gd name="T5" fmla="*/ 657 h 795"/>
                      <a:gd name="T6" fmla="*/ 3 w 294"/>
                      <a:gd name="T7" fmla="*/ 0 h 795"/>
                      <a:gd name="T8" fmla="*/ 144 w 294"/>
                      <a:gd name="T9" fmla="*/ 0 h 79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4"/>
                      <a:gd name="T16" fmla="*/ 0 h 795"/>
                      <a:gd name="T17" fmla="*/ 294 w 294"/>
                      <a:gd name="T18" fmla="*/ 795 h 79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4" h="795">
                        <a:moveTo>
                          <a:pt x="294" y="795"/>
                        </a:moveTo>
                        <a:lnTo>
                          <a:pt x="294" y="657"/>
                        </a:lnTo>
                        <a:lnTo>
                          <a:pt x="0" y="657"/>
                        </a:lnTo>
                        <a:lnTo>
                          <a:pt x="3" y="0"/>
                        </a:lnTo>
                        <a:lnTo>
                          <a:pt x="144" y="0"/>
                        </a:lnTo>
                      </a:path>
                    </a:pathLst>
                  </a:custGeom>
                  <a:noFill/>
                  <a:ln w="57150" cap="flat" cmpd="sng">
                    <a:solidFill>
                      <a:schemeClr val="folHlink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408" name="Freeform 342"/>
                  <p:cNvSpPr/>
                  <p:nvPr/>
                </p:nvSpPr>
                <p:spPr bwMode="auto">
                  <a:xfrm>
                    <a:off x="3363" y="2755"/>
                    <a:ext cx="294" cy="795"/>
                  </a:xfrm>
                  <a:custGeom>
                    <a:avLst/>
                    <a:gdLst>
                      <a:gd name="T0" fmla="*/ 294 w 294"/>
                      <a:gd name="T1" fmla="*/ 795 h 795"/>
                      <a:gd name="T2" fmla="*/ 294 w 294"/>
                      <a:gd name="T3" fmla="*/ 657 h 795"/>
                      <a:gd name="T4" fmla="*/ 0 w 294"/>
                      <a:gd name="T5" fmla="*/ 657 h 795"/>
                      <a:gd name="T6" fmla="*/ 3 w 294"/>
                      <a:gd name="T7" fmla="*/ 0 h 795"/>
                      <a:gd name="T8" fmla="*/ 144 w 294"/>
                      <a:gd name="T9" fmla="*/ 0 h 79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4"/>
                      <a:gd name="T16" fmla="*/ 0 h 795"/>
                      <a:gd name="T17" fmla="*/ 294 w 294"/>
                      <a:gd name="T18" fmla="*/ 795 h 79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4" h="795">
                        <a:moveTo>
                          <a:pt x="294" y="795"/>
                        </a:moveTo>
                        <a:lnTo>
                          <a:pt x="294" y="657"/>
                        </a:lnTo>
                        <a:lnTo>
                          <a:pt x="0" y="657"/>
                        </a:lnTo>
                        <a:lnTo>
                          <a:pt x="3" y="0"/>
                        </a:lnTo>
                        <a:lnTo>
                          <a:pt x="144" y="0"/>
                        </a:lnTo>
                      </a:path>
                    </a:pathLst>
                  </a:custGeom>
                  <a:noFill/>
                  <a:ln w="57150" cap="flat" cmpd="sng">
                    <a:solidFill>
                      <a:schemeClr val="folHlink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409" name="Freeform 343"/>
                  <p:cNvSpPr/>
                  <p:nvPr/>
                </p:nvSpPr>
                <p:spPr bwMode="auto">
                  <a:xfrm>
                    <a:off x="4515" y="2755"/>
                    <a:ext cx="294" cy="795"/>
                  </a:xfrm>
                  <a:custGeom>
                    <a:avLst/>
                    <a:gdLst>
                      <a:gd name="T0" fmla="*/ 294 w 294"/>
                      <a:gd name="T1" fmla="*/ 795 h 795"/>
                      <a:gd name="T2" fmla="*/ 294 w 294"/>
                      <a:gd name="T3" fmla="*/ 657 h 795"/>
                      <a:gd name="T4" fmla="*/ 0 w 294"/>
                      <a:gd name="T5" fmla="*/ 657 h 795"/>
                      <a:gd name="T6" fmla="*/ 3 w 294"/>
                      <a:gd name="T7" fmla="*/ 0 h 795"/>
                      <a:gd name="T8" fmla="*/ 144 w 294"/>
                      <a:gd name="T9" fmla="*/ 0 h 79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4"/>
                      <a:gd name="T16" fmla="*/ 0 h 795"/>
                      <a:gd name="T17" fmla="*/ 294 w 294"/>
                      <a:gd name="T18" fmla="*/ 795 h 79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4" h="795">
                        <a:moveTo>
                          <a:pt x="294" y="795"/>
                        </a:moveTo>
                        <a:lnTo>
                          <a:pt x="294" y="657"/>
                        </a:lnTo>
                        <a:lnTo>
                          <a:pt x="0" y="657"/>
                        </a:lnTo>
                        <a:lnTo>
                          <a:pt x="3" y="0"/>
                        </a:lnTo>
                        <a:lnTo>
                          <a:pt x="144" y="0"/>
                        </a:lnTo>
                      </a:path>
                    </a:pathLst>
                  </a:custGeom>
                  <a:noFill/>
                  <a:ln w="57150" cap="flat" cmpd="sng">
                    <a:solidFill>
                      <a:schemeClr val="folHlink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</p:grpSp>
        </p:grpSp>
        <p:grpSp>
          <p:nvGrpSpPr>
            <p:cNvPr id="141388" name="Group 344"/>
            <p:cNvGrpSpPr/>
            <p:nvPr/>
          </p:nvGrpSpPr>
          <p:grpSpPr bwMode="auto">
            <a:xfrm>
              <a:off x="1944" y="3527"/>
              <a:ext cx="3816" cy="212"/>
              <a:chOff x="1944" y="3527"/>
              <a:chExt cx="3816" cy="212"/>
            </a:xfrm>
          </p:grpSpPr>
          <p:grpSp>
            <p:nvGrpSpPr>
              <p:cNvPr id="141389" name="Group 345"/>
              <p:cNvGrpSpPr/>
              <p:nvPr/>
            </p:nvGrpSpPr>
            <p:grpSpPr bwMode="auto">
              <a:xfrm>
                <a:off x="1964" y="3737"/>
                <a:ext cx="3637" cy="0"/>
                <a:chOff x="1964" y="3737"/>
                <a:chExt cx="3637" cy="0"/>
              </a:xfrm>
            </p:grpSpPr>
            <p:sp>
              <p:nvSpPr>
                <p:cNvPr id="141395" name="Line 346"/>
                <p:cNvSpPr>
                  <a:spLocks noChangeShapeType="1"/>
                </p:cNvSpPr>
                <p:nvPr/>
              </p:nvSpPr>
              <p:spPr bwMode="auto">
                <a:xfrm>
                  <a:off x="1964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1396" name="Line 347"/>
                <p:cNvSpPr>
                  <a:spLocks noChangeShapeType="1"/>
                </p:cNvSpPr>
                <p:nvPr/>
              </p:nvSpPr>
              <p:spPr bwMode="auto">
                <a:xfrm>
                  <a:off x="3144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1397" name="Line 348"/>
                <p:cNvSpPr>
                  <a:spLocks noChangeShapeType="1"/>
                </p:cNvSpPr>
                <p:nvPr/>
              </p:nvSpPr>
              <p:spPr bwMode="auto">
                <a:xfrm>
                  <a:off x="4293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1398" name="Line 349"/>
                <p:cNvSpPr>
                  <a:spLocks noChangeShapeType="1"/>
                </p:cNvSpPr>
                <p:nvPr/>
              </p:nvSpPr>
              <p:spPr bwMode="auto">
                <a:xfrm>
                  <a:off x="5420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41390" name="Group 350"/>
              <p:cNvGrpSpPr/>
              <p:nvPr/>
            </p:nvGrpSpPr>
            <p:grpSpPr bwMode="auto">
              <a:xfrm>
                <a:off x="1944" y="3527"/>
                <a:ext cx="3816" cy="212"/>
                <a:chOff x="1944" y="3527"/>
                <a:chExt cx="3816" cy="212"/>
              </a:xfrm>
            </p:grpSpPr>
            <p:sp>
              <p:nvSpPr>
                <p:cNvPr id="141391" name="Text Box 351"/>
                <p:cNvSpPr txBox="1">
                  <a:spLocks noChangeArrowheads="1"/>
                </p:cNvSpPr>
                <p:nvPr/>
              </p:nvSpPr>
              <p:spPr bwMode="auto">
                <a:xfrm>
                  <a:off x="1944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US" altLang="zh-CN" sz="16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I/O</a:t>
                  </a:r>
                  <a:r>
                    <a:rPr lang="en-US" altLang="zh-CN" sz="1600" baseline="-25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sp>
              <p:nvSpPr>
                <p:cNvPr id="141392" name="Text Box 352"/>
                <p:cNvSpPr txBox="1">
                  <a:spLocks noChangeArrowheads="1"/>
                </p:cNvSpPr>
                <p:nvPr/>
              </p:nvSpPr>
              <p:spPr bwMode="auto">
                <a:xfrm>
                  <a:off x="3104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US" altLang="zh-CN" sz="16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I/O</a:t>
                  </a:r>
                  <a:r>
                    <a:rPr lang="en-US" altLang="zh-CN" sz="1600" baseline="-25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sp>
              <p:nvSpPr>
                <p:cNvPr id="141393" name="Text Box 353"/>
                <p:cNvSpPr txBox="1">
                  <a:spLocks noChangeArrowheads="1"/>
                </p:cNvSpPr>
                <p:nvPr/>
              </p:nvSpPr>
              <p:spPr bwMode="auto">
                <a:xfrm>
                  <a:off x="4256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US" altLang="zh-CN" sz="16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I/O</a:t>
                  </a:r>
                  <a:r>
                    <a:rPr lang="en-US" altLang="zh-CN" sz="1600" baseline="-25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3</a:t>
                  </a:r>
                </a:p>
              </p:txBody>
            </p:sp>
            <p:sp>
              <p:nvSpPr>
                <p:cNvPr id="141394" name="Text Box 354"/>
                <p:cNvSpPr txBox="1">
                  <a:spLocks noChangeArrowheads="1"/>
                </p:cNvSpPr>
                <p:nvPr/>
              </p:nvSpPr>
              <p:spPr bwMode="auto">
                <a:xfrm>
                  <a:off x="5414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US" altLang="zh-CN" sz="16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I/O</a:t>
                  </a:r>
                  <a:r>
                    <a:rPr lang="en-US" altLang="zh-CN" sz="1600" baseline="-25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</p:grpSp>
        </p:grpSp>
      </p:grpSp>
      <p:grpSp>
        <p:nvGrpSpPr>
          <p:cNvPr id="141334" name="Group 355"/>
          <p:cNvGrpSpPr/>
          <p:nvPr/>
        </p:nvGrpSpPr>
        <p:grpSpPr bwMode="auto">
          <a:xfrm>
            <a:off x="1668463" y="1903413"/>
            <a:ext cx="6275387" cy="2357437"/>
            <a:chOff x="1051" y="1199"/>
            <a:chExt cx="3953" cy="1485"/>
          </a:xfrm>
        </p:grpSpPr>
        <p:grpSp>
          <p:nvGrpSpPr>
            <p:cNvPr id="141369" name="Group 356"/>
            <p:cNvGrpSpPr/>
            <p:nvPr/>
          </p:nvGrpSpPr>
          <p:grpSpPr bwMode="auto">
            <a:xfrm>
              <a:off x="1051" y="2355"/>
              <a:ext cx="3942" cy="5"/>
              <a:chOff x="1058" y="2355"/>
              <a:chExt cx="3942" cy="5"/>
            </a:xfrm>
          </p:grpSpPr>
          <p:sp>
            <p:nvSpPr>
              <p:cNvPr id="141379" name="Freeform 357"/>
              <p:cNvSpPr/>
              <p:nvPr/>
            </p:nvSpPr>
            <p:spPr bwMode="auto">
              <a:xfrm>
                <a:off x="1437" y="2359"/>
                <a:ext cx="112" cy="1"/>
              </a:xfrm>
              <a:custGeom>
                <a:avLst/>
                <a:gdLst>
                  <a:gd name="T0" fmla="*/ 0 w 112"/>
                  <a:gd name="T1" fmla="*/ 0 h 1"/>
                  <a:gd name="T2" fmla="*/ 112 w 112"/>
                  <a:gd name="T3" fmla="*/ 0 h 1"/>
                  <a:gd name="T4" fmla="*/ 0 60000 65536"/>
                  <a:gd name="T5" fmla="*/ 0 60000 65536"/>
                  <a:gd name="T6" fmla="*/ 0 w 112"/>
                  <a:gd name="T7" fmla="*/ 0 h 1"/>
                  <a:gd name="T8" fmla="*/ 112 w 11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2" h="1">
                    <a:moveTo>
                      <a:pt x="0" y="0"/>
                    </a:moveTo>
                    <a:lnTo>
                      <a:pt x="112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1380" name="Freeform 358"/>
              <p:cNvSpPr/>
              <p:nvPr/>
            </p:nvSpPr>
            <p:spPr bwMode="auto">
              <a:xfrm>
                <a:off x="1058" y="2359"/>
                <a:ext cx="102" cy="1"/>
              </a:xfrm>
              <a:custGeom>
                <a:avLst/>
                <a:gdLst>
                  <a:gd name="T0" fmla="*/ 102 w 102"/>
                  <a:gd name="T1" fmla="*/ 0 h 1"/>
                  <a:gd name="T2" fmla="*/ 0 w 102"/>
                  <a:gd name="T3" fmla="*/ 0 h 1"/>
                  <a:gd name="T4" fmla="*/ 0 60000 65536"/>
                  <a:gd name="T5" fmla="*/ 0 60000 65536"/>
                  <a:gd name="T6" fmla="*/ 0 w 102"/>
                  <a:gd name="T7" fmla="*/ 0 h 1"/>
                  <a:gd name="T8" fmla="*/ 102 w 10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2" h="1">
                    <a:moveTo>
                      <a:pt x="102" y="0"/>
                    </a:moveTo>
                    <a:lnTo>
                      <a:pt x="0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1381" name="Freeform 359"/>
              <p:cNvSpPr/>
              <p:nvPr/>
            </p:nvSpPr>
            <p:spPr bwMode="auto">
              <a:xfrm>
                <a:off x="2589" y="2359"/>
                <a:ext cx="109" cy="1"/>
              </a:xfrm>
              <a:custGeom>
                <a:avLst/>
                <a:gdLst>
                  <a:gd name="T0" fmla="*/ 0 w 109"/>
                  <a:gd name="T1" fmla="*/ 0 h 1"/>
                  <a:gd name="T2" fmla="*/ 109 w 109"/>
                  <a:gd name="T3" fmla="*/ 0 h 1"/>
                  <a:gd name="T4" fmla="*/ 0 60000 65536"/>
                  <a:gd name="T5" fmla="*/ 0 60000 65536"/>
                  <a:gd name="T6" fmla="*/ 0 w 109"/>
                  <a:gd name="T7" fmla="*/ 0 h 1"/>
                  <a:gd name="T8" fmla="*/ 109 w 10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9" h="1">
                    <a:moveTo>
                      <a:pt x="0" y="0"/>
                    </a:moveTo>
                    <a:lnTo>
                      <a:pt x="109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1382" name="Freeform 360"/>
              <p:cNvSpPr/>
              <p:nvPr/>
            </p:nvSpPr>
            <p:spPr bwMode="auto">
              <a:xfrm>
                <a:off x="2210" y="2359"/>
                <a:ext cx="89" cy="1"/>
              </a:xfrm>
              <a:custGeom>
                <a:avLst/>
                <a:gdLst>
                  <a:gd name="T0" fmla="*/ 89 w 89"/>
                  <a:gd name="T1" fmla="*/ 0 h 1"/>
                  <a:gd name="T2" fmla="*/ 0 w 89"/>
                  <a:gd name="T3" fmla="*/ 0 h 1"/>
                  <a:gd name="T4" fmla="*/ 0 60000 65536"/>
                  <a:gd name="T5" fmla="*/ 0 60000 65536"/>
                  <a:gd name="T6" fmla="*/ 0 w 89"/>
                  <a:gd name="T7" fmla="*/ 0 h 1"/>
                  <a:gd name="T8" fmla="*/ 89 w 8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9" h="1">
                    <a:moveTo>
                      <a:pt x="89" y="0"/>
                    </a:moveTo>
                    <a:lnTo>
                      <a:pt x="0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1383" name="Freeform 361"/>
              <p:cNvSpPr/>
              <p:nvPr/>
            </p:nvSpPr>
            <p:spPr bwMode="auto">
              <a:xfrm>
                <a:off x="3756" y="2355"/>
                <a:ext cx="99" cy="3"/>
              </a:xfrm>
              <a:custGeom>
                <a:avLst/>
                <a:gdLst>
                  <a:gd name="T0" fmla="*/ 0 w 99"/>
                  <a:gd name="T1" fmla="*/ 3 h 3"/>
                  <a:gd name="T2" fmla="*/ 99 w 99"/>
                  <a:gd name="T3" fmla="*/ 0 h 3"/>
                  <a:gd name="T4" fmla="*/ 0 60000 65536"/>
                  <a:gd name="T5" fmla="*/ 0 60000 65536"/>
                  <a:gd name="T6" fmla="*/ 0 w 99"/>
                  <a:gd name="T7" fmla="*/ 0 h 3"/>
                  <a:gd name="T8" fmla="*/ 99 w 99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9" h="3">
                    <a:moveTo>
                      <a:pt x="0" y="3"/>
                    </a:moveTo>
                    <a:lnTo>
                      <a:pt x="99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1384" name="Freeform 362"/>
              <p:cNvSpPr/>
              <p:nvPr/>
            </p:nvSpPr>
            <p:spPr bwMode="auto">
              <a:xfrm>
                <a:off x="3362" y="2359"/>
                <a:ext cx="108" cy="1"/>
              </a:xfrm>
              <a:custGeom>
                <a:avLst/>
                <a:gdLst>
                  <a:gd name="T0" fmla="*/ 108 w 108"/>
                  <a:gd name="T1" fmla="*/ 0 h 1"/>
                  <a:gd name="T2" fmla="*/ 0 w 108"/>
                  <a:gd name="T3" fmla="*/ 0 h 1"/>
                  <a:gd name="T4" fmla="*/ 0 60000 65536"/>
                  <a:gd name="T5" fmla="*/ 0 60000 65536"/>
                  <a:gd name="T6" fmla="*/ 0 w 108"/>
                  <a:gd name="T7" fmla="*/ 0 h 1"/>
                  <a:gd name="T8" fmla="*/ 108 w 10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8" h="1">
                    <a:moveTo>
                      <a:pt x="108" y="0"/>
                    </a:moveTo>
                    <a:lnTo>
                      <a:pt x="0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1385" name="Freeform 363"/>
              <p:cNvSpPr/>
              <p:nvPr/>
            </p:nvSpPr>
            <p:spPr bwMode="auto">
              <a:xfrm>
                <a:off x="4893" y="2359"/>
                <a:ext cx="107" cy="1"/>
              </a:xfrm>
              <a:custGeom>
                <a:avLst/>
                <a:gdLst>
                  <a:gd name="T0" fmla="*/ 0 w 107"/>
                  <a:gd name="T1" fmla="*/ 0 h 1"/>
                  <a:gd name="T2" fmla="*/ 107 w 107"/>
                  <a:gd name="T3" fmla="*/ 0 h 1"/>
                  <a:gd name="T4" fmla="*/ 0 60000 65536"/>
                  <a:gd name="T5" fmla="*/ 0 60000 65536"/>
                  <a:gd name="T6" fmla="*/ 0 w 107"/>
                  <a:gd name="T7" fmla="*/ 0 h 1"/>
                  <a:gd name="T8" fmla="*/ 107 w 10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7" h="1">
                    <a:moveTo>
                      <a:pt x="0" y="0"/>
                    </a:moveTo>
                    <a:lnTo>
                      <a:pt x="107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1386" name="Freeform 364"/>
              <p:cNvSpPr/>
              <p:nvPr/>
            </p:nvSpPr>
            <p:spPr bwMode="auto">
              <a:xfrm>
                <a:off x="4514" y="2359"/>
                <a:ext cx="96" cy="1"/>
              </a:xfrm>
              <a:custGeom>
                <a:avLst/>
                <a:gdLst>
                  <a:gd name="T0" fmla="*/ 96 w 96"/>
                  <a:gd name="T1" fmla="*/ 0 h 1"/>
                  <a:gd name="T2" fmla="*/ 0 w 96"/>
                  <a:gd name="T3" fmla="*/ 0 h 1"/>
                  <a:gd name="T4" fmla="*/ 0 60000 65536"/>
                  <a:gd name="T5" fmla="*/ 0 60000 65536"/>
                  <a:gd name="T6" fmla="*/ 0 w 96"/>
                  <a:gd name="T7" fmla="*/ 0 h 1"/>
                  <a:gd name="T8" fmla="*/ 96 w 96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1">
                    <a:moveTo>
                      <a:pt x="96" y="0"/>
                    </a:moveTo>
                    <a:lnTo>
                      <a:pt x="0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41370" name="Group 365"/>
            <p:cNvGrpSpPr/>
            <p:nvPr/>
          </p:nvGrpSpPr>
          <p:grpSpPr bwMode="auto">
            <a:xfrm>
              <a:off x="1055" y="1215"/>
              <a:ext cx="3608" cy="1469"/>
              <a:chOff x="1055" y="1215"/>
              <a:chExt cx="3608" cy="1469"/>
            </a:xfrm>
          </p:grpSpPr>
          <p:sp>
            <p:nvSpPr>
              <p:cNvPr id="141375" name="Freeform 366"/>
              <p:cNvSpPr/>
              <p:nvPr/>
            </p:nvSpPr>
            <p:spPr bwMode="auto">
              <a:xfrm>
                <a:off x="1055" y="1215"/>
                <a:ext cx="152" cy="1469"/>
              </a:xfrm>
              <a:custGeom>
                <a:avLst/>
                <a:gdLst>
                  <a:gd name="T0" fmla="*/ 152 w 152"/>
                  <a:gd name="T1" fmla="*/ 1469 h 1469"/>
                  <a:gd name="T2" fmla="*/ 0 w 152"/>
                  <a:gd name="T3" fmla="*/ 1469 h 1469"/>
                  <a:gd name="T4" fmla="*/ 4 w 152"/>
                  <a:gd name="T5" fmla="*/ 0 h 1469"/>
                  <a:gd name="T6" fmla="*/ 95 w 152"/>
                  <a:gd name="T7" fmla="*/ 1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9"/>
                  <a:gd name="T14" fmla="*/ 152 w 152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9">
                    <a:moveTo>
                      <a:pt x="152" y="1469"/>
                    </a:moveTo>
                    <a:lnTo>
                      <a:pt x="0" y="1469"/>
                    </a:lnTo>
                    <a:lnTo>
                      <a:pt x="4" y="0"/>
                    </a:lnTo>
                    <a:lnTo>
                      <a:pt x="95" y="1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1376" name="Freeform 367"/>
              <p:cNvSpPr/>
              <p:nvPr/>
            </p:nvSpPr>
            <p:spPr bwMode="auto">
              <a:xfrm>
                <a:off x="2207" y="1217"/>
                <a:ext cx="152" cy="1467"/>
              </a:xfrm>
              <a:custGeom>
                <a:avLst/>
                <a:gdLst>
                  <a:gd name="T0" fmla="*/ 152 w 152"/>
                  <a:gd name="T1" fmla="*/ 1467 h 1467"/>
                  <a:gd name="T2" fmla="*/ 0 w 152"/>
                  <a:gd name="T3" fmla="*/ 1467 h 1467"/>
                  <a:gd name="T4" fmla="*/ 1 w 152"/>
                  <a:gd name="T5" fmla="*/ 1 h 1467"/>
                  <a:gd name="T6" fmla="*/ 86 w 152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7"/>
                  <a:gd name="T14" fmla="*/ 152 w 152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7">
                    <a:moveTo>
                      <a:pt x="152" y="1467"/>
                    </a:moveTo>
                    <a:lnTo>
                      <a:pt x="0" y="1467"/>
                    </a:lnTo>
                    <a:lnTo>
                      <a:pt x="1" y="1"/>
                    </a:lnTo>
                    <a:lnTo>
                      <a:pt x="86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1377" name="Freeform 368"/>
              <p:cNvSpPr/>
              <p:nvPr/>
            </p:nvSpPr>
            <p:spPr bwMode="auto">
              <a:xfrm>
                <a:off x="3359" y="1218"/>
                <a:ext cx="152" cy="1466"/>
              </a:xfrm>
              <a:custGeom>
                <a:avLst/>
                <a:gdLst>
                  <a:gd name="T0" fmla="*/ 152 w 152"/>
                  <a:gd name="T1" fmla="*/ 1466 h 1466"/>
                  <a:gd name="T2" fmla="*/ 0 w 152"/>
                  <a:gd name="T3" fmla="*/ 1466 h 1466"/>
                  <a:gd name="T4" fmla="*/ 1 w 152"/>
                  <a:gd name="T5" fmla="*/ 0 h 1466"/>
                  <a:gd name="T6" fmla="*/ 109 w 152"/>
                  <a:gd name="T7" fmla="*/ 0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6"/>
                  <a:gd name="T14" fmla="*/ 152 w 152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6">
                    <a:moveTo>
                      <a:pt x="152" y="1466"/>
                    </a:moveTo>
                    <a:lnTo>
                      <a:pt x="0" y="1466"/>
                    </a:lnTo>
                    <a:lnTo>
                      <a:pt x="1" y="0"/>
                    </a:lnTo>
                    <a:lnTo>
                      <a:pt x="109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1378" name="Freeform 369"/>
              <p:cNvSpPr/>
              <p:nvPr/>
            </p:nvSpPr>
            <p:spPr bwMode="auto">
              <a:xfrm>
                <a:off x="4505" y="1217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0 w 158"/>
                  <a:gd name="T3" fmla="*/ 1467 h 1467"/>
                  <a:gd name="T4" fmla="*/ 0 w 158"/>
                  <a:gd name="T5" fmla="*/ 0 h 1467"/>
                  <a:gd name="T6" fmla="*/ 95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0" y="1467"/>
                    </a:lnTo>
                    <a:lnTo>
                      <a:pt x="0" y="0"/>
                    </a:lnTo>
                    <a:lnTo>
                      <a:pt x="95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41371" name="Freeform 370"/>
            <p:cNvSpPr/>
            <p:nvPr/>
          </p:nvSpPr>
          <p:spPr bwMode="auto">
            <a:xfrm>
              <a:off x="1397" y="1202"/>
              <a:ext cx="145" cy="1466"/>
            </a:xfrm>
            <a:custGeom>
              <a:avLst/>
              <a:gdLst>
                <a:gd name="T0" fmla="*/ 37 w 145"/>
                <a:gd name="T1" fmla="*/ 0 h 1466"/>
                <a:gd name="T2" fmla="*/ 145 w 145"/>
                <a:gd name="T3" fmla="*/ 0 h 1466"/>
                <a:gd name="T4" fmla="*/ 144 w 145"/>
                <a:gd name="T5" fmla="*/ 1466 h 1466"/>
                <a:gd name="T6" fmla="*/ 0 w 145"/>
                <a:gd name="T7" fmla="*/ 1466 h 1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5"/>
                <a:gd name="T13" fmla="*/ 0 h 1466"/>
                <a:gd name="T14" fmla="*/ 145 w 145"/>
                <a:gd name="T15" fmla="*/ 1466 h 1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5" h="1466">
                  <a:moveTo>
                    <a:pt x="37" y="0"/>
                  </a:moveTo>
                  <a:lnTo>
                    <a:pt x="145" y="0"/>
                  </a:lnTo>
                  <a:lnTo>
                    <a:pt x="144" y="1466"/>
                  </a:lnTo>
                  <a:lnTo>
                    <a:pt x="0" y="1466"/>
                  </a:lnTo>
                </a:path>
              </a:pathLst>
            </a:custGeom>
            <a:noFill/>
            <a:ln w="57150" cap="flat" cmpd="sng">
              <a:solidFill>
                <a:schemeClr val="folHlink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41372" name="Freeform 371"/>
            <p:cNvSpPr/>
            <p:nvPr/>
          </p:nvSpPr>
          <p:spPr bwMode="auto">
            <a:xfrm>
              <a:off x="2550" y="1199"/>
              <a:ext cx="150" cy="1474"/>
            </a:xfrm>
            <a:custGeom>
              <a:avLst/>
              <a:gdLst>
                <a:gd name="T0" fmla="*/ 42 w 150"/>
                <a:gd name="T1" fmla="*/ 0 h 1474"/>
                <a:gd name="T2" fmla="*/ 150 w 150"/>
                <a:gd name="T3" fmla="*/ 0 h 1474"/>
                <a:gd name="T4" fmla="*/ 147 w 150"/>
                <a:gd name="T5" fmla="*/ 1474 h 1474"/>
                <a:gd name="T6" fmla="*/ 0 w 150"/>
                <a:gd name="T7" fmla="*/ 1474 h 147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0"/>
                <a:gd name="T13" fmla="*/ 0 h 1474"/>
                <a:gd name="T14" fmla="*/ 150 w 150"/>
                <a:gd name="T15" fmla="*/ 1474 h 147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0" h="1474">
                  <a:moveTo>
                    <a:pt x="42" y="0"/>
                  </a:moveTo>
                  <a:lnTo>
                    <a:pt x="150" y="0"/>
                  </a:lnTo>
                  <a:lnTo>
                    <a:pt x="147" y="1474"/>
                  </a:lnTo>
                  <a:lnTo>
                    <a:pt x="0" y="1474"/>
                  </a:lnTo>
                </a:path>
              </a:pathLst>
            </a:custGeom>
            <a:noFill/>
            <a:ln w="57150" cap="flat" cmpd="sng">
              <a:solidFill>
                <a:schemeClr val="folHlink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41373" name="Freeform 372"/>
            <p:cNvSpPr/>
            <p:nvPr/>
          </p:nvSpPr>
          <p:spPr bwMode="auto">
            <a:xfrm>
              <a:off x="3705" y="1199"/>
              <a:ext cx="141" cy="1471"/>
            </a:xfrm>
            <a:custGeom>
              <a:avLst/>
              <a:gdLst>
                <a:gd name="T0" fmla="*/ 33 w 141"/>
                <a:gd name="T1" fmla="*/ 0 h 1471"/>
                <a:gd name="T2" fmla="*/ 141 w 141"/>
                <a:gd name="T3" fmla="*/ 0 h 1471"/>
                <a:gd name="T4" fmla="*/ 141 w 141"/>
                <a:gd name="T5" fmla="*/ 1471 h 1471"/>
                <a:gd name="T6" fmla="*/ 0 w 141"/>
                <a:gd name="T7" fmla="*/ 1471 h 147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1"/>
                <a:gd name="T13" fmla="*/ 0 h 1471"/>
                <a:gd name="T14" fmla="*/ 141 w 141"/>
                <a:gd name="T15" fmla="*/ 1471 h 147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1" h="1471">
                  <a:moveTo>
                    <a:pt x="33" y="0"/>
                  </a:moveTo>
                  <a:lnTo>
                    <a:pt x="141" y="0"/>
                  </a:lnTo>
                  <a:lnTo>
                    <a:pt x="141" y="1471"/>
                  </a:lnTo>
                  <a:lnTo>
                    <a:pt x="0" y="1471"/>
                  </a:lnTo>
                </a:path>
              </a:pathLst>
            </a:custGeom>
            <a:noFill/>
            <a:ln w="57150" cap="flat" cmpd="sng">
              <a:solidFill>
                <a:schemeClr val="folHlink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41374" name="Freeform 373"/>
            <p:cNvSpPr/>
            <p:nvPr/>
          </p:nvSpPr>
          <p:spPr bwMode="auto">
            <a:xfrm>
              <a:off x="4854" y="1199"/>
              <a:ext cx="150" cy="1480"/>
            </a:xfrm>
            <a:custGeom>
              <a:avLst/>
              <a:gdLst>
                <a:gd name="T0" fmla="*/ 42 w 150"/>
                <a:gd name="T1" fmla="*/ 0 h 1480"/>
                <a:gd name="T2" fmla="*/ 150 w 150"/>
                <a:gd name="T3" fmla="*/ 0 h 1480"/>
                <a:gd name="T4" fmla="*/ 147 w 150"/>
                <a:gd name="T5" fmla="*/ 1480 h 1480"/>
                <a:gd name="T6" fmla="*/ 0 w 150"/>
                <a:gd name="T7" fmla="*/ 1477 h 148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0"/>
                <a:gd name="T13" fmla="*/ 0 h 1480"/>
                <a:gd name="T14" fmla="*/ 150 w 150"/>
                <a:gd name="T15" fmla="*/ 1480 h 148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0" h="1480">
                  <a:moveTo>
                    <a:pt x="42" y="0"/>
                  </a:moveTo>
                  <a:lnTo>
                    <a:pt x="150" y="0"/>
                  </a:lnTo>
                  <a:lnTo>
                    <a:pt x="147" y="1480"/>
                  </a:lnTo>
                  <a:lnTo>
                    <a:pt x="0" y="1477"/>
                  </a:lnTo>
                </a:path>
              </a:pathLst>
            </a:custGeom>
            <a:noFill/>
            <a:ln w="57150" cap="flat" cmpd="sng">
              <a:solidFill>
                <a:schemeClr val="folHlink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41320" name="Group 374"/>
          <p:cNvGrpSpPr/>
          <p:nvPr/>
        </p:nvGrpSpPr>
        <p:grpSpPr bwMode="auto">
          <a:xfrm>
            <a:off x="1452563" y="2617788"/>
            <a:ext cx="6613525" cy="1963737"/>
            <a:chOff x="915" y="1649"/>
            <a:chExt cx="4166" cy="1237"/>
          </a:xfrm>
        </p:grpSpPr>
        <p:grpSp>
          <p:nvGrpSpPr>
            <p:cNvPr id="141322" name="Group 375"/>
            <p:cNvGrpSpPr/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141331" name="Group 376"/>
              <p:cNvGrpSpPr/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141364" name="Freeform 377"/>
                <p:cNvSpPr/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1365" name="Freeform 378"/>
                <p:cNvSpPr/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1366" name="Freeform 379"/>
                <p:cNvSpPr/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  <a:gd name="T6" fmla="*/ 0 w 1"/>
                    <a:gd name="T7" fmla="*/ 0 h 176"/>
                    <a:gd name="T8" fmla="*/ 1 w 1"/>
                    <a:gd name="T9" fmla="*/ 176 h 17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1367" name="Freeform 380"/>
                <p:cNvSpPr/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  <a:gd name="T6" fmla="*/ 0 w 1"/>
                    <a:gd name="T7" fmla="*/ 0 h 178"/>
                    <a:gd name="T8" fmla="*/ 1 w 1"/>
                    <a:gd name="T9" fmla="*/ 178 h 178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1368" name="Freeform 381"/>
                <p:cNvSpPr/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  <a:gd name="T6" fmla="*/ 0 w 3858"/>
                    <a:gd name="T7" fmla="*/ 0 h 2"/>
                    <a:gd name="T8" fmla="*/ 3858 w 3858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41332" name="Group 382"/>
              <p:cNvGrpSpPr/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141357" name="Group 383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41362" name="Line 384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363" name="Line 385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41358" name="Freeform 386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41359" name="Group 387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41360" name="Line 388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361" name="Line 389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41333" name="Group 390"/>
              <p:cNvGrpSpPr/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141350" name="Group 391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41355" name="Line 392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356" name="Line 393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41351" name="Freeform 394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41352" name="Group 395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41353" name="Line 396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354" name="Line 397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" name="Group 398"/>
              <p:cNvGrpSpPr/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141343" name="Group 399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41348" name="Line 400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349" name="Line 401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41344" name="Freeform 402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41345" name="Group 403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41346" name="Line 404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347" name="Line 405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41335" name="Group 406"/>
              <p:cNvGrpSpPr/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141336" name="Group 407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41341" name="Line 408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342" name="Line 409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41337" name="Freeform 410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41338" name="Group 411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41339" name="Line 412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340" name="Line 413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</p:grpSp>
        <p:sp>
          <p:nvSpPr>
            <p:cNvPr id="141323" name="Rectangle 414"/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41324" name="Text Box 415"/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41325" name="Rectangle 416"/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41326" name="Rectangle 417"/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48</a:t>
              </a:r>
            </a:p>
          </p:txBody>
        </p:sp>
        <p:sp>
          <p:nvSpPr>
            <p:cNvPr id="141327" name="Rectangle 418"/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32</a:t>
              </a:r>
            </a:p>
          </p:txBody>
        </p:sp>
        <p:sp>
          <p:nvSpPr>
            <p:cNvPr id="141328" name="Text Box 419"/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41329" name="Text Box 420"/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41330" name="Text Box 421"/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141321" name="AutoShape 422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" dur="500"/>
                                        <p:tgtEl>
                                          <p:spTgt spid="141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338" name="Group 2"/>
          <p:cNvGrpSpPr/>
          <p:nvPr/>
        </p:nvGrpSpPr>
        <p:grpSpPr bwMode="auto">
          <a:xfrm>
            <a:off x="1584325" y="854075"/>
            <a:ext cx="7292975" cy="403225"/>
            <a:chOff x="1022" y="538"/>
            <a:chExt cx="4594" cy="254"/>
          </a:xfrm>
        </p:grpSpPr>
        <p:sp>
          <p:nvSpPr>
            <p:cNvPr id="142747" name="Line 3"/>
            <p:cNvSpPr>
              <a:spLocks noChangeShapeType="1"/>
            </p:cNvSpPr>
            <p:nvPr/>
          </p:nvSpPr>
          <p:spPr bwMode="auto">
            <a:xfrm flipV="1">
              <a:off x="2180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42748" name="Freeform 4"/>
            <p:cNvSpPr/>
            <p:nvPr/>
          </p:nvSpPr>
          <p:spPr bwMode="auto">
            <a:xfrm>
              <a:off x="3332" y="605"/>
              <a:ext cx="1" cy="187"/>
            </a:xfrm>
            <a:custGeom>
              <a:avLst/>
              <a:gdLst>
                <a:gd name="T0" fmla="*/ 0 w 1"/>
                <a:gd name="T1" fmla="*/ 187 h 187"/>
                <a:gd name="T2" fmla="*/ 1 w 1"/>
                <a:gd name="T3" fmla="*/ 0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187"/>
                  </a:moveTo>
                  <a:lnTo>
                    <a:pt x="1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42749" name="Line 5"/>
            <p:cNvSpPr>
              <a:spLocks noChangeShapeType="1"/>
            </p:cNvSpPr>
            <p:nvPr/>
          </p:nvSpPr>
          <p:spPr bwMode="auto">
            <a:xfrm flipV="1">
              <a:off x="4484" y="606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42750" name="Freeform 6"/>
            <p:cNvSpPr/>
            <p:nvPr/>
          </p:nvSpPr>
          <p:spPr bwMode="auto">
            <a:xfrm>
              <a:off x="1022" y="607"/>
              <a:ext cx="4" cy="181"/>
            </a:xfrm>
            <a:custGeom>
              <a:avLst/>
              <a:gdLst>
                <a:gd name="T0" fmla="*/ 4 w 4"/>
                <a:gd name="T1" fmla="*/ 181 h 181"/>
                <a:gd name="T2" fmla="*/ 0 w 4"/>
                <a:gd name="T3" fmla="*/ 0 h 181"/>
                <a:gd name="T4" fmla="*/ 0 60000 65536"/>
                <a:gd name="T5" fmla="*/ 0 60000 65536"/>
                <a:gd name="T6" fmla="*/ 0 w 4"/>
                <a:gd name="T7" fmla="*/ 0 h 181"/>
                <a:gd name="T8" fmla="*/ 4 w 4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81">
                  <a:moveTo>
                    <a:pt x="4" y="181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lgDash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42751" name="Line 7"/>
            <p:cNvSpPr>
              <a:spLocks noChangeShapeType="1"/>
            </p:cNvSpPr>
            <p:nvPr/>
          </p:nvSpPr>
          <p:spPr bwMode="auto">
            <a:xfrm flipV="1">
              <a:off x="5616" y="599"/>
              <a:ext cx="0" cy="1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lgDash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42752" name="Text Box 8"/>
            <p:cNvSpPr txBox="1">
              <a:spLocks noChangeArrowheads="1"/>
            </p:cNvSpPr>
            <p:nvPr/>
          </p:nvSpPr>
          <p:spPr bwMode="auto">
            <a:xfrm>
              <a:off x="1334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第一组</a:t>
              </a:r>
            </a:p>
          </p:txBody>
        </p:sp>
        <p:sp>
          <p:nvSpPr>
            <p:cNvPr id="142753" name="Text Box 9"/>
            <p:cNvSpPr txBox="1">
              <a:spLocks noChangeArrowheads="1"/>
            </p:cNvSpPr>
            <p:nvPr/>
          </p:nvSpPr>
          <p:spPr bwMode="auto">
            <a:xfrm>
              <a:off x="2425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第二组</a:t>
              </a:r>
            </a:p>
          </p:txBody>
        </p:sp>
        <p:sp>
          <p:nvSpPr>
            <p:cNvPr id="142754" name="Text Box 10"/>
            <p:cNvSpPr txBox="1">
              <a:spLocks noChangeArrowheads="1"/>
            </p:cNvSpPr>
            <p:nvPr/>
          </p:nvSpPr>
          <p:spPr bwMode="auto">
            <a:xfrm>
              <a:off x="3577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第三组</a:t>
              </a:r>
            </a:p>
          </p:txBody>
        </p:sp>
        <p:sp>
          <p:nvSpPr>
            <p:cNvPr id="142755" name="Text Box 11"/>
            <p:cNvSpPr txBox="1">
              <a:spLocks noChangeArrowheads="1"/>
            </p:cNvSpPr>
            <p:nvPr/>
          </p:nvSpPr>
          <p:spPr bwMode="auto">
            <a:xfrm>
              <a:off x="4729" y="5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第四组</a:t>
              </a:r>
            </a:p>
          </p:txBody>
        </p:sp>
        <p:sp>
          <p:nvSpPr>
            <p:cNvPr id="142756" name="Line 12"/>
            <p:cNvSpPr>
              <a:spLocks noChangeShapeType="1"/>
            </p:cNvSpPr>
            <p:nvPr/>
          </p:nvSpPr>
          <p:spPr bwMode="auto">
            <a:xfrm flipH="1">
              <a:off x="103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2757" name="Line 13"/>
            <p:cNvSpPr>
              <a:spLocks noChangeShapeType="1"/>
            </p:cNvSpPr>
            <p:nvPr/>
          </p:nvSpPr>
          <p:spPr bwMode="auto">
            <a:xfrm flipH="1">
              <a:off x="218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2758" name="Line 14"/>
            <p:cNvSpPr>
              <a:spLocks noChangeShapeType="1"/>
            </p:cNvSpPr>
            <p:nvPr/>
          </p:nvSpPr>
          <p:spPr bwMode="auto">
            <a:xfrm flipH="1">
              <a:off x="33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2759" name="Line 15"/>
            <p:cNvSpPr>
              <a:spLocks noChangeShapeType="1"/>
            </p:cNvSpPr>
            <p:nvPr/>
          </p:nvSpPr>
          <p:spPr bwMode="auto">
            <a:xfrm flipH="1">
              <a:off x="447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2760" name="Line 16"/>
            <p:cNvSpPr>
              <a:spLocks noChangeShapeType="1"/>
            </p:cNvSpPr>
            <p:nvPr/>
          </p:nvSpPr>
          <p:spPr bwMode="auto">
            <a:xfrm rot="10800000" flipH="1">
              <a:off x="1992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2761" name="Line 17"/>
            <p:cNvSpPr>
              <a:spLocks noChangeShapeType="1"/>
            </p:cNvSpPr>
            <p:nvPr/>
          </p:nvSpPr>
          <p:spPr bwMode="auto">
            <a:xfrm rot="10800000" flipH="1">
              <a:off x="314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2762" name="Line 18"/>
            <p:cNvSpPr>
              <a:spLocks noChangeShapeType="1"/>
            </p:cNvSpPr>
            <p:nvPr/>
          </p:nvSpPr>
          <p:spPr bwMode="auto">
            <a:xfrm rot="10800000" flipH="1">
              <a:off x="4296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2763" name="Line 19"/>
            <p:cNvSpPr>
              <a:spLocks noChangeShapeType="1"/>
            </p:cNvSpPr>
            <p:nvPr/>
          </p:nvSpPr>
          <p:spPr bwMode="auto">
            <a:xfrm rot="10800000" flipH="1">
              <a:off x="5424" y="672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30420" name="Rectangle 20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42340" name="Text Box 21"/>
          <p:cNvSpPr txBox="1">
            <a:spLocks noChangeArrowheads="1"/>
          </p:cNvSpPr>
          <p:nvPr/>
        </p:nvSpPr>
        <p:spPr bwMode="auto">
          <a:xfrm>
            <a:off x="609600" y="152400"/>
            <a:ext cx="7315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③ </a:t>
            </a:r>
            <a:r>
              <a:rPr lang="en-US" altLang="zh-CN" sz="3200">
                <a:latin typeface="Times New Roman" panose="02020603050405020304" pitchFamily="18" charset="0"/>
              </a:rPr>
              <a:t>Intel 2114</a:t>
            </a: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200">
                <a:latin typeface="Times New Roman" panose="02020603050405020304" pitchFamily="18" charset="0"/>
              </a:rPr>
              <a:t>矩阵 </a:t>
            </a:r>
            <a:r>
              <a:rPr lang="en-US" altLang="zh-CN" sz="3200">
                <a:latin typeface="Times New Roman" panose="02020603050405020304" pitchFamily="18" charset="0"/>
              </a:rPr>
              <a:t>(64 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3200">
                <a:latin typeface="Times New Roman" panose="02020603050405020304" pitchFamily="18" charset="0"/>
              </a:rPr>
              <a:t> 64)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</a:p>
        </p:txBody>
      </p:sp>
      <p:grpSp>
        <p:nvGrpSpPr>
          <p:cNvPr id="142341" name="Group 22"/>
          <p:cNvGrpSpPr/>
          <p:nvPr/>
        </p:nvGrpSpPr>
        <p:grpSpPr bwMode="auto">
          <a:xfrm>
            <a:off x="3086100" y="5599113"/>
            <a:ext cx="6057900" cy="336550"/>
            <a:chOff x="1944" y="3527"/>
            <a:chExt cx="3816" cy="212"/>
          </a:xfrm>
        </p:grpSpPr>
        <p:sp>
          <p:nvSpPr>
            <p:cNvPr id="142743" name="Text Box 23"/>
            <p:cNvSpPr txBox="1">
              <a:spLocks noChangeArrowheads="1"/>
            </p:cNvSpPr>
            <p:nvPr/>
          </p:nvSpPr>
          <p:spPr bwMode="auto">
            <a:xfrm>
              <a:off x="194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42744" name="Text Box 24"/>
            <p:cNvSpPr txBox="1">
              <a:spLocks noChangeArrowheads="1"/>
            </p:cNvSpPr>
            <p:nvPr/>
          </p:nvSpPr>
          <p:spPr bwMode="auto">
            <a:xfrm>
              <a:off x="310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142745" name="Text Box 25"/>
            <p:cNvSpPr txBox="1">
              <a:spLocks noChangeArrowheads="1"/>
            </p:cNvSpPr>
            <p:nvPr/>
          </p:nvSpPr>
          <p:spPr bwMode="auto">
            <a:xfrm>
              <a:off x="4256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142746" name="Text Box 26"/>
            <p:cNvSpPr txBox="1">
              <a:spLocks noChangeArrowheads="1"/>
            </p:cNvSpPr>
            <p:nvPr/>
          </p:nvSpPr>
          <p:spPr bwMode="auto">
            <a:xfrm>
              <a:off x="5414" y="3527"/>
              <a:ext cx="3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I/O</a:t>
              </a:r>
              <a:r>
                <a:rPr lang="en-US" altLang="zh-CN" sz="1600" baseline="-25000">
                  <a:latin typeface="Times New Roman" panose="02020603050405020304" pitchFamily="18" charset="0"/>
                </a:rPr>
                <a:t>4</a:t>
              </a:r>
            </a:p>
          </p:txBody>
        </p:sp>
      </p:grpSp>
      <p:grpSp>
        <p:nvGrpSpPr>
          <p:cNvPr id="142342" name="Group 27"/>
          <p:cNvGrpSpPr/>
          <p:nvPr/>
        </p:nvGrpSpPr>
        <p:grpSpPr bwMode="auto">
          <a:xfrm>
            <a:off x="222250" y="1069975"/>
            <a:ext cx="8686800" cy="5716588"/>
            <a:chOff x="140" y="674"/>
            <a:chExt cx="5472" cy="3601"/>
          </a:xfrm>
        </p:grpSpPr>
        <p:grpSp>
          <p:nvGrpSpPr>
            <p:cNvPr id="142517" name="Group 28"/>
            <p:cNvGrpSpPr/>
            <p:nvPr/>
          </p:nvGrpSpPr>
          <p:grpSpPr bwMode="auto">
            <a:xfrm>
              <a:off x="140" y="713"/>
              <a:ext cx="5472" cy="3562"/>
              <a:chOff x="140" y="713"/>
              <a:chExt cx="5472" cy="3562"/>
            </a:xfrm>
          </p:grpSpPr>
          <p:sp>
            <p:nvSpPr>
              <p:cNvPr id="142529" name="Rectangle 29"/>
              <p:cNvSpPr>
                <a:spLocks noChangeArrowheads="1"/>
              </p:cNvSpPr>
              <p:nvPr/>
            </p:nvSpPr>
            <p:spPr bwMode="auto">
              <a:xfrm>
                <a:off x="332" y="713"/>
                <a:ext cx="576" cy="316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2530" name="Rectangle 30"/>
              <p:cNvSpPr>
                <a:spLocks noChangeArrowheads="1"/>
              </p:cNvSpPr>
              <p:nvPr/>
            </p:nvSpPr>
            <p:spPr bwMode="auto">
              <a:xfrm>
                <a:off x="172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2531" name="Text Box 31"/>
              <p:cNvSpPr txBox="1">
                <a:spLocks noChangeArrowheads="1"/>
              </p:cNvSpPr>
              <p:nvPr/>
            </p:nvSpPr>
            <p:spPr bwMode="auto">
              <a:xfrm>
                <a:off x="140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2532" name="Rectangle 32"/>
              <p:cNvSpPr>
                <a:spLocks noChangeArrowheads="1"/>
              </p:cNvSpPr>
              <p:nvPr/>
            </p:nvSpPr>
            <p:spPr bwMode="auto">
              <a:xfrm>
                <a:off x="1152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42533" name="Rectangle 33"/>
              <p:cNvSpPr>
                <a:spLocks noChangeArrowheads="1"/>
              </p:cNvSpPr>
              <p:nvPr/>
            </p:nvSpPr>
            <p:spPr bwMode="auto">
              <a:xfrm>
                <a:off x="2869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42534" name="Text Box 34"/>
              <p:cNvSpPr txBox="1">
                <a:spLocks noChangeArrowheads="1"/>
              </p:cNvSpPr>
              <p:nvPr/>
            </p:nvSpPr>
            <p:spPr bwMode="auto">
              <a:xfrm>
                <a:off x="2549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2535" name="Rectangle 35"/>
              <p:cNvSpPr>
                <a:spLocks noChangeArrowheads="1"/>
              </p:cNvSpPr>
              <p:nvPr/>
            </p:nvSpPr>
            <p:spPr bwMode="auto">
              <a:xfrm>
                <a:off x="2293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sp>
            <p:nvSpPr>
              <p:cNvPr id="142536" name="Rectangle 36"/>
              <p:cNvSpPr>
                <a:spLocks noChangeArrowheads="1"/>
              </p:cNvSpPr>
              <p:nvPr/>
            </p:nvSpPr>
            <p:spPr bwMode="auto">
              <a:xfrm>
                <a:off x="404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47</a:t>
                </a:r>
              </a:p>
            </p:txBody>
          </p:sp>
          <p:sp>
            <p:nvSpPr>
              <p:cNvPr id="142537" name="Text Box 37"/>
              <p:cNvSpPr txBox="1">
                <a:spLocks noChangeArrowheads="1"/>
              </p:cNvSpPr>
              <p:nvPr/>
            </p:nvSpPr>
            <p:spPr bwMode="auto">
              <a:xfrm>
                <a:off x="3724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2538" name="Rectangle 38"/>
              <p:cNvSpPr>
                <a:spLocks noChangeArrowheads="1"/>
              </p:cNvSpPr>
              <p:nvPr/>
            </p:nvSpPr>
            <p:spPr bwMode="auto">
              <a:xfrm>
                <a:off x="3468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32</a:t>
                </a:r>
              </a:p>
            </p:txBody>
          </p:sp>
          <p:sp>
            <p:nvSpPr>
              <p:cNvPr id="142539" name="Rectangle 39"/>
              <p:cNvSpPr>
                <a:spLocks noChangeArrowheads="1"/>
              </p:cNvSpPr>
              <p:nvPr/>
            </p:nvSpPr>
            <p:spPr bwMode="auto">
              <a:xfrm>
                <a:off x="5180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63</a:t>
                </a:r>
              </a:p>
            </p:txBody>
          </p:sp>
          <p:sp>
            <p:nvSpPr>
              <p:cNvPr id="142540" name="Text Box 40"/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2541" name="Rectangle 41"/>
              <p:cNvSpPr>
                <a:spLocks noChangeArrowheads="1"/>
              </p:cNvSpPr>
              <p:nvPr/>
            </p:nvSpPr>
            <p:spPr bwMode="auto">
              <a:xfrm>
                <a:off x="4604" y="1014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48</a:t>
                </a:r>
              </a:p>
            </p:txBody>
          </p:sp>
          <p:sp>
            <p:nvSpPr>
              <p:cNvPr id="142542" name="Rectangle 42"/>
              <p:cNvSpPr>
                <a:spLocks noChangeArrowheads="1"/>
              </p:cNvSpPr>
              <p:nvPr/>
            </p:nvSpPr>
            <p:spPr bwMode="auto">
              <a:xfrm>
                <a:off x="172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2543" name="Rectangle 43"/>
              <p:cNvSpPr>
                <a:spLocks noChangeArrowheads="1"/>
              </p:cNvSpPr>
              <p:nvPr/>
            </p:nvSpPr>
            <p:spPr bwMode="auto">
              <a:xfrm>
                <a:off x="1152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42544" name="Rectangle 44"/>
              <p:cNvSpPr>
                <a:spLocks noChangeArrowheads="1"/>
              </p:cNvSpPr>
              <p:nvPr/>
            </p:nvSpPr>
            <p:spPr bwMode="auto">
              <a:xfrm>
                <a:off x="2869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42545" name="Rectangle 45"/>
              <p:cNvSpPr>
                <a:spLocks noChangeArrowheads="1"/>
              </p:cNvSpPr>
              <p:nvPr/>
            </p:nvSpPr>
            <p:spPr bwMode="auto">
              <a:xfrm>
                <a:off x="2293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sp>
            <p:nvSpPr>
              <p:cNvPr id="142546" name="Rectangle 46"/>
              <p:cNvSpPr>
                <a:spLocks noChangeArrowheads="1"/>
              </p:cNvSpPr>
              <p:nvPr/>
            </p:nvSpPr>
            <p:spPr bwMode="auto">
              <a:xfrm>
                <a:off x="404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47</a:t>
                </a:r>
              </a:p>
            </p:txBody>
          </p:sp>
          <p:sp>
            <p:nvSpPr>
              <p:cNvPr id="142547" name="Rectangle 47"/>
              <p:cNvSpPr>
                <a:spLocks noChangeArrowheads="1"/>
              </p:cNvSpPr>
              <p:nvPr/>
            </p:nvSpPr>
            <p:spPr bwMode="auto">
              <a:xfrm>
                <a:off x="3468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32</a:t>
                </a:r>
              </a:p>
            </p:txBody>
          </p:sp>
          <p:sp>
            <p:nvSpPr>
              <p:cNvPr id="142548" name="Rectangle 48"/>
              <p:cNvSpPr>
                <a:spLocks noChangeArrowheads="1"/>
              </p:cNvSpPr>
              <p:nvPr/>
            </p:nvSpPr>
            <p:spPr bwMode="auto">
              <a:xfrm>
                <a:off x="5180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63</a:t>
                </a:r>
              </a:p>
            </p:txBody>
          </p:sp>
          <p:sp>
            <p:nvSpPr>
              <p:cNvPr id="142549" name="Rectangle 49"/>
              <p:cNvSpPr>
                <a:spLocks noChangeArrowheads="1"/>
              </p:cNvSpPr>
              <p:nvPr/>
            </p:nvSpPr>
            <p:spPr bwMode="auto">
              <a:xfrm>
                <a:off x="4604" y="2215"/>
                <a:ext cx="288" cy="27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rIns="0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48</a:t>
                </a:r>
              </a:p>
            </p:txBody>
          </p:sp>
          <p:sp>
            <p:nvSpPr>
              <p:cNvPr id="142550" name="Line 50"/>
              <p:cNvSpPr>
                <a:spLocks noChangeShapeType="1"/>
              </p:cNvSpPr>
              <p:nvPr/>
            </p:nvSpPr>
            <p:spPr bwMode="auto">
              <a:xfrm rot="5400000">
                <a:off x="1325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51" name="Line 51"/>
              <p:cNvSpPr>
                <a:spLocks noChangeShapeType="1"/>
              </p:cNvSpPr>
              <p:nvPr/>
            </p:nvSpPr>
            <p:spPr bwMode="auto">
              <a:xfrm rot="5400000">
                <a:off x="1308" y="271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52" name="Freeform 52"/>
              <p:cNvSpPr/>
              <p:nvPr/>
            </p:nvSpPr>
            <p:spPr bwMode="auto">
              <a:xfrm>
                <a:off x="1260" y="2709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53" name="Line 53"/>
              <p:cNvSpPr>
                <a:spLocks noChangeShapeType="1"/>
              </p:cNvSpPr>
              <p:nvPr/>
            </p:nvSpPr>
            <p:spPr bwMode="auto">
              <a:xfrm rot="-5400000">
                <a:off x="1133" y="2712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54" name="Line 54"/>
              <p:cNvSpPr>
                <a:spLocks noChangeShapeType="1"/>
              </p:cNvSpPr>
              <p:nvPr/>
            </p:nvSpPr>
            <p:spPr bwMode="auto">
              <a:xfrm rot="-5400000">
                <a:off x="1212" y="2714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55" name="Freeform 55"/>
              <p:cNvSpPr/>
              <p:nvPr/>
            </p:nvSpPr>
            <p:spPr bwMode="auto">
              <a:xfrm>
                <a:off x="1434" y="2353"/>
                <a:ext cx="112" cy="1"/>
              </a:xfrm>
              <a:custGeom>
                <a:avLst/>
                <a:gdLst>
                  <a:gd name="T0" fmla="*/ 0 w 112"/>
                  <a:gd name="T1" fmla="*/ 0 h 1"/>
                  <a:gd name="T2" fmla="*/ 112 w 112"/>
                  <a:gd name="T3" fmla="*/ 0 h 1"/>
                  <a:gd name="T4" fmla="*/ 0 60000 65536"/>
                  <a:gd name="T5" fmla="*/ 0 60000 65536"/>
                  <a:gd name="T6" fmla="*/ 0 w 112"/>
                  <a:gd name="T7" fmla="*/ 0 h 1"/>
                  <a:gd name="T8" fmla="*/ 112 w 11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2" h="1">
                    <a:moveTo>
                      <a:pt x="0" y="0"/>
                    </a:moveTo>
                    <a:lnTo>
                      <a:pt x="112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556" name="Freeform 56"/>
              <p:cNvSpPr/>
              <p:nvPr/>
            </p:nvSpPr>
            <p:spPr bwMode="auto">
              <a:xfrm>
                <a:off x="1059" y="1209"/>
                <a:ext cx="152" cy="1469"/>
              </a:xfrm>
              <a:custGeom>
                <a:avLst/>
                <a:gdLst>
                  <a:gd name="T0" fmla="*/ 152 w 152"/>
                  <a:gd name="T1" fmla="*/ 1469 h 1469"/>
                  <a:gd name="T2" fmla="*/ 0 w 152"/>
                  <a:gd name="T3" fmla="*/ 1469 h 1469"/>
                  <a:gd name="T4" fmla="*/ 0 w 152"/>
                  <a:gd name="T5" fmla="*/ 0 h 1469"/>
                  <a:gd name="T6" fmla="*/ 95 w 152"/>
                  <a:gd name="T7" fmla="*/ 1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9"/>
                  <a:gd name="T14" fmla="*/ 152 w 152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9">
                    <a:moveTo>
                      <a:pt x="152" y="1469"/>
                    </a:moveTo>
                    <a:lnTo>
                      <a:pt x="0" y="1469"/>
                    </a:lnTo>
                    <a:lnTo>
                      <a:pt x="0" y="0"/>
                    </a:lnTo>
                    <a:lnTo>
                      <a:pt x="95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557" name="Freeform 57"/>
              <p:cNvSpPr/>
              <p:nvPr/>
            </p:nvSpPr>
            <p:spPr bwMode="auto">
              <a:xfrm>
                <a:off x="1055" y="2353"/>
                <a:ext cx="102" cy="1"/>
              </a:xfrm>
              <a:custGeom>
                <a:avLst/>
                <a:gdLst>
                  <a:gd name="T0" fmla="*/ 102 w 102"/>
                  <a:gd name="T1" fmla="*/ 0 h 1"/>
                  <a:gd name="T2" fmla="*/ 0 w 102"/>
                  <a:gd name="T3" fmla="*/ 0 h 1"/>
                  <a:gd name="T4" fmla="*/ 0 60000 65536"/>
                  <a:gd name="T5" fmla="*/ 0 60000 65536"/>
                  <a:gd name="T6" fmla="*/ 0 w 102"/>
                  <a:gd name="T7" fmla="*/ 0 h 1"/>
                  <a:gd name="T8" fmla="*/ 102 w 10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2" h="1">
                    <a:moveTo>
                      <a:pt x="102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558" name="Line 58"/>
              <p:cNvSpPr>
                <a:spLocks noChangeShapeType="1"/>
              </p:cNvSpPr>
              <p:nvPr/>
            </p:nvSpPr>
            <p:spPr bwMode="auto">
              <a:xfrm rot="5400000">
                <a:off x="1896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59" name="Line 59"/>
              <p:cNvSpPr>
                <a:spLocks noChangeShapeType="1"/>
              </p:cNvSpPr>
              <p:nvPr/>
            </p:nvSpPr>
            <p:spPr bwMode="auto">
              <a:xfrm rot="5400000">
                <a:off x="1879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60" name="Freeform 60"/>
              <p:cNvSpPr/>
              <p:nvPr/>
            </p:nvSpPr>
            <p:spPr bwMode="auto">
              <a:xfrm>
                <a:off x="1831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61" name="Line 61"/>
              <p:cNvSpPr>
                <a:spLocks noChangeShapeType="1"/>
              </p:cNvSpPr>
              <p:nvPr/>
            </p:nvSpPr>
            <p:spPr bwMode="auto">
              <a:xfrm rot="-5400000">
                <a:off x="1704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62" name="Line 62"/>
              <p:cNvSpPr>
                <a:spLocks noChangeShapeType="1"/>
              </p:cNvSpPr>
              <p:nvPr/>
            </p:nvSpPr>
            <p:spPr bwMode="auto">
              <a:xfrm rot="-5400000">
                <a:off x="1783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63" name="Freeform 63"/>
              <p:cNvSpPr/>
              <p:nvPr/>
            </p:nvSpPr>
            <p:spPr bwMode="auto">
              <a:xfrm>
                <a:off x="2005" y="2353"/>
                <a:ext cx="103" cy="1"/>
              </a:xfrm>
              <a:custGeom>
                <a:avLst/>
                <a:gdLst>
                  <a:gd name="T0" fmla="*/ 0 w 103"/>
                  <a:gd name="T1" fmla="*/ 0 h 1"/>
                  <a:gd name="T2" fmla="*/ 103 w 103"/>
                  <a:gd name="T3" fmla="*/ 0 h 1"/>
                  <a:gd name="T4" fmla="*/ 0 60000 65536"/>
                  <a:gd name="T5" fmla="*/ 0 60000 65536"/>
                  <a:gd name="T6" fmla="*/ 0 w 103"/>
                  <a:gd name="T7" fmla="*/ 0 h 1"/>
                  <a:gd name="T8" fmla="*/ 103 w 10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3" h="1">
                    <a:moveTo>
                      <a:pt x="0" y="0"/>
                    </a:moveTo>
                    <a:lnTo>
                      <a:pt x="103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564" name="Freeform 64"/>
              <p:cNvSpPr/>
              <p:nvPr/>
            </p:nvSpPr>
            <p:spPr bwMode="auto">
              <a:xfrm>
                <a:off x="1611" y="2352"/>
                <a:ext cx="113" cy="1"/>
              </a:xfrm>
              <a:custGeom>
                <a:avLst/>
                <a:gdLst>
                  <a:gd name="T0" fmla="*/ 113 w 113"/>
                  <a:gd name="T1" fmla="*/ 1 h 1"/>
                  <a:gd name="T2" fmla="*/ 0 w 113"/>
                  <a:gd name="T3" fmla="*/ 0 h 1"/>
                  <a:gd name="T4" fmla="*/ 0 60000 65536"/>
                  <a:gd name="T5" fmla="*/ 0 60000 65536"/>
                  <a:gd name="T6" fmla="*/ 0 w 113"/>
                  <a:gd name="T7" fmla="*/ 0 h 1"/>
                  <a:gd name="T8" fmla="*/ 113 w 11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3" h="1">
                    <a:moveTo>
                      <a:pt x="113" y="1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565" name="Line 65"/>
              <p:cNvSpPr>
                <a:spLocks noChangeShapeType="1"/>
              </p:cNvSpPr>
              <p:nvPr/>
            </p:nvSpPr>
            <p:spPr bwMode="auto">
              <a:xfrm rot="5400000">
                <a:off x="247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66" name="Line 66"/>
              <p:cNvSpPr>
                <a:spLocks noChangeShapeType="1"/>
              </p:cNvSpPr>
              <p:nvPr/>
            </p:nvSpPr>
            <p:spPr bwMode="auto">
              <a:xfrm rot="5400000">
                <a:off x="2460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67" name="Freeform 67"/>
              <p:cNvSpPr/>
              <p:nvPr/>
            </p:nvSpPr>
            <p:spPr bwMode="auto">
              <a:xfrm>
                <a:off x="2412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68" name="Line 68"/>
              <p:cNvSpPr>
                <a:spLocks noChangeShapeType="1"/>
              </p:cNvSpPr>
              <p:nvPr/>
            </p:nvSpPr>
            <p:spPr bwMode="auto">
              <a:xfrm rot="-5400000">
                <a:off x="2285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69" name="Line 69"/>
              <p:cNvSpPr>
                <a:spLocks noChangeShapeType="1"/>
              </p:cNvSpPr>
              <p:nvPr/>
            </p:nvSpPr>
            <p:spPr bwMode="auto">
              <a:xfrm rot="-5400000">
                <a:off x="2364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70" name="Freeform 70"/>
              <p:cNvSpPr/>
              <p:nvPr/>
            </p:nvSpPr>
            <p:spPr bwMode="auto">
              <a:xfrm>
                <a:off x="2586" y="2353"/>
                <a:ext cx="109" cy="1"/>
              </a:xfrm>
              <a:custGeom>
                <a:avLst/>
                <a:gdLst>
                  <a:gd name="T0" fmla="*/ 0 w 109"/>
                  <a:gd name="T1" fmla="*/ 0 h 1"/>
                  <a:gd name="T2" fmla="*/ 109 w 109"/>
                  <a:gd name="T3" fmla="*/ 0 h 1"/>
                  <a:gd name="T4" fmla="*/ 0 60000 65536"/>
                  <a:gd name="T5" fmla="*/ 0 60000 65536"/>
                  <a:gd name="T6" fmla="*/ 0 w 109"/>
                  <a:gd name="T7" fmla="*/ 0 h 1"/>
                  <a:gd name="T8" fmla="*/ 109 w 10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9" h="1">
                    <a:moveTo>
                      <a:pt x="0" y="0"/>
                    </a:moveTo>
                    <a:lnTo>
                      <a:pt x="109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571" name="Freeform 71"/>
              <p:cNvSpPr/>
              <p:nvPr/>
            </p:nvSpPr>
            <p:spPr bwMode="auto">
              <a:xfrm>
                <a:off x="2207" y="2353"/>
                <a:ext cx="89" cy="1"/>
              </a:xfrm>
              <a:custGeom>
                <a:avLst/>
                <a:gdLst>
                  <a:gd name="T0" fmla="*/ 89 w 89"/>
                  <a:gd name="T1" fmla="*/ 0 h 1"/>
                  <a:gd name="T2" fmla="*/ 0 w 89"/>
                  <a:gd name="T3" fmla="*/ 0 h 1"/>
                  <a:gd name="T4" fmla="*/ 0 60000 65536"/>
                  <a:gd name="T5" fmla="*/ 0 60000 65536"/>
                  <a:gd name="T6" fmla="*/ 0 w 89"/>
                  <a:gd name="T7" fmla="*/ 0 h 1"/>
                  <a:gd name="T8" fmla="*/ 89 w 8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9" h="1">
                    <a:moveTo>
                      <a:pt x="89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572" name="Line 72"/>
              <p:cNvSpPr>
                <a:spLocks noChangeShapeType="1"/>
              </p:cNvSpPr>
              <p:nvPr/>
            </p:nvSpPr>
            <p:spPr bwMode="auto">
              <a:xfrm rot="5400000">
                <a:off x="3053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73" name="Line 73"/>
              <p:cNvSpPr>
                <a:spLocks noChangeShapeType="1"/>
              </p:cNvSpPr>
              <p:nvPr/>
            </p:nvSpPr>
            <p:spPr bwMode="auto">
              <a:xfrm rot="5400000">
                <a:off x="3036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74" name="Freeform 74"/>
              <p:cNvSpPr/>
              <p:nvPr/>
            </p:nvSpPr>
            <p:spPr bwMode="auto">
              <a:xfrm>
                <a:off x="2988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75" name="Line 75"/>
              <p:cNvSpPr>
                <a:spLocks noChangeShapeType="1"/>
              </p:cNvSpPr>
              <p:nvPr/>
            </p:nvSpPr>
            <p:spPr bwMode="auto">
              <a:xfrm rot="-5400000">
                <a:off x="2861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76" name="Line 76"/>
              <p:cNvSpPr>
                <a:spLocks noChangeShapeType="1"/>
              </p:cNvSpPr>
              <p:nvPr/>
            </p:nvSpPr>
            <p:spPr bwMode="auto">
              <a:xfrm rot="-5400000">
                <a:off x="2940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77" name="Freeform 77"/>
              <p:cNvSpPr/>
              <p:nvPr/>
            </p:nvSpPr>
            <p:spPr bwMode="auto">
              <a:xfrm>
                <a:off x="3162" y="2353"/>
                <a:ext cx="115" cy="1"/>
              </a:xfrm>
              <a:custGeom>
                <a:avLst/>
                <a:gdLst>
                  <a:gd name="T0" fmla="*/ 0 w 115"/>
                  <a:gd name="T1" fmla="*/ 0 h 1"/>
                  <a:gd name="T2" fmla="*/ 115 w 115"/>
                  <a:gd name="T3" fmla="*/ 0 h 1"/>
                  <a:gd name="T4" fmla="*/ 0 60000 65536"/>
                  <a:gd name="T5" fmla="*/ 0 60000 65536"/>
                  <a:gd name="T6" fmla="*/ 0 w 115"/>
                  <a:gd name="T7" fmla="*/ 0 h 1"/>
                  <a:gd name="T8" fmla="*/ 115 w 11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5" h="1">
                    <a:moveTo>
                      <a:pt x="0" y="0"/>
                    </a:moveTo>
                    <a:lnTo>
                      <a:pt x="11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578" name="Freeform 78"/>
              <p:cNvSpPr/>
              <p:nvPr/>
            </p:nvSpPr>
            <p:spPr bwMode="auto">
              <a:xfrm>
                <a:off x="2783" y="2353"/>
                <a:ext cx="90" cy="1"/>
              </a:xfrm>
              <a:custGeom>
                <a:avLst/>
                <a:gdLst>
                  <a:gd name="T0" fmla="*/ 90 w 90"/>
                  <a:gd name="T1" fmla="*/ 0 h 1"/>
                  <a:gd name="T2" fmla="*/ 0 w 90"/>
                  <a:gd name="T3" fmla="*/ 0 h 1"/>
                  <a:gd name="T4" fmla="*/ 0 60000 65536"/>
                  <a:gd name="T5" fmla="*/ 0 60000 65536"/>
                  <a:gd name="T6" fmla="*/ 0 w 90"/>
                  <a:gd name="T7" fmla="*/ 0 h 1"/>
                  <a:gd name="T8" fmla="*/ 90 w 9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0" h="1">
                    <a:moveTo>
                      <a:pt x="90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579" name="Line 79"/>
              <p:cNvSpPr>
                <a:spLocks noChangeShapeType="1"/>
              </p:cNvSpPr>
              <p:nvPr/>
            </p:nvSpPr>
            <p:spPr bwMode="auto">
              <a:xfrm rot="5400000">
                <a:off x="3629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80" name="Line 80"/>
              <p:cNvSpPr>
                <a:spLocks noChangeShapeType="1"/>
              </p:cNvSpPr>
              <p:nvPr/>
            </p:nvSpPr>
            <p:spPr bwMode="auto">
              <a:xfrm rot="5400000">
                <a:off x="3612" y="2711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81" name="Freeform 81"/>
              <p:cNvSpPr/>
              <p:nvPr/>
            </p:nvSpPr>
            <p:spPr bwMode="auto">
              <a:xfrm>
                <a:off x="3564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82" name="Line 82"/>
              <p:cNvSpPr>
                <a:spLocks noChangeShapeType="1"/>
              </p:cNvSpPr>
              <p:nvPr/>
            </p:nvSpPr>
            <p:spPr bwMode="auto">
              <a:xfrm rot="-5400000">
                <a:off x="3437" y="2713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83" name="Line 83"/>
              <p:cNvSpPr>
                <a:spLocks noChangeShapeType="1"/>
              </p:cNvSpPr>
              <p:nvPr/>
            </p:nvSpPr>
            <p:spPr bwMode="auto">
              <a:xfrm rot="-5400000">
                <a:off x="3516" y="2715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84" name="Freeform 84"/>
              <p:cNvSpPr/>
              <p:nvPr/>
            </p:nvSpPr>
            <p:spPr bwMode="auto">
              <a:xfrm>
                <a:off x="3751" y="2352"/>
                <a:ext cx="100" cy="1"/>
              </a:xfrm>
              <a:custGeom>
                <a:avLst/>
                <a:gdLst>
                  <a:gd name="T0" fmla="*/ 0 w 100"/>
                  <a:gd name="T1" fmla="*/ 0 h 1"/>
                  <a:gd name="T2" fmla="*/ 100 w 100"/>
                  <a:gd name="T3" fmla="*/ 1 h 1"/>
                  <a:gd name="T4" fmla="*/ 0 60000 65536"/>
                  <a:gd name="T5" fmla="*/ 0 60000 65536"/>
                  <a:gd name="T6" fmla="*/ 0 w 100"/>
                  <a:gd name="T7" fmla="*/ 0 h 1"/>
                  <a:gd name="T8" fmla="*/ 100 w 10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0" h="1">
                    <a:moveTo>
                      <a:pt x="0" y="0"/>
                    </a:moveTo>
                    <a:lnTo>
                      <a:pt x="100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585" name="Freeform 85"/>
              <p:cNvSpPr/>
              <p:nvPr/>
            </p:nvSpPr>
            <p:spPr bwMode="auto">
              <a:xfrm>
                <a:off x="3359" y="2353"/>
                <a:ext cx="108" cy="1"/>
              </a:xfrm>
              <a:custGeom>
                <a:avLst/>
                <a:gdLst>
                  <a:gd name="T0" fmla="*/ 108 w 108"/>
                  <a:gd name="T1" fmla="*/ 0 h 1"/>
                  <a:gd name="T2" fmla="*/ 0 w 108"/>
                  <a:gd name="T3" fmla="*/ 0 h 1"/>
                  <a:gd name="T4" fmla="*/ 0 60000 65536"/>
                  <a:gd name="T5" fmla="*/ 0 60000 65536"/>
                  <a:gd name="T6" fmla="*/ 0 w 108"/>
                  <a:gd name="T7" fmla="*/ 0 h 1"/>
                  <a:gd name="T8" fmla="*/ 108 w 10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8" h="1">
                    <a:moveTo>
                      <a:pt x="10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586" name="Line 86"/>
              <p:cNvSpPr>
                <a:spLocks noChangeShapeType="1"/>
              </p:cNvSpPr>
              <p:nvPr/>
            </p:nvSpPr>
            <p:spPr bwMode="auto">
              <a:xfrm rot="5400000">
                <a:off x="4205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87" name="Line 87"/>
              <p:cNvSpPr>
                <a:spLocks noChangeShapeType="1"/>
              </p:cNvSpPr>
              <p:nvPr/>
            </p:nvSpPr>
            <p:spPr bwMode="auto">
              <a:xfrm rot="5400000">
                <a:off x="4188" y="2696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88" name="Freeform 88"/>
              <p:cNvSpPr/>
              <p:nvPr/>
            </p:nvSpPr>
            <p:spPr bwMode="auto">
              <a:xfrm>
                <a:off x="4140" y="2695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89" name="Line 89"/>
              <p:cNvSpPr>
                <a:spLocks noChangeShapeType="1"/>
              </p:cNvSpPr>
              <p:nvPr/>
            </p:nvSpPr>
            <p:spPr bwMode="auto">
              <a:xfrm rot="-5400000">
                <a:off x="4013" y="2698"/>
                <a:ext cx="15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90" name="Line 90"/>
              <p:cNvSpPr>
                <a:spLocks noChangeShapeType="1"/>
              </p:cNvSpPr>
              <p:nvPr/>
            </p:nvSpPr>
            <p:spPr bwMode="auto">
              <a:xfrm rot="-5400000">
                <a:off x="4092" y="2700"/>
                <a:ext cx="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2591" name="Freeform 91"/>
              <p:cNvSpPr/>
              <p:nvPr/>
            </p:nvSpPr>
            <p:spPr bwMode="auto">
              <a:xfrm>
                <a:off x="4336" y="2351"/>
                <a:ext cx="90" cy="2"/>
              </a:xfrm>
              <a:custGeom>
                <a:avLst/>
                <a:gdLst>
                  <a:gd name="T0" fmla="*/ 0 w 90"/>
                  <a:gd name="T1" fmla="*/ 0 h 2"/>
                  <a:gd name="T2" fmla="*/ 90 w 90"/>
                  <a:gd name="T3" fmla="*/ 2 h 2"/>
                  <a:gd name="T4" fmla="*/ 0 60000 65536"/>
                  <a:gd name="T5" fmla="*/ 0 60000 65536"/>
                  <a:gd name="T6" fmla="*/ 0 w 90"/>
                  <a:gd name="T7" fmla="*/ 0 h 2"/>
                  <a:gd name="T8" fmla="*/ 90 w 90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0" h="2">
                    <a:moveTo>
                      <a:pt x="0" y="0"/>
                    </a:moveTo>
                    <a:lnTo>
                      <a:pt x="90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592" name="Freeform 92"/>
              <p:cNvSpPr/>
              <p:nvPr/>
            </p:nvSpPr>
            <p:spPr bwMode="auto">
              <a:xfrm>
                <a:off x="3935" y="2353"/>
                <a:ext cx="104" cy="1"/>
              </a:xfrm>
              <a:custGeom>
                <a:avLst/>
                <a:gdLst>
                  <a:gd name="T0" fmla="*/ 104 w 104"/>
                  <a:gd name="T1" fmla="*/ 0 h 1"/>
                  <a:gd name="T2" fmla="*/ 0 w 104"/>
                  <a:gd name="T3" fmla="*/ 0 h 1"/>
                  <a:gd name="T4" fmla="*/ 0 60000 65536"/>
                  <a:gd name="T5" fmla="*/ 0 60000 65536"/>
                  <a:gd name="T6" fmla="*/ 0 w 104"/>
                  <a:gd name="T7" fmla="*/ 0 h 1"/>
                  <a:gd name="T8" fmla="*/ 104 w 10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4" h="1">
                    <a:moveTo>
                      <a:pt x="10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142593" name="Group 93"/>
              <p:cNvGrpSpPr/>
              <p:nvPr/>
            </p:nvGrpSpPr>
            <p:grpSpPr bwMode="auto">
              <a:xfrm>
                <a:off x="4668" y="2634"/>
                <a:ext cx="192" cy="158"/>
                <a:chOff x="4692" y="2634"/>
                <a:chExt cx="192" cy="158"/>
              </a:xfrm>
            </p:grpSpPr>
            <p:grpSp>
              <p:nvGrpSpPr>
                <p:cNvPr id="142736" name="Group 94"/>
                <p:cNvGrpSpPr/>
                <p:nvPr/>
              </p:nvGrpSpPr>
              <p:grpSpPr bwMode="auto">
                <a:xfrm>
                  <a:off x="4836" y="2634"/>
                  <a:ext cx="48" cy="158"/>
                  <a:chOff x="4836" y="2634"/>
                  <a:chExt cx="48" cy="158"/>
                </a:xfrm>
              </p:grpSpPr>
              <p:sp>
                <p:nvSpPr>
                  <p:cNvPr id="142741" name="Line 95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805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2742" name="Line 96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4788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42737" name="Freeform 97"/>
                <p:cNvSpPr/>
                <p:nvPr/>
              </p:nvSpPr>
              <p:spPr bwMode="auto">
                <a:xfrm>
                  <a:off x="4740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42738" name="Group 98"/>
                <p:cNvGrpSpPr/>
                <p:nvPr/>
              </p:nvGrpSpPr>
              <p:grpSpPr bwMode="auto">
                <a:xfrm>
                  <a:off x="4692" y="2634"/>
                  <a:ext cx="48" cy="158"/>
                  <a:chOff x="4692" y="2634"/>
                  <a:chExt cx="48" cy="158"/>
                </a:xfrm>
              </p:grpSpPr>
              <p:sp>
                <p:nvSpPr>
                  <p:cNvPr id="142739" name="Line 99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13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2740" name="Line 100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4692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142594" name="Freeform 101"/>
              <p:cNvSpPr/>
              <p:nvPr/>
            </p:nvSpPr>
            <p:spPr bwMode="auto">
              <a:xfrm>
                <a:off x="4890" y="2353"/>
                <a:ext cx="107" cy="1"/>
              </a:xfrm>
              <a:custGeom>
                <a:avLst/>
                <a:gdLst>
                  <a:gd name="T0" fmla="*/ 0 w 107"/>
                  <a:gd name="T1" fmla="*/ 0 h 1"/>
                  <a:gd name="T2" fmla="*/ 107 w 107"/>
                  <a:gd name="T3" fmla="*/ 0 h 1"/>
                  <a:gd name="T4" fmla="*/ 0 60000 65536"/>
                  <a:gd name="T5" fmla="*/ 0 60000 65536"/>
                  <a:gd name="T6" fmla="*/ 0 w 107"/>
                  <a:gd name="T7" fmla="*/ 0 h 1"/>
                  <a:gd name="T8" fmla="*/ 107 w 10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7" h="1">
                    <a:moveTo>
                      <a:pt x="0" y="0"/>
                    </a:moveTo>
                    <a:lnTo>
                      <a:pt x="10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595" name="Freeform 102"/>
              <p:cNvSpPr/>
              <p:nvPr/>
            </p:nvSpPr>
            <p:spPr bwMode="auto">
              <a:xfrm>
                <a:off x="4511" y="2353"/>
                <a:ext cx="96" cy="1"/>
              </a:xfrm>
              <a:custGeom>
                <a:avLst/>
                <a:gdLst>
                  <a:gd name="T0" fmla="*/ 96 w 96"/>
                  <a:gd name="T1" fmla="*/ 0 h 1"/>
                  <a:gd name="T2" fmla="*/ 0 w 96"/>
                  <a:gd name="T3" fmla="*/ 0 h 1"/>
                  <a:gd name="T4" fmla="*/ 0 60000 65536"/>
                  <a:gd name="T5" fmla="*/ 0 60000 65536"/>
                  <a:gd name="T6" fmla="*/ 0 w 96"/>
                  <a:gd name="T7" fmla="*/ 0 h 1"/>
                  <a:gd name="T8" fmla="*/ 96 w 96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1">
                    <a:moveTo>
                      <a:pt x="96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142596" name="Group 103"/>
              <p:cNvGrpSpPr/>
              <p:nvPr/>
            </p:nvGrpSpPr>
            <p:grpSpPr bwMode="auto">
              <a:xfrm>
                <a:off x="5235" y="2634"/>
                <a:ext cx="192" cy="158"/>
                <a:chOff x="5259" y="2634"/>
                <a:chExt cx="192" cy="158"/>
              </a:xfrm>
            </p:grpSpPr>
            <p:grpSp>
              <p:nvGrpSpPr>
                <p:cNvPr id="142729" name="Group 104"/>
                <p:cNvGrpSpPr/>
                <p:nvPr/>
              </p:nvGrpSpPr>
              <p:grpSpPr bwMode="auto">
                <a:xfrm>
                  <a:off x="5403" y="2634"/>
                  <a:ext cx="48" cy="158"/>
                  <a:chOff x="5403" y="2634"/>
                  <a:chExt cx="48" cy="158"/>
                </a:xfrm>
              </p:grpSpPr>
              <p:sp>
                <p:nvSpPr>
                  <p:cNvPr id="142734" name="Line 105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72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2735" name="Line 106"/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5355" y="2711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42730" name="Freeform 107"/>
                <p:cNvSpPr/>
                <p:nvPr/>
              </p:nvSpPr>
              <p:spPr bwMode="auto">
                <a:xfrm>
                  <a:off x="5307" y="2710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42731" name="Group 108"/>
                <p:cNvGrpSpPr/>
                <p:nvPr/>
              </p:nvGrpSpPr>
              <p:grpSpPr bwMode="auto">
                <a:xfrm>
                  <a:off x="5259" y="2634"/>
                  <a:ext cx="48" cy="158"/>
                  <a:chOff x="5259" y="2634"/>
                  <a:chExt cx="48" cy="158"/>
                </a:xfrm>
              </p:grpSpPr>
              <p:sp>
                <p:nvSpPr>
                  <p:cNvPr id="142732" name="Line 109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180" y="2713"/>
                    <a:ext cx="1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2733" name="Line 110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5259" y="2715"/>
                    <a:ext cx="9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142597" name="Freeform 111"/>
              <p:cNvSpPr/>
              <p:nvPr/>
            </p:nvSpPr>
            <p:spPr bwMode="auto">
              <a:xfrm>
                <a:off x="5467" y="2351"/>
                <a:ext cx="96" cy="2"/>
              </a:xfrm>
              <a:custGeom>
                <a:avLst/>
                <a:gdLst>
                  <a:gd name="T0" fmla="*/ 0 w 96"/>
                  <a:gd name="T1" fmla="*/ 0 h 2"/>
                  <a:gd name="T2" fmla="*/ 96 w 96"/>
                  <a:gd name="T3" fmla="*/ 2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0"/>
                    </a:moveTo>
                    <a:lnTo>
                      <a:pt x="96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598" name="Freeform 112"/>
              <p:cNvSpPr/>
              <p:nvPr/>
            </p:nvSpPr>
            <p:spPr bwMode="auto">
              <a:xfrm>
                <a:off x="5078" y="2353"/>
                <a:ext cx="101" cy="1"/>
              </a:xfrm>
              <a:custGeom>
                <a:avLst/>
                <a:gdLst>
                  <a:gd name="T0" fmla="*/ 101 w 101"/>
                  <a:gd name="T1" fmla="*/ 0 h 1"/>
                  <a:gd name="T2" fmla="*/ 0 w 101"/>
                  <a:gd name="T3" fmla="*/ 0 h 1"/>
                  <a:gd name="T4" fmla="*/ 0 60000 65536"/>
                  <a:gd name="T5" fmla="*/ 0 60000 65536"/>
                  <a:gd name="T6" fmla="*/ 0 w 101"/>
                  <a:gd name="T7" fmla="*/ 0 h 1"/>
                  <a:gd name="T8" fmla="*/ 101 w 101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1" h="1">
                    <a:moveTo>
                      <a:pt x="101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599" name="Freeform 113"/>
              <p:cNvSpPr/>
              <p:nvPr/>
            </p:nvSpPr>
            <p:spPr bwMode="auto">
              <a:xfrm>
                <a:off x="908" y="856"/>
                <a:ext cx="4419" cy="1"/>
              </a:xfrm>
              <a:custGeom>
                <a:avLst/>
                <a:gdLst>
                  <a:gd name="T0" fmla="*/ 0 w 4419"/>
                  <a:gd name="T1" fmla="*/ 1 h 1"/>
                  <a:gd name="T2" fmla="*/ 4419 w 4419"/>
                  <a:gd name="T3" fmla="*/ 0 h 1"/>
                  <a:gd name="T4" fmla="*/ 0 60000 65536"/>
                  <a:gd name="T5" fmla="*/ 0 60000 65536"/>
                  <a:gd name="T6" fmla="*/ 0 w 4419"/>
                  <a:gd name="T7" fmla="*/ 0 h 1"/>
                  <a:gd name="T8" fmla="*/ 4419 w 441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9" h="1">
                    <a:moveTo>
                      <a:pt x="0" y="1"/>
                    </a:moveTo>
                    <a:lnTo>
                      <a:pt x="4419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00" name="Line 114"/>
              <p:cNvSpPr>
                <a:spLocks noChangeShapeType="1"/>
              </p:cNvSpPr>
              <p:nvPr/>
            </p:nvSpPr>
            <p:spPr bwMode="auto">
              <a:xfrm>
                <a:off x="129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01" name="Line 115"/>
              <p:cNvSpPr>
                <a:spLocks noChangeShapeType="1"/>
              </p:cNvSpPr>
              <p:nvPr/>
            </p:nvSpPr>
            <p:spPr bwMode="auto">
              <a:xfrm>
                <a:off x="186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02" name="Line 116"/>
              <p:cNvSpPr>
                <a:spLocks noChangeShapeType="1"/>
              </p:cNvSpPr>
              <p:nvPr/>
            </p:nvSpPr>
            <p:spPr bwMode="auto">
              <a:xfrm>
                <a:off x="244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03" name="Line 117"/>
              <p:cNvSpPr>
                <a:spLocks noChangeShapeType="1"/>
              </p:cNvSpPr>
              <p:nvPr/>
            </p:nvSpPr>
            <p:spPr bwMode="auto">
              <a:xfrm>
                <a:off x="3020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04" name="Line 118"/>
              <p:cNvSpPr>
                <a:spLocks noChangeShapeType="1"/>
              </p:cNvSpPr>
              <p:nvPr/>
            </p:nvSpPr>
            <p:spPr bwMode="auto">
              <a:xfrm>
                <a:off x="3596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05" name="Line 119"/>
              <p:cNvSpPr>
                <a:spLocks noChangeShapeType="1"/>
              </p:cNvSpPr>
              <p:nvPr/>
            </p:nvSpPr>
            <p:spPr bwMode="auto">
              <a:xfrm>
                <a:off x="4172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06" name="Line 120"/>
              <p:cNvSpPr>
                <a:spLocks noChangeShapeType="1"/>
              </p:cNvSpPr>
              <p:nvPr/>
            </p:nvSpPr>
            <p:spPr bwMode="auto">
              <a:xfrm>
                <a:off x="4748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07" name="Line 121"/>
              <p:cNvSpPr>
                <a:spLocks noChangeShapeType="1"/>
              </p:cNvSpPr>
              <p:nvPr/>
            </p:nvSpPr>
            <p:spPr bwMode="auto">
              <a:xfrm>
                <a:off x="5324" y="8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08" name="Freeform 122"/>
              <p:cNvSpPr/>
              <p:nvPr/>
            </p:nvSpPr>
            <p:spPr bwMode="auto">
              <a:xfrm>
                <a:off x="1305" y="2708"/>
                <a:ext cx="1" cy="166"/>
              </a:xfrm>
              <a:custGeom>
                <a:avLst/>
                <a:gdLst>
                  <a:gd name="T0" fmla="*/ 1 w 1"/>
                  <a:gd name="T1" fmla="*/ 0 h 166"/>
                  <a:gd name="T2" fmla="*/ 0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1" y="0"/>
                    </a:moveTo>
                    <a:lnTo>
                      <a:pt x="0" y="1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09" name="Freeform 123"/>
              <p:cNvSpPr/>
              <p:nvPr/>
            </p:nvSpPr>
            <p:spPr bwMode="auto">
              <a:xfrm>
                <a:off x="1880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7711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10" name="Freeform 124"/>
              <p:cNvSpPr/>
              <p:nvPr/>
            </p:nvSpPr>
            <p:spPr bwMode="auto">
              <a:xfrm>
                <a:off x="2454" y="2708"/>
                <a:ext cx="4" cy="166"/>
              </a:xfrm>
              <a:custGeom>
                <a:avLst/>
                <a:gdLst>
                  <a:gd name="T0" fmla="*/ 4 w 4"/>
                  <a:gd name="T1" fmla="*/ 0 h 166"/>
                  <a:gd name="T2" fmla="*/ 0 w 4"/>
                  <a:gd name="T3" fmla="*/ 166 h 166"/>
                  <a:gd name="T4" fmla="*/ 0 60000 65536"/>
                  <a:gd name="T5" fmla="*/ 0 60000 65536"/>
                  <a:gd name="T6" fmla="*/ 0 w 4"/>
                  <a:gd name="T7" fmla="*/ 0 h 166"/>
                  <a:gd name="T8" fmla="*/ 4 w 4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66">
                    <a:moveTo>
                      <a:pt x="4" y="0"/>
                    </a:moveTo>
                    <a:lnTo>
                      <a:pt x="0" y="1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11" name="Freeform 125"/>
              <p:cNvSpPr/>
              <p:nvPr/>
            </p:nvSpPr>
            <p:spPr bwMode="auto">
              <a:xfrm>
                <a:off x="3606" y="2708"/>
                <a:ext cx="2" cy="175"/>
              </a:xfrm>
              <a:custGeom>
                <a:avLst/>
                <a:gdLst>
                  <a:gd name="T0" fmla="*/ 2 w 2"/>
                  <a:gd name="T1" fmla="*/ 0 h 175"/>
                  <a:gd name="T2" fmla="*/ 0 w 2"/>
                  <a:gd name="T3" fmla="*/ 175 h 175"/>
                  <a:gd name="T4" fmla="*/ 0 60000 65536"/>
                  <a:gd name="T5" fmla="*/ 0 60000 65536"/>
                  <a:gd name="T6" fmla="*/ 0 w 2"/>
                  <a:gd name="T7" fmla="*/ 0 h 175"/>
                  <a:gd name="T8" fmla="*/ 2 w 2"/>
                  <a:gd name="T9" fmla="*/ 175 h 17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75">
                    <a:moveTo>
                      <a:pt x="2" y="0"/>
                    </a:moveTo>
                    <a:lnTo>
                      <a:pt x="0" y="17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12" name="Freeform 126"/>
              <p:cNvSpPr/>
              <p:nvPr/>
            </p:nvSpPr>
            <p:spPr bwMode="auto">
              <a:xfrm>
                <a:off x="4760" y="2697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  <a:gd name="T6" fmla="*/ 0 w 1"/>
                  <a:gd name="T7" fmla="*/ 0 h 176"/>
                  <a:gd name="T8" fmla="*/ 1 w 1"/>
                  <a:gd name="T9" fmla="*/ 176 h 17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13" name="Freeform 127"/>
              <p:cNvSpPr/>
              <p:nvPr/>
            </p:nvSpPr>
            <p:spPr bwMode="auto">
              <a:xfrm>
                <a:off x="908" y="1480"/>
                <a:ext cx="4422" cy="1"/>
              </a:xfrm>
              <a:custGeom>
                <a:avLst/>
                <a:gdLst>
                  <a:gd name="T0" fmla="*/ 0 w 4422"/>
                  <a:gd name="T1" fmla="*/ 1 h 1"/>
                  <a:gd name="T2" fmla="*/ 4422 w 4422"/>
                  <a:gd name="T3" fmla="*/ 0 h 1"/>
                  <a:gd name="T4" fmla="*/ 0 60000 65536"/>
                  <a:gd name="T5" fmla="*/ 0 60000 65536"/>
                  <a:gd name="T6" fmla="*/ 0 w 4422"/>
                  <a:gd name="T7" fmla="*/ 0 h 1"/>
                  <a:gd name="T8" fmla="*/ 4422 w 442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22" h="1">
                    <a:moveTo>
                      <a:pt x="0" y="1"/>
                    </a:moveTo>
                    <a:lnTo>
                      <a:pt x="4422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14" name="Line 128"/>
              <p:cNvSpPr>
                <a:spLocks noChangeShapeType="1"/>
              </p:cNvSpPr>
              <p:nvPr/>
            </p:nvSpPr>
            <p:spPr bwMode="auto">
              <a:xfrm>
                <a:off x="129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15" name="Line 129"/>
              <p:cNvSpPr>
                <a:spLocks noChangeShapeType="1"/>
              </p:cNvSpPr>
              <p:nvPr/>
            </p:nvSpPr>
            <p:spPr bwMode="auto">
              <a:xfrm>
                <a:off x="186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16" name="Line 130"/>
              <p:cNvSpPr>
                <a:spLocks noChangeShapeType="1"/>
              </p:cNvSpPr>
              <p:nvPr/>
            </p:nvSpPr>
            <p:spPr bwMode="auto">
              <a:xfrm>
                <a:off x="244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17" name="Line 131"/>
              <p:cNvSpPr>
                <a:spLocks noChangeShapeType="1"/>
              </p:cNvSpPr>
              <p:nvPr/>
            </p:nvSpPr>
            <p:spPr bwMode="auto">
              <a:xfrm>
                <a:off x="3020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18" name="Line 132"/>
              <p:cNvSpPr>
                <a:spLocks noChangeShapeType="1"/>
              </p:cNvSpPr>
              <p:nvPr/>
            </p:nvSpPr>
            <p:spPr bwMode="auto">
              <a:xfrm>
                <a:off x="3596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19" name="Line 133"/>
              <p:cNvSpPr>
                <a:spLocks noChangeShapeType="1"/>
              </p:cNvSpPr>
              <p:nvPr/>
            </p:nvSpPr>
            <p:spPr bwMode="auto">
              <a:xfrm>
                <a:off x="4172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20" name="Line 134"/>
              <p:cNvSpPr>
                <a:spLocks noChangeShapeType="1"/>
              </p:cNvSpPr>
              <p:nvPr/>
            </p:nvSpPr>
            <p:spPr bwMode="auto">
              <a:xfrm>
                <a:off x="4748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21" name="Line 135"/>
              <p:cNvSpPr>
                <a:spLocks noChangeShapeType="1"/>
              </p:cNvSpPr>
              <p:nvPr/>
            </p:nvSpPr>
            <p:spPr bwMode="auto">
              <a:xfrm>
                <a:off x="5324" y="14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22" name="Freeform 136"/>
              <p:cNvSpPr/>
              <p:nvPr/>
            </p:nvSpPr>
            <p:spPr bwMode="auto">
              <a:xfrm>
                <a:off x="908" y="2056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  <a:gd name="T6" fmla="*/ 0 w 4418"/>
                  <a:gd name="T7" fmla="*/ 0 h 1"/>
                  <a:gd name="T8" fmla="*/ 4418 w 441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23" name="Line 137"/>
              <p:cNvSpPr>
                <a:spLocks noChangeShapeType="1"/>
              </p:cNvSpPr>
              <p:nvPr/>
            </p:nvSpPr>
            <p:spPr bwMode="auto">
              <a:xfrm>
                <a:off x="129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24" name="Line 138"/>
              <p:cNvSpPr>
                <a:spLocks noChangeShapeType="1"/>
              </p:cNvSpPr>
              <p:nvPr/>
            </p:nvSpPr>
            <p:spPr bwMode="auto">
              <a:xfrm>
                <a:off x="186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25" name="Line 139"/>
              <p:cNvSpPr>
                <a:spLocks noChangeShapeType="1"/>
              </p:cNvSpPr>
              <p:nvPr/>
            </p:nvSpPr>
            <p:spPr bwMode="auto">
              <a:xfrm>
                <a:off x="244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26" name="Line 140"/>
              <p:cNvSpPr>
                <a:spLocks noChangeShapeType="1"/>
              </p:cNvSpPr>
              <p:nvPr/>
            </p:nvSpPr>
            <p:spPr bwMode="auto">
              <a:xfrm>
                <a:off x="3020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27" name="Line 141"/>
              <p:cNvSpPr>
                <a:spLocks noChangeShapeType="1"/>
              </p:cNvSpPr>
              <p:nvPr/>
            </p:nvSpPr>
            <p:spPr bwMode="auto">
              <a:xfrm>
                <a:off x="3596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28" name="Line 142"/>
              <p:cNvSpPr>
                <a:spLocks noChangeShapeType="1"/>
              </p:cNvSpPr>
              <p:nvPr/>
            </p:nvSpPr>
            <p:spPr bwMode="auto">
              <a:xfrm>
                <a:off x="4172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29" name="Line 143"/>
              <p:cNvSpPr>
                <a:spLocks noChangeShapeType="1"/>
              </p:cNvSpPr>
              <p:nvPr/>
            </p:nvSpPr>
            <p:spPr bwMode="auto">
              <a:xfrm>
                <a:off x="4748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30" name="Line 144"/>
              <p:cNvSpPr>
                <a:spLocks noChangeShapeType="1"/>
              </p:cNvSpPr>
              <p:nvPr/>
            </p:nvSpPr>
            <p:spPr bwMode="auto">
              <a:xfrm>
                <a:off x="5324" y="2057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31" name="Freeform 145"/>
              <p:cNvSpPr/>
              <p:nvPr/>
            </p:nvSpPr>
            <p:spPr bwMode="auto">
              <a:xfrm>
                <a:off x="909" y="2879"/>
                <a:ext cx="3860" cy="1"/>
              </a:xfrm>
              <a:custGeom>
                <a:avLst/>
                <a:gdLst>
                  <a:gd name="T0" fmla="*/ 0 w 3860"/>
                  <a:gd name="T1" fmla="*/ 1 h 1"/>
                  <a:gd name="T2" fmla="*/ 3860 w 3860"/>
                  <a:gd name="T3" fmla="*/ 0 h 1"/>
                  <a:gd name="T4" fmla="*/ 0 60000 65536"/>
                  <a:gd name="T5" fmla="*/ 0 60000 65536"/>
                  <a:gd name="T6" fmla="*/ 0 w 3860"/>
                  <a:gd name="T7" fmla="*/ 0 h 1"/>
                  <a:gd name="T8" fmla="*/ 3860 w 386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60" h="1">
                    <a:moveTo>
                      <a:pt x="0" y="1"/>
                    </a:moveTo>
                    <a:lnTo>
                      <a:pt x="386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32" name="Freeform 146"/>
              <p:cNvSpPr/>
              <p:nvPr/>
            </p:nvSpPr>
            <p:spPr bwMode="auto">
              <a:xfrm>
                <a:off x="912" y="3209"/>
                <a:ext cx="4418" cy="1"/>
              </a:xfrm>
              <a:custGeom>
                <a:avLst/>
                <a:gdLst>
                  <a:gd name="T0" fmla="*/ 0 w 4418"/>
                  <a:gd name="T1" fmla="*/ 1 h 1"/>
                  <a:gd name="T2" fmla="*/ 4418 w 4418"/>
                  <a:gd name="T3" fmla="*/ 0 h 1"/>
                  <a:gd name="T4" fmla="*/ 0 60000 65536"/>
                  <a:gd name="T5" fmla="*/ 0 60000 65536"/>
                  <a:gd name="T6" fmla="*/ 0 w 4418"/>
                  <a:gd name="T7" fmla="*/ 0 h 1"/>
                  <a:gd name="T8" fmla="*/ 4418 w 441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18" h="1">
                    <a:moveTo>
                      <a:pt x="0" y="1"/>
                    </a:moveTo>
                    <a:lnTo>
                      <a:pt x="4418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33" name="Rectangle 147"/>
              <p:cNvSpPr>
                <a:spLocks noChangeArrowheads="1"/>
              </p:cNvSpPr>
              <p:nvPr/>
            </p:nvSpPr>
            <p:spPr bwMode="auto">
              <a:xfrm>
                <a:off x="114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2634" name="Text Box 148"/>
              <p:cNvSpPr txBox="1">
                <a:spLocks noChangeArrowheads="1"/>
              </p:cNvSpPr>
              <p:nvPr/>
            </p:nvSpPr>
            <p:spPr bwMode="auto">
              <a:xfrm>
                <a:off x="1172" y="3576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  <p:sp>
            <p:nvSpPr>
              <p:cNvPr id="142635" name="Freeform 149"/>
              <p:cNvSpPr/>
              <p:nvPr/>
            </p:nvSpPr>
            <p:spPr bwMode="auto">
              <a:xfrm>
                <a:off x="1402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5"/>
                  <a:gd name="T13" fmla="*/ 0 h 1466"/>
                  <a:gd name="T14" fmla="*/ 145 w 145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36" name="Freeform 150"/>
              <p:cNvSpPr/>
              <p:nvPr/>
            </p:nvSpPr>
            <p:spPr bwMode="auto">
              <a:xfrm>
                <a:off x="1613" y="1211"/>
                <a:ext cx="169" cy="1469"/>
              </a:xfrm>
              <a:custGeom>
                <a:avLst/>
                <a:gdLst>
                  <a:gd name="T0" fmla="*/ 169 w 169"/>
                  <a:gd name="T1" fmla="*/ 1468 h 1469"/>
                  <a:gd name="T2" fmla="*/ 0 w 169"/>
                  <a:gd name="T3" fmla="*/ 1469 h 1469"/>
                  <a:gd name="T4" fmla="*/ 1 w 169"/>
                  <a:gd name="T5" fmla="*/ 0 h 1469"/>
                  <a:gd name="T6" fmla="*/ 105 w 16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9"/>
                  <a:gd name="T13" fmla="*/ 0 h 1469"/>
                  <a:gd name="T14" fmla="*/ 169 w 169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9" h="1469">
                    <a:moveTo>
                      <a:pt x="169" y="1468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37" name="Freeform 151"/>
              <p:cNvSpPr/>
              <p:nvPr/>
            </p:nvSpPr>
            <p:spPr bwMode="auto">
              <a:xfrm>
                <a:off x="1967" y="1211"/>
                <a:ext cx="141" cy="1466"/>
              </a:xfrm>
              <a:custGeom>
                <a:avLst/>
                <a:gdLst>
                  <a:gd name="T0" fmla="*/ 38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1"/>
                  <a:gd name="T13" fmla="*/ 0 h 1466"/>
                  <a:gd name="T14" fmla="*/ 141 w 141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1" h="1466">
                    <a:moveTo>
                      <a:pt x="38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38" name="Freeform 152"/>
              <p:cNvSpPr/>
              <p:nvPr/>
            </p:nvSpPr>
            <p:spPr bwMode="auto">
              <a:xfrm>
                <a:off x="2208" y="1211"/>
                <a:ext cx="155" cy="1467"/>
              </a:xfrm>
              <a:custGeom>
                <a:avLst/>
                <a:gdLst>
                  <a:gd name="T0" fmla="*/ 155 w 155"/>
                  <a:gd name="T1" fmla="*/ 1467 h 1467"/>
                  <a:gd name="T2" fmla="*/ 3 w 155"/>
                  <a:gd name="T3" fmla="*/ 1467 h 1467"/>
                  <a:gd name="T4" fmla="*/ 0 w 155"/>
                  <a:gd name="T5" fmla="*/ 1 h 1467"/>
                  <a:gd name="T6" fmla="*/ 89 w 155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5"/>
                  <a:gd name="T13" fmla="*/ 0 h 1467"/>
                  <a:gd name="T14" fmla="*/ 155 w 155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5" h="1467">
                    <a:moveTo>
                      <a:pt x="155" y="1467"/>
                    </a:moveTo>
                    <a:lnTo>
                      <a:pt x="3" y="1467"/>
                    </a:lnTo>
                    <a:lnTo>
                      <a:pt x="0" y="1"/>
                    </a:lnTo>
                    <a:lnTo>
                      <a:pt x="89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39" name="Freeform 153"/>
              <p:cNvSpPr/>
              <p:nvPr/>
            </p:nvSpPr>
            <p:spPr bwMode="auto">
              <a:xfrm>
                <a:off x="2557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4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2"/>
                  <a:gd name="T13" fmla="*/ 0 h 1466"/>
                  <a:gd name="T14" fmla="*/ 142 w 142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4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40" name="Freeform 154"/>
              <p:cNvSpPr/>
              <p:nvPr/>
            </p:nvSpPr>
            <p:spPr bwMode="auto">
              <a:xfrm>
                <a:off x="2787" y="1211"/>
                <a:ext cx="152" cy="1467"/>
              </a:xfrm>
              <a:custGeom>
                <a:avLst/>
                <a:gdLst>
                  <a:gd name="T0" fmla="*/ 152 w 152"/>
                  <a:gd name="T1" fmla="*/ 1467 h 1467"/>
                  <a:gd name="T2" fmla="*/ 0 w 152"/>
                  <a:gd name="T3" fmla="*/ 1467 h 1467"/>
                  <a:gd name="T4" fmla="*/ 0 w 152"/>
                  <a:gd name="T5" fmla="*/ 1 h 1467"/>
                  <a:gd name="T6" fmla="*/ 77 w 152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7"/>
                  <a:gd name="T14" fmla="*/ 152 w 152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7">
                    <a:moveTo>
                      <a:pt x="152" y="1467"/>
                    </a:moveTo>
                    <a:lnTo>
                      <a:pt x="0" y="1467"/>
                    </a:lnTo>
                    <a:lnTo>
                      <a:pt x="0" y="1"/>
                    </a:lnTo>
                    <a:lnTo>
                      <a:pt x="7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41" name="Freeform 155"/>
              <p:cNvSpPr/>
              <p:nvPr/>
            </p:nvSpPr>
            <p:spPr bwMode="auto">
              <a:xfrm>
                <a:off x="3130" y="1211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5"/>
                  <a:gd name="T13" fmla="*/ 0 h 1466"/>
                  <a:gd name="T14" fmla="*/ 145 w 145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42" name="Freeform 156"/>
              <p:cNvSpPr/>
              <p:nvPr/>
            </p:nvSpPr>
            <p:spPr bwMode="auto">
              <a:xfrm>
                <a:off x="3360" y="1209"/>
                <a:ext cx="155" cy="1469"/>
              </a:xfrm>
              <a:custGeom>
                <a:avLst/>
                <a:gdLst>
                  <a:gd name="T0" fmla="*/ 155 w 155"/>
                  <a:gd name="T1" fmla="*/ 1469 h 1469"/>
                  <a:gd name="T2" fmla="*/ 3 w 155"/>
                  <a:gd name="T3" fmla="*/ 1469 h 1469"/>
                  <a:gd name="T4" fmla="*/ 0 w 155"/>
                  <a:gd name="T5" fmla="*/ 0 h 1469"/>
                  <a:gd name="T6" fmla="*/ 103 w 155"/>
                  <a:gd name="T7" fmla="*/ 2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5"/>
                  <a:gd name="T13" fmla="*/ 0 h 1469"/>
                  <a:gd name="T14" fmla="*/ 155 w 155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5" h="1469">
                    <a:moveTo>
                      <a:pt x="155" y="1469"/>
                    </a:moveTo>
                    <a:lnTo>
                      <a:pt x="3" y="1469"/>
                    </a:lnTo>
                    <a:lnTo>
                      <a:pt x="0" y="0"/>
                    </a:lnTo>
                    <a:lnTo>
                      <a:pt x="103" y="2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43" name="Freeform 157"/>
              <p:cNvSpPr/>
              <p:nvPr/>
            </p:nvSpPr>
            <p:spPr bwMode="auto">
              <a:xfrm>
                <a:off x="3710" y="1211"/>
                <a:ext cx="141" cy="1466"/>
              </a:xfrm>
              <a:custGeom>
                <a:avLst/>
                <a:gdLst>
                  <a:gd name="T0" fmla="*/ 42 w 141"/>
                  <a:gd name="T1" fmla="*/ 0 h 1466"/>
                  <a:gd name="T2" fmla="*/ 141 w 141"/>
                  <a:gd name="T3" fmla="*/ 0 h 1466"/>
                  <a:gd name="T4" fmla="*/ 140 w 141"/>
                  <a:gd name="T5" fmla="*/ 1466 h 1466"/>
                  <a:gd name="T6" fmla="*/ 0 w 141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1"/>
                  <a:gd name="T13" fmla="*/ 0 h 1466"/>
                  <a:gd name="T14" fmla="*/ 141 w 141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1" h="1466">
                    <a:moveTo>
                      <a:pt x="42" y="0"/>
                    </a:moveTo>
                    <a:lnTo>
                      <a:pt x="141" y="0"/>
                    </a:lnTo>
                    <a:lnTo>
                      <a:pt x="140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44" name="Freeform 158"/>
              <p:cNvSpPr/>
              <p:nvPr/>
            </p:nvSpPr>
            <p:spPr bwMode="auto">
              <a:xfrm>
                <a:off x="3939" y="1211"/>
                <a:ext cx="152" cy="1467"/>
              </a:xfrm>
              <a:custGeom>
                <a:avLst/>
                <a:gdLst>
                  <a:gd name="T0" fmla="*/ 152 w 152"/>
                  <a:gd name="T1" fmla="*/ 1467 h 1467"/>
                  <a:gd name="T2" fmla="*/ 0 w 152"/>
                  <a:gd name="T3" fmla="*/ 1467 h 1467"/>
                  <a:gd name="T4" fmla="*/ 0 w 152"/>
                  <a:gd name="T5" fmla="*/ 1 h 1467"/>
                  <a:gd name="T6" fmla="*/ 103 w 152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467"/>
                  <a:gd name="T14" fmla="*/ 152 w 152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467">
                    <a:moveTo>
                      <a:pt x="152" y="1467"/>
                    </a:moveTo>
                    <a:lnTo>
                      <a:pt x="0" y="1467"/>
                    </a:lnTo>
                    <a:lnTo>
                      <a:pt x="0" y="1"/>
                    </a:lnTo>
                    <a:lnTo>
                      <a:pt x="103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45" name="Freeform 159"/>
              <p:cNvSpPr/>
              <p:nvPr/>
            </p:nvSpPr>
            <p:spPr bwMode="auto">
              <a:xfrm>
                <a:off x="4280" y="1211"/>
                <a:ext cx="147" cy="1466"/>
              </a:xfrm>
              <a:custGeom>
                <a:avLst/>
                <a:gdLst>
                  <a:gd name="T0" fmla="*/ 51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466"/>
                  <a:gd name="T14" fmla="*/ 147 w 147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466">
                    <a:moveTo>
                      <a:pt x="51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46" name="Freeform 160"/>
              <p:cNvSpPr/>
              <p:nvPr/>
            </p:nvSpPr>
            <p:spPr bwMode="auto">
              <a:xfrm>
                <a:off x="4509" y="1211"/>
                <a:ext cx="158" cy="1467"/>
              </a:xfrm>
              <a:custGeom>
                <a:avLst/>
                <a:gdLst>
                  <a:gd name="T0" fmla="*/ 158 w 158"/>
                  <a:gd name="T1" fmla="*/ 1467 h 1467"/>
                  <a:gd name="T2" fmla="*/ 0 w 158"/>
                  <a:gd name="T3" fmla="*/ 1467 h 1467"/>
                  <a:gd name="T4" fmla="*/ 0 w 158"/>
                  <a:gd name="T5" fmla="*/ 0 h 1467"/>
                  <a:gd name="T6" fmla="*/ 95 w 158"/>
                  <a:gd name="T7" fmla="*/ 0 h 14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467"/>
                  <a:gd name="T14" fmla="*/ 158 w 158"/>
                  <a:gd name="T15" fmla="*/ 1467 h 14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467">
                    <a:moveTo>
                      <a:pt x="158" y="1467"/>
                    </a:moveTo>
                    <a:lnTo>
                      <a:pt x="0" y="1467"/>
                    </a:lnTo>
                    <a:lnTo>
                      <a:pt x="0" y="0"/>
                    </a:lnTo>
                    <a:lnTo>
                      <a:pt x="95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47" name="Freeform 161"/>
              <p:cNvSpPr/>
              <p:nvPr/>
            </p:nvSpPr>
            <p:spPr bwMode="auto">
              <a:xfrm>
                <a:off x="4861" y="1211"/>
                <a:ext cx="142" cy="1466"/>
              </a:xfrm>
              <a:custGeom>
                <a:avLst/>
                <a:gdLst>
                  <a:gd name="T0" fmla="*/ 34 w 142"/>
                  <a:gd name="T1" fmla="*/ 0 h 1466"/>
                  <a:gd name="T2" fmla="*/ 142 w 142"/>
                  <a:gd name="T3" fmla="*/ 0 h 1466"/>
                  <a:gd name="T4" fmla="*/ 141 w 142"/>
                  <a:gd name="T5" fmla="*/ 1466 h 1466"/>
                  <a:gd name="T6" fmla="*/ 0 w 142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2"/>
                  <a:gd name="T13" fmla="*/ 0 h 1466"/>
                  <a:gd name="T14" fmla="*/ 142 w 142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2" h="1466">
                    <a:moveTo>
                      <a:pt x="34" y="0"/>
                    </a:moveTo>
                    <a:lnTo>
                      <a:pt x="142" y="0"/>
                    </a:lnTo>
                    <a:lnTo>
                      <a:pt x="141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48" name="Freeform 162"/>
              <p:cNvSpPr/>
              <p:nvPr/>
            </p:nvSpPr>
            <p:spPr bwMode="auto">
              <a:xfrm>
                <a:off x="5069" y="1211"/>
                <a:ext cx="159" cy="1469"/>
              </a:xfrm>
              <a:custGeom>
                <a:avLst/>
                <a:gdLst>
                  <a:gd name="T0" fmla="*/ 159 w 159"/>
                  <a:gd name="T1" fmla="*/ 1467 h 1469"/>
                  <a:gd name="T2" fmla="*/ 0 w 159"/>
                  <a:gd name="T3" fmla="*/ 1469 h 1469"/>
                  <a:gd name="T4" fmla="*/ 1 w 159"/>
                  <a:gd name="T5" fmla="*/ 0 h 1469"/>
                  <a:gd name="T6" fmla="*/ 104 w 159"/>
                  <a:gd name="T7" fmla="*/ 0 h 14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9"/>
                  <a:gd name="T13" fmla="*/ 0 h 1469"/>
                  <a:gd name="T14" fmla="*/ 159 w 159"/>
                  <a:gd name="T15" fmla="*/ 1469 h 14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9" h="1469">
                    <a:moveTo>
                      <a:pt x="159" y="1467"/>
                    </a:moveTo>
                    <a:lnTo>
                      <a:pt x="0" y="1469"/>
                    </a:lnTo>
                    <a:lnTo>
                      <a:pt x="1" y="0"/>
                    </a:lnTo>
                    <a:lnTo>
                      <a:pt x="104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49" name="Freeform 163"/>
              <p:cNvSpPr/>
              <p:nvPr/>
            </p:nvSpPr>
            <p:spPr bwMode="auto">
              <a:xfrm>
                <a:off x="5417" y="1211"/>
                <a:ext cx="147" cy="1466"/>
              </a:xfrm>
              <a:custGeom>
                <a:avLst/>
                <a:gdLst>
                  <a:gd name="T0" fmla="*/ 47 w 147"/>
                  <a:gd name="T1" fmla="*/ 0 h 1466"/>
                  <a:gd name="T2" fmla="*/ 147 w 147"/>
                  <a:gd name="T3" fmla="*/ 0 h 1466"/>
                  <a:gd name="T4" fmla="*/ 146 w 147"/>
                  <a:gd name="T5" fmla="*/ 1466 h 1466"/>
                  <a:gd name="T6" fmla="*/ 0 w 147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466"/>
                  <a:gd name="T14" fmla="*/ 147 w 147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466">
                    <a:moveTo>
                      <a:pt x="47" y="0"/>
                    </a:moveTo>
                    <a:lnTo>
                      <a:pt x="147" y="0"/>
                    </a:lnTo>
                    <a:lnTo>
                      <a:pt x="146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50" name="Freeform 164"/>
              <p:cNvSpPr/>
              <p:nvPr/>
            </p:nvSpPr>
            <p:spPr bwMode="auto">
              <a:xfrm>
                <a:off x="1055" y="2738"/>
                <a:ext cx="730" cy="660"/>
              </a:xfrm>
              <a:custGeom>
                <a:avLst/>
                <a:gdLst>
                  <a:gd name="T0" fmla="*/ 160 w 730"/>
                  <a:gd name="T1" fmla="*/ 4 h 660"/>
                  <a:gd name="T2" fmla="*/ 0 w 730"/>
                  <a:gd name="T3" fmla="*/ 3 h 660"/>
                  <a:gd name="T4" fmla="*/ 0 w 730"/>
                  <a:gd name="T5" fmla="*/ 660 h 660"/>
                  <a:gd name="T6" fmla="*/ 558 w 730"/>
                  <a:gd name="T7" fmla="*/ 657 h 660"/>
                  <a:gd name="T8" fmla="*/ 558 w 730"/>
                  <a:gd name="T9" fmla="*/ 0 h 660"/>
                  <a:gd name="T10" fmla="*/ 730 w 730"/>
                  <a:gd name="T11" fmla="*/ 1 h 6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30"/>
                  <a:gd name="T19" fmla="*/ 0 h 660"/>
                  <a:gd name="T20" fmla="*/ 730 w 730"/>
                  <a:gd name="T21" fmla="*/ 660 h 66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30" h="660">
                    <a:moveTo>
                      <a:pt x="160" y="4"/>
                    </a:moveTo>
                    <a:lnTo>
                      <a:pt x="0" y="3"/>
                    </a:lnTo>
                    <a:lnTo>
                      <a:pt x="0" y="660"/>
                    </a:lnTo>
                    <a:lnTo>
                      <a:pt x="558" y="657"/>
                    </a:lnTo>
                    <a:lnTo>
                      <a:pt x="558" y="0"/>
                    </a:lnTo>
                    <a:lnTo>
                      <a:pt x="730" y="1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51" name="Freeform 165"/>
              <p:cNvSpPr/>
              <p:nvPr/>
            </p:nvSpPr>
            <p:spPr bwMode="auto">
              <a:xfrm>
                <a:off x="2207" y="2744"/>
                <a:ext cx="729" cy="658"/>
              </a:xfrm>
              <a:custGeom>
                <a:avLst/>
                <a:gdLst>
                  <a:gd name="T0" fmla="*/ 153 w 729"/>
                  <a:gd name="T1" fmla="*/ 0 h 658"/>
                  <a:gd name="T2" fmla="*/ 0 w 729"/>
                  <a:gd name="T3" fmla="*/ 0 h 658"/>
                  <a:gd name="T4" fmla="*/ 0 w 729"/>
                  <a:gd name="T5" fmla="*/ 657 h 658"/>
                  <a:gd name="T6" fmla="*/ 583 w 729"/>
                  <a:gd name="T7" fmla="*/ 658 h 658"/>
                  <a:gd name="T8" fmla="*/ 582 w 729"/>
                  <a:gd name="T9" fmla="*/ 3 h 658"/>
                  <a:gd name="T10" fmla="*/ 729 w 729"/>
                  <a:gd name="T11" fmla="*/ 3 h 6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8"/>
                  <a:gd name="T20" fmla="*/ 729 w 729"/>
                  <a:gd name="T21" fmla="*/ 658 h 65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8">
                    <a:moveTo>
                      <a:pt x="153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83" y="658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52" name="Freeform 166"/>
              <p:cNvSpPr/>
              <p:nvPr/>
            </p:nvSpPr>
            <p:spPr bwMode="auto">
              <a:xfrm>
                <a:off x="3356" y="2744"/>
                <a:ext cx="729" cy="657"/>
              </a:xfrm>
              <a:custGeom>
                <a:avLst/>
                <a:gdLst>
                  <a:gd name="T0" fmla="*/ 158 w 729"/>
                  <a:gd name="T1" fmla="*/ 0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7"/>
                  <a:gd name="T20" fmla="*/ 729 w 729"/>
                  <a:gd name="T21" fmla="*/ 657 h 6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7">
                    <a:moveTo>
                      <a:pt x="158" y="0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53" name="Freeform 167"/>
              <p:cNvSpPr/>
              <p:nvPr/>
            </p:nvSpPr>
            <p:spPr bwMode="auto">
              <a:xfrm>
                <a:off x="4508" y="2744"/>
                <a:ext cx="729" cy="657"/>
              </a:xfrm>
              <a:custGeom>
                <a:avLst/>
                <a:gdLst>
                  <a:gd name="T0" fmla="*/ 161 w 729"/>
                  <a:gd name="T1" fmla="*/ 2 h 657"/>
                  <a:gd name="T2" fmla="*/ 0 w 729"/>
                  <a:gd name="T3" fmla="*/ 0 h 657"/>
                  <a:gd name="T4" fmla="*/ 0 w 729"/>
                  <a:gd name="T5" fmla="*/ 657 h 657"/>
                  <a:gd name="T6" fmla="*/ 579 w 729"/>
                  <a:gd name="T7" fmla="*/ 654 h 657"/>
                  <a:gd name="T8" fmla="*/ 582 w 729"/>
                  <a:gd name="T9" fmla="*/ 3 h 657"/>
                  <a:gd name="T10" fmla="*/ 729 w 729"/>
                  <a:gd name="T11" fmla="*/ 3 h 6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9"/>
                  <a:gd name="T19" fmla="*/ 0 h 657"/>
                  <a:gd name="T20" fmla="*/ 729 w 729"/>
                  <a:gd name="T21" fmla="*/ 657 h 6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9" h="657">
                    <a:moveTo>
                      <a:pt x="161" y="2"/>
                    </a:moveTo>
                    <a:lnTo>
                      <a:pt x="0" y="0"/>
                    </a:lnTo>
                    <a:lnTo>
                      <a:pt x="0" y="657"/>
                    </a:lnTo>
                    <a:lnTo>
                      <a:pt x="579" y="654"/>
                    </a:lnTo>
                    <a:lnTo>
                      <a:pt x="582" y="3"/>
                    </a:lnTo>
                    <a:lnTo>
                      <a:pt x="729" y="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54" name="Freeform 168"/>
              <p:cNvSpPr/>
              <p:nvPr/>
            </p:nvSpPr>
            <p:spPr bwMode="auto">
              <a:xfrm>
                <a:off x="1400" y="2735"/>
                <a:ext cx="708" cy="571"/>
              </a:xfrm>
              <a:custGeom>
                <a:avLst/>
                <a:gdLst>
                  <a:gd name="T0" fmla="*/ 0 w 708"/>
                  <a:gd name="T1" fmla="*/ 0 h 571"/>
                  <a:gd name="T2" fmla="*/ 132 w 708"/>
                  <a:gd name="T3" fmla="*/ 0 h 571"/>
                  <a:gd name="T4" fmla="*/ 133 w 708"/>
                  <a:gd name="T5" fmla="*/ 571 h 571"/>
                  <a:gd name="T6" fmla="*/ 708 w 708"/>
                  <a:gd name="T7" fmla="*/ 570 h 571"/>
                  <a:gd name="T8" fmla="*/ 708 w 708"/>
                  <a:gd name="T9" fmla="*/ 9 h 571"/>
                  <a:gd name="T10" fmla="*/ 573 w 708"/>
                  <a:gd name="T11" fmla="*/ 9 h 5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08"/>
                  <a:gd name="T19" fmla="*/ 0 h 571"/>
                  <a:gd name="T20" fmla="*/ 708 w 708"/>
                  <a:gd name="T21" fmla="*/ 571 h 57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08" h="571">
                    <a:moveTo>
                      <a:pt x="0" y="0"/>
                    </a:moveTo>
                    <a:lnTo>
                      <a:pt x="132" y="0"/>
                    </a:lnTo>
                    <a:lnTo>
                      <a:pt x="133" y="571"/>
                    </a:lnTo>
                    <a:lnTo>
                      <a:pt x="708" y="570"/>
                    </a:lnTo>
                    <a:lnTo>
                      <a:pt x="708" y="9"/>
                    </a:lnTo>
                    <a:lnTo>
                      <a:pt x="573" y="9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55" name="Freeform 169"/>
              <p:cNvSpPr/>
              <p:nvPr/>
            </p:nvSpPr>
            <p:spPr bwMode="auto">
              <a:xfrm>
                <a:off x="2552" y="2735"/>
                <a:ext cx="726" cy="567"/>
              </a:xfrm>
              <a:custGeom>
                <a:avLst/>
                <a:gdLst>
                  <a:gd name="T0" fmla="*/ 0 w 726"/>
                  <a:gd name="T1" fmla="*/ 0 h 567"/>
                  <a:gd name="T2" fmla="*/ 148 w 726"/>
                  <a:gd name="T3" fmla="*/ 1 h 567"/>
                  <a:gd name="T4" fmla="*/ 147 w 726"/>
                  <a:gd name="T5" fmla="*/ 567 h 567"/>
                  <a:gd name="T6" fmla="*/ 726 w 726"/>
                  <a:gd name="T7" fmla="*/ 567 h 567"/>
                  <a:gd name="T8" fmla="*/ 726 w 726"/>
                  <a:gd name="T9" fmla="*/ 6 h 567"/>
                  <a:gd name="T10" fmla="*/ 579 w 726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6"/>
                  <a:gd name="T19" fmla="*/ 0 h 567"/>
                  <a:gd name="T20" fmla="*/ 726 w 726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6" h="567">
                    <a:moveTo>
                      <a:pt x="0" y="0"/>
                    </a:moveTo>
                    <a:lnTo>
                      <a:pt x="148" y="1"/>
                    </a:lnTo>
                    <a:lnTo>
                      <a:pt x="147" y="567"/>
                    </a:lnTo>
                    <a:lnTo>
                      <a:pt x="726" y="567"/>
                    </a:lnTo>
                    <a:lnTo>
                      <a:pt x="726" y="6"/>
                    </a:lnTo>
                    <a:lnTo>
                      <a:pt x="579" y="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56" name="Freeform 170"/>
              <p:cNvSpPr/>
              <p:nvPr/>
            </p:nvSpPr>
            <p:spPr bwMode="auto">
              <a:xfrm>
                <a:off x="3704" y="2738"/>
                <a:ext cx="714" cy="567"/>
              </a:xfrm>
              <a:custGeom>
                <a:avLst/>
                <a:gdLst>
                  <a:gd name="T0" fmla="*/ 0 w 714"/>
                  <a:gd name="T1" fmla="*/ 0 h 567"/>
                  <a:gd name="T2" fmla="*/ 136 w 714"/>
                  <a:gd name="T3" fmla="*/ 1 h 567"/>
                  <a:gd name="T4" fmla="*/ 135 w 714"/>
                  <a:gd name="T5" fmla="*/ 567 h 567"/>
                  <a:gd name="T6" fmla="*/ 714 w 714"/>
                  <a:gd name="T7" fmla="*/ 567 h 567"/>
                  <a:gd name="T8" fmla="*/ 714 w 714"/>
                  <a:gd name="T9" fmla="*/ 6 h 567"/>
                  <a:gd name="T10" fmla="*/ 576 w 714"/>
                  <a:gd name="T11" fmla="*/ 5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14"/>
                  <a:gd name="T19" fmla="*/ 0 h 567"/>
                  <a:gd name="T20" fmla="*/ 714 w 714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14" h="567">
                    <a:moveTo>
                      <a:pt x="0" y="0"/>
                    </a:moveTo>
                    <a:lnTo>
                      <a:pt x="136" y="1"/>
                    </a:lnTo>
                    <a:lnTo>
                      <a:pt x="135" y="567"/>
                    </a:lnTo>
                    <a:lnTo>
                      <a:pt x="714" y="567"/>
                    </a:lnTo>
                    <a:lnTo>
                      <a:pt x="714" y="6"/>
                    </a:lnTo>
                    <a:lnTo>
                      <a:pt x="576" y="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57" name="Freeform 171"/>
              <p:cNvSpPr/>
              <p:nvPr/>
            </p:nvSpPr>
            <p:spPr bwMode="auto">
              <a:xfrm>
                <a:off x="4859" y="2738"/>
                <a:ext cx="711" cy="567"/>
              </a:xfrm>
              <a:custGeom>
                <a:avLst/>
                <a:gdLst>
                  <a:gd name="T0" fmla="*/ 0 w 711"/>
                  <a:gd name="T1" fmla="*/ 0 h 567"/>
                  <a:gd name="T2" fmla="*/ 130 w 711"/>
                  <a:gd name="T3" fmla="*/ 1 h 567"/>
                  <a:gd name="T4" fmla="*/ 132 w 711"/>
                  <a:gd name="T5" fmla="*/ 567 h 567"/>
                  <a:gd name="T6" fmla="*/ 711 w 711"/>
                  <a:gd name="T7" fmla="*/ 567 h 567"/>
                  <a:gd name="T8" fmla="*/ 711 w 711"/>
                  <a:gd name="T9" fmla="*/ 6 h 567"/>
                  <a:gd name="T10" fmla="*/ 564 w 711"/>
                  <a:gd name="T11" fmla="*/ 6 h 5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11"/>
                  <a:gd name="T19" fmla="*/ 0 h 567"/>
                  <a:gd name="T20" fmla="*/ 711 w 711"/>
                  <a:gd name="T21" fmla="*/ 567 h 56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11" h="567">
                    <a:moveTo>
                      <a:pt x="0" y="0"/>
                    </a:moveTo>
                    <a:lnTo>
                      <a:pt x="130" y="1"/>
                    </a:lnTo>
                    <a:lnTo>
                      <a:pt x="132" y="567"/>
                    </a:lnTo>
                    <a:lnTo>
                      <a:pt x="711" y="567"/>
                    </a:lnTo>
                    <a:lnTo>
                      <a:pt x="711" y="6"/>
                    </a:lnTo>
                    <a:lnTo>
                      <a:pt x="564" y="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58" name="Freeform 172"/>
              <p:cNvSpPr/>
              <p:nvPr/>
            </p:nvSpPr>
            <p:spPr bwMode="auto">
              <a:xfrm>
                <a:off x="1322" y="3398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59" name="Freeform 173"/>
              <p:cNvSpPr/>
              <p:nvPr/>
            </p:nvSpPr>
            <p:spPr bwMode="auto">
              <a:xfrm>
                <a:off x="2491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60" name="Freeform 174"/>
              <p:cNvSpPr/>
              <p:nvPr/>
            </p:nvSpPr>
            <p:spPr bwMode="auto">
              <a:xfrm>
                <a:off x="3643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61" name="Freeform 175"/>
              <p:cNvSpPr/>
              <p:nvPr/>
            </p:nvSpPr>
            <p:spPr bwMode="auto">
              <a:xfrm>
                <a:off x="4795" y="3401"/>
                <a:ext cx="1" cy="150"/>
              </a:xfrm>
              <a:custGeom>
                <a:avLst/>
                <a:gdLst>
                  <a:gd name="T0" fmla="*/ 0 w 1"/>
                  <a:gd name="T1" fmla="*/ 0 h 150"/>
                  <a:gd name="T2" fmla="*/ 0 w 1"/>
                  <a:gd name="T3" fmla="*/ 150 h 150"/>
                  <a:gd name="T4" fmla="*/ 0 60000 65536"/>
                  <a:gd name="T5" fmla="*/ 0 60000 65536"/>
                  <a:gd name="T6" fmla="*/ 0 w 1"/>
                  <a:gd name="T7" fmla="*/ 0 h 150"/>
                  <a:gd name="T8" fmla="*/ 1 w 1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0">
                    <a:moveTo>
                      <a:pt x="0" y="0"/>
                    </a:moveTo>
                    <a:lnTo>
                      <a:pt x="0" y="15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62" name="Freeform 176"/>
              <p:cNvSpPr/>
              <p:nvPr/>
            </p:nvSpPr>
            <p:spPr bwMode="auto">
              <a:xfrm>
                <a:off x="5276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63" name="Freeform 177"/>
              <p:cNvSpPr/>
              <p:nvPr/>
            </p:nvSpPr>
            <p:spPr bwMode="auto">
              <a:xfrm>
                <a:off x="4124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64" name="Freeform 178"/>
              <p:cNvSpPr/>
              <p:nvPr/>
            </p:nvSpPr>
            <p:spPr bwMode="auto">
              <a:xfrm>
                <a:off x="2972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65" name="Freeform 179"/>
              <p:cNvSpPr/>
              <p:nvPr/>
            </p:nvSpPr>
            <p:spPr bwMode="auto">
              <a:xfrm>
                <a:off x="1819" y="3305"/>
                <a:ext cx="1" cy="246"/>
              </a:xfrm>
              <a:custGeom>
                <a:avLst/>
                <a:gdLst>
                  <a:gd name="T0" fmla="*/ 0 w 1"/>
                  <a:gd name="T1" fmla="*/ 0 h 246"/>
                  <a:gd name="T2" fmla="*/ 0 w 1"/>
                  <a:gd name="T3" fmla="*/ 246 h 246"/>
                  <a:gd name="T4" fmla="*/ 0 60000 65536"/>
                  <a:gd name="T5" fmla="*/ 0 60000 65536"/>
                  <a:gd name="T6" fmla="*/ 0 w 1"/>
                  <a:gd name="T7" fmla="*/ 0 h 246"/>
                  <a:gd name="T8" fmla="*/ 1 w 1"/>
                  <a:gd name="T9" fmla="*/ 246 h 24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6">
                    <a:moveTo>
                      <a:pt x="0" y="0"/>
                    </a:moveTo>
                    <a:lnTo>
                      <a:pt x="0" y="24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66" name="Freeform 180"/>
              <p:cNvSpPr/>
              <p:nvPr/>
            </p:nvSpPr>
            <p:spPr bwMode="auto">
              <a:xfrm>
                <a:off x="956" y="4025"/>
                <a:ext cx="4317" cy="1"/>
              </a:xfrm>
              <a:custGeom>
                <a:avLst/>
                <a:gdLst>
                  <a:gd name="T0" fmla="*/ 0 w 4317"/>
                  <a:gd name="T1" fmla="*/ 0 h 1"/>
                  <a:gd name="T2" fmla="*/ 4317 w 4317"/>
                  <a:gd name="T3" fmla="*/ 0 h 1"/>
                  <a:gd name="T4" fmla="*/ 0 60000 65536"/>
                  <a:gd name="T5" fmla="*/ 0 60000 65536"/>
                  <a:gd name="T6" fmla="*/ 0 w 4317"/>
                  <a:gd name="T7" fmla="*/ 0 h 1"/>
                  <a:gd name="T8" fmla="*/ 4317 w 431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317" h="1">
                    <a:moveTo>
                      <a:pt x="0" y="0"/>
                    </a:moveTo>
                    <a:lnTo>
                      <a:pt x="431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67" name="Freeform 181"/>
              <p:cNvSpPr/>
              <p:nvPr/>
            </p:nvSpPr>
            <p:spPr bwMode="auto">
              <a:xfrm>
                <a:off x="956" y="4121"/>
                <a:ext cx="3837" cy="1"/>
              </a:xfrm>
              <a:custGeom>
                <a:avLst/>
                <a:gdLst>
                  <a:gd name="T0" fmla="*/ 0 w 3837"/>
                  <a:gd name="T1" fmla="*/ 0 h 1"/>
                  <a:gd name="T2" fmla="*/ 3837 w 3837"/>
                  <a:gd name="T3" fmla="*/ 0 h 1"/>
                  <a:gd name="T4" fmla="*/ 0 60000 65536"/>
                  <a:gd name="T5" fmla="*/ 0 60000 65536"/>
                  <a:gd name="T6" fmla="*/ 0 w 3837"/>
                  <a:gd name="T7" fmla="*/ 0 h 1"/>
                  <a:gd name="T8" fmla="*/ 3837 w 383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37" h="1">
                    <a:moveTo>
                      <a:pt x="0" y="0"/>
                    </a:moveTo>
                    <a:lnTo>
                      <a:pt x="3837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68" name="Freeform 182"/>
              <p:cNvSpPr/>
              <p:nvPr/>
            </p:nvSpPr>
            <p:spPr bwMode="auto">
              <a:xfrm>
                <a:off x="1322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69" name="Freeform 183"/>
              <p:cNvSpPr/>
              <p:nvPr/>
            </p:nvSpPr>
            <p:spPr bwMode="auto">
              <a:xfrm>
                <a:off x="2491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70" name="Freeform 184"/>
              <p:cNvSpPr/>
              <p:nvPr/>
            </p:nvSpPr>
            <p:spPr bwMode="auto">
              <a:xfrm>
                <a:off x="3643" y="3881"/>
                <a:ext cx="1" cy="243"/>
              </a:xfrm>
              <a:custGeom>
                <a:avLst/>
                <a:gdLst>
                  <a:gd name="T0" fmla="*/ 0 w 1"/>
                  <a:gd name="T1" fmla="*/ 0 h 243"/>
                  <a:gd name="T2" fmla="*/ 0 w 1"/>
                  <a:gd name="T3" fmla="*/ 243 h 243"/>
                  <a:gd name="T4" fmla="*/ 0 60000 65536"/>
                  <a:gd name="T5" fmla="*/ 0 60000 65536"/>
                  <a:gd name="T6" fmla="*/ 0 w 1"/>
                  <a:gd name="T7" fmla="*/ 0 h 243"/>
                  <a:gd name="T8" fmla="*/ 1 w 1"/>
                  <a:gd name="T9" fmla="*/ 243 h 2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43">
                    <a:moveTo>
                      <a:pt x="0" y="0"/>
                    </a:moveTo>
                    <a:lnTo>
                      <a:pt x="0" y="243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71" name="Freeform 185"/>
              <p:cNvSpPr/>
              <p:nvPr/>
            </p:nvSpPr>
            <p:spPr bwMode="auto">
              <a:xfrm>
                <a:off x="4791" y="3881"/>
                <a:ext cx="4" cy="247"/>
              </a:xfrm>
              <a:custGeom>
                <a:avLst/>
                <a:gdLst>
                  <a:gd name="T0" fmla="*/ 4 w 4"/>
                  <a:gd name="T1" fmla="*/ 0 h 247"/>
                  <a:gd name="T2" fmla="*/ 0 w 4"/>
                  <a:gd name="T3" fmla="*/ 247 h 247"/>
                  <a:gd name="T4" fmla="*/ 0 60000 65536"/>
                  <a:gd name="T5" fmla="*/ 0 60000 65536"/>
                  <a:gd name="T6" fmla="*/ 0 w 4"/>
                  <a:gd name="T7" fmla="*/ 0 h 247"/>
                  <a:gd name="T8" fmla="*/ 4 w 4"/>
                  <a:gd name="T9" fmla="*/ 247 h 24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47">
                    <a:moveTo>
                      <a:pt x="4" y="0"/>
                    </a:moveTo>
                    <a:lnTo>
                      <a:pt x="0" y="247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72" name="Freeform 186"/>
              <p:cNvSpPr/>
              <p:nvPr/>
            </p:nvSpPr>
            <p:spPr bwMode="auto">
              <a:xfrm>
                <a:off x="5277" y="3881"/>
                <a:ext cx="1" cy="151"/>
              </a:xfrm>
              <a:custGeom>
                <a:avLst/>
                <a:gdLst>
                  <a:gd name="T0" fmla="*/ 0 w 1"/>
                  <a:gd name="T1" fmla="*/ 0 h 151"/>
                  <a:gd name="T2" fmla="*/ 0 w 1"/>
                  <a:gd name="T3" fmla="*/ 151 h 151"/>
                  <a:gd name="T4" fmla="*/ 0 60000 65536"/>
                  <a:gd name="T5" fmla="*/ 0 60000 65536"/>
                  <a:gd name="T6" fmla="*/ 0 w 1"/>
                  <a:gd name="T7" fmla="*/ 0 h 151"/>
                  <a:gd name="T8" fmla="*/ 1 w 1"/>
                  <a:gd name="T9" fmla="*/ 151 h 15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51">
                    <a:moveTo>
                      <a:pt x="0" y="0"/>
                    </a:moveTo>
                    <a:lnTo>
                      <a:pt x="0" y="151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73" name="Line 187"/>
              <p:cNvSpPr>
                <a:spLocks noChangeShapeType="1"/>
              </p:cNvSpPr>
              <p:nvPr/>
            </p:nvSpPr>
            <p:spPr bwMode="auto">
              <a:xfrm>
                <a:off x="4124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74" name="Line 188"/>
              <p:cNvSpPr>
                <a:spLocks noChangeShapeType="1"/>
              </p:cNvSpPr>
              <p:nvPr/>
            </p:nvSpPr>
            <p:spPr bwMode="auto">
              <a:xfrm>
                <a:off x="2973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75" name="Line 189"/>
              <p:cNvSpPr>
                <a:spLocks noChangeShapeType="1"/>
              </p:cNvSpPr>
              <p:nvPr/>
            </p:nvSpPr>
            <p:spPr bwMode="auto">
              <a:xfrm>
                <a:off x="1820" y="3881"/>
                <a:ext cx="0" cy="1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76" name="Rectangle 190"/>
              <p:cNvSpPr>
                <a:spLocks noChangeArrowheads="1"/>
              </p:cNvSpPr>
              <p:nvPr/>
            </p:nvSpPr>
            <p:spPr bwMode="auto">
              <a:xfrm>
                <a:off x="2317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2677" name="Text Box 191"/>
              <p:cNvSpPr txBox="1">
                <a:spLocks noChangeArrowheads="1"/>
              </p:cNvSpPr>
              <p:nvPr/>
            </p:nvSpPr>
            <p:spPr bwMode="auto">
              <a:xfrm>
                <a:off x="2348" y="3576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  <p:sp>
            <p:nvSpPr>
              <p:cNvPr id="142678" name="Rectangle 192"/>
              <p:cNvSpPr>
                <a:spLocks noChangeArrowheads="1"/>
              </p:cNvSpPr>
              <p:nvPr/>
            </p:nvSpPr>
            <p:spPr bwMode="auto">
              <a:xfrm>
                <a:off x="3469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2679" name="Text Box 193"/>
              <p:cNvSpPr txBox="1">
                <a:spLocks noChangeArrowheads="1"/>
              </p:cNvSpPr>
              <p:nvPr/>
            </p:nvSpPr>
            <p:spPr bwMode="auto">
              <a:xfrm>
                <a:off x="3500" y="3576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  <p:sp>
            <p:nvSpPr>
              <p:cNvPr id="142680" name="Rectangle 194"/>
              <p:cNvSpPr>
                <a:spLocks noChangeArrowheads="1"/>
              </p:cNvSpPr>
              <p:nvPr/>
            </p:nvSpPr>
            <p:spPr bwMode="auto">
              <a:xfrm>
                <a:off x="4621" y="3545"/>
                <a:ext cx="823" cy="33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2681" name="Text Box 195"/>
              <p:cNvSpPr txBox="1">
                <a:spLocks noChangeArrowheads="1"/>
              </p:cNvSpPr>
              <p:nvPr/>
            </p:nvSpPr>
            <p:spPr bwMode="auto">
              <a:xfrm>
                <a:off x="4652" y="3576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读写电路</a:t>
                </a:r>
              </a:p>
            </p:txBody>
          </p:sp>
          <p:sp>
            <p:nvSpPr>
              <p:cNvPr id="142682" name="Line 196"/>
              <p:cNvSpPr>
                <a:spLocks noChangeShapeType="1"/>
              </p:cNvSpPr>
              <p:nvPr/>
            </p:nvSpPr>
            <p:spPr bwMode="auto">
              <a:xfrm>
                <a:off x="196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83" name="Line 197"/>
              <p:cNvSpPr>
                <a:spLocks noChangeShapeType="1"/>
              </p:cNvSpPr>
              <p:nvPr/>
            </p:nvSpPr>
            <p:spPr bwMode="auto">
              <a:xfrm>
                <a:off x="3144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84" name="Line 198"/>
              <p:cNvSpPr>
                <a:spLocks noChangeShapeType="1"/>
              </p:cNvSpPr>
              <p:nvPr/>
            </p:nvSpPr>
            <p:spPr bwMode="auto">
              <a:xfrm>
                <a:off x="4293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85" name="Line 199"/>
              <p:cNvSpPr>
                <a:spLocks noChangeShapeType="1"/>
              </p:cNvSpPr>
              <p:nvPr/>
            </p:nvSpPr>
            <p:spPr bwMode="auto">
              <a:xfrm>
                <a:off x="5420" y="3737"/>
                <a:ext cx="1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86" name="Freeform 200"/>
              <p:cNvSpPr/>
              <p:nvPr/>
            </p:nvSpPr>
            <p:spPr bwMode="auto">
              <a:xfrm>
                <a:off x="3033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7711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87" name="Freeform 201"/>
              <p:cNvSpPr/>
              <p:nvPr/>
            </p:nvSpPr>
            <p:spPr bwMode="auto">
              <a:xfrm>
                <a:off x="4185" y="2691"/>
                <a:ext cx="1" cy="525"/>
              </a:xfrm>
              <a:custGeom>
                <a:avLst/>
                <a:gdLst>
                  <a:gd name="T0" fmla="*/ 0 w 1"/>
                  <a:gd name="T1" fmla="*/ 0 h 525"/>
                  <a:gd name="T2" fmla="*/ 0 w 1"/>
                  <a:gd name="T3" fmla="*/ 525 h 525"/>
                  <a:gd name="T4" fmla="*/ 0 60000 65536"/>
                  <a:gd name="T5" fmla="*/ 0 60000 65536"/>
                  <a:gd name="T6" fmla="*/ 0 w 1"/>
                  <a:gd name="T7" fmla="*/ 0 h 525"/>
                  <a:gd name="T8" fmla="*/ 1 w 1"/>
                  <a:gd name="T9" fmla="*/ 525 h 52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525">
                    <a:moveTo>
                      <a:pt x="0" y="0"/>
                    </a:moveTo>
                    <a:lnTo>
                      <a:pt x="0" y="525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88" name="Freeform 202"/>
              <p:cNvSpPr/>
              <p:nvPr/>
            </p:nvSpPr>
            <p:spPr bwMode="auto">
              <a:xfrm>
                <a:off x="5325" y="2708"/>
                <a:ext cx="47" cy="501"/>
              </a:xfrm>
              <a:custGeom>
                <a:avLst/>
                <a:gdLst>
                  <a:gd name="T0" fmla="*/ 0 w 1"/>
                  <a:gd name="T1" fmla="*/ 0 h 406"/>
                  <a:gd name="T2" fmla="*/ 0 w 1"/>
                  <a:gd name="T3" fmla="*/ 7711 h 406"/>
                  <a:gd name="T4" fmla="*/ 0 60000 65536"/>
                  <a:gd name="T5" fmla="*/ 0 60000 65536"/>
                  <a:gd name="T6" fmla="*/ 0 w 1"/>
                  <a:gd name="T7" fmla="*/ 0 h 406"/>
                  <a:gd name="T8" fmla="*/ 1 w 1"/>
                  <a:gd name="T9" fmla="*/ 406 h 4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06">
                    <a:moveTo>
                      <a:pt x="0" y="0"/>
                    </a:moveTo>
                    <a:lnTo>
                      <a:pt x="0" y="406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headEnd type="oval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689" name="Text Box 203"/>
              <p:cNvSpPr txBox="1">
                <a:spLocks noChangeArrowheads="1"/>
              </p:cNvSpPr>
              <p:nvPr/>
            </p:nvSpPr>
            <p:spPr bwMode="auto">
              <a:xfrm rot="5400000">
                <a:off x="1193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2690" name="Text Box 204"/>
              <p:cNvSpPr txBox="1">
                <a:spLocks noChangeArrowheads="1"/>
              </p:cNvSpPr>
              <p:nvPr/>
            </p:nvSpPr>
            <p:spPr bwMode="auto">
              <a:xfrm rot="5400000">
                <a:off x="1769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2691" name="Text Box 205"/>
              <p:cNvSpPr txBox="1">
                <a:spLocks noChangeArrowheads="1"/>
              </p:cNvSpPr>
              <p:nvPr/>
            </p:nvSpPr>
            <p:spPr bwMode="auto">
              <a:xfrm rot="5400000">
                <a:off x="2345" y="1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2692" name="Text Box 206"/>
              <p:cNvSpPr txBox="1">
                <a:spLocks noChangeArrowheads="1"/>
              </p:cNvSpPr>
              <p:nvPr/>
            </p:nvSpPr>
            <p:spPr bwMode="auto">
              <a:xfrm rot="5400000">
                <a:off x="2921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2693" name="Text Box 207"/>
              <p:cNvSpPr txBox="1">
                <a:spLocks noChangeArrowheads="1"/>
              </p:cNvSpPr>
              <p:nvPr/>
            </p:nvSpPr>
            <p:spPr bwMode="auto">
              <a:xfrm rot="5400000">
                <a:off x="3496" y="1627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2694" name="Text Box 208"/>
              <p:cNvSpPr txBox="1">
                <a:spLocks noChangeArrowheads="1"/>
              </p:cNvSpPr>
              <p:nvPr/>
            </p:nvSpPr>
            <p:spPr bwMode="auto">
              <a:xfrm rot="5400000">
                <a:off x="4073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2695" name="Text Box 209"/>
              <p:cNvSpPr txBox="1">
                <a:spLocks noChangeArrowheads="1"/>
              </p:cNvSpPr>
              <p:nvPr/>
            </p:nvSpPr>
            <p:spPr bwMode="auto">
              <a:xfrm rot="5400000">
                <a:off x="4649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2696" name="Text Box 210"/>
              <p:cNvSpPr txBox="1">
                <a:spLocks noChangeArrowheads="1"/>
              </p:cNvSpPr>
              <p:nvPr/>
            </p:nvSpPr>
            <p:spPr bwMode="auto">
              <a:xfrm rot="5400000">
                <a:off x="5244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  <a:endParaRPr lang="en-US" altLang="zh-CN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2697" name="Text Box 211"/>
              <p:cNvSpPr txBox="1">
                <a:spLocks noChangeArrowheads="1"/>
              </p:cNvSpPr>
              <p:nvPr/>
            </p:nvSpPr>
            <p:spPr bwMode="auto">
              <a:xfrm>
                <a:off x="660" y="791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42698" name="Text Box 212"/>
              <p:cNvSpPr txBox="1">
                <a:spLocks noChangeArrowheads="1"/>
              </p:cNvSpPr>
              <p:nvPr/>
            </p:nvSpPr>
            <p:spPr bwMode="auto">
              <a:xfrm>
                <a:off x="660" y="1383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42699" name="Text Box 213"/>
              <p:cNvSpPr txBox="1">
                <a:spLocks noChangeArrowheads="1"/>
              </p:cNvSpPr>
              <p:nvPr/>
            </p:nvSpPr>
            <p:spPr bwMode="auto">
              <a:xfrm>
                <a:off x="624" y="19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63</a:t>
                </a:r>
              </a:p>
            </p:txBody>
          </p:sp>
          <p:sp>
            <p:nvSpPr>
              <p:cNvPr id="142700" name="Line 214"/>
              <p:cNvSpPr>
                <a:spLocks noChangeShapeType="1"/>
              </p:cNvSpPr>
              <p:nvPr/>
            </p:nvSpPr>
            <p:spPr bwMode="auto">
              <a:xfrm>
                <a:off x="332" y="2537"/>
                <a:ext cx="57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701" name="Text Box 215"/>
              <p:cNvSpPr txBox="1">
                <a:spLocks noChangeArrowheads="1"/>
              </p:cNvSpPr>
              <p:nvPr/>
            </p:nvSpPr>
            <p:spPr bwMode="auto">
              <a:xfrm>
                <a:off x="660" y="2727"/>
                <a:ext cx="18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42702" name="Text Box 216"/>
              <p:cNvSpPr txBox="1">
                <a:spLocks noChangeArrowheads="1"/>
              </p:cNvSpPr>
              <p:nvPr/>
            </p:nvSpPr>
            <p:spPr bwMode="auto">
              <a:xfrm>
                <a:off x="624" y="3159"/>
                <a:ext cx="26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1800"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2703" name="Text Box 217"/>
              <p:cNvSpPr txBox="1">
                <a:spLocks noChangeArrowheads="1"/>
              </p:cNvSpPr>
              <p:nvPr/>
            </p:nvSpPr>
            <p:spPr bwMode="auto">
              <a:xfrm rot="5400000">
                <a:off x="665" y="1628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2704" name="Text Box 218"/>
              <p:cNvSpPr txBox="1">
                <a:spLocks noChangeArrowheads="1"/>
              </p:cNvSpPr>
              <p:nvPr/>
            </p:nvSpPr>
            <p:spPr bwMode="auto">
              <a:xfrm rot="5400000">
                <a:off x="665" y="2876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2705" name="Text Box 219"/>
              <p:cNvSpPr txBox="1">
                <a:spLocks noChangeArrowheads="1"/>
              </p:cNvSpPr>
              <p:nvPr/>
            </p:nvSpPr>
            <p:spPr bwMode="auto">
              <a:xfrm>
                <a:off x="348" y="101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行</a:t>
                </a:r>
              </a:p>
            </p:txBody>
          </p:sp>
          <p:sp>
            <p:nvSpPr>
              <p:cNvPr id="142706" name="Text Box 220"/>
              <p:cNvSpPr txBox="1">
                <a:spLocks noChangeArrowheads="1"/>
              </p:cNvSpPr>
              <p:nvPr/>
            </p:nvSpPr>
            <p:spPr bwMode="auto">
              <a:xfrm>
                <a:off x="348" y="126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地</a:t>
                </a:r>
              </a:p>
            </p:txBody>
          </p:sp>
          <p:sp>
            <p:nvSpPr>
              <p:cNvPr id="142707" name="Text Box 221"/>
              <p:cNvSpPr txBox="1">
                <a:spLocks noChangeArrowheads="1"/>
              </p:cNvSpPr>
              <p:nvPr/>
            </p:nvSpPr>
            <p:spPr bwMode="auto">
              <a:xfrm>
                <a:off x="348" y="151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址</a:t>
                </a:r>
              </a:p>
            </p:txBody>
          </p:sp>
          <p:sp>
            <p:nvSpPr>
              <p:cNvPr id="142708" name="Text Box 222"/>
              <p:cNvSpPr txBox="1">
                <a:spLocks noChangeArrowheads="1"/>
              </p:cNvSpPr>
              <p:nvPr/>
            </p:nvSpPr>
            <p:spPr bwMode="auto">
              <a:xfrm>
                <a:off x="348" y="175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译</a:t>
                </a:r>
              </a:p>
            </p:txBody>
          </p:sp>
          <p:sp>
            <p:nvSpPr>
              <p:cNvPr id="142709" name="Text Box 223"/>
              <p:cNvSpPr txBox="1">
                <a:spLocks noChangeArrowheads="1"/>
              </p:cNvSpPr>
              <p:nvPr/>
            </p:nvSpPr>
            <p:spPr bwMode="auto">
              <a:xfrm>
                <a:off x="348" y="200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码</a:t>
                </a:r>
              </a:p>
            </p:txBody>
          </p:sp>
          <p:sp>
            <p:nvSpPr>
              <p:cNvPr id="142710" name="Text Box 224"/>
              <p:cNvSpPr txBox="1">
                <a:spLocks noChangeArrowheads="1"/>
              </p:cNvSpPr>
              <p:nvPr/>
            </p:nvSpPr>
            <p:spPr bwMode="auto">
              <a:xfrm>
                <a:off x="375" y="2635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列</a:t>
                </a:r>
              </a:p>
            </p:txBody>
          </p:sp>
          <p:sp>
            <p:nvSpPr>
              <p:cNvPr id="142711" name="Text Box 225"/>
              <p:cNvSpPr txBox="1">
                <a:spLocks noChangeArrowheads="1"/>
              </p:cNvSpPr>
              <p:nvPr/>
            </p:nvSpPr>
            <p:spPr bwMode="auto">
              <a:xfrm>
                <a:off x="375" y="2883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地</a:t>
                </a:r>
              </a:p>
            </p:txBody>
          </p:sp>
          <p:sp>
            <p:nvSpPr>
              <p:cNvPr id="142712" name="Text Box 226"/>
              <p:cNvSpPr txBox="1">
                <a:spLocks noChangeArrowheads="1"/>
              </p:cNvSpPr>
              <p:nvPr/>
            </p:nvSpPr>
            <p:spPr bwMode="auto">
              <a:xfrm>
                <a:off x="375" y="313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址</a:t>
                </a:r>
              </a:p>
            </p:txBody>
          </p:sp>
          <p:sp>
            <p:nvSpPr>
              <p:cNvPr id="142713" name="Text Box 227"/>
              <p:cNvSpPr txBox="1">
                <a:spLocks noChangeArrowheads="1"/>
              </p:cNvSpPr>
              <p:nvPr/>
            </p:nvSpPr>
            <p:spPr bwMode="auto">
              <a:xfrm>
                <a:off x="375" y="3378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译</a:t>
                </a:r>
              </a:p>
            </p:txBody>
          </p:sp>
          <p:sp>
            <p:nvSpPr>
              <p:cNvPr id="142714" name="Text Box 228"/>
              <p:cNvSpPr txBox="1">
                <a:spLocks noChangeArrowheads="1"/>
              </p:cNvSpPr>
              <p:nvPr/>
            </p:nvSpPr>
            <p:spPr bwMode="auto">
              <a:xfrm>
                <a:off x="375" y="3626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码</a:t>
                </a:r>
              </a:p>
            </p:txBody>
          </p:sp>
          <p:sp>
            <p:nvSpPr>
              <p:cNvPr id="142715" name="Line 229"/>
              <p:cNvSpPr>
                <a:spLocks noChangeShapeType="1"/>
              </p:cNvSpPr>
              <p:nvPr/>
            </p:nvSpPr>
            <p:spPr bwMode="auto">
              <a:xfrm>
                <a:off x="140" y="905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716" name="Line 230"/>
              <p:cNvSpPr>
                <a:spLocks noChangeShapeType="1"/>
              </p:cNvSpPr>
              <p:nvPr/>
            </p:nvSpPr>
            <p:spPr bwMode="auto">
              <a:xfrm>
                <a:off x="140" y="116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717" name="Line 231"/>
              <p:cNvSpPr>
                <a:spLocks noChangeShapeType="1"/>
              </p:cNvSpPr>
              <p:nvPr/>
            </p:nvSpPr>
            <p:spPr bwMode="auto">
              <a:xfrm>
                <a:off x="140" y="142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718" name="Line 232"/>
              <p:cNvSpPr>
                <a:spLocks noChangeShapeType="1"/>
              </p:cNvSpPr>
              <p:nvPr/>
            </p:nvSpPr>
            <p:spPr bwMode="auto">
              <a:xfrm>
                <a:off x="140" y="168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719" name="Line 233"/>
              <p:cNvSpPr>
                <a:spLocks noChangeShapeType="1"/>
              </p:cNvSpPr>
              <p:nvPr/>
            </p:nvSpPr>
            <p:spPr bwMode="auto">
              <a:xfrm>
                <a:off x="140" y="194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720" name="Line 234"/>
              <p:cNvSpPr>
                <a:spLocks noChangeShapeType="1"/>
              </p:cNvSpPr>
              <p:nvPr/>
            </p:nvSpPr>
            <p:spPr bwMode="auto">
              <a:xfrm>
                <a:off x="140" y="220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721" name="Line 235"/>
              <p:cNvSpPr>
                <a:spLocks noChangeShapeType="1"/>
              </p:cNvSpPr>
              <p:nvPr/>
            </p:nvSpPr>
            <p:spPr bwMode="auto">
              <a:xfrm>
                <a:off x="140" y="287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722" name="Line 236"/>
              <p:cNvSpPr>
                <a:spLocks noChangeShapeType="1"/>
              </p:cNvSpPr>
              <p:nvPr/>
            </p:nvSpPr>
            <p:spPr bwMode="auto">
              <a:xfrm>
                <a:off x="140" y="313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723" name="Line 237"/>
              <p:cNvSpPr>
                <a:spLocks noChangeShapeType="1"/>
              </p:cNvSpPr>
              <p:nvPr/>
            </p:nvSpPr>
            <p:spPr bwMode="auto">
              <a:xfrm>
                <a:off x="140" y="339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724" name="Line 238"/>
              <p:cNvSpPr>
                <a:spLocks noChangeShapeType="1"/>
              </p:cNvSpPr>
              <p:nvPr/>
            </p:nvSpPr>
            <p:spPr bwMode="auto">
              <a:xfrm>
                <a:off x="140" y="365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725" name="Text Box 239"/>
              <p:cNvSpPr txBox="1">
                <a:spLocks noChangeArrowheads="1"/>
              </p:cNvSpPr>
              <p:nvPr/>
            </p:nvSpPr>
            <p:spPr bwMode="auto">
              <a:xfrm>
                <a:off x="648" y="3890"/>
                <a:ext cx="35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WE</a:t>
                </a:r>
              </a:p>
            </p:txBody>
          </p:sp>
          <p:sp>
            <p:nvSpPr>
              <p:cNvPr id="142726" name="Line 240"/>
              <p:cNvSpPr>
                <a:spLocks noChangeShapeType="1"/>
              </p:cNvSpPr>
              <p:nvPr/>
            </p:nvSpPr>
            <p:spPr bwMode="auto">
              <a:xfrm>
                <a:off x="682" y="3923"/>
                <a:ext cx="288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727" name="Text Box 241"/>
              <p:cNvSpPr txBox="1">
                <a:spLocks noChangeArrowheads="1"/>
              </p:cNvSpPr>
              <p:nvPr/>
            </p:nvSpPr>
            <p:spPr bwMode="auto">
              <a:xfrm>
                <a:off x="668" y="4025"/>
                <a:ext cx="32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CS</a:t>
                </a:r>
              </a:p>
            </p:txBody>
          </p:sp>
          <p:sp>
            <p:nvSpPr>
              <p:cNvPr id="142728" name="Line 242"/>
              <p:cNvSpPr>
                <a:spLocks noChangeShapeType="1"/>
              </p:cNvSpPr>
              <p:nvPr/>
            </p:nvSpPr>
            <p:spPr bwMode="auto">
              <a:xfrm>
                <a:off x="726" y="4079"/>
                <a:ext cx="192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42518" name="Group 243"/>
            <p:cNvGrpSpPr/>
            <p:nvPr/>
          </p:nvGrpSpPr>
          <p:grpSpPr bwMode="auto">
            <a:xfrm>
              <a:off x="140" y="674"/>
              <a:ext cx="196" cy="3010"/>
              <a:chOff x="140" y="674"/>
              <a:chExt cx="196" cy="3010"/>
            </a:xfrm>
          </p:grpSpPr>
          <p:sp>
            <p:nvSpPr>
              <p:cNvPr id="142519" name="Text Box 244"/>
              <p:cNvSpPr txBox="1">
                <a:spLocks noChangeArrowheads="1"/>
              </p:cNvSpPr>
              <p:nvPr/>
            </p:nvSpPr>
            <p:spPr bwMode="auto">
              <a:xfrm>
                <a:off x="140" y="67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42520" name="Text Box 245"/>
              <p:cNvSpPr txBox="1">
                <a:spLocks noChangeArrowheads="1"/>
              </p:cNvSpPr>
              <p:nvPr/>
            </p:nvSpPr>
            <p:spPr bwMode="auto">
              <a:xfrm>
                <a:off x="140" y="933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42521" name="Text Box 246"/>
              <p:cNvSpPr txBox="1">
                <a:spLocks noChangeArrowheads="1"/>
              </p:cNvSpPr>
              <p:nvPr/>
            </p:nvSpPr>
            <p:spPr bwMode="auto">
              <a:xfrm>
                <a:off x="140" y="119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42522" name="Text Box 247"/>
              <p:cNvSpPr txBox="1">
                <a:spLocks noChangeArrowheads="1"/>
              </p:cNvSpPr>
              <p:nvPr/>
            </p:nvSpPr>
            <p:spPr bwMode="auto">
              <a:xfrm>
                <a:off x="140" y="145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42523" name="Text Box 248"/>
              <p:cNvSpPr txBox="1">
                <a:spLocks noChangeArrowheads="1"/>
              </p:cNvSpPr>
              <p:nvPr/>
            </p:nvSpPr>
            <p:spPr bwMode="auto">
              <a:xfrm>
                <a:off x="140" y="171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42524" name="Text Box 249"/>
              <p:cNvSpPr txBox="1">
                <a:spLocks noChangeArrowheads="1"/>
              </p:cNvSpPr>
              <p:nvPr/>
            </p:nvSpPr>
            <p:spPr bwMode="auto">
              <a:xfrm>
                <a:off x="140" y="197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42525" name="Text Box 250"/>
              <p:cNvSpPr txBox="1">
                <a:spLocks noChangeArrowheads="1"/>
              </p:cNvSpPr>
              <p:nvPr/>
            </p:nvSpPr>
            <p:spPr bwMode="auto">
              <a:xfrm>
                <a:off x="140" y="2657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42526" name="Text Box 251"/>
              <p:cNvSpPr txBox="1">
                <a:spLocks noChangeArrowheads="1"/>
              </p:cNvSpPr>
              <p:nvPr/>
            </p:nvSpPr>
            <p:spPr bwMode="auto">
              <a:xfrm>
                <a:off x="140" y="2916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42527" name="Text Box 252"/>
              <p:cNvSpPr txBox="1">
                <a:spLocks noChangeArrowheads="1"/>
              </p:cNvSpPr>
              <p:nvPr/>
            </p:nvSpPr>
            <p:spPr bwMode="auto">
              <a:xfrm>
                <a:off x="140" y="317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42528" name="Text Box 253"/>
              <p:cNvSpPr txBox="1">
                <a:spLocks noChangeArrowheads="1"/>
              </p:cNvSpPr>
              <p:nvPr/>
            </p:nvSpPr>
            <p:spPr bwMode="auto">
              <a:xfrm>
                <a:off x="140" y="343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</p:grpSp>
      </p:grpSp>
      <p:grpSp>
        <p:nvGrpSpPr>
          <p:cNvPr id="142343" name="Group 254"/>
          <p:cNvGrpSpPr/>
          <p:nvPr/>
        </p:nvGrpSpPr>
        <p:grpSpPr bwMode="auto">
          <a:xfrm>
            <a:off x="1431925" y="1360488"/>
            <a:ext cx="7712075" cy="4575175"/>
            <a:chOff x="902" y="857"/>
            <a:chExt cx="4858" cy="2882"/>
          </a:xfrm>
        </p:grpSpPr>
        <p:grpSp>
          <p:nvGrpSpPr>
            <p:cNvPr id="142481" name="Group 255"/>
            <p:cNvGrpSpPr/>
            <p:nvPr/>
          </p:nvGrpSpPr>
          <p:grpSpPr bwMode="auto">
            <a:xfrm>
              <a:off x="902" y="857"/>
              <a:ext cx="4567" cy="430"/>
              <a:chOff x="902" y="857"/>
              <a:chExt cx="4567" cy="430"/>
            </a:xfrm>
          </p:grpSpPr>
          <p:grpSp>
            <p:nvGrpSpPr>
              <p:cNvPr id="142493" name="Group 256"/>
              <p:cNvGrpSpPr/>
              <p:nvPr/>
            </p:nvGrpSpPr>
            <p:grpSpPr bwMode="auto">
              <a:xfrm>
                <a:off x="902" y="857"/>
                <a:ext cx="4567" cy="430"/>
                <a:chOff x="902" y="857"/>
                <a:chExt cx="4567" cy="430"/>
              </a:xfrm>
            </p:grpSpPr>
            <p:grpSp>
              <p:nvGrpSpPr>
                <p:cNvPr id="142498" name="Group 257"/>
                <p:cNvGrpSpPr/>
                <p:nvPr/>
              </p:nvGrpSpPr>
              <p:grpSpPr bwMode="auto">
                <a:xfrm>
                  <a:off x="1152" y="1013"/>
                  <a:ext cx="4317" cy="274"/>
                  <a:chOff x="1176" y="1068"/>
                  <a:chExt cx="4317" cy="274"/>
                </a:xfrm>
              </p:grpSpPr>
              <p:sp>
                <p:nvSpPr>
                  <p:cNvPr id="142509" name="Rectangle 258"/>
                  <p:cNvSpPr>
                    <a:spLocks noChangeArrowheads="1"/>
                  </p:cNvSpPr>
                  <p:nvPr/>
                </p:nvSpPr>
                <p:spPr bwMode="auto">
                  <a:xfrm>
                    <a:off x="175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15</a:t>
                    </a:r>
                  </a:p>
                </p:txBody>
              </p:sp>
              <p:sp>
                <p:nvSpPr>
                  <p:cNvPr id="142510" name="Rectangle 259"/>
                  <p:cNvSpPr>
                    <a:spLocks noChangeArrowheads="1"/>
                  </p:cNvSpPr>
                  <p:nvPr/>
                </p:nvSpPr>
                <p:spPr bwMode="auto">
                  <a:xfrm>
                    <a:off x="117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0</a:t>
                    </a:r>
                  </a:p>
                </p:txBody>
              </p:sp>
              <p:sp>
                <p:nvSpPr>
                  <p:cNvPr id="142511" name="Rectangle 260"/>
                  <p:cNvSpPr>
                    <a:spLocks noChangeArrowheads="1"/>
                  </p:cNvSpPr>
                  <p:nvPr/>
                </p:nvSpPr>
                <p:spPr bwMode="auto">
                  <a:xfrm>
                    <a:off x="2892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31</a:t>
                    </a:r>
                  </a:p>
                </p:txBody>
              </p:sp>
              <p:sp>
                <p:nvSpPr>
                  <p:cNvPr id="142512" name="Rectangle 261"/>
                  <p:cNvSpPr>
                    <a:spLocks noChangeArrowheads="1"/>
                  </p:cNvSpPr>
                  <p:nvPr/>
                </p:nvSpPr>
                <p:spPr bwMode="auto">
                  <a:xfrm>
                    <a:off x="231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sp>
                <p:nvSpPr>
                  <p:cNvPr id="142513" name="Rectangle 262"/>
                  <p:cNvSpPr>
                    <a:spLocks noChangeArrowheads="1"/>
                  </p:cNvSpPr>
                  <p:nvPr/>
                </p:nvSpPr>
                <p:spPr bwMode="auto">
                  <a:xfrm>
                    <a:off x="4067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47</a:t>
                    </a:r>
                  </a:p>
                </p:txBody>
              </p:sp>
              <p:sp>
                <p:nvSpPr>
                  <p:cNvPr id="142514" name="Rectangle 263"/>
                  <p:cNvSpPr>
                    <a:spLocks noChangeArrowheads="1"/>
                  </p:cNvSpPr>
                  <p:nvPr/>
                </p:nvSpPr>
                <p:spPr bwMode="auto">
                  <a:xfrm>
                    <a:off x="3491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32</a:t>
                    </a:r>
                  </a:p>
                </p:txBody>
              </p:sp>
              <p:sp>
                <p:nvSpPr>
                  <p:cNvPr id="142515" name="Rectangle 264"/>
                  <p:cNvSpPr>
                    <a:spLocks noChangeArrowheads="1"/>
                  </p:cNvSpPr>
                  <p:nvPr/>
                </p:nvSpPr>
                <p:spPr bwMode="auto">
                  <a:xfrm>
                    <a:off x="5205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63</a:t>
                    </a:r>
                  </a:p>
                </p:txBody>
              </p:sp>
              <p:sp>
                <p:nvSpPr>
                  <p:cNvPr id="142516" name="Rectangle 265"/>
                  <p:cNvSpPr>
                    <a:spLocks noChangeArrowheads="1"/>
                  </p:cNvSpPr>
                  <p:nvPr/>
                </p:nvSpPr>
                <p:spPr bwMode="auto">
                  <a:xfrm>
                    <a:off x="4626" y="1068"/>
                    <a:ext cx="288" cy="274"/>
                  </a:xfrm>
                  <a:prstGeom prst="rect">
                    <a:avLst/>
                  </a:prstGeom>
                  <a:solidFill>
                    <a:schemeClr val="folHlink"/>
                  </a:solidFill>
                  <a:ln w="38100">
                    <a:solidFill>
                      <a:schemeClr val="folHlink"/>
                    </a:solidFill>
                    <a:miter lim="800000"/>
                  </a:ln>
                </p:spPr>
                <p:txBody>
                  <a:bodyPr lIns="0" rIns="0" anchor="ctr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solidFill>
                          <a:schemeClr val="bg2"/>
                        </a:solidFill>
                        <a:latin typeface="Times New Roman" panose="02020603050405020304" pitchFamily="18" charset="0"/>
                      </a:rPr>
                      <a:t>48</a:t>
                    </a:r>
                  </a:p>
                </p:txBody>
              </p:sp>
            </p:grpSp>
            <p:grpSp>
              <p:nvGrpSpPr>
                <p:cNvPr id="142499" name="Group 266"/>
                <p:cNvGrpSpPr/>
                <p:nvPr/>
              </p:nvGrpSpPr>
              <p:grpSpPr bwMode="auto">
                <a:xfrm>
                  <a:off x="902" y="857"/>
                  <a:ext cx="4419" cy="145"/>
                  <a:chOff x="902" y="857"/>
                  <a:chExt cx="4419" cy="145"/>
                </a:xfrm>
              </p:grpSpPr>
              <p:sp>
                <p:nvSpPr>
                  <p:cNvPr id="142500" name="Freeform 267"/>
                  <p:cNvSpPr/>
                  <p:nvPr/>
                </p:nvSpPr>
                <p:spPr bwMode="auto">
                  <a:xfrm>
                    <a:off x="902" y="857"/>
                    <a:ext cx="4419" cy="1"/>
                  </a:xfrm>
                  <a:custGeom>
                    <a:avLst/>
                    <a:gdLst>
                      <a:gd name="T0" fmla="*/ 0 w 4419"/>
                      <a:gd name="T1" fmla="*/ 1 h 1"/>
                      <a:gd name="T2" fmla="*/ 4419 w 4419"/>
                      <a:gd name="T3" fmla="*/ 0 h 1"/>
                      <a:gd name="T4" fmla="*/ 0 60000 65536"/>
                      <a:gd name="T5" fmla="*/ 0 60000 65536"/>
                      <a:gd name="T6" fmla="*/ 0 w 4419"/>
                      <a:gd name="T7" fmla="*/ 0 h 1"/>
                      <a:gd name="T8" fmla="*/ 4419 w 4419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4419" h="1">
                        <a:moveTo>
                          <a:pt x="0" y="1"/>
                        </a:moveTo>
                        <a:lnTo>
                          <a:pt x="4419" y="0"/>
                        </a:lnTo>
                      </a:path>
                    </a:pathLst>
                  </a:custGeom>
                  <a:noFill/>
                  <a:ln w="76200" cmpd="sng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2501" name="Line 268"/>
                  <p:cNvSpPr>
                    <a:spLocks noChangeShapeType="1"/>
                  </p:cNvSpPr>
                  <p:nvPr/>
                </p:nvSpPr>
                <p:spPr bwMode="auto">
                  <a:xfrm>
                    <a:off x="127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2502" name="Line 269"/>
                  <p:cNvSpPr>
                    <a:spLocks noChangeShapeType="1"/>
                  </p:cNvSpPr>
                  <p:nvPr/>
                </p:nvSpPr>
                <p:spPr bwMode="auto">
                  <a:xfrm>
                    <a:off x="184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2503" name="Line 270"/>
                  <p:cNvSpPr>
                    <a:spLocks noChangeShapeType="1"/>
                  </p:cNvSpPr>
                  <p:nvPr/>
                </p:nvSpPr>
                <p:spPr bwMode="auto">
                  <a:xfrm>
                    <a:off x="242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2504" name="Line 271"/>
                  <p:cNvSpPr>
                    <a:spLocks noChangeShapeType="1"/>
                  </p:cNvSpPr>
                  <p:nvPr/>
                </p:nvSpPr>
                <p:spPr bwMode="auto">
                  <a:xfrm>
                    <a:off x="3000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2505" name="Line 272"/>
                  <p:cNvSpPr>
                    <a:spLocks noChangeShapeType="1"/>
                  </p:cNvSpPr>
                  <p:nvPr/>
                </p:nvSpPr>
                <p:spPr bwMode="auto">
                  <a:xfrm>
                    <a:off x="3576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2506" name="Line 273"/>
                  <p:cNvSpPr>
                    <a:spLocks noChangeShapeType="1"/>
                  </p:cNvSpPr>
                  <p:nvPr/>
                </p:nvSpPr>
                <p:spPr bwMode="auto">
                  <a:xfrm>
                    <a:off x="4152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2507" name="Line 274"/>
                  <p:cNvSpPr>
                    <a:spLocks noChangeShapeType="1"/>
                  </p:cNvSpPr>
                  <p:nvPr/>
                </p:nvSpPr>
                <p:spPr bwMode="auto">
                  <a:xfrm>
                    <a:off x="4728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2508" name="Line 275"/>
                  <p:cNvSpPr>
                    <a:spLocks noChangeShapeType="1"/>
                  </p:cNvSpPr>
                  <p:nvPr/>
                </p:nvSpPr>
                <p:spPr bwMode="auto">
                  <a:xfrm>
                    <a:off x="5304" y="858"/>
                    <a:ext cx="0" cy="144"/>
                  </a:xfrm>
                  <a:prstGeom prst="line">
                    <a:avLst/>
                  </a:prstGeom>
                  <a:noFill/>
                  <a:ln w="76200">
                    <a:solidFill>
                      <a:schemeClr val="folHlink"/>
                    </a:solidFill>
                    <a:round/>
                    <a:headEnd type="oval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142494" name="Text Box 276"/>
              <p:cNvSpPr txBox="1">
                <a:spLocks noChangeArrowheads="1"/>
              </p:cNvSpPr>
              <p:nvPr/>
            </p:nvSpPr>
            <p:spPr bwMode="auto">
              <a:xfrm>
                <a:off x="140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2495" name="Text Box 277"/>
              <p:cNvSpPr txBox="1">
                <a:spLocks noChangeArrowheads="1"/>
              </p:cNvSpPr>
              <p:nvPr/>
            </p:nvSpPr>
            <p:spPr bwMode="auto">
              <a:xfrm>
                <a:off x="254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2496" name="Text Box 278"/>
              <p:cNvSpPr txBox="1">
                <a:spLocks noChangeArrowheads="1"/>
              </p:cNvSpPr>
              <p:nvPr/>
            </p:nvSpPr>
            <p:spPr bwMode="auto">
              <a:xfrm>
                <a:off x="3718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2497" name="Text Box 279"/>
              <p:cNvSpPr txBox="1">
                <a:spLocks noChangeArrowheads="1"/>
              </p:cNvSpPr>
              <p:nvPr/>
            </p:nvSpPr>
            <p:spPr bwMode="auto">
              <a:xfrm>
                <a:off x="4860" y="87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  <p:grpSp>
          <p:nvGrpSpPr>
            <p:cNvPr id="142482" name="Group 280"/>
            <p:cNvGrpSpPr/>
            <p:nvPr/>
          </p:nvGrpSpPr>
          <p:grpSpPr bwMode="auto">
            <a:xfrm>
              <a:off x="1944" y="3527"/>
              <a:ext cx="3816" cy="212"/>
              <a:chOff x="1944" y="3527"/>
              <a:chExt cx="3816" cy="212"/>
            </a:xfrm>
          </p:grpSpPr>
          <p:grpSp>
            <p:nvGrpSpPr>
              <p:cNvPr id="142483" name="Group 281"/>
              <p:cNvGrpSpPr/>
              <p:nvPr/>
            </p:nvGrpSpPr>
            <p:grpSpPr bwMode="auto">
              <a:xfrm>
                <a:off x="1964" y="3737"/>
                <a:ext cx="3637" cy="0"/>
                <a:chOff x="1964" y="3737"/>
                <a:chExt cx="3637" cy="0"/>
              </a:xfrm>
            </p:grpSpPr>
            <p:sp>
              <p:nvSpPr>
                <p:cNvPr id="142489" name="Line 282"/>
                <p:cNvSpPr>
                  <a:spLocks noChangeShapeType="1"/>
                </p:cNvSpPr>
                <p:nvPr/>
              </p:nvSpPr>
              <p:spPr bwMode="auto">
                <a:xfrm>
                  <a:off x="1964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2490" name="Line 283"/>
                <p:cNvSpPr>
                  <a:spLocks noChangeShapeType="1"/>
                </p:cNvSpPr>
                <p:nvPr/>
              </p:nvSpPr>
              <p:spPr bwMode="auto">
                <a:xfrm>
                  <a:off x="3144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2491" name="Line 284"/>
                <p:cNvSpPr>
                  <a:spLocks noChangeShapeType="1"/>
                </p:cNvSpPr>
                <p:nvPr/>
              </p:nvSpPr>
              <p:spPr bwMode="auto">
                <a:xfrm>
                  <a:off x="4293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2492" name="Line 285"/>
                <p:cNvSpPr>
                  <a:spLocks noChangeShapeType="1"/>
                </p:cNvSpPr>
                <p:nvPr/>
              </p:nvSpPr>
              <p:spPr bwMode="auto">
                <a:xfrm>
                  <a:off x="5420" y="3737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  <a:headEnd type="stealth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42484" name="Group 286"/>
              <p:cNvGrpSpPr/>
              <p:nvPr/>
            </p:nvGrpSpPr>
            <p:grpSpPr bwMode="auto">
              <a:xfrm>
                <a:off x="1944" y="3527"/>
                <a:ext cx="3816" cy="212"/>
                <a:chOff x="1944" y="3527"/>
                <a:chExt cx="3816" cy="212"/>
              </a:xfrm>
            </p:grpSpPr>
            <p:sp>
              <p:nvSpPr>
                <p:cNvPr id="142485" name="Text Box 287"/>
                <p:cNvSpPr txBox="1">
                  <a:spLocks noChangeArrowheads="1"/>
                </p:cNvSpPr>
                <p:nvPr/>
              </p:nvSpPr>
              <p:spPr bwMode="auto">
                <a:xfrm>
                  <a:off x="1944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US" altLang="zh-CN" sz="16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I/O</a:t>
                  </a:r>
                  <a:r>
                    <a:rPr lang="en-US" altLang="zh-CN" sz="1600" baseline="-25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sp>
              <p:nvSpPr>
                <p:cNvPr id="142486" name="Text Box 288"/>
                <p:cNvSpPr txBox="1">
                  <a:spLocks noChangeArrowheads="1"/>
                </p:cNvSpPr>
                <p:nvPr/>
              </p:nvSpPr>
              <p:spPr bwMode="auto">
                <a:xfrm>
                  <a:off x="3104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US" altLang="zh-CN" sz="16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I/O</a:t>
                  </a:r>
                  <a:r>
                    <a:rPr lang="en-US" altLang="zh-CN" sz="1600" baseline="-25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sp>
              <p:nvSpPr>
                <p:cNvPr id="142487" name="Text Box 289"/>
                <p:cNvSpPr txBox="1">
                  <a:spLocks noChangeArrowheads="1"/>
                </p:cNvSpPr>
                <p:nvPr/>
              </p:nvSpPr>
              <p:spPr bwMode="auto">
                <a:xfrm>
                  <a:off x="4256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US" altLang="zh-CN" sz="16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I/O</a:t>
                  </a:r>
                  <a:r>
                    <a:rPr lang="en-US" altLang="zh-CN" sz="1600" baseline="-25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3</a:t>
                  </a:r>
                </a:p>
              </p:txBody>
            </p:sp>
            <p:sp>
              <p:nvSpPr>
                <p:cNvPr id="142488" name="Text Box 290"/>
                <p:cNvSpPr txBox="1">
                  <a:spLocks noChangeArrowheads="1"/>
                </p:cNvSpPr>
                <p:nvPr/>
              </p:nvSpPr>
              <p:spPr bwMode="auto">
                <a:xfrm>
                  <a:off x="5414" y="3527"/>
                  <a:ext cx="346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US" altLang="zh-CN" sz="16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I/O</a:t>
                  </a:r>
                  <a:r>
                    <a:rPr lang="en-US" altLang="zh-CN" sz="1600" baseline="-25000">
                      <a:solidFill>
                        <a:schemeClr val="folHlink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</p:grpSp>
        </p:grpSp>
      </p:grpSp>
      <p:grpSp>
        <p:nvGrpSpPr>
          <p:cNvPr id="142344" name="Group 291"/>
          <p:cNvGrpSpPr/>
          <p:nvPr/>
        </p:nvGrpSpPr>
        <p:grpSpPr bwMode="auto">
          <a:xfrm>
            <a:off x="1668463" y="1903413"/>
            <a:ext cx="6977062" cy="4259262"/>
            <a:chOff x="1051" y="1199"/>
            <a:chExt cx="4395" cy="2683"/>
          </a:xfrm>
        </p:grpSpPr>
        <p:grpSp>
          <p:nvGrpSpPr>
            <p:cNvPr id="142438" name="Group 292"/>
            <p:cNvGrpSpPr/>
            <p:nvPr/>
          </p:nvGrpSpPr>
          <p:grpSpPr bwMode="auto">
            <a:xfrm>
              <a:off x="1142" y="3546"/>
              <a:ext cx="4304" cy="336"/>
              <a:chOff x="1142" y="3546"/>
              <a:chExt cx="4304" cy="336"/>
            </a:xfrm>
          </p:grpSpPr>
          <p:grpSp>
            <p:nvGrpSpPr>
              <p:cNvPr id="142469" name="Group 293"/>
              <p:cNvGrpSpPr/>
              <p:nvPr/>
            </p:nvGrpSpPr>
            <p:grpSpPr bwMode="auto">
              <a:xfrm>
                <a:off x="1142" y="3546"/>
                <a:ext cx="823" cy="336"/>
                <a:chOff x="1142" y="3546"/>
                <a:chExt cx="823" cy="336"/>
              </a:xfrm>
            </p:grpSpPr>
            <p:sp>
              <p:nvSpPr>
                <p:cNvPr id="142479" name="Rectangle 294"/>
                <p:cNvSpPr>
                  <a:spLocks noChangeArrowheads="1"/>
                </p:cNvSpPr>
                <p:nvPr/>
              </p:nvSpPr>
              <p:spPr bwMode="auto">
                <a:xfrm>
                  <a:off x="1142" y="3546"/>
                  <a:ext cx="823" cy="336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42480" name="Text Box 295"/>
                <p:cNvSpPr txBox="1">
                  <a:spLocks noChangeArrowheads="1"/>
                </p:cNvSpPr>
                <p:nvPr/>
              </p:nvSpPr>
              <p:spPr bwMode="auto">
                <a:xfrm>
                  <a:off x="1200" y="3590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读写电路</a:t>
                  </a:r>
                </a:p>
              </p:txBody>
            </p:sp>
          </p:grpSp>
          <p:grpSp>
            <p:nvGrpSpPr>
              <p:cNvPr id="142470" name="Group 296"/>
              <p:cNvGrpSpPr/>
              <p:nvPr/>
            </p:nvGrpSpPr>
            <p:grpSpPr bwMode="auto">
              <a:xfrm>
                <a:off x="2318" y="3546"/>
                <a:ext cx="823" cy="336"/>
                <a:chOff x="2318" y="3546"/>
                <a:chExt cx="823" cy="336"/>
              </a:xfrm>
            </p:grpSpPr>
            <p:sp>
              <p:nvSpPr>
                <p:cNvPr id="142477" name="Rectangle 297"/>
                <p:cNvSpPr>
                  <a:spLocks noChangeArrowheads="1"/>
                </p:cNvSpPr>
                <p:nvPr/>
              </p:nvSpPr>
              <p:spPr bwMode="auto">
                <a:xfrm>
                  <a:off x="2318" y="3546"/>
                  <a:ext cx="823" cy="336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42478" name="Text Box 298"/>
                <p:cNvSpPr txBox="1">
                  <a:spLocks noChangeArrowheads="1"/>
                </p:cNvSpPr>
                <p:nvPr/>
              </p:nvSpPr>
              <p:spPr bwMode="auto">
                <a:xfrm>
                  <a:off x="2352" y="3600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读写电路</a:t>
                  </a:r>
                </a:p>
              </p:txBody>
            </p:sp>
          </p:grpSp>
          <p:grpSp>
            <p:nvGrpSpPr>
              <p:cNvPr id="142471" name="Group 299"/>
              <p:cNvGrpSpPr/>
              <p:nvPr/>
            </p:nvGrpSpPr>
            <p:grpSpPr bwMode="auto">
              <a:xfrm>
                <a:off x="3470" y="3546"/>
                <a:ext cx="823" cy="336"/>
                <a:chOff x="3470" y="3546"/>
                <a:chExt cx="823" cy="336"/>
              </a:xfrm>
            </p:grpSpPr>
            <p:sp>
              <p:nvSpPr>
                <p:cNvPr id="142475" name="Rectangle 300"/>
                <p:cNvSpPr>
                  <a:spLocks noChangeArrowheads="1"/>
                </p:cNvSpPr>
                <p:nvPr/>
              </p:nvSpPr>
              <p:spPr bwMode="auto">
                <a:xfrm>
                  <a:off x="3470" y="3546"/>
                  <a:ext cx="823" cy="336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42476" name="Text Box 301"/>
                <p:cNvSpPr txBox="1">
                  <a:spLocks noChangeArrowheads="1"/>
                </p:cNvSpPr>
                <p:nvPr/>
              </p:nvSpPr>
              <p:spPr bwMode="auto">
                <a:xfrm>
                  <a:off x="3504" y="3600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读写电路</a:t>
                  </a:r>
                </a:p>
              </p:txBody>
            </p:sp>
          </p:grpSp>
          <p:grpSp>
            <p:nvGrpSpPr>
              <p:cNvPr id="142472" name="Group 302"/>
              <p:cNvGrpSpPr/>
              <p:nvPr/>
            </p:nvGrpSpPr>
            <p:grpSpPr bwMode="auto">
              <a:xfrm>
                <a:off x="4623" y="3546"/>
                <a:ext cx="823" cy="336"/>
                <a:chOff x="4623" y="3546"/>
                <a:chExt cx="823" cy="336"/>
              </a:xfrm>
            </p:grpSpPr>
            <p:sp>
              <p:nvSpPr>
                <p:cNvPr id="142473" name="Rectangle 303"/>
                <p:cNvSpPr>
                  <a:spLocks noChangeArrowheads="1"/>
                </p:cNvSpPr>
                <p:nvPr/>
              </p:nvSpPr>
              <p:spPr bwMode="auto">
                <a:xfrm>
                  <a:off x="4623" y="3546"/>
                  <a:ext cx="823" cy="336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 anchor="ctr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42474" name="Text Box 304"/>
                <p:cNvSpPr txBox="1">
                  <a:spLocks noChangeArrowheads="1"/>
                </p:cNvSpPr>
                <p:nvPr/>
              </p:nvSpPr>
              <p:spPr bwMode="auto">
                <a:xfrm>
                  <a:off x="4656" y="3600"/>
                  <a:ext cx="75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读写电路</a:t>
                  </a:r>
                </a:p>
              </p:txBody>
            </p:sp>
          </p:grpSp>
        </p:grpSp>
        <p:grpSp>
          <p:nvGrpSpPr>
            <p:cNvPr id="142439" name="Group 305"/>
            <p:cNvGrpSpPr/>
            <p:nvPr/>
          </p:nvGrpSpPr>
          <p:grpSpPr bwMode="auto">
            <a:xfrm>
              <a:off x="1055" y="2736"/>
              <a:ext cx="4225" cy="816"/>
              <a:chOff x="1055" y="2736"/>
              <a:chExt cx="4225" cy="816"/>
            </a:xfrm>
          </p:grpSpPr>
          <p:grpSp>
            <p:nvGrpSpPr>
              <p:cNvPr id="142459" name="Group 306"/>
              <p:cNvGrpSpPr/>
              <p:nvPr/>
            </p:nvGrpSpPr>
            <p:grpSpPr bwMode="auto">
              <a:xfrm>
                <a:off x="1391" y="2736"/>
                <a:ext cx="3889" cy="816"/>
                <a:chOff x="1391" y="2736"/>
                <a:chExt cx="3889" cy="816"/>
              </a:xfrm>
            </p:grpSpPr>
            <p:sp>
              <p:nvSpPr>
                <p:cNvPr id="142465" name="Freeform 307"/>
                <p:cNvSpPr/>
                <p:nvPr/>
              </p:nvSpPr>
              <p:spPr bwMode="auto">
                <a:xfrm>
                  <a:off x="1391" y="2736"/>
                  <a:ext cx="432" cy="816"/>
                </a:xfrm>
                <a:custGeom>
                  <a:avLst/>
                  <a:gdLst>
                    <a:gd name="T0" fmla="*/ 0 w 432"/>
                    <a:gd name="T1" fmla="*/ 0 h 816"/>
                    <a:gd name="T2" fmla="*/ 144 w 432"/>
                    <a:gd name="T3" fmla="*/ 0 h 816"/>
                    <a:gd name="T4" fmla="*/ 144 w 432"/>
                    <a:gd name="T5" fmla="*/ 576 h 816"/>
                    <a:gd name="T6" fmla="*/ 432 w 432"/>
                    <a:gd name="T7" fmla="*/ 576 h 816"/>
                    <a:gd name="T8" fmla="*/ 432 w 432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32"/>
                    <a:gd name="T16" fmla="*/ 0 h 816"/>
                    <a:gd name="T17" fmla="*/ 432 w 432"/>
                    <a:gd name="T18" fmla="*/ 816 h 81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32" h="816">
                      <a:moveTo>
                        <a:pt x="0" y="0"/>
                      </a:moveTo>
                      <a:lnTo>
                        <a:pt x="144" y="0"/>
                      </a:lnTo>
                      <a:lnTo>
                        <a:pt x="144" y="576"/>
                      </a:lnTo>
                      <a:lnTo>
                        <a:pt x="432" y="576"/>
                      </a:lnTo>
                      <a:lnTo>
                        <a:pt x="432" y="816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2466" name="Freeform 308"/>
                <p:cNvSpPr/>
                <p:nvPr/>
              </p:nvSpPr>
              <p:spPr bwMode="auto">
                <a:xfrm>
                  <a:off x="4848" y="2736"/>
                  <a:ext cx="432" cy="816"/>
                </a:xfrm>
                <a:custGeom>
                  <a:avLst/>
                  <a:gdLst>
                    <a:gd name="T0" fmla="*/ 0 w 432"/>
                    <a:gd name="T1" fmla="*/ 0 h 816"/>
                    <a:gd name="T2" fmla="*/ 144 w 432"/>
                    <a:gd name="T3" fmla="*/ 0 h 816"/>
                    <a:gd name="T4" fmla="*/ 144 w 432"/>
                    <a:gd name="T5" fmla="*/ 576 h 816"/>
                    <a:gd name="T6" fmla="*/ 432 w 432"/>
                    <a:gd name="T7" fmla="*/ 576 h 816"/>
                    <a:gd name="T8" fmla="*/ 432 w 432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32"/>
                    <a:gd name="T16" fmla="*/ 0 h 816"/>
                    <a:gd name="T17" fmla="*/ 432 w 432"/>
                    <a:gd name="T18" fmla="*/ 816 h 81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32" h="816">
                      <a:moveTo>
                        <a:pt x="0" y="0"/>
                      </a:moveTo>
                      <a:lnTo>
                        <a:pt x="144" y="0"/>
                      </a:lnTo>
                      <a:lnTo>
                        <a:pt x="144" y="576"/>
                      </a:lnTo>
                      <a:lnTo>
                        <a:pt x="432" y="576"/>
                      </a:lnTo>
                      <a:lnTo>
                        <a:pt x="432" y="816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2467" name="Freeform 309"/>
                <p:cNvSpPr/>
                <p:nvPr/>
              </p:nvSpPr>
              <p:spPr bwMode="auto">
                <a:xfrm>
                  <a:off x="3696" y="2736"/>
                  <a:ext cx="432" cy="816"/>
                </a:xfrm>
                <a:custGeom>
                  <a:avLst/>
                  <a:gdLst>
                    <a:gd name="T0" fmla="*/ 0 w 432"/>
                    <a:gd name="T1" fmla="*/ 0 h 816"/>
                    <a:gd name="T2" fmla="*/ 144 w 432"/>
                    <a:gd name="T3" fmla="*/ 0 h 816"/>
                    <a:gd name="T4" fmla="*/ 144 w 432"/>
                    <a:gd name="T5" fmla="*/ 576 h 816"/>
                    <a:gd name="T6" fmla="*/ 432 w 432"/>
                    <a:gd name="T7" fmla="*/ 576 h 816"/>
                    <a:gd name="T8" fmla="*/ 432 w 432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32"/>
                    <a:gd name="T16" fmla="*/ 0 h 816"/>
                    <a:gd name="T17" fmla="*/ 432 w 432"/>
                    <a:gd name="T18" fmla="*/ 816 h 81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32" h="816">
                      <a:moveTo>
                        <a:pt x="0" y="0"/>
                      </a:moveTo>
                      <a:lnTo>
                        <a:pt x="144" y="0"/>
                      </a:lnTo>
                      <a:lnTo>
                        <a:pt x="144" y="576"/>
                      </a:lnTo>
                      <a:lnTo>
                        <a:pt x="432" y="576"/>
                      </a:lnTo>
                      <a:lnTo>
                        <a:pt x="432" y="816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2468" name="Freeform 310"/>
                <p:cNvSpPr/>
                <p:nvPr/>
              </p:nvSpPr>
              <p:spPr bwMode="auto">
                <a:xfrm>
                  <a:off x="2542" y="2736"/>
                  <a:ext cx="432" cy="816"/>
                </a:xfrm>
                <a:custGeom>
                  <a:avLst/>
                  <a:gdLst>
                    <a:gd name="T0" fmla="*/ 0 w 432"/>
                    <a:gd name="T1" fmla="*/ 0 h 816"/>
                    <a:gd name="T2" fmla="*/ 144 w 432"/>
                    <a:gd name="T3" fmla="*/ 0 h 816"/>
                    <a:gd name="T4" fmla="*/ 144 w 432"/>
                    <a:gd name="T5" fmla="*/ 576 h 816"/>
                    <a:gd name="T6" fmla="*/ 432 w 432"/>
                    <a:gd name="T7" fmla="*/ 576 h 816"/>
                    <a:gd name="T8" fmla="*/ 432 w 432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32"/>
                    <a:gd name="T16" fmla="*/ 0 h 816"/>
                    <a:gd name="T17" fmla="*/ 432 w 432"/>
                    <a:gd name="T18" fmla="*/ 816 h 81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32" h="816">
                      <a:moveTo>
                        <a:pt x="0" y="0"/>
                      </a:moveTo>
                      <a:lnTo>
                        <a:pt x="144" y="0"/>
                      </a:lnTo>
                      <a:lnTo>
                        <a:pt x="144" y="576"/>
                      </a:lnTo>
                      <a:lnTo>
                        <a:pt x="432" y="576"/>
                      </a:lnTo>
                      <a:lnTo>
                        <a:pt x="432" y="816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42460" name="Group 311"/>
              <p:cNvGrpSpPr/>
              <p:nvPr/>
            </p:nvGrpSpPr>
            <p:grpSpPr bwMode="auto">
              <a:xfrm>
                <a:off x="1055" y="2748"/>
                <a:ext cx="3750" cy="804"/>
                <a:chOff x="1055" y="2748"/>
                <a:chExt cx="3750" cy="804"/>
              </a:xfrm>
            </p:grpSpPr>
            <p:sp>
              <p:nvSpPr>
                <p:cNvPr id="142461" name="Freeform 312"/>
                <p:cNvSpPr/>
                <p:nvPr/>
              </p:nvSpPr>
              <p:spPr bwMode="auto">
                <a:xfrm>
                  <a:off x="1055" y="2748"/>
                  <a:ext cx="280" cy="795"/>
                </a:xfrm>
                <a:custGeom>
                  <a:avLst/>
                  <a:gdLst>
                    <a:gd name="T0" fmla="*/ 276 w 280"/>
                    <a:gd name="T1" fmla="*/ 795 h 795"/>
                    <a:gd name="T2" fmla="*/ 280 w 280"/>
                    <a:gd name="T3" fmla="*/ 657 h 795"/>
                    <a:gd name="T4" fmla="*/ 0 w 280"/>
                    <a:gd name="T5" fmla="*/ 660 h 795"/>
                    <a:gd name="T6" fmla="*/ 3 w 280"/>
                    <a:gd name="T7" fmla="*/ 0 h 795"/>
                    <a:gd name="T8" fmla="*/ 144 w 280"/>
                    <a:gd name="T9" fmla="*/ 0 h 79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0"/>
                    <a:gd name="T16" fmla="*/ 0 h 795"/>
                    <a:gd name="T17" fmla="*/ 280 w 280"/>
                    <a:gd name="T18" fmla="*/ 795 h 79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0" h="795">
                      <a:moveTo>
                        <a:pt x="276" y="795"/>
                      </a:moveTo>
                      <a:lnTo>
                        <a:pt x="280" y="657"/>
                      </a:lnTo>
                      <a:lnTo>
                        <a:pt x="0" y="660"/>
                      </a:lnTo>
                      <a:lnTo>
                        <a:pt x="3" y="0"/>
                      </a:lnTo>
                      <a:lnTo>
                        <a:pt x="144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2462" name="Freeform 313"/>
                <p:cNvSpPr/>
                <p:nvPr/>
              </p:nvSpPr>
              <p:spPr bwMode="auto">
                <a:xfrm>
                  <a:off x="2207" y="2757"/>
                  <a:ext cx="294" cy="795"/>
                </a:xfrm>
                <a:custGeom>
                  <a:avLst/>
                  <a:gdLst>
                    <a:gd name="T0" fmla="*/ 294 w 294"/>
                    <a:gd name="T1" fmla="*/ 795 h 795"/>
                    <a:gd name="T2" fmla="*/ 294 w 294"/>
                    <a:gd name="T3" fmla="*/ 657 h 795"/>
                    <a:gd name="T4" fmla="*/ 0 w 294"/>
                    <a:gd name="T5" fmla="*/ 657 h 795"/>
                    <a:gd name="T6" fmla="*/ 3 w 294"/>
                    <a:gd name="T7" fmla="*/ 0 h 795"/>
                    <a:gd name="T8" fmla="*/ 144 w 294"/>
                    <a:gd name="T9" fmla="*/ 0 h 79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4"/>
                    <a:gd name="T16" fmla="*/ 0 h 795"/>
                    <a:gd name="T17" fmla="*/ 294 w 294"/>
                    <a:gd name="T18" fmla="*/ 795 h 79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4" h="795">
                      <a:moveTo>
                        <a:pt x="294" y="795"/>
                      </a:moveTo>
                      <a:lnTo>
                        <a:pt x="294" y="657"/>
                      </a:lnTo>
                      <a:lnTo>
                        <a:pt x="0" y="657"/>
                      </a:lnTo>
                      <a:lnTo>
                        <a:pt x="3" y="0"/>
                      </a:lnTo>
                      <a:lnTo>
                        <a:pt x="144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2463" name="Freeform 314"/>
                <p:cNvSpPr/>
                <p:nvPr/>
              </p:nvSpPr>
              <p:spPr bwMode="auto">
                <a:xfrm>
                  <a:off x="3359" y="2757"/>
                  <a:ext cx="294" cy="795"/>
                </a:xfrm>
                <a:custGeom>
                  <a:avLst/>
                  <a:gdLst>
                    <a:gd name="T0" fmla="*/ 294 w 294"/>
                    <a:gd name="T1" fmla="*/ 795 h 795"/>
                    <a:gd name="T2" fmla="*/ 294 w 294"/>
                    <a:gd name="T3" fmla="*/ 657 h 795"/>
                    <a:gd name="T4" fmla="*/ 0 w 294"/>
                    <a:gd name="T5" fmla="*/ 657 h 795"/>
                    <a:gd name="T6" fmla="*/ 3 w 294"/>
                    <a:gd name="T7" fmla="*/ 0 h 795"/>
                    <a:gd name="T8" fmla="*/ 144 w 294"/>
                    <a:gd name="T9" fmla="*/ 0 h 79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4"/>
                    <a:gd name="T16" fmla="*/ 0 h 795"/>
                    <a:gd name="T17" fmla="*/ 294 w 294"/>
                    <a:gd name="T18" fmla="*/ 795 h 79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4" h="795">
                      <a:moveTo>
                        <a:pt x="294" y="795"/>
                      </a:moveTo>
                      <a:lnTo>
                        <a:pt x="294" y="657"/>
                      </a:lnTo>
                      <a:lnTo>
                        <a:pt x="0" y="657"/>
                      </a:lnTo>
                      <a:lnTo>
                        <a:pt x="3" y="0"/>
                      </a:lnTo>
                      <a:lnTo>
                        <a:pt x="144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2464" name="Freeform 315"/>
                <p:cNvSpPr/>
                <p:nvPr/>
              </p:nvSpPr>
              <p:spPr bwMode="auto">
                <a:xfrm>
                  <a:off x="4511" y="2757"/>
                  <a:ext cx="294" cy="795"/>
                </a:xfrm>
                <a:custGeom>
                  <a:avLst/>
                  <a:gdLst>
                    <a:gd name="T0" fmla="*/ 294 w 294"/>
                    <a:gd name="T1" fmla="*/ 795 h 795"/>
                    <a:gd name="T2" fmla="*/ 294 w 294"/>
                    <a:gd name="T3" fmla="*/ 657 h 795"/>
                    <a:gd name="T4" fmla="*/ 0 w 294"/>
                    <a:gd name="T5" fmla="*/ 657 h 795"/>
                    <a:gd name="T6" fmla="*/ 3 w 294"/>
                    <a:gd name="T7" fmla="*/ 0 h 795"/>
                    <a:gd name="T8" fmla="*/ 144 w 294"/>
                    <a:gd name="T9" fmla="*/ 0 h 79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4"/>
                    <a:gd name="T16" fmla="*/ 0 h 795"/>
                    <a:gd name="T17" fmla="*/ 294 w 294"/>
                    <a:gd name="T18" fmla="*/ 795 h 79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4" h="795">
                      <a:moveTo>
                        <a:pt x="294" y="795"/>
                      </a:moveTo>
                      <a:lnTo>
                        <a:pt x="294" y="657"/>
                      </a:lnTo>
                      <a:lnTo>
                        <a:pt x="0" y="657"/>
                      </a:lnTo>
                      <a:lnTo>
                        <a:pt x="3" y="0"/>
                      </a:lnTo>
                      <a:lnTo>
                        <a:pt x="144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42440" name="Group 316"/>
            <p:cNvGrpSpPr/>
            <p:nvPr/>
          </p:nvGrpSpPr>
          <p:grpSpPr bwMode="auto">
            <a:xfrm>
              <a:off x="1051" y="1199"/>
              <a:ext cx="3953" cy="1485"/>
              <a:chOff x="1051" y="1199"/>
              <a:chExt cx="3953" cy="1485"/>
            </a:xfrm>
          </p:grpSpPr>
          <p:grpSp>
            <p:nvGrpSpPr>
              <p:cNvPr id="142441" name="Group 317"/>
              <p:cNvGrpSpPr/>
              <p:nvPr/>
            </p:nvGrpSpPr>
            <p:grpSpPr bwMode="auto">
              <a:xfrm>
                <a:off x="1051" y="2355"/>
                <a:ext cx="3942" cy="5"/>
                <a:chOff x="1051" y="2355"/>
                <a:chExt cx="3942" cy="5"/>
              </a:xfrm>
            </p:grpSpPr>
            <p:sp>
              <p:nvSpPr>
                <p:cNvPr id="142451" name="Freeform 318"/>
                <p:cNvSpPr/>
                <p:nvPr/>
              </p:nvSpPr>
              <p:spPr bwMode="auto">
                <a:xfrm>
                  <a:off x="1430" y="2359"/>
                  <a:ext cx="112" cy="1"/>
                </a:xfrm>
                <a:custGeom>
                  <a:avLst/>
                  <a:gdLst>
                    <a:gd name="T0" fmla="*/ 0 w 112"/>
                    <a:gd name="T1" fmla="*/ 0 h 1"/>
                    <a:gd name="T2" fmla="*/ 112 w 112"/>
                    <a:gd name="T3" fmla="*/ 0 h 1"/>
                    <a:gd name="T4" fmla="*/ 0 60000 65536"/>
                    <a:gd name="T5" fmla="*/ 0 60000 65536"/>
                    <a:gd name="T6" fmla="*/ 0 w 112"/>
                    <a:gd name="T7" fmla="*/ 0 h 1"/>
                    <a:gd name="T8" fmla="*/ 112 w 11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12" h="1">
                      <a:moveTo>
                        <a:pt x="0" y="0"/>
                      </a:moveTo>
                      <a:lnTo>
                        <a:pt x="112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2452" name="Freeform 319"/>
                <p:cNvSpPr/>
                <p:nvPr/>
              </p:nvSpPr>
              <p:spPr bwMode="auto">
                <a:xfrm>
                  <a:off x="1051" y="2359"/>
                  <a:ext cx="102" cy="1"/>
                </a:xfrm>
                <a:custGeom>
                  <a:avLst/>
                  <a:gdLst>
                    <a:gd name="T0" fmla="*/ 102 w 102"/>
                    <a:gd name="T1" fmla="*/ 0 h 1"/>
                    <a:gd name="T2" fmla="*/ 0 w 102"/>
                    <a:gd name="T3" fmla="*/ 0 h 1"/>
                    <a:gd name="T4" fmla="*/ 0 60000 65536"/>
                    <a:gd name="T5" fmla="*/ 0 60000 65536"/>
                    <a:gd name="T6" fmla="*/ 0 w 102"/>
                    <a:gd name="T7" fmla="*/ 0 h 1"/>
                    <a:gd name="T8" fmla="*/ 102 w 1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2" h="1">
                      <a:moveTo>
                        <a:pt x="102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2453" name="Freeform 320"/>
                <p:cNvSpPr/>
                <p:nvPr/>
              </p:nvSpPr>
              <p:spPr bwMode="auto">
                <a:xfrm>
                  <a:off x="2582" y="2359"/>
                  <a:ext cx="109" cy="1"/>
                </a:xfrm>
                <a:custGeom>
                  <a:avLst/>
                  <a:gdLst>
                    <a:gd name="T0" fmla="*/ 0 w 109"/>
                    <a:gd name="T1" fmla="*/ 0 h 1"/>
                    <a:gd name="T2" fmla="*/ 109 w 109"/>
                    <a:gd name="T3" fmla="*/ 0 h 1"/>
                    <a:gd name="T4" fmla="*/ 0 60000 65536"/>
                    <a:gd name="T5" fmla="*/ 0 60000 65536"/>
                    <a:gd name="T6" fmla="*/ 0 w 109"/>
                    <a:gd name="T7" fmla="*/ 0 h 1"/>
                    <a:gd name="T8" fmla="*/ 109 w 109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9" h="1">
                      <a:moveTo>
                        <a:pt x="0" y="0"/>
                      </a:moveTo>
                      <a:lnTo>
                        <a:pt x="109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2454" name="Freeform 321"/>
                <p:cNvSpPr/>
                <p:nvPr/>
              </p:nvSpPr>
              <p:spPr bwMode="auto">
                <a:xfrm>
                  <a:off x="2203" y="2359"/>
                  <a:ext cx="89" cy="1"/>
                </a:xfrm>
                <a:custGeom>
                  <a:avLst/>
                  <a:gdLst>
                    <a:gd name="T0" fmla="*/ 89 w 89"/>
                    <a:gd name="T1" fmla="*/ 0 h 1"/>
                    <a:gd name="T2" fmla="*/ 0 w 89"/>
                    <a:gd name="T3" fmla="*/ 0 h 1"/>
                    <a:gd name="T4" fmla="*/ 0 60000 65536"/>
                    <a:gd name="T5" fmla="*/ 0 60000 65536"/>
                    <a:gd name="T6" fmla="*/ 0 w 89"/>
                    <a:gd name="T7" fmla="*/ 0 h 1"/>
                    <a:gd name="T8" fmla="*/ 89 w 89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89" h="1">
                      <a:moveTo>
                        <a:pt x="89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2455" name="Freeform 322"/>
                <p:cNvSpPr/>
                <p:nvPr/>
              </p:nvSpPr>
              <p:spPr bwMode="auto">
                <a:xfrm>
                  <a:off x="3749" y="2355"/>
                  <a:ext cx="99" cy="3"/>
                </a:xfrm>
                <a:custGeom>
                  <a:avLst/>
                  <a:gdLst>
                    <a:gd name="T0" fmla="*/ 0 w 99"/>
                    <a:gd name="T1" fmla="*/ 3 h 3"/>
                    <a:gd name="T2" fmla="*/ 99 w 99"/>
                    <a:gd name="T3" fmla="*/ 0 h 3"/>
                    <a:gd name="T4" fmla="*/ 0 60000 65536"/>
                    <a:gd name="T5" fmla="*/ 0 60000 65536"/>
                    <a:gd name="T6" fmla="*/ 0 w 99"/>
                    <a:gd name="T7" fmla="*/ 0 h 3"/>
                    <a:gd name="T8" fmla="*/ 99 w 99"/>
                    <a:gd name="T9" fmla="*/ 3 h 3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9" h="3">
                      <a:moveTo>
                        <a:pt x="0" y="3"/>
                      </a:moveTo>
                      <a:lnTo>
                        <a:pt x="99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2456" name="Freeform 323"/>
                <p:cNvSpPr/>
                <p:nvPr/>
              </p:nvSpPr>
              <p:spPr bwMode="auto">
                <a:xfrm>
                  <a:off x="3355" y="2359"/>
                  <a:ext cx="108" cy="1"/>
                </a:xfrm>
                <a:custGeom>
                  <a:avLst/>
                  <a:gdLst>
                    <a:gd name="T0" fmla="*/ 108 w 108"/>
                    <a:gd name="T1" fmla="*/ 0 h 1"/>
                    <a:gd name="T2" fmla="*/ 0 w 108"/>
                    <a:gd name="T3" fmla="*/ 0 h 1"/>
                    <a:gd name="T4" fmla="*/ 0 60000 65536"/>
                    <a:gd name="T5" fmla="*/ 0 60000 65536"/>
                    <a:gd name="T6" fmla="*/ 0 w 108"/>
                    <a:gd name="T7" fmla="*/ 0 h 1"/>
                    <a:gd name="T8" fmla="*/ 108 w 108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8" h="1">
                      <a:moveTo>
                        <a:pt x="108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2457" name="Freeform 324"/>
                <p:cNvSpPr/>
                <p:nvPr/>
              </p:nvSpPr>
              <p:spPr bwMode="auto">
                <a:xfrm>
                  <a:off x="4886" y="2359"/>
                  <a:ext cx="107" cy="1"/>
                </a:xfrm>
                <a:custGeom>
                  <a:avLst/>
                  <a:gdLst>
                    <a:gd name="T0" fmla="*/ 0 w 107"/>
                    <a:gd name="T1" fmla="*/ 0 h 1"/>
                    <a:gd name="T2" fmla="*/ 107 w 107"/>
                    <a:gd name="T3" fmla="*/ 0 h 1"/>
                    <a:gd name="T4" fmla="*/ 0 60000 65536"/>
                    <a:gd name="T5" fmla="*/ 0 60000 65536"/>
                    <a:gd name="T6" fmla="*/ 0 w 107"/>
                    <a:gd name="T7" fmla="*/ 0 h 1"/>
                    <a:gd name="T8" fmla="*/ 107 w 107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07" h="1">
                      <a:moveTo>
                        <a:pt x="0" y="0"/>
                      </a:moveTo>
                      <a:lnTo>
                        <a:pt x="107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2458" name="Freeform 325"/>
                <p:cNvSpPr/>
                <p:nvPr/>
              </p:nvSpPr>
              <p:spPr bwMode="auto">
                <a:xfrm>
                  <a:off x="4507" y="2359"/>
                  <a:ext cx="96" cy="1"/>
                </a:xfrm>
                <a:custGeom>
                  <a:avLst/>
                  <a:gdLst>
                    <a:gd name="T0" fmla="*/ 96 w 96"/>
                    <a:gd name="T1" fmla="*/ 0 h 1"/>
                    <a:gd name="T2" fmla="*/ 0 w 96"/>
                    <a:gd name="T3" fmla="*/ 0 h 1"/>
                    <a:gd name="T4" fmla="*/ 0 60000 65536"/>
                    <a:gd name="T5" fmla="*/ 0 60000 65536"/>
                    <a:gd name="T6" fmla="*/ 0 w 96"/>
                    <a:gd name="T7" fmla="*/ 0 h 1"/>
                    <a:gd name="T8" fmla="*/ 96 w 96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1">
                      <a:moveTo>
                        <a:pt x="96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42442" name="Group 326"/>
              <p:cNvGrpSpPr/>
              <p:nvPr/>
            </p:nvGrpSpPr>
            <p:grpSpPr bwMode="auto">
              <a:xfrm>
                <a:off x="1055" y="1215"/>
                <a:ext cx="3608" cy="1469"/>
                <a:chOff x="1055" y="1215"/>
                <a:chExt cx="3608" cy="1469"/>
              </a:xfrm>
            </p:grpSpPr>
            <p:sp>
              <p:nvSpPr>
                <p:cNvPr id="142447" name="Freeform 327"/>
                <p:cNvSpPr/>
                <p:nvPr/>
              </p:nvSpPr>
              <p:spPr bwMode="auto">
                <a:xfrm>
                  <a:off x="1055" y="1215"/>
                  <a:ext cx="152" cy="1469"/>
                </a:xfrm>
                <a:custGeom>
                  <a:avLst/>
                  <a:gdLst>
                    <a:gd name="T0" fmla="*/ 152 w 152"/>
                    <a:gd name="T1" fmla="*/ 1469 h 1469"/>
                    <a:gd name="T2" fmla="*/ 0 w 152"/>
                    <a:gd name="T3" fmla="*/ 1469 h 1469"/>
                    <a:gd name="T4" fmla="*/ 4 w 152"/>
                    <a:gd name="T5" fmla="*/ 0 h 1469"/>
                    <a:gd name="T6" fmla="*/ 95 w 152"/>
                    <a:gd name="T7" fmla="*/ 1 h 1469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"/>
                    <a:gd name="T13" fmla="*/ 0 h 1469"/>
                    <a:gd name="T14" fmla="*/ 152 w 152"/>
                    <a:gd name="T15" fmla="*/ 1469 h 1469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" h="1469">
                      <a:moveTo>
                        <a:pt x="152" y="1469"/>
                      </a:moveTo>
                      <a:lnTo>
                        <a:pt x="0" y="1469"/>
                      </a:lnTo>
                      <a:lnTo>
                        <a:pt x="4" y="0"/>
                      </a:lnTo>
                      <a:lnTo>
                        <a:pt x="95" y="1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2448" name="Freeform 328"/>
                <p:cNvSpPr/>
                <p:nvPr/>
              </p:nvSpPr>
              <p:spPr bwMode="auto">
                <a:xfrm>
                  <a:off x="2207" y="1217"/>
                  <a:ext cx="152" cy="1467"/>
                </a:xfrm>
                <a:custGeom>
                  <a:avLst/>
                  <a:gdLst>
                    <a:gd name="T0" fmla="*/ 152 w 152"/>
                    <a:gd name="T1" fmla="*/ 1467 h 1467"/>
                    <a:gd name="T2" fmla="*/ 0 w 152"/>
                    <a:gd name="T3" fmla="*/ 1467 h 1467"/>
                    <a:gd name="T4" fmla="*/ 1 w 152"/>
                    <a:gd name="T5" fmla="*/ 1 h 1467"/>
                    <a:gd name="T6" fmla="*/ 86 w 152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"/>
                    <a:gd name="T13" fmla="*/ 0 h 1467"/>
                    <a:gd name="T14" fmla="*/ 152 w 152"/>
                    <a:gd name="T15" fmla="*/ 1467 h 146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" h="1467">
                      <a:moveTo>
                        <a:pt x="152" y="1467"/>
                      </a:moveTo>
                      <a:lnTo>
                        <a:pt x="0" y="1467"/>
                      </a:lnTo>
                      <a:lnTo>
                        <a:pt x="1" y="1"/>
                      </a:lnTo>
                      <a:lnTo>
                        <a:pt x="86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2449" name="Freeform 329"/>
                <p:cNvSpPr/>
                <p:nvPr/>
              </p:nvSpPr>
              <p:spPr bwMode="auto">
                <a:xfrm>
                  <a:off x="3359" y="1218"/>
                  <a:ext cx="152" cy="1466"/>
                </a:xfrm>
                <a:custGeom>
                  <a:avLst/>
                  <a:gdLst>
                    <a:gd name="T0" fmla="*/ 152 w 152"/>
                    <a:gd name="T1" fmla="*/ 1466 h 1466"/>
                    <a:gd name="T2" fmla="*/ 0 w 152"/>
                    <a:gd name="T3" fmla="*/ 1466 h 1466"/>
                    <a:gd name="T4" fmla="*/ 1 w 152"/>
                    <a:gd name="T5" fmla="*/ 0 h 1466"/>
                    <a:gd name="T6" fmla="*/ 109 w 152"/>
                    <a:gd name="T7" fmla="*/ 0 h 146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"/>
                    <a:gd name="T13" fmla="*/ 0 h 1466"/>
                    <a:gd name="T14" fmla="*/ 152 w 152"/>
                    <a:gd name="T15" fmla="*/ 1466 h 146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" h="1466">
                      <a:moveTo>
                        <a:pt x="152" y="1466"/>
                      </a:moveTo>
                      <a:lnTo>
                        <a:pt x="0" y="1466"/>
                      </a:lnTo>
                      <a:lnTo>
                        <a:pt x="1" y="0"/>
                      </a:lnTo>
                      <a:lnTo>
                        <a:pt x="109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2450" name="Freeform 330"/>
                <p:cNvSpPr/>
                <p:nvPr/>
              </p:nvSpPr>
              <p:spPr bwMode="auto">
                <a:xfrm>
                  <a:off x="4505" y="1217"/>
                  <a:ext cx="158" cy="1467"/>
                </a:xfrm>
                <a:custGeom>
                  <a:avLst/>
                  <a:gdLst>
                    <a:gd name="T0" fmla="*/ 158 w 158"/>
                    <a:gd name="T1" fmla="*/ 1467 h 1467"/>
                    <a:gd name="T2" fmla="*/ 0 w 158"/>
                    <a:gd name="T3" fmla="*/ 1467 h 1467"/>
                    <a:gd name="T4" fmla="*/ 0 w 158"/>
                    <a:gd name="T5" fmla="*/ 0 h 1467"/>
                    <a:gd name="T6" fmla="*/ 95 w 158"/>
                    <a:gd name="T7" fmla="*/ 0 h 146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8"/>
                    <a:gd name="T13" fmla="*/ 0 h 1467"/>
                    <a:gd name="T14" fmla="*/ 158 w 158"/>
                    <a:gd name="T15" fmla="*/ 1467 h 146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8" h="1467">
                      <a:moveTo>
                        <a:pt x="158" y="1467"/>
                      </a:moveTo>
                      <a:lnTo>
                        <a:pt x="0" y="1467"/>
                      </a:lnTo>
                      <a:lnTo>
                        <a:pt x="0" y="0"/>
                      </a:lnTo>
                      <a:lnTo>
                        <a:pt x="95" y="0"/>
                      </a:lnTo>
                    </a:path>
                  </a:pathLst>
                </a:custGeom>
                <a:noFill/>
                <a:ln w="57150" cap="flat" cmpd="sng">
                  <a:solidFill>
                    <a:schemeClr val="folHlink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142443" name="Freeform 331"/>
              <p:cNvSpPr/>
              <p:nvPr/>
            </p:nvSpPr>
            <p:spPr bwMode="auto">
              <a:xfrm>
                <a:off x="1397" y="1202"/>
                <a:ext cx="145" cy="1466"/>
              </a:xfrm>
              <a:custGeom>
                <a:avLst/>
                <a:gdLst>
                  <a:gd name="T0" fmla="*/ 37 w 145"/>
                  <a:gd name="T1" fmla="*/ 0 h 1466"/>
                  <a:gd name="T2" fmla="*/ 145 w 145"/>
                  <a:gd name="T3" fmla="*/ 0 h 1466"/>
                  <a:gd name="T4" fmla="*/ 144 w 145"/>
                  <a:gd name="T5" fmla="*/ 1466 h 1466"/>
                  <a:gd name="T6" fmla="*/ 0 w 145"/>
                  <a:gd name="T7" fmla="*/ 1466 h 14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5"/>
                  <a:gd name="T13" fmla="*/ 0 h 1466"/>
                  <a:gd name="T14" fmla="*/ 145 w 145"/>
                  <a:gd name="T15" fmla="*/ 1466 h 14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5" h="1466">
                    <a:moveTo>
                      <a:pt x="37" y="0"/>
                    </a:moveTo>
                    <a:lnTo>
                      <a:pt x="145" y="0"/>
                    </a:lnTo>
                    <a:lnTo>
                      <a:pt x="144" y="1466"/>
                    </a:lnTo>
                    <a:lnTo>
                      <a:pt x="0" y="1466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444" name="Freeform 332"/>
              <p:cNvSpPr/>
              <p:nvPr/>
            </p:nvSpPr>
            <p:spPr bwMode="auto">
              <a:xfrm>
                <a:off x="2550" y="1199"/>
                <a:ext cx="150" cy="1474"/>
              </a:xfrm>
              <a:custGeom>
                <a:avLst/>
                <a:gdLst>
                  <a:gd name="T0" fmla="*/ 42 w 150"/>
                  <a:gd name="T1" fmla="*/ 0 h 1474"/>
                  <a:gd name="T2" fmla="*/ 150 w 150"/>
                  <a:gd name="T3" fmla="*/ 0 h 1474"/>
                  <a:gd name="T4" fmla="*/ 147 w 150"/>
                  <a:gd name="T5" fmla="*/ 1474 h 1474"/>
                  <a:gd name="T6" fmla="*/ 0 w 150"/>
                  <a:gd name="T7" fmla="*/ 1474 h 147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0"/>
                  <a:gd name="T13" fmla="*/ 0 h 1474"/>
                  <a:gd name="T14" fmla="*/ 150 w 150"/>
                  <a:gd name="T15" fmla="*/ 1474 h 147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0" h="1474">
                    <a:moveTo>
                      <a:pt x="42" y="0"/>
                    </a:moveTo>
                    <a:lnTo>
                      <a:pt x="150" y="0"/>
                    </a:lnTo>
                    <a:lnTo>
                      <a:pt x="147" y="1474"/>
                    </a:lnTo>
                    <a:lnTo>
                      <a:pt x="0" y="1474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445" name="Freeform 333"/>
              <p:cNvSpPr/>
              <p:nvPr/>
            </p:nvSpPr>
            <p:spPr bwMode="auto">
              <a:xfrm>
                <a:off x="3705" y="1199"/>
                <a:ext cx="141" cy="1471"/>
              </a:xfrm>
              <a:custGeom>
                <a:avLst/>
                <a:gdLst>
                  <a:gd name="T0" fmla="*/ 33 w 141"/>
                  <a:gd name="T1" fmla="*/ 0 h 1471"/>
                  <a:gd name="T2" fmla="*/ 141 w 141"/>
                  <a:gd name="T3" fmla="*/ 0 h 1471"/>
                  <a:gd name="T4" fmla="*/ 141 w 141"/>
                  <a:gd name="T5" fmla="*/ 1471 h 1471"/>
                  <a:gd name="T6" fmla="*/ 0 w 141"/>
                  <a:gd name="T7" fmla="*/ 1471 h 147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1"/>
                  <a:gd name="T13" fmla="*/ 0 h 1471"/>
                  <a:gd name="T14" fmla="*/ 141 w 141"/>
                  <a:gd name="T15" fmla="*/ 1471 h 147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1" h="1471">
                    <a:moveTo>
                      <a:pt x="33" y="0"/>
                    </a:moveTo>
                    <a:lnTo>
                      <a:pt x="141" y="0"/>
                    </a:lnTo>
                    <a:lnTo>
                      <a:pt x="141" y="1471"/>
                    </a:lnTo>
                    <a:lnTo>
                      <a:pt x="0" y="1471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446" name="Freeform 334"/>
              <p:cNvSpPr/>
              <p:nvPr/>
            </p:nvSpPr>
            <p:spPr bwMode="auto">
              <a:xfrm>
                <a:off x="4854" y="1199"/>
                <a:ext cx="150" cy="1480"/>
              </a:xfrm>
              <a:custGeom>
                <a:avLst/>
                <a:gdLst>
                  <a:gd name="T0" fmla="*/ 42 w 150"/>
                  <a:gd name="T1" fmla="*/ 0 h 1480"/>
                  <a:gd name="T2" fmla="*/ 150 w 150"/>
                  <a:gd name="T3" fmla="*/ 0 h 1480"/>
                  <a:gd name="T4" fmla="*/ 147 w 150"/>
                  <a:gd name="T5" fmla="*/ 1480 h 1480"/>
                  <a:gd name="T6" fmla="*/ 0 w 150"/>
                  <a:gd name="T7" fmla="*/ 1477 h 148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0"/>
                  <a:gd name="T13" fmla="*/ 0 h 1480"/>
                  <a:gd name="T14" fmla="*/ 150 w 150"/>
                  <a:gd name="T15" fmla="*/ 1480 h 148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0" h="1480">
                    <a:moveTo>
                      <a:pt x="42" y="0"/>
                    </a:moveTo>
                    <a:lnTo>
                      <a:pt x="150" y="0"/>
                    </a:lnTo>
                    <a:lnTo>
                      <a:pt x="147" y="1480"/>
                    </a:lnTo>
                    <a:lnTo>
                      <a:pt x="0" y="1477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142345" name="Group 335"/>
          <p:cNvGrpSpPr/>
          <p:nvPr/>
        </p:nvGrpSpPr>
        <p:grpSpPr bwMode="auto">
          <a:xfrm>
            <a:off x="1452563" y="4178300"/>
            <a:ext cx="6261100" cy="403225"/>
            <a:chOff x="915" y="2632"/>
            <a:chExt cx="3944" cy="254"/>
          </a:xfrm>
        </p:grpSpPr>
        <p:grpSp>
          <p:nvGrpSpPr>
            <p:cNvPr id="142400" name="Group 336"/>
            <p:cNvGrpSpPr/>
            <p:nvPr/>
          </p:nvGrpSpPr>
          <p:grpSpPr bwMode="auto">
            <a:xfrm>
              <a:off x="915" y="2696"/>
              <a:ext cx="3858" cy="190"/>
              <a:chOff x="915" y="2696"/>
              <a:chExt cx="3858" cy="190"/>
            </a:xfrm>
          </p:grpSpPr>
          <p:sp>
            <p:nvSpPr>
              <p:cNvPr id="142433" name="Freeform 337"/>
              <p:cNvSpPr/>
              <p:nvPr/>
            </p:nvSpPr>
            <p:spPr bwMode="auto">
              <a:xfrm>
                <a:off x="1304" y="2707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434" name="Freeform 338"/>
              <p:cNvSpPr/>
              <p:nvPr/>
            </p:nvSpPr>
            <p:spPr bwMode="auto">
              <a:xfrm>
                <a:off x="2457" y="2710"/>
                <a:ext cx="1" cy="166"/>
              </a:xfrm>
              <a:custGeom>
                <a:avLst/>
                <a:gdLst>
                  <a:gd name="T0" fmla="*/ 0 w 1"/>
                  <a:gd name="T1" fmla="*/ 0 h 166"/>
                  <a:gd name="T2" fmla="*/ 1 w 1"/>
                  <a:gd name="T3" fmla="*/ 166 h 166"/>
                  <a:gd name="T4" fmla="*/ 0 60000 65536"/>
                  <a:gd name="T5" fmla="*/ 0 60000 65536"/>
                  <a:gd name="T6" fmla="*/ 0 w 1"/>
                  <a:gd name="T7" fmla="*/ 0 h 166"/>
                  <a:gd name="T8" fmla="*/ 1 w 1"/>
                  <a:gd name="T9" fmla="*/ 166 h 16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66">
                    <a:moveTo>
                      <a:pt x="0" y="0"/>
                    </a:moveTo>
                    <a:lnTo>
                      <a:pt x="1" y="16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435" name="Freeform 339"/>
              <p:cNvSpPr/>
              <p:nvPr/>
            </p:nvSpPr>
            <p:spPr bwMode="auto">
              <a:xfrm>
                <a:off x="3609" y="2710"/>
                <a:ext cx="1" cy="176"/>
              </a:xfrm>
              <a:custGeom>
                <a:avLst/>
                <a:gdLst>
                  <a:gd name="T0" fmla="*/ 0 w 1"/>
                  <a:gd name="T1" fmla="*/ 0 h 176"/>
                  <a:gd name="T2" fmla="*/ 0 w 1"/>
                  <a:gd name="T3" fmla="*/ 176 h 176"/>
                  <a:gd name="T4" fmla="*/ 0 60000 65536"/>
                  <a:gd name="T5" fmla="*/ 0 60000 65536"/>
                  <a:gd name="T6" fmla="*/ 0 w 1"/>
                  <a:gd name="T7" fmla="*/ 0 h 176"/>
                  <a:gd name="T8" fmla="*/ 1 w 1"/>
                  <a:gd name="T9" fmla="*/ 176 h 17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6">
                    <a:moveTo>
                      <a:pt x="0" y="0"/>
                    </a:moveTo>
                    <a:lnTo>
                      <a:pt x="0" y="176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436" name="Freeform 340"/>
              <p:cNvSpPr/>
              <p:nvPr/>
            </p:nvSpPr>
            <p:spPr bwMode="auto">
              <a:xfrm>
                <a:off x="4761" y="2696"/>
                <a:ext cx="1" cy="178"/>
              </a:xfrm>
              <a:custGeom>
                <a:avLst/>
                <a:gdLst>
                  <a:gd name="T0" fmla="*/ 0 w 1"/>
                  <a:gd name="T1" fmla="*/ 0 h 178"/>
                  <a:gd name="T2" fmla="*/ 0 w 1"/>
                  <a:gd name="T3" fmla="*/ 178 h 178"/>
                  <a:gd name="T4" fmla="*/ 0 60000 65536"/>
                  <a:gd name="T5" fmla="*/ 0 60000 65536"/>
                  <a:gd name="T6" fmla="*/ 0 w 1"/>
                  <a:gd name="T7" fmla="*/ 0 h 178"/>
                  <a:gd name="T8" fmla="*/ 1 w 1"/>
                  <a:gd name="T9" fmla="*/ 178 h 17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78">
                    <a:moveTo>
                      <a:pt x="0" y="0"/>
                    </a:moveTo>
                    <a:lnTo>
                      <a:pt x="0" y="178"/>
                    </a:lnTo>
                  </a:path>
                </a:pathLst>
              </a:custGeom>
              <a:noFill/>
              <a:ln w="3810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2437" name="Freeform 341"/>
              <p:cNvSpPr/>
              <p:nvPr/>
            </p:nvSpPr>
            <p:spPr bwMode="auto">
              <a:xfrm>
                <a:off x="915" y="2865"/>
                <a:ext cx="3858" cy="2"/>
              </a:xfrm>
              <a:custGeom>
                <a:avLst/>
                <a:gdLst>
                  <a:gd name="T0" fmla="*/ 0 w 3858"/>
                  <a:gd name="T1" fmla="*/ 2 h 2"/>
                  <a:gd name="T2" fmla="*/ 3858 w 3858"/>
                  <a:gd name="T3" fmla="*/ 0 h 2"/>
                  <a:gd name="T4" fmla="*/ 0 60000 65536"/>
                  <a:gd name="T5" fmla="*/ 0 60000 65536"/>
                  <a:gd name="T6" fmla="*/ 0 w 3858"/>
                  <a:gd name="T7" fmla="*/ 0 h 2"/>
                  <a:gd name="T8" fmla="*/ 3858 w 3858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58" h="2">
                    <a:moveTo>
                      <a:pt x="0" y="2"/>
                    </a:moveTo>
                    <a:lnTo>
                      <a:pt x="3858" y="0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42401" name="Group 342"/>
            <p:cNvGrpSpPr/>
            <p:nvPr/>
          </p:nvGrpSpPr>
          <p:grpSpPr bwMode="auto">
            <a:xfrm>
              <a:off x="1212" y="2632"/>
              <a:ext cx="192" cy="158"/>
              <a:chOff x="1212" y="2632"/>
              <a:chExt cx="192" cy="158"/>
            </a:xfrm>
          </p:grpSpPr>
          <p:grpSp>
            <p:nvGrpSpPr>
              <p:cNvPr id="142426" name="Group 343"/>
              <p:cNvGrpSpPr/>
              <p:nvPr/>
            </p:nvGrpSpPr>
            <p:grpSpPr bwMode="auto">
              <a:xfrm>
                <a:off x="1356" y="2632"/>
                <a:ext cx="48" cy="158"/>
                <a:chOff x="1356" y="2632"/>
                <a:chExt cx="48" cy="158"/>
              </a:xfrm>
            </p:grpSpPr>
            <p:sp>
              <p:nvSpPr>
                <p:cNvPr id="142431" name="Line 344"/>
                <p:cNvSpPr>
                  <a:spLocks noChangeShapeType="1"/>
                </p:cNvSpPr>
                <p:nvPr/>
              </p:nvSpPr>
              <p:spPr bwMode="auto">
                <a:xfrm rot="5400000">
                  <a:off x="1325" y="2711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42432" name="Line 345"/>
                <p:cNvSpPr>
                  <a:spLocks noChangeShapeType="1"/>
                </p:cNvSpPr>
                <p:nvPr/>
              </p:nvSpPr>
              <p:spPr bwMode="auto">
                <a:xfrm rot="5400000">
                  <a:off x="1308" y="2709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42427" name="Freeform 346"/>
              <p:cNvSpPr/>
              <p:nvPr/>
            </p:nvSpPr>
            <p:spPr bwMode="auto">
              <a:xfrm>
                <a:off x="1260" y="2708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42428" name="Group 347"/>
              <p:cNvGrpSpPr/>
              <p:nvPr/>
            </p:nvGrpSpPr>
            <p:grpSpPr bwMode="auto">
              <a:xfrm>
                <a:off x="1212" y="2632"/>
                <a:ext cx="48" cy="158"/>
                <a:chOff x="1212" y="2632"/>
                <a:chExt cx="48" cy="158"/>
              </a:xfrm>
            </p:grpSpPr>
            <p:sp>
              <p:nvSpPr>
                <p:cNvPr id="142429" name="Line 348"/>
                <p:cNvSpPr>
                  <a:spLocks noChangeShapeType="1"/>
                </p:cNvSpPr>
                <p:nvPr/>
              </p:nvSpPr>
              <p:spPr bwMode="auto">
                <a:xfrm rot="-5400000">
                  <a:off x="1133" y="2711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42430" name="Line 349"/>
                <p:cNvSpPr>
                  <a:spLocks noChangeShapeType="1"/>
                </p:cNvSpPr>
                <p:nvPr/>
              </p:nvSpPr>
              <p:spPr bwMode="auto">
                <a:xfrm rot="-5400000">
                  <a:off x="1212" y="2713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42402" name="Group 350"/>
            <p:cNvGrpSpPr/>
            <p:nvPr/>
          </p:nvGrpSpPr>
          <p:grpSpPr bwMode="auto">
            <a:xfrm>
              <a:off x="2364" y="2634"/>
              <a:ext cx="192" cy="158"/>
              <a:chOff x="2364" y="2634"/>
              <a:chExt cx="192" cy="158"/>
            </a:xfrm>
          </p:grpSpPr>
          <p:grpSp>
            <p:nvGrpSpPr>
              <p:cNvPr id="142419" name="Group 351"/>
              <p:cNvGrpSpPr/>
              <p:nvPr/>
            </p:nvGrpSpPr>
            <p:grpSpPr bwMode="auto">
              <a:xfrm>
                <a:off x="2508" y="2634"/>
                <a:ext cx="48" cy="158"/>
                <a:chOff x="2508" y="2634"/>
                <a:chExt cx="48" cy="158"/>
              </a:xfrm>
            </p:grpSpPr>
            <p:sp>
              <p:nvSpPr>
                <p:cNvPr id="142424" name="Line 352"/>
                <p:cNvSpPr>
                  <a:spLocks noChangeShapeType="1"/>
                </p:cNvSpPr>
                <p:nvPr/>
              </p:nvSpPr>
              <p:spPr bwMode="auto">
                <a:xfrm rot="5400000">
                  <a:off x="2477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42425" name="Line 353"/>
                <p:cNvSpPr>
                  <a:spLocks noChangeShapeType="1"/>
                </p:cNvSpPr>
                <p:nvPr/>
              </p:nvSpPr>
              <p:spPr bwMode="auto">
                <a:xfrm rot="5400000">
                  <a:off x="2460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42420" name="Freeform 354"/>
              <p:cNvSpPr/>
              <p:nvPr/>
            </p:nvSpPr>
            <p:spPr bwMode="auto">
              <a:xfrm>
                <a:off x="2412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42421" name="Group 355"/>
              <p:cNvGrpSpPr/>
              <p:nvPr/>
            </p:nvGrpSpPr>
            <p:grpSpPr bwMode="auto">
              <a:xfrm>
                <a:off x="2364" y="2634"/>
                <a:ext cx="48" cy="158"/>
                <a:chOff x="2364" y="2634"/>
                <a:chExt cx="48" cy="158"/>
              </a:xfrm>
            </p:grpSpPr>
            <p:sp>
              <p:nvSpPr>
                <p:cNvPr id="142422" name="Line 356"/>
                <p:cNvSpPr>
                  <a:spLocks noChangeShapeType="1"/>
                </p:cNvSpPr>
                <p:nvPr/>
              </p:nvSpPr>
              <p:spPr bwMode="auto">
                <a:xfrm rot="-5400000">
                  <a:off x="2285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42423" name="Line 357"/>
                <p:cNvSpPr>
                  <a:spLocks noChangeShapeType="1"/>
                </p:cNvSpPr>
                <p:nvPr/>
              </p:nvSpPr>
              <p:spPr bwMode="auto">
                <a:xfrm rot="-5400000">
                  <a:off x="2364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42403" name="Group 358"/>
            <p:cNvGrpSpPr/>
            <p:nvPr/>
          </p:nvGrpSpPr>
          <p:grpSpPr bwMode="auto">
            <a:xfrm>
              <a:off x="3516" y="2634"/>
              <a:ext cx="192" cy="158"/>
              <a:chOff x="3516" y="2634"/>
              <a:chExt cx="192" cy="158"/>
            </a:xfrm>
          </p:grpSpPr>
          <p:grpSp>
            <p:nvGrpSpPr>
              <p:cNvPr id="142412" name="Group 359"/>
              <p:cNvGrpSpPr/>
              <p:nvPr/>
            </p:nvGrpSpPr>
            <p:grpSpPr bwMode="auto">
              <a:xfrm>
                <a:off x="3660" y="2634"/>
                <a:ext cx="48" cy="158"/>
                <a:chOff x="3660" y="2634"/>
                <a:chExt cx="48" cy="158"/>
              </a:xfrm>
            </p:grpSpPr>
            <p:sp>
              <p:nvSpPr>
                <p:cNvPr id="142417" name="Line 360"/>
                <p:cNvSpPr>
                  <a:spLocks noChangeShapeType="1"/>
                </p:cNvSpPr>
                <p:nvPr/>
              </p:nvSpPr>
              <p:spPr bwMode="auto">
                <a:xfrm rot="5400000">
                  <a:off x="3629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42418" name="Line 361"/>
                <p:cNvSpPr>
                  <a:spLocks noChangeShapeType="1"/>
                </p:cNvSpPr>
                <p:nvPr/>
              </p:nvSpPr>
              <p:spPr bwMode="auto">
                <a:xfrm rot="5400000">
                  <a:off x="3612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42413" name="Freeform 362"/>
              <p:cNvSpPr/>
              <p:nvPr/>
            </p:nvSpPr>
            <p:spPr bwMode="auto">
              <a:xfrm>
                <a:off x="3564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42414" name="Group 363"/>
              <p:cNvGrpSpPr/>
              <p:nvPr/>
            </p:nvGrpSpPr>
            <p:grpSpPr bwMode="auto">
              <a:xfrm>
                <a:off x="3516" y="2634"/>
                <a:ext cx="48" cy="158"/>
                <a:chOff x="3516" y="2634"/>
                <a:chExt cx="48" cy="158"/>
              </a:xfrm>
            </p:grpSpPr>
            <p:sp>
              <p:nvSpPr>
                <p:cNvPr id="142415" name="Line 364"/>
                <p:cNvSpPr>
                  <a:spLocks noChangeShapeType="1"/>
                </p:cNvSpPr>
                <p:nvPr/>
              </p:nvSpPr>
              <p:spPr bwMode="auto">
                <a:xfrm rot="-5400000">
                  <a:off x="3437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42416" name="Line 365"/>
                <p:cNvSpPr>
                  <a:spLocks noChangeShapeType="1"/>
                </p:cNvSpPr>
                <p:nvPr/>
              </p:nvSpPr>
              <p:spPr bwMode="auto">
                <a:xfrm rot="-5400000">
                  <a:off x="3516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42404" name="Group 366"/>
            <p:cNvGrpSpPr/>
            <p:nvPr/>
          </p:nvGrpSpPr>
          <p:grpSpPr bwMode="auto">
            <a:xfrm>
              <a:off x="4667" y="2634"/>
              <a:ext cx="192" cy="158"/>
              <a:chOff x="4667" y="2634"/>
              <a:chExt cx="192" cy="158"/>
            </a:xfrm>
          </p:grpSpPr>
          <p:grpSp>
            <p:nvGrpSpPr>
              <p:cNvPr id="142405" name="Group 367"/>
              <p:cNvGrpSpPr/>
              <p:nvPr/>
            </p:nvGrpSpPr>
            <p:grpSpPr bwMode="auto">
              <a:xfrm>
                <a:off x="4811" y="2634"/>
                <a:ext cx="48" cy="158"/>
                <a:chOff x="4811" y="2634"/>
                <a:chExt cx="48" cy="158"/>
              </a:xfrm>
            </p:grpSpPr>
            <p:sp>
              <p:nvSpPr>
                <p:cNvPr id="142410" name="Line 368"/>
                <p:cNvSpPr>
                  <a:spLocks noChangeShapeType="1"/>
                </p:cNvSpPr>
                <p:nvPr/>
              </p:nvSpPr>
              <p:spPr bwMode="auto">
                <a:xfrm rot="5400000">
                  <a:off x="4780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42411" name="Line 369"/>
                <p:cNvSpPr>
                  <a:spLocks noChangeShapeType="1"/>
                </p:cNvSpPr>
                <p:nvPr/>
              </p:nvSpPr>
              <p:spPr bwMode="auto">
                <a:xfrm rot="5400000">
                  <a:off x="4763" y="2711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42406" name="Freeform 370"/>
              <p:cNvSpPr/>
              <p:nvPr/>
            </p:nvSpPr>
            <p:spPr bwMode="auto">
              <a:xfrm>
                <a:off x="4715" y="2710"/>
                <a:ext cx="96" cy="2"/>
              </a:xfrm>
              <a:custGeom>
                <a:avLst/>
                <a:gdLst>
                  <a:gd name="T0" fmla="*/ 0 w 96"/>
                  <a:gd name="T1" fmla="*/ 2 h 2"/>
                  <a:gd name="T2" fmla="*/ 96 w 96"/>
                  <a:gd name="T3" fmla="*/ 0 h 2"/>
                  <a:gd name="T4" fmla="*/ 0 60000 65536"/>
                  <a:gd name="T5" fmla="*/ 0 60000 65536"/>
                  <a:gd name="T6" fmla="*/ 0 w 96"/>
                  <a:gd name="T7" fmla="*/ 0 h 2"/>
                  <a:gd name="T8" fmla="*/ 96 w 9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6" h="2">
                    <a:moveTo>
                      <a:pt x="0" y="2"/>
                    </a:moveTo>
                    <a:lnTo>
                      <a:pt x="96" y="0"/>
                    </a:lnTo>
                  </a:path>
                </a:pathLst>
              </a:custGeom>
              <a:noFill/>
              <a:ln w="381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42407" name="Group 371"/>
              <p:cNvGrpSpPr/>
              <p:nvPr/>
            </p:nvGrpSpPr>
            <p:grpSpPr bwMode="auto">
              <a:xfrm>
                <a:off x="4667" y="2634"/>
                <a:ext cx="48" cy="158"/>
                <a:chOff x="4667" y="2634"/>
                <a:chExt cx="48" cy="158"/>
              </a:xfrm>
            </p:grpSpPr>
            <p:sp>
              <p:nvSpPr>
                <p:cNvPr id="142408" name="Line 372"/>
                <p:cNvSpPr>
                  <a:spLocks noChangeShapeType="1"/>
                </p:cNvSpPr>
                <p:nvPr/>
              </p:nvSpPr>
              <p:spPr bwMode="auto">
                <a:xfrm rot="-5400000">
                  <a:off x="4588" y="2713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42409" name="Line 373"/>
                <p:cNvSpPr>
                  <a:spLocks noChangeShapeType="1"/>
                </p:cNvSpPr>
                <p:nvPr/>
              </p:nvSpPr>
              <p:spPr bwMode="auto">
                <a:xfrm rot="-5400000">
                  <a:off x="4667" y="2715"/>
                  <a:ext cx="96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230415" name="Group 374"/>
          <p:cNvGrpSpPr/>
          <p:nvPr/>
        </p:nvGrpSpPr>
        <p:grpSpPr bwMode="auto">
          <a:xfrm>
            <a:off x="1828800" y="1608138"/>
            <a:ext cx="5934075" cy="434975"/>
            <a:chOff x="1156" y="1013"/>
            <a:chExt cx="3738" cy="274"/>
          </a:xfrm>
        </p:grpSpPr>
        <p:sp>
          <p:nvSpPr>
            <p:cNvPr id="142396" name="Rectangle 375"/>
            <p:cNvSpPr>
              <a:spLocks noChangeArrowheads="1"/>
            </p:cNvSpPr>
            <p:nvPr/>
          </p:nvSpPr>
          <p:spPr bwMode="auto">
            <a:xfrm>
              <a:off x="1156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42397" name="Rectangle 376"/>
            <p:cNvSpPr>
              <a:spLocks noChangeArrowheads="1"/>
            </p:cNvSpPr>
            <p:nvPr/>
          </p:nvSpPr>
          <p:spPr bwMode="auto">
            <a:xfrm>
              <a:off x="2296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42398" name="Rectangle 377"/>
            <p:cNvSpPr>
              <a:spLocks noChangeArrowheads="1"/>
            </p:cNvSpPr>
            <p:nvPr/>
          </p:nvSpPr>
          <p:spPr bwMode="auto">
            <a:xfrm>
              <a:off x="3471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32</a:t>
              </a:r>
            </a:p>
          </p:txBody>
        </p:sp>
        <p:sp>
          <p:nvSpPr>
            <p:cNvPr id="142399" name="Rectangle 378"/>
            <p:cNvSpPr>
              <a:spLocks noChangeArrowheads="1"/>
            </p:cNvSpPr>
            <p:nvPr/>
          </p:nvSpPr>
          <p:spPr bwMode="auto">
            <a:xfrm>
              <a:off x="4606" y="1013"/>
              <a:ext cx="288" cy="274"/>
            </a:xfrm>
            <a:prstGeom prst="rect">
              <a:avLst/>
            </a:prstGeom>
            <a:solidFill>
              <a:srgbClr val="CC9900"/>
            </a:solidFill>
            <a:ln w="38100">
              <a:solidFill>
                <a:srgbClr val="CC9900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48</a:t>
              </a:r>
            </a:p>
          </p:txBody>
        </p:sp>
      </p:grpSp>
      <p:grpSp>
        <p:nvGrpSpPr>
          <p:cNvPr id="142347" name="Group 379"/>
          <p:cNvGrpSpPr/>
          <p:nvPr/>
        </p:nvGrpSpPr>
        <p:grpSpPr bwMode="auto">
          <a:xfrm>
            <a:off x="1452563" y="2617788"/>
            <a:ext cx="6613525" cy="1963737"/>
            <a:chOff x="915" y="1649"/>
            <a:chExt cx="4166" cy="1237"/>
          </a:xfrm>
        </p:grpSpPr>
        <p:grpSp>
          <p:nvGrpSpPr>
            <p:cNvPr id="142349" name="Group 380"/>
            <p:cNvGrpSpPr/>
            <p:nvPr/>
          </p:nvGrpSpPr>
          <p:grpSpPr bwMode="auto">
            <a:xfrm>
              <a:off x="915" y="2633"/>
              <a:ext cx="3945" cy="253"/>
              <a:chOff x="915" y="2633"/>
              <a:chExt cx="3945" cy="253"/>
            </a:xfrm>
          </p:grpSpPr>
          <p:grpSp>
            <p:nvGrpSpPr>
              <p:cNvPr id="142358" name="Group 381"/>
              <p:cNvGrpSpPr/>
              <p:nvPr/>
            </p:nvGrpSpPr>
            <p:grpSpPr bwMode="auto">
              <a:xfrm>
                <a:off x="915" y="2696"/>
                <a:ext cx="3858" cy="190"/>
                <a:chOff x="915" y="2696"/>
                <a:chExt cx="3858" cy="190"/>
              </a:xfrm>
            </p:grpSpPr>
            <p:sp>
              <p:nvSpPr>
                <p:cNvPr id="142391" name="Freeform 382"/>
                <p:cNvSpPr/>
                <p:nvPr/>
              </p:nvSpPr>
              <p:spPr bwMode="auto">
                <a:xfrm>
                  <a:off x="1304" y="2707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2392" name="Freeform 383"/>
                <p:cNvSpPr/>
                <p:nvPr/>
              </p:nvSpPr>
              <p:spPr bwMode="auto">
                <a:xfrm>
                  <a:off x="2457" y="2710"/>
                  <a:ext cx="1" cy="166"/>
                </a:xfrm>
                <a:custGeom>
                  <a:avLst/>
                  <a:gdLst>
                    <a:gd name="T0" fmla="*/ 0 w 1"/>
                    <a:gd name="T1" fmla="*/ 0 h 166"/>
                    <a:gd name="T2" fmla="*/ 1 w 1"/>
                    <a:gd name="T3" fmla="*/ 166 h 166"/>
                    <a:gd name="T4" fmla="*/ 0 60000 65536"/>
                    <a:gd name="T5" fmla="*/ 0 60000 65536"/>
                    <a:gd name="T6" fmla="*/ 0 w 1"/>
                    <a:gd name="T7" fmla="*/ 0 h 166"/>
                    <a:gd name="T8" fmla="*/ 1 w 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66">
                      <a:moveTo>
                        <a:pt x="0" y="0"/>
                      </a:moveTo>
                      <a:lnTo>
                        <a:pt x="1" y="16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2393" name="Freeform 384"/>
                <p:cNvSpPr/>
                <p:nvPr/>
              </p:nvSpPr>
              <p:spPr bwMode="auto">
                <a:xfrm>
                  <a:off x="3609" y="2710"/>
                  <a:ext cx="1" cy="176"/>
                </a:xfrm>
                <a:custGeom>
                  <a:avLst/>
                  <a:gdLst>
                    <a:gd name="T0" fmla="*/ 0 w 1"/>
                    <a:gd name="T1" fmla="*/ 0 h 176"/>
                    <a:gd name="T2" fmla="*/ 0 w 1"/>
                    <a:gd name="T3" fmla="*/ 176 h 176"/>
                    <a:gd name="T4" fmla="*/ 0 60000 65536"/>
                    <a:gd name="T5" fmla="*/ 0 60000 65536"/>
                    <a:gd name="T6" fmla="*/ 0 w 1"/>
                    <a:gd name="T7" fmla="*/ 0 h 176"/>
                    <a:gd name="T8" fmla="*/ 1 w 1"/>
                    <a:gd name="T9" fmla="*/ 176 h 17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6">
                      <a:moveTo>
                        <a:pt x="0" y="0"/>
                      </a:moveTo>
                      <a:lnTo>
                        <a:pt x="0" y="17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2394" name="Freeform 385"/>
                <p:cNvSpPr/>
                <p:nvPr/>
              </p:nvSpPr>
              <p:spPr bwMode="auto">
                <a:xfrm>
                  <a:off x="4761" y="2696"/>
                  <a:ext cx="1" cy="178"/>
                </a:xfrm>
                <a:custGeom>
                  <a:avLst/>
                  <a:gdLst>
                    <a:gd name="T0" fmla="*/ 0 w 1"/>
                    <a:gd name="T1" fmla="*/ 0 h 178"/>
                    <a:gd name="T2" fmla="*/ 0 w 1"/>
                    <a:gd name="T3" fmla="*/ 178 h 178"/>
                    <a:gd name="T4" fmla="*/ 0 60000 65536"/>
                    <a:gd name="T5" fmla="*/ 0 60000 65536"/>
                    <a:gd name="T6" fmla="*/ 0 w 1"/>
                    <a:gd name="T7" fmla="*/ 0 h 178"/>
                    <a:gd name="T8" fmla="*/ 1 w 1"/>
                    <a:gd name="T9" fmla="*/ 178 h 178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78">
                      <a:moveTo>
                        <a:pt x="0" y="0"/>
                      </a:moveTo>
                      <a:lnTo>
                        <a:pt x="0" y="178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folHlink"/>
                  </a:solidFill>
                  <a:prstDash val="solid"/>
                  <a:round/>
                  <a:headEnd type="oval" w="sm" len="sm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2395" name="Freeform 386"/>
                <p:cNvSpPr/>
                <p:nvPr/>
              </p:nvSpPr>
              <p:spPr bwMode="auto">
                <a:xfrm>
                  <a:off x="915" y="2865"/>
                  <a:ext cx="3858" cy="2"/>
                </a:xfrm>
                <a:custGeom>
                  <a:avLst/>
                  <a:gdLst>
                    <a:gd name="T0" fmla="*/ 0 w 3858"/>
                    <a:gd name="T1" fmla="*/ 2 h 2"/>
                    <a:gd name="T2" fmla="*/ 3858 w 3858"/>
                    <a:gd name="T3" fmla="*/ 0 h 2"/>
                    <a:gd name="T4" fmla="*/ 0 60000 65536"/>
                    <a:gd name="T5" fmla="*/ 0 60000 65536"/>
                    <a:gd name="T6" fmla="*/ 0 w 3858"/>
                    <a:gd name="T7" fmla="*/ 0 h 2"/>
                    <a:gd name="T8" fmla="*/ 3858 w 3858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858" h="2">
                      <a:moveTo>
                        <a:pt x="0" y="2"/>
                      </a:moveTo>
                      <a:lnTo>
                        <a:pt x="3858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42359" name="Group 387"/>
              <p:cNvGrpSpPr/>
              <p:nvPr/>
            </p:nvGrpSpPr>
            <p:grpSpPr bwMode="auto">
              <a:xfrm>
                <a:off x="1213" y="2633"/>
                <a:ext cx="192" cy="158"/>
                <a:chOff x="1440" y="2928"/>
                <a:chExt cx="192" cy="158"/>
              </a:xfrm>
            </p:grpSpPr>
            <p:grpSp>
              <p:nvGrpSpPr>
                <p:cNvPr id="142384" name="Group 388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42389" name="Line 389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2390" name="Line 390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42385" name="Freeform 391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42386" name="Group 392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42387" name="Line 393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2388" name="Line 394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42360" name="Group 395"/>
              <p:cNvGrpSpPr/>
              <p:nvPr/>
            </p:nvGrpSpPr>
            <p:grpSpPr bwMode="auto">
              <a:xfrm>
                <a:off x="2365" y="2635"/>
                <a:ext cx="192" cy="158"/>
                <a:chOff x="1440" y="2928"/>
                <a:chExt cx="192" cy="158"/>
              </a:xfrm>
            </p:grpSpPr>
            <p:grpSp>
              <p:nvGrpSpPr>
                <p:cNvPr id="142377" name="Group 396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42382" name="Line 397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2383" name="Line 398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42378" name="Freeform 399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42379" name="Group 400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42380" name="Line 401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2381" name="Line 402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42361" name="Group 403"/>
              <p:cNvGrpSpPr/>
              <p:nvPr/>
            </p:nvGrpSpPr>
            <p:grpSpPr bwMode="auto">
              <a:xfrm>
                <a:off x="3517" y="2635"/>
                <a:ext cx="192" cy="158"/>
                <a:chOff x="1440" y="2928"/>
                <a:chExt cx="192" cy="158"/>
              </a:xfrm>
            </p:grpSpPr>
            <p:grpSp>
              <p:nvGrpSpPr>
                <p:cNvPr id="142370" name="Group 404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42375" name="Line 405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2376" name="Line 406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42371" name="Freeform 407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42372" name="Group 408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42373" name="Line 409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2374" name="Line 410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42362" name="Group 411"/>
              <p:cNvGrpSpPr/>
              <p:nvPr/>
            </p:nvGrpSpPr>
            <p:grpSpPr bwMode="auto">
              <a:xfrm>
                <a:off x="4668" y="2635"/>
                <a:ext cx="192" cy="158"/>
                <a:chOff x="1440" y="2928"/>
                <a:chExt cx="192" cy="158"/>
              </a:xfrm>
            </p:grpSpPr>
            <p:grpSp>
              <p:nvGrpSpPr>
                <p:cNvPr id="142363" name="Group 412"/>
                <p:cNvGrpSpPr/>
                <p:nvPr/>
              </p:nvGrpSpPr>
              <p:grpSpPr bwMode="auto">
                <a:xfrm rot="5400000">
                  <a:off x="1529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42368" name="Line 413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2369" name="Line 414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42364" name="Freeform 415"/>
                <p:cNvSpPr/>
                <p:nvPr/>
              </p:nvSpPr>
              <p:spPr bwMode="auto">
                <a:xfrm>
                  <a:off x="1487" y="3003"/>
                  <a:ext cx="96" cy="2"/>
                </a:xfrm>
                <a:custGeom>
                  <a:avLst/>
                  <a:gdLst>
                    <a:gd name="T0" fmla="*/ 0 w 96"/>
                    <a:gd name="T1" fmla="*/ 2 h 2"/>
                    <a:gd name="T2" fmla="*/ 96 w 96"/>
                    <a:gd name="T3" fmla="*/ 0 h 2"/>
                    <a:gd name="T4" fmla="*/ 0 60000 65536"/>
                    <a:gd name="T5" fmla="*/ 0 60000 65536"/>
                    <a:gd name="T6" fmla="*/ 0 w 96"/>
                    <a:gd name="T7" fmla="*/ 0 h 2"/>
                    <a:gd name="T8" fmla="*/ 96 w 96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96" h="2">
                      <a:moveTo>
                        <a:pt x="0" y="2"/>
                      </a:moveTo>
                      <a:lnTo>
                        <a:pt x="96" y="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42365" name="Group 416"/>
                <p:cNvGrpSpPr/>
                <p:nvPr/>
              </p:nvGrpSpPr>
              <p:grpSpPr bwMode="auto">
                <a:xfrm rot="-5400000">
                  <a:off x="1385" y="2983"/>
                  <a:ext cx="158" cy="48"/>
                  <a:chOff x="3459" y="1296"/>
                  <a:chExt cx="243" cy="48"/>
                </a:xfrm>
              </p:grpSpPr>
              <p:sp>
                <p:nvSpPr>
                  <p:cNvPr id="142366" name="Line 417"/>
                  <p:cNvSpPr>
                    <a:spLocks noChangeShapeType="1"/>
                  </p:cNvSpPr>
                  <p:nvPr/>
                </p:nvSpPr>
                <p:spPr bwMode="auto">
                  <a:xfrm>
                    <a:off x="3459" y="1296"/>
                    <a:ext cx="24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2367" name="Line 418"/>
                  <p:cNvSpPr>
                    <a:spLocks noChangeShapeType="1"/>
                  </p:cNvSpPr>
                  <p:nvPr/>
                </p:nvSpPr>
                <p:spPr bwMode="auto">
                  <a:xfrm>
                    <a:off x="3504" y="1344"/>
                    <a:ext cx="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</p:grpSp>
        </p:grpSp>
        <p:sp>
          <p:nvSpPr>
            <p:cNvPr id="142350" name="Rectangle 419"/>
            <p:cNvSpPr>
              <a:spLocks noChangeArrowheads="1"/>
            </p:cNvSpPr>
            <p:nvPr/>
          </p:nvSpPr>
          <p:spPr bwMode="auto">
            <a:xfrm>
              <a:off x="1152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42351" name="Text Box 420"/>
            <p:cNvSpPr txBox="1">
              <a:spLocks noChangeArrowheads="1"/>
            </p:cNvSpPr>
            <p:nvPr/>
          </p:nvSpPr>
          <p:spPr bwMode="auto">
            <a:xfrm>
              <a:off x="1152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42352" name="Rectangle 421"/>
            <p:cNvSpPr>
              <a:spLocks noChangeArrowheads="1"/>
            </p:cNvSpPr>
            <p:nvPr/>
          </p:nvSpPr>
          <p:spPr bwMode="auto">
            <a:xfrm>
              <a:off x="2293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16</a:t>
              </a:r>
            </a:p>
          </p:txBody>
        </p:sp>
        <p:sp>
          <p:nvSpPr>
            <p:cNvPr id="142353" name="Rectangle 422"/>
            <p:cNvSpPr>
              <a:spLocks noChangeArrowheads="1"/>
            </p:cNvSpPr>
            <p:nvPr/>
          </p:nvSpPr>
          <p:spPr bwMode="auto">
            <a:xfrm>
              <a:off x="4604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48</a:t>
              </a:r>
            </a:p>
          </p:txBody>
        </p:sp>
        <p:sp>
          <p:nvSpPr>
            <p:cNvPr id="142354" name="Rectangle 423"/>
            <p:cNvSpPr>
              <a:spLocks noChangeArrowheads="1"/>
            </p:cNvSpPr>
            <p:nvPr/>
          </p:nvSpPr>
          <p:spPr bwMode="auto">
            <a:xfrm>
              <a:off x="3466" y="2217"/>
              <a:ext cx="288" cy="27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lIns="0" rIns="0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32</a:t>
              </a:r>
            </a:p>
          </p:txBody>
        </p:sp>
        <p:sp>
          <p:nvSpPr>
            <p:cNvPr id="142355" name="Text Box 424"/>
            <p:cNvSpPr txBox="1">
              <a:spLocks noChangeArrowheads="1"/>
            </p:cNvSpPr>
            <p:nvPr/>
          </p:nvSpPr>
          <p:spPr bwMode="auto">
            <a:xfrm>
              <a:off x="2316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42356" name="Text Box 425"/>
            <p:cNvSpPr txBox="1">
              <a:spLocks noChangeArrowheads="1"/>
            </p:cNvSpPr>
            <p:nvPr/>
          </p:nvSpPr>
          <p:spPr bwMode="auto">
            <a:xfrm>
              <a:off x="3464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42357" name="Text Box 426"/>
            <p:cNvSpPr txBox="1">
              <a:spLocks noChangeArrowheads="1"/>
            </p:cNvSpPr>
            <p:nvPr/>
          </p:nvSpPr>
          <p:spPr bwMode="auto">
            <a:xfrm>
              <a:off x="4619" y="1649"/>
              <a:ext cx="46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142348" name="AutoShape 427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30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3362" name="Group 119"/>
          <p:cNvGrpSpPr/>
          <p:nvPr/>
        </p:nvGrpSpPr>
        <p:grpSpPr bwMode="auto">
          <a:xfrm>
            <a:off x="76200" y="1133475"/>
            <a:ext cx="8462963" cy="5029200"/>
            <a:chOff x="48" y="714"/>
            <a:chExt cx="5331" cy="3168"/>
          </a:xfrm>
        </p:grpSpPr>
        <p:grpSp>
          <p:nvGrpSpPr>
            <p:cNvPr id="143427" name="Group 118"/>
            <p:cNvGrpSpPr/>
            <p:nvPr/>
          </p:nvGrpSpPr>
          <p:grpSpPr bwMode="auto">
            <a:xfrm>
              <a:off x="48" y="714"/>
              <a:ext cx="5331" cy="3168"/>
              <a:chOff x="48" y="714"/>
              <a:chExt cx="5331" cy="3168"/>
            </a:xfrm>
          </p:grpSpPr>
          <p:sp>
            <p:nvSpPr>
              <p:cNvPr id="143429" name="Line 4"/>
              <p:cNvSpPr>
                <a:spLocks noChangeShapeType="1"/>
              </p:cNvSpPr>
              <p:nvPr/>
            </p:nvSpPr>
            <p:spPr bwMode="auto">
              <a:xfrm>
                <a:off x="4752" y="2634"/>
                <a:ext cx="0" cy="768"/>
              </a:xfrm>
              <a:prstGeom prst="line">
                <a:avLst/>
              </a:prstGeom>
              <a:noFill/>
              <a:ln w="1905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143430" name="Group 117"/>
              <p:cNvGrpSpPr/>
              <p:nvPr/>
            </p:nvGrpSpPr>
            <p:grpSpPr bwMode="auto">
              <a:xfrm>
                <a:off x="48" y="714"/>
                <a:ext cx="5331" cy="3168"/>
                <a:chOff x="48" y="714"/>
                <a:chExt cx="5331" cy="3168"/>
              </a:xfrm>
            </p:grpSpPr>
            <p:grpSp>
              <p:nvGrpSpPr>
                <p:cNvPr id="143431" name="Group 116"/>
                <p:cNvGrpSpPr/>
                <p:nvPr/>
              </p:nvGrpSpPr>
              <p:grpSpPr bwMode="auto">
                <a:xfrm>
                  <a:off x="48" y="1338"/>
                  <a:ext cx="5331" cy="1704"/>
                  <a:chOff x="48" y="1338"/>
                  <a:chExt cx="5331" cy="1704"/>
                </a:xfrm>
              </p:grpSpPr>
              <p:grpSp>
                <p:nvGrpSpPr>
                  <p:cNvPr id="143450" name="Group 7"/>
                  <p:cNvGrpSpPr/>
                  <p:nvPr/>
                </p:nvGrpSpPr>
                <p:grpSpPr bwMode="auto">
                  <a:xfrm>
                    <a:off x="522" y="1338"/>
                    <a:ext cx="4757" cy="345"/>
                    <a:chOff x="522" y="1338"/>
                    <a:chExt cx="4757" cy="345"/>
                  </a:xfrm>
                </p:grpSpPr>
                <p:sp>
                  <p:nvSpPr>
                    <p:cNvPr id="143468" name="Freeform 8"/>
                    <p:cNvSpPr/>
                    <p:nvPr/>
                  </p:nvSpPr>
                  <p:spPr bwMode="auto">
                    <a:xfrm>
                      <a:off x="1368" y="1339"/>
                      <a:ext cx="2771" cy="336"/>
                    </a:xfrm>
                    <a:custGeom>
                      <a:avLst/>
                      <a:gdLst>
                        <a:gd name="T0" fmla="*/ 168 w 2771"/>
                        <a:gd name="T1" fmla="*/ 0 h 336"/>
                        <a:gd name="T2" fmla="*/ 0 w 2771"/>
                        <a:gd name="T3" fmla="*/ 170 h 336"/>
                        <a:gd name="T4" fmla="*/ 168 w 2771"/>
                        <a:gd name="T5" fmla="*/ 336 h 336"/>
                        <a:gd name="T6" fmla="*/ 2603 w 2771"/>
                        <a:gd name="T7" fmla="*/ 336 h 336"/>
                        <a:gd name="T8" fmla="*/ 2771 w 2771"/>
                        <a:gd name="T9" fmla="*/ 170 h 336"/>
                        <a:gd name="T10" fmla="*/ 2603 w 2771"/>
                        <a:gd name="T11" fmla="*/ 0 h 336"/>
                        <a:gd name="T12" fmla="*/ 168 w 2771"/>
                        <a:gd name="T13" fmla="*/ 0 h 3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771"/>
                        <a:gd name="T22" fmla="*/ 0 h 336"/>
                        <a:gd name="T23" fmla="*/ 2771 w 2771"/>
                        <a:gd name="T24" fmla="*/ 336 h 3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771" h="336">
                          <a:moveTo>
                            <a:pt x="168" y="0"/>
                          </a:moveTo>
                          <a:lnTo>
                            <a:pt x="0" y="170"/>
                          </a:lnTo>
                          <a:lnTo>
                            <a:pt x="168" y="336"/>
                          </a:lnTo>
                          <a:lnTo>
                            <a:pt x="2603" y="336"/>
                          </a:lnTo>
                          <a:lnTo>
                            <a:pt x="2771" y="170"/>
                          </a:lnTo>
                          <a:lnTo>
                            <a:pt x="2603" y="0"/>
                          </a:lnTo>
                          <a:lnTo>
                            <a:pt x="168" y="0"/>
                          </a:lnTo>
                          <a:close/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3469" name="Freeform 9"/>
                    <p:cNvSpPr/>
                    <p:nvPr/>
                  </p:nvSpPr>
                  <p:spPr bwMode="auto">
                    <a:xfrm>
                      <a:off x="531" y="1338"/>
                      <a:ext cx="848" cy="175"/>
                    </a:xfrm>
                    <a:custGeom>
                      <a:avLst/>
                      <a:gdLst>
                        <a:gd name="T0" fmla="*/ 848 w 848"/>
                        <a:gd name="T1" fmla="*/ 162 h 175"/>
                        <a:gd name="T2" fmla="*/ 840 w 848"/>
                        <a:gd name="T3" fmla="*/ 175 h 175"/>
                        <a:gd name="T4" fmla="*/ 665 w 848"/>
                        <a:gd name="T5" fmla="*/ 0 h 175"/>
                        <a:gd name="T6" fmla="*/ 0 w 848"/>
                        <a:gd name="T7" fmla="*/ 0 h 175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848"/>
                        <a:gd name="T13" fmla="*/ 0 h 175"/>
                        <a:gd name="T14" fmla="*/ 848 w 848"/>
                        <a:gd name="T15" fmla="*/ 175 h 175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848" h="175">
                          <a:moveTo>
                            <a:pt x="848" y="162"/>
                          </a:moveTo>
                          <a:lnTo>
                            <a:pt x="840" y="175"/>
                          </a:lnTo>
                          <a:lnTo>
                            <a:pt x="665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3470" name="Freeform 10"/>
                    <p:cNvSpPr/>
                    <p:nvPr/>
                  </p:nvSpPr>
                  <p:spPr bwMode="auto">
                    <a:xfrm>
                      <a:off x="522" y="1504"/>
                      <a:ext cx="846" cy="179"/>
                    </a:xfrm>
                    <a:custGeom>
                      <a:avLst/>
                      <a:gdLst>
                        <a:gd name="T0" fmla="*/ 846 w 846"/>
                        <a:gd name="T1" fmla="*/ 0 h 179"/>
                        <a:gd name="T2" fmla="*/ 669 w 846"/>
                        <a:gd name="T3" fmla="*/ 179 h 179"/>
                        <a:gd name="T4" fmla="*/ 0 w 846"/>
                        <a:gd name="T5" fmla="*/ 179 h 179"/>
                        <a:gd name="T6" fmla="*/ 0 60000 65536"/>
                        <a:gd name="T7" fmla="*/ 0 60000 65536"/>
                        <a:gd name="T8" fmla="*/ 0 60000 65536"/>
                        <a:gd name="T9" fmla="*/ 0 w 846"/>
                        <a:gd name="T10" fmla="*/ 0 h 179"/>
                        <a:gd name="T11" fmla="*/ 846 w 846"/>
                        <a:gd name="T12" fmla="*/ 179 h 179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846" h="179">
                          <a:moveTo>
                            <a:pt x="846" y="0"/>
                          </a:moveTo>
                          <a:lnTo>
                            <a:pt x="669" y="179"/>
                          </a:lnTo>
                          <a:lnTo>
                            <a:pt x="0" y="179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3471" name="Freeform 11"/>
                    <p:cNvSpPr/>
                    <p:nvPr/>
                  </p:nvSpPr>
                  <p:spPr bwMode="auto">
                    <a:xfrm>
                      <a:off x="4136" y="1338"/>
                      <a:ext cx="1140" cy="171"/>
                    </a:xfrm>
                    <a:custGeom>
                      <a:avLst/>
                      <a:gdLst>
                        <a:gd name="T0" fmla="*/ 0 w 1140"/>
                        <a:gd name="T1" fmla="*/ 171 h 171"/>
                        <a:gd name="T2" fmla="*/ 171 w 1140"/>
                        <a:gd name="T3" fmla="*/ 1 h 171"/>
                        <a:gd name="T4" fmla="*/ 268 w 1140"/>
                        <a:gd name="T5" fmla="*/ 1 h 171"/>
                        <a:gd name="T6" fmla="*/ 1140 w 1140"/>
                        <a:gd name="T7" fmla="*/ 0 h 171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140"/>
                        <a:gd name="T13" fmla="*/ 0 h 171"/>
                        <a:gd name="T14" fmla="*/ 1140 w 1140"/>
                        <a:gd name="T15" fmla="*/ 171 h 171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140" h="171">
                          <a:moveTo>
                            <a:pt x="0" y="171"/>
                          </a:moveTo>
                          <a:lnTo>
                            <a:pt x="171" y="1"/>
                          </a:lnTo>
                          <a:lnTo>
                            <a:pt x="268" y="1"/>
                          </a:lnTo>
                          <a:lnTo>
                            <a:pt x="1140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3472" name="Freeform 12"/>
                    <p:cNvSpPr/>
                    <p:nvPr/>
                  </p:nvSpPr>
                  <p:spPr bwMode="auto">
                    <a:xfrm>
                      <a:off x="4133" y="1504"/>
                      <a:ext cx="1146" cy="176"/>
                    </a:xfrm>
                    <a:custGeom>
                      <a:avLst/>
                      <a:gdLst>
                        <a:gd name="T0" fmla="*/ 0 w 1146"/>
                        <a:gd name="T1" fmla="*/ 0 h 176"/>
                        <a:gd name="T2" fmla="*/ 174 w 1146"/>
                        <a:gd name="T3" fmla="*/ 176 h 176"/>
                        <a:gd name="T4" fmla="*/ 1146 w 1146"/>
                        <a:gd name="T5" fmla="*/ 176 h 176"/>
                        <a:gd name="T6" fmla="*/ 0 60000 65536"/>
                        <a:gd name="T7" fmla="*/ 0 60000 65536"/>
                        <a:gd name="T8" fmla="*/ 0 60000 65536"/>
                        <a:gd name="T9" fmla="*/ 0 w 1146"/>
                        <a:gd name="T10" fmla="*/ 0 h 176"/>
                        <a:gd name="T11" fmla="*/ 1146 w 1146"/>
                        <a:gd name="T12" fmla="*/ 176 h 17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1146" h="176">
                          <a:moveTo>
                            <a:pt x="0" y="0"/>
                          </a:moveTo>
                          <a:lnTo>
                            <a:pt x="174" y="176"/>
                          </a:lnTo>
                          <a:lnTo>
                            <a:pt x="1146" y="176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</p:grpSp>
              <p:grpSp>
                <p:nvGrpSpPr>
                  <p:cNvPr id="143451" name="Group 13"/>
                  <p:cNvGrpSpPr/>
                  <p:nvPr/>
                </p:nvGrpSpPr>
                <p:grpSpPr bwMode="auto">
                  <a:xfrm>
                    <a:off x="528" y="2007"/>
                    <a:ext cx="4848" cy="249"/>
                    <a:chOff x="528" y="2007"/>
                    <a:chExt cx="4848" cy="249"/>
                  </a:xfrm>
                </p:grpSpPr>
                <p:sp>
                  <p:nvSpPr>
                    <p:cNvPr id="143465" name="Freeform 14"/>
                    <p:cNvSpPr/>
                    <p:nvPr/>
                  </p:nvSpPr>
                  <p:spPr bwMode="auto">
                    <a:xfrm>
                      <a:off x="528" y="2007"/>
                      <a:ext cx="4844" cy="242"/>
                    </a:xfrm>
                    <a:custGeom>
                      <a:avLst/>
                      <a:gdLst>
                        <a:gd name="T0" fmla="*/ 0 w 4844"/>
                        <a:gd name="T1" fmla="*/ 0 h 242"/>
                        <a:gd name="T2" fmla="*/ 1301 w 4844"/>
                        <a:gd name="T3" fmla="*/ 5 h 242"/>
                        <a:gd name="T4" fmla="*/ 1539 w 4844"/>
                        <a:gd name="T5" fmla="*/ 242 h 242"/>
                        <a:gd name="T6" fmla="*/ 2210 w 4844"/>
                        <a:gd name="T7" fmla="*/ 242 h 242"/>
                        <a:gd name="T8" fmla="*/ 2448 w 4844"/>
                        <a:gd name="T9" fmla="*/ 3 h 242"/>
                        <a:gd name="T10" fmla="*/ 4844 w 4844"/>
                        <a:gd name="T11" fmla="*/ 5 h 242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4844"/>
                        <a:gd name="T19" fmla="*/ 0 h 242"/>
                        <a:gd name="T20" fmla="*/ 4844 w 4844"/>
                        <a:gd name="T21" fmla="*/ 242 h 242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4844" h="242">
                          <a:moveTo>
                            <a:pt x="0" y="0"/>
                          </a:moveTo>
                          <a:lnTo>
                            <a:pt x="1301" y="5"/>
                          </a:lnTo>
                          <a:lnTo>
                            <a:pt x="1539" y="242"/>
                          </a:lnTo>
                          <a:lnTo>
                            <a:pt x="2210" y="242"/>
                          </a:lnTo>
                          <a:lnTo>
                            <a:pt x="2448" y="3"/>
                          </a:lnTo>
                          <a:lnTo>
                            <a:pt x="4844" y="5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3466" name="Freeform 15"/>
                    <p:cNvSpPr/>
                    <p:nvPr/>
                  </p:nvSpPr>
                  <p:spPr bwMode="auto">
                    <a:xfrm>
                      <a:off x="528" y="2016"/>
                      <a:ext cx="1536" cy="240"/>
                    </a:xfrm>
                    <a:custGeom>
                      <a:avLst/>
                      <a:gdLst>
                        <a:gd name="T0" fmla="*/ 0 w 1536"/>
                        <a:gd name="T1" fmla="*/ 0 h 240"/>
                        <a:gd name="T2" fmla="*/ 1296 w 1536"/>
                        <a:gd name="T3" fmla="*/ 0 h 240"/>
                        <a:gd name="T4" fmla="*/ 1536 w 1536"/>
                        <a:gd name="T5" fmla="*/ 240 h 240"/>
                        <a:gd name="T6" fmla="*/ 0 w 1536"/>
                        <a:gd name="T7" fmla="*/ 240 h 24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536"/>
                        <a:gd name="T13" fmla="*/ 0 h 240"/>
                        <a:gd name="T14" fmla="*/ 1536 w 1536"/>
                        <a:gd name="T15" fmla="*/ 240 h 24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536" h="240">
                          <a:moveTo>
                            <a:pt x="0" y="0"/>
                          </a:moveTo>
                          <a:lnTo>
                            <a:pt x="1296" y="0"/>
                          </a:lnTo>
                          <a:lnTo>
                            <a:pt x="1536" y="240"/>
                          </a:lnTo>
                          <a:lnTo>
                            <a:pt x="0" y="240"/>
                          </a:lnTo>
                        </a:path>
                      </a:pathLst>
                    </a:custGeom>
                    <a:solidFill>
                      <a:schemeClr val="tx1">
                        <a:alpha val="50195"/>
                      </a:schemeClr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</a:ln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3467" name="Freeform 16"/>
                    <p:cNvSpPr/>
                    <p:nvPr/>
                  </p:nvSpPr>
                  <p:spPr bwMode="auto">
                    <a:xfrm>
                      <a:off x="2736" y="2010"/>
                      <a:ext cx="2640" cy="240"/>
                    </a:xfrm>
                    <a:custGeom>
                      <a:avLst/>
                      <a:gdLst>
                        <a:gd name="T0" fmla="*/ 2640 w 2640"/>
                        <a:gd name="T1" fmla="*/ 0 h 240"/>
                        <a:gd name="T2" fmla="*/ 240 w 2640"/>
                        <a:gd name="T3" fmla="*/ 0 h 240"/>
                        <a:gd name="T4" fmla="*/ 0 w 2640"/>
                        <a:gd name="T5" fmla="*/ 240 h 240"/>
                        <a:gd name="T6" fmla="*/ 2640 w 2640"/>
                        <a:gd name="T7" fmla="*/ 240 h 24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2640"/>
                        <a:gd name="T13" fmla="*/ 0 h 240"/>
                        <a:gd name="T14" fmla="*/ 2640 w 2640"/>
                        <a:gd name="T15" fmla="*/ 240 h 24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640" h="240">
                          <a:moveTo>
                            <a:pt x="2640" y="0"/>
                          </a:moveTo>
                          <a:lnTo>
                            <a:pt x="240" y="0"/>
                          </a:lnTo>
                          <a:lnTo>
                            <a:pt x="0" y="240"/>
                          </a:lnTo>
                          <a:lnTo>
                            <a:pt x="2640" y="240"/>
                          </a:lnTo>
                        </a:path>
                      </a:pathLst>
                    </a:custGeom>
                    <a:solidFill>
                      <a:schemeClr val="tx1">
                        <a:alpha val="50195"/>
                      </a:schemeClr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</a:ln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</p:grpSp>
              <p:grpSp>
                <p:nvGrpSpPr>
                  <p:cNvPr id="143452" name="Group 17"/>
                  <p:cNvGrpSpPr/>
                  <p:nvPr/>
                </p:nvGrpSpPr>
                <p:grpSpPr bwMode="auto">
                  <a:xfrm>
                    <a:off x="525" y="2685"/>
                    <a:ext cx="4854" cy="357"/>
                    <a:chOff x="525" y="2685"/>
                    <a:chExt cx="4854" cy="357"/>
                  </a:xfrm>
                </p:grpSpPr>
                <p:sp>
                  <p:nvSpPr>
                    <p:cNvPr id="143458" name="Freeform 18"/>
                    <p:cNvSpPr/>
                    <p:nvPr/>
                  </p:nvSpPr>
                  <p:spPr bwMode="auto">
                    <a:xfrm>
                      <a:off x="4752" y="2865"/>
                      <a:ext cx="624" cy="1"/>
                    </a:xfrm>
                    <a:custGeom>
                      <a:avLst/>
                      <a:gdLst>
                        <a:gd name="T0" fmla="*/ 0 w 624"/>
                        <a:gd name="T1" fmla="*/ 0 h 1"/>
                        <a:gd name="T2" fmla="*/ 624 w 624"/>
                        <a:gd name="T3" fmla="*/ 0 h 1"/>
                        <a:gd name="T4" fmla="*/ 0 60000 65536"/>
                        <a:gd name="T5" fmla="*/ 0 60000 65536"/>
                        <a:gd name="T6" fmla="*/ 0 w 624"/>
                        <a:gd name="T7" fmla="*/ 0 h 1"/>
                        <a:gd name="T8" fmla="*/ 624 w 624"/>
                        <a:gd name="T9" fmla="*/ 1 h 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624" h="1">
                          <a:moveTo>
                            <a:pt x="0" y="0"/>
                          </a:moveTo>
                          <a:lnTo>
                            <a:pt x="624" y="0"/>
                          </a:lnTo>
                        </a:path>
                      </a:pathLst>
                    </a:custGeom>
                    <a:noFill/>
                    <a:ln w="38100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grpSp>
                  <p:nvGrpSpPr>
                    <p:cNvPr id="143459" name="Group 19"/>
                    <p:cNvGrpSpPr/>
                    <p:nvPr/>
                  </p:nvGrpSpPr>
                  <p:grpSpPr bwMode="auto">
                    <a:xfrm>
                      <a:off x="525" y="2685"/>
                      <a:ext cx="4854" cy="357"/>
                      <a:chOff x="525" y="2685"/>
                      <a:chExt cx="4854" cy="357"/>
                    </a:xfrm>
                  </p:grpSpPr>
                  <p:sp>
                    <p:nvSpPr>
                      <p:cNvPr id="143460" name="Freeform 20"/>
                      <p:cNvSpPr/>
                      <p:nvPr/>
                    </p:nvSpPr>
                    <p:spPr bwMode="auto">
                      <a:xfrm>
                        <a:off x="527" y="2864"/>
                        <a:ext cx="2067" cy="1"/>
                      </a:xfrm>
                      <a:custGeom>
                        <a:avLst/>
                        <a:gdLst>
                          <a:gd name="T0" fmla="*/ 0 w 2067"/>
                          <a:gd name="T1" fmla="*/ 0 h 1"/>
                          <a:gd name="T2" fmla="*/ 2067 w 2067"/>
                          <a:gd name="T3" fmla="*/ 0 h 1"/>
                          <a:gd name="T4" fmla="*/ 0 60000 65536"/>
                          <a:gd name="T5" fmla="*/ 0 60000 65536"/>
                          <a:gd name="T6" fmla="*/ 0 w 2067"/>
                          <a:gd name="T7" fmla="*/ 0 h 1"/>
                          <a:gd name="T8" fmla="*/ 2067 w 2067"/>
                          <a:gd name="T9" fmla="*/ 1 h 1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T6" t="T7" r="T8" b="T9"/>
                        <a:pathLst>
                          <a:path w="2067" h="1">
                            <a:moveTo>
                              <a:pt x="0" y="0"/>
                            </a:moveTo>
                            <a:lnTo>
                              <a:pt x="2067" y="0"/>
                            </a:lnTo>
                          </a:path>
                        </a:pathLst>
                      </a:custGeom>
                      <a:noFill/>
                      <a:ln w="38100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>
                        <a:spAutoFit/>
                      </a:bodyPr>
                      <a:lstStyle/>
                      <a:p>
                        <a:endParaRPr lang="zh-CN" altLang="en-US"/>
                      </a:p>
                    </p:txBody>
                  </p:sp>
                  <p:grpSp>
                    <p:nvGrpSpPr>
                      <p:cNvPr id="143461" name="Group 21"/>
                      <p:cNvGrpSpPr/>
                      <p:nvPr/>
                    </p:nvGrpSpPr>
                    <p:grpSpPr bwMode="auto">
                      <a:xfrm>
                        <a:off x="525" y="2685"/>
                        <a:ext cx="4854" cy="357"/>
                        <a:chOff x="525" y="2685"/>
                        <a:chExt cx="4854" cy="357"/>
                      </a:xfrm>
                    </p:grpSpPr>
                    <p:sp>
                      <p:nvSpPr>
                        <p:cNvPr id="143462" name="Freeform 22"/>
                        <p:cNvSpPr/>
                        <p:nvPr/>
                      </p:nvSpPr>
                      <p:spPr bwMode="auto">
                        <a:xfrm>
                          <a:off x="2589" y="2691"/>
                          <a:ext cx="2160" cy="342"/>
                        </a:xfrm>
                        <a:custGeom>
                          <a:avLst/>
                          <a:gdLst>
                            <a:gd name="T0" fmla="*/ 170 w 2160"/>
                            <a:gd name="T1" fmla="*/ 0 h 342"/>
                            <a:gd name="T2" fmla="*/ 0 w 2160"/>
                            <a:gd name="T3" fmla="*/ 171 h 342"/>
                            <a:gd name="T4" fmla="*/ 170 w 2160"/>
                            <a:gd name="T5" fmla="*/ 342 h 342"/>
                            <a:gd name="T6" fmla="*/ 1991 w 2160"/>
                            <a:gd name="T7" fmla="*/ 342 h 342"/>
                            <a:gd name="T8" fmla="*/ 2160 w 2160"/>
                            <a:gd name="T9" fmla="*/ 171 h 342"/>
                            <a:gd name="T10" fmla="*/ 1991 w 2160"/>
                            <a:gd name="T11" fmla="*/ 0 h 342"/>
                            <a:gd name="T12" fmla="*/ 170 w 2160"/>
                            <a:gd name="T13" fmla="*/ 0 h 342"/>
                            <a:gd name="T14" fmla="*/ 0 60000 65536"/>
                            <a:gd name="T15" fmla="*/ 0 60000 65536"/>
                            <a:gd name="T16" fmla="*/ 0 60000 65536"/>
                            <a:gd name="T17" fmla="*/ 0 60000 65536"/>
                            <a:gd name="T18" fmla="*/ 0 60000 65536"/>
                            <a:gd name="T19" fmla="*/ 0 60000 65536"/>
                            <a:gd name="T20" fmla="*/ 0 60000 65536"/>
                            <a:gd name="T21" fmla="*/ 0 w 2160"/>
                            <a:gd name="T22" fmla="*/ 0 h 342"/>
                            <a:gd name="T23" fmla="*/ 2160 w 2160"/>
                            <a:gd name="T24" fmla="*/ 342 h 342"/>
                          </a:gdLst>
                          <a:ahLst/>
                          <a:cxnLst>
                            <a:cxn ang="T14">
                              <a:pos x="T0" y="T1"/>
                            </a:cxn>
                            <a:cxn ang="T15">
                              <a:pos x="T2" y="T3"/>
                            </a:cxn>
                            <a:cxn ang="T16">
                              <a:pos x="T4" y="T5"/>
                            </a:cxn>
                            <a:cxn ang="T17">
                              <a:pos x="T6" y="T7"/>
                            </a:cxn>
                            <a:cxn ang="T18">
                              <a:pos x="T8" y="T9"/>
                            </a:cxn>
                            <a:cxn ang="T19">
                              <a:pos x="T10" y="T11"/>
                            </a:cxn>
                            <a:cxn ang="T20">
                              <a:pos x="T12" y="T13"/>
                            </a:cxn>
                          </a:cxnLst>
                          <a:rect l="T21" t="T22" r="T23" b="T24"/>
                          <a:pathLst>
                            <a:path w="2160" h="342">
                              <a:moveTo>
                                <a:pt x="170" y="0"/>
                              </a:moveTo>
                              <a:lnTo>
                                <a:pt x="0" y="171"/>
                              </a:lnTo>
                              <a:lnTo>
                                <a:pt x="170" y="342"/>
                              </a:lnTo>
                              <a:lnTo>
                                <a:pt x="1991" y="342"/>
                              </a:lnTo>
                              <a:lnTo>
                                <a:pt x="2160" y="171"/>
                              </a:lnTo>
                              <a:lnTo>
                                <a:pt x="1991" y="0"/>
                              </a:lnTo>
                              <a:lnTo>
                                <a:pt x="170" y="0"/>
                              </a:lnTo>
                              <a:close/>
                            </a:path>
                          </a:pathLst>
                        </a:custGeom>
                        <a:noFill/>
                        <a:ln w="38100" cmpd="sng">
                          <a:solidFill>
                            <a:schemeClr val="tx1"/>
                          </a:solidFill>
                          <a:prstDash val="solid"/>
                          <a:rou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143463" name="Freeform 23"/>
                        <p:cNvSpPr/>
                        <p:nvPr/>
                      </p:nvSpPr>
                      <p:spPr bwMode="auto">
                        <a:xfrm>
                          <a:off x="525" y="2685"/>
                          <a:ext cx="2244" cy="357"/>
                        </a:xfrm>
                        <a:custGeom>
                          <a:avLst/>
                          <a:gdLst>
                            <a:gd name="T0" fmla="*/ 2067 w 2244"/>
                            <a:gd name="T1" fmla="*/ 177 h 357"/>
                            <a:gd name="T2" fmla="*/ 2244 w 2244"/>
                            <a:gd name="T3" fmla="*/ 0 h 357"/>
                            <a:gd name="T4" fmla="*/ 3 w 2244"/>
                            <a:gd name="T5" fmla="*/ 0 h 357"/>
                            <a:gd name="T6" fmla="*/ 0 w 2244"/>
                            <a:gd name="T7" fmla="*/ 357 h 357"/>
                            <a:gd name="T8" fmla="*/ 2241 w 2244"/>
                            <a:gd name="T9" fmla="*/ 357 h 357"/>
                            <a:gd name="T10" fmla="*/ 0 60000 65536"/>
                            <a:gd name="T11" fmla="*/ 0 60000 65536"/>
                            <a:gd name="T12" fmla="*/ 0 60000 65536"/>
                            <a:gd name="T13" fmla="*/ 0 60000 65536"/>
                            <a:gd name="T14" fmla="*/ 0 60000 65536"/>
                            <a:gd name="T15" fmla="*/ 0 w 2244"/>
                            <a:gd name="T16" fmla="*/ 0 h 357"/>
                            <a:gd name="T17" fmla="*/ 2244 w 2244"/>
                            <a:gd name="T18" fmla="*/ 357 h 357"/>
                          </a:gdLst>
                          <a:ahLst/>
                          <a:cxnLst>
                            <a:cxn ang="T10">
                              <a:pos x="T0" y="T1"/>
                            </a:cxn>
                            <a:cxn ang="T11">
                              <a:pos x="T2" y="T3"/>
                            </a:cxn>
                            <a:cxn ang="T12">
                              <a:pos x="T4" y="T5"/>
                            </a:cxn>
                            <a:cxn ang="T13">
                              <a:pos x="T6" y="T7"/>
                            </a:cxn>
                            <a:cxn ang="T14">
                              <a:pos x="T8" y="T9"/>
                            </a:cxn>
                          </a:cxnLst>
                          <a:rect l="T15" t="T16" r="T17" b="T18"/>
                          <a:pathLst>
                            <a:path w="2244" h="357">
                              <a:moveTo>
                                <a:pt x="2067" y="177"/>
                              </a:moveTo>
                              <a:lnTo>
                                <a:pt x="2244" y="0"/>
                              </a:lnTo>
                              <a:lnTo>
                                <a:pt x="3" y="0"/>
                              </a:lnTo>
                              <a:lnTo>
                                <a:pt x="0" y="357"/>
                              </a:lnTo>
                              <a:lnTo>
                                <a:pt x="2241" y="357"/>
                              </a:lnTo>
                            </a:path>
                          </a:pathLst>
                        </a:custGeom>
                        <a:solidFill>
                          <a:schemeClr val="tx1">
                            <a:alpha val="50195"/>
                          </a:schemeClr>
                        </a:solidFill>
                        <a:ln w="9525" cap="flat" cmpd="sng">
                          <a:solidFill>
                            <a:schemeClr val="tx1"/>
                          </a:solidFill>
                          <a:prstDash val="solid"/>
                          <a:round/>
                        </a:ln>
                      </p:spPr>
                      <p:txBody>
                        <a:bodyPr>
                          <a:spAutoFit/>
                        </a:bodyPr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143464" name="Freeform 24"/>
                        <p:cNvSpPr/>
                        <p:nvPr/>
                      </p:nvSpPr>
                      <p:spPr bwMode="auto">
                        <a:xfrm>
                          <a:off x="4563" y="2685"/>
                          <a:ext cx="816" cy="357"/>
                        </a:xfrm>
                        <a:custGeom>
                          <a:avLst/>
                          <a:gdLst>
                            <a:gd name="T0" fmla="*/ 0 w 816"/>
                            <a:gd name="T1" fmla="*/ 0 h 357"/>
                            <a:gd name="T2" fmla="*/ 815 w 816"/>
                            <a:gd name="T3" fmla="*/ 0 h 357"/>
                            <a:gd name="T4" fmla="*/ 816 w 816"/>
                            <a:gd name="T5" fmla="*/ 357 h 357"/>
                            <a:gd name="T6" fmla="*/ 9 w 816"/>
                            <a:gd name="T7" fmla="*/ 357 h 357"/>
                            <a:gd name="T8" fmla="*/ 186 w 816"/>
                            <a:gd name="T9" fmla="*/ 180 h 357"/>
                            <a:gd name="T10" fmla="*/ 0 60000 65536"/>
                            <a:gd name="T11" fmla="*/ 0 60000 65536"/>
                            <a:gd name="T12" fmla="*/ 0 60000 65536"/>
                            <a:gd name="T13" fmla="*/ 0 60000 65536"/>
                            <a:gd name="T14" fmla="*/ 0 60000 65536"/>
                            <a:gd name="T15" fmla="*/ 0 w 816"/>
                            <a:gd name="T16" fmla="*/ 0 h 357"/>
                            <a:gd name="T17" fmla="*/ 816 w 816"/>
                            <a:gd name="T18" fmla="*/ 357 h 357"/>
                          </a:gdLst>
                          <a:ahLst/>
                          <a:cxnLst>
                            <a:cxn ang="T10">
                              <a:pos x="T0" y="T1"/>
                            </a:cxn>
                            <a:cxn ang="T11">
                              <a:pos x="T2" y="T3"/>
                            </a:cxn>
                            <a:cxn ang="T12">
                              <a:pos x="T4" y="T5"/>
                            </a:cxn>
                            <a:cxn ang="T13">
                              <a:pos x="T6" y="T7"/>
                            </a:cxn>
                            <a:cxn ang="T14">
                              <a:pos x="T8" y="T9"/>
                            </a:cxn>
                          </a:cxnLst>
                          <a:rect l="T15" t="T16" r="T17" b="T18"/>
                          <a:pathLst>
                            <a:path w="816" h="357">
                              <a:moveTo>
                                <a:pt x="0" y="0"/>
                              </a:moveTo>
                              <a:lnTo>
                                <a:pt x="815" y="0"/>
                              </a:lnTo>
                              <a:lnTo>
                                <a:pt x="816" y="357"/>
                              </a:lnTo>
                              <a:lnTo>
                                <a:pt x="9" y="357"/>
                              </a:lnTo>
                              <a:lnTo>
                                <a:pt x="186" y="180"/>
                              </a:lnTo>
                            </a:path>
                          </a:pathLst>
                        </a:custGeom>
                        <a:solidFill>
                          <a:schemeClr val="tx1">
                            <a:alpha val="50195"/>
                          </a:schemeClr>
                        </a:solidFill>
                        <a:ln w="9525" cap="flat" cmpd="sng">
                          <a:solidFill>
                            <a:schemeClr val="tx1"/>
                          </a:solidFill>
                          <a:prstDash val="solid"/>
                          <a:round/>
                        </a:ln>
                      </p:spPr>
                      <p:txBody>
                        <a:bodyPr>
                          <a:spAutoFit/>
                        </a:bodyPr>
                        <a:lstStyle/>
                        <a:p>
                          <a:endParaRPr lang="zh-CN" altLang="en-US"/>
                        </a:p>
                      </p:txBody>
                    </p:sp>
                  </p:grpSp>
                </p:grpSp>
              </p:grpSp>
              <p:grpSp>
                <p:nvGrpSpPr>
                  <p:cNvPr id="143453" name="Group 25"/>
                  <p:cNvGrpSpPr/>
                  <p:nvPr/>
                </p:nvGrpSpPr>
                <p:grpSpPr bwMode="auto">
                  <a:xfrm>
                    <a:off x="48" y="1400"/>
                    <a:ext cx="494" cy="1634"/>
                    <a:chOff x="48" y="1400"/>
                    <a:chExt cx="494" cy="1634"/>
                  </a:xfrm>
                </p:grpSpPr>
                <p:sp>
                  <p:nvSpPr>
                    <p:cNvPr id="143454" name="Text Box 26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06" y="1400"/>
                      <a:ext cx="255" cy="288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en-US" altLang="zh-CN" sz="2400">
                          <a:latin typeface="Times New Roman" panose="02020603050405020304" pitchFamily="18" charset="0"/>
                        </a:rPr>
                        <a:t>A</a:t>
                      </a:r>
                    </a:p>
                  </p:txBody>
                </p:sp>
                <p:sp>
                  <p:nvSpPr>
                    <p:cNvPr id="143455" name="Text Box 27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48" y="2043"/>
                      <a:ext cx="362" cy="288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en-US" altLang="zh-CN" sz="2400">
                          <a:latin typeface="Times New Roman" panose="02020603050405020304" pitchFamily="18" charset="0"/>
                        </a:rPr>
                        <a:t>CS</a:t>
                      </a:r>
                    </a:p>
                  </p:txBody>
                </p:sp>
                <p:sp>
                  <p:nvSpPr>
                    <p:cNvPr id="143456" name="Text Box 28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48" y="2708"/>
                      <a:ext cx="255" cy="288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en-US" altLang="zh-CN" sz="2400">
                          <a:latin typeface="Times New Roman" panose="02020603050405020304" pitchFamily="18" charset="0"/>
                        </a:rPr>
                        <a:t>D</a:t>
                      </a:r>
                    </a:p>
                  </p:txBody>
                </p:sp>
                <p:sp>
                  <p:nvSpPr>
                    <p:cNvPr id="143457" name="Text Box 29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83" y="2842"/>
                      <a:ext cx="359" cy="192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en-US" altLang="zh-CN" sz="1400">
                          <a:latin typeface="Times New Roman" panose="02020603050405020304" pitchFamily="18" charset="0"/>
                        </a:rPr>
                        <a:t>OUT</a:t>
                      </a:r>
                    </a:p>
                  </p:txBody>
                </p:sp>
              </p:grpSp>
            </p:grpSp>
            <p:grpSp>
              <p:nvGrpSpPr>
                <p:cNvPr id="143432" name="Group 115"/>
                <p:cNvGrpSpPr/>
                <p:nvPr/>
              </p:nvGrpSpPr>
              <p:grpSpPr bwMode="auto">
                <a:xfrm>
                  <a:off x="632" y="714"/>
                  <a:ext cx="4740" cy="3168"/>
                  <a:chOff x="632" y="714"/>
                  <a:chExt cx="4740" cy="3168"/>
                </a:xfrm>
              </p:grpSpPr>
              <p:sp>
                <p:nvSpPr>
                  <p:cNvPr id="143433" name="Line 31"/>
                  <p:cNvSpPr>
                    <a:spLocks noChangeShapeType="1"/>
                  </p:cNvSpPr>
                  <p:nvPr/>
                </p:nvSpPr>
                <p:spPr bwMode="auto">
                  <a:xfrm rot="10800000">
                    <a:off x="2880" y="3594"/>
                    <a:ext cx="480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folHlink"/>
                    </a:solidFill>
                    <a:round/>
                    <a:tailEnd type="stealth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3434" name="Line 32"/>
                  <p:cNvSpPr>
                    <a:spLocks noChangeShapeType="1"/>
                  </p:cNvSpPr>
                  <p:nvPr/>
                </p:nvSpPr>
                <p:spPr bwMode="auto">
                  <a:xfrm>
                    <a:off x="1366" y="810"/>
                    <a:ext cx="0" cy="2832"/>
                  </a:xfrm>
                  <a:prstGeom prst="line">
                    <a:avLst/>
                  </a:prstGeom>
                  <a:noFill/>
                  <a:ln w="1905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3435" name="Line 33"/>
                  <p:cNvSpPr>
                    <a:spLocks noChangeShapeType="1"/>
                  </p:cNvSpPr>
                  <p:nvPr/>
                </p:nvSpPr>
                <p:spPr bwMode="auto">
                  <a:xfrm>
                    <a:off x="4128" y="810"/>
                    <a:ext cx="0" cy="1920"/>
                  </a:xfrm>
                  <a:prstGeom prst="line">
                    <a:avLst/>
                  </a:prstGeom>
                  <a:noFill/>
                  <a:ln w="1905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3436" name="Text Box 3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32" y="714"/>
                    <a:ext cx="760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地址有效</a:t>
                    </a:r>
                  </a:p>
                </p:txBody>
              </p:sp>
              <p:sp>
                <p:nvSpPr>
                  <p:cNvPr id="143437" name="Text Box 35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104" y="747"/>
                    <a:ext cx="760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地址失效</a:t>
                    </a:r>
                  </a:p>
                </p:txBody>
              </p:sp>
              <p:grpSp>
                <p:nvGrpSpPr>
                  <p:cNvPr id="143438" name="Group 114"/>
                  <p:cNvGrpSpPr/>
                  <p:nvPr/>
                </p:nvGrpSpPr>
                <p:grpSpPr bwMode="auto">
                  <a:xfrm>
                    <a:off x="2976" y="1712"/>
                    <a:ext cx="1048" cy="250"/>
                    <a:chOff x="2976" y="1712"/>
                    <a:chExt cx="1048" cy="250"/>
                  </a:xfrm>
                </p:grpSpPr>
                <p:sp>
                  <p:nvSpPr>
                    <p:cNvPr id="143448" name="Line 3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2976" y="1856"/>
                      <a:ext cx="33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tailEnd type="stealth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3449" name="Text Box 38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264" y="1712"/>
                      <a:ext cx="760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片选失效</a:t>
                      </a:r>
                    </a:p>
                  </p:txBody>
                </p:sp>
              </p:grpSp>
              <p:sp>
                <p:nvSpPr>
                  <p:cNvPr id="143439" name="Line 39"/>
                  <p:cNvSpPr>
                    <a:spLocks noChangeShapeType="1"/>
                  </p:cNvSpPr>
                  <p:nvPr/>
                </p:nvSpPr>
                <p:spPr bwMode="auto">
                  <a:xfrm>
                    <a:off x="2976" y="1242"/>
                    <a:ext cx="0" cy="2352"/>
                  </a:xfrm>
                  <a:prstGeom prst="line">
                    <a:avLst/>
                  </a:prstGeom>
                  <a:noFill/>
                  <a:ln w="1905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3440" name="Line 40"/>
                  <p:cNvSpPr>
                    <a:spLocks noChangeShapeType="1"/>
                  </p:cNvSpPr>
                  <p:nvPr/>
                </p:nvSpPr>
                <p:spPr bwMode="auto">
                  <a:xfrm>
                    <a:off x="2592" y="2682"/>
                    <a:ext cx="0" cy="1056"/>
                  </a:xfrm>
                  <a:prstGeom prst="line">
                    <a:avLst/>
                  </a:prstGeom>
                  <a:noFill/>
                  <a:ln w="1905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43441" name="Group 113"/>
                  <p:cNvGrpSpPr/>
                  <p:nvPr/>
                </p:nvGrpSpPr>
                <p:grpSpPr bwMode="auto">
                  <a:xfrm>
                    <a:off x="1352" y="3440"/>
                    <a:ext cx="1240" cy="250"/>
                    <a:chOff x="1352" y="3440"/>
                    <a:chExt cx="1240" cy="250"/>
                  </a:xfrm>
                </p:grpSpPr>
                <p:sp>
                  <p:nvSpPr>
                    <p:cNvPr id="143446" name="Line 4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112" y="3594"/>
                      <a:ext cx="480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folHlink"/>
                      </a:solidFill>
                      <a:round/>
                      <a:tailEnd type="stealth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>
                      <a:spAutoFit/>
                    </a:bodyPr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43447" name="Text Box 43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352" y="3440"/>
                      <a:ext cx="760" cy="25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zh-CN" altLang="en-US" sz="2000">
                          <a:latin typeface="Times New Roman" panose="02020603050405020304" pitchFamily="18" charset="0"/>
                        </a:rPr>
                        <a:t>数据有效</a:t>
                      </a:r>
                    </a:p>
                  </p:txBody>
                </p:sp>
              </p:grpSp>
              <p:sp>
                <p:nvSpPr>
                  <p:cNvPr id="143442" name="Line 44"/>
                  <p:cNvSpPr>
                    <a:spLocks noChangeShapeType="1"/>
                  </p:cNvSpPr>
                  <p:nvPr/>
                </p:nvSpPr>
                <p:spPr bwMode="auto">
                  <a:xfrm>
                    <a:off x="2880" y="1002"/>
                    <a:ext cx="0" cy="2880"/>
                  </a:xfrm>
                  <a:prstGeom prst="line">
                    <a:avLst/>
                  </a:prstGeom>
                  <a:noFill/>
                  <a:ln w="19050">
                    <a:solidFill>
                      <a:schemeClr val="folHlink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  <p:sp>
                <p:nvSpPr>
                  <p:cNvPr id="143443" name="Text Box 45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68" y="3450"/>
                    <a:ext cx="760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数据稳定</a:t>
                    </a:r>
                    <a:endParaRPr lang="en-US" altLang="zh-CN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43444" name="Text Box 46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934" y="3237"/>
                    <a:ext cx="438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高阻</a:t>
                    </a:r>
                  </a:p>
                </p:txBody>
              </p:sp>
              <p:sp>
                <p:nvSpPr>
                  <p:cNvPr id="143445" name="Line 47"/>
                  <p:cNvSpPr>
                    <a:spLocks noChangeShapeType="1"/>
                  </p:cNvSpPr>
                  <p:nvPr/>
                </p:nvSpPr>
                <p:spPr bwMode="auto">
                  <a:xfrm>
                    <a:off x="4752" y="2874"/>
                    <a:ext cx="336" cy="336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</p:grpSp>
        </p:grpSp>
        <p:sp>
          <p:nvSpPr>
            <p:cNvPr id="143428" name="Line 48"/>
            <p:cNvSpPr>
              <a:spLocks noChangeShapeType="1"/>
            </p:cNvSpPr>
            <p:nvPr/>
          </p:nvSpPr>
          <p:spPr bwMode="auto">
            <a:xfrm>
              <a:off x="96" y="2064"/>
              <a:ext cx="288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43363" name="Text Box 49"/>
          <p:cNvSpPr txBox="1">
            <a:spLocks noChangeArrowheads="1"/>
          </p:cNvSpPr>
          <p:nvPr/>
        </p:nvSpPr>
        <p:spPr bwMode="auto">
          <a:xfrm>
            <a:off x="533400" y="228600"/>
            <a:ext cx="5410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(3) 静态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读 </a:t>
            </a:r>
            <a:r>
              <a:rPr lang="zh-CN" altLang="en-US" sz="3200">
                <a:latin typeface="Times New Roman" panose="02020603050405020304" pitchFamily="18" charset="0"/>
              </a:rPr>
              <a:t>时序  </a:t>
            </a:r>
          </a:p>
        </p:txBody>
      </p:sp>
      <p:grpSp>
        <p:nvGrpSpPr>
          <p:cNvPr id="15" name="Group 50"/>
          <p:cNvGrpSpPr/>
          <p:nvPr/>
        </p:nvGrpSpPr>
        <p:grpSpPr bwMode="auto">
          <a:xfrm>
            <a:off x="2209800" y="1457325"/>
            <a:ext cx="2362200" cy="631825"/>
            <a:chOff x="1392" y="918"/>
            <a:chExt cx="1488" cy="398"/>
          </a:xfrm>
        </p:grpSpPr>
        <p:grpSp>
          <p:nvGrpSpPr>
            <p:cNvPr id="143422" name="Group 51"/>
            <p:cNvGrpSpPr/>
            <p:nvPr/>
          </p:nvGrpSpPr>
          <p:grpSpPr bwMode="auto">
            <a:xfrm>
              <a:off x="1968" y="918"/>
              <a:ext cx="290" cy="398"/>
              <a:chOff x="4455" y="588"/>
              <a:chExt cx="290" cy="398"/>
            </a:xfrm>
          </p:grpSpPr>
          <p:sp>
            <p:nvSpPr>
              <p:cNvPr id="143425" name="Text Box 52"/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1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t</a:t>
                </a:r>
              </a:p>
            </p:txBody>
          </p:sp>
          <p:sp>
            <p:nvSpPr>
              <p:cNvPr id="143426" name="Text Box 53"/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185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1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A</a:t>
                </a:r>
              </a:p>
            </p:txBody>
          </p:sp>
        </p:grpSp>
        <p:sp>
          <p:nvSpPr>
            <p:cNvPr id="143423" name="Line 54"/>
            <p:cNvSpPr>
              <a:spLocks noChangeShapeType="1"/>
            </p:cNvSpPr>
            <p:nvPr/>
          </p:nvSpPr>
          <p:spPr bwMode="auto">
            <a:xfrm>
              <a:off x="2400" y="1146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43424" name="Line 55"/>
            <p:cNvSpPr>
              <a:spLocks noChangeShapeType="1"/>
            </p:cNvSpPr>
            <p:nvPr/>
          </p:nvSpPr>
          <p:spPr bwMode="auto">
            <a:xfrm rot="10800000">
              <a:off x="1392" y="1146"/>
              <a:ext cx="48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231480" name="Line 56"/>
          <p:cNvSpPr>
            <a:spLocks noChangeShapeType="1"/>
          </p:cNvSpPr>
          <p:nvPr/>
        </p:nvSpPr>
        <p:spPr bwMode="auto">
          <a:xfrm>
            <a:off x="3048000" y="2895600"/>
            <a:ext cx="0" cy="2595563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grpSp>
        <p:nvGrpSpPr>
          <p:cNvPr id="17" name="Group 57"/>
          <p:cNvGrpSpPr/>
          <p:nvPr/>
        </p:nvGrpSpPr>
        <p:grpSpPr bwMode="auto">
          <a:xfrm>
            <a:off x="3048000" y="3590925"/>
            <a:ext cx="1524000" cy="631825"/>
            <a:chOff x="1920" y="2262"/>
            <a:chExt cx="960" cy="398"/>
          </a:xfrm>
        </p:grpSpPr>
        <p:grpSp>
          <p:nvGrpSpPr>
            <p:cNvPr id="143417" name="Group 58"/>
            <p:cNvGrpSpPr/>
            <p:nvPr/>
          </p:nvGrpSpPr>
          <p:grpSpPr bwMode="auto">
            <a:xfrm>
              <a:off x="2208" y="2262"/>
              <a:ext cx="365" cy="398"/>
              <a:chOff x="4455" y="588"/>
              <a:chExt cx="365" cy="398"/>
            </a:xfrm>
          </p:grpSpPr>
          <p:sp>
            <p:nvSpPr>
              <p:cNvPr id="143420" name="Text Box 59"/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1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t</a:t>
                </a:r>
              </a:p>
            </p:txBody>
          </p:sp>
          <p:sp>
            <p:nvSpPr>
              <p:cNvPr id="143421" name="Text Box 60"/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260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1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CO</a:t>
                </a:r>
              </a:p>
            </p:txBody>
          </p:sp>
        </p:grpSp>
        <p:sp>
          <p:nvSpPr>
            <p:cNvPr id="143418" name="Line 61"/>
            <p:cNvSpPr>
              <a:spLocks noChangeShapeType="1"/>
            </p:cNvSpPr>
            <p:nvPr/>
          </p:nvSpPr>
          <p:spPr bwMode="auto">
            <a:xfrm>
              <a:off x="2592" y="2440"/>
              <a:ext cx="288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43419" name="Line 62"/>
            <p:cNvSpPr>
              <a:spLocks noChangeShapeType="1"/>
            </p:cNvSpPr>
            <p:nvPr/>
          </p:nvSpPr>
          <p:spPr bwMode="auto">
            <a:xfrm rot="10800000">
              <a:off x="1920" y="2440"/>
              <a:ext cx="288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231487" name="Line 63"/>
          <p:cNvSpPr>
            <a:spLocks noChangeShapeType="1"/>
          </p:cNvSpPr>
          <p:nvPr/>
        </p:nvSpPr>
        <p:spPr bwMode="auto">
          <a:xfrm>
            <a:off x="7315200" y="3738563"/>
            <a:ext cx="0" cy="76200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grpSp>
        <p:nvGrpSpPr>
          <p:cNvPr id="19" name="Group 64"/>
          <p:cNvGrpSpPr/>
          <p:nvPr/>
        </p:nvGrpSpPr>
        <p:grpSpPr bwMode="auto">
          <a:xfrm>
            <a:off x="6248400" y="3594100"/>
            <a:ext cx="1371600" cy="631825"/>
            <a:chOff x="3936" y="2264"/>
            <a:chExt cx="864" cy="398"/>
          </a:xfrm>
        </p:grpSpPr>
        <p:grpSp>
          <p:nvGrpSpPr>
            <p:cNvPr id="143412" name="Group 65"/>
            <p:cNvGrpSpPr/>
            <p:nvPr/>
          </p:nvGrpSpPr>
          <p:grpSpPr bwMode="auto">
            <a:xfrm>
              <a:off x="4168" y="2264"/>
              <a:ext cx="440" cy="398"/>
              <a:chOff x="4455" y="588"/>
              <a:chExt cx="440" cy="398"/>
            </a:xfrm>
          </p:grpSpPr>
          <p:sp>
            <p:nvSpPr>
              <p:cNvPr id="143415" name="Text Box 66"/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1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t</a:t>
                </a:r>
              </a:p>
            </p:txBody>
          </p:sp>
          <p:sp>
            <p:nvSpPr>
              <p:cNvPr id="143416" name="Text Box 67"/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335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1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OHA</a:t>
                </a:r>
              </a:p>
            </p:txBody>
          </p:sp>
        </p:grpSp>
        <p:sp>
          <p:nvSpPr>
            <p:cNvPr id="143413" name="Line 68"/>
            <p:cNvSpPr>
              <a:spLocks noChangeShapeType="1"/>
            </p:cNvSpPr>
            <p:nvPr/>
          </p:nvSpPr>
          <p:spPr bwMode="auto">
            <a:xfrm flipH="1">
              <a:off x="4608" y="2440"/>
              <a:ext cx="192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43414" name="Line 69"/>
            <p:cNvSpPr>
              <a:spLocks noChangeShapeType="1"/>
            </p:cNvSpPr>
            <p:nvPr/>
          </p:nvSpPr>
          <p:spPr bwMode="auto">
            <a:xfrm rot="10800000" flipH="1">
              <a:off x="3936" y="2440"/>
              <a:ext cx="192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1" name="Group 70"/>
          <p:cNvGrpSpPr/>
          <p:nvPr/>
        </p:nvGrpSpPr>
        <p:grpSpPr bwMode="auto">
          <a:xfrm>
            <a:off x="4724400" y="4889500"/>
            <a:ext cx="2819400" cy="631825"/>
            <a:chOff x="2976" y="3080"/>
            <a:chExt cx="1776" cy="398"/>
          </a:xfrm>
        </p:grpSpPr>
        <p:sp>
          <p:nvSpPr>
            <p:cNvPr id="143407" name="Line 71"/>
            <p:cNvSpPr>
              <a:spLocks noChangeShapeType="1"/>
            </p:cNvSpPr>
            <p:nvPr/>
          </p:nvSpPr>
          <p:spPr bwMode="auto">
            <a:xfrm>
              <a:off x="4128" y="3210"/>
              <a:ext cx="624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43408" name="Line 72"/>
            <p:cNvSpPr>
              <a:spLocks noChangeShapeType="1"/>
            </p:cNvSpPr>
            <p:nvPr/>
          </p:nvSpPr>
          <p:spPr bwMode="auto">
            <a:xfrm rot="10800000">
              <a:off x="2976" y="3210"/>
              <a:ext cx="624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143409" name="Group 73"/>
            <p:cNvGrpSpPr/>
            <p:nvPr/>
          </p:nvGrpSpPr>
          <p:grpSpPr bwMode="auto">
            <a:xfrm>
              <a:off x="3651" y="3080"/>
              <a:ext cx="429" cy="398"/>
              <a:chOff x="4455" y="588"/>
              <a:chExt cx="429" cy="398"/>
            </a:xfrm>
          </p:grpSpPr>
          <p:sp>
            <p:nvSpPr>
              <p:cNvPr id="143410" name="Text Box 74"/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1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t</a:t>
                </a:r>
              </a:p>
            </p:txBody>
          </p:sp>
          <p:sp>
            <p:nvSpPr>
              <p:cNvPr id="143411" name="Text Box 75"/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324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1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OTD</a:t>
                </a:r>
              </a:p>
            </p:txBody>
          </p:sp>
        </p:grpSp>
      </p:grpSp>
      <p:grpSp>
        <p:nvGrpSpPr>
          <p:cNvPr id="23" name="Group 76"/>
          <p:cNvGrpSpPr/>
          <p:nvPr/>
        </p:nvGrpSpPr>
        <p:grpSpPr bwMode="auto">
          <a:xfrm>
            <a:off x="2171700" y="1027113"/>
            <a:ext cx="4343400" cy="631825"/>
            <a:chOff x="1368" y="647"/>
            <a:chExt cx="2736" cy="398"/>
          </a:xfrm>
        </p:grpSpPr>
        <p:sp>
          <p:nvSpPr>
            <p:cNvPr id="143402" name="Line 77"/>
            <p:cNvSpPr>
              <a:spLocks noChangeShapeType="1"/>
            </p:cNvSpPr>
            <p:nvPr/>
          </p:nvSpPr>
          <p:spPr bwMode="auto">
            <a:xfrm>
              <a:off x="3048" y="875"/>
              <a:ext cx="1056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143403" name="Group 78"/>
            <p:cNvGrpSpPr/>
            <p:nvPr/>
          </p:nvGrpSpPr>
          <p:grpSpPr bwMode="auto">
            <a:xfrm>
              <a:off x="2501" y="647"/>
              <a:ext cx="359" cy="398"/>
              <a:chOff x="4455" y="588"/>
              <a:chExt cx="359" cy="398"/>
            </a:xfrm>
          </p:grpSpPr>
          <p:sp>
            <p:nvSpPr>
              <p:cNvPr id="143405" name="Text Box 79"/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1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t</a:t>
                </a:r>
              </a:p>
            </p:txBody>
          </p:sp>
          <p:sp>
            <p:nvSpPr>
              <p:cNvPr id="143406" name="Text Box 80"/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254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1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RC</a:t>
                </a:r>
              </a:p>
            </p:txBody>
          </p:sp>
        </p:grpSp>
        <p:sp>
          <p:nvSpPr>
            <p:cNvPr id="143404" name="Line 81"/>
            <p:cNvSpPr>
              <a:spLocks noChangeShapeType="1"/>
            </p:cNvSpPr>
            <p:nvPr/>
          </p:nvSpPr>
          <p:spPr bwMode="auto">
            <a:xfrm rot="10800000">
              <a:off x="1368" y="875"/>
              <a:ext cx="1056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5" name="Group 82"/>
          <p:cNvGrpSpPr/>
          <p:nvPr/>
        </p:nvGrpSpPr>
        <p:grpSpPr bwMode="auto">
          <a:xfrm>
            <a:off x="1314450" y="2720975"/>
            <a:ext cx="1714500" cy="396875"/>
            <a:chOff x="828" y="1714"/>
            <a:chExt cx="1080" cy="250"/>
          </a:xfrm>
        </p:grpSpPr>
        <p:sp>
          <p:nvSpPr>
            <p:cNvPr id="143400" name="Text Box 83"/>
            <p:cNvSpPr txBox="1">
              <a:spLocks noChangeArrowheads="1"/>
            </p:cNvSpPr>
            <p:nvPr/>
          </p:nvSpPr>
          <p:spPr bwMode="auto">
            <a:xfrm>
              <a:off x="828" y="1714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片选有效</a:t>
              </a:r>
            </a:p>
          </p:txBody>
        </p:sp>
        <p:sp>
          <p:nvSpPr>
            <p:cNvPr id="143401" name="Line 84"/>
            <p:cNvSpPr>
              <a:spLocks noChangeShapeType="1"/>
            </p:cNvSpPr>
            <p:nvPr/>
          </p:nvSpPr>
          <p:spPr bwMode="auto">
            <a:xfrm>
              <a:off x="1572" y="1848"/>
              <a:ext cx="336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31509" name="Rectangle 85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grpSp>
        <p:nvGrpSpPr>
          <p:cNvPr id="26" name="Group 86"/>
          <p:cNvGrpSpPr/>
          <p:nvPr/>
        </p:nvGrpSpPr>
        <p:grpSpPr bwMode="auto">
          <a:xfrm>
            <a:off x="990600" y="6040438"/>
            <a:ext cx="6948488" cy="588962"/>
            <a:chOff x="624" y="3805"/>
            <a:chExt cx="4377" cy="371"/>
          </a:xfrm>
        </p:grpSpPr>
        <p:sp>
          <p:nvSpPr>
            <p:cNvPr id="143398" name="Rectangle 87"/>
            <p:cNvSpPr>
              <a:spLocks noChangeArrowheads="1"/>
            </p:cNvSpPr>
            <p:nvPr/>
          </p:nvSpPr>
          <p:spPr bwMode="auto">
            <a:xfrm>
              <a:off x="624" y="3805"/>
              <a:ext cx="4377" cy="371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</a:ln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</a:rPr>
                <a:t>读周期</a:t>
              </a:r>
              <a:r>
                <a:rPr lang="zh-CN" altLang="en-US" sz="2800"/>
                <a:t> </a:t>
              </a:r>
              <a:r>
                <a:rPr lang="en-US" altLang="zh-CN" sz="2800" i="1">
                  <a:solidFill>
                    <a:schemeClr val="folHlink"/>
                  </a:solidFill>
                </a:rPr>
                <a:t>t</a:t>
              </a:r>
              <a:r>
                <a:rPr lang="en-US" altLang="zh-CN" sz="2400" baseline="-25000">
                  <a:solidFill>
                    <a:schemeClr val="folHlink"/>
                  </a:solidFill>
                </a:rPr>
                <a:t>RC</a:t>
              </a:r>
              <a:r>
                <a:rPr lang="en-US" altLang="zh-CN" sz="2800" baseline="-25000"/>
                <a:t>  </a:t>
              </a:r>
              <a:r>
                <a:rPr lang="zh-CN" altLang="en-US" sz="2800"/>
                <a:t>地址有效    下一次地址有效</a:t>
              </a:r>
            </a:p>
          </p:txBody>
        </p:sp>
        <p:sp>
          <p:nvSpPr>
            <p:cNvPr id="143399" name="Line 88"/>
            <p:cNvSpPr>
              <a:spLocks noChangeShapeType="1"/>
            </p:cNvSpPr>
            <p:nvPr/>
          </p:nvSpPr>
          <p:spPr bwMode="auto">
            <a:xfrm>
              <a:off x="2985" y="4032"/>
              <a:ext cx="33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7" name="Group 89"/>
          <p:cNvGrpSpPr/>
          <p:nvPr/>
        </p:nvGrpSpPr>
        <p:grpSpPr bwMode="auto">
          <a:xfrm>
            <a:off x="990600" y="6040438"/>
            <a:ext cx="7467600" cy="595312"/>
            <a:chOff x="624" y="3805"/>
            <a:chExt cx="4704" cy="375"/>
          </a:xfrm>
        </p:grpSpPr>
        <p:sp>
          <p:nvSpPr>
            <p:cNvPr id="143393" name="Rectangle 90"/>
            <p:cNvSpPr>
              <a:spLocks noChangeArrowheads="1"/>
            </p:cNvSpPr>
            <p:nvPr/>
          </p:nvSpPr>
          <p:spPr bwMode="auto">
            <a:xfrm>
              <a:off x="624" y="3844"/>
              <a:ext cx="4368" cy="336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</a:ln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grpSp>
          <p:nvGrpSpPr>
            <p:cNvPr id="143394" name="Group 91"/>
            <p:cNvGrpSpPr/>
            <p:nvPr/>
          </p:nvGrpSpPr>
          <p:grpSpPr bwMode="auto">
            <a:xfrm>
              <a:off x="853" y="3805"/>
              <a:ext cx="4475" cy="365"/>
              <a:chOff x="853" y="3805"/>
              <a:chExt cx="4475" cy="365"/>
            </a:xfrm>
          </p:grpSpPr>
          <p:sp>
            <p:nvSpPr>
              <p:cNvPr id="143395" name="Rectangle 92"/>
              <p:cNvSpPr>
                <a:spLocks noChangeArrowheads="1"/>
              </p:cNvSpPr>
              <p:nvPr/>
            </p:nvSpPr>
            <p:spPr bwMode="auto">
              <a:xfrm>
                <a:off x="853" y="3805"/>
                <a:ext cx="2891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</a:rPr>
                  <a:t>读时间</a:t>
                </a:r>
                <a:r>
                  <a:rPr lang="zh-CN" altLang="en-US" sz="2800">
                    <a:solidFill>
                      <a:schemeClr val="folHlink"/>
                    </a:solidFill>
                  </a:rPr>
                  <a:t>  </a:t>
                </a:r>
                <a:r>
                  <a:rPr lang="en-US" altLang="zh-CN" sz="2800" i="1">
                    <a:solidFill>
                      <a:schemeClr val="folHlink"/>
                    </a:solidFill>
                  </a:rPr>
                  <a:t>t</a:t>
                </a:r>
                <a:r>
                  <a:rPr lang="en-US" altLang="zh-CN" sz="2400" baseline="-25000">
                    <a:solidFill>
                      <a:schemeClr val="folHlink"/>
                    </a:solidFill>
                  </a:rPr>
                  <a:t>A</a:t>
                </a:r>
                <a:r>
                  <a:rPr lang="en-US" altLang="zh-CN" sz="2800" baseline="-25000"/>
                  <a:t>   </a:t>
                </a:r>
                <a:r>
                  <a:rPr lang="zh-CN" altLang="en-US" sz="2800"/>
                  <a:t>地址有效</a:t>
                </a:r>
              </a:p>
            </p:txBody>
          </p:sp>
          <p:sp>
            <p:nvSpPr>
              <p:cNvPr id="143396" name="Line 93"/>
              <p:cNvSpPr>
                <a:spLocks noChangeShapeType="1"/>
              </p:cNvSpPr>
              <p:nvPr/>
            </p:nvSpPr>
            <p:spPr bwMode="auto">
              <a:xfrm>
                <a:off x="3312" y="4032"/>
                <a:ext cx="3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3397" name="Rectangle 94"/>
              <p:cNvSpPr>
                <a:spLocks noChangeArrowheads="1"/>
              </p:cNvSpPr>
              <p:nvPr/>
            </p:nvSpPr>
            <p:spPr bwMode="auto">
              <a:xfrm>
                <a:off x="3744" y="3835"/>
                <a:ext cx="1584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800"/>
                  <a:t>数据稳定 </a:t>
                </a:r>
                <a:endParaRPr lang="en-US" altLang="zh-CN" sz="2800"/>
              </a:p>
            </p:txBody>
          </p:sp>
        </p:grpSp>
      </p:grpSp>
      <p:grpSp>
        <p:nvGrpSpPr>
          <p:cNvPr id="29" name="Group 95"/>
          <p:cNvGrpSpPr/>
          <p:nvPr/>
        </p:nvGrpSpPr>
        <p:grpSpPr bwMode="auto">
          <a:xfrm>
            <a:off x="990600" y="6040438"/>
            <a:ext cx="6934200" cy="533400"/>
            <a:chOff x="624" y="3805"/>
            <a:chExt cx="4368" cy="336"/>
          </a:xfrm>
        </p:grpSpPr>
        <p:sp>
          <p:nvSpPr>
            <p:cNvPr id="143388" name="Rectangle 96"/>
            <p:cNvSpPr>
              <a:spLocks noChangeArrowheads="1"/>
            </p:cNvSpPr>
            <p:nvPr/>
          </p:nvSpPr>
          <p:spPr bwMode="auto">
            <a:xfrm>
              <a:off x="624" y="3805"/>
              <a:ext cx="4368" cy="336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</a:ln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grpSp>
          <p:nvGrpSpPr>
            <p:cNvPr id="143389" name="Group 97"/>
            <p:cNvGrpSpPr/>
            <p:nvPr/>
          </p:nvGrpSpPr>
          <p:grpSpPr bwMode="auto">
            <a:xfrm>
              <a:off x="1573" y="3805"/>
              <a:ext cx="2784" cy="327"/>
              <a:chOff x="1573" y="3805"/>
              <a:chExt cx="2784" cy="327"/>
            </a:xfrm>
          </p:grpSpPr>
          <p:sp>
            <p:nvSpPr>
              <p:cNvPr id="143390" name="Rectangle 98"/>
              <p:cNvSpPr>
                <a:spLocks noChangeArrowheads="1"/>
              </p:cNvSpPr>
              <p:nvPr/>
            </p:nvSpPr>
            <p:spPr bwMode="auto">
              <a:xfrm>
                <a:off x="1573" y="3805"/>
                <a:ext cx="1413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800" i="1"/>
                  <a:t>t</a:t>
                </a:r>
                <a:r>
                  <a:rPr lang="en-US" altLang="zh-CN" sz="2400" baseline="-25000"/>
                  <a:t>CO</a:t>
                </a:r>
                <a:r>
                  <a:rPr lang="en-US" altLang="zh-CN" sz="2800" baseline="-25000"/>
                  <a:t>  </a:t>
                </a:r>
                <a:r>
                  <a:rPr lang="zh-CN" altLang="en-US" sz="2800"/>
                  <a:t>片选有效</a:t>
                </a:r>
              </a:p>
            </p:txBody>
          </p:sp>
          <p:sp>
            <p:nvSpPr>
              <p:cNvPr id="143391" name="Line 99"/>
              <p:cNvSpPr>
                <a:spLocks noChangeShapeType="1"/>
              </p:cNvSpPr>
              <p:nvPr/>
            </p:nvSpPr>
            <p:spPr bwMode="auto">
              <a:xfrm>
                <a:off x="3002" y="3984"/>
                <a:ext cx="3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3392" name="Rectangle 100"/>
              <p:cNvSpPr>
                <a:spLocks noChangeArrowheads="1"/>
              </p:cNvSpPr>
              <p:nvPr/>
            </p:nvSpPr>
            <p:spPr bwMode="auto">
              <a:xfrm>
                <a:off x="3341" y="3805"/>
                <a:ext cx="1016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800"/>
                  <a:t>数据稳定</a:t>
                </a:r>
              </a:p>
            </p:txBody>
          </p:sp>
        </p:grpSp>
      </p:grpSp>
      <p:grpSp>
        <p:nvGrpSpPr>
          <p:cNvPr id="31" name="Group 101"/>
          <p:cNvGrpSpPr/>
          <p:nvPr/>
        </p:nvGrpSpPr>
        <p:grpSpPr bwMode="auto">
          <a:xfrm>
            <a:off x="990600" y="6040438"/>
            <a:ext cx="7010400" cy="533400"/>
            <a:chOff x="624" y="3805"/>
            <a:chExt cx="4416" cy="336"/>
          </a:xfrm>
        </p:grpSpPr>
        <p:sp>
          <p:nvSpPr>
            <p:cNvPr id="143383" name="Rectangle 102"/>
            <p:cNvSpPr>
              <a:spLocks noChangeArrowheads="1"/>
            </p:cNvSpPr>
            <p:nvPr/>
          </p:nvSpPr>
          <p:spPr bwMode="auto">
            <a:xfrm>
              <a:off x="624" y="3805"/>
              <a:ext cx="4368" cy="336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</a:ln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grpSp>
          <p:nvGrpSpPr>
            <p:cNvPr id="143384" name="Group 103"/>
            <p:cNvGrpSpPr/>
            <p:nvPr/>
          </p:nvGrpSpPr>
          <p:grpSpPr bwMode="auto">
            <a:xfrm>
              <a:off x="1536" y="3805"/>
              <a:ext cx="3504" cy="327"/>
              <a:chOff x="1536" y="3805"/>
              <a:chExt cx="3504" cy="327"/>
            </a:xfrm>
          </p:grpSpPr>
          <p:sp>
            <p:nvSpPr>
              <p:cNvPr id="143385" name="Rectangle 104"/>
              <p:cNvSpPr>
                <a:spLocks noChangeArrowheads="1"/>
              </p:cNvSpPr>
              <p:nvPr/>
            </p:nvSpPr>
            <p:spPr bwMode="auto">
              <a:xfrm>
                <a:off x="1536" y="3805"/>
                <a:ext cx="1401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800" i="1"/>
                  <a:t>t</a:t>
                </a:r>
                <a:r>
                  <a:rPr lang="en-US" altLang="zh-CN" sz="2400" baseline="-25000"/>
                  <a:t>OTD</a:t>
                </a:r>
                <a:r>
                  <a:rPr lang="zh-CN" altLang="en-US" sz="2800" baseline="-25000"/>
                  <a:t> </a:t>
                </a:r>
                <a:r>
                  <a:rPr lang="zh-CN" altLang="en-US" sz="2800"/>
                  <a:t>片选失效</a:t>
                </a:r>
              </a:p>
            </p:txBody>
          </p:sp>
          <p:sp>
            <p:nvSpPr>
              <p:cNvPr id="143386" name="Line 105"/>
              <p:cNvSpPr>
                <a:spLocks noChangeShapeType="1"/>
              </p:cNvSpPr>
              <p:nvPr/>
            </p:nvSpPr>
            <p:spPr bwMode="auto">
              <a:xfrm>
                <a:off x="2965" y="3984"/>
                <a:ext cx="336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3387" name="Rectangle 106"/>
              <p:cNvSpPr>
                <a:spLocks noChangeArrowheads="1"/>
              </p:cNvSpPr>
              <p:nvPr/>
            </p:nvSpPr>
            <p:spPr bwMode="auto">
              <a:xfrm>
                <a:off x="3304" y="3805"/>
                <a:ext cx="1736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800"/>
                  <a:t>输出高阻</a:t>
                </a:r>
              </a:p>
            </p:txBody>
          </p:sp>
        </p:grpSp>
      </p:grpSp>
      <p:grpSp>
        <p:nvGrpSpPr>
          <p:cNvPr id="143361" name="Group 107"/>
          <p:cNvGrpSpPr/>
          <p:nvPr/>
        </p:nvGrpSpPr>
        <p:grpSpPr bwMode="auto">
          <a:xfrm>
            <a:off x="990600" y="6040438"/>
            <a:ext cx="6934200" cy="542925"/>
            <a:chOff x="624" y="3805"/>
            <a:chExt cx="4368" cy="342"/>
          </a:xfrm>
        </p:grpSpPr>
        <p:sp>
          <p:nvSpPr>
            <p:cNvPr id="143379" name="Rectangle 108"/>
            <p:cNvSpPr>
              <a:spLocks noChangeArrowheads="1"/>
            </p:cNvSpPr>
            <p:nvPr/>
          </p:nvSpPr>
          <p:spPr bwMode="auto">
            <a:xfrm>
              <a:off x="624" y="3811"/>
              <a:ext cx="4368" cy="336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</a:ln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grpSp>
          <p:nvGrpSpPr>
            <p:cNvPr id="143380" name="Group 109"/>
            <p:cNvGrpSpPr/>
            <p:nvPr/>
          </p:nvGrpSpPr>
          <p:grpSpPr bwMode="auto">
            <a:xfrm>
              <a:off x="1573" y="3805"/>
              <a:ext cx="3234" cy="327"/>
              <a:chOff x="1573" y="3805"/>
              <a:chExt cx="3234" cy="327"/>
            </a:xfrm>
          </p:grpSpPr>
          <p:sp>
            <p:nvSpPr>
              <p:cNvPr id="143381" name="Rectangle 110"/>
              <p:cNvSpPr>
                <a:spLocks noChangeArrowheads="1"/>
              </p:cNvSpPr>
              <p:nvPr/>
            </p:nvSpPr>
            <p:spPr bwMode="auto">
              <a:xfrm>
                <a:off x="1573" y="3805"/>
                <a:ext cx="1851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800" i="1"/>
                  <a:t>t</a:t>
                </a:r>
                <a:r>
                  <a:rPr lang="en-US" altLang="zh-CN" sz="2400" baseline="-25000"/>
                  <a:t>OHA</a:t>
                </a:r>
                <a:r>
                  <a:rPr lang="zh-CN" altLang="en-US" sz="2800" baseline="-25000"/>
                  <a:t> </a:t>
                </a:r>
                <a:r>
                  <a:rPr lang="zh-CN" altLang="en-US" sz="2800"/>
                  <a:t>地址失效后的</a:t>
                </a:r>
              </a:p>
            </p:txBody>
          </p:sp>
          <p:sp>
            <p:nvSpPr>
              <p:cNvPr id="143382" name="Rectangle 111"/>
              <p:cNvSpPr>
                <a:spLocks noChangeArrowheads="1"/>
              </p:cNvSpPr>
              <p:nvPr/>
            </p:nvSpPr>
            <p:spPr bwMode="auto">
              <a:xfrm>
                <a:off x="3341" y="3805"/>
                <a:ext cx="1466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800"/>
                  <a:t>数据维持时间</a:t>
                </a:r>
              </a:p>
            </p:txBody>
          </p:sp>
        </p:grpSp>
      </p:grpSp>
      <p:sp>
        <p:nvSpPr>
          <p:cNvPr id="143378" name="AutoShape 112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2" dur="500"/>
                                        <p:tgtEl>
                                          <p:spTgt spid="231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" dur="500"/>
                                        <p:tgtEl>
                                          <p:spTgt spid="143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8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61" dur="500"/>
                                        <p:tgtEl>
                                          <p:spTgt spid="231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1480" grpId="0" animBg="1"/>
      <p:bldP spid="231487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386" name="Group 2"/>
          <p:cNvGrpSpPr/>
          <p:nvPr/>
        </p:nvGrpSpPr>
        <p:grpSpPr bwMode="auto">
          <a:xfrm>
            <a:off x="152400" y="1371600"/>
            <a:ext cx="8847138" cy="4554538"/>
            <a:chOff x="96" y="864"/>
            <a:chExt cx="5573" cy="2869"/>
          </a:xfrm>
        </p:grpSpPr>
        <p:grpSp>
          <p:nvGrpSpPr>
            <p:cNvPr id="144466" name="Group 3"/>
            <p:cNvGrpSpPr/>
            <p:nvPr/>
          </p:nvGrpSpPr>
          <p:grpSpPr bwMode="auto">
            <a:xfrm>
              <a:off x="96" y="864"/>
              <a:ext cx="5573" cy="2869"/>
              <a:chOff x="96" y="864"/>
              <a:chExt cx="5573" cy="2869"/>
            </a:xfrm>
          </p:grpSpPr>
          <p:grpSp>
            <p:nvGrpSpPr>
              <p:cNvPr id="144468" name="Group 4"/>
              <p:cNvGrpSpPr/>
              <p:nvPr/>
            </p:nvGrpSpPr>
            <p:grpSpPr bwMode="auto">
              <a:xfrm>
                <a:off x="525" y="1627"/>
                <a:ext cx="5139" cy="254"/>
                <a:chOff x="525" y="1627"/>
                <a:chExt cx="5139" cy="254"/>
              </a:xfrm>
            </p:grpSpPr>
            <p:sp>
              <p:nvSpPr>
                <p:cNvPr id="144503" name="Freeform 5"/>
                <p:cNvSpPr/>
                <p:nvPr/>
              </p:nvSpPr>
              <p:spPr bwMode="auto">
                <a:xfrm>
                  <a:off x="528" y="1627"/>
                  <a:ext cx="5121" cy="243"/>
                </a:xfrm>
                <a:custGeom>
                  <a:avLst/>
                  <a:gdLst>
                    <a:gd name="T0" fmla="*/ 0 w 5121"/>
                    <a:gd name="T1" fmla="*/ 3 h 243"/>
                    <a:gd name="T2" fmla="*/ 1104 w 5121"/>
                    <a:gd name="T3" fmla="*/ 0 h 243"/>
                    <a:gd name="T4" fmla="*/ 1346 w 5121"/>
                    <a:gd name="T5" fmla="*/ 243 h 243"/>
                    <a:gd name="T6" fmla="*/ 3273 w 5121"/>
                    <a:gd name="T7" fmla="*/ 242 h 243"/>
                    <a:gd name="T8" fmla="*/ 3509 w 5121"/>
                    <a:gd name="T9" fmla="*/ 6 h 243"/>
                    <a:gd name="T10" fmla="*/ 5121 w 5121"/>
                    <a:gd name="T11" fmla="*/ 5 h 24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121"/>
                    <a:gd name="T19" fmla="*/ 0 h 243"/>
                    <a:gd name="T20" fmla="*/ 5121 w 5121"/>
                    <a:gd name="T21" fmla="*/ 243 h 24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121" h="243">
                      <a:moveTo>
                        <a:pt x="0" y="3"/>
                      </a:moveTo>
                      <a:lnTo>
                        <a:pt x="1104" y="0"/>
                      </a:lnTo>
                      <a:lnTo>
                        <a:pt x="1346" y="243"/>
                      </a:lnTo>
                      <a:lnTo>
                        <a:pt x="3273" y="242"/>
                      </a:lnTo>
                      <a:lnTo>
                        <a:pt x="3509" y="6"/>
                      </a:lnTo>
                      <a:lnTo>
                        <a:pt x="5121" y="5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4504" name="Freeform 6"/>
                <p:cNvSpPr/>
                <p:nvPr/>
              </p:nvSpPr>
              <p:spPr bwMode="auto">
                <a:xfrm>
                  <a:off x="525" y="1627"/>
                  <a:ext cx="1349" cy="254"/>
                </a:xfrm>
                <a:custGeom>
                  <a:avLst/>
                  <a:gdLst>
                    <a:gd name="T0" fmla="*/ 3 w 1349"/>
                    <a:gd name="T1" fmla="*/ 0 h 254"/>
                    <a:gd name="T2" fmla="*/ 1097 w 1349"/>
                    <a:gd name="T3" fmla="*/ 0 h 254"/>
                    <a:gd name="T4" fmla="*/ 1349 w 1349"/>
                    <a:gd name="T5" fmla="*/ 254 h 254"/>
                    <a:gd name="T6" fmla="*/ 0 w 1349"/>
                    <a:gd name="T7" fmla="*/ 254 h 254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9"/>
                    <a:gd name="T13" fmla="*/ 0 h 254"/>
                    <a:gd name="T14" fmla="*/ 1349 w 1349"/>
                    <a:gd name="T15" fmla="*/ 254 h 254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9" h="254">
                      <a:moveTo>
                        <a:pt x="3" y="0"/>
                      </a:moveTo>
                      <a:lnTo>
                        <a:pt x="1097" y="0"/>
                      </a:lnTo>
                      <a:lnTo>
                        <a:pt x="1349" y="254"/>
                      </a:lnTo>
                      <a:lnTo>
                        <a:pt x="0" y="254"/>
                      </a:lnTo>
                    </a:path>
                  </a:pathLst>
                </a:custGeom>
                <a:solidFill>
                  <a:schemeClr val="tx1">
                    <a:alpha val="50195"/>
                  </a:schemeClr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</a:ln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4505" name="Freeform 7"/>
                <p:cNvSpPr/>
                <p:nvPr/>
              </p:nvSpPr>
              <p:spPr bwMode="auto">
                <a:xfrm>
                  <a:off x="3791" y="1627"/>
                  <a:ext cx="1873" cy="254"/>
                </a:xfrm>
                <a:custGeom>
                  <a:avLst/>
                  <a:gdLst>
                    <a:gd name="T0" fmla="*/ 1873 w 1873"/>
                    <a:gd name="T1" fmla="*/ 0 h 254"/>
                    <a:gd name="T2" fmla="*/ 258 w 1873"/>
                    <a:gd name="T3" fmla="*/ 0 h 254"/>
                    <a:gd name="T4" fmla="*/ 0 w 1873"/>
                    <a:gd name="T5" fmla="*/ 254 h 254"/>
                    <a:gd name="T6" fmla="*/ 1870 w 1873"/>
                    <a:gd name="T7" fmla="*/ 254 h 254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873"/>
                    <a:gd name="T13" fmla="*/ 0 h 254"/>
                    <a:gd name="T14" fmla="*/ 1873 w 1873"/>
                    <a:gd name="T15" fmla="*/ 254 h 254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873" h="254">
                      <a:moveTo>
                        <a:pt x="1873" y="0"/>
                      </a:moveTo>
                      <a:lnTo>
                        <a:pt x="258" y="0"/>
                      </a:lnTo>
                      <a:lnTo>
                        <a:pt x="0" y="254"/>
                      </a:lnTo>
                      <a:lnTo>
                        <a:pt x="1870" y="254"/>
                      </a:lnTo>
                    </a:path>
                  </a:pathLst>
                </a:custGeom>
                <a:solidFill>
                  <a:schemeClr val="tx1">
                    <a:alpha val="50195"/>
                  </a:schemeClr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</a:ln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44469" name="Group 8"/>
              <p:cNvGrpSpPr/>
              <p:nvPr/>
            </p:nvGrpSpPr>
            <p:grpSpPr bwMode="auto">
              <a:xfrm>
                <a:off x="558" y="864"/>
                <a:ext cx="5055" cy="342"/>
                <a:chOff x="558" y="864"/>
                <a:chExt cx="5055" cy="342"/>
              </a:xfrm>
            </p:grpSpPr>
            <p:sp>
              <p:nvSpPr>
                <p:cNvPr id="144498" name="Freeform 9"/>
                <p:cNvSpPr/>
                <p:nvPr/>
              </p:nvSpPr>
              <p:spPr bwMode="auto">
                <a:xfrm>
                  <a:off x="723" y="864"/>
                  <a:ext cx="4329" cy="333"/>
                </a:xfrm>
                <a:custGeom>
                  <a:avLst/>
                  <a:gdLst>
                    <a:gd name="T0" fmla="*/ 168 w 4329"/>
                    <a:gd name="T1" fmla="*/ 1 h 333"/>
                    <a:gd name="T2" fmla="*/ 0 w 4329"/>
                    <a:gd name="T3" fmla="*/ 167 h 333"/>
                    <a:gd name="T4" fmla="*/ 167 w 4329"/>
                    <a:gd name="T5" fmla="*/ 332 h 333"/>
                    <a:gd name="T6" fmla="*/ 4167 w 4329"/>
                    <a:gd name="T7" fmla="*/ 333 h 333"/>
                    <a:gd name="T8" fmla="*/ 4329 w 4329"/>
                    <a:gd name="T9" fmla="*/ 174 h 333"/>
                    <a:gd name="T10" fmla="*/ 4152 w 4329"/>
                    <a:gd name="T11" fmla="*/ 0 h 333"/>
                    <a:gd name="T12" fmla="*/ 168 w 4329"/>
                    <a:gd name="T13" fmla="*/ 1 h 33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4329"/>
                    <a:gd name="T22" fmla="*/ 0 h 333"/>
                    <a:gd name="T23" fmla="*/ 4329 w 4329"/>
                    <a:gd name="T24" fmla="*/ 333 h 33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4329" h="333">
                      <a:moveTo>
                        <a:pt x="168" y="1"/>
                      </a:moveTo>
                      <a:lnTo>
                        <a:pt x="0" y="167"/>
                      </a:lnTo>
                      <a:lnTo>
                        <a:pt x="167" y="332"/>
                      </a:lnTo>
                      <a:lnTo>
                        <a:pt x="4167" y="333"/>
                      </a:lnTo>
                      <a:lnTo>
                        <a:pt x="4329" y="174"/>
                      </a:lnTo>
                      <a:lnTo>
                        <a:pt x="4152" y="0"/>
                      </a:lnTo>
                      <a:lnTo>
                        <a:pt x="168" y="1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4499" name="Freeform 10"/>
                <p:cNvSpPr/>
                <p:nvPr/>
              </p:nvSpPr>
              <p:spPr bwMode="auto">
                <a:xfrm>
                  <a:off x="5040" y="866"/>
                  <a:ext cx="561" cy="170"/>
                </a:xfrm>
                <a:custGeom>
                  <a:avLst/>
                  <a:gdLst>
                    <a:gd name="T0" fmla="*/ 0 w 561"/>
                    <a:gd name="T1" fmla="*/ 170 h 170"/>
                    <a:gd name="T2" fmla="*/ 171 w 561"/>
                    <a:gd name="T3" fmla="*/ 0 h 170"/>
                    <a:gd name="T4" fmla="*/ 268 w 561"/>
                    <a:gd name="T5" fmla="*/ 0 h 170"/>
                    <a:gd name="T6" fmla="*/ 561 w 561"/>
                    <a:gd name="T7" fmla="*/ 1 h 17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561"/>
                    <a:gd name="T13" fmla="*/ 0 h 170"/>
                    <a:gd name="T14" fmla="*/ 561 w 561"/>
                    <a:gd name="T15" fmla="*/ 170 h 17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561" h="170">
                      <a:moveTo>
                        <a:pt x="0" y="170"/>
                      </a:moveTo>
                      <a:lnTo>
                        <a:pt x="171" y="0"/>
                      </a:lnTo>
                      <a:lnTo>
                        <a:pt x="268" y="0"/>
                      </a:lnTo>
                      <a:lnTo>
                        <a:pt x="561" y="1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4500" name="Freeform 11"/>
                <p:cNvSpPr/>
                <p:nvPr/>
              </p:nvSpPr>
              <p:spPr bwMode="auto">
                <a:xfrm>
                  <a:off x="5040" y="1031"/>
                  <a:ext cx="573" cy="175"/>
                </a:xfrm>
                <a:custGeom>
                  <a:avLst/>
                  <a:gdLst>
                    <a:gd name="T0" fmla="*/ 0 w 573"/>
                    <a:gd name="T1" fmla="*/ 0 h 175"/>
                    <a:gd name="T2" fmla="*/ 177 w 573"/>
                    <a:gd name="T3" fmla="*/ 175 h 175"/>
                    <a:gd name="T4" fmla="*/ 573 w 573"/>
                    <a:gd name="T5" fmla="*/ 175 h 175"/>
                    <a:gd name="T6" fmla="*/ 0 60000 65536"/>
                    <a:gd name="T7" fmla="*/ 0 60000 65536"/>
                    <a:gd name="T8" fmla="*/ 0 60000 65536"/>
                    <a:gd name="T9" fmla="*/ 0 w 573"/>
                    <a:gd name="T10" fmla="*/ 0 h 175"/>
                    <a:gd name="T11" fmla="*/ 573 w 573"/>
                    <a:gd name="T12" fmla="*/ 175 h 1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573" h="175">
                      <a:moveTo>
                        <a:pt x="0" y="0"/>
                      </a:moveTo>
                      <a:lnTo>
                        <a:pt x="177" y="175"/>
                      </a:lnTo>
                      <a:lnTo>
                        <a:pt x="573" y="175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4501" name="Freeform 12"/>
                <p:cNvSpPr/>
                <p:nvPr/>
              </p:nvSpPr>
              <p:spPr bwMode="auto">
                <a:xfrm>
                  <a:off x="558" y="864"/>
                  <a:ext cx="170" cy="170"/>
                </a:xfrm>
                <a:custGeom>
                  <a:avLst/>
                  <a:gdLst>
                    <a:gd name="T0" fmla="*/ 170 w 170"/>
                    <a:gd name="T1" fmla="*/ 170 h 170"/>
                    <a:gd name="T2" fmla="*/ 0 w 170"/>
                    <a:gd name="T3" fmla="*/ 0 h 170"/>
                    <a:gd name="T4" fmla="*/ 0 60000 65536"/>
                    <a:gd name="T5" fmla="*/ 0 60000 65536"/>
                    <a:gd name="T6" fmla="*/ 0 w 170"/>
                    <a:gd name="T7" fmla="*/ 0 h 170"/>
                    <a:gd name="T8" fmla="*/ 170 w 170"/>
                    <a:gd name="T9" fmla="*/ 170 h 17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70" h="170">
                      <a:moveTo>
                        <a:pt x="170" y="17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4502" name="Freeform 13"/>
                <p:cNvSpPr/>
                <p:nvPr/>
              </p:nvSpPr>
              <p:spPr bwMode="auto">
                <a:xfrm>
                  <a:off x="560" y="1038"/>
                  <a:ext cx="162" cy="163"/>
                </a:xfrm>
                <a:custGeom>
                  <a:avLst/>
                  <a:gdLst>
                    <a:gd name="T0" fmla="*/ 0 w 162"/>
                    <a:gd name="T1" fmla="*/ 163 h 163"/>
                    <a:gd name="T2" fmla="*/ 162 w 162"/>
                    <a:gd name="T3" fmla="*/ 0 h 163"/>
                    <a:gd name="T4" fmla="*/ 0 60000 65536"/>
                    <a:gd name="T5" fmla="*/ 0 60000 65536"/>
                    <a:gd name="T6" fmla="*/ 0 w 162"/>
                    <a:gd name="T7" fmla="*/ 0 h 163"/>
                    <a:gd name="T8" fmla="*/ 162 w 162"/>
                    <a:gd name="T9" fmla="*/ 163 h 163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62" h="163">
                      <a:moveTo>
                        <a:pt x="0" y="163"/>
                      </a:moveTo>
                      <a:lnTo>
                        <a:pt x="162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44470" name="Group 14"/>
              <p:cNvGrpSpPr/>
              <p:nvPr/>
            </p:nvGrpSpPr>
            <p:grpSpPr bwMode="auto">
              <a:xfrm>
                <a:off x="527" y="3312"/>
                <a:ext cx="5142" cy="363"/>
                <a:chOff x="527" y="3312"/>
                <a:chExt cx="5142" cy="363"/>
              </a:xfrm>
            </p:grpSpPr>
            <p:sp>
              <p:nvSpPr>
                <p:cNvPr id="144494" name="Freeform 15"/>
                <p:cNvSpPr/>
                <p:nvPr/>
              </p:nvSpPr>
              <p:spPr bwMode="auto">
                <a:xfrm>
                  <a:off x="3030" y="3317"/>
                  <a:ext cx="2634" cy="176"/>
                </a:xfrm>
                <a:custGeom>
                  <a:avLst/>
                  <a:gdLst>
                    <a:gd name="T0" fmla="*/ 0 w 2634"/>
                    <a:gd name="T1" fmla="*/ 176 h 176"/>
                    <a:gd name="T2" fmla="*/ 176 w 2634"/>
                    <a:gd name="T3" fmla="*/ 3 h 176"/>
                    <a:gd name="T4" fmla="*/ 272 w 2634"/>
                    <a:gd name="T5" fmla="*/ 3 h 176"/>
                    <a:gd name="T6" fmla="*/ 2634 w 2634"/>
                    <a:gd name="T7" fmla="*/ 0 h 17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634"/>
                    <a:gd name="T13" fmla="*/ 0 h 176"/>
                    <a:gd name="T14" fmla="*/ 2634 w 2634"/>
                    <a:gd name="T15" fmla="*/ 176 h 17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634" h="176">
                      <a:moveTo>
                        <a:pt x="0" y="176"/>
                      </a:moveTo>
                      <a:lnTo>
                        <a:pt x="176" y="3"/>
                      </a:lnTo>
                      <a:lnTo>
                        <a:pt x="272" y="3"/>
                      </a:lnTo>
                      <a:lnTo>
                        <a:pt x="2634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4495" name="Freeform 16"/>
                <p:cNvSpPr/>
                <p:nvPr/>
              </p:nvSpPr>
              <p:spPr bwMode="auto">
                <a:xfrm>
                  <a:off x="3027" y="3488"/>
                  <a:ext cx="2642" cy="178"/>
                </a:xfrm>
                <a:custGeom>
                  <a:avLst/>
                  <a:gdLst>
                    <a:gd name="T0" fmla="*/ 0 w 2642"/>
                    <a:gd name="T1" fmla="*/ 0 h 178"/>
                    <a:gd name="T2" fmla="*/ 174 w 2642"/>
                    <a:gd name="T3" fmla="*/ 176 h 178"/>
                    <a:gd name="T4" fmla="*/ 2642 w 2642"/>
                    <a:gd name="T5" fmla="*/ 178 h 178"/>
                    <a:gd name="T6" fmla="*/ 0 60000 65536"/>
                    <a:gd name="T7" fmla="*/ 0 60000 65536"/>
                    <a:gd name="T8" fmla="*/ 0 60000 65536"/>
                    <a:gd name="T9" fmla="*/ 0 w 2642"/>
                    <a:gd name="T10" fmla="*/ 0 h 178"/>
                    <a:gd name="T11" fmla="*/ 2642 w 2642"/>
                    <a:gd name="T12" fmla="*/ 178 h 17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642" h="178">
                      <a:moveTo>
                        <a:pt x="0" y="0"/>
                      </a:moveTo>
                      <a:lnTo>
                        <a:pt x="174" y="176"/>
                      </a:lnTo>
                      <a:lnTo>
                        <a:pt x="2642" y="178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4496" name="Freeform 17"/>
                <p:cNvSpPr/>
                <p:nvPr/>
              </p:nvSpPr>
              <p:spPr bwMode="auto">
                <a:xfrm>
                  <a:off x="527" y="3486"/>
                  <a:ext cx="2513" cy="2"/>
                </a:xfrm>
                <a:custGeom>
                  <a:avLst/>
                  <a:gdLst>
                    <a:gd name="T0" fmla="*/ 2513 w 2513"/>
                    <a:gd name="T1" fmla="*/ 2 h 2"/>
                    <a:gd name="T2" fmla="*/ 0 w 2513"/>
                    <a:gd name="T3" fmla="*/ 0 h 2"/>
                    <a:gd name="T4" fmla="*/ 0 60000 65536"/>
                    <a:gd name="T5" fmla="*/ 0 60000 65536"/>
                    <a:gd name="T6" fmla="*/ 0 w 2513"/>
                    <a:gd name="T7" fmla="*/ 0 h 2"/>
                    <a:gd name="T8" fmla="*/ 2513 w 2513"/>
                    <a:gd name="T9" fmla="*/ 2 h 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513" h="2">
                      <a:moveTo>
                        <a:pt x="2513" y="2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4497" name="Freeform 18"/>
                <p:cNvSpPr/>
                <p:nvPr/>
              </p:nvSpPr>
              <p:spPr bwMode="auto">
                <a:xfrm>
                  <a:off x="528" y="3312"/>
                  <a:ext cx="2685" cy="363"/>
                </a:xfrm>
                <a:custGeom>
                  <a:avLst/>
                  <a:gdLst>
                    <a:gd name="T0" fmla="*/ 2514 w 2685"/>
                    <a:gd name="T1" fmla="*/ 180 h 363"/>
                    <a:gd name="T2" fmla="*/ 2685 w 2685"/>
                    <a:gd name="T3" fmla="*/ 0 h 363"/>
                    <a:gd name="T4" fmla="*/ 0 w 2685"/>
                    <a:gd name="T5" fmla="*/ 0 h 363"/>
                    <a:gd name="T6" fmla="*/ 0 w 2685"/>
                    <a:gd name="T7" fmla="*/ 362 h 363"/>
                    <a:gd name="T8" fmla="*/ 2682 w 2685"/>
                    <a:gd name="T9" fmla="*/ 363 h 3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85"/>
                    <a:gd name="T16" fmla="*/ 0 h 363"/>
                    <a:gd name="T17" fmla="*/ 2685 w 2685"/>
                    <a:gd name="T18" fmla="*/ 363 h 3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85" h="363">
                      <a:moveTo>
                        <a:pt x="2514" y="180"/>
                      </a:moveTo>
                      <a:lnTo>
                        <a:pt x="2685" y="0"/>
                      </a:lnTo>
                      <a:lnTo>
                        <a:pt x="0" y="0"/>
                      </a:lnTo>
                      <a:lnTo>
                        <a:pt x="0" y="362"/>
                      </a:lnTo>
                      <a:lnTo>
                        <a:pt x="2682" y="363"/>
                      </a:lnTo>
                    </a:path>
                  </a:pathLst>
                </a:custGeom>
                <a:solidFill>
                  <a:schemeClr val="tx1">
                    <a:alpha val="50195"/>
                  </a:schemeClr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</a:ln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44471" name="Group 19"/>
              <p:cNvGrpSpPr/>
              <p:nvPr/>
            </p:nvGrpSpPr>
            <p:grpSpPr bwMode="auto">
              <a:xfrm>
                <a:off x="516" y="2496"/>
                <a:ext cx="5151" cy="354"/>
                <a:chOff x="516" y="2496"/>
                <a:chExt cx="5151" cy="354"/>
              </a:xfrm>
            </p:grpSpPr>
            <p:sp>
              <p:nvSpPr>
                <p:cNvPr id="144490" name="Freeform 20"/>
                <p:cNvSpPr/>
                <p:nvPr/>
              </p:nvSpPr>
              <p:spPr bwMode="auto">
                <a:xfrm>
                  <a:off x="525" y="2674"/>
                  <a:ext cx="1966" cy="170"/>
                </a:xfrm>
                <a:custGeom>
                  <a:avLst/>
                  <a:gdLst>
                    <a:gd name="T0" fmla="*/ 1966 w 1966"/>
                    <a:gd name="T1" fmla="*/ 0 h 170"/>
                    <a:gd name="T2" fmla="*/ 1795 w 1966"/>
                    <a:gd name="T3" fmla="*/ 170 h 170"/>
                    <a:gd name="T4" fmla="*/ 1698 w 1966"/>
                    <a:gd name="T5" fmla="*/ 170 h 170"/>
                    <a:gd name="T6" fmla="*/ 0 w 1966"/>
                    <a:gd name="T7" fmla="*/ 167 h 17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966"/>
                    <a:gd name="T13" fmla="*/ 0 h 170"/>
                    <a:gd name="T14" fmla="*/ 1966 w 1966"/>
                    <a:gd name="T15" fmla="*/ 170 h 17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966" h="170">
                      <a:moveTo>
                        <a:pt x="1966" y="0"/>
                      </a:moveTo>
                      <a:lnTo>
                        <a:pt x="1795" y="170"/>
                      </a:lnTo>
                      <a:lnTo>
                        <a:pt x="1698" y="170"/>
                      </a:lnTo>
                      <a:lnTo>
                        <a:pt x="0" y="167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4491" name="Freeform 21"/>
                <p:cNvSpPr/>
                <p:nvPr/>
              </p:nvSpPr>
              <p:spPr bwMode="auto">
                <a:xfrm>
                  <a:off x="516" y="2503"/>
                  <a:ext cx="1978" cy="176"/>
                </a:xfrm>
                <a:custGeom>
                  <a:avLst/>
                  <a:gdLst>
                    <a:gd name="T0" fmla="*/ 1978 w 1978"/>
                    <a:gd name="T1" fmla="*/ 176 h 176"/>
                    <a:gd name="T2" fmla="*/ 1804 w 1978"/>
                    <a:gd name="T3" fmla="*/ 0 h 176"/>
                    <a:gd name="T4" fmla="*/ 0 w 1978"/>
                    <a:gd name="T5" fmla="*/ 2 h 176"/>
                    <a:gd name="T6" fmla="*/ 0 60000 65536"/>
                    <a:gd name="T7" fmla="*/ 0 60000 65536"/>
                    <a:gd name="T8" fmla="*/ 0 60000 65536"/>
                    <a:gd name="T9" fmla="*/ 0 w 1978"/>
                    <a:gd name="T10" fmla="*/ 0 h 176"/>
                    <a:gd name="T11" fmla="*/ 1978 w 1978"/>
                    <a:gd name="T12" fmla="*/ 176 h 1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978" h="176">
                      <a:moveTo>
                        <a:pt x="1978" y="176"/>
                      </a:moveTo>
                      <a:lnTo>
                        <a:pt x="1804" y="0"/>
                      </a:lnTo>
                      <a:lnTo>
                        <a:pt x="0" y="2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4492" name="Freeform 22"/>
                <p:cNvSpPr/>
                <p:nvPr/>
              </p:nvSpPr>
              <p:spPr bwMode="auto">
                <a:xfrm>
                  <a:off x="2481" y="2675"/>
                  <a:ext cx="3186" cy="4"/>
                </a:xfrm>
                <a:custGeom>
                  <a:avLst/>
                  <a:gdLst>
                    <a:gd name="T0" fmla="*/ 0 w 3186"/>
                    <a:gd name="T1" fmla="*/ 4 h 4"/>
                    <a:gd name="T2" fmla="*/ 3186 w 3186"/>
                    <a:gd name="T3" fmla="*/ 0 h 4"/>
                    <a:gd name="T4" fmla="*/ 0 60000 65536"/>
                    <a:gd name="T5" fmla="*/ 0 60000 65536"/>
                    <a:gd name="T6" fmla="*/ 0 w 3186"/>
                    <a:gd name="T7" fmla="*/ 0 h 4"/>
                    <a:gd name="T8" fmla="*/ 3186 w 3186"/>
                    <a:gd name="T9" fmla="*/ 4 h 4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186" h="4">
                      <a:moveTo>
                        <a:pt x="0" y="4"/>
                      </a:moveTo>
                      <a:lnTo>
                        <a:pt x="3186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4493" name="Freeform 23"/>
                <p:cNvSpPr/>
                <p:nvPr/>
              </p:nvSpPr>
              <p:spPr bwMode="auto">
                <a:xfrm>
                  <a:off x="2304" y="2496"/>
                  <a:ext cx="3360" cy="354"/>
                </a:xfrm>
                <a:custGeom>
                  <a:avLst/>
                  <a:gdLst>
                    <a:gd name="T0" fmla="*/ 6 w 3360"/>
                    <a:gd name="T1" fmla="*/ 0 h 354"/>
                    <a:gd name="T2" fmla="*/ 3360 w 3360"/>
                    <a:gd name="T3" fmla="*/ 3 h 354"/>
                    <a:gd name="T4" fmla="*/ 3360 w 3360"/>
                    <a:gd name="T5" fmla="*/ 354 h 354"/>
                    <a:gd name="T6" fmla="*/ 15 w 3360"/>
                    <a:gd name="T7" fmla="*/ 354 h 354"/>
                    <a:gd name="T8" fmla="*/ 0 w 3360"/>
                    <a:gd name="T9" fmla="*/ 351 h 354"/>
                    <a:gd name="T10" fmla="*/ 183 w 3360"/>
                    <a:gd name="T11" fmla="*/ 177 h 35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360"/>
                    <a:gd name="T19" fmla="*/ 0 h 354"/>
                    <a:gd name="T20" fmla="*/ 3360 w 3360"/>
                    <a:gd name="T21" fmla="*/ 354 h 35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360" h="354">
                      <a:moveTo>
                        <a:pt x="6" y="0"/>
                      </a:moveTo>
                      <a:lnTo>
                        <a:pt x="3360" y="3"/>
                      </a:lnTo>
                      <a:lnTo>
                        <a:pt x="3360" y="354"/>
                      </a:lnTo>
                      <a:lnTo>
                        <a:pt x="15" y="354"/>
                      </a:lnTo>
                      <a:lnTo>
                        <a:pt x="0" y="351"/>
                      </a:lnTo>
                      <a:lnTo>
                        <a:pt x="183" y="177"/>
                      </a:lnTo>
                    </a:path>
                  </a:pathLst>
                </a:custGeom>
                <a:solidFill>
                  <a:schemeClr val="tx1">
                    <a:alpha val="50195"/>
                  </a:schemeClr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</a:ln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44472" name="Group 24"/>
              <p:cNvGrpSpPr/>
              <p:nvPr/>
            </p:nvGrpSpPr>
            <p:grpSpPr bwMode="auto">
              <a:xfrm>
                <a:off x="96" y="896"/>
                <a:ext cx="507" cy="2837"/>
                <a:chOff x="96" y="896"/>
                <a:chExt cx="507" cy="2837"/>
              </a:xfrm>
            </p:grpSpPr>
            <p:sp>
              <p:nvSpPr>
                <p:cNvPr id="144477" name="Text Box 25"/>
                <p:cNvSpPr txBox="1">
                  <a:spLocks noChangeArrowheads="1"/>
                </p:cNvSpPr>
                <p:nvPr/>
              </p:nvSpPr>
              <p:spPr bwMode="auto">
                <a:xfrm>
                  <a:off x="202" y="896"/>
                  <a:ext cx="255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US" altLang="zh-CN" sz="2400">
                      <a:latin typeface="Times New Roman" panose="02020603050405020304" pitchFamily="18" charset="0"/>
                    </a:rPr>
                    <a:t>A</a:t>
                  </a:r>
                </a:p>
              </p:txBody>
            </p:sp>
            <p:grpSp>
              <p:nvGrpSpPr>
                <p:cNvPr id="144478" name="Group 26"/>
                <p:cNvGrpSpPr/>
                <p:nvPr/>
              </p:nvGrpSpPr>
              <p:grpSpPr bwMode="auto">
                <a:xfrm>
                  <a:off x="138" y="1664"/>
                  <a:ext cx="362" cy="288"/>
                  <a:chOff x="138" y="1664"/>
                  <a:chExt cx="362" cy="288"/>
                </a:xfrm>
              </p:grpSpPr>
              <p:sp>
                <p:nvSpPr>
                  <p:cNvPr id="144488" name="Text Box 2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38" y="1664"/>
                    <a:ext cx="362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en-US" altLang="zh-CN" sz="2400">
                        <a:latin typeface="Times New Roman" panose="02020603050405020304" pitchFamily="18" charset="0"/>
                      </a:rPr>
                      <a:t>CS</a:t>
                    </a:r>
                  </a:p>
                </p:txBody>
              </p:sp>
              <p:sp>
                <p:nvSpPr>
                  <p:cNvPr id="144489" name="Line 28"/>
                  <p:cNvSpPr>
                    <a:spLocks noChangeShapeType="1"/>
                  </p:cNvSpPr>
                  <p:nvPr/>
                </p:nvSpPr>
                <p:spPr bwMode="auto">
                  <a:xfrm>
                    <a:off x="196" y="1686"/>
                    <a:ext cx="24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44479" name="Group 29"/>
                <p:cNvGrpSpPr/>
                <p:nvPr/>
              </p:nvGrpSpPr>
              <p:grpSpPr bwMode="auto">
                <a:xfrm>
                  <a:off x="96" y="2016"/>
                  <a:ext cx="436" cy="288"/>
                  <a:chOff x="138" y="2138"/>
                  <a:chExt cx="436" cy="288"/>
                </a:xfrm>
              </p:grpSpPr>
              <p:sp>
                <p:nvSpPr>
                  <p:cNvPr id="144486" name="Text Box 3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38" y="2138"/>
                    <a:ext cx="436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en-US" altLang="zh-CN" sz="2400">
                        <a:latin typeface="Times New Roman" panose="02020603050405020304" pitchFamily="18" charset="0"/>
                      </a:rPr>
                      <a:t>WE</a:t>
                    </a:r>
                  </a:p>
                </p:txBody>
              </p:sp>
              <p:sp>
                <p:nvSpPr>
                  <p:cNvPr id="144487" name="Line 31"/>
                  <p:cNvSpPr>
                    <a:spLocks noChangeShapeType="1"/>
                  </p:cNvSpPr>
                  <p:nvPr/>
                </p:nvSpPr>
                <p:spPr bwMode="auto">
                  <a:xfrm>
                    <a:off x="186" y="2160"/>
                    <a:ext cx="288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44480" name="Group 32"/>
                <p:cNvGrpSpPr/>
                <p:nvPr/>
              </p:nvGrpSpPr>
              <p:grpSpPr bwMode="auto">
                <a:xfrm>
                  <a:off x="138" y="2640"/>
                  <a:ext cx="465" cy="398"/>
                  <a:chOff x="138" y="2714"/>
                  <a:chExt cx="465" cy="398"/>
                </a:xfrm>
              </p:grpSpPr>
              <p:sp>
                <p:nvSpPr>
                  <p:cNvPr id="144484" name="Text Box 3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38" y="2714"/>
                    <a:ext cx="255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en-US" altLang="zh-CN" sz="2400">
                        <a:latin typeface="Times New Roman" panose="02020603050405020304" pitchFamily="18" charset="0"/>
                      </a:rPr>
                      <a:t>D</a:t>
                    </a:r>
                  </a:p>
                </p:txBody>
              </p:sp>
              <p:sp>
                <p:nvSpPr>
                  <p:cNvPr id="144485" name="Text Box 3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" y="2920"/>
                    <a:ext cx="359" cy="19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en-US" altLang="zh-CN" sz="1400">
                        <a:latin typeface="Times New Roman" panose="02020603050405020304" pitchFamily="18" charset="0"/>
                      </a:rPr>
                      <a:t>OUT</a:t>
                    </a:r>
                  </a:p>
                </p:txBody>
              </p:sp>
            </p:grpSp>
            <p:grpSp>
              <p:nvGrpSpPr>
                <p:cNvPr id="2" name="Group 35"/>
                <p:cNvGrpSpPr/>
                <p:nvPr/>
              </p:nvGrpSpPr>
              <p:grpSpPr bwMode="auto">
                <a:xfrm>
                  <a:off x="138" y="3344"/>
                  <a:ext cx="395" cy="389"/>
                  <a:chOff x="138" y="3344"/>
                  <a:chExt cx="395" cy="389"/>
                </a:xfrm>
              </p:grpSpPr>
              <p:sp>
                <p:nvSpPr>
                  <p:cNvPr id="144482" name="Text Box 36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38" y="3344"/>
                    <a:ext cx="255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en-US" altLang="zh-CN" sz="2400">
                        <a:latin typeface="Times New Roman" panose="02020603050405020304" pitchFamily="18" charset="0"/>
                      </a:rPr>
                      <a:t>D</a:t>
                    </a:r>
                  </a:p>
                </p:txBody>
              </p:sp>
              <p:sp>
                <p:nvSpPr>
                  <p:cNvPr id="144483" name="Text Box 3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2" y="3541"/>
                    <a:ext cx="241" cy="19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en-US" altLang="zh-CN" sz="1400">
                        <a:latin typeface="Times New Roman" panose="02020603050405020304" pitchFamily="18" charset="0"/>
                      </a:rPr>
                      <a:t>IN</a:t>
                    </a:r>
                  </a:p>
                </p:txBody>
              </p:sp>
            </p:grpSp>
          </p:grpSp>
          <p:grpSp>
            <p:nvGrpSpPr>
              <p:cNvPr id="144473" name="Group 38"/>
              <p:cNvGrpSpPr/>
              <p:nvPr/>
            </p:nvGrpSpPr>
            <p:grpSpPr bwMode="auto">
              <a:xfrm>
                <a:off x="527" y="2013"/>
                <a:ext cx="5140" cy="255"/>
                <a:chOff x="527" y="2013"/>
                <a:chExt cx="5140" cy="255"/>
              </a:xfrm>
            </p:grpSpPr>
            <p:sp>
              <p:nvSpPr>
                <p:cNvPr id="144474" name="Freeform 39"/>
                <p:cNvSpPr/>
                <p:nvPr/>
              </p:nvSpPr>
              <p:spPr bwMode="auto">
                <a:xfrm>
                  <a:off x="528" y="2016"/>
                  <a:ext cx="5139" cy="243"/>
                </a:xfrm>
                <a:custGeom>
                  <a:avLst/>
                  <a:gdLst>
                    <a:gd name="T0" fmla="*/ 0 w 5139"/>
                    <a:gd name="T1" fmla="*/ 3 h 243"/>
                    <a:gd name="T2" fmla="*/ 1104 w 5139"/>
                    <a:gd name="T3" fmla="*/ 0 h 243"/>
                    <a:gd name="T4" fmla="*/ 1346 w 5139"/>
                    <a:gd name="T5" fmla="*/ 243 h 243"/>
                    <a:gd name="T6" fmla="*/ 3273 w 5139"/>
                    <a:gd name="T7" fmla="*/ 242 h 243"/>
                    <a:gd name="T8" fmla="*/ 3509 w 5139"/>
                    <a:gd name="T9" fmla="*/ 6 h 243"/>
                    <a:gd name="T10" fmla="*/ 5139 w 5139"/>
                    <a:gd name="T11" fmla="*/ 6 h 24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139"/>
                    <a:gd name="T19" fmla="*/ 0 h 243"/>
                    <a:gd name="T20" fmla="*/ 5139 w 5139"/>
                    <a:gd name="T21" fmla="*/ 243 h 24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139" h="243">
                      <a:moveTo>
                        <a:pt x="0" y="3"/>
                      </a:moveTo>
                      <a:lnTo>
                        <a:pt x="1104" y="0"/>
                      </a:lnTo>
                      <a:lnTo>
                        <a:pt x="1346" y="243"/>
                      </a:lnTo>
                      <a:lnTo>
                        <a:pt x="3273" y="242"/>
                      </a:lnTo>
                      <a:lnTo>
                        <a:pt x="3509" y="6"/>
                      </a:lnTo>
                      <a:lnTo>
                        <a:pt x="5139" y="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solid"/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4475" name="Freeform 40"/>
                <p:cNvSpPr/>
                <p:nvPr/>
              </p:nvSpPr>
              <p:spPr bwMode="auto">
                <a:xfrm>
                  <a:off x="527" y="2016"/>
                  <a:ext cx="1350" cy="252"/>
                </a:xfrm>
                <a:custGeom>
                  <a:avLst/>
                  <a:gdLst>
                    <a:gd name="T0" fmla="*/ 1 w 1350"/>
                    <a:gd name="T1" fmla="*/ 0 h 252"/>
                    <a:gd name="T2" fmla="*/ 1095 w 1350"/>
                    <a:gd name="T3" fmla="*/ 0 h 252"/>
                    <a:gd name="T4" fmla="*/ 1350 w 1350"/>
                    <a:gd name="T5" fmla="*/ 252 h 252"/>
                    <a:gd name="T6" fmla="*/ 0 w 1350"/>
                    <a:gd name="T7" fmla="*/ 252 h 252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50"/>
                    <a:gd name="T13" fmla="*/ 0 h 252"/>
                    <a:gd name="T14" fmla="*/ 1350 w 1350"/>
                    <a:gd name="T15" fmla="*/ 252 h 252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50" h="252">
                      <a:moveTo>
                        <a:pt x="1" y="0"/>
                      </a:moveTo>
                      <a:lnTo>
                        <a:pt x="1095" y="0"/>
                      </a:lnTo>
                      <a:lnTo>
                        <a:pt x="1350" y="252"/>
                      </a:lnTo>
                      <a:lnTo>
                        <a:pt x="0" y="252"/>
                      </a:lnTo>
                    </a:path>
                  </a:pathLst>
                </a:custGeom>
                <a:solidFill>
                  <a:schemeClr val="tx1">
                    <a:alpha val="50195"/>
                  </a:schemeClr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</a:ln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4476" name="Freeform 41"/>
                <p:cNvSpPr/>
                <p:nvPr/>
              </p:nvSpPr>
              <p:spPr bwMode="auto">
                <a:xfrm>
                  <a:off x="3794" y="2013"/>
                  <a:ext cx="1867" cy="255"/>
                </a:xfrm>
                <a:custGeom>
                  <a:avLst/>
                  <a:gdLst>
                    <a:gd name="T0" fmla="*/ 1867 w 1867"/>
                    <a:gd name="T1" fmla="*/ 12 h 255"/>
                    <a:gd name="T2" fmla="*/ 262 w 1867"/>
                    <a:gd name="T3" fmla="*/ 0 h 255"/>
                    <a:gd name="T4" fmla="*/ 0 w 1867"/>
                    <a:gd name="T5" fmla="*/ 255 h 255"/>
                    <a:gd name="T6" fmla="*/ 1867 w 1867"/>
                    <a:gd name="T7" fmla="*/ 255 h 255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867"/>
                    <a:gd name="T13" fmla="*/ 0 h 255"/>
                    <a:gd name="T14" fmla="*/ 1867 w 1867"/>
                    <a:gd name="T15" fmla="*/ 255 h 255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867" h="255">
                      <a:moveTo>
                        <a:pt x="1867" y="12"/>
                      </a:moveTo>
                      <a:lnTo>
                        <a:pt x="262" y="0"/>
                      </a:lnTo>
                      <a:lnTo>
                        <a:pt x="0" y="255"/>
                      </a:lnTo>
                      <a:lnTo>
                        <a:pt x="1867" y="255"/>
                      </a:lnTo>
                    </a:path>
                  </a:pathLst>
                </a:custGeom>
                <a:solidFill>
                  <a:schemeClr val="tx1">
                    <a:alpha val="50195"/>
                  </a:schemeClr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</a:ln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44467" name="Rectangle 42"/>
            <p:cNvSpPr>
              <a:spLocks noChangeArrowheads="1"/>
            </p:cNvSpPr>
            <p:nvPr/>
          </p:nvSpPr>
          <p:spPr bwMode="auto">
            <a:xfrm>
              <a:off x="4830" y="3312"/>
              <a:ext cx="834" cy="363"/>
            </a:xfrm>
            <a:prstGeom prst="rect">
              <a:avLst/>
            </a:prstGeom>
            <a:solidFill>
              <a:schemeClr val="tx1">
                <a:alpha val="50195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sp>
        <p:nvSpPr>
          <p:cNvPr id="144387" name="Text Box 43"/>
          <p:cNvSpPr txBox="1">
            <a:spLocks noChangeArrowheads="1"/>
          </p:cNvSpPr>
          <p:nvPr/>
        </p:nvSpPr>
        <p:spPr bwMode="auto">
          <a:xfrm>
            <a:off x="533400" y="228600"/>
            <a:ext cx="56388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(4) 静态 </a:t>
            </a:r>
            <a:r>
              <a:rPr lang="en-US" altLang="zh-CN" sz="3200">
                <a:latin typeface="Times New Roman" panose="02020603050405020304" pitchFamily="18" charset="0"/>
              </a:rPr>
              <a:t>RAM (2114)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latin typeface="Times New Roman" panose="02020603050405020304" pitchFamily="18" charset="0"/>
              </a:rPr>
              <a:t>时序  </a:t>
            </a:r>
          </a:p>
        </p:txBody>
      </p:sp>
      <p:grpSp>
        <p:nvGrpSpPr>
          <p:cNvPr id="14" name="Group 44"/>
          <p:cNvGrpSpPr/>
          <p:nvPr/>
        </p:nvGrpSpPr>
        <p:grpSpPr bwMode="auto">
          <a:xfrm>
            <a:off x="1143000" y="784225"/>
            <a:ext cx="6858000" cy="631825"/>
            <a:chOff x="720" y="494"/>
            <a:chExt cx="4320" cy="398"/>
          </a:xfrm>
        </p:grpSpPr>
        <p:sp>
          <p:nvSpPr>
            <p:cNvPr id="144461" name="Line 45"/>
            <p:cNvSpPr>
              <a:spLocks noChangeShapeType="1"/>
            </p:cNvSpPr>
            <p:nvPr/>
          </p:nvSpPr>
          <p:spPr bwMode="auto">
            <a:xfrm flipV="1">
              <a:off x="3600" y="720"/>
              <a:ext cx="1440" cy="2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144462" name="Group 46"/>
            <p:cNvGrpSpPr/>
            <p:nvPr/>
          </p:nvGrpSpPr>
          <p:grpSpPr bwMode="auto">
            <a:xfrm>
              <a:off x="2808" y="494"/>
              <a:ext cx="386" cy="398"/>
              <a:chOff x="4455" y="588"/>
              <a:chExt cx="386" cy="398"/>
            </a:xfrm>
          </p:grpSpPr>
          <p:sp>
            <p:nvSpPr>
              <p:cNvPr id="144464" name="Text Box 47"/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1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t</a:t>
                </a:r>
              </a:p>
            </p:txBody>
          </p:sp>
          <p:sp>
            <p:nvSpPr>
              <p:cNvPr id="144465" name="Text Box 48"/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281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1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WC</a:t>
                </a:r>
              </a:p>
            </p:txBody>
          </p:sp>
        </p:grpSp>
        <p:sp>
          <p:nvSpPr>
            <p:cNvPr id="144463" name="Line 49"/>
            <p:cNvSpPr>
              <a:spLocks noChangeShapeType="1"/>
            </p:cNvSpPr>
            <p:nvPr/>
          </p:nvSpPr>
          <p:spPr bwMode="auto">
            <a:xfrm rot="10800000">
              <a:off x="720" y="720"/>
              <a:ext cx="1728" cy="2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6" name="Group 50"/>
          <p:cNvGrpSpPr/>
          <p:nvPr/>
        </p:nvGrpSpPr>
        <p:grpSpPr bwMode="auto">
          <a:xfrm>
            <a:off x="2965450" y="2003425"/>
            <a:ext cx="3278188" cy="631825"/>
            <a:chOff x="1868" y="1262"/>
            <a:chExt cx="2065" cy="398"/>
          </a:xfrm>
        </p:grpSpPr>
        <p:sp>
          <p:nvSpPr>
            <p:cNvPr id="144456" name="Freeform 51"/>
            <p:cNvSpPr/>
            <p:nvPr/>
          </p:nvSpPr>
          <p:spPr bwMode="auto">
            <a:xfrm>
              <a:off x="3072" y="1394"/>
              <a:ext cx="861" cy="4"/>
            </a:xfrm>
            <a:custGeom>
              <a:avLst/>
              <a:gdLst>
                <a:gd name="T0" fmla="*/ 0 w 861"/>
                <a:gd name="T1" fmla="*/ 0 h 4"/>
                <a:gd name="T2" fmla="*/ 861 w 861"/>
                <a:gd name="T3" fmla="*/ 4 h 4"/>
                <a:gd name="T4" fmla="*/ 0 60000 65536"/>
                <a:gd name="T5" fmla="*/ 0 60000 65536"/>
                <a:gd name="T6" fmla="*/ 0 w 861"/>
                <a:gd name="T7" fmla="*/ 0 h 4"/>
                <a:gd name="T8" fmla="*/ 861 w 861"/>
                <a:gd name="T9" fmla="*/ 4 h 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61" h="4">
                  <a:moveTo>
                    <a:pt x="0" y="0"/>
                  </a:moveTo>
                  <a:lnTo>
                    <a:pt x="861" y="4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144457" name="Group 52"/>
            <p:cNvGrpSpPr/>
            <p:nvPr/>
          </p:nvGrpSpPr>
          <p:grpSpPr bwMode="auto">
            <a:xfrm>
              <a:off x="2707" y="1262"/>
              <a:ext cx="317" cy="398"/>
              <a:chOff x="4455" y="588"/>
              <a:chExt cx="317" cy="398"/>
            </a:xfrm>
          </p:grpSpPr>
          <p:sp>
            <p:nvSpPr>
              <p:cNvPr id="144459" name="Text Box 53"/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1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t</a:t>
                </a:r>
              </a:p>
            </p:txBody>
          </p:sp>
          <p:sp>
            <p:nvSpPr>
              <p:cNvPr id="144460" name="Text Box 54"/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212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1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W</a:t>
                </a:r>
              </a:p>
            </p:txBody>
          </p:sp>
        </p:grpSp>
        <p:sp>
          <p:nvSpPr>
            <p:cNvPr id="144458" name="Freeform 55"/>
            <p:cNvSpPr/>
            <p:nvPr/>
          </p:nvSpPr>
          <p:spPr bwMode="auto">
            <a:xfrm>
              <a:off x="1868" y="1391"/>
              <a:ext cx="724" cy="1"/>
            </a:xfrm>
            <a:custGeom>
              <a:avLst/>
              <a:gdLst>
                <a:gd name="T0" fmla="*/ 724 w 724"/>
                <a:gd name="T1" fmla="*/ 1 h 1"/>
                <a:gd name="T2" fmla="*/ 0 w 724"/>
                <a:gd name="T3" fmla="*/ 0 h 1"/>
                <a:gd name="T4" fmla="*/ 0 60000 65536"/>
                <a:gd name="T5" fmla="*/ 0 60000 65536"/>
                <a:gd name="T6" fmla="*/ 0 w 724"/>
                <a:gd name="T7" fmla="*/ 0 h 1"/>
                <a:gd name="T8" fmla="*/ 724 w 724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724" h="1">
                  <a:moveTo>
                    <a:pt x="724" y="1"/>
                  </a:move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8" name="Group 56"/>
          <p:cNvGrpSpPr/>
          <p:nvPr/>
        </p:nvGrpSpPr>
        <p:grpSpPr bwMode="auto">
          <a:xfrm>
            <a:off x="1143000" y="2003425"/>
            <a:ext cx="1828800" cy="631825"/>
            <a:chOff x="720" y="1262"/>
            <a:chExt cx="1152" cy="398"/>
          </a:xfrm>
        </p:grpSpPr>
        <p:grpSp>
          <p:nvGrpSpPr>
            <p:cNvPr id="144451" name="Group 57"/>
            <p:cNvGrpSpPr/>
            <p:nvPr/>
          </p:nvGrpSpPr>
          <p:grpSpPr bwMode="auto">
            <a:xfrm>
              <a:off x="1115" y="1262"/>
              <a:ext cx="386" cy="398"/>
              <a:chOff x="4455" y="588"/>
              <a:chExt cx="386" cy="398"/>
            </a:xfrm>
          </p:grpSpPr>
          <p:sp>
            <p:nvSpPr>
              <p:cNvPr id="144454" name="Text Box 58"/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1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t</a:t>
                </a:r>
              </a:p>
            </p:txBody>
          </p:sp>
          <p:sp>
            <p:nvSpPr>
              <p:cNvPr id="144455" name="Text Box 59"/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281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1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AW</a:t>
                </a:r>
              </a:p>
            </p:txBody>
          </p:sp>
        </p:grpSp>
        <p:sp>
          <p:nvSpPr>
            <p:cNvPr id="144452" name="Line 60"/>
            <p:cNvSpPr>
              <a:spLocks noChangeShapeType="1"/>
            </p:cNvSpPr>
            <p:nvPr/>
          </p:nvSpPr>
          <p:spPr bwMode="auto">
            <a:xfrm>
              <a:off x="1584" y="1392"/>
              <a:ext cx="288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44453" name="Line 61"/>
            <p:cNvSpPr>
              <a:spLocks noChangeShapeType="1"/>
            </p:cNvSpPr>
            <p:nvPr/>
          </p:nvSpPr>
          <p:spPr bwMode="auto">
            <a:xfrm rot="10800000">
              <a:off x="720" y="1392"/>
              <a:ext cx="288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0" name="Group 62"/>
          <p:cNvGrpSpPr/>
          <p:nvPr/>
        </p:nvGrpSpPr>
        <p:grpSpPr bwMode="auto">
          <a:xfrm>
            <a:off x="5086350" y="4678363"/>
            <a:ext cx="1162050" cy="631825"/>
            <a:chOff x="3204" y="2947"/>
            <a:chExt cx="732" cy="398"/>
          </a:xfrm>
        </p:grpSpPr>
        <p:sp>
          <p:nvSpPr>
            <p:cNvPr id="144448" name="Text Box 63"/>
            <p:cNvSpPr txBox="1">
              <a:spLocks noChangeArrowheads="1"/>
            </p:cNvSpPr>
            <p:nvPr/>
          </p:nvSpPr>
          <p:spPr bwMode="auto">
            <a:xfrm>
              <a:off x="3391" y="2947"/>
              <a:ext cx="1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3200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t</a:t>
              </a:r>
            </a:p>
          </p:txBody>
        </p:sp>
        <p:sp>
          <p:nvSpPr>
            <p:cNvPr id="144449" name="Text Box 64"/>
            <p:cNvSpPr txBox="1">
              <a:spLocks noChangeArrowheads="1"/>
            </p:cNvSpPr>
            <p:nvPr/>
          </p:nvSpPr>
          <p:spPr bwMode="auto">
            <a:xfrm>
              <a:off x="3496" y="3172"/>
              <a:ext cx="28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1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DW</a:t>
              </a:r>
            </a:p>
          </p:txBody>
        </p:sp>
        <p:sp>
          <p:nvSpPr>
            <p:cNvPr id="144450" name="Freeform 65"/>
            <p:cNvSpPr/>
            <p:nvPr/>
          </p:nvSpPr>
          <p:spPr bwMode="auto">
            <a:xfrm>
              <a:off x="3204" y="2976"/>
              <a:ext cx="732" cy="5"/>
            </a:xfrm>
            <a:custGeom>
              <a:avLst/>
              <a:gdLst>
                <a:gd name="T0" fmla="*/ 0 w 732"/>
                <a:gd name="T1" fmla="*/ 0 h 5"/>
                <a:gd name="T2" fmla="*/ 723 w 732"/>
                <a:gd name="T3" fmla="*/ 0 h 5"/>
                <a:gd name="T4" fmla="*/ 732 w 732"/>
                <a:gd name="T5" fmla="*/ 5 h 5"/>
                <a:gd name="T6" fmla="*/ 0 60000 65536"/>
                <a:gd name="T7" fmla="*/ 0 60000 65536"/>
                <a:gd name="T8" fmla="*/ 0 60000 65536"/>
                <a:gd name="T9" fmla="*/ 0 w 732"/>
                <a:gd name="T10" fmla="*/ 0 h 5"/>
                <a:gd name="T11" fmla="*/ 732 w 732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32" h="5">
                  <a:moveTo>
                    <a:pt x="0" y="0"/>
                  </a:moveTo>
                  <a:lnTo>
                    <a:pt x="723" y="0"/>
                  </a:lnTo>
                  <a:lnTo>
                    <a:pt x="732" y="5"/>
                  </a:lnTo>
                </a:path>
              </a:pathLst>
            </a:custGeom>
            <a:noFill/>
            <a:ln w="38100" cap="flat" cmpd="sng">
              <a:solidFill>
                <a:schemeClr val="folHlink"/>
              </a:solidFill>
              <a:prstDash val="solid"/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1" name="Group 66"/>
          <p:cNvGrpSpPr/>
          <p:nvPr/>
        </p:nvGrpSpPr>
        <p:grpSpPr bwMode="auto">
          <a:xfrm>
            <a:off x="6248400" y="4670425"/>
            <a:ext cx="1403350" cy="631825"/>
            <a:chOff x="3936" y="2942"/>
            <a:chExt cx="1002" cy="398"/>
          </a:xfrm>
        </p:grpSpPr>
        <p:grpSp>
          <p:nvGrpSpPr>
            <p:cNvPr id="144444" name="Group 67"/>
            <p:cNvGrpSpPr/>
            <p:nvPr/>
          </p:nvGrpSpPr>
          <p:grpSpPr bwMode="auto">
            <a:xfrm>
              <a:off x="4243" y="2942"/>
              <a:ext cx="400" cy="398"/>
              <a:chOff x="4455" y="588"/>
              <a:chExt cx="400" cy="398"/>
            </a:xfrm>
          </p:grpSpPr>
          <p:sp>
            <p:nvSpPr>
              <p:cNvPr id="144446" name="Text Box 68"/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21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t</a:t>
                </a:r>
              </a:p>
            </p:txBody>
          </p:sp>
          <p:sp>
            <p:nvSpPr>
              <p:cNvPr id="144447" name="Text Box 69"/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295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1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DH</a:t>
                </a:r>
              </a:p>
            </p:txBody>
          </p:sp>
        </p:grpSp>
        <p:sp>
          <p:nvSpPr>
            <p:cNvPr id="144445" name="Freeform 70"/>
            <p:cNvSpPr/>
            <p:nvPr/>
          </p:nvSpPr>
          <p:spPr bwMode="auto">
            <a:xfrm>
              <a:off x="3936" y="2970"/>
              <a:ext cx="1002" cy="1"/>
            </a:xfrm>
            <a:custGeom>
              <a:avLst/>
              <a:gdLst>
                <a:gd name="T0" fmla="*/ 0 w 1002"/>
                <a:gd name="T1" fmla="*/ 0 h 1"/>
                <a:gd name="T2" fmla="*/ 1002 w 1002"/>
                <a:gd name="T3" fmla="*/ 0 h 1"/>
                <a:gd name="T4" fmla="*/ 0 60000 65536"/>
                <a:gd name="T5" fmla="*/ 0 60000 65536"/>
                <a:gd name="T6" fmla="*/ 0 w 1002"/>
                <a:gd name="T7" fmla="*/ 0 h 1"/>
                <a:gd name="T8" fmla="*/ 1002 w 100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02" h="1">
                  <a:moveTo>
                    <a:pt x="0" y="0"/>
                  </a:moveTo>
                  <a:lnTo>
                    <a:pt x="1002" y="0"/>
                  </a:lnTo>
                </a:path>
              </a:pathLst>
            </a:custGeom>
            <a:noFill/>
            <a:ln w="38100" cap="flat" cmpd="sng">
              <a:solidFill>
                <a:schemeClr val="folHlink"/>
              </a:solidFill>
              <a:prstDash val="solid"/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3" name="Group 71"/>
          <p:cNvGrpSpPr/>
          <p:nvPr/>
        </p:nvGrpSpPr>
        <p:grpSpPr bwMode="auto">
          <a:xfrm>
            <a:off x="6248400" y="2003425"/>
            <a:ext cx="1752600" cy="631825"/>
            <a:chOff x="3936" y="1262"/>
            <a:chExt cx="1104" cy="398"/>
          </a:xfrm>
        </p:grpSpPr>
        <p:grpSp>
          <p:nvGrpSpPr>
            <p:cNvPr id="144439" name="Group 72"/>
            <p:cNvGrpSpPr/>
            <p:nvPr/>
          </p:nvGrpSpPr>
          <p:grpSpPr bwMode="auto">
            <a:xfrm>
              <a:off x="4291" y="1262"/>
              <a:ext cx="386" cy="398"/>
              <a:chOff x="4455" y="588"/>
              <a:chExt cx="386" cy="398"/>
            </a:xfrm>
          </p:grpSpPr>
          <p:sp>
            <p:nvSpPr>
              <p:cNvPr id="144442" name="Text Box 73"/>
              <p:cNvSpPr txBox="1">
                <a:spLocks noChangeArrowheads="1"/>
              </p:cNvSpPr>
              <p:nvPr/>
            </p:nvSpPr>
            <p:spPr bwMode="auto">
              <a:xfrm>
                <a:off x="4455" y="588"/>
                <a:ext cx="1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t</a:t>
                </a:r>
              </a:p>
            </p:txBody>
          </p:sp>
          <p:sp>
            <p:nvSpPr>
              <p:cNvPr id="144443" name="Text Box 74"/>
              <p:cNvSpPr txBox="1">
                <a:spLocks noChangeArrowheads="1"/>
              </p:cNvSpPr>
              <p:nvPr/>
            </p:nvSpPr>
            <p:spPr bwMode="auto">
              <a:xfrm>
                <a:off x="4560" y="813"/>
                <a:ext cx="281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1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WR</a:t>
                </a:r>
              </a:p>
            </p:txBody>
          </p:sp>
        </p:grpSp>
        <p:sp>
          <p:nvSpPr>
            <p:cNvPr id="144440" name="Line 75"/>
            <p:cNvSpPr>
              <a:spLocks noChangeShapeType="1"/>
            </p:cNvSpPr>
            <p:nvPr/>
          </p:nvSpPr>
          <p:spPr bwMode="auto">
            <a:xfrm>
              <a:off x="4752" y="1392"/>
              <a:ext cx="288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44441" name="Line 76"/>
            <p:cNvSpPr>
              <a:spLocks noChangeShapeType="1"/>
            </p:cNvSpPr>
            <p:nvPr/>
          </p:nvSpPr>
          <p:spPr bwMode="auto">
            <a:xfrm rot="10800000">
              <a:off x="3936" y="1392"/>
              <a:ext cx="288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5" name="Group 77"/>
          <p:cNvGrpSpPr/>
          <p:nvPr/>
        </p:nvGrpSpPr>
        <p:grpSpPr bwMode="auto">
          <a:xfrm>
            <a:off x="1143000" y="1066800"/>
            <a:ext cx="6858000" cy="2133600"/>
            <a:chOff x="720" y="672"/>
            <a:chExt cx="4320" cy="1344"/>
          </a:xfrm>
        </p:grpSpPr>
        <p:sp>
          <p:nvSpPr>
            <p:cNvPr id="144437" name="Line 78"/>
            <p:cNvSpPr>
              <a:spLocks noChangeShapeType="1"/>
            </p:cNvSpPr>
            <p:nvPr/>
          </p:nvSpPr>
          <p:spPr bwMode="auto">
            <a:xfrm>
              <a:off x="720" y="672"/>
              <a:ext cx="0" cy="1344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44438" name="Line 79"/>
            <p:cNvSpPr>
              <a:spLocks noChangeShapeType="1"/>
            </p:cNvSpPr>
            <p:nvPr/>
          </p:nvSpPr>
          <p:spPr bwMode="auto">
            <a:xfrm>
              <a:off x="5040" y="672"/>
              <a:ext cx="0" cy="912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6" name="Group 80"/>
          <p:cNvGrpSpPr/>
          <p:nvPr/>
        </p:nvGrpSpPr>
        <p:grpSpPr bwMode="auto">
          <a:xfrm>
            <a:off x="2971800" y="2057400"/>
            <a:ext cx="3276600" cy="3124200"/>
            <a:chOff x="1872" y="1296"/>
            <a:chExt cx="2064" cy="1968"/>
          </a:xfrm>
        </p:grpSpPr>
        <p:sp>
          <p:nvSpPr>
            <p:cNvPr id="144435" name="Line 81"/>
            <p:cNvSpPr>
              <a:spLocks noChangeShapeType="1"/>
            </p:cNvSpPr>
            <p:nvPr/>
          </p:nvSpPr>
          <p:spPr bwMode="auto">
            <a:xfrm>
              <a:off x="1872" y="1296"/>
              <a:ext cx="0" cy="1200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44436" name="Line 82"/>
            <p:cNvSpPr>
              <a:spLocks noChangeShapeType="1"/>
            </p:cNvSpPr>
            <p:nvPr/>
          </p:nvSpPr>
          <p:spPr bwMode="auto">
            <a:xfrm>
              <a:off x="3936" y="1344"/>
              <a:ext cx="0" cy="1920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232531" name="Line 83"/>
          <p:cNvSpPr>
            <a:spLocks noChangeShapeType="1"/>
          </p:cNvSpPr>
          <p:nvPr/>
        </p:nvSpPr>
        <p:spPr bwMode="auto">
          <a:xfrm>
            <a:off x="5105400" y="3886200"/>
            <a:ext cx="0" cy="198120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32532" name="Line 84"/>
          <p:cNvSpPr>
            <a:spLocks noChangeShapeType="1"/>
          </p:cNvSpPr>
          <p:nvPr/>
        </p:nvSpPr>
        <p:spPr bwMode="auto">
          <a:xfrm>
            <a:off x="7667625" y="3886200"/>
            <a:ext cx="0" cy="129540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grpSp>
        <p:nvGrpSpPr>
          <p:cNvPr id="27" name="Group 85"/>
          <p:cNvGrpSpPr/>
          <p:nvPr/>
        </p:nvGrpSpPr>
        <p:grpSpPr bwMode="auto">
          <a:xfrm>
            <a:off x="990600" y="6048375"/>
            <a:ext cx="7391400" cy="581025"/>
            <a:chOff x="624" y="3810"/>
            <a:chExt cx="4656" cy="366"/>
          </a:xfrm>
        </p:grpSpPr>
        <p:sp>
          <p:nvSpPr>
            <p:cNvPr id="144430" name="Rectangle 86"/>
            <p:cNvSpPr>
              <a:spLocks noChangeArrowheads="1"/>
            </p:cNvSpPr>
            <p:nvPr/>
          </p:nvSpPr>
          <p:spPr bwMode="auto">
            <a:xfrm>
              <a:off x="624" y="3834"/>
              <a:ext cx="4656" cy="34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</a:ln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grpSp>
          <p:nvGrpSpPr>
            <p:cNvPr id="144431" name="Group 87"/>
            <p:cNvGrpSpPr/>
            <p:nvPr/>
          </p:nvGrpSpPr>
          <p:grpSpPr bwMode="auto">
            <a:xfrm>
              <a:off x="672" y="3810"/>
              <a:ext cx="4523" cy="365"/>
              <a:chOff x="672" y="3810"/>
              <a:chExt cx="4523" cy="365"/>
            </a:xfrm>
          </p:grpSpPr>
          <p:sp>
            <p:nvSpPr>
              <p:cNvPr id="144432" name="Rectangle 88"/>
              <p:cNvSpPr>
                <a:spLocks noChangeArrowheads="1"/>
              </p:cNvSpPr>
              <p:nvPr/>
            </p:nvSpPr>
            <p:spPr bwMode="auto">
              <a:xfrm>
                <a:off x="672" y="3810"/>
                <a:ext cx="24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</a:rPr>
                  <a:t>写周期</a:t>
                </a:r>
                <a:r>
                  <a:rPr lang="zh-CN" altLang="en-US" sz="2800"/>
                  <a:t>  </a:t>
                </a:r>
                <a:r>
                  <a:rPr lang="en-US" altLang="zh-CN" sz="2800" i="1">
                    <a:solidFill>
                      <a:schemeClr val="folHlink"/>
                    </a:solidFill>
                  </a:rPr>
                  <a:t>t</a:t>
                </a:r>
                <a:r>
                  <a:rPr lang="en-US" altLang="zh-CN" sz="2400" baseline="-25000">
                    <a:solidFill>
                      <a:schemeClr val="folHlink"/>
                    </a:solidFill>
                  </a:rPr>
                  <a:t>WC</a:t>
                </a:r>
                <a:r>
                  <a:rPr lang="en-US" altLang="zh-CN" sz="2800" baseline="-25000"/>
                  <a:t>   </a:t>
                </a:r>
                <a:r>
                  <a:rPr lang="zh-CN" altLang="en-US" sz="2800"/>
                  <a:t>地址有效</a:t>
                </a:r>
              </a:p>
            </p:txBody>
          </p:sp>
          <p:sp>
            <p:nvSpPr>
              <p:cNvPr id="144433" name="Line 89"/>
              <p:cNvSpPr>
                <a:spLocks noChangeShapeType="1"/>
              </p:cNvSpPr>
              <p:nvPr/>
            </p:nvSpPr>
            <p:spPr bwMode="auto">
              <a:xfrm>
                <a:off x="3168" y="4023"/>
                <a:ext cx="3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4434" name="Rectangle 90"/>
              <p:cNvSpPr>
                <a:spLocks noChangeArrowheads="1"/>
              </p:cNvSpPr>
              <p:nvPr/>
            </p:nvSpPr>
            <p:spPr bwMode="auto">
              <a:xfrm>
                <a:off x="3504" y="3843"/>
                <a:ext cx="1691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800"/>
                  <a:t>下一次地址有效</a:t>
                </a:r>
              </a:p>
            </p:txBody>
          </p:sp>
        </p:grpSp>
      </p:grpSp>
      <p:sp>
        <p:nvSpPr>
          <p:cNvPr id="232539" name="Rectangle 91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grpSp>
        <p:nvGrpSpPr>
          <p:cNvPr id="29" name="Group 92"/>
          <p:cNvGrpSpPr/>
          <p:nvPr/>
        </p:nvGrpSpPr>
        <p:grpSpPr bwMode="auto">
          <a:xfrm>
            <a:off x="990600" y="6048375"/>
            <a:ext cx="7391400" cy="592138"/>
            <a:chOff x="672" y="4187"/>
            <a:chExt cx="4656" cy="373"/>
          </a:xfrm>
        </p:grpSpPr>
        <p:sp>
          <p:nvSpPr>
            <p:cNvPr id="144426" name="Rectangle 93"/>
            <p:cNvSpPr>
              <a:spLocks noChangeArrowheads="1"/>
            </p:cNvSpPr>
            <p:nvPr/>
          </p:nvSpPr>
          <p:spPr bwMode="auto">
            <a:xfrm>
              <a:off x="672" y="4187"/>
              <a:ext cx="4656" cy="34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</a:ln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grpSp>
          <p:nvGrpSpPr>
            <p:cNvPr id="144427" name="Group 94"/>
            <p:cNvGrpSpPr/>
            <p:nvPr/>
          </p:nvGrpSpPr>
          <p:grpSpPr bwMode="auto">
            <a:xfrm>
              <a:off x="912" y="4195"/>
              <a:ext cx="4080" cy="365"/>
              <a:chOff x="912" y="4195"/>
              <a:chExt cx="4080" cy="365"/>
            </a:xfrm>
          </p:grpSpPr>
          <p:sp>
            <p:nvSpPr>
              <p:cNvPr id="144428" name="Rectangle 95"/>
              <p:cNvSpPr>
                <a:spLocks noChangeArrowheads="1"/>
              </p:cNvSpPr>
              <p:nvPr/>
            </p:nvSpPr>
            <p:spPr bwMode="auto">
              <a:xfrm>
                <a:off x="912" y="4195"/>
                <a:ext cx="408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</a:rPr>
                  <a:t>写时间</a:t>
                </a:r>
                <a:r>
                  <a:rPr lang="zh-CN" altLang="en-US" sz="2800"/>
                  <a:t>  </a:t>
                </a:r>
                <a:r>
                  <a:rPr lang="en-US" altLang="zh-CN" sz="2800" i="1">
                    <a:solidFill>
                      <a:schemeClr val="folHlink"/>
                    </a:solidFill>
                  </a:rPr>
                  <a:t>t</a:t>
                </a:r>
                <a:r>
                  <a:rPr lang="en-US" altLang="zh-CN" sz="2400" baseline="-25000">
                    <a:solidFill>
                      <a:schemeClr val="folHlink"/>
                    </a:solidFill>
                  </a:rPr>
                  <a:t>W</a:t>
                </a:r>
                <a:r>
                  <a:rPr lang="zh-CN" altLang="en-US" sz="2800"/>
                  <a:t> </a:t>
                </a:r>
                <a:r>
                  <a:rPr lang="en-US" altLang="zh-CN" sz="2800" baseline="-25000"/>
                  <a:t>  </a:t>
                </a:r>
                <a:r>
                  <a:rPr lang="zh-CN" altLang="en-US" sz="2800"/>
                  <a:t>写命令 </a:t>
                </a:r>
                <a:r>
                  <a:rPr lang="en-US" altLang="zh-CN" sz="2200"/>
                  <a:t>WE</a:t>
                </a:r>
                <a:r>
                  <a:rPr lang="en-US" altLang="zh-CN" sz="2000"/>
                  <a:t> </a:t>
                </a:r>
                <a:r>
                  <a:rPr lang="zh-CN" altLang="en-US" sz="2800"/>
                  <a:t>的有效时间</a:t>
                </a:r>
              </a:p>
            </p:txBody>
          </p:sp>
          <p:sp>
            <p:nvSpPr>
              <p:cNvPr id="144429" name="Line 96"/>
              <p:cNvSpPr>
                <a:spLocks noChangeShapeType="1"/>
              </p:cNvSpPr>
              <p:nvPr/>
            </p:nvSpPr>
            <p:spPr bwMode="auto">
              <a:xfrm>
                <a:off x="3168" y="4282"/>
                <a:ext cx="24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31" name="Group 97"/>
          <p:cNvGrpSpPr/>
          <p:nvPr/>
        </p:nvGrpSpPr>
        <p:grpSpPr bwMode="auto">
          <a:xfrm>
            <a:off x="990600" y="6048375"/>
            <a:ext cx="7391400" cy="542925"/>
            <a:chOff x="624" y="3840"/>
            <a:chExt cx="4656" cy="342"/>
          </a:xfrm>
        </p:grpSpPr>
        <p:sp>
          <p:nvSpPr>
            <p:cNvPr id="144421" name="Rectangle 98"/>
            <p:cNvSpPr>
              <a:spLocks noChangeArrowheads="1"/>
            </p:cNvSpPr>
            <p:nvPr/>
          </p:nvSpPr>
          <p:spPr bwMode="auto">
            <a:xfrm>
              <a:off x="624" y="3840"/>
              <a:ext cx="4656" cy="34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</a:ln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grpSp>
          <p:nvGrpSpPr>
            <p:cNvPr id="144422" name="Group 99"/>
            <p:cNvGrpSpPr/>
            <p:nvPr/>
          </p:nvGrpSpPr>
          <p:grpSpPr bwMode="auto">
            <a:xfrm>
              <a:off x="1008" y="3840"/>
              <a:ext cx="4032" cy="327"/>
              <a:chOff x="1008" y="3840"/>
              <a:chExt cx="4032" cy="327"/>
            </a:xfrm>
          </p:grpSpPr>
          <p:sp>
            <p:nvSpPr>
              <p:cNvPr id="144423" name="Rectangle 100"/>
              <p:cNvSpPr>
                <a:spLocks noChangeArrowheads="1"/>
              </p:cNvSpPr>
              <p:nvPr/>
            </p:nvSpPr>
            <p:spPr bwMode="auto">
              <a:xfrm>
                <a:off x="1008" y="3840"/>
                <a:ext cx="2016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800" i="1"/>
                  <a:t>t</a:t>
                </a:r>
                <a:r>
                  <a:rPr lang="en-US" altLang="zh-CN" sz="2400" baseline="-25000"/>
                  <a:t>AW</a:t>
                </a:r>
                <a:r>
                  <a:rPr lang="zh-CN" altLang="en-US" sz="2800"/>
                  <a:t>  地址有效</a:t>
                </a:r>
              </a:p>
            </p:txBody>
          </p:sp>
          <p:sp>
            <p:nvSpPr>
              <p:cNvPr id="144424" name="Line 101"/>
              <p:cNvSpPr>
                <a:spLocks noChangeShapeType="1"/>
              </p:cNvSpPr>
              <p:nvPr/>
            </p:nvSpPr>
            <p:spPr bwMode="auto">
              <a:xfrm>
                <a:off x="2544" y="4032"/>
                <a:ext cx="336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4425" name="Rectangle 102"/>
              <p:cNvSpPr>
                <a:spLocks noChangeArrowheads="1"/>
              </p:cNvSpPr>
              <p:nvPr/>
            </p:nvSpPr>
            <p:spPr bwMode="auto">
              <a:xfrm>
                <a:off x="2899" y="3840"/>
                <a:ext cx="2141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800"/>
                  <a:t>片选有效的滞后时间</a:t>
                </a:r>
              </a:p>
            </p:txBody>
          </p:sp>
        </p:grpSp>
      </p:grpSp>
      <p:grpSp>
        <p:nvGrpSpPr>
          <p:cNvPr id="144481" name="Group 103"/>
          <p:cNvGrpSpPr/>
          <p:nvPr/>
        </p:nvGrpSpPr>
        <p:grpSpPr bwMode="auto">
          <a:xfrm>
            <a:off x="990600" y="6086475"/>
            <a:ext cx="7391400" cy="542925"/>
            <a:chOff x="624" y="3840"/>
            <a:chExt cx="4656" cy="342"/>
          </a:xfrm>
        </p:grpSpPr>
        <p:sp>
          <p:nvSpPr>
            <p:cNvPr id="144416" name="Rectangle 104"/>
            <p:cNvSpPr>
              <a:spLocks noChangeArrowheads="1"/>
            </p:cNvSpPr>
            <p:nvPr/>
          </p:nvSpPr>
          <p:spPr bwMode="auto">
            <a:xfrm>
              <a:off x="624" y="3840"/>
              <a:ext cx="4656" cy="34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</a:ln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grpSp>
          <p:nvGrpSpPr>
            <p:cNvPr id="144417" name="Group 105"/>
            <p:cNvGrpSpPr/>
            <p:nvPr/>
          </p:nvGrpSpPr>
          <p:grpSpPr bwMode="auto">
            <a:xfrm>
              <a:off x="1296" y="3855"/>
              <a:ext cx="3582" cy="327"/>
              <a:chOff x="1296" y="3855"/>
              <a:chExt cx="3582" cy="327"/>
            </a:xfrm>
          </p:grpSpPr>
          <p:sp>
            <p:nvSpPr>
              <p:cNvPr id="144418" name="Rectangle 106"/>
              <p:cNvSpPr>
                <a:spLocks noChangeArrowheads="1"/>
              </p:cNvSpPr>
              <p:nvPr/>
            </p:nvSpPr>
            <p:spPr bwMode="auto">
              <a:xfrm>
                <a:off x="1296" y="3855"/>
                <a:ext cx="2016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800" i="1"/>
                  <a:t>t</a:t>
                </a:r>
                <a:r>
                  <a:rPr lang="en-US" altLang="zh-CN" sz="2400" baseline="-25000"/>
                  <a:t>WR</a:t>
                </a:r>
                <a:r>
                  <a:rPr lang="zh-CN" altLang="en-US" sz="2800"/>
                  <a:t>  片选失效</a:t>
                </a:r>
              </a:p>
            </p:txBody>
          </p:sp>
          <p:sp>
            <p:nvSpPr>
              <p:cNvPr id="144419" name="Line 107"/>
              <p:cNvSpPr>
                <a:spLocks noChangeShapeType="1"/>
              </p:cNvSpPr>
              <p:nvPr/>
            </p:nvSpPr>
            <p:spPr bwMode="auto">
              <a:xfrm>
                <a:off x="2832" y="4047"/>
                <a:ext cx="3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4420" name="Rectangle 108"/>
              <p:cNvSpPr>
                <a:spLocks noChangeArrowheads="1"/>
              </p:cNvSpPr>
              <p:nvPr/>
            </p:nvSpPr>
            <p:spPr bwMode="auto">
              <a:xfrm>
                <a:off x="3187" y="3855"/>
                <a:ext cx="1691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800"/>
                  <a:t>下一次地址有效</a:t>
                </a:r>
              </a:p>
            </p:txBody>
          </p:sp>
        </p:grpSp>
      </p:grpSp>
      <p:grpSp>
        <p:nvGrpSpPr>
          <p:cNvPr id="144507" name="Group 109"/>
          <p:cNvGrpSpPr/>
          <p:nvPr/>
        </p:nvGrpSpPr>
        <p:grpSpPr bwMode="auto">
          <a:xfrm>
            <a:off x="990600" y="6096000"/>
            <a:ext cx="7391400" cy="542925"/>
            <a:chOff x="624" y="3840"/>
            <a:chExt cx="4656" cy="342"/>
          </a:xfrm>
        </p:grpSpPr>
        <p:sp>
          <p:nvSpPr>
            <p:cNvPr id="144410" name="Rectangle 110"/>
            <p:cNvSpPr>
              <a:spLocks noChangeArrowheads="1"/>
            </p:cNvSpPr>
            <p:nvPr/>
          </p:nvSpPr>
          <p:spPr bwMode="auto">
            <a:xfrm>
              <a:off x="624" y="3840"/>
              <a:ext cx="4656" cy="34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</a:ln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grpSp>
          <p:nvGrpSpPr>
            <p:cNvPr id="144411" name="Group 111"/>
            <p:cNvGrpSpPr/>
            <p:nvPr/>
          </p:nvGrpSpPr>
          <p:grpSpPr bwMode="auto">
            <a:xfrm>
              <a:off x="1392" y="3855"/>
              <a:ext cx="2914" cy="327"/>
              <a:chOff x="1392" y="3855"/>
              <a:chExt cx="2914" cy="327"/>
            </a:xfrm>
          </p:grpSpPr>
          <p:sp>
            <p:nvSpPr>
              <p:cNvPr id="144412" name="Rectangle 112"/>
              <p:cNvSpPr>
                <a:spLocks noChangeArrowheads="1"/>
              </p:cNvSpPr>
              <p:nvPr/>
            </p:nvSpPr>
            <p:spPr bwMode="auto">
              <a:xfrm>
                <a:off x="1392" y="3855"/>
                <a:ext cx="196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800" i="1"/>
                  <a:t>t</a:t>
                </a:r>
                <a:r>
                  <a:rPr lang="en-US" altLang="zh-CN" sz="2400" baseline="-25000"/>
                  <a:t>DW   </a:t>
                </a:r>
                <a:r>
                  <a:rPr lang="zh-CN" altLang="en-US" sz="2800"/>
                  <a:t>数据稳定</a:t>
                </a:r>
              </a:p>
            </p:txBody>
          </p:sp>
          <p:sp>
            <p:nvSpPr>
              <p:cNvPr id="144413" name="Line 113"/>
              <p:cNvSpPr>
                <a:spLocks noChangeShapeType="1"/>
              </p:cNvSpPr>
              <p:nvPr/>
            </p:nvSpPr>
            <p:spPr bwMode="auto">
              <a:xfrm>
                <a:off x="2976" y="4047"/>
                <a:ext cx="3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4414" name="Rectangle 114"/>
              <p:cNvSpPr>
                <a:spLocks noChangeArrowheads="1"/>
              </p:cNvSpPr>
              <p:nvPr/>
            </p:nvSpPr>
            <p:spPr bwMode="auto">
              <a:xfrm>
                <a:off x="3360" y="3855"/>
                <a:ext cx="946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800"/>
                  <a:t> </a:t>
                </a:r>
                <a:r>
                  <a:rPr lang="en-US" altLang="zh-CN" sz="2200"/>
                  <a:t>WE </a:t>
                </a:r>
                <a:r>
                  <a:rPr lang="zh-CN" altLang="en-US" sz="2800"/>
                  <a:t>失效</a:t>
                </a:r>
                <a:endParaRPr lang="en-US" altLang="zh-CN" sz="2800"/>
              </a:p>
            </p:txBody>
          </p:sp>
          <p:sp>
            <p:nvSpPr>
              <p:cNvPr id="144415" name="Line 115"/>
              <p:cNvSpPr>
                <a:spLocks noChangeShapeType="1"/>
              </p:cNvSpPr>
              <p:nvPr/>
            </p:nvSpPr>
            <p:spPr bwMode="auto">
              <a:xfrm>
                <a:off x="3504" y="3975"/>
                <a:ext cx="24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144509" name="Group 116"/>
          <p:cNvGrpSpPr/>
          <p:nvPr/>
        </p:nvGrpSpPr>
        <p:grpSpPr bwMode="auto">
          <a:xfrm>
            <a:off x="990600" y="6086475"/>
            <a:ext cx="7391400" cy="542925"/>
            <a:chOff x="624" y="3978"/>
            <a:chExt cx="4656" cy="342"/>
          </a:xfrm>
        </p:grpSpPr>
        <p:sp>
          <p:nvSpPr>
            <p:cNvPr id="144406" name="Rectangle 117"/>
            <p:cNvSpPr>
              <a:spLocks noChangeArrowheads="1"/>
            </p:cNvSpPr>
            <p:nvPr/>
          </p:nvSpPr>
          <p:spPr bwMode="auto">
            <a:xfrm>
              <a:off x="624" y="3978"/>
              <a:ext cx="4656" cy="34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</a:ln>
          </p:spPr>
          <p:txBody>
            <a:bodyPr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grpSp>
          <p:nvGrpSpPr>
            <p:cNvPr id="144407" name="Group 118"/>
            <p:cNvGrpSpPr/>
            <p:nvPr/>
          </p:nvGrpSpPr>
          <p:grpSpPr bwMode="auto">
            <a:xfrm>
              <a:off x="1392" y="3993"/>
              <a:ext cx="3408" cy="327"/>
              <a:chOff x="1392" y="3849"/>
              <a:chExt cx="3408" cy="327"/>
            </a:xfrm>
          </p:grpSpPr>
          <p:sp>
            <p:nvSpPr>
              <p:cNvPr id="144408" name="Rectangle 119"/>
              <p:cNvSpPr>
                <a:spLocks noChangeArrowheads="1"/>
              </p:cNvSpPr>
              <p:nvPr/>
            </p:nvSpPr>
            <p:spPr bwMode="auto">
              <a:xfrm>
                <a:off x="1392" y="3849"/>
                <a:ext cx="340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800" i="1"/>
                  <a:t>t</a:t>
                </a:r>
                <a:r>
                  <a:rPr lang="en-US" altLang="zh-CN" sz="2400" baseline="-25000"/>
                  <a:t>DH</a:t>
                </a:r>
                <a:r>
                  <a:rPr lang="en-US" altLang="zh-CN" sz="2200"/>
                  <a:t>  </a:t>
                </a:r>
                <a:r>
                  <a:rPr lang="en-US" altLang="zh-CN" sz="1000"/>
                  <a:t> </a:t>
                </a:r>
                <a:r>
                  <a:rPr lang="en-US" altLang="zh-CN" sz="2200"/>
                  <a:t>WE </a:t>
                </a:r>
                <a:r>
                  <a:rPr lang="zh-CN" altLang="en-US" sz="2800"/>
                  <a:t>失效后的数据维持时间</a:t>
                </a:r>
              </a:p>
            </p:txBody>
          </p:sp>
          <p:sp>
            <p:nvSpPr>
              <p:cNvPr id="144409" name="Line 120"/>
              <p:cNvSpPr>
                <a:spLocks noChangeShapeType="1"/>
              </p:cNvSpPr>
              <p:nvPr/>
            </p:nvSpPr>
            <p:spPr bwMode="auto">
              <a:xfrm>
                <a:off x="1872" y="3936"/>
                <a:ext cx="28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144405" name="AutoShape 121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1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2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144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144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8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62" dur="500"/>
                                        <p:tgtEl>
                                          <p:spTgt spid="2325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144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8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77" dur="500"/>
                                        <p:tgtEl>
                                          <p:spTgt spid="2325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8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2531" grpId="0" animBg="1"/>
      <p:bldP spid="232532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12700" y="1793875"/>
            <a:ext cx="5657850" cy="3784600"/>
            <a:chOff x="8" y="1130"/>
            <a:chExt cx="3564" cy="2384"/>
          </a:xfrm>
        </p:grpSpPr>
        <p:sp>
          <p:nvSpPr>
            <p:cNvPr id="145512" name="Text Box 3"/>
            <p:cNvSpPr txBox="1">
              <a:spLocks noChangeArrowheads="1"/>
            </p:cNvSpPr>
            <p:nvPr/>
          </p:nvSpPr>
          <p:spPr bwMode="auto">
            <a:xfrm>
              <a:off x="3328" y="1239"/>
              <a:ext cx="244" cy="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 baseline="-25000">
                  <a:latin typeface="Times New Roman" panose="02020603050405020304" pitchFamily="18" charset="0"/>
                </a:rPr>
                <a:t>DD</a:t>
              </a:r>
            </a:p>
          </p:txBody>
        </p:sp>
        <p:sp>
          <p:nvSpPr>
            <p:cNvPr id="145513" name="Line 4"/>
            <p:cNvSpPr>
              <a:spLocks noChangeShapeType="1"/>
            </p:cNvSpPr>
            <p:nvPr/>
          </p:nvSpPr>
          <p:spPr bwMode="auto">
            <a:xfrm>
              <a:off x="384" y="1440"/>
              <a:ext cx="24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514" name="Freeform 5"/>
            <p:cNvSpPr/>
            <p:nvPr/>
          </p:nvSpPr>
          <p:spPr bwMode="auto">
            <a:xfrm>
              <a:off x="384" y="2922"/>
              <a:ext cx="2502" cy="3"/>
            </a:xfrm>
            <a:custGeom>
              <a:avLst/>
              <a:gdLst>
                <a:gd name="T0" fmla="*/ 0 w 2502"/>
                <a:gd name="T1" fmla="*/ 3 h 3"/>
                <a:gd name="T2" fmla="*/ 2502 w 2502"/>
                <a:gd name="T3" fmla="*/ 0 h 3"/>
                <a:gd name="T4" fmla="*/ 0 60000 65536"/>
                <a:gd name="T5" fmla="*/ 0 60000 65536"/>
                <a:gd name="T6" fmla="*/ 0 w 2502"/>
                <a:gd name="T7" fmla="*/ 0 h 3"/>
                <a:gd name="T8" fmla="*/ 2502 w 2502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502" h="3">
                  <a:moveTo>
                    <a:pt x="0" y="3"/>
                  </a:moveTo>
                  <a:lnTo>
                    <a:pt x="2502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45515" name="Group 6"/>
            <p:cNvGrpSpPr/>
            <p:nvPr/>
          </p:nvGrpSpPr>
          <p:grpSpPr bwMode="auto">
            <a:xfrm>
              <a:off x="1872" y="1632"/>
              <a:ext cx="49" cy="231"/>
              <a:chOff x="1872" y="1632"/>
              <a:chExt cx="49" cy="231"/>
            </a:xfrm>
          </p:grpSpPr>
          <p:sp>
            <p:nvSpPr>
              <p:cNvPr id="145556" name="Freeform 7"/>
              <p:cNvSpPr/>
              <p:nvPr/>
            </p:nvSpPr>
            <p:spPr bwMode="auto">
              <a:xfrm>
                <a:off x="1872" y="1690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  <a:gd name="T6" fmla="*/ 0 w 1"/>
                  <a:gd name="T7" fmla="*/ 0 h 120"/>
                  <a:gd name="T8" fmla="*/ 1 w 1"/>
                  <a:gd name="T9" fmla="*/ 120 h 1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5557" name="Freeform 8"/>
              <p:cNvSpPr/>
              <p:nvPr/>
            </p:nvSpPr>
            <p:spPr bwMode="auto">
              <a:xfrm>
                <a:off x="1920" y="1632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  <a:gd name="T6" fmla="*/ 0 w 1"/>
                  <a:gd name="T7" fmla="*/ 0 h 231"/>
                  <a:gd name="T8" fmla="*/ 1 w 1"/>
                  <a:gd name="T9" fmla="*/ 231 h 23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45516" name="Freeform 9"/>
            <p:cNvSpPr/>
            <p:nvPr/>
          </p:nvSpPr>
          <p:spPr bwMode="auto">
            <a:xfrm>
              <a:off x="1584" y="1440"/>
              <a:ext cx="291" cy="308"/>
            </a:xfrm>
            <a:custGeom>
              <a:avLst/>
              <a:gdLst>
                <a:gd name="T0" fmla="*/ 0 w 291"/>
                <a:gd name="T1" fmla="*/ 0 h 212"/>
                <a:gd name="T2" fmla="*/ 0 w 291"/>
                <a:gd name="T3" fmla="*/ 39494 h 212"/>
                <a:gd name="T4" fmla="*/ 291 w 291"/>
                <a:gd name="T5" fmla="*/ 39494 h 212"/>
                <a:gd name="T6" fmla="*/ 0 60000 65536"/>
                <a:gd name="T7" fmla="*/ 0 60000 65536"/>
                <a:gd name="T8" fmla="*/ 0 60000 65536"/>
                <a:gd name="T9" fmla="*/ 0 w 291"/>
                <a:gd name="T10" fmla="*/ 0 h 212"/>
                <a:gd name="T11" fmla="*/ 291 w 291"/>
                <a:gd name="T12" fmla="*/ 212 h 2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91" h="212">
                  <a:moveTo>
                    <a:pt x="0" y="0"/>
                  </a:moveTo>
                  <a:lnTo>
                    <a:pt x="0" y="212"/>
                  </a:lnTo>
                  <a:lnTo>
                    <a:pt x="291" y="21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517" name="Freeform 10"/>
            <p:cNvSpPr/>
            <p:nvPr/>
          </p:nvSpPr>
          <p:spPr bwMode="auto">
            <a:xfrm>
              <a:off x="2447" y="1248"/>
              <a:ext cx="1" cy="2027"/>
            </a:xfrm>
            <a:custGeom>
              <a:avLst/>
              <a:gdLst>
                <a:gd name="T0" fmla="*/ 1 w 1"/>
                <a:gd name="T1" fmla="*/ 0 h 2027"/>
                <a:gd name="T2" fmla="*/ 0 w 1"/>
                <a:gd name="T3" fmla="*/ 2027 h 2027"/>
                <a:gd name="T4" fmla="*/ 0 60000 65536"/>
                <a:gd name="T5" fmla="*/ 0 60000 65536"/>
                <a:gd name="T6" fmla="*/ 0 w 1"/>
                <a:gd name="T7" fmla="*/ 0 h 2027"/>
                <a:gd name="T8" fmla="*/ 1 w 1"/>
                <a:gd name="T9" fmla="*/ 2027 h 202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027">
                  <a:moveTo>
                    <a:pt x="1" y="0"/>
                  </a:moveTo>
                  <a:lnTo>
                    <a:pt x="0" y="2027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518" name="Freeform 11"/>
            <p:cNvSpPr/>
            <p:nvPr/>
          </p:nvSpPr>
          <p:spPr bwMode="auto">
            <a:xfrm>
              <a:off x="1917" y="1697"/>
              <a:ext cx="536" cy="1"/>
            </a:xfrm>
            <a:custGeom>
              <a:avLst/>
              <a:gdLst>
                <a:gd name="T0" fmla="*/ 0 w 536"/>
                <a:gd name="T1" fmla="*/ 0 h 1"/>
                <a:gd name="T2" fmla="*/ 536 w 536"/>
                <a:gd name="T3" fmla="*/ 0 h 1"/>
                <a:gd name="T4" fmla="*/ 0 60000 65536"/>
                <a:gd name="T5" fmla="*/ 0 60000 65536"/>
                <a:gd name="T6" fmla="*/ 0 w 536"/>
                <a:gd name="T7" fmla="*/ 0 h 1"/>
                <a:gd name="T8" fmla="*/ 536 w 53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36" h="1">
                  <a:moveTo>
                    <a:pt x="0" y="0"/>
                  </a:moveTo>
                  <a:lnTo>
                    <a:pt x="53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45519" name="Group 12"/>
            <p:cNvGrpSpPr/>
            <p:nvPr/>
          </p:nvGrpSpPr>
          <p:grpSpPr bwMode="auto">
            <a:xfrm>
              <a:off x="1872" y="2121"/>
              <a:ext cx="49" cy="231"/>
              <a:chOff x="1872" y="2121"/>
              <a:chExt cx="49" cy="231"/>
            </a:xfrm>
          </p:grpSpPr>
          <p:sp>
            <p:nvSpPr>
              <p:cNvPr id="145554" name="Freeform 13"/>
              <p:cNvSpPr/>
              <p:nvPr/>
            </p:nvSpPr>
            <p:spPr bwMode="auto">
              <a:xfrm>
                <a:off x="1872" y="2179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  <a:gd name="T6" fmla="*/ 0 w 1"/>
                  <a:gd name="T7" fmla="*/ 0 h 120"/>
                  <a:gd name="T8" fmla="*/ 1 w 1"/>
                  <a:gd name="T9" fmla="*/ 120 h 1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5555" name="Freeform 14"/>
              <p:cNvSpPr/>
              <p:nvPr/>
            </p:nvSpPr>
            <p:spPr bwMode="auto">
              <a:xfrm>
                <a:off x="1920" y="2121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  <a:gd name="T6" fmla="*/ 0 w 1"/>
                  <a:gd name="T7" fmla="*/ 0 h 231"/>
                  <a:gd name="T8" fmla="*/ 1 w 1"/>
                  <a:gd name="T9" fmla="*/ 231 h 23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45520" name="Freeform 15"/>
            <p:cNvSpPr/>
            <p:nvPr/>
          </p:nvSpPr>
          <p:spPr bwMode="auto">
            <a:xfrm>
              <a:off x="1917" y="1797"/>
              <a:ext cx="288" cy="395"/>
            </a:xfrm>
            <a:custGeom>
              <a:avLst/>
              <a:gdLst>
                <a:gd name="T0" fmla="*/ 0 w 288"/>
                <a:gd name="T1" fmla="*/ 2 h 395"/>
                <a:gd name="T2" fmla="*/ 288 w 288"/>
                <a:gd name="T3" fmla="*/ 0 h 395"/>
                <a:gd name="T4" fmla="*/ 287 w 288"/>
                <a:gd name="T5" fmla="*/ 395 h 395"/>
                <a:gd name="T6" fmla="*/ 6 w 288"/>
                <a:gd name="T7" fmla="*/ 395 h 39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8"/>
                <a:gd name="T13" fmla="*/ 0 h 395"/>
                <a:gd name="T14" fmla="*/ 288 w 288"/>
                <a:gd name="T15" fmla="*/ 395 h 39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8" h="395">
                  <a:moveTo>
                    <a:pt x="0" y="2"/>
                  </a:moveTo>
                  <a:lnTo>
                    <a:pt x="288" y="0"/>
                  </a:lnTo>
                  <a:lnTo>
                    <a:pt x="287" y="395"/>
                  </a:lnTo>
                  <a:lnTo>
                    <a:pt x="6" y="39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521" name="Freeform 16"/>
            <p:cNvSpPr/>
            <p:nvPr/>
          </p:nvSpPr>
          <p:spPr bwMode="auto">
            <a:xfrm>
              <a:off x="1917" y="2291"/>
              <a:ext cx="291" cy="253"/>
            </a:xfrm>
            <a:custGeom>
              <a:avLst/>
              <a:gdLst>
                <a:gd name="T0" fmla="*/ 0 w 291"/>
                <a:gd name="T1" fmla="*/ 0 h 253"/>
                <a:gd name="T2" fmla="*/ 290 w 291"/>
                <a:gd name="T3" fmla="*/ 0 h 253"/>
                <a:gd name="T4" fmla="*/ 291 w 291"/>
                <a:gd name="T5" fmla="*/ 253 h 253"/>
                <a:gd name="T6" fmla="*/ 0 60000 65536"/>
                <a:gd name="T7" fmla="*/ 0 60000 65536"/>
                <a:gd name="T8" fmla="*/ 0 60000 65536"/>
                <a:gd name="T9" fmla="*/ 0 w 291"/>
                <a:gd name="T10" fmla="*/ 0 h 253"/>
                <a:gd name="T11" fmla="*/ 291 w 291"/>
                <a:gd name="T12" fmla="*/ 253 h 25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91" h="253">
                  <a:moveTo>
                    <a:pt x="0" y="0"/>
                  </a:moveTo>
                  <a:lnTo>
                    <a:pt x="290" y="0"/>
                  </a:lnTo>
                  <a:lnTo>
                    <a:pt x="291" y="25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522" name="Line 17"/>
            <p:cNvSpPr>
              <a:spLocks noChangeShapeType="1"/>
            </p:cNvSpPr>
            <p:nvPr/>
          </p:nvSpPr>
          <p:spPr bwMode="auto">
            <a:xfrm>
              <a:off x="2112" y="2544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523" name="Freeform 18"/>
            <p:cNvSpPr/>
            <p:nvPr/>
          </p:nvSpPr>
          <p:spPr bwMode="auto">
            <a:xfrm>
              <a:off x="768" y="1248"/>
              <a:ext cx="1" cy="2037"/>
            </a:xfrm>
            <a:custGeom>
              <a:avLst/>
              <a:gdLst>
                <a:gd name="T0" fmla="*/ 0 w 1"/>
                <a:gd name="T1" fmla="*/ 0 h 2037"/>
                <a:gd name="T2" fmla="*/ 0 w 1"/>
                <a:gd name="T3" fmla="*/ 2037 h 2037"/>
                <a:gd name="T4" fmla="*/ 0 60000 65536"/>
                <a:gd name="T5" fmla="*/ 0 60000 65536"/>
                <a:gd name="T6" fmla="*/ 0 w 1"/>
                <a:gd name="T7" fmla="*/ 0 h 2037"/>
                <a:gd name="T8" fmla="*/ 1 w 1"/>
                <a:gd name="T9" fmla="*/ 2037 h 20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037">
                  <a:moveTo>
                    <a:pt x="0" y="0"/>
                  </a:moveTo>
                  <a:lnTo>
                    <a:pt x="0" y="2037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45524" name="Group 19"/>
            <p:cNvGrpSpPr/>
            <p:nvPr/>
          </p:nvGrpSpPr>
          <p:grpSpPr bwMode="auto">
            <a:xfrm>
              <a:off x="1007" y="2398"/>
              <a:ext cx="231" cy="49"/>
              <a:chOff x="1007" y="2398"/>
              <a:chExt cx="231" cy="49"/>
            </a:xfrm>
          </p:grpSpPr>
          <p:sp>
            <p:nvSpPr>
              <p:cNvPr id="145552" name="Freeform 20"/>
              <p:cNvSpPr/>
              <p:nvPr/>
            </p:nvSpPr>
            <p:spPr bwMode="auto">
              <a:xfrm rot="-5400000">
                <a:off x="1124" y="2387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  <a:gd name="T6" fmla="*/ 0 w 1"/>
                  <a:gd name="T7" fmla="*/ 0 h 120"/>
                  <a:gd name="T8" fmla="*/ 1 w 1"/>
                  <a:gd name="T9" fmla="*/ 120 h 1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5553" name="Freeform 21"/>
              <p:cNvSpPr/>
              <p:nvPr/>
            </p:nvSpPr>
            <p:spPr bwMode="auto">
              <a:xfrm rot="-5400000">
                <a:off x="1122" y="2283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  <a:gd name="T6" fmla="*/ 0 w 1"/>
                  <a:gd name="T7" fmla="*/ 0 h 231"/>
                  <a:gd name="T8" fmla="*/ 1 w 1"/>
                  <a:gd name="T9" fmla="*/ 231 h 23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45525" name="Freeform 22"/>
            <p:cNvSpPr/>
            <p:nvPr/>
          </p:nvSpPr>
          <p:spPr bwMode="auto">
            <a:xfrm>
              <a:off x="1391" y="2495"/>
              <a:ext cx="282" cy="1"/>
            </a:xfrm>
            <a:custGeom>
              <a:avLst/>
              <a:gdLst>
                <a:gd name="T0" fmla="*/ 0 w 282"/>
                <a:gd name="T1" fmla="*/ 0 h 1"/>
                <a:gd name="T2" fmla="*/ 282 w 282"/>
                <a:gd name="T3" fmla="*/ 0 h 1"/>
                <a:gd name="T4" fmla="*/ 0 60000 65536"/>
                <a:gd name="T5" fmla="*/ 0 60000 65536"/>
                <a:gd name="T6" fmla="*/ 0 w 282"/>
                <a:gd name="T7" fmla="*/ 0 h 1"/>
                <a:gd name="T8" fmla="*/ 282 w 28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82" h="1">
                  <a:moveTo>
                    <a:pt x="0" y="0"/>
                  </a:moveTo>
                  <a:lnTo>
                    <a:pt x="282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526" name="Freeform 23"/>
            <p:cNvSpPr/>
            <p:nvPr/>
          </p:nvSpPr>
          <p:spPr bwMode="auto">
            <a:xfrm>
              <a:off x="1389" y="2591"/>
              <a:ext cx="284" cy="1"/>
            </a:xfrm>
            <a:custGeom>
              <a:avLst/>
              <a:gdLst>
                <a:gd name="T0" fmla="*/ 0 w 284"/>
                <a:gd name="T1" fmla="*/ 0 h 1"/>
                <a:gd name="T2" fmla="*/ 284 w 284"/>
                <a:gd name="T3" fmla="*/ 0 h 1"/>
                <a:gd name="T4" fmla="*/ 0 60000 65536"/>
                <a:gd name="T5" fmla="*/ 0 60000 65536"/>
                <a:gd name="T6" fmla="*/ 0 w 284"/>
                <a:gd name="T7" fmla="*/ 0 h 1"/>
                <a:gd name="T8" fmla="*/ 284 w 284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84" h="1">
                  <a:moveTo>
                    <a:pt x="0" y="0"/>
                  </a:moveTo>
                  <a:lnTo>
                    <a:pt x="284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527" name="Freeform 24"/>
            <p:cNvSpPr/>
            <p:nvPr/>
          </p:nvSpPr>
          <p:spPr bwMode="auto">
            <a:xfrm>
              <a:off x="1164" y="2235"/>
              <a:ext cx="707" cy="159"/>
            </a:xfrm>
            <a:custGeom>
              <a:avLst/>
              <a:gdLst>
                <a:gd name="T0" fmla="*/ 707 w 707"/>
                <a:gd name="T1" fmla="*/ 0 h 159"/>
                <a:gd name="T2" fmla="*/ 0 w 707"/>
                <a:gd name="T3" fmla="*/ 3 h 159"/>
                <a:gd name="T4" fmla="*/ 0 w 707"/>
                <a:gd name="T5" fmla="*/ 159 h 159"/>
                <a:gd name="T6" fmla="*/ 0 60000 65536"/>
                <a:gd name="T7" fmla="*/ 0 60000 65536"/>
                <a:gd name="T8" fmla="*/ 0 60000 65536"/>
                <a:gd name="T9" fmla="*/ 0 w 707"/>
                <a:gd name="T10" fmla="*/ 0 h 159"/>
                <a:gd name="T11" fmla="*/ 707 w 707"/>
                <a:gd name="T12" fmla="*/ 159 h 15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7" h="159">
                  <a:moveTo>
                    <a:pt x="707" y="0"/>
                  </a:moveTo>
                  <a:lnTo>
                    <a:pt x="0" y="3"/>
                  </a:lnTo>
                  <a:lnTo>
                    <a:pt x="0" y="15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528" name="Freeform 25"/>
            <p:cNvSpPr/>
            <p:nvPr/>
          </p:nvSpPr>
          <p:spPr bwMode="auto">
            <a:xfrm>
              <a:off x="1535" y="2237"/>
              <a:ext cx="1" cy="259"/>
            </a:xfrm>
            <a:custGeom>
              <a:avLst/>
              <a:gdLst>
                <a:gd name="T0" fmla="*/ 0 w 1"/>
                <a:gd name="T1" fmla="*/ 0 h 259"/>
                <a:gd name="T2" fmla="*/ 0 w 1"/>
                <a:gd name="T3" fmla="*/ 259 h 259"/>
                <a:gd name="T4" fmla="*/ 0 60000 65536"/>
                <a:gd name="T5" fmla="*/ 0 60000 65536"/>
                <a:gd name="T6" fmla="*/ 0 w 1"/>
                <a:gd name="T7" fmla="*/ 0 h 259"/>
                <a:gd name="T8" fmla="*/ 1 w 1"/>
                <a:gd name="T9" fmla="*/ 259 h 25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59">
                  <a:moveTo>
                    <a:pt x="0" y="0"/>
                  </a:moveTo>
                  <a:lnTo>
                    <a:pt x="0" y="25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529" name="Freeform 26"/>
            <p:cNvSpPr/>
            <p:nvPr/>
          </p:nvSpPr>
          <p:spPr bwMode="auto">
            <a:xfrm>
              <a:off x="1116" y="2454"/>
              <a:ext cx="3" cy="468"/>
            </a:xfrm>
            <a:custGeom>
              <a:avLst/>
              <a:gdLst>
                <a:gd name="T0" fmla="*/ 3 w 3"/>
                <a:gd name="T1" fmla="*/ 0 h 468"/>
                <a:gd name="T2" fmla="*/ 0 w 3"/>
                <a:gd name="T3" fmla="*/ 468 h 468"/>
                <a:gd name="T4" fmla="*/ 0 60000 65536"/>
                <a:gd name="T5" fmla="*/ 0 60000 65536"/>
                <a:gd name="T6" fmla="*/ 0 w 3"/>
                <a:gd name="T7" fmla="*/ 0 h 468"/>
                <a:gd name="T8" fmla="*/ 3 w 3"/>
                <a:gd name="T9" fmla="*/ 468 h 46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" h="468">
                  <a:moveTo>
                    <a:pt x="3" y="0"/>
                  </a:moveTo>
                  <a:lnTo>
                    <a:pt x="0" y="468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530" name="Line 27"/>
            <p:cNvSpPr>
              <a:spLocks noChangeShapeType="1"/>
            </p:cNvSpPr>
            <p:nvPr/>
          </p:nvSpPr>
          <p:spPr bwMode="auto">
            <a:xfrm>
              <a:off x="1536" y="2592"/>
              <a:ext cx="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531" name="Line 28"/>
            <p:cNvSpPr>
              <a:spLocks noChangeShapeType="1"/>
            </p:cNvSpPr>
            <p:nvPr/>
          </p:nvSpPr>
          <p:spPr bwMode="auto">
            <a:xfrm>
              <a:off x="1440" y="2736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532" name="Freeform 29"/>
            <p:cNvSpPr/>
            <p:nvPr/>
          </p:nvSpPr>
          <p:spPr bwMode="auto">
            <a:xfrm>
              <a:off x="771" y="2235"/>
              <a:ext cx="306" cy="162"/>
            </a:xfrm>
            <a:custGeom>
              <a:avLst/>
              <a:gdLst>
                <a:gd name="T0" fmla="*/ 306 w 306"/>
                <a:gd name="T1" fmla="*/ 162 h 162"/>
                <a:gd name="T2" fmla="*/ 306 w 306"/>
                <a:gd name="T3" fmla="*/ 0 h 162"/>
                <a:gd name="T4" fmla="*/ 0 w 306"/>
                <a:gd name="T5" fmla="*/ 0 h 162"/>
                <a:gd name="T6" fmla="*/ 0 60000 65536"/>
                <a:gd name="T7" fmla="*/ 0 60000 65536"/>
                <a:gd name="T8" fmla="*/ 0 60000 65536"/>
                <a:gd name="T9" fmla="*/ 0 w 306"/>
                <a:gd name="T10" fmla="*/ 0 h 162"/>
                <a:gd name="T11" fmla="*/ 306 w 306"/>
                <a:gd name="T12" fmla="*/ 162 h 16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6" h="162">
                  <a:moveTo>
                    <a:pt x="306" y="162"/>
                  </a:moveTo>
                  <a:lnTo>
                    <a:pt x="306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45533" name="Group 30"/>
            <p:cNvGrpSpPr/>
            <p:nvPr/>
          </p:nvGrpSpPr>
          <p:grpSpPr bwMode="auto">
            <a:xfrm>
              <a:off x="2600" y="1871"/>
              <a:ext cx="231" cy="49"/>
              <a:chOff x="2600" y="1871"/>
              <a:chExt cx="231" cy="49"/>
            </a:xfrm>
          </p:grpSpPr>
          <p:sp>
            <p:nvSpPr>
              <p:cNvPr id="145550" name="Freeform 31"/>
              <p:cNvSpPr/>
              <p:nvPr/>
            </p:nvSpPr>
            <p:spPr bwMode="auto">
              <a:xfrm rot="-5400000">
                <a:off x="2717" y="1860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  <a:gd name="T6" fmla="*/ 0 w 1"/>
                  <a:gd name="T7" fmla="*/ 0 h 120"/>
                  <a:gd name="T8" fmla="*/ 1 w 1"/>
                  <a:gd name="T9" fmla="*/ 120 h 1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5551" name="Freeform 32"/>
              <p:cNvSpPr/>
              <p:nvPr/>
            </p:nvSpPr>
            <p:spPr bwMode="auto">
              <a:xfrm rot="-5400000">
                <a:off x="2715" y="1756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  <a:gd name="T6" fmla="*/ 0 w 1"/>
                  <a:gd name="T7" fmla="*/ 0 h 231"/>
                  <a:gd name="T8" fmla="*/ 1 w 1"/>
                  <a:gd name="T9" fmla="*/ 231 h 23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45534" name="Freeform 33"/>
            <p:cNvSpPr/>
            <p:nvPr/>
          </p:nvSpPr>
          <p:spPr bwMode="auto">
            <a:xfrm>
              <a:off x="2457" y="1692"/>
              <a:ext cx="210" cy="183"/>
            </a:xfrm>
            <a:custGeom>
              <a:avLst/>
              <a:gdLst>
                <a:gd name="T0" fmla="*/ 0 w 210"/>
                <a:gd name="T1" fmla="*/ 0 h 183"/>
                <a:gd name="T2" fmla="*/ 210 w 210"/>
                <a:gd name="T3" fmla="*/ 0 h 183"/>
                <a:gd name="T4" fmla="*/ 210 w 210"/>
                <a:gd name="T5" fmla="*/ 183 h 183"/>
                <a:gd name="T6" fmla="*/ 0 60000 65536"/>
                <a:gd name="T7" fmla="*/ 0 60000 65536"/>
                <a:gd name="T8" fmla="*/ 0 60000 65536"/>
                <a:gd name="T9" fmla="*/ 0 w 210"/>
                <a:gd name="T10" fmla="*/ 0 h 183"/>
                <a:gd name="T11" fmla="*/ 210 w 210"/>
                <a:gd name="T12" fmla="*/ 183 h 18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0" h="183">
                  <a:moveTo>
                    <a:pt x="0" y="0"/>
                  </a:moveTo>
                  <a:lnTo>
                    <a:pt x="210" y="0"/>
                  </a:lnTo>
                  <a:lnTo>
                    <a:pt x="210" y="18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535" name="Freeform 34"/>
            <p:cNvSpPr/>
            <p:nvPr/>
          </p:nvSpPr>
          <p:spPr bwMode="auto">
            <a:xfrm>
              <a:off x="2769" y="1230"/>
              <a:ext cx="414" cy="639"/>
            </a:xfrm>
            <a:custGeom>
              <a:avLst/>
              <a:gdLst>
                <a:gd name="T0" fmla="*/ 0 w 414"/>
                <a:gd name="T1" fmla="*/ 639 h 639"/>
                <a:gd name="T2" fmla="*/ 0 w 414"/>
                <a:gd name="T3" fmla="*/ 465 h 639"/>
                <a:gd name="T4" fmla="*/ 414 w 414"/>
                <a:gd name="T5" fmla="*/ 465 h 639"/>
                <a:gd name="T6" fmla="*/ 414 w 414"/>
                <a:gd name="T7" fmla="*/ 0 h 63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14"/>
                <a:gd name="T13" fmla="*/ 0 h 639"/>
                <a:gd name="T14" fmla="*/ 414 w 414"/>
                <a:gd name="T15" fmla="*/ 639 h 63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14" h="639">
                  <a:moveTo>
                    <a:pt x="0" y="639"/>
                  </a:moveTo>
                  <a:lnTo>
                    <a:pt x="0" y="465"/>
                  </a:lnTo>
                  <a:lnTo>
                    <a:pt x="414" y="465"/>
                  </a:lnTo>
                  <a:lnTo>
                    <a:pt x="414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536" name="Freeform 35"/>
            <p:cNvSpPr/>
            <p:nvPr/>
          </p:nvSpPr>
          <p:spPr bwMode="auto">
            <a:xfrm>
              <a:off x="2721" y="1923"/>
              <a:ext cx="441" cy="186"/>
            </a:xfrm>
            <a:custGeom>
              <a:avLst/>
              <a:gdLst>
                <a:gd name="T0" fmla="*/ 0 w 441"/>
                <a:gd name="T1" fmla="*/ 0 h 186"/>
                <a:gd name="T2" fmla="*/ 0 w 441"/>
                <a:gd name="T3" fmla="*/ 186 h 186"/>
                <a:gd name="T4" fmla="*/ 441 w 441"/>
                <a:gd name="T5" fmla="*/ 186 h 186"/>
                <a:gd name="T6" fmla="*/ 0 60000 65536"/>
                <a:gd name="T7" fmla="*/ 0 60000 65536"/>
                <a:gd name="T8" fmla="*/ 0 60000 65536"/>
                <a:gd name="T9" fmla="*/ 0 w 441"/>
                <a:gd name="T10" fmla="*/ 0 h 186"/>
                <a:gd name="T11" fmla="*/ 441 w 441"/>
                <a:gd name="T12" fmla="*/ 186 h 18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1" h="186">
                  <a:moveTo>
                    <a:pt x="0" y="0"/>
                  </a:moveTo>
                  <a:lnTo>
                    <a:pt x="0" y="186"/>
                  </a:lnTo>
                  <a:lnTo>
                    <a:pt x="441" y="18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537" name="Text Box 36"/>
            <p:cNvSpPr txBox="1">
              <a:spLocks noChangeArrowheads="1"/>
            </p:cNvSpPr>
            <p:nvPr/>
          </p:nvSpPr>
          <p:spPr bwMode="auto">
            <a:xfrm>
              <a:off x="2487" y="2112"/>
              <a:ext cx="92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预充电信号</a:t>
              </a:r>
            </a:p>
          </p:txBody>
        </p:sp>
        <p:sp>
          <p:nvSpPr>
            <p:cNvPr id="145538" name="Text Box 37"/>
            <p:cNvSpPr txBox="1">
              <a:spLocks noChangeArrowheads="1"/>
            </p:cNvSpPr>
            <p:nvPr/>
          </p:nvSpPr>
          <p:spPr bwMode="auto">
            <a:xfrm>
              <a:off x="8" y="1440"/>
              <a:ext cx="760" cy="2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5000"/>
                </a:lnSpc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读选择线</a:t>
              </a:r>
            </a:p>
          </p:txBody>
        </p:sp>
        <p:sp>
          <p:nvSpPr>
            <p:cNvPr id="145539" name="Text Box 38"/>
            <p:cNvSpPr txBox="1">
              <a:spLocks noChangeArrowheads="1"/>
            </p:cNvSpPr>
            <p:nvPr/>
          </p:nvSpPr>
          <p:spPr bwMode="auto">
            <a:xfrm>
              <a:off x="432" y="3264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写数据线</a:t>
              </a:r>
            </a:p>
          </p:txBody>
        </p:sp>
        <p:sp>
          <p:nvSpPr>
            <p:cNvPr id="145540" name="Text Box 39"/>
            <p:cNvSpPr txBox="1">
              <a:spLocks noChangeArrowheads="1"/>
            </p:cNvSpPr>
            <p:nvPr/>
          </p:nvSpPr>
          <p:spPr bwMode="auto">
            <a:xfrm>
              <a:off x="8" y="2947"/>
              <a:ext cx="760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85000"/>
                </a:lnSpc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写选择线</a:t>
              </a:r>
            </a:p>
          </p:txBody>
        </p:sp>
        <p:sp>
          <p:nvSpPr>
            <p:cNvPr id="145541" name="Text Box 40"/>
            <p:cNvSpPr txBox="1">
              <a:spLocks noChangeArrowheads="1"/>
            </p:cNvSpPr>
            <p:nvPr/>
          </p:nvSpPr>
          <p:spPr bwMode="auto">
            <a:xfrm>
              <a:off x="1880" y="3264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读数据线</a:t>
              </a:r>
            </a:p>
          </p:txBody>
        </p:sp>
        <p:sp>
          <p:nvSpPr>
            <p:cNvPr id="145542" name="Text Box 41"/>
            <p:cNvSpPr txBox="1">
              <a:spLocks noChangeArrowheads="1"/>
            </p:cNvSpPr>
            <p:nvPr/>
          </p:nvSpPr>
          <p:spPr bwMode="auto">
            <a:xfrm>
              <a:off x="3155" y="1130"/>
              <a:ext cx="24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400" i="1">
                  <a:latin typeface="Times New Roman" panose="02020603050405020304" pitchFamily="18" charset="0"/>
                </a:rPr>
                <a:t>V</a:t>
              </a:r>
            </a:p>
          </p:txBody>
        </p:sp>
        <p:sp>
          <p:nvSpPr>
            <p:cNvPr id="145543" name="Text Box 42"/>
            <p:cNvSpPr txBox="1">
              <a:spLocks noChangeArrowheads="1"/>
            </p:cNvSpPr>
            <p:nvPr/>
          </p:nvSpPr>
          <p:spPr bwMode="auto">
            <a:xfrm>
              <a:off x="1167" y="2447"/>
              <a:ext cx="22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</a:t>
              </a:r>
            </a:p>
          </p:txBody>
        </p:sp>
        <p:sp>
          <p:nvSpPr>
            <p:cNvPr id="145544" name="Text Box 43"/>
            <p:cNvSpPr txBox="1">
              <a:spLocks noChangeArrowheads="1"/>
            </p:cNvSpPr>
            <p:nvPr/>
          </p:nvSpPr>
          <p:spPr bwMode="auto">
            <a:xfrm>
              <a:off x="1283" y="2516"/>
              <a:ext cx="18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g</a:t>
              </a:r>
            </a:p>
          </p:txBody>
        </p:sp>
        <p:sp>
          <p:nvSpPr>
            <p:cNvPr id="145545" name="Text Box 44"/>
            <p:cNvSpPr txBox="1">
              <a:spLocks noChangeArrowheads="1"/>
            </p:cNvSpPr>
            <p:nvPr/>
          </p:nvSpPr>
          <p:spPr bwMode="auto">
            <a:xfrm>
              <a:off x="2816" y="1807"/>
              <a:ext cx="27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4</a:t>
              </a:r>
            </a:p>
          </p:txBody>
        </p:sp>
        <p:sp>
          <p:nvSpPr>
            <p:cNvPr id="145546" name="Text Box 45"/>
            <p:cNvSpPr txBox="1">
              <a:spLocks noChangeArrowheads="1"/>
            </p:cNvSpPr>
            <p:nvPr/>
          </p:nvSpPr>
          <p:spPr bwMode="auto">
            <a:xfrm>
              <a:off x="2990" y="1835"/>
              <a:ext cx="11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45547" name="Text Box 46"/>
            <p:cNvSpPr txBox="1">
              <a:spLocks noChangeArrowheads="1"/>
            </p:cNvSpPr>
            <p:nvPr/>
          </p:nvSpPr>
          <p:spPr bwMode="auto">
            <a:xfrm>
              <a:off x="829" y="2306"/>
              <a:ext cx="27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145548" name="Text Box 47"/>
            <p:cNvSpPr txBox="1">
              <a:spLocks noChangeArrowheads="1"/>
            </p:cNvSpPr>
            <p:nvPr/>
          </p:nvSpPr>
          <p:spPr bwMode="auto">
            <a:xfrm>
              <a:off x="1632" y="1478"/>
              <a:ext cx="27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145549" name="Text Box 48"/>
            <p:cNvSpPr txBox="1">
              <a:spLocks noChangeArrowheads="1"/>
            </p:cNvSpPr>
            <p:nvPr/>
          </p:nvSpPr>
          <p:spPr bwMode="auto">
            <a:xfrm>
              <a:off x="1632" y="1968"/>
              <a:ext cx="27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latin typeface="Times New Roman" panose="02020603050405020304" pitchFamily="18" charset="0"/>
                </a:rPr>
                <a:t>1</a:t>
              </a:r>
            </a:p>
          </p:txBody>
        </p:sp>
      </p:grpSp>
      <p:grpSp>
        <p:nvGrpSpPr>
          <p:cNvPr id="7" name="Group 49"/>
          <p:cNvGrpSpPr/>
          <p:nvPr/>
        </p:nvGrpSpPr>
        <p:grpSpPr bwMode="auto">
          <a:xfrm>
            <a:off x="3886200" y="2667000"/>
            <a:ext cx="685800" cy="2532063"/>
            <a:chOff x="2448" y="1680"/>
            <a:chExt cx="432" cy="1595"/>
          </a:xfrm>
        </p:grpSpPr>
        <p:sp>
          <p:nvSpPr>
            <p:cNvPr id="145508" name="Freeform 50"/>
            <p:cNvSpPr/>
            <p:nvPr/>
          </p:nvSpPr>
          <p:spPr bwMode="auto">
            <a:xfrm>
              <a:off x="2448" y="1680"/>
              <a:ext cx="1" cy="1595"/>
            </a:xfrm>
            <a:custGeom>
              <a:avLst/>
              <a:gdLst>
                <a:gd name="T0" fmla="*/ 0 w 1"/>
                <a:gd name="T1" fmla="*/ 0 h 1595"/>
                <a:gd name="T2" fmla="*/ 0 w 1"/>
                <a:gd name="T3" fmla="*/ 1595 h 1595"/>
                <a:gd name="T4" fmla="*/ 0 60000 65536"/>
                <a:gd name="T5" fmla="*/ 0 60000 65536"/>
                <a:gd name="T6" fmla="*/ 0 w 1"/>
                <a:gd name="T7" fmla="*/ 0 h 1595"/>
                <a:gd name="T8" fmla="*/ 1 w 1"/>
                <a:gd name="T9" fmla="*/ 1595 h 159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95">
                  <a:moveTo>
                    <a:pt x="0" y="0"/>
                  </a:moveTo>
                  <a:lnTo>
                    <a:pt x="0" y="1595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45509" name="Group 51"/>
            <p:cNvGrpSpPr/>
            <p:nvPr/>
          </p:nvGrpSpPr>
          <p:grpSpPr bwMode="auto">
            <a:xfrm>
              <a:off x="2544" y="2371"/>
              <a:ext cx="336" cy="365"/>
              <a:chOff x="1680" y="2371"/>
              <a:chExt cx="336" cy="365"/>
            </a:xfrm>
          </p:grpSpPr>
          <p:sp>
            <p:nvSpPr>
              <p:cNvPr id="145510" name="Rectangle 52"/>
              <p:cNvSpPr>
                <a:spLocks noChangeArrowheads="1"/>
              </p:cNvSpPr>
              <p:nvPr/>
            </p:nvSpPr>
            <p:spPr bwMode="auto">
              <a:xfrm>
                <a:off x="1680" y="2400"/>
                <a:ext cx="336" cy="33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5511" name="Text Box 53"/>
              <p:cNvSpPr txBox="1">
                <a:spLocks noChangeArrowheads="1"/>
              </p:cNvSpPr>
              <p:nvPr/>
            </p:nvSpPr>
            <p:spPr bwMode="auto">
              <a:xfrm>
                <a:off x="1728" y="2371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</a:t>
                </a:r>
              </a:p>
            </p:txBody>
          </p:sp>
        </p:grpSp>
      </p:grpSp>
      <p:sp>
        <p:nvSpPr>
          <p:cNvPr id="233526" name="Text Box 54"/>
          <p:cNvSpPr txBox="1">
            <a:spLocks noChangeArrowheads="1"/>
          </p:cNvSpPr>
          <p:nvPr/>
        </p:nvSpPr>
        <p:spPr bwMode="auto">
          <a:xfrm>
            <a:off x="1066800" y="1143000"/>
            <a:ext cx="5410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(1)  动态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200">
                <a:latin typeface="Times New Roman" panose="02020603050405020304" pitchFamily="18" charset="0"/>
              </a:rPr>
              <a:t>基本单元电路</a:t>
            </a:r>
          </a:p>
        </p:txBody>
      </p:sp>
      <p:sp>
        <p:nvSpPr>
          <p:cNvPr id="145413" name="Text Box 55"/>
          <p:cNvSpPr txBox="1">
            <a:spLocks noChangeArrowheads="1"/>
          </p:cNvSpPr>
          <p:nvPr/>
        </p:nvSpPr>
        <p:spPr bwMode="auto">
          <a:xfrm>
            <a:off x="457200" y="457200"/>
            <a:ext cx="44211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2. 动态 </a:t>
            </a:r>
            <a:r>
              <a:rPr lang="en-US" altLang="zh-CN" sz="3200">
                <a:latin typeface="Times New Roman" panose="02020603050405020304" pitchFamily="18" charset="0"/>
              </a:rPr>
              <a:t>RAM ( DRAM )</a:t>
            </a:r>
          </a:p>
        </p:txBody>
      </p:sp>
      <p:sp>
        <p:nvSpPr>
          <p:cNvPr id="233528" name="Text Box 56"/>
          <p:cNvSpPr txBox="1">
            <a:spLocks noChangeArrowheads="1"/>
          </p:cNvSpPr>
          <p:nvPr/>
        </p:nvSpPr>
        <p:spPr bwMode="auto">
          <a:xfrm>
            <a:off x="533400" y="5619750"/>
            <a:ext cx="3657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读出与原存信息相反</a:t>
            </a:r>
          </a:p>
        </p:txBody>
      </p:sp>
      <p:sp>
        <p:nvSpPr>
          <p:cNvPr id="233529" name="Text Box 57"/>
          <p:cNvSpPr txBox="1">
            <a:spLocks noChangeArrowheads="1"/>
          </p:cNvSpPr>
          <p:nvPr/>
        </p:nvSpPr>
        <p:spPr bwMode="auto">
          <a:xfrm>
            <a:off x="4267200" y="5619750"/>
            <a:ext cx="4876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读出时数据线有电流 为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“1”</a:t>
            </a:r>
          </a:p>
        </p:txBody>
      </p:sp>
      <p:grpSp>
        <p:nvGrpSpPr>
          <p:cNvPr id="9" name="Group 58"/>
          <p:cNvGrpSpPr/>
          <p:nvPr/>
        </p:nvGrpSpPr>
        <p:grpSpPr bwMode="auto">
          <a:xfrm>
            <a:off x="5445125" y="1978025"/>
            <a:ext cx="3013075" cy="2987675"/>
            <a:chOff x="3430" y="1246"/>
            <a:chExt cx="1898" cy="1882"/>
          </a:xfrm>
        </p:grpSpPr>
        <p:sp>
          <p:nvSpPr>
            <p:cNvPr id="145491" name="Line 59"/>
            <p:cNvSpPr>
              <a:spLocks noChangeShapeType="1"/>
            </p:cNvSpPr>
            <p:nvPr/>
          </p:nvSpPr>
          <p:spPr bwMode="auto">
            <a:xfrm>
              <a:off x="3744" y="1536"/>
              <a:ext cx="158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492" name="Line 60"/>
            <p:cNvSpPr>
              <a:spLocks noChangeShapeType="1"/>
            </p:cNvSpPr>
            <p:nvPr/>
          </p:nvSpPr>
          <p:spPr bwMode="auto">
            <a:xfrm>
              <a:off x="3936" y="1248"/>
              <a:ext cx="0" cy="177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493" name="Freeform 61"/>
            <p:cNvSpPr/>
            <p:nvPr/>
          </p:nvSpPr>
          <p:spPr bwMode="auto">
            <a:xfrm>
              <a:off x="4449" y="1536"/>
              <a:ext cx="351" cy="540"/>
            </a:xfrm>
            <a:custGeom>
              <a:avLst/>
              <a:gdLst>
                <a:gd name="T0" fmla="*/ 351 w 351"/>
                <a:gd name="T1" fmla="*/ 0 h 540"/>
                <a:gd name="T2" fmla="*/ 351 w 351"/>
                <a:gd name="T3" fmla="*/ 540 h 540"/>
                <a:gd name="T4" fmla="*/ 0 w 351"/>
                <a:gd name="T5" fmla="*/ 540 h 540"/>
                <a:gd name="T6" fmla="*/ 0 60000 65536"/>
                <a:gd name="T7" fmla="*/ 0 60000 65536"/>
                <a:gd name="T8" fmla="*/ 0 60000 65536"/>
                <a:gd name="T9" fmla="*/ 0 w 351"/>
                <a:gd name="T10" fmla="*/ 0 h 540"/>
                <a:gd name="T11" fmla="*/ 351 w 351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51" h="540">
                  <a:moveTo>
                    <a:pt x="351" y="0"/>
                  </a:moveTo>
                  <a:lnTo>
                    <a:pt x="351" y="540"/>
                  </a:lnTo>
                  <a:lnTo>
                    <a:pt x="0" y="54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45494" name="Group 62"/>
            <p:cNvGrpSpPr/>
            <p:nvPr/>
          </p:nvGrpSpPr>
          <p:grpSpPr bwMode="auto">
            <a:xfrm>
              <a:off x="4397" y="2004"/>
              <a:ext cx="49" cy="231"/>
              <a:chOff x="1586" y="1334"/>
              <a:chExt cx="49" cy="231"/>
            </a:xfrm>
          </p:grpSpPr>
          <p:sp>
            <p:nvSpPr>
              <p:cNvPr id="145506" name="Freeform 63"/>
              <p:cNvSpPr/>
              <p:nvPr/>
            </p:nvSpPr>
            <p:spPr bwMode="auto">
              <a:xfrm>
                <a:off x="1586" y="1392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  <a:gd name="T6" fmla="*/ 0 w 1"/>
                  <a:gd name="T7" fmla="*/ 0 h 120"/>
                  <a:gd name="T8" fmla="*/ 1 w 1"/>
                  <a:gd name="T9" fmla="*/ 120 h 1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5507" name="Freeform 64"/>
              <p:cNvSpPr/>
              <p:nvPr/>
            </p:nvSpPr>
            <p:spPr bwMode="auto">
              <a:xfrm>
                <a:off x="1634" y="1334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  <a:gd name="T6" fmla="*/ 0 w 1"/>
                  <a:gd name="T7" fmla="*/ 0 h 231"/>
                  <a:gd name="T8" fmla="*/ 1 w 1"/>
                  <a:gd name="T9" fmla="*/ 231 h 23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45495" name="Freeform 65"/>
            <p:cNvSpPr/>
            <p:nvPr/>
          </p:nvSpPr>
          <p:spPr bwMode="auto">
            <a:xfrm rot="10800000">
              <a:off x="3936" y="2112"/>
              <a:ext cx="465" cy="1"/>
            </a:xfrm>
            <a:custGeom>
              <a:avLst/>
              <a:gdLst>
                <a:gd name="T0" fmla="*/ 465 w 465"/>
                <a:gd name="T1" fmla="*/ 0 h 1"/>
                <a:gd name="T2" fmla="*/ 0 w 465"/>
                <a:gd name="T3" fmla="*/ 0 h 1"/>
                <a:gd name="T4" fmla="*/ 0 60000 65536"/>
                <a:gd name="T5" fmla="*/ 0 60000 65536"/>
                <a:gd name="T6" fmla="*/ 0 w 465"/>
                <a:gd name="T7" fmla="*/ 0 h 1"/>
                <a:gd name="T8" fmla="*/ 465 w 46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65" h="1">
                  <a:moveTo>
                    <a:pt x="465" y="0"/>
                  </a:move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496" name="Freeform 66"/>
            <p:cNvSpPr/>
            <p:nvPr/>
          </p:nvSpPr>
          <p:spPr bwMode="auto">
            <a:xfrm>
              <a:off x="4455" y="2163"/>
              <a:ext cx="342" cy="330"/>
            </a:xfrm>
            <a:custGeom>
              <a:avLst/>
              <a:gdLst>
                <a:gd name="T0" fmla="*/ 0 w 342"/>
                <a:gd name="T1" fmla="*/ 0 h 330"/>
                <a:gd name="T2" fmla="*/ 342 w 342"/>
                <a:gd name="T3" fmla="*/ 0 h 330"/>
                <a:gd name="T4" fmla="*/ 342 w 342"/>
                <a:gd name="T5" fmla="*/ 330 h 330"/>
                <a:gd name="T6" fmla="*/ 0 60000 65536"/>
                <a:gd name="T7" fmla="*/ 0 60000 65536"/>
                <a:gd name="T8" fmla="*/ 0 60000 65536"/>
                <a:gd name="T9" fmla="*/ 0 w 342"/>
                <a:gd name="T10" fmla="*/ 0 h 330"/>
                <a:gd name="T11" fmla="*/ 342 w 342"/>
                <a:gd name="T12" fmla="*/ 330 h 33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42" h="330">
                  <a:moveTo>
                    <a:pt x="0" y="0"/>
                  </a:moveTo>
                  <a:lnTo>
                    <a:pt x="342" y="0"/>
                  </a:lnTo>
                  <a:lnTo>
                    <a:pt x="342" y="33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497" name="Freeform 67"/>
            <p:cNvSpPr/>
            <p:nvPr/>
          </p:nvSpPr>
          <p:spPr bwMode="auto">
            <a:xfrm>
              <a:off x="4656" y="2496"/>
              <a:ext cx="282" cy="1"/>
            </a:xfrm>
            <a:custGeom>
              <a:avLst/>
              <a:gdLst>
                <a:gd name="T0" fmla="*/ 0 w 282"/>
                <a:gd name="T1" fmla="*/ 0 h 1"/>
                <a:gd name="T2" fmla="*/ 282 w 282"/>
                <a:gd name="T3" fmla="*/ 0 h 1"/>
                <a:gd name="T4" fmla="*/ 0 60000 65536"/>
                <a:gd name="T5" fmla="*/ 0 60000 65536"/>
                <a:gd name="T6" fmla="*/ 0 w 282"/>
                <a:gd name="T7" fmla="*/ 0 h 1"/>
                <a:gd name="T8" fmla="*/ 282 w 28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82" h="1">
                  <a:moveTo>
                    <a:pt x="0" y="0"/>
                  </a:moveTo>
                  <a:lnTo>
                    <a:pt x="282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498" name="Freeform 68"/>
            <p:cNvSpPr/>
            <p:nvPr/>
          </p:nvSpPr>
          <p:spPr bwMode="auto">
            <a:xfrm>
              <a:off x="4656" y="2591"/>
              <a:ext cx="282" cy="1"/>
            </a:xfrm>
            <a:custGeom>
              <a:avLst/>
              <a:gdLst>
                <a:gd name="T0" fmla="*/ 0 w 282"/>
                <a:gd name="T1" fmla="*/ 0 h 1"/>
                <a:gd name="T2" fmla="*/ 282 w 282"/>
                <a:gd name="T3" fmla="*/ 0 h 1"/>
                <a:gd name="T4" fmla="*/ 0 60000 65536"/>
                <a:gd name="T5" fmla="*/ 0 60000 65536"/>
                <a:gd name="T6" fmla="*/ 0 w 282"/>
                <a:gd name="T7" fmla="*/ 0 h 1"/>
                <a:gd name="T8" fmla="*/ 282 w 28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82" h="1">
                  <a:moveTo>
                    <a:pt x="0" y="0"/>
                  </a:moveTo>
                  <a:lnTo>
                    <a:pt x="282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499" name="Line 69"/>
            <p:cNvSpPr>
              <a:spLocks noChangeShapeType="1"/>
            </p:cNvSpPr>
            <p:nvPr/>
          </p:nvSpPr>
          <p:spPr bwMode="auto">
            <a:xfrm>
              <a:off x="4800" y="2592"/>
              <a:ext cx="0" cy="33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500" name="Line 70"/>
            <p:cNvSpPr>
              <a:spLocks noChangeShapeType="1"/>
            </p:cNvSpPr>
            <p:nvPr/>
          </p:nvSpPr>
          <p:spPr bwMode="auto">
            <a:xfrm>
              <a:off x="4704" y="2928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501" name="Text Box 71"/>
            <p:cNvSpPr txBox="1">
              <a:spLocks noChangeArrowheads="1"/>
            </p:cNvSpPr>
            <p:nvPr/>
          </p:nvSpPr>
          <p:spPr bwMode="auto">
            <a:xfrm>
              <a:off x="4596" y="1246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数据线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145502" name="Text Box 72"/>
            <p:cNvSpPr txBox="1">
              <a:spLocks noChangeArrowheads="1"/>
            </p:cNvSpPr>
            <p:nvPr/>
          </p:nvSpPr>
          <p:spPr bwMode="auto">
            <a:xfrm>
              <a:off x="5007" y="2431"/>
              <a:ext cx="22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</a:t>
              </a:r>
            </a:p>
          </p:txBody>
        </p:sp>
        <p:sp>
          <p:nvSpPr>
            <p:cNvPr id="145503" name="Text Box 73"/>
            <p:cNvSpPr txBox="1">
              <a:spLocks noChangeArrowheads="1"/>
            </p:cNvSpPr>
            <p:nvPr/>
          </p:nvSpPr>
          <p:spPr bwMode="auto">
            <a:xfrm>
              <a:off x="5124" y="2470"/>
              <a:ext cx="17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145504" name="Text Box 74"/>
            <p:cNvSpPr txBox="1">
              <a:spLocks noChangeArrowheads="1"/>
            </p:cNvSpPr>
            <p:nvPr/>
          </p:nvSpPr>
          <p:spPr bwMode="auto">
            <a:xfrm>
              <a:off x="4208" y="1785"/>
              <a:ext cx="22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T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45505" name="Text Box 75"/>
            <p:cNvSpPr txBox="1">
              <a:spLocks noChangeArrowheads="1"/>
            </p:cNvSpPr>
            <p:nvPr/>
          </p:nvSpPr>
          <p:spPr bwMode="auto">
            <a:xfrm>
              <a:off x="3430" y="2878"/>
              <a:ext cx="43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字线</a:t>
              </a:r>
            </a:p>
          </p:txBody>
        </p:sp>
      </p:grpSp>
      <p:grpSp>
        <p:nvGrpSpPr>
          <p:cNvPr id="11" name="Group 76"/>
          <p:cNvGrpSpPr/>
          <p:nvPr/>
        </p:nvGrpSpPr>
        <p:grpSpPr bwMode="auto">
          <a:xfrm rot="-5400000">
            <a:off x="4273550" y="2827338"/>
            <a:ext cx="77788" cy="366712"/>
            <a:chOff x="1586" y="1334"/>
            <a:chExt cx="49" cy="231"/>
          </a:xfrm>
        </p:grpSpPr>
        <p:sp>
          <p:nvSpPr>
            <p:cNvPr id="145489" name="Freeform 77"/>
            <p:cNvSpPr/>
            <p:nvPr/>
          </p:nvSpPr>
          <p:spPr bwMode="auto">
            <a:xfrm>
              <a:off x="1586" y="1392"/>
              <a:ext cx="1" cy="120"/>
            </a:xfrm>
            <a:custGeom>
              <a:avLst/>
              <a:gdLst>
                <a:gd name="T0" fmla="*/ 0 w 1"/>
                <a:gd name="T1" fmla="*/ 0 h 120"/>
                <a:gd name="T2" fmla="*/ 0 w 1"/>
                <a:gd name="T3" fmla="*/ 120 h 120"/>
                <a:gd name="T4" fmla="*/ 0 60000 65536"/>
                <a:gd name="T5" fmla="*/ 0 60000 65536"/>
                <a:gd name="T6" fmla="*/ 0 w 1"/>
                <a:gd name="T7" fmla="*/ 0 h 120"/>
                <a:gd name="T8" fmla="*/ 1 w 1"/>
                <a:gd name="T9" fmla="*/ 120 h 12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20">
                  <a:moveTo>
                    <a:pt x="0" y="0"/>
                  </a:moveTo>
                  <a:lnTo>
                    <a:pt x="0" y="120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490" name="Freeform 78"/>
            <p:cNvSpPr/>
            <p:nvPr/>
          </p:nvSpPr>
          <p:spPr bwMode="auto">
            <a:xfrm>
              <a:off x="1634" y="1334"/>
              <a:ext cx="1" cy="231"/>
            </a:xfrm>
            <a:custGeom>
              <a:avLst/>
              <a:gdLst>
                <a:gd name="T0" fmla="*/ 0 w 1"/>
                <a:gd name="T1" fmla="*/ 0 h 231"/>
                <a:gd name="T2" fmla="*/ 0 w 1"/>
                <a:gd name="T3" fmla="*/ 231 h 231"/>
                <a:gd name="T4" fmla="*/ 0 60000 65536"/>
                <a:gd name="T5" fmla="*/ 0 60000 65536"/>
                <a:gd name="T6" fmla="*/ 0 w 1"/>
                <a:gd name="T7" fmla="*/ 0 h 231"/>
                <a:gd name="T8" fmla="*/ 1 w 1"/>
                <a:gd name="T9" fmla="*/ 231 h 23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31">
                  <a:moveTo>
                    <a:pt x="0" y="0"/>
                  </a:moveTo>
                  <a:lnTo>
                    <a:pt x="0" y="231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33551" name="Freeform 79"/>
          <p:cNvSpPr/>
          <p:nvPr/>
        </p:nvSpPr>
        <p:spPr bwMode="auto">
          <a:xfrm>
            <a:off x="4319588" y="3052763"/>
            <a:ext cx="700087" cy="295275"/>
          </a:xfrm>
          <a:custGeom>
            <a:avLst/>
            <a:gdLst>
              <a:gd name="T0" fmla="*/ 0 w 441"/>
              <a:gd name="T1" fmla="*/ 0 h 186"/>
              <a:gd name="T2" fmla="*/ 0 w 441"/>
              <a:gd name="T3" fmla="*/ 2147483647 h 186"/>
              <a:gd name="T4" fmla="*/ 2147483647 w 441"/>
              <a:gd name="T5" fmla="*/ 2147483647 h 186"/>
              <a:gd name="T6" fmla="*/ 0 60000 65536"/>
              <a:gd name="T7" fmla="*/ 0 60000 65536"/>
              <a:gd name="T8" fmla="*/ 0 60000 65536"/>
              <a:gd name="T9" fmla="*/ 0 w 441"/>
              <a:gd name="T10" fmla="*/ 0 h 186"/>
              <a:gd name="T11" fmla="*/ 441 w 441"/>
              <a:gd name="T12" fmla="*/ 186 h 18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41" h="186">
                <a:moveTo>
                  <a:pt x="0" y="0"/>
                </a:moveTo>
                <a:lnTo>
                  <a:pt x="0" y="186"/>
                </a:lnTo>
                <a:lnTo>
                  <a:pt x="441" y="186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2" name="Group 80"/>
          <p:cNvGrpSpPr/>
          <p:nvPr/>
        </p:nvGrpSpPr>
        <p:grpSpPr bwMode="auto">
          <a:xfrm>
            <a:off x="4395788" y="1787525"/>
            <a:ext cx="1274762" cy="1173163"/>
            <a:chOff x="2769" y="1133"/>
            <a:chExt cx="803" cy="739"/>
          </a:xfrm>
        </p:grpSpPr>
        <p:sp>
          <p:nvSpPr>
            <p:cNvPr id="145486" name="Text Box 81"/>
            <p:cNvSpPr txBox="1">
              <a:spLocks noChangeArrowheads="1"/>
            </p:cNvSpPr>
            <p:nvPr/>
          </p:nvSpPr>
          <p:spPr bwMode="auto">
            <a:xfrm>
              <a:off x="3328" y="1242"/>
              <a:ext cx="244" cy="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600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DD</a:t>
              </a:r>
            </a:p>
          </p:txBody>
        </p:sp>
        <p:sp>
          <p:nvSpPr>
            <p:cNvPr id="145487" name="Freeform 82"/>
            <p:cNvSpPr/>
            <p:nvPr/>
          </p:nvSpPr>
          <p:spPr bwMode="auto">
            <a:xfrm>
              <a:off x="2769" y="1224"/>
              <a:ext cx="402" cy="648"/>
            </a:xfrm>
            <a:custGeom>
              <a:avLst/>
              <a:gdLst>
                <a:gd name="T0" fmla="*/ 0 w 402"/>
                <a:gd name="T1" fmla="*/ 648 h 648"/>
                <a:gd name="T2" fmla="*/ 0 w 402"/>
                <a:gd name="T3" fmla="*/ 465 h 648"/>
                <a:gd name="T4" fmla="*/ 402 w 402"/>
                <a:gd name="T5" fmla="*/ 465 h 648"/>
                <a:gd name="T6" fmla="*/ 402 w 402"/>
                <a:gd name="T7" fmla="*/ 0 h 64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2"/>
                <a:gd name="T13" fmla="*/ 0 h 648"/>
                <a:gd name="T14" fmla="*/ 402 w 402"/>
                <a:gd name="T15" fmla="*/ 648 h 64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2" h="648">
                  <a:moveTo>
                    <a:pt x="0" y="648"/>
                  </a:moveTo>
                  <a:lnTo>
                    <a:pt x="0" y="465"/>
                  </a:lnTo>
                  <a:lnTo>
                    <a:pt x="402" y="465"/>
                  </a:lnTo>
                  <a:lnTo>
                    <a:pt x="402" y="0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488" name="Text Box 83"/>
            <p:cNvSpPr txBox="1">
              <a:spLocks noChangeArrowheads="1"/>
            </p:cNvSpPr>
            <p:nvPr/>
          </p:nvSpPr>
          <p:spPr bwMode="auto">
            <a:xfrm>
              <a:off x="3155" y="1133"/>
              <a:ext cx="24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400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V</a:t>
              </a:r>
            </a:p>
          </p:txBody>
        </p:sp>
      </p:grpSp>
      <p:sp>
        <p:nvSpPr>
          <p:cNvPr id="233556" name="Freeform 84"/>
          <p:cNvSpPr/>
          <p:nvPr/>
        </p:nvSpPr>
        <p:spPr bwMode="auto">
          <a:xfrm>
            <a:off x="3900488" y="2686050"/>
            <a:ext cx="333375" cy="290513"/>
          </a:xfrm>
          <a:custGeom>
            <a:avLst/>
            <a:gdLst>
              <a:gd name="T0" fmla="*/ 0 w 210"/>
              <a:gd name="T1" fmla="*/ 0 h 183"/>
              <a:gd name="T2" fmla="*/ 2147483647 w 210"/>
              <a:gd name="T3" fmla="*/ 0 h 183"/>
              <a:gd name="T4" fmla="*/ 2147483647 w 210"/>
              <a:gd name="T5" fmla="*/ 2147483647 h 183"/>
              <a:gd name="T6" fmla="*/ 0 60000 65536"/>
              <a:gd name="T7" fmla="*/ 0 60000 65536"/>
              <a:gd name="T8" fmla="*/ 0 60000 65536"/>
              <a:gd name="T9" fmla="*/ 0 w 210"/>
              <a:gd name="T10" fmla="*/ 0 h 183"/>
              <a:gd name="T11" fmla="*/ 210 w 210"/>
              <a:gd name="T12" fmla="*/ 183 h 18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0" h="183">
                <a:moveTo>
                  <a:pt x="0" y="0"/>
                </a:moveTo>
                <a:lnTo>
                  <a:pt x="210" y="0"/>
                </a:lnTo>
                <a:lnTo>
                  <a:pt x="210" y="183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33557" name="Line 85"/>
          <p:cNvSpPr>
            <a:spLocks noChangeShapeType="1"/>
          </p:cNvSpPr>
          <p:nvPr/>
        </p:nvSpPr>
        <p:spPr bwMode="auto">
          <a:xfrm>
            <a:off x="609600" y="2286000"/>
            <a:ext cx="1905000" cy="0"/>
          </a:xfrm>
          <a:prstGeom prst="line">
            <a:avLst/>
          </a:prstGeom>
          <a:noFill/>
          <a:ln w="76200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3" name="Group 86"/>
          <p:cNvGrpSpPr/>
          <p:nvPr/>
        </p:nvGrpSpPr>
        <p:grpSpPr bwMode="auto">
          <a:xfrm>
            <a:off x="2971800" y="2590800"/>
            <a:ext cx="77788" cy="366713"/>
            <a:chOff x="1586" y="1334"/>
            <a:chExt cx="49" cy="231"/>
          </a:xfrm>
        </p:grpSpPr>
        <p:sp>
          <p:nvSpPr>
            <p:cNvPr id="145484" name="Freeform 87"/>
            <p:cNvSpPr/>
            <p:nvPr/>
          </p:nvSpPr>
          <p:spPr bwMode="auto">
            <a:xfrm>
              <a:off x="1586" y="1392"/>
              <a:ext cx="1" cy="120"/>
            </a:xfrm>
            <a:custGeom>
              <a:avLst/>
              <a:gdLst>
                <a:gd name="T0" fmla="*/ 0 w 1"/>
                <a:gd name="T1" fmla="*/ 0 h 120"/>
                <a:gd name="T2" fmla="*/ 0 w 1"/>
                <a:gd name="T3" fmla="*/ 120 h 120"/>
                <a:gd name="T4" fmla="*/ 0 60000 65536"/>
                <a:gd name="T5" fmla="*/ 0 60000 65536"/>
                <a:gd name="T6" fmla="*/ 0 w 1"/>
                <a:gd name="T7" fmla="*/ 0 h 120"/>
                <a:gd name="T8" fmla="*/ 1 w 1"/>
                <a:gd name="T9" fmla="*/ 120 h 12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20">
                  <a:moveTo>
                    <a:pt x="0" y="0"/>
                  </a:moveTo>
                  <a:lnTo>
                    <a:pt x="0" y="120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485" name="Freeform 88"/>
            <p:cNvSpPr/>
            <p:nvPr/>
          </p:nvSpPr>
          <p:spPr bwMode="auto">
            <a:xfrm>
              <a:off x="1634" y="1334"/>
              <a:ext cx="1" cy="231"/>
            </a:xfrm>
            <a:custGeom>
              <a:avLst/>
              <a:gdLst>
                <a:gd name="T0" fmla="*/ 0 w 1"/>
                <a:gd name="T1" fmla="*/ 0 h 231"/>
                <a:gd name="T2" fmla="*/ 0 w 1"/>
                <a:gd name="T3" fmla="*/ 231 h 231"/>
                <a:gd name="T4" fmla="*/ 0 60000 65536"/>
                <a:gd name="T5" fmla="*/ 0 60000 65536"/>
                <a:gd name="T6" fmla="*/ 0 w 1"/>
                <a:gd name="T7" fmla="*/ 0 h 231"/>
                <a:gd name="T8" fmla="*/ 1 w 1"/>
                <a:gd name="T9" fmla="*/ 231 h 23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31">
                  <a:moveTo>
                    <a:pt x="0" y="0"/>
                  </a:moveTo>
                  <a:lnTo>
                    <a:pt x="0" y="231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33561" name="Freeform 89"/>
          <p:cNvSpPr/>
          <p:nvPr/>
        </p:nvSpPr>
        <p:spPr bwMode="auto">
          <a:xfrm>
            <a:off x="3048000" y="2681288"/>
            <a:ext cx="857250" cy="1587"/>
          </a:xfrm>
          <a:custGeom>
            <a:avLst/>
            <a:gdLst>
              <a:gd name="T0" fmla="*/ 0 w 540"/>
              <a:gd name="T1" fmla="*/ 0 h 1"/>
              <a:gd name="T2" fmla="*/ 2147483647 w 540"/>
              <a:gd name="T3" fmla="*/ 0 h 1"/>
              <a:gd name="T4" fmla="*/ 0 60000 65536"/>
              <a:gd name="T5" fmla="*/ 0 60000 65536"/>
              <a:gd name="T6" fmla="*/ 0 w 540"/>
              <a:gd name="T7" fmla="*/ 0 h 1"/>
              <a:gd name="T8" fmla="*/ 540 w 540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40" h="1">
                <a:moveTo>
                  <a:pt x="0" y="0"/>
                </a:moveTo>
                <a:lnTo>
                  <a:pt x="540" y="0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  <a:headEnd type="none" w="med" len="med"/>
            <a:tail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4" name="Group 90"/>
          <p:cNvGrpSpPr/>
          <p:nvPr/>
        </p:nvGrpSpPr>
        <p:grpSpPr bwMode="auto">
          <a:xfrm>
            <a:off x="2971800" y="3367088"/>
            <a:ext cx="77788" cy="366712"/>
            <a:chOff x="1586" y="1334"/>
            <a:chExt cx="49" cy="231"/>
          </a:xfrm>
        </p:grpSpPr>
        <p:sp>
          <p:nvSpPr>
            <p:cNvPr id="145482" name="Freeform 91"/>
            <p:cNvSpPr/>
            <p:nvPr/>
          </p:nvSpPr>
          <p:spPr bwMode="auto">
            <a:xfrm>
              <a:off x="1586" y="1392"/>
              <a:ext cx="1" cy="120"/>
            </a:xfrm>
            <a:custGeom>
              <a:avLst/>
              <a:gdLst>
                <a:gd name="T0" fmla="*/ 0 w 1"/>
                <a:gd name="T1" fmla="*/ 0 h 120"/>
                <a:gd name="T2" fmla="*/ 0 w 1"/>
                <a:gd name="T3" fmla="*/ 120 h 120"/>
                <a:gd name="T4" fmla="*/ 0 60000 65536"/>
                <a:gd name="T5" fmla="*/ 0 60000 65536"/>
                <a:gd name="T6" fmla="*/ 0 w 1"/>
                <a:gd name="T7" fmla="*/ 0 h 120"/>
                <a:gd name="T8" fmla="*/ 1 w 1"/>
                <a:gd name="T9" fmla="*/ 120 h 12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20">
                  <a:moveTo>
                    <a:pt x="0" y="0"/>
                  </a:moveTo>
                  <a:lnTo>
                    <a:pt x="0" y="120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483" name="Freeform 92"/>
            <p:cNvSpPr/>
            <p:nvPr/>
          </p:nvSpPr>
          <p:spPr bwMode="auto">
            <a:xfrm>
              <a:off x="1634" y="1334"/>
              <a:ext cx="1" cy="231"/>
            </a:xfrm>
            <a:custGeom>
              <a:avLst/>
              <a:gdLst>
                <a:gd name="T0" fmla="*/ 0 w 1"/>
                <a:gd name="T1" fmla="*/ 0 h 231"/>
                <a:gd name="T2" fmla="*/ 0 w 1"/>
                <a:gd name="T3" fmla="*/ 231 h 231"/>
                <a:gd name="T4" fmla="*/ 0 60000 65536"/>
                <a:gd name="T5" fmla="*/ 0 60000 65536"/>
                <a:gd name="T6" fmla="*/ 0 w 1"/>
                <a:gd name="T7" fmla="*/ 0 h 231"/>
                <a:gd name="T8" fmla="*/ 1 w 1"/>
                <a:gd name="T9" fmla="*/ 231 h 23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31">
                  <a:moveTo>
                    <a:pt x="0" y="0"/>
                  </a:moveTo>
                  <a:lnTo>
                    <a:pt x="0" y="231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33565" name="Freeform 93"/>
          <p:cNvSpPr/>
          <p:nvPr/>
        </p:nvSpPr>
        <p:spPr bwMode="auto">
          <a:xfrm>
            <a:off x="3043238" y="2852738"/>
            <a:ext cx="457200" cy="627062"/>
          </a:xfrm>
          <a:custGeom>
            <a:avLst/>
            <a:gdLst>
              <a:gd name="T0" fmla="*/ 0 w 288"/>
              <a:gd name="T1" fmla="*/ 2147483647 h 395"/>
              <a:gd name="T2" fmla="*/ 2147483647 w 288"/>
              <a:gd name="T3" fmla="*/ 0 h 395"/>
              <a:gd name="T4" fmla="*/ 2147483647 w 288"/>
              <a:gd name="T5" fmla="*/ 2147483647 h 395"/>
              <a:gd name="T6" fmla="*/ 2147483647 w 288"/>
              <a:gd name="T7" fmla="*/ 2147483647 h 395"/>
              <a:gd name="T8" fmla="*/ 0 60000 65536"/>
              <a:gd name="T9" fmla="*/ 0 60000 65536"/>
              <a:gd name="T10" fmla="*/ 0 60000 65536"/>
              <a:gd name="T11" fmla="*/ 0 60000 65536"/>
              <a:gd name="T12" fmla="*/ 0 w 288"/>
              <a:gd name="T13" fmla="*/ 0 h 395"/>
              <a:gd name="T14" fmla="*/ 288 w 288"/>
              <a:gd name="T15" fmla="*/ 395 h 39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88" h="395">
                <a:moveTo>
                  <a:pt x="0" y="2"/>
                </a:moveTo>
                <a:lnTo>
                  <a:pt x="288" y="0"/>
                </a:lnTo>
                <a:lnTo>
                  <a:pt x="287" y="395"/>
                </a:lnTo>
                <a:lnTo>
                  <a:pt x="6" y="395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33566" name="Freeform 94"/>
          <p:cNvSpPr/>
          <p:nvPr/>
        </p:nvSpPr>
        <p:spPr bwMode="auto">
          <a:xfrm>
            <a:off x="3043238" y="3636963"/>
            <a:ext cx="461962" cy="401637"/>
          </a:xfrm>
          <a:custGeom>
            <a:avLst/>
            <a:gdLst>
              <a:gd name="T0" fmla="*/ 0 w 291"/>
              <a:gd name="T1" fmla="*/ 0 h 253"/>
              <a:gd name="T2" fmla="*/ 2147483647 w 291"/>
              <a:gd name="T3" fmla="*/ 0 h 253"/>
              <a:gd name="T4" fmla="*/ 2147483647 w 291"/>
              <a:gd name="T5" fmla="*/ 2147483647 h 253"/>
              <a:gd name="T6" fmla="*/ 0 60000 65536"/>
              <a:gd name="T7" fmla="*/ 0 60000 65536"/>
              <a:gd name="T8" fmla="*/ 0 60000 65536"/>
              <a:gd name="T9" fmla="*/ 0 w 291"/>
              <a:gd name="T10" fmla="*/ 0 h 253"/>
              <a:gd name="T11" fmla="*/ 291 w 291"/>
              <a:gd name="T12" fmla="*/ 253 h 25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91" h="253">
                <a:moveTo>
                  <a:pt x="0" y="0"/>
                </a:moveTo>
                <a:lnTo>
                  <a:pt x="290" y="0"/>
                </a:lnTo>
                <a:lnTo>
                  <a:pt x="291" y="253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33567" name="Line 95"/>
          <p:cNvSpPr>
            <a:spLocks noChangeShapeType="1"/>
          </p:cNvSpPr>
          <p:nvPr/>
        </p:nvSpPr>
        <p:spPr bwMode="auto">
          <a:xfrm>
            <a:off x="3352800" y="4038600"/>
            <a:ext cx="304800" cy="0"/>
          </a:xfrm>
          <a:prstGeom prst="line">
            <a:avLst/>
          </a:prstGeom>
          <a:noFill/>
          <a:ln w="76200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5" name="Group 96"/>
          <p:cNvGrpSpPr/>
          <p:nvPr/>
        </p:nvGrpSpPr>
        <p:grpSpPr bwMode="auto">
          <a:xfrm>
            <a:off x="2667000" y="3763963"/>
            <a:ext cx="533400" cy="579437"/>
            <a:chOff x="1680" y="2371"/>
            <a:chExt cx="336" cy="365"/>
          </a:xfrm>
        </p:grpSpPr>
        <p:sp>
          <p:nvSpPr>
            <p:cNvPr id="145480" name="Rectangle 97"/>
            <p:cNvSpPr>
              <a:spLocks noChangeArrowheads="1"/>
            </p:cNvSpPr>
            <p:nvPr/>
          </p:nvSpPr>
          <p:spPr bwMode="auto">
            <a:xfrm>
              <a:off x="1680" y="2400"/>
              <a:ext cx="336" cy="33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45481" name="Text Box 98"/>
            <p:cNvSpPr txBox="1">
              <a:spLocks noChangeArrowheads="1"/>
            </p:cNvSpPr>
            <p:nvPr/>
          </p:nvSpPr>
          <p:spPr bwMode="auto">
            <a:xfrm>
              <a:off x="1728" y="2371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</a:t>
              </a:r>
            </a:p>
          </p:txBody>
        </p:sp>
      </p:grpSp>
      <p:grpSp>
        <p:nvGrpSpPr>
          <p:cNvPr id="16" name="Group 99"/>
          <p:cNvGrpSpPr/>
          <p:nvPr/>
        </p:nvGrpSpPr>
        <p:grpSpPr bwMode="auto">
          <a:xfrm>
            <a:off x="2667000" y="3763963"/>
            <a:ext cx="533400" cy="579437"/>
            <a:chOff x="1680" y="2371"/>
            <a:chExt cx="336" cy="365"/>
          </a:xfrm>
        </p:grpSpPr>
        <p:sp>
          <p:nvSpPr>
            <p:cNvPr id="145478" name="Rectangle 100"/>
            <p:cNvSpPr>
              <a:spLocks noChangeArrowheads="1"/>
            </p:cNvSpPr>
            <p:nvPr/>
          </p:nvSpPr>
          <p:spPr bwMode="auto">
            <a:xfrm>
              <a:off x="1680" y="2400"/>
              <a:ext cx="336" cy="33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45479" name="Text Box 101"/>
            <p:cNvSpPr txBox="1">
              <a:spLocks noChangeArrowheads="1"/>
            </p:cNvSpPr>
            <p:nvPr/>
          </p:nvSpPr>
          <p:spPr bwMode="auto">
            <a:xfrm>
              <a:off x="1728" y="2371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1</a:t>
              </a:r>
            </a:p>
          </p:txBody>
        </p:sp>
      </p:grpSp>
      <p:grpSp>
        <p:nvGrpSpPr>
          <p:cNvPr id="17" name="Group 102"/>
          <p:cNvGrpSpPr/>
          <p:nvPr/>
        </p:nvGrpSpPr>
        <p:grpSpPr bwMode="auto">
          <a:xfrm>
            <a:off x="6705600" y="3733800"/>
            <a:ext cx="533400" cy="579438"/>
            <a:chOff x="1680" y="2371"/>
            <a:chExt cx="336" cy="365"/>
          </a:xfrm>
        </p:grpSpPr>
        <p:sp>
          <p:nvSpPr>
            <p:cNvPr id="145476" name="Rectangle 103"/>
            <p:cNvSpPr>
              <a:spLocks noChangeArrowheads="1"/>
            </p:cNvSpPr>
            <p:nvPr/>
          </p:nvSpPr>
          <p:spPr bwMode="auto">
            <a:xfrm>
              <a:off x="1680" y="2400"/>
              <a:ext cx="336" cy="33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45477" name="Text Box 104"/>
            <p:cNvSpPr txBox="1">
              <a:spLocks noChangeArrowheads="1"/>
            </p:cNvSpPr>
            <p:nvPr/>
          </p:nvSpPr>
          <p:spPr bwMode="auto">
            <a:xfrm>
              <a:off x="1728" y="2371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</a:t>
              </a:r>
            </a:p>
          </p:txBody>
        </p:sp>
      </p:grpSp>
      <p:grpSp>
        <p:nvGrpSpPr>
          <p:cNvPr id="18" name="Group 105"/>
          <p:cNvGrpSpPr/>
          <p:nvPr/>
        </p:nvGrpSpPr>
        <p:grpSpPr bwMode="auto">
          <a:xfrm>
            <a:off x="6705600" y="3733800"/>
            <a:ext cx="533400" cy="579438"/>
            <a:chOff x="1680" y="2371"/>
            <a:chExt cx="336" cy="365"/>
          </a:xfrm>
        </p:grpSpPr>
        <p:sp>
          <p:nvSpPr>
            <p:cNvPr id="145474" name="Rectangle 106"/>
            <p:cNvSpPr>
              <a:spLocks noChangeArrowheads="1"/>
            </p:cNvSpPr>
            <p:nvPr/>
          </p:nvSpPr>
          <p:spPr bwMode="auto">
            <a:xfrm>
              <a:off x="1680" y="2400"/>
              <a:ext cx="336" cy="33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45475" name="Text Box 107"/>
            <p:cNvSpPr txBox="1">
              <a:spLocks noChangeArrowheads="1"/>
            </p:cNvSpPr>
            <p:nvPr/>
          </p:nvSpPr>
          <p:spPr bwMode="auto">
            <a:xfrm>
              <a:off x="1728" y="2371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1</a:t>
              </a:r>
            </a:p>
          </p:txBody>
        </p:sp>
      </p:grpSp>
      <p:grpSp>
        <p:nvGrpSpPr>
          <p:cNvPr id="19" name="Group 108"/>
          <p:cNvGrpSpPr/>
          <p:nvPr/>
        </p:nvGrpSpPr>
        <p:grpSpPr bwMode="auto">
          <a:xfrm>
            <a:off x="6248400" y="1981200"/>
            <a:ext cx="738188" cy="2819400"/>
            <a:chOff x="3936" y="1248"/>
            <a:chExt cx="465" cy="1776"/>
          </a:xfrm>
        </p:grpSpPr>
        <p:sp>
          <p:nvSpPr>
            <p:cNvPr id="145472" name="Line 109"/>
            <p:cNvSpPr>
              <a:spLocks noChangeShapeType="1"/>
            </p:cNvSpPr>
            <p:nvPr/>
          </p:nvSpPr>
          <p:spPr bwMode="auto">
            <a:xfrm>
              <a:off x="3936" y="1248"/>
              <a:ext cx="0" cy="1776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473" name="Freeform 110"/>
            <p:cNvSpPr/>
            <p:nvPr/>
          </p:nvSpPr>
          <p:spPr bwMode="auto">
            <a:xfrm rot="10800000">
              <a:off x="3936" y="2112"/>
              <a:ext cx="465" cy="1"/>
            </a:xfrm>
            <a:custGeom>
              <a:avLst/>
              <a:gdLst>
                <a:gd name="T0" fmla="*/ 465 w 465"/>
                <a:gd name="T1" fmla="*/ 0 h 1"/>
                <a:gd name="T2" fmla="*/ 0 w 465"/>
                <a:gd name="T3" fmla="*/ 0 h 1"/>
                <a:gd name="T4" fmla="*/ 0 60000 65536"/>
                <a:gd name="T5" fmla="*/ 0 60000 65536"/>
                <a:gd name="T6" fmla="*/ 0 w 465"/>
                <a:gd name="T7" fmla="*/ 0 h 1"/>
                <a:gd name="T8" fmla="*/ 465 w 46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65" h="1">
                  <a:moveTo>
                    <a:pt x="465" y="0"/>
                  </a:moveTo>
                  <a:lnTo>
                    <a:pt x="0" y="0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0" name="Group 111"/>
          <p:cNvGrpSpPr/>
          <p:nvPr/>
        </p:nvGrpSpPr>
        <p:grpSpPr bwMode="auto">
          <a:xfrm>
            <a:off x="6980238" y="3181350"/>
            <a:ext cx="77787" cy="366713"/>
            <a:chOff x="1586" y="1334"/>
            <a:chExt cx="49" cy="231"/>
          </a:xfrm>
        </p:grpSpPr>
        <p:sp>
          <p:nvSpPr>
            <p:cNvPr id="145470" name="Freeform 112"/>
            <p:cNvSpPr/>
            <p:nvPr/>
          </p:nvSpPr>
          <p:spPr bwMode="auto">
            <a:xfrm>
              <a:off x="1586" y="1392"/>
              <a:ext cx="1" cy="120"/>
            </a:xfrm>
            <a:custGeom>
              <a:avLst/>
              <a:gdLst>
                <a:gd name="T0" fmla="*/ 0 w 1"/>
                <a:gd name="T1" fmla="*/ 0 h 120"/>
                <a:gd name="T2" fmla="*/ 0 w 1"/>
                <a:gd name="T3" fmla="*/ 120 h 120"/>
                <a:gd name="T4" fmla="*/ 0 60000 65536"/>
                <a:gd name="T5" fmla="*/ 0 60000 65536"/>
                <a:gd name="T6" fmla="*/ 0 w 1"/>
                <a:gd name="T7" fmla="*/ 0 h 120"/>
                <a:gd name="T8" fmla="*/ 1 w 1"/>
                <a:gd name="T9" fmla="*/ 120 h 12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20">
                  <a:moveTo>
                    <a:pt x="0" y="0"/>
                  </a:moveTo>
                  <a:lnTo>
                    <a:pt x="0" y="120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471" name="Freeform 113"/>
            <p:cNvSpPr/>
            <p:nvPr/>
          </p:nvSpPr>
          <p:spPr bwMode="auto">
            <a:xfrm>
              <a:off x="1634" y="1334"/>
              <a:ext cx="1" cy="231"/>
            </a:xfrm>
            <a:custGeom>
              <a:avLst/>
              <a:gdLst>
                <a:gd name="T0" fmla="*/ 0 w 1"/>
                <a:gd name="T1" fmla="*/ 0 h 231"/>
                <a:gd name="T2" fmla="*/ 0 w 1"/>
                <a:gd name="T3" fmla="*/ 231 h 231"/>
                <a:gd name="T4" fmla="*/ 0 60000 65536"/>
                <a:gd name="T5" fmla="*/ 0 60000 65536"/>
                <a:gd name="T6" fmla="*/ 0 w 1"/>
                <a:gd name="T7" fmla="*/ 0 h 231"/>
                <a:gd name="T8" fmla="*/ 1 w 1"/>
                <a:gd name="T9" fmla="*/ 231 h 23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31">
                  <a:moveTo>
                    <a:pt x="0" y="0"/>
                  </a:moveTo>
                  <a:lnTo>
                    <a:pt x="0" y="231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33586" name="Freeform 114"/>
          <p:cNvSpPr/>
          <p:nvPr/>
        </p:nvSpPr>
        <p:spPr bwMode="auto">
          <a:xfrm>
            <a:off x="7072313" y="3433763"/>
            <a:ext cx="542925" cy="523875"/>
          </a:xfrm>
          <a:custGeom>
            <a:avLst/>
            <a:gdLst>
              <a:gd name="T0" fmla="*/ 0 w 342"/>
              <a:gd name="T1" fmla="*/ 0 h 330"/>
              <a:gd name="T2" fmla="*/ 2147483647 w 342"/>
              <a:gd name="T3" fmla="*/ 0 h 330"/>
              <a:gd name="T4" fmla="*/ 2147483647 w 342"/>
              <a:gd name="T5" fmla="*/ 2147483647 h 330"/>
              <a:gd name="T6" fmla="*/ 0 60000 65536"/>
              <a:gd name="T7" fmla="*/ 0 60000 65536"/>
              <a:gd name="T8" fmla="*/ 0 60000 65536"/>
              <a:gd name="T9" fmla="*/ 0 w 342"/>
              <a:gd name="T10" fmla="*/ 0 h 330"/>
              <a:gd name="T11" fmla="*/ 342 w 342"/>
              <a:gd name="T12" fmla="*/ 330 h 33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42" h="330">
                <a:moveTo>
                  <a:pt x="0" y="0"/>
                </a:moveTo>
                <a:lnTo>
                  <a:pt x="342" y="0"/>
                </a:lnTo>
                <a:lnTo>
                  <a:pt x="342" y="330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1" name="Group 115"/>
          <p:cNvGrpSpPr/>
          <p:nvPr/>
        </p:nvGrpSpPr>
        <p:grpSpPr bwMode="auto">
          <a:xfrm>
            <a:off x="7391400" y="3962400"/>
            <a:ext cx="447675" cy="152400"/>
            <a:chOff x="4656" y="2496"/>
            <a:chExt cx="282" cy="96"/>
          </a:xfrm>
        </p:grpSpPr>
        <p:sp>
          <p:nvSpPr>
            <p:cNvPr id="145468" name="Freeform 116"/>
            <p:cNvSpPr/>
            <p:nvPr/>
          </p:nvSpPr>
          <p:spPr bwMode="auto">
            <a:xfrm>
              <a:off x="4656" y="2496"/>
              <a:ext cx="282" cy="1"/>
            </a:xfrm>
            <a:custGeom>
              <a:avLst/>
              <a:gdLst>
                <a:gd name="T0" fmla="*/ 0 w 282"/>
                <a:gd name="T1" fmla="*/ 0 h 1"/>
                <a:gd name="T2" fmla="*/ 282 w 282"/>
                <a:gd name="T3" fmla="*/ 0 h 1"/>
                <a:gd name="T4" fmla="*/ 0 60000 65536"/>
                <a:gd name="T5" fmla="*/ 0 60000 65536"/>
                <a:gd name="T6" fmla="*/ 0 w 282"/>
                <a:gd name="T7" fmla="*/ 0 h 1"/>
                <a:gd name="T8" fmla="*/ 282 w 28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82" h="1">
                  <a:moveTo>
                    <a:pt x="0" y="0"/>
                  </a:moveTo>
                  <a:lnTo>
                    <a:pt x="282" y="0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469" name="Freeform 117"/>
            <p:cNvSpPr/>
            <p:nvPr/>
          </p:nvSpPr>
          <p:spPr bwMode="auto">
            <a:xfrm>
              <a:off x="4656" y="2591"/>
              <a:ext cx="282" cy="1"/>
            </a:xfrm>
            <a:custGeom>
              <a:avLst/>
              <a:gdLst>
                <a:gd name="T0" fmla="*/ 0 w 282"/>
                <a:gd name="T1" fmla="*/ 0 h 1"/>
                <a:gd name="T2" fmla="*/ 282 w 282"/>
                <a:gd name="T3" fmla="*/ 0 h 1"/>
                <a:gd name="T4" fmla="*/ 0 60000 65536"/>
                <a:gd name="T5" fmla="*/ 0 60000 65536"/>
                <a:gd name="T6" fmla="*/ 0 w 282"/>
                <a:gd name="T7" fmla="*/ 0 h 1"/>
                <a:gd name="T8" fmla="*/ 282 w 28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82" h="1">
                  <a:moveTo>
                    <a:pt x="0" y="0"/>
                  </a:moveTo>
                  <a:lnTo>
                    <a:pt x="282" y="0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33590" name="Line 118"/>
          <p:cNvSpPr>
            <a:spLocks noChangeShapeType="1"/>
          </p:cNvSpPr>
          <p:nvPr/>
        </p:nvSpPr>
        <p:spPr bwMode="auto">
          <a:xfrm>
            <a:off x="7620000" y="4114800"/>
            <a:ext cx="0" cy="533400"/>
          </a:xfrm>
          <a:prstGeom prst="line">
            <a:avLst/>
          </a:prstGeom>
          <a:noFill/>
          <a:ln w="76200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33591" name="Line 119"/>
          <p:cNvSpPr>
            <a:spLocks noChangeShapeType="1"/>
          </p:cNvSpPr>
          <p:nvPr/>
        </p:nvSpPr>
        <p:spPr bwMode="auto">
          <a:xfrm>
            <a:off x="7467600" y="4648200"/>
            <a:ext cx="304800" cy="0"/>
          </a:xfrm>
          <a:prstGeom prst="line">
            <a:avLst/>
          </a:prstGeom>
          <a:noFill/>
          <a:ln w="76200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33592" name="Line 120"/>
          <p:cNvSpPr>
            <a:spLocks noChangeShapeType="1"/>
          </p:cNvSpPr>
          <p:nvPr/>
        </p:nvSpPr>
        <p:spPr bwMode="auto">
          <a:xfrm>
            <a:off x="5943600" y="2438400"/>
            <a:ext cx="2590800" cy="0"/>
          </a:xfrm>
          <a:prstGeom prst="line">
            <a:avLst/>
          </a:prstGeom>
          <a:noFill/>
          <a:ln w="76200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33593" name="Freeform 121"/>
          <p:cNvSpPr/>
          <p:nvPr/>
        </p:nvSpPr>
        <p:spPr bwMode="auto">
          <a:xfrm>
            <a:off x="7062788" y="2438400"/>
            <a:ext cx="557212" cy="857250"/>
          </a:xfrm>
          <a:custGeom>
            <a:avLst/>
            <a:gdLst>
              <a:gd name="T0" fmla="*/ 2147483647 w 351"/>
              <a:gd name="T1" fmla="*/ 0 h 540"/>
              <a:gd name="T2" fmla="*/ 2147483647 w 351"/>
              <a:gd name="T3" fmla="*/ 2147483647 h 540"/>
              <a:gd name="T4" fmla="*/ 0 w 351"/>
              <a:gd name="T5" fmla="*/ 2147483647 h 540"/>
              <a:gd name="T6" fmla="*/ 0 60000 65536"/>
              <a:gd name="T7" fmla="*/ 0 60000 65536"/>
              <a:gd name="T8" fmla="*/ 0 60000 65536"/>
              <a:gd name="T9" fmla="*/ 0 w 351"/>
              <a:gd name="T10" fmla="*/ 0 h 540"/>
              <a:gd name="T11" fmla="*/ 351 w 351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51" h="540">
                <a:moveTo>
                  <a:pt x="351" y="0"/>
                </a:moveTo>
                <a:lnTo>
                  <a:pt x="351" y="540"/>
                </a:lnTo>
                <a:lnTo>
                  <a:pt x="0" y="540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  <a:headEnd type="oval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2" name="Group 122"/>
          <p:cNvGrpSpPr/>
          <p:nvPr/>
        </p:nvGrpSpPr>
        <p:grpSpPr bwMode="auto">
          <a:xfrm>
            <a:off x="4038600" y="3752850"/>
            <a:ext cx="533400" cy="590550"/>
            <a:chOff x="3168" y="2352"/>
            <a:chExt cx="336" cy="384"/>
          </a:xfrm>
        </p:grpSpPr>
        <p:sp>
          <p:nvSpPr>
            <p:cNvPr id="145466" name="Rectangle 123"/>
            <p:cNvSpPr>
              <a:spLocks noChangeArrowheads="1"/>
            </p:cNvSpPr>
            <p:nvPr/>
          </p:nvSpPr>
          <p:spPr bwMode="auto">
            <a:xfrm>
              <a:off x="3168" y="2383"/>
              <a:ext cx="336" cy="3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45467" name="Text Box 124"/>
            <p:cNvSpPr txBox="1">
              <a:spLocks noChangeArrowheads="1"/>
            </p:cNvSpPr>
            <p:nvPr/>
          </p:nvSpPr>
          <p:spPr bwMode="auto">
            <a:xfrm>
              <a:off x="3216" y="2352"/>
              <a:ext cx="244" cy="3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bg1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</p:grpSp>
      <p:sp>
        <p:nvSpPr>
          <p:cNvPr id="233597" name="Freeform 125"/>
          <p:cNvSpPr/>
          <p:nvPr/>
        </p:nvSpPr>
        <p:spPr bwMode="auto">
          <a:xfrm>
            <a:off x="3886200" y="2667000"/>
            <a:ext cx="1588" cy="2528888"/>
          </a:xfrm>
          <a:custGeom>
            <a:avLst/>
            <a:gdLst>
              <a:gd name="T0" fmla="*/ 0 w 1"/>
              <a:gd name="T1" fmla="*/ 0 h 1593"/>
              <a:gd name="T2" fmla="*/ 0 w 1"/>
              <a:gd name="T3" fmla="*/ 2147483647 h 1593"/>
              <a:gd name="T4" fmla="*/ 0 60000 65536"/>
              <a:gd name="T5" fmla="*/ 0 60000 65536"/>
              <a:gd name="T6" fmla="*/ 0 w 1"/>
              <a:gd name="T7" fmla="*/ 0 h 1593"/>
              <a:gd name="T8" fmla="*/ 1 w 1"/>
              <a:gd name="T9" fmla="*/ 1593 h 159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1593">
                <a:moveTo>
                  <a:pt x="0" y="0"/>
                </a:moveTo>
                <a:lnTo>
                  <a:pt x="0" y="1593"/>
                </a:lnTo>
              </a:path>
            </a:pathLst>
          </a:custGeom>
          <a:noFill/>
          <a:ln w="76200">
            <a:solidFill>
              <a:srgbClr val="C28F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3" name="Group 126"/>
          <p:cNvGrpSpPr/>
          <p:nvPr/>
        </p:nvGrpSpPr>
        <p:grpSpPr bwMode="auto">
          <a:xfrm>
            <a:off x="4038600" y="3760788"/>
            <a:ext cx="533400" cy="579437"/>
            <a:chOff x="1680" y="2371"/>
            <a:chExt cx="336" cy="365"/>
          </a:xfrm>
        </p:grpSpPr>
        <p:sp>
          <p:nvSpPr>
            <p:cNvPr id="145464" name="Rectangle 127"/>
            <p:cNvSpPr>
              <a:spLocks noChangeArrowheads="1"/>
            </p:cNvSpPr>
            <p:nvPr/>
          </p:nvSpPr>
          <p:spPr bwMode="auto">
            <a:xfrm>
              <a:off x="1680" y="2400"/>
              <a:ext cx="336" cy="33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45465" name="Text Box 128"/>
            <p:cNvSpPr txBox="1">
              <a:spLocks noChangeArrowheads="1"/>
            </p:cNvSpPr>
            <p:nvPr/>
          </p:nvSpPr>
          <p:spPr bwMode="auto">
            <a:xfrm>
              <a:off x="1728" y="2371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</a:t>
              </a:r>
            </a:p>
          </p:txBody>
        </p:sp>
      </p:grpSp>
      <p:sp>
        <p:nvSpPr>
          <p:cNvPr id="233601" name="Line 129"/>
          <p:cNvSpPr>
            <a:spLocks noChangeShapeType="1"/>
          </p:cNvSpPr>
          <p:nvPr/>
        </p:nvSpPr>
        <p:spPr bwMode="auto">
          <a:xfrm flipV="1">
            <a:off x="3886200" y="1981200"/>
            <a:ext cx="0" cy="685800"/>
          </a:xfrm>
          <a:prstGeom prst="line">
            <a:avLst/>
          </a:prstGeom>
          <a:noFill/>
          <a:ln w="76200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grpSp>
        <p:nvGrpSpPr>
          <p:cNvPr id="24" name="Group 130"/>
          <p:cNvGrpSpPr/>
          <p:nvPr/>
        </p:nvGrpSpPr>
        <p:grpSpPr bwMode="auto">
          <a:xfrm>
            <a:off x="2514600" y="2273300"/>
            <a:ext cx="2057400" cy="488950"/>
            <a:chOff x="1584" y="1536"/>
            <a:chExt cx="1296" cy="212"/>
          </a:xfrm>
        </p:grpSpPr>
        <p:sp>
          <p:nvSpPr>
            <p:cNvPr id="145462" name="Freeform 131"/>
            <p:cNvSpPr/>
            <p:nvPr/>
          </p:nvSpPr>
          <p:spPr bwMode="auto">
            <a:xfrm>
              <a:off x="1584" y="1536"/>
              <a:ext cx="291" cy="212"/>
            </a:xfrm>
            <a:custGeom>
              <a:avLst/>
              <a:gdLst>
                <a:gd name="T0" fmla="*/ 0 w 291"/>
                <a:gd name="T1" fmla="*/ 0 h 212"/>
                <a:gd name="T2" fmla="*/ 0 w 291"/>
                <a:gd name="T3" fmla="*/ 212 h 212"/>
                <a:gd name="T4" fmla="*/ 291 w 291"/>
                <a:gd name="T5" fmla="*/ 212 h 212"/>
                <a:gd name="T6" fmla="*/ 0 60000 65536"/>
                <a:gd name="T7" fmla="*/ 0 60000 65536"/>
                <a:gd name="T8" fmla="*/ 0 60000 65536"/>
                <a:gd name="T9" fmla="*/ 0 w 291"/>
                <a:gd name="T10" fmla="*/ 0 h 212"/>
                <a:gd name="T11" fmla="*/ 291 w 291"/>
                <a:gd name="T12" fmla="*/ 212 h 2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91" h="212">
                  <a:moveTo>
                    <a:pt x="0" y="0"/>
                  </a:moveTo>
                  <a:lnTo>
                    <a:pt x="0" y="212"/>
                  </a:lnTo>
                  <a:lnTo>
                    <a:pt x="291" y="212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5463" name="Line 132"/>
            <p:cNvSpPr>
              <a:spLocks noChangeShapeType="1"/>
            </p:cNvSpPr>
            <p:nvPr/>
          </p:nvSpPr>
          <p:spPr bwMode="auto">
            <a:xfrm>
              <a:off x="1584" y="1536"/>
              <a:ext cx="1296" cy="0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233605" name="Rectangle 133"/>
          <p:cNvSpPr>
            <a:spLocks noChangeArrowheads="1"/>
          </p:cNvSpPr>
          <p:nvPr/>
        </p:nvSpPr>
        <p:spPr bwMode="auto">
          <a:xfrm>
            <a:off x="533400" y="6153150"/>
            <a:ext cx="3581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写入与输入信息相同</a:t>
            </a:r>
            <a:endParaRPr lang="zh-CN" altLang="en-US" sz="2400" b="0">
              <a:latin typeface="Times New Roman" panose="02020603050405020304" pitchFamily="18" charset="0"/>
            </a:endParaRPr>
          </a:p>
        </p:txBody>
      </p:sp>
      <p:sp>
        <p:nvSpPr>
          <p:cNvPr id="233606" name="Text Box 134"/>
          <p:cNvSpPr txBox="1">
            <a:spLocks noChangeArrowheads="1"/>
          </p:cNvSpPr>
          <p:nvPr/>
        </p:nvSpPr>
        <p:spPr bwMode="auto">
          <a:xfrm>
            <a:off x="4267200" y="6153150"/>
            <a:ext cx="4876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写入时 </a:t>
            </a:r>
            <a:r>
              <a:rPr lang="en-US" altLang="zh-CN" sz="2400" i="1">
                <a:solidFill>
                  <a:schemeClr val="folHlink"/>
                </a:solidFill>
                <a:latin typeface="Times New Roman" panose="02020603050405020304" pitchFamily="18" charset="0"/>
              </a:rPr>
              <a:t>C</a:t>
            </a:r>
            <a:r>
              <a:rPr lang="en-US" altLang="zh-CN" sz="24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S </a:t>
            </a:r>
            <a:r>
              <a:rPr lang="zh-CN" altLang="en-US" sz="2400">
                <a:latin typeface="Times New Roman" panose="02020603050405020304" pitchFamily="18" charset="0"/>
              </a:rPr>
              <a:t>充电 为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“1” </a:t>
            </a:r>
            <a:r>
              <a:rPr lang="zh-CN" altLang="en-US" sz="2400">
                <a:latin typeface="Times New Roman" panose="02020603050405020304" pitchFamily="18" charset="0"/>
              </a:rPr>
              <a:t>放电 为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“0”</a:t>
            </a:r>
          </a:p>
        </p:txBody>
      </p:sp>
      <p:grpSp>
        <p:nvGrpSpPr>
          <p:cNvPr id="25" name="Group 135"/>
          <p:cNvGrpSpPr/>
          <p:nvPr/>
        </p:nvGrpSpPr>
        <p:grpSpPr bwMode="auto">
          <a:xfrm>
            <a:off x="3084513" y="1981200"/>
            <a:ext cx="839787" cy="703263"/>
            <a:chOff x="1943" y="1248"/>
            <a:chExt cx="529" cy="443"/>
          </a:xfrm>
        </p:grpSpPr>
        <p:sp>
          <p:nvSpPr>
            <p:cNvPr id="145460" name="Line 136"/>
            <p:cNvSpPr>
              <a:spLocks noChangeShapeType="1"/>
            </p:cNvSpPr>
            <p:nvPr/>
          </p:nvSpPr>
          <p:spPr bwMode="auto">
            <a:xfrm flipV="1">
              <a:off x="2448" y="1248"/>
              <a:ext cx="0" cy="432"/>
            </a:xfrm>
            <a:prstGeom prst="line">
              <a:avLst/>
            </a:prstGeom>
            <a:noFill/>
            <a:ln w="76200">
              <a:solidFill>
                <a:srgbClr val="C28F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45461" name="Freeform 137"/>
            <p:cNvSpPr/>
            <p:nvPr/>
          </p:nvSpPr>
          <p:spPr bwMode="auto">
            <a:xfrm>
              <a:off x="1943" y="1689"/>
              <a:ext cx="529" cy="2"/>
            </a:xfrm>
            <a:custGeom>
              <a:avLst/>
              <a:gdLst>
                <a:gd name="T0" fmla="*/ 0 w 529"/>
                <a:gd name="T1" fmla="*/ 2 h 2"/>
                <a:gd name="T2" fmla="*/ 529 w 529"/>
                <a:gd name="T3" fmla="*/ 0 h 2"/>
                <a:gd name="T4" fmla="*/ 0 60000 65536"/>
                <a:gd name="T5" fmla="*/ 0 60000 65536"/>
                <a:gd name="T6" fmla="*/ 0 w 529"/>
                <a:gd name="T7" fmla="*/ 0 h 2"/>
                <a:gd name="T8" fmla="*/ 529 w 529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29" h="2">
                  <a:moveTo>
                    <a:pt x="0" y="2"/>
                  </a:moveTo>
                  <a:lnTo>
                    <a:pt x="529" y="0"/>
                  </a:lnTo>
                </a:path>
              </a:pathLst>
            </a:custGeom>
            <a:noFill/>
            <a:ln w="76200" cmpd="sng">
              <a:solidFill>
                <a:srgbClr val="C28F00"/>
              </a:solidFill>
              <a:round/>
              <a:headEnd type="none" w="med" len="med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33610" name="Freeform 138"/>
          <p:cNvSpPr/>
          <p:nvPr/>
        </p:nvSpPr>
        <p:spPr bwMode="auto">
          <a:xfrm>
            <a:off x="3084513" y="2852738"/>
            <a:ext cx="411162" cy="627062"/>
          </a:xfrm>
          <a:custGeom>
            <a:avLst/>
            <a:gdLst>
              <a:gd name="T0" fmla="*/ 0 w 259"/>
              <a:gd name="T1" fmla="*/ 2147483647 h 395"/>
              <a:gd name="T2" fmla="*/ 2147483647 w 259"/>
              <a:gd name="T3" fmla="*/ 0 h 395"/>
              <a:gd name="T4" fmla="*/ 2147483647 w 259"/>
              <a:gd name="T5" fmla="*/ 2147483647 h 395"/>
              <a:gd name="T6" fmla="*/ 2147483647 w 259"/>
              <a:gd name="T7" fmla="*/ 2147483647 h 395"/>
              <a:gd name="T8" fmla="*/ 0 60000 65536"/>
              <a:gd name="T9" fmla="*/ 0 60000 65536"/>
              <a:gd name="T10" fmla="*/ 0 60000 65536"/>
              <a:gd name="T11" fmla="*/ 0 60000 65536"/>
              <a:gd name="T12" fmla="*/ 0 w 259"/>
              <a:gd name="T13" fmla="*/ 0 h 395"/>
              <a:gd name="T14" fmla="*/ 259 w 259"/>
              <a:gd name="T15" fmla="*/ 395 h 39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59" h="395">
                <a:moveTo>
                  <a:pt x="0" y="2"/>
                </a:moveTo>
                <a:lnTo>
                  <a:pt x="259" y="0"/>
                </a:lnTo>
                <a:lnTo>
                  <a:pt x="258" y="395"/>
                </a:lnTo>
                <a:lnTo>
                  <a:pt x="3" y="393"/>
                </a:lnTo>
              </a:path>
            </a:pathLst>
          </a:custGeom>
          <a:noFill/>
          <a:ln w="76200" cmpd="sng">
            <a:solidFill>
              <a:srgbClr val="C28F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33611" name="Freeform 139"/>
          <p:cNvSpPr/>
          <p:nvPr/>
        </p:nvSpPr>
        <p:spPr bwMode="auto">
          <a:xfrm>
            <a:off x="3086100" y="3633788"/>
            <a:ext cx="419100" cy="404812"/>
          </a:xfrm>
          <a:custGeom>
            <a:avLst/>
            <a:gdLst>
              <a:gd name="T0" fmla="*/ 0 w 264"/>
              <a:gd name="T1" fmla="*/ 0 h 255"/>
              <a:gd name="T2" fmla="*/ 2147483647 w 264"/>
              <a:gd name="T3" fmla="*/ 2147483647 h 255"/>
              <a:gd name="T4" fmla="*/ 2147483647 w 264"/>
              <a:gd name="T5" fmla="*/ 2147483647 h 255"/>
              <a:gd name="T6" fmla="*/ 0 60000 65536"/>
              <a:gd name="T7" fmla="*/ 0 60000 65536"/>
              <a:gd name="T8" fmla="*/ 0 60000 65536"/>
              <a:gd name="T9" fmla="*/ 0 w 264"/>
              <a:gd name="T10" fmla="*/ 0 h 255"/>
              <a:gd name="T11" fmla="*/ 264 w 264"/>
              <a:gd name="T12" fmla="*/ 255 h 25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55">
                <a:moveTo>
                  <a:pt x="0" y="0"/>
                </a:moveTo>
                <a:lnTo>
                  <a:pt x="263" y="2"/>
                </a:lnTo>
                <a:lnTo>
                  <a:pt x="264" y="255"/>
                </a:lnTo>
              </a:path>
            </a:pathLst>
          </a:custGeom>
          <a:noFill/>
          <a:ln w="76200" cmpd="sng">
            <a:solidFill>
              <a:srgbClr val="C28F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33612" name="Line 140"/>
          <p:cNvSpPr>
            <a:spLocks noChangeShapeType="1"/>
          </p:cNvSpPr>
          <p:nvPr/>
        </p:nvSpPr>
        <p:spPr bwMode="auto">
          <a:xfrm>
            <a:off x="3352800" y="4038600"/>
            <a:ext cx="304800" cy="0"/>
          </a:xfrm>
          <a:prstGeom prst="line">
            <a:avLst/>
          </a:prstGeom>
          <a:noFill/>
          <a:ln w="76200">
            <a:solidFill>
              <a:srgbClr val="C28F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33613" name="Rectangle 141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grpSp>
        <p:nvGrpSpPr>
          <p:cNvPr id="26" name="Group 142"/>
          <p:cNvGrpSpPr/>
          <p:nvPr/>
        </p:nvGrpSpPr>
        <p:grpSpPr bwMode="auto">
          <a:xfrm>
            <a:off x="1316038" y="2346325"/>
            <a:ext cx="1711325" cy="1711325"/>
            <a:chOff x="829" y="1478"/>
            <a:chExt cx="1078" cy="1078"/>
          </a:xfrm>
        </p:grpSpPr>
        <p:sp>
          <p:nvSpPr>
            <p:cNvPr id="145457" name="Text Box 143"/>
            <p:cNvSpPr txBox="1">
              <a:spLocks noChangeArrowheads="1"/>
            </p:cNvSpPr>
            <p:nvPr/>
          </p:nvSpPr>
          <p:spPr bwMode="auto">
            <a:xfrm>
              <a:off x="829" y="2306"/>
              <a:ext cx="27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145458" name="Text Box 144"/>
            <p:cNvSpPr txBox="1">
              <a:spLocks noChangeArrowheads="1"/>
            </p:cNvSpPr>
            <p:nvPr/>
          </p:nvSpPr>
          <p:spPr bwMode="auto">
            <a:xfrm>
              <a:off x="1632" y="1478"/>
              <a:ext cx="27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145459" name="Text Box 145"/>
            <p:cNvSpPr txBox="1">
              <a:spLocks noChangeArrowheads="1"/>
            </p:cNvSpPr>
            <p:nvPr/>
          </p:nvSpPr>
          <p:spPr bwMode="auto">
            <a:xfrm>
              <a:off x="1632" y="1968"/>
              <a:ext cx="27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T</a:t>
              </a:r>
              <a:r>
                <a:rPr lang="en-US" altLang="zh-CN" sz="2000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</p:grpSp>
      <p:sp>
        <p:nvSpPr>
          <p:cNvPr id="233618" name="Text Box 146"/>
          <p:cNvSpPr txBox="1">
            <a:spLocks noChangeArrowheads="1"/>
          </p:cNvSpPr>
          <p:nvPr/>
        </p:nvSpPr>
        <p:spPr bwMode="auto">
          <a:xfrm>
            <a:off x="6680200" y="2833688"/>
            <a:ext cx="3540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zh-CN" sz="2000">
                <a:solidFill>
                  <a:schemeClr val="folHlink"/>
                </a:solidFill>
                <a:latin typeface="Times New Roman" panose="02020603050405020304" pitchFamily="18" charset="0"/>
              </a:rPr>
              <a:t>T</a:t>
            </a:r>
            <a:endParaRPr lang="zh-CN" altLang="en-US" sz="20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33619" name="AutoShape 147"/>
          <p:cNvSpPr>
            <a:spLocks noChangeArrowheads="1"/>
          </p:cNvSpPr>
          <p:nvPr/>
        </p:nvSpPr>
        <p:spPr bwMode="auto">
          <a:xfrm>
            <a:off x="6477000" y="1600200"/>
            <a:ext cx="1066800" cy="381000"/>
          </a:xfrm>
          <a:prstGeom prst="wedgeRoundRectCallout">
            <a:avLst>
              <a:gd name="adj1" fmla="val -50894"/>
              <a:gd name="adj2" fmla="val 160000"/>
              <a:gd name="adj3" fmla="val 16667"/>
            </a:avLst>
          </a:prstGeom>
          <a:noFill/>
          <a:ln w="19050">
            <a:solidFill>
              <a:schemeClr val="folHlink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118800" tIns="10800"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无电流</a:t>
            </a:r>
          </a:p>
        </p:txBody>
      </p:sp>
      <p:sp>
        <p:nvSpPr>
          <p:cNvPr id="233620" name="AutoShape 148"/>
          <p:cNvSpPr>
            <a:spLocks noChangeArrowheads="1"/>
          </p:cNvSpPr>
          <p:nvPr/>
        </p:nvSpPr>
        <p:spPr bwMode="auto">
          <a:xfrm>
            <a:off x="6477000" y="1600200"/>
            <a:ext cx="1066800" cy="381000"/>
          </a:xfrm>
          <a:prstGeom prst="wedgeRoundRectCallout">
            <a:avLst>
              <a:gd name="adj1" fmla="val -50894"/>
              <a:gd name="adj2" fmla="val 160000"/>
              <a:gd name="adj3" fmla="val 16667"/>
            </a:avLst>
          </a:prstGeom>
          <a:noFill/>
          <a:ln w="19050">
            <a:solidFill>
              <a:schemeClr val="folHlink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118800" tIns="10800"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有电流</a:t>
            </a:r>
          </a:p>
        </p:txBody>
      </p:sp>
      <p:sp>
        <p:nvSpPr>
          <p:cNvPr id="145456" name="AutoShape 149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33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336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9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32" dur="500"/>
                                        <p:tgtEl>
                                          <p:spTgt spid="2335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4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8" presetClass="entr" presetSubtype="9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46" dur="500"/>
                                        <p:tgtEl>
                                          <p:spTgt spid="233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8" presetClass="entr" presetSubtype="9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51" dur="500"/>
                                        <p:tgtEl>
                                          <p:spTgt spid="233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0" dur="500"/>
                                        <p:tgtEl>
                                          <p:spTgt spid="233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"/>
                            </p:stCondLst>
                            <p:childTnLst>
                              <p:par>
                                <p:cTn id="62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1000"/>
                            </p:stCondLst>
                            <p:childTnLst>
                              <p:par>
                                <p:cTn id="66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500"/>
                            </p:stCondLst>
                            <p:childTnLst>
                              <p:par>
                                <p:cTn id="8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8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92" dur="500"/>
                                        <p:tgtEl>
                                          <p:spTgt spid="233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500"/>
                            </p:stCondLst>
                            <p:childTnLst>
                              <p:par>
                                <p:cTn id="94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96" dur="500"/>
                                        <p:tgtEl>
                                          <p:spTgt spid="233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1000"/>
                            </p:stCondLst>
                            <p:childTnLst>
                              <p:par>
                                <p:cTn id="98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00" dur="500"/>
                                        <p:tgtEl>
                                          <p:spTgt spid="2335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1500"/>
                            </p:stCondLst>
                            <p:childTnLst>
                              <p:par>
                                <p:cTn id="102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4" dur="500"/>
                                        <p:tgtEl>
                                          <p:spTgt spid="2335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8" presetClass="entr" presetSubtype="3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09" dur="500"/>
                                        <p:tgtEl>
                                          <p:spTgt spid="233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1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11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15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17" dur="500"/>
                                        <p:tgtEl>
                                          <p:spTgt spid="233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19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21" dur="500"/>
                                        <p:tgtEl>
                                          <p:spTgt spid="233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" fill="hold">
                            <p:stCondLst>
                              <p:cond delay="2000"/>
                            </p:stCondLst>
                            <p:childTnLst>
                              <p:par>
                                <p:cTn id="12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5" dur="500"/>
                                        <p:tgtEl>
                                          <p:spTgt spid="233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5" dur="500"/>
                                        <p:tgtEl>
                                          <p:spTgt spid="2335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0" dur="500"/>
                                        <p:tgtEl>
                                          <p:spTgt spid="233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4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500"/>
                            </p:stCondLst>
                            <p:childTnLst>
                              <p:par>
                                <p:cTn id="14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6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9" dur="500"/>
                                        <p:tgtEl>
                                          <p:spTgt spid="23361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336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9" dur="500"/>
                                        <p:tgtEl>
                                          <p:spTgt spid="233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500"/>
                            </p:stCondLst>
                            <p:childTnLst>
                              <p:par>
                                <p:cTn id="171" presetID="18" presetClass="entr" presetSubtype="9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173" dur="500"/>
                                        <p:tgtEl>
                                          <p:spTgt spid="233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>
                            <p:stCondLst>
                              <p:cond delay="1000"/>
                            </p:stCondLst>
                            <p:childTnLst>
                              <p:par>
                                <p:cTn id="17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18" presetClass="entr" presetSubtype="9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182" dur="500"/>
                                        <p:tgtEl>
                                          <p:spTgt spid="233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8" presetClass="entr" presetSubtype="3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87" dur="500"/>
                                        <p:tgtEl>
                                          <p:spTgt spid="233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500"/>
                            </p:stCondLst>
                            <p:childTnLst>
                              <p:par>
                                <p:cTn id="189" presetID="18" presetClass="entr" presetSubtype="1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91" dur="500"/>
                                        <p:tgtEl>
                                          <p:spTgt spid="2335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6" dur="500"/>
                                        <p:tgtEl>
                                          <p:spTgt spid="23362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33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7" fill="hold">
                      <p:stCondLst>
                        <p:cond delay="indefinite"/>
                      </p:stCondLst>
                      <p:childTnLst>
                        <p:par>
                          <p:cTn id="198" fill="hold">
                            <p:stCondLst>
                              <p:cond delay="0"/>
                            </p:stCondLst>
                            <p:childTnLst>
                              <p:par>
                                <p:cTn id="19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01" dur="500"/>
                                        <p:tgtEl>
                                          <p:spTgt spid="233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06" dur="500"/>
                                        <p:tgtEl>
                                          <p:spTgt spid="233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3526" grpId="0" autoUpdateAnimBg="0"/>
      <p:bldP spid="233528" grpId="0" autoUpdateAnimBg="0"/>
      <p:bldP spid="233529" grpId="0" autoUpdateAnimBg="0"/>
      <p:bldP spid="233551" grpId="0" animBg="1"/>
      <p:bldP spid="233556" grpId="0" animBg="1"/>
      <p:bldP spid="233557" grpId="0" animBg="1"/>
      <p:bldP spid="233561" grpId="0" animBg="1"/>
      <p:bldP spid="233565" grpId="0" animBg="1"/>
      <p:bldP spid="233566" grpId="0" animBg="1"/>
      <p:bldP spid="233567" grpId="0" animBg="1"/>
      <p:bldP spid="233586" grpId="0" animBg="1"/>
      <p:bldP spid="233590" grpId="0" animBg="1"/>
      <p:bldP spid="233591" grpId="0" animBg="1"/>
      <p:bldP spid="233592" grpId="0" animBg="1"/>
      <p:bldP spid="233593" grpId="0" animBg="1"/>
      <p:bldP spid="233597" grpId="0" animBg="1"/>
      <p:bldP spid="233601" grpId="0" animBg="1"/>
      <p:bldP spid="233605" grpId="0" autoUpdateAnimBg="0"/>
      <p:bldP spid="233606" grpId="0" autoUpdateAnimBg="0"/>
      <p:bldP spid="233610" grpId="0" animBg="1"/>
      <p:bldP spid="233611" grpId="0" animBg="1"/>
      <p:bldP spid="233612" grpId="0" animBg="1"/>
      <p:bldP spid="233618" grpId="0" autoUpdateAnimBg="0"/>
      <p:bldP spid="233619" grpId="0" animBg="1" autoUpdateAnimBg="0"/>
      <p:bldP spid="233620" grpId="0" animBg="1" autoUpdateAnimBg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0" y="1400175"/>
            <a:ext cx="9151938" cy="5438775"/>
            <a:chOff x="0" y="882"/>
            <a:chExt cx="5765" cy="3426"/>
          </a:xfrm>
        </p:grpSpPr>
        <p:grpSp>
          <p:nvGrpSpPr>
            <p:cNvPr id="146483" name="Group 3"/>
            <p:cNvGrpSpPr/>
            <p:nvPr/>
          </p:nvGrpSpPr>
          <p:grpSpPr bwMode="auto">
            <a:xfrm>
              <a:off x="3296" y="1995"/>
              <a:ext cx="438" cy="429"/>
              <a:chOff x="3296" y="1995"/>
              <a:chExt cx="438" cy="429"/>
            </a:xfrm>
          </p:grpSpPr>
          <p:sp>
            <p:nvSpPr>
              <p:cNvPr id="146620" name="Text Box 4"/>
              <p:cNvSpPr txBox="1">
                <a:spLocks noChangeArrowheads="1"/>
              </p:cNvSpPr>
              <p:nvPr/>
            </p:nvSpPr>
            <p:spPr bwMode="auto">
              <a:xfrm>
                <a:off x="3296" y="1995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单元</a:t>
                </a:r>
              </a:p>
            </p:txBody>
          </p:sp>
          <p:sp>
            <p:nvSpPr>
              <p:cNvPr id="146621" name="Text Box 5"/>
              <p:cNvSpPr txBox="1">
                <a:spLocks noChangeArrowheads="1"/>
              </p:cNvSpPr>
              <p:nvPr/>
            </p:nvSpPr>
            <p:spPr bwMode="auto">
              <a:xfrm>
                <a:off x="3296" y="2174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电路</a:t>
                </a:r>
              </a:p>
            </p:txBody>
          </p:sp>
        </p:grpSp>
        <p:grpSp>
          <p:nvGrpSpPr>
            <p:cNvPr id="146484" name="Group 6"/>
            <p:cNvGrpSpPr/>
            <p:nvPr/>
          </p:nvGrpSpPr>
          <p:grpSpPr bwMode="auto">
            <a:xfrm>
              <a:off x="0" y="882"/>
              <a:ext cx="5765" cy="3426"/>
              <a:chOff x="0" y="882"/>
              <a:chExt cx="5765" cy="3426"/>
            </a:xfrm>
          </p:grpSpPr>
          <p:sp>
            <p:nvSpPr>
              <p:cNvPr id="146485" name="Rectangle 7"/>
              <p:cNvSpPr>
                <a:spLocks noChangeArrowheads="1"/>
              </p:cNvSpPr>
              <p:nvPr/>
            </p:nvSpPr>
            <p:spPr bwMode="auto">
              <a:xfrm>
                <a:off x="462" y="882"/>
                <a:ext cx="693" cy="248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6486" name="Freeform 8"/>
              <p:cNvSpPr/>
              <p:nvPr/>
            </p:nvSpPr>
            <p:spPr bwMode="auto">
              <a:xfrm>
                <a:off x="1155" y="1057"/>
                <a:ext cx="3638" cy="1"/>
              </a:xfrm>
              <a:custGeom>
                <a:avLst/>
                <a:gdLst>
                  <a:gd name="T0" fmla="*/ 0 w 3528"/>
                  <a:gd name="T1" fmla="*/ 0 h 1"/>
                  <a:gd name="T2" fmla="*/ 5422 w 3528"/>
                  <a:gd name="T3" fmla="*/ 0 h 1"/>
                  <a:gd name="T4" fmla="*/ 0 60000 65536"/>
                  <a:gd name="T5" fmla="*/ 0 60000 65536"/>
                  <a:gd name="T6" fmla="*/ 0 w 3528"/>
                  <a:gd name="T7" fmla="*/ 0 h 1"/>
                  <a:gd name="T8" fmla="*/ 3528 w 352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28" h="1">
                    <a:moveTo>
                      <a:pt x="0" y="0"/>
                    </a:moveTo>
                    <a:lnTo>
                      <a:pt x="3528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487" name="Rectangle 9"/>
              <p:cNvSpPr>
                <a:spLocks noChangeArrowheads="1"/>
              </p:cNvSpPr>
              <p:nvPr/>
            </p:nvSpPr>
            <p:spPr bwMode="auto">
              <a:xfrm>
                <a:off x="1615" y="1144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6488" name="Freeform 10"/>
              <p:cNvSpPr/>
              <p:nvPr/>
            </p:nvSpPr>
            <p:spPr bwMode="auto">
              <a:xfrm>
                <a:off x="4351" y="1057"/>
                <a:ext cx="1" cy="79"/>
              </a:xfrm>
              <a:custGeom>
                <a:avLst/>
                <a:gdLst>
                  <a:gd name="T0" fmla="*/ 0 w 1"/>
                  <a:gd name="T1" fmla="*/ 0 h 87"/>
                  <a:gd name="T2" fmla="*/ 0 w 1"/>
                  <a:gd name="T3" fmla="*/ 23 h 87"/>
                  <a:gd name="T4" fmla="*/ 0 60000 65536"/>
                  <a:gd name="T5" fmla="*/ 0 60000 65536"/>
                  <a:gd name="T6" fmla="*/ 0 w 1"/>
                  <a:gd name="T7" fmla="*/ 0 h 87"/>
                  <a:gd name="T8" fmla="*/ 1 w 1"/>
                  <a:gd name="T9" fmla="*/ 87 h 8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87">
                    <a:moveTo>
                      <a:pt x="0" y="0"/>
                    </a:moveTo>
                    <a:lnTo>
                      <a:pt x="0" y="8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489" name="Freeform 11"/>
              <p:cNvSpPr/>
              <p:nvPr/>
            </p:nvSpPr>
            <p:spPr bwMode="auto">
              <a:xfrm>
                <a:off x="1155" y="1361"/>
                <a:ext cx="3659" cy="3"/>
              </a:xfrm>
              <a:custGeom>
                <a:avLst/>
                <a:gdLst>
                  <a:gd name="T0" fmla="*/ 0 w 3659"/>
                  <a:gd name="T1" fmla="*/ 0 h 3"/>
                  <a:gd name="T2" fmla="*/ 3659 w 3659"/>
                  <a:gd name="T3" fmla="*/ 3 h 3"/>
                  <a:gd name="T4" fmla="*/ 0 60000 65536"/>
                  <a:gd name="T5" fmla="*/ 0 60000 65536"/>
                  <a:gd name="T6" fmla="*/ 0 w 3659"/>
                  <a:gd name="T7" fmla="*/ 0 h 3"/>
                  <a:gd name="T8" fmla="*/ 3659 w 3659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659" h="3">
                    <a:moveTo>
                      <a:pt x="0" y="0"/>
                    </a:moveTo>
                    <a:lnTo>
                      <a:pt x="365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490" name="Freeform 12"/>
              <p:cNvSpPr/>
              <p:nvPr/>
            </p:nvSpPr>
            <p:spPr bwMode="auto">
              <a:xfrm>
                <a:off x="2727" y="1053"/>
                <a:ext cx="1" cy="86"/>
              </a:xfrm>
              <a:custGeom>
                <a:avLst/>
                <a:gdLst>
                  <a:gd name="T0" fmla="*/ 0 w 1"/>
                  <a:gd name="T1" fmla="*/ 0 h 86"/>
                  <a:gd name="T2" fmla="*/ 1 w 1"/>
                  <a:gd name="T3" fmla="*/ 86 h 86"/>
                  <a:gd name="T4" fmla="*/ 0 60000 65536"/>
                  <a:gd name="T5" fmla="*/ 0 60000 65536"/>
                  <a:gd name="T6" fmla="*/ 0 w 1"/>
                  <a:gd name="T7" fmla="*/ 0 h 86"/>
                  <a:gd name="T8" fmla="*/ 1 w 1"/>
                  <a:gd name="T9" fmla="*/ 86 h 8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86">
                    <a:moveTo>
                      <a:pt x="0" y="0"/>
                    </a:moveTo>
                    <a:lnTo>
                      <a:pt x="1" y="8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491" name="Freeform 13"/>
              <p:cNvSpPr/>
              <p:nvPr/>
            </p:nvSpPr>
            <p:spPr bwMode="auto">
              <a:xfrm>
                <a:off x="1791" y="1051"/>
                <a:ext cx="1" cy="92"/>
              </a:xfrm>
              <a:custGeom>
                <a:avLst/>
                <a:gdLst>
                  <a:gd name="T0" fmla="*/ 0 w 1"/>
                  <a:gd name="T1" fmla="*/ 0 h 92"/>
                  <a:gd name="T2" fmla="*/ 0 w 1"/>
                  <a:gd name="T3" fmla="*/ 92 h 92"/>
                  <a:gd name="T4" fmla="*/ 0 60000 65536"/>
                  <a:gd name="T5" fmla="*/ 0 60000 65536"/>
                  <a:gd name="T6" fmla="*/ 0 w 1"/>
                  <a:gd name="T7" fmla="*/ 0 h 92"/>
                  <a:gd name="T8" fmla="*/ 1 w 1"/>
                  <a:gd name="T9" fmla="*/ 92 h 9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92">
                    <a:moveTo>
                      <a:pt x="0" y="0"/>
                    </a:moveTo>
                    <a:lnTo>
                      <a:pt x="0" y="92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492" name="Freeform 14"/>
              <p:cNvSpPr/>
              <p:nvPr/>
            </p:nvSpPr>
            <p:spPr bwMode="auto">
              <a:xfrm>
                <a:off x="1788" y="1278"/>
                <a:ext cx="1" cy="85"/>
              </a:xfrm>
              <a:custGeom>
                <a:avLst/>
                <a:gdLst>
                  <a:gd name="T0" fmla="*/ 0 w 1"/>
                  <a:gd name="T1" fmla="*/ 26 h 93"/>
                  <a:gd name="T2" fmla="*/ 0 w 1"/>
                  <a:gd name="T3" fmla="*/ 0 h 93"/>
                  <a:gd name="T4" fmla="*/ 0 60000 65536"/>
                  <a:gd name="T5" fmla="*/ 0 60000 65536"/>
                  <a:gd name="T6" fmla="*/ 0 w 1"/>
                  <a:gd name="T7" fmla="*/ 0 h 93"/>
                  <a:gd name="T8" fmla="*/ 1 w 1"/>
                  <a:gd name="T9" fmla="*/ 93 h 9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93">
                    <a:moveTo>
                      <a:pt x="0" y="93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493" name="Freeform 15"/>
              <p:cNvSpPr/>
              <p:nvPr/>
            </p:nvSpPr>
            <p:spPr bwMode="auto">
              <a:xfrm>
                <a:off x="2736" y="1266"/>
                <a:ext cx="3" cy="95"/>
              </a:xfrm>
              <a:custGeom>
                <a:avLst/>
                <a:gdLst>
                  <a:gd name="T0" fmla="*/ 0 w 3"/>
                  <a:gd name="T1" fmla="*/ 26 h 105"/>
                  <a:gd name="T2" fmla="*/ 3 w 3"/>
                  <a:gd name="T3" fmla="*/ 0 h 105"/>
                  <a:gd name="T4" fmla="*/ 0 60000 65536"/>
                  <a:gd name="T5" fmla="*/ 0 60000 65536"/>
                  <a:gd name="T6" fmla="*/ 0 w 3"/>
                  <a:gd name="T7" fmla="*/ 0 h 105"/>
                  <a:gd name="T8" fmla="*/ 3 w 3"/>
                  <a:gd name="T9" fmla="*/ 105 h 10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5">
                    <a:moveTo>
                      <a:pt x="0" y="105"/>
                    </a:moveTo>
                    <a:lnTo>
                      <a:pt x="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494" name="Line 16"/>
              <p:cNvSpPr>
                <a:spLocks noChangeShapeType="1"/>
              </p:cNvSpPr>
              <p:nvPr/>
            </p:nvSpPr>
            <p:spPr bwMode="auto">
              <a:xfrm rot="10800000">
                <a:off x="4351" y="1278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495" name="Freeform 17"/>
              <p:cNvSpPr/>
              <p:nvPr/>
            </p:nvSpPr>
            <p:spPr bwMode="auto">
              <a:xfrm>
                <a:off x="1155" y="1625"/>
                <a:ext cx="3653" cy="1"/>
              </a:xfrm>
              <a:custGeom>
                <a:avLst/>
                <a:gdLst>
                  <a:gd name="T0" fmla="*/ 0 w 3543"/>
                  <a:gd name="T1" fmla="*/ 0 h 1"/>
                  <a:gd name="T2" fmla="*/ 5435 w 3543"/>
                  <a:gd name="T3" fmla="*/ 0 h 1"/>
                  <a:gd name="T4" fmla="*/ 0 60000 65536"/>
                  <a:gd name="T5" fmla="*/ 0 60000 65536"/>
                  <a:gd name="T6" fmla="*/ 0 w 3543"/>
                  <a:gd name="T7" fmla="*/ 0 h 1"/>
                  <a:gd name="T8" fmla="*/ 3543 w 354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43" h="1">
                    <a:moveTo>
                      <a:pt x="0" y="0"/>
                    </a:moveTo>
                    <a:lnTo>
                      <a:pt x="354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496" name="Line 18"/>
              <p:cNvSpPr>
                <a:spLocks noChangeShapeType="1"/>
              </p:cNvSpPr>
              <p:nvPr/>
            </p:nvSpPr>
            <p:spPr bwMode="auto">
              <a:xfrm>
                <a:off x="4351" y="1625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497" name="Freeform 19"/>
              <p:cNvSpPr/>
              <p:nvPr/>
            </p:nvSpPr>
            <p:spPr bwMode="auto">
              <a:xfrm>
                <a:off x="1155" y="1929"/>
                <a:ext cx="3656" cy="1"/>
              </a:xfrm>
              <a:custGeom>
                <a:avLst/>
                <a:gdLst>
                  <a:gd name="T0" fmla="*/ 0 w 3546"/>
                  <a:gd name="T1" fmla="*/ 0 h 2"/>
                  <a:gd name="T2" fmla="*/ 5438 w 3546"/>
                  <a:gd name="T3" fmla="*/ 1 h 2"/>
                  <a:gd name="T4" fmla="*/ 0 60000 65536"/>
                  <a:gd name="T5" fmla="*/ 0 60000 65536"/>
                  <a:gd name="T6" fmla="*/ 0 w 3546"/>
                  <a:gd name="T7" fmla="*/ 0 h 2"/>
                  <a:gd name="T8" fmla="*/ 3546 w 354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46" h="2">
                    <a:moveTo>
                      <a:pt x="0" y="0"/>
                    </a:moveTo>
                    <a:lnTo>
                      <a:pt x="3546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498" name="Line 20"/>
              <p:cNvSpPr>
                <a:spLocks noChangeShapeType="1"/>
              </p:cNvSpPr>
              <p:nvPr/>
            </p:nvSpPr>
            <p:spPr bwMode="auto">
              <a:xfrm>
                <a:off x="2725" y="1625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499" name="Line 21"/>
              <p:cNvSpPr>
                <a:spLocks noChangeShapeType="1"/>
              </p:cNvSpPr>
              <p:nvPr/>
            </p:nvSpPr>
            <p:spPr bwMode="auto">
              <a:xfrm>
                <a:off x="1788" y="1625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00" name="Line 22"/>
              <p:cNvSpPr>
                <a:spLocks noChangeShapeType="1"/>
              </p:cNvSpPr>
              <p:nvPr/>
            </p:nvSpPr>
            <p:spPr bwMode="auto">
              <a:xfrm rot="10800000">
                <a:off x="1788" y="1844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01" name="Line 23"/>
              <p:cNvSpPr>
                <a:spLocks noChangeShapeType="1"/>
              </p:cNvSpPr>
              <p:nvPr/>
            </p:nvSpPr>
            <p:spPr bwMode="auto">
              <a:xfrm rot="10800000">
                <a:off x="2725" y="1846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02" name="Line 24"/>
              <p:cNvSpPr>
                <a:spLocks noChangeShapeType="1"/>
              </p:cNvSpPr>
              <p:nvPr/>
            </p:nvSpPr>
            <p:spPr bwMode="auto">
              <a:xfrm rot="10800000">
                <a:off x="4351" y="1846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03" name="Freeform 25"/>
              <p:cNvSpPr/>
              <p:nvPr/>
            </p:nvSpPr>
            <p:spPr bwMode="auto">
              <a:xfrm>
                <a:off x="1155" y="2498"/>
                <a:ext cx="3675" cy="1"/>
              </a:xfrm>
              <a:custGeom>
                <a:avLst/>
                <a:gdLst>
                  <a:gd name="T0" fmla="*/ 0 w 3564"/>
                  <a:gd name="T1" fmla="*/ 0 h 1"/>
                  <a:gd name="T2" fmla="*/ 5474 w 3564"/>
                  <a:gd name="T3" fmla="*/ 0 h 1"/>
                  <a:gd name="T4" fmla="*/ 0 60000 65536"/>
                  <a:gd name="T5" fmla="*/ 0 60000 65536"/>
                  <a:gd name="T6" fmla="*/ 0 w 3564"/>
                  <a:gd name="T7" fmla="*/ 0 h 1"/>
                  <a:gd name="T8" fmla="*/ 3564 w 356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64" h="1">
                    <a:moveTo>
                      <a:pt x="0" y="0"/>
                    </a:moveTo>
                    <a:lnTo>
                      <a:pt x="3564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04" name="Line 26"/>
              <p:cNvSpPr>
                <a:spLocks noChangeShapeType="1"/>
              </p:cNvSpPr>
              <p:nvPr/>
            </p:nvSpPr>
            <p:spPr bwMode="auto">
              <a:xfrm>
                <a:off x="4351" y="2498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05" name="Freeform 27"/>
              <p:cNvSpPr/>
              <p:nvPr/>
            </p:nvSpPr>
            <p:spPr bwMode="auto">
              <a:xfrm>
                <a:off x="1155" y="2802"/>
                <a:ext cx="3647" cy="1"/>
              </a:xfrm>
              <a:custGeom>
                <a:avLst/>
                <a:gdLst>
                  <a:gd name="T0" fmla="*/ 0 w 3647"/>
                  <a:gd name="T1" fmla="*/ 0 h 1"/>
                  <a:gd name="T2" fmla="*/ 3647 w 3647"/>
                  <a:gd name="T3" fmla="*/ 1 h 1"/>
                  <a:gd name="T4" fmla="*/ 0 60000 65536"/>
                  <a:gd name="T5" fmla="*/ 0 60000 65536"/>
                  <a:gd name="T6" fmla="*/ 0 w 3647"/>
                  <a:gd name="T7" fmla="*/ 0 h 1"/>
                  <a:gd name="T8" fmla="*/ 3647 w 364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647" h="1">
                    <a:moveTo>
                      <a:pt x="0" y="0"/>
                    </a:moveTo>
                    <a:lnTo>
                      <a:pt x="3647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06" name="Line 28"/>
              <p:cNvSpPr>
                <a:spLocks noChangeShapeType="1"/>
              </p:cNvSpPr>
              <p:nvPr/>
            </p:nvSpPr>
            <p:spPr bwMode="auto">
              <a:xfrm>
                <a:off x="2725" y="2498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07" name="Line 29"/>
              <p:cNvSpPr>
                <a:spLocks noChangeShapeType="1"/>
              </p:cNvSpPr>
              <p:nvPr/>
            </p:nvSpPr>
            <p:spPr bwMode="auto">
              <a:xfrm>
                <a:off x="1788" y="2498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08" name="Line 30"/>
              <p:cNvSpPr>
                <a:spLocks noChangeShapeType="1"/>
              </p:cNvSpPr>
              <p:nvPr/>
            </p:nvSpPr>
            <p:spPr bwMode="auto">
              <a:xfrm rot="10800000">
                <a:off x="1788" y="2718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09" name="Line 31"/>
              <p:cNvSpPr>
                <a:spLocks noChangeShapeType="1"/>
              </p:cNvSpPr>
              <p:nvPr/>
            </p:nvSpPr>
            <p:spPr bwMode="auto">
              <a:xfrm rot="10800000">
                <a:off x="2725" y="272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10" name="Line 32"/>
              <p:cNvSpPr>
                <a:spLocks noChangeShapeType="1"/>
              </p:cNvSpPr>
              <p:nvPr/>
            </p:nvSpPr>
            <p:spPr bwMode="auto">
              <a:xfrm rot="10800000">
                <a:off x="4351" y="272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11" name="AutoShape 33"/>
              <p:cNvSpPr>
                <a:spLocks noChangeArrowheads="1"/>
              </p:cNvSpPr>
              <p:nvPr/>
            </p:nvSpPr>
            <p:spPr bwMode="auto">
              <a:xfrm rot="-5400000">
                <a:off x="1700" y="2850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6512" name="Freeform 34"/>
              <p:cNvSpPr/>
              <p:nvPr/>
            </p:nvSpPr>
            <p:spPr bwMode="auto">
              <a:xfrm>
                <a:off x="1416" y="1214"/>
                <a:ext cx="198" cy="2026"/>
              </a:xfrm>
              <a:custGeom>
                <a:avLst/>
                <a:gdLst>
                  <a:gd name="T0" fmla="*/ 198 w 198"/>
                  <a:gd name="T1" fmla="*/ 0 h 2026"/>
                  <a:gd name="T2" fmla="*/ 0 w 198"/>
                  <a:gd name="T3" fmla="*/ 0 h 2026"/>
                  <a:gd name="T4" fmla="*/ 6 w 198"/>
                  <a:gd name="T5" fmla="*/ 2026 h 2026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26"/>
                  <a:gd name="T11" fmla="*/ 198 w 198"/>
                  <a:gd name="T12" fmla="*/ 2026 h 20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26">
                    <a:moveTo>
                      <a:pt x="198" y="0"/>
                    </a:moveTo>
                    <a:lnTo>
                      <a:pt x="0" y="0"/>
                    </a:lnTo>
                    <a:lnTo>
                      <a:pt x="6" y="202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13" name="Freeform 35"/>
              <p:cNvSpPr/>
              <p:nvPr/>
            </p:nvSpPr>
            <p:spPr bwMode="auto">
              <a:xfrm>
                <a:off x="1419" y="1770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14" name="Freeform 36"/>
              <p:cNvSpPr/>
              <p:nvPr/>
            </p:nvSpPr>
            <p:spPr bwMode="auto">
              <a:xfrm>
                <a:off x="1422" y="2651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15" name="Line 37"/>
              <p:cNvSpPr>
                <a:spLocks noChangeShapeType="1"/>
              </p:cNvSpPr>
              <p:nvPr/>
            </p:nvSpPr>
            <p:spPr bwMode="auto">
              <a:xfrm>
                <a:off x="1419" y="3023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16" name="Freeform 38"/>
              <p:cNvSpPr/>
              <p:nvPr/>
            </p:nvSpPr>
            <p:spPr bwMode="auto">
              <a:xfrm>
                <a:off x="3979" y="1214"/>
                <a:ext cx="198" cy="2023"/>
              </a:xfrm>
              <a:custGeom>
                <a:avLst/>
                <a:gdLst>
                  <a:gd name="T0" fmla="*/ 198 w 198"/>
                  <a:gd name="T1" fmla="*/ 0 h 2023"/>
                  <a:gd name="T2" fmla="*/ 0 w 198"/>
                  <a:gd name="T3" fmla="*/ 0 h 2023"/>
                  <a:gd name="T4" fmla="*/ 2 w 198"/>
                  <a:gd name="T5" fmla="*/ 2023 h 2023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23"/>
                  <a:gd name="T11" fmla="*/ 198 w 198"/>
                  <a:gd name="T12" fmla="*/ 2023 h 202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23">
                    <a:moveTo>
                      <a:pt x="198" y="0"/>
                    </a:moveTo>
                    <a:lnTo>
                      <a:pt x="0" y="0"/>
                    </a:lnTo>
                    <a:lnTo>
                      <a:pt x="2" y="202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17" name="Freeform 39"/>
              <p:cNvSpPr/>
              <p:nvPr/>
            </p:nvSpPr>
            <p:spPr bwMode="auto">
              <a:xfrm>
                <a:off x="3982" y="1770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18" name="Freeform 40"/>
              <p:cNvSpPr/>
              <p:nvPr/>
            </p:nvSpPr>
            <p:spPr bwMode="auto">
              <a:xfrm>
                <a:off x="3985" y="2651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19" name="Line 41"/>
              <p:cNvSpPr>
                <a:spLocks noChangeShapeType="1"/>
              </p:cNvSpPr>
              <p:nvPr/>
            </p:nvSpPr>
            <p:spPr bwMode="auto">
              <a:xfrm>
                <a:off x="3982" y="3023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20" name="Freeform 42"/>
              <p:cNvSpPr/>
              <p:nvPr/>
            </p:nvSpPr>
            <p:spPr bwMode="auto">
              <a:xfrm>
                <a:off x="2347" y="1214"/>
                <a:ext cx="198" cy="2024"/>
              </a:xfrm>
              <a:custGeom>
                <a:avLst/>
                <a:gdLst>
                  <a:gd name="T0" fmla="*/ 295 w 192"/>
                  <a:gd name="T1" fmla="*/ 0 h 2224"/>
                  <a:gd name="T2" fmla="*/ 0 w 192"/>
                  <a:gd name="T3" fmla="*/ 0 h 2224"/>
                  <a:gd name="T4" fmla="*/ 2 w 192"/>
                  <a:gd name="T5" fmla="*/ 594 h 2224"/>
                  <a:gd name="T6" fmla="*/ 0 60000 65536"/>
                  <a:gd name="T7" fmla="*/ 0 60000 65536"/>
                  <a:gd name="T8" fmla="*/ 0 60000 65536"/>
                  <a:gd name="T9" fmla="*/ 0 w 192"/>
                  <a:gd name="T10" fmla="*/ 0 h 2224"/>
                  <a:gd name="T11" fmla="*/ 192 w 192"/>
                  <a:gd name="T12" fmla="*/ 2224 h 22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2" h="2224">
                    <a:moveTo>
                      <a:pt x="192" y="0"/>
                    </a:moveTo>
                    <a:lnTo>
                      <a:pt x="0" y="0"/>
                    </a:lnTo>
                    <a:lnTo>
                      <a:pt x="2" y="222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21" name="Freeform 43"/>
              <p:cNvSpPr/>
              <p:nvPr/>
            </p:nvSpPr>
            <p:spPr bwMode="auto">
              <a:xfrm>
                <a:off x="2350" y="1770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22" name="Freeform 44"/>
              <p:cNvSpPr/>
              <p:nvPr/>
            </p:nvSpPr>
            <p:spPr bwMode="auto">
              <a:xfrm>
                <a:off x="2353" y="2651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23" name="Line 45"/>
              <p:cNvSpPr>
                <a:spLocks noChangeShapeType="1"/>
              </p:cNvSpPr>
              <p:nvPr/>
            </p:nvSpPr>
            <p:spPr bwMode="auto">
              <a:xfrm>
                <a:off x="2350" y="3023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24" name="Freeform 46"/>
              <p:cNvSpPr/>
              <p:nvPr/>
            </p:nvSpPr>
            <p:spPr bwMode="auto">
              <a:xfrm>
                <a:off x="1964" y="1201"/>
                <a:ext cx="198" cy="2030"/>
              </a:xfrm>
              <a:custGeom>
                <a:avLst/>
                <a:gdLst>
                  <a:gd name="T0" fmla="*/ 0 w 198"/>
                  <a:gd name="T1" fmla="*/ 0 h 2030"/>
                  <a:gd name="T2" fmla="*/ 198 w 198"/>
                  <a:gd name="T3" fmla="*/ 0 h 2030"/>
                  <a:gd name="T4" fmla="*/ 193 w 198"/>
                  <a:gd name="T5" fmla="*/ 2030 h 2030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30"/>
                  <a:gd name="T11" fmla="*/ 198 w 198"/>
                  <a:gd name="T12" fmla="*/ 2030 h 203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30">
                    <a:moveTo>
                      <a:pt x="0" y="0"/>
                    </a:moveTo>
                    <a:lnTo>
                      <a:pt x="198" y="0"/>
                    </a:lnTo>
                    <a:lnTo>
                      <a:pt x="193" y="203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25" name="Freeform 47"/>
              <p:cNvSpPr/>
              <p:nvPr/>
            </p:nvSpPr>
            <p:spPr bwMode="auto">
              <a:xfrm rot="10800000">
                <a:off x="1959" y="1770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26" name="Freeform 48"/>
              <p:cNvSpPr/>
              <p:nvPr/>
            </p:nvSpPr>
            <p:spPr bwMode="auto">
              <a:xfrm rot="10800000">
                <a:off x="1959" y="2651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27" name="Freeform 49"/>
              <p:cNvSpPr/>
              <p:nvPr/>
            </p:nvSpPr>
            <p:spPr bwMode="auto">
              <a:xfrm>
                <a:off x="1958" y="3023"/>
                <a:ext cx="200" cy="1"/>
              </a:xfrm>
              <a:custGeom>
                <a:avLst/>
                <a:gdLst>
                  <a:gd name="T0" fmla="*/ 297 w 194"/>
                  <a:gd name="T1" fmla="*/ 0 h 1"/>
                  <a:gd name="T2" fmla="*/ 0 w 194"/>
                  <a:gd name="T3" fmla="*/ 0 h 1"/>
                  <a:gd name="T4" fmla="*/ 0 60000 65536"/>
                  <a:gd name="T5" fmla="*/ 0 60000 65536"/>
                  <a:gd name="T6" fmla="*/ 0 w 194"/>
                  <a:gd name="T7" fmla="*/ 0 h 1"/>
                  <a:gd name="T8" fmla="*/ 194 w 19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4" h="1">
                    <a:moveTo>
                      <a:pt x="19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28" name="Freeform 50"/>
              <p:cNvSpPr/>
              <p:nvPr/>
            </p:nvSpPr>
            <p:spPr bwMode="auto">
              <a:xfrm>
                <a:off x="2893" y="1201"/>
                <a:ext cx="199" cy="2047"/>
              </a:xfrm>
              <a:custGeom>
                <a:avLst/>
                <a:gdLst>
                  <a:gd name="T0" fmla="*/ 0 w 193"/>
                  <a:gd name="T1" fmla="*/ 0 h 2250"/>
                  <a:gd name="T2" fmla="*/ 295 w 193"/>
                  <a:gd name="T3" fmla="*/ 0 h 2250"/>
                  <a:gd name="T4" fmla="*/ 296 w 193"/>
                  <a:gd name="T5" fmla="*/ 599 h 2250"/>
                  <a:gd name="T6" fmla="*/ 0 60000 65536"/>
                  <a:gd name="T7" fmla="*/ 0 60000 65536"/>
                  <a:gd name="T8" fmla="*/ 0 60000 65536"/>
                  <a:gd name="T9" fmla="*/ 0 w 193"/>
                  <a:gd name="T10" fmla="*/ 0 h 2250"/>
                  <a:gd name="T11" fmla="*/ 193 w 193"/>
                  <a:gd name="T12" fmla="*/ 2250 h 225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3" h="2250">
                    <a:moveTo>
                      <a:pt x="0" y="0"/>
                    </a:moveTo>
                    <a:lnTo>
                      <a:pt x="192" y="0"/>
                    </a:lnTo>
                    <a:lnTo>
                      <a:pt x="193" y="225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29" name="Freeform 51"/>
              <p:cNvSpPr/>
              <p:nvPr/>
            </p:nvSpPr>
            <p:spPr bwMode="auto">
              <a:xfrm rot="10800000">
                <a:off x="2890" y="1770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30" name="Freeform 52"/>
              <p:cNvSpPr/>
              <p:nvPr/>
            </p:nvSpPr>
            <p:spPr bwMode="auto">
              <a:xfrm rot="10800000">
                <a:off x="2890" y="2651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31" name="Freeform 53"/>
              <p:cNvSpPr/>
              <p:nvPr/>
            </p:nvSpPr>
            <p:spPr bwMode="auto">
              <a:xfrm>
                <a:off x="2895" y="3023"/>
                <a:ext cx="194" cy="1"/>
              </a:xfrm>
              <a:custGeom>
                <a:avLst/>
                <a:gdLst>
                  <a:gd name="T0" fmla="*/ 291 w 188"/>
                  <a:gd name="T1" fmla="*/ 0 h 1"/>
                  <a:gd name="T2" fmla="*/ 0 w 188"/>
                  <a:gd name="T3" fmla="*/ 0 h 1"/>
                  <a:gd name="T4" fmla="*/ 0 60000 65536"/>
                  <a:gd name="T5" fmla="*/ 0 60000 65536"/>
                  <a:gd name="T6" fmla="*/ 0 w 188"/>
                  <a:gd name="T7" fmla="*/ 0 h 1"/>
                  <a:gd name="T8" fmla="*/ 188 w 18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88" h="1">
                    <a:moveTo>
                      <a:pt x="18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32" name="Freeform 54"/>
              <p:cNvSpPr/>
              <p:nvPr/>
            </p:nvSpPr>
            <p:spPr bwMode="auto">
              <a:xfrm>
                <a:off x="4531" y="1201"/>
                <a:ext cx="203" cy="2027"/>
              </a:xfrm>
              <a:custGeom>
                <a:avLst/>
                <a:gdLst>
                  <a:gd name="T0" fmla="*/ 0 w 203"/>
                  <a:gd name="T1" fmla="*/ 0 h 2027"/>
                  <a:gd name="T2" fmla="*/ 198 w 203"/>
                  <a:gd name="T3" fmla="*/ 0 h 2027"/>
                  <a:gd name="T4" fmla="*/ 203 w 203"/>
                  <a:gd name="T5" fmla="*/ 2027 h 2027"/>
                  <a:gd name="T6" fmla="*/ 0 60000 65536"/>
                  <a:gd name="T7" fmla="*/ 0 60000 65536"/>
                  <a:gd name="T8" fmla="*/ 0 60000 65536"/>
                  <a:gd name="T9" fmla="*/ 0 w 203"/>
                  <a:gd name="T10" fmla="*/ 0 h 2027"/>
                  <a:gd name="T11" fmla="*/ 203 w 203"/>
                  <a:gd name="T12" fmla="*/ 2027 h 20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3" h="2027">
                    <a:moveTo>
                      <a:pt x="0" y="0"/>
                    </a:moveTo>
                    <a:lnTo>
                      <a:pt x="198" y="0"/>
                    </a:lnTo>
                    <a:lnTo>
                      <a:pt x="203" y="202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33" name="Freeform 55"/>
              <p:cNvSpPr/>
              <p:nvPr/>
            </p:nvSpPr>
            <p:spPr bwMode="auto">
              <a:xfrm rot="10800000">
                <a:off x="4528" y="1770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34" name="Freeform 56"/>
              <p:cNvSpPr/>
              <p:nvPr/>
            </p:nvSpPr>
            <p:spPr bwMode="auto">
              <a:xfrm rot="10800000">
                <a:off x="4528" y="2651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35" name="Freeform 57"/>
              <p:cNvSpPr/>
              <p:nvPr/>
            </p:nvSpPr>
            <p:spPr bwMode="auto">
              <a:xfrm rot="10800000">
                <a:off x="4524" y="3021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536" name="Rectangle 58"/>
              <p:cNvSpPr>
                <a:spLocks noChangeArrowheads="1"/>
              </p:cNvSpPr>
              <p:nvPr/>
            </p:nvSpPr>
            <p:spPr bwMode="auto">
              <a:xfrm>
                <a:off x="1204" y="3242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tIns="36000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读  写  控  制  电  路</a:t>
                </a:r>
              </a:p>
            </p:txBody>
          </p:sp>
          <p:sp>
            <p:nvSpPr>
              <p:cNvPr id="146537" name="Rectangle 59"/>
              <p:cNvSpPr>
                <a:spLocks noChangeArrowheads="1"/>
              </p:cNvSpPr>
              <p:nvPr/>
            </p:nvSpPr>
            <p:spPr bwMode="auto">
              <a:xfrm>
                <a:off x="1204" y="3722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列  地  址  译  码  器</a:t>
                </a:r>
              </a:p>
            </p:txBody>
          </p:sp>
          <p:sp>
            <p:nvSpPr>
              <p:cNvPr id="146538" name="Text Box 60"/>
              <p:cNvSpPr txBox="1">
                <a:spLocks noChangeArrowheads="1"/>
              </p:cNvSpPr>
              <p:nvPr/>
            </p:nvSpPr>
            <p:spPr bwMode="auto">
              <a:xfrm rot="5400000">
                <a:off x="1689" y="2031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6539" name="Text Box 61"/>
              <p:cNvSpPr txBox="1">
                <a:spLocks noChangeArrowheads="1"/>
              </p:cNvSpPr>
              <p:nvPr/>
            </p:nvSpPr>
            <p:spPr bwMode="auto">
              <a:xfrm rot="5400000">
                <a:off x="2620" y="2031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6540" name="Text Box 62"/>
              <p:cNvSpPr txBox="1">
                <a:spLocks noChangeArrowheads="1"/>
              </p:cNvSpPr>
              <p:nvPr/>
            </p:nvSpPr>
            <p:spPr bwMode="auto">
              <a:xfrm rot="5400000">
                <a:off x="4252" y="2031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6541" name="Rectangle 63"/>
              <p:cNvSpPr>
                <a:spLocks noChangeArrowheads="1"/>
              </p:cNvSpPr>
              <p:nvPr/>
            </p:nvSpPr>
            <p:spPr bwMode="auto">
              <a:xfrm>
                <a:off x="1615" y="1709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6542" name="Rectangle 64"/>
              <p:cNvSpPr>
                <a:spLocks noChangeArrowheads="1"/>
              </p:cNvSpPr>
              <p:nvPr/>
            </p:nvSpPr>
            <p:spPr bwMode="auto">
              <a:xfrm>
                <a:off x="1615" y="258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6543" name="Rectangle 65"/>
              <p:cNvSpPr>
                <a:spLocks noChangeArrowheads="1"/>
              </p:cNvSpPr>
              <p:nvPr/>
            </p:nvSpPr>
            <p:spPr bwMode="auto">
              <a:xfrm>
                <a:off x="2546" y="1144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6544" name="Rectangle 66"/>
              <p:cNvSpPr>
                <a:spLocks noChangeArrowheads="1"/>
              </p:cNvSpPr>
              <p:nvPr/>
            </p:nvSpPr>
            <p:spPr bwMode="auto">
              <a:xfrm>
                <a:off x="2546" y="1709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6545" name="Rectangle 67"/>
              <p:cNvSpPr>
                <a:spLocks noChangeArrowheads="1"/>
              </p:cNvSpPr>
              <p:nvPr/>
            </p:nvSpPr>
            <p:spPr bwMode="auto">
              <a:xfrm>
                <a:off x="2546" y="258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6546" name="Rectangle 68"/>
              <p:cNvSpPr>
                <a:spLocks noChangeArrowheads="1"/>
              </p:cNvSpPr>
              <p:nvPr/>
            </p:nvSpPr>
            <p:spPr bwMode="auto">
              <a:xfrm>
                <a:off x="4178" y="1144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6547" name="Rectangle 69"/>
              <p:cNvSpPr>
                <a:spLocks noChangeArrowheads="1"/>
              </p:cNvSpPr>
              <p:nvPr/>
            </p:nvSpPr>
            <p:spPr bwMode="auto">
              <a:xfrm>
                <a:off x="4178" y="1709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6548" name="Rectangle 70"/>
              <p:cNvSpPr>
                <a:spLocks noChangeArrowheads="1"/>
              </p:cNvSpPr>
              <p:nvPr/>
            </p:nvSpPr>
            <p:spPr bwMode="auto">
              <a:xfrm>
                <a:off x="4178" y="258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6549" name="AutoShape 71"/>
              <p:cNvSpPr>
                <a:spLocks noChangeArrowheads="1"/>
              </p:cNvSpPr>
              <p:nvPr/>
            </p:nvSpPr>
            <p:spPr bwMode="auto">
              <a:xfrm rot="-5400000">
                <a:off x="2631" y="2850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6550" name="AutoShape 72"/>
              <p:cNvSpPr>
                <a:spLocks noChangeArrowheads="1"/>
              </p:cNvSpPr>
              <p:nvPr/>
            </p:nvSpPr>
            <p:spPr bwMode="auto">
              <a:xfrm rot="-5400000">
                <a:off x="4263" y="2850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6551" name="Text Box 73"/>
              <p:cNvSpPr txBox="1">
                <a:spLocks noChangeArrowheads="1"/>
              </p:cNvSpPr>
              <p:nvPr/>
            </p:nvSpPr>
            <p:spPr bwMode="auto">
              <a:xfrm>
                <a:off x="4796" y="927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读选择线</a:t>
                </a:r>
              </a:p>
            </p:txBody>
          </p:sp>
          <p:sp>
            <p:nvSpPr>
              <p:cNvPr id="146552" name="Text Box 74"/>
              <p:cNvSpPr txBox="1">
                <a:spLocks noChangeArrowheads="1"/>
              </p:cNvSpPr>
              <p:nvPr/>
            </p:nvSpPr>
            <p:spPr bwMode="auto">
              <a:xfrm>
                <a:off x="4806" y="1216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写选择线</a:t>
                </a:r>
              </a:p>
            </p:txBody>
          </p:sp>
          <p:sp>
            <p:nvSpPr>
              <p:cNvPr id="146553" name="Line 75"/>
              <p:cNvSpPr>
                <a:spLocks noChangeShapeType="1"/>
              </p:cNvSpPr>
              <p:nvPr/>
            </p:nvSpPr>
            <p:spPr bwMode="auto">
              <a:xfrm>
                <a:off x="4817" y="3372"/>
                <a:ext cx="3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6554" name="Text Box 76"/>
              <p:cNvSpPr txBox="1">
                <a:spLocks noChangeArrowheads="1"/>
              </p:cNvSpPr>
              <p:nvPr/>
            </p:nvSpPr>
            <p:spPr bwMode="auto">
              <a:xfrm>
                <a:off x="4906" y="3090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46555" name="Text Box 77"/>
              <p:cNvSpPr txBox="1">
                <a:spLocks noChangeArrowheads="1"/>
              </p:cNvSpPr>
              <p:nvPr/>
            </p:nvSpPr>
            <p:spPr bwMode="auto">
              <a:xfrm>
                <a:off x="503" y="1002"/>
                <a:ext cx="309" cy="2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行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地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址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译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码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器</a:t>
                </a:r>
              </a:p>
            </p:txBody>
          </p:sp>
          <p:sp>
            <p:nvSpPr>
              <p:cNvPr id="146556" name="Text Box 78"/>
              <p:cNvSpPr txBox="1">
                <a:spLocks noChangeArrowheads="1"/>
              </p:cNvSpPr>
              <p:nvPr/>
            </p:nvSpPr>
            <p:spPr bwMode="auto">
              <a:xfrm>
                <a:off x="907" y="93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46557" name="Text Box 79"/>
              <p:cNvSpPr txBox="1">
                <a:spLocks noChangeArrowheads="1"/>
              </p:cNvSpPr>
              <p:nvPr/>
            </p:nvSpPr>
            <p:spPr bwMode="auto">
              <a:xfrm>
                <a:off x="907" y="1218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46558" name="Text Box 80"/>
              <p:cNvSpPr txBox="1">
                <a:spLocks noChangeArrowheads="1"/>
              </p:cNvSpPr>
              <p:nvPr/>
            </p:nvSpPr>
            <p:spPr bwMode="auto">
              <a:xfrm>
                <a:off x="907" y="152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46559" name="Text Box 81"/>
              <p:cNvSpPr txBox="1">
                <a:spLocks noChangeArrowheads="1"/>
              </p:cNvSpPr>
              <p:nvPr/>
            </p:nvSpPr>
            <p:spPr bwMode="auto">
              <a:xfrm>
                <a:off x="907" y="1827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46560" name="Text Box 82"/>
              <p:cNvSpPr txBox="1">
                <a:spLocks noChangeArrowheads="1"/>
              </p:cNvSpPr>
              <p:nvPr/>
            </p:nvSpPr>
            <p:spPr bwMode="auto">
              <a:xfrm>
                <a:off x="854" y="2360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46561" name="Text Box 83"/>
              <p:cNvSpPr txBox="1">
                <a:spLocks noChangeArrowheads="1"/>
              </p:cNvSpPr>
              <p:nvPr/>
            </p:nvSpPr>
            <p:spPr bwMode="auto">
              <a:xfrm>
                <a:off x="858" y="2658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46562" name="Line 84"/>
              <p:cNvSpPr>
                <a:spLocks noChangeShapeType="1"/>
              </p:cNvSpPr>
              <p:nvPr/>
            </p:nvSpPr>
            <p:spPr bwMode="auto">
              <a:xfrm>
                <a:off x="1887" y="3515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6563" name="Line 85"/>
              <p:cNvSpPr>
                <a:spLocks noChangeShapeType="1"/>
              </p:cNvSpPr>
              <p:nvPr/>
            </p:nvSpPr>
            <p:spPr bwMode="auto">
              <a:xfrm>
                <a:off x="2832" y="3515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6564" name="Text Box 86"/>
              <p:cNvSpPr txBox="1">
                <a:spLocks noChangeArrowheads="1"/>
              </p:cNvSpPr>
              <p:nvPr/>
            </p:nvSpPr>
            <p:spPr bwMode="auto">
              <a:xfrm>
                <a:off x="2613" y="3486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grpSp>
            <p:nvGrpSpPr>
              <p:cNvPr id="146565" name="Group 87"/>
              <p:cNvGrpSpPr/>
              <p:nvPr/>
            </p:nvGrpSpPr>
            <p:grpSpPr bwMode="auto">
              <a:xfrm>
                <a:off x="0" y="1160"/>
                <a:ext cx="462" cy="250"/>
                <a:chOff x="0" y="933"/>
                <a:chExt cx="462" cy="250"/>
              </a:xfrm>
            </p:grpSpPr>
            <p:sp>
              <p:nvSpPr>
                <p:cNvPr id="146618" name="Line 88"/>
                <p:cNvSpPr>
                  <a:spLocks noChangeShapeType="1"/>
                </p:cNvSpPr>
                <p:nvPr/>
              </p:nvSpPr>
              <p:spPr bwMode="auto">
                <a:xfrm>
                  <a:off x="214" y="991"/>
                  <a:ext cx="24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6619" name="Text Box 89"/>
                <p:cNvSpPr txBox="1">
                  <a:spLocks noChangeArrowheads="1"/>
                </p:cNvSpPr>
                <p:nvPr/>
              </p:nvSpPr>
              <p:spPr bwMode="auto">
                <a:xfrm>
                  <a:off x="0" y="933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</p:grpSp>
          <p:grpSp>
            <p:nvGrpSpPr>
              <p:cNvPr id="146566" name="Group 90"/>
              <p:cNvGrpSpPr/>
              <p:nvPr/>
            </p:nvGrpSpPr>
            <p:grpSpPr bwMode="auto">
              <a:xfrm>
                <a:off x="16" y="1606"/>
                <a:ext cx="446" cy="250"/>
                <a:chOff x="16" y="1371"/>
                <a:chExt cx="446" cy="250"/>
              </a:xfrm>
            </p:grpSpPr>
            <p:sp>
              <p:nvSpPr>
                <p:cNvPr id="146616" name="Line 91"/>
                <p:cNvSpPr>
                  <a:spLocks noChangeShapeType="1"/>
                </p:cNvSpPr>
                <p:nvPr/>
              </p:nvSpPr>
              <p:spPr bwMode="auto">
                <a:xfrm>
                  <a:off x="214" y="1439"/>
                  <a:ext cx="24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6617" name="Text Box 92"/>
                <p:cNvSpPr txBox="1">
                  <a:spLocks noChangeArrowheads="1"/>
                </p:cNvSpPr>
                <p:nvPr/>
              </p:nvSpPr>
              <p:spPr bwMode="auto">
                <a:xfrm>
                  <a:off x="16" y="1371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</p:grpSp>
          <p:grpSp>
            <p:nvGrpSpPr>
              <p:cNvPr id="146567" name="Group 93"/>
              <p:cNvGrpSpPr/>
              <p:nvPr/>
            </p:nvGrpSpPr>
            <p:grpSpPr bwMode="auto">
              <a:xfrm>
                <a:off x="16" y="2053"/>
                <a:ext cx="446" cy="250"/>
                <a:chOff x="16" y="1809"/>
                <a:chExt cx="446" cy="250"/>
              </a:xfrm>
            </p:grpSpPr>
            <p:sp>
              <p:nvSpPr>
                <p:cNvPr id="146614" name="Line 94"/>
                <p:cNvSpPr>
                  <a:spLocks noChangeShapeType="1"/>
                </p:cNvSpPr>
                <p:nvPr/>
              </p:nvSpPr>
              <p:spPr bwMode="auto">
                <a:xfrm>
                  <a:off x="214" y="1886"/>
                  <a:ext cx="24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6615" name="Text Box 95"/>
                <p:cNvSpPr txBox="1">
                  <a:spLocks noChangeArrowheads="1"/>
                </p:cNvSpPr>
                <p:nvPr/>
              </p:nvSpPr>
              <p:spPr bwMode="auto">
                <a:xfrm>
                  <a:off x="16" y="1809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</p:grpSp>
          <p:grpSp>
            <p:nvGrpSpPr>
              <p:cNvPr id="146568" name="Group 96"/>
              <p:cNvGrpSpPr/>
              <p:nvPr/>
            </p:nvGrpSpPr>
            <p:grpSpPr bwMode="auto">
              <a:xfrm>
                <a:off x="16" y="2499"/>
                <a:ext cx="446" cy="250"/>
                <a:chOff x="16" y="2276"/>
                <a:chExt cx="446" cy="250"/>
              </a:xfrm>
            </p:grpSpPr>
            <p:sp>
              <p:nvSpPr>
                <p:cNvPr id="146612" name="Line 97"/>
                <p:cNvSpPr>
                  <a:spLocks noChangeShapeType="1"/>
                </p:cNvSpPr>
                <p:nvPr/>
              </p:nvSpPr>
              <p:spPr bwMode="auto">
                <a:xfrm>
                  <a:off x="214" y="2334"/>
                  <a:ext cx="24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6613" name="Text Box 98"/>
                <p:cNvSpPr txBox="1">
                  <a:spLocks noChangeArrowheads="1"/>
                </p:cNvSpPr>
                <p:nvPr/>
              </p:nvSpPr>
              <p:spPr bwMode="auto">
                <a:xfrm>
                  <a:off x="16" y="2276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</p:grpSp>
          <p:grpSp>
            <p:nvGrpSpPr>
              <p:cNvPr id="146569" name="Group 99"/>
              <p:cNvGrpSpPr/>
              <p:nvPr/>
            </p:nvGrpSpPr>
            <p:grpSpPr bwMode="auto">
              <a:xfrm>
                <a:off x="16" y="2946"/>
                <a:ext cx="446" cy="250"/>
                <a:chOff x="16" y="2725"/>
                <a:chExt cx="446" cy="250"/>
              </a:xfrm>
            </p:grpSpPr>
            <p:sp>
              <p:nvSpPr>
                <p:cNvPr id="146610" name="Line 100"/>
                <p:cNvSpPr>
                  <a:spLocks noChangeShapeType="1"/>
                </p:cNvSpPr>
                <p:nvPr/>
              </p:nvSpPr>
              <p:spPr bwMode="auto">
                <a:xfrm>
                  <a:off x="214" y="2782"/>
                  <a:ext cx="24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6611" name="Text Box 101"/>
                <p:cNvSpPr txBox="1">
                  <a:spLocks noChangeArrowheads="1"/>
                </p:cNvSpPr>
                <p:nvPr/>
              </p:nvSpPr>
              <p:spPr bwMode="auto">
                <a:xfrm>
                  <a:off x="16" y="2725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</p:grpSp>
          <p:sp>
            <p:nvSpPr>
              <p:cNvPr id="146570" name="Line 102"/>
              <p:cNvSpPr>
                <a:spLocks noChangeShapeType="1"/>
              </p:cNvSpPr>
              <p:nvPr/>
            </p:nvSpPr>
            <p:spPr bwMode="auto">
              <a:xfrm>
                <a:off x="4473" y="3515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6571" name="Text Box 103"/>
              <p:cNvSpPr txBox="1">
                <a:spLocks noChangeArrowheads="1"/>
              </p:cNvSpPr>
              <p:nvPr/>
            </p:nvSpPr>
            <p:spPr bwMode="auto">
              <a:xfrm>
                <a:off x="4176" y="3486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46572" name="Group 104"/>
              <p:cNvGrpSpPr/>
              <p:nvPr/>
            </p:nvGrpSpPr>
            <p:grpSpPr bwMode="auto">
              <a:xfrm>
                <a:off x="1492" y="3984"/>
                <a:ext cx="284" cy="323"/>
                <a:chOff x="1584" y="3918"/>
                <a:chExt cx="284" cy="323"/>
              </a:xfrm>
            </p:grpSpPr>
            <p:sp>
              <p:nvSpPr>
                <p:cNvPr id="146608" name="Line 105"/>
                <p:cNvSpPr>
                  <a:spLocks noChangeShapeType="1"/>
                </p:cNvSpPr>
                <p:nvPr/>
              </p:nvSpPr>
              <p:spPr bwMode="auto">
                <a:xfrm rot="-5400000">
                  <a:off x="149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6609" name="Text Box 106"/>
                <p:cNvSpPr txBox="1">
                  <a:spLocks noChangeArrowheads="1"/>
                </p:cNvSpPr>
                <p:nvPr/>
              </p:nvSpPr>
              <p:spPr bwMode="auto">
                <a:xfrm>
                  <a:off x="1584" y="3991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</p:grpSp>
          <p:grpSp>
            <p:nvGrpSpPr>
              <p:cNvPr id="146573" name="Group 107"/>
              <p:cNvGrpSpPr/>
              <p:nvPr/>
            </p:nvGrpSpPr>
            <p:grpSpPr bwMode="auto">
              <a:xfrm>
                <a:off x="2234" y="3984"/>
                <a:ext cx="285" cy="324"/>
                <a:chOff x="2355" y="3918"/>
                <a:chExt cx="285" cy="324"/>
              </a:xfrm>
            </p:grpSpPr>
            <p:sp>
              <p:nvSpPr>
                <p:cNvPr id="146606" name="Line 108"/>
                <p:cNvSpPr>
                  <a:spLocks noChangeShapeType="1"/>
                </p:cNvSpPr>
                <p:nvPr/>
              </p:nvSpPr>
              <p:spPr bwMode="auto">
                <a:xfrm rot="-5400000">
                  <a:off x="224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6607" name="Text Box 109"/>
                <p:cNvSpPr txBox="1">
                  <a:spLocks noChangeArrowheads="1"/>
                </p:cNvSpPr>
                <p:nvPr/>
              </p:nvSpPr>
              <p:spPr bwMode="auto">
                <a:xfrm>
                  <a:off x="2356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3</a:t>
                  </a:r>
                </a:p>
              </p:txBody>
            </p:sp>
          </p:grpSp>
          <p:grpSp>
            <p:nvGrpSpPr>
              <p:cNvPr id="146574" name="Group 110"/>
              <p:cNvGrpSpPr/>
              <p:nvPr/>
            </p:nvGrpSpPr>
            <p:grpSpPr bwMode="auto">
              <a:xfrm>
                <a:off x="2978" y="3984"/>
                <a:ext cx="284" cy="324"/>
                <a:chOff x="3102" y="3918"/>
                <a:chExt cx="284" cy="324"/>
              </a:xfrm>
            </p:grpSpPr>
            <p:sp>
              <p:nvSpPr>
                <p:cNvPr id="146604" name="Line 111"/>
                <p:cNvSpPr>
                  <a:spLocks noChangeShapeType="1"/>
                </p:cNvSpPr>
                <p:nvPr/>
              </p:nvSpPr>
              <p:spPr bwMode="auto">
                <a:xfrm rot="-5400000">
                  <a:off x="300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6605" name="Text Box 112"/>
                <p:cNvSpPr txBox="1">
                  <a:spLocks noChangeArrowheads="1"/>
                </p:cNvSpPr>
                <p:nvPr/>
              </p:nvSpPr>
              <p:spPr bwMode="auto">
                <a:xfrm>
                  <a:off x="3102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</p:grpSp>
          <p:grpSp>
            <p:nvGrpSpPr>
              <p:cNvPr id="146575" name="Group 113"/>
              <p:cNvGrpSpPr/>
              <p:nvPr/>
            </p:nvGrpSpPr>
            <p:grpSpPr bwMode="auto">
              <a:xfrm>
                <a:off x="3721" y="3984"/>
                <a:ext cx="284" cy="324"/>
                <a:chOff x="3844" y="3918"/>
                <a:chExt cx="284" cy="324"/>
              </a:xfrm>
            </p:grpSpPr>
            <p:sp>
              <p:nvSpPr>
                <p:cNvPr id="146602" name="Line 114"/>
                <p:cNvSpPr>
                  <a:spLocks noChangeShapeType="1"/>
                </p:cNvSpPr>
                <p:nvPr/>
              </p:nvSpPr>
              <p:spPr bwMode="auto">
                <a:xfrm rot="-5400000">
                  <a:off x="375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6603" name="Text Box 115"/>
                <p:cNvSpPr txBox="1">
                  <a:spLocks noChangeArrowheads="1"/>
                </p:cNvSpPr>
                <p:nvPr/>
              </p:nvSpPr>
              <p:spPr bwMode="auto">
                <a:xfrm>
                  <a:off x="3844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</p:grpSp>
          <p:grpSp>
            <p:nvGrpSpPr>
              <p:cNvPr id="146576" name="Group 116"/>
              <p:cNvGrpSpPr/>
              <p:nvPr/>
            </p:nvGrpSpPr>
            <p:grpSpPr bwMode="auto">
              <a:xfrm>
                <a:off x="4464" y="3984"/>
                <a:ext cx="284" cy="323"/>
                <a:chOff x="4603" y="3918"/>
                <a:chExt cx="284" cy="323"/>
              </a:xfrm>
            </p:grpSpPr>
            <p:sp>
              <p:nvSpPr>
                <p:cNvPr id="146600" name="Line 117"/>
                <p:cNvSpPr>
                  <a:spLocks noChangeShapeType="1"/>
                </p:cNvSpPr>
                <p:nvPr/>
              </p:nvSpPr>
              <p:spPr bwMode="auto">
                <a:xfrm rot="-5400000">
                  <a:off x="4510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6601" name="Text Box 118"/>
                <p:cNvSpPr txBox="1">
                  <a:spLocks noChangeArrowheads="1"/>
                </p:cNvSpPr>
                <p:nvPr/>
              </p:nvSpPr>
              <p:spPr bwMode="auto">
                <a:xfrm>
                  <a:off x="4603" y="3991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</p:grpSp>
          <p:sp>
            <p:nvSpPr>
              <p:cNvPr id="146577" name="Line 119"/>
              <p:cNvSpPr>
                <a:spLocks noChangeShapeType="1"/>
              </p:cNvSpPr>
              <p:nvPr/>
            </p:nvSpPr>
            <p:spPr bwMode="auto">
              <a:xfrm>
                <a:off x="2689" y="1756"/>
                <a:ext cx="643" cy="39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6578" name="Line 120"/>
              <p:cNvSpPr>
                <a:spLocks noChangeShapeType="1"/>
              </p:cNvSpPr>
              <p:nvPr/>
            </p:nvSpPr>
            <p:spPr bwMode="auto">
              <a:xfrm>
                <a:off x="3976" y="2105"/>
                <a:ext cx="990" cy="21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6579" name="Line 121"/>
              <p:cNvSpPr>
                <a:spLocks noChangeShapeType="1"/>
              </p:cNvSpPr>
              <p:nvPr/>
            </p:nvSpPr>
            <p:spPr bwMode="auto">
              <a:xfrm>
                <a:off x="4718" y="1450"/>
                <a:ext cx="693" cy="13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6580" name="Text Box 122"/>
              <p:cNvSpPr txBox="1">
                <a:spLocks noChangeArrowheads="1"/>
              </p:cNvSpPr>
              <p:nvPr/>
            </p:nvSpPr>
            <p:spPr bwMode="auto">
              <a:xfrm>
                <a:off x="4844" y="2794"/>
                <a:ext cx="92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刷新放大器</a:t>
                </a:r>
              </a:p>
            </p:txBody>
          </p:sp>
          <p:sp>
            <p:nvSpPr>
              <p:cNvPr id="146581" name="Line 123"/>
              <p:cNvSpPr>
                <a:spLocks noChangeShapeType="1"/>
              </p:cNvSpPr>
              <p:nvPr/>
            </p:nvSpPr>
            <p:spPr bwMode="auto">
              <a:xfrm flipV="1">
                <a:off x="4520" y="3023"/>
                <a:ext cx="495" cy="4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146582" name="Group 124"/>
              <p:cNvGrpSpPr/>
              <p:nvPr/>
            </p:nvGrpSpPr>
            <p:grpSpPr bwMode="auto">
              <a:xfrm>
                <a:off x="4916" y="1792"/>
                <a:ext cx="277" cy="893"/>
                <a:chOff x="4920" y="1790"/>
                <a:chExt cx="277" cy="893"/>
              </a:xfrm>
            </p:grpSpPr>
            <p:sp>
              <p:nvSpPr>
                <p:cNvPr id="146596" name="Text Box 125"/>
                <p:cNvSpPr txBox="1">
                  <a:spLocks noChangeArrowheads="1"/>
                </p:cNvSpPr>
                <p:nvPr/>
              </p:nvSpPr>
              <p:spPr bwMode="auto">
                <a:xfrm>
                  <a:off x="4920" y="1790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写</a:t>
                  </a:r>
                </a:p>
              </p:txBody>
            </p:sp>
            <p:sp>
              <p:nvSpPr>
                <p:cNvPr id="146597" name="Text Box 126"/>
                <p:cNvSpPr txBox="1">
                  <a:spLocks noChangeArrowheads="1"/>
                </p:cNvSpPr>
                <p:nvPr/>
              </p:nvSpPr>
              <p:spPr bwMode="auto">
                <a:xfrm>
                  <a:off x="4920" y="200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</a:p>
              </p:txBody>
            </p:sp>
            <p:sp>
              <p:nvSpPr>
                <p:cNvPr id="146598" name="Text Box 127"/>
                <p:cNvSpPr txBox="1">
                  <a:spLocks noChangeArrowheads="1"/>
                </p:cNvSpPr>
                <p:nvPr/>
              </p:nvSpPr>
              <p:spPr bwMode="auto">
                <a:xfrm>
                  <a:off x="4920" y="2219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46599" name="Text Box 128"/>
                <p:cNvSpPr txBox="1">
                  <a:spLocks noChangeArrowheads="1"/>
                </p:cNvSpPr>
                <p:nvPr/>
              </p:nvSpPr>
              <p:spPr bwMode="auto">
                <a:xfrm>
                  <a:off x="4920" y="243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</a:p>
              </p:txBody>
            </p:sp>
          </p:grpSp>
          <p:grpSp>
            <p:nvGrpSpPr>
              <p:cNvPr id="146583" name="Group 129"/>
              <p:cNvGrpSpPr/>
              <p:nvPr/>
            </p:nvGrpSpPr>
            <p:grpSpPr bwMode="auto">
              <a:xfrm>
                <a:off x="5372" y="1571"/>
                <a:ext cx="277" cy="879"/>
                <a:chOff x="5394" y="1612"/>
                <a:chExt cx="277" cy="879"/>
              </a:xfrm>
            </p:grpSpPr>
            <p:sp>
              <p:nvSpPr>
                <p:cNvPr id="146592" name="Text Box 130"/>
                <p:cNvSpPr txBox="1">
                  <a:spLocks noChangeArrowheads="1"/>
                </p:cNvSpPr>
                <p:nvPr/>
              </p:nvSpPr>
              <p:spPr bwMode="auto">
                <a:xfrm>
                  <a:off x="5394" y="161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</a:t>
                  </a:r>
                </a:p>
              </p:txBody>
            </p:sp>
            <p:sp>
              <p:nvSpPr>
                <p:cNvPr id="146593" name="Text Box 131"/>
                <p:cNvSpPr txBox="1">
                  <a:spLocks noChangeArrowheads="1"/>
                </p:cNvSpPr>
                <p:nvPr/>
              </p:nvSpPr>
              <p:spPr bwMode="auto">
                <a:xfrm>
                  <a:off x="5394" y="182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</a:p>
              </p:txBody>
            </p:sp>
            <p:sp>
              <p:nvSpPr>
                <p:cNvPr id="146594" name="Text Box 132"/>
                <p:cNvSpPr txBox="1">
                  <a:spLocks noChangeArrowheads="1"/>
                </p:cNvSpPr>
                <p:nvPr/>
              </p:nvSpPr>
              <p:spPr bwMode="auto">
                <a:xfrm>
                  <a:off x="5394" y="203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46595" name="Text Box 133"/>
                <p:cNvSpPr txBox="1">
                  <a:spLocks noChangeArrowheads="1"/>
                </p:cNvSpPr>
                <p:nvPr/>
              </p:nvSpPr>
              <p:spPr bwMode="auto">
                <a:xfrm>
                  <a:off x="5394" y="224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</a:p>
              </p:txBody>
            </p:sp>
          </p:grpSp>
          <p:grpSp>
            <p:nvGrpSpPr>
              <p:cNvPr id="146584" name="Group 134"/>
              <p:cNvGrpSpPr/>
              <p:nvPr/>
            </p:nvGrpSpPr>
            <p:grpSpPr bwMode="auto">
              <a:xfrm>
                <a:off x="3320" y="981"/>
                <a:ext cx="372" cy="2170"/>
                <a:chOff x="3324" y="979"/>
                <a:chExt cx="372" cy="2170"/>
              </a:xfrm>
            </p:grpSpPr>
            <p:sp>
              <p:nvSpPr>
                <p:cNvPr id="146588" name="Text Box 135"/>
                <p:cNvSpPr txBox="1">
                  <a:spLocks noChangeArrowheads="1"/>
                </p:cNvSpPr>
                <p:nvPr/>
              </p:nvSpPr>
              <p:spPr bwMode="auto">
                <a:xfrm>
                  <a:off x="3324" y="979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46589" name="Text Box 136"/>
                <p:cNvSpPr txBox="1">
                  <a:spLocks noChangeArrowheads="1"/>
                </p:cNvSpPr>
                <p:nvPr/>
              </p:nvSpPr>
              <p:spPr bwMode="auto">
                <a:xfrm>
                  <a:off x="3324" y="150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46590" name="Text Box 137"/>
                <p:cNvSpPr txBox="1">
                  <a:spLocks noChangeArrowheads="1"/>
                </p:cNvSpPr>
                <p:nvPr/>
              </p:nvSpPr>
              <p:spPr bwMode="auto">
                <a:xfrm>
                  <a:off x="3324" y="240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46591" name="Text Box 138"/>
                <p:cNvSpPr txBox="1">
                  <a:spLocks noChangeArrowheads="1"/>
                </p:cNvSpPr>
                <p:nvPr/>
              </p:nvSpPr>
              <p:spPr bwMode="auto">
                <a:xfrm>
                  <a:off x="3324" y="2784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</p:grpSp>
          <p:sp>
            <p:nvSpPr>
              <p:cNvPr id="146585" name="Text Box 139"/>
              <p:cNvSpPr txBox="1">
                <a:spLocks noChangeArrowheads="1"/>
              </p:cNvSpPr>
              <p:nvPr/>
            </p:nvSpPr>
            <p:spPr bwMode="auto">
              <a:xfrm rot="5400000">
                <a:off x="916" y="2042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6586" name="Text Box 140"/>
              <p:cNvSpPr txBox="1">
                <a:spLocks noChangeArrowheads="1"/>
              </p:cNvSpPr>
              <p:nvPr/>
            </p:nvSpPr>
            <p:spPr bwMode="auto">
              <a:xfrm>
                <a:off x="1678" y="3486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46587" name="Text Box 141"/>
              <p:cNvSpPr txBox="1">
                <a:spLocks noChangeArrowheads="1"/>
              </p:cNvSpPr>
              <p:nvPr/>
            </p:nvSpPr>
            <p:spPr bwMode="auto">
              <a:xfrm>
                <a:off x="3350" y="3378"/>
                <a:ext cx="340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</p:grpSp>
      <p:sp>
        <p:nvSpPr>
          <p:cNvPr id="146435" name="Text Box 142"/>
          <p:cNvSpPr txBox="1">
            <a:spLocks noChangeArrowheads="1"/>
          </p:cNvSpPr>
          <p:nvPr/>
        </p:nvSpPr>
        <p:spPr bwMode="auto">
          <a:xfrm>
            <a:off x="228600" y="152400"/>
            <a:ext cx="5410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(2)  动态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200">
                <a:latin typeface="Times New Roman" panose="02020603050405020304" pitchFamily="18" charset="0"/>
              </a:rPr>
              <a:t>芯片举例</a:t>
            </a:r>
          </a:p>
        </p:txBody>
      </p:sp>
      <p:sp>
        <p:nvSpPr>
          <p:cNvPr id="234639" name="Text Box 143"/>
          <p:cNvSpPr txBox="1">
            <a:spLocks noChangeArrowheads="1"/>
          </p:cNvSpPr>
          <p:nvPr/>
        </p:nvSpPr>
        <p:spPr bwMode="auto">
          <a:xfrm>
            <a:off x="762000" y="762000"/>
            <a:ext cx="7696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① </a:t>
            </a:r>
            <a:r>
              <a:rPr lang="zh-CN" altLang="en-US" sz="3200">
                <a:latin typeface="Times New Roman" panose="02020603050405020304" pitchFamily="18" charset="0"/>
              </a:rPr>
              <a:t>三管动态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200">
                <a:latin typeface="Times New Roman" panose="02020603050405020304" pitchFamily="18" charset="0"/>
              </a:rPr>
              <a:t>芯片 (</a:t>
            </a:r>
            <a:r>
              <a:rPr lang="en-US" altLang="zh-CN" sz="3200">
                <a:latin typeface="Times New Roman" panose="02020603050405020304" pitchFamily="18" charset="0"/>
              </a:rPr>
              <a:t>Intel 1103)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</a:p>
        </p:txBody>
      </p:sp>
      <p:grpSp>
        <p:nvGrpSpPr>
          <p:cNvPr id="18" name="Group 144"/>
          <p:cNvGrpSpPr/>
          <p:nvPr/>
        </p:nvGrpSpPr>
        <p:grpSpPr bwMode="auto">
          <a:xfrm>
            <a:off x="360363" y="1895475"/>
            <a:ext cx="361950" cy="3362325"/>
            <a:chOff x="300" y="720"/>
            <a:chExt cx="221" cy="2327"/>
          </a:xfrm>
        </p:grpSpPr>
        <p:sp>
          <p:nvSpPr>
            <p:cNvPr id="146478" name="Text Box 145"/>
            <p:cNvSpPr txBox="1">
              <a:spLocks noChangeArrowheads="1"/>
            </p:cNvSpPr>
            <p:nvPr/>
          </p:nvSpPr>
          <p:spPr bwMode="auto">
            <a:xfrm>
              <a:off x="300" y="720"/>
              <a:ext cx="221" cy="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46479" name="Text Box 146"/>
            <p:cNvSpPr txBox="1">
              <a:spLocks noChangeArrowheads="1"/>
            </p:cNvSpPr>
            <p:nvPr/>
          </p:nvSpPr>
          <p:spPr bwMode="auto">
            <a:xfrm>
              <a:off x="300" y="1212"/>
              <a:ext cx="221" cy="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46480" name="Text Box 147"/>
            <p:cNvSpPr txBox="1">
              <a:spLocks noChangeArrowheads="1"/>
            </p:cNvSpPr>
            <p:nvPr/>
          </p:nvSpPr>
          <p:spPr bwMode="auto">
            <a:xfrm>
              <a:off x="300" y="1705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46481" name="Text Box 148"/>
            <p:cNvSpPr txBox="1">
              <a:spLocks noChangeArrowheads="1"/>
            </p:cNvSpPr>
            <p:nvPr/>
          </p:nvSpPr>
          <p:spPr bwMode="auto">
            <a:xfrm>
              <a:off x="300" y="2196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46482" name="Text Box 149"/>
            <p:cNvSpPr txBox="1">
              <a:spLocks noChangeArrowheads="1"/>
            </p:cNvSpPr>
            <p:nvPr/>
          </p:nvSpPr>
          <p:spPr bwMode="auto">
            <a:xfrm>
              <a:off x="300" y="2688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</p:grpSp>
      <p:grpSp>
        <p:nvGrpSpPr>
          <p:cNvPr id="19" name="Group 150"/>
          <p:cNvGrpSpPr/>
          <p:nvPr/>
        </p:nvGrpSpPr>
        <p:grpSpPr bwMode="auto">
          <a:xfrm>
            <a:off x="1981200" y="6251575"/>
            <a:ext cx="5154613" cy="519113"/>
            <a:chOff x="1452" y="3984"/>
            <a:chExt cx="3149" cy="359"/>
          </a:xfrm>
        </p:grpSpPr>
        <p:sp>
          <p:nvSpPr>
            <p:cNvPr id="146473" name="Text Box 151"/>
            <p:cNvSpPr txBox="1">
              <a:spLocks noChangeArrowheads="1"/>
            </p:cNvSpPr>
            <p:nvPr/>
          </p:nvSpPr>
          <p:spPr bwMode="auto">
            <a:xfrm>
              <a:off x="1452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46474" name="Text Box 152"/>
            <p:cNvSpPr txBox="1">
              <a:spLocks noChangeArrowheads="1"/>
            </p:cNvSpPr>
            <p:nvPr/>
          </p:nvSpPr>
          <p:spPr bwMode="auto">
            <a:xfrm>
              <a:off x="4380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46475" name="Text Box 153"/>
            <p:cNvSpPr txBox="1">
              <a:spLocks noChangeArrowheads="1"/>
            </p:cNvSpPr>
            <p:nvPr/>
          </p:nvSpPr>
          <p:spPr bwMode="auto">
            <a:xfrm>
              <a:off x="3648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46476" name="Text Box 154"/>
            <p:cNvSpPr txBox="1">
              <a:spLocks noChangeArrowheads="1"/>
            </p:cNvSpPr>
            <p:nvPr/>
          </p:nvSpPr>
          <p:spPr bwMode="auto">
            <a:xfrm>
              <a:off x="2917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46477" name="Text Box 155"/>
            <p:cNvSpPr txBox="1">
              <a:spLocks noChangeArrowheads="1"/>
            </p:cNvSpPr>
            <p:nvPr/>
          </p:nvSpPr>
          <p:spPr bwMode="auto">
            <a:xfrm>
              <a:off x="2186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</p:grpSp>
      <p:grpSp>
        <p:nvGrpSpPr>
          <p:cNvPr id="20" name="Group 156"/>
          <p:cNvGrpSpPr/>
          <p:nvPr/>
        </p:nvGrpSpPr>
        <p:grpSpPr bwMode="auto">
          <a:xfrm>
            <a:off x="2654300" y="5500688"/>
            <a:ext cx="336550" cy="457200"/>
            <a:chOff x="1233" y="3465"/>
            <a:chExt cx="212" cy="288"/>
          </a:xfrm>
        </p:grpSpPr>
        <p:sp>
          <p:nvSpPr>
            <p:cNvPr id="146471" name="Text Box 157"/>
            <p:cNvSpPr txBox="1">
              <a:spLocks noChangeArrowheads="1"/>
            </p:cNvSpPr>
            <p:nvPr/>
          </p:nvSpPr>
          <p:spPr bwMode="auto">
            <a:xfrm>
              <a:off x="1233" y="3465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46472" name="Freeform 158"/>
            <p:cNvSpPr/>
            <p:nvPr/>
          </p:nvSpPr>
          <p:spPr bwMode="auto">
            <a:xfrm>
              <a:off x="1436" y="3512"/>
              <a:ext cx="1" cy="208"/>
            </a:xfrm>
            <a:custGeom>
              <a:avLst/>
              <a:gdLst>
                <a:gd name="T0" fmla="*/ 0 w 1"/>
                <a:gd name="T1" fmla="*/ 0 h 208"/>
                <a:gd name="T2" fmla="*/ 0 w 1"/>
                <a:gd name="T3" fmla="*/ 208 h 208"/>
                <a:gd name="T4" fmla="*/ 0 60000 65536"/>
                <a:gd name="T5" fmla="*/ 0 60000 65536"/>
                <a:gd name="T6" fmla="*/ 0 w 1"/>
                <a:gd name="T7" fmla="*/ 0 h 208"/>
                <a:gd name="T8" fmla="*/ 1 w 1"/>
                <a:gd name="T9" fmla="*/ 208 h 20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08">
                  <a:moveTo>
                    <a:pt x="0" y="0"/>
                  </a:moveTo>
                  <a:lnTo>
                    <a:pt x="0" y="208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234655" name="Freeform 159"/>
          <p:cNvSpPr/>
          <p:nvPr/>
        </p:nvSpPr>
        <p:spPr bwMode="auto">
          <a:xfrm>
            <a:off x="3108325" y="1903413"/>
            <a:ext cx="314325" cy="3230562"/>
          </a:xfrm>
          <a:custGeom>
            <a:avLst/>
            <a:gdLst>
              <a:gd name="T0" fmla="*/ 0 w 192"/>
              <a:gd name="T1" fmla="*/ 0 h 2236"/>
              <a:gd name="T2" fmla="*/ 2147483647 w 192"/>
              <a:gd name="T3" fmla="*/ 0 h 2236"/>
              <a:gd name="T4" fmla="*/ 2147483647 w 192"/>
              <a:gd name="T5" fmla="*/ 2147483647 h 2236"/>
              <a:gd name="T6" fmla="*/ 0 60000 65536"/>
              <a:gd name="T7" fmla="*/ 0 60000 65536"/>
              <a:gd name="T8" fmla="*/ 0 60000 65536"/>
              <a:gd name="T9" fmla="*/ 0 w 192"/>
              <a:gd name="T10" fmla="*/ 0 h 2236"/>
              <a:gd name="T11" fmla="*/ 192 w 192"/>
              <a:gd name="T12" fmla="*/ 2236 h 22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92" h="2236">
                <a:moveTo>
                  <a:pt x="0" y="0"/>
                </a:moveTo>
                <a:lnTo>
                  <a:pt x="192" y="0"/>
                </a:lnTo>
                <a:lnTo>
                  <a:pt x="189" y="2236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1" name="Group 160"/>
          <p:cNvGrpSpPr/>
          <p:nvPr/>
        </p:nvGrpSpPr>
        <p:grpSpPr bwMode="auto">
          <a:xfrm>
            <a:off x="7646988" y="4902200"/>
            <a:ext cx="628650" cy="457200"/>
            <a:chOff x="4775" y="2954"/>
            <a:chExt cx="384" cy="316"/>
          </a:xfrm>
        </p:grpSpPr>
        <p:sp>
          <p:nvSpPr>
            <p:cNvPr id="146469" name="Line 161"/>
            <p:cNvSpPr>
              <a:spLocks noChangeShapeType="1"/>
            </p:cNvSpPr>
            <p:nvPr/>
          </p:nvSpPr>
          <p:spPr bwMode="auto">
            <a:xfrm>
              <a:off x="4775" y="3264"/>
              <a:ext cx="384" cy="0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46470" name="Text Box 162"/>
            <p:cNvSpPr txBox="1">
              <a:spLocks noChangeArrowheads="1"/>
            </p:cNvSpPr>
            <p:nvPr/>
          </p:nvSpPr>
          <p:spPr bwMode="auto">
            <a:xfrm>
              <a:off x="4861" y="2954"/>
              <a:ext cx="247" cy="3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D</a:t>
              </a:r>
            </a:p>
          </p:txBody>
        </p:sp>
      </p:grpSp>
      <p:grpSp>
        <p:nvGrpSpPr>
          <p:cNvPr id="22" name="Group 163"/>
          <p:cNvGrpSpPr/>
          <p:nvPr/>
        </p:nvGrpSpPr>
        <p:grpSpPr bwMode="auto">
          <a:xfrm>
            <a:off x="1827213" y="1554163"/>
            <a:ext cx="5775325" cy="579437"/>
            <a:chOff x="1159" y="979"/>
            <a:chExt cx="3638" cy="365"/>
          </a:xfrm>
        </p:grpSpPr>
        <p:grpSp>
          <p:nvGrpSpPr>
            <p:cNvPr id="146460" name="Group 164"/>
            <p:cNvGrpSpPr/>
            <p:nvPr/>
          </p:nvGrpSpPr>
          <p:grpSpPr bwMode="auto">
            <a:xfrm>
              <a:off x="1159" y="1049"/>
              <a:ext cx="3638" cy="227"/>
              <a:chOff x="1159" y="1049"/>
              <a:chExt cx="3638" cy="227"/>
            </a:xfrm>
          </p:grpSpPr>
          <p:sp>
            <p:nvSpPr>
              <p:cNvPr id="146462" name="Freeform 165"/>
              <p:cNvSpPr/>
              <p:nvPr/>
            </p:nvSpPr>
            <p:spPr bwMode="auto">
              <a:xfrm>
                <a:off x="1159" y="1054"/>
                <a:ext cx="3638" cy="1"/>
              </a:xfrm>
              <a:custGeom>
                <a:avLst/>
                <a:gdLst>
                  <a:gd name="T0" fmla="*/ 0 w 3528"/>
                  <a:gd name="T1" fmla="*/ 0 h 1"/>
                  <a:gd name="T2" fmla="*/ 5422 w 3528"/>
                  <a:gd name="T3" fmla="*/ 0 h 1"/>
                  <a:gd name="T4" fmla="*/ 0 60000 65536"/>
                  <a:gd name="T5" fmla="*/ 0 60000 65536"/>
                  <a:gd name="T6" fmla="*/ 0 w 3528"/>
                  <a:gd name="T7" fmla="*/ 0 h 1"/>
                  <a:gd name="T8" fmla="*/ 3528 w 352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28" h="1">
                    <a:moveTo>
                      <a:pt x="0" y="0"/>
                    </a:moveTo>
                    <a:lnTo>
                      <a:pt x="3528" y="0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463" name="Rectangle 166"/>
              <p:cNvSpPr>
                <a:spLocks noChangeArrowheads="1"/>
              </p:cNvSpPr>
              <p:nvPr/>
            </p:nvSpPr>
            <p:spPr bwMode="auto">
              <a:xfrm>
                <a:off x="1619" y="1142"/>
                <a:ext cx="346" cy="13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6464" name="Freeform 167"/>
              <p:cNvSpPr/>
              <p:nvPr/>
            </p:nvSpPr>
            <p:spPr bwMode="auto">
              <a:xfrm>
                <a:off x="4356" y="1054"/>
                <a:ext cx="1" cy="85"/>
              </a:xfrm>
              <a:custGeom>
                <a:avLst/>
                <a:gdLst>
                  <a:gd name="T0" fmla="*/ 0 w 1"/>
                  <a:gd name="T1" fmla="*/ 0 h 85"/>
                  <a:gd name="T2" fmla="*/ 0 w 1"/>
                  <a:gd name="T3" fmla="*/ 85 h 85"/>
                  <a:gd name="T4" fmla="*/ 0 60000 65536"/>
                  <a:gd name="T5" fmla="*/ 0 60000 65536"/>
                  <a:gd name="T6" fmla="*/ 0 w 1"/>
                  <a:gd name="T7" fmla="*/ 0 h 85"/>
                  <a:gd name="T8" fmla="*/ 1 w 1"/>
                  <a:gd name="T9" fmla="*/ 85 h 8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85">
                    <a:moveTo>
                      <a:pt x="0" y="0"/>
                    </a:moveTo>
                    <a:lnTo>
                      <a:pt x="0" y="85"/>
                    </a:lnTo>
                  </a:path>
                </a:pathLst>
              </a:custGeom>
              <a:noFill/>
              <a:ln w="57150" cmpd="sng">
                <a:solidFill>
                  <a:schemeClr val="folHlink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465" name="Freeform 168"/>
              <p:cNvSpPr/>
              <p:nvPr/>
            </p:nvSpPr>
            <p:spPr bwMode="auto">
              <a:xfrm>
                <a:off x="2733" y="1053"/>
                <a:ext cx="1" cy="84"/>
              </a:xfrm>
              <a:custGeom>
                <a:avLst/>
                <a:gdLst>
                  <a:gd name="T0" fmla="*/ 0 w 1"/>
                  <a:gd name="T1" fmla="*/ 0 h 84"/>
                  <a:gd name="T2" fmla="*/ 0 w 1"/>
                  <a:gd name="T3" fmla="*/ 84 h 84"/>
                  <a:gd name="T4" fmla="*/ 0 60000 65536"/>
                  <a:gd name="T5" fmla="*/ 0 60000 65536"/>
                  <a:gd name="T6" fmla="*/ 0 w 1"/>
                  <a:gd name="T7" fmla="*/ 0 h 84"/>
                  <a:gd name="T8" fmla="*/ 1 w 1"/>
                  <a:gd name="T9" fmla="*/ 84 h 84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84">
                    <a:moveTo>
                      <a:pt x="0" y="0"/>
                    </a:moveTo>
                    <a:lnTo>
                      <a:pt x="0" y="84"/>
                    </a:lnTo>
                  </a:path>
                </a:pathLst>
              </a:custGeom>
              <a:noFill/>
              <a:ln w="57150" cmpd="sng">
                <a:solidFill>
                  <a:schemeClr val="folHlink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466" name="Freeform 169"/>
              <p:cNvSpPr/>
              <p:nvPr/>
            </p:nvSpPr>
            <p:spPr bwMode="auto">
              <a:xfrm>
                <a:off x="1792" y="1049"/>
                <a:ext cx="3" cy="93"/>
              </a:xfrm>
              <a:custGeom>
                <a:avLst/>
                <a:gdLst>
                  <a:gd name="T0" fmla="*/ 3 w 3"/>
                  <a:gd name="T1" fmla="*/ 0 h 102"/>
                  <a:gd name="T2" fmla="*/ 0 w 3"/>
                  <a:gd name="T3" fmla="*/ 28 h 102"/>
                  <a:gd name="T4" fmla="*/ 0 60000 65536"/>
                  <a:gd name="T5" fmla="*/ 0 60000 65536"/>
                  <a:gd name="T6" fmla="*/ 0 w 3"/>
                  <a:gd name="T7" fmla="*/ 0 h 102"/>
                  <a:gd name="T8" fmla="*/ 3 w 3"/>
                  <a:gd name="T9" fmla="*/ 102 h 10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2">
                    <a:moveTo>
                      <a:pt x="3" y="0"/>
                    </a:moveTo>
                    <a:lnTo>
                      <a:pt x="0" y="102"/>
                    </a:lnTo>
                  </a:path>
                </a:pathLst>
              </a:custGeom>
              <a:noFill/>
              <a:ln w="57150" cmpd="sng">
                <a:solidFill>
                  <a:schemeClr val="folHlink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6467" name="Rectangle 170"/>
              <p:cNvSpPr>
                <a:spLocks noChangeArrowheads="1"/>
              </p:cNvSpPr>
              <p:nvPr/>
            </p:nvSpPr>
            <p:spPr bwMode="auto">
              <a:xfrm>
                <a:off x="2550" y="1142"/>
                <a:ext cx="347" cy="13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6468" name="Rectangle 171"/>
              <p:cNvSpPr>
                <a:spLocks noChangeArrowheads="1"/>
              </p:cNvSpPr>
              <p:nvPr/>
            </p:nvSpPr>
            <p:spPr bwMode="auto">
              <a:xfrm>
                <a:off x="4182" y="1142"/>
                <a:ext cx="347" cy="13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</p:grpSp>
        <p:sp>
          <p:nvSpPr>
            <p:cNvPr id="146461" name="Text Box 172"/>
            <p:cNvSpPr txBox="1">
              <a:spLocks noChangeArrowheads="1"/>
            </p:cNvSpPr>
            <p:nvPr/>
          </p:nvSpPr>
          <p:spPr bwMode="auto">
            <a:xfrm>
              <a:off x="3324" y="979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24" name="Group 173"/>
          <p:cNvGrpSpPr/>
          <p:nvPr/>
        </p:nvGrpSpPr>
        <p:grpSpPr bwMode="auto">
          <a:xfrm>
            <a:off x="2646363" y="5505450"/>
            <a:ext cx="336550" cy="457200"/>
            <a:chOff x="768" y="3561"/>
            <a:chExt cx="212" cy="288"/>
          </a:xfrm>
        </p:grpSpPr>
        <p:sp>
          <p:nvSpPr>
            <p:cNvPr id="146458" name="Text Box 174"/>
            <p:cNvSpPr txBox="1">
              <a:spLocks noChangeArrowheads="1"/>
            </p:cNvSpPr>
            <p:nvPr/>
          </p:nvSpPr>
          <p:spPr bwMode="auto">
            <a:xfrm>
              <a:off x="768" y="3561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solidFill>
                    <a:srgbClr val="C28F00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46459" name="Freeform 175"/>
            <p:cNvSpPr/>
            <p:nvPr/>
          </p:nvSpPr>
          <p:spPr bwMode="auto">
            <a:xfrm>
              <a:off x="971" y="3608"/>
              <a:ext cx="1" cy="208"/>
            </a:xfrm>
            <a:custGeom>
              <a:avLst/>
              <a:gdLst>
                <a:gd name="T0" fmla="*/ 0 w 1"/>
                <a:gd name="T1" fmla="*/ 0 h 208"/>
                <a:gd name="T2" fmla="*/ 0 w 1"/>
                <a:gd name="T3" fmla="*/ 208 h 208"/>
                <a:gd name="T4" fmla="*/ 0 60000 65536"/>
                <a:gd name="T5" fmla="*/ 0 60000 65536"/>
                <a:gd name="T6" fmla="*/ 0 w 1"/>
                <a:gd name="T7" fmla="*/ 0 h 208"/>
                <a:gd name="T8" fmla="*/ 1 w 1"/>
                <a:gd name="T9" fmla="*/ 208 h 20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08">
                  <a:moveTo>
                    <a:pt x="0" y="0"/>
                  </a:moveTo>
                  <a:lnTo>
                    <a:pt x="0" y="208"/>
                  </a:lnTo>
                </a:path>
              </a:pathLst>
            </a:custGeom>
            <a:noFill/>
            <a:ln w="76200">
              <a:solidFill>
                <a:srgbClr val="C28F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5" name="Group 176"/>
          <p:cNvGrpSpPr/>
          <p:nvPr/>
        </p:nvGrpSpPr>
        <p:grpSpPr bwMode="auto">
          <a:xfrm>
            <a:off x="2651125" y="5505450"/>
            <a:ext cx="336550" cy="457200"/>
            <a:chOff x="1233" y="3465"/>
            <a:chExt cx="212" cy="288"/>
          </a:xfrm>
        </p:grpSpPr>
        <p:sp>
          <p:nvSpPr>
            <p:cNvPr id="146456" name="Text Box 177"/>
            <p:cNvSpPr txBox="1">
              <a:spLocks noChangeArrowheads="1"/>
            </p:cNvSpPr>
            <p:nvPr/>
          </p:nvSpPr>
          <p:spPr bwMode="auto">
            <a:xfrm>
              <a:off x="1233" y="3465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46457" name="Freeform 178"/>
            <p:cNvSpPr/>
            <p:nvPr/>
          </p:nvSpPr>
          <p:spPr bwMode="auto">
            <a:xfrm>
              <a:off x="1436" y="3512"/>
              <a:ext cx="1" cy="208"/>
            </a:xfrm>
            <a:custGeom>
              <a:avLst/>
              <a:gdLst>
                <a:gd name="T0" fmla="*/ 0 w 1"/>
                <a:gd name="T1" fmla="*/ 0 h 208"/>
                <a:gd name="T2" fmla="*/ 0 w 1"/>
                <a:gd name="T3" fmla="*/ 208 h 208"/>
                <a:gd name="T4" fmla="*/ 0 60000 65536"/>
                <a:gd name="T5" fmla="*/ 0 60000 65536"/>
                <a:gd name="T6" fmla="*/ 0 w 1"/>
                <a:gd name="T7" fmla="*/ 0 h 208"/>
                <a:gd name="T8" fmla="*/ 1 w 1"/>
                <a:gd name="T9" fmla="*/ 208 h 20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08">
                  <a:moveTo>
                    <a:pt x="0" y="0"/>
                  </a:moveTo>
                  <a:lnTo>
                    <a:pt x="0" y="208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234675" name="Rectangle 179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grpSp>
        <p:nvGrpSpPr>
          <p:cNvPr id="26" name="Group 180"/>
          <p:cNvGrpSpPr/>
          <p:nvPr/>
        </p:nvGrpSpPr>
        <p:grpSpPr bwMode="auto">
          <a:xfrm>
            <a:off x="5232400" y="3167063"/>
            <a:ext cx="695325" cy="681037"/>
            <a:chOff x="3296" y="1995"/>
            <a:chExt cx="438" cy="429"/>
          </a:xfrm>
        </p:grpSpPr>
        <p:sp>
          <p:nvSpPr>
            <p:cNvPr id="146454" name="Text Box 181"/>
            <p:cNvSpPr txBox="1">
              <a:spLocks noChangeArrowheads="1"/>
            </p:cNvSpPr>
            <p:nvPr/>
          </p:nvSpPr>
          <p:spPr bwMode="auto">
            <a:xfrm>
              <a:off x="3296" y="1995"/>
              <a:ext cx="43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单元</a:t>
              </a:r>
            </a:p>
          </p:txBody>
        </p:sp>
        <p:sp>
          <p:nvSpPr>
            <p:cNvPr id="146455" name="Text Box 182"/>
            <p:cNvSpPr txBox="1">
              <a:spLocks noChangeArrowheads="1"/>
            </p:cNvSpPr>
            <p:nvPr/>
          </p:nvSpPr>
          <p:spPr bwMode="auto">
            <a:xfrm>
              <a:off x="3296" y="2174"/>
              <a:ext cx="43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电路</a:t>
              </a:r>
            </a:p>
          </p:txBody>
        </p:sp>
      </p:grpSp>
      <p:sp>
        <p:nvSpPr>
          <p:cNvPr id="234679" name="Rectangle 183"/>
          <p:cNvSpPr>
            <a:spLocks noChangeArrowheads="1"/>
          </p:cNvSpPr>
          <p:nvPr/>
        </p:nvSpPr>
        <p:spPr bwMode="auto">
          <a:xfrm>
            <a:off x="1911350" y="5141913"/>
            <a:ext cx="5735638" cy="415925"/>
          </a:xfrm>
          <a:prstGeom prst="rect">
            <a:avLst/>
          </a:prstGeom>
          <a:solidFill>
            <a:schemeClr val="folHlink"/>
          </a:solidFill>
          <a:ln w="38100">
            <a:solidFill>
              <a:schemeClr val="folHlink"/>
            </a:solidFill>
            <a:miter lim="800000"/>
          </a:ln>
        </p:spPr>
        <p:txBody>
          <a:bodyPr wrap="none" anchor="ctr"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400">
                <a:solidFill>
                  <a:schemeClr val="bg2"/>
                </a:solidFill>
                <a:latin typeface="Times New Roman" panose="02020603050405020304" pitchFamily="18" charset="0"/>
              </a:rPr>
              <a:t>读  写  控  制  电  路</a:t>
            </a:r>
          </a:p>
        </p:txBody>
      </p:sp>
      <p:sp>
        <p:nvSpPr>
          <p:cNvPr id="234680" name="Rectangle 184"/>
          <p:cNvSpPr>
            <a:spLocks noChangeArrowheads="1"/>
          </p:cNvSpPr>
          <p:nvPr/>
        </p:nvSpPr>
        <p:spPr bwMode="auto">
          <a:xfrm>
            <a:off x="2563813" y="1812925"/>
            <a:ext cx="549275" cy="212725"/>
          </a:xfrm>
          <a:prstGeom prst="rect">
            <a:avLst/>
          </a:prstGeom>
          <a:solidFill>
            <a:srgbClr val="C28F00"/>
          </a:solidFill>
          <a:ln w="38100">
            <a:solidFill>
              <a:srgbClr val="C28F00"/>
            </a:solidFill>
            <a:miter lim="800000"/>
          </a:ln>
        </p:spPr>
        <p:txBody>
          <a:bodyPr wrap="none" anchor="ctr"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zh-CN" altLang="en-US" sz="2400" b="0">
              <a:latin typeface="Times New Roman" panose="02020603050405020304" pitchFamily="18" charset="0"/>
            </a:endParaRPr>
          </a:p>
        </p:txBody>
      </p:sp>
      <p:grpSp>
        <p:nvGrpSpPr>
          <p:cNvPr id="27" name="Group 185"/>
          <p:cNvGrpSpPr/>
          <p:nvPr/>
        </p:nvGrpSpPr>
        <p:grpSpPr bwMode="auto">
          <a:xfrm>
            <a:off x="2555875" y="2711450"/>
            <a:ext cx="793750" cy="1597025"/>
            <a:chOff x="1610" y="1708"/>
            <a:chExt cx="500" cy="1006"/>
          </a:xfrm>
        </p:grpSpPr>
        <p:sp>
          <p:nvSpPr>
            <p:cNvPr id="146451" name="Rectangle 186"/>
            <p:cNvSpPr>
              <a:spLocks noChangeArrowheads="1"/>
            </p:cNvSpPr>
            <p:nvPr/>
          </p:nvSpPr>
          <p:spPr bwMode="auto">
            <a:xfrm>
              <a:off x="1610" y="2580"/>
              <a:ext cx="347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46452" name="Rectangle 187"/>
            <p:cNvSpPr>
              <a:spLocks noChangeArrowheads="1"/>
            </p:cNvSpPr>
            <p:nvPr/>
          </p:nvSpPr>
          <p:spPr bwMode="auto">
            <a:xfrm>
              <a:off x="1610" y="1708"/>
              <a:ext cx="347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46453" name="Text Box 188"/>
            <p:cNvSpPr txBox="1">
              <a:spLocks noChangeArrowheads="1"/>
            </p:cNvSpPr>
            <p:nvPr/>
          </p:nvSpPr>
          <p:spPr bwMode="auto">
            <a:xfrm>
              <a:off x="1648" y="2044"/>
              <a:ext cx="462" cy="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146450" name="AutoShape 189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34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3" presetClass="entr" presetSubtype="1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2000"/>
                            </p:stCondLst>
                            <p:childTnLst>
                              <p:par>
                                <p:cTn id="43" presetID="3" presetClass="entr" presetSubtype="1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3500"/>
                            </p:stCondLst>
                            <p:childTnLst>
                              <p:par>
                                <p:cTn id="47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" dur="500"/>
                                        <p:tgtEl>
                                          <p:spTgt spid="2346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9" dur="500"/>
                                        <p:tgtEl>
                                          <p:spTgt spid="2346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4" dur="500"/>
                                        <p:tgtEl>
                                          <p:spTgt spid="2346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4639" grpId="0" autoUpdateAnimBg="0"/>
      <p:bldP spid="234655" grpId="0" animBg="1"/>
      <p:bldP spid="234679" grpId="0" animBg="1" autoUpdateAnimBg="0"/>
      <p:bldP spid="234680" grpId="0" animBg="1" autoUpdateAnimBg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0" y="1295400"/>
            <a:ext cx="9151938" cy="5438775"/>
            <a:chOff x="0" y="816"/>
            <a:chExt cx="5765" cy="3426"/>
          </a:xfrm>
        </p:grpSpPr>
        <p:grpSp>
          <p:nvGrpSpPr>
            <p:cNvPr id="147462" name="Group 3"/>
            <p:cNvGrpSpPr/>
            <p:nvPr/>
          </p:nvGrpSpPr>
          <p:grpSpPr bwMode="auto">
            <a:xfrm>
              <a:off x="0" y="1094"/>
              <a:ext cx="462" cy="250"/>
              <a:chOff x="0" y="933"/>
              <a:chExt cx="462" cy="250"/>
            </a:xfrm>
          </p:grpSpPr>
          <p:sp>
            <p:nvSpPr>
              <p:cNvPr id="147598" name="Line 4"/>
              <p:cNvSpPr>
                <a:spLocks noChangeShapeType="1"/>
              </p:cNvSpPr>
              <p:nvPr/>
            </p:nvSpPr>
            <p:spPr bwMode="auto">
              <a:xfrm>
                <a:off x="214" y="991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7599" name="Text Box 5"/>
              <p:cNvSpPr txBox="1">
                <a:spLocks noChangeArrowheads="1"/>
              </p:cNvSpPr>
              <p:nvPr/>
            </p:nvSpPr>
            <p:spPr bwMode="auto">
              <a:xfrm>
                <a:off x="0" y="933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9</a:t>
                </a:r>
              </a:p>
            </p:txBody>
          </p:sp>
        </p:grpSp>
        <p:grpSp>
          <p:nvGrpSpPr>
            <p:cNvPr id="147463" name="Group 6"/>
            <p:cNvGrpSpPr/>
            <p:nvPr/>
          </p:nvGrpSpPr>
          <p:grpSpPr bwMode="auto">
            <a:xfrm>
              <a:off x="16" y="1540"/>
              <a:ext cx="446" cy="250"/>
              <a:chOff x="16" y="1371"/>
              <a:chExt cx="446" cy="250"/>
            </a:xfrm>
          </p:grpSpPr>
          <p:sp>
            <p:nvSpPr>
              <p:cNvPr id="147596" name="Line 7"/>
              <p:cNvSpPr>
                <a:spLocks noChangeShapeType="1"/>
              </p:cNvSpPr>
              <p:nvPr/>
            </p:nvSpPr>
            <p:spPr bwMode="auto">
              <a:xfrm>
                <a:off x="214" y="1439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7597" name="Text Box 8"/>
              <p:cNvSpPr txBox="1">
                <a:spLocks noChangeArrowheads="1"/>
              </p:cNvSpPr>
              <p:nvPr/>
            </p:nvSpPr>
            <p:spPr bwMode="auto">
              <a:xfrm>
                <a:off x="16" y="1371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47464" name="Group 9"/>
            <p:cNvGrpSpPr/>
            <p:nvPr/>
          </p:nvGrpSpPr>
          <p:grpSpPr bwMode="auto">
            <a:xfrm>
              <a:off x="16" y="1987"/>
              <a:ext cx="446" cy="250"/>
              <a:chOff x="16" y="1809"/>
              <a:chExt cx="446" cy="250"/>
            </a:xfrm>
          </p:grpSpPr>
          <p:sp>
            <p:nvSpPr>
              <p:cNvPr id="147594" name="Line 10"/>
              <p:cNvSpPr>
                <a:spLocks noChangeShapeType="1"/>
              </p:cNvSpPr>
              <p:nvPr/>
            </p:nvSpPr>
            <p:spPr bwMode="auto">
              <a:xfrm>
                <a:off x="214" y="1886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7595" name="Text Box 11"/>
              <p:cNvSpPr txBox="1">
                <a:spLocks noChangeArrowheads="1"/>
              </p:cNvSpPr>
              <p:nvPr/>
            </p:nvSpPr>
            <p:spPr bwMode="auto">
              <a:xfrm>
                <a:off x="16" y="1809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</a:p>
            </p:txBody>
          </p:sp>
        </p:grpSp>
        <p:grpSp>
          <p:nvGrpSpPr>
            <p:cNvPr id="147465" name="Group 12"/>
            <p:cNvGrpSpPr/>
            <p:nvPr/>
          </p:nvGrpSpPr>
          <p:grpSpPr bwMode="auto">
            <a:xfrm>
              <a:off x="16" y="2433"/>
              <a:ext cx="446" cy="250"/>
              <a:chOff x="16" y="2276"/>
              <a:chExt cx="446" cy="250"/>
            </a:xfrm>
          </p:grpSpPr>
          <p:sp>
            <p:nvSpPr>
              <p:cNvPr id="147592" name="Line 13"/>
              <p:cNvSpPr>
                <a:spLocks noChangeShapeType="1"/>
              </p:cNvSpPr>
              <p:nvPr/>
            </p:nvSpPr>
            <p:spPr bwMode="auto">
              <a:xfrm>
                <a:off x="214" y="2334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7593" name="Text Box 14"/>
              <p:cNvSpPr txBox="1">
                <a:spLocks noChangeArrowheads="1"/>
              </p:cNvSpPr>
              <p:nvPr/>
            </p:nvSpPr>
            <p:spPr bwMode="auto">
              <a:xfrm>
                <a:off x="16" y="2276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47466" name="Group 15"/>
            <p:cNvGrpSpPr/>
            <p:nvPr/>
          </p:nvGrpSpPr>
          <p:grpSpPr bwMode="auto">
            <a:xfrm>
              <a:off x="16" y="2880"/>
              <a:ext cx="446" cy="250"/>
              <a:chOff x="16" y="2725"/>
              <a:chExt cx="446" cy="250"/>
            </a:xfrm>
          </p:grpSpPr>
          <p:sp>
            <p:nvSpPr>
              <p:cNvPr id="147590" name="Line 16"/>
              <p:cNvSpPr>
                <a:spLocks noChangeShapeType="1"/>
              </p:cNvSpPr>
              <p:nvPr/>
            </p:nvSpPr>
            <p:spPr bwMode="auto">
              <a:xfrm>
                <a:off x="214" y="2782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7591" name="Text Box 17"/>
              <p:cNvSpPr txBox="1">
                <a:spLocks noChangeArrowheads="1"/>
              </p:cNvSpPr>
              <p:nvPr/>
            </p:nvSpPr>
            <p:spPr bwMode="auto">
              <a:xfrm>
                <a:off x="16" y="2725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5</a:t>
                </a:r>
              </a:p>
            </p:txBody>
          </p:sp>
        </p:grpSp>
        <p:grpSp>
          <p:nvGrpSpPr>
            <p:cNvPr id="147467" name="Group 18"/>
            <p:cNvGrpSpPr/>
            <p:nvPr/>
          </p:nvGrpSpPr>
          <p:grpSpPr bwMode="auto">
            <a:xfrm>
              <a:off x="462" y="816"/>
              <a:ext cx="5303" cy="3426"/>
              <a:chOff x="462" y="816"/>
              <a:chExt cx="5303" cy="3426"/>
            </a:xfrm>
          </p:grpSpPr>
          <p:sp>
            <p:nvSpPr>
              <p:cNvPr id="147468" name="Rectangle 19"/>
              <p:cNvSpPr>
                <a:spLocks noChangeArrowheads="1"/>
              </p:cNvSpPr>
              <p:nvPr/>
            </p:nvSpPr>
            <p:spPr bwMode="auto">
              <a:xfrm>
                <a:off x="462" y="816"/>
                <a:ext cx="693" cy="248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7469" name="Freeform 20"/>
              <p:cNvSpPr/>
              <p:nvPr/>
            </p:nvSpPr>
            <p:spPr bwMode="auto">
              <a:xfrm>
                <a:off x="1155" y="991"/>
                <a:ext cx="3638" cy="1"/>
              </a:xfrm>
              <a:custGeom>
                <a:avLst/>
                <a:gdLst>
                  <a:gd name="T0" fmla="*/ 0 w 3528"/>
                  <a:gd name="T1" fmla="*/ 0 h 1"/>
                  <a:gd name="T2" fmla="*/ 5422 w 3528"/>
                  <a:gd name="T3" fmla="*/ 0 h 1"/>
                  <a:gd name="T4" fmla="*/ 0 60000 65536"/>
                  <a:gd name="T5" fmla="*/ 0 60000 65536"/>
                  <a:gd name="T6" fmla="*/ 0 w 3528"/>
                  <a:gd name="T7" fmla="*/ 0 h 1"/>
                  <a:gd name="T8" fmla="*/ 3528 w 352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28" h="1">
                    <a:moveTo>
                      <a:pt x="0" y="0"/>
                    </a:moveTo>
                    <a:lnTo>
                      <a:pt x="3528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470" name="Rectangle 21"/>
              <p:cNvSpPr>
                <a:spLocks noChangeArrowheads="1"/>
              </p:cNvSpPr>
              <p:nvPr/>
            </p:nvSpPr>
            <p:spPr bwMode="auto">
              <a:xfrm>
                <a:off x="1615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7471" name="Freeform 22"/>
              <p:cNvSpPr/>
              <p:nvPr/>
            </p:nvSpPr>
            <p:spPr bwMode="auto">
              <a:xfrm>
                <a:off x="4351" y="991"/>
                <a:ext cx="1" cy="79"/>
              </a:xfrm>
              <a:custGeom>
                <a:avLst/>
                <a:gdLst>
                  <a:gd name="T0" fmla="*/ 0 w 1"/>
                  <a:gd name="T1" fmla="*/ 0 h 87"/>
                  <a:gd name="T2" fmla="*/ 0 w 1"/>
                  <a:gd name="T3" fmla="*/ 23 h 87"/>
                  <a:gd name="T4" fmla="*/ 0 60000 65536"/>
                  <a:gd name="T5" fmla="*/ 0 60000 65536"/>
                  <a:gd name="T6" fmla="*/ 0 w 1"/>
                  <a:gd name="T7" fmla="*/ 0 h 87"/>
                  <a:gd name="T8" fmla="*/ 1 w 1"/>
                  <a:gd name="T9" fmla="*/ 87 h 8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87">
                    <a:moveTo>
                      <a:pt x="0" y="0"/>
                    </a:moveTo>
                    <a:lnTo>
                      <a:pt x="0" y="8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472" name="Freeform 23"/>
              <p:cNvSpPr/>
              <p:nvPr/>
            </p:nvSpPr>
            <p:spPr bwMode="auto">
              <a:xfrm>
                <a:off x="1155" y="1295"/>
                <a:ext cx="3659" cy="3"/>
              </a:xfrm>
              <a:custGeom>
                <a:avLst/>
                <a:gdLst>
                  <a:gd name="T0" fmla="*/ 0 w 3659"/>
                  <a:gd name="T1" fmla="*/ 0 h 3"/>
                  <a:gd name="T2" fmla="*/ 3659 w 3659"/>
                  <a:gd name="T3" fmla="*/ 3 h 3"/>
                  <a:gd name="T4" fmla="*/ 0 60000 65536"/>
                  <a:gd name="T5" fmla="*/ 0 60000 65536"/>
                  <a:gd name="T6" fmla="*/ 0 w 3659"/>
                  <a:gd name="T7" fmla="*/ 0 h 3"/>
                  <a:gd name="T8" fmla="*/ 3659 w 3659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659" h="3">
                    <a:moveTo>
                      <a:pt x="0" y="0"/>
                    </a:moveTo>
                    <a:lnTo>
                      <a:pt x="365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473" name="Freeform 24"/>
              <p:cNvSpPr/>
              <p:nvPr/>
            </p:nvSpPr>
            <p:spPr bwMode="auto">
              <a:xfrm>
                <a:off x="2727" y="987"/>
                <a:ext cx="1" cy="86"/>
              </a:xfrm>
              <a:custGeom>
                <a:avLst/>
                <a:gdLst>
                  <a:gd name="T0" fmla="*/ 0 w 1"/>
                  <a:gd name="T1" fmla="*/ 0 h 86"/>
                  <a:gd name="T2" fmla="*/ 1 w 1"/>
                  <a:gd name="T3" fmla="*/ 86 h 86"/>
                  <a:gd name="T4" fmla="*/ 0 60000 65536"/>
                  <a:gd name="T5" fmla="*/ 0 60000 65536"/>
                  <a:gd name="T6" fmla="*/ 0 w 1"/>
                  <a:gd name="T7" fmla="*/ 0 h 86"/>
                  <a:gd name="T8" fmla="*/ 1 w 1"/>
                  <a:gd name="T9" fmla="*/ 86 h 8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86">
                    <a:moveTo>
                      <a:pt x="0" y="0"/>
                    </a:moveTo>
                    <a:lnTo>
                      <a:pt x="1" y="8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474" name="Freeform 25"/>
              <p:cNvSpPr/>
              <p:nvPr/>
            </p:nvSpPr>
            <p:spPr bwMode="auto">
              <a:xfrm>
                <a:off x="1791" y="985"/>
                <a:ext cx="1" cy="92"/>
              </a:xfrm>
              <a:custGeom>
                <a:avLst/>
                <a:gdLst>
                  <a:gd name="T0" fmla="*/ 0 w 1"/>
                  <a:gd name="T1" fmla="*/ 0 h 92"/>
                  <a:gd name="T2" fmla="*/ 0 w 1"/>
                  <a:gd name="T3" fmla="*/ 92 h 92"/>
                  <a:gd name="T4" fmla="*/ 0 60000 65536"/>
                  <a:gd name="T5" fmla="*/ 0 60000 65536"/>
                  <a:gd name="T6" fmla="*/ 0 w 1"/>
                  <a:gd name="T7" fmla="*/ 0 h 92"/>
                  <a:gd name="T8" fmla="*/ 1 w 1"/>
                  <a:gd name="T9" fmla="*/ 92 h 9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92">
                    <a:moveTo>
                      <a:pt x="0" y="0"/>
                    </a:moveTo>
                    <a:lnTo>
                      <a:pt x="0" y="92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475" name="Freeform 26"/>
              <p:cNvSpPr/>
              <p:nvPr/>
            </p:nvSpPr>
            <p:spPr bwMode="auto">
              <a:xfrm>
                <a:off x="1788" y="1212"/>
                <a:ext cx="1" cy="85"/>
              </a:xfrm>
              <a:custGeom>
                <a:avLst/>
                <a:gdLst>
                  <a:gd name="T0" fmla="*/ 0 w 1"/>
                  <a:gd name="T1" fmla="*/ 26 h 93"/>
                  <a:gd name="T2" fmla="*/ 0 w 1"/>
                  <a:gd name="T3" fmla="*/ 0 h 93"/>
                  <a:gd name="T4" fmla="*/ 0 60000 65536"/>
                  <a:gd name="T5" fmla="*/ 0 60000 65536"/>
                  <a:gd name="T6" fmla="*/ 0 w 1"/>
                  <a:gd name="T7" fmla="*/ 0 h 93"/>
                  <a:gd name="T8" fmla="*/ 1 w 1"/>
                  <a:gd name="T9" fmla="*/ 93 h 9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93">
                    <a:moveTo>
                      <a:pt x="0" y="93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476" name="Freeform 27"/>
              <p:cNvSpPr/>
              <p:nvPr/>
            </p:nvSpPr>
            <p:spPr bwMode="auto">
              <a:xfrm>
                <a:off x="2736" y="1200"/>
                <a:ext cx="3" cy="95"/>
              </a:xfrm>
              <a:custGeom>
                <a:avLst/>
                <a:gdLst>
                  <a:gd name="T0" fmla="*/ 0 w 3"/>
                  <a:gd name="T1" fmla="*/ 26 h 105"/>
                  <a:gd name="T2" fmla="*/ 3 w 3"/>
                  <a:gd name="T3" fmla="*/ 0 h 105"/>
                  <a:gd name="T4" fmla="*/ 0 60000 65536"/>
                  <a:gd name="T5" fmla="*/ 0 60000 65536"/>
                  <a:gd name="T6" fmla="*/ 0 w 3"/>
                  <a:gd name="T7" fmla="*/ 0 h 105"/>
                  <a:gd name="T8" fmla="*/ 3 w 3"/>
                  <a:gd name="T9" fmla="*/ 105 h 10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5">
                    <a:moveTo>
                      <a:pt x="0" y="105"/>
                    </a:moveTo>
                    <a:lnTo>
                      <a:pt x="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477" name="Line 28"/>
              <p:cNvSpPr>
                <a:spLocks noChangeShapeType="1"/>
              </p:cNvSpPr>
              <p:nvPr/>
            </p:nvSpPr>
            <p:spPr bwMode="auto">
              <a:xfrm rot="10800000">
                <a:off x="4351" y="121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478" name="Freeform 29"/>
              <p:cNvSpPr/>
              <p:nvPr/>
            </p:nvSpPr>
            <p:spPr bwMode="auto">
              <a:xfrm>
                <a:off x="1155" y="1559"/>
                <a:ext cx="3653" cy="1"/>
              </a:xfrm>
              <a:custGeom>
                <a:avLst/>
                <a:gdLst>
                  <a:gd name="T0" fmla="*/ 0 w 3543"/>
                  <a:gd name="T1" fmla="*/ 0 h 1"/>
                  <a:gd name="T2" fmla="*/ 5435 w 3543"/>
                  <a:gd name="T3" fmla="*/ 0 h 1"/>
                  <a:gd name="T4" fmla="*/ 0 60000 65536"/>
                  <a:gd name="T5" fmla="*/ 0 60000 65536"/>
                  <a:gd name="T6" fmla="*/ 0 w 3543"/>
                  <a:gd name="T7" fmla="*/ 0 h 1"/>
                  <a:gd name="T8" fmla="*/ 3543 w 354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43" h="1">
                    <a:moveTo>
                      <a:pt x="0" y="0"/>
                    </a:moveTo>
                    <a:lnTo>
                      <a:pt x="354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479" name="Line 30"/>
              <p:cNvSpPr>
                <a:spLocks noChangeShapeType="1"/>
              </p:cNvSpPr>
              <p:nvPr/>
            </p:nvSpPr>
            <p:spPr bwMode="auto">
              <a:xfrm>
                <a:off x="4351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480" name="Freeform 31"/>
              <p:cNvSpPr/>
              <p:nvPr/>
            </p:nvSpPr>
            <p:spPr bwMode="auto">
              <a:xfrm>
                <a:off x="1155" y="1863"/>
                <a:ext cx="3656" cy="1"/>
              </a:xfrm>
              <a:custGeom>
                <a:avLst/>
                <a:gdLst>
                  <a:gd name="T0" fmla="*/ 0 w 3546"/>
                  <a:gd name="T1" fmla="*/ 0 h 2"/>
                  <a:gd name="T2" fmla="*/ 5438 w 3546"/>
                  <a:gd name="T3" fmla="*/ 1 h 2"/>
                  <a:gd name="T4" fmla="*/ 0 60000 65536"/>
                  <a:gd name="T5" fmla="*/ 0 60000 65536"/>
                  <a:gd name="T6" fmla="*/ 0 w 3546"/>
                  <a:gd name="T7" fmla="*/ 0 h 2"/>
                  <a:gd name="T8" fmla="*/ 3546 w 354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46" h="2">
                    <a:moveTo>
                      <a:pt x="0" y="0"/>
                    </a:moveTo>
                    <a:lnTo>
                      <a:pt x="3546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481" name="Line 32"/>
              <p:cNvSpPr>
                <a:spLocks noChangeShapeType="1"/>
              </p:cNvSpPr>
              <p:nvPr/>
            </p:nvSpPr>
            <p:spPr bwMode="auto">
              <a:xfrm>
                <a:off x="2725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482" name="Line 33"/>
              <p:cNvSpPr>
                <a:spLocks noChangeShapeType="1"/>
              </p:cNvSpPr>
              <p:nvPr/>
            </p:nvSpPr>
            <p:spPr bwMode="auto">
              <a:xfrm>
                <a:off x="1788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483" name="Line 34"/>
              <p:cNvSpPr>
                <a:spLocks noChangeShapeType="1"/>
              </p:cNvSpPr>
              <p:nvPr/>
            </p:nvSpPr>
            <p:spPr bwMode="auto">
              <a:xfrm rot="10800000">
                <a:off x="1788" y="1778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484" name="Line 35"/>
              <p:cNvSpPr>
                <a:spLocks noChangeShapeType="1"/>
              </p:cNvSpPr>
              <p:nvPr/>
            </p:nvSpPr>
            <p:spPr bwMode="auto">
              <a:xfrm rot="10800000">
                <a:off x="2725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485" name="Line 36"/>
              <p:cNvSpPr>
                <a:spLocks noChangeShapeType="1"/>
              </p:cNvSpPr>
              <p:nvPr/>
            </p:nvSpPr>
            <p:spPr bwMode="auto">
              <a:xfrm rot="10800000">
                <a:off x="4351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486" name="Freeform 37"/>
              <p:cNvSpPr/>
              <p:nvPr/>
            </p:nvSpPr>
            <p:spPr bwMode="auto">
              <a:xfrm>
                <a:off x="1155" y="2432"/>
                <a:ext cx="3675" cy="1"/>
              </a:xfrm>
              <a:custGeom>
                <a:avLst/>
                <a:gdLst>
                  <a:gd name="T0" fmla="*/ 0 w 3564"/>
                  <a:gd name="T1" fmla="*/ 0 h 1"/>
                  <a:gd name="T2" fmla="*/ 5474 w 3564"/>
                  <a:gd name="T3" fmla="*/ 0 h 1"/>
                  <a:gd name="T4" fmla="*/ 0 60000 65536"/>
                  <a:gd name="T5" fmla="*/ 0 60000 65536"/>
                  <a:gd name="T6" fmla="*/ 0 w 3564"/>
                  <a:gd name="T7" fmla="*/ 0 h 1"/>
                  <a:gd name="T8" fmla="*/ 3564 w 356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64" h="1">
                    <a:moveTo>
                      <a:pt x="0" y="0"/>
                    </a:moveTo>
                    <a:lnTo>
                      <a:pt x="3564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487" name="Line 38"/>
              <p:cNvSpPr>
                <a:spLocks noChangeShapeType="1"/>
              </p:cNvSpPr>
              <p:nvPr/>
            </p:nvSpPr>
            <p:spPr bwMode="auto">
              <a:xfrm>
                <a:off x="4351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488" name="Freeform 39"/>
              <p:cNvSpPr/>
              <p:nvPr/>
            </p:nvSpPr>
            <p:spPr bwMode="auto">
              <a:xfrm>
                <a:off x="1155" y="2736"/>
                <a:ext cx="3647" cy="1"/>
              </a:xfrm>
              <a:custGeom>
                <a:avLst/>
                <a:gdLst>
                  <a:gd name="T0" fmla="*/ 0 w 3647"/>
                  <a:gd name="T1" fmla="*/ 0 h 1"/>
                  <a:gd name="T2" fmla="*/ 3647 w 3647"/>
                  <a:gd name="T3" fmla="*/ 1 h 1"/>
                  <a:gd name="T4" fmla="*/ 0 60000 65536"/>
                  <a:gd name="T5" fmla="*/ 0 60000 65536"/>
                  <a:gd name="T6" fmla="*/ 0 w 3647"/>
                  <a:gd name="T7" fmla="*/ 0 h 1"/>
                  <a:gd name="T8" fmla="*/ 3647 w 364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647" h="1">
                    <a:moveTo>
                      <a:pt x="0" y="0"/>
                    </a:moveTo>
                    <a:lnTo>
                      <a:pt x="3647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489" name="Line 40"/>
              <p:cNvSpPr>
                <a:spLocks noChangeShapeType="1"/>
              </p:cNvSpPr>
              <p:nvPr/>
            </p:nvSpPr>
            <p:spPr bwMode="auto">
              <a:xfrm>
                <a:off x="2725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490" name="Line 41"/>
              <p:cNvSpPr>
                <a:spLocks noChangeShapeType="1"/>
              </p:cNvSpPr>
              <p:nvPr/>
            </p:nvSpPr>
            <p:spPr bwMode="auto">
              <a:xfrm>
                <a:off x="1788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491" name="Line 42"/>
              <p:cNvSpPr>
                <a:spLocks noChangeShapeType="1"/>
              </p:cNvSpPr>
              <p:nvPr/>
            </p:nvSpPr>
            <p:spPr bwMode="auto">
              <a:xfrm rot="10800000">
                <a:off x="1788" y="2652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492" name="Line 43"/>
              <p:cNvSpPr>
                <a:spLocks noChangeShapeType="1"/>
              </p:cNvSpPr>
              <p:nvPr/>
            </p:nvSpPr>
            <p:spPr bwMode="auto">
              <a:xfrm rot="10800000">
                <a:off x="2725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493" name="Line 44"/>
              <p:cNvSpPr>
                <a:spLocks noChangeShapeType="1"/>
              </p:cNvSpPr>
              <p:nvPr/>
            </p:nvSpPr>
            <p:spPr bwMode="auto">
              <a:xfrm rot="10800000">
                <a:off x="4351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494" name="AutoShape 45"/>
              <p:cNvSpPr>
                <a:spLocks noChangeArrowheads="1"/>
              </p:cNvSpPr>
              <p:nvPr/>
            </p:nvSpPr>
            <p:spPr bwMode="auto">
              <a:xfrm rot="-5400000">
                <a:off x="1700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7495" name="Freeform 46"/>
              <p:cNvSpPr/>
              <p:nvPr/>
            </p:nvSpPr>
            <p:spPr bwMode="auto">
              <a:xfrm>
                <a:off x="1416" y="1148"/>
                <a:ext cx="198" cy="2026"/>
              </a:xfrm>
              <a:custGeom>
                <a:avLst/>
                <a:gdLst>
                  <a:gd name="T0" fmla="*/ 198 w 198"/>
                  <a:gd name="T1" fmla="*/ 0 h 2026"/>
                  <a:gd name="T2" fmla="*/ 0 w 198"/>
                  <a:gd name="T3" fmla="*/ 0 h 2026"/>
                  <a:gd name="T4" fmla="*/ 6 w 198"/>
                  <a:gd name="T5" fmla="*/ 2026 h 2026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26"/>
                  <a:gd name="T11" fmla="*/ 198 w 198"/>
                  <a:gd name="T12" fmla="*/ 2026 h 20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26">
                    <a:moveTo>
                      <a:pt x="198" y="0"/>
                    </a:moveTo>
                    <a:lnTo>
                      <a:pt x="0" y="0"/>
                    </a:lnTo>
                    <a:lnTo>
                      <a:pt x="6" y="202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496" name="Freeform 47"/>
              <p:cNvSpPr/>
              <p:nvPr/>
            </p:nvSpPr>
            <p:spPr bwMode="auto">
              <a:xfrm>
                <a:off x="141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497" name="Freeform 48"/>
              <p:cNvSpPr/>
              <p:nvPr/>
            </p:nvSpPr>
            <p:spPr bwMode="auto">
              <a:xfrm>
                <a:off x="1422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498" name="Line 49"/>
              <p:cNvSpPr>
                <a:spLocks noChangeShapeType="1"/>
              </p:cNvSpPr>
              <p:nvPr/>
            </p:nvSpPr>
            <p:spPr bwMode="auto">
              <a:xfrm>
                <a:off x="1419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499" name="Freeform 50"/>
              <p:cNvSpPr/>
              <p:nvPr/>
            </p:nvSpPr>
            <p:spPr bwMode="auto">
              <a:xfrm>
                <a:off x="3979" y="1148"/>
                <a:ext cx="198" cy="2023"/>
              </a:xfrm>
              <a:custGeom>
                <a:avLst/>
                <a:gdLst>
                  <a:gd name="T0" fmla="*/ 198 w 198"/>
                  <a:gd name="T1" fmla="*/ 0 h 2023"/>
                  <a:gd name="T2" fmla="*/ 0 w 198"/>
                  <a:gd name="T3" fmla="*/ 0 h 2023"/>
                  <a:gd name="T4" fmla="*/ 2 w 198"/>
                  <a:gd name="T5" fmla="*/ 2023 h 2023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23"/>
                  <a:gd name="T11" fmla="*/ 198 w 198"/>
                  <a:gd name="T12" fmla="*/ 2023 h 202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23">
                    <a:moveTo>
                      <a:pt x="198" y="0"/>
                    </a:moveTo>
                    <a:lnTo>
                      <a:pt x="0" y="0"/>
                    </a:lnTo>
                    <a:lnTo>
                      <a:pt x="2" y="202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500" name="Freeform 51"/>
              <p:cNvSpPr/>
              <p:nvPr/>
            </p:nvSpPr>
            <p:spPr bwMode="auto">
              <a:xfrm>
                <a:off x="3982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501" name="Freeform 52"/>
              <p:cNvSpPr/>
              <p:nvPr/>
            </p:nvSpPr>
            <p:spPr bwMode="auto">
              <a:xfrm>
                <a:off x="3985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502" name="Line 53"/>
              <p:cNvSpPr>
                <a:spLocks noChangeShapeType="1"/>
              </p:cNvSpPr>
              <p:nvPr/>
            </p:nvSpPr>
            <p:spPr bwMode="auto">
              <a:xfrm>
                <a:off x="3982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503" name="Freeform 54"/>
              <p:cNvSpPr/>
              <p:nvPr/>
            </p:nvSpPr>
            <p:spPr bwMode="auto">
              <a:xfrm>
                <a:off x="2347" y="1148"/>
                <a:ext cx="198" cy="2024"/>
              </a:xfrm>
              <a:custGeom>
                <a:avLst/>
                <a:gdLst>
                  <a:gd name="T0" fmla="*/ 295 w 192"/>
                  <a:gd name="T1" fmla="*/ 0 h 2224"/>
                  <a:gd name="T2" fmla="*/ 0 w 192"/>
                  <a:gd name="T3" fmla="*/ 0 h 2224"/>
                  <a:gd name="T4" fmla="*/ 2 w 192"/>
                  <a:gd name="T5" fmla="*/ 594 h 2224"/>
                  <a:gd name="T6" fmla="*/ 0 60000 65536"/>
                  <a:gd name="T7" fmla="*/ 0 60000 65536"/>
                  <a:gd name="T8" fmla="*/ 0 60000 65536"/>
                  <a:gd name="T9" fmla="*/ 0 w 192"/>
                  <a:gd name="T10" fmla="*/ 0 h 2224"/>
                  <a:gd name="T11" fmla="*/ 192 w 192"/>
                  <a:gd name="T12" fmla="*/ 2224 h 22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2" h="2224">
                    <a:moveTo>
                      <a:pt x="192" y="0"/>
                    </a:moveTo>
                    <a:lnTo>
                      <a:pt x="0" y="0"/>
                    </a:lnTo>
                    <a:lnTo>
                      <a:pt x="2" y="222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504" name="Freeform 55"/>
              <p:cNvSpPr/>
              <p:nvPr/>
            </p:nvSpPr>
            <p:spPr bwMode="auto">
              <a:xfrm>
                <a:off x="235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505" name="Freeform 56"/>
              <p:cNvSpPr/>
              <p:nvPr/>
            </p:nvSpPr>
            <p:spPr bwMode="auto">
              <a:xfrm>
                <a:off x="2353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506" name="Line 57"/>
              <p:cNvSpPr>
                <a:spLocks noChangeShapeType="1"/>
              </p:cNvSpPr>
              <p:nvPr/>
            </p:nvSpPr>
            <p:spPr bwMode="auto">
              <a:xfrm>
                <a:off x="2350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507" name="Freeform 58"/>
              <p:cNvSpPr/>
              <p:nvPr/>
            </p:nvSpPr>
            <p:spPr bwMode="auto">
              <a:xfrm>
                <a:off x="1964" y="1135"/>
                <a:ext cx="198" cy="2030"/>
              </a:xfrm>
              <a:custGeom>
                <a:avLst/>
                <a:gdLst>
                  <a:gd name="T0" fmla="*/ 0 w 198"/>
                  <a:gd name="T1" fmla="*/ 0 h 2030"/>
                  <a:gd name="T2" fmla="*/ 198 w 198"/>
                  <a:gd name="T3" fmla="*/ 0 h 2030"/>
                  <a:gd name="T4" fmla="*/ 193 w 198"/>
                  <a:gd name="T5" fmla="*/ 2030 h 2030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30"/>
                  <a:gd name="T11" fmla="*/ 198 w 198"/>
                  <a:gd name="T12" fmla="*/ 2030 h 203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30">
                    <a:moveTo>
                      <a:pt x="0" y="0"/>
                    </a:moveTo>
                    <a:lnTo>
                      <a:pt x="198" y="0"/>
                    </a:lnTo>
                    <a:lnTo>
                      <a:pt x="193" y="203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508" name="Freeform 59"/>
              <p:cNvSpPr/>
              <p:nvPr/>
            </p:nvSpPr>
            <p:spPr bwMode="auto">
              <a:xfrm rot="10800000">
                <a:off x="195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509" name="Freeform 60"/>
              <p:cNvSpPr/>
              <p:nvPr/>
            </p:nvSpPr>
            <p:spPr bwMode="auto">
              <a:xfrm rot="10800000">
                <a:off x="1959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510" name="Freeform 61"/>
              <p:cNvSpPr/>
              <p:nvPr/>
            </p:nvSpPr>
            <p:spPr bwMode="auto">
              <a:xfrm>
                <a:off x="1958" y="2957"/>
                <a:ext cx="200" cy="1"/>
              </a:xfrm>
              <a:custGeom>
                <a:avLst/>
                <a:gdLst>
                  <a:gd name="T0" fmla="*/ 297 w 194"/>
                  <a:gd name="T1" fmla="*/ 0 h 1"/>
                  <a:gd name="T2" fmla="*/ 0 w 194"/>
                  <a:gd name="T3" fmla="*/ 0 h 1"/>
                  <a:gd name="T4" fmla="*/ 0 60000 65536"/>
                  <a:gd name="T5" fmla="*/ 0 60000 65536"/>
                  <a:gd name="T6" fmla="*/ 0 w 194"/>
                  <a:gd name="T7" fmla="*/ 0 h 1"/>
                  <a:gd name="T8" fmla="*/ 194 w 19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4" h="1">
                    <a:moveTo>
                      <a:pt x="19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511" name="Freeform 62"/>
              <p:cNvSpPr/>
              <p:nvPr/>
            </p:nvSpPr>
            <p:spPr bwMode="auto">
              <a:xfrm>
                <a:off x="2893" y="1135"/>
                <a:ext cx="199" cy="2047"/>
              </a:xfrm>
              <a:custGeom>
                <a:avLst/>
                <a:gdLst>
                  <a:gd name="T0" fmla="*/ 0 w 193"/>
                  <a:gd name="T1" fmla="*/ 0 h 2250"/>
                  <a:gd name="T2" fmla="*/ 295 w 193"/>
                  <a:gd name="T3" fmla="*/ 0 h 2250"/>
                  <a:gd name="T4" fmla="*/ 296 w 193"/>
                  <a:gd name="T5" fmla="*/ 599 h 2250"/>
                  <a:gd name="T6" fmla="*/ 0 60000 65536"/>
                  <a:gd name="T7" fmla="*/ 0 60000 65536"/>
                  <a:gd name="T8" fmla="*/ 0 60000 65536"/>
                  <a:gd name="T9" fmla="*/ 0 w 193"/>
                  <a:gd name="T10" fmla="*/ 0 h 2250"/>
                  <a:gd name="T11" fmla="*/ 193 w 193"/>
                  <a:gd name="T12" fmla="*/ 2250 h 225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3" h="2250">
                    <a:moveTo>
                      <a:pt x="0" y="0"/>
                    </a:moveTo>
                    <a:lnTo>
                      <a:pt x="192" y="0"/>
                    </a:lnTo>
                    <a:lnTo>
                      <a:pt x="193" y="225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512" name="Freeform 63"/>
              <p:cNvSpPr/>
              <p:nvPr/>
            </p:nvSpPr>
            <p:spPr bwMode="auto">
              <a:xfrm rot="10800000">
                <a:off x="289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513" name="Freeform 64"/>
              <p:cNvSpPr/>
              <p:nvPr/>
            </p:nvSpPr>
            <p:spPr bwMode="auto">
              <a:xfrm rot="10800000">
                <a:off x="2890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514" name="Freeform 65"/>
              <p:cNvSpPr/>
              <p:nvPr/>
            </p:nvSpPr>
            <p:spPr bwMode="auto">
              <a:xfrm>
                <a:off x="2895" y="2957"/>
                <a:ext cx="194" cy="1"/>
              </a:xfrm>
              <a:custGeom>
                <a:avLst/>
                <a:gdLst>
                  <a:gd name="T0" fmla="*/ 291 w 188"/>
                  <a:gd name="T1" fmla="*/ 0 h 1"/>
                  <a:gd name="T2" fmla="*/ 0 w 188"/>
                  <a:gd name="T3" fmla="*/ 0 h 1"/>
                  <a:gd name="T4" fmla="*/ 0 60000 65536"/>
                  <a:gd name="T5" fmla="*/ 0 60000 65536"/>
                  <a:gd name="T6" fmla="*/ 0 w 188"/>
                  <a:gd name="T7" fmla="*/ 0 h 1"/>
                  <a:gd name="T8" fmla="*/ 188 w 18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88" h="1">
                    <a:moveTo>
                      <a:pt x="18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515" name="Freeform 66"/>
              <p:cNvSpPr/>
              <p:nvPr/>
            </p:nvSpPr>
            <p:spPr bwMode="auto">
              <a:xfrm>
                <a:off x="4531" y="1135"/>
                <a:ext cx="203" cy="2027"/>
              </a:xfrm>
              <a:custGeom>
                <a:avLst/>
                <a:gdLst>
                  <a:gd name="T0" fmla="*/ 0 w 203"/>
                  <a:gd name="T1" fmla="*/ 0 h 2027"/>
                  <a:gd name="T2" fmla="*/ 198 w 203"/>
                  <a:gd name="T3" fmla="*/ 0 h 2027"/>
                  <a:gd name="T4" fmla="*/ 203 w 203"/>
                  <a:gd name="T5" fmla="*/ 2027 h 2027"/>
                  <a:gd name="T6" fmla="*/ 0 60000 65536"/>
                  <a:gd name="T7" fmla="*/ 0 60000 65536"/>
                  <a:gd name="T8" fmla="*/ 0 60000 65536"/>
                  <a:gd name="T9" fmla="*/ 0 w 203"/>
                  <a:gd name="T10" fmla="*/ 0 h 2027"/>
                  <a:gd name="T11" fmla="*/ 203 w 203"/>
                  <a:gd name="T12" fmla="*/ 2027 h 20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3" h="2027">
                    <a:moveTo>
                      <a:pt x="0" y="0"/>
                    </a:moveTo>
                    <a:lnTo>
                      <a:pt x="198" y="0"/>
                    </a:lnTo>
                    <a:lnTo>
                      <a:pt x="203" y="202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516" name="Freeform 67"/>
              <p:cNvSpPr/>
              <p:nvPr/>
            </p:nvSpPr>
            <p:spPr bwMode="auto">
              <a:xfrm rot="10800000">
                <a:off x="4528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517" name="Freeform 68"/>
              <p:cNvSpPr/>
              <p:nvPr/>
            </p:nvSpPr>
            <p:spPr bwMode="auto">
              <a:xfrm rot="10800000">
                <a:off x="4528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518" name="Freeform 69"/>
              <p:cNvSpPr/>
              <p:nvPr/>
            </p:nvSpPr>
            <p:spPr bwMode="auto">
              <a:xfrm rot="10800000">
                <a:off x="4524" y="295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7519" name="Rectangle 70"/>
              <p:cNvSpPr>
                <a:spLocks noChangeArrowheads="1"/>
              </p:cNvSpPr>
              <p:nvPr/>
            </p:nvSpPr>
            <p:spPr bwMode="auto">
              <a:xfrm>
                <a:off x="1204" y="3175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读  写  控  制  电  路</a:t>
                </a:r>
              </a:p>
            </p:txBody>
          </p:sp>
          <p:sp>
            <p:nvSpPr>
              <p:cNvPr id="147520" name="Rectangle 71"/>
              <p:cNvSpPr>
                <a:spLocks noChangeArrowheads="1"/>
              </p:cNvSpPr>
              <p:nvPr/>
            </p:nvSpPr>
            <p:spPr bwMode="auto">
              <a:xfrm>
                <a:off x="1204" y="3656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bIns="0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列  地  址  译  码  器</a:t>
                </a:r>
              </a:p>
            </p:txBody>
          </p:sp>
          <p:sp>
            <p:nvSpPr>
              <p:cNvPr id="147521" name="Text Box 72"/>
              <p:cNvSpPr txBox="1">
                <a:spLocks noChangeArrowheads="1"/>
              </p:cNvSpPr>
              <p:nvPr/>
            </p:nvSpPr>
            <p:spPr bwMode="auto">
              <a:xfrm rot="5400000">
                <a:off x="1689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7522" name="Text Box 73"/>
              <p:cNvSpPr txBox="1">
                <a:spLocks noChangeArrowheads="1"/>
              </p:cNvSpPr>
              <p:nvPr/>
            </p:nvSpPr>
            <p:spPr bwMode="auto">
              <a:xfrm rot="5400000">
                <a:off x="2620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7523" name="Text Box 74"/>
              <p:cNvSpPr txBox="1">
                <a:spLocks noChangeArrowheads="1"/>
              </p:cNvSpPr>
              <p:nvPr/>
            </p:nvSpPr>
            <p:spPr bwMode="auto">
              <a:xfrm rot="5400000">
                <a:off x="4252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7524" name="Rectangle 75"/>
              <p:cNvSpPr>
                <a:spLocks noChangeArrowheads="1"/>
              </p:cNvSpPr>
              <p:nvPr/>
            </p:nvSpPr>
            <p:spPr bwMode="auto">
              <a:xfrm>
                <a:off x="1615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7525" name="Rectangle 76"/>
              <p:cNvSpPr>
                <a:spLocks noChangeArrowheads="1"/>
              </p:cNvSpPr>
              <p:nvPr/>
            </p:nvSpPr>
            <p:spPr bwMode="auto">
              <a:xfrm>
                <a:off x="1615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7526" name="Rectangle 77"/>
              <p:cNvSpPr>
                <a:spLocks noChangeArrowheads="1"/>
              </p:cNvSpPr>
              <p:nvPr/>
            </p:nvSpPr>
            <p:spPr bwMode="auto">
              <a:xfrm>
                <a:off x="2546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7527" name="Rectangle 78"/>
              <p:cNvSpPr>
                <a:spLocks noChangeArrowheads="1"/>
              </p:cNvSpPr>
              <p:nvPr/>
            </p:nvSpPr>
            <p:spPr bwMode="auto">
              <a:xfrm>
                <a:off x="2546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7528" name="Rectangle 79"/>
              <p:cNvSpPr>
                <a:spLocks noChangeArrowheads="1"/>
              </p:cNvSpPr>
              <p:nvPr/>
            </p:nvSpPr>
            <p:spPr bwMode="auto">
              <a:xfrm>
                <a:off x="2546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7529" name="Rectangle 80"/>
              <p:cNvSpPr>
                <a:spLocks noChangeArrowheads="1"/>
              </p:cNvSpPr>
              <p:nvPr/>
            </p:nvSpPr>
            <p:spPr bwMode="auto">
              <a:xfrm>
                <a:off x="4178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7530" name="Rectangle 81"/>
              <p:cNvSpPr>
                <a:spLocks noChangeArrowheads="1"/>
              </p:cNvSpPr>
              <p:nvPr/>
            </p:nvSpPr>
            <p:spPr bwMode="auto">
              <a:xfrm>
                <a:off x="4178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7531" name="Rectangle 82"/>
              <p:cNvSpPr>
                <a:spLocks noChangeArrowheads="1"/>
              </p:cNvSpPr>
              <p:nvPr/>
            </p:nvSpPr>
            <p:spPr bwMode="auto">
              <a:xfrm>
                <a:off x="4178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7532" name="AutoShape 83"/>
              <p:cNvSpPr>
                <a:spLocks noChangeArrowheads="1"/>
              </p:cNvSpPr>
              <p:nvPr/>
            </p:nvSpPr>
            <p:spPr bwMode="auto">
              <a:xfrm rot="-5400000">
                <a:off x="2631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7533" name="AutoShape 84"/>
              <p:cNvSpPr>
                <a:spLocks noChangeArrowheads="1"/>
              </p:cNvSpPr>
              <p:nvPr/>
            </p:nvSpPr>
            <p:spPr bwMode="auto">
              <a:xfrm rot="-5400000">
                <a:off x="4263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7534" name="Text Box 85"/>
              <p:cNvSpPr txBox="1">
                <a:spLocks noChangeArrowheads="1"/>
              </p:cNvSpPr>
              <p:nvPr/>
            </p:nvSpPr>
            <p:spPr bwMode="auto">
              <a:xfrm>
                <a:off x="4796" y="861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读选择线</a:t>
                </a:r>
              </a:p>
            </p:txBody>
          </p:sp>
          <p:sp>
            <p:nvSpPr>
              <p:cNvPr id="147535" name="Text Box 86"/>
              <p:cNvSpPr txBox="1">
                <a:spLocks noChangeArrowheads="1"/>
              </p:cNvSpPr>
              <p:nvPr/>
            </p:nvSpPr>
            <p:spPr bwMode="auto">
              <a:xfrm>
                <a:off x="4806" y="115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写选择线</a:t>
                </a:r>
              </a:p>
            </p:txBody>
          </p:sp>
          <p:sp>
            <p:nvSpPr>
              <p:cNvPr id="147536" name="Line 87"/>
              <p:cNvSpPr>
                <a:spLocks noChangeShapeType="1"/>
              </p:cNvSpPr>
              <p:nvPr/>
            </p:nvSpPr>
            <p:spPr bwMode="auto">
              <a:xfrm>
                <a:off x="4817" y="3306"/>
                <a:ext cx="3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7537" name="Text Box 88"/>
              <p:cNvSpPr txBox="1">
                <a:spLocks noChangeArrowheads="1"/>
              </p:cNvSpPr>
              <p:nvPr/>
            </p:nvSpPr>
            <p:spPr bwMode="auto">
              <a:xfrm>
                <a:off x="4906" y="3024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47538" name="Text Box 89"/>
              <p:cNvSpPr txBox="1">
                <a:spLocks noChangeArrowheads="1"/>
              </p:cNvSpPr>
              <p:nvPr/>
            </p:nvSpPr>
            <p:spPr bwMode="auto">
              <a:xfrm>
                <a:off x="3296" y="1929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单元</a:t>
                </a:r>
              </a:p>
            </p:txBody>
          </p:sp>
          <p:sp>
            <p:nvSpPr>
              <p:cNvPr id="147539" name="Text Box 90"/>
              <p:cNvSpPr txBox="1">
                <a:spLocks noChangeArrowheads="1"/>
              </p:cNvSpPr>
              <p:nvPr/>
            </p:nvSpPr>
            <p:spPr bwMode="auto">
              <a:xfrm>
                <a:off x="3296" y="2108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电路</a:t>
                </a:r>
              </a:p>
            </p:txBody>
          </p:sp>
          <p:sp>
            <p:nvSpPr>
              <p:cNvPr id="147540" name="Text Box 91"/>
              <p:cNvSpPr txBox="1">
                <a:spLocks noChangeArrowheads="1"/>
              </p:cNvSpPr>
              <p:nvPr/>
            </p:nvSpPr>
            <p:spPr bwMode="auto">
              <a:xfrm>
                <a:off x="503" y="936"/>
                <a:ext cx="309" cy="2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行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地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址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译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码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器</a:t>
                </a:r>
              </a:p>
            </p:txBody>
          </p:sp>
          <p:sp>
            <p:nvSpPr>
              <p:cNvPr id="147541" name="Text Box 92"/>
              <p:cNvSpPr txBox="1">
                <a:spLocks noChangeArrowheads="1"/>
              </p:cNvSpPr>
              <p:nvPr/>
            </p:nvSpPr>
            <p:spPr bwMode="auto">
              <a:xfrm>
                <a:off x="907" y="86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47542" name="Text Box 93"/>
              <p:cNvSpPr txBox="1">
                <a:spLocks noChangeArrowheads="1"/>
              </p:cNvSpPr>
              <p:nvPr/>
            </p:nvSpPr>
            <p:spPr bwMode="auto">
              <a:xfrm>
                <a:off x="907" y="115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47543" name="Text Box 94"/>
              <p:cNvSpPr txBox="1">
                <a:spLocks noChangeArrowheads="1"/>
              </p:cNvSpPr>
              <p:nvPr/>
            </p:nvSpPr>
            <p:spPr bwMode="auto">
              <a:xfrm>
                <a:off x="907" y="145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47544" name="Text Box 95"/>
              <p:cNvSpPr txBox="1">
                <a:spLocks noChangeArrowheads="1"/>
              </p:cNvSpPr>
              <p:nvPr/>
            </p:nvSpPr>
            <p:spPr bwMode="auto">
              <a:xfrm>
                <a:off x="907" y="176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47545" name="Text Box 96"/>
              <p:cNvSpPr txBox="1">
                <a:spLocks noChangeArrowheads="1"/>
              </p:cNvSpPr>
              <p:nvPr/>
            </p:nvSpPr>
            <p:spPr bwMode="auto">
              <a:xfrm>
                <a:off x="854" y="2294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47546" name="Text Box 97"/>
              <p:cNvSpPr txBox="1">
                <a:spLocks noChangeArrowheads="1"/>
              </p:cNvSpPr>
              <p:nvPr/>
            </p:nvSpPr>
            <p:spPr bwMode="auto">
              <a:xfrm>
                <a:off x="858" y="2592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47547" name="Line 98"/>
              <p:cNvSpPr>
                <a:spLocks noChangeShapeType="1"/>
              </p:cNvSpPr>
              <p:nvPr/>
            </p:nvSpPr>
            <p:spPr bwMode="auto">
              <a:xfrm>
                <a:off x="1887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7548" name="Line 99"/>
              <p:cNvSpPr>
                <a:spLocks noChangeShapeType="1"/>
              </p:cNvSpPr>
              <p:nvPr/>
            </p:nvSpPr>
            <p:spPr bwMode="auto">
              <a:xfrm>
                <a:off x="2832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7549" name="Text Box 100"/>
              <p:cNvSpPr txBox="1">
                <a:spLocks noChangeArrowheads="1"/>
              </p:cNvSpPr>
              <p:nvPr/>
            </p:nvSpPr>
            <p:spPr bwMode="auto">
              <a:xfrm>
                <a:off x="2613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47550" name="Line 101"/>
              <p:cNvSpPr>
                <a:spLocks noChangeShapeType="1"/>
              </p:cNvSpPr>
              <p:nvPr/>
            </p:nvSpPr>
            <p:spPr bwMode="auto">
              <a:xfrm>
                <a:off x="4473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7551" name="Text Box 102"/>
              <p:cNvSpPr txBox="1">
                <a:spLocks noChangeArrowheads="1"/>
              </p:cNvSpPr>
              <p:nvPr/>
            </p:nvSpPr>
            <p:spPr bwMode="auto">
              <a:xfrm>
                <a:off x="4176" y="3420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47552" name="Group 103"/>
              <p:cNvGrpSpPr/>
              <p:nvPr/>
            </p:nvGrpSpPr>
            <p:grpSpPr bwMode="auto">
              <a:xfrm>
                <a:off x="1492" y="3918"/>
                <a:ext cx="284" cy="323"/>
                <a:chOff x="1584" y="3918"/>
                <a:chExt cx="284" cy="323"/>
              </a:xfrm>
            </p:grpSpPr>
            <p:sp>
              <p:nvSpPr>
                <p:cNvPr id="147588" name="Line 104"/>
                <p:cNvSpPr>
                  <a:spLocks noChangeShapeType="1"/>
                </p:cNvSpPr>
                <p:nvPr/>
              </p:nvSpPr>
              <p:spPr bwMode="auto">
                <a:xfrm rot="-5400000">
                  <a:off x="149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7589" name="Text Box 105"/>
                <p:cNvSpPr txBox="1">
                  <a:spLocks noChangeArrowheads="1"/>
                </p:cNvSpPr>
                <p:nvPr/>
              </p:nvSpPr>
              <p:spPr bwMode="auto">
                <a:xfrm>
                  <a:off x="1584" y="3991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</p:grpSp>
          <p:grpSp>
            <p:nvGrpSpPr>
              <p:cNvPr id="147553" name="Group 106"/>
              <p:cNvGrpSpPr/>
              <p:nvPr/>
            </p:nvGrpSpPr>
            <p:grpSpPr bwMode="auto">
              <a:xfrm>
                <a:off x="2234" y="3918"/>
                <a:ext cx="285" cy="324"/>
                <a:chOff x="2355" y="3918"/>
                <a:chExt cx="285" cy="324"/>
              </a:xfrm>
            </p:grpSpPr>
            <p:sp>
              <p:nvSpPr>
                <p:cNvPr id="147586" name="Line 107"/>
                <p:cNvSpPr>
                  <a:spLocks noChangeShapeType="1"/>
                </p:cNvSpPr>
                <p:nvPr/>
              </p:nvSpPr>
              <p:spPr bwMode="auto">
                <a:xfrm rot="-5400000">
                  <a:off x="224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7587" name="Text Box 108"/>
                <p:cNvSpPr txBox="1">
                  <a:spLocks noChangeArrowheads="1"/>
                </p:cNvSpPr>
                <p:nvPr/>
              </p:nvSpPr>
              <p:spPr bwMode="auto">
                <a:xfrm>
                  <a:off x="2356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3</a:t>
                  </a:r>
                </a:p>
              </p:txBody>
            </p:sp>
          </p:grpSp>
          <p:grpSp>
            <p:nvGrpSpPr>
              <p:cNvPr id="147554" name="Group 109"/>
              <p:cNvGrpSpPr/>
              <p:nvPr/>
            </p:nvGrpSpPr>
            <p:grpSpPr bwMode="auto">
              <a:xfrm>
                <a:off x="2978" y="3918"/>
                <a:ext cx="284" cy="324"/>
                <a:chOff x="3102" y="3918"/>
                <a:chExt cx="284" cy="324"/>
              </a:xfrm>
            </p:grpSpPr>
            <p:sp>
              <p:nvSpPr>
                <p:cNvPr id="147584" name="Line 110"/>
                <p:cNvSpPr>
                  <a:spLocks noChangeShapeType="1"/>
                </p:cNvSpPr>
                <p:nvPr/>
              </p:nvSpPr>
              <p:spPr bwMode="auto">
                <a:xfrm rot="-5400000">
                  <a:off x="300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7585" name="Text Box 111"/>
                <p:cNvSpPr txBox="1">
                  <a:spLocks noChangeArrowheads="1"/>
                </p:cNvSpPr>
                <p:nvPr/>
              </p:nvSpPr>
              <p:spPr bwMode="auto">
                <a:xfrm>
                  <a:off x="3102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</p:grpSp>
          <p:grpSp>
            <p:nvGrpSpPr>
              <p:cNvPr id="147555" name="Group 112"/>
              <p:cNvGrpSpPr/>
              <p:nvPr/>
            </p:nvGrpSpPr>
            <p:grpSpPr bwMode="auto">
              <a:xfrm>
                <a:off x="3721" y="3918"/>
                <a:ext cx="284" cy="324"/>
                <a:chOff x="3844" y="3918"/>
                <a:chExt cx="284" cy="324"/>
              </a:xfrm>
            </p:grpSpPr>
            <p:sp>
              <p:nvSpPr>
                <p:cNvPr id="147582" name="Line 113"/>
                <p:cNvSpPr>
                  <a:spLocks noChangeShapeType="1"/>
                </p:cNvSpPr>
                <p:nvPr/>
              </p:nvSpPr>
              <p:spPr bwMode="auto">
                <a:xfrm rot="-5400000">
                  <a:off x="375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7583" name="Text Box 114"/>
                <p:cNvSpPr txBox="1">
                  <a:spLocks noChangeArrowheads="1"/>
                </p:cNvSpPr>
                <p:nvPr/>
              </p:nvSpPr>
              <p:spPr bwMode="auto">
                <a:xfrm>
                  <a:off x="3844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</p:grpSp>
          <p:grpSp>
            <p:nvGrpSpPr>
              <p:cNvPr id="147556" name="Group 115"/>
              <p:cNvGrpSpPr/>
              <p:nvPr/>
            </p:nvGrpSpPr>
            <p:grpSpPr bwMode="auto">
              <a:xfrm>
                <a:off x="4464" y="3918"/>
                <a:ext cx="284" cy="323"/>
                <a:chOff x="4603" y="3918"/>
                <a:chExt cx="284" cy="323"/>
              </a:xfrm>
            </p:grpSpPr>
            <p:sp>
              <p:nvSpPr>
                <p:cNvPr id="147580" name="Line 116"/>
                <p:cNvSpPr>
                  <a:spLocks noChangeShapeType="1"/>
                </p:cNvSpPr>
                <p:nvPr/>
              </p:nvSpPr>
              <p:spPr bwMode="auto">
                <a:xfrm rot="-5400000">
                  <a:off x="4510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7581" name="Text Box 117"/>
                <p:cNvSpPr txBox="1">
                  <a:spLocks noChangeArrowheads="1"/>
                </p:cNvSpPr>
                <p:nvPr/>
              </p:nvSpPr>
              <p:spPr bwMode="auto">
                <a:xfrm>
                  <a:off x="4603" y="3991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</p:grpSp>
          <p:sp>
            <p:nvSpPr>
              <p:cNvPr id="147557" name="Line 118"/>
              <p:cNvSpPr>
                <a:spLocks noChangeShapeType="1"/>
              </p:cNvSpPr>
              <p:nvPr/>
            </p:nvSpPr>
            <p:spPr bwMode="auto">
              <a:xfrm>
                <a:off x="2689" y="1690"/>
                <a:ext cx="643" cy="39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7558" name="Line 119"/>
              <p:cNvSpPr>
                <a:spLocks noChangeShapeType="1"/>
              </p:cNvSpPr>
              <p:nvPr/>
            </p:nvSpPr>
            <p:spPr bwMode="auto">
              <a:xfrm>
                <a:off x="3976" y="2039"/>
                <a:ext cx="990" cy="21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7559" name="Line 120"/>
              <p:cNvSpPr>
                <a:spLocks noChangeShapeType="1"/>
              </p:cNvSpPr>
              <p:nvPr/>
            </p:nvSpPr>
            <p:spPr bwMode="auto">
              <a:xfrm>
                <a:off x="4718" y="1384"/>
                <a:ext cx="693" cy="13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7560" name="Text Box 121"/>
              <p:cNvSpPr txBox="1">
                <a:spLocks noChangeArrowheads="1"/>
              </p:cNvSpPr>
              <p:nvPr/>
            </p:nvSpPr>
            <p:spPr bwMode="auto">
              <a:xfrm>
                <a:off x="4844" y="2728"/>
                <a:ext cx="92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刷新放大器</a:t>
                </a:r>
              </a:p>
            </p:txBody>
          </p:sp>
          <p:sp>
            <p:nvSpPr>
              <p:cNvPr id="147561" name="Line 122"/>
              <p:cNvSpPr>
                <a:spLocks noChangeShapeType="1"/>
              </p:cNvSpPr>
              <p:nvPr/>
            </p:nvSpPr>
            <p:spPr bwMode="auto">
              <a:xfrm flipV="1">
                <a:off x="4520" y="2957"/>
                <a:ext cx="495" cy="4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147562" name="Group 123"/>
              <p:cNvGrpSpPr/>
              <p:nvPr/>
            </p:nvGrpSpPr>
            <p:grpSpPr bwMode="auto">
              <a:xfrm>
                <a:off x="4916" y="1726"/>
                <a:ext cx="277" cy="893"/>
                <a:chOff x="4920" y="1790"/>
                <a:chExt cx="277" cy="893"/>
              </a:xfrm>
            </p:grpSpPr>
            <p:sp>
              <p:nvSpPr>
                <p:cNvPr id="147576" name="Text Box 124"/>
                <p:cNvSpPr txBox="1">
                  <a:spLocks noChangeArrowheads="1"/>
                </p:cNvSpPr>
                <p:nvPr/>
              </p:nvSpPr>
              <p:spPr bwMode="auto">
                <a:xfrm>
                  <a:off x="4920" y="1790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写</a:t>
                  </a:r>
                </a:p>
              </p:txBody>
            </p:sp>
            <p:sp>
              <p:nvSpPr>
                <p:cNvPr id="147577" name="Text Box 125"/>
                <p:cNvSpPr txBox="1">
                  <a:spLocks noChangeArrowheads="1"/>
                </p:cNvSpPr>
                <p:nvPr/>
              </p:nvSpPr>
              <p:spPr bwMode="auto">
                <a:xfrm>
                  <a:off x="4920" y="200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</a:p>
              </p:txBody>
            </p:sp>
            <p:sp>
              <p:nvSpPr>
                <p:cNvPr id="147578" name="Text Box 126"/>
                <p:cNvSpPr txBox="1">
                  <a:spLocks noChangeArrowheads="1"/>
                </p:cNvSpPr>
                <p:nvPr/>
              </p:nvSpPr>
              <p:spPr bwMode="auto">
                <a:xfrm>
                  <a:off x="4920" y="2219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47579" name="Text Box 127"/>
                <p:cNvSpPr txBox="1">
                  <a:spLocks noChangeArrowheads="1"/>
                </p:cNvSpPr>
                <p:nvPr/>
              </p:nvSpPr>
              <p:spPr bwMode="auto">
                <a:xfrm>
                  <a:off x="4920" y="243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</a:p>
              </p:txBody>
            </p:sp>
          </p:grpSp>
          <p:grpSp>
            <p:nvGrpSpPr>
              <p:cNvPr id="147563" name="Group 128"/>
              <p:cNvGrpSpPr/>
              <p:nvPr/>
            </p:nvGrpSpPr>
            <p:grpSpPr bwMode="auto">
              <a:xfrm>
                <a:off x="5372" y="1505"/>
                <a:ext cx="277" cy="879"/>
                <a:chOff x="5394" y="1612"/>
                <a:chExt cx="277" cy="879"/>
              </a:xfrm>
            </p:grpSpPr>
            <p:sp>
              <p:nvSpPr>
                <p:cNvPr id="147572" name="Text Box 129"/>
                <p:cNvSpPr txBox="1">
                  <a:spLocks noChangeArrowheads="1"/>
                </p:cNvSpPr>
                <p:nvPr/>
              </p:nvSpPr>
              <p:spPr bwMode="auto">
                <a:xfrm>
                  <a:off x="5394" y="161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</a:t>
                  </a:r>
                </a:p>
              </p:txBody>
            </p:sp>
            <p:sp>
              <p:nvSpPr>
                <p:cNvPr id="147573" name="Text Box 130"/>
                <p:cNvSpPr txBox="1">
                  <a:spLocks noChangeArrowheads="1"/>
                </p:cNvSpPr>
                <p:nvPr/>
              </p:nvSpPr>
              <p:spPr bwMode="auto">
                <a:xfrm>
                  <a:off x="5394" y="182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</a:p>
              </p:txBody>
            </p:sp>
            <p:sp>
              <p:nvSpPr>
                <p:cNvPr id="147574" name="Text Box 131"/>
                <p:cNvSpPr txBox="1">
                  <a:spLocks noChangeArrowheads="1"/>
                </p:cNvSpPr>
                <p:nvPr/>
              </p:nvSpPr>
              <p:spPr bwMode="auto">
                <a:xfrm>
                  <a:off x="5394" y="203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47575" name="Text Box 132"/>
                <p:cNvSpPr txBox="1">
                  <a:spLocks noChangeArrowheads="1"/>
                </p:cNvSpPr>
                <p:nvPr/>
              </p:nvSpPr>
              <p:spPr bwMode="auto">
                <a:xfrm>
                  <a:off x="5394" y="224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</a:p>
              </p:txBody>
            </p:sp>
          </p:grpSp>
          <p:grpSp>
            <p:nvGrpSpPr>
              <p:cNvPr id="147564" name="Group 133"/>
              <p:cNvGrpSpPr/>
              <p:nvPr/>
            </p:nvGrpSpPr>
            <p:grpSpPr bwMode="auto">
              <a:xfrm>
                <a:off x="3320" y="915"/>
                <a:ext cx="372" cy="2170"/>
                <a:chOff x="3324" y="979"/>
                <a:chExt cx="372" cy="2170"/>
              </a:xfrm>
            </p:grpSpPr>
            <p:sp>
              <p:nvSpPr>
                <p:cNvPr id="147568" name="Text Box 134"/>
                <p:cNvSpPr txBox="1">
                  <a:spLocks noChangeArrowheads="1"/>
                </p:cNvSpPr>
                <p:nvPr/>
              </p:nvSpPr>
              <p:spPr bwMode="auto">
                <a:xfrm>
                  <a:off x="3324" y="979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47569" name="Text Box 135"/>
                <p:cNvSpPr txBox="1">
                  <a:spLocks noChangeArrowheads="1"/>
                </p:cNvSpPr>
                <p:nvPr/>
              </p:nvSpPr>
              <p:spPr bwMode="auto">
                <a:xfrm>
                  <a:off x="3324" y="150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47570" name="Text Box 136"/>
                <p:cNvSpPr txBox="1">
                  <a:spLocks noChangeArrowheads="1"/>
                </p:cNvSpPr>
                <p:nvPr/>
              </p:nvSpPr>
              <p:spPr bwMode="auto">
                <a:xfrm>
                  <a:off x="3324" y="240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47571" name="Text Box 137"/>
                <p:cNvSpPr txBox="1">
                  <a:spLocks noChangeArrowheads="1"/>
                </p:cNvSpPr>
                <p:nvPr/>
              </p:nvSpPr>
              <p:spPr bwMode="auto">
                <a:xfrm>
                  <a:off x="3324" y="2784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</p:grpSp>
          <p:sp>
            <p:nvSpPr>
              <p:cNvPr id="147565" name="Text Box 138"/>
              <p:cNvSpPr txBox="1">
                <a:spLocks noChangeArrowheads="1"/>
              </p:cNvSpPr>
              <p:nvPr/>
            </p:nvSpPr>
            <p:spPr bwMode="auto">
              <a:xfrm rot="5400000">
                <a:off x="916" y="1976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7566" name="Text Box 139"/>
              <p:cNvSpPr txBox="1">
                <a:spLocks noChangeArrowheads="1"/>
              </p:cNvSpPr>
              <p:nvPr/>
            </p:nvSpPr>
            <p:spPr bwMode="auto">
              <a:xfrm>
                <a:off x="1656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47567" name="Text Box 140"/>
              <p:cNvSpPr txBox="1">
                <a:spLocks noChangeArrowheads="1"/>
              </p:cNvSpPr>
              <p:nvPr/>
            </p:nvSpPr>
            <p:spPr bwMode="auto">
              <a:xfrm>
                <a:off x="3350" y="3312"/>
                <a:ext cx="340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</p:grpSp>
      <p:sp>
        <p:nvSpPr>
          <p:cNvPr id="147459" name="Text Box 141"/>
          <p:cNvSpPr txBox="1">
            <a:spLocks noChangeArrowheads="1"/>
          </p:cNvSpPr>
          <p:nvPr/>
        </p:nvSpPr>
        <p:spPr bwMode="auto">
          <a:xfrm>
            <a:off x="304800" y="228600"/>
            <a:ext cx="7696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zh-CN" altLang="en-US" sz="3200">
                <a:latin typeface="Times New Roman" panose="02020603050405020304" pitchFamily="18" charset="0"/>
              </a:rPr>
              <a:t>三管动态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200">
                <a:latin typeface="Times New Roman" panose="02020603050405020304" pitchFamily="18" charset="0"/>
              </a:rPr>
              <a:t>芯片 (</a:t>
            </a:r>
            <a:r>
              <a:rPr lang="en-US" altLang="zh-CN" sz="3200">
                <a:latin typeface="Times New Roman" panose="02020603050405020304" pitchFamily="18" charset="0"/>
              </a:rPr>
              <a:t>Intel 1103)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</a:p>
        </p:txBody>
      </p:sp>
      <p:sp>
        <p:nvSpPr>
          <p:cNvPr id="235662" name="Rectangle 142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47461" name="AutoShape 143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341313" y="1819275"/>
            <a:ext cx="361950" cy="3362325"/>
            <a:chOff x="300" y="720"/>
            <a:chExt cx="221" cy="2327"/>
          </a:xfrm>
        </p:grpSpPr>
        <p:sp>
          <p:nvSpPr>
            <p:cNvPr id="148625" name="Text Box 3"/>
            <p:cNvSpPr txBox="1">
              <a:spLocks noChangeArrowheads="1"/>
            </p:cNvSpPr>
            <p:nvPr/>
          </p:nvSpPr>
          <p:spPr bwMode="auto">
            <a:xfrm>
              <a:off x="300" y="720"/>
              <a:ext cx="221" cy="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48626" name="Text Box 4"/>
            <p:cNvSpPr txBox="1">
              <a:spLocks noChangeArrowheads="1"/>
            </p:cNvSpPr>
            <p:nvPr/>
          </p:nvSpPr>
          <p:spPr bwMode="auto">
            <a:xfrm>
              <a:off x="300" y="1212"/>
              <a:ext cx="221" cy="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48627" name="Text Box 5"/>
            <p:cNvSpPr txBox="1">
              <a:spLocks noChangeArrowheads="1"/>
            </p:cNvSpPr>
            <p:nvPr/>
          </p:nvSpPr>
          <p:spPr bwMode="auto">
            <a:xfrm>
              <a:off x="300" y="1705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48628" name="Text Box 6"/>
            <p:cNvSpPr txBox="1">
              <a:spLocks noChangeArrowheads="1"/>
            </p:cNvSpPr>
            <p:nvPr/>
          </p:nvSpPr>
          <p:spPr bwMode="auto">
            <a:xfrm>
              <a:off x="300" y="2196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48629" name="Text Box 7"/>
            <p:cNvSpPr txBox="1">
              <a:spLocks noChangeArrowheads="1"/>
            </p:cNvSpPr>
            <p:nvPr/>
          </p:nvSpPr>
          <p:spPr bwMode="auto">
            <a:xfrm>
              <a:off x="300" y="2688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</p:grpSp>
      <p:sp>
        <p:nvSpPr>
          <p:cNvPr id="236552" name="Rectangle 8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48484" name="Text Box 9"/>
          <p:cNvSpPr txBox="1">
            <a:spLocks noChangeArrowheads="1"/>
          </p:cNvSpPr>
          <p:nvPr/>
        </p:nvSpPr>
        <p:spPr bwMode="auto">
          <a:xfrm>
            <a:off x="304800" y="228600"/>
            <a:ext cx="7696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zh-CN" altLang="en-US" sz="3200">
                <a:latin typeface="Times New Roman" panose="02020603050405020304" pitchFamily="18" charset="0"/>
              </a:rPr>
              <a:t>三管动态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200">
                <a:latin typeface="Times New Roman" panose="02020603050405020304" pitchFamily="18" charset="0"/>
              </a:rPr>
              <a:t>芯片 (</a:t>
            </a:r>
            <a:r>
              <a:rPr lang="en-US" altLang="zh-CN" sz="3200">
                <a:latin typeface="Times New Roman" panose="02020603050405020304" pitchFamily="18" charset="0"/>
              </a:rPr>
              <a:t>Intel 1103)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</a:p>
        </p:txBody>
      </p:sp>
      <p:grpSp>
        <p:nvGrpSpPr>
          <p:cNvPr id="148485" name="Group 10"/>
          <p:cNvGrpSpPr/>
          <p:nvPr/>
        </p:nvGrpSpPr>
        <p:grpSpPr bwMode="auto">
          <a:xfrm>
            <a:off x="0" y="1295400"/>
            <a:ext cx="9151938" cy="5438775"/>
            <a:chOff x="0" y="816"/>
            <a:chExt cx="5765" cy="3426"/>
          </a:xfrm>
        </p:grpSpPr>
        <p:grpSp>
          <p:nvGrpSpPr>
            <p:cNvPr id="148487" name="Group 11"/>
            <p:cNvGrpSpPr/>
            <p:nvPr/>
          </p:nvGrpSpPr>
          <p:grpSpPr bwMode="auto">
            <a:xfrm>
              <a:off x="0" y="1094"/>
              <a:ext cx="462" cy="250"/>
              <a:chOff x="0" y="933"/>
              <a:chExt cx="462" cy="250"/>
            </a:xfrm>
          </p:grpSpPr>
          <p:sp>
            <p:nvSpPr>
              <p:cNvPr id="148623" name="Line 12"/>
              <p:cNvSpPr>
                <a:spLocks noChangeShapeType="1"/>
              </p:cNvSpPr>
              <p:nvPr/>
            </p:nvSpPr>
            <p:spPr bwMode="auto">
              <a:xfrm>
                <a:off x="214" y="991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8624" name="Text Box 13"/>
              <p:cNvSpPr txBox="1">
                <a:spLocks noChangeArrowheads="1"/>
              </p:cNvSpPr>
              <p:nvPr/>
            </p:nvSpPr>
            <p:spPr bwMode="auto">
              <a:xfrm>
                <a:off x="0" y="933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9</a:t>
                </a:r>
              </a:p>
            </p:txBody>
          </p:sp>
        </p:grpSp>
        <p:grpSp>
          <p:nvGrpSpPr>
            <p:cNvPr id="148488" name="Group 14"/>
            <p:cNvGrpSpPr/>
            <p:nvPr/>
          </p:nvGrpSpPr>
          <p:grpSpPr bwMode="auto">
            <a:xfrm>
              <a:off x="16" y="1540"/>
              <a:ext cx="446" cy="250"/>
              <a:chOff x="16" y="1371"/>
              <a:chExt cx="446" cy="250"/>
            </a:xfrm>
          </p:grpSpPr>
          <p:sp>
            <p:nvSpPr>
              <p:cNvPr id="148621" name="Line 15"/>
              <p:cNvSpPr>
                <a:spLocks noChangeShapeType="1"/>
              </p:cNvSpPr>
              <p:nvPr/>
            </p:nvSpPr>
            <p:spPr bwMode="auto">
              <a:xfrm>
                <a:off x="214" y="1439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8622" name="Text Box 16"/>
              <p:cNvSpPr txBox="1">
                <a:spLocks noChangeArrowheads="1"/>
              </p:cNvSpPr>
              <p:nvPr/>
            </p:nvSpPr>
            <p:spPr bwMode="auto">
              <a:xfrm>
                <a:off x="16" y="1371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48489" name="Group 17"/>
            <p:cNvGrpSpPr/>
            <p:nvPr/>
          </p:nvGrpSpPr>
          <p:grpSpPr bwMode="auto">
            <a:xfrm>
              <a:off x="16" y="1987"/>
              <a:ext cx="446" cy="250"/>
              <a:chOff x="16" y="1809"/>
              <a:chExt cx="446" cy="250"/>
            </a:xfrm>
          </p:grpSpPr>
          <p:sp>
            <p:nvSpPr>
              <p:cNvPr id="148619" name="Line 18"/>
              <p:cNvSpPr>
                <a:spLocks noChangeShapeType="1"/>
              </p:cNvSpPr>
              <p:nvPr/>
            </p:nvSpPr>
            <p:spPr bwMode="auto">
              <a:xfrm>
                <a:off x="214" y="1886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8620" name="Text Box 19"/>
              <p:cNvSpPr txBox="1">
                <a:spLocks noChangeArrowheads="1"/>
              </p:cNvSpPr>
              <p:nvPr/>
            </p:nvSpPr>
            <p:spPr bwMode="auto">
              <a:xfrm>
                <a:off x="16" y="1809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</a:p>
            </p:txBody>
          </p:sp>
        </p:grpSp>
        <p:grpSp>
          <p:nvGrpSpPr>
            <p:cNvPr id="148490" name="Group 20"/>
            <p:cNvGrpSpPr/>
            <p:nvPr/>
          </p:nvGrpSpPr>
          <p:grpSpPr bwMode="auto">
            <a:xfrm>
              <a:off x="16" y="2433"/>
              <a:ext cx="446" cy="250"/>
              <a:chOff x="16" y="2276"/>
              <a:chExt cx="446" cy="250"/>
            </a:xfrm>
          </p:grpSpPr>
          <p:sp>
            <p:nvSpPr>
              <p:cNvPr id="148617" name="Line 21"/>
              <p:cNvSpPr>
                <a:spLocks noChangeShapeType="1"/>
              </p:cNvSpPr>
              <p:nvPr/>
            </p:nvSpPr>
            <p:spPr bwMode="auto">
              <a:xfrm>
                <a:off x="214" y="2334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8618" name="Text Box 22"/>
              <p:cNvSpPr txBox="1">
                <a:spLocks noChangeArrowheads="1"/>
              </p:cNvSpPr>
              <p:nvPr/>
            </p:nvSpPr>
            <p:spPr bwMode="auto">
              <a:xfrm>
                <a:off x="16" y="2276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48491" name="Group 23"/>
            <p:cNvGrpSpPr/>
            <p:nvPr/>
          </p:nvGrpSpPr>
          <p:grpSpPr bwMode="auto">
            <a:xfrm>
              <a:off x="16" y="2880"/>
              <a:ext cx="446" cy="250"/>
              <a:chOff x="16" y="2725"/>
              <a:chExt cx="446" cy="250"/>
            </a:xfrm>
          </p:grpSpPr>
          <p:sp>
            <p:nvSpPr>
              <p:cNvPr id="148615" name="Line 24"/>
              <p:cNvSpPr>
                <a:spLocks noChangeShapeType="1"/>
              </p:cNvSpPr>
              <p:nvPr/>
            </p:nvSpPr>
            <p:spPr bwMode="auto">
              <a:xfrm>
                <a:off x="214" y="2782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8616" name="Text Box 25"/>
              <p:cNvSpPr txBox="1">
                <a:spLocks noChangeArrowheads="1"/>
              </p:cNvSpPr>
              <p:nvPr/>
            </p:nvSpPr>
            <p:spPr bwMode="auto">
              <a:xfrm>
                <a:off x="16" y="2725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5</a:t>
                </a:r>
              </a:p>
            </p:txBody>
          </p:sp>
        </p:grpSp>
        <p:grpSp>
          <p:nvGrpSpPr>
            <p:cNvPr id="148492" name="Group 26"/>
            <p:cNvGrpSpPr/>
            <p:nvPr/>
          </p:nvGrpSpPr>
          <p:grpSpPr bwMode="auto">
            <a:xfrm>
              <a:off x="462" y="816"/>
              <a:ext cx="5303" cy="3426"/>
              <a:chOff x="462" y="816"/>
              <a:chExt cx="5303" cy="3426"/>
            </a:xfrm>
          </p:grpSpPr>
          <p:sp>
            <p:nvSpPr>
              <p:cNvPr id="148493" name="Rectangle 27"/>
              <p:cNvSpPr>
                <a:spLocks noChangeArrowheads="1"/>
              </p:cNvSpPr>
              <p:nvPr/>
            </p:nvSpPr>
            <p:spPr bwMode="auto">
              <a:xfrm>
                <a:off x="462" y="816"/>
                <a:ext cx="693" cy="248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8494" name="Freeform 28"/>
              <p:cNvSpPr/>
              <p:nvPr/>
            </p:nvSpPr>
            <p:spPr bwMode="auto">
              <a:xfrm>
                <a:off x="1155" y="991"/>
                <a:ext cx="3638" cy="1"/>
              </a:xfrm>
              <a:custGeom>
                <a:avLst/>
                <a:gdLst>
                  <a:gd name="T0" fmla="*/ 0 w 3528"/>
                  <a:gd name="T1" fmla="*/ 0 h 1"/>
                  <a:gd name="T2" fmla="*/ 5422 w 3528"/>
                  <a:gd name="T3" fmla="*/ 0 h 1"/>
                  <a:gd name="T4" fmla="*/ 0 60000 65536"/>
                  <a:gd name="T5" fmla="*/ 0 60000 65536"/>
                  <a:gd name="T6" fmla="*/ 0 w 3528"/>
                  <a:gd name="T7" fmla="*/ 0 h 1"/>
                  <a:gd name="T8" fmla="*/ 3528 w 352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28" h="1">
                    <a:moveTo>
                      <a:pt x="0" y="0"/>
                    </a:moveTo>
                    <a:lnTo>
                      <a:pt x="3528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495" name="Rectangle 29"/>
              <p:cNvSpPr>
                <a:spLocks noChangeArrowheads="1"/>
              </p:cNvSpPr>
              <p:nvPr/>
            </p:nvSpPr>
            <p:spPr bwMode="auto">
              <a:xfrm>
                <a:off x="1615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8496" name="Freeform 30"/>
              <p:cNvSpPr/>
              <p:nvPr/>
            </p:nvSpPr>
            <p:spPr bwMode="auto">
              <a:xfrm>
                <a:off x="4351" y="991"/>
                <a:ext cx="1" cy="79"/>
              </a:xfrm>
              <a:custGeom>
                <a:avLst/>
                <a:gdLst>
                  <a:gd name="T0" fmla="*/ 0 w 1"/>
                  <a:gd name="T1" fmla="*/ 0 h 87"/>
                  <a:gd name="T2" fmla="*/ 0 w 1"/>
                  <a:gd name="T3" fmla="*/ 23 h 87"/>
                  <a:gd name="T4" fmla="*/ 0 60000 65536"/>
                  <a:gd name="T5" fmla="*/ 0 60000 65536"/>
                  <a:gd name="T6" fmla="*/ 0 w 1"/>
                  <a:gd name="T7" fmla="*/ 0 h 87"/>
                  <a:gd name="T8" fmla="*/ 1 w 1"/>
                  <a:gd name="T9" fmla="*/ 87 h 8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87">
                    <a:moveTo>
                      <a:pt x="0" y="0"/>
                    </a:moveTo>
                    <a:lnTo>
                      <a:pt x="0" y="8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497" name="Freeform 31"/>
              <p:cNvSpPr/>
              <p:nvPr/>
            </p:nvSpPr>
            <p:spPr bwMode="auto">
              <a:xfrm>
                <a:off x="1155" y="1295"/>
                <a:ext cx="3659" cy="3"/>
              </a:xfrm>
              <a:custGeom>
                <a:avLst/>
                <a:gdLst>
                  <a:gd name="T0" fmla="*/ 0 w 3659"/>
                  <a:gd name="T1" fmla="*/ 0 h 3"/>
                  <a:gd name="T2" fmla="*/ 3659 w 3659"/>
                  <a:gd name="T3" fmla="*/ 3 h 3"/>
                  <a:gd name="T4" fmla="*/ 0 60000 65536"/>
                  <a:gd name="T5" fmla="*/ 0 60000 65536"/>
                  <a:gd name="T6" fmla="*/ 0 w 3659"/>
                  <a:gd name="T7" fmla="*/ 0 h 3"/>
                  <a:gd name="T8" fmla="*/ 3659 w 3659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659" h="3">
                    <a:moveTo>
                      <a:pt x="0" y="0"/>
                    </a:moveTo>
                    <a:lnTo>
                      <a:pt x="365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498" name="Freeform 32"/>
              <p:cNvSpPr/>
              <p:nvPr/>
            </p:nvSpPr>
            <p:spPr bwMode="auto">
              <a:xfrm>
                <a:off x="2727" y="987"/>
                <a:ext cx="1" cy="86"/>
              </a:xfrm>
              <a:custGeom>
                <a:avLst/>
                <a:gdLst>
                  <a:gd name="T0" fmla="*/ 0 w 1"/>
                  <a:gd name="T1" fmla="*/ 0 h 86"/>
                  <a:gd name="T2" fmla="*/ 1 w 1"/>
                  <a:gd name="T3" fmla="*/ 86 h 86"/>
                  <a:gd name="T4" fmla="*/ 0 60000 65536"/>
                  <a:gd name="T5" fmla="*/ 0 60000 65536"/>
                  <a:gd name="T6" fmla="*/ 0 w 1"/>
                  <a:gd name="T7" fmla="*/ 0 h 86"/>
                  <a:gd name="T8" fmla="*/ 1 w 1"/>
                  <a:gd name="T9" fmla="*/ 86 h 8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86">
                    <a:moveTo>
                      <a:pt x="0" y="0"/>
                    </a:moveTo>
                    <a:lnTo>
                      <a:pt x="1" y="8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499" name="Freeform 33"/>
              <p:cNvSpPr/>
              <p:nvPr/>
            </p:nvSpPr>
            <p:spPr bwMode="auto">
              <a:xfrm>
                <a:off x="1791" y="985"/>
                <a:ext cx="1" cy="92"/>
              </a:xfrm>
              <a:custGeom>
                <a:avLst/>
                <a:gdLst>
                  <a:gd name="T0" fmla="*/ 0 w 1"/>
                  <a:gd name="T1" fmla="*/ 0 h 92"/>
                  <a:gd name="T2" fmla="*/ 0 w 1"/>
                  <a:gd name="T3" fmla="*/ 92 h 92"/>
                  <a:gd name="T4" fmla="*/ 0 60000 65536"/>
                  <a:gd name="T5" fmla="*/ 0 60000 65536"/>
                  <a:gd name="T6" fmla="*/ 0 w 1"/>
                  <a:gd name="T7" fmla="*/ 0 h 92"/>
                  <a:gd name="T8" fmla="*/ 1 w 1"/>
                  <a:gd name="T9" fmla="*/ 92 h 9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92">
                    <a:moveTo>
                      <a:pt x="0" y="0"/>
                    </a:moveTo>
                    <a:lnTo>
                      <a:pt x="0" y="92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00" name="Freeform 34"/>
              <p:cNvSpPr/>
              <p:nvPr/>
            </p:nvSpPr>
            <p:spPr bwMode="auto">
              <a:xfrm>
                <a:off x="1788" y="1212"/>
                <a:ext cx="1" cy="85"/>
              </a:xfrm>
              <a:custGeom>
                <a:avLst/>
                <a:gdLst>
                  <a:gd name="T0" fmla="*/ 0 w 1"/>
                  <a:gd name="T1" fmla="*/ 26 h 93"/>
                  <a:gd name="T2" fmla="*/ 0 w 1"/>
                  <a:gd name="T3" fmla="*/ 0 h 93"/>
                  <a:gd name="T4" fmla="*/ 0 60000 65536"/>
                  <a:gd name="T5" fmla="*/ 0 60000 65536"/>
                  <a:gd name="T6" fmla="*/ 0 w 1"/>
                  <a:gd name="T7" fmla="*/ 0 h 93"/>
                  <a:gd name="T8" fmla="*/ 1 w 1"/>
                  <a:gd name="T9" fmla="*/ 93 h 9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93">
                    <a:moveTo>
                      <a:pt x="0" y="93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01" name="Freeform 35"/>
              <p:cNvSpPr/>
              <p:nvPr/>
            </p:nvSpPr>
            <p:spPr bwMode="auto">
              <a:xfrm>
                <a:off x="2736" y="1200"/>
                <a:ext cx="3" cy="95"/>
              </a:xfrm>
              <a:custGeom>
                <a:avLst/>
                <a:gdLst>
                  <a:gd name="T0" fmla="*/ 0 w 3"/>
                  <a:gd name="T1" fmla="*/ 26 h 105"/>
                  <a:gd name="T2" fmla="*/ 3 w 3"/>
                  <a:gd name="T3" fmla="*/ 0 h 105"/>
                  <a:gd name="T4" fmla="*/ 0 60000 65536"/>
                  <a:gd name="T5" fmla="*/ 0 60000 65536"/>
                  <a:gd name="T6" fmla="*/ 0 w 3"/>
                  <a:gd name="T7" fmla="*/ 0 h 105"/>
                  <a:gd name="T8" fmla="*/ 3 w 3"/>
                  <a:gd name="T9" fmla="*/ 105 h 10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5">
                    <a:moveTo>
                      <a:pt x="0" y="105"/>
                    </a:moveTo>
                    <a:lnTo>
                      <a:pt x="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02" name="Line 36"/>
              <p:cNvSpPr>
                <a:spLocks noChangeShapeType="1"/>
              </p:cNvSpPr>
              <p:nvPr/>
            </p:nvSpPr>
            <p:spPr bwMode="auto">
              <a:xfrm rot="10800000">
                <a:off x="4351" y="121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03" name="Freeform 37"/>
              <p:cNvSpPr/>
              <p:nvPr/>
            </p:nvSpPr>
            <p:spPr bwMode="auto">
              <a:xfrm>
                <a:off x="1155" y="1559"/>
                <a:ext cx="3653" cy="1"/>
              </a:xfrm>
              <a:custGeom>
                <a:avLst/>
                <a:gdLst>
                  <a:gd name="T0" fmla="*/ 0 w 3543"/>
                  <a:gd name="T1" fmla="*/ 0 h 1"/>
                  <a:gd name="T2" fmla="*/ 5435 w 3543"/>
                  <a:gd name="T3" fmla="*/ 0 h 1"/>
                  <a:gd name="T4" fmla="*/ 0 60000 65536"/>
                  <a:gd name="T5" fmla="*/ 0 60000 65536"/>
                  <a:gd name="T6" fmla="*/ 0 w 3543"/>
                  <a:gd name="T7" fmla="*/ 0 h 1"/>
                  <a:gd name="T8" fmla="*/ 3543 w 354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43" h="1">
                    <a:moveTo>
                      <a:pt x="0" y="0"/>
                    </a:moveTo>
                    <a:lnTo>
                      <a:pt x="354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04" name="Line 38"/>
              <p:cNvSpPr>
                <a:spLocks noChangeShapeType="1"/>
              </p:cNvSpPr>
              <p:nvPr/>
            </p:nvSpPr>
            <p:spPr bwMode="auto">
              <a:xfrm>
                <a:off x="4351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05" name="Freeform 39"/>
              <p:cNvSpPr/>
              <p:nvPr/>
            </p:nvSpPr>
            <p:spPr bwMode="auto">
              <a:xfrm>
                <a:off x="1155" y="1863"/>
                <a:ext cx="3656" cy="1"/>
              </a:xfrm>
              <a:custGeom>
                <a:avLst/>
                <a:gdLst>
                  <a:gd name="T0" fmla="*/ 0 w 3546"/>
                  <a:gd name="T1" fmla="*/ 0 h 2"/>
                  <a:gd name="T2" fmla="*/ 5438 w 3546"/>
                  <a:gd name="T3" fmla="*/ 1 h 2"/>
                  <a:gd name="T4" fmla="*/ 0 60000 65536"/>
                  <a:gd name="T5" fmla="*/ 0 60000 65536"/>
                  <a:gd name="T6" fmla="*/ 0 w 3546"/>
                  <a:gd name="T7" fmla="*/ 0 h 2"/>
                  <a:gd name="T8" fmla="*/ 3546 w 354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46" h="2">
                    <a:moveTo>
                      <a:pt x="0" y="0"/>
                    </a:moveTo>
                    <a:lnTo>
                      <a:pt x="3546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06" name="Line 40"/>
              <p:cNvSpPr>
                <a:spLocks noChangeShapeType="1"/>
              </p:cNvSpPr>
              <p:nvPr/>
            </p:nvSpPr>
            <p:spPr bwMode="auto">
              <a:xfrm>
                <a:off x="2725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07" name="Line 41"/>
              <p:cNvSpPr>
                <a:spLocks noChangeShapeType="1"/>
              </p:cNvSpPr>
              <p:nvPr/>
            </p:nvSpPr>
            <p:spPr bwMode="auto">
              <a:xfrm>
                <a:off x="1788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08" name="Line 42"/>
              <p:cNvSpPr>
                <a:spLocks noChangeShapeType="1"/>
              </p:cNvSpPr>
              <p:nvPr/>
            </p:nvSpPr>
            <p:spPr bwMode="auto">
              <a:xfrm rot="10800000">
                <a:off x="1788" y="1778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09" name="Line 43"/>
              <p:cNvSpPr>
                <a:spLocks noChangeShapeType="1"/>
              </p:cNvSpPr>
              <p:nvPr/>
            </p:nvSpPr>
            <p:spPr bwMode="auto">
              <a:xfrm rot="10800000">
                <a:off x="2725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10" name="Line 44"/>
              <p:cNvSpPr>
                <a:spLocks noChangeShapeType="1"/>
              </p:cNvSpPr>
              <p:nvPr/>
            </p:nvSpPr>
            <p:spPr bwMode="auto">
              <a:xfrm rot="10800000">
                <a:off x="4351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11" name="Freeform 45"/>
              <p:cNvSpPr/>
              <p:nvPr/>
            </p:nvSpPr>
            <p:spPr bwMode="auto">
              <a:xfrm>
                <a:off x="1155" y="2432"/>
                <a:ext cx="3675" cy="1"/>
              </a:xfrm>
              <a:custGeom>
                <a:avLst/>
                <a:gdLst>
                  <a:gd name="T0" fmla="*/ 0 w 3564"/>
                  <a:gd name="T1" fmla="*/ 0 h 1"/>
                  <a:gd name="T2" fmla="*/ 5474 w 3564"/>
                  <a:gd name="T3" fmla="*/ 0 h 1"/>
                  <a:gd name="T4" fmla="*/ 0 60000 65536"/>
                  <a:gd name="T5" fmla="*/ 0 60000 65536"/>
                  <a:gd name="T6" fmla="*/ 0 w 3564"/>
                  <a:gd name="T7" fmla="*/ 0 h 1"/>
                  <a:gd name="T8" fmla="*/ 3564 w 356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64" h="1">
                    <a:moveTo>
                      <a:pt x="0" y="0"/>
                    </a:moveTo>
                    <a:lnTo>
                      <a:pt x="3564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12" name="Line 46"/>
              <p:cNvSpPr>
                <a:spLocks noChangeShapeType="1"/>
              </p:cNvSpPr>
              <p:nvPr/>
            </p:nvSpPr>
            <p:spPr bwMode="auto">
              <a:xfrm>
                <a:off x="4351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13" name="Freeform 47"/>
              <p:cNvSpPr/>
              <p:nvPr/>
            </p:nvSpPr>
            <p:spPr bwMode="auto">
              <a:xfrm>
                <a:off x="1155" y="2736"/>
                <a:ext cx="3647" cy="1"/>
              </a:xfrm>
              <a:custGeom>
                <a:avLst/>
                <a:gdLst>
                  <a:gd name="T0" fmla="*/ 0 w 3647"/>
                  <a:gd name="T1" fmla="*/ 0 h 1"/>
                  <a:gd name="T2" fmla="*/ 3647 w 3647"/>
                  <a:gd name="T3" fmla="*/ 1 h 1"/>
                  <a:gd name="T4" fmla="*/ 0 60000 65536"/>
                  <a:gd name="T5" fmla="*/ 0 60000 65536"/>
                  <a:gd name="T6" fmla="*/ 0 w 3647"/>
                  <a:gd name="T7" fmla="*/ 0 h 1"/>
                  <a:gd name="T8" fmla="*/ 3647 w 364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647" h="1">
                    <a:moveTo>
                      <a:pt x="0" y="0"/>
                    </a:moveTo>
                    <a:lnTo>
                      <a:pt x="3647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14" name="Line 48"/>
              <p:cNvSpPr>
                <a:spLocks noChangeShapeType="1"/>
              </p:cNvSpPr>
              <p:nvPr/>
            </p:nvSpPr>
            <p:spPr bwMode="auto">
              <a:xfrm>
                <a:off x="2725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15" name="Line 49"/>
              <p:cNvSpPr>
                <a:spLocks noChangeShapeType="1"/>
              </p:cNvSpPr>
              <p:nvPr/>
            </p:nvSpPr>
            <p:spPr bwMode="auto">
              <a:xfrm>
                <a:off x="1788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16" name="Line 50"/>
              <p:cNvSpPr>
                <a:spLocks noChangeShapeType="1"/>
              </p:cNvSpPr>
              <p:nvPr/>
            </p:nvSpPr>
            <p:spPr bwMode="auto">
              <a:xfrm rot="10800000">
                <a:off x="1788" y="2652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17" name="Line 51"/>
              <p:cNvSpPr>
                <a:spLocks noChangeShapeType="1"/>
              </p:cNvSpPr>
              <p:nvPr/>
            </p:nvSpPr>
            <p:spPr bwMode="auto">
              <a:xfrm rot="10800000">
                <a:off x="2725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18" name="Line 52"/>
              <p:cNvSpPr>
                <a:spLocks noChangeShapeType="1"/>
              </p:cNvSpPr>
              <p:nvPr/>
            </p:nvSpPr>
            <p:spPr bwMode="auto">
              <a:xfrm rot="10800000">
                <a:off x="4351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19" name="AutoShape 53"/>
              <p:cNvSpPr>
                <a:spLocks noChangeArrowheads="1"/>
              </p:cNvSpPr>
              <p:nvPr/>
            </p:nvSpPr>
            <p:spPr bwMode="auto">
              <a:xfrm rot="-5400000">
                <a:off x="1700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8520" name="Freeform 54"/>
              <p:cNvSpPr/>
              <p:nvPr/>
            </p:nvSpPr>
            <p:spPr bwMode="auto">
              <a:xfrm>
                <a:off x="1416" y="1148"/>
                <a:ext cx="198" cy="2026"/>
              </a:xfrm>
              <a:custGeom>
                <a:avLst/>
                <a:gdLst>
                  <a:gd name="T0" fmla="*/ 198 w 198"/>
                  <a:gd name="T1" fmla="*/ 0 h 2026"/>
                  <a:gd name="T2" fmla="*/ 0 w 198"/>
                  <a:gd name="T3" fmla="*/ 0 h 2026"/>
                  <a:gd name="T4" fmla="*/ 6 w 198"/>
                  <a:gd name="T5" fmla="*/ 2026 h 2026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26"/>
                  <a:gd name="T11" fmla="*/ 198 w 198"/>
                  <a:gd name="T12" fmla="*/ 2026 h 20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26">
                    <a:moveTo>
                      <a:pt x="198" y="0"/>
                    </a:moveTo>
                    <a:lnTo>
                      <a:pt x="0" y="0"/>
                    </a:lnTo>
                    <a:lnTo>
                      <a:pt x="6" y="202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21" name="Freeform 55"/>
              <p:cNvSpPr/>
              <p:nvPr/>
            </p:nvSpPr>
            <p:spPr bwMode="auto">
              <a:xfrm>
                <a:off x="141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22" name="Freeform 56"/>
              <p:cNvSpPr/>
              <p:nvPr/>
            </p:nvSpPr>
            <p:spPr bwMode="auto">
              <a:xfrm>
                <a:off x="1422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23" name="Line 57"/>
              <p:cNvSpPr>
                <a:spLocks noChangeShapeType="1"/>
              </p:cNvSpPr>
              <p:nvPr/>
            </p:nvSpPr>
            <p:spPr bwMode="auto">
              <a:xfrm>
                <a:off x="1419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24" name="Freeform 58"/>
              <p:cNvSpPr/>
              <p:nvPr/>
            </p:nvSpPr>
            <p:spPr bwMode="auto">
              <a:xfrm>
                <a:off x="3979" y="1148"/>
                <a:ext cx="198" cy="2023"/>
              </a:xfrm>
              <a:custGeom>
                <a:avLst/>
                <a:gdLst>
                  <a:gd name="T0" fmla="*/ 198 w 198"/>
                  <a:gd name="T1" fmla="*/ 0 h 2023"/>
                  <a:gd name="T2" fmla="*/ 0 w 198"/>
                  <a:gd name="T3" fmla="*/ 0 h 2023"/>
                  <a:gd name="T4" fmla="*/ 2 w 198"/>
                  <a:gd name="T5" fmla="*/ 2023 h 2023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23"/>
                  <a:gd name="T11" fmla="*/ 198 w 198"/>
                  <a:gd name="T12" fmla="*/ 2023 h 202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23">
                    <a:moveTo>
                      <a:pt x="198" y="0"/>
                    </a:moveTo>
                    <a:lnTo>
                      <a:pt x="0" y="0"/>
                    </a:lnTo>
                    <a:lnTo>
                      <a:pt x="2" y="202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25" name="Freeform 59"/>
              <p:cNvSpPr/>
              <p:nvPr/>
            </p:nvSpPr>
            <p:spPr bwMode="auto">
              <a:xfrm>
                <a:off x="3982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26" name="Freeform 60"/>
              <p:cNvSpPr/>
              <p:nvPr/>
            </p:nvSpPr>
            <p:spPr bwMode="auto">
              <a:xfrm>
                <a:off x="3985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27" name="Line 61"/>
              <p:cNvSpPr>
                <a:spLocks noChangeShapeType="1"/>
              </p:cNvSpPr>
              <p:nvPr/>
            </p:nvSpPr>
            <p:spPr bwMode="auto">
              <a:xfrm>
                <a:off x="3982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28" name="Freeform 62"/>
              <p:cNvSpPr/>
              <p:nvPr/>
            </p:nvSpPr>
            <p:spPr bwMode="auto">
              <a:xfrm>
                <a:off x="2347" y="1148"/>
                <a:ext cx="198" cy="2024"/>
              </a:xfrm>
              <a:custGeom>
                <a:avLst/>
                <a:gdLst>
                  <a:gd name="T0" fmla="*/ 295 w 192"/>
                  <a:gd name="T1" fmla="*/ 0 h 2224"/>
                  <a:gd name="T2" fmla="*/ 0 w 192"/>
                  <a:gd name="T3" fmla="*/ 0 h 2224"/>
                  <a:gd name="T4" fmla="*/ 2 w 192"/>
                  <a:gd name="T5" fmla="*/ 594 h 2224"/>
                  <a:gd name="T6" fmla="*/ 0 60000 65536"/>
                  <a:gd name="T7" fmla="*/ 0 60000 65536"/>
                  <a:gd name="T8" fmla="*/ 0 60000 65536"/>
                  <a:gd name="T9" fmla="*/ 0 w 192"/>
                  <a:gd name="T10" fmla="*/ 0 h 2224"/>
                  <a:gd name="T11" fmla="*/ 192 w 192"/>
                  <a:gd name="T12" fmla="*/ 2224 h 22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2" h="2224">
                    <a:moveTo>
                      <a:pt x="192" y="0"/>
                    </a:moveTo>
                    <a:lnTo>
                      <a:pt x="0" y="0"/>
                    </a:lnTo>
                    <a:lnTo>
                      <a:pt x="2" y="222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29" name="Freeform 63"/>
              <p:cNvSpPr/>
              <p:nvPr/>
            </p:nvSpPr>
            <p:spPr bwMode="auto">
              <a:xfrm>
                <a:off x="235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30" name="Freeform 64"/>
              <p:cNvSpPr/>
              <p:nvPr/>
            </p:nvSpPr>
            <p:spPr bwMode="auto">
              <a:xfrm>
                <a:off x="2353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31" name="Line 65"/>
              <p:cNvSpPr>
                <a:spLocks noChangeShapeType="1"/>
              </p:cNvSpPr>
              <p:nvPr/>
            </p:nvSpPr>
            <p:spPr bwMode="auto">
              <a:xfrm>
                <a:off x="2350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32" name="Freeform 66"/>
              <p:cNvSpPr/>
              <p:nvPr/>
            </p:nvSpPr>
            <p:spPr bwMode="auto">
              <a:xfrm>
                <a:off x="1964" y="1135"/>
                <a:ext cx="198" cy="2030"/>
              </a:xfrm>
              <a:custGeom>
                <a:avLst/>
                <a:gdLst>
                  <a:gd name="T0" fmla="*/ 0 w 198"/>
                  <a:gd name="T1" fmla="*/ 0 h 2030"/>
                  <a:gd name="T2" fmla="*/ 198 w 198"/>
                  <a:gd name="T3" fmla="*/ 0 h 2030"/>
                  <a:gd name="T4" fmla="*/ 193 w 198"/>
                  <a:gd name="T5" fmla="*/ 2030 h 2030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30"/>
                  <a:gd name="T11" fmla="*/ 198 w 198"/>
                  <a:gd name="T12" fmla="*/ 2030 h 203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30">
                    <a:moveTo>
                      <a:pt x="0" y="0"/>
                    </a:moveTo>
                    <a:lnTo>
                      <a:pt x="198" y="0"/>
                    </a:lnTo>
                    <a:lnTo>
                      <a:pt x="193" y="203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33" name="Freeform 67"/>
              <p:cNvSpPr/>
              <p:nvPr/>
            </p:nvSpPr>
            <p:spPr bwMode="auto">
              <a:xfrm rot="10800000">
                <a:off x="195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34" name="Freeform 68"/>
              <p:cNvSpPr/>
              <p:nvPr/>
            </p:nvSpPr>
            <p:spPr bwMode="auto">
              <a:xfrm rot="10800000">
                <a:off x="1959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35" name="Freeform 69"/>
              <p:cNvSpPr/>
              <p:nvPr/>
            </p:nvSpPr>
            <p:spPr bwMode="auto">
              <a:xfrm>
                <a:off x="1958" y="2957"/>
                <a:ext cx="200" cy="1"/>
              </a:xfrm>
              <a:custGeom>
                <a:avLst/>
                <a:gdLst>
                  <a:gd name="T0" fmla="*/ 297 w 194"/>
                  <a:gd name="T1" fmla="*/ 0 h 1"/>
                  <a:gd name="T2" fmla="*/ 0 w 194"/>
                  <a:gd name="T3" fmla="*/ 0 h 1"/>
                  <a:gd name="T4" fmla="*/ 0 60000 65536"/>
                  <a:gd name="T5" fmla="*/ 0 60000 65536"/>
                  <a:gd name="T6" fmla="*/ 0 w 194"/>
                  <a:gd name="T7" fmla="*/ 0 h 1"/>
                  <a:gd name="T8" fmla="*/ 194 w 19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4" h="1">
                    <a:moveTo>
                      <a:pt x="19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36" name="Freeform 70"/>
              <p:cNvSpPr/>
              <p:nvPr/>
            </p:nvSpPr>
            <p:spPr bwMode="auto">
              <a:xfrm>
                <a:off x="2893" y="1135"/>
                <a:ext cx="199" cy="2047"/>
              </a:xfrm>
              <a:custGeom>
                <a:avLst/>
                <a:gdLst>
                  <a:gd name="T0" fmla="*/ 0 w 193"/>
                  <a:gd name="T1" fmla="*/ 0 h 2250"/>
                  <a:gd name="T2" fmla="*/ 295 w 193"/>
                  <a:gd name="T3" fmla="*/ 0 h 2250"/>
                  <a:gd name="T4" fmla="*/ 296 w 193"/>
                  <a:gd name="T5" fmla="*/ 599 h 2250"/>
                  <a:gd name="T6" fmla="*/ 0 60000 65536"/>
                  <a:gd name="T7" fmla="*/ 0 60000 65536"/>
                  <a:gd name="T8" fmla="*/ 0 60000 65536"/>
                  <a:gd name="T9" fmla="*/ 0 w 193"/>
                  <a:gd name="T10" fmla="*/ 0 h 2250"/>
                  <a:gd name="T11" fmla="*/ 193 w 193"/>
                  <a:gd name="T12" fmla="*/ 2250 h 225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3" h="2250">
                    <a:moveTo>
                      <a:pt x="0" y="0"/>
                    </a:moveTo>
                    <a:lnTo>
                      <a:pt x="192" y="0"/>
                    </a:lnTo>
                    <a:lnTo>
                      <a:pt x="193" y="225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37" name="Freeform 71"/>
              <p:cNvSpPr/>
              <p:nvPr/>
            </p:nvSpPr>
            <p:spPr bwMode="auto">
              <a:xfrm rot="10800000">
                <a:off x="289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38" name="Freeform 72"/>
              <p:cNvSpPr/>
              <p:nvPr/>
            </p:nvSpPr>
            <p:spPr bwMode="auto">
              <a:xfrm rot="10800000">
                <a:off x="2890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39" name="Freeform 73"/>
              <p:cNvSpPr/>
              <p:nvPr/>
            </p:nvSpPr>
            <p:spPr bwMode="auto">
              <a:xfrm>
                <a:off x="2895" y="2957"/>
                <a:ext cx="194" cy="1"/>
              </a:xfrm>
              <a:custGeom>
                <a:avLst/>
                <a:gdLst>
                  <a:gd name="T0" fmla="*/ 291 w 188"/>
                  <a:gd name="T1" fmla="*/ 0 h 1"/>
                  <a:gd name="T2" fmla="*/ 0 w 188"/>
                  <a:gd name="T3" fmla="*/ 0 h 1"/>
                  <a:gd name="T4" fmla="*/ 0 60000 65536"/>
                  <a:gd name="T5" fmla="*/ 0 60000 65536"/>
                  <a:gd name="T6" fmla="*/ 0 w 188"/>
                  <a:gd name="T7" fmla="*/ 0 h 1"/>
                  <a:gd name="T8" fmla="*/ 188 w 18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88" h="1">
                    <a:moveTo>
                      <a:pt x="18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40" name="Freeform 74"/>
              <p:cNvSpPr/>
              <p:nvPr/>
            </p:nvSpPr>
            <p:spPr bwMode="auto">
              <a:xfrm>
                <a:off x="4531" y="1135"/>
                <a:ext cx="203" cy="2027"/>
              </a:xfrm>
              <a:custGeom>
                <a:avLst/>
                <a:gdLst>
                  <a:gd name="T0" fmla="*/ 0 w 203"/>
                  <a:gd name="T1" fmla="*/ 0 h 2027"/>
                  <a:gd name="T2" fmla="*/ 198 w 203"/>
                  <a:gd name="T3" fmla="*/ 0 h 2027"/>
                  <a:gd name="T4" fmla="*/ 203 w 203"/>
                  <a:gd name="T5" fmla="*/ 2027 h 2027"/>
                  <a:gd name="T6" fmla="*/ 0 60000 65536"/>
                  <a:gd name="T7" fmla="*/ 0 60000 65536"/>
                  <a:gd name="T8" fmla="*/ 0 60000 65536"/>
                  <a:gd name="T9" fmla="*/ 0 w 203"/>
                  <a:gd name="T10" fmla="*/ 0 h 2027"/>
                  <a:gd name="T11" fmla="*/ 203 w 203"/>
                  <a:gd name="T12" fmla="*/ 2027 h 20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3" h="2027">
                    <a:moveTo>
                      <a:pt x="0" y="0"/>
                    </a:moveTo>
                    <a:lnTo>
                      <a:pt x="198" y="0"/>
                    </a:lnTo>
                    <a:lnTo>
                      <a:pt x="203" y="202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41" name="Freeform 75"/>
              <p:cNvSpPr/>
              <p:nvPr/>
            </p:nvSpPr>
            <p:spPr bwMode="auto">
              <a:xfrm rot="10800000">
                <a:off x="4528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42" name="Freeform 76"/>
              <p:cNvSpPr/>
              <p:nvPr/>
            </p:nvSpPr>
            <p:spPr bwMode="auto">
              <a:xfrm rot="10800000">
                <a:off x="4528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43" name="Freeform 77"/>
              <p:cNvSpPr/>
              <p:nvPr/>
            </p:nvSpPr>
            <p:spPr bwMode="auto">
              <a:xfrm rot="10800000">
                <a:off x="4524" y="295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8544" name="Rectangle 78"/>
              <p:cNvSpPr>
                <a:spLocks noChangeArrowheads="1"/>
              </p:cNvSpPr>
              <p:nvPr/>
            </p:nvSpPr>
            <p:spPr bwMode="auto">
              <a:xfrm>
                <a:off x="1204" y="3175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读  写  控  制  电  路</a:t>
                </a:r>
              </a:p>
            </p:txBody>
          </p:sp>
          <p:sp>
            <p:nvSpPr>
              <p:cNvPr id="148545" name="Rectangle 79"/>
              <p:cNvSpPr>
                <a:spLocks noChangeArrowheads="1"/>
              </p:cNvSpPr>
              <p:nvPr/>
            </p:nvSpPr>
            <p:spPr bwMode="auto">
              <a:xfrm>
                <a:off x="1204" y="3656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bIns="0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列  地  址  译  码  器</a:t>
                </a:r>
              </a:p>
            </p:txBody>
          </p:sp>
          <p:sp>
            <p:nvSpPr>
              <p:cNvPr id="148546" name="Text Box 80"/>
              <p:cNvSpPr txBox="1">
                <a:spLocks noChangeArrowheads="1"/>
              </p:cNvSpPr>
              <p:nvPr/>
            </p:nvSpPr>
            <p:spPr bwMode="auto">
              <a:xfrm rot="5400000">
                <a:off x="1689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8547" name="Text Box 81"/>
              <p:cNvSpPr txBox="1">
                <a:spLocks noChangeArrowheads="1"/>
              </p:cNvSpPr>
              <p:nvPr/>
            </p:nvSpPr>
            <p:spPr bwMode="auto">
              <a:xfrm rot="5400000">
                <a:off x="2620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8548" name="Text Box 82"/>
              <p:cNvSpPr txBox="1">
                <a:spLocks noChangeArrowheads="1"/>
              </p:cNvSpPr>
              <p:nvPr/>
            </p:nvSpPr>
            <p:spPr bwMode="auto">
              <a:xfrm rot="5400000">
                <a:off x="4252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8549" name="Rectangle 83"/>
              <p:cNvSpPr>
                <a:spLocks noChangeArrowheads="1"/>
              </p:cNvSpPr>
              <p:nvPr/>
            </p:nvSpPr>
            <p:spPr bwMode="auto">
              <a:xfrm>
                <a:off x="1615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8550" name="Rectangle 84"/>
              <p:cNvSpPr>
                <a:spLocks noChangeArrowheads="1"/>
              </p:cNvSpPr>
              <p:nvPr/>
            </p:nvSpPr>
            <p:spPr bwMode="auto">
              <a:xfrm>
                <a:off x="1615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8551" name="Rectangle 85"/>
              <p:cNvSpPr>
                <a:spLocks noChangeArrowheads="1"/>
              </p:cNvSpPr>
              <p:nvPr/>
            </p:nvSpPr>
            <p:spPr bwMode="auto">
              <a:xfrm>
                <a:off x="2546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8552" name="Rectangle 86"/>
              <p:cNvSpPr>
                <a:spLocks noChangeArrowheads="1"/>
              </p:cNvSpPr>
              <p:nvPr/>
            </p:nvSpPr>
            <p:spPr bwMode="auto">
              <a:xfrm>
                <a:off x="2546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8553" name="Rectangle 87"/>
              <p:cNvSpPr>
                <a:spLocks noChangeArrowheads="1"/>
              </p:cNvSpPr>
              <p:nvPr/>
            </p:nvSpPr>
            <p:spPr bwMode="auto">
              <a:xfrm>
                <a:off x="2546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8554" name="Rectangle 88"/>
              <p:cNvSpPr>
                <a:spLocks noChangeArrowheads="1"/>
              </p:cNvSpPr>
              <p:nvPr/>
            </p:nvSpPr>
            <p:spPr bwMode="auto">
              <a:xfrm>
                <a:off x="4178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8555" name="Rectangle 89"/>
              <p:cNvSpPr>
                <a:spLocks noChangeArrowheads="1"/>
              </p:cNvSpPr>
              <p:nvPr/>
            </p:nvSpPr>
            <p:spPr bwMode="auto">
              <a:xfrm>
                <a:off x="4178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8556" name="Rectangle 90"/>
              <p:cNvSpPr>
                <a:spLocks noChangeArrowheads="1"/>
              </p:cNvSpPr>
              <p:nvPr/>
            </p:nvSpPr>
            <p:spPr bwMode="auto">
              <a:xfrm>
                <a:off x="4178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8557" name="AutoShape 91"/>
              <p:cNvSpPr>
                <a:spLocks noChangeArrowheads="1"/>
              </p:cNvSpPr>
              <p:nvPr/>
            </p:nvSpPr>
            <p:spPr bwMode="auto">
              <a:xfrm rot="-5400000">
                <a:off x="2631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8558" name="AutoShape 92"/>
              <p:cNvSpPr>
                <a:spLocks noChangeArrowheads="1"/>
              </p:cNvSpPr>
              <p:nvPr/>
            </p:nvSpPr>
            <p:spPr bwMode="auto">
              <a:xfrm rot="-5400000">
                <a:off x="4263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8559" name="Text Box 93"/>
              <p:cNvSpPr txBox="1">
                <a:spLocks noChangeArrowheads="1"/>
              </p:cNvSpPr>
              <p:nvPr/>
            </p:nvSpPr>
            <p:spPr bwMode="auto">
              <a:xfrm>
                <a:off x="4796" y="861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读选择线</a:t>
                </a:r>
              </a:p>
            </p:txBody>
          </p:sp>
          <p:sp>
            <p:nvSpPr>
              <p:cNvPr id="148560" name="Text Box 94"/>
              <p:cNvSpPr txBox="1">
                <a:spLocks noChangeArrowheads="1"/>
              </p:cNvSpPr>
              <p:nvPr/>
            </p:nvSpPr>
            <p:spPr bwMode="auto">
              <a:xfrm>
                <a:off x="4806" y="115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写选择线</a:t>
                </a:r>
              </a:p>
            </p:txBody>
          </p:sp>
          <p:sp>
            <p:nvSpPr>
              <p:cNvPr id="148561" name="Line 95"/>
              <p:cNvSpPr>
                <a:spLocks noChangeShapeType="1"/>
              </p:cNvSpPr>
              <p:nvPr/>
            </p:nvSpPr>
            <p:spPr bwMode="auto">
              <a:xfrm>
                <a:off x="4817" y="3306"/>
                <a:ext cx="3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8562" name="Text Box 96"/>
              <p:cNvSpPr txBox="1">
                <a:spLocks noChangeArrowheads="1"/>
              </p:cNvSpPr>
              <p:nvPr/>
            </p:nvSpPr>
            <p:spPr bwMode="auto">
              <a:xfrm>
                <a:off x="4906" y="3024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48563" name="Text Box 97"/>
              <p:cNvSpPr txBox="1">
                <a:spLocks noChangeArrowheads="1"/>
              </p:cNvSpPr>
              <p:nvPr/>
            </p:nvSpPr>
            <p:spPr bwMode="auto">
              <a:xfrm>
                <a:off x="3296" y="1929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单元</a:t>
                </a:r>
              </a:p>
            </p:txBody>
          </p:sp>
          <p:sp>
            <p:nvSpPr>
              <p:cNvPr id="148564" name="Text Box 98"/>
              <p:cNvSpPr txBox="1">
                <a:spLocks noChangeArrowheads="1"/>
              </p:cNvSpPr>
              <p:nvPr/>
            </p:nvSpPr>
            <p:spPr bwMode="auto">
              <a:xfrm>
                <a:off x="3296" y="2108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电路</a:t>
                </a:r>
              </a:p>
            </p:txBody>
          </p:sp>
          <p:sp>
            <p:nvSpPr>
              <p:cNvPr id="148565" name="Text Box 99"/>
              <p:cNvSpPr txBox="1">
                <a:spLocks noChangeArrowheads="1"/>
              </p:cNvSpPr>
              <p:nvPr/>
            </p:nvSpPr>
            <p:spPr bwMode="auto">
              <a:xfrm>
                <a:off x="503" y="936"/>
                <a:ext cx="309" cy="2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行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地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址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译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码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器</a:t>
                </a:r>
              </a:p>
            </p:txBody>
          </p:sp>
          <p:sp>
            <p:nvSpPr>
              <p:cNvPr id="148566" name="Text Box 100"/>
              <p:cNvSpPr txBox="1">
                <a:spLocks noChangeArrowheads="1"/>
              </p:cNvSpPr>
              <p:nvPr/>
            </p:nvSpPr>
            <p:spPr bwMode="auto">
              <a:xfrm>
                <a:off x="907" y="86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48567" name="Text Box 101"/>
              <p:cNvSpPr txBox="1">
                <a:spLocks noChangeArrowheads="1"/>
              </p:cNvSpPr>
              <p:nvPr/>
            </p:nvSpPr>
            <p:spPr bwMode="auto">
              <a:xfrm>
                <a:off x="907" y="115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48568" name="Text Box 102"/>
              <p:cNvSpPr txBox="1">
                <a:spLocks noChangeArrowheads="1"/>
              </p:cNvSpPr>
              <p:nvPr/>
            </p:nvSpPr>
            <p:spPr bwMode="auto">
              <a:xfrm>
                <a:off x="907" y="145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48569" name="Text Box 103"/>
              <p:cNvSpPr txBox="1">
                <a:spLocks noChangeArrowheads="1"/>
              </p:cNvSpPr>
              <p:nvPr/>
            </p:nvSpPr>
            <p:spPr bwMode="auto">
              <a:xfrm>
                <a:off x="907" y="176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48570" name="Text Box 104"/>
              <p:cNvSpPr txBox="1">
                <a:spLocks noChangeArrowheads="1"/>
              </p:cNvSpPr>
              <p:nvPr/>
            </p:nvSpPr>
            <p:spPr bwMode="auto">
              <a:xfrm>
                <a:off x="854" y="2294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48571" name="Text Box 105"/>
              <p:cNvSpPr txBox="1">
                <a:spLocks noChangeArrowheads="1"/>
              </p:cNvSpPr>
              <p:nvPr/>
            </p:nvSpPr>
            <p:spPr bwMode="auto">
              <a:xfrm>
                <a:off x="858" y="2592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48572" name="Line 106"/>
              <p:cNvSpPr>
                <a:spLocks noChangeShapeType="1"/>
              </p:cNvSpPr>
              <p:nvPr/>
            </p:nvSpPr>
            <p:spPr bwMode="auto">
              <a:xfrm>
                <a:off x="1887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8573" name="Line 107"/>
              <p:cNvSpPr>
                <a:spLocks noChangeShapeType="1"/>
              </p:cNvSpPr>
              <p:nvPr/>
            </p:nvSpPr>
            <p:spPr bwMode="auto">
              <a:xfrm>
                <a:off x="2832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8574" name="Text Box 108"/>
              <p:cNvSpPr txBox="1">
                <a:spLocks noChangeArrowheads="1"/>
              </p:cNvSpPr>
              <p:nvPr/>
            </p:nvSpPr>
            <p:spPr bwMode="auto">
              <a:xfrm>
                <a:off x="2613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48575" name="Line 109"/>
              <p:cNvSpPr>
                <a:spLocks noChangeShapeType="1"/>
              </p:cNvSpPr>
              <p:nvPr/>
            </p:nvSpPr>
            <p:spPr bwMode="auto">
              <a:xfrm>
                <a:off x="4473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8576" name="Text Box 110"/>
              <p:cNvSpPr txBox="1">
                <a:spLocks noChangeArrowheads="1"/>
              </p:cNvSpPr>
              <p:nvPr/>
            </p:nvSpPr>
            <p:spPr bwMode="auto">
              <a:xfrm>
                <a:off x="4176" y="3420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48577" name="Group 111"/>
              <p:cNvGrpSpPr/>
              <p:nvPr/>
            </p:nvGrpSpPr>
            <p:grpSpPr bwMode="auto">
              <a:xfrm>
                <a:off x="1492" y="3918"/>
                <a:ext cx="284" cy="323"/>
                <a:chOff x="1584" y="3918"/>
                <a:chExt cx="284" cy="323"/>
              </a:xfrm>
            </p:grpSpPr>
            <p:sp>
              <p:nvSpPr>
                <p:cNvPr id="148613" name="Line 112"/>
                <p:cNvSpPr>
                  <a:spLocks noChangeShapeType="1"/>
                </p:cNvSpPr>
                <p:nvPr/>
              </p:nvSpPr>
              <p:spPr bwMode="auto">
                <a:xfrm rot="-5400000">
                  <a:off x="149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8614" name="Text Box 113"/>
                <p:cNvSpPr txBox="1">
                  <a:spLocks noChangeArrowheads="1"/>
                </p:cNvSpPr>
                <p:nvPr/>
              </p:nvSpPr>
              <p:spPr bwMode="auto">
                <a:xfrm>
                  <a:off x="1584" y="3991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</p:grpSp>
          <p:grpSp>
            <p:nvGrpSpPr>
              <p:cNvPr id="148578" name="Group 114"/>
              <p:cNvGrpSpPr/>
              <p:nvPr/>
            </p:nvGrpSpPr>
            <p:grpSpPr bwMode="auto">
              <a:xfrm>
                <a:off x="2234" y="3918"/>
                <a:ext cx="285" cy="324"/>
                <a:chOff x="2355" y="3918"/>
                <a:chExt cx="285" cy="324"/>
              </a:xfrm>
            </p:grpSpPr>
            <p:sp>
              <p:nvSpPr>
                <p:cNvPr id="148611" name="Line 115"/>
                <p:cNvSpPr>
                  <a:spLocks noChangeShapeType="1"/>
                </p:cNvSpPr>
                <p:nvPr/>
              </p:nvSpPr>
              <p:spPr bwMode="auto">
                <a:xfrm rot="-5400000">
                  <a:off x="224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8612" name="Text Box 116"/>
                <p:cNvSpPr txBox="1">
                  <a:spLocks noChangeArrowheads="1"/>
                </p:cNvSpPr>
                <p:nvPr/>
              </p:nvSpPr>
              <p:spPr bwMode="auto">
                <a:xfrm>
                  <a:off x="2356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3</a:t>
                  </a:r>
                </a:p>
              </p:txBody>
            </p:sp>
          </p:grpSp>
          <p:grpSp>
            <p:nvGrpSpPr>
              <p:cNvPr id="148579" name="Group 117"/>
              <p:cNvGrpSpPr/>
              <p:nvPr/>
            </p:nvGrpSpPr>
            <p:grpSpPr bwMode="auto">
              <a:xfrm>
                <a:off x="2978" y="3918"/>
                <a:ext cx="284" cy="324"/>
                <a:chOff x="3102" y="3918"/>
                <a:chExt cx="284" cy="324"/>
              </a:xfrm>
            </p:grpSpPr>
            <p:sp>
              <p:nvSpPr>
                <p:cNvPr id="148609" name="Line 118"/>
                <p:cNvSpPr>
                  <a:spLocks noChangeShapeType="1"/>
                </p:cNvSpPr>
                <p:nvPr/>
              </p:nvSpPr>
              <p:spPr bwMode="auto">
                <a:xfrm rot="-5400000">
                  <a:off x="300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8610" name="Text Box 119"/>
                <p:cNvSpPr txBox="1">
                  <a:spLocks noChangeArrowheads="1"/>
                </p:cNvSpPr>
                <p:nvPr/>
              </p:nvSpPr>
              <p:spPr bwMode="auto">
                <a:xfrm>
                  <a:off x="3102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</p:grpSp>
          <p:grpSp>
            <p:nvGrpSpPr>
              <p:cNvPr id="148580" name="Group 120"/>
              <p:cNvGrpSpPr/>
              <p:nvPr/>
            </p:nvGrpSpPr>
            <p:grpSpPr bwMode="auto">
              <a:xfrm>
                <a:off x="3721" y="3918"/>
                <a:ext cx="284" cy="324"/>
                <a:chOff x="3844" y="3918"/>
                <a:chExt cx="284" cy="324"/>
              </a:xfrm>
            </p:grpSpPr>
            <p:sp>
              <p:nvSpPr>
                <p:cNvPr id="148607" name="Line 121"/>
                <p:cNvSpPr>
                  <a:spLocks noChangeShapeType="1"/>
                </p:cNvSpPr>
                <p:nvPr/>
              </p:nvSpPr>
              <p:spPr bwMode="auto">
                <a:xfrm rot="-5400000">
                  <a:off x="375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8608" name="Text Box 122"/>
                <p:cNvSpPr txBox="1">
                  <a:spLocks noChangeArrowheads="1"/>
                </p:cNvSpPr>
                <p:nvPr/>
              </p:nvSpPr>
              <p:spPr bwMode="auto">
                <a:xfrm>
                  <a:off x="3844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</p:grpSp>
          <p:grpSp>
            <p:nvGrpSpPr>
              <p:cNvPr id="148581" name="Group 123"/>
              <p:cNvGrpSpPr/>
              <p:nvPr/>
            </p:nvGrpSpPr>
            <p:grpSpPr bwMode="auto">
              <a:xfrm>
                <a:off x="4464" y="3918"/>
                <a:ext cx="284" cy="323"/>
                <a:chOff x="4603" y="3918"/>
                <a:chExt cx="284" cy="323"/>
              </a:xfrm>
            </p:grpSpPr>
            <p:sp>
              <p:nvSpPr>
                <p:cNvPr id="148605" name="Line 124"/>
                <p:cNvSpPr>
                  <a:spLocks noChangeShapeType="1"/>
                </p:cNvSpPr>
                <p:nvPr/>
              </p:nvSpPr>
              <p:spPr bwMode="auto">
                <a:xfrm rot="-5400000">
                  <a:off x="4510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8606" name="Text Box 125"/>
                <p:cNvSpPr txBox="1">
                  <a:spLocks noChangeArrowheads="1"/>
                </p:cNvSpPr>
                <p:nvPr/>
              </p:nvSpPr>
              <p:spPr bwMode="auto">
                <a:xfrm>
                  <a:off x="4603" y="3991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</p:grpSp>
          <p:sp>
            <p:nvSpPr>
              <p:cNvPr id="148582" name="Line 126"/>
              <p:cNvSpPr>
                <a:spLocks noChangeShapeType="1"/>
              </p:cNvSpPr>
              <p:nvPr/>
            </p:nvSpPr>
            <p:spPr bwMode="auto">
              <a:xfrm>
                <a:off x="2689" y="1690"/>
                <a:ext cx="643" cy="39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8583" name="Line 127"/>
              <p:cNvSpPr>
                <a:spLocks noChangeShapeType="1"/>
              </p:cNvSpPr>
              <p:nvPr/>
            </p:nvSpPr>
            <p:spPr bwMode="auto">
              <a:xfrm>
                <a:off x="3976" y="2039"/>
                <a:ext cx="990" cy="21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8584" name="Line 128"/>
              <p:cNvSpPr>
                <a:spLocks noChangeShapeType="1"/>
              </p:cNvSpPr>
              <p:nvPr/>
            </p:nvSpPr>
            <p:spPr bwMode="auto">
              <a:xfrm>
                <a:off x="4718" y="1384"/>
                <a:ext cx="693" cy="13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8585" name="Text Box 129"/>
              <p:cNvSpPr txBox="1">
                <a:spLocks noChangeArrowheads="1"/>
              </p:cNvSpPr>
              <p:nvPr/>
            </p:nvSpPr>
            <p:spPr bwMode="auto">
              <a:xfrm>
                <a:off x="4844" y="2728"/>
                <a:ext cx="92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刷新放大器</a:t>
                </a:r>
              </a:p>
            </p:txBody>
          </p:sp>
          <p:sp>
            <p:nvSpPr>
              <p:cNvPr id="148586" name="Line 130"/>
              <p:cNvSpPr>
                <a:spLocks noChangeShapeType="1"/>
              </p:cNvSpPr>
              <p:nvPr/>
            </p:nvSpPr>
            <p:spPr bwMode="auto">
              <a:xfrm flipV="1">
                <a:off x="4520" y="2957"/>
                <a:ext cx="495" cy="4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148587" name="Group 131"/>
              <p:cNvGrpSpPr/>
              <p:nvPr/>
            </p:nvGrpSpPr>
            <p:grpSpPr bwMode="auto">
              <a:xfrm>
                <a:off x="4916" y="1726"/>
                <a:ext cx="277" cy="893"/>
                <a:chOff x="4920" y="1790"/>
                <a:chExt cx="277" cy="893"/>
              </a:xfrm>
            </p:grpSpPr>
            <p:sp>
              <p:nvSpPr>
                <p:cNvPr id="148601" name="Text Box 132"/>
                <p:cNvSpPr txBox="1">
                  <a:spLocks noChangeArrowheads="1"/>
                </p:cNvSpPr>
                <p:nvPr/>
              </p:nvSpPr>
              <p:spPr bwMode="auto">
                <a:xfrm>
                  <a:off x="4920" y="1790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写</a:t>
                  </a:r>
                </a:p>
              </p:txBody>
            </p:sp>
            <p:sp>
              <p:nvSpPr>
                <p:cNvPr id="148602" name="Text Box 133"/>
                <p:cNvSpPr txBox="1">
                  <a:spLocks noChangeArrowheads="1"/>
                </p:cNvSpPr>
                <p:nvPr/>
              </p:nvSpPr>
              <p:spPr bwMode="auto">
                <a:xfrm>
                  <a:off x="4920" y="200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</a:p>
              </p:txBody>
            </p:sp>
            <p:sp>
              <p:nvSpPr>
                <p:cNvPr id="148603" name="Text Box 134"/>
                <p:cNvSpPr txBox="1">
                  <a:spLocks noChangeArrowheads="1"/>
                </p:cNvSpPr>
                <p:nvPr/>
              </p:nvSpPr>
              <p:spPr bwMode="auto">
                <a:xfrm>
                  <a:off x="4920" y="2219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48604" name="Text Box 135"/>
                <p:cNvSpPr txBox="1">
                  <a:spLocks noChangeArrowheads="1"/>
                </p:cNvSpPr>
                <p:nvPr/>
              </p:nvSpPr>
              <p:spPr bwMode="auto">
                <a:xfrm>
                  <a:off x="4920" y="243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</a:p>
              </p:txBody>
            </p:sp>
          </p:grpSp>
          <p:grpSp>
            <p:nvGrpSpPr>
              <p:cNvPr id="148588" name="Group 136"/>
              <p:cNvGrpSpPr/>
              <p:nvPr/>
            </p:nvGrpSpPr>
            <p:grpSpPr bwMode="auto">
              <a:xfrm>
                <a:off x="5372" y="1505"/>
                <a:ext cx="277" cy="879"/>
                <a:chOff x="5394" y="1612"/>
                <a:chExt cx="277" cy="879"/>
              </a:xfrm>
            </p:grpSpPr>
            <p:sp>
              <p:nvSpPr>
                <p:cNvPr id="148597" name="Text Box 137"/>
                <p:cNvSpPr txBox="1">
                  <a:spLocks noChangeArrowheads="1"/>
                </p:cNvSpPr>
                <p:nvPr/>
              </p:nvSpPr>
              <p:spPr bwMode="auto">
                <a:xfrm>
                  <a:off x="5394" y="161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</a:t>
                  </a:r>
                </a:p>
              </p:txBody>
            </p:sp>
            <p:sp>
              <p:nvSpPr>
                <p:cNvPr id="148598" name="Text Box 138"/>
                <p:cNvSpPr txBox="1">
                  <a:spLocks noChangeArrowheads="1"/>
                </p:cNvSpPr>
                <p:nvPr/>
              </p:nvSpPr>
              <p:spPr bwMode="auto">
                <a:xfrm>
                  <a:off x="5394" y="182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</a:p>
              </p:txBody>
            </p:sp>
            <p:sp>
              <p:nvSpPr>
                <p:cNvPr id="148599" name="Text Box 139"/>
                <p:cNvSpPr txBox="1">
                  <a:spLocks noChangeArrowheads="1"/>
                </p:cNvSpPr>
                <p:nvPr/>
              </p:nvSpPr>
              <p:spPr bwMode="auto">
                <a:xfrm>
                  <a:off x="5394" y="203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48600" name="Text Box 140"/>
                <p:cNvSpPr txBox="1">
                  <a:spLocks noChangeArrowheads="1"/>
                </p:cNvSpPr>
                <p:nvPr/>
              </p:nvSpPr>
              <p:spPr bwMode="auto">
                <a:xfrm>
                  <a:off x="5394" y="224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</a:p>
              </p:txBody>
            </p:sp>
          </p:grpSp>
          <p:grpSp>
            <p:nvGrpSpPr>
              <p:cNvPr id="148589" name="Group 141"/>
              <p:cNvGrpSpPr/>
              <p:nvPr/>
            </p:nvGrpSpPr>
            <p:grpSpPr bwMode="auto">
              <a:xfrm>
                <a:off x="3320" y="915"/>
                <a:ext cx="372" cy="2170"/>
                <a:chOff x="3324" y="979"/>
                <a:chExt cx="372" cy="2170"/>
              </a:xfrm>
            </p:grpSpPr>
            <p:sp>
              <p:nvSpPr>
                <p:cNvPr id="148593" name="Text Box 142"/>
                <p:cNvSpPr txBox="1">
                  <a:spLocks noChangeArrowheads="1"/>
                </p:cNvSpPr>
                <p:nvPr/>
              </p:nvSpPr>
              <p:spPr bwMode="auto">
                <a:xfrm>
                  <a:off x="3324" y="979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48594" name="Text Box 143"/>
                <p:cNvSpPr txBox="1">
                  <a:spLocks noChangeArrowheads="1"/>
                </p:cNvSpPr>
                <p:nvPr/>
              </p:nvSpPr>
              <p:spPr bwMode="auto">
                <a:xfrm>
                  <a:off x="3324" y="150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48595" name="Text Box 144"/>
                <p:cNvSpPr txBox="1">
                  <a:spLocks noChangeArrowheads="1"/>
                </p:cNvSpPr>
                <p:nvPr/>
              </p:nvSpPr>
              <p:spPr bwMode="auto">
                <a:xfrm>
                  <a:off x="3324" y="240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48596" name="Text Box 145"/>
                <p:cNvSpPr txBox="1">
                  <a:spLocks noChangeArrowheads="1"/>
                </p:cNvSpPr>
                <p:nvPr/>
              </p:nvSpPr>
              <p:spPr bwMode="auto">
                <a:xfrm>
                  <a:off x="3324" y="2784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</p:grpSp>
          <p:sp>
            <p:nvSpPr>
              <p:cNvPr id="148590" name="Text Box 146"/>
              <p:cNvSpPr txBox="1">
                <a:spLocks noChangeArrowheads="1"/>
              </p:cNvSpPr>
              <p:nvPr/>
            </p:nvSpPr>
            <p:spPr bwMode="auto">
              <a:xfrm rot="5400000">
                <a:off x="916" y="1976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8591" name="Text Box 147"/>
              <p:cNvSpPr txBox="1">
                <a:spLocks noChangeArrowheads="1"/>
              </p:cNvSpPr>
              <p:nvPr/>
            </p:nvSpPr>
            <p:spPr bwMode="auto">
              <a:xfrm>
                <a:off x="1656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48592" name="Text Box 148"/>
              <p:cNvSpPr txBox="1">
                <a:spLocks noChangeArrowheads="1"/>
              </p:cNvSpPr>
              <p:nvPr/>
            </p:nvSpPr>
            <p:spPr bwMode="auto">
              <a:xfrm>
                <a:off x="3350" y="3312"/>
                <a:ext cx="340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</p:grpSp>
      <p:sp>
        <p:nvSpPr>
          <p:cNvPr id="148486" name="AutoShape 149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506" name="Group 2"/>
          <p:cNvGrpSpPr/>
          <p:nvPr/>
        </p:nvGrpSpPr>
        <p:grpSpPr bwMode="auto">
          <a:xfrm>
            <a:off x="0" y="1295400"/>
            <a:ext cx="9151938" cy="5438775"/>
            <a:chOff x="0" y="816"/>
            <a:chExt cx="5765" cy="3426"/>
          </a:xfrm>
        </p:grpSpPr>
        <p:grpSp>
          <p:nvGrpSpPr>
            <p:cNvPr id="149525" name="Group 3"/>
            <p:cNvGrpSpPr/>
            <p:nvPr/>
          </p:nvGrpSpPr>
          <p:grpSpPr bwMode="auto">
            <a:xfrm>
              <a:off x="0" y="1094"/>
              <a:ext cx="462" cy="250"/>
              <a:chOff x="0" y="933"/>
              <a:chExt cx="462" cy="250"/>
            </a:xfrm>
          </p:grpSpPr>
          <p:sp>
            <p:nvSpPr>
              <p:cNvPr id="149661" name="Line 4"/>
              <p:cNvSpPr>
                <a:spLocks noChangeShapeType="1"/>
              </p:cNvSpPr>
              <p:nvPr/>
            </p:nvSpPr>
            <p:spPr bwMode="auto">
              <a:xfrm>
                <a:off x="214" y="991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9662" name="Text Box 5"/>
              <p:cNvSpPr txBox="1">
                <a:spLocks noChangeArrowheads="1"/>
              </p:cNvSpPr>
              <p:nvPr/>
            </p:nvSpPr>
            <p:spPr bwMode="auto">
              <a:xfrm>
                <a:off x="0" y="933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9</a:t>
                </a:r>
              </a:p>
            </p:txBody>
          </p:sp>
        </p:grpSp>
        <p:grpSp>
          <p:nvGrpSpPr>
            <p:cNvPr id="149526" name="Group 6"/>
            <p:cNvGrpSpPr/>
            <p:nvPr/>
          </p:nvGrpSpPr>
          <p:grpSpPr bwMode="auto">
            <a:xfrm>
              <a:off x="16" y="1540"/>
              <a:ext cx="446" cy="250"/>
              <a:chOff x="16" y="1371"/>
              <a:chExt cx="446" cy="250"/>
            </a:xfrm>
          </p:grpSpPr>
          <p:sp>
            <p:nvSpPr>
              <p:cNvPr id="149659" name="Line 7"/>
              <p:cNvSpPr>
                <a:spLocks noChangeShapeType="1"/>
              </p:cNvSpPr>
              <p:nvPr/>
            </p:nvSpPr>
            <p:spPr bwMode="auto">
              <a:xfrm>
                <a:off x="214" y="1439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9660" name="Text Box 8"/>
              <p:cNvSpPr txBox="1">
                <a:spLocks noChangeArrowheads="1"/>
              </p:cNvSpPr>
              <p:nvPr/>
            </p:nvSpPr>
            <p:spPr bwMode="auto">
              <a:xfrm>
                <a:off x="16" y="1371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49527" name="Group 9"/>
            <p:cNvGrpSpPr/>
            <p:nvPr/>
          </p:nvGrpSpPr>
          <p:grpSpPr bwMode="auto">
            <a:xfrm>
              <a:off x="16" y="1987"/>
              <a:ext cx="446" cy="250"/>
              <a:chOff x="16" y="1809"/>
              <a:chExt cx="446" cy="250"/>
            </a:xfrm>
          </p:grpSpPr>
          <p:sp>
            <p:nvSpPr>
              <p:cNvPr id="149657" name="Line 10"/>
              <p:cNvSpPr>
                <a:spLocks noChangeShapeType="1"/>
              </p:cNvSpPr>
              <p:nvPr/>
            </p:nvSpPr>
            <p:spPr bwMode="auto">
              <a:xfrm>
                <a:off x="214" y="1886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9658" name="Text Box 11"/>
              <p:cNvSpPr txBox="1">
                <a:spLocks noChangeArrowheads="1"/>
              </p:cNvSpPr>
              <p:nvPr/>
            </p:nvSpPr>
            <p:spPr bwMode="auto">
              <a:xfrm>
                <a:off x="16" y="1809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</a:p>
            </p:txBody>
          </p:sp>
        </p:grpSp>
        <p:grpSp>
          <p:nvGrpSpPr>
            <p:cNvPr id="149528" name="Group 12"/>
            <p:cNvGrpSpPr/>
            <p:nvPr/>
          </p:nvGrpSpPr>
          <p:grpSpPr bwMode="auto">
            <a:xfrm>
              <a:off x="16" y="2433"/>
              <a:ext cx="446" cy="250"/>
              <a:chOff x="16" y="2276"/>
              <a:chExt cx="446" cy="250"/>
            </a:xfrm>
          </p:grpSpPr>
          <p:sp>
            <p:nvSpPr>
              <p:cNvPr id="149655" name="Line 13"/>
              <p:cNvSpPr>
                <a:spLocks noChangeShapeType="1"/>
              </p:cNvSpPr>
              <p:nvPr/>
            </p:nvSpPr>
            <p:spPr bwMode="auto">
              <a:xfrm>
                <a:off x="214" y="2334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9656" name="Text Box 14"/>
              <p:cNvSpPr txBox="1">
                <a:spLocks noChangeArrowheads="1"/>
              </p:cNvSpPr>
              <p:nvPr/>
            </p:nvSpPr>
            <p:spPr bwMode="auto">
              <a:xfrm>
                <a:off x="16" y="2276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49529" name="Group 15"/>
            <p:cNvGrpSpPr/>
            <p:nvPr/>
          </p:nvGrpSpPr>
          <p:grpSpPr bwMode="auto">
            <a:xfrm>
              <a:off x="16" y="2880"/>
              <a:ext cx="446" cy="250"/>
              <a:chOff x="16" y="2725"/>
              <a:chExt cx="446" cy="250"/>
            </a:xfrm>
          </p:grpSpPr>
          <p:sp>
            <p:nvSpPr>
              <p:cNvPr id="149653" name="Line 16"/>
              <p:cNvSpPr>
                <a:spLocks noChangeShapeType="1"/>
              </p:cNvSpPr>
              <p:nvPr/>
            </p:nvSpPr>
            <p:spPr bwMode="auto">
              <a:xfrm>
                <a:off x="214" y="2782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9654" name="Text Box 17"/>
              <p:cNvSpPr txBox="1">
                <a:spLocks noChangeArrowheads="1"/>
              </p:cNvSpPr>
              <p:nvPr/>
            </p:nvSpPr>
            <p:spPr bwMode="auto">
              <a:xfrm>
                <a:off x="16" y="2725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5</a:t>
                </a:r>
              </a:p>
            </p:txBody>
          </p:sp>
        </p:grpSp>
        <p:grpSp>
          <p:nvGrpSpPr>
            <p:cNvPr id="149530" name="Group 18"/>
            <p:cNvGrpSpPr/>
            <p:nvPr/>
          </p:nvGrpSpPr>
          <p:grpSpPr bwMode="auto">
            <a:xfrm>
              <a:off x="462" y="816"/>
              <a:ext cx="5303" cy="3426"/>
              <a:chOff x="462" y="816"/>
              <a:chExt cx="5303" cy="3426"/>
            </a:xfrm>
          </p:grpSpPr>
          <p:sp>
            <p:nvSpPr>
              <p:cNvPr id="149531" name="Rectangle 19"/>
              <p:cNvSpPr>
                <a:spLocks noChangeArrowheads="1"/>
              </p:cNvSpPr>
              <p:nvPr/>
            </p:nvSpPr>
            <p:spPr bwMode="auto">
              <a:xfrm>
                <a:off x="462" y="816"/>
                <a:ext cx="693" cy="248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9532" name="Freeform 20"/>
              <p:cNvSpPr/>
              <p:nvPr/>
            </p:nvSpPr>
            <p:spPr bwMode="auto">
              <a:xfrm>
                <a:off x="1155" y="991"/>
                <a:ext cx="3638" cy="1"/>
              </a:xfrm>
              <a:custGeom>
                <a:avLst/>
                <a:gdLst>
                  <a:gd name="T0" fmla="*/ 0 w 3528"/>
                  <a:gd name="T1" fmla="*/ 0 h 1"/>
                  <a:gd name="T2" fmla="*/ 5422 w 3528"/>
                  <a:gd name="T3" fmla="*/ 0 h 1"/>
                  <a:gd name="T4" fmla="*/ 0 60000 65536"/>
                  <a:gd name="T5" fmla="*/ 0 60000 65536"/>
                  <a:gd name="T6" fmla="*/ 0 w 3528"/>
                  <a:gd name="T7" fmla="*/ 0 h 1"/>
                  <a:gd name="T8" fmla="*/ 3528 w 352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28" h="1">
                    <a:moveTo>
                      <a:pt x="0" y="0"/>
                    </a:moveTo>
                    <a:lnTo>
                      <a:pt x="3528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33" name="Rectangle 21"/>
              <p:cNvSpPr>
                <a:spLocks noChangeArrowheads="1"/>
              </p:cNvSpPr>
              <p:nvPr/>
            </p:nvSpPr>
            <p:spPr bwMode="auto">
              <a:xfrm>
                <a:off x="1615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9534" name="Freeform 22"/>
              <p:cNvSpPr/>
              <p:nvPr/>
            </p:nvSpPr>
            <p:spPr bwMode="auto">
              <a:xfrm>
                <a:off x="4351" y="991"/>
                <a:ext cx="1" cy="79"/>
              </a:xfrm>
              <a:custGeom>
                <a:avLst/>
                <a:gdLst>
                  <a:gd name="T0" fmla="*/ 0 w 1"/>
                  <a:gd name="T1" fmla="*/ 0 h 87"/>
                  <a:gd name="T2" fmla="*/ 0 w 1"/>
                  <a:gd name="T3" fmla="*/ 23 h 87"/>
                  <a:gd name="T4" fmla="*/ 0 60000 65536"/>
                  <a:gd name="T5" fmla="*/ 0 60000 65536"/>
                  <a:gd name="T6" fmla="*/ 0 w 1"/>
                  <a:gd name="T7" fmla="*/ 0 h 87"/>
                  <a:gd name="T8" fmla="*/ 1 w 1"/>
                  <a:gd name="T9" fmla="*/ 87 h 8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87">
                    <a:moveTo>
                      <a:pt x="0" y="0"/>
                    </a:moveTo>
                    <a:lnTo>
                      <a:pt x="0" y="8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35" name="Freeform 23"/>
              <p:cNvSpPr/>
              <p:nvPr/>
            </p:nvSpPr>
            <p:spPr bwMode="auto">
              <a:xfrm>
                <a:off x="1155" y="1295"/>
                <a:ext cx="3659" cy="3"/>
              </a:xfrm>
              <a:custGeom>
                <a:avLst/>
                <a:gdLst>
                  <a:gd name="T0" fmla="*/ 0 w 3659"/>
                  <a:gd name="T1" fmla="*/ 0 h 3"/>
                  <a:gd name="T2" fmla="*/ 3659 w 3659"/>
                  <a:gd name="T3" fmla="*/ 3 h 3"/>
                  <a:gd name="T4" fmla="*/ 0 60000 65536"/>
                  <a:gd name="T5" fmla="*/ 0 60000 65536"/>
                  <a:gd name="T6" fmla="*/ 0 w 3659"/>
                  <a:gd name="T7" fmla="*/ 0 h 3"/>
                  <a:gd name="T8" fmla="*/ 3659 w 3659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659" h="3">
                    <a:moveTo>
                      <a:pt x="0" y="0"/>
                    </a:moveTo>
                    <a:lnTo>
                      <a:pt x="365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36" name="Freeform 24"/>
              <p:cNvSpPr/>
              <p:nvPr/>
            </p:nvSpPr>
            <p:spPr bwMode="auto">
              <a:xfrm>
                <a:off x="2727" y="987"/>
                <a:ext cx="1" cy="86"/>
              </a:xfrm>
              <a:custGeom>
                <a:avLst/>
                <a:gdLst>
                  <a:gd name="T0" fmla="*/ 0 w 1"/>
                  <a:gd name="T1" fmla="*/ 0 h 86"/>
                  <a:gd name="T2" fmla="*/ 1 w 1"/>
                  <a:gd name="T3" fmla="*/ 86 h 86"/>
                  <a:gd name="T4" fmla="*/ 0 60000 65536"/>
                  <a:gd name="T5" fmla="*/ 0 60000 65536"/>
                  <a:gd name="T6" fmla="*/ 0 w 1"/>
                  <a:gd name="T7" fmla="*/ 0 h 86"/>
                  <a:gd name="T8" fmla="*/ 1 w 1"/>
                  <a:gd name="T9" fmla="*/ 86 h 8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86">
                    <a:moveTo>
                      <a:pt x="0" y="0"/>
                    </a:moveTo>
                    <a:lnTo>
                      <a:pt x="1" y="8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37" name="Freeform 25"/>
              <p:cNvSpPr/>
              <p:nvPr/>
            </p:nvSpPr>
            <p:spPr bwMode="auto">
              <a:xfrm>
                <a:off x="1791" y="985"/>
                <a:ext cx="1" cy="92"/>
              </a:xfrm>
              <a:custGeom>
                <a:avLst/>
                <a:gdLst>
                  <a:gd name="T0" fmla="*/ 0 w 1"/>
                  <a:gd name="T1" fmla="*/ 0 h 92"/>
                  <a:gd name="T2" fmla="*/ 0 w 1"/>
                  <a:gd name="T3" fmla="*/ 92 h 92"/>
                  <a:gd name="T4" fmla="*/ 0 60000 65536"/>
                  <a:gd name="T5" fmla="*/ 0 60000 65536"/>
                  <a:gd name="T6" fmla="*/ 0 w 1"/>
                  <a:gd name="T7" fmla="*/ 0 h 92"/>
                  <a:gd name="T8" fmla="*/ 1 w 1"/>
                  <a:gd name="T9" fmla="*/ 92 h 9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92">
                    <a:moveTo>
                      <a:pt x="0" y="0"/>
                    </a:moveTo>
                    <a:lnTo>
                      <a:pt x="0" y="92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38" name="Freeform 26"/>
              <p:cNvSpPr/>
              <p:nvPr/>
            </p:nvSpPr>
            <p:spPr bwMode="auto">
              <a:xfrm>
                <a:off x="1788" y="1212"/>
                <a:ext cx="1" cy="85"/>
              </a:xfrm>
              <a:custGeom>
                <a:avLst/>
                <a:gdLst>
                  <a:gd name="T0" fmla="*/ 0 w 1"/>
                  <a:gd name="T1" fmla="*/ 26 h 93"/>
                  <a:gd name="T2" fmla="*/ 0 w 1"/>
                  <a:gd name="T3" fmla="*/ 0 h 93"/>
                  <a:gd name="T4" fmla="*/ 0 60000 65536"/>
                  <a:gd name="T5" fmla="*/ 0 60000 65536"/>
                  <a:gd name="T6" fmla="*/ 0 w 1"/>
                  <a:gd name="T7" fmla="*/ 0 h 93"/>
                  <a:gd name="T8" fmla="*/ 1 w 1"/>
                  <a:gd name="T9" fmla="*/ 93 h 9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93">
                    <a:moveTo>
                      <a:pt x="0" y="93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39" name="Freeform 27"/>
              <p:cNvSpPr/>
              <p:nvPr/>
            </p:nvSpPr>
            <p:spPr bwMode="auto">
              <a:xfrm>
                <a:off x="2736" y="1200"/>
                <a:ext cx="3" cy="95"/>
              </a:xfrm>
              <a:custGeom>
                <a:avLst/>
                <a:gdLst>
                  <a:gd name="T0" fmla="*/ 0 w 3"/>
                  <a:gd name="T1" fmla="*/ 26 h 105"/>
                  <a:gd name="T2" fmla="*/ 3 w 3"/>
                  <a:gd name="T3" fmla="*/ 0 h 105"/>
                  <a:gd name="T4" fmla="*/ 0 60000 65536"/>
                  <a:gd name="T5" fmla="*/ 0 60000 65536"/>
                  <a:gd name="T6" fmla="*/ 0 w 3"/>
                  <a:gd name="T7" fmla="*/ 0 h 105"/>
                  <a:gd name="T8" fmla="*/ 3 w 3"/>
                  <a:gd name="T9" fmla="*/ 105 h 10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5">
                    <a:moveTo>
                      <a:pt x="0" y="105"/>
                    </a:moveTo>
                    <a:lnTo>
                      <a:pt x="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40" name="Line 28"/>
              <p:cNvSpPr>
                <a:spLocks noChangeShapeType="1"/>
              </p:cNvSpPr>
              <p:nvPr/>
            </p:nvSpPr>
            <p:spPr bwMode="auto">
              <a:xfrm rot="10800000">
                <a:off x="4351" y="121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41" name="Freeform 29"/>
              <p:cNvSpPr/>
              <p:nvPr/>
            </p:nvSpPr>
            <p:spPr bwMode="auto">
              <a:xfrm>
                <a:off x="1155" y="1559"/>
                <a:ext cx="3653" cy="1"/>
              </a:xfrm>
              <a:custGeom>
                <a:avLst/>
                <a:gdLst>
                  <a:gd name="T0" fmla="*/ 0 w 3543"/>
                  <a:gd name="T1" fmla="*/ 0 h 1"/>
                  <a:gd name="T2" fmla="*/ 5435 w 3543"/>
                  <a:gd name="T3" fmla="*/ 0 h 1"/>
                  <a:gd name="T4" fmla="*/ 0 60000 65536"/>
                  <a:gd name="T5" fmla="*/ 0 60000 65536"/>
                  <a:gd name="T6" fmla="*/ 0 w 3543"/>
                  <a:gd name="T7" fmla="*/ 0 h 1"/>
                  <a:gd name="T8" fmla="*/ 3543 w 354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43" h="1">
                    <a:moveTo>
                      <a:pt x="0" y="0"/>
                    </a:moveTo>
                    <a:lnTo>
                      <a:pt x="354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42" name="Line 30"/>
              <p:cNvSpPr>
                <a:spLocks noChangeShapeType="1"/>
              </p:cNvSpPr>
              <p:nvPr/>
            </p:nvSpPr>
            <p:spPr bwMode="auto">
              <a:xfrm>
                <a:off x="4351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43" name="Freeform 31"/>
              <p:cNvSpPr/>
              <p:nvPr/>
            </p:nvSpPr>
            <p:spPr bwMode="auto">
              <a:xfrm>
                <a:off x="1155" y="1863"/>
                <a:ext cx="3656" cy="1"/>
              </a:xfrm>
              <a:custGeom>
                <a:avLst/>
                <a:gdLst>
                  <a:gd name="T0" fmla="*/ 0 w 3546"/>
                  <a:gd name="T1" fmla="*/ 0 h 2"/>
                  <a:gd name="T2" fmla="*/ 5438 w 3546"/>
                  <a:gd name="T3" fmla="*/ 1 h 2"/>
                  <a:gd name="T4" fmla="*/ 0 60000 65536"/>
                  <a:gd name="T5" fmla="*/ 0 60000 65536"/>
                  <a:gd name="T6" fmla="*/ 0 w 3546"/>
                  <a:gd name="T7" fmla="*/ 0 h 2"/>
                  <a:gd name="T8" fmla="*/ 3546 w 354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46" h="2">
                    <a:moveTo>
                      <a:pt x="0" y="0"/>
                    </a:moveTo>
                    <a:lnTo>
                      <a:pt x="3546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44" name="Line 32"/>
              <p:cNvSpPr>
                <a:spLocks noChangeShapeType="1"/>
              </p:cNvSpPr>
              <p:nvPr/>
            </p:nvSpPr>
            <p:spPr bwMode="auto">
              <a:xfrm>
                <a:off x="2725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45" name="Line 33"/>
              <p:cNvSpPr>
                <a:spLocks noChangeShapeType="1"/>
              </p:cNvSpPr>
              <p:nvPr/>
            </p:nvSpPr>
            <p:spPr bwMode="auto">
              <a:xfrm>
                <a:off x="1788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46" name="Line 34"/>
              <p:cNvSpPr>
                <a:spLocks noChangeShapeType="1"/>
              </p:cNvSpPr>
              <p:nvPr/>
            </p:nvSpPr>
            <p:spPr bwMode="auto">
              <a:xfrm rot="10800000">
                <a:off x="1788" y="1778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47" name="Line 35"/>
              <p:cNvSpPr>
                <a:spLocks noChangeShapeType="1"/>
              </p:cNvSpPr>
              <p:nvPr/>
            </p:nvSpPr>
            <p:spPr bwMode="auto">
              <a:xfrm rot="10800000">
                <a:off x="2725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48" name="Line 36"/>
              <p:cNvSpPr>
                <a:spLocks noChangeShapeType="1"/>
              </p:cNvSpPr>
              <p:nvPr/>
            </p:nvSpPr>
            <p:spPr bwMode="auto">
              <a:xfrm rot="10800000">
                <a:off x="4351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49" name="Freeform 37"/>
              <p:cNvSpPr/>
              <p:nvPr/>
            </p:nvSpPr>
            <p:spPr bwMode="auto">
              <a:xfrm>
                <a:off x="1155" y="2432"/>
                <a:ext cx="3675" cy="1"/>
              </a:xfrm>
              <a:custGeom>
                <a:avLst/>
                <a:gdLst>
                  <a:gd name="T0" fmla="*/ 0 w 3564"/>
                  <a:gd name="T1" fmla="*/ 0 h 1"/>
                  <a:gd name="T2" fmla="*/ 5474 w 3564"/>
                  <a:gd name="T3" fmla="*/ 0 h 1"/>
                  <a:gd name="T4" fmla="*/ 0 60000 65536"/>
                  <a:gd name="T5" fmla="*/ 0 60000 65536"/>
                  <a:gd name="T6" fmla="*/ 0 w 3564"/>
                  <a:gd name="T7" fmla="*/ 0 h 1"/>
                  <a:gd name="T8" fmla="*/ 3564 w 356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64" h="1">
                    <a:moveTo>
                      <a:pt x="0" y="0"/>
                    </a:moveTo>
                    <a:lnTo>
                      <a:pt x="3564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50" name="Line 38"/>
              <p:cNvSpPr>
                <a:spLocks noChangeShapeType="1"/>
              </p:cNvSpPr>
              <p:nvPr/>
            </p:nvSpPr>
            <p:spPr bwMode="auto">
              <a:xfrm>
                <a:off x="4351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51" name="Freeform 39"/>
              <p:cNvSpPr/>
              <p:nvPr/>
            </p:nvSpPr>
            <p:spPr bwMode="auto">
              <a:xfrm>
                <a:off x="1155" y="2736"/>
                <a:ext cx="3647" cy="1"/>
              </a:xfrm>
              <a:custGeom>
                <a:avLst/>
                <a:gdLst>
                  <a:gd name="T0" fmla="*/ 0 w 3647"/>
                  <a:gd name="T1" fmla="*/ 0 h 1"/>
                  <a:gd name="T2" fmla="*/ 3647 w 3647"/>
                  <a:gd name="T3" fmla="*/ 1 h 1"/>
                  <a:gd name="T4" fmla="*/ 0 60000 65536"/>
                  <a:gd name="T5" fmla="*/ 0 60000 65536"/>
                  <a:gd name="T6" fmla="*/ 0 w 3647"/>
                  <a:gd name="T7" fmla="*/ 0 h 1"/>
                  <a:gd name="T8" fmla="*/ 3647 w 364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647" h="1">
                    <a:moveTo>
                      <a:pt x="0" y="0"/>
                    </a:moveTo>
                    <a:lnTo>
                      <a:pt x="3647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52" name="Line 40"/>
              <p:cNvSpPr>
                <a:spLocks noChangeShapeType="1"/>
              </p:cNvSpPr>
              <p:nvPr/>
            </p:nvSpPr>
            <p:spPr bwMode="auto">
              <a:xfrm>
                <a:off x="2725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53" name="Line 41"/>
              <p:cNvSpPr>
                <a:spLocks noChangeShapeType="1"/>
              </p:cNvSpPr>
              <p:nvPr/>
            </p:nvSpPr>
            <p:spPr bwMode="auto">
              <a:xfrm>
                <a:off x="1788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54" name="Line 42"/>
              <p:cNvSpPr>
                <a:spLocks noChangeShapeType="1"/>
              </p:cNvSpPr>
              <p:nvPr/>
            </p:nvSpPr>
            <p:spPr bwMode="auto">
              <a:xfrm rot="10800000">
                <a:off x="1788" y="2652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55" name="Line 43"/>
              <p:cNvSpPr>
                <a:spLocks noChangeShapeType="1"/>
              </p:cNvSpPr>
              <p:nvPr/>
            </p:nvSpPr>
            <p:spPr bwMode="auto">
              <a:xfrm rot="10800000">
                <a:off x="2725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56" name="Line 44"/>
              <p:cNvSpPr>
                <a:spLocks noChangeShapeType="1"/>
              </p:cNvSpPr>
              <p:nvPr/>
            </p:nvSpPr>
            <p:spPr bwMode="auto">
              <a:xfrm rot="10800000">
                <a:off x="4351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57" name="AutoShape 45"/>
              <p:cNvSpPr>
                <a:spLocks noChangeArrowheads="1"/>
              </p:cNvSpPr>
              <p:nvPr/>
            </p:nvSpPr>
            <p:spPr bwMode="auto">
              <a:xfrm rot="-5400000">
                <a:off x="1700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9558" name="Freeform 46"/>
              <p:cNvSpPr/>
              <p:nvPr/>
            </p:nvSpPr>
            <p:spPr bwMode="auto">
              <a:xfrm>
                <a:off x="1416" y="1148"/>
                <a:ext cx="198" cy="2026"/>
              </a:xfrm>
              <a:custGeom>
                <a:avLst/>
                <a:gdLst>
                  <a:gd name="T0" fmla="*/ 198 w 198"/>
                  <a:gd name="T1" fmla="*/ 0 h 2026"/>
                  <a:gd name="T2" fmla="*/ 0 w 198"/>
                  <a:gd name="T3" fmla="*/ 0 h 2026"/>
                  <a:gd name="T4" fmla="*/ 6 w 198"/>
                  <a:gd name="T5" fmla="*/ 2026 h 2026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26"/>
                  <a:gd name="T11" fmla="*/ 198 w 198"/>
                  <a:gd name="T12" fmla="*/ 2026 h 20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26">
                    <a:moveTo>
                      <a:pt x="198" y="0"/>
                    </a:moveTo>
                    <a:lnTo>
                      <a:pt x="0" y="0"/>
                    </a:lnTo>
                    <a:lnTo>
                      <a:pt x="6" y="202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59" name="Freeform 47"/>
              <p:cNvSpPr/>
              <p:nvPr/>
            </p:nvSpPr>
            <p:spPr bwMode="auto">
              <a:xfrm>
                <a:off x="141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60" name="Freeform 48"/>
              <p:cNvSpPr/>
              <p:nvPr/>
            </p:nvSpPr>
            <p:spPr bwMode="auto">
              <a:xfrm>
                <a:off x="1422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61" name="Line 49"/>
              <p:cNvSpPr>
                <a:spLocks noChangeShapeType="1"/>
              </p:cNvSpPr>
              <p:nvPr/>
            </p:nvSpPr>
            <p:spPr bwMode="auto">
              <a:xfrm>
                <a:off x="1419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62" name="Freeform 50"/>
              <p:cNvSpPr/>
              <p:nvPr/>
            </p:nvSpPr>
            <p:spPr bwMode="auto">
              <a:xfrm>
                <a:off x="3979" y="1148"/>
                <a:ext cx="198" cy="2023"/>
              </a:xfrm>
              <a:custGeom>
                <a:avLst/>
                <a:gdLst>
                  <a:gd name="T0" fmla="*/ 198 w 198"/>
                  <a:gd name="T1" fmla="*/ 0 h 2023"/>
                  <a:gd name="T2" fmla="*/ 0 w 198"/>
                  <a:gd name="T3" fmla="*/ 0 h 2023"/>
                  <a:gd name="T4" fmla="*/ 2 w 198"/>
                  <a:gd name="T5" fmla="*/ 2023 h 2023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23"/>
                  <a:gd name="T11" fmla="*/ 198 w 198"/>
                  <a:gd name="T12" fmla="*/ 2023 h 202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23">
                    <a:moveTo>
                      <a:pt x="198" y="0"/>
                    </a:moveTo>
                    <a:lnTo>
                      <a:pt x="0" y="0"/>
                    </a:lnTo>
                    <a:lnTo>
                      <a:pt x="2" y="202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63" name="Freeform 51"/>
              <p:cNvSpPr/>
              <p:nvPr/>
            </p:nvSpPr>
            <p:spPr bwMode="auto">
              <a:xfrm>
                <a:off x="3982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64" name="Freeform 52"/>
              <p:cNvSpPr/>
              <p:nvPr/>
            </p:nvSpPr>
            <p:spPr bwMode="auto">
              <a:xfrm>
                <a:off x="3985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65" name="Line 53"/>
              <p:cNvSpPr>
                <a:spLocks noChangeShapeType="1"/>
              </p:cNvSpPr>
              <p:nvPr/>
            </p:nvSpPr>
            <p:spPr bwMode="auto">
              <a:xfrm>
                <a:off x="3982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66" name="Freeform 54"/>
              <p:cNvSpPr/>
              <p:nvPr/>
            </p:nvSpPr>
            <p:spPr bwMode="auto">
              <a:xfrm>
                <a:off x="2347" y="1148"/>
                <a:ext cx="198" cy="2024"/>
              </a:xfrm>
              <a:custGeom>
                <a:avLst/>
                <a:gdLst>
                  <a:gd name="T0" fmla="*/ 295 w 192"/>
                  <a:gd name="T1" fmla="*/ 0 h 2224"/>
                  <a:gd name="T2" fmla="*/ 0 w 192"/>
                  <a:gd name="T3" fmla="*/ 0 h 2224"/>
                  <a:gd name="T4" fmla="*/ 2 w 192"/>
                  <a:gd name="T5" fmla="*/ 594 h 2224"/>
                  <a:gd name="T6" fmla="*/ 0 60000 65536"/>
                  <a:gd name="T7" fmla="*/ 0 60000 65536"/>
                  <a:gd name="T8" fmla="*/ 0 60000 65536"/>
                  <a:gd name="T9" fmla="*/ 0 w 192"/>
                  <a:gd name="T10" fmla="*/ 0 h 2224"/>
                  <a:gd name="T11" fmla="*/ 192 w 192"/>
                  <a:gd name="T12" fmla="*/ 2224 h 22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2" h="2224">
                    <a:moveTo>
                      <a:pt x="192" y="0"/>
                    </a:moveTo>
                    <a:lnTo>
                      <a:pt x="0" y="0"/>
                    </a:lnTo>
                    <a:lnTo>
                      <a:pt x="2" y="222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67" name="Freeform 55"/>
              <p:cNvSpPr/>
              <p:nvPr/>
            </p:nvSpPr>
            <p:spPr bwMode="auto">
              <a:xfrm>
                <a:off x="235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68" name="Freeform 56"/>
              <p:cNvSpPr/>
              <p:nvPr/>
            </p:nvSpPr>
            <p:spPr bwMode="auto">
              <a:xfrm>
                <a:off x="2353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69" name="Line 57"/>
              <p:cNvSpPr>
                <a:spLocks noChangeShapeType="1"/>
              </p:cNvSpPr>
              <p:nvPr/>
            </p:nvSpPr>
            <p:spPr bwMode="auto">
              <a:xfrm>
                <a:off x="2350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70" name="Freeform 58"/>
              <p:cNvSpPr/>
              <p:nvPr/>
            </p:nvSpPr>
            <p:spPr bwMode="auto">
              <a:xfrm>
                <a:off x="1964" y="1135"/>
                <a:ext cx="198" cy="2030"/>
              </a:xfrm>
              <a:custGeom>
                <a:avLst/>
                <a:gdLst>
                  <a:gd name="T0" fmla="*/ 0 w 198"/>
                  <a:gd name="T1" fmla="*/ 0 h 2030"/>
                  <a:gd name="T2" fmla="*/ 198 w 198"/>
                  <a:gd name="T3" fmla="*/ 0 h 2030"/>
                  <a:gd name="T4" fmla="*/ 193 w 198"/>
                  <a:gd name="T5" fmla="*/ 2030 h 2030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30"/>
                  <a:gd name="T11" fmla="*/ 198 w 198"/>
                  <a:gd name="T12" fmla="*/ 2030 h 203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30">
                    <a:moveTo>
                      <a:pt x="0" y="0"/>
                    </a:moveTo>
                    <a:lnTo>
                      <a:pt x="198" y="0"/>
                    </a:lnTo>
                    <a:lnTo>
                      <a:pt x="193" y="203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71" name="Freeform 59"/>
              <p:cNvSpPr/>
              <p:nvPr/>
            </p:nvSpPr>
            <p:spPr bwMode="auto">
              <a:xfrm rot="10800000">
                <a:off x="195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72" name="Freeform 60"/>
              <p:cNvSpPr/>
              <p:nvPr/>
            </p:nvSpPr>
            <p:spPr bwMode="auto">
              <a:xfrm rot="10800000">
                <a:off x="1959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73" name="Freeform 61"/>
              <p:cNvSpPr/>
              <p:nvPr/>
            </p:nvSpPr>
            <p:spPr bwMode="auto">
              <a:xfrm>
                <a:off x="1958" y="2957"/>
                <a:ext cx="200" cy="1"/>
              </a:xfrm>
              <a:custGeom>
                <a:avLst/>
                <a:gdLst>
                  <a:gd name="T0" fmla="*/ 297 w 194"/>
                  <a:gd name="T1" fmla="*/ 0 h 1"/>
                  <a:gd name="T2" fmla="*/ 0 w 194"/>
                  <a:gd name="T3" fmla="*/ 0 h 1"/>
                  <a:gd name="T4" fmla="*/ 0 60000 65536"/>
                  <a:gd name="T5" fmla="*/ 0 60000 65536"/>
                  <a:gd name="T6" fmla="*/ 0 w 194"/>
                  <a:gd name="T7" fmla="*/ 0 h 1"/>
                  <a:gd name="T8" fmla="*/ 194 w 19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4" h="1">
                    <a:moveTo>
                      <a:pt x="19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74" name="Freeform 62"/>
              <p:cNvSpPr/>
              <p:nvPr/>
            </p:nvSpPr>
            <p:spPr bwMode="auto">
              <a:xfrm>
                <a:off x="2893" y="1135"/>
                <a:ext cx="199" cy="2047"/>
              </a:xfrm>
              <a:custGeom>
                <a:avLst/>
                <a:gdLst>
                  <a:gd name="T0" fmla="*/ 0 w 193"/>
                  <a:gd name="T1" fmla="*/ 0 h 2250"/>
                  <a:gd name="T2" fmla="*/ 295 w 193"/>
                  <a:gd name="T3" fmla="*/ 0 h 2250"/>
                  <a:gd name="T4" fmla="*/ 296 w 193"/>
                  <a:gd name="T5" fmla="*/ 599 h 2250"/>
                  <a:gd name="T6" fmla="*/ 0 60000 65536"/>
                  <a:gd name="T7" fmla="*/ 0 60000 65536"/>
                  <a:gd name="T8" fmla="*/ 0 60000 65536"/>
                  <a:gd name="T9" fmla="*/ 0 w 193"/>
                  <a:gd name="T10" fmla="*/ 0 h 2250"/>
                  <a:gd name="T11" fmla="*/ 193 w 193"/>
                  <a:gd name="T12" fmla="*/ 2250 h 225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3" h="2250">
                    <a:moveTo>
                      <a:pt x="0" y="0"/>
                    </a:moveTo>
                    <a:lnTo>
                      <a:pt x="192" y="0"/>
                    </a:lnTo>
                    <a:lnTo>
                      <a:pt x="193" y="225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75" name="Freeform 63"/>
              <p:cNvSpPr/>
              <p:nvPr/>
            </p:nvSpPr>
            <p:spPr bwMode="auto">
              <a:xfrm rot="10800000">
                <a:off x="289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76" name="Freeform 64"/>
              <p:cNvSpPr/>
              <p:nvPr/>
            </p:nvSpPr>
            <p:spPr bwMode="auto">
              <a:xfrm rot="10800000">
                <a:off x="2890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77" name="Freeform 65"/>
              <p:cNvSpPr/>
              <p:nvPr/>
            </p:nvSpPr>
            <p:spPr bwMode="auto">
              <a:xfrm>
                <a:off x="2895" y="2957"/>
                <a:ext cx="194" cy="1"/>
              </a:xfrm>
              <a:custGeom>
                <a:avLst/>
                <a:gdLst>
                  <a:gd name="T0" fmla="*/ 291 w 188"/>
                  <a:gd name="T1" fmla="*/ 0 h 1"/>
                  <a:gd name="T2" fmla="*/ 0 w 188"/>
                  <a:gd name="T3" fmla="*/ 0 h 1"/>
                  <a:gd name="T4" fmla="*/ 0 60000 65536"/>
                  <a:gd name="T5" fmla="*/ 0 60000 65536"/>
                  <a:gd name="T6" fmla="*/ 0 w 188"/>
                  <a:gd name="T7" fmla="*/ 0 h 1"/>
                  <a:gd name="T8" fmla="*/ 188 w 18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88" h="1">
                    <a:moveTo>
                      <a:pt x="18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78" name="Freeform 66"/>
              <p:cNvSpPr/>
              <p:nvPr/>
            </p:nvSpPr>
            <p:spPr bwMode="auto">
              <a:xfrm>
                <a:off x="4531" y="1135"/>
                <a:ext cx="203" cy="2027"/>
              </a:xfrm>
              <a:custGeom>
                <a:avLst/>
                <a:gdLst>
                  <a:gd name="T0" fmla="*/ 0 w 203"/>
                  <a:gd name="T1" fmla="*/ 0 h 2027"/>
                  <a:gd name="T2" fmla="*/ 198 w 203"/>
                  <a:gd name="T3" fmla="*/ 0 h 2027"/>
                  <a:gd name="T4" fmla="*/ 203 w 203"/>
                  <a:gd name="T5" fmla="*/ 2027 h 2027"/>
                  <a:gd name="T6" fmla="*/ 0 60000 65536"/>
                  <a:gd name="T7" fmla="*/ 0 60000 65536"/>
                  <a:gd name="T8" fmla="*/ 0 60000 65536"/>
                  <a:gd name="T9" fmla="*/ 0 w 203"/>
                  <a:gd name="T10" fmla="*/ 0 h 2027"/>
                  <a:gd name="T11" fmla="*/ 203 w 203"/>
                  <a:gd name="T12" fmla="*/ 2027 h 20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3" h="2027">
                    <a:moveTo>
                      <a:pt x="0" y="0"/>
                    </a:moveTo>
                    <a:lnTo>
                      <a:pt x="198" y="0"/>
                    </a:lnTo>
                    <a:lnTo>
                      <a:pt x="203" y="202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79" name="Freeform 67"/>
              <p:cNvSpPr/>
              <p:nvPr/>
            </p:nvSpPr>
            <p:spPr bwMode="auto">
              <a:xfrm rot="10800000">
                <a:off x="4528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80" name="Freeform 68"/>
              <p:cNvSpPr/>
              <p:nvPr/>
            </p:nvSpPr>
            <p:spPr bwMode="auto">
              <a:xfrm rot="10800000">
                <a:off x="4528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81" name="Freeform 69"/>
              <p:cNvSpPr/>
              <p:nvPr/>
            </p:nvSpPr>
            <p:spPr bwMode="auto">
              <a:xfrm rot="10800000">
                <a:off x="4524" y="295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49582" name="Rectangle 70"/>
              <p:cNvSpPr>
                <a:spLocks noChangeArrowheads="1"/>
              </p:cNvSpPr>
              <p:nvPr/>
            </p:nvSpPr>
            <p:spPr bwMode="auto">
              <a:xfrm>
                <a:off x="1204" y="3175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读  写  控  制  电  路</a:t>
                </a:r>
              </a:p>
            </p:txBody>
          </p:sp>
          <p:sp>
            <p:nvSpPr>
              <p:cNvPr id="149583" name="Rectangle 71"/>
              <p:cNvSpPr>
                <a:spLocks noChangeArrowheads="1"/>
              </p:cNvSpPr>
              <p:nvPr/>
            </p:nvSpPr>
            <p:spPr bwMode="auto">
              <a:xfrm>
                <a:off x="1204" y="3656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bIns="0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列  地  址  译  码  器</a:t>
                </a:r>
              </a:p>
            </p:txBody>
          </p:sp>
          <p:sp>
            <p:nvSpPr>
              <p:cNvPr id="149584" name="Text Box 72"/>
              <p:cNvSpPr txBox="1">
                <a:spLocks noChangeArrowheads="1"/>
              </p:cNvSpPr>
              <p:nvPr/>
            </p:nvSpPr>
            <p:spPr bwMode="auto">
              <a:xfrm rot="5400000">
                <a:off x="1689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9585" name="Text Box 73"/>
              <p:cNvSpPr txBox="1">
                <a:spLocks noChangeArrowheads="1"/>
              </p:cNvSpPr>
              <p:nvPr/>
            </p:nvSpPr>
            <p:spPr bwMode="auto">
              <a:xfrm rot="5400000">
                <a:off x="2620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9586" name="Text Box 74"/>
              <p:cNvSpPr txBox="1">
                <a:spLocks noChangeArrowheads="1"/>
              </p:cNvSpPr>
              <p:nvPr/>
            </p:nvSpPr>
            <p:spPr bwMode="auto">
              <a:xfrm rot="5400000">
                <a:off x="4252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9587" name="Rectangle 75"/>
              <p:cNvSpPr>
                <a:spLocks noChangeArrowheads="1"/>
              </p:cNvSpPr>
              <p:nvPr/>
            </p:nvSpPr>
            <p:spPr bwMode="auto">
              <a:xfrm>
                <a:off x="1615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9588" name="Rectangle 76"/>
              <p:cNvSpPr>
                <a:spLocks noChangeArrowheads="1"/>
              </p:cNvSpPr>
              <p:nvPr/>
            </p:nvSpPr>
            <p:spPr bwMode="auto">
              <a:xfrm>
                <a:off x="1615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9589" name="Rectangle 77"/>
              <p:cNvSpPr>
                <a:spLocks noChangeArrowheads="1"/>
              </p:cNvSpPr>
              <p:nvPr/>
            </p:nvSpPr>
            <p:spPr bwMode="auto">
              <a:xfrm>
                <a:off x="2546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9590" name="Rectangle 78"/>
              <p:cNvSpPr>
                <a:spLocks noChangeArrowheads="1"/>
              </p:cNvSpPr>
              <p:nvPr/>
            </p:nvSpPr>
            <p:spPr bwMode="auto">
              <a:xfrm>
                <a:off x="2546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9591" name="Rectangle 79"/>
              <p:cNvSpPr>
                <a:spLocks noChangeArrowheads="1"/>
              </p:cNvSpPr>
              <p:nvPr/>
            </p:nvSpPr>
            <p:spPr bwMode="auto">
              <a:xfrm>
                <a:off x="2546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9592" name="Rectangle 80"/>
              <p:cNvSpPr>
                <a:spLocks noChangeArrowheads="1"/>
              </p:cNvSpPr>
              <p:nvPr/>
            </p:nvSpPr>
            <p:spPr bwMode="auto">
              <a:xfrm>
                <a:off x="4178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9593" name="Rectangle 81"/>
              <p:cNvSpPr>
                <a:spLocks noChangeArrowheads="1"/>
              </p:cNvSpPr>
              <p:nvPr/>
            </p:nvSpPr>
            <p:spPr bwMode="auto">
              <a:xfrm>
                <a:off x="4178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9594" name="Rectangle 82"/>
              <p:cNvSpPr>
                <a:spLocks noChangeArrowheads="1"/>
              </p:cNvSpPr>
              <p:nvPr/>
            </p:nvSpPr>
            <p:spPr bwMode="auto">
              <a:xfrm>
                <a:off x="4178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9595" name="AutoShape 83"/>
              <p:cNvSpPr>
                <a:spLocks noChangeArrowheads="1"/>
              </p:cNvSpPr>
              <p:nvPr/>
            </p:nvSpPr>
            <p:spPr bwMode="auto">
              <a:xfrm rot="-5400000">
                <a:off x="2631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9596" name="AutoShape 84"/>
              <p:cNvSpPr>
                <a:spLocks noChangeArrowheads="1"/>
              </p:cNvSpPr>
              <p:nvPr/>
            </p:nvSpPr>
            <p:spPr bwMode="auto">
              <a:xfrm rot="-5400000">
                <a:off x="4263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49597" name="Text Box 85"/>
              <p:cNvSpPr txBox="1">
                <a:spLocks noChangeArrowheads="1"/>
              </p:cNvSpPr>
              <p:nvPr/>
            </p:nvSpPr>
            <p:spPr bwMode="auto">
              <a:xfrm>
                <a:off x="4796" y="861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读选择线</a:t>
                </a:r>
              </a:p>
            </p:txBody>
          </p:sp>
          <p:sp>
            <p:nvSpPr>
              <p:cNvPr id="149598" name="Text Box 86"/>
              <p:cNvSpPr txBox="1">
                <a:spLocks noChangeArrowheads="1"/>
              </p:cNvSpPr>
              <p:nvPr/>
            </p:nvSpPr>
            <p:spPr bwMode="auto">
              <a:xfrm>
                <a:off x="4806" y="115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写选择线</a:t>
                </a:r>
              </a:p>
            </p:txBody>
          </p:sp>
          <p:sp>
            <p:nvSpPr>
              <p:cNvPr id="149599" name="Line 87"/>
              <p:cNvSpPr>
                <a:spLocks noChangeShapeType="1"/>
              </p:cNvSpPr>
              <p:nvPr/>
            </p:nvSpPr>
            <p:spPr bwMode="auto">
              <a:xfrm>
                <a:off x="4817" y="3306"/>
                <a:ext cx="3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9600" name="Text Box 88"/>
              <p:cNvSpPr txBox="1">
                <a:spLocks noChangeArrowheads="1"/>
              </p:cNvSpPr>
              <p:nvPr/>
            </p:nvSpPr>
            <p:spPr bwMode="auto">
              <a:xfrm>
                <a:off x="4906" y="3024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49601" name="Text Box 89"/>
              <p:cNvSpPr txBox="1">
                <a:spLocks noChangeArrowheads="1"/>
              </p:cNvSpPr>
              <p:nvPr/>
            </p:nvSpPr>
            <p:spPr bwMode="auto">
              <a:xfrm>
                <a:off x="3296" y="1929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单元</a:t>
                </a:r>
              </a:p>
            </p:txBody>
          </p:sp>
          <p:sp>
            <p:nvSpPr>
              <p:cNvPr id="149602" name="Text Box 90"/>
              <p:cNvSpPr txBox="1">
                <a:spLocks noChangeArrowheads="1"/>
              </p:cNvSpPr>
              <p:nvPr/>
            </p:nvSpPr>
            <p:spPr bwMode="auto">
              <a:xfrm>
                <a:off x="3296" y="2108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电路</a:t>
                </a:r>
              </a:p>
            </p:txBody>
          </p:sp>
          <p:sp>
            <p:nvSpPr>
              <p:cNvPr id="149603" name="Text Box 91"/>
              <p:cNvSpPr txBox="1">
                <a:spLocks noChangeArrowheads="1"/>
              </p:cNvSpPr>
              <p:nvPr/>
            </p:nvSpPr>
            <p:spPr bwMode="auto">
              <a:xfrm>
                <a:off x="503" y="936"/>
                <a:ext cx="309" cy="2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行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地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址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译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码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器</a:t>
                </a:r>
              </a:p>
            </p:txBody>
          </p:sp>
          <p:sp>
            <p:nvSpPr>
              <p:cNvPr id="149604" name="Text Box 92"/>
              <p:cNvSpPr txBox="1">
                <a:spLocks noChangeArrowheads="1"/>
              </p:cNvSpPr>
              <p:nvPr/>
            </p:nvSpPr>
            <p:spPr bwMode="auto">
              <a:xfrm>
                <a:off x="907" y="86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49605" name="Text Box 93"/>
              <p:cNvSpPr txBox="1">
                <a:spLocks noChangeArrowheads="1"/>
              </p:cNvSpPr>
              <p:nvPr/>
            </p:nvSpPr>
            <p:spPr bwMode="auto">
              <a:xfrm>
                <a:off x="907" y="115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49606" name="Text Box 94"/>
              <p:cNvSpPr txBox="1">
                <a:spLocks noChangeArrowheads="1"/>
              </p:cNvSpPr>
              <p:nvPr/>
            </p:nvSpPr>
            <p:spPr bwMode="auto">
              <a:xfrm>
                <a:off x="907" y="145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49607" name="Text Box 95"/>
              <p:cNvSpPr txBox="1">
                <a:spLocks noChangeArrowheads="1"/>
              </p:cNvSpPr>
              <p:nvPr/>
            </p:nvSpPr>
            <p:spPr bwMode="auto">
              <a:xfrm>
                <a:off x="907" y="176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49608" name="Text Box 96"/>
              <p:cNvSpPr txBox="1">
                <a:spLocks noChangeArrowheads="1"/>
              </p:cNvSpPr>
              <p:nvPr/>
            </p:nvSpPr>
            <p:spPr bwMode="auto">
              <a:xfrm>
                <a:off x="854" y="2294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49609" name="Text Box 97"/>
              <p:cNvSpPr txBox="1">
                <a:spLocks noChangeArrowheads="1"/>
              </p:cNvSpPr>
              <p:nvPr/>
            </p:nvSpPr>
            <p:spPr bwMode="auto">
              <a:xfrm>
                <a:off x="858" y="2592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49610" name="Line 98"/>
              <p:cNvSpPr>
                <a:spLocks noChangeShapeType="1"/>
              </p:cNvSpPr>
              <p:nvPr/>
            </p:nvSpPr>
            <p:spPr bwMode="auto">
              <a:xfrm>
                <a:off x="1887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9611" name="Line 99"/>
              <p:cNvSpPr>
                <a:spLocks noChangeShapeType="1"/>
              </p:cNvSpPr>
              <p:nvPr/>
            </p:nvSpPr>
            <p:spPr bwMode="auto">
              <a:xfrm>
                <a:off x="2832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9612" name="Text Box 100"/>
              <p:cNvSpPr txBox="1">
                <a:spLocks noChangeArrowheads="1"/>
              </p:cNvSpPr>
              <p:nvPr/>
            </p:nvSpPr>
            <p:spPr bwMode="auto">
              <a:xfrm>
                <a:off x="2613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49613" name="Line 101"/>
              <p:cNvSpPr>
                <a:spLocks noChangeShapeType="1"/>
              </p:cNvSpPr>
              <p:nvPr/>
            </p:nvSpPr>
            <p:spPr bwMode="auto">
              <a:xfrm>
                <a:off x="4473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9614" name="Text Box 102"/>
              <p:cNvSpPr txBox="1">
                <a:spLocks noChangeArrowheads="1"/>
              </p:cNvSpPr>
              <p:nvPr/>
            </p:nvSpPr>
            <p:spPr bwMode="auto">
              <a:xfrm>
                <a:off x="4176" y="3420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49615" name="Group 103"/>
              <p:cNvGrpSpPr/>
              <p:nvPr/>
            </p:nvGrpSpPr>
            <p:grpSpPr bwMode="auto">
              <a:xfrm>
                <a:off x="1492" y="3918"/>
                <a:ext cx="284" cy="323"/>
                <a:chOff x="1584" y="3918"/>
                <a:chExt cx="284" cy="323"/>
              </a:xfrm>
            </p:grpSpPr>
            <p:sp>
              <p:nvSpPr>
                <p:cNvPr id="149651" name="Line 104"/>
                <p:cNvSpPr>
                  <a:spLocks noChangeShapeType="1"/>
                </p:cNvSpPr>
                <p:nvPr/>
              </p:nvSpPr>
              <p:spPr bwMode="auto">
                <a:xfrm rot="-5400000">
                  <a:off x="149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9652" name="Text Box 105"/>
                <p:cNvSpPr txBox="1">
                  <a:spLocks noChangeArrowheads="1"/>
                </p:cNvSpPr>
                <p:nvPr/>
              </p:nvSpPr>
              <p:spPr bwMode="auto">
                <a:xfrm>
                  <a:off x="1584" y="3991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</p:grpSp>
          <p:grpSp>
            <p:nvGrpSpPr>
              <p:cNvPr id="149616" name="Group 106"/>
              <p:cNvGrpSpPr/>
              <p:nvPr/>
            </p:nvGrpSpPr>
            <p:grpSpPr bwMode="auto">
              <a:xfrm>
                <a:off x="2234" y="3918"/>
                <a:ext cx="285" cy="324"/>
                <a:chOff x="2355" y="3918"/>
                <a:chExt cx="285" cy="324"/>
              </a:xfrm>
            </p:grpSpPr>
            <p:sp>
              <p:nvSpPr>
                <p:cNvPr id="149649" name="Line 107"/>
                <p:cNvSpPr>
                  <a:spLocks noChangeShapeType="1"/>
                </p:cNvSpPr>
                <p:nvPr/>
              </p:nvSpPr>
              <p:spPr bwMode="auto">
                <a:xfrm rot="-5400000">
                  <a:off x="224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9650" name="Text Box 108"/>
                <p:cNvSpPr txBox="1">
                  <a:spLocks noChangeArrowheads="1"/>
                </p:cNvSpPr>
                <p:nvPr/>
              </p:nvSpPr>
              <p:spPr bwMode="auto">
                <a:xfrm>
                  <a:off x="2356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3</a:t>
                  </a:r>
                </a:p>
              </p:txBody>
            </p:sp>
          </p:grpSp>
          <p:grpSp>
            <p:nvGrpSpPr>
              <p:cNvPr id="149617" name="Group 109"/>
              <p:cNvGrpSpPr/>
              <p:nvPr/>
            </p:nvGrpSpPr>
            <p:grpSpPr bwMode="auto">
              <a:xfrm>
                <a:off x="2978" y="3918"/>
                <a:ext cx="284" cy="324"/>
                <a:chOff x="3102" y="3918"/>
                <a:chExt cx="284" cy="324"/>
              </a:xfrm>
            </p:grpSpPr>
            <p:sp>
              <p:nvSpPr>
                <p:cNvPr id="149647" name="Line 110"/>
                <p:cNvSpPr>
                  <a:spLocks noChangeShapeType="1"/>
                </p:cNvSpPr>
                <p:nvPr/>
              </p:nvSpPr>
              <p:spPr bwMode="auto">
                <a:xfrm rot="-5400000">
                  <a:off x="300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9648" name="Text Box 111"/>
                <p:cNvSpPr txBox="1">
                  <a:spLocks noChangeArrowheads="1"/>
                </p:cNvSpPr>
                <p:nvPr/>
              </p:nvSpPr>
              <p:spPr bwMode="auto">
                <a:xfrm>
                  <a:off x="3102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</p:grpSp>
          <p:grpSp>
            <p:nvGrpSpPr>
              <p:cNvPr id="149618" name="Group 112"/>
              <p:cNvGrpSpPr/>
              <p:nvPr/>
            </p:nvGrpSpPr>
            <p:grpSpPr bwMode="auto">
              <a:xfrm>
                <a:off x="3721" y="3918"/>
                <a:ext cx="284" cy="324"/>
                <a:chOff x="3844" y="3918"/>
                <a:chExt cx="284" cy="324"/>
              </a:xfrm>
            </p:grpSpPr>
            <p:sp>
              <p:nvSpPr>
                <p:cNvPr id="149645" name="Line 113"/>
                <p:cNvSpPr>
                  <a:spLocks noChangeShapeType="1"/>
                </p:cNvSpPr>
                <p:nvPr/>
              </p:nvSpPr>
              <p:spPr bwMode="auto">
                <a:xfrm rot="-5400000">
                  <a:off x="375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9646" name="Text Box 114"/>
                <p:cNvSpPr txBox="1">
                  <a:spLocks noChangeArrowheads="1"/>
                </p:cNvSpPr>
                <p:nvPr/>
              </p:nvSpPr>
              <p:spPr bwMode="auto">
                <a:xfrm>
                  <a:off x="3844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</p:grpSp>
          <p:grpSp>
            <p:nvGrpSpPr>
              <p:cNvPr id="149619" name="Group 115"/>
              <p:cNvGrpSpPr/>
              <p:nvPr/>
            </p:nvGrpSpPr>
            <p:grpSpPr bwMode="auto">
              <a:xfrm>
                <a:off x="4464" y="3918"/>
                <a:ext cx="284" cy="323"/>
                <a:chOff x="4603" y="3918"/>
                <a:chExt cx="284" cy="323"/>
              </a:xfrm>
            </p:grpSpPr>
            <p:sp>
              <p:nvSpPr>
                <p:cNvPr id="149643" name="Line 116"/>
                <p:cNvSpPr>
                  <a:spLocks noChangeShapeType="1"/>
                </p:cNvSpPr>
                <p:nvPr/>
              </p:nvSpPr>
              <p:spPr bwMode="auto">
                <a:xfrm rot="-5400000">
                  <a:off x="4510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9644" name="Text Box 117"/>
                <p:cNvSpPr txBox="1">
                  <a:spLocks noChangeArrowheads="1"/>
                </p:cNvSpPr>
                <p:nvPr/>
              </p:nvSpPr>
              <p:spPr bwMode="auto">
                <a:xfrm>
                  <a:off x="4603" y="3991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</p:grpSp>
          <p:sp>
            <p:nvSpPr>
              <p:cNvPr id="149620" name="Line 118"/>
              <p:cNvSpPr>
                <a:spLocks noChangeShapeType="1"/>
              </p:cNvSpPr>
              <p:nvPr/>
            </p:nvSpPr>
            <p:spPr bwMode="auto">
              <a:xfrm>
                <a:off x="2689" y="1690"/>
                <a:ext cx="643" cy="39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9621" name="Line 119"/>
              <p:cNvSpPr>
                <a:spLocks noChangeShapeType="1"/>
              </p:cNvSpPr>
              <p:nvPr/>
            </p:nvSpPr>
            <p:spPr bwMode="auto">
              <a:xfrm>
                <a:off x="3976" y="2039"/>
                <a:ext cx="990" cy="21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9622" name="Line 120"/>
              <p:cNvSpPr>
                <a:spLocks noChangeShapeType="1"/>
              </p:cNvSpPr>
              <p:nvPr/>
            </p:nvSpPr>
            <p:spPr bwMode="auto">
              <a:xfrm>
                <a:off x="4718" y="1384"/>
                <a:ext cx="693" cy="13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49623" name="Text Box 121"/>
              <p:cNvSpPr txBox="1">
                <a:spLocks noChangeArrowheads="1"/>
              </p:cNvSpPr>
              <p:nvPr/>
            </p:nvSpPr>
            <p:spPr bwMode="auto">
              <a:xfrm>
                <a:off x="4844" y="2728"/>
                <a:ext cx="92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刷新放大器</a:t>
                </a:r>
              </a:p>
            </p:txBody>
          </p:sp>
          <p:sp>
            <p:nvSpPr>
              <p:cNvPr id="149624" name="Line 122"/>
              <p:cNvSpPr>
                <a:spLocks noChangeShapeType="1"/>
              </p:cNvSpPr>
              <p:nvPr/>
            </p:nvSpPr>
            <p:spPr bwMode="auto">
              <a:xfrm flipV="1">
                <a:off x="4520" y="2957"/>
                <a:ext cx="495" cy="4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149625" name="Group 123"/>
              <p:cNvGrpSpPr/>
              <p:nvPr/>
            </p:nvGrpSpPr>
            <p:grpSpPr bwMode="auto">
              <a:xfrm>
                <a:off x="4916" y="1726"/>
                <a:ext cx="277" cy="893"/>
                <a:chOff x="4920" y="1790"/>
                <a:chExt cx="277" cy="893"/>
              </a:xfrm>
            </p:grpSpPr>
            <p:sp>
              <p:nvSpPr>
                <p:cNvPr id="149639" name="Text Box 124"/>
                <p:cNvSpPr txBox="1">
                  <a:spLocks noChangeArrowheads="1"/>
                </p:cNvSpPr>
                <p:nvPr/>
              </p:nvSpPr>
              <p:spPr bwMode="auto">
                <a:xfrm>
                  <a:off x="4920" y="1790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写</a:t>
                  </a:r>
                </a:p>
              </p:txBody>
            </p:sp>
            <p:sp>
              <p:nvSpPr>
                <p:cNvPr id="149640" name="Text Box 125"/>
                <p:cNvSpPr txBox="1">
                  <a:spLocks noChangeArrowheads="1"/>
                </p:cNvSpPr>
                <p:nvPr/>
              </p:nvSpPr>
              <p:spPr bwMode="auto">
                <a:xfrm>
                  <a:off x="4920" y="200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</a:p>
              </p:txBody>
            </p:sp>
            <p:sp>
              <p:nvSpPr>
                <p:cNvPr id="149641" name="Text Box 126"/>
                <p:cNvSpPr txBox="1">
                  <a:spLocks noChangeArrowheads="1"/>
                </p:cNvSpPr>
                <p:nvPr/>
              </p:nvSpPr>
              <p:spPr bwMode="auto">
                <a:xfrm>
                  <a:off x="4920" y="2219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49642" name="Text Box 127"/>
                <p:cNvSpPr txBox="1">
                  <a:spLocks noChangeArrowheads="1"/>
                </p:cNvSpPr>
                <p:nvPr/>
              </p:nvSpPr>
              <p:spPr bwMode="auto">
                <a:xfrm>
                  <a:off x="4920" y="243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</a:p>
              </p:txBody>
            </p:sp>
          </p:grpSp>
          <p:grpSp>
            <p:nvGrpSpPr>
              <p:cNvPr id="149626" name="Group 128"/>
              <p:cNvGrpSpPr/>
              <p:nvPr/>
            </p:nvGrpSpPr>
            <p:grpSpPr bwMode="auto">
              <a:xfrm>
                <a:off x="5372" y="1505"/>
                <a:ext cx="277" cy="879"/>
                <a:chOff x="5394" y="1612"/>
                <a:chExt cx="277" cy="879"/>
              </a:xfrm>
            </p:grpSpPr>
            <p:sp>
              <p:nvSpPr>
                <p:cNvPr id="149635" name="Text Box 129"/>
                <p:cNvSpPr txBox="1">
                  <a:spLocks noChangeArrowheads="1"/>
                </p:cNvSpPr>
                <p:nvPr/>
              </p:nvSpPr>
              <p:spPr bwMode="auto">
                <a:xfrm>
                  <a:off x="5394" y="161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</a:t>
                  </a:r>
                </a:p>
              </p:txBody>
            </p:sp>
            <p:sp>
              <p:nvSpPr>
                <p:cNvPr id="149636" name="Text Box 130"/>
                <p:cNvSpPr txBox="1">
                  <a:spLocks noChangeArrowheads="1"/>
                </p:cNvSpPr>
                <p:nvPr/>
              </p:nvSpPr>
              <p:spPr bwMode="auto">
                <a:xfrm>
                  <a:off x="5394" y="182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</a:p>
              </p:txBody>
            </p:sp>
            <p:sp>
              <p:nvSpPr>
                <p:cNvPr id="149637" name="Text Box 131"/>
                <p:cNvSpPr txBox="1">
                  <a:spLocks noChangeArrowheads="1"/>
                </p:cNvSpPr>
                <p:nvPr/>
              </p:nvSpPr>
              <p:spPr bwMode="auto">
                <a:xfrm>
                  <a:off x="5394" y="203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49638" name="Text Box 132"/>
                <p:cNvSpPr txBox="1">
                  <a:spLocks noChangeArrowheads="1"/>
                </p:cNvSpPr>
                <p:nvPr/>
              </p:nvSpPr>
              <p:spPr bwMode="auto">
                <a:xfrm>
                  <a:off x="5394" y="224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</a:p>
              </p:txBody>
            </p:sp>
          </p:grpSp>
          <p:grpSp>
            <p:nvGrpSpPr>
              <p:cNvPr id="149627" name="Group 133"/>
              <p:cNvGrpSpPr/>
              <p:nvPr/>
            </p:nvGrpSpPr>
            <p:grpSpPr bwMode="auto">
              <a:xfrm>
                <a:off x="3320" y="915"/>
                <a:ext cx="372" cy="2170"/>
                <a:chOff x="3324" y="979"/>
                <a:chExt cx="372" cy="2170"/>
              </a:xfrm>
            </p:grpSpPr>
            <p:sp>
              <p:nvSpPr>
                <p:cNvPr id="149631" name="Text Box 134"/>
                <p:cNvSpPr txBox="1">
                  <a:spLocks noChangeArrowheads="1"/>
                </p:cNvSpPr>
                <p:nvPr/>
              </p:nvSpPr>
              <p:spPr bwMode="auto">
                <a:xfrm>
                  <a:off x="3324" y="979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49632" name="Text Box 135"/>
                <p:cNvSpPr txBox="1">
                  <a:spLocks noChangeArrowheads="1"/>
                </p:cNvSpPr>
                <p:nvPr/>
              </p:nvSpPr>
              <p:spPr bwMode="auto">
                <a:xfrm>
                  <a:off x="3324" y="150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49633" name="Text Box 136"/>
                <p:cNvSpPr txBox="1">
                  <a:spLocks noChangeArrowheads="1"/>
                </p:cNvSpPr>
                <p:nvPr/>
              </p:nvSpPr>
              <p:spPr bwMode="auto">
                <a:xfrm>
                  <a:off x="3324" y="240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49634" name="Text Box 137"/>
                <p:cNvSpPr txBox="1">
                  <a:spLocks noChangeArrowheads="1"/>
                </p:cNvSpPr>
                <p:nvPr/>
              </p:nvSpPr>
              <p:spPr bwMode="auto">
                <a:xfrm>
                  <a:off x="3324" y="2784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</p:grpSp>
          <p:sp>
            <p:nvSpPr>
              <p:cNvPr id="149628" name="Text Box 138"/>
              <p:cNvSpPr txBox="1">
                <a:spLocks noChangeArrowheads="1"/>
              </p:cNvSpPr>
              <p:nvPr/>
            </p:nvSpPr>
            <p:spPr bwMode="auto">
              <a:xfrm rot="5400000">
                <a:off x="916" y="1976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49629" name="Text Box 139"/>
              <p:cNvSpPr txBox="1">
                <a:spLocks noChangeArrowheads="1"/>
              </p:cNvSpPr>
              <p:nvPr/>
            </p:nvSpPr>
            <p:spPr bwMode="auto">
              <a:xfrm>
                <a:off x="1656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49630" name="Text Box 140"/>
              <p:cNvSpPr txBox="1">
                <a:spLocks noChangeArrowheads="1"/>
              </p:cNvSpPr>
              <p:nvPr/>
            </p:nvSpPr>
            <p:spPr bwMode="auto">
              <a:xfrm>
                <a:off x="3350" y="3312"/>
                <a:ext cx="340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</p:grpSp>
      <p:grpSp>
        <p:nvGrpSpPr>
          <p:cNvPr id="149507" name="Group 141"/>
          <p:cNvGrpSpPr/>
          <p:nvPr/>
        </p:nvGrpSpPr>
        <p:grpSpPr bwMode="auto">
          <a:xfrm>
            <a:off x="341313" y="1819275"/>
            <a:ext cx="361950" cy="3362325"/>
            <a:chOff x="300" y="720"/>
            <a:chExt cx="221" cy="2327"/>
          </a:xfrm>
        </p:grpSpPr>
        <p:sp>
          <p:nvSpPr>
            <p:cNvPr id="149520" name="Text Box 142"/>
            <p:cNvSpPr txBox="1">
              <a:spLocks noChangeArrowheads="1"/>
            </p:cNvSpPr>
            <p:nvPr/>
          </p:nvSpPr>
          <p:spPr bwMode="auto">
            <a:xfrm>
              <a:off x="300" y="720"/>
              <a:ext cx="221" cy="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49521" name="Text Box 143"/>
            <p:cNvSpPr txBox="1">
              <a:spLocks noChangeArrowheads="1"/>
            </p:cNvSpPr>
            <p:nvPr/>
          </p:nvSpPr>
          <p:spPr bwMode="auto">
            <a:xfrm>
              <a:off x="300" y="1212"/>
              <a:ext cx="221" cy="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49522" name="Text Box 144"/>
            <p:cNvSpPr txBox="1">
              <a:spLocks noChangeArrowheads="1"/>
            </p:cNvSpPr>
            <p:nvPr/>
          </p:nvSpPr>
          <p:spPr bwMode="auto">
            <a:xfrm>
              <a:off x="300" y="1705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49523" name="Text Box 145"/>
            <p:cNvSpPr txBox="1">
              <a:spLocks noChangeArrowheads="1"/>
            </p:cNvSpPr>
            <p:nvPr/>
          </p:nvSpPr>
          <p:spPr bwMode="auto">
            <a:xfrm>
              <a:off x="300" y="2196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49524" name="Text Box 146"/>
            <p:cNvSpPr txBox="1">
              <a:spLocks noChangeArrowheads="1"/>
            </p:cNvSpPr>
            <p:nvPr/>
          </p:nvSpPr>
          <p:spPr bwMode="auto">
            <a:xfrm>
              <a:off x="300" y="2688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</p:grpSp>
      <p:grpSp>
        <p:nvGrpSpPr>
          <p:cNvPr id="18" name="Group 147"/>
          <p:cNvGrpSpPr/>
          <p:nvPr/>
        </p:nvGrpSpPr>
        <p:grpSpPr bwMode="auto">
          <a:xfrm>
            <a:off x="1833563" y="3711575"/>
            <a:ext cx="5791200" cy="646113"/>
            <a:chOff x="1155" y="2338"/>
            <a:chExt cx="3648" cy="407"/>
          </a:xfrm>
        </p:grpSpPr>
        <p:sp>
          <p:nvSpPr>
            <p:cNvPr id="149512" name="Freeform 148"/>
            <p:cNvSpPr/>
            <p:nvPr/>
          </p:nvSpPr>
          <p:spPr bwMode="auto">
            <a:xfrm>
              <a:off x="1155" y="2740"/>
              <a:ext cx="3648" cy="5"/>
            </a:xfrm>
            <a:custGeom>
              <a:avLst/>
              <a:gdLst>
                <a:gd name="T0" fmla="*/ 0 w 3648"/>
                <a:gd name="T1" fmla="*/ 0 h 5"/>
                <a:gd name="T2" fmla="*/ 3648 w 3648"/>
                <a:gd name="T3" fmla="*/ 5 h 5"/>
                <a:gd name="T4" fmla="*/ 0 60000 65536"/>
                <a:gd name="T5" fmla="*/ 0 60000 65536"/>
                <a:gd name="T6" fmla="*/ 0 w 3648"/>
                <a:gd name="T7" fmla="*/ 0 h 5"/>
                <a:gd name="T8" fmla="*/ 3648 w 3648"/>
                <a:gd name="T9" fmla="*/ 5 h 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48" h="5">
                  <a:moveTo>
                    <a:pt x="0" y="0"/>
                  </a:moveTo>
                  <a:lnTo>
                    <a:pt x="3648" y="5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9513" name="Line 149"/>
            <p:cNvSpPr>
              <a:spLocks noChangeShapeType="1"/>
            </p:cNvSpPr>
            <p:nvPr/>
          </p:nvSpPr>
          <p:spPr bwMode="auto">
            <a:xfrm rot="10800000">
              <a:off x="1788" y="2656"/>
              <a:ext cx="0" cy="84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9514" name="Line 150"/>
            <p:cNvSpPr>
              <a:spLocks noChangeShapeType="1"/>
            </p:cNvSpPr>
            <p:nvPr/>
          </p:nvSpPr>
          <p:spPr bwMode="auto">
            <a:xfrm rot="10800000">
              <a:off x="2725" y="2658"/>
              <a:ext cx="0" cy="84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9515" name="Freeform 151"/>
            <p:cNvSpPr/>
            <p:nvPr/>
          </p:nvSpPr>
          <p:spPr bwMode="auto">
            <a:xfrm>
              <a:off x="4350" y="2657"/>
              <a:ext cx="1" cy="79"/>
            </a:xfrm>
            <a:custGeom>
              <a:avLst/>
              <a:gdLst>
                <a:gd name="T0" fmla="*/ 0 w 1"/>
                <a:gd name="T1" fmla="*/ 79 h 79"/>
                <a:gd name="T2" fmla="*/ 1 w 1"/>
                <a:gd name="T3" fmla="*/ 0 h 79"/>
                <a:gd name="T4" fmla="*/ 0 60000 65536"/>
                <a:gd name="T5" fmla="*/ 0 60000 65536"/>
                <a:gd name="T6" fmla="*/ 0 w 1"/>
                <a:gd name="T7" fmla="*/ 0 h 79"/>
                <a:gd name="T8" fmla="*/ 1 w 1"/>
                <a:gd name="T9" fmla="*/ 79 h 7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79">
                  <a:moveTo>
                    <a:pt x="0" y="79"/>
                  </a:moveTo>
                  <a:lnTo>
                    <a:pt x="1" y="0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49516" name="Rectangle 152"/>
            <p:cNvSpPr>
              <a:spLocks noChangeArrowheads="1"/>
            </p:cNvSpPr>
            <p:nvPr/>
          </p:nvSpPr>
          <p:spPr bwMode="auto">
            <a:xfrm>
              <a:off x="1615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49517" name="Rectangle 153"/>
            <p:cNvSpPr>
              <a:spLocks noChangeArrowheads="1"/>
            </p:cNvSpPr>
            <p:nvPr/>
          </p:nvSpPr>
          <p:spPr bwMode="auto">
            <a:xfrm>
              <a:off x="2546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49518" name="Rectangle 154"/>
            <p:cNvSpPr>
              <a:spLocks noChangeArrowheads="1"/>
            </p:cNvSpPr>
            <p:nvPr/>
          </p:nvSpPr>
          <p:spPr bwMode="auto">
            <a:xfrm>
              <a:off x="4178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49519" name="Text Box 155"/>
            <p:cNvSpPr txBox="1">
              <a:spLocks noChangeArrowheads="1"/>
            </p:cNvSpPr>
            <p:nvPr/>
          </p:nvSpPr>
          <p:spPr bwMode="auto">
            <a:xfrm>
              <a:off x="3320" y="233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237724" name="Rectangle 156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49510" name="Text Box 157"/>
          <p:cNvSpPr txBox="1">
            <a:spLocks noChangeArrowheads="1"/>
          </p:cNvSpPr>
          <p:nvPr/>
        </p:nvSpPr>
        <p:spPr bwMode="auto">
          <a:xfrm>
            <a:off x="304800" y="228600"/>
            <a:ext cx="7696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zh-CN" altLang="en-US" sz="3200">
                <a:latin typeface="Times New Roman" panose="02020603050405020304" pitchFamily="18" charset="0"/>
              </a:rPr>
              <a:t>三管动态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200">
                <a:latin typeface="Times New Roman" panose="02020603050405020304" pitchFamily="18" charset="0"/>
              </a:rPr>
              <a:t>芯片 (</a:t>
            </a:r>
            <a:r>
              <a:rPr lang="en-US" altLang="zh-CN" sz="3200">
                <a:latin typeface="Times New Roman" panose="02020603050405020304" pitchFamily="18" charset="0"/>
              </a:rPr>
              <a:t>Intel 1103)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</a:p>
        </p:txBody>
      </p:sp>
      <p:sp>
        <p:nvSpPr>
          <p:cNvPr id="149511" name="AutoShape 158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530" name="Group 2"/>
          <p:cNvGrpSpPr/>
          <p:nvPr/>
        </p:nvGrpSpPr>
        <p:grpSpPr bwMode="auto">
          <a:xfrm>
            <a:off x="0" y="1295400"/>
            <a:ext cx="9151938" cy="5438775"/>
            <a:chOff x="0" y="816"/>
            <a:chExt cx="5765" cy="3426"/>
          </a:xfrm>
        </p:grpSpPr>
        <p:grpSp>
          <p:nvGrpSpPr>
            <p:cNvPr id="150555" name="Group 3"/>
            <p:cNvGrpSpPr/>
            <p:nvPr/>
          </p:nvGrpSpPr>
          <p:grpSpPr bwMode="auto">
            <a:xfrm>
              <a:off x="0" y="1094"/>
              <a:ext cx="462" cy="250"/>
              <a:chOff x="0" y="933"/>
              <a:chExt cx="462" cy="250"/>
            </a:xfrm>
          </p:grpSpPr>
          <p:sp>
            <p:nvSpPr>
              <p:cNvPr id="150691" name="Line 4"/>
              <p:cNvSpPr>
                <a:spLocks noChangeShapeType="1"/>
              </p:cNvSpPr>
              <p:nvPr/>
            </p:nvSpPr>
            <p:spPr bwMode="auto">
              <a:xfrm>
                <a:off x="214" y="991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0692" name="Text Box 5"/>
              <p:cNvSpPr txBox="1">
                <a:spLocks noChangeArrowheads="1"/>
              </p:cNvSpPr>
              <p:nvPr/>
            </p:nvSpPr>
            <p:spPr bwMode="auto">
              <a:xfrm>
                <a:off x="0" y="933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9</a:t>
                </a:r>
              </a:p>
            </p:txBody>
          </p:sp>
        </p:grpSp>
        <p:grpSp>
          <p:nvGrpSpPr>
            <p:cNvPr id="150556" name="Group 6"/>
            <p:cNvGrpSpPr/>
            <p:nvPr/>
          </p:nvGrpSpPr>
          <p:grpSpPr bwMode="auto">
            <a:xfrm>
              <a:off x="16" y="1540"/>
              <a:ext cx="446" cy="250"/>
              <a:chOff x="16" y="1371"/>
              <a:chExt cx="446" cy="250"/>
            </a:xfrm>
          </p:grpSpPr>
          <p:sp>
            <p:nvSpPr>
              <p:cNvPr id="150689" name="Line 7"/>
              <p:cNvSpPr>
                <a:spLocks noChangeShapeType="1"/>
              </p:cNvSpPr>
              <p:nvPr/>
            </p:nvSpPr>
            <p:spPr bwMode="auto">
              <a:xfrm>
                <a:off x="214" y="1439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0690" name="Text Box 8"/>
              <p:cNvSpPr txBox="1">
                <a:spLocks noChangeArrowheads="1"/>
              </p:cNvSpPr>
              <p:nvPr/>
            </p:nvSpPr>
            <p:spPr bwMode="auto">
              <a:xfrm>
                <a:off x="16" y="1371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50557" name="Group 9"/>
            <p:cNvGrpSpPr/>
            <p:nvPr/>
          </p:nvGrpSpPr>
          <p:grpSpPr bwMode="auto">
            <a:xfrm>
              <a:off x="16" y="1987"/>
              <a:ext cx="446" cy="250"/>
              <a:chOff x="16" y="1809"/>
              <a:chExt cx="446" cy="250"/>
            </a:xfrm>
          </p:grpSpPr>
          <p:sp>
            <p:nvSpPr>
              <p:cNvPr id="150687" name="Line 10"/>
              <p:cNvSpPr>
                <a:spLocks noChangeShapeType="1"/>
              </p:cNvSpPr>
              <p:nvPr/>
            </p:nvSpPr>
            <p:spPr bwMode="auto">
              <a:xfrm>
                <a:off x="214" y="1886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0688" name="Text Box 11"/>
              <p:cNvSpPr txBox="1">
                <a:spLocks noChangeArrowheads="1"/>
              </p:cNvSpPr>
              <p:nvPr/>
            </p:nvSpPr>
            <p:spPr bwMode="auto">
              <a:xfrm>
                <a:off x="16" y="1809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</a:p>
            </p:txBody>
          </p:sp>
        </p:grpSp>
        <p:grpSp>
          <p:nvGrpSpPr>
            <p:cNvPr id="150558" name="Group 12"/>
            <p:cNvGrpSpPr/>
            <p:nvPr/>
          </p:nvGrpSpPr>
          <p:grpSpPr bwMode="auto">
            <a:xfrm>
              <a:off x="16" y="2433"/>
              <a:ext cx="446" cy="250"/>
              <a:chOff x="16" y="2276"/>
              <a:chExt cx="446" cy="250"/>
            </a:xfrm>
          </p:grpSpPr>
          <p:sp>
            <p:nvSpPr>
              <p:cNvPr id="150685" name="Line 13"/>
              <p:cNvSpPr>
                <a:spLocks noChangeShapeType="1"/>
              </p:cNvSpPr>
              <p:nvPr/>
            </p:nvSpPr>
            <p:spPr bwMode="auto">
              <a:xfrm>
                <a:off x="214" y="2334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0686" name="Text Box 14"/>
              <p:cNvSpPr txBox="1">
                <a:spLocks noChangeArrowheads="1"/>
              </p:cNvSpPr>
              <p:nvPr/>
            </p:nvSpPr>
            <p:spPr bwMode="auto">
              <a:xfrm>
                <a:off x="16" y="2276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50559" name="Group 15"/>
            <p:cNvGrpSpPr/>
            <p:nvPr/>
          </p:nvGrpSpPr>
          <p:grpSpPr bwMode="auto">
            <a:xfrm>
              <a:off x="16" y="2880"/>
              <a:ext cx="446" cy="250"/>
              <a:chOff x="16" y="2725"/>
              <a:chExt cx="446" cy="250"/>
            </a:xfrm>
          </p:grpSpPr>
          <p:sp>
            <p:nvSpPr>
              <p:cNvPr id="150683" name="Line 16"/>
              <p:cNvSpPr>
                <a:spLocks noChangeShapeType="1"/>
              </p:cNvSpPr>
              <p:nvPr/>
            </p:nvSpPr>
            <p:spPr bwMode="auto">
              <a:xfrm>
                <a:off x="214" y="2782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0684" name="Text Box 17"/>
              <p:cNvSpPr txBox="1">
                <a:spLocks noChangeArrowheads="1"/>
              </p:cNvSpPr>
              <p:nvPr/>
            </p:nvSpPr>
            <p:spPr bwMode="auto">
              <a:xfrm>
                <a:off x="16" y="2725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5</a:t>
                </a:r>
              </a:p>
            </p:txBody>
          </p:sp>
        </p:grpSp>
        <p:grpSp>
          <p:nvGrpSpPr>
            <p:cNvPr id="150560" name="Group 18"/>
            <p:cNvGrpSpPr/>
            <p:nvPr/>
          </p:nvGrpSpPr>
          <p:grpSpPr bwMode="auto">
            <a:xfrm>
              <a:off x="462" y="816"/>
              <a:ext cx="5303" cy="3426"/>
              <a:chOff x="462" y="816"/>
              <a:chExt cx="5303" cy="3426"/>
            </a:xfrm>
          </p:grpSpPr>
          <p:sp>
            <p:nvSpPr>
              <p:cNvPr id="150561" name="Rectangle 19"/>
              <p:cNvSpPr>
                <a:spLocks noChangeArrowheads="1"/>
              </p:cNvSpPr>
              <p:nvPr/>
            </p:nvSpPr>
            <p:spPr bwMode="auto">
              <a:xfrm>
                <a:off x="462" y="816"/>
                <a:ext cx="693" cy="248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0562" name="Freeform 20"/>
              <p:cNvSpPr/>
              <p:nvPr/>
            </p:nvSpPr>
            <p:spPr bwMode="auto">
              <a:xfrm>
                <a:off x="1155" y="991"/>
                <a:ext cx="3638" cy="1"/>
              </a:xfrm>
              <a:custGeom>
                <a:avLst/>
                <a:gdLst>
                  <a:gd name="T0" fmla="*/ 0 w 3528"/>
                  <a:gd name="T1" fmla="*/ 0 h 1"/>
                  <a:gd name="T2" fmla="*/ 5422 w 3528"/>
                  <a:gd name="T3" fmla="*/ 0 h 1"/>
                  <a:gd name="T4" fmla="*/ 0 60000 65536"/>
                  <a:gd name="T5" fmla="*/ 0 60000 65536"/>
                  <a:gd name="T6" fmla="*/ 0 w 3528"/>
                  <a:gd name="T7" fmla="*/ 0 h 1"/>
                  <a:gd name="T8" fmla="*/ 3528 w 352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28" h="1">
                    <a:moveTo>
                      <a:pt x="0" y="0"/>
                    </a:moveTo>
                    <a:lnTo>
                      <a:pt x="3528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63" name="Rectangle 21"/>
              <p:cNvSpPr>
                <a:spLocks noChangeArrowheads="1"/>
              </p:cNvSpPr>
              <p:nvPr/>
            </p:nvSpPr>
            <p:spPr bwMode="auto">
              <a:xfrm>
                <a:off x="1615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0564" name="Freeform 22"/>
              <p:cNvSpPr/>
              <p:nvPr/>
            </p:nvSpPr>
            <p:spPr bwMode="auto">
              <a:xfrm>
                <a:off x="4351" y="991"/>
                <a:ext cx="1" cy="79"/>
              </a:xfrm>
              <a:custGeom>
                <a:avLst/>
                <a:gdLst>
                  <a:gd name="T0" fmla="*/ 0 w 1"/>
                  <a:gd name="T1" fmla="*/ 0 h 87"/>
                  <a:gd name="T2" fmla="*/ 0 w 1"/>
                  <a:gd name="T3" fmla="*/ 23 h 87"/>
                  <a:gd name="T4" fmla="*/ 0 60000 65536"/>
                  <a:gd name="T5" fmla="*/ 0 60000 65536"/>
                  <a:gd name="T6" fmla="*/ 0 w 1"/>
                  <a:gd name="T7" fmla="*/ 0 h 87"/>
                  <a:gd name="T8" fmla="*/ 1 w 1"/>
                  <a:gd name="T9" fmla="*/ 87 h 8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87">
                    <a:moveTo>
                      <a:pt x="0" y="0"/>
                    </a:moveTo>
                    <a:lnTo>
                      <a:pt x="0" y="8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65" name="Freeform 23"/>
              <p:cNvSpPr/>
              <p:nvPr/>
            </p:nvSpPr>
            <p:spPr bwMode="auto">
              <a:xfrm>
                <a:off x="1155" y="1295"/>
                <a:ext cx="3659" cy="3"/>
              </a:xfrm>
              <a:custGeom>
                <a:avLst/>
                <a:gdLst>
                  <a:gd name="T0" fmla="*/ 0 w 3659"/>
                  <a:gd name="T1" fmla="*/ 0 h 3"/>
                  <a:gd name="T2" fmla="*/ 3659 w 3659"/>
                  <a:gd name="T3" fmla="*/ 3 h 3"/>
                  <a:gd name="T4" fmla="*/ 0 60000 65536"/>
                  <a:gd name="T5" fmla="*/ 0 60000 65536"/>
                  <a:gd name="T6" fmla="*/ 0 w 3659"/>
                  <a:gd name="T7" fmla="*/ 0 h 3"/>
                  <a:gd name="T8" fmla="*/ 3659 w 3659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659" h="3">
                    <a:moveTo>
                      <a:pt x="0" y="0"/>
                    </a:moveTo>
                    <a:lnTo>
                      <a:pt x="365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66" name="Freeform 24"/>
              <p:cNvSpPr/>
              <p:nvPr/>
            </p:nvSpPr>
            <p:spPr bwMode="auto">
              <a:xfrm>
                <a:off x="2727" y="987"/>
                <a:ext cx="1" cy="86"/>
              </a:xfrm>
              <a:custGeom>
                <a:avLst/>
                <a:gdLst>
                  <a:gd name="T0" fmla="*/ 0 w 1"/>
                  <a:gd name="T1" fmla="*/ 0 h 86"/>
                  <a:gd name="T2" fmla="*/ 1 w 1"/>
                  <a:gd name="T3" fmla="*/ 86 h 86"/>
                  <a:gd name="T4" fmla="*/ 0 60000 65536"/>
                  <a:gd name="T5" fmla="*/ 0 60000 65536"/>
                  <a:gd name="T6" fmla="*/ 0 w 1"/>
                  <a:gd name="T7" fmla="*/ 0 h 86"/>
                  <a:gd name="T8" fmla="*/ 1 w 1"/>
                  <a:gd name="T9" fmla="*/ 86 h 8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86">
                    <a:moveTo>
                      <a:pt x="0" y="0"/>
                    </a:moveTo>
                    <a:lnTo>
                      <a:pt x="1" y="8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67" name="Freeform 25"/>
              <p:cNvSpPr/>
              <p:nvPr/>
            </p:nvSpPr>
            <p:spPr bwMode="auto">
              <a:xfrm>
                <a:off x="1791" y="985"/>
                <a:ext cx="1" cy="92"/>
              </a:xfrm>
              <a:custGeom>
                <a:avLst/>
                <a:gdLst>
                  <a:gd name="T0" fmla="*/ 0 w 1"/>
                  <a:gd name="T1" fmla="*/ 0 h 92"/>
                  <a:gd name="T2" fmla="*/ 0 w 1"/>
                  <a:gd name="T3" fmla="*/ 92 h 92"/>
                  <a:gd name="T4" fmla="*/ 0 60000 65536"/>
                  <a:gd name="T5" fmla="*/ 0 60000 65536"/>
                  <a:gd name="T6" fmla="*/ 0 w 1"/>
                  <a:gd name="T7" fmla="*/ 0 h 92"/>
                  <a:gd name="T8" fmla="*/ 1 w 1"/>
                  <a:gd name="T9" fmla="*/ 92 h 9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92">
                    <a:moveTo>
                      <a:pt x="0" y="0"/>
                    </a:moveTo>
                    <a:lnTo>
                      <a:pt x="0" y="92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68" name="Freeform 26"/>
              <p:cNvSpPr/>
              <p:nvPr/>
            </p:nvSpPr>
            <p:spPr bwMode="auto">
              <a:xfrm>
                <a:off x="1788" y="1212"/>
                <a:ext cx="1" cy="85"/>
              </a:xfrm>
              <a:custGeom>
                <a:avLst/>
                <a:gdLst>
                  <a:gd name="T0" fmla="*/ 0 w 1"/>
                  <a:gd name="T1" fmla="*/ 26 h 93"/>
                  <a:gd name="T2" fmla="*/ 0 w 1"/>
                  <a:gd name="T3" fmla="*/ 0 h 93"/>
                  <a:gd name="T4" fmla="*/ 0 60000 65536"/>
                  <a:gd name="T5" fmla="*/ 0 60000 65536"/>
                  <a:gd name="T6" fmla="*/ 0 w 1"/>
                  <a:gd name="T7" fmla="*/ 0 h 93"/>
                  <a:gd name="T8" fmla="*/ 1 w 1"/>
                  <a:gd name="T9" fmla="*/ 93 h 9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93">
                    <a:moveTo>
                      <a:pt x="0" y="93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69" name="Freeform 27"/>
              <p:cNvSpPr/>
              <p:nvPr/>
            </p:nvSpPr>
            <p:spPr bwMode="auto">
              <a:xfrm>
                <a:off x="2736" y="1200"/>
                <a:ext cx="3" cy="95"/>
              </a:xfrm>
              <a:custGeom>
                <a:avLst/>
                <a:gdLst>
                  <a:gd name="T0" fmla="*/ 0 w 3"/>
                  <a:gd name="T1" fmla="*/ 26 h 105"/>
                  <a:gd name="T2" fmla="*/ 3 w 3"/>
                  <a:gd name="T3" fmla="*/ 0 h 105"/>
                  <a:gd name="T4" fmla="*/ 0 60000 65536"/>
                  <a:gd name="T5" fmla="*/ 0 60000 65536"/>
                  <a:gd name="T6" fmla="*/ 0 w 3"/>
                  <a:gd name="T7" fmla="*/ 0 h 105"/>
                  <a:gd name="T8" fmla="*/ 3 w 3"/>
                  <a:gd name="T9" fmla="*/ 105 h 10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5">
                    <a:moveTo>
                      <a:pt x="0" y="105"/>
                    </a:moveTo>
                    <a:lnTo>
                      <a:pt x="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70" name="Line 28"/>
              <p:cNvSpPr>
                <a:spLocks noChangeShapeType="1"/>
              </p:cNvSpPr>
              <p:nvPr/>
            </p:nvSpPr>
            <p:spPr bwMode="auto">
              <a:xfrm rot="10800000">
                <a:off x="4351" y="121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71" name="Freeform 29"/>
              <p:cNvSpPr/>
              <p:nvPr/>
            </p:nvSpPr>
            <p:spPr bwMode="auto">
              <a:xfrm>
                <a:off x="1155" y="1559"/>
                <a:ext cx="3653" cy="1"/>
              </a:xfrm>
              <a:custGeom>
                <a:avLst/>
                <a:gdLst>
                  <a:gd name="T0" fmla="*/ 0 w 3543"/>
                  <a:gd name="T1" fmla="*/ 0 h 1"/>
                  <a:gd name="T2" fmla="*/ 5435 w 3543"/>
                  <a:gd name="T3" fmla="*/ 0 h 1"/>
                  <a:gd name="T4" fmla="*/ 0 60000 65536"/>
                  <a:gd name="T5" fmla="*/ 0 60000 65536"/>
                  <a:gd name="T6" fmla="*/ 0 w 3543"/>
                  <a:gd name="T7" fmla="*/ 0 h 1"/>
                  <a:gd name="T8" fmla="*/ 3543 w 354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43" h="1">
                    <a:moveTo>
                      <a:pt x="0" y="0"/>
                    </a:moveTo>
                    <a:lnTo>
                      <a:pt x="354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72" name="Line 30"/>
              <p:cNvSpPr>
                <a:spLocks noChangeShapeType="1"/>
              </p:cNvSpPr>
              <p:nvPr/>
            </p:nvSpPr>
            <p:spPr bwMode="auto">
              <a:xfrm>
                <a:off x="4351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73" name="Freeform 31"/>
              <p:cNvSpPr/>
              <p:nvPr/>
            </p:nvSpPr>
            <p:spPr bwMode="auto">
              <a:xfrm>
                <a:off x="1155" y="1863"/>
                <a:ext cx="3656" cy="1"/>
              </a:xfrm>
              <a:custGeom>
                <a:avLst/>
                <a:gdLst>
                  <a:gd name="T0" fmla="*/ 0 w 3546"/>
                  <a:gd name="T1" fmla="*/ 0 h 2"/>
                  <a:gd name="T2" fmla="*/ 5438 w 3546"/>
                  <a:gd name="T3" fmla="*/ 1 h 2"/>
                  <a:gd name="T4" fmla="*/ 0 60000 65536"/>
                  <a:gd name="T5" fmla="*/ 0 60000 65536"/>
                  <a:gd name="T6" fmla="*/ 0 w 3546"/>
                  <a:gd name="T7" fmla="*/ 0 h 2"/>
                  <a:gd name="T8" fmla="*/ 3546 w 354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46" h="2">
                    <a:moveTo>
                      <a:pt x="0" y="0"/>
                    </a:moveTo>
                    <a:lnTo>
                      <a:pt x="3546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74" name="Line 32"/>
              <p:cNvSpPr>
                <a:spLocks noChangeShapeType="1"/>
              </p:cNvSpPr>
              <p:nvPr/>
            </p:nvSpPr>
            <p:spPr bwMode="auto">
              <a:xfrm>
                <a:off x="2725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75" name="Line 33"/>
              <p:cNvSpPr>
                <a:spLocks noChangeShapeType="1"/>
              </p:cNvSpPr>
              <p:nvPr/>
            </p:nvSpPr>
            <p:spPr bwMode="auto">
              <a:xfrm>
                <a:off x="1788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76" name="Line 34"/>
              <p:cNvSpPr>
                <a:spLocks noChangeShapeType="1"/>
              </p:cNvSpPr>
              <p:nvPr/>
            </p:nvSpPr>
            <p:spPr bwMode="auto">
              <a:xfrm rot="10800000">
                <a:off x="1788" y="1778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77" name="Line 35"/>
              <p:cNvSpPr>
                <a:spLocks noChangeShapeType="1"/>
              </p:cNvSpPr>
              <p:nvPr/>
            </p:nvSpPr>
            <p:spPr bwMode="auto">
              <a:xfrm rot="10800000">
                <a:off x="2725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78" name="Line 36"/>
              <p:cNvSpPr>
                <a:spLocks noChangeShapeType="1"/>
              </p:cNvSpPr>
              <p:nvPr/>
            </p:nvSpPr>
            <p:spPr bwMode="auto">
              <a:xfrm rot="10800000">
                <a:off x="4351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79" name="Freeform 37"/>
              <p:cNvSpPr/>
              <p:nvPr/>
            </p:nvSpPr>
            <p:spPr bwMode="auto">
              <a:xfrm>
                <a:off x="1155" y="2432"/>
                <a:ext cx="3675" cy="1"/>
              </a:xfrm>
              <a:custGeom>
                <a:avLst/>
                <a:gdLst>
                  <a:gd name="T0" fmla="*/ 0 w 3564"/>
                  <a:gd name="T1" fmla="*/ 0 h 1"/>
                  <a:gd name="T2" fmla="*/ 5474 w 3564"/>
                  <a:gd name="T3" fmla="*/ 0 h 1"/>
                  <a:gd name="T4" fmla="*/ 0 60000 65536"/>
                  <a:gd name="T5" fmla="*/ 0 60000 65536"/>
                  <a:gd name="T6" fmla="*/ 0 w 3564"/>
                  <a:gd name="T7" fmla="*/ 0 h 1"/>
                  <a:gd name="T8" fmla="*/ 3564 w 356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64" h="1">
                    <a:moveTo>
                      <a:pt x="0" y="0"/>
                    </a:moveTo>
                    <a:lnTo>
                      <a:pt x="3564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80" name="Line 38"/>
              <p:cNvSpPr>
                <a:spLocks noChangeShapeType="1"/>
              </p:cNvSpPr>
              <p:nvPr/>
            </p:nvSpPr>
            <p:spPr bwMode="auto">
              <a:xfrm>
                <a:off x="4351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81" name="Freeform 39"/>
              <p:cNvSpPr/>
              <p:nvPr/>
            </p:nvSpPr>
            <p:spPr bwMode="auto">
              <a:xfrm>
                <a:off x="1155" y="2736"/>
                <a:ext cx="3647" cy="1"/>
              </a:xfrm>
              <a:custGeom>
                <a:avLst/>
                <a:gdLst>
                  <a:gd name="T0" fmla="*/ 0 w 3647"/>
                  <a:gd name="T1" fmla="*/ 0 h 1"/>
                  <a:gd name="T2" fmla="*/ 3647 w 3647"/>
                  <a:gd name="T3" fmla="*/ 1 h 1"/>
                  <a:gd name="T4" fmla="*/ 0 60000 65536"/>
                  <a:gd name="T5" fmla="*/ 0 60000 65536"/>
                  <a:gd name="T6" fmla="*/ 0 w 3647"/>
                  <a:gd name="T7" fmla="*/ 0 h 1"/>
                  <a:gd name="T8" fmla="*/ 3647 w 364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647" h="1">
                    <a:moveTo>
                      <a:pt x="0" y="0"/>
                    </a:moveTo>
                    <a:lnTo>
                      <a:pt x="3647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82" name="Line 40"/>
              <p:cNvSpPr>
                <a:spLocks noChangeShapeType="1"/>
              </p:cNvSpPr>
              <p:nvPr/>
            </p:nvSpPr>
            <p:spPr bwMode="auto">
              <a:xfrm>
                <a:off x="2725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83" name="Line 41"/>
              <p:cNvSpPr>
                <a:spLocks noChangeShapeType="1"/>
              </p:cNvSpPr>
              <p:nvPr/>
            </p:nvSpPr>
            <p:spPr bwMode="auto">
              <a:xfrm>
                <a:off x="1788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84" name="Line 42"/>
              <p:cNvSpPr>
                <a:spLocks noChangeShapeType="1"/>
              </p:cNvSpPr>
              <p:nvPr/>
            </p:nvSpPr>
            <p:spPr bwMode="auto">
              <a:xfrm rot="10800000">
                <a:off x="1788" y="2652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85" name="Line 43"/>
              <p:cNvSpPr>
                <a:spLocks noChangeShapeType="1"/>
              </p:cNvSpPr>
              <p:nvPr/>
            </p:nvSpPr>
            <p:spPr bwMode="auto">
              <a:xfrm rot="10800000">
                <a:off x="2725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86" name="Line 44"/>
              <p:cNvSpPr>
                <a:spLocks noChangeShapeType="1"/>
              </p:cNvSpPr>
              <p:nvPr/>
            </p:nvSpPr>
            <p:spPr bwMode="auto">
              <a:xfrm rot="10800000">
                <a:off x="4351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87" name="AutoShape 45"/>
              <p:cNvSpPr>
                <a:spLocks noChangeArrowheads="1"/>
              </p:cNvSpPr>
              <p:nvPr/>
            </p:nvSpPr>
            <p:spPr bwMode="auto">
              <a:xfrm rot="-5400000">
                <a:off x="1700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0588" name="Freeform 46"/>
              <p:cNvSpPr/>
              <p:nvPr/>
            </p:nvSpPr>
            <p:spPr bwMode="auto">
              <a:xfrm>
                <a:off x="1416" y="1148"/>
                <a:ext cx="198" cy="2026"/>
              </a:xfrm>
              <a:custGeom>
                <a:avLst/>
                <a:gdLst>
                  <a:gd name="T0" fmla="*/ 198 w 198"/>
                  <a:gd name="T1" fmla="*/ 0 h 2026"/>
                  <a:gd name="T2" fmla="*/ 0 w 198"/>
                  <a:gd name="T3" fmla="*/ 0 h 2026"/>
                  <a:gd name="T4" fmla="*/ 6 w 198"/>
                  <a:gd name="T5" fmla="*/ 2026 h 2026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26"/>
                  <a:gd name="T11" fmla="*/ 198 w 198"/>
                  <a:gd name="T12" fmla="*/ 2026 h 20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26">
                    <a:moveTo>
                      <a:pt x="198" y="0"/>
                    </a:moveTo>
                    <a:lnTo>
                      <a:pt x="0" y="0"/>
                    </a:lnTo>
                    <a:lnTo>
                      <a:pt x="6" y="202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89" name="Freeform 47"/>
              <p:cNvSpPr/>
              <p:nvPr/>
            </p:nvSpPr>
            <p:spPr bwMode="auto">
              <a:xfrm>
                <a:off x="141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90" name="Freeform 48"/>
              <p:cNvSpPr/>
              <p:nvPr/>
            </p:nvSpPr>
            <p:spPr bwMode="auto">
              <a:xfrm>
                <a:off x="1422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91" name="Line 49"/>
              <p:cNvSpPr>
                <a:spLocks noChangeShapeType="1"/>
              </p:cNvSpPr>
              <p:nvPr/>
            </p:nvSpPr>
            <p:spPr bwMode="auto">
              <a:xfrm>
                <a:off x="1419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92" name="Freeform 50"/>
              <p:cNvSpPr/>
              <p:nvPr/>
            </p:nvSpPr>
            <p:spPr bwMode="auto">
              <a:xfrm>
                <a:off x="3979" y="1148"/>
                <a:ext cx="198" cy="2023"/>
              </a:xfrm>
              <a:custGeom>
                <a:avLst/>
                <a:gdLst>
                  <a:gd name="T0" fmla="*/ 198 w 198"/>
                  <a:gd name="T1" fmla="*/ 0 h 2023"/>
                  <a:gd name="T2" fmla="*/ 0 w 198"/>
                  <a:gd name="T3" fmla="*/ 0 h 2023"/>
                  <a:gd name="T4" fmla="*/ 2 w 198"/>
                  <a:gd name="T5" fmla="*/ 2023 h 2023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23"/>
                  <a:gd name="T11" fmla="*/ 198 w 198"/>
                  <a:gd name="T12" fmla="*/ 2023 h 202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23">
                    <a:moveTo>
                      <a:pt x="198" y="0"/>
                    </a:moveTo>
                    <a:lnTo>
                      <a:pt x="0" y="0"/>
                    </a:lnTo>
                    <a:lnTo>
                      <a:pt x="2" y="202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93" name="Freeform 51"/>
              <p:cNvSpPr/>
              <p:nvPr/>
            </p:nvSpPr>
            <p:spPr bwMode="auto">
              <a:xfrm>
                <a:off x="3982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94" name="Freeform 52"/>
              <p:cNvSpPr/>
              <p:nvPr/>
            </p:nvSpPr>
            <p:spPr bwMode="auto">
              <a:xfrm>
                <a:off x="3985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95" name="Line 53"/>
              <p:cNvSpPr>
                <a:spLocks noChangeShapeType="1"/>
              </p:cNvSpPr>
              <p:nvPr/>
            </p:nvSpPr>
            <p:spPr bwMode="auto">
              <a:xfrm>
                <a:off x="3982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96" name="Freeform 54"/>
              <p:cNvSpPr/>
              <p:nvPr/>
            </p:nvSpPr>
            <p:spPr bwMode="auto">
              <a:xfrm>
                <a:off x="2347" y="1148"/>
                <a:ext cx="198" cy="2024"/>
              </a:xfrm>
              <a:custGeom>
                <a:avLst/>
                <a:gdLst>
                  <a:gd name="T0" fmla="*/ 295 w 192"/>
                  <a:gd name="T1" fmla="*/ 0 h 2224"/>
                  <a:gd name="T2" fmla="*/ 0 w 192"/>
                  <a:gd name="T3" fmla="*/ 0 h 2224"/>
                  <a:gd name="T4" fmla="*/ 2 w 192"/>
                  <a:gd name="T5" fmla="*/ 594 h 2224"/>
                  <a:gd name="T6" fmla="*/ 0 60000 65536"/>
                  <a:gd name="T7" fmla="*/ 0 60000 65536"/>
                  <a:gd name="T8" fmla="*/ 0 60000 65536"/>
                  <a:gd name="T9" fmla="*/ 0 w 192"/>
                  <a:gd name="T10" fmla="*/ 0 h 2224"/>
                  <a:gd name="T11" fmla="*/ 192 w 192"/>
                  <a:gd name="T12" fmla="*/ 2224 h 22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2" h="2224">
                    <a:moveTo>
                      <a:pt x="192" y="0"/>
                    </a:moveTo>
                    <a:lnTo>
                      <a:pt x="0" y="0"/>
                    </a:lnTo>
                    <a:lnTo>
                      <a:pt x="2" y="222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97" name="Freeform 55"/>
              <p:cNvSpPr/>
              <p:nvPr/>
            </p:nvSpPr>
            <p:spPr bwMode="auto">
              <a:xfrm>
                <a:off x="235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98" name="Freeform 56"/>
              <p:cNvSpPr/>
              <p:nvPr/>
            </p:nvSpPr>
            <p:spPr bwMode="auto">
              <a:xfrm>
                <a:off x="2353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599" name="Line 57"/>
              <p:cNvSpPr>
                <a:spLocks noChangeShapeType="1"/>
              </p:cNvSpPr>
              <p:nvPr/>
            </p:nvSpPr>
            <p:spPr bwMode="auto">
              <a:xfrm>
                <a:off x="2350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600" name="Freeform 58"/>
              <p:cNvSpPr/>
              <p:nvPr/>
            </p:nvSpPr>
            <p:spPr bwMode="auto">
              <a:xfrm>
                <a:off x="1964" y="1135"/>
                <a:ext cx="198" cy="2030"/>
              </a:xfrm>
              <a:custGeom>
                <a:avLst/>
                <a:gdLst>
                  <a:gd name="T0" fmla="*/ 0 w 198"/>
                  <a:gd name="T1" fmla="*/ 0 h 2030"/>
                  <a:gd name="T2" fmla="*/ 198 w 198"/>
                  <a:gd name="T3" fmla="*/ 0 h 2030"/>
                  <a:gd name="T4" fmla="*/ 193 w 198"/>
                  <a:gd name="T5" fmla="*/ 2030 h 2030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30"/>
                  <a:gd name="T11" fmla="*/ 198 w 198"/>
                  <a:gd name="T12" fmla="*/ 2030 h 203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30">
                    <a:moveTo>
                      <a:pt x="0" y="0"/>
                    </a:moveTo>
                    <a:lnTo>
                      <a:pt x="198" y="0"/>
                    </a:lnTo>
                    <a:lnTo>
                      <a:pt x="193" y="203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601" name="Freeform 59"/>
              <p:cNvSpPr/>
              <p:nvPr/>
            </p:nvSpPr>
            <p:spPr bwMode="auto">
              <a:xfrm rot="10800000">
                <a:off x="195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602" name="Freeform 60"/>
              <p:cNvSpPr/>
              <p:nvPr/>
            </p:nvSpPr>
            <p:spPr bwMode="auto">
              <a:xfrm rot="10800000">
                <a:off x="1959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603" name="Freeform 61"/>
              <p:cNvSpPr/>
              <p:nvPr/>
            </p:nvSpPr>
            <p:spPr bwMode="auto">
              <a:xfrm>
                <a:off x="1958" y="2957"/>
                <a:ext cx="200" cy="1"/>
              </a:xfrm>
              <a:custGeom>
                <a:avLst/>
                <a:gdLst>
                  <a:gd name="T0" fmla="*/ 297 w 194"/>
                  <a:gd name="T1" fmla="*/ 0 h 1"/>
                  <a:gd name="T2" fmla="*/ 0 w 194"/>
                  <a:gd name="T3" fmla="*/ 0 h 1"/>
                  <a:gd name="T4" fmla="*/ 0 60000 65536"/>
                  <a:gd name="T5" fmla="*/ 0 60000 65536"/>
                  <a:gd name="T6" fmla="*/ 0 w 194"/>
                  <a:gd name="T7" fmla="*/ 0 h 1"/>
                  <a:gd name="T8" fmla="*/ 194 w 19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4" h="1">
                    <a:moveTo>
                      <a:pt x="19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604" name="Freeform 62"/>
              <p:cNvSpPr/>
              <p:nvPr/>
            </p:nvSpPr>
            <p:spPr bwMode="auto">
              <a:xfrm>
                <a:off x="2893" y="1135"/>
                <a:ext cx="199" cy="2047"/>
              </a:xfrm>
              <a:custGeom>
                <a:avLst/>
                <a:gdLst>
                  <a:gd name="T0" fmla="*/ 0 w 193"/>
                  <a:gd name="T1" fmla="*/ 0 h 2250"/>
                  <a:gd name="T2" fmla="*/ 295 w 193"/>
                  <a:gd name="T3" fmla="*/ 0 h 2250"/>
                  <a:gd name="T4" fmla="*/ 296 w 193"/>
                  <a:gd name="T5" fmla="*/ 599 h 2250"/>
                  <a:gd name="T6" fmla="*/ 0 60000 65536"/>
                  <a:gd name="T7" fmla="*/ 0 60000 65536"/>
                  <a:gd name="T8" fmla="*/ 0 60000 65536"/>
                  <a:gd name="T9" fmla="*/ 0 w 193"/>
                  <a:gd name="T10" fmla="*/ 0 h 2250"/>
                  <a:gd name="T11" fmla="*/ 193 w 193"/>
                  <a:gd name="T12" fmla="*/ 2250 h 225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3" h="2250">
                    <a:moveTo>
                      <a:pt x="0" y="0"/>
                    </a:moveTo>
                    <a:lnTo>
                      <a:pt x="192" y="0"/>
                    </a:lnTo>
                    <a:lnTo>
                      <a:pt x="193" y="225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605" name="Freeform 63"/>
              <p:cNvSpPr/>
              <p:nvPr/>
            </p:nvSpPr>
            <p:spPr bwMode="auto">
              <a:xfrm rot="10800000">
                <a:off x="289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606" name="Freeform 64"/>
              <p:cNvSpPr/>
              <p:nvPr/>
            </p:nvSpPr>
            <p:spPr bwMode="auto">
              <a:xfrm rot="10800000">
                <a:off x="2890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607" name="Freeform 65"/>
              <p:cNvSpPr/>
              <p:nvPr/>
            </p:nvSpPr>
            <p:spPr bwMode="auto">
              <a:xfrm>
                <a:off x="2895" y="2957"/>
                <a:ext cx="194" cy="1"/>
              </a:xfrm>
              <a:custGeom>
                <a:avLst/>
                <a:gdLst>
                  <a:gd name="T0" fmla="*/ 291 w 188"/>
                  <a:gd name="T1" fmla="*/ 0 h 1"/>
                  <a:gd name="T2" fmla="*/ 0 w 188"/>
                  <a:gd name="T3" fmla="*/ 0 h 1"/>
                  <a:gd name="T4" fmla="*/ 0 60000 65536"/>
                  <a:gd name="T5" fmla="*/ 0 60000 65536"/>
                  <a:gd name="T6" fmla="*/ 0 w 188"/>
                  <a:gd name="T7" fmla="*/ 0 h 1"/>
                  <a:gd name="T8" fmla="*/ 188 w 18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88" h="1">
                    <a:moveTo>
                      <a:pt x="18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608" name="Freeform 66"/>
              <p:cNvSpPr/>
              <p:nvPr/>
            </p:nvSpPr>
            <p:spPr bwMode="auto">
              <a:xfrm>
                <a:off x="4531" y="1135"/>
                <a:ext cx="203" cy="2027"/>
              </a:xfrm>
              <a:custGeom>
                <a:avLst/>
                <a:gdLst>
                  <a:gd name="T0" fmla="*/ 0 w 203"/>
                  <a:gd name="T1" fmla="*/ 0 h 2027"/>
                  <a:gd name="T2" fmla="*/ 198 w 203"/>
                  <a:gd name="T3" fmla="*/ 0 h 2027"/>
                  <a:gd name="T4" fmla="*/ 203 w 203"/>
                  <a:gd name="T5" fmla="*/ 2027 h 2027"/>
                  <a:gd name="T6" fmla="*/ 0 60000 65536"/>
                  <a:gd name="T7" fmla="*/ 0 60000 65536"/>
                  <a:gd name="T8" fmla="*/ 0 60000 65536"/>
                  <a:gd name="T9" fmla="*/ 0 w 203"/>
                  <a:gd name="T10" fmla="*/ 0 h 2027"/>
                  <a:gd name="T11" fmla="*/ 203 w 203"/>
                  <a:gd name="T12" fmla="*/ 2027 h 20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3" h="2027">
                    <a:moveTo>
                      <a:pt x="0" y="0"/>
                    </a:moveTo>
                    <a:lnTo>
                      <a:pt x="198" y="0"/>
                    </a:lnTo>
                    <a:lnTo>
                      <a:pt x="203" y="202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609" name="Freeform 67"/>
              <p:cNvSpPr/>
              <p:nvPr/>
            </p:nvSpPr>
            <p:spPr bwMode="auto">
              <a:xfrm rot="10800000">
                <a:off x="4528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610" name="Freeform 68"/>
              <p:cNvSpPr/>
              <p:nvPr/>
            </p:nvSpPr>
            <p:spPr bwMode="auto">
              <a:xfrm rot="10800000">
                <a:off x="4528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611" name="Freeform 69"/>
              <p:cNvSpPr/>
              <p:nvPr/>
            </p:nvSpPr>
            <p:spPr bwMode="auto">
              <a:xfrm rot="10800000">
                <a:off x="4524" y="295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0612" name="Rectangle 70"/>
              <p:cNvSpPr>
                <a:spLocks noChangeArrowheads="1"/>
              </p:cNvSpPr>
              <p:nvPr/>
            </p:nvSpPr>
            <p:spPr bwMode="auto">
              <a:xfrm>
                <a:off x="1204" y="3175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读  写  控  制  电  路</a:t>
                </a:r>
              </a:p>
            </p:txBody>
          </p:sp>
          <p:sp>
            <p:nvSpPr>
              <p:cNvPr id="150613" name="Rectangle 71"/>
              <p:cNvSpPr>
                <a:spLocks noChangeArrowheads="1"/>
              </p:cNvSpPr>
              <p:nvPr/>
            </p:nvSpPr>
            <p:spPr bwMode="auto">
              <a:xfrm>
                <a:off x="1204" y="3656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bIns="0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列  地  址  译  码  器</a:t>
                </a:r>
              </a:p>
            </p:txBody>
          </p:sp>
          <p:sp>
            <p:nvSpPr>
              <p:cNvPr id="150614" name="Text Box 72"/>
              <p:cNvSpPr txBox="1">
                <a:spLocks noChangeArrowheads="1"/>
              </p:cNvSpPr>
              <p:nvPr/>
            </p:nvSpPr>
            <p:spPr bwMode="auto">
              <a:xfrm rot="5400000">
                <a:off x="1689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50615" name="Text Box 73"/>
              <p:cNvSpPr txBox="1">
                <a:spLocks noChangeArrowheads="1"/>
              </p:cNvSpPr>
              <p:nvPr/>
            </p:nvSpPr>
            <p:spPr bwMode="auto">
              <a:xfrm rot="5400000">
                <a:off x="2620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50616" name="Text Box 74"/>
              <p:cNvSpPr txBox="1">
                <a:spLocks noChangeArrowheads="1"/>
              </p:cNvSpPr>
              <p:nvPr/>
            </p:nvSpPr>
            <p:spPr bwMode="auto">
              <a:xfrm rot="5400000">
                <a:off x="4252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50617" name="Rectangle 75"/>
              <p:cNvSpPr>
                <a:spLocks noChangeArrowheads="1"/>
              </p:cNvSpPr>
              <p:nvPr/>
            </p:nvSpPr>
            <p:spPr bwMode="auto">
              <a:xfrm>
                <a:off x="1615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0618" name="Rectangle 76"/>
              <p:cNvSpPr>
                <a:spLocks noChangeArrowheads="1"/>
              </p:cNvSpPr>
              <p:nvPr/>
            </p:nvSpPr>
            <p:spPr bwMode="auto">
              <a:xfrm>
                <a:off x="1615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0619" name="Rectangle 77"/>
              <p:cNvSpPr>
                <a:spLocks noChangeArrowheads="1"/>
              </p:cNvSpPr>
              <p:nvPr/>
            </p:nvSpPr>
            <p:spPr bwMode="auto">
              <a:xfrm>
                <a:off x="2546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0620" name="Rectangle 78"/>
              <p:cNvSpPr>
                <a:spLocks noChangeArrowheads="1"/>
              </p:cNvSpPr>
              <p:nvPr/>
            </p:nvSpPr>
            <p:spPr bwMode="auto">
              <a:xfrm>
                <a:off x="2546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0621" name="Rectangle 79"/>
              <p:cNvSpPr>
                <a:spLocks noChangeArrowheads="1"/>
              </p:cNvSpPr>
              <p:nvPr/>
            </p:nvSpPr>
            <p:spPr bwMode="auto">
              <a:xfrm>
                <a:off x="2546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0622" name="Rectangle 80"/>
              <p:cNvSpPr>
                <a:spLocks noChangeArrowheads="1"/>
              </p:cNvSpPr>
              <p:nvPr/>
            </p:nvSpPr>
            <p:spPr bwMode="auto">
              <a:xfrm>
                <a:off x="4178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0623" name="Rectangle 81"/>
              <p:cNvSpPr>
                <a:spLocks noChangeArrowheads="1"/>
              </p:cNvSpPr>
              <p:nvPr/>
            </p:nvSpPr>
            <p:spPr bwMode="auto">
              <a:xfrm>
                <a:off x="4178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0624" name="Rectangle 82"/>
              <p:cNvSpPr>
                <a:spLocks noChangeArrowheads="1"/>
              </p:cNvSpPr>
              <p:nvPr/>
            </p:nvSpPr>
            <p:spPr bwMode="auto">
              <a:xfrm>
                <a:off x="4178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0625" name="AutoShape 83"/>
              <p:cNvSpPr>
                <a:spLocks noChangeArrowheads="1"/>
              </p:cNvSpPr>
              <p:nvPr/>
            </p:nvSpPr>
            <p:spPr bwMode="auto">
              <a:xfrm rot="-5400000">
                <a:off x="2631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0626" name="AutoShape 84"/>
              <p:cNvSpPr>
                <a:spLocks noChangeArrowheads="1"/>
              </p:cNvSpPr>
              <p:nvPr/>
            </p:nvSpPr>
            <p:spPr bwMode="auto">
              <a:xfrm rot="-5400000">
                <a:off x="4263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0627" name="Text Box 85"/>
              <p:cNvSpPr txBox="1">
                <a:spLocks noChangeArrowheads="1"/>
              </p:cNvSpPr>
              <p:nvPr/>
            </p:nvSpPr>
            <p:spPr bwMode="auto">
              <a:xfrm>
                <a:off x="4796" y="861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读选择线</a:t>
                </a:r>
              </a:p>
            </p:txBody>
          </p:sp>
          <p:sp>
            <p:nvSpPr>
              <p:cNvPr id="150628" name="Text Box 86"/>
              <p:cNvSpPr txBox="1">
                <a:spLocks noChangeArrowheads="1"/>
              </p:cNvSpPr>
              <p:nvPr/>
            </p:nvSpPr>
            <p:spPr bwMode="auto">
              <a:xfrm>
                <a:off x="4806" y="115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写选择线</a:t>
                </a:r>
              </a:p>
            </p:txBody>
          </p:sp>
          <p:sp>
            <p:nvSpPr>
              <p:cNvPr id="150629" name="Line 87"/>
              <p:cNvSpPr>
                <a:spLocks noChangeShapeType="1"/>
              </p:cNvSpPr>
              <p:nvPr/>
            </p:nvSpPr>
            <p:spPr bwMode="auto">
              <a:xfrm>
                <a:off x="4817" y="3306"/>
                <a:ext cx="3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0630" name="Text Box 88"/>
              <p:cNvSpPr txBox="1">
                <a:spLocks noChangeArrowheads="1"/>
              </p:cNvSpPr>
              <p:nvPr/>
            </p:nvSpPr>
            <p:spPr bwMode="auto">
              <a:xfrm>
                <a:off x="4906" y="3024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50631" name="Text Box 89"/>
              <p:cNvSpPr txBox="1">
                <a:spLocks noChangeArrowheads="1"/>
              </p:cNvSpPr>
              <p:nvPr/>
            </p:nvSpPr>
            <p:spPr bwMode="auto">
              <a:xfrm>
                <a:off x="3296" y="1929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单元</a:t>
                </a:r>
              </a:p>
            </p:txBody>
          </p:sp>
          <p:sp>
            <p:nvSpPr>
              <p:cNvPr id="150632" name="Text Box 90"/>
              <p:cNvSpPr txBox="1">
                <a:spLocks noChangeArrowheads="1"/>
              </p:cNvSpPr>
              <p:nvPr/>
            </p:nvSpPr>
            <p:spPr bwMode="auto">
              <a:xfrm>
                <a:off x="3296" y="2108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电路</a:t>
                </a:r>
              </a:p>
            </p:txBody>
          </p:sp>
          <p:sp>
            <p:nvSpPr>
              <p:cNvPr id="150633" name="Text Box 91"/>
              <p:cNvSpPr txBox="1">
                <a:spLocks noChangeArrowheads="1"/>
              </p:cNvSpPr>
              <p:nvPr/>
            </p:nvSpPr>
            <p:spPr bwMode="auto">
              <a:xfrm>
                <a:off x="503" y="936"/>
                <a:ext cx="309" cy="2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行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地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址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译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码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器</a:t>
                </a:r>
              </a:p>
            </p:txBody>
          </p:sp>
          <p:sp>
            <p:nvSpPr>
              <p:cNvPr id="150634" name="Text Box 92"/>
              <p:cNvSpPr txBox="1">
                <a:spLocks noChangeArrowheads="1"/>
              </p:cNvSpPr>
              <p:nvPr/>
            </p:nvSpPr>
            <p:spPr bwMode="auto">
              <a:xfrm>
                <a:off x="907" y="86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50635" name="Text Box 93"/>
              <p:cNvSpPr txBox="1">
                <a:spLocks noChangeArrowheads="1"/>
              </p:cNvSpPr>
              <p:nvPr/>
            </p:nvSpPr>
            <p:spPr bwMode="auto">
              <a:xfrm>
                <a:off x="907" y="115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50636" name="Text Box 94"/>
              <p:cNvSpPr txBox="1">
                <a:spLocks noChangeArrowheads="1"/>
              </p:cNvSpPr>
              <p:nvPr/>
            </p:nvSpPr>
            <p:spPr bwMode="auto">
              <a:xfrm>
                <a:off x="907" y="145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50637" name="Text Box 95"/>
              <p:cNvSpPr txBox="1">
                <a:spLocks noChangeArrowheads="1"/>
              </p:cNvSpPr>
              <p:nvPr/>
            </p:nvSpPr>
            <p:spPr bwMode="auto">
              <a:xfrm>
                <a:off x="907" y="176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50638" name="Text Box 96"/>
              <p:cNvSpPr txBox="1">
                <a:spLocks noChangeArrowheads="1"/>
              </p:cNvSpPr>
              <p:nvPr/>
            </p:nvSpPr>
            <p:spPr bwMode="auto">
              <a:xfrm>
                <a:off x="854" y="2294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50639" name="Text Box 97"/>
              <p:cNvSpPr txBox="1">
                <a:spLocks noChangeArrowheads="1"/>
              </p:cNvSpPr>
              <p:nvPr/>
            </p:nvSpPr>
            <p:spPr bwMode="auto">
              <a:xfrm>
                <a:off x="858" y="2592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50640" name="Line 98"/>
              <p:cNvSpPr>
                <a:spLocks noChangeShapeType="1"/>
              </p:cNvSpPr>
              <p:nvPr/>
            </p:nvSpPr>
            <p:spPr bwMode="auto">
              <a:xfrm>
                <a:off x="1887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0641" name="Line 99"/>
              <p:cNvSpPr>
                <a:spLocks noChangeShapeType="1"/>
              </p:cNvSpPr>
              <p:nvPr/>
            </p:nvSpPr>
            <p:spPr bwMode="auto">
              <a:xfrm>
                <a:off x="2832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0642" name="Text Box 100"/>
              <p:cNvSpPr txBox="1">
                <a:spLocks noChangeArrowheads="1"/>
              </p:cNvSpPr>
              <p:nvPr/>
            </p:nvSpPr>
            <p:spPr bwMode="auto">
              <a:xfrm>
                <a:off x="2613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50643" name="Line 101"/>
              <p:cNvSpPr>
                <a:spLocks noChangeShapeType="1"/>
              </p:cNvSpPr>
              <p:nvPr/>
            </p:nvSpPr>
            <p:spPr bwMode="auto">
              <a:xfrm>
                <a:off x="4473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0644" name="Text Box 102"/>
              <p:cNvSpPr txBox="1">
                <a:spLocks noChangeArrowheads="1"/>
              </p:cNvSpPr>
              <p:nvPr/>
            </p:nvSpPr>
            <p:spPr bwMode="auto">
              <a:xfrm>
                <a:off x="4176" y="3420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50645" name="Group 103"/>
              <p:cNvGrpSpPr/>
              <p:nvPr/>
            </p:nvGrpSpPr>
            <p:grpSpPr bwMode="auto">
              <a:xfrm>
                <a:off x="1492" y="3918"/>
                <a:ext cx="284" cy="323"/>
                <a:chOff x="1584" y="3918"/>
                <a:chExt cx="284" cy="323"/>
              </a:xfrm>
            </p:grpSpPr>
            <p:sp>
              <p:nvSpPr>
                <p:cNvPr id="150681" name="Line 104"/>
                <p:cNvSpPr>
                  <a:spLocks noChangeShapeType="1"/>
                </p:cNvSpPr>
                <p:nvPr/>
              </p:nvSpPr>
              <p:spPr bwMode="auto">
                <a:xfrm rot="-5400000">
                  <a:off x="149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0682" name="Text Box 105"/>
                <p:cNvSpPr txBox="1">
                  <a:spLocks noChangeArrowheads="1"/>
                </p:cNvSpPr>
                <p:nvPr/>
              </p:nvSpPr>
              <p:spPr bwMode="auto">
                <a:xfrm>
                  <a:off x="1584" y="3991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</p:grpSp>
          <p:grpSp>
            <p:nvGrpSpPr>
              <p:cNvPr id="150646" name="Group 106"/>
              <p:cNvGrpSpPr/>
              <p:nvPr/>
            </p:nvGrpSpPr>
            <p:grpSpPr bwMode="auto">
              <a:xfrm>
                <a:off x="2234" y="3918"/>
                <a:ext cx="285" cy="324"/>
                <a:chOff x="2355" y="3918"/>
                <a:chExt cx="285" cy="324"/>
              </a:xfrm>
            </p:grpSpPr>
            <p:sp>
              <p:nvSpPr>
                <p:cNvPr id="150679" name="Line 107"/>
                <p:cNvSpPr>
                  <a:spLocks noChangeShapeType="1"/>
                </p:cNvSpPr>
                <p:nvPr/>
              </p:nvSpPr>
              <p:spPr bwMode="auto">
                <a:xfrm rot="-5400000">
                  <a:off x="224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0680" name="Text Box 108"/>
                <p:cNvSpPr txBox="1">
                  <a:spLocks noChangeArrowheads="1"/>
                </p:cNvSpPr>
                <p:nvPr/>
              </p:nvSpPr>
              <p:spPr bwMode="auto">
                <a:xfrm>
                  <a:off x="2356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3</a:t>
                  </a:r>
                </a:p>
              </p:txBody>
            </p:sp>
          </p:grpSp>
          <p:grpSp>
            <p:nvGrpSpPr>
              <p:cNvPr id="150647" name="Group 109"/>
              <p:cNvGrpSpPr/>
              <p:nvPr/>
            </p:nvGrpSpPr>
            <p:grpSpPr bwMode="auto">
              <a:xfrm>
                <a:off x="2978" y="3918"/>
                <a:ext cx="284" cy="324"/>
                <a:chOff x="3102" y="3918"/>
                <a:chExt cx="284" cy="324"/>
              </a:xfrm>
            </p:grpSpPr>
            <p:sp>
              <p:nvSpPr>
                <p:cNvPr id="150677" name="Line 110"/>
                <p:cNvSpPr>
                  <a:spLocks noChangeShapeType="1"/>
                </p:cNvSpPr>
                <p:nvPr/>
              </p:nvSpPr>
              <p:spPr bwMode="auto">
                <a:xfrm rot="-5400000">
                  <a:off x="300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0678" name="Text Box 111"/>
                <p:cNvSpPr txBox="1">
                  <a:spLocks noChangeArrowheads="1"/>
                </p:cNvSpPr>
                <p:nvPr/>
              </p:nvSpPr>
              <p:spPr bwMode="auto">
                <a:xfrm>
                  <a:off x="3102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</p:grpSp>
          <p:grpSp>
            <p:nvGrpSpPr>
              <p:cNvPr id="150648" name="Group 112"/>
              <p:cNvGrpSpPr/>
              <p:nvPr/>
            </p:nvGrpSpPr>
            <p:grpSpPr bwMode="auto">
              <a:xfrm>
                <a:off x="3721" y="3918"/>
                <a:ext cx="284" cy="324"/>
                <a:chOff x="3844" y="3918"/>
                <a:chExt cx="284" cy="324"/>
              </a:xfrm>
            </p:grpSpPr>
            <p:sp>
              <p:nvSpPr>
                <p:cNvPr id="150675" name="Line 113"/>
                <p:cNvSpPr>
                  <a:spLocks noChangeShapeType="1"/>
                </p:cNvSpPr>
                <p:nvPr/>
              </p:nvSpPr>
              <p:spPr bwMode="auto">
                <a:xfrm rot="-5400000">
                  <a:off x="375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0676" name="Text Box 114"/>
                <p:cNvSpPr txBox="1">
                  <a:spLocks noChangeArrowheads="1"/>
                </p:cNvSpPr>
                <p:nvPr/>
              </p:nvSpPr>
              <p:spPr bwMode="auto">
                <a:xfrm>
                  <a:off x="3844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</p:grpSp>
          <p:grpSp>
            <p:nvGrpSpPr>
              <p:cNvPr id="150649" name="Group 115"/>
              <p:cNvGrpSpPr/>
              <p:nvPr/>
            </p:nvGrpSpPr>
            <p:grpSpPr bwMode="auto">
              <a:xfrm>
                <a:off x="4464" y="3918"/>
                <a:ext cx="284" cy="323"/>
                <a:chOff x="4603" y="3918"/>
                <a:chExt cx="284" cy="323"/>
              </a:xfrm>
            </p:grpSpPr>
            <p:sp>
              <p:nvSpPr>
                <p:cNvPr id="150673" name="Line 116"/>
                <p:cNvSpPr>
                  <a:spLocks noChangeShapeType="1"/>
                </p:cNvSpPr>
                <p:nvPr/>
              </p:nvSpPr>
              <p:spPr bwMode="auto">
                <a:xfrm rot="-5400000">
                  <a:off x="4510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0674" name="Text Box 117"/>
                <p:cNvSpPr txBox="1">
                  <a:spLocks noChangeArrowheads="1"/>
                </p:cNvSpPr>
                <p:nvPr/>
              </p:nvSpPr>
              <p:spPr bwMode="auto">
                <a:xfrm>
                  <a:off x="4603" y="3991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</p:grpSp>
          <p:sp>
            <p:nvSpPr>
              <p:cNvPr id="150650" name="Line 118"/>
              <p:cNvSpPr>
                <a:spLocks noChangeShapeType="1"/>
              </p:cNvSpPr>
              <p:nvPr/>
            </p:nvSpPr>
            <p:spPr bwMode="auto">
              <a:xfrm>
                <a:off x="2689" y="1690"/>
                <a:ext cx="643" cy="39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0651" name="Line 119"/>
              <p:cNvSpPr>
                <a:spLocks noChangeShapeType="1"/>
              </p:cNvSpPr>
              <p:nvPr/>
            </p:nvSpPr>
            <p:spPr bwMode="auto">
              <a:xfrm>
                <a:off x="3976" y="2039"/>
                <a:ext cx="990" cy="21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0652" name="Line 120"/>
              <p:cNvSpPr>
                <a:spLocks noChangeShapeType="1"/>
              </p:cNvSpPr>
              <p:nvPr/>
            </p:nvSpPr>
            <p:spPr bwMode="auto">
              <a:xfrm>
                <a:off x="4718" y="1384"/>
                <a:ext cx="693" cy="13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0653" name="Text Box 121"/>
              <p:cNvSpPr txBox="1">
                <a:spLocks noChangeArrowheads="1"/>
              </p:cNvSpPr>
              <p:nvPr/>
            </p:nvSpPr>
            <p:spPr bwMode="auto">
              <a:xfrm>
                <a:off x="4844" y="2728"/>
                <a:ext cx="92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刷新放大器</a:t>
                </a:r>
              </a:p>
            </p:txBody>
          </p:sp>
          <p:sp>
            <p:nvSpPr>
              <p:cNvPr id="150654" name="Line 122"/>
              <p:cNvSpPr>
                <a:spLocks noChangeShapeType="1"/>
              </p:cNvSpPr>
              <p:nvPr/>
            </p:nvSpPr>
            <p:spPr bwMode="auto">
              <a:xfrm flipV="1">
                <a:off x="4520" y="2957"/>
                <a:ext cx="495" cy="4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150655" name="Group 123"/>
              <p:cNvGrpSpPr/>
              <p:nvPr/>
            </p:nvGrpSpPr>
            <p:grpSpPr bwMode="auto">
              <a:xfrm>
                <a:off x="4916" y="1726"/>
                <a:ext cx="277" cy="893"/>
                <a:chOff x="4920" y="1790"/>
                <a:chExt cx="277" cy="893"/>
              </a:xfrm>
            </p:grpSpPr>
            <p:sp>
              <p:nvSpPr>
                <p:cNvPr id="150669" name="Text Box 124"/>
                <p:cNvSpPr txBox="1">
                  <a:spLocks noChangeArrowheads="1"/>
                </p:cNvSpPr>
                <p:nvPr/>
              </p:nvSpPr>
              <p:spPr bwMode="auto">
                <a:xfrm>
                  <a:off x="4920" y="1790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写</a:t>
                  </a:r>
                </a:p>
              </p:txBody>
            </p:sp>
            <p:sp>
              <p:nvSpPr>
                <p:cNvPr id="150670" name="Text Box 125"/>
                <p:cNvSpPr txBox="1">
                  <a:spLocks noChangeArrowheads="1"/>
                </p:cNvSpPr>
                <p:nvPr/>
              </p:nvSpPr>
              <p:spPr bwMode="auto">
                <a:xfrm>
                  <a:off x="4920" y="200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</a:p>
              </p:txBody>
            </p:sp>
            <p:sp>
              <p:nvSpPr>
                <p:cNvPr id="150671" name="Text Box 126"/>
                <p:cNvSpPr txBox="1">
                  <a:spLocks noChangeArrowheads="1"/>
                </p:cNvSpPr>
                <p:nvPr/>
              </p:nvSpPr>
              <p:spPr bwMode="auto">
                <a:xfrm>
                  <a:off x="4920" y="2219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50672" name="Text Box 127"/>
                <p:cNvSpPr txBox="1">
                  <a:spLocks noChangeArrowheads="1"/>
                </p:cNvSpPr>
                <p:nvPr/>
              </p:nvSpPr>
              <p:spPr bwMode="auto">
                <a:xfrm>
                  <a:off x="4920" y="243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</a:p>
              </p:txBody>
            </p:sp>
          </p:grpSp>
          <p:grpSp>
            <p:nvGrpSpPr>
              <p:cNvPr id="150656" name="Group 128"/>
              <p:cNvGrpSpPr/>
              <p:nvPr/>
            </p:nvGrpSpPr>
            <p:grpSpPr bwMode="auto">
              <a:xfrm>
                <a:off x="5372" y="1505"/>
                <a:ext cx="277" cy="879"/>
                <a:chOff x="5394" y="1612"/>
                <a:chExt cx="277" cy="879"/>
              </a:xfrm>
            </p:grpSpPr>
            <p:sp>
              <p:nvSpPr>
                <p:cNvPr id="150665" name="Text Box 129"/>
                <p:cNvSpPr txBox="1">
                  <a:spLocks noChangeArrowheads="1"/>
                </p:cNvSpPr>
                <p:nvPr/>
              </p:nvSpPr>
              <p:spPr bwMode="auto">
                <a:xfrm>
                  <a:off x="5394" y="161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</a:t>
                  </a:r>
                </a:p>
              </p:txBody>
            </p:sp>
            <p:sp>
              <p:nvSpPr>
                <p:cNvPr id="150666" name="Text Box 130"/>
                <p:cNvSpPr txBox="1">
                  <a:spLocks noChangeArrowheads="1"/>
                </p:cNvSpPr>
                <p:nvPr/>
              </p:nvSpPr>
              <p:spPr bwMode="auto">
                <a:xfrm>
                  <a:off x="5394" y="182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</a:p>
              </p:txBody>
            </p:sp>
            <p:sp>
              <p:nvSpPr>
                <p:cNvPr id="150667" name="Text Box 131"/>
                <p:cNvSpPr txBox="1">
                  <a:spLocks noChangeArrowheads="1"/>
                </p:cNvSpPr>
                <p:nvPr/>
              </p:nvSpPr>
              <p:spPr bwMode="auto">
                <a:xfrm>
                  <a:off x="5394" y="203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50668" name="Text Box 132"/>
                <p:cNvSpPr txBox="1">
                  <a:spLocks noChangeArrowheads="1"/>
                </p:cNvSpPr>
                <p:nvPr/>
              </p:nvSpPr>
              <p:spPr bwMode="auto">
                <a:xfrm>
                  <a:off x="5394" y="224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</a:p>
              </p:txBody>
            </p:sp>
          </p:grpSp>
          <p:grpSp>
            <p:nvGrpSpPr>
              <p:cNvPr id="150657" name="Group 133"/>
              <p:cNvGrpSpPr/>
              <p:nvPr/>
            </p:nvGrpSpPr>
            <p:grpSpPr bwMode="auto">
              <a:xfrm>
                <a:off x="3320" y="915"/>
                <a:ext cx="372" cy="2170"/>
                <a:chOff x="3324" y="979"/>
                <a:chExt cx="372" cy="2170"/>
              </a:xfrm>
            </p:grpSpPr>
            <p:sp>
              <p:nvSpPr>
                <p:cNvPr id="150661" name="Text Box 134"/>
                <p:cNvSpPr txBox="1">
                  <a:spLocks noChangeArrowheads="1"/>
                </p:cNvSpPr>
                <p:nvPr/>
              </p:nvSpPr>
              <p:spPr bwMode="auto">
                <a:xfrm>
                  <a:off x="3324" y="979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50662" name="Text Box 135"/>
                <p:cNvSpPr txBox="1">
                  <a:spLocks noChangeArrowheads="1"/>
                </p:cNvSpPr>
                <p:nvPr/>
              </p:nvSpPr>
              <p:spPr bwMode="auto">
                <a:xfrm>
                  <a:off x="3324" y="150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50663" name="Text Box 136"/>
                <p:cNvSpPr txBox="1">
                  <a:spLocks noChangeArrowheads="1"/>
                </p:cNvSpPr>
                <p:nvPr/>
              </p:nvSpPr>
              <p:spPr bwMode="auto">
                <a:xfrm>
                  <a:off x="3324" y="240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50664" name="Text Box 137"/>
                <p:cNvSpPr txBox="1">
                  <a:spLocks noChangeArrowheads="1"/>
                </p:cNvSpPr>
                <p:nvPr/>
              </p:nvSpPr>
              <p:spPr bwMode="auto">
                <a:xfrm>
                  <a:off x="3324" y="2784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</p:grpSp>
          <p:sp>
            <p:nvSpPr>
              <p:cNvPr id="150658" name="Text Box 138"/>
              <p:cNvSpPr txBox="1">
                <a:spLocks noChangeArrowheads="1"/>
              </p:cNvSpPr>
              <p:nvPr/>
            </p:nvSpPr>
            <p:spPr bwMode="auto">
              <a:xfrm rot="5400000">
                <a:off x="916" y="1976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50659" name="Text Box 139"/>
              <p:cNvSpPr txBox="1">
                <a:spLocks noChangeArrowheads="1"/>
              </p:cNvSpPr>
              <p:nvPr/>
            </p:nvSpPr>
            <p:spPr bwMode="auto">
              <a:xfrm>
                <a:off x="1656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50660" name="Text Box 140"/>
              <p:cNvSpPr txBox="1">
                <a:spLocks noChangeArrowheads="1"/>
              </p:cNvSpPr>
              <p:nvPr/>
            </p:nvSpPr>
            <p:spPr bwMode="auto">
              <a:xfrm>
                <a:off x="3350" y="3312"/>
                <a:ext cx="340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</p:grpSp>
      <p:grpSp>
        <p:nvGrpSpPr>
          <p:cNvPr id="150531" name="Group 141"/>
          <p:cNvGrpSpPr/>
          <p:nvPr/>
        </p:nvGrpSpPr>
        <p:grpSpPr bwMode="auto">
          <a:xfrm>
            <a:off x="1833563" y="3711575"/>
            <a:ext cx="5791200" cy="646113"/>
            <a:chOff x="1155" y="2338"/>
            <a:chExt cx="3648" cy="407"/>
          </a:xfrm>
        </p:grpSpPr>
        <p:sp>
          <p:nvSpPr>
            <p:cNvPr id="150547" name="Freeform 142"/>
            <p:cNvSpPr/>
            <p:nvPr/>
          </p:nvSpPr>
          <p:spPr bwMode="auto">
            <a:xfrm>
              <a:off x="1155" y="2740"/>
              <a:ext cx="3648" cy="5"/>
            </a:xfrm>
            <a:custGeom>
              <a:avLst/>
              <a:gdLst>
                <a:gd name="T0" fmla="*/ 0 w 3648"/>
                <a:gd name="T1" fmla="*/ 0 h 5"/>
                <a:gd name="T2" fmla="*/ 3648 w 3648"/>
                <a:gd name="T3" fmla="*/ 5 h 5"/>
                <a:gd name="T4" fmla="*/ 0 60000 65536"/>
                <a:gd name="T5" fmla="*/ 0 60000 65536"/>
                <a:gd name="T6" fmla="*/ 0 w 3648"/>
                <a:gd name="T7" fmla="*/ 0 h 5"/>
                <a:gd name="T8" fmla="*/ 3648 w 3648"/>
                <a:gd name="T9" fmla="*/ 5 h 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48" h="5">
                  <a:moveTo>
                    <a:pt x="0" y="0"/>
                  </a:moveTo>
                  <a:lnTo>
                    <a:pt x="3648" y="5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0548" name="Line 143"/>
            <p:cNvSpPr>
              <a:spLocks noChangeShapeType="1"/>
            </p:cNvSpPr>
            <p:nvPr/>
          </p:nvSpPr>
          <p:spPr bwMode="auto">
            <a:xfrm rot="10800000">
              <a:off x="1788" y="2656"/>
              <a:ext cx="0" cy="84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0549" name="Line 144"/>
            <p:cNvSpPr>
              <a:spLocks noChangeShapeType="1"/>
            </p:cNvSpPr>
            <p:nvPr/>
          </p:nvSpPr>
          <p:spPr bwMode="auto">
            <a:xfrm rot="10800000">
              <a:off x="2725" y="2658"/>
              <a:ext cx="0" cy="84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0550" name="Freeform 145"/>
            <p:cNvSpPr/>
            <p:nvPr/>
          </p:nvSpPr>
          <p:spPr bwMode="auto">
            <a:xfrm>
              <a:off x="4350" y="2657"/>
              <a:ext cx="1" cy="79"/>
            </a:xfrm>
            <a:custGeom>
              <a:avLst/>
              <a:gdLst>
                <a:gd name="T0" fmla="*/ 0 w 1"/>
                <a:gd name="T1" fmla="*/ 79 h 79"/>
                <a:gd name="T2" fmla="*/ 1 w 1"/>
                <a:gd name="T3" fmla="*/ 0 h 79"/>
                <a:gd name="T4" fmla="*/ 0 60000 65536"/>
                <a:gd name="T5" fmla="*/ 0 60000 65536"/>
                <a:gd name="T6" fmla="*/ 0 w 1"/>
                <a:gd name="T7" fmla="*/ 0 h 79"/>
                <a:gd name="T8" fmla="*/ 1 w 1"/>
                <a:gd name="T9" fmla="*/ 79 h 7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79">
                  <a:moveTo>
                    <a:pt x="0" y="79"/>
                  </a:moveTo>
                  <a:lnTo>
                    <a:pt x="1" y="0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0551" name="Rectangle 146"/>
            <p:cNvSpPr>
              <a:spLocks noChangeArrowheads="1"/>
            </p:cNvSpPr>
            <p:nvPr/>
          </p:nvSpPr>
          <p:spPr bwMode="auto">
            <a:xfrm>
              <a:off x="1615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0552" name="Rectangle 147"/>
            <p:cNvSpPr>
              <a:spLocks noChangeArrowheads="1"/>
            </p:cNvSpPr>
            <p:nvPr/>
          </p:nvSpPr>
          <p:spPr bwMode="auto">
            <a:xfrm>
              <a:off x="2546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0553" name="Rectangle 148"/>
            <p:cNvSpPr>
              <a:spLocks noChangeArrowheads="1"/>
            </p:cNvSpPr>
            <p:nvPr/>
          </p:nvSpPr>
          <p:spPr bwMode="auto">
            <a:xfrm>
              <a:off x="4178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0554" name="Text Box 149"/>
            <p:cNvSpPr txBox="1">
              <a:spLocks noChangeArrowheads="1"/>
            </p:cNvSpPr>
            <p:nvPr/>
          </p:nvSpPr>
          <p:spPr bwMode="auto">
            <a:xfrm>
              <a:off x="3320" y="233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18" name="Group 150"/>
          <p:cNvGrpSpPr/>
          <p:nvPr/>
        </p:nvGrpSpPr>
        <p:grpSpPr bwMode="auto">
          <a:xfrm>
            <a:off x="1981200" y="6138863"/>
            <a:ext cx="5154613" cy="519112"/>
            <a:chOff x="1452" y="3984"/>
            <a:chExt cx="3149" cy="359"/>
          </a:xfrm>
        </p:grpSpPr>
        <p:sp>
          <p:nvSpPr>
            <p:cNvPr id="150542" name="Text Box 151"/>
            <p:cNvSpPr txBox="1">
              <a:spLocks noChangeArrowheads="1"/>
            </p:cNvSpPr>
            <p:nvPr/>
          </p:nvSpPr>
          <p:spPr bwMode="auto">
            <a:xfrm>
              <a:off x="1452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50543" name="Text Box 152"/>
            <p:cNvSpPr txBox="1">
              <a:spLocks noChangeArrowheads="1"/>
            </p:cNvSpPr>
            <p:nvPr/>
          </p:nvSpPr>
          <p:spPr bwMode="auto">
            <a:xfrm>
              <a:off x="4380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0544" name="Text Box 153"/>
            <p:cNvSpPr txBox="1">
              <a:spLocks noChangeArrowheads="1"/>
            </p:cNvSpPr>
            <p:nvPr/>
          </p:nvSpPr>
          <p:spPr bwMode="auto">
            <a:xfrm>
              <a:off x="3648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50545" name="Text Box 154"/>
            <p:cNvSpPr txBox="1">
              <a:spLocks noChangeArrowheads="1"/>
            </p:cNvSpPr>
            <p:nvPr/>
          </p:nvSpPr>
          <p:spPr bwMode="auto">
            <a:xfrm>
              <a:off x="2917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50546" name="Text Box 155"/>
            <p:cNvSpPr txBox="1">
              <a:spLocks noChangeArrowheads="1"/>
            </p:cNvSpPr>
            <p:nvPr/>
          </p:nvSpPr>
          <p:spPr bwMode="auto">
            <a:xfrm>
              <a:off x="2186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</p:grpSp>
      <p:grpSp>
        <p:nvGrpSpPr>
          <p:cNvPr id="150533" name="Group 156"/>
          <p:cNvGrpSpPr/>
          <p:nvPr/>
        </p:nvGrpSpPr>
        <p:grpSpPr bwMode="auto">
          <a:xfrm>
            <a:off x="341313" y="1819275"/>
            <a:ext cx="361950" cy="3362325"/>
            <a:chOff x="300" y="720"/>
            <a:chExt cx="221" cy="2327"/>
          </a:xfrm>
        </p:grpSpPr>
        <p:sp>
          <p:nvSpPr>
            <p:cNvPr id="150537" name="Text Box 157"/>
            <p:cNvSpPr txBox="1">
              <a:spLocks noChangeArrowheads="1"/>
            </p:cNvSpPr>
            <p:nvPr/>
          </p:nvSpPr>
          <p:spPr bwMode="auto">
            <a:xfrm>
              <a:off x="300" y="720"/>
              <a:ext cx="221" cy="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0538" name="Text Box 158"/>
            <p:cNvSpPr txBox="1">
              <a:spLocks noChangeArrowheads="1"/>
            </p:cNvSpPr>
            <p:nvPr/>
          </p:nvSpPr>
          <p:spPr bwMode="auto">
            <a:xfrm>
              <a:off x="300" y="1212"/>
              <a:ext cx="221" cy="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0539" name="Text Box 159"/>
            <p:cNvSpPr txBox="1">
              <a:spLocks noChangeArrowheads="1"/>
            </p:cNvSpPr>
            <p:nvPr/>
          </p:nvSpPr>
          <p:spPr bwMode="auto">
            <a:xfrm>
              <a:off x="300" y="1705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0540" name="Text Box 160"/>
            <p:cNvSpPr txBox="1">
              <a:spLocks noChangeArrowheads="1"/>
            </p:cNvSpPr>
            <p:nvPr/>
          </p:nvSpPr>
          <p:spPr bwMode="auto">
            <a:xfrm>
              <a:off x="300" y="2196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0541" name="Text Box 161"/>
            <p:cNvSpPr txBox="1">
              <a:spLocks noChangeArrowheads="1"/>
            </p:cNvSpPr>
            <p:nvPr/>
          </p:nvSpPr>
          <p:spPr bwMode="auto">
            <a:xfrm>
              <a:off x="300" y="2688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</p:grpSp>
      <p:sp>
        <p:nvSpPr>
          <p:cNvPr id="238754" name="Rectangle 162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50535" name="Text Box 163"/>
          <p:cNvSpPr txBox="1">
            <a:spLocks noChangeArrowheads="1"/>
          </p:cNvSpPr>
          <p:nvPr/>
        </p:nvSpPr>
        <p:spPr bwMode="auto">
          <a:xfrm>
            <a:off x="304800" y="228600"/>
            <a:ext cx="7696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zh-CN" altLang="en-US" sz="3200">
                <a:latin typeface="Times New Roman" panose="02020603050405020304" pitchFamily="18" charset="0"/>
              </a:rPr>
              <a:t>三管动态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200">
                <a:latin typeface="Times New Roman" panose="02020603050405020304" pitchFamily="18" charset="0"/>
              </a:rPr>
              <a:t>芯片 (</a:t>
            </a:r>
            <a:r>
              <a:rPr lang="en-US" altLang="zh-CN" sz="3200">
                <a:latin typeface="Times New Roman" panose="02020603050405020304" pitchFamily="18" charset="0"/>
              </a:rPr>
              <a:t>Intel 1103)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</a:p>
        </p:txBody>
      </p:sp>
      <p:sp>
        <p:nvSpPr>
          <p:cNvPr id="150536" name="AutoShape 164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1554" name="Group 2"/>
          <p:cNvGrpSpPr/>
          <p:nvPr/>
        </p:nvGrpSpPr>
        <p:grpSpPr bwMode="auto">
          <a:xfrm>
            <a:off x="0" y="1295400"/>
            <a:ext cx="9151938" cy="5438775"/>
            <a:chOff x="0" y="816"/>
            <a:chExt cx="5765" cy="3426"/>
          </a:xfrm>
        </p:grpSpPr>
        <p:grpSp>
          <p:nvGrpSpPr>
            <p:cNvPr id="151592" name="Group 3"/>
            <p:cNvGrpSpPr/>
            <p:nvPr/>
          </p:nvGrpSpPr>
          <p:grpSpPr bwMode="auto">
            <a:xfrm>
              <a:off x="0" y="1094"/>
              <a:ext cx="462" cy="250"/>
              <a:chOff x="0" y="933"/>
              <a:chExt cx="462" cy="250"/>
            </a:xfrm>
          </p:grpSpPr>
          <p:sp>
            <p:nvSpPr>
              <p:cNvPr id="151728" name="Line 4"/>
              <p:cNvSpPr>
                <a:spLocks noChangeShapeType="1"/>
              </p:cNvSpPr>
              <p:nvPr/>
            </p:nvSpPr>
            <p:spPr bwMode="auto">
              <a:xfrm>
                <a:off x="214" y="991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1729" name="Text Box 5"/>
              <p:cNvSpPr txBox="1">
                <a:spLocks noChangeArrowheads="1"/>
              </p:cNvSpPr>
              <p:nvPr/>
            </p:nvSpPr>
            <p:spPr bwMode="auto">
              <a:xfrm>
                <a:off x="0" y="933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9</a:t>
                </a:r>
              </a:p>
            </p:txBody>
          </p:sp>
        </p:grpSp>
        <p:grpSp>
          <p:nvGrpSpPr>
            <p:cNvPr id="151593" name="Group 6"/>
            <p:cNvGrpSpPr/>
            <p:nvPr/>
          </p:nvGrpSpPr>
          <p:grpSpPr bwMode="auto">
            <a:xfrm>
              <a:off x="16" y="1540"/>
              <a:ext cx="446" cy="250"/>
              <a:chOff x="16" y="1371"/>
              <a:chExt cx="446" cy="250"/>
            </a:xfrm>
          </p:grpSpPr>
          <p:sp>
            <p:nvSpPr>
              <p:cNvPr id="151726" name="Line 7"/>
              <p:cNvSpPr>
                <a:spLocks noChangeShapeType="1"/>
              </p:cNvSpPr>
              <p:nvPr/>
            </p:nvSpPr>
            <p:spPr bwMode="auto">
              <a:xfrm>
                <a:off x="214" y="1439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1727" name="Text Box 8"/>
              <p:cNvSpPr txBox="1">
                <a:spLocks noChangeArrowheads="1"/>
              </p:cNvSpPr>
              <p:nvPr/>
            </p:nvSpPr>
            <p:spPr bwMode="auto">
              <a:xfrm>
                <a:off x="16" y="1371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51594" name="Group 9"/>
            <p:cNvGrpSpPr/>
            <p:nvPr/>
          </p:nvGrpSpPr>
          <p:grpSpPr bwMode="auto">
            <a:xfrm>
              <a:off x="16" y="1987"/>
              <a:ext cx="446" cy="250"/>
              <a:chOff x="16" y="1809"/>
              <a:chExt cx="446" cy="250"/>
            </a:xfrm>
          </p:grpSpPr>
          <p:sp>
            <p:nvSpPr>
              <p:cNvPr id="151724" name="Line 10"/>
              <p:cNvSpPr>
                <a:spLocks noChangeShapeType="1"/>
              </p:cNvSpPr>
              <p:nvPr/>
            </p:nvSpPr>
            <p:spPr bwMode="auto">
              <a:xfrm>
                <a:off x="214" y="1886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1725" name="Text Box 11"/>
              <p:cNvSpPr txBox="1">
                <a:spLocks noChangeArrowheads="1"/>
              </p:cNvSpPr>
              <p:nvPr/>
            </p:nvSpPr>
            <p:spPr bwMode="auto">
              <a:xfrm>
                <a:off x="16" y="1809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</a:p>
            </p:txBody>
          </p:sp>
        </p:grpSp>
        <p:grpSp>
          <p:nvGrpSpPr>
            <p:cNvPr id="151595" name="Group 12"/>
            <p:cNvGrpSpPr/>
            <p:nvPr/>
          </p:nvGrpSpPr>
          <p:grpSpPr bwMode="auto">
            <a:xfrm>
              <a:off x="16" y="2433"/>
              <a:ext cx="446" cy="250"/>
              <a:chOff x="16" y="2276"/>
              <a:chExt cx="446" cy="250"/>
            </a:xfrm>
          </p:grpSpPr>
          <p:sp>
            <p:nvSpPr>
              <p:cNvPr id="151722" name="Line 13"/>
              <p:cNvSpPr>
                <a:spLocks noChangeShapeType="1"/>
              </p:cNvSpPr>
              <p:nvPr/>
            </p:nvSpPr>
            <p:spPr bwMode="auto">
              <a:xfrm>
                <a:off x="214" y="2334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1723" name="Text Box 14"/>
              <p:cNvSpPr txBox="1">
                <a:spLocks noChangeArrowheads="1"/>
              </p:cNvSpPr>
              <p:nvPr/>
            </p:nvSpPr>
            <p:spPr bwMode="auto">
              <a:xfrm>
                <a:off x="16" y="2276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51596" name="Group 15"/>
            <p:cNvGrpSpPr/>
            <p:nvPr/>
          </p:nvGrpSpPr>
          <p:grpSpPr bwMode="auto">
            <a:xfrm>
              <a:off x="16" y="2880"/>
              <a:ext cx="446" cy="250"/>
              <a:chOff x="16" y="2725"/>
              <a:chExt cx="446" cy="250"/>
            </a:xfrm>
          </p:grpSpPr>
          <p:sp>
            <p:nvSpPr>
              <p:cNvPr id="151720" name="Line 16"/>
              <p:cNvSpPr>
                <a:spLocks noChangeShapeType="1"/>
              </p:cNvSpPr>
              <p:nvPr/>
            </p:nvSpPr>
            <p:spPr bwMode="auto">
              <a:xfrm>
                <a:off x="214" y="2782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1721" name="Text Box 17"/>
              <p:cNvSpPr txBox="1">
                <a:spLocks noChangeArrowheads="1"/>
              </p:cNvSpPr>
              <p:nvPr/>
            </p:nvSpPr>
            <p:spPr bwMode="auto">
              <a:xfrm>
                <a:off x="16" y="2725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5</a:t>
                </a:r>
              </a:p>
            </p:txBody>
          </p:sp>
        </p:grpSp>
        <p:grpSp>
          <p:nvGrpSpPr>
            <p:cNvPr id="151597" name="Group 18"/>
            <p:cNvGrpSpPr/>
            <p:nvPr/>
          </p:nvGrpSpPr>
          <p:grpSpPr bwMode="auto">
            <a:xfrm>
              <a:off x="462" y="816"/>
              <a:ext cx="5303" cy="3426"/>
              <a:chOff x="462" y="816"/>
              <a:chExt cx="5303" cy="3426"/>
            </a:xfrm>
          </p:grpSpPr>
          <p:sp>
            <p:nvSpPr>
              <p:cNvPr id="151598" name="Rectangle 19"/>
              <p:cNvSpPr>
                <a:spLocks noChangeArrowheads="1"/>
              </p:cNvSpPr>
              <p:nvPr/>
            </p:nvSpPr>
            <p:spPr bwMode="auto">
              <a:xfrm>
                <a:off x="462" y="816"/>
                <a:ext cx="693" cy="248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1599" name="Freeform 20"/>
              <p:cNvSpPr/>
              <p:nvPr/>
            </p:nvSpPr>
            <p:spPr bwMode="auto">
              <a:xfrm>
                <a:off x="1155" y="991"/>
                <a:ext cx="3638" cy="1"/>
              </a:xfrm>
              <a:custGeom>
                <a:avLst/>
                <a:gdLst>
                  <a:gd name="T0" fmla="*/ 0 w 3528"/>
                  <a:gd name="T1" fmla="*/ 0 h 1"/>
                  <a:gd name="T2" fmla="*/ 5422 w 3528"/>
                  <a:gd name="T3" fmla="*/ 0 h 1"/>
                  <a:gd name="T4" fmla="*/ 0 60000 65536"/>
                  <a:gd name="T5" fmla="*/ 0 60000 65536"/>
                  <a:gd name="T6" fmla="*/ 0 w 3528"/>
                  <a:gd name="T7" fmla="*/ 0 h 1"/>
                  <a:gd name="T8" fmla="*/ 3528 w 352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28" h="1">
                    <a:moveTo>
                      <a:pt x="0" y="0"/>
                    </a:moveTo>
                    <a:lnTo>
                      <a:pt x="3528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00" name="Rectangle 21"/>
              <p:cNvSpPr>
                <a:spLocks noChangeArrowheads="1"/>
              </p:cNvSpPr>
              <p:nvPr/>
            </p:nvSpPr>
            <p:spPr bwMode="auto">
              <a:xfrm>
                <a:off x="1615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1601" name="Freeform 22"/>
              <p:cNvSpPr/>
              <p:nvPr/>
            </p:nvSpPr>
            <p:spPr bwMode="auto">
              <a:xfrm>
                <a:off x="4351" y="991"/>
                <a:ext cx="1" cy="79"/>
              </a:xfrm>
              <a:custGeom>
                <a:avLst/>
                <a:gdLst>
                  <a:gd name="T0" fmla="*/ 0 w 1"/>
                  <a:gd name="T1" fmla="*/ 0 h 87"/>
                  <a:gd name="T2" fmla="*/ 0 w 1"/>
                  <a:gd name="T3" fmla="*/ 23 h 87"/>
                  <a:gd name="T4" fmla="*/ 0 60000 65536"/>
                  <a:gd name="T5" fmla="*/ 0 60000 65536"/>
                  <a:gd name="T6" fmla="*/ 0 w 1"/>
                  <a:gd name="T7" fmla="*/ 0 h 87"/>
                  <a:gd name="T8" fmla="*/ 1 w 1"/>
                  <a:gd name="T9" fmla="*/ 87 h 8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87">
                    <a:moveTo>
                      <a:pt x="0" y="0"/>
                    </a:moveTo>
                    <a:lnTo>
                      <a:pt x="0" y="8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02" name="Freeform 23"/>
              <p:cNvSpPr/>
              <p:nvPr/>
            </p:nvSpPr>
            <p:spPr bwMode="auto">
              <a:xfrm>
                <a:off x="1155" y="1295"/>
                <a:ext cx="3659" cy="3"/>
              </a:xfrm>
              <a:custGeom>
                <a:avLst/>
                <a:gdLst>
                  <a:gd name="T0" fmla="*/ 0 w 3659"/>
                  <a:gd name="T1" fmla="*/ 0 h 3"/>
                  <a:gd name="T2" fmla="*/ 3659 w 3659"/>
                  <a:gd name="T3" fmla="*/ 3 h 3"/>
                  <a:gd name="T4" fmla="*/ 0 60000 65536"/>
                  <a:gd name="T5" fmla="*/ 0 60000 65536"/>
                  <a:gd name="T6" fmla="*/ 0 w 3659"/>
                  <a:gd name="T7" fmla="*/ 0 h 3"/>
                  <a:gd name="T8" fmla="*/ 3659 w 3659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659" h="3">
                    <a:moveTo>
                      <a:pt x="0" y="0"/>
                    </a:moveTo>
                    <a:lnTo>
                      <a:pt x="365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03" name="Freeform 24"/>
              <p:cNvSpPr/>
              <p:nvPr/>
            </p:nvSpPr>
            <p:spPr bwMode="auto">
              <a:xfrm>
                <a:off x="2727" y="987"/>
                <a:ext cx="1" cy="86"/>
              </a:xfrm>
              <a:custGeom>
                <a:avLst/>
                <a:gdLst>
                  <a:gd name="T0" fmla="*/ 0 w 1"/>
                  <a:gd name="T1" fmla="*/ 0 h 86"/>
                  <a:gd name="T2" fmla="*/ 1 w 1"/>
                  <a:gd name="T3" fmla="*/ 86 h 86"/>
                  <a:gd name="T4" fmla="*/ 0 60000 65536"/>
                  <a:gd name="T5" fmla="*/ 0 60000 65536"/>
                  <a:gd name="T6" fmla="*/ 0 w 1"/>
                  <a:gd name="T7" fmla="*/ 0 h 86"/>
                  <a:gd name="T8" fmla="*/ 1 w 1"/>
                  <a:gd name="T9" fmla="*/ 86 h 8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86">
                    <a:moveTo>
                      <a:pt x="0" y="0"/>
                    </a:moveTo>
                    <a:lnTo>
                      <a:pt x="1" y="8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04" name="Freeform 25"/>
              <p:cNvSpPr/>
              <p:nvPr/>
            </p:nvSpPr>
            <p:spPr bwMode="auto">
              <a:xfrm>
                <a:off x="1791" y="985"/>
                <a:ext cx="1" cy="92"/>
              </a:xfrm>
              <a:custGeom>
                <a:avLst/>
                <a:gdLst>
                  <a:gd name="T0" fmla="*/ 0 w 1"/>
                  <a:gd name="T1" fmla="*/ 0 h 92"/>
                  <a:gd name="T2" fmla="*/ 0 w 1"/>
                  <a:gd name="T3" fmla="*/ 92 h 92"/>
                  <a:gd name="T4" fmla="*/ 0 60000 65536"/>
                  <a:gd name="T5" fmla="*/ 0 60000 65536"/>
                  <a:gd name="T6" fmla="*/ 0 w 1"/>
                  <a:gd name="T7" fmla="*/ 0 h 92"/>
                  <a:gd name="T8" fmla="*/ 1 w 1"/>
                  <a:gd name="T9" fmla="*/ 92 h 9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92">
                    <a:moveTo>
                      <a:pt x="0" y="0"/>
                    </a:moveTo>
                    <a:lnTo>
                      <a:pt x="0" y="92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05" name="Freeform 26"/>
              <p:cNvSpPr/>
              <p:nvPr/>
            </p:nvSpPr>
            <p:spPr bwMode="auto">
              <a:xfrm>
                <a:off x="1788" y="1212"/>
                <a:ext cx="1" cy="85"/>
              </a:xfrm>
              <a:custGeom>
                <a:avLst/>
                <a:gdLst>
                  <a:gd name="T0" fmla="*/ 0 w 1"/>
                  <a:gd name="T1" fmla="*/ 26 h 93"/>
                  <a:gd name="T2" fmla="*/ 0 w 1"/>
                  <a:gd name="T3" fmla="*/ 0 h 93"/>
                  <a:gd name="T4" fmla="*/ 0 60000 65536"/>
                  <a:gd name="T5" fmla="*/ 0 60000 65536"/>
                  <a:gd name="T6" fmla="*/ 0 w 1"/>
                  <a:gd name="T7" fmla="*/ 0 h 93"/>
                  <a:gd name="T8" fmla="*/ 1 w 1"/>
                  <a:gd name="T9" fmla="*/ 93 h 9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93">
                    <a:moveTo>
                      <a:pt x="0" y="93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06" name="Freeform 27"/>
              <p:cNvSpPr/>
              <p:nvPr/>
            </p:nvSpPr>
            <p:spPr bwMode="auto">
              <a:xfrm>
                <a:off x="2736" y="1200"/>
                <a:ext cx="3" cy="95"/>
              </a:xfrm>
              <a:custGeom>
                <a:avLst/>
                <a:gdLst>
                  <a:gd name="T0" fmla="*/ 0 w 3"/>
                  <a:gd name="T1" fmla="*/ 26 h 105"/>
                  <a:gd name="T2" fmla="*/ 3 w 3"/>
                  <a:gd name="T3" fmla="*/ 0 h 105"/>
                  <a:gd name="T4" fmla="*/ 0 60000 65536"/>
                  <a:gd name="T5" fmla="*/ 0 60000 65536"/>
                  <a:gd name="T6" fmla="*/ 0 w 3"/>
                  <a:gd name="T7" fmla="*/ 0 h 105"/>
                  <a:gd name="T8" fmla="*/ 3 w 3"/>
                  <a:gd name="T9" fmla="*/ 105 h 10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5">
                    <a:moveTo>
                      <a:pt x="0" y="105"/>
                    </a:moveTo>
                    <a:lnTo>
                      <a:pt x="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07" name="Line 28"/>
              <p:cNvSpPr>
                <a:spLocks noChangeShapeType="1"/>
              </p:cNvSpPr>
              <p:nvPr/>
            </p:nvSpPr>
            <p:spPr bwMode="auto">
              <a:xfrm rot="10800000">
                <a:off x="4351" y="121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08" name="Freeform 29"/>
              <p:cNvSpPr/>
              <p:nvPr/>
            </p:nvSpPr>
            <p:spPr bwMode="auto">
              <a:xfrm>
                <a:off x="1155" y="1559"/>
                <a:ext cx="3653" cy="1"/>
              </a:xfrm>
              <a:custGeom>
                <a:avLst/>
                <a:gdLst>
                  <a:gd name="T0" fmla="*/ 0 w 3543"/>
                  <a:gd name="T1" fmla="*/ 0 h 1"/>
                  <a:gd name="T2" fmla="*/ 5435 w 3543"/>
                  <a:gd name="T3" fmla="*/ 0 h 1"/>
                  <a:gd name="T4" fmla="*/ 0 60000 65536"/>
                  <a:gd name="T5" fmla="*/ 0 60000 65536"/>
                  <a:gd name="T6" fmla="*/ 0 w 3543"/>
                  <a:gd name="T7" fmla="*/ 0 h 1"/>
                  <a:gd name="T8" fmla="*/ 3543 w 354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43" h="1">
                    <a:moveTo>
                      <a:pt x="0" y="0"/>
                    </a:moveTo>
                    <a:lnTo>
                      <a:pt x="354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09" name="Line 30"/>
              <p:cNvSpPr>
                <a:spLocks noChangeShapeType="1"/>
              </p:cNvSpPr>
              <p:nvPr/>
            </p:nvSpPr>
            <p:spPr bwMode="auto">
              <a:xfrm>
                <a:off x="4351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10" name="Freeform 31"/>
              <p:cNvSpPr/>
              <p:nvPr/>
            </p:nvSpPr>
            <p:spPr bwMode="auto">
              <a:xfrm>
                <a:off x="1155" y="1863"/>
                <a:ext cx="3656" cy="1"/>
              </a:xfrm>
              <a:custGeom>
                <a:avLst/>
                <a:gdLst>
                  <a:gd name="T0" fmla="*/ 0 w 3546"/>
                  <a:gd name="T1" fmla="*/ 0 h 2"/>
                  <a:gd name="T2" fmla="*/ 5438 w 3546"/>
                  <a:gd name="T3" fmla="*/ 1 h 2"/>
                  <a:gd name="T4" fmla="*/ 0 60000 65536"/>
                  <a:gd name="T5" fmla="*/ 0 60000 65536"/>
                  <a:gd name="T6" fmla="*/ 0 w 3546"/>
                  <a:gd name="T7" fmla="*/ 0 h 2"/>
                  <a:gd name="T8" fmla="*/ 3546 w 354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46" h="2">
                    <a:moveTo>
                      <a:pt x="0" y="0"/>
                    </a:moveTo>
                    <a:lnTo>
                      <a:pt x="3546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11" name="Line 32"/>
              <p:cNvSpPr>
                <a:spLocks noChangeShapeType="1"/>
              </p:cNvSpPr>
              <p:nvPr/>
            </p:nvSpPr>
            <p:spPr bwMode="auto">
              <a:xfrm>
                <a:off x="2725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12" name="Line 33"/>
              <p:cNvSpPr>
                <a:spLocks noChangeShapeType="1"/>
              </p:cNvSpPr>
              <p:nvPr/>
            </p:nvSpPr>
            <p:spPr bwMode="auto">
              <a:xfrm>
                <a:off x="1788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13" name="Line 34"/>
              <p:cNvSpPr>
                <a:spLocks noChangeShapeType="1"/>
              </p:cNvSpPr>
              <p:nvPr/>
            </p:nvSpPr>
            <p:spPr bwMode="auto">
              <a:xfrm rot="10800000">
                <a:off x="1788" y="1778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14" name="Line 35"/>
              <p:cNvSpPr>
                <a:spLocks noChangeShapeType="1"/>
              </p:cNvSpPr>
              <p:nvPr/>
            </p:nvSpPr>
            <p:spPr bwMode="auto">
              <a:xfrm rot="10800000">
                <a:off x="2725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15" name="Line 36"/>
              <p:cNvSpPr>
                <a:spLocks noChangeShapeType="1"/>
              </p:cNvSpPr>
              <p:nvPr/>
            </p:nvSpPr>
            <p:spPr bwMode="auto">
              <a:xfrm rot="10800000">
                <a:off x="4351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16" name="Freeform 37"/>
              <p:cNvSpPr/>
              <p:nvPr/>
            </p:nvSpPr>
            <p:spPr bwMode="auto">
              <a:xfrm>
                <a:off x="1155" y="2432"/>
                <a:ext cx="3675" cy="1"/>
              </a:xfrm>
              <a:custGeom>
                <a:avLst/>
                <a:gdLst>
                  <a:gd name="T0" fmla="*/ 0 w 3564"/>
                  <a:gd name="T1" fmla="*/ 0 h 1"/>
                  <a:gd name="T2" fmla="*/ 5474 w 3564"/>
                  <a:gd name="T3" fmla="*/ 0 h 1"/>
                  <a:gd name="T4" fmla="*/ 0 60000 65536"/>
                  <a:gd name="T5" fmla="*/ 0 60000 65536"/>
                  <a:gd name="T6" fmla="*/ 0 w 3564"/>
                  <a:gd name="T7" fmla="*/ 0 h 1"/>
                  <a:gd name="T8" fmla="*/ 3564 w 356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64" h="1">
                    <a:moveTo>
                      <a:pt x="0" y="0"/>
                    </a:moveTo>
                    <a:lnTo>
                      <a:pt x="3564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17" name="Line 38"/>
              <p:cNvSpPr>
                <a:spLocks noChangeShapeType="1"/>
              </p:cNvSpPr>
              <p:nvPr/>
            </p:nvSpPr>
            <p:spPr bwMode="auto">
              <a:xfrm>
                <a:off x="4351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18" name="Freeform 39"/>
              <p:cNvSpPr/>
              <p:nvPr/>
            </p:nvSpPr>
            <p:spPr bwMode="auto">
              <a:xfrm>
                <a:off x="1155" y="2736"/>
                <a:ext cx="3647" cy="1"/>
              </a:xfrm>
              <a:custGeom>
                <a:avLst/>
                <a:gdLst>
                  <a:gd name="T0" fmla="*/ 0 w 3647"/>
                  <a:gd name="T1" fmla="*/ 0 h 1"/>
                  <a:gd name="T2" fmla="*/ 3647 w 3647"/>
                  <a:gd name="T3" fmla="*/ 1 h 1"/>
                  <a:gd name="T4" fmla="*/ 0 60000 65536"/>
                  <a:gd name="T5" fmla="*/ 0 60000 65536"/>
                  <a:gd name="T6" fmla="*/ 0 w 3647"/>
                  <a:gd name="T7" fmla="*/ 0 h 1"/>
                  <a:gd name="T8" fmla="*/ 3647 w 364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647" h="1">
                    <a:moveTo>
                      <a:pt x="0" y="0"/>
                    </a:moveTo>
                    <a:lnTo>
                      <a:pt x="3647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19" name="Line 40"/>
              <p:cNvSpPr>
                <a:spLocks noChangeShapeType="1"/>
              </p:cNvSpPr>
              <p:nvPr/>
            </p:nvSpPr>
            <p:spPr bwMode="auto">
              <a:xfrm>
                <a:off x="2725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20" name="Line 41"/>
              <p:cNvSpPr>
                <a:spLocks noChangeShapeType="1"/>
              </p:cNvSpPr>
              <p:nvPr/>
            </p:nvSpPr>
            <p:spPr bwMode="auto">
              <a:xfrm>
                <a:off x="1788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21" name="Line 42"/>
              <p:cNvSpPr>
                <a:spLocks noChangeShapeType="1"/>
              </p:cNvSpPr>
              <p:nvPr/>
            </p:nvSpPr>
            <p:spPr bwMode="auto">
              <a:xfrm rot="10800000">
                <a:off x="1788" y="2652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22" name="Line 43"/>
              <p:cNvSpPr>
                <a:spLocks noChangeShapeType="1"/>
              </p:cNvSpPr>
              <p:nvPr/>
            </p:nvSpPr>
            <p:spPr bwMode="auto">
              <a:xfrm rot="10800000">
                <a:off x="2725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23" name="Line 44"/>
              <p:cNvSpPr>
                <a:spLocks noChangeShapeType="1"/>
              </p:cNvSpPr>
              <p:nvPr/>
            </p:nvSpPr>
            <p:spPr bwMode="auto">
              <a:xfrm rot="10800000">
                <a:off x="4351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24" name="AutoShape 45"/>
              <p:cNvSpPr>
                <a:spLocks noChangeArrowheads="1"/>
              </p:cNvSpPr>
              <p:nvPr/>
            </p:nvSpPr>
            <p:spPr bwMode="auto">
              <a:xfrm rot="-5400000">
                <a:off x="1700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1625" name="Freeform 46"/>
              <p:cNvSpPr/>
              <p:nvPr/>
            </p:nvSpPr>
            <p:spPr bwMode="auto">
              <a:xfrm>
                <a:off x="1416" y="1148"/>
                <a:ext cx="198" cy="2026"/>
              </a:xfrm>
              <a:custGeom>
                <a:avLst/>
                <a:gdLst>
                  <a:gd name="T0" fmla="*/ 198 w 198"/>
                  <a:gd name="T1" fmla="*/ 0 h 2026"/>
                  <a:gd name="T2" fmla="*/ 0 w 198"/>
                  <a:gd name="T3" fmla="*/ 0 h 2026"/>
                  <a:gd name="T4" fmla="*/ 6 w 198"/>
                  <a:gd name="T5" fmla="*/ 2026 h 2026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26"/>
                  <a:gd name="T11" fmla="*/ 198 w 198"/>
                  <a:gd name="T12" fmla="*/ 2026 h 20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26">
                    <a:moveTo>
                      <a:pt x="198" y="0"/>
                    </a:moveTo>
                    <a:lnTo>
                      <a:pt x="0" y="0"/>
                    </a:lnTo>
                    <a:lnTo>
                      <a:pt x="6" y="202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26" name="Freeform 47"/>
              <p:cNvSpPr/>
              <p:nvPr/>
            </p:nvSpPr>
            <p:spPr bwMode="auto">
              <a:xfrm>
                <a:off x="141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27" name="Freeform 48"/>
              <p:cNvSpPr/>
              <p:nvPr/>
            </p:nvSpPr>
            <p:spPr bwMode="auto">
              <a:xfrm>
                <a:off x="1422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28" name="Line 49"/>
              <p:cNvSpPr>
                <a:spLocks noChangeShapeType="1"/>
              </p:cNvSpPr>
              <p:nvPr/>
            </p:nvSpPr>
            <p:spPr bwMode="auto">
              <a:xfrm>
                <a:off x="1419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29" name="Freeform 50"/>
              <p:cNvSpPr/>
              <p:nvPr/>
            </p:nvSpPr>
            <p:spPr bwMode="auto">
              <a:xfrm>
                <a:off x="3979" y="1148"/>
                <a:ext cx="198" cy="2023"/>
              </a:xfrm>
              <a:custGeom>
                <a:avLst/>
                <a:gdLst>
                  <a:gd name="T0" fmla="*/ 198 w 198"/>
                  <a:gd name="T1" fmla="*/ 0 h 2023"/>
                  <a:gd name="T2" fmla="*/ 0 w 198"/>
                  <a:gd name="T3" fmla="*/ 0 h 2023"/>
                  <a:gd name="T4" fmla="*/ 2 w 198"/>
                  <a:gd name="T5" fmla="*/ 2023 h 2023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23"/>
                  <a:gd name="T11" fmla="*/ 198 w 198"/>
                  <a:gd name="T12" fmla="*/ 2023 h 202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23">
                    <a:moveTo>
                      <a:pt x="198" y="0"/>
                    </a:moveTo>
                    <a:lnTo>
                      <a:pt x="0" y="0"/>
                    </a:lnTo>
                    <a:lnTo>
                      <a:pt x="2" y="202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30" name="Freeform 51"/>
              <p:cNvSpPr/>
              <p:nvPr/>
            </p:nvSpPr>
            <p:spPr bwMode="auto">
              <a:xfrm>
                <a:off x="3982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31" name="Freeform 52"/>
              <p:cNvSpPr/>
              <p:nvPr/>
            </p:nvSpPr>
            <p:spPr bwMode="auto">
              <a:xfrm>
                <a:off x="3985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32" name="Line 53"/>
              <p:cNvSpPr>
                <a:spLocks noChangeShapeType="1"/>
              </p:cNvSpPr>
              <p:nvPr/>
            </p:nvSpPr>
            <p:spPr bwMode="auto">
              <a:xfrm>
                <a:off x="3982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33" name="Freeform 54"/>
              <p:cNvSpPr/>
              <p:nvPr/>
            </p:nvSpPr>
            <p:spPr bwMode="auto">
              <a:xfrm>
                <a:off x="2347" y="1148"/>
                <a:ext cx="198" cy="2024"/>
              </a:xfrm>
              <a:custGeom>
                <a:avLst/>
                <a:gdLst>
                  <a:gd name="T0" fmla="*/ 295 w 192"/>
                  <a:gd name="T1" fmla="*/ 0 h 2224"/>
                  <a:gd name="T2" fmla="*/ 0 w 192"/>
                  <a:gd name="T3" fmla="*/ 0 h 2224"/>
                  <a:gd name="T4" fmla="*/ 2 w 192"/>
                  <a:gd name="T5" fmla="*/ 594 h 2224"/>
                  <a:gd name="T6" fmla="*/ 0 60000 65536"/>
                  <a:gd name="T7" fmla="*/ 0 60000 65536"/>
                  <a:gd name="T8" fmla="*/ 0 60000 65536"/>
                  <a:gd name="T9" fmla="*/ 0 w 192"/>
                  <a:gd name="T10" fmla="*/ 0 h 2224"/>
                  <a:gd name="T11" fmla="*/ 192 w 192"/>
                  <a:gd name="T12" fmla="*/ 2224 h 22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2" h="2224">
                    <a:moveTo>
                      <a:pt x="192" y="0"/>
                    </a:moveTo>
                    <a:lnTo>
                      <a:pt x="0" y="0"/>
                    </a:lnTo>
                    <a:lnTo>
                      <a:pt x="2" y="222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34" name="Freeform 55"/>
              <p:cNvSpPr/>
              <p:nvPr/>
            </p:nvSpPr>
            <p:spPr bwMode="auto">
              <a:xfrm>
                <a:off x="235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35" name="Freeform 56"/>
              <p:cNvSpPr/>
              <p:nvPr/>
            </p:nvSpPr>
            <p:spPr bwMode="auto">
              <a:xfrm>
                <a:off x="2353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36" name="Line 57"/>
              <p:cNvSpPr>
                <a:spLocks noChangeShapeType="1"/>
              </p:cNvSpPr>
              <p:nvPr/>
            </p:nvSpPr>
            <p:spPr bwMode="auto">
              <a:xfrm>
                <a:off x="2350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37" name="Freeform 58"/>
              <p:cNvSpPr/>
              <p:nvPr/>
            </p:nvSpPr>
            <p:spPr bwMode="auto">
              <a:xfrm>
                <a:off x="1964" y="1135"/>
                <a:ext cx="198" cy="2030"/>
              </a:xfrm>
              <a:custGeom>
                <a:avLst/>
                <a:gdLst>
                  <a:gd name="T0" fmla="*/ 0 w 198"/>
                  <a:gd name="T1" fmla="*/ 0 h 2030"/>
                  <a:gd name="T2" fmla="*/ 198 w 198"/>
                  <a:gd name="T3" fmla="*/ 0 h 2030"/>
                  <a:gd name="T4" fmla="*/ 193 w 198"/>
                  <a:gd name="T5" fmla="*/ 2030 h 2030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30"/>
                  <a:gd name="T11" fmla="*/ 198 w 198"/>
                  <a:gd name="T12" fmla="*/ 2030 h 203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30">
                    <a:moveTo>
                      <a:pt x="0" y="0"/>
                    </a:moveTo>
                    <a:lnTo>
                      <a:pt x="198" y="0"/>
                    </a:lnTo>
                    <a:lnTo>
                      <a:pt x="193" y="203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38" name="Freeform 59"/>
              <p:cNvSpPr/>
              <p:nvPr/>
            </p:nvSpPr>
            <p:spPr bwMode="auto">
              <a:xfrm rot="10800000">
                <a:off x="195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39" name="Freeform 60"/>
              <p:cNvSpPr/>
              <p:nvPr/>
            </p:nvSpPr>
            <p:spPr bwMode="auto">
              <a:xfrm rot="10800000">
                <a:off x="1959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40" name="Freeform 61"/>
              <p:cNvSpPr/>
              <p:nvPr/>
            </p:nvSpPr>
            <p:spPr bwMode="auto">
              <a:xfrm>
                <a:off x="1958" y="2957"/>
                <a:ext cx="200" cy="1"/>
              </a:xfrm>
              <a:custGeom>
                <a:avLst/>
                <a:gdLst>
                  <a:gd name="T0" fmla="*/ 297 w 194"/>
                  <a:gd name="T1" fmla="*/ 0 h 1"/>
                  <a:gd name="T2" fmla="*/ 0 w 194"/>
                  <a:gd name="T3" fmla="*/ 0 h 1"/>
                  <a:gd name="T4" fmla="*/ 0 60000 65536"/>
                  <a:gd name="T5" fmla="*/ 0 60000 65536"/>
                  <a:gd name="T6" fmla="*/ 0 w 194"/>
                  <a:gd name="T7" fmla="*/ 0 h 1"/>
                  <a:gd name="T8" fmla="*/ 194 w 19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4" h="1">
                    <a:moveTo>
                      <a:pt x="19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41" name="Freeform 62"/>
              <p:cNvSpPr/>
              <p:nvPr/>
            </p:nvSpPr>
            <p:spPr bwMode="auto">
              <a:xfrm>
                <a:off x="2893" y="1135"/>
                <a:ext cx="199" cy="2047"/>
              </a:xfrm>
              <a:custGeom>
                <a:avLst/>
                <a:gdLst>
                  <a:gd name="T0" fmla="*/ 0 w 193"/>
                  <a:gd name="T1" fmla="*/ 0 h 2250"/>
                  <a:gd name="T2" fmla="*/ 295 w 193"/>
                  <a:gd name="T3" fmla="*/ 0 h 2250"/>
                  <a:gd name="T4" fmla="*/ 296 w 193"/>
                  <a:gd name="T5" fmla="*/ 599 h 2250"/>
                  <a:gd name="T6" fmla="*/ 0 60000 65536"/>
                  <a:gd name="T7" fmla="*/ 0 60000 65536"/>
                  <a:gd name="T8" fmla="*/ 0 60000 65536"/>
                  <a:gd name="T9" fmla="*/ 0 w 193"/>
                  <a:gd name="T10" fmla="*/ 0 h 2250"/>
                  <a:gd name="T11" fmla="*/ 193 w 193"/>
                  <a:gd name="T12" fmla="*/ 2250 h 225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3" h="2250">
                    <a:moveTo>
                      <a:pt x="0" y="0"/>
                    </a:moveTo>
                    <a:lnTo>
                      <a:pt x="192" y="0"/>
                    </a:lnTo>
                    <a:lnTo>
                      <a:pt x="193" y="225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42" name="Freeform 63"/>
              <p:cNvSpPr/>
              <p:nvPr/>
            </p:nvSpPr>
            <p:spPr bwMode="auto">
              <a:xfrm rot="10800000">
                <a:off x="289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43" name="Freeform 64"/>
              <p:cNvSpPr/>
              <p:nvPr/>
            </p:nvSpPr>
            <p:spPr bwMode="auto">
              <a:xfrm rot="10800000">
                <a:off x="2890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44" name="Freeform 65"/>
              <p:cNvSpPr/>
              <p:nvPr/>
            </p:nvSpPr>
            <p:spPr bwMode="auto">
              <a:xfrm>
                <a:off x="2895" y="2957"/>
                <a:ext cx="194" cy="1"/>
              </a:xfrm>
              <a:custGeom>
                <a:avLst/>
                <a:gdLst>
                  <a:gd name="T0" fmla="*/ 291 w 188"/>
                  <a:gd name="T1" fmla="*/ 0 h 1"/>
                  <a:gd name="T2" fmla="*/ 0 w 188"/>
                  <a:gd name="T3" fmla="*/ 0 h 1"/>
                  <a:gd name="T4" fmla="*/ 0 60000 65536"/>
                  <a:gd name="T5" fmla="*/ 0 60000 65536"/>
                  <a:gd name="T6" fmla="*/ 0 w 188"/>
                  <a:gd name="T7" fmla="*/ 0 h 1"/>
                  <a:gd name="T8" fmla="*/ 188 w 18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88" h="1">
                    <a:moveTo>
                      <a:pt x="18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45" name="Freeform 66"/>
              <p:cNvSpPr/>
              <p:nvPr/>
            </p:nvSpPr>
            <p:spPr bwMode="auto">
              <a:xfrm>
                <a:off x="4531" y="1135"/>
                <a:ext cx="203" cy="2027"/>
              </a:xfrm>
              <a:custGeom>
                <a:avLst/>
                <a:gdLst>
                  <a:gd name="T0" fmla="*/ 0 w 203"/>
                  <a:gd name="T1" fmla="*/ 0 h 2027"/>
                  <a:gd name="T2" fmla="*/ 198 w 203"/>
                  <a:gd name="T3" fmla="*/ 0 h 2027"/>
                  <a:gd name="T4" fmla="*/ 203 w 203"/>
                  <a:gd name="T5" fmla="*/ 2027 h 2027"/>
                  <a:gd name="T6" fmla="*/ 0 60000 65536"/>
                  <a:gd name="T7" fmla="*/ 0 60000 65536"/>
                  <a:gd name="T8" fmla="*/ 0 60000 65536"/>
                  <a:gd name="T9" fmla="*/ 0 w 203"/>
                  <a:gd name="T10" fmla="*/ 0 h 2027"/>
                  <a:gd name="T11" fmla="*/ 203 w 203"/>
                  <a:gd name="T12" fmla="*/ 2027 h 20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3" h="2027">
                    <a:moveTo>
                      <a:pt x="0" y="0"/>
                    </a:moveTo>
                    <a:lnTo>
                      <a:pt x="198" y="0"/>
                    </a:lnTo>
                    <a:lnTo>
                      <a:pt x="203" y="202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46" name="Freeform 67"/>
              <p:cNvSpPr/>
              <p:nvPr/>
            </p:nvSpPr>
            <p:spPr bwMode="auto">
              <a:xfrm rot="10800000">
                <a:off x="4528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47" name="Freeform 68"/>
              <p:cNvSpPr/>
              <p:nvPr/>
            </p:nvSpPr>
            <p:spPr bwMode="auto">
              <a:xfrm rot="10800000">
                <a:off x="4528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48" name="Freeform 69"/>
              <p:cNvSpPr/>
              <p:nvPr/>
            </p:nvSpPr>
            <p:spPr bwMode="auto">
              <a:xfrm rot="10800000">
                <a:off x="4524" y="295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1649" name="Rectangle 70"/>
              <p:cNvSpPr>
                <a:spLocks noChangeArrowheads="1"/>
              </p:cNvSpPr>
              <p:nvPr/>
            </p:nvSpPr>
            <p:spPr bwMode="auto">
              <a:xfrm>
                <a:off x="1204" y="3175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读  写  控  制  电  路</a:t>
                </a:r>
              </a:p>
            </p:txBody>
          </p:sp>
          <p:sp>
            <p:nvSpPr>
              <p:cNvPr id="151650" name="Rectangle 71"/>
              <p:cNvSpPr>
                <a:spLocks noChangeArrowheads="1"/>
              </p:cNvSpPr>
              <p:nvPr/>
            </p:nvSpPr>
            <p:spPr bwMode="auto">
              <a:xfrm>
                <a:off x="1204" y="3656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bIns="0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列  地  址  译  码  器</a:t>
                </a:r>
              </a:p>
            </p:txBody>
          </p:sp>
          <p:sp>
            <p:nvSpPr>
              <p:cNvPr id="151651" name="Text Box 72"/>
              <p:cNvSpPr txBox="1">
                <a:spLocks noChangeArrowheads="1"/>
              </p:cNvSpPr>
              <p:nvPr/>
            </p:nvSpPr>
            <p:spPr bwMode="auto">
              <a:xfrm rot="5400000">
                <a:off x="1689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51652" name="Text Box 73"/>
              <p:cNvSpPr txBox="1">
                <a:spLocks noChangeArrowheads="1"/>
              </p:cNvSpPr>
              <p:nvPr/>
            </p:nvSpPr>
            <p:spPr bwMode="auto">
              <a:xfrm rot="5400000">
                <a:off x="2620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51653" name="Text Box 74"/>
              <p:cNvSpPr txBox="1">
                <a:spLocks noChangeArrowheads="1"/>
              </p:cNvSpPr>
              <p:nvPr/>
            </p:nvSpPr>
            <p:spPr bwMode="auto">
              <a:xfrm rot="5400000">
                <a:off x="4252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51654" name="Rectangle 75"/>
              <p:cNvSpPr>
                <a:spLocks noChangeArrowheads="1"/>
              </p:cNvSpPr>
              <p:nvPr/>
            </p:nvSpPr>
            <p:spPr bwMode="auto">
              <a:xfrm>
                <a:off x="1615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1655" name="Rectangle 76"/>
              <p:cNvSpPr>
                <a:spLocks noChangeArrowheads="1"/>
              </p:cNvSpPr>
              <p:nvPr/>
            </p:nvSpPr>
            <p:spPr bwMode="auto">
              <a:xfrm>
                <a:off x="1615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1656" name="Rectangle 77"/>
              <p:cNvSpPr>
                <a:spLocks noChangeArrowheads="1"/>
              </p:cNvSpPr>
              <p:nvPr/>
            </p:nvSpPr>
            <p:spPr bwMode="auto">
              <a:xfrm>
                <a:off x="2546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1657" name="Rectangle 78"/>
              <p:cNvSpPr>
                <a:spLocks noChangeArrowheads="1"/>
              </p:cNvSpPr>
              <p:nvPr/>
            </p:nvSpPr>
            <p:spPr bwMode="auto">
              <a:xfrm>
                <a:off x="2546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1658" name="Rectangle 79"/>
              <p:cNvSpPr>
                <a:spLocks noChangeArrowheads="1"/>
              </p:cNvSpPr>
              <p:nvPr/>
            </p:nvSpPr>
            <p:spPr bwMode="auto">
              <a:xfrm>
                <a:off x="2546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1659" name="Rectangle 80"/>
              <p:cNvSpPr>
                <a:spLocks noChangeArrowheads="1"/>
              </p:cNvSpPr>
              <p:nvPr/>
            </p:nvSpPr>
            <p:spPr bwMode="auto">
              <a:xfrm>
                <a:off x="4178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1660" name="Rectangle 81"/>
              <p:cNvSpPr>
                <a:spLocks noChangeArrowheads="1"/>
              </p:cNvSpPr>
              <p:nvPr/>
            </p:nvSpPr>
            <p:spPr bwMode="auto">
              <a:xfrm>
                <a:off x="4178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1661" name="Rectangle 82"/>
              <p:cNvSpPr>
                <a:spLocks noChangeArrowheads="1"/>
              </p:cNvSpPr>
              <p:nvPr/>
            </p:nvSpPr>
            <p:spPr bwMode="auto">
              <a:xfrm>
                <a:off x="4178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1662" name="AutoShape 83"/>
              <p:cNvSpPr>
                <a:spLocks noChangeArrowheads="1"/>
              </p:cNvSpPr>
              <p:nvPr/>
            </p:nvSpPr>
            <p:spPr bwMode="auto">
              <a:xfrm rot="-5400000">
                <a:off x="2631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1663" name="AutoShape 84"/>
              <p:cNvSpPr>
                <a:spLocks noChangeArrowheads="1"/>
              </p:cNvSpPr>
              <p:nvPr/>
            </p:nvSpPr>
            <p:spPr bwMode="auto">
              <a:xfrm rot="-5400000">
                <a:off x="4263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1664" name="Text Box 85"/>
              <p:cNvSpPr txBox="1">
                <a:spLocks noChangeArrowheads="1"/>
              </p:cNvSpPr>
              <p:nvPr/>
            </p:nvSpPr>
            <p:spPr bwMode="auto">
              <a:xfrm>
                <a:off x="4796" y="861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读选择线</a:t>
                </a:r>
              </a:p>
            </p:txBody>
          </p:sp>
          <p:sp>
            <p:nvSpPr>
              <p:cNvPr id="151665" name="Text Box 86"/>
              <p:cNvSpPr txBox="1">
                <a:spLocks noChangeArrowheads="1"/>
              </p:cNvSpPr>
              <p:nvPr/>
            </p:nvSpPr>
            <p:spPr bwMode="auto">
              <a:xfrm>
                <a:off x="4806" y="115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写选择线</a:t>
                </a:r>
              </a:p>
            </p:txBody>
          </p:sp>
          <p:sp>
            <p:nvSpPr>
              <p:cNvPr id="151666" name="Line 87"/>
              <p:cNvSpPr>
                <a:spLocks noChangeShapeType="1"/>
              </p:cNvSpPr>
              <p:nvPr/>
            </p:nvSpPr>
            <p:spPr bwMode="auto">
              <a:xfrm>
                <a:off x="4817" y="3306"/>
                <a:ext cx="3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1667" name="Text Box 88"/>
              <p:cNvSpPr txBox="1">
                <a:spLocks noChangeArrowheads="1"/>
              </p:cNvSpPr>
              <p:nvPr/>
            </p:nvSpPr>
            <p:spPr bwMode="auto">
              <a:xfrm>
                <a:off x="4906" y="3024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51668" name="Text Box 89"/>
              <p:cNvSpPr txBox="1">
                <a:spLocks noChangeArrowheads="1"/>
              </p:cNvSpPr>
              <p:nvPr/>
            </p:nvSpPr>
            <p:spPr bwMode="auto">
              <a:xfrm>
                <a:off x="3296" y="1929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单元</a:t>
                </a:r>
              </a:p>
            </p:txBody>
          </p:sp>
          <p:sp>
            <p:nvSpPr>
              <p:cNvPr id="151669" name="Text Box 90"/>
              <p:cNvSpPr txBox="1">
                <a:spLocks noChangeArrowheads="1"/>
              </p:cNvSpPr>
              <p:nvPr/>
            </p:nvSpPr>
            <p:spPr bwMode="auto">
              <a:xfrm>
                <a:off x="3296" y="2108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电路</a:t>
                </a:r>
              </a:p>
            </p:txBody>
          </p:sp>
          <p:sp>
            <p:nvSpPr>
              <p:cNvPr id="151670" name="Text Box 91"/>
              <p:cNvSpPr txBox="1">
                <a:spLocks noChangeArrowheads="1"/>
              </p:cNvSpPr>
              <p:nvPr/>
            </p:nvSpPr>
            <p:spPr bwMode="auto">
              <a:xfrm>
                <a:off x="503" y="936"/>
                <a:ext cx="309" cy="2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行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地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址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译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码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器</a:t>
                </a:r>
              </a:p>
            </p:txBody>
          </p:sp>
          <p:sp>
            <p:nvSpPr>
              <p:cNvPr id="151671" name="Text Box 92"/>
              <p:cNvSpPr txBox="1">
                <a:spLocks noChangeArrowheads="1"/>
              </p:cNvSpPr>
              <p:nvPr/>
            </p:nvSpPr>
            <p:spPr bwMode="auto">
              <a:xfrm>
                <a:off x="907" y="86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51672" name="Text Box 93"/>
              <p:cNvSpPr txBox="1">
                <a:spLocks noChangeArrowheads="1"/>
              </p:cNvSpPr>
              <p:nvPr/>
            </p:nvSpPr>
            <p:spPr bwMode="auto">
              <a:xfrm>
                <a:off x="907" y="115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51673" name="Text Box 94"/>
              <p:cNvSpPr txBox="1">
                <a:spLocks noChangeArrowheads="1"/>
              </p:cNvSpPr>
              <p:nvPr/>
            </p:nvSpPr>
            <p:spPr bwMode="auto">
              <a:xfrm>
                <a:off x="907" y="145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51674" name="Text Box 95"/>
              <p:cNvSpPr txBox="1">
                <a:spLocks noChangeArrowheads="1"/>
              </p:cNvSpPr>
              <p:nvPr/>
            </p:nvSpPr>
            <p:spPr bwMode="auto">
              <a:xfrm>
                <a:off x="907" y="176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51675" name="Text Box 96"/>
              <p:cNvSpPr txBox="1">
                <a:spLocks noChangeArrowheads="1"/>
              </p:cNvSpPr>
              <p:nvPr/>
            </p:nvSpPr>
            <p:spPr bwMode="auto">
              <a:xfrm>
                <a:off x="854" y="2294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51676" name="Text Box 97"/>
              <p:cNvSpPr txBox="1">
                <a:spLocks noChangeArrowheads="1"/>
              </p:cNvSpPr>
              <p:nvPr/>
            </p:nvSpPr>
            <p:spPr bwMode="auto">
              <a:xfrm>
                <a:off x="858" y="2592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51677" name="Line 98"/>
              <p:cNvSpPr>
                <a:spLocks noChangeShapeType="1"/>
              </p:cNvSpPr>
              <p:nvPr/>
            </p:nvSpPr>
            <p:spPr bwMode="auto">
              <a:xfrm>
                <a:off x="1887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1678" name="Line 99"/>
              <p:cNvSpPr>
                <a:spLocks noChangeShapeType="1"/>
              </p:cNvSpPr>
              <p:nvPr/>
            </p:nvSpPr>
            <p:spPr bwMode="auto">
              <a:xfrm>
                <a:off x="2832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1679" name="Text Box 100"/>
              <p:cNvSpPr txBox="1">
                <a:spLocks noChangeArrowheads="1"/>
              </p:cNvSpPr>
              <p:nvPr/>
            </p:nvSpPr>
            <p:spPr bwMode="auto">
              <a:xfrm>
                <a:off x="2613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51680" name="Line 101"/>
              <p:cNvSpPr>
                <a:spLocks noChangeShapeType="1"/>
              </p:cNvSpPr>
              <p:nvPr/>
            </p:nvSpPr>
            <p:spPr bwMode="auto">
              <a:xfrm>
                <a:off x="4473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1681" name="Text Box 102"/>
              <p:cNvSpPr txBox="1">
                <a:spLocks noChangeArrowheads="1"/>
              </p:cNvSpPr>
              <p:nvPr/>
            </p:nvSpPr>
            <p:spPr bwMode="auto">
              <a:xfrm>
                <a:off x="4176" y="3420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51682" name="Group 103"/>
              <p:cNvGrpSpPr/>
              <p:nvPr/>
            </p:nvGrpSpPr>
            <p:grpSpPr bwMode="auto">
              <a:xfrm>
                <a:off x="1492" y="3918"/>
                <a:ext cx="284" cy="323"/>
                <a:chOff x="1584" y="3918"/>
                <a:chExt cx="284" cy="323"/>
              </a:xfrm>
            </p:grpSpPr>
            <p:sp>
              <p:nvSpPr>
                <p:cNvPr id="151718" name="Line 104"/>
                <p:cNvSpPr>
                  <a:spLocks noChangeShapeType="1"/>
                </p:cNvSpPr>
                <p:nvPr/>
              </p:nvSpPr>
              <p:spPr bwMode="auto">
                <a:xfrm rot="-5400000">
                  <a:off x="149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1719" name="Text Box 105"/>
                <p:cNvSpPr txBox="1">
                  <a:spLocks noChangeArrowheads="1"/>
                </p:cNvSpPr>
                <p:nvPr/>
              </p:nvSpPr>
              <p:spPr bwMode="auto">
                <a:xfrm>
                  <a:off x="1584" y="3991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</p:grpSp>
          <p:grpSp>
            <p:nvGrpSpPr>
              <p:cNvPr id="151683" name="Group 106"/>
              <p:cNvGrpSpPr/>
              <p:nvPr/>
            </p:nvGrpSpPr>
            <p:grpSpPr bwMode="auto">
              <a:xfrm>
                <a:off x="2234" y="3918"/>
                <a:ext cx="285" cy="324"/>
                <a:chOff x="2355" y="3918"/>
                <a:chExt cx="285" cy="324"/>
              </a:xfrm>
            </p:grpSpPr>
            <p:sp>
              <p:nvSpPr>
                <p:cNvPr id="151716" name="Line 107"/>
                <p:cNvSpPr>
                  <a:spLocks noChangeShapeType="1"/>
                </p:cNvSpPr>
                <p:nvPr/>
              </p:nvSpPr>
              <p:spPr bwMode="auto">
                <a:xfrm rot="-5400000">
                  <a:off x="224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1717" name="Text Box 108"/>
                <p:cNvSpPr txBox="1">
                  <a:spLocks noChangeArrowheads="1"/>
                </p:cNvSpPr>
                <p:nvPr/>
              </p:nvSpPr>
              <p:spPr bwMode="auto">
                <a:xfrm>
                  <a:off x="2356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3</a:t>
                  </a:r>
                </a:p>
              </p:txBody>
            </p:sp>
          </p:grpSp>
          <p:grpSp>
            <p:nvGrpSpPr>
              <p:cNvPr id="151684" name="Group 109"/>
              <p:cNvGrpSpPr/>
              <p:nvPr/>
            </p:nvGrpSpPr>
            <p:grpSpPr bwMode="auto">
              <a:xfrm>
                <a:off x="2978" y="3918"/>
                <a:ext cx="284" cy="324"/>
                <a:chOff x="3102" y="3918"/>
                <a:chExt cx="284" cy="324"/>
              </a:xfrm>
            </p:grpSpPr>
            <p:sp>
              <p:nvSpPr>
                <p:cNvPr id="151714" name="Line 110"/>
                <p:cNvSpPr>
                  <a:spLocks noChangeShapeType="1"/>
                </p:cNvSpPr>
                <p:nvPr/>
              </p:nvSpPr>
              <p:spPr bwMode="auto">
                <a:xfrm rot="-5400000">
                  <a:off x="300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1715" name="Text Box 111"/>
                <p:cNvSpPr txBox="1">
                  <a:spLocks noChangeArrowheads="1"/>
                </p:cNvSpPr>
                <p:nvPr/>
              </p:nvSpPr>
              <p:spPr bwMode="auto">
                <a:xfrm>
                  <a:off x="3102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</p:grpSp>
          <p:grpSp>
            <p:nvGrpSpPr>
              <p:cNvPr id="151685" name="Group 112"/>
              <p:cNvGrpSpPr/>
              <p:nvPr/>
            </p:nvGrpSpPr>
            <p:grpSpPr bwMode="auto">
              <a:xfrm>
                <a:off x="3721" y="3918"/>
                <a:ext cx="284" cy="324"/>
                <a:chOff x="3844" y="3918"/>
                <a:chExt cx="284" cy="324"/>
              </a:xfrm>
            </p:grpSpPr>
            <p:sp>
              <p:nvSpPr>
                <p:cNvPr id="151712" name="Line 113"/>
                <p:cNvSpPr>
                  <a:spLocks noChangeShapeType="1"/>
                </p:cNvSpPr>
                <p:nvPr/>
              </p:nvSpPr>
              <p:spPr bwMode="auto">
                <a:xfrm rot="-5400000">
                  <a:off x="375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1713" name="Text Box 114"/>
                <p:cNvSpPr txBox="1">
                  <a:spLocks noChangeArrowheads="1"/>
                </p:cNvSpPr>
                <p:nvPr/>
              </p:nvSpPr>
              <p:spPr bwMode="auto">
                <a:xfrm>
                  <a:off x="3844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</p:grpSp>
          <p:grpSp>
            <p:nvGrpSpPr>
              <p:cNvPr id="151686" name="Group 115"/>
              <p:cNvGrpSpPr/>
              <p:nvPr/>
            </p:nvGrpSpPr>
            <p:grpSpPr bwMode="auto">
              <a:xfrm>
                <a:off x="4464" y="3918"/>
                <a:ext cx="284" cy="323"/>
                <a:chOff x="4603" y="3918"/>
                <a:chExt cx="284" cy="323"/>
              </a:xfrm>
            </p:grpSpPr>
            <p:sp>
              <p:nvSpPr>
                <p:cNvPr id="151710" name="Line 116"/>
                <p:cNvSpPr>
                  <a:spLocks noChangeShapeType="1"/>
                </p:cNvSpPr>
                <p:nvPr/>
              </p:nvSpPr>
              <p:spPr bwMode="auto">
                <a:xfrm rot="-5400000">
                  <a:off x="4510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1711" name="Text Box 117"/>
                <p:cNvSpPr txBox="1">
                  <a:spLocks noChangeArrowheads="1"/>
                </p:cNvSpPr>
                <p:nvPr/>
              </p:nvSpPr>
              <p:spPr bwMode="auto">
                <a:xfrm>
                  <a:off x="4603" y="3991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</p:grpSp>
          <p:sp>
            <p:nvSpPr>
              <p:cNvPr id="151687" name="Line 118"/>
              <p:cNvSpPr>
                <a:spLocks noChangeShapeType="1"/>
              </p:cNvSpPr>
              <p:nvPr/>
            </p:nvSpPr>
            <p:spPr bwMode="auto">
              <a:xfrm>
                <a:off x="2689" y="1690"/>
                <a:ext cx="643" cy="39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1688" name="Line 119"/>
              <p:cNvSpPr>
                <a:spLocks noChangeShapeType="1"/>
              </p:cNvSpPr>
              <p:nvPr/>
            </p:nvSpPr>
            <p:spPr bwMode="auto">
              <a:xfrm>
                <a:off x="3976" y="2039"/>
                <a:ext cx="990" cy="21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1689" name="Line 120"/>
              <p:cNvSpPr>
                <a:spLocks noChangeShapeType="1"/>
              </p:cNvSpPr>
              <p:nvPr/>
            </p:nvSpPr>
            <p:spPr bwMode="auto">
              <a:xfrm>
                <a:off x="4718" y="1384"/>
                <a:ext cx="693" cy="13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1690" name="Text Box 121"/>
              <p:cNvSpPr txBox="1">
                <a:spLocks noChangeArrowheads="1"/>
              </p:cNvSpPr>
              <p:nvPr/>
            </p:nvSpPr>
            <p:spPr bwMode="auto">
              <a:xfrm>
                <a:off x="4844" y="2728"/>
                <a:ext cx="92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刷新放大器</a:t>
                </a:r>
              </a:p>
            </p:txBody>
          </p:sp>
          <p:sp>
            <p:nvSpPr>
              <p:cNvPr id="151691" name="Line 122"/>
              <p:cNvSpPr>
                <a:spLocks noChangeShapeType="1"/>
              </p:cNvSpPr>
              <p:nvPr/>
            </p:nvSpPr>
            <p:spPr bwMode="auto">
              <a:xfrm flipV="1">
                <a:off x="4520" y="2957"/>
                <a:ext cx="495" cy="4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151692" name="Group 123"/>
              <p:cNvGrpSpPr/>
              <p:nvPr/>
            </p:nvGrpSpPr>
            <p:grpSpPr bwMode="auto">
              <a:xfrm>
                <a:off x="4916" y="1726"/>
                <a:ext cx="277" cy="893"/>
                <a:chOff x="4920" y="1790"/>
                <a:chExt cx="277" cy="893"/>
              </a:xfrm>
            </p:grpSpPr>
            <p:sp>
              <p:nvSpPr>
                <p:cNvPr id="151706" name="Text Box 124"/>
                <p:cNvSpPr txBox="1">
                  <a:spLocks noChangeArrowheads="1"/>
                </p:cNvSpPr>
                <p:nvPr/>
              </p:nvSpPr>
              <p:spPr bwMode="auto">
                <a:xfrm>
                  <a:off x="4920" y="1790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写</a:t>
                  </a:r>
                </a:p>
              </p:txBody>
            </p:sp>
            <p:sp>
              <p:nvSpPr>
                <p:cNvPr id="151707" name="Text Box 125"/>
                <p:cNvSpPr txBox="1">
                  <a:spLocks noChangeArrowheads="1"/>
                </p:cNvSpPr>
                <p:nvPr/>
              </p:nvSpPr>
              <p:spPr bwMode="auto">
                <a:xfrm>
                  <a:off x="4920" y="200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</a:p>
              </p:txBody>
            </p:sp>
            <p:sp>
              <p:nvSpPr>
                <p:cNvPr id="151708" name="Text Box 126"/>
                <p:cNvSpPr txBox="1">
                  <a:spLocks noChangeArrowheads="1"/>
                </p:cNvSpPr>
                <p:nvPr/>
              </p:nvSpPr>
              <p:spPr bwMode="auto">
                <a:xfrm>
                  <a:off x="4920" y="2219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51709" name="Text Box 127"/>
                <p:cNvSpPr txBox="1">
                  <a:spLocks noChangeArrowheads="1"/>
                </p:cNvSpPr>
                <p:nvPr/>
              </p:nvSpPr>
              <p:spPr bwMode="auto">
                <a:xfrm>
                  <a:off x="4920" y="243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</a:p>
              </p:txBody>
            </p:sp>
          </p:grpSp>
          <p:grpSp>
            <p:nvGrpSpPr>
              <p:cNvPr id="151693" name="Group 128"/>
              <p:cNvGrpSpPr/>
              <p:nvPr/>
            </p:nvGrpSpPr>
            <p:grpSpPr bwMode="auto">
              <a:xfrm>
                <a:off x="5372" y="1505"/>
                <a:ext cx="277" cy="879"/>
                <a:chOff x="5394" y="1612"/>
                <a:chExt cx="277" cy="879"/>
              </a:xfrm>
            </p:grpSpPr>
            <p:sp>
              <p:nvSpPr>
                <p:cNvPr id="151702" name="Text Box 129"/>
                <p:cNvSpPr txBox="1">
                  <a:spLocks noChangeArrowheads="1"/>
                </p:cNvSpPr>
                <p:nvPr/>
              </p:nvSpPr>
              <p:spPr bwMode="auto">
                <a:xfrm>
                  <a:off x="5394" y="161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</a:t>
                  </a:r>
                </a:p>
              </p:txBody>
            </p:sp>
            <p:sp>
              <p:nvSpPr>
                <p:cNvPr id="151703" name="Text Box 130"/>
                <p:cNvSpPr txBox="1">
                  <a:spLocks noChangeArrowheads="1"/>
                </p:cNvSpPr>
                <p:nvPr/>
              </p:nvSpPr>
              <p:spPr bwMode="auto">
                <a:xfrm>
                  <a:off x="5394" y="182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</a:p>
              </p:txBody>
            </p:sp>
            <p:sp>
              <p:nvSpPr>
                <p:cNvPr id="151704" name="Text Box 131"/>
                <p:cNvSpPr txBox="1">
                  <a:spLocks noChangeArrowheads="1"/>
                </p:cNvSpPr>
                <p:nvPr/>
              </p:nvSpPr>
              <p:spPr bwMode="auto">
                <a:xfrm>
                  <a:off x="5394" y="203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51705" name="Text Box 132"/>
                <p:cNvSpPr txBox="1">
                  <a:spLocks noChangeArrowheads="1"/>
                </p:cNvSpPr>
                <p:nvPr/>
              </p:nvSpPr>
              <p:spPr bwMode="auto">
                <a:xfrm>
                  <a:off x="5394" y="224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</a:p>
              </p:txBody>
            </p:sp>
          </p:grpSp>
          <p:grpSp>
            <p:nvGrpSpPr>
              <p:cNvPr id="151694" name="Group 133"/>
              <p:cNvGrpSpPr/>
              <p:nvPr/>
            </p:nvGrpSpPr>
            <p:grpSpPr bwMode="auto">
              <a:xfrm>
                <a:off x="3320" y="915"/>
                <a:ext cx="372" cy="2170"/>
                <a:chOff x="3324" y="979"/>
                <a:chExt cx="372" cy="2170"/>
              </a:xfrm>
            </p:grpSpPr>
            <p:sp>
              <p:nvSpPr>
                <p:cNvPr id="151698" name="Text Box 134"/>
                <p:cNvSpPr txBox="1">
                  <a:spLocks noChangeArrowheads="1"/>
                </p:cNvSpPr>
                <p:nvPr/>
              </p:nvSpPr>
              <p:spPr bwMode="auto">
                <a:xfrm>
                  <a:off x="3324" y="979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51699" name="Text Box 135"/>
                <p:cNvSpPr txBox="1">
                  <a:spLocks noChangeArrowheads="1"/>
                </p:cNvSpPr>
                <p:nvPr/>
              </p:nvSpPr>
              <p:spPr bwMode="auto">
                <a:xfrm>
                  <a:off x="3324" y="150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51700" name="Text Box 136"/>
                <p:cNvSpPr txBox="1">
                  <a:spLocks noChangeArrowheads="1"/>
                </p:cNvSpPr>
                <p:nvPr/>
              </p:nvSpPr>
              <p:spPr bwMode="auto">
                <a:xfrm>
                  <a:off x="3324" y="240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51701" name="Text Box 137"/>
                <p:cNvSpPr txBox="1">
                  <a:spLocks noChangeArrowheads="1"/>
                </p:cNvSpPr>
                <p:nvPr/>
              </p:nvSpPr>
              <p:spPr bwMode="auto">
                <a:xfrm>
                  <a:off x="3324" y="2784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</p:grpSp>
          <p:sp>
            <p:nvSpPr>
              <p:cNvPr id="151695" name="Text Box 138"/>
              <p:cNvSpPr txBox="1">
                <a:spLocks noChangeArrowheads="1"/>
              </p:cNvSpPr>
              <p:nvPr/>
            </p:nvSpPr>
            <p:spPr bwMode="auto">
              <a:xfrm rot="5400000">
                <a:off x="916" y="1976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51696" name="Text Box 139"/>
              <p:cNvSpPr txBox="1">
                <a:spLocks noChangeArrowheads="1"/>
              </p:cNvSpPr>
              <p:nvPr/>
            </p:nvSpPr>
            <p:spPr bwMode="auto">
              <a:xfrm>
                <a:off x="1656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51697" name="Text Box 140"/>
              <p:cNvSpPr txBox="1">
                <a:spLocks noChangeArrowheads="1"/>
              </p:cNvSpPr>
              <p:nvPr/>
            </p:nvSpPr>
            <p:spPr bwMode="auto">
              <a:xfrm>
                <a:off x="3350" y="3312"/>
                <a:ext cx="340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</p:grpSp>
      <p:grpSp>
        <p:nvGrpSpPr>
          <p:cNvPr id="151555" name="Group 141"/>
          <p:cNvGrpSpPr/>
          <p:nvPr/>
        </p:nvGrpSpPr>
        <p:grpSpPr bwMode="auto">
          <a:xfrm>
            <a:off x="1833563" y="3711575"/>
            <a:ext cx="5791200" cy="646113"/>
            <a:chOff x="1155" y="2338"/>
            <a:chExt cx="3648" cy="407"/>
          </a:xfrm>
        </p:grpSpPr>
        <p:sp>
          <p:nvSpPr>
            <p:cNvPr id="151584" name="Freeform 142"/>
            <p:cNvSpPr/>
            <p:nvPr/>
          </p:nvSpPr>
          <p:spPr bwMode="auto">
            <a:xfrm>
              <a:off x="1155" y="2740"/>
              <a:ext cx="3648" cy="5"/>
            </a:xfrm>
            <a:custGeom>
              <a:avLst/>
              <a:gdLst>
                <a:gd name="T0" fmla="*/ 0 w 3648"/>
                <a:gd name="T1" fmla="*/ 0 h 5"/>
                <a:gd name="T2" fmla="*/ 3648 w 3648"/>
                <a:gd name="T3" fmla="*/ 5 h 5"/>
                <a:gd name="T4" fmla="*/ 0 60000 65536"/>
                <a:gd name="T5" fmla="*/ 0 60000 65536"/>
                <a:gd name="T6" fmla="*/ 0 w 3648"/>
                <a:gd name="T7" fmla="*/ 0 h 5"/>
                <a:gd name="T8" fmla="*/ 3648 w 3648"/>
                <a:gd name="T9" fmla="*/ 5 h 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48" h="5">
                  <a:moveTo>
                    <a:pt x="0" y="0"/>
                  </a:moveTo>
                  <a:lnTo>
                    <a:pt x="3648" y="5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1585" name="Line 143"/>
            <p:cNvSpPr>
              <a:spLocks noChangeShapeType="1"/>
            </p:cNvSpPr>
            <p:nvPr/>
          </p:nvSpPr>
          <p:spPr bwMode="auto">
            <a:xfrm rot="10800000">
              <a:off x="1788" y="2656"/>
              <a:ext cx="0" cy="84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1586" name="Line 144"/>
            <p:cNvSpPr>
              <a:spLocks noChangeShapeType="1"/>
            </p:cNvSpPr>
            <p:nvPr/>
          </p:nvSpPr>
          <p:spPr bwMode="auto">
            <a:xfrm rot="10800000">
              <a:off x="2725" y="2658"/>
              <a:ext cx="0" cy="84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1587" name="Freeform 145"/>
            <p:cNvSpPr/>
            <p:nvPr/>
          </p:nvSpPr>
          <p:spPr bwMode="auto">
            <a:xfrm>
              <a:off x="4350" y="2657"/>
              <a:ext cx="1" cy="79"/>
            </a:xfrm>
            <a:custGeom>
              <a:avLst/>
              <a:gdLst>
                <a:gd name="T0" fmla="*/ 0 w 1"/>
                <a:gd name="T1" fmla="*/ 79 h 79"/>
                <a:gd name="T2" fmla="*/ 1 w 1"/>
                <a:gd name="T3" fmla="*/ 0 h 79"/>
                <a:gd name="T4" fmla="*/ 0 60000 65536"/>
                <a:gd name="T5" fmla="*/ 0 60000 65536"/>
                <a:gd name="T6" fmla="*/ 0 w 1"/>
                <a:gd name="T7" fmla="*/ 0 h 79"/>
                <a:gd name="T8" fmla="*/ 1 w 1"/>
                <a:gd name="T9" fmla="*/ 79 h 7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79">
                  <a:moveTo>
                    <a:pt x="0" y="79"/>
                  </a:moveTo>
                  <a:lnTo>
                    <a:pt x="1" y="0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1588" name="Rectangle 146"/>
            <p:cNvSpPr>
              <a:spLocks noChangeArrowheads="1"/>
            </p:cNvSpPr>
            <p:nvPr/>
          </p:nvSpPr>
          <p:spPr bwMode="auto">
            <a:xfrm>
              <a:off x="1615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1589" name="Rectangle 147"/>
            <p:cNvSpPr>
              <a:spLocks noChangeArrowheads="1"/>
            </p:cNvSpPr>
            <p:nvPr/>
          </p:nvSpPr>
          <p:spPr bwMode="auto">
            <a:xfrm>
              <a:off x="2546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1590" name="Rectangle 148"/>
            <p:cNvSpPr>
              <a:spLocks noChangeArrowheads="1"/>
            </p:cNvSpPr>
            <p:nvPr/>
          </p:nvSpPr>
          <p:spPr bwMode="auto">
            <a:xfrm>
              <a:off x="4178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1591" name="Text Box 149"/>
            <p:cNvSpPr txBox="1">
              <a:spLocks noChangeArrowheads="1"/>
            </p:cNvSpPr>
            <p:nvPr/>
          </p:nvSpPr>
          <p:spPr bwMode="auto">
            <a:xfrm>
              <a:off x="3320" y="233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151556" name="Group 150"/>
          <p:cNvGrpSpPr/>
          <p:nvPr/>
        </p:nvGrpSpPr>
        <p:grpSpPr bwMode="auto">
          <a:xfrm>
            <a:off x="4144963" y="5437188"/>
            <a:ext cx="344487" cy="396875"/>
            <a:chOff x="2611" y="3425"/>
            <a:chExt cx="217" cy="250"/>
          </a:xfrm>
        </p:grpSpPr>
        <p:sp>
          <p:nvSpPr>
            <p:cNvPr id="151582" name="Text Box 151"/>
            <p:cNvSpPr txBox="1">
              <a:spLocks noChangeArrowheads="1"/>
            </p:cNvSpPr>
            <p:nvPr/>
          </p:nvSpPr>
          <p:spPr bwMode="auto">
            <a:xfrm>
              <a:off x="2611" y="3425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1583" name="Freeform 152"/>
            <p:cNvSpPr/>
            <p:nvPr/>
          </p:nvSpPr>
          <p:spPr bwMode="auto">
            <a:xfrm>
              <a:off x="2827" y="3430"/>
              <a:ext cx="1" cy="227"/>
            </a:xfrm>
            <a:custGeom>
              <a:avLst/>
              <a:gdLst>
                <a:gd name="T0" fmla="*/ 0 w 1"/>
                <a:gd name="T1" fmla="*/ 0 h 227"/>
                <a:gd name="T2" fmla="*/ 0 w 1"/>
                <a:gd name="T3" fmla="*/ 227 h 227"/>
                <a:gd name="T4" fmla="*/ 0 60000 65536"/>
                <a:gd name="T5" fmla="*/ 0 60000 65536"/>
                <a:gd name="T6" fmla="*/ 0 w 1"/>
                <a:gd name="T7" fmla="*/ 0 h 227"/>
                <a:gd name="T8" fmla="*/ 1 w 1"/>
                <a:gd name="T9" fmla="*/ 227 h 22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27">
                  <a:moveTo>
                    <a:pt x="0" y="0"/>
                  </a:moveTo>
                  <a:lnTo>
                    <a:pt x="0" y="227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51557" name="Group 153"/>
          <p:cNvGrpSpPr/>
          <p:nvPr/>
        </p:nvGrpSpPr>
        <p:grpSpPr bwMode="auto">
          <a:xfrm>
            <a:off x="341313" y="1819275"/>
            <a:ext cx="361950" cy="3362325"/>
            <a:chOff x="300" y="720"/>
            <a:chExt cx="221" cy="2327"/>
          </a:xfrm>
        </p:grpSpPr>
        <p:sp>
          <p:nvSpPr>
            <p:cNvPr id="151577" name="Text Box 154"/>
            <p:cNvSpPr txBox="1">
              <a:spLocks noChangeArrowheads="1"/>
            </p:cNvSpPr>
            <p:nvPr/>
          </p:nvSpPr>
          <p:spPr bwMode="auto">
            <a:xfrm>
              <a:off x="300" y="720"/>
              <a:ext cx="221" cy="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1578" name="Text Box 155"/>
            <p:cNvSpPr txBox="1">
              <a:spLocks noChangeArrowheads="1"/>
            </p:cNvSpPr>
            <p:nvPr/>
          </p:nvSpPr>
          <p:spPr bwMode="auto">
            <a:xfrm>
              <a:off x="300" y="1212"/>
              <a:ext cx="221" cy="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1579" name="Text Box 156"/>
            <p:cNvSpPr txBox="1">
              <a:spLocks noChangeArrowheads="1"/>
            </p:cNvSpPr>
            <p:nvPr/>
          </p:nvSpPr>
          <p:spPr bwMode="auto">
            <a:xfrm>
              <a:off x="300" y="1705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1580" name="Text Box 157"/>
            <p:cNvSpPr txBox="1">
              <a:spLocks noChangeArrowheads="1"/>
            </p:cNvSpPr>
            <p:nvPr/>
          </p:nvSpPr>
          <p:spPr bwMode="auto">
            <a:xfrm>
              <a:off x="300" y="2196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1581" name="Text Box 158"/>
            <p:cNvSpPr txBox="1">
              <a:spLocks noChangeArrowheads="1"/>
            </p:cNvSpPr>
            <p:nvPr/>
          </p:nvSpPr>
          <p:spPr bwMode="auto">
            <a:xfrm>
              <a:off x="300" y="2688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</p:grpSp>
      <p:grpSp>
        <p:nvGrpSpPr>
          <p:cNvPr id="151558" name="Group 159"/>
          <p:cNvGrpSpPr/>
          <p:nvPr/>
        </p:nvGrpSpPr>
        <p:grpSpPr bwMode="auto">
          <a:xfrm>
            <a:off x="1981200" y="6138863"/>
            <a:ext cx="5154613" cy="519112"/>
            <a:chOff x="1452" y="3984"/>
            <a:chExt cx="3149" cy="359"/>
          </a:xfrm>
        </p:grpSpPr>
        <p:sp>
          <p:nvSpPr>
            <p:cNvPr id="151572" name="Text Box 160"/>
            <p:cNvSpPr txBox="1">
              <a:spLocks noChangeArrowheads="1"/>
            </p:cNvSpPr>
            <p:nvPr/>
          </p:nvSpPr>
          <p:spPr bwMode="auto">
            <a:xfrm>
              <a:off x="1452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51573" name="Text Box 161"/>
            <p:cNvSpPr txBox="1">
              <a:spLocks noChangeArrowheads="1"/>
            </p:cNvSpPr>
            <p:nvPr/>
          </p:nvSpPr>
          <p:spPr bwMode="auto">
            <a:xfrm>
              <a:off x="4380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1574" name="Text Box 162"/>
            <p:cNvSpPr txBox="1">
              <a:spLocks noChangeArrowheads="1"/>
            </p:cNvSpPr>
            <p:nvPr/>
          </p:nvSpPr>
          <p:spPr bwMode="auto">
            <a:xfrm>
              <a:off x="3648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51575" name="Text Box 163"/>
            <p:cNvSpPr txBox="1">
              <a:spLocks noChangeArrowheads="1"/>
            </p:cNvSpPr>
            <p:nvPr/>
          </p:nvSpPr>
          <p:spPr bwMode="auto">
            <a:xfrm>
              <a:off x="2917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51576" name="Text Box 164"/>
            <p:cNvSpPr txBox="1">
              <a:spLocks noChangeArrowheads="1"/>
            </p:cNvSpPr>
            <p:nvPr/>
          </p:nvSpPr>
          <p:spPr bwMode="auto">
            <a:xfrm>
              <a:off x="2186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</p:grpSp>
      <p:grpSp>
        <p:nvGrpSpPr>
          <p:cNvPr id="21" name="Group 165"/>
          <p:cNvGrpSpPr/>
          <p:nvPr/>
        </p:nvGrpSpPr>
        <p:grpSpPr bwMode="auto">
          <a:xfrm>
            <a:off x="4152900" y="5429250"/>
            <a:ext cx="344488" cy="396875"/>
            <a:chOff x="2855" y="3408"/>
            <a:chExt cx="217" cy="250"/>
          </a:xfrm>
        </p:grpSpPr>
        <p:sp>
          <p:nvSpPr>
            <p:cNvPr id="151570" name="Text Box 166"/>
            <p:cNvSpPr txBox="1">
              <a:spLocks noChangeArrowheads="1"/>
            </p:cNvSpPr>
            <p:nvPr/>
          </p:nvSpPr>
          <p:spPr bwMode="auto">
            <a:xfrm>
              <a:off x="2855" y="3408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rgbClr val="C28F00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1571" name="Freeform 167"/>
            <p:cNvSpPr/>
            <p:nvPr/>
          </p:nvSpPr>
          <p:spPr bwMode="auto">
            <a:xfrm>
              <a:off x="3071" y="3413"/>
              <a:ext cx="1" cy="227"/>
            </a:xfrm>
            <a:custGeom>
              <a:avLst/>
              <a:gdLst>
                <a:gd name="T0" fmla="*/ 0 w 1"/>
                <a:gd name="T1" fmla="*/ 0 h 227"/>
                <a:gd name="T2" fmla="*/ 0 w 1"/>
                <a:gd name="T3" fmla="*/ 227 h 227"/>
                <a:gd name="T4" fmla="*/ 0 60000 65536"/>
                <a:gd name="T5" fmla="*/ 0 60000 65536"/>
                <a:gd name="T6" fmla="*/ 0 w 1"/>
                <a:gd name="T7" fmla="*/ 0 h 227"/>
                <a:gd name="T8" fmla="*/ 1 w 1"/>
                <a:gd name="T9" fmla="*/ 227 h 22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27">
                  <a:moveTo>
                    <a:pt x="0" y="0"/>
                  </a:moveTo>
                  <a:lnTo>
                    <a:pt x="0" y="227"/>
                  </a:lnTo>
                </a:path>
              </a:pathLst>
            </a:custGeom>
            <a:noFill/>
            <a:ln w="76200">
              <a:solidFill>
                <a:srgbClr val="C28F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2" name="Group 168"/>
          <p:cNvGrpSpPr/>
          <p:nvPr/>
        </p:nvGrpSpPr>
        <p:grpSpPr bwMode="auto">
          <a:xfrm>
            <a:off x="4151313" y="5429250"/>
            <a:ext cx="344487" cy="396875"/>
            <a:chOff x="2611" y="3425"/>
            <a:chExt cx="217" cy="250"/>
          </a:xfrm>
        </p:grpSpPr>
        <p:sp>
          <p:nvSpPr>
            <p:cNvPr id="151568" name="Text Box 169"/>
            <p:cNvSpPr txBox="1">
              <a:spLocks noChangeArrowheads="1"/>
            </p:cNvSpPr>
            <p:nvPr/>
          </p:nvSpPr>
          <p:spPr bwMode="auto">
            <a:xfrm>
              <a:off x="2611" y="3425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1569" name="Freeform 170"/>
            <p:cNvSpPr/>
            <p:nvPr/>
          </p:nvSpPr>
          <p:spPr bwMode="auto">
            <a:xfrm>
              <a:off x="2827" y="3430"/>
              <a:ext cx="1" cy="227"/>
            </a:xfrm>
            <a:custGeom>
              <a:avLst/>
              <a:gdLst>
                <a:gd name="T0" fmla="*/ 0 w 1"/>
                <a:gd name="T1" fmla="*/ 0 h 227"/>
                <a:gd name="T2" fmla="*/ 0 w 1"/>
                <a:gd name="T3" fmla="*/ 227 h 227"/>
                <a:gd name="T4" fmla="*/ 0 60000 65536"/>
                <a:gd name="T5" fmla="*/ 0 60000 65536"/>
                <a:gd name="T6" fmla="*/ 0 w 1"/>
                <a:gd name="T7" fmla="*/ 0 h 227"/>
                <a:gd name="T8" fmla="*/ 1 w 1"/>
                <a:gd name="T9" fmla="*/ 227 h 22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27">
                  <a:moveTo>
                    <a:pt x="0" y="0"/>
                  </a:moveTo>
                  <a:lnTo>
                    <a:pt x="0" y="227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239787" name="Rectangle 171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51562" name="Text Box 172"/>
          <p:cNvSpPr txBox="1">
            <a:spLocks noChangeArrowheads="1"/>
          </p:cNvSpPr>
          <p:nvPr/>
        </p:nvSpPr>
        <p:spPr bwMode="auto">
          <a:xfrm>
            <a:off x="304800" y="228600"/>
            <a:ext cx="7696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zh-CN" altLang="en-US" sz="3200">
                <a:latin typeface="Times New Roman" panose="02020603050405020304" pitchFamily="18" charset="0"/>
              </a:rPr>
              <a:t>三管动态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200">
                <a:latin typeface="Times New Roman" panose="02020603050405020304" pitchFamily="18" charset="0"/>
              </a:rPr>
              <a:t>芯片 (</a:t>
            </a:r>
            <a:r>
              <a:rPr lang="en-US" altLang="zh-CN" sz="3200">
                <a:latin typeface="Times New Roman" panose="02020603050405020304" pitchFamily="18" charset="0"/>
              </a:rPr>
              <a:t>Intel 1103)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</a:p>
        </p:txBody>
      </p:sp>
      <p:grpSp>
        <p:nvGrpSpPr>
          <p:cNvPr id="23" name="Group 173"/>
          <p:cNvGrpSpPr/>
          <p:nvPr/>
        </p:nvGrpSpPr>
        <p:grpSpPr bwMode="auto">
          <a:xfrm>
            <a:off x="4032250" y="1719263"/>
            <a:ext cx="808038" cy="2058987"/>
            <a:chOff x="2540" y="1083"/>
            <a:chExt cx="509" cy="1297"/>
          </a:xfrm>
        </p:grpSpPr>
        <p:sp>
          <p:nvSpPr>
            <p:cNvPr id="151565" name="Rectangle 174"/>
            <p:cNvSpPr>
              <a:spLocks noChangeArrowheads="1"/>
            </p:cNvSpPr>
            <p:nvPr/>
          </p:nvSpPr>
          <p:spPr bwMode="auto">
            <a:xfrm>
              <a:off x="2549" y="1083"/>
              <a:ext cx="347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1566" name="Rectangle 175"/>
            <p:cNvSpPr>
              <a:spLocks noChangeArrowheads="1"/>
            </p:cNvSpPr>
            <p:nvPr/>
          </p:nvSpPr>
          <p:spPr bwMode="auto">
            <a:xfrm>
              <a:off x="2540" y="1636"/>
              <a:ext cx="358" cy="138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1567" name="Text Box 176"/>
            <p:cNvSpPr txBox="1">
              <a:spLocks noChangeArrowheads="1"/>
            </p:cNvSpPr>
            <p:nvPr/>
          </p:nvSpPr>
          <p:spPr bwMode="auto">
            <a:xfrm>
              <a:off x="2587" y="1972"/>
              <a:ext cx="462" cy="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151564" name="AutoShape 177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578" name="Group 2"/>
          <p:cNvGrpSpPr/>
          <p:nvPr/>
        </p:nvGrpSpPr>
        <p:grpSpPr bwMode="auto">
          <a:xfrm>
            <a:off x="0" y="1295400"/>
            <a:ext cx="9151938" cy="5438775"/>
            <a:chOff x="0" y="816"/>
            <a:chExt cx="5765" cy="3426"/>
          </a:xfrm>
        </p:grpSpPr>
        <p:grpSp>
          <p:nvGrpSpPr>
            <p:cNvPr id="152613" name="Group 3"/>
            <p:cNvGrpSpPr/>
            <p:nvPr/>
          </p:nvGrpSpPr>
          <p:grpSpPr bwMode="auto">
            <a:xfrm>
              <a:off x="0" y="1094"/>
              <a:ext cx="462" cy="250"/>
              <a:chOff x="0" y="933"/>
              <a:chExt cx="462" cy="250"/>
            </a:xfrm>
          </p:grpSpPr>
          <p:sp>
            <p:nvSpPr>
              <p:cNvPr id="152749" name="Line 4"/>
              <p:cNvSpPr>
                <a:spLocks noChangeShapeType="1"/>
              </p:cNvSpPr>
              <p:nvPr/>
            </p:nvSpPr>
            <p:spPr bwMode="auto">
              <a:xfrm>
                <a:off x="214" y="991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2750" name="Text Box 5"/>
              <p:cNvSpPr txBox="1">
                <a:spLocks noChangeArrowheads="1"/>
              </p:cNvSpPr>
              <p:nvPr/>
            </p:nvSpPr>
            <p:spPr bwMode="auto">
              <a:xfrm>
                <a:off x="0" y="933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9</a:t>
                </a:r>
              </a:p>
            </p:txBody>
          </p:sp>
        </p:grpSp>
        <p:grpSp>
          <p:nvGrpSpPr>
            <p:cNvPr id="152614" name="Group 6"/>
            <p:cNvGrpSpPr/>
            <p:nvPr/>
          </p:nvGrpSpPr>
          <p:grpSpPr bwMode="auto">
            <a:xfrm>
              <a:off x="16" y="1540"/>
              <a:ext cx="446" cy="250"/>
              <a:chOff x="16" y="1371"/>
              <a:chExt cx="446" cy="250"/>
            </a:xfrm>
          </p:grpSpPr>
          <p:sp>
            <p:nvSpPr>
              <p:cNvPr id="152747" name="Line 7"/>
              <p:cNvSpPr>
                <a:spLocks noChangeShapeType="1"/>
              </p:cNvSpPr>
              <p:nvPr/>
            </p:nvSpPr>
            <p:spPr bwMode="auto">
              <a:xfrm>
                <a:off x="214" y="1439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2748" name="Text Box 8"/>
              <p:cNvSpPr txBox="1">
                <a:spLocks noChangeArrowheads="1"/>
              </p:cNvSpPr>
              <p:nvPr/>
            </p:nvSpPr>
            <p:spPr bwMode="auto">
              <a:xfrm>
                <a:off x="16" y="1371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52615" name="Group 9"/>
            <p:cNvGrpSpPr/>
            <p:nvPr/>
          </p:nvGrpSpPr>
          <p:grpSpPr bwMode="auto">
            <a:xfrm>
              <a:off x="16" y="1987"/>
              <a:ext cx="446" cy="250"/>
              <a:chOff x="16" y="1809"/>
              <a:chExt cx="446" cy="250"/>
            </a:xfrm>
          </p:grpSpPr>
          <p:sp>
            <p:nvSpPr>
              <p:cNvPr id="152745" name="Line 10"/>
              <p:cNvSpPr>
                <a:spLocks noChangeShapeType="1"/>
              </p:cNvSpPr>
              <p:nvPr/>
            </p:nvSpPr>
            <p:spPr bwMode="auto">
              <a:xfrm>
                <a:off x="214" y="1886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2746" name="Text Box 11"/>
              <p:cNvSpPr txBox="1">
                <a:spLocks noChangeArrowheads="1"/>
              </p:cNvSpPr>
              <p:nvPr/>
            </p:nvSpPr>
            <p:spPr bwMode="auto">
              <a:xfrm>
                <a:off x="16" y="1809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</a:p>
            </p:txBody>
          </p:sp>
        </p:grpSp>
        <p:grpSp>
          <p:nvGrpSpPr>
            <p:cNvPr id="152616" name="Group 12"/>
            <p:cNvGrpSpPr/>
            <p:nvPr/>
          </p:nvGrpSpPr>
          <p:grpSpPr bwMode="auto">
            <a:xfrm>
              <a:off x="16" y="2433"/>
              <a:ext cx="446" cy="250"/>
              <a:chOff x="16" y="2276"/>
              <a:chExt cx="446" cy="250"/>
            </a:xfrm>
          </p:grpSpPr>
          <p:sp>
            <p:nvSpPr>
              <p:cNvPr id="152743" name="Line 13"/>
              <p:cNvSpPr>
                <a:spLocks noChangeShapeType="1"/>
              </p:cNvSpPr>
              <p:nvPr/>
            </p:nvSpPr>
            <p:spPr bwMode="auto">
              <a:xfrm>
                <a:off x="214" y="2334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2744" name="Text Box 14"/>
              <p:cNvSpPr txBox="1">
                <a:spLocks noChangeArrowheads="1"/>
              </p:cNvSpPr>
              <p:nvPr/>
            </p:nvSpPr>
            <p:spPr bwMode="auto">
              <a:xfrm>
                <a:off x="16" y="2276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52617" name="Group 15"/>
            <p:cNvGrpSpPr/>
            <p:nvPr/>
          </p:nvGrpSpPr>
          <p:grpSpPr bwMode="auto">
            <a:xfrm>
              <a:off x="16" y="2880"/>
              <a:ext cx="446" cy="250"/>
              <a:chOff x="16" y="2725"/>
              <a:chExt cx="446" cy="250"/>
            </a:xfrm>
          </p:grpSpPr>
          <p:sp>
            <p:nvSpPr>
              <p:cNvPr id="152741" name="Line 16"/>
              <p:cNvSpPr>
                <a:spLocks noChangeShapeType="1"/>
              </p:cNvSpPr>
              <p:nvPr/>
            </p:nvSpPr>
            <p:spPr bwMode="auto">
              <a:xfrm>
                <a:off x="214" y="2782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2742" name="Text Box 17"/>
              <p:cNvSpPr txBox="1">
                <a:spLocks noChangeArrowheads="1"/>
              </p:cNvSpPr>
              <p:nvPr/>
            </p:nvSpPr>
            <p:spPr bwMode="auto">
              <a:xfrm>
                <a:off x="16" y="2725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5</a:t>
                </a:r>
              </a:p>
            </p:txBody>
          </p:sp>
        </p:grpSp>
        <p:grpSp>
          <p:nvGrpSpPr>
            <p:cNvPr id="152618" name="Group 18"/>
            <p:cNvGrpSpPr/>
            <p:nvPr/>
          </p:nvGrpSpPr>
          <p:grpSpPr bwMode="auto">
            <a:xfrm>
              <a:off x="462" y="816"/>
              <a:ext cx="5303" cy="3426"/>
              <a:chOff x="462" y="816"/>
              <a:chExt cx="5303" cy="3426"/>
            </a:xfrm>
          </p:grpSpPr>
          <p:sp>
            <p:nvSpPr>
              <p:cNvPr id="152619" name="Rectangle 19"/>
              <p:cNvSpPr>
                <a:spLocks noChangeArrowheads="1"/>
              </p:cNvSpPr>
              <p:nvPr/>
            </p:nvSpPr>
            <p:spPr bwMode="auto">
              <a:xfrm>
                <a:off x="462" y="816"/>
                <a:ext cx="693" cy="248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2620" name="Freeform 20"/>
              <p:cNvSpPr/>
              <p:nvPr/>
            </p:nvSpPr>
            <p:spPr bwMode="auto">
              <a:xfrm>
                <a:off x="1155" y="991"/>
                <a:ext cx="3638" cy="1"/>
              </a:xfrm>
              <a:custGeom>
                <a:avLst/>
                <a:gdLst>
                  <a:gd name="T0" fmla="*/ 0 w 3528"/>
                  <a:gd name="T1" fmla="*/ 0 h 1"/>
                  <a:gd name="T2" fmla="*/ 5422 w 3528"/>
                  <a:gd name="T3" fmla="*/ 0 h 1"/>
                  <a:gd name="T4" fmla="*/ 0 60000 65536"/>
                  <a:gd name="T5" fmla="*/ 0 60000 65536"/>
                  <a:gd name="T6" fmla="*/ 0 w 3528"/>
                  <a:gd name="T7" fmla="*/ 0 h 1"/>
                  <a:gd name="T8" fmla="*/ 3528 w 352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28" h="1">
                    <a:moveTo>
                      <a:pt x="0" y="0"/>
                    </a:moveTo>
                    <a:lnTo>
                      <a:pt x="3528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21" name="Rectangle 21"/>
              <p:cNvSpPr>
                <a:spLocks noChangeArrowheads="1"/>
              </p:cNvSpPr>
              <p:nvPr/>
            </p:nvSpPr>
            <p:spPr bwMode="auto">
              <a:xfrm>
                <a:off x="1615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2622" name="Freeform 22"/>
              <p:cNvSpPr/>
              <p:nvPr/>
            </p:nvSpPr>
            <p:spPr bwMode="auto">
              <a:xfrm>
                <a:off x="4351" y="991"/>
                <a:ext cx="1" cy="79"/>
              </a:xfrm>
              <a:custGeom>
                <a:avLst/>
                <a:gdLst>
                  <a:gd name="T0" fmla="*/ 0 w 1"/>
                  <a:gd name="T1" fmla="*/ 0 h 87"/>
                  <a:gd name="T2" fmla="*/ 0 w 1"/>
                  <a:gd name="T3" fmla="*/ 23 h 87"/>
                  <a:gd name="T4" fmla="*/ 0 60000 65536"/>
                  <a:gd name="T5" fmla="*/ 0 60000 65536"/>
                  <a:gd name="T6" fmla="*/ 0 w 1"/>
                  <a:gd name="T7" fmla="*/ 0 h 87"/>
                  <a:gd name="T8" fmla="*/ 1 w 1"/>
                  <a:gd name="T9" fmla="*/ 87 h 8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87">
                    <a:moveTo>
                      <a:pt x="0" y="0"/>
                    </a:moveTo>
                    <a:lnTo>
                      <a:pt x="0" y="8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23" name="Freeform 23"/>
              <p:cNvSpPr/>
              <p:nvPr/>
            </p:nvSpPr>
            <p:spPr bwMode="auto">
              <a:xfrm>
                <a:off x="1155" y="1295"/>
                <a:ext cx="3659" cy="3"/>
              </a:xfrm>
              <a:custGeom>
                <a:avLst/>
                <a:gdLst>
                  <a:gd name="T0" fmla="*/ 0 w 3659"/>
                  <a:gd name="T1" fmla="*/ 0 h 3"/>
                  <a:gd name="T2" fmla="*/ 3659 w 3659"/>
                  <a:gd name="T3" fmla="*/ 3 h 3"/>
                  <a:gd name="T4" fmla="*/ 0 60000 65536"/>
                  <a:gd name="T5" fmla="*/ 0 60000 65536"/>
                  <a:gd name="T6" fmla="*/ 0 w 3659"/>
                  <a:gd name="T7" fmla="*/ 0 h 3"/>
                  <a:gd name="T8" fmla="*/ 3659 w 3659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659" h="3">
                    <a:moveTo>
                      <a:pt x="0" y="0"/>
                    </a:moveTo>
                    <a:lnTo>
                      <a:pt x="365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24" name="Freeform 24"/>
              <p:cNvSpPr/>
              <p:nvPr/>
            </p:nvSpPr>
            <p:spPr bwMode="auto">
              <a:xfrm>
                <a:off x="2727" y="987"/>
                <a:ext cx="1" cy="86"/>
              </a:xfrm>
              <a:custGeom>
                <a:avLst/>
                <a:gdLst>
                  <a:gd name="T0" fmla="*/ 0 w 1"/>
                  <a:gd name="T1" fmla="*/ 0 h 86"/>
                  <a:gd name="T2" fmla="*/ 1 w 1"/>
                  <a:gd name="T3" fmla="*/ 86 h 86"/>
                  <a:gd name="T4" fmla="*/ 0 60000 65536"/>
                  <a:gd name="T5" fmla="*/ 0 60000 65536"/>
                  <a:gd name="T6" fmla="*/ 0 w 1"/>
                  <a:gd name="T7" fmla="*/ 0 h 86"/>
                  <a:gd name="T8" fmla="*/ 1 w 1"/>
                  <a:gd name="T9" fmla="*/ 86 h 8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86">
                    <a:moveTo>
                      <a:pt x="0" y="0"/>
                    </a:moveTo>
                    <a:lnTo>
                      <a:pt x="1" y="8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25" name="Freeform 25"/>
              <p:cNvSpPr/>
              <p:nvPr/>
            </p:nvSpPr>
            <p:spPr bwMode="auto">
              <a:xfrm>
                <a:off x="1791" y="985"/>
                <a:ext cx="1" cy="92"/>
              </a:xfrm>
              <a:custGeom>
                <a:avLst/>
                <a:gdLst>
                  <a:gd name="T0" fmla="*/ 0 w 1"/>
                  <a:gd name="T1" fmla="*/ 0 h 92"/>
                  <a:gd name="T2" fmla="*/ 0 w 1"/>
                  <a:gd name="T3" fmla="*/ 92 h 92"/>
                  <a:gd name="T4" fmla="*/ 0 60000 65536"/>
                  <a:gd name="T5" fmla="*/ 0 60000 65536"/>
                  <a:gd name="T6" fmla="*/ 0 w 1"/>
                  <a:gd name="T7" fmla="*/ 0 h 92"/>
                  <a:gd name="T8" fmla="*/ 1 w 1"/>
                  <a:gd name="T9" fmla="*/ 92 h 9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92">
                    <a:moveTo>
                      <a:pt x="0" y="0"/>
                    </a:moveTo>
                    <a:lnTo>
                      <a:pt x="0" y="92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26" name="Freeform 26"/>
              <p:cNvSpPr/>
              <p:nvPr/>
            </p:nvSpPr>
            <p:spPr bwMode="auto">
              <a:xfrm>
                <a:off x="1788" y="1212"/>
                <a:ext cx="1" cy="85"/>
              </a:xfrm>
              <a:custGeom>
                <a:avLst/>
                <a:gdLst>
                  <a:gd name="T0" fmla="*/ 0 w 1"/>
                  <a:gd name="T1" fmla="*/ 26 h 93"/>
                  <a:gd name="T2" fmla="*/ 0 w 1"/>
                  <a:gd name="T3" fmla="*/ 0 h 93"/>
                  <a:gd name="T4" fmla="*/ 0 60000 65536"/>
                  <a:gd name="T5" fmla="*/ 0 60000 65536"/>
                  <a:gd name="T6" fmla="*/ 0 w 1"/>
                  <a:gd name="T7" fmla="*/ 0 h 93"/>
                  <a:gd name="T8" fmla="*/ 1 w 1"/>
                  <a:gd name="T9" fmla="*/ 93 h 9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93">
                    <a:moveTo>
                      <a:pt x="0" y="93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27" name="Freeform 27"/>
              <p:cNvSpPr/>
              <p:nvPr/>
            </p:nvSpPr>
            <p:spPr bwMode="auto">
              <a:xfrm>
                <a:off x="2736" y="1200"/>
                <a:ext cx="3" cy="95"/>
              </a:xfrm>
              <a:custGeom>
                <a:avLst/>
                <a:gdLst>
                  <a:gd name="T0" fmla="*/ 0 w 3"/>
                  <a:gd name="T1" fmla="*/ 26 h 105"/>
                  <a:gd name="T2" fmla="*/ 3 w 3"/>
                  <a:gd name="T3" fmla="*/ 0 h 105"/>
                  <a:gd name="T4" fmla="*/ 0 60000 65536"/>
                  <a:gd name="T5" fmla="*/ 0 60000 65536"/>
                  <a:gd name="T6" fmla="*/ 0 w 3"/>
                  <a:gd name="T7" fmla="*/ 0 h 105"/>
                  <a:gd name="T8" fmla="*/ 3 w 3"/>
                  <a:gd name="T9" fmla="*/ 105 h 10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5">
                    <a:moveTo>
                      <a:pt x="0" y="105"/>
                    </a:moveTo>
                    <a:lnTo>
                      <a:pt x="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28" name="Line 28"/>
              <p:cNvSpPr>
                <a:spLocks noChangeShapeType="1"/>
              </p:cNvSpPr>
              <p:nvPr/>
            </p:nvSpPr>
            <p:spPr bwMode="auto">
              <a:xfrm rot="10800000">
                <a:off x="4351" y="121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29" name="Freeform 29"/>
              <p:cNvSpPr/>
              <p:nvPr/>
            </p:nvSpPr>
            <p:spPr bwMode="auto">
              <a:xfrm>
                <a:off x="1155" y="1559"/>
                <a:ext cx="3653" cy="1"/>
              </a:xfrm>
              <a:custGeom>
                <a:avLst/>
                <a:gdLst>
                  <a:gd name="T0" fmla="*/ 0 w 3543"/>
                  <a:gd name="T1" fmla="*/ 0 h 1"/>
                  <a:gd name="T2" fmla="*/ 5435 w 3543"/>
                  <a:gd name="T3" fmla="*/ 0 h 1"/>
                  <a:gd name="T4" fmla="*/ 0 60000 65536"/>
                  <a:gd name="T5" fmla="*/ 0 60000 65536"/>
                  <a:gd name="T6" fmla="*/ 0 w 3543"/>
                  <a:gd name="T7" fmla="*/ 0 h 1"/>
                  <a:gd name="T8" fmla="*/ 3543 w 354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43" h="1">
                    <a:moveTo>
                      <a:pt x="0" y="0"/>
                    </a:moveTo>
                    <a:lnTo>
                      <a:pt x="354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30" name="Line 30"/>
              <p:cNvSpPr>
                <a:spLocks noChangeShapeType="1"/>
              </p:cNvSpPr>
              <p:nvPr/>
            </p:nvSpPr>
            <p:spPr bwMode="auto">
              <a:xfrm>
                <a:off x="4351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31" name="Freeform 31"/>
              <p:cNvSpPr/>
              <p:nvPr/>
            </p:nvSpPr>
            <p:spPr bwMode="auto">
              <a:xfrm>
                <a:off x="1155" y="1863"/>
                <a:ext cx="3656" cy="1"/>
              </a:xfrm>
              <a:custGeom>
                <a:avLst/>
                <a:gdLst>
                  <a:gd name="T0" fmla="*/ 0 w 3546"/>
                  <a:gd name="T1" fmla="*/ 0 h 2"/>
                  <a:gd name="T2" fmla="*/ 5438 w 3546"/>
                  <a:gd name="T3" fmla="*/ 1 h 2"/>
                  <a:gd name="T4" fmla="*/ 0 60000 65536"/>
                  <a:gd name="T5" fmla="*/ 0 60000 65536"/>
                  <a:gd name="T6" fmla="*/ 0 w 3546"/>
                  <a:gd name="T7" fmla="*/ 0 h 2"/>
                  <a:gd name="T8" fmla="*/ 3546 w 354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46" h="2">
                    <a:moveTo>
                      <a:pt x="0" y="0"/>
                    </a:moveTo>
                    <a:lnTo>
                      <a:pt x="3546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32" name="Line 32"/>
              <p:cNvSpPr>
                <a:spLocks noChangeShapeType="1"/>
              </p:cNvSpPr>
              <p:nvPr/>
            </p:nvSpPr>
            <p:spPr bwMode="auto">
              <a:xfrm>
                <a:off x="2725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33" name="Line 33"/>
              <p:cNvSpPr>
                <a:spLocks noChangeShapeType="1"/>
              </p:cNvSpPr>
              <p:nvPr/>
            </p:nvSpPr>
            <p:spPr bwMode="auto">
              <a:xfrm>
                <a:off x="1788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34" name="Line 34"/>
              <p:cNvSpPr>
                <a:spLocks noChangeShapeType="1"/>
              </p:cNvSpPr>
              <p:nvPr/>
            </p:nvSpPr>
            <p:spPr bwMode="auto">
              <a:xfrm rot="10800000">
                <a:off x="1788" y="1778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35" name="Line 35"/>
              <p:cNvSpPr>
                <a:spLocks noChangeShapeType="1"/>
              </p:cNvSpPr>
              <p:nvPr/>
            </p:nvSpPr>
            <p:spPr bwMode="auto">
              <a:xfrm rot="10800000">
                <a:off x="2725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36" name="Line 36"/>
              <p:cNvSpPr>
                <a:spLocks noChangeShapeType="1"/>
              </p:cNvSpPr>
              <p:nvPr/>
            </p:nvSpPr>
            <p:spPr bwMode="auto">
              <a:xfrm rot="10800000">
                <a:off x="4351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37" name="Freeform 37"/>
              <p:cNvSpPr/>
              <p:nvPr/>
            </p:nvSpPr>
            <p:spPr bwMode="auto">
              <a:xfrm>
                <a:off x="1155" y="2432"/>
                <a:ext cx="3675" cy="1"/>
              </a:xfrm>
              <a:custGeom>
                <a:avLst/>
                <a:gdLst>
                  <a:gd name="T0" fmla="*/ 0 w 3564"/>
                  <a:gd name="T1" fmla="*/ 0 h 1"/>
                  <a:gd name="T2" fmla="*/ 5474 w 3564"/>
                  <a:gd name="T3" fmla="*/ 0 h 1"/>
                  <a:gd name="T4" fmla="*/ 0 60000 65536"/>
                  <a:gd name="T5" fmla="*/ 0 60000 65536"/>
                  <a:gd name="T6" fmla="*/ 0 w 3564"/>
                  <a:gd name="T7" fmla="*/ 0 h 1"/>
                  <a:gd name="T8" fmla="*/ 3564 w 356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64" h="1">
                    <a:moveTo>
                      <a:pt x="0" y="0"/>
                    </a:moveTo>
                    <a:lnTo>
                      <a:pt x="3564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38" name="Line 38"/>
              <p:cNvSpPr>
                <a:spLocks noChangeShapeType="1"/>
              </p:cNvSpPr>
              <p:nvPr/>
            </p:nvSpPr>
            <p:spPr bwMode="auto">
              <a:xfrm>
                <a:off x="4351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39" name="Freeform 39"/>
              <p:cNvSpPr/>
              <p:nvPr/>
            </p:nvSpPr>
            <p:spPr bwMode="auto">
              <a:xfrm>
                <a:off x="1155" y="2736"/>
                <a:ext cx="3647" cy="1"/>
              </a:xfrm>
              <a:custGeom>
                <a:avLst/>
                <a:gdLst>
                  <a:gd name="T0" fmla="*/ 0 w 3647"/>
                  <a:gd name="T1" fmla="*/ 0 h 1"/>
                  <a:gd name="T2" fmla="*/ 3647 w 3647"/>
                  <a:gd name="T3" fmla="*/ 1 h 1"/>
                  <a:gd name="T4" fmla="*/ 0 60000 65536"/>
                  <a:gd name="T5" fmla="*/ 0 60000 65536"/>
                  <a:gd name="T6" fmla="*/ 0 w 3647"/>
                  <a:gd name="T7" fmla="*/ 0 h 1"/>
                  <a:gd name="T8" fmla="*/ 3647 w 364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647" h="1">
                    <a:moveTo>
                      <a:pt x="0" y="0"/>
                    </a:moveTo>
                    <a:lnTo>
                      <a:pt x="3647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40" name="Line 40"/>
              <p:cNvSpPr>
                <a:spLocks noChangeShapeType="1"/>
              </p:cNvSpPr>
              <p:nvPr/>
            </p:nvSpPr>
            <p:spPr bwMode="auto">
              <a:xfrm>
                <a:off x="2725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41" name="Line 41"/>
              <p:cNvSpPr>
                <a:spLocks noChangeShapeType="1"/>
              </p:cNvSpPr>
              <p:nvPr/>
            </p:nvSpPr>
            <p:spPr bwMode="auto">
              <a:xfrm>
                <a:off x="1788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42" name="Line 42"/>
              <p:cNvSpPr>
                <a:spLocks noChangeShapeType="1"/>
              </p:cNvSpPr>
              <p:nvPr/>
            </p:nvSpPr>
            <p:spPr bwMode="auto">
              <a:xfrm rot="10800000">
                <a:off x="1788" y="2652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43" name="Line 43"/>
              <p:cNvSpPr>
                <a:spLocks noChangeShapeType="1"/>
              </p:cNvSpPr>
              <p:nvPr/>
            </p:nvSpPr>
            <p:spPr bwMode="auto">
              <a:xfrm rot="10800000">
                <a:off x="2725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44" name="Line 44"/>
              <p:cNvSpPr>
                <a:spLocks noChangeShapeType="1"/>
              </p:cNvSpPr>
              <p:nvPr/>
            </p:nvSpPr>
            <p:spPr bwMode="auto">
              <a:xfrm rot="10800000">
                <a:off x="4351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45" name="AutoShape 45"/>
              <p:cNvSpPr>
                <a:spLocks noChangeArrowheads="1"/>
              </p:cNvSpPr>
              <p:nvPr/>
            </p:nvSpPr>
            <p:spPr bwMode="auto">
              <a:xfrm rot="-5400000">
                <a:off x="1700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2646" name="Freeform 46"/>
              <p:cNvSpPr/>
              <p:nvPr/>
            </p:nvSpPr>
            <p:spPr bwMode="auto">
              <a:xfrm>
                <a:off x="1416" y="1148"/>
                <a:ext cx="198" cy="2026"/>
              </a:xfrm>
              <a:custGeom>
                <a:avLst/>
                <a:gdLst>
                  <a:gd name="T0" fmla="*/ 198 w 198"/>
                  <a:gd name="T1" fmla="*/ 0 h 2026"/>
                  <a:gd name="T2" fmla="*/ 0 w 198"/>
                  <a:gd name="T3" fmla="*/ 0 h 2026"/>
                  <a:gd name="T4" fmla="*/ 6 w 198"/>
                  <a:gd name="T5" fmla="*/ 2026 h 2026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26"/>
                  <a:gd name="T11" fmla="*/ 198 w 198"/>
                  <a:gd name="T12" fmla="*/ 2026 h 20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26">
                    <a:moveTo>
                      <a:pt x="198" y="0"/>
                    </a:moveTo>
                    <a:lnTo>
                      <a:pt x="0" y="0"/>
                    </a:lnTo>
                    <a:lnTo>
                      <a:pt x="6" y="202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47" name="Freeform 47"/>
              <p:cNvSpPr/>
              <p:nvPr/>
            </p:nvSpPr>
            <p:spPr bwMode="auto">
              <a:xfrm>
                <a:off x="141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48" name="Freeform 48"/>
              <p:cNvSpPr/>
              <p:nvPr/>
            </p:nvSpPr>
            <p:spPr bwMode="auto">
              <a:xfrm>
                <a:off x="1422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49" name="Line 49"/>
              <p:cNvSpPr>
                <a:spLocks noChangeShapeType="1"/>
              </p:cNvSpPr>
              <p:nvPr/>
            </p:nvSpPr>
            <p:spPr bwMode="auto">
              <a:xfrm>
                <a:off x="1419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50" name="Freeform 50"/>
              <p:cNvSpPr/>
              <p:nvPr/>
            </p:nvSpPr>
            <p:spPr bwMode="auto">
              <a:xfrm>
                <a:off x="3979" y="1148"/>
                <a:ext cx="198" cy="2023"/>
              </a:xfrm>
              <a:custGeom>
                <a:avLst/>
                <a:gdLst>
                  <a:gd name="T0" fmla="*/ 198 w 198"/>
                  <a:gd name="T1" fmla="*/ 0 h 2023"/>
                  <a:gd name="T2" fmla="*/ 0 w 198"/>
                  <a:gd name="T3" fmla="*/ 0 h 2023"/>
                  <a:gd name="T4" fmla="*/ 2 w 198"/>
                  <a:gd name="T5" fmla="*/ 2023 h 2023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23"/>
                  <a:gd name="T11" fmla="*/ 198 w 198"/>
                  <a:gd name="T12" fmla="*/ 2023 h 202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23">
                    <a:moveTo>
                      <a:pt x="198" y="0"/>
                    </a:moveTo>
                    <a:lnTo>
                      <a:pt x="0" y="0"/>
                    </a:lnTo>
                    <a:lnTo>
                      <a:pt x="2" y="202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51" name="Freeform 51"/>
              <p:cNvSpPr/>
              <p:nvPr/>
            </p:nvSpPr>
            <p:spPr bwMode="auto">
              <a:xfrm>
                <a:off x="3982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52" name="Freeform 52"/>
              <p:cNvSpPr/>
              <p:nvPr/>
            </p:nvSpPr>
            <p:spPr bwMode="auto">
              <a:xfrm>
                <a:off x="3985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53" name="Line 53"/>
              <p:cNvSpPr>
                <a:spLocks noChangeShapeType="1"/>
              </p:cNvSpPr>
              <p:nvPr/>
            </p:nvSpPr>
            <p:spPr bwMode="auto">
              <a:xfrm>
                <a:off x="3982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54" name="Freeform 54"/>
              <p:cNvSpPr/>
              <p:nvPr/>
            </p:nvSpPr>
            <p:spPr bwMode="auto">
              <a:xfrm>
                <a:off x="2347" y="1148"/>
                <a:ext cx="198" cy="2024"/>
              </a:xfrm>
              <a:custGeom>
                <a:avLst/>
                <a:gdLst>
                  <a:gd name="T0" fmla="*/ 295 w 192"/>
                  <a:gd name="T1" fmla="*/ 0 h 2224"/>
                  <a:gd name="T2" fmla="*/ 0 w 192"/>
                  <a:gd name="T3" fmla="*/ 0 h 2224"/>
                  <a:gd name="T4" fmla="*/ 2 w 192"/>
                  <a:gd name="T5" fmla="*/ 594 h 2224"/>
                  <a:gd name="T6" fmla="*/ 0 60000 65536"/>
                  <a:gd name="T7" fmla="*/ 0 60000 65536"/>
                  <a:gd name="T8" fmla="*/ 0 60000 65536"/>
                  <a:gd name="T9" fmla="*/ 0 w 192"/>
                  <a:gd name="T10" fmla="*/ 0 h 2224"/>
                  <a:gd name="T11" fmla="*/ 192 w 192"/>
                  <a:gd name="T12" fmla="*/ 2224 h 22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2" h="2224">
                    <a:moveTo>
                      <a:pt x="192" y="0"/>
                    </a:moveTo>
                    <a:lnTo>
                      <a:pt x="0" y="0"/>
                    </a:lnTo>
                    <a:lnTo>
                      <a:pt x="2" y="222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55" name="Freeform 55"/>
              <p:cNvSpPr/>
              <p:nvPr/>
            </p:nvSpPr>
            <p:spPr bwMode="auto">
              <a:xfrm>
                <a:off x="235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56" name="Freeform 56"/>
              <p:cNvSpPr/>
              <p:nvPr/>
            </p:nvSpPr>
            <p:spPr bwMode="auto">
              <a:xfrm>
                <a:off x="2353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57" name="Line 57"/>
              <p:cNvSpPr>
                <a:spLocks noChangeShapeType="1"/>
              </p:cNvSpPr>
              <p:nvPr/>
            </p:nvSpPr>
            <p:spPr bwMode="auto">
              <a:xfrm>
                <a:off x="2350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58" name="Freeform 58"/>
              <p:cNvSpPr/>
              <p:nvPr/>
            </p:nvSpPr>
            <p:spPr bwMode="auto">
              <a:xfrm>
                <a:off x="1964" y="1135"/>
                <a:ext cx="198" cy="2030"/>
              </a:xfrm>
              <a:custGeom>
                <a:avLst/>
                <a:gdLst>
                  <a:gd name="T0" fmla="*/ 0 w 198"/>
                  <a:gd name="T1" fmla="*/ 0 h 2030"/>
                  <a:gd name="T2" fmla="*/ 198 w 198"/>
                  <a:gd name="T3" fmla="*/ 0 h 2030"/>
                  <a:gd name="T4" fmla="*/ 193 w 198"/>
                  <a:gd name="T5" fmla="*/ 2030 h 2030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30"/>
                  <a:gd name="T11" fmla="*/ 198 w 198"/>
                  <a:gd name="T12" fmla="*/ 2030 h 203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30">
                    <a:moveTo>
                      <a:pt x="0" y="0"/>
                    </a:moveTo>
                    <a:lnTo>
                      <a:pt x="198" y="0"/>
                    </a:lnTo>
                    <a:lnTo>
                      <a:pt x="193" y="203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59" name="Freeform 59"/>
              <p:cNvSpPr/>
              <p:nvPr/>
            </p:nvSpPr>
            <p:spPr bwMode="auto">
              <a:xfrm rot="10800000">
                <a:off x="195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60" name="Freeform 60"/>
              <p:cNvSpPr/>
              <p:nvPr/>
            </p:nvSpPr>
            <p:spPr bwMode="auto">
              <a:xfrm rot="10800000">
                <a:off x="1959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61" name="Freeform 61"/>
              <p:cNvSpPr/>
              <p:nvPr/>
            </p:nvSpPr>
            <p:spPr bwMode="auto">
              <a:xfrm>
                <a:off x="1958" y="2957"/>
                <a:ext cx="200" cy="1"/>
              </a:xfrm>
              <a:custGeom>
                <a:avLst/>
                <a:gdLst>
                  <a:gd name="T0" fmla="*/ 297 w 194"/>
                  <a:gd name="T1" fmla="*/ 0 h 1"/>
                  <a:gd name="T2" fmla="*/ 0 w 194"/>
                  <a:gd name="T3" fmla="*/ 0 h 1"/>
                  <a:gd name="T4" fmla="*/ 0 60000 65536"/>
                  <a:gd name="T5" fmla="*/ 0 60000 65536"/>
                  <a:gd name="T6" fmla="*/ 0 w 194"/>
                  <a:gd name="T7" fmla="*/ 0 h 1"/>
                  <a:gd name="T8" fmla="*/ 194 w 19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4" h="1">
                    <a:moveTo>
                      <a:pt x="19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62" name="Freeform 62"/>
              <p:cNvSpPr/>
              <p:nvPr/>
            </p:nvSpPr>
            <p:spPr bwMode="auto">
              <a:xfrm>
                <a:off x="2893" y="1135"/>
                <a:ext cx="199" cy="2047"/>
              </a:xfrm>
              <a:custGeom>
                <a:avLst/>
                <a:gdLst>
                  <a:gd name="T0" fmla="*/ 0 w 193"/>
                  <a:gd name="T1" fmla="*/ 0 h 2250"/>
                  <a:gd name="T2" fmla="*/ 295 w 193"/>
                  <a:gd name="T3" fmla="*/ 0 h 2250"/>
                  <a:gd name="T4" fmla="*/ 296 w 193"/>
                  <a:gd name="T5" fmla="*/ 599 h 2250"/>
                  <a:gd name="T6" fmla="*/ 0 60000 65536"/>
                  <a:gd name="T7" fmla="*/ 0 60000 65536"/>
                  <a:gd name="T8" fmla="*/ 0 60000 65536"/>
                  <a:gd name="T9" fmla="*/ 0 w 193"/>
                  <a:gd name="T10" fmla="*/ 0 h 2250"/>
                  <a:gd name="T11" fmla="*/ 193 w 193"/>
                  <a:gd name="T12" fmla="*/ 2250 h 225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3" h="2250">
                    <a:moveTo>
                      <a:pt x="0" y="0"/>
                    </a:moveTo>
                    <a:lnTo>
                      <a:pt x="192" y="0"/>
                    </a:lnTo>
                    <a:lnTo>
                      <a:pt x="193" y="225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63" name="Freeform 63"/>
              <p:cNvSpPr/>
              <p:nvPr/>
            </p:nvSpPr>
            <p:spPr bwMode="auto">
              <a:xfrm rot="10800000">
                <a:off x="289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64" name="Freeform 64"/>
              <p:cNvSpPr/>
              <p:nvPr/>
            </p:nvSpPr>
            <p:spPr bwMode="auto">
              <a:xfrm rot="10800000">
                <a:off x="2890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65" name="Freeform 65"/>
              <p:cNvSpPr/>
              <p:nvPr/>
            </p:nvSpPr>
            <p:spPr bwMode="auto">
              <a:xfrm>
                <a:off x="2895" y="2957"/>
                <a:ext cx="194" cy="1"/>
              </a:xfrm>
              <a:custGeom>
                <a:avLst/>
                <a:gdLst>
                  <a:gd name="T0" fmla="*/ 291 w 188"/>
                  <a:gd name="T1" fmla="*/ 0 h 1"/>
                  <a:gd name="T2" fmla="*/ 0 w 188"/>
                  <a:gd name="T3" fmla="*/ 0 h 1"/>
                  <a:gd name="T4" fmla="*/ 0 60000 65536"/>
                  <a:gd name="T5" fmla="*/ 0 60000 65536"/>
                  <a:gd name="T6" fmla="*/ 0 w 188"/>
                  <a:gd name="T7" fmla="*/ 0 h 1"/>
                  <a:gd name="T8" fmla="*/ 188 w 18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88" h="1">
                    <a:moveTo>
                      <a:pt x="18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66" name="Freeform 66"/>
              <p:cNvSpPr/>
              <p:nvPr/>
            </p:nvSpPr>
            <p:spPr bwMode="auto">
              <a:xfrm>
                <a:off x="4531" y="1135"/>
                <a:ext cx="203" cy="2027"/>
              </a:xfrm>
              <a:custGeom>
                <a:avLst/>
                <a:gdLst>
                  <a:gd name="T0" fmla="*/ 0 w 203"/>
                  <a:gd name="T1" fmla="*/ 0 h 2027"/>
                  <a:gd name="T2" fmla="*/ 198 w 203"/>
                  <a:gd name="T3" fmla="*/ 0 h 2027"/>
                  <a:gd name="T4" fmla="*/ 203 w 203"/>
                  <a:gd name="T5" fmla="*/ 2027 h 2027"/>
                  <a:gd name="T6" fmla="*/ 0 60000 65536"/>
                  <a:gd name="T7" fmla="*/ 0 60000 65536"/>
                  <a:gd name="T8" fmla="*/ 0 60000 65536"/>
                  <a:gd name="T9" fmla="*/ 0 w 203"/>
                  <a:gd name="T10" fmla="*/ 0 h 2027"/>
                  <a:gd name="T11" fmla="*/ 203 w 203"/>
                  <a:gd name="T12" fmla="*/ 2027 h 20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3" h="2027">
                    <a:moveTo>
                      <a:pt x="0" y="0"/>
                    </a:moveTo>
                    <a:lnTo>
                      <a:pt x="198" y="0"/>
                    </a:lnTo>
                    <a:lnTo>
                      <a:pt x="203" y="202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67" name="Freeform 67"/>
              <p:cNvSpPr/>
              <p:nvPr/>
            </p:nvSpPr>
            <p:spPr bwMode="auto">
              <a:xfrm rot="10800000">
                <a:off x="4528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68" name="Freeform 68"/>
              <p:cNvSpPr/>
              <p:nvPr/>
            </p:nvSpPr>
            <p:spPr bwMode="auto">
              <a:xfrm rot="10800000">
                <a:off x="4528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69" name="Freeform 69"/>
              <p:cNvSpPr/>
              <p:nvPr/>
            </p:nvSpPr>
            <p:spPr bwMode="auto">
              <a:xfrm rot="10800000">
                <a:off x="4524" y="295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2670" name="Rectangle 70"/>
              <p:cNvSpPr>
                <a:spLocks noChangeArrowheads="1"/>
              </p:cNvSpPr>
              <p:nvPr/>
            </p:nvSpPr>
            <p:spPr bwMode="auto">
              <a:xfrm>
                <a:off x="1204" y="3175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读  写  控  制  电  路</a:t>
                </a:r>
              </a:p>
            </p:txBody>
          </p:sp>
          <p:sp>
            <p:nvSpPr>
              <p:cNvPr id="152671" name="Rectangle 71"/>
              <p:cNvSpPr>
                <a:spLocks noChangeArrowheads="1"/>
              </p:cNvSpPr>
              <p:nvPr/>
            </p:nvSpPr>
            <p:spPr bwMode="auto">
              <a:xfrm>
                <a:off x="1204" y="3656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bIns="0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列  地  址  译  码  器</a:t>
                </a:r>
              </a:p>
            </p:txBody>
          </p:sp>
          <p:sp>
            <p:nvSpPr>
              <p:cNvPr id="152672" name="Text Box 72"/>
              <p:cNvSpPr txBox="1">
                <a:spLocks noChangeArrowheads="1"/>
              </p:cNvSpPr>
              <p:nvPr/>
            </p:nvSpPr>
            <p:spPr bwMode="auto">
              <a:xfrm rot="5400000">
                <a:off x="1689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52673" name="Text Box 73"/>
              <p:cNvSpPr txBox="1">
                <a:spLocks noChangeArrowheads="1"/>
              </p:cNvSpPr>
              <p:nvPr/>
            </p:nvSpPr>
            <p:spPr bwMode="auto">
              <a:xfrm rot="5400000">
                <a:off x="2620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52674" name="Text Box 74"/>
              <p:cNvSpPr txBox="1">
                <a:spLocks noChangeArrowheads="1"/>
              </p:cNvSpPr>
              <p:nvPr/>
            </p:nvSpPr>
            <p:spPr bwMode="auto">
              <a:xfrm rot="5400000">
                <a:off x="4252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52675" name="Rectangle 75"/>
              <p:cNvSpPr>
                <a:spLocks noChangeArrowheads="1"/>
              </p:cNvSpPr>
              <p:nvPr/>
            </p:nvSpPr>
            <p:spPr bwMode="auto">
              <a:xfrm>
                <a:off x="1615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2676" name="Rectangle 76"/>
              <p:cNvSpPr>
                <a:spLocks noChangeArrowheads="1"/>
              </p:cNvSpPr>
              <p:nvPr/>
            </p:nvSpPr>
            <p:spPr bwMode="auto">
              <a:xfrm>
                <a:off x="1615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2677" name="Rectangle 77"/>
              <p:cNvSpPr>
                <a:spLocks noChangeArrowheads="1"/>
              </p:cNvSpPr>
              <p:nvPr/>
            </p:nvSpPr>
            <p:spPr bwMode="auto">
              <a:xfrm>
                <a:off x="2546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2678" name="Rectangle 78"/>
              <p:cNvSpPr>
                <a:spLocks noChangeArrowheads="1"/>
              </p:cNvSpPr>
              <p:nvPr/>
            </p:nvSpPr>
            <p:spPr bwMode="auto">
              <a:xfrm>
                <a:off x="2546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2679" name="Rectangle 79"/>
              <p:cNvSpPr>
                <a:spLocks noChangeArrowheads="1"/>
              </p:cNvSpPr>
              <p:nvPr/>
            </p:nvSpPr>
            <p:spPr bwMode="auto">
              <a:xfrm>
                <a:off x="2546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2680" name="Rectangle 80"/>
              <p:cNvSpPr>
                <a:spLocks noChangeArrowheads="1"/>
              </p:cNvSpPr>
              <p:nvPr/>
            </p:nvSpPr>
            <p:spPr bwMode="auto">
              <a:xfrm>
                <a:off x="4178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2681" name="Rectangle 81"/>
              <p:cNvSpPr>
                <a:spLocks noChangeArrowheads="1"/>
              </p:cNvSpPr>
              <p:nvPr/>
            </p:nvSpPr>
            <p:spPr bwMode="auto">
              <a:xfrm>
                <a:off x="4178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2682" name="Rectangle 82"/>
              <p:cNvSpPr>
                <a:spLocks noChangeArrowheads="1"/>
              </p:cNvSpPr>
              <p:nvPr/>
            </p:nvSpPr>
            <p:spPr bwMode="auto">
              <a:xfrm>
                <a:off x="4178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2683" name="AutoShape 83"/>
              <p:cNvSpPr>
                <a:spLocks noChangeArrowheads="1"/>
              </p:cNvSpPr>
              <p:nvPr/>
            </p:nvSpPr>
            <p:spPr bwMode="auto">
              <a:xfrm rot="-5400000">
                <a:off x="2631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2684" name="AutoShape 84"/>
              <p:cNvSpPr>
                <a:spLocks noChangeArrowheads="1"/>
              </p:cNvSpPr>
              <p:nvPr/>
            </p:nvSpPr>
            <p:spPr bwMode="auto">
              <a:xfrm rot="-5400000">
                <a:off x="4263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2685" name="Text Box 85"/>
              <p:cNvSpPr txBox="1">
                <a:spLocks noChangeArrowheads="1"/>
              </p:cNvSpPr>
              <p:nvPr/>
            </p:nvSpPr>
            <p:spPr bwMode="auto">
              <a:xfrm>
                <a:off x="4796" y="861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读选择线</a:t>
                </a:r>
              </a:p>
            </p:txBody>
          </p:sp>
          <p:sp>
            <p:nvSpPr>
              <p:cNvPr id="152686" name="Text Box 86"/>
              <p:cNvSpPr txBox="1">
                <a:spLocks noChangeArrowheads="1"/>
              </p:cNvSpPr>
              <p:nvPr/>
            </p:nvSpPr>
            <p:spPr bwMode="auto">
              <a:xfrm>
                <a:off x="4806" y="115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写选择线</a:t>
                </a:r>
              </a:p>
            </p:txBody>
          </p:sp>
          <p:sp>
            <p:nvSpPr>
              <p:cNvPr id="152687" name="Line 87"/>
              <p:cNvSpPr>
                <a:spLocks noChangeShapeType="1"/>
              </p:cNvSpPr>
              <p:nvPr/>
            </p:nvSpPr>
            <p:spPr bwMode="auto">
              <a:xfrm>
                <a:off x="4817" y="3306"/>
                <a:ext cx="3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2688" name="Text Box 88"/>
              <p:cNvSpPr txBox="1">
                <a:spLocks noChangeArrowheads="1"/>
              </p:cNvSpPr>
              <p:nvPr/>
            </p:nvSpPr>
            <p:spPr bwMode="auto">
              <a:xfrm>
                <a:off x="4906" y="3024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52689" name="Text Box 89"/>
              <p:cNvSpPr txBox="1">
                <a:spLocks noChangeArrowheads="1"/>
              </p:cNvSpPr>
              <p:nvPr/>
            </p:nvSpPr>
            <p:spPr bwMode="auto">
              <a:xfrm>
                <a:off x="3296" y="1929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单元</a:t>
                </a:r>
              </a:p>
            </p:txBody>
          </p:sp>
          <p:sp>
            <p:nvSpPr>
              <p:cNvPr id="152690" name="Text Box 90"/>
              <p:cNvSpPr txBox="1">
                <a:spLocks noChangeArrowheads="1"/>
              </p:cNvSpPr>
              <p:nvPr/>
            </p:nvSpPr>
            <p:spPr bwMode="auto">
              <a:xfrm>
                <a:off x="3296" y="2108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电路</a:t>
                </a:r>
              </a:p>
            </p:txBody>
          </p:sp>
          <p:sp>
            <p:nvSpPr>
              <p:cNvPr id="152691" name="Text Box 91"/>
              <p:cNvSpPr txBox="1">
                <a:spLocks noChangeArrowheads="1"/>
              </p:cNvSpPr>
              <p:nvPr/>
            </p:nvSpPr>
            <p:spPr bwMode="auto">
              <a:xfrm>
                <a:off x="503" y="936"/>
                <a:ext cx="309" cy="2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行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地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址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译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码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器</a:t>
                </a:r>
              </a:p>
            </p:txBody>
          </p:sp>
          <p:sp>
            <p:nvSpPr>
              <p:cNvPr id="152692" name="Text Box 92"/>
              <p:cNvSpPr txBox="1">
                <a:spLocks noChangeArrowheads="1"/>
              </p:cNvSpPr>
              <p:nvPr/>
            </p:nvSpPr>
            <p:spPr bwMode="auto">
              <a:xfrm>
                <a:off x="907" y="86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52693" name="Text Box 93"/>
              <p:cNvSpPr txBox="1">
                <a:spLocks noChangeArrowheads="1"/>
              </p:cNvSpPr>
              <p:nvPr/>
            </p:nvSpPr>
            <p:spPr bwMode="auto">
              <a:xfrm>
                <a:off x="907" y="115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52694" name="Text Box 94"/>
              <p:cNvSpPr txBox="1">
                <a:spLocks noChangeArrowheads="1"/>
              </p:cNvSpPr>
              <p:nvPr/>
            </p:nvSpPr>
            <p:spPr bwMode="auto">
              <a:xfrm>
                <a:off x="907" y="145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52695" name="Text Box 95"/>
              <p:cNvSpPr txBox="1">
                <a:spLocks noChangeArrowheads="1"/>
              </p:cNvSpPr>
              <p:nvPr/>
            </p:nvSpPr>
            <p:spPr bwMode="auto">
              <a:xfrm>
                <a:off x="907" y="176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52696" name="Text Box 96"/>
              <p:cNvSpPr txBox="1">
                <a:spLocks noChangeArrowheads="1"/>
              </p:cNvSpPr>
              <p:nvPr/>
            </p:nvSpPr>
            <p:spPr bwMode="auto">
              <a:xfrm>
                <a:off x="854" y="2294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52697" name="Text Box 97"/>
              <p:cNvSpPr txBox="1">
                <a:spLocks noChangeArrowheads="1"/>
              </p:cNvSpPr>
              <p:nvPr/>
            </p:nvSpPr>
            <p:spPr bwMode="auto">
              <a:xfrm>
                <a:off x="858" y="2592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52698" name="Line 98"/>
              <p:cNvSpPr>
                <a:spLocks noChangeShapeType="1"/>
              </p:cNvSpPr>
              <p:nvPr/>
            </p:nvSpPr>
            <p:spPr bwMode="auto">
              <a:xfrm>
                <a:off x="1887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2699" name="Line 99"/>
              <p:cNvSpPr>
                <a:spLocks noChangeShapeType="1"/>
              </p:cNvSpPr>
              <p:nvPr/>
            </p:nvSpPr>
            <p:spPr bwMode="auto">
              <a:xfrm>
                <a:off x="2832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2700" name="Text Box 100"/>
              <p:cNvSpPr txBox="1">
                <a:spLocks noChangeArrowheads="1"/>
              </p:cNvSpPr>
              <p:nvPr/>
            </p:nvSpPr>
            <p:spPr bwMode="auto">
              <a:xfrm>
                <a:off x="2613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52701" name="Line 101"/>
              <p:cNvSpPr>
                <a:spLocks noChangeShapeType="1"/>
              </p:cNvSpPr>
              <p:nvPr/>
            </p:nvSpPr>
            <p:spPr bwMode="auto">
              <a:xfrm>
                <a:off x="4473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2702" name="Text Box 102"/>
              <p:cNvSpPr txBox="1">
                <a:spLocks noChangeArrowheads="1"/>
              </p:cNvSpPr>
              <p:nvPr/>
            </p:nvSpPr>
            <p:spPr bwMode="auto">
              <a:xfrm>
                <a:off x="4176" y="3420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52703" name="Group 103"/>
              <p:cNvGrpSpPr/>
              <p:nvPr/>
            </p:nvGrpSpPr>
            <p:grpSpPr bwMode="auto">
              <a:xfrm>
                <a:off x="1492" y="3918"/>
                <a:ext cx="284" cy="323"/>
                <a:chOff x="1584" y="3918"/>
                <a:chExt cx="284" cy="323"/>
              </a:xfrm>
            </p:grpSpPr>
            <p:sp>
              <p:nvSpPr>
                <p:cNvPr id="152739" name="Line 104"/>
                <p:cNvSpPr>
                  <a:spLocks noChangeShapeType="1"/>
                </p:cNvSpPr>
                <p:nvPr/>
              </p:nvSpPr>
              <p:spPr bwMode="auto">
                <a:xfrm rot="-5400000">
                  <a:off x="149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2740" name="Text Box 105"/>
                <p:cNvSpPr txBox="1">
                  <a:spLocks noChangeArrowheads="1"/>
                </p:cNvSpPr>
                <p:nvPr/>
              </p:nvSpPr>
              <p:spPr bwMode="auto">
                <a:xfrm>
                  <a:off x="1584" y="3991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</p:grpSp>
          <p:grpSp>
            <p:nvGrpSpPr>
              <p:cNvPr id="152704" name="Group 106"/>
              <p:cNvGrpSpPr/>
              <p:nvPr/>
            </p:nvGrpSpPr>
            <p:grpSpPr bwMode="auto">
              <a:xfrm>
                <a:off x="2234" y="3918"/>
                <a:ext cx="285" cy="324"/>
                <a:chOff x="2355" y="3918"/>
                <a:chExt cx="285" cy="324"/>
              </a:xfrm>
            </p:grpSpPr>
            <p:sp>
              <p:nvSpPr>
                <p:cNvPr id="152737" name="Line 107"/>
                <p:cNvSpPr>
                  <a:spLocks noChangeShapeType="1"/>
                </p:cNvSpPr>
                <p:nvPr/>
              </p:nvSpPr>
              <p:spPr bwMode="auto">
                <a:xfrm rot="-5400000">
                  <a:off x="224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2738" name="Text Box 108"/>
                <p:cNvSpPr txBox="1">
                  <a:spLocks noChangeArrowheads="1"/>
                </p:cNvSpPr>
                <p:nvPr/>
              </p:nvSpPr>
              <p:spPr bwMode="auto">
                <a:xfrm>
                  <a:off x="2356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3</a:t>
                  </a:r>
                </a:p>
              </p:txBody>
            </p:sp>
          </p:grpSp>
          <p:grpSp>
            <p:nvGrpSpPr>
              <p:cNvPr id="152705" name="Group 109"/>
              <p:cNvGrpSpPr/>
              <p:nvPr/>
            </p:nvGrpSpPr>
            <p:grpSpPr bwMode="auto">
              <a:xfrm>
                <a:off x="2978" y="3918"/>
                <a:ext cx="284" cy="324"/>
                <a:chOff x="3102" y="3918"/>
                <a:chExt cx="284" cy="324"/>
              </a:xfrm>
            </p:grpSpPr>
            <p:sp>
              <p:nvSpPr>
                <p:cNvPr id="152735" name="Line 110"/>
                <p:cNvSpPr>
                  <a:spLocks noChangeShapeType="1"/>
                </p:cNvSpPr>
                <p:nvPr/>
              </p:nvSpPr>
              <p:spPr bwMode="auto">
                <a:xfrm rot="-5400000">
                  <a:off x="300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2736" name="Text Box 111"/>
                <p:cNvSpPr txBox="1">
                  <a:spLocks noChangeArrowheads="1"/>
                </p:cNvSpPr>
                <p:nvPr/>
              </p:nvSpPr>
              <p:spPr bwMode="auto">
                <a:xfrm>
                  <a:off x="3102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</p:grpSp>
          <p:grpSp>
            <p:nvGrpSpPr>
              <p:cNvPr id="152706" name="Group 112"/>
              <p:cNvGrpSpPr/>
              <p:nvPr/>
            </p:nvGrpSpPr>
            <p:grpSpPr bwMode="auto">
              <a:xfrm>
                <a:off x="3721" y="3918"/>
                <a:ext cx="284" cy="324"/>
                <a:chOff x="3844" y="3918"/>
                <a:chExt cx="284" cy="324"/>
              </a:xfrm>
            </p:grpSpPr>
            <p:sp>
              <p:nvSpPr>
                <p:cNvPr id="152733" name="Line 113"/>
                <p:cNvSpPr>
                  <a:spLocks noChangeShapeType="1"/>
                </p:cNvSpPr>
                <p:nvPr/>
              </p:nvSpPr>
              <p:spPr bwMode="auto">
                <a:xfrm rot="-5400000">
                  <a:off x="375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2734" name="Text Box 114"/>
                <p:cNvSpPr txBox="1">
                  <a:spLocks noChangeArrowheads="1"/>
                </p:cNvSpPr>
                <p:nvPr/>
              </p:nvSpPr>
              <p:spPr bwMode="auto">
                <a:xfrm>
                  <a:off x="3844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</p:grpSp>
          <p:grpSp>
            <p:nvGrpSpPr>
              <p:cNvPr id="152707" name="Group 115"/>
              <p:cNvGrpSpPr/>
              <p:nvPr/>
            </p:nvGrpSpPr>
            <p:grpSpPr bwMode="auto">
              <a:xfrm>
                <a:off x="4464" y="3918"/>
                <a:ext cx="284" cy="323"/>
                <a:chOff x="4603" y="3918"/>
                <a:chExt cx="284" cy="323"/>
              </a:xfrm>
            </p:grpSpPr>
            <p:sp>
              <p:nvSpPr>
                <p:cNvPr id="152731" name="Line 116"/>
                <p:cNvSpPr>
                  <a:spLocks noChangeShapeType="1"/>
                </p:cNvSpPr>
                <p:nvPr/>
              </p:nvSpPr>
              <p:spPr bwMode="auto">
                <a:xfrm rot="-5400000">
                  <a:off x="4510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2732" name="Text Box 117"/>
                <p:cNvSpPr txBox="1">
                  <a:spLocks noChangeArrowheads="1"/>
                </p:cNvSpPr>
                <p:nvPr/>
              </p:nvSpPr>
              <p:spPr bwMode="auto">
                <a:xfrm>
                  <a:off x="4603" y="3991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</p:grpSp>
          <p:sp>
            <p:nvSpPr>
              <p:cNvPr id="152708" name="Line 118"/>
              <p:cNvSpPr>
                <a:spLocks noChangeShapeType="1"/>
              </p:cNvSpPr>
              <p:nvPr/>
            </p:nvSpPr>
            <p:spPr bwMode="auto">
              <a:xfrm>
                <a:off x="2689" y="1690"/>
                <a:ext cx="643" cy="39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2709" name="Line 119"/>
              <p:cNvSpPr>
                <a:spLocks noChangeShapeType="1"/>
              </p:cNvSpPr>
              <p:nvPr/>
            </p:nvSpPr>
            <p:spPr bwMode="auto">
              <a:xfrm>
                <a:off x="3976" y="2039"/>
                <a:ext cx="990" cy="21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2710" name="Line 120"/>
              <p:cNvSpPr>
                <a:spLocks noChangeShapeType="1"/>
              </p:cNvSpPr>
              <p:nvPr/>
            </p:nvSpPr>
            <p:spPr bwMode="auto">
              <a:xfrm>
                <a:off x="4718" y="1384"/>
                <a:ext cx="693" cy="13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2711" name="Text Box 121"/>
              <p:cNvSpPr txBox="1">
                <a:spLocks noChangeArrowheads="1"/>
              </p:cNvSpPr>
              <p:nvPr/>
            </p:nvSpPr>
            <p:spPr bwMode="auto">
              <a:xfrm>
                <a:off x="4844" y="2728"/>
                <a:ext cx="92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刷新放大器</a:t>
                </a:r>
              </a:p>
            </p:txBody>
          </p:sp>
          <p:sp>
            <p:nvSpPr>
              <p:cNvPr id="152712" name="Line 122"/>
              <p:cNvSpPr>
                <a:spLocks noChangeShapeType="1"/>
              </p:cNvSpPr>
              <p:nvPr/>
            </p:nvSpPr>
            <p:spPr bwMode="auto">
              <a:xfrm flipV="1">
                <a:off x="4520" y="2957"/>
                <a:ext cx="495" cy="4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152713" name="Group 123"/>
              <p:cNvGrpSpPr/>
              <p:nvPr/>
            </p:nvGrpSpPr>
            <p:grpSpPr bwMode="auto">
              <a:xfrm>
                <a:off x="4916" y="1726"/>
                <a:ext cx="277" cy="893"/>
                <a:chOff x="4920" y="1790"/>
                <a:chExt cx="277" cy="893"/>
              </a:xfrm>
            </p:grpSpPr>
            <p:sp>
              <p:nvSpPr>
                <p:cNvPr id="152727" name="Text Box 124"/>
                <p:cNvSpPr txBox="1">
                  <a:spLocks noChangeArrowheads="1"/>
                </p:cNvSpPr>
                <p:nvPr/>
              </p:nvSpPr>
              <p:spPr bwMode="auto">
                <a:xfrm>
                  <a:off x="4920" y="1790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写</a:t>
                  </a:r>
                </a:p>
              </p:txBody>
            </p:sp>
            <p:sp>
              <p:nvSpPr>
                <p:cNvPr id="152728" name="Text Box 125"/>
                <p:cNvSpPr txBox="1">
                  <a:spLocks noChangeArrowheads="1"/>
                </p:cNvSpPr>
                <p:nvPr/>
              </p:nvSpPr>
              <p:spPr bwMode="auto">
                <a:xfrm>
                  <a:off x="4920" y="200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</a:p>
              </p:txBody>
            </p:sp>
            <p:sp>
              <p:nvSpPr>
                <p:cNvPr id="152729" name="Text Box 126"/>
                <p:cNvSpPr txBox="1">
                  <a:spLocks noChangeArrowheads="1"/>
                </p:cNvSpPr>
                <p:nvPr/>
              </p:nvSpPr>
              <p:spPr bwMode="auto">
                <a:xfrm>
                  <a:off x="4920" y="2219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52730" name="Text Box 127"/>
                <p:cNvSpPr txBox="1">
                  <a:spLocks noChangeArrowheads="1"/>
                </p:cNvSpPr>
                <p:nvPr/>
              </p:nvSpPr>
              <p:spPr bwMode="auto">
                <a:xfrm>
                  <a:off x="4920" y="243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</a:p>
              </p:txBody>
            </p:sp>
          </p:grpSp>
          <p:grpSp>
            <p:nvGrpSpPr>
              <p:cNvPr id="152714" name="Group 128"/>
              <p:cNvGrpSpPr/>
              <p:nvPr/>
            </p:nvGrpSpPr>
            <p:grpSpPr bwMode="auto">
              <a:xfrm>
                <a:off x="5372" y="1505"/>
                <a:ext cx="277" cy="879"/>
                <a:chOff x="5394" y="1612"/>
                <a:chExt cx="277" cy="879"/>
              </a:xfrm>
            </p:grpSpPr>
            <p:sp>
              <p:nvSpPr>
                <p:cNvPr id="152723" name="Text Box 129"/>
                <p:cNvSpPr txBox="1">
                  <a:spLocks noChangeArrowheads="1"/>
                </p:cNvSpPr>
                <p:nvPr/>
              </p:nvSpPr>
              <p:spPr bwMode="auto">
                <a:xfrm>
                  <a:off x="5394" y="161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</a:t>
                  </a:r>
                </a:p>
              </p:txBody>
            </p:sp>
            <p:sp>
              <p:nvSpPr>
                <p:cNvPr id="152724" name="Text Box 130"/>
                <p:cNvSpPr txBox="1">
                  <a:spLocks noChangeArrowheads="1"/>
                </p:cNvSpPr>
                <p:nvPr/>
              </p:nvSpPr>
              <p:spPr bwMode="auto">
                <a:xfrm>
                  <a:off x="5394" y="182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</a:p>
              </p:txBody>
            </p:sp>
            <p:sp>
              <p:nvSpPr>
                <p:cNvPr id="152725" name="Text Box 131"/>
                <p:cNvSpPr txBox="1">
                  <a:spLocks noChangeArrowheads="1"/>
                </p:cNvSpPr>
                <p:nvPr/>
              </p:nvSpPr>
              <p:spPr bwMode="auto">
                <a:xfrm>
                  <a:off x="5394" y="203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52726" name="Text Box 132"/>
                <p:cNvSpPr txBox="1">
                  <a:spLocks noChangeArrowheads="1"/>
                </p:cNvSpPr>
                <p:nvPr/>
              </p:nvSpPr>
              <p:spPr bwMode="auto">
                <a:xfrm>
                  <a:off x="5394" y="224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</a:p>
              </p:txBody>
            </p:sp>
          </p:grpSp>
          <p:grpSp>
            <p:nvGrpSpPr>
              <p:cNvPr id="152715" name="Group 133"/>
              <p:cNvGrpSpPr/>
              <p:nvPr/>
            </p:nvGrpSpPr>
            <p:grpSpPr bwMode="auto">
              <a:xfrm>
                <a:off x="3320" y="915"/>
                <a:ext cx="372" cy="2170"/>
                <a:chOff x="3324" y="979"/>
                <a:chExt cx="372" cy="2170"/>
              </a:xfrm>
            </p:grpSpPr>
            <p:sp>
              <p:nvSpPr>
                <p:cNvPr id="152719" name="Text Box 134"/>
                <p:cNvSpPr txBox="1">
                  <a:spLocks noChangeArrowheads="1"/>
                </p:cNvSpPr>
                <p:nvPr/>
              </p:nvSpPr>
              <p:spPr bwMode="auto">
                <a:xfrm>
                  <a:off x="3324" y="979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52720" name="Text Box 135"/>
                <p:cNvSpPr txBox="1">
                  <a:spLocks noChangeArrowheads="1"/>
                </p:cNvSpPr>
                <p:nvPr/>
              </p:nvSpPr>
              <p:spPr bwMode="auto">
                <a:xfrm>
                  <a:off x="3324" y="150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52721" name="Text Box 136"/>
                <p:cNvSpPr txBox="1">
                  <a:spLocks noChangeArrowheads="1"/>
                </p:cNvSpPr>
                <p:nvPr/>
              </p:nvSpPr>
              <p:spPr bwMode="auto">
                <a:xfrm>
                  <a:off x="3324" y="240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52722" name="Text Box 137"/>
                <p:cNvSpPr txBox="1">
                  <a:spLocks noChangeArrowheads="1"/>
                </p:cNvSpPr>
                <p:nvPr/>
              </p:nvSpPr>
              <p:spPr bwMode="auto">
                <a:xfrm>
                  <a:off x="3324" y="2784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</p:grpSp>
          <p:sp>
            <p:nvSpPr>
              <p:cNvPr id="152716" name="Text Box 138"/>
              <p:cNvSpPr txBox="1">
                <a:spLocks noChangeArrowheads="1"/>
              </p:cNvSpPr>
              <p:nvPr/>
            </p:nvSpPr>
            <p:spPr bwMode="auto">
              <a:xfrm rot="5400000">
                <a:off x="916" y="1976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52717" name="Text Box 139"/>
              <p:cNvSpPr txBox="1">
                <a:spLocks noChangeArrowheads="1"/>
              </p:cNvSpPr>
              <p:nvPr/>
            </p:nvSpPr>
            <p:spPr bwMode="auto">
              <a:xfrm>
                <a:off x="1656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52718" name="Text Box 140"/>
              <p:cNvSpPr txBox="1">
                <a:spLocks noChangeArrowheads="1"/>
              </p:cNvSpPr>
              <p:nvPr/>
            </p:nvSpPr>
            <p:spPr bwMode="auto">
              <a:xfrm>
                <a:off x="3350" y="3312"/>
                <a:ext cx="340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</p:grpSp>
      <p:grpSp>
        <p:nvGrpSpPr>
          <p:cNvPr id="152579" name="Group 141"/>
          <p:cNvGrpSpPr/>
          <p:nvPr/>
        </p:nvGrpSpPr>
        <p:grpSpPr bwMode="auto">
          <a:xfrm>
            <a:off x="1833563" y="3711575"/>
            <a:ext cx="5791200" cy="646113"/>
            <a:chOff x="1155" y="2338"/>
            <a:chExt cx="3648" cy="407"/>
          </a:xfrm>
        </p:grpSpPr>
        <p:sp>
          <p:nvSpPr>
            <p:cNvPr id="152605" name="Freeform 142"/>
            <p:cNvSpPr/>
            <p:nvPr/>
          </p:nvSpPr>
          <p:spPr bwMode="auto">
            <a:xfrm>
              <a:off x="1155" y="2740"/>
              <a:ext cx="3648" cy="5"/>
            </a:xfrm>
            <a:custGeom>
              <a:avLst/>
              <a:gdLst>
                <a:gd name="T0" fmla="*/ 0 w 3648"/>
                <a:gd name="T1" fmla="*/ 0 h 5"/>
                <a:gd name="T2" fmla="*/ 3648 w 3648"/>
                <a:gd name="T3" fmla="*/ 5 h 5"/>
                <a:gd name="T4" fmla="*/ 0 60000 65536"/>
                <a:gd name="T5" fmla="*/ 0 60000 65536"/>
                <a:gd name="T6" fmla="*/ 0 w 3648"/>
                <a:gd name="T7" fmla="*/ 0 h 5"/>
                <a:gd name="T8" fmla="*/ 3648 w 3648"/>
                <a:gd name="T9" fmla="*/ 5 h 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48" h="5">
                  <a:moveTo>
                    <a:pt x="0" y="0"/>
                  </a:moveTo>
                  <a:lnTo>
                    <a:pt x="3648" y="5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2606" name="Line 143"/>
            <p:cNvSpPr>
              <a:spLocks noChangeShapeType="1"/>
            </p:cNvSpPr>
            <p:nvPr/>
          </p:nvSpPr>
          <p:spPr bwMode="auto">
            <a:xfrm rot="10800000">
              <a:off x="1788" y="2656"/>
              <a:ext cx="0" cy="84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2607" name="Line 144"/>
            <p:cNvSpPr>
              <a:spLocks noChangeShapeType="1"/>
            </p:cNvSpPr>
            <p:nvPr/>
          </p:nvSpPr>
          <p:spPr bwMode="auto">
            <a:xfrm rot="10800000">
              <a:off x="2725" y="2658"/>
              <a:ext cx="0" cy="84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2608" name="Freeform 145"/>
            <p:cNvSpPr/>
            <p:nvPr/>
          </p:nvSpPr>
          <p:spPr bwMode="auto">
            <a:xfrm>
              <a:off x="4350" y="2657"/>
              <a:ext cx="1" cy="79"/>
            </a:xfrm>
            <a:custGeom>
              <a:avLst/>
              <a:gdLst>
                <a:gd name="T0" fmla="*/ 0 w 1"/>
                <a:gd name="T1" fmla="*/ 79 h 79"/>
                <a:gd name="T2" fmla="*/ 1 w 1"/>
                <a:gd name="T3" fmla="*/ 0 h 79"/>
                <a:gd name="T4" fmla="*/ 0 60000 65536"/>
                <a:gd name="T5" fmla="*/ 0 60000 65536"/>
                <a:gd name="T6" fmla="*/ 0 w 1"/>
                <a:gd name="T7" fmla="*/ 0 h 79"/>
                <a:gd name="T8" fmla="*/ 1 w 1"/>
                <a:gd name="T9" fmla="*/ 79 h 7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79">
                  <a:moveTo>
                    <a:pt x="0" y="79"/>
                  </a:moveTo>
                  <a:lnTo>
                    <a:pt x="1" y="0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2609" name="Rectangle 146"/>
            <p:cNvSpPr>
              <a:spLocks noChangeArrowheads="1"/>
            </p:cNvSpPr>
            <p:nvPr/>
          </p:nvSpPr>
          <p:spPr bwMode="auto">
            <a:xfrm>
              <a:off x="1615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2610" name="Rectangle 147"/>
            <p:cNvSpPr>
              <a:spLocks noChangeArrowheads="1"/>
            </p:cNvSpPr>
            <p:nvPr/>
          </p:nvSpPr>
          <p:spPr bwMode="auto">
            <a:xfrm>
              <a:off x="2546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2611" name="Rectangle 148"/>
            <p:cNvSpPr>
              <a:spLocks noChangeArrowheads="1"/>
            </p:cNvSpPr>
            <p:nvPr/>
          </p:nvSpPr>
          <p:spPr bwMode="auto">
            <a:xfrm>
              <a:off x="4178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2612" name="Text Box 149"/>
            <p:cNvSpPr txBox="1">
              <a:spLocks noChangeArrowheads="1"/>
            </p:cNvSpPr>
            <p:nvPr/>
          </p:nvSpPr>
          <p:spPr bwMode="auto">
            <a:xfrm>
              <a:off x="3320" y="233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18" name="Group 150"/>
          <p:cNvGrpSpPr/>
          <p:nvPr/>
        </p:nvGrpSpPr>
        <p:grpSpPr bwMode="auto">
          <a:xfrm>
            <a:off x="7646988" y="4808538"/>
            <a:ext cx="628650" cy="457200"/>
            <a:chOff x="4775" y="2954"/>
            <a:chExt cx="384" cy="316"/>
          </a:xfrm>
        </p:grpSpPr>
        <p:sp>
          <p:nvSpPr>
            <p:cNvPr id="152603" name="Line 151"/>
            <p:cNvSpPr>
              <a:spLocks noChangeShapeType="1"/>
            </p:cNvSpPr>
            <p:nvPr/>
          </p:nvSpPr>
          <p:spPr bwMode="auto">
            <a:xfrm>
              <a:off x="4775" y="3264"/>
              <a:ext cx="384" cy="0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2604" name="Text Box 152"/>
            <p:cNvSpPr txBox="1">
              <a:spLocks noChangeArrowheads="1"/>
            </p:cNvSpPr>
            <p:nvPr/>
          </p:nvSpPr>
          <p:spPr bwMode="auto">
            <a:xfrm>
              <a:off x="4861" y="2954"/>
              <a:ext cx="247" cy="3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D</a:t>
              </a:r>
            </a:p>
          </p:txBody>
        </p:sp>
      </p:grpSp>
      <p:grpSp>
        <p:nvGrpSpPr>
          <p:cNvPr id="152581" name="Group 153"/>
          <p:cNvGrpSpPr/>
          <p:nvPr/>
        </p:nvGrpSpPr>
        <p:grpSpPr bwMode="auto">
          <a:xfrm>
            <a:off x="341313" y="1819275"/>
            <a:ext cx="361950" cy="3362325"/>
            <a:chOff x="300" y="720"/>
            <a:chExt cx="221" cy="2327"/>
          </a:xfrm>
        </p:grpSpPr>
        <p:sp>
          <p:nvSpPr>
            <p:cNvPr id="152598" name="Text Box 154"/>
            <p:cNvSpPr txBox="1">
              <a:spLocks noChangeArrowheads="1"/>
            </p:cNvSpPr>
            <p:nvPr/>
          </p:nvSpPr>
          <p:spPr bwMode="auto">
            <a:xfrm>
              <a:off x="300" y="720"/>
              <a:ext cx="221" cy="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2599" name="Text Box 155"/>
            <p:cNvSpPr txBox="1">
              <a:spLocks noChangeArrowheads="1"/>
            </p:cNvSpPr>
            <p:nvPr/>
          </p:nvSpPr>
          <p:spPr bwMode="auto">
            <a:xfrm>
              <a:off x="300" y="1212"/>
              <a:ext cx="221" cy="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2600" name="Text Box 156"/>
            <p:cNvSpPr txBox="1">
              <a:spLocks noChangeArrowheads="1"/>
            </p:cNvSpPr>
            <p:nvPr/>
          </p:nvSpPr>
          <p:spPr bwMode="auto">
            <a:xfrm>
              <a:off x="300" y="1705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2601" name="Text Box 157"/>
            <p:cNvSpPr txBox="1">
              <a:spLocks noChangeArrowheads="1"/>
            </p:cNvSpPr>
            <p:nvPr/>
          </p:nvSpPr>
          <p:spPr bwMode="auto">
            <a:xfrm>
              <a:off x="300" y="2196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2602" name="Text Box 158"/>
            <p:cNvSpPr txBox="1">
              <a:spLocks noChangeArrowheads="1"/>
            </p:cNvSpPr>
            <p:nvPr/>
          </p:nvSpPr>
          <p:spPr bwMode="auto">
            <a:xfrm>
              <a:off x="300" y="2688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</p:grpSp>
      <p:grpSp>
        <p:nvGrpSpPr>
          <p:cNvPr id="152582" name="Group 159"/>
          <p:cNvGrpSpPr/>
          <p:nvPr/>
        </p:nvGrpSpPr>
        <p:grpSpPr bwMode="auto">
          <a:xfrm>
            <a:off x="1981200" y="6138863"/>
            <a:ext cx="5154613" cy="519112"/>
            <a:chOff x="1452" y="3984"/>
            <a:chExt cx="3149" cy="359"/>
          </a:xfrm>
        </p:grpSpPr>
        <p:sp>
          <p:nvSpPr>
            <p:cNvPr id="152593" name="Text Box 160"/>
            <p:cNvSpPr txBox="1">
              <a:spLocks noChangeArrowheads="1"/>
            </p:cNvSpPr>
            <p:nvPr/>
          </p:nvSpPr>
          <p:spPr bwMode="auto">
            <a:xfrm>
              <a:off x="1452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52594" name="Text Box 161"/>
            <p:cNvSpPr txBox="1">
              <a:spLocks noChangeArrowheads="1"/>
            </p:cNvSpPr>
            <p:nvPr/>
          </p:nvSpPr>
          <p:spPr bwMode="auto">
            <a:xfrm>
              <a:off x="4380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2595" name="Text Box 162"/>
            <p:cNvSpPr txBox="1">
              <a:spLocks noChangeArrowheads="1"/>
            </p:cNvSpPr>
            <p:nvPr/>
          </p:nvSpPr>
          <p:spPr bwMode="auto">
            <a:xfrm>
              <a:off x="3648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52596" name="Text Box 163"/>
            <p:cNvSpPr txBox="1">
              <a:spLocks noChangeArrowheads="1"/>
            </p:cNvSpPr>
            <p:nvPr/>
          </p:nvSpPr>
          <p:spPr bwMode="auto">
            <a:xfrm>
              <a:off x="2917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52597" name="Text Box 164"/>
            <p:cNvSpPr txBox="1">
              <a:spLocks noChangeArrowheads="1"/>
            </p:cNvSpPr>
            <p:nvPr/>
          </p:nvSpPr>
          <p:spPr bwMode="auto">
            <a:xfrm>
              <a:off x="2186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</p:grpSp>
      <p:grpSp>
        <p:nvGrpSpPr>
          <p:cNvPr id="152583" name="Group 165"/>
          <p:cNvGrpSpPr/>
          <p:nvPr/>
        </p:nvGrpSpPr>
        <p:grpSpPr bwMode="auto">
          <a:xfrm>
            <a:off x="4151313" y="5429250"/>
            <a:ext cx="344487" cy="396875"/>
            <a:chOff x="2611" y="3425"/>
            <a:chExt cx="217" cy="250"/>
          </a:xfrm>
        </p:grpSpPr>
        <p:sp>
          <p:nvSpPr>
            <p:cNvPr id="152591" name="Text Box 166"/>
            <p:cNvSpPr txBox="1">
              <a:spLocks noChangeArrowheads="1"/>
            </p:cNvSpPr>
            <p:nvPr/>
          </p:nvSpPr>
          <p:spPr bwMode="auto">
            <a:xfrm>
              <a:off x="2611" y="3425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2592" name="Freeform 167"/>
            <p:cNvSpPr/>
            <p:nvPr/>
          </p:nvSpPr>
          <p:spPr bwMode="auto">
            <a:xfrm>
              <a:off x="2827" y="3430"/>
              <a:ext cx="1" cy="227"/>
            </a:xfrm>
            <a:custGeom>
              <a:avLst/>
              <a:gdLst>
                <a:gd name="T0" fmla="*/ 0 w 1"/>
                <a:gd name="T1" fmla="*/ 0 h 227"/>
                <a:gd name="T2" fmla="*/ 0 w 1"/>
                <a:gd name="T3" fmla="*/ 227 h 227"/>
                <a:gd name="T4" fmla="*/ 0 60000 65536"/>
                <a:gd name="T5" fmla="*/ 0 60000 65536"/>
                <a:gd name="T6" fmla="*/ 0 w 1"/>
                <a:gd name="T7" fmla="*/ 0 h 227"/>
                <a:gd name="T8" fmla="*/ 1 w 1"/>
                <a:gd name="T9" fmla="*/ 227 h 22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27">
                  <a:moveTo>
                    <a:pt x="0" y="0"/>
                  </a:moveTo>
                  <a:lnTo>
                    <a:pt x="0" y="227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240808" name="Rectangle 168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52585" name="Text Box 169"/>
          <p:cNvSpPr txBox="1">
            <a:spLocks noChangeArrowheads="1"/>
          </p:cNvSpPr>
          <p:nvPr/>
        </p:nvSpPr>
        <p:spPr bwMode="auto">
          <a:xfrm>
            <a:off x="304800" y="228600"/>
            <a:ext cx="7696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zh-CN" altLang="en-US" sz="3200">
                <a:latin typeface="Times New Roman" panose="02020603050405020304" pitchFamily="18" charset="0"/>
              </a:rPr>
              <a:t>三管动态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200">
                <a:latin typeface="Times New Roman" panose="02020603050405020304" pitchFamily="18" charset="0"/>
              </a:rPr>
              <a:t>芯片 (</a:t>
            </a:r>
            <a:r>
              <a:rPr lang="en-US" altLang="zh-CN" sz="3200">
                <a:latin typeface="Times New Roman" panose="02020603050405020304" pitchFamily="18" charset="0"/>
              </a:rPr>
              <a:t>Intel 1103)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</a:p>
        </p:txBody>
      </p:sp>
      <p:grpSp>
        <p:nvGrpSpPr>
          <p:cNvPr id="152586" name="Group 170"/>
          <p:cNvGrpSpPr/>
          <p:nvPr/>
        </p:nvGrpSpPr>
        <p:grpSpPr bwMode="auto">
          <a:xfrm>
            <a:off x="4046538" y="1719263"/>
            <a:ext cx="793750" cy="2058987"/>
            <a:chOff x="2549" y="1083"/>
            <a:chExt cx="500" cy="1297"/>
          </a:xfrm>
        </p:grpSpPr>
        <p:sp>
          <p:nvSpPr>
            <p:cNvPr id="152588" name="Rectangle 171"/>
            <p:cNvSpPr>
              <a:spLocks noChangeArrowheads="1"/>
            </p:cNvSpPr>
            <p:nvPr/>
          </p:nvSpPr>
          <p:spPr bwMode="auto">
            <a:xfrm>
              <a:off x="2549" y="1083"/>
              <a:ext cx="347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2589" name="Rectangle 172"/>
            <p:cNvSpPr>
              <a:spLocks noChangeArrowheads="1"/>
            </p:cNvSpPr>
            <p:nvPr/>
          </p:nvSpPr>
          <p:spPr bwMode="auto">
            <a:xfrm>
              <a:off x="2549" y="1636"/>
              <a:ext cx="347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2590" name="Text Box 173"/>
            <p:cNvSpPr txBox="1">
              <a:spLocks noChangeArrowheads="1"/>
            </p:cNvSpPr>
            <p:nvPr/>
          </p:nvSpPr>
          <p:spPr bwMode="auto">
            <a:xfrm>
              <a:off x="2587" y="1972"/>
              <a:ext cx="462" cy="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152587" name="AutoShape 174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602" name="Group 2"/>
          <p:cNvGrpSpPr/>
          <p:nvPr/>
        </p:nvGrpSpPr>
        <p:grpSpPr bwMode="auto">
          <a:xfrm>
            <a:off x="0" y="1295400"/>
            <a:ext cx="9151938" cy="5438775"/>
            <a:chOff x="0" y="816"/>
            <a:chExt cx="5765" cy="3426"/>
          </a:xfrm>
        </p:grpSpPr>
        <p:grpSp>
          <p:nvGrpSpPr>
            <p:cNvPr id="153638" name="Group 3"/>
            <p:cNvGrpSpPr/>
            <p:nvPr/>
          </p:nvGrpSpPr>
          <p:grpSpPr bwMode="auto">
            <a:xfrm>
              <a:off x="0" y="1094"/>
              <a:ext cx="462" cy="250"/>
              <a:chOff x="0" y="933"/>
              <a:chExt cx="462" cy="250"/>
            </a:xfrm>
          </p:grpSpPr>
          <p:sp>
            <p:nvSpPr>
              <p:cNvPr id="153774" name="Line 4"/>
              <p:cNvSpPr>
                <a:spLocks noChangeShapeType="1"/>
              </p:cNvSpPr>
              <p:nvPr/>
            </p:nvSpPr>
            <p:spPr bwMode="auto">
              <a:xfrm>
                <a:off x="214" y="991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3775" name="Text Box 5"/>
              <p:cNvSpPr txBox="1">
                <a:spLocks noChangeArrowheads="1"/>
              </p:cNvSpPr>
              <p:nvPr/>
            </p:nvSpPr>
            <p:spPr bwMode="auto">
              <a:xfrm>
                <a:off x="0" y="933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9</a:t>
                </a:r>
              </a:p>
            </p:txBody>
          </p:sp>
        </p:grpSp>
        <p:grpSp>
          <p:nvGrpSpPr>
            <p:cNvPr id="153639" name="Group 6"/>
            <p:cNvGrpSpPr/>
            <p:nvPr/>
          </p:nvGrpSpPr>
          <p:grpSpPr bwMode="auto">
            <a:xfrm>
              <a:off x="16" y="1540"/>
              <a:ext cx="446" cy="250"/>
              <a:chOff x="16" y="1371"/>
              <a:chExt cx="446" cy="250"/>
            </a:xfrm>
          </p:grpSpPr>
          <p:sp>
            <p:nvSpPr>
              <p:cNvPr id="153772" name="Line 7"/>
              <p:cNvSpPr>
                <a:spLocks noChangeShapeType="1"/>
              </p:cNvSpPr>
              <p:nvPr/>
            </p:nvSpPr>
            <p:spPr bwMode="auto">
              <a:xfrm>
                <a:off x="214" y="1439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3773" name="Text Box 8"/>
              <p:cNvSpPr txBox="1">
                <a:spLocks noChangeArrowheads="1"/>
              </p:cNvSpPr>
              <p:nvPr/>
            </p:nvSpPr>
            <p:spPr bwMode="auto">
              <a:xfrm>
                <a:off x="16" y="1371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53640" name="Group 9"/>
            <p:cNvGrpSpPr/>
            <p:nvPr/>
          </p:nvGrpSpPr>
          <p:grpSpPr bwMode="auto">
            <a:xfrm>
              <a:off x="16" y="1987"/>
              <a:ext cx="446" cy="250"/>
              <a:chOff x="16" y="1809"/>
              <a:chExt cx="446" cy="250"/>
            </a:xfrm>
          </p:grpSpPr>
          <p:sp>
            <p:nvSpPr>
              <p:cNvPr id="153770" name="Line 10"/>
              <p:cNvSpPr>
                <a:spLocks noChangeShapeType="1"/>
              </p:cNvSpPr>
              <p:nvPr/>
            </p:nvSpPr>
            <p:spPr bwMode="auto">
              <a:xfrm>
                <a:off x="214" y="1886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3771" name="Text Box 11"/>
              <p:cNvSpPr txBox="1">
                <a:spLocks noChangeArrowheads="1"/>
              </p:cNvSpPr>
              <p:nvPr/>
            </p:nvSpPr>
            <p:spPr bwMode="auto">
              <a:xfrm>
                <a:off x="16" y="1809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</a:p>
            </p:txBody>
          </p:sp>
        </p:grpSp>
        <p:grpSp>
          <p:nvGrpSpPr>
            <p:cNvPr id="153641" name="Group 12"/>
            <p:cNvGrpSpPr/>
            <p:nvPr/>
          </p:nvGrpSpPr>
          <p:grpSpPr bwMode="auto">
            <a:xfrm>
              <a:off x="16" y="2433"/>
              <a:ext cx="446" cy="250"/>
              <a:chOff x="16" y="2276"/>
              <a:chExt cx="446" cy="250"/>
            </a:xfrm>
          </p:grpSpPr>
          <p:sp>
            <p:nvSpPr>
              <p:cNvPr id="153768" name="Line 13"/>
              <p:cNvSpPr>
                <a:spLocks noChangeShapeType="1"/>
              </p:cNvSpPr>
              <p:nvPr/>
            </p:nvSpPr>
            <p:spPr bwMode="auto">
              <a:xfrm>
                <a:off x="214" y="2334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3769" name="Text Box 14"/>
              <p:cNvSpPr txBox="1">
                <a:spLocks noChangeArrowheads="1"/>
              </p:cNvSpPr>
              <p:nvPr/>
            </p:nvSpPr>
            <p:spPr bwMode="auto">
              <a:xfrm>
                <a:off x="16" y="2276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53642" name="Group 15"/>
            <p:cNvGrpSpPr/>
            <p:nvPr/>
          </p:nvGrpSpPr>
          <p:grpSpPr bwMode="auto">
            <a:xfrm>
              <a:off x="16" y="2880"/>
              <a:ext cx="446" cy="250"/>
              <a:chOff x="16" y="2725"/>
              <a:chExt cx="446" cy="250"/>
            </a:xfrm>
          </p:grpSpPr>
          <p:sp>
            <p:nvSpPr>
              <p:cNvPr id="153766" name="Line 16"/>
              <p:cNvSpPr>
                <a:spLocks noChangeShapeType="1"/>
              </p:cNvSpPr>
              <p:nvPr/>
            </p:nvSpPr>
            <p:spPr bwMode="auto">
              <a:xfrm>
                <a:off x="214" y="2782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3767" name="Text Box 17"/>
              <p:cNvSpPr txBox="1">
                <a:spLocks noChangeArrowheads="1"/>
              </p:cNvSpPr>
              <p:nvPr/>
            </p:nvSpPr>
            <p:spPr bwMode="auto">
              <a:xfrm>
                <a:off x="16" y="2725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5</a:t>
                </a:r>
              </a:p>
            </p:txBody>
          </p:sp>
        </p:grpSp>
        <p:grpSp>
          <p:nvGrpSpPr>
            <p:cNvPr id="153643" name="Group 18"/>
            <p:cNvGrpSpPr/>
            <p:nvPr/>
          </p:nvGrpSpPr>
          <p:grpSpPr bwMode="auto">
            <a:xfrm>
              <a:off x="462" y="816"/>
              <a:ext cx="5303" cy="3426"/>
              <a:chOff x="462" y="816"/>
              <a:chExt cx="5303" cy="3426"/>
            </a:xfrm>
          </p:grpSpPr>
          <p:sp>
            <p:nvSpPr>
              <p:cNvPr id="153644" name="Rectangle 19"/>
              <p:cNvSpPr>
                <a:spLocks noChangeArrowheads="1"/>
              </p:cNvSpPr>
              <p:nvPr/>
            </p:nvSpPr>
            <p:spPr bwMode="auto">
              <a:xfrm>
                <a:off x="462" y="816"/>
                <a:ext cx="693" cy="248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3645" name="Freeform 20"/>
              <p:cNvSpPr/>
              <p:nvPr/>
            </p:nvSpPr>
            <p:spPr bwMode="auto">
              <a:xfrm>
                <a:off x="1155" y="991"/>
                <a:ext cx="3638" cy="1"/>
              </a:xfrm>
              <a:custGeom>
                <a:avLst/>
                <a:gdLst>
                  <a:gd name="T0" fmla="*/ 0 w 3528"/>
                  <a:gd name="T1" fmla="*/ 0 h 1"/>
                  <a:gd name="T2" fmla="*/ 5422 w 3528"/>
                  <a:gd name="T3" fmla="*/ 0 h 1"/>
                  <a:gd name="T4" fmla="*/ 0 60000 65536"/>
                  <a:gd name="T5" fmla="*/ 0 60000 65536"/>
                  <a:gd name="T6" fmla="*/ 0 w 3528"/>
                  <a:gd name="T7" fmla="*/ 0 h 1"/>
                  <a:gd name="T8" fmla="*/ 3528 w 352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28" h="1">
                    <a:moveTo>
                      <a:pt x="0" y="0"/>
                    </a:moveTo>
                    <a:lnTo>
                      <a:pt x="3528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46" name="Rectangle 21"/>
              <p:cNvSpPr>
                <a:spLocks noChangeArrowheads="1"/>
              </p:cNvSpPr>
              <p:nvPr/>
            </p:nvSpPr>
            <p:spPr bwMode="auto">
              <a:xfrm>
                <a:off x="1615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3647" name="Freeform 22"/>
              <p:cNvSpPr/>
              <p:nvPr/>
            </p:nvSpPr>
            <p:spPr bwMode="auto">
              <a:xfrm>
                <a:off x="4351" y="991"/>
                <a:ext cx="1" cy="79"/>
              </a:xfrm>
              <a:custGeom>
                <a:avLst/>
                <a:gdLst>
                  <a:gd name="T0" fmla="*/ 0 w 1"/>
                  <a:gd name="T1" fmla="*/ 0 h 87"/>
                  <a:gd name="T2" fmla="*/ 0 w 1"/>
                  <a:gd name="T3" fmla="*/ 23 h 87"/>
                  <a:gd name="T4" fmla="*/ 0 60000 65536"/>
                  <a:gd name="T5" fmla="*/ 0 60000 65536"/>
                  <a:gd name="T6" fmla="*/ 0 w 1"/>
                  <a:gd name="T7" fmla="*/ 0 h 87"/>
                  <a:gd name="T8" fmla="*/ 1 w 1"/>
                  <a:gd name="T9" fmla="*/ 87 h 8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87">
                    <a:moveTo>
                      <a:pt x="0" y="0"/>
                    </a:moveTo>
                    <a:lnTo>
                      <a:pt x="0" y="8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48" name="Freeform 23"/>
              <p:cNvSpPr/>
              <p:nvPr/>
            </p:nvSpPr>
            <p:spPr bwMode="auto">
              <a:xfrm>
                <a:off x="1155" y="1295"/>
                <a:ext cx="3659" cy="3"/>
              </a:xfrm>
              <a:custGeom>
                <a:avLst/>
                <a:gdLst>
                  <a:gd name="T0" fmla="*/ 0 w 3659"/>
                  <a:gd name="T1" fmla="*/ 0 h 3"/>
                  <a:gd name="T2" fmla="*/ 3659 w 3659"/>
                  <a:gd name="T3" fmla="*/ 3 h 3"/>
                  <a:gd name="T4" fmla="*/ 0 60000 65536"/>
                  <a:gd name="T5" fmla="*/ 0 60000 65536"/>
                  <a:gd name="T6" fmla="*/ 0 w 3659"/>
                  <a:gd name="T7" fmla="*/ 0 h 3"/>
                  <a:gd name="T8" fmla="*/ 3659 w 3659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659" h="3">
                    <a:moveTo>
                      <a:pt x="0" y="0"/>
                    </a:moveTo>
                    <a:lnTo>
                      <a:pt x="365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49" name="Freeform 24"/>
              <p:cNvSpPr/>
              <p:nvPr/>
            </p:nvSpPr>
            <p:spPr bwMode="auto">
              <a:xfrm>
                <a:off x="2727" y="987"/>
                <a:ext cx="1" cy="86"/>
              </a:xfrm>
              <a:custGeom>
                <a:avLst/>
                <a:gdLst>
                  <a:gd name="T0" fmla="*/ 0 w 1"/>
                  <a:gd name="T1" fmla="*/ 0 h 86"/>
                  <a:gd name="T2" fmla="*/ 1 w 1"/>
                  <a:gd name="T3" fmla="*/ 86 h 86"/>
                  <a:gd name="T4" fmla="*/ 0 60000 65536"/>
                  <a:gd name="T5" fmla="*/ 0 60000 65536"/>
                  <a:gd name="T6" fmla="*/ 0 w 1"/>
                  <a:gd name="T7" fmla="*/ 0 h 86"/>
                  <a:gd name="T8" fmla="*/ 1 w 1"/>
                  <a:gd name="T9" fmla="*/ 86 h 8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86">
                    <a:moveTo>
                      <a:pt x="0" y="0"/>
                    </a:moveTo>
                    <a:lnTo>
                      <a:pt x="1" y="8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50" name="Freeform 25"/>
              <p:cNvSpPr/>
              <p:nvPr/>
            </p:nvSpPr>
            <p:spPr bwMode="auto">
              <a:xfrm>
                <a:off x="1791" y="985"/>
                <a:ext cx="1" cy="92"/>
              </a:xfrm>
              <a:custGeom>
                <a:avLst/>
                <a:gdLst>
                  <a:gd name="T0" fmla="*/ 0 w 1"/>
                  <a:gd name="T1" fmla="*/ 0 h 92"/>
                  <a:gd name="T2" fmla="*/ 0 w 1"/>
                  <a:gd name="T3" fmla="*/ 92 h 92"/>
                  <a:gd name="T4" fmla="*/ 0 60000 65536"/>
                  <a:gd name="T5" fmla="*/ 0 60000 65536"/>
                  <a:gd name="T6" fmla="*/ 0 w 1"/>
                  <a:gd name="T7" fmla="*/ 0 h 92"/>
                  <a:gd name="T8" fmla="*/ 1 w 1"/>
                  <a:gd name="T9" fmla="*/ 92 h 9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92">
                    <a:moveTo>
                      <a:pt x="0" y="0"/>
                    </a:moveTo>
                    <a:lnTo>
                      <a:pt x="0" y="92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51" name="Freeform 26"/>
              <p:cNvSpPr/>
              <p:nvPr/>
            </p:nvSpPr>
            <p:spPr bwMode="auto">
              <a:xfrm>
                <a:off x="1788" y="1212"/>
                <a:ext cx="1" cy="85"/>
              </a:xfrm>
              <a:custGeom>
                <a:avLst/>
                <a:gdLst>
                  <a:gd name="T0" fmla="*/ 0 w 1"/>
                  <a:gd name="T1" fmla="*/ 26 h 93"/>
                  <a:gd name="T2" fmla="*/ 0 w 1"/>
                  <a:gd name="T3" fmla="*/ 0 h 93"/>
                  <a:gd name="T4" fmla="*/ 0 60000 65536"/>
                  <a:gd name="T5" fmla="*/ 0 60000 65536"/>
                  <a:gd name="T6" fmla="*/ 0 w 1"/>
                  <a:gd name="T7" fmla="*/ 0 h 93"/>
                  <a:gd name="T8" fmla="*/ 1 w 1"/>
                  <a:gd name="T9" fmla="*/ 93 h 9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93">
                    <a:moveTo>
                      <a:pt x="0" y="93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52" name="Freeform 27"/>
              <p:cNvSpPr/>
              <p:nvPr/>
            </p:nvSpPr>
            <p:spPr bwMode="auto">
              <a:xfrm>
                <a:off x="2736" y="1200"/>
                <a:ext cx="3" cy="95"/>
              </a:xfrm>
              <a:custGeom>
                <a:avLst/>
                <a:gdLst>
                  <a:gd name="T0" fmla="*/ 0 w 3"/>
                  <a:gd name="T1" fmla="*/ 26 h 105"/>
                  <a:gd name="T2" fmla="*/ 3 w 3"/>
                  <a:gd name="T3" fmla="*/ 0 h 105"/>
                  <a:gd name="T4" fmla="*/ 0 60000 65536"/>
                  <a:gd name="T5" fmla="*/ 0 60000 65536"/>
                  <a:gd name="T6" fmla="*/ 0 w 3"/>
                  <a:gd name="T7" fmla="*/ 0 h 105"/>
                  <a:gd name="T8" fmla="*/ 3 w 3"/>
                  <a:gd name="T9" fmla="*/ 105 h 10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5">
                    <a:moveTo>
                      <a:pt x="0" y="105"/>
                    </a:moveTo>
                    <a:lnTo>
                      <a:pt x="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53" name="Line 28"/>
              <p:cNvSpPr>
                <a:spLocks noChangeShapeType="1"/>
              </p:cNvSpPr>
              <p:nvPr/>
            </p:nvSpPr>
            <p:spPr bwMode="auto">
              <a:xfrm rot="10800000">
                <a:off x="4351" y="121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54" name="Freeform 29"/>
              <p:cNvSpPr/>
              <p:nvPr/>
            </p:nvSpPr>
            <p:spPr bwMode="auto">
              <a:xfrm>
                <a:off x="1155" y="1559"/>
                <a:ext cx="3653" cy="1"/>
              </a:xfrm>
              <a:custGeom>
                <a:avLst/>
                <a:gdLst>
                  <a:gd name="T0" fmla="*/ 0 w 3543"/>
                  <a:gd name="T1" fmla="*/ 0 h 1"/>
                  <a:gd name="T2" fmla="*/ 5435 w 3543"/>
                  <a:gd name="T3" fmla="*/ 0 h 1"/>
                  <a:gd name="T4" fmla="*/ 0 60000 65536"/>
                  <a:gd name="T5" fmla="*/ 0 60000 65536"/>
                  <a:gd name="T6" fmla="*/ 0 w 3543"/>
                  <a:gd name="T7" fmla="*/ 0 h 1"/>
                  <a:gd name="T8" fmla="*/ 3543 w 354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43" h="1">
                    <a:moveTo>
                      <a:pt x="0" y="0"/>
                    </a:moveTo>
                    <a:lnTo>
                      <a:pt x="354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55" name="Line 30"/>
              <p:cNvSpPr>
                <a:spLocks noChangeShapeType="1"/>
              </p:cNvSpPr>
              <p:nvPr/>
            </p:nvSpPr>
            <p:spPr bwMode="auto">
              <a:xfrm>
                <a:off x="4351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56" name="Freeform 31"/>
              <p:cNvSpPr/>
              <p:nvPr/>
            </p:nvSpPr>
            <p:spPr bwMode="auto">
              <a:xfrm>
                <a:off x="1155" y="1863"/>
                <a:ext cx="3656" cy="1"/>
              </a:xfrm>
              <a:custGeom>
                <a:avLst/>
                <a:gdLst>
                  <a:gd name="T0" fmla="*/ 0 w 3546"/>
                  <a:gd name="T1" fmla="*/ 0 h 2"/>
                  <a:gd name="T2" fmla="*/ 5438 w 3546"/>
                  <a:gd name="T3" fmla="*/ 1 h 2"/>
                  <a:gd name="T4" fmla="*/ 0 60000 65536"/>
                  <a:gd name="T5" fmla="*/ 0 60000 65536"/>
                  <a:gd name="T6" fmla="*/ 0 w 3546"/>
                  <a:gd name="T7" fmla="*/ 0 h 2"/>
                  <a:gd name="T8" fmla="*/ 3546 w 354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46" h="2">
                    <a:moveTo>
                      <a:pt x="0" y="0"/>
                    </a:moveTo>
                    <a:lnTo>
                      <a:pt x="3546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57" name="Line 32"/>
              <p:cNvSpPr>
                <a:spLocks noChangeShapeType="1"/>
              </p:cNvSpPr>
              <p:nvPr/>
            </p:nvSpPr>
            <p:spPr bwMode="auto">
              <a:xfrm>
                <a:off x="2725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58" name="Line 33"/>
              <p:cNvSpPr>
                <a:spLocks noChangeShapeType="1"/>
              </p:cNvSpPr>
              <p:nvPr/>
            </p:nvSpPr>
            <p:spPr bwMode="auto">
              <a:xfrm>
                <a:off x="1788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59" name="Line 34"/>
              <p:cNvSpPr>
                <a:spLocks noChangeShapeType="1"/>
              </p:cNvSpPr>
              <p:nvPr/>
            </p:nvSpPr>
            <p:spPr bwMode="auto">
              <a:xfrm rot="10800000">
                <a:off x="1788" y="1778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60" name="Line 35"/>
              <p:cNvSpPr>
                <a:spLocks noChangeShapeType="1"/>
              </p:cNvSpPr>
              <p:nvPr/>
            </p:nvSpPr>
            <p:spPr bwMode="auto">
              <a:xfrm rot="10800000">
                <a:off x="2725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61" name="Line 36"/>
              <p:cNvSpPr>
                <a:spLocks noChangeShapeType="1"/>
              </p:cNvSpPr>
              <p:nvPr/>
            </p:nvSpPr>
            <p:spPr bwMode="auto">
              <a:xfrm rot="10800000">
                <a:off x="4351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62" name="Freeform 37"/>
              <p:cNvSpPr/>
              <p:nvPr/>
            </p:nvSpPr>
            <p:spPr bwMode="auto">
              <a:xfrm>
                <a:off x="1155" y="2432"/>
                <a:ext cx="3675" cy="1"/>
              </a:xfrm>
              <a:custGeom>
                <a:avLst/>
                <a:gdLst>
                  <a:gd name="T0" fmla="*/ 0 w 3564"/>
                  <a:gd name="T1" fmla="*/ 0 h 1"/>
                  <a:gd name="T2" fmla="*/ 5474 w 3564"/>
                  <a:gd name="T3" fmla="*/ 0 h 1"/>
                  <a:gd name="T4" fmla="*/ 0 60000 65536"/>
                  <a:gd name="T5" fmla="*/ 0 60000 65536"/>
                  <a:gd name="T6" fmla="*/ 0 w 3564"/>
                  <a:gd name="T7" fmla="*/ 0 h 1"/>
                  <a:gd name="T8" fmla="*/ 3564 w 356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64" h="1">
                    <a:moveTo>
                      <a:pt x="0" y="0"/>
                    </a:moveTo>
                    <a:lnTo>
                      <a:pt x="3564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63" name="Line 38"/>
              <p:cNvSpPr>
                <a:spLocks noChangeShapeType="1"/>
              </p:cNvSpPr>
              <p:nvPr/>
            </p:nvSpPr>
            <p:spPr bwMode="auto">
              <a:xfrm>
                <a:off x="4351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64" name="Freeform 39"/>
              <p:cNvSpPr/>
              <p:nvPr/>
            </p:nvSpPr>
            <p:spPr bwMode="auto">
              <a:xfrm>
                <a:off x="1155" y="2736"/>
                <a:ext cx="3647" cy="1"/>
              </a:xfrm>
              <a:custGeom>
                <a:avLst/>
                <a:gdLst>
                  <a:gd name="T0" fmla="*/ 0 w 3647"/>
                  <a:gd name="T1" fmla="*/ 0 h 1"/>
                  <a:gd name="T2" fmla="*/ 3647 w 3647"/>
                  <a:gd name="T3" fmla="*/ 1 h 1"/>
                  <a:gd name="T4" fmla="*/ 0 60000 65536"/>
                  <a:gd name="T5" fmla="*/ 0 60000 65536"/>
                  <a:gd name="T6" fmla="*/ 0 w 3647"/>
                  <a:gd name="T7" fmla="*/ 0 h 1"/>
                  <a:gd name="T8" fmla="*/ 3647 w 364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647" h="1">
                    <a:moveTo>
                      <a:pt x="0" y="0"/>
                    </a:moveTo>
                    <a:lnTo>
                      <a:pt x="3647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65" name="Line 40"/>
              <p:cNvSpPr>
                <a:spLocks noChangeShapeType="1"/>
              </p:cNvSpPr>
              <p:nvPr/>
            </p:nvSpPr>
            <p:spPr bwMode="auto">
              <a:xfrm>
                <a:off x="2725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66" name="Line 41"/>
              <p:cNvSpPr>
                <a:spLocks noChangeShapeType="1"/>
              </p:cNvSpPr>
              <p:nvPr/>
            </p:nvSpPr>
            <p:spPr bwMode="auto">
              <a:xfrm>
                <a:off x="1788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67" name="Line 42"/>
              <p:cNvSpPr>
                <a:spLocks noChangeShapeType="1"/>
              </p:cNvSpPr>
              <p:nvPr/>
            </p:nvSpPr>
            <p:spPr bwMode="auto">
              <a:xfrm rot="10800000">
                <a:off x="1788" y="2652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68" name="Line 43"/>
              <p:cNvSpPr>
                <a:spLocks noChangeShapeType="1"/>
              </p:cNvSpPr>
              <p:nvPr/>
            </p:nvSpPr>
            <p:spPr bwMode="auto">
              <a:xfrm rot="10800000">
                <a:off x="2725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69" name="Line 44"/>
              <p:cNvSpPr>
                <a:spLocks noChangeShapeType="1"/>
              </p:cNvSpPr>
              <p:nvPr/>
            </p:nvSpPr>
            <p:spPr bwMode="auto">
              <a:xfrm rot="10800000">
                <a:off x="4351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70" name="AutoShape 45"/>
              <p:cNvSpPr>
                <a:spLocks noChangeArrowheads="1"/>
              </p:cNvSpPr>
              <p:nvPr/>
            </p:nvSpPr>
            <p:spPr bwMode="auto">
              <a:xfrm rot="-5400000">
                <a:off x="1700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3671" name="Freeform 46"/>
              <p:cNvSpPr/>
              <p:nvPr/>
            </p:nvSpPr>
            <p:spPr bwMode="auto">
              <a:xfrm>
                <a:off x="1416" y="1148"/>
                <a:ext cx="198" cy="2026"/>
              </a:xfrm>
              <a:custGeom>
                <a:avLst/>
                <a:gdLst>
                  <a:gd name="T0" fmla="*/ 198 w 198"/>
                  <a:gd name="T1" fmla="*/ 0 h 2026"/>
                  <a:gd name="T2" fmla="*/ 0 w 198"/>
                  <a:gd name="T3" fmla="*/ 0 h 2026"/>
                  <a:gd name="T4" fmla="*/ 6 w 198"/>
                  <a:gd name="T5" fmla="*/ 2026 h 2026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26"/>
                  <a:gd name="T11" fmla="*/ 198 w 198"/>
                  <a:gd name="T12" fmla="*/ 2026 h 20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26">
                    <a:moveTo>
                      <a:pt x="198" y="0"/>
                    </a:moveTo>
                    <a:lnTo>
                      <a:pt x="0" y="0"/>
                    </a:lnTo>
                    <a:lnTo>
                      <a:pt x="6" y="202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72" name="Freeform 47"/>
              <p:cNvSpPr/>
              <p:nvPr/>
            </p:nvSpPr>
            <p:spPr bwMode="auto">
              <a:xfrm>
                <a:off x="141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73" name="Freeform 48"/>
              <p:cNvSpPr/>
              <p:nvPr/>
            </p:nvSpPr>
            <p:spPr bwMode="auto">
              <a:xfrm>
                <a:off x="1422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74" name="Line 49"/>
              <p:cNvSpPr>
                <a:spLocks noChangeShapeType="1"/>
              </p:cNvSpPr>
              <p:nvPr/>
            </p:nvSpPr>
            <p:spPr bwMode="auto">
              <a:xfrm>
                <a:off x="1419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75" name="Freeform 50"/>
              <p:cNvSpPr/>
              <p:nvPr/>
            </p:nvSpPr>
            <p:spPr bwMode="auto">
              <a:xfrm>
                <a:off x="3979" y="1148"/>
                <a:ext cx="198" cy="2023"/>
              </a:xfrm>
              <a:custGeom>
                <a:avLst/>
                <a:gdLst>
                  <a:gd name="T0" fmla="*/ 198 w 198"/>
                  <a:gd name="T1" fmla="*/ 0 h 2023"/>
                  <a:gd name="T2" fmla="*/ 0 w 198"/>
                  <a:gd name="T3" fmla="*/ 0 h 2023"/>
                  <a:gd name="T4" fmla="*/ 2 w 198"/>
                  <a:gd name="T5" fmla="*/ 2023 h 2023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23"/>
                  <a:gd name="T11" fmla="*/ 198 w 198"/>
                  <a:gd name="T12" fmla="*/ 2023 h 202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23">
                    <a:moveTo>
                      <a:pt x="198" y="0"/>
                    </a:moveTo>
                    <a:lnTo>
                      <a:pt x="0" y="0"/>
                    </a:lnTo>
                    <a:lnTo>
                      <a:pt x="2" y="202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76" name="Freeform 51"/>
              <p:cNvSpPr/>
              <p:nvPr/>
            </p:nvSpPr>
            <p:spPr bwMode="auto">
              <a:xfrm>
                <a:off x="3982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77" name="Freeform 52"/>
              <p:cNvSpPr/>
              <p:nvPr/>
            </p:nvSpPr>
            <p:spPr bwMode="auto">
              <a:xfrm>
                <a:off x="3985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78" name="Line 53"/>
              <p:cNvSpPr>
                <a:spLocks noChangeShapeType="1"/>
              </p:cNvSpPr>
              <p:nvPr/>
            </p:nvSpPr>
            <p:spPr bwMode="auto">
              <a:xfrm>
                <a:off x="3982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79" name="Freeform 54"/>
              <p:cNvSpPr/>
              <p:nvPr/>
            </p:nvSpPr>
            <p:spPr bwMode="auto">
              <a:xfrm>
                <a:off x="2347" y="1148"/>
                <a:ext cx="198" cy="2024"/>
              </a:xfrm>
              <a:custGeom>
                <a:avLst/>
                <a:gdLst>
                  <a:gd name="T0" fmla="*/ 295 w 192"/>
                  <a:gd name="T1" fmla="*/ 0 h 2224"/>
                  <a:gd name="T2" fmla="*/ 0 w 192"/>
                  <a:gd name="T3" fmla="*/ 0 h 2224"/>
                  <a:gd name="T4" fmla="*/ 2 w 192"/>
                  <a:gd name="T5" fmla="*/ 594 h 2224"/>
                  <a:gd name="T6" fmla="*/ 0 60000 65536"/>
                  <a:gd name="T7" fmla="*/ 0 60000 65536"/>
                  <a:gd name="T8" fmla="*/ 0 60000 65536"/>
                  <a:gd name="T9" fmla="*/ 0 w 192"/>
                  <a:gd name="T10" fmla="*/ 0 h 2224"/>
                  <a:gd name="T11" fmla="*/ 192 w 192"/>
                  <a:gd name="T12" fmla="*/ 2224 h 22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2" h="2224">
                    <a:moveTo>
                      <a:pt x="192" y="0"/>
                    </a:moveTo>
                    <a:lnTo>
                      <a:pt x="0" y="0"/>
                    </a:lnTo>
                    <a:lnTo>
                      <a:pt x="2" y="222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80" name="Freeform 55"/>
              <p:cNvSpPr/>
              <p:nvPr/>
            </p:nvSpPr>
            <p:spPr bwMode="auto">
              <a:xfrm>
                <a:off x="235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81" name="Freeform 56"/>
              <p:cNvSpPr/>
              <p:nvPr/>
            </p:nvSpPr>
            <p:spPr bwMode="auto">
              <a:xfrm>
                <a:off x="2353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82" name="Line 57"/>
              <p:cNvSpPr>
                <a:spLocks noChangeShapeType="1"/>
              </p:cNvSpPr>
              <p:nvPr/>
            </p:nvSpPr>
            <p:spPr bwMode="auto">
              <a:xfrm>
                <a:off x="2350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83" name="Freeform 58"/>
              <p:cNvSpPr/>
              <p:nvPr/>
            </p:nvSpPr>
            <p:spPr bwMode="auto">
              <a:xfrm>
                <a:off x="1964" y="1135"/>
                <a:ext cx="198" cy="2030"/>
              </a:xfrm>
              <a:custGeom>
                <a:avLst/>
                <a:gdLst>
                  <a:gd name="T0" fmla="*/ 0 w 198"/>
                  <a:gd name="T1" fmla="*/ 0 h 2030"/>
                  <a:gd name="T2" fmla="*/ 198 w 198"/>
                  <a:gd name="T3" fmla="*/ 0 h 2030"/>
                  <a:gd name="T4" fmla="*/ 193 w 198"/>
                  <a:gd name="T5" fmla="*/ 2030 h 2030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30"/>
                  <a:gd name="T11" fmla="*/ 198 w 198"/>
                  <a:gd name="T12" fmla="*/ 2030 h 203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30">
                    <a:moveTo>
                      <a:pt x="0" y="0"/>
                    </a:moveTo>
                    <a:lnTo>
                      <a:pt x="198" y="0"/>
                    </a:lnTo>
                    <a:lnTo>
                      <a:pt x="193" y="203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84" name="Freeform 59"/>
              <p:cNvSpPr/>
              <p:nvPr/>
            </p:nvSpPr>
            <p:spPr bwMode="auto">
              <a:xfrm rot="10800000">
                <a:off x="195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85" name="Freeform 60"/>
              <p:cNvSpPr/>
              <p:nvPr/>
            </p:nvSpPr>
            <p:spPr bwMode="auto">
              <a:xfrm rot="10800000">
                <a:off x="1959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86" name="Freeform 61"/>
              <p:cNvSpPr/>
              <p:nvPr/>
            </p:nvSpPr>
            <p:spPr bwMode="auto">
              <a:xfrm>
                <a:off x="1958" y="2957"/>
                <a:ext cx="200" cy="1"/>
              </a:xfrm>
              <a:custGeom>
                <a:avLst/>
                <a:gdLst>
                  <a:gd name="T0" fmla="*/ 297 w 194"/>
                  <a:gd name="T1" fmla="*/ 0 h 1"/>
                  <a:gd name="T2" fmla="*/ 0 w 194"/>
                  <a:gd name="T3" fmla="*/ 0 h 1"/>
                  <a:gd name="T4" fmla="*/ 0 60000 65536"/>
                  <a:gd name="T5" fmla="*/ 0 60000 65536"/>
                  <a:gd name="T6" fmla="*/ 0 w 194"/>
                  <a:gd name="T7" fmla="*/ 0 h 1"/>
                  <a:gd name="T8" fmla="*/ 194 w 19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4" h="1">
                    <a:moveTo>
                      <a:pt x="19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87" name="Freeform 62"/>
              <p:cNvSpPr/>
              <p:nvPr/>
            </p:nvSpPr>
            <p:spPr bwMode="auto">
              <a:xfrm>
                <a:off x="2893" y="1135"/>
                <a:ext cx="199" cy="2047"/>
              </a:xfrm>
              <a:custGeom>
                <a:avLst/>
                <a:gdLst>
                  <a:gd name="T0" fmla="*/ 0 w 193"/>
                  <a:gd name="T1" fmla="*/ 0 h 2250"/>
                  <a:gd name="T2" fmla="*/ 295 w 193"/>
                  <a:gd name="T3" fmla="*/ 0 h 2250"/>
                  <a:gd name="T4" fmla="*/ 296 w 193"/>
                  <a:gd name="T5" fmla="*/ 599 h 2250"/>
                  <a:gd name="T6" fmla="*/ 0 60000 65536"/>
                  <a:gd name="T7" fmla="*/ 0 60000 65536"/>
                  <a:gd name="T8" fmla="*/ 0 60000 65536"/>
                  <a:gd name="T9" fmla="*/ 0 w 193"/>
                  <a:gd name="T10" fmla="*/ 0 h 2250"/>
                  <a:gd name="T11" fmla="*/ 193 w 193"/>
                  <a:gd name="T12" fmla="*/ 2250 h 225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3" h="2250">
                    <a:moveTo>
                      <a:pt x="0" y="0"/>
                    </a:moveTo>
                    <a:lnTo>
                      <a:pt x="192" y="0"/>
                    </a:lnTo>
                    <a:lnTo>
                      <a:pt x="193" y="225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88" name="Freeform 63"/>
              <p:cNvSpPr/>
              <p:nvPr/>
            </p:nvSpPr>
            <p:spPr bwMode="auto">
              <a:xfrm rot="10800000">
                <a:off x="289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89" name="Freeform 64"/>
              <p:cNvSpPr/>
              <p:nvPr/>
            </p:nvSpPr>
            <p:spPr bwMode="auto">
              <a:xfrm rot="10800000">
                <a:off x="2890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90" name="Freeform 65"/>
              <p:cNvSpPr/>
              <p:nvPr/>
            </p:nvSpPr>
            <p:spPr bwMode="auto">
              <a:xfrm>
                <a:off x="2895" y="2957"/>
                <a:ext cx="194" cy="1"/>
              </a:xfrm>
              <a:custGeom>
                <a:avLst/>
                <a:gdLst>
                  <a:gd name="T0" fmla="*/ 291 w 188"/>
                  <a:gd name="T1" fmla="*/ 0 h 1"/>
                  <a:gd name="T2" fmla="*/ 0 w 188"/>
                  <a:gd name="T3" fmla="*/ 0 h 1"/>
                  <a:gd name="T4" fmla="*/ 0 60000 65536"/>
                  <a:gd name="T5" fmla="*/ 0 60000 65536"/>
                  <a:gd name="T6" fmla="*/ 0 w 188"/>
                  <a:gd name="T7" fmla="*/ 0 h 1"/>
                  <a:gd name="T8" fmla="*/ 188 w 18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88" h="1">
                    <a:moveTo>
                      <a:pt x="18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91" name="Freeform 66"/>
              <p:cNvSpPr/>
              <p:nvPr/>
            </p:nvSpPr>
            <p:spPr bwMode="auto">
              <a:xfrm>
                <a:off x="4531" y="1135"/>
                <a:ext cx="203" cy="2027"/>
              </a:xfrm>
              <a:custGeom>
                <a:avLst/>
                <a:gdLst>
                  <a:gd name="T0" fmla="*/ 0 w 203"/>
                  <a:gd name="T1" fmla="*/ 0 h 2027"/>
                  <a:gd name="T2" fmla="*/ 198 w 203"/>
                  <a:gd name="T3" fmla="*/ 0 h 2027"/>
                  <a:gd name="T4" fmla="*/ 203 w 203"/>
                  <a:gd name="T5" fmla="*/ 2027 h 2027"/>
                  <a:gd name="T6" fmla="*/ 0 60000 65536"/>
                  <a:gd name="T7" fmla="*/ 0 60000 65536"/>
                  <a:gd name="T8" fmla="*/ 0 60000 65536"/>
                  <a:gd name="T9" fmla="*/ 0 w 203"/>
                  <a:gd name="T10" fmla="*/ 0 h 2027"/>
                  <a:gd name="T11" fmla="*/ 203 w 203"/>
                  <a:gd name="T12" fmla="*/ 2027 h 20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3" h="2027">
                    <a:moveTo>
                      <a:pt x="0" y="0"/>
                    </a:moveTo>
                    <a:lnTo>
                      <a:pt x="198" y="0"/>
                    </a:lnTo>
                    <a:lnTo>
                      <a:pt x="203" y="202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92" name="Freeform 67"/>
              <p:cNvSpPr/>
              <p:nvPr/>
            </p:nvSpPr>
            <p:spPr bwMode="auto">
              <a:xfrm rot="10800000">
                <a:off x="4528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93" name="Freeform 68"/>
              <p:cNvSpPr/>
              <p:nvPr/>
            </p:nvSpPr>
            <p:spPr bwMode="auto">
              <a:xfrm rot="10800000">
                <a:off x="4528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94" name="Freeform 69"/>
              <p:cNvSpPr/>
              <p:nvPr/>
            </p:nvSpPr>
            <p:spPr bwMode="auto">
              <a:xfrm rot="10800000">
                <a:off x="4524" y="295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3695" name="Rectangle 70"/>
              <p:cNvSpPr>
                <a:spLocks noChangeArrowheads="1"/>
              </p:cNvSpPr>
              <p:nvPr/>
            </p:nvSpPr>
            <p:spPr bwMode="auto">
              <a:xfrm>
                <a:off x="1204" y="3175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读  写  控  制  电  路</a:t>
                </a:r>
              </a:p>
            </p:txBody>
          </p:sp>
          <p:sp>
            <p:nvSpPr>
              <p:cNvPr id="153696" name="Rectangle 71"/>
              <p:cNvSpPr>
                <a:spLocks noChangeArrowheads="1"/>
              </p:cNvSpPr>
              <p:nvPr/>
            </p:nvSpPr>
            <p:spPr bwMode="auto">
              <a:xfrm>
                <a:off x="1204" y="3656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bIns="0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列  地  址  译  码  器</a:t>
                </a:r>
              </a:p>
            </p:txBody>
          </p:sp>
          <p:sp>
            <p:nvSpPr>
              <p:cNvPr id="153697" name="Text Box 72"/>
              <p:cNvSpPr txBox="1">
                <a:spLocks noChangeArrowheads="1"/>
              </p:cNvSpPr>
              <p:nvPr/>
            </p:nvSpPr>
            <p:spPr bwMode="auto">
              <a:xfrm rot="5400000">
                <a:off x="1689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53698" name="Text Box 73"/>
              <p:cNvSpPr txBox="1">
                <a:spLocks noChangeArrowheads="1"/>
              </p:cNvSpPr>
              <p:nvPr/>
            </p:nvSpPr>
            <p:spPr bwMode="auto">
              <a:xfrm rot="5400000">
                <a:off x="2620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53699" name="Text Box 74"/>
              <p:cNvSpPr txBox="1">
                <a:spLocks noChangeArrowheads="1"/>
              </p:cNvSpPr>
              <p:nvPr/>
            </p:nvSpPr>
            <p:spPr bwMode="auto">
              <a:xfrm rot="5400000">
                <a:off x="4252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53700" name="Rectangle 75"/>
              <p:cNvSpPr>
                <a:spLocks noChangeArrowheads="1"/>
              </p:cNvSpPr>
              <p:nvPr/>
            </p:nvSpPr>
            <p:spPr bwMode="auto">
              <a:xfrm>
                <a:off x="1615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3701" name="Rectangle 76"/>
              <p:cNvSpPr>
                <a:spLocks noChangeArrowheads="1"/>
              </p:cNvSpPr>
              <p:nvPr/>
            </p:nvSpPr>
            <p:spPr bwMode="auto">
              <a:xfrm>
                <a:off x="1615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3702" name="Rectangle 77"/>
              <p:cNvSpPr>
                <a:spLocks noChangeArrowheads="1"/>
              </p:cNvSpPr>
              <p:nvPr/>
            </p:nvSpPr>
            <p:spPr bwMode="auto">
              <a:xfrm>
                <a:off x="2546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3703" name="Rectangle 78"/>
              <p:cNvSpPr>
                <a:spLocks noChangeArrowheads="1"/>
              </p:cNvSpPr>
              <p:nvPr/>
            </p:nvSpPr>
            <p:spPr bwMode="auto">
              <a:xfrm>
                <a:off x="2546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3704" name="Rectangle 79"/>
              <p:cNvSpPr>
                <a:spLocks noChangeArrowheads="1"/>
              </p:cNvSpPr>
              <p:nvPr/>
            </p:nvSpPr>
            <p:spPr bwMode="auto">
              <a:xfrm>
                <a:off x="2546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3705" name="Rectangle 80"/>
              <p:cNvSpPr>
                <a:spLocks noChangeArrowheads="1"/>
              </p:cNvSpPr>
              <p:nvPr/>
            </p:nvSpPr>
            <p:spPr bwMode="auto">
              <a:xfrm>
                <a:off x="4178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3706" name="Rectangle 81"/>
              <p:cNvSpPr>
                <a:spLocks noChangeArrowheads="1"/>
              </p:cNvSpPr>
              <p:nvPr/>
            </p:nvSpPr>
            <p:spPr bwMode="auto">
              <a:xfrm>
                <a:off x="4178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3707" name="Rectangle 82"/>
              <p:cNvSpPr>
                <a:spLocks noChangeArrowheads="1"/>
              </p:cNvSpPr>
              <p:nvPr/>
            </p:nvSpPr>
            <p:spPr bwMode="auto">
              <a:xfrm>
                <a:off x="4178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3708" name="AutoShape 83"/>
              <p:cNvSpPr>
                <a:spLocks noChangeArrowheads="1"/>
              </p:cNvSpPr>
              <p:nvPr/>
            </p:nvSpPr>
            <p:spPr bwMode="auto">
              <a:xfrm rot="-5400000">
                <a:off x="2631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3709" name="AutoShape 84"/>
              <p:cNvSpPr>
                <a:spLocks noChangeArrowheads="1"/>
              </p:cNvSpPr>
              <p:nvPr/>
            </p:nvSpPr>
            <p:spPr bwMode="auto">
              <a:xfrm rot="-5400000">
                <a:off x="4263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3710" name="Text Box 85"/>
              <p:cNvSpPr txBox="1">
                <a:spLocks noChangeArrowheads="1"/>
              </p:cNvSpPr>
              <p:nvPr/>
            </p:nvSpPr>
            <p:spPr bwMode="auto">
              <a:xfrm>
                <a:off x="4796" y="861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读选择线</a:t>
                </a:r>
              </a:p>
            </p:txBody>
          </p:sp>
          <p:sp>
            <p:nvSpPr>
              <p:cNvPr id="153711" name="Text Box 86"/>
              <p:cNvSpPr txBox="1">
                <a:spLocks noChangeArrowheads="1"/>
              </p:cNvSpPr>
              <p:nvPr/>
            </p:nvSpPr>
            <p:spPr bwMode="auto">
              <a:xfrm>
                <a:off x="4806" y="115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写选择线</a:t>
                </a:r>
              </a:p>
            </p:txBody>
          </p:sp>
          <p:sp>
            <p:nvSpPr>
              <p:cNvPr id="153712" name="Line 87"/>
              <p:cNvSpPr>
                <a:spLocks noChangeShapeType="1"/>
              </p:cNvSpPr>
              <p:nvPr/>
            </p:nvSpPr>
            <p:spPr bwMode="auto">
              <a:xfrm>
                <a:off x="4817" y="3306"/>
                <a:ext cx="3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3713" name="Text Box 88"/>
              <p:cNvSpPr txBox="1">
                <a:spLocks noChangeArrowheads="1"/>
              </p:cNvSpPr>
              <p:nvPr/>
            </p:nvSpPr>
            <p:spPr bwMode="auto">
              <a:xfrm>
                <a:off x="4906" y="3024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53714" name="Text Box 89"/>
              <p:cNvSpPr txBox="1">
                <a:spLocks noChangeArrowheads="1"/>
              </p:cNvSpPr>
              <p:nvPr/>
            </p:nvSpPr>
            <p:spPr bwMode="auto">
              <a:xfrm>
                <a:off x="3296" y="1929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单元</a:t>
                </a:r>
              </a:p>
            </p:txBody>
          </p:sp>
          <p:sp>
            <p:nvSpPr>
              <p:cNvPr id="153715" name="Text Box 90"/>
              <p:cNvSpPr txBox="1">
                <a:spLocks noChangeArrowheads="1"/>
              </p:cNvSpPr>
              <p:nvPr/>
            </p:nvSpPr>
            <p:spPr bwMode="auto">
              <a:xfrm>
                <a:off x="3296" y="2108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电路</a:t>
                </a:r>
              </a:p>
            </p:txBody>
          </p:sp>
          <p:sp>
            <p:nvSpPr>
              <p:cNvPr id="153716" name="Text Box 91"/>
              <p:cNvSpPr txBox="1">
                <a:spLocks noChangeArrowheads="1"/>
              </p:cNvSpPr>
              <p:nvPr/>
            </p:nvSpPr>
            <p:spPr bwMode="auto">
              <a:xfrm>
                <a:off x="503" y="936"/>
                <a:ext cx="309" cy="2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行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地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址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译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码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器</a:t>
                </a:r>
              </a:p>
            </p:txBody>
          </p:sp>
          <p:sp>
            <p:nvSpPr>
              <p:cNvPr id="153717" name="Text Box 92"/>
              <p:cNvSpPr txBox="1">
                <a:spLocks noChangeArrowheads="1"/>
              </p:cNvSpPr>
              <p:nvPr/>
            </p:nvSpPr>
            <p:spPr bwMode="auto">
              <a:xfrm>
                <a:off x="907" y="86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53718" name="Text Box 93"/>
              <p:cNvSpPr txBox="1">
                <a:spLocks noChangeArrowheads="1"/>
              </p:cNvSpPr>
              <p:nvPr/>
            </p:nvSpPr>
            <p:spPr bwMode="auto">
              <a:xfrm>
                <a:off x="907" y="115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53719" name="Text Box 94"/>
              <p:cNvSpPr txBox="1">
                <a:spLocks noChangeArrowheads="1"/>
              </p:cNvSpPr>
              <p:nvPr/>
            </p:nvSpPr>
            <p:spPr bwMode="auto">
              <a:xfrm>
                <a:off x="907" y="145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53720" name="Text Box 95"/>
              <p:cNvSpPr txBox="1">
                <a:spLocks noChangeArrowheads="1"/>
              </p:cNvSpPr>
              <p:nvPr/>
            </p:nvSpPr>
            <p:spPr bwMode="auto">
              <a:xfrm>
                <a:off x="907" y="176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53721" name="Text Box 96"/>
              <p:cNvSpPr txBox="1">
                <a:spLocks noChangeArrowheads="1"/>
              </p:cNvSpPr>
              <p:nvPr/>
            </p:nvSpPr>
            <p:spPr bwMode="auto">
              <a:xfrm>
                <a:off x="854" y="2294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53722" name="Text Box 97"/>
              <p:cNvSpPr txBox="1">
                <a:spLocks noChangeArrowheads="1"/>
              </p:cNvSpPr>
              <p:nvPr/>
            </p:nvSpPr>
            <p:spPr bwMode="auto">
              <a:xfrm>
                <a:off x="858" y="2592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53723" name="Line 98"/>
              <p:cNvSpPr>
                <a:spLocks noChangeShapeType="1"/>
              </p:cNvSpPr>
              <p:nvPr/>
            </p:nvSpPr>
            <p:spPr bwMode="auto">
              <a:xfrm>
                <a:off x="1887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3724" name="Line 99"/>
              <p:cNvSpPr>
                <a:spLocks noChangeShapeType="1"/>
              </p:cNvSpPr>
              <p:nvPr/>
            </p:nvSpPr>
            <p:spPr bwMode="auto">
              <a:xfrm>
                <a:off x="2832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3725" name="Text Box 100"/>
              <p:cNvSpPr txBox="1">
                <a:spLocks noChangeArrowheads="1"/>
              </p:cNvSpPr>
              <p:nvPr/>
            </p:nvSpPr>
            <p:spPr bwMode="auto">
              <a:xfrm>
                <a:off x="2613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53726" name="Line 101"/>
              <p:cNvSpPr>
                <a:spLocks noChangeShapeType="1"/>
              </p:cNvSpPr>
              <p:nvPr/>
            </p:nvSpPr>
            <p:spPr bwMode="auto">
              <a:xfrm>
                <a:off x="4473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3727" name="Text Box 102"/>
              <p:cNvSpPr txBox="1">
                <a:spLocks noChangeArrowheads="1"/>
              </p:cNvSpPr>
              <p:nvPr/>
            </p:nvSpPr>
            <p:spPr bwMode="auto">
              <a:xfrm>
                <a:off x="4176" y="3420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53728" name="Group 103"/>
              <p:cNvGrpSpPr/>
              <p:nvPr/>
            </p:nvGrpSpPr>
            <p:grpSpPr bwMode="auto">
              <a:xfrm>
                <a:off x="1492" y="3918"/>
                <a:ext cx="284" cy="323"/>
                <a:chOff x="1584" y="3918"/>
                <a:chExt cx="284" cy="323"/>
              </a:xfrm>
            </p:grpSpPr>
            <p:sp>
              <p:nvSpPr>
                <p:cNvPr id="153764" name="Line 104"/>
                <p:cNvSpPr>
                  <a:spLocks noChangeShapeType="1"/>
                </p:cNvSpPr>
                <p:nvPr/>
              </p:nvSpPr>
              <p:spPr bwMode="auto">
                <a:xfrm rot="-5400000">
                  <a:off x="149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3765" name="Text Box 105"/>
                <p:cNvSpPr txBox="1">
                  <a:spLocks noChangeArrowheads="1"/>
                </p:cNvSpPr>
                <p:nvPr/>
              </p:nvSpPr>
              <p:spPr bwMode="auto">
                <a:xfrm>
                  <a:off x="1584" y="3991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</p:grpSp>
          <p:grpSp>
            <p:nvGrpSpPr>
              <p:cNvPr id="153729" name="Group 106"/>
              <p:cNvGrpSpPr/>
              <p:nvPr/>
            </p:nvGrpSpPr>
            <p:grpSpPr bwMode="auto">
              <a:xfrm>
                <a:off x="2234" y="3918"/>
                <a:ext cx="285" cy="324"/>
                <a:chOff x="2355" y="3918"/>
                <a:chExt cx="285" cy="324"/>
              </a:xfrm>
            </p:grpSpPr>
            <p:sp>
              <p:nvSpPr>
                <p:cNvPr id="153762" name="Line 107"/>
                <p:cNvSpPr>
                  <a:spLocks noChangeShapeType="1"/>
                </p:cNvSpPr>
                <p:nvPr/>
              </p:nvSpPr>
              <p:spPr bwMode="auto">
                <a:xfrm rot="-5400000">
                  <a:off x="224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3763" name="Text Box 108"/>
                <p:cNvSpPr txBox="1">
                  <a:spLocks noChangeArrowheads="1"/>
                </p:cNvSpPr>
                <p:nvPr/>
              </p:nvSpPr>
              <p:spPr bwMode="auto">
                <a:xfrm>
                  <a:off x="2356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3</a:t>
                  </a:r>
                </a:p>
              </p:txBody>
            </p:sp>
          </p:grpSp>
          <p:grpSp>
            <p:nvGrpSpPr>
              <p:cNvPr id="153730" name="Group 109"/>
              <p:cNvGrpSpPr/>
              <p:nvPr/>
            </p:nvGrpSpPr>
            <p:grpSpPr bwMode="auto">
              <a:xfrm>
                <a:off x="2978" y="3918"/>
                <a:ext cx="284" cy="324"/>
                <a:chOff x="3102" y="3918"/>
                <a:chExt cx="284" cy="324"/>
              </a:xfrm>
            </p:grpSpPr>
            <p:sp>
              <p:nvSpPr>
                <p:cNvPr id="153760" name="Line 110"/>
                <p:cNvSpPr>
                  <a:spLocks noChangeShapeType="1"/>
                </p:cNvSpPr>
                <p:nvPr/>
              </p:nvSpPr>
              <p:spPr bwMode="auto">
                <a:xfrm rot="-5400000">
                  <a:off x="300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3761" name="Text Box 111"/>
                <p:cNvSpPr txBox="1">
                  <a:spLocks noChangeArrowheads="1"/>
                </p:cNvSpPr>
                <p:nvPr/>
              </p:nvSpPr>
              <p:spPr bwMode="auto">
                <a:xfrm>
                  <a:off x="3102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</p:grpSp>
          <p:grpSp>
            <p:nvGrpSpPr>
              <p:cNvPr id="153731" name="Group 112"/>
              <p:cNvGrpSpPr/>
              <p:nvPr/>
            </p:nvGrpSpPr>
            <p:grpSpPr bwMode="auto">
              <a:xfrm>
                <a:off x="3721" y="3918"/>
                <a:ext cx="284" cy="324"/>
                <a:chOff x="3844" y="3918"/>
                <a:chExt cx="284" cy="324"/>
              </a:xfrm>
            </p:grpSpPr>
            <p:sp>
              <p:nvSpPr>
                <p:cNvPr id="153758" name="Line 113"/>
                <p:cNvSpPr>
                  <a:spLocks noChangeShapeType="1"/>
                </p:cNvSpPr>
                <p:nvPr/>
              </p:nvSpPr>
              <p:spPr bwMode="auto">
                <a:xfrm rot="-5400000">
                  <a:off x="375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3759" name="Text Box 114"/>
                <p:cNvSpPr txBox="1">
                  <a:spLocks noChangeArrowheads="1"/>
                </p:cNvSpPr>
                <p:nvPr/>
              </p:nvSpPr>
              <p:spPr bwMode="auto">
                <a:xfrm>
                  <a:off x="3844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</p:grpSp>
          <p:grpSp>
            <p:nvGrpSpPr>
              <p:cNvPr id="153732" name="Group 115"/>
              <p:cNvGrpSpPr/>
              <p:nvPr/>
            </p:nvGrpSpPr>
            <p:grpSpPr bwMode="auto">
              <a:xfrm>
                <a:off x="4464" y="3918"/>
                <a:ext cx="284" cy="323"/>
                <a:chOff x="4603" y="3918"/>
                <a:chExt cx="284" cy="323"/>
              </a:xfrm>
            </p:grpSpPr>
            <p:sp>
              <p:nvSpPr>
                <p:cNvPr id="153756" name="Line 116"/>
                <p:cNvSpPr>
                  <a:spLocks noChangeShapeType="1"/>
                </p:cNvSpPr>
                <p:nvPr/>
              </p:nvSpPr>
              <p:spPr bwMode="auto">
                <a:xfrm rot="-5400000">
                  <a:off x="4510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3757" name="Text Box 117"/>
                <p:cNvSpPr txBox="1">
                  <a:spLocks noChangeArrowheads="1"/>
                </p:cNvSpPr>
                <p:nvPr/>
              </p:nvSpPr>
              <p:spPr bwMode="auto">
                <a:xfrm>
                  <a:off x="4603" y="3991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</p:grpSp>
          <p:sp>
            <p:nvSpPr>
              <p:cNvPr id="153733" name="Line 118"/>
              <p:cNvSpPr>
                <a:spLocks noChangeShapeType="1"/>
              </p:cNvSpPr>
              <p:nvPr/>
            </p:nvSpPr>
            <p:spPr bwMode="auto">
              <a:xfrm>
                <a:off x="2689" y="1690"/>
                <a:ext cx="643" cy="39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3734" name="Line 119"/>
              <p:cNvSpPr>
                <a:spLocks noChangeShapeType="1"/>
              </p:cNvSpPr>
              <p:nvPr/>
            </p:nvSpPr>
            <p:spPr bwMode="auto">
              <a:xfrm>
                <a:off x="3976" y="2039"/>
                <a:ext cx="990" cy="21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3735" name="Line 120"/>
              <p:cNvSpPr>
                <a:spLocks noChangeShapeType="1"/>
              </p:cNvSpPr>
              <p:nvPr/>
            </p:nvSpPr>
            <p:spPr bwMode="auto">
              <a:xfrm>
                <a:off x="4718" y="1384"/>
                <a:ext cx="693" cy="13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3736" name="Text Box 121"/>
              <p:cNvSpPr txBox="1">
                <a:spLocks noChangeArrowheads="1"/>
              </p:cNvSpPr>
              <p:nvPr/>
            </p:nvSpPr>
            <p:spPr bwMode="auto">
              <a:xfrm>
                <a:off x="4844" y="2728"/>
                <a:ext cx="92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刷新放大器</a:t>
                </a:r>
              </a:p>
            </p:txBody>
          </p:sp>
          <p:sp>
            <p:nvSpPr>
              <p:cNvPr id="153737" name="Line 122"/>
              <p:cNvSpPr>
                <a:spLocks noChangeShapeType="1"/>
              </p:cNvSpPr>
              <p:nvPr/>
            </p:nvSpPr>
            <p:spPr bwMode="auto">
              <a:xfrm flipV="1">
                <a:off x="4520" y="2957"/>
                <a:ext cx="495" cy="4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153738" name="Group 123"/>
              <p:cNvGrpSpPr/>
              <p:nvPr/>
            </p:nvGrpSpPr>
            <p:grpSpPr bwMode="auto">
              <a:xfrm>
                <a:off x="4916" y="1726"/>
                <a:ext cx="277" cy="893"/>
                <a:chOff x="4920" y="1790"/>
                <a:chExt cx="277" cy="893"/>
              </a:xfrm>
            </p:grpSpPr>
            <p:sp>
              <p:nvSpPr>
                <p:cNvPr id="153752" name="Text Box 124"/>
                <p:cNvSpPr txBox="1">
                  <a:spLocks noChangeArrowheads="1"/>
                </p:cNvSpPr>
                <p:nvPr/>
              </p:nvSpPr>
              <p:spPr bwMode="auto">
                <a:xfrm>
                  <a:off x="4920" y="1790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写</a:t>
                  </a:r>
                </a:p>
              </p:txBody>
            </p:sp>
            <p:sp>
              <p:nvSpPr>
                <p:cNvPr id="153753" name="Text Box 125"/>
                <p:cNvSpPr txBox="1">
                  <a:spLocks noChangeArrowheads="1"/>
                </p:cNvSpPr>
                <p:nvPr/>
              </p:nvSpPr>
              <p:spPr bwMode="auto">
                <a:xfrm>
                  <a:off x="4920" y="200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</a:p>
              </p:txBody>
            </p:sp>
            <p:sp>
              <p:nvSpPr>
                <p:cNvPr id="153754" name="Text Box 126"/>
                <p:cNvSpPr txBox="1">
                  <a:spLocks noChangeArrowheads="1"/>
                </p:cNvSpPr>
                <p:nvPr/>
              </p:nvSpPr>
              <p:spPr bwMode="auto">
                <a:xfrm>
                  <a:off x="4920" y="2219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53755" name="Text Box 127"/>
                <p:cNvSpPr txBox="1">
                  <a:spLocks noChangeArrowheads="1"/>
                </p:cNvSpPr>
                <p:nvPr/>
              </p:nvSpPr>
              <p:spPr bwMode="auto">
                <a:xfrm>
                  <a:off x="4920" y="243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</a:p>
              </p:txBody>
            </p:sp>
          </p:grpSp>
          <p:grpSp>
            <p:nvGrpSpPr>
              <p:cNvPr id="153739" name="Group 128"/>
              <p:cNvGrpSpPr/>
              <p:nvPr/>
            </p:nvGrpSpPr>
            <p:grpSpPr bwMode="auto">
              <a:xfrm>
                <a:off x="5372" y="1505"/>
                <a:ext cx="277" cy="879"/>
                <a:chOff x="5394" y="1612"/>
                <a:chExt cx="277" cy="879"/>
              </a:xfrm>
            </p:grpSpPr>
            <p:sp>
              <p:nvSpPr>
                <p:cNvPr id="153748" name="Text Box 129"/>
                <p:cNvSpPr txBox="1">
                  <a:spLocks noChangeArrowheads="1"/>
                </p:cNvSpPr>
                <p:nvPr/>
              </p:nvSpPr>
              <p:spPr bwMode="auto">
                <a:xfrm>
                  <a:off x="5394" y="161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</a:t>
                  </a:r>
                </a:p>
              </p:txBody>
            </p:sp>
            <p:sp>
              <p:nvSpPr>
                <p:cNvPr id="153749" name="Text Box 130"/>
                <p:cNvSpPr txBox="1">
                  <a:spLocks noChangeArrowheads="1"/>
                </p:cNvSpPr>
                <p:nvPr/>
              </p:nvSpPr>
              <p:spPr bwMode="auto">
                <a:xfrm>
                  <a:off x="5394" y="182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</a:p>
              </p:txBody>
            </p:sp>
            <p:sp>
              <p:nvSpPr>
                <p:cNvPr id="153750" name="Text Box 131"/>
                <p:cNvSpPr txBox="1">
                  <a:spLocks noChangeArrowheads="1"/>
                </p:cNvSpPr>
                <p:nvPr/>
              </p:nvSpPr>
              <p:spPr bwMode="auto">
                <a:xfrm>
                  <a:off x="5394" y="203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53751" name="Text Box 132"/>
                <p:cNvSpPr txBox="1">
                  <a:spLocks noChangeArrowheads="1"/>
                </p:cNvSpPr>
                <p:nvPr/>
              </p:nvSpPr>
              <p:spPr bwMode="auto">
                <a:xfrm>
                  <a:off x="5394" y="224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</a:p>
              </p:txBody>
            </p:sp>
          </p:grpSp>
          <p:grpSp>
            <p:nvGrpSpPr>
              <p:cNvPr id="153740" name="Group 133"/>
              <p:cNvGrpSpPr/>
              <p:nvPr/>
            </p:nvGrpSpPr>
            <p:grpSpPr bwMode="auto">
              <a:xfrm>
                <a:off x="3320" y="915"/>
                <a:ext cx="372" cy="2170"/>
                <a:chOff x="3324" y="979"/>
                <a:chExt cx="372" cy="2170"/>
              </a:xfrm>
            </p:grpSpPr>
            <p:sp>
              <p:nvSpPr>
                <p:cNvPr id="153744" name="Text Box 134"/>
                <p:cNvSpPr txBox="1">
                  <a:spLocks noChangeArrowheads="1"/>
                </p:cNvSpPr>
                <p:nvPr/>
              </p:nvSpPr>
              <p:spPr bwMode="auto">
                <a:xfrm>
                  <a:off x="3324" y="979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53745" name="Text Box 135"/>
                <p:cNvSpPr txBox="1">
                  <a:spLocks noChangeArrowheads="1"/>
                </p:cNvSpPr>
                <p:nvPr/>
              </p:nvSpPr>
              <p:spPr bwMode="auto">
                <a:xfrm>
                  <a:off x="3324" y="150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53746" name="Text Box 136"/>
                <p:cNvSpPr txBox="1">
                  <a:spLocks noChangeArrowheads="1"/>
                </p:cNvSpPr>
                <p:nvPr/>
              </p:nvSpPr>
              <p:spPr bwMode="auto">
                <a:xfrm>
                  <a:off x="3324" y="240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53747" name="Text Box 137"/>
                <p:cNvSpPr txBox="1">
                  <a:spLocks noChangeArrowheads="1"/>
                </p:cNvSpPr>
                <p:nvPr/>
              </p:nvSpPr>
              <p:spPr bwMode="auto">
                <a:xfrm>
                  <a:off x="3324" y="2784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</p:grpSp>
          <p:sp>
            <p:nvSpPr>
              <p:cNvPr id="153741" name="Text Box 138"/>
              <p:cNvSpPr txBox="1">
                <a:spLocks noChangeArrowheads="1"/>
              </p:cNvSpPr>
              <p:nvPr/>
            </p:nvSpPr>
            <p:spPr bwMode="auto">
              <a:xfrm rot="5400000">
                <a:off x="916" y="1976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53742" name="Text Box 139"/>
              <p:cNvSpPr txBox="1">
                <a:spLocks noChangeArrowheads="1"/>
              </p:cNvSpPr>
              <p:nvPr/>
            </p:nvSpPr>
            <p:spPr bwMode="auto">
              <a:xfrm>
                <a:off x="1656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53743" name="Text Box 140"/>
              <p:cNvSpPr txBox="1">
                <a:spLocks noChangeArrowheads="1"/>
              </p:cNvSpPr>
              <p:nvPr/>
            </p:nvSpPr>
            <p:spPr bwMode="auto">
              <a:xfrm>
                <a:off x="3350" y="3312"/>
                <a:ext cx="340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</p:grpSp>
      <p:grpSp>
        <p:nvGrpSpPr>
          <p:cNvPr id="153603" name="Group 141"/>
          <p:cNvGrpSpPr/>
          <p:nvPr/>
        </p:nvGrpSpPr>
        <p:grpSpPr bwMode="auto">
          <a:xfrm>
            <a:off x="1833563" y="3711575"/>
            <a:ext cx="5791200" cy="646113"/>
            <a:chOff x="1155" y="2338"/>
            <a:chExt cx="3648" cy="407"/>
          </a:xfrm>
        </p:grpSpPr>
        <p:sp>
          <p:nvSpPr>
            <p:cNvPr id="153630" name="Freeform 142"/>
            <p:cNvSpPr/>
            <p:nvPr/>
          </p:nvSpPr>
          <p:spPr bwMode="auto">
            <a:xfrm>
              <a:off x="1155" y="2740"/>
              <a:ext cx="3648" cy="5"/>
            </a:xfrm>
            <a:custGeom>
              <a:avLst/>
              <a:gdLst>
                <a:gd name="T0" fmla="*/ 0 w 3648"/>
                <a:gd name="T1" fmla="*/ 0 h 5"/>
                <a:gd name="T2" fmla="*/ 3648 w 3648"/>
                <a:gd name="T3" fmla="*/ 5 h 5"/>
                <a:gd name="T4" fmla="*/ 0 60000 65536"/>
                <a:gd name="T5" fmla="*/ 0 60000 65536"/>
                <a:gd name="T6" fmla="*/ 0 w 3648"/>
                <a:gd name="T7" fmla="*/ 0 h 5"/>
                <a:gd name="T8" fmla="*/ 3648 w 3648"/>
                <a:gd name="T9" fmla="*/ 5 h 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48" h="5">
                  <a:moveTo>
                    <a:pt x="0" y="0"/>
                  </a:moveTo>
                  <a:lnTo>
                    <a:pt x="3648" y="5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3631" name="Line 143"/>
            <p:cNvSpPr>
              <a:spLocks noChangeShapeType="1"/>
            </p:cNvSpPr>
            <p:nvPr/>
          </p:nvSpPr>
          <p:spPr bwMode="auto">
            <a:xfrm rot="10800000">
              <a:off x="1788" y="2656"/>
              <a:ext cx="0" cy="84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3632" name="Line 144"/>
            <p:cNvSpPr>
              <a:spLocks noChangeShapeType="1"/>
            </p:cNvSpPr>
            <p:nvPr/>
          </p:nvSpPr>
          <p:spPr bwMode="auto">
            <a:xfrm rot="10800000">
              <a:off x="2725" y="2658"/>
              <a:ext cx="0" cy="84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3633" name="Freeform 145"/>
            <p:cNvSpPr/>
            <p:nvPr/>
          </p:nvSpPr>
          <p:spPr bwMode="auto">
            <a:xfrm>
              <a:off x="4350" y="2657"/>
              <a:ext cx="1" cy="79"/>
            </a:xfrm>
            <a:custGeom>
              <a:avLst/>
              <a:gdLst>
                <a:gd name="T0" fmla="*/ 0 w 1"/>
                <a:gd name="T1" fmla="*/ 79 h 79"/>
                <a:gd name="T2" fmla="*/ 1 w 1"/>
                <a:gd name="T3" fmla="*/ 0 h 79"/>
                <a:gd name="T4" fmla="*/ 0 60000 65536"/>
                <a:gd name="T5" fmla="*/ 0 60000 65536"/>
                <a:gd name="T6" fmla="*/ 0 w 1"/>
                <a:gd name="T7" fmla="*/ 0 h 79"/>
                <a:gd name="T8" fmla="*/ 1 w 1"/>
                <a:gd name="T9" fmla="*/ 79 h 7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79">
                  <a:moveTo>
                    <a:pt x="0" y="79"/>
                  </a:moveTo>
                  <a:lnTo>
                    <a:pt x="1" y="0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3634" name="Rectangle 146"/>
            <p:cNvSpPr>
              <a:spLocks noChangeArrowheads="1"/>
            </p:cNvSpPr>
            <p:nvPr/>
          </p:nvSpPr>
          <p:spPr bwMode="auto">
            <a:xfrm>
              <a:off x="1615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3635" name="Rectangle 147"/>
            <p:cNvSpPr>
              <a:spLocks noChangeArrowheads="1"/>
            </p:cNvSpPr>
            <p:nvPr/>
          </p:nvSpPr>
          <p:spPr bwMode="auto">
            <a:xfrm>
              <a:off x="2546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3636" name="Rectangle 148"/>
            <p:cNvSpPr>
              <a:spLocks noChangeArrowheads="1"/>
            </p:cNvSpPr>
            <p:nvPr/>
          </p:nvSpPr>
          <p:spPr bwMode="auto">
            <a:xfrm>
              <a:off x="4178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3637" name="Text Box 149"/>
            <p:cNvSpPr txBox="1">
              <a:spLocks noChangeArrowheads="1"/>
            </p:cNvSpPr>
            <p:nvPr/>
          </p:nvSpPr>
          <p:spPr bwMode="auto">
            <a:xfrm>
              <a:off x="3320" y="233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153604" name="Group 150"/>
          <p:cNvGrpSpPr/>
          <p:nvPr/>
        </p:nvGrpSpPr>
        <p:grpSpPr bwMode="auto">
          <a:xfrm>
            <a:off x="7646988" y="4808538"/>
            <a:ext cx="628650" cy="457200"/>
            <a:chOff x="4775" y="2954"/>
            <a:chExt cx="384" cy="316"/>
          </a:xfrm>
        </p:grpSpPr>
        <p:sp>
          <p:nvSpPr>
            <p:cNvPr id="153628" name="Line 151"/>
            <p:cNvSpPr>
              <a:spLocks noChangeShapeType="1"/>
            </p:cNvSpPr>
            <p:nvPr/>
          </p:nvSpPr>
          <p:spPr bwMode="auto">
            <a:xfrm>
              <a:off x="4775" y="3264"/>
              <a:ext cx="384" cy="0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3629" name="Text Box 152"/>
            <p:cNvSpPr txBox="1">
              <a:spLocks noChangeArrowheads="1"/>
            </p:cNvSpPr>
            <p:nvPr/>
          </p:nvSpPr>
          <p:spPr bwMode="auto">
            <a:xfrm>
              <a:off x="4861" y="2954"/>
              <a:ext cx="247" cy="3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D</a:t>
              </a:r>
            </a:p>
          </p:txBody>
        </p:sp>
      </p:grpSp>
      <p:grpSp>
        <p:nvGrpSpPr>
          <p:cNvPr id="153605" name="Group 153"/>
          <p:cNvGrpSpPr/>
          <p:nvPr/>
        </p:nvGrpSpPr>
        <p:grpSpPr bwMode="auto">
          <a:xfrm>
            <a:off x="341313" y="1819275"/>
            <a:ext cx="361950" cy="3362325"/>
            <a:chOff x="300" y="720"/>
            <a:chExt cx="221" cy="2327"/>
          </a:xfrm>
        </p:grpSpPr>
        <p:sp>
          <p:nvSpPr>
            <p:cNvPr id="153623" name="Text Box 154"/>
            <p:cNvSpPr txBox="1">
              <a:spLocks noChangeArrowheads="1"/>
            </p:cNvSpPr>
            <p:nvPr/>
          </p:nvSpPr>
          <p:spPr bwMode="auto">
            <a:xfrm>
              <a:off x="300" y="720"/>
              <a:ext cx="221" cy="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3624" name="Text Box 155"/>
            <p:cNvSpPr txBox="1">
              <a:spLocks noChangeArrowheads="1"/>
            </p:cNvSpPr>
            <p:nvPr/>
          </p:nvSpPr>
          <p:spPr bwMode="auto">
            <a:xfrm>
              <a:off x="300" y="1212"/>
              <a:ext cx="221" cy="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3625" name="Text Box 156"/>
            <p:cNvSpPr txBox="1">
              <a:spLocks noChangeArrowheads="1"/>
            </p:cNvSpPr>
            <p:nvPr/>
          </p:nvSpPr>
          <p:spPr bwMode="auto">
            <a:xfrm>
              <a:off x="300" y="1705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3626" name="Text Box 157"/>
            <p:cNvSpPr txBox="1">
              <a:spLocks noChangeArrowheads="1"/>
            </p:cNvSpPr>
            <p:nvPr/>
          </p:nvSpPr>
          <p:spPr bwMode="auto">
            <a:xfrm>
              <a:off x="300" y="2196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3627" name="Text Box 158"/>
            <p:cNvSpPr txBox="1">
              <a:spLocks noChangeArrowheads="1"/>
            </p:cNvSpPr>
            <p:nvPr/>
          </p:nvSpPr>
          <p:spPr bwMode="auto">
            <a:xfrm>
              <a:off x="300" y="2688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</p:grpSp>
      <p:grpSp>
        <p:nvGrpSpPr>
          <p:cNvPr id="153606" name="Group 159"/>
          <p:cNvGrpSpPr/>
          <p:nvPr/>
        </p:nvGrpSpPr>
        <p:grpSpPr bwMode="auto">
          <a:xfrm>
            <a:off x="1981200" y="6138863"/>
            <a:ext cx="5154613" cy="519112"/>
            <a:chOff x="1452" y="3984"/>
            <a:chExt cx="3149" cy="359"/>
          </a:xfrm>
        </p:grpSpPr>
        <p:sp>
          <p:nvSpPr>
            <p:cNvPr id="153618" name="Text Box 160"/>
            <p:cNvSpPr txBox="1">
              <a:spLocks noChangeArrowheads="1"/>
            </p:cNvSpPr>
            <p:nvPr/>
          </p:nvSpPr>
          <p:spPr bwMode="auto">
            <a:xfrm>
              <a:off x="1452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53619" name="Text Box 161"/>
            <p:cNvSpPr txBox="1">
              <a:spLocks noChangeArrowheads="1"/>
            </p:cNvSpPr>
            <p:nvPr/>
          </p:nvSpPr>
          <p:spPr bwMode="auto">
            <a:xfrm>
              <a:off x="4380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3620" name="Text Box 162"/>
            <p:cNvSpPr txBox="1">
              <a:spLocks noChangeArrowheads="1"/>
            </p:cNvSpPr>
            <p:nvPr/>
          </p:nvSpPr>
          <p:spPr bwMode="auto">
            <a:xfrm>
              <a:off x="3648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53621" name="Text Box 163"/>
            <p:cNvSpPr txBox="1">
              <a:spLocks noChangeArrowheads="1"/>
            </p:cNvSpPr>
            <p:nvPr/>
          </p:nvSpPr>
          <p:spPr bwMode="auto">
            <a:xfrm>
              <a:off x="2917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53622" name="Text Box 164"/>
            <p:cNvSpPr txBox="1">
              <a:spLocks noChangeArrowheads="1"/>
            </p:cNvSpPr>
            <p:nvPr/>
          </p:nvSpPr>
          <p:spPr bwMode="auto">
            <a:xfrm>
              <a:off x="2186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</p:grpSp>
      <p:grpSp>
        <p:nvGrpSpPr>
          <p:cNvPr id="153607" name="Group 165"/>
          <p:cNvGrpSpPr/>
          <p:nvPr/>
        </p:nvGrpSpPr>
        <p:grpSpPr bwMode="auto">
          <a:xfrm>
            <a:off x="4151313" y="5429250"/>
            <a:ext cx="344487" cy="396875"/>
            <a:chOff x="2611" y="3425"/>
            <a:chExt cx="217" cy="250"/>
          </a:xfrm>
        </p:grpSpPr>
        <p:sp>
          <p:nvSpPr>
            <p:cNvPr id="153616" name="Text Box 166"/>
            <p:cNvSpPr txBox="1">
              <a:spLocks noChangeArrowheads="1"/>
            </p:cNvSpPr>
            <p:nvPr/>
          </p:nvSpPr>
          <p:spPr bwMode="auto">
            <a:xfrm>
              <a:off x="2611" y="3425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3617" name="Freeform 167"/>
            <p:cNvSpPr/>
            <p:nvPr/>
          </p:nvSpPr>
          <p:spPr bwMode="auto">
            <a:xfrm>
              <a:off x="2827" y="3430"/>
              <a:ext cx="1" cy="227"/>
            </a:xfrm>
            <a:custGeom>
              <a:avLst/>
              <a:gdLst>
                <a:gd name="T0" fmla="*/ 0 w 1"/>
                <a:gd name="T1" fmla="*/ 0 h 227"/>
                <a:gd name="T2" fmla="*/ 0 w 1"/>
                <a:gd name="T3" fmla="*/ 227 h 227"/>
                <a:gd name="T4" fmla="*/ 0 60000 65536"/>
                <a:gd name="T5" fmla="*/ 0 60000 65536"/>
                <a:gd name="T6" fmla="*/ 0 w 1"/>
                <a:gd name="T7" fmla="*/ 0 h 227"/>
                <a:gd name="T8" fmla="*/ 1 w 1"/>
                <a:gd name="T9" fmla="*/ 227 h 22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27">
                  <a:moveTo>
                    <a:pt x="0" y="0"/>
                  </a:moveTo>
                  <a:lnTo>
                    <a:pt x="0" y="227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241832" name="Rectangle 168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53609" name="Text Box 169"/>
          <p:cNvSpPr txBox="1">
            <a:spLocks noChangeArrowheads="1"/>
          </p:cNvSpPr>
          <p:nvPr/>
        </p:nvSpPr>
        <p:spPr bwMode="auto">
          <a:xfrm>
            <a:off x="304800" y="228600"/>
            <a:ext cx="7696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zh-CN" altLang="en-US" sz="3200">
                <a:latin typeface="Times New Roman" panose="02020603050405020304" pitchFamily="18" charset="0"/>
              </a:rPr>
              <a:t>三管动态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200">
                <a:latin typeface="Times New Roman" panose="02020603050405020304" pitchFamily="18" charset="0"/>
              </a:rPr>
              <a:t>芯片 (</a:t>
            </a:r>
            <a:r>
              <a:rPr lang="en-US" altLang="zh-CN" sz="3200">
                <a:latin typeface="Times New Roman" panose="02020603050405020304" pitchFamily="18" charset="0"/>
              </a:rPr>
              <a:t>Intel 1103)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</a:p>
        </p:txBody>
      </p:sp>
      <p:sp>
        <p:nvSpPr>
          <p:cNvPr id="241834" name="Rectangle 170"/>
          <p:cNvSpPr>
            <a:spLocks noChangeArrowheads="1"/>
          </p:cNvSpPr>
          <p:nvPr/>
        </p:nvSpPr>
        <p:spPr bwMode="auto">
          <a:xfrm>
            <a:off x="1911350" y="5029200"/>
            <a:ext cx="5735638" cy="415925"/>
          </a:xfrm>
          <a:prstGeom prst="rect">
            <a:avLst/>
          </a:prstGeom>
          <a:solidFill>
            <a:schemeClr val="folHlink"/>
          </a:solidFill>
          <a:ln w="38100">
            <a:solidFill>
              <a:schemeClr val="folHlink"/>
            </a:solidFill>
            <a:miter lim="800000"/>
          </a:ln>
        </p:spPr>
        <p:txBody>
          <a:bodyPr wrap="none" anchor="ctr"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400">
                <a:solidFill>
                  <a:schemeClr val="bg2"/>
                </a:solidFill>
                <a:latin typeface="Times New Roman" panose="02020603050405020304" pitchFamily="18" charset="0"/>
              </a:rPr>
              <a:t>读  写  控  制  电  路</a:t>
            </a:r>
          </a:p>
        </p:txBody>
      </p:sp>
      <p:grpSp>
        <p:nvGrpSpPr>
          <p:cNvPr id="153611" name="Group 171"/>
          <p:cNvGrpSpPr/>
          <p:nvPr/>
        </p:nvGrpSpPr>
        <p:grpSpPr bwMode="auto">
          <a:xfrm>
            <a:off x="4046538" y="1719263"/>
            <a:ext cx="793750" cy="2058987"/>
            <a:chOff x="2549" y="1083"/>
            <a:chExt cx="500" cy="1297"/>
          </a:xfrm>
        </p:grpSpPr>
        <p:sp>
          <p:nvSpPr>
            <p:cNvPr id="153613" name="Rectangle 172"/>
            <p:cNvSpPr>
              <a:spLocks noChangeArrowheads="1"/>
            </p:cNvSpPr>
            <p:nvPr/>
          </p:nvSpPr>
          <p:spPr bwMode="auto">
            <a:xfrm>
              <a:off x="2549" y="1083"/>
              <a:ext cx="347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3614" name="Rectangle 173"/>
            <p:cNvSpPr>
              <a:spLocks noChangeArrowheads="1"/>
            </p:cNvSpPr>
            <p:nvPr/>
          </p:nvSpPr>
          <p:spPr bwMode="auto">
            <a:xfrm>
              <a:off x="2549" y="1636"/>
              <a:ext cx="347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3615" name="Text Box 174"/>
            <p:cNvSpPr txBox="1">
              <a:spLocks noChangeArrowheads="1"/>
            </p:cNvSpPr>
            <p:nvPr/>
          </p:nvSpPr>
          <p:spPr bwMode="auto">
            <a:xfrm>
              <a:off x="2587" y="1972"/>
              <a:ext cx="462" cy="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153612" name="AutoShape 175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4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1834" grpId="0" animBg="1" autoUpdateAnimBg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626" name="Group 2"/>
          <p:cNvGrpSpPr/>
          <p:nvPr/>
        </p:nvGrpSpPr>
        <p:grpSpPr bwMode="auto">
          <a:xfrm>
            <a:off x="0" y="1295400"/>
            <a:ext cx="9151938" cy="5438775"/>
            <a:chOff x="0" y="816"/>
            <a:chExt cx="5765" cy="3426"/>
          </a:xfrm>
        </p:grpSpPr>
        <p:grpSp>
          <p:nvGrpSpPr>
            <p:cNvPr id="154664" name="Group 3"/>
            <p:cNvGrpSpPr/>
            <p:nvPr/>
          </p:nvGrpSpPr>
          <p:grpSpPr bwMode="auto">
            <a:xfrm>
              <a:off x="0" y="1094"/>
              <a:ext cx="462" cy="250"/>
              <a:chOff x="0" y="933"/>
              <a:chExt cx="462" cy="250"/>
            </a:xfrm>
          </p:grpSpPr>
          <p:sp>
            <p:nvSpPr>
              <p:cNvPr id="154800" name="Line 4"/>
              <p:cNvSpPr>
                <a:spLocks noChangeShapeType="1"/>
              </p:cNvSpPr>
              <p:nvPr/>
            </p:nvSpPr>
            <p:spPr bwMode="auto">
              <a:xfrm>
                <a:off x="214" y="991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4801" name="Text Box 5"/>
              <p:cNvSpPr txBox="1">
                <a:spLocks noChangeArrowheads="1"/>
              </p:cNvSpPr>
              <p:nvPr/>
            </p:nvSpPr>
            <p:spPr bwMode="auto">
              <a:xfrm>
                <a:off x="0" y="933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9</a:t>
                </a:r>
              </a:p>
            </p:txBody>
          </p:sp>
        </p:grpSp>
        <p:grpSp>
          <p:nvGrpSpPr>
            <p:cNvPr id="154665" name="Group 6"/>
            <p:cNvGrpSpPr/>
            <p:nvPr/>
          </p:nvGrpSpPr>
          <p:grpSpPr bwMode="auto">
            <a:xfrm>
              <a:off x="16" y="1540"/>
              <a:ext cx="446" cy="250"/>
              <a:chOff x="16" y="1371"/>
              <a:chExt cx="446" cy="250"/>
            </a:xfrm>
          </p:grpSpPr>
          <p:sp>
            <p:nvSpPr>
              <p:cNvPr id="154798" name="Line 7"/>
              <p:cNvSpPr>
                <a:spLocks noChangeShapeType="1"/>
              </p:cNvSpPr>
              <p:nvPr/>
            </p:nvSpPr>
            <p:spPr bwMode="auto">
              <a:xfrm>
                <a:off x="214" y="1439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4799" name="Text Box 8"/>
              <p:cNvSpPr txBox="1">
                <a:spLocks noChangeArrowheads="1"/>
              </p:cNvSpPr>
              <p:nvPr/>
            </p:nvSpPr>
            <p:spPr bwMode="auto">
              <a:xfrm>
                <a:off x="16" y="1371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54666" name="Group 9"/>
            <p:cNvGrpSpPr/>
            <p:nvPr/>
          </p:nvGrpSpPr>
          <p:grpSpPr bwMode="auto">
            <a:xfrm>
              <a:off x="16" y="1987"/>
              <a:ext cx="446" cy="250"/>
              <a:chOff x="16" y="1809"/>
              <a:chExt cx="446" cy="250"/>
            </a:xfrm>
          </p:grpSpPr>
          <p:sp>
            <p:nvSpPr>
              <p:cNvPr id="154796" name="Line 10"/>
              <p:cNvSpPr>
                <a:spLocks noChangeShapeType="1"/>
              </p:cNvSpPr>
              <p:nvPr/>
            </p:nvSpPr>
            <p:spPr bwMode="auto">
              <a:xfrm>
                <a:off x="214" y="1886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4797" name="Text Box 11"/>
              <p:cNvSpPr txBox="1">
                <a:spLocks noChangeArrowheads="1"/>
              </p:cNvSpPr>
              <p:nvPr/>
            </p:nvSpPr>
            <p:spPr bwMode="auto">
              <a:xfrm>
                <a:off x="16" y="1809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</a:p>
            </p:txBody>
          </p:sp>
        </p:grpSp>
        <p:grpSp>
          <p:nvGrpSpPr>
            <p:cNvPr id="154667" name="Group 12"/>
            <p:cNvGrpSpPr/>
            <p:nvPr/>
          </p:nvGrpSpPr>
          <p:grpSpPr bwMode="auto">
            <a:xfrm>
              <a:off x="16" y="2433"/>
              <a:ext cx="446" cy="250"/>
              <a:chOff x="16" y="2276"/>
              <a:chExt cx="446" cy="250"/>
            </a:xfrm>
          </p:grpSpPr>
          <p:sp>
            <p:nvSpPr>
              <p:cNvPr id="154794" name="Line 13"/>
              <p:cNvSpPr>
                <a:spLocks noChangeShapeType="1"/>
              </p:cNvSpPr>
              <p:nvPr/>
            </p:nvSpPr>
            <p:spPr bwMode="auto">
              <a:xfrm>
                <a:off x="214" y="2334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4795" name="Text Box 14"/>
              <p:cNvSpPr txBox="1">
                <a:spLocks noChangeArrowheads="1"/>
              </p:cNvSpPr>
              <p:nvPr/>
            </p:nvSpPr>
            <p:spPr bwMode="auto">
              <a:xfrm>
                <a:off x="16" y="2276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54668" name="Group 15"/>
            <p:cNvGrpSpPr/>
            <p:nvPr/>
          </p:nvGrpSpPr>
          <p:grpSpPr bwMode="auto">
            <a:xfrm>
              <a:off x="16" y="2880"/>
              <a:ext cx="446" cy="250"/>
              <a:chOff x="16" y="2725"/>
              <a:chExt cx="446" cy="250"/>
            </a:xfrm>
          </p:grpSpPr>
          <p:sp>
            <p:nvSpPr>
              <p:cNvPr id="154792" name="Line 16"/>
              <p:cNvSpPr>
                <a:spLocks noChangeShapeType="1"/>
              </p:cNvSpPr>
              <p:nvPr/>
            </p:nvSpPr>
            <p:spPr bwMode="auto">
              <a:xfrm>
                <a:off x="214" y="2782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4793" name="Text Box 17"/>
              <p:cNvSpPr txBox="1">
                <a:spLocks noChangeArrowheads="1"/>
              </p:cNvSpPr>
              <p:nvPr/>
            </p:nvSpPr>
            <p:spPr bwMode="auto">
              <a:xfrm>
                <a:off x="16" y="2725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5</a:t>
                </a:r>
              </a:p>
            </p:txBody>
          </p:sp>
        </p:grpSp>
        <p:grpSp>
          <p:nvGrpSpPr>
            <p:cNvPr id="154669" name="Group 18"/>
            <p:cNvGrpSpPr/>
            <p:nvPr/>
          </p:nvGrpSpPr>
          <p:grpSpPr bwMode="auto">
            <a:xfrm>
              <a:off x="462" y="816"/>
              <a:ext cx="5303" cy="3426"/>
              <a:chOff x="462" y="816"/>
              <a:chExt cx="5303" cy="3426"/>
            </a:xfrm>
          </p:grpSpPr>
          <p:sp>
            <p:nvSpPr>
              <p:cNvPr id="154670" name="Rectangle 19"/>
              <p:cNvSpPr>
                <a:spLocks noChangeArrowheads="1"/>
              </p:cNvSpPr>
              <p:nvPr/>
            </p:nvSpPr>
            <p:spPr bwMode="auto">
              <a:xfrm>
                <a:off x="462" y="816"/>
                <a:ext cx="693" cy="248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4671" name="Freeform 20"/>
              <p:cNvSpPr/>
              <p:nvPr/>
            </p:nvSpPr>
            <p:spPr bwMode="auto">
              <a:xfrm>
                <a:off x="1155" y="991"/>
                <a:ext cx="3638" cy="1"/>
              </a:xfrm>
              <a:custGeom>
                <a:avLst/>
                <a:gdLst>
                  <a:gd name="T0" fmla="*/ 0 w 3528"/>
                  <a:gd name="T1" fmla="*/ 0 h 1"/>
                  <a:gd name="T2" fmla="*/ 5422 w 3528"/>
                  <a:gd name="T3" fmla="*/ 0 h 1"/>
                  <a:gd name="T4" fmla="*/ 0 60000 65536"/>
                  <a:gd name="T5" fmla="*/ 0 60000 65536"/>
                  <a:gd name="T6" fmla="*/ 0 w 3528"/>
                  <a:gd name="T7" fmla="*/ 0 h 1"/>
                  <a:gd name="T8" fmla="*/ 3528 w 352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28" h="1">
                    <a:moveTo>
                      <a:pt x="0" y="0"/>
                    </a:moveTo>
                    <a:lnTo>
                      <a:pt x="3528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672" name="Rectangle 21"/>
              <p:cNvSpPr>
                <a:spLocks noChangeArrowheads="1"/>
              </p:cNvSpPr>
              <p:nvPr/>
            </p:nvSpPr>
            <p:spPr bwMode="auto">
              <a:xfrm>
                <a:off x="1615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4673" name="Freeform 22"/>
              <p:cNvSpPr/>
              <p:nvPr/>
            </p:nvSpPr>
            <p:spPr bwMode="auto">
              <a:xfrm>
                <a:off x="4351" y="991"/>
                <a:ext cx="1" cy="79"/>
              </a:xfrm>
              <a:custGeom>
                <a:avLst/>
                <a:gdLst>
                  <a:gd name="T0" fmla="*/ 0 w 1"/>
                  <a:gd name="T1" fmla="*/ 0 h 87"/>
                  <a:gd name="T2" fmla="*/ 0 w 1"/>
                  <a:gd name="T3" fmla="*/ 23 h 87"/>
                  <a:gd name="T4" fmla="*/ 0 60000 65536"/>
                  <a:gd name="T5" fmla="*/ 0 60000 65536"/>
                  <a:gd name="T6" fmla="*/ 0 w 1"/>
                  <a:gd name="T7" fmla="*/ 0 h 87"/>
                  <a:gd name="T8" fmla="*/ 1 w 1"/>
                  <a:gd name="T9" fmla="*/ 87 h 8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87">
                    <a:moveTo>
                      <a:pt x="0" y="0"/>
                    </a:moveTo>
                    <a:lnTo>
                      <a:pt x="0" y="8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674" name="Freeform 23"/>
              <p:cNvSpPr/>
              <p:nvPr/>
            </p:nvSpPr>
            <p:spPr bwMode="auto">
              <a:xfrm>
                <a:off x="1155" y="1295"/>
                <a:ext cx="3659" cy="3"/>
              </a:xfrm>
              <a:custGeom>
                <a:avLst/>
                <a:gdLst>
                  <a:gd name="T0" fmla="*/ 0 w 3659"/>
                  <a:gd name="T1" fmla="*/ 0 h 3"/>
                  <a:gd name="T2" fmla="*/ 3659 w 3659"/>
                  <a:gd name="T3" fmla="*/ 3 h 3"/>
                  <a:gd name="T4" fmla="*/ 0 60000 65536"/>
                  <a:gd name="T5" fmla="*/ 0 60000 65536"/>
                  <a:gd name="T6" fmla="*/ 0 w 3659"/>
                  <a:gd name="T7" fmla="*/ 0 h 3"/>
                  <a:gd name="T8" fmla="*/ 3659 w 3659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659" h="3">
                    <a:moveTo>
                      <a:pt x="0" y="0"/>
                    </a:moveTo>
                    <a:lnTo>
                      <a:pt x="365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675" name="Freeform 24"/>
              <p:cNvSpPr/>
              <p:nvPr/>
            </p:nvSpPr>
            <p:spPr bwMode="auto">
              <a:xfrm>
                <a:off x="2727" y="987"/>
                <a:ext cx="1" cy="86"/>
              </a:xfrm>
              <a:custGeom>
                <a:avLst/>
                <a:gdLst>
                  <a:gd name="T0" fmla="*/ 0 w 1"/>
                  <a:gd name="T1" fmla="*/ 0 h 86"/>
                  <a:gd name="T2" fmla="*/ 1 w 1"/>
                  <a:gd name="T3" fmla="*/ 86 h 86"/>
                  <a:gd name="T4" fmla="*/ 0 60000 65536"/>
                  <a:gd name="T5" fmla="*/ 0 60000 65536"/>
                  <a:gd name="T6" fmla="*/ 0 w 1"/>
                  <a:gd name="T7" fmla="*/ 0 h 86"/>
                  <a:gd name="T8" fmla="*/ 1 w 1"/>
                  <a:gd name="T9" fmla="*/ 86 h 8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86">
                    <a:moveTo>
                      <a:pt x="0" y="0"/>
                    </a:moveTo>
                    <a:lnTo>
                      <a:pt x="1" y="8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676" name="Freeform 25"/>
              <p:cNvSpPr/>
              <p:nvPr/>
            </p:nvSpPr>
            <p:spPr bwMode="auto">
              <a:xfrm>
                <a:off x="1791" y="985"/>
                <a:ext cx="1" cy="92"/>
              </a:xfrm>
              <a:custGeom>
                <a:avLst/>
                <a:gdLst>
                  <a:gd name="T0" fmla="*/ 0 w 1"/>
                  <a:gd name="T1" fmla="*/ 0 h 92"/>
                  <a:gd name="T2" fmla="*/ 0 w 1"/>
                  <a:gd name="T3" fmla="*/ 92 h 92"/>
                  <a:gd name="T4" fmla="*/ 0 60000 65536"/>
                  <a:gd name="T5" fmla="*/ 0 60000 65536"/>
                  <a:gd name="T6" fmla="*/ 0 w 1"/>
                  <a:gd name="T7" fmla="*/ 0 h 92"/>
                  <a:gd name="T8" fmla="*/ 1 w 1"/>
                  <a:gd name="T9" fmla="*/ 92 h 9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92">
                    <a:moveTo>
                      <a:pt x="0" y="0"/>
                    </a:moveTo>
                    <a:lnTo>
                      <a:pt x="0" y="92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677" name="Freeform 26"/>
              <p:cNvSpPr/>
              <p:nvPr/>
            </p:nvSpPr>
            <p:spPr bwMode="auto">
              <a:xfrm>
                <a:off x="1788" y="1212"/>
                <a:ext cx="1" cy="85"/>
              </a:xfrm>
              <a:custGeom>
                <a:avLst/>
                <a:gdLst>
                  <a:gd name="T0" fmla="*/ 0 w 1"/>
                  <a:gd name="T1" fmla="*/ 26 h 93"/>
                  <a:gd name="T2" fmla="*/ 0 w 1"/>
                  <a:gd name="T3" fmla="*/ 0 h 93"/>
                  <a:gd name="T4" fmla="*/ 0 60000 65536"/>
                  <a:gd name="T5" fmla="*/ 0 60000 65536"/>
                  <a:gd name="T6" fmla="*/ 0 w 1"/>
                  <a:gd name="T7" fmla="*/ 0 h 93"/>
                  <a:gd name="T8" fmla="*/ 1 w 1"/>
                  <a:gd name="T9" fmla="*/ 93 h 9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93">
                    <a:moveTo>
                      <a:pt x="0" y="93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678" name="Freeform 27"/>
              <p:cNvSpPr/>
              <p:nvPr/>
            </p:nvSpPr>
            <p:spPr bwMode="auto">
              <a:xfrm>
                <a:off x="2736" y="1200"/>
                <a:ext cx="3" cy="95"/>
              </a:xfrm>
              <a:custGeom>
                <a:avLst/>
                <a:gdLst>
                  <a:gd name="T0" fmla="*/ 0 w 3"/>
                  <a:gd name="T1" fmla="*/ 26 h 105"/>
                  <a:gd name="T2" fmla="*/ 3 w 3"/>
                  <a:gd name="T3" fmla="*/ 0 h 105"/>
                  <a:gd name="T4" fmla="*/ 0 60000 65536"/>
                  <a:gd name="T5" fmla="*/ 0 60000 65536"/>
                  <a:gd name="T6" fmla="*/ 0 w 3"/>
                  <a:gd name="T7" fmla="*/ 0 h 105"/>
                  <a:gd name="T8" fmla="*/ 3 w 3"/>
                  <a:gd name="T9" fmla="*/ 105 h 10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5">
                    <a:moveTo>
                      <a:pt x="0" y="105"/>
                    </a:moveTo>
                    <a:lnTo>
                      <a:pt x="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679" name="Line 28"/>
              <p:cNvSpPr>
                <a:spLocks noChangeShapeType="1"/>
              </p:cNvSpPr>
              <p:nvPr/>
            </p:nvSpPr>
            <p:spPr bwMode="auto">
              <a:xfrm rot="10800000">
                <a:off x="4351" y="121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680" name="Freeform 29"/>
              <p:cNvSpPr/>
              <p:nvPr/>
            </p:nvSpPr>
            <p:spPr bwMode="auto">
              <a:xfrm>
                <a:off x="1155" y="1559"/>
                <a:ext cx="3653" cy="1"/>
              </a:xfrm>
              <a:custGeom>
                <a:avLst/>
                <a:gdLst>
                  <a:gd name="T0" fmla="*/ 0 w 3543"/>
                  <a:gd name="T1" fmla="*/ 0 h 1"/>
                  <a:gd name="T2" fmla="*/ 5435 w 3543"/>
                  <a:gd name="T3" fmla="*/ 0 h 1"/>
                  <a:gd name="T4" fmla="*/ 0 60000 65536"/>
                  <a:gd name="T5" fmla="*/ 0 60000 65536"/>
                  <a:gd name="T6" fmla="*/ 0 w 3543"/>
                  <a:gd name="T7" fmla="*/ 0 h 1"/>
                  <a:gd name="T8" fmla="*/ 3543 w 354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43" h="1">
                    <a:moveTo>
                      <a:pt x="0" y="0"/>
                    </a:moveTo>
                    <a:lnTo>
                      <a:pt x="354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681" name="Line 30"/>
              <p:cNvSpPr>
                <a:spLocks noChangeShapeType="1"/>
              </p:cNvSpPr>
              <p:nvPr/>
            </p:nvSpPr>
            <p:spPr bwMode="auto">
              <a:xfrm>
                <a:off x="4351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682" name="Freeform 31"/>
              <p:cNvSpPr/>
              <p:nvPr/>
            </p:nvSpPr>
            <p:spPr bwMode="auto">
              <a:xfrm>
                <a:off x="1155" y="1863"/>
                <a:ext cx="3656" cy="1"/>
              </a:xfrm>
              <a:custGeom>
                <a:avLst/>
                <a:gdLst>
                  <a:gd name="T0" fmla="*/ 0 w 3546"/>
                  <a:gd name="T1" fmla="*/ 0 h 2"/>
                  <a:gd name="T2" fmla="*/ 5438 w 3546"/>
                  <a:gd name="T3" fmla="*/ 1 h 2"/>
                  <a:gd name="T4" fmla="*/ 0 60000 65536"/>
                  <a:gd name="T5" fmla="*/ 0 60000 65536"/>
                  <a:gd name="T6" fmla="*/ 0 w 3546"/>
                  <a:gd name="T7" fmla="*/ 0 h 2"/>
                  <a:gd name="T8" fmla="*/ 3546 w 354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46" h="2">
                    <a:moveTo>
                      <a:pt x="0" y="0"/>
                    </a:moveTo>
                    <a:lnTo>
                      <a:pt x="3546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683" name="Line 32"/>
              <p:cNvSpPr>
                <a:spLocks noChangeShapeType="1"/>
              </p:cNvSpPr>
              <p:nvPr/>
            </p:nvSpPr>
            <p:spPr bwMode="auto">
              <a:xfrm>
                <a:off x="2725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684" name="Line 33"/>
              <p:cNvSpPr>
                <a:spLocks noChangeShapeType="1"/>
              </p:cNvSpPr>
              <p:nvPr/>
            </p:nvSpPr>
            <p:spPr bwMode="auto">
              <a:xfrm>
                <a:off x="1788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685" name="Line 34"/>
              <p:cNvSpPr>
                <a:spLocks noChangeShapeType="1"/>
              </p:cNvSpPr>
              <p:nvPr/>
            </p:nvSpPr>
            <p:spPr bwMode="auto">
              <a:xfrm rot="10800000">
                <a:off x="1788" y="1778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686" name="Line 35"/>
              <p:cNvSpPr>
                <a:spLocks noChangeShapeType="1"/>
              </p:cNvSpPr>
              <p:nvPr/>
            </p:nvSpPr>
            <p:spPr bwMode="auto">
              <a:xfrm rot="10800000">
                <a:off x="2725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687" name="Line 36"/>
              <p:cNvSpPr>
                <a:spLocks noChangeShapeType="1"/>
              </p:cNvSpPr>
              <p:nvPr/>
            </p:nvSpPr>
            <p:spPr bwMode="auto">
              <a:xfrm rot="10800000">
                <a:off x="4351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688" name="Freeform 37"/>
              <p:cNvSpPr/>
              <p:nvPr/>
            </p:nvSpPr>
            <p:spPr bwMode="auto">
              <a:xfrm>
                <a:off x="1155" y="2432"/>
                <a:ext cx="3675" cy="1"/>
              </a:xfrm>
              <a:custGeom>
                <a:avLst/>
                <a:gdLst>
                  <a:gd name="T0" fmla="*/ 0 w 3564"/>
                  <a:gd name="T1" fmla="*/ 0 h 1"/>
                  <a:gd name="T2" fmla="*/ 5474 w 3564"/>
                  <a:gd name="T3" fmla="*/ 0 h 1"/>
                  <a:gd name="T4" fmla="*/ 0 60000 65536"/>
                  <a:gd name="T5" fmla="*/ 0 60000 65536"/>
                  <a:gd name="T6" fmla="*/ 0 w 3564"/>
                  <a:gd name="T7" fmla="*/ 0 h 1"/>
                  <a:gd name="T8" fmla="*/ 3564 w 356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64" h="1">
                    <a:moveTo>
                      <a:pt x="0" y="0"/>
                    </a:moveTo>
                    <a:lnTo>
                      <a:pt x="3564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689" name="Line 38"/>
              <p:cNvSpPr>
                <a:spLocks noChangeShapeType="1"/>
              </p:cNvSpPr>
              <p:nvPr/>
            </p:nvSpPr>
            <p:spPr bwMode="auto">
              <a:xfrm>
                <a:off x="4351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690" name="Freeform 39"/>
              <p:cNvSpPr/>
              <p:nvPr/>
            </p:nvSpPr>
            <p:spPr bwMode="auto">
              <a:xfrm>
                <a:off x="1155" y="2736"/>
                <a:ext cx="3647" cy="1"/>
              </a:xfrm>
              <a:custGeom>
                <a:avLst/>
                <a:gdLst>
                  <a:gd name="T0" fmla="*/ 0 w 3647"/>
                  <a:gd name="T1" fmla="*/ 0 h 1"/>
                  <a:gd name="T2" fmla="*/ 3647 w 3647"/>
                  <a:gd name="T3" fmla="*/ 1 h 1"/>
                  <a:gd name="T4" fmla="*/ 0 60000 65536"/>
                  <a:gd name="T5" fmla="*/ 0 60000 65536"/>
                  <a:gd name="T6" fmla="*/ 0 w 3647"/>
                  <a:gd name="T7" fmla="*/ 0 h 1"/>
                  <a:gd name="T8" fmla="*/ 3647 w 364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647" h="1">
                    <a:moveTo>
                      <a:pt x="0" y="0"/>
                    </a:moveTo>
                    <a:lnTo>
                      <a:pt x="3647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691" name="Line 40"/>
              <p:cNvSpPr>
                <a:spLocks noChangeShapeType="1"/>
              </p:cNvSpPr>
              <p:nvPr/>
            </p:nvSpPr>
            <p:spPr bwMode="auto">
              <a:xfrm>
                <a:off x="2725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692" name="Line 41"/>
              <p:cNvSpPr>
                <a:spLocks noChangeShapeType="1"/>
              </p:cNvSpPr>
              <p:nvPr/>
            </p:nvSpPr>
            <p:spPr bwMode="auto">
              <a:xfrm>
                <a:off x="1788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693" name="Line 42"/>
              <p:cNvSpPr>
                <a:spLocks noChangeShapeType="1"/>
              </p:cNvSpPr>
              <p:nvPr/>
            </p:nvSpPr>
            <p:spPr bwMode="auto">
              <a:xfrm rot="10800000">
                <a:off x="1788" y="2652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694" name="Line 43"/>
              <p:cNvSpPr>
                <a:spLocks noChangeShapeType="1"/>
              </p:cNvSpPr>
              <p:nvPr/>
            </p:nvSpPr>
            <p:spPr bwMode="auto">
              <a:xfrm rot="10800000">
                <a:off x="2725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695" name="Line 44"/>
              <p:cNvSpPr>
                <a:spLocks noChangeShapeType="1"/>
              </p:cNvSpPr>
              <p:nvPr/>
            </p:nvSpPr>
            <p:spPr bwMode="auto">
              <a:xfrm rot="10800000">
                <a:off x="4351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696" name="AutoShape 45"/>
              <p:cNvSpPr>
                <a:spLocks noChangeArrowheads="1"/>
              </p:cNvSpPr>
              <p:nvPr/>
            </p:nvSpPr>
            <p:spPr bwMode="auto">
              <a:xfrm rot="-5400000">
                <a:off x="1700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4697" name="Freeform 46"/>
              <p:cNvSpPr/>
              <p:nvPr/>
            </p:nvSpPr>
            <p:spPr bwMode="auto">
              <a:xfrm>
                <a:off x="1416" y="1148"/>
                <a:ext cx="198" cy="2026"/>
              </a:xfrm>
              <a:custGeom>
                <a:avLst/>
                <a:gdLst>
                  <a:gd name="T0" fmla="*/ 198 w 198"/>
                  <a:gd name="T1" fmla="*/ 0 h 2026"/>
                  <a:gd name="T2" fmla="*/ 0 w 198"/>
                  <a:gd name="T3" fmla="*/ 0 h 2026"/>
                  <a:gd name="T4" fmla="*/ 6 w 198"/>
                  <a:gd name="T5" fmla="*/ 2026 h 2026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26"/>
                  <a:gd name="T11" fmla="*/ 198 w 198"/>
                  <a:gd name="T12" fmla="*/ 2026 h 20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26">
                    <a:moveTo>
                      <a:pt x="198" y="0"/>
                    </a:moveTo>
                    <a:lnTo>
                      <a:pt x="0" y="0"/>
                    </a:lnTo>
                    <a:lnTo>
                      <a:pt x="6" y="202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698" name="Freeform 47"/>
              <p:cNvSpPr/>
              <p:nvPr/>
            </p:nvSpPr>
            <p:spPr bwMode="auto">
              <a:xfrm>
                <a:off x="141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699" name="Freeform 48"/>
              <p:cNvSpPr/>
              <p:nvPr/>
            </p:nvSpPr>
            <p:spPr bwMode="auto">
              <a:xfrm>
                <a:off x="1422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700" name="Line 49"/>
              <p:cNvSpPr>
                <a:spLocks noChangeShapeType="1"/>
              </p:cNvSpPr>
              <p:nvPr/>
            </p:nvSpPr>
            <p:spPr bwMode="auto">
              <a:xfrm>
                <a:off x="1419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701" name="Freeform 50"/>
              <p:cNvSpPr/>
              <p:nvPr/>
            </p:nvSpPr>
            <p:spPr bwMode="auto">
              <a:xfrm>
                <a:off x="3979" y="1148"/>
                <a:ext cx="198" cy="2023"/>
              </a:xfrm>
              <a:custGeom>
                <a:avLst/>
                <a:gdLst>
                  <a:gd name="T0" fmla="*/ 198 w 198"/>
                  <a:gd name="T1" fmla="*/ 0 h 2023"/>
                  <a:gd name="T2" fmla="*/ 0 w 198"/>
                  <a:gd name="T3" fmla="*/ 0 h 2023"/>
                  <a:gd name="T4" fmla="*/ 2 w 198"/>
                  <a:gd name="T5" fmla="*/ 2023 h 2023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23"/>
                  <a:gd name="T11" fmla="*/ 198 w 198"/>
                  <a:gd name="T12" fmla="*/ 2023 h 202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23">
                    <a:moveTo>
                      <a:pt x="198" y="0"/>
                    </a:moveTo>
                    <a:lnTo>
                      <a:pt x="0" y="0"/>
                    </a:lnTo>
                    <a:lnTo>
                      <a:pt x="2" y="202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702" name="Freeform 51"/>
              <p:cNvSpPr/>
              <p:nvPr/>
            </p:nvSpPr>
            <p:spPr bwMode="auto">
              <a:xfrm>
                <a:off x="3982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703" name="Freeform 52"/>
              <p:cNvSpPr/>
              <p:nvPr/>
            </p:nvSpPr>
            <p:spPr bwMode="auto">
              <a:xfrm>
                <a:off x="3985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704" name="Line 53"/>
              <p:cNvSpPr>
                <a:spLocks noChangeShapeType="1"/>
              </p:cNvSpPr>
              <p:nvPr/>
            </p:nvSpPr>
            <p:spPr bwMode="auto">
              <a:xfrm>
                <a:off x="3982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705" name="Freeform 54"/>
              <p:cNvSpPr/>
              <p:nvPr/>
            </p:nvSpPr>
            <p:spPr bwMode="auto">
              <a:xfrm>
                <a:off x="2347" y="1148"/>
                <a:ext cx="198" cy="2024"/>
              </a:xfrm>
              <a:custGeom>
                <a:avLst/>
                <a:gdLst>
                  <a:gd name="T0" fmla="*/ 295 w 192"/>
                  <a:gd name="T1" fmla="*/ 0 h 2224"/>
                  <a:gd name="T2" fmla="*/ 0 w 192"/>
                  <a:gd name="T3" fmla="*/ 0 h 2224"/>
                  <a:gd name="T4" fmla="*/ 2 w 192"/>
                  <a:gd name="T5" fmla="*/ 594 h 2224"/>
                  <a:gd name="T6" fmla="*/ 0 60000 65536"/>
                  <a:gd name="T7" fmla="*/ 0 60000 65536"/>
                  <a:gd name="T8" fmla="*/ 0 60000 65536"/>
                  <a:gd name="T9" fmla="*/ 0 w 192"/>
                  <a:gd name="T10" fmla="*/ 0 h 2224"/>
                  <a:gd name="T11" fmla="*/ 192 w 192"/>
                  <a:gd name="T12" fmla="*/ 2224 h 22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2" h="2224">
                    <a:moveTo>
                      <a:pt x="192" y="0"/>
                    </a:moveTo>
                    <a:lnTo>
                      <a:pt x="0" y="0"/>
                    </a:lnTo>
                    <a:lnTo>
                      <a:pt x="2" y="222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706" name="Freeform 55"/>
              <p:cNvSpPr/>
              <p:nvPr/>
            </p:nvSpPr>
            <p:spPr bwMode="auto">
              <a:xfrm>
                <a:off x="235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707" name="Freeform 56"/>
              <p:cNvSpPr/>
              <p:nvPr/>
            </p:nvSpPr>
            <p:spPr bwMode="auto">
              <a:xfrm>
                <a:off x="2353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708" name="Line 57"/>
              <p:cNvSpPr>
                <a:spLocks noChangeShapeType="1"/>
              </p:cNvSpPr>
              <p:nvPr/>
            </p:nvSpPr>
            <p:spPr bwMode="auto">
              <a:xfrm>
                <a:off x="2350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709" name="Freeform 58"/>
              <p:cNvSpPr/>
              <p:nvPr/>
            </p:nvSpPr>
            <p:spPr bwMode="auto">
              <a:xfrm>
                <a:off x="1964" y="1135"/>
                <a:ext cx="198" cy="2030"/>
              </a:xfrm>
              <a:custGeom>
                <a:avLst/>
                <a:gdLst>
                  <a:gd name="T0" fmla="*/ 0 w 198"/>
                  <a:gd name="T1" fmla="*/ 0 h 2030"/>
                  <a:gd name="T2" fmla="*/ 198 w 198"/>
                  <a:gd name="T3" fmla="*/ 0 h 2030"/>
                  <a:gd name="T4" fmla="*/ 193 w 198"/>
                  <a:gd name="T5" fmla="*/ 2030 h 2030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30"/>
                  <a:gd name="T11" fmla="*/ 198 w 198"/>
                  <a:gd name="T12" fmla="*/ 2030 h 203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30">
                    <a:moveTo>
                      <a:pt x="0" y="0"/>
                    </a:moveTo>
                    <a:lnTo>
                      <a:pt x="198" y="0"/>
                    </a:lnTo>
                    <a:lnTo>
                      <a:pt x="193" y="203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710" name="Freeform 59"/>
              <p:cNvSpPr/>
              <p:nvPr/>
            </p:nvSpPr>
            <p:spPr bwMode="auto">
              <a:xfrm rot="10800000">
                <a:off x="195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711" name="Freeform 60"/>
              <p:cNvSpPr/>
              <p:nvPr/>
            </p:nvSpPr>
            <p:spPr bwMode="auto">
              <a:xfrm rot="10800000">
                <a:off x="1959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712" name="Freeform 61"/>
              <p:cNvSpPr/>
              <p:nvPr/>
            </p:nvSpPr>
            <p:spPr bwMode="auto">
              <a:xfrm>
                <a:off x="1958" y="2957"/>
                <a:ext cx="200" cy="1"/>
              </a:xfrm>
              <a:custGeom>
                <a:avLst/>
                <a:gdLst>
                  <a:gd name="T0" fmla="*/ 297 w 194"/>
                  <a:gd name="T1" fmla="*/ 0 h 1"/>
                  <a:gd name="T2" fmla="*/ 0 w 194"/>
                  <a:gd name="T3" fmla="*/ 0 h 1"/>
                  <a:gd name="T4" fmla="*/ 0 60000 65536"/>
                  <a:gd name="T5" fmla="*/ 0 60000 65536"/>
                  <a:gd name="T6" fmla="*/ 0 w 194"/>
                  <a:gd name="T7" fmla="*/ 0 h 1"/>
                  <a:gd name="T8" fmla="*/ 194 w 19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4" h="1">
                    <a:moveTo>
                      <a:pt x="19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713" name="Freeform 62"/>
              <p:cNvSpPr/>
              <p:nvPr/>
            </p:nvSpPr>
            <p:spPr bwMode="auto">
              <a:xfrm>
                <a:off x="2893" y="1135"/>
                <a:ext cx="199" cy="2047"/>
              </a:xfrm>
              <a:custGeom>
                <a:avLst/>
                <a:gdLst>
                  <a:gd name="T0" fmla="*/ 0 w 193"/>
                  <a:gd name="T1" fmla="*/ 0 h 2250"/>
                  <a:gd name="T2" fmla="*/ 295 w 193"/>
                  <a:gd name="T3" fmla="*/ 0 h 2250"/>
                  <a:gd name="T4" fmla="*/ 296 w 193"/>
                  <a:gd name="T5" fmla="*/ 599 h 2250"/>
                  <a:gd name="T6" fmla="*/ 0 60000 65536"/>
                  <a:gd name="T7" fmla="*/ 0 60000 65536"/>
                  <a:gd name="T8" fmla="*/ 0 60000 65536"/>
                  <a:gd name="T9" fmla="*/ 0 w 193"/>
                  <a:gd name="T10" fmla="*/ 0 h 2250"/>
                  <a:gd name="T11" fmla="*/ 193 w 193"/>
                  <a:gd name="T12" fmla="*/ 2250 h 225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3" h="2250">
                    <a:moveTo>
                      <a:pt x="0" y="0"/>
                    </a:moveTo>
                    <a:lnTo>
                      <a:pt x="192" y="0"/>
                    </a:lnTo>
                    <a:lnTo>
                      <a:pt x="193" y="225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714" name="Freeform 63"/>
              <p:cNvSpPr/>
              <p:nvPr/>
            </p:nvSpPr>
            <p:spPr bwMode="auto">
              <a:xfrm rot="10800000">
                <a:off x="289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715" name="Freeform 64"/>
              <p:cNvSpPr/>
              <p:nvPr/>
            </p:nvSpPr>
            <p:spPr bwMode="auto">
              <a:xfrm rot="10800000">
                <a:off x="2890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716" name="Freeform 65"/>
              <p:cNvSpPr/>
              <p:nvPr/>
            </p:nvSpPr>
            <p:spPr bwMode="auto">
              <a:xfrm>
                <a:off x="2895" y="2957"/>
                <a:ext cx="194" cy="1"/>
              </a:xfrm>
              <a:custGeom>
                <a:avLst/>
                <a:gdLst>
                  <a:gd name="T0" fmla="*/ 291 w 188"/>
                  <a:gd name="T1" fmla="*/ 0 h 1"/>
                  <a:gd name="T2" fmla="*/ 0 w 188"/>
                  <a:gd name="T3" fmla="*/ 0 h 1"/>
                  <a:gd name="T4" fmla="*/ 0 60000 65536"/>
                  <a:gd name="T5" fmla="*/ 0 60000 65536"/>
                  <a:gd name="T6" fmla="*/ 0 w 188"/>
                  <a:gd name="T7" fmla="*/ 0 h 1"/>
                  <a:gd name="T8" fmla="*/ 188 w 18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88" h="1">
                    <a:moveTo>
                      <a:pt x="18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717" name="Freeform 66"/>
              <p:cNvSpPr/>
              <p:nvPr/>
            </p:nvSpPr>
            <p:spPr bwMode="auto">
              <a:xfrm>
                <a:off x="4531" y="1135"/>
                <a:ext cx="203" cy="2027"/>
              </a:xfrm>
              <a:custGeom>
                <a:avLst/>
                <a:gdLst>
                  <a:gd name="T0" fmla="*/ 0 w 203"/>
                  <a:gd name="T1" fmla="*/ 0 h 2027"/>
                  <a:gd name="T2" fmla="*/ 198 w 203"/>
                  <a:gd name="T3" fmla="*/ 0 h 2027"/>
                  <a:gd name="T4" fmla="*/ 203 w 203"/>
                  <a:gd name="T5" fmla="*/ 2027 h 2027"/>
                  <a:gd name="T6" fmla="*/ 0 60000 65536"/>
                  <a:gd name="T7" fmla="*/ 0 60000 65536"/>
                  <a:gd name="T8" fmla="*/ 0 60000 65536"/>
                  <a:gd name="T9" fmla="*/ 0 w 203"/>
                  <a:gd name="T10" fmla="*/ 0 h 2027"/>
                  <a:gd name="T11" fmla="*/ 203 w 203"/>
                  <a:gd name="T12" fmla="*/ 2027 h 20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3" h="2027">
                    <a:moveTo>
                      <a:pt x="0" y="0"/>
                    </a:moveTo>
                    <a:lnTo>
                      <a:pt x="198" y="0"/>
                    </a:lnTo>
                    <a:lnTo>
                      <a:pt x="203" y="202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718" name="Freeform 67"/>
              <p:cNvSpPr/>
              <p:nvPr/>
            </p:nvSpPr>
            <p:spPr bwMode="auto">
              <a:xfrm rot="10800000">
                <a:off x="4528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719" name="Freeform 68"/>
              <p:cNvSpPr/>
              <p:nvPr/>
            </p:nvSpPr>
            <p:spPr bwMode="auto">
              <a:xfrm rot="10800000">
                <a:off x="4528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720" name="Freeform 69"/>
              <p:cNvSpPr/>
              <p:nvPr/>
            </p:nvSpPr>
            <p:spPr bwMode="auto">
              <a:xfrm rot="10800000">
                <a:off x="4524" y="295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4721" name="Rectangle 70"/>
              <p:cNvSpPr>
                <a:spLocks noChangeArrowheads="1"/>
              </p:cNvSpPr>
              <p:nvPr/>
            </p:nvSpPr>
            <p:spPr bwMode="auto">
              <a:xfrm>
                <a:off x="1204" y="3175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读  写  控  制  电  路</a:t>
                </a:r>
              </a:p>
            </p:txBody>
          </p:sp>
          <p:sp>
            <p:nvSpPr>
              <p:cNvPr id="154722" name="Rectangle 71"/>
              <p:cNvSpPr>
                <a:spLocks noChangeArrowheads="1"/>
              </p:cNvSpPr>
              <p:nvPr/>
            </p:nvSpPr>
            <p:spPr bwMode="auto">
              <a:xfrm>
                <a:off x="1204" y="3656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bIns="0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列  地  址  译  码  器</a:t>
                </a:r>
              </a:p>
            </p:txBody>
          </p:sp>
          <p:sp>
            <p:nvSpPr>
              <p:cNvPr id="154723" name="Text Box 72"/>
              <p:cNvSpPr txBox="1">
                <a:spLocks noChangeArrowheads="1"/>
              </p:cNvSpPr>
              <p:nvPr/>
            </p:nvSpPr>
            <p:spPr bwMode="auto">
              <a:xfrm rot="5400000">
                <a:off x="1689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54724" name="Text Box 73"/>
              <p:cNvSpPr txBox="1">
                <a:spLocks noChangeArrowheads="1"/>
              </p:cNvSpPr>
              <p:nvPr/>
            </p:nvSpPr>
            <p:spPr bwMode="auto">
              <a:xfrm rot="5400000">
                <a:off x="2620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54725" name="Text Box 74"/>
              <p:cNvSpPr txBox="1">
                <a:spLocks noChangeArrowheads="1"/>
              </p:cNvSpPr>
              <p:nvPr/>
            </p:nvSpPr>
            <p:spPr bwMode="auto">
              <a:xfrm rot="5400000">
                <a:off x="4252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54726" name="Rectangle 75"/>
              <p:cNvSpPr>
                <a:spLocks noChangeArrowheads="1"/>
              </p:cNvSpPr>
              <p:nvPr/>
            </p:nvSpPr>
            <p:spPr bwMode="auto">
              <a:xfrm>
                <a:off x="1615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4727" name="Rectangle 76"/>
              <p:cNvSpPr>
                <a:spLocks noChangeArrowheads="1"/>
              </p:cNvSpPr>
              <p:nvPr/>
            </p:nvSpPr>
            <p:spPr bwMode="auto">
              <a:xfrm>
                <a:off x="1615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4728" name="Rectangle 77"/>
              <p:cNvSpPr>
                <a:spLocks noChangeArrowheads="1"/>
              </p:cNvSpPr>
              <p:nvPr/>
            </p:nvSpPr>
            <p:spPr bwMode="auto">
              <a:xfrm>
                <a:off x="2546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4729" name="Rectangle 78"/>
              <p:cNvSpPr>
                <a:spLocks noChangeArrowheads="1"/>
              </p:cNvSpPr>
              <p:nvPr/>
            </p:nvSpPr>
            <p:spPr bwMode="auto">
              <a:xfrm>
                <a:off x="2546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4730" name="Rectangle 79"/>
              <p:cNvSpPr>
                <a:spLocks noChangeArrowheads="1"/>
              </p:cNvSpPr>
              <p:nvPr/>
            </p:nvSpPr>
            <p:spPr bwMode="auto">
              <a:xfrm>
                <a:off x="2546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4731" name="Rectangle 80"/>
              <p:cNvSpPr>
                <a:spLocks noChangeArrowheads="1"/>
              </p:cNvSpPr>
              <p:nvPr/>
            </p:nvSpPr>
            <p:spPr bwMode="auto">
              <a:xfrm>
                <a:off x="4178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4732" name="Rectangle 81"/>
              <p:cNvSpPr>
                <a:spLocks noChangeArrowheads="1"/>
              </p:cNvSpPr>
              <p:nvPr/>
            </p:nvSpPr>
            <p:spPr bwMode="auto">
              <a:xfrm>
                <a:off x="4178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4733" name="Rectangle 82"/>
              <p:cNvSpPr>
                <a:spLocks noChangeArrowheads="1"/>
              </p:cNvSpPr>
              <p:nvPr/>
            </p:nvSpPr>
            <p:spPr bwMode="auto">
              <a:xfrm>
                <a:off x="4178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4734" name="AutoShape 83"/>
              <p:cNvSpPr>
                <a:spLocks noChangeArrowheads="1"/>
              </p:cNvSpPr>
              <p:nvPr/>
            </p:nvSpPr>
            <p:spPr bwMode="auto">
              <a:xfrm rot="-5400000">
                <a:off x="2631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4735" name="AutoShape 84"/>
              <p:cNvSpPr>
                <a:spLocks noChangeArrowheads="1"/>
              </p:cNvSpPr>
              <p:nvPr/>
            </p:nvSpPr>
            <p:spPr bwMode="auto">
              <a:xfrm rot="-5400000">
                <a:off x="4263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4736" name="Text Box 85"/>
              <p:cNvSpPr txBox="1">
                <a:spLocks noChangeArrowheads="1"/>
              </p:cNvSpPr>
              <p:nvPr/>
            </p:nvSpPr>
            <p:spPr bwMode="auto">
              <a:xfrm>
                <a:off x="4796" y="861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读选择线</a:t>
                </a:r>
              </a:p>
            </p:txBody>
          </p:sp>
          <p:sp>
            <p:nvSpPr>
              <p:cNvPr id="154737" name="Text Box 86"/>
              <p:cNvSpPr txBox="1">
                <a:spLocks noChangeArrowheads="1"/>
              </p:cNvSpPr>
              <p:nvPr/>
            </p:nvSpPr>
            <p:spPr bwMode="auto">
              <a:xfrm>
                <a:off x="4806" y="115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写选择线</a:t>
                </a:r>
              </a:p>
            </p:txBody>
          </p:sp>
          <p:sp>
            <p:nvSpPr>
              <p:cNvPr id="154738" name="Line 87"/>
              <p:cNvSpPr>
                <a:spLocks noChangeShapeType="1"/>
              </p:cNvSpPr>
              <p:nvPr/>
            </p:nvSpPr>
            <p:spPr bwMode="auto">
              <a:xfrm>
                <a:off x="4817" y="3306"/>
                <a:ext cx="3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4739" name="Text Box 88"/>
              <p:cNvSpPr txBox="1">
                <a:spLocks noChangeArrowheads="1"/>
              </p:cNvSpPr>
              <p:nvPr/>
            </p:nvSpPr>
            <p:spPr bwMode="auto">
              <a:xfrm>
                <a:off x="4906" y="3024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54740" name="Text Box 89"/>
              <p:cNvSpPr txBox="1">
                <a:spLocks noChangeArrowheads="1"/>
              </p:cNvSpPr>
              <p:nvPr/>
            </p:nvSpPr>
            <p:spPr bwMode="auto">
              <a:xfrm>
                <a:off x="3296" y="1929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单元</a:t>
                </a:r>
              </a:p>
            </p:txBody>
          </p:sp>
          <p:sp>
            <p:nvSpPr>
              <p:cNvPr id="154741" name="Text Box 90"/>
              <p:cNvSpPr txBox="1">
                <a:spLocks noChangeArrowheads="1"/>
              </p:cNvSpPr>
              <p:nvPr/>
            </p:nvSpPr>
            <p:spPr bwMode="auto">
              <a:xfrm>
                <a:off x="3296" y="2108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电路</a:t>
                </a:r>
              </a:p>
            </p:txBody>
          </p:sp>
          <p:sp>
            <p:nvSpPr>
              <p:cNvPr id="154742" name="Text Box 91"/>
              <p:cNvSpPr txBox="1">
                <a:spLocks noChangeArrowheads="1"/>
              </p:cNvSpPr>
              <p:nvPr/>
            </p:nvSpPr>
            <p:spPr bwMode="auto">
              <a:xfrm>
                <a:off x="503" y="936"/>
                <a:ext cx="309" cy="2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行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地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址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译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码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器</a:t>
                </a:r>
              </a:p>
            </p:txBody>
          </p:sp>
          <p:sp>
            <p:nvSpPr>
              <p:cNvPr id="154743" name="Text Box 92"/>
              <p:cNvSpPr txBox="1">
                <a:spLocks noChangeArrowheads="1"/>
              </p:cNvSpPr>
              <p:nvPr/>
            </p:nvSpPr>
            <p:spPr bwMode="auto">
              <a:xfrm>
                <a:off x="907" y="86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54744" name="Text Box 93"/>
              <p:cNvSpPr txBox="1">
                <a:spLocks noChangeArrowheads="1"/>
              </p:cNvSpPr>
              <p:nvPr/>
            </p:nvSpPr>
            <p:spPr bwMode="auto">
              <a:xfrm>
                <a:off x="907" y="115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54745" name="Text Box 94"/>
              <p:cNvSpPr txBox="1">
                <a:spLocks noChangeArrowheads="1"/>
              </p:cNvSpPr>
              <p:nvPr/>
            </p:nvSpPr>
            <p:spPr bwMode="auto">
              <a:xfrm>
                <a:off x="907" y="145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54746" name="Text Box 95"/>
              <p:cNvSpPr txBox="1">
                <a:spLocks noChangeArrowheads="1"/>
              </p:cNvSpPr>
              <p:nvPr/>
            </p:nvSpPr>
            <p:spPr bwMode="auto">
              <a:xfrm>
                <a:off x="907" y="176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54747" name="Text Box 96"/>
              <p:cNvSpPr txBox="1">
                <a:spLocks noChangeArrowheads="1"/>
              </p:cNvSpPr>
              <p:nvPr/>
            </p:nvSpPr>
            <p:spPr bwMode="auto">
              <a:xfrm>
                <a:off x="854" y="2294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54748" name="Text Box 97"/>
              <p:cNvSpPr txBox="1">
                <a:spLocks noChangeArrowheads="1"/>
              </p:cNvSpPr>
              <p:nvPr/>
            </p:nvSpPr>
            <p:spPr bwMode="auto">
              <a:xfrm>
                <a:off x="858" y="2592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54749" name="Line 98"/>
              <p:cNvSpPr>
                <a:spLocks noChangeShapeType="1"/>
              </p:cNvSpPr>
              <p:nvPr/>
            </p:nvSpPr>
            <p:spPr bwMode="auto">
              <a:xfrm>
                <a:off x="1887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4750" name="Line 99"/>
              <p:cNvSpPr>
                <a:spLocks noChangeShapeType="1"/>
              </p:cNvSpPr>
              <p:nvPr/>
            </p:nvSpPr>
            <p:spPr bwMode="auto">
              <a:xfrm>
                <a:off x="2832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4751" name="Text Box 100"/>
              <p:cNvSpPr txBox="1">
                <a:spLocks noChangeArrowheads="1"/>
              </p:cNvSpPr>
              <p:nvPr/>
            </p:nvSpPr>
            <p:spPr bwMode="auto">
              <a:xfrm>
                <a:off x="2613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54752" name="Line 101"/>
              <p:cNvSpPr>
                <a:spLocks noChangeShapeType="1"/>
              </p:cNvSpPr>
              <p:nvPr/>
            </p:nvSpPr>
            <p:spPr bwMode="auto">
              <a:xfrm>
                <a:off x="4473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4753" name="Text Box 102"/>
              <p:cNvSpPr txBox="1">
                <a:spLocks noChangeArrowheads="1"/>
              </p:cNvSpPr>
              <p:nvPr/>
            </p:nvSpPr>
            <p:spPr bwMode="auto">
              <a:xfrm>
                <a:off x="4176" y="3420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54754" name="Group 103"/>
              <p:cNvGrpSpPr/>
              <p:nvPr/>
            </p:nvGrpSpPr>
            <p:grpSpPr bwMode="auto">
              <a:xfrm>
                <a:off x="1492" y="3918"/>
                <a:ext cx="284" cy="323"/>
                <a:chOff x="1584" y="3918"/>
                <a:chExt cx="284" cy="323"/>
              </a:xfrm>
            </p:grpSpPr>
            <p:sp>
              <p:nvSpPr>
                <p:cNvPr id="154790" name="Line 104"/>
                <p:cNvSpPr>
                  <a:spLocks noChangeShapeType="1"/>
                </p:cNvSpPr>
                <p:nvPr/>
              </p:nvSpPr>
              <p:spPr bwMode="auto">
                <a:xfrm rot="-5400000">
                  <a:off x="149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4791" name="Text Box 105"/>
                <p:cNvSpPr txBox="1">
                  <a:spLocks noChangeArrowheads="1"/>
                </p:cNvSpPr>
                <p:nvPr/>
              </p:nvSpPr>
              <p:spPr bwMode="auto">
                <a:xfrm>
                  <a:off x="1584" y="3991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</p:grpSp>
          <p:grpSp>
            <p:nvGrpSpPr>
              <p:cNvPr id="154755" name="Group 106"/>
              <p:cNvGrpSpPr/>
              <p:nvPr/>
            </p:nvGrpSpPr>
            <p:grpSpPr bwMode="auto">
              <a:xfrm>
                <a:off x="2234" y="3918"/>
                <a:ext cx="285" cy="324"/>
                <a:chOff x="2355" y="3918"/>
                <a:chExt cx="285" cy="324"/>
              </a:xfrm>
            </p:grpSpPr>
            <p:sp>
              <p:nvSpPr>
                <p:cNvPr id="154788" name="Line 107"/>
                <p:cNvSpPr>
                  <a:spLocks noChangeShapeType="1"/>
                </p:cNvSpPr>
                <p:nvPr/>
              </p:nvSpPr>
              <p:spPr bwMode="auto">
                <a:xfrm rot="-5400000">
                  <a:off x="224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4789" name="Text Box 108"/>
                <p:cNvSpPr txBox="1">
                  <a:spLocks noChangeArrowheads="1"/>
                </p:cNvSpPr>
                <p:nvPr/>
              </p:nvSpPr>
              <p:spPr bwMode="auto">
                <a:xfrm>
                  <a:off x="2356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3</a:t>
                  </a:r>
                </a:p>
              </p:txBody>
            </p:sp>
          </p:grpSp>
          <p:grpSp>
            <p:nvGrpSpPr>
              <p:cNvPr id="154756" name="Group 109"/>
              <p:cNvGrpSpPr/>
              <p:nvPr/>
            </p:nvGrpSpPr>
            <p:grpSpPr bwMode="auto">
              <a:xfrm>
                <a:off x="2978" y="3918"/>
                <a:ext cx="284" cy="324"/>
                <a:chOff x="3102" y="3918"/>
                <a:chExt cx="284" cy="324"/>
              </a:xfrm>
            </p:grpSpPr>
            <p:sp>
              <p:nvSpPr>
                <p:cNvPr id="154786" name="Line 110"/>
                <p:cNvSpPr>
                  <a:spLocks noChangeShapeType="1"/>
                </p:cNvSpPr>
                <p:nvPr/>
              </p:nvSpPr>
              <p:spPr bwMode="auto">
                <a:xfrm rot="-5400000">
                  <a:off x="300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4787" name="Text Box 111"/>
                <p:cNvSpPr txBox="1">
                  <a:spLocks noChangeArrowheads="1"/>
                </p:cNvSpPr>
                <p:nvPr/>
              </p:nvSpPr>
              <p:spPr bwMode="auto">
                <a:xfrm>
                  <a:off x="3102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</p:grpSp>
          <p:grpSp>
            <p:nvGrpSpPr>
              <p:cNvPr id="154757" name="Group 112"/>
              <p:cNvGrpSpPr/>
              <p:nvPr/>
            </p:nvGrpSpPr>
            <p:grpSpPr bwMode="auto">
              <a:xfrm>
                <a:off x="3721" y="3918"/>
                <a:ext cx="284" cy="324"/>
                <a:chOff x="3844" y="3918"/>
                <a:chExt cx="284" cy="324"/>
              </a:xfrm>
            </p:grpSpPr>
            <p:sp>
              <p:nvSpPr>
                <p:cNvPr id="154784" name="Line 113"/>
                <p:cNvSpPr>
                  <a:spLocks noChangeShapeType="1"/>
                </p:cNvSpPr>
                <p:nvPr/>
              </p:nvSpPr>
              <p:spPr bwMode="auto">
                <a:xfrm rot="-5400000">
                  <a:off x="375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4785" name="Text Box 114"/>
                <p:cNvSpPr txBox="1">
                  <a:spLocks noChangeArrowheads="1"/>
                </p:cNvSpPr>
                <p:nvPr/>
              </p:nvSpPr>
              <p:spPr bwMode="auto">
                <a:xfrm>
                  <a:off x="3844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</p:grpSp>
          <p:grpSp>
            <p:nvGrpSpPr>
              <p:cNvPr id="154758" name="Group 115"/>
              <p:cNvGrpSpPr/>
              <p:nvPr/>
            </p:nvGrpSpPr>
            <p:grpSpPr bwMode="auto">
              <a:xfrm>
                <a:off x="4464" y="3918"/>
                <a:ext cx="284" cy="323"/>
                <a:chOff x="4603" y="3918"/>
                <a:chExt cx="284" cy="323"/>
              </a:xfrm>
            </p:grpSpPr>
            <p:sp>
              <p:nvSpPr>
                <p:cNvPr id="154782" name="Line 116"/>
                <p:cNvSpPr>
                  <a:spLocks noChangeShapeType="1"/>
                </p:cNvSpPr>
                <p:nvPr/>
              </p:nvSpPr>
              <p:spPr bwMode="auto">
                <a:xfrm rot="-5400000">
                  <a:off x="4510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4783" name="Text Box 117"/>
                <p:cNvSpPr txBox="1">
                  <a:spLocks noChangeArrowheads="1"/>
                </p:cNvSpPr>
                <p:nvPr/>
              </p:nvSpPr>
              <p:spPr bwMode="auto">
                <a:xfrm>
                  <a:off x="4603" y="3991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</p:grpSp>
          <p:sp>
            <p:nvSpPr>
              <p:cNvPr id="154759" name="Line 118"/>
              <p:cNvSpPr>
                <a:spLocks noChangeShapeType="1"/>
              </p:cNvSpPr>
              <p:nvPr/>
            </p:nvSpPr>
            <p:spPr bwMode="auto">
              <a:xfrm>
                <a:off x="2689" y="1690"/>
                <a:ext cx="643" cy="39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4760" name="Line 119"/>
              <p:cNvSpPr>
                <a:spLocks noChangeShapeType="1"/>
              </p:cNvSpPr>
              <p:nvPr/>
            </p:nvSpPr>
            <p:spPr bwMode="auto">
              <a:xfrm>
                <a:off x="3976" y="2039"/>
                <a:ext cx="990" cy="21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4761" name="Line 120"/>
              <p:cNvSpPr>
                <a:spLocks noChangeShapeType="1"/>
              </p:cNvSpPr>
              <p:nvPr/>
            </p:nvSpPr>
            <p:spPr bwMode="auto">
              <a:xfrm>
                <a:off x="4718" y="1384"/>
                <a:ext cx="693" cy="13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4762" name="Text Box 121"/>
              <p:cNvSpPr txBox="1">
                <a:spLocks noChangeArrowheads="1"/>
              </p:cNvSpPr>
              <p:nvPr/>
            </p:nvSpPr>
            <p:spPr bwMode="auto">
              <a:xfrm>
                <a:off x="4844" y="2728"/>
                <a:ext cx="92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刷新放大器</a:t>
                </a:r>
              </a:p>
            </p:txBody>
          </p:sp>
          <p:sp>
            <p:nvSpPr>
              <p:cNvPr id="154763" name="Line 122"/>
              <p:cNvSpPr>
                <a:spLocks noChangeShapeType="1"/>
              </p:cNvSpPr>
              <p:nvPr/>
            </p:nvSpPr>
            <p:spPr bwMode="auto">
              <a:xfrm flipV="1">
                <a:off x="4520" y="2957"/>
                <a:ext cx="495" cy="4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154764" name="Group 123"/>
              <p:cNvGrpSpPr/>
              <p:nvPr/>
            </p:nvGrpSpPr>
            <p:grpSpPr bwMode="auto">
              <a:xfrm>
                <a:off x="4916" y="1726"/>
                <a:ext cx="277" cy="893"/>
                <a:chOff x="4920" y="1790"/>
                <a:chExt cx="277" cy="893"/>
              </a:xfrm>
            </p:grpSpPr>
            <p:sp>
              <p:nvSpPr>
                <p:cNvPr id="154778" name="Text Box 124"/>
                <p:cNvSpPr txBox="1">
                  <a:spLocks noChangeArrowheads="1"/>
                </p:cNvSpPr>
                <p:nvPr/>
              </p:nvSpPr>
              <p:spPr bwMode="auto">
                <a:xfrm>
                  <a:off x="4920" y="1790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写</a:t>
                  </a:r>
                </a:p>
              </p:txBody>
            </p:sp>
            <p:sp>
              <p:nvSpPr>
                <p:cNvPr id="154779" name="Text Box 125"/>
                <p:cNvSpPr txBox="1">
                  <a:spLocks noChangeArrowheads="1"/>
                </p:cNvSpPr>
                <p:nvPr/>
              </p:nvSpPr>
              <p:spPr bwMode="auto">
                <a:xfrm>
                  <a:off x="4920" y="200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</a:p>
              </p:txBody>
            </p:sp>
            <p:sp>
              <p:nvSpPr>
                <p:cNvPr id="154780" name="Text Box 126"/>
                <p:cNvSpPr txBox="1">
                  <a:spLocks noChangeArrowheads="1"/>
                </p:cNvSpPr>
                <p:nvPr/>
              </p:nvSpPr>
              <p:spPr bwMode="auto">
                <a:xfrm>
                  <a:off x="4920" y="2219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54781" name="Text Box 127"/>
                <p:cNvSpPr txBox="1">
                  <a:spLocks noChangeArrowheads="1"/>
                </p:cNvSpPr>
                <p:nvPr/>
              </p:nvSpPr>
              <p:spPr bwMode="auto">
                <a:xfrm>
                  <a:off x="4920" y="243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</a:p>
              </p:txBody>
            </p:sp>
          </p:grpSp>
          <p:grpSp>
            <p:nvGrpSpPr>
              <p:cNvPr id="154765" name="Group 128"/>
              <p:cNvGrpSpPr/>
              <p:nvPr/>
            </p:nvGrpSpPr>
            <p:grpSpPr bwMode="auto">
              <a:xfrm>
                <a:off x="5372" y="1505"/>
                <a:ext cx="277" cy="879"/>
                <a:chOff x="5394" y="1612"/>
                <a:chExt cx="277" cy="879"/>
              </a:xfrm>
            </p:grpSpPr>
            <p:sp>
              <p:nvSpPr>
                <p:cNvPr id="154774" name="Text Box 129"/>
                <p:cNvSpPr txBox="1">
                  <a:spLocks noChangeArrowheads="1"/>
                </p:cNvSpPr>
                <p:nvPr/>
              </p:nvSpPr>
              <p:spPr bwMode="auto">
                <a:xfrm>
                  <a:off x="5394" y="161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</a:t>
                  </a:r>
                </a:p>
              </p:txBody>
            </p:sp>
            <p:sp>
              <p:nvSpPr>
                <p:cNvPr id="154775" name="Text Box 130"/>
                <p:cNvSpPr txBox="1">
                  <a:spLocks noChangeArrowheads="1"/>
                </p:cNvSpPr>
                <p:nvPr/>
              </p:nvSpPr>
              <p:spPr bwMode="auto">
                <a:xfrm>
                  <a:off x="5394" y="182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</a:p>
              </p:txBody>
            </p:sp>
            <p:sp>
              <p:nvSpPr>
                <p:cNvPr id="154776" name="Text Box 131"/>
                <p:cNvSpPr txBox="1">
                  <a:spLocks noChangeArrowheads="1"/>
                </p:cNvSpPr>
                <p:nvPr/>
              </p:nvSpPr>
              <p:spPr bwMode="auto">
                <a:xfrm>
                  <a:off x="5394" y="203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54777" name="Text Box 132"/>
                <p:cNvSpPr txBox="1">
                  <a:spLocks noChangeArrowheads="1"/>
                </p:cNvSpPr>
                <p:nvPr/>
              </p:nvSpPr>
              <p:spPr bwMode="auto">
                <a:xfrm>
                  <a:off x="5394" y="224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</a:p>
              </p:txBody>
            </p:sp>
          </p:grpSp>
          <p:grpSp>
            <p:nvGrpSpPr>
              <p:cNvPr id="154766" name="Group 133"/>
              <p:cNvGrpSpPr/>
              <p:nvPr/>
            </p:nvGrpSpPr>
            <p:grpSpPr bwMode="auto">
              <a:xfrm>
                <a:off x="3320" y="915"/>
                <a:ext cx="372" cy="2170"/>
                <a:chOff x="3324" y="979"/>
                <a:chExt cx="372" cy="2170"/>
              </a:xfrm>
            </p:grpSpPr>
            <p:sp>
              <p:nvSpPr>
                <p:cNvPr id="154770" name="Text Box 134"/>
                <p:cNvSpPr txBox="1">
                  <a:spLocks noChangeArrowheads="1"/>
                </p:cNvSpPr>
                <p:nvPr/>
              </p:nvSpPr>
              <p:spPr bwMode="auto">
                <a:xfrm>
                  <a:off x="3324" y="979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54771" name="Text Box 135"/>
                <p:cNvSpPr txBox="1">
                  <a:spLocks noChangeArrowheads="1"/>
                </p:cNvSpPr>
                <p:nvPr/>
              </p:nvSpPr>
              <p:spPr bwMode="auto">
                <a:xfrm>
                  <a:off x="3324" y="150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54772" name="Text Box 136"/>
                <p:cNvSpPr txBox="1">
                  <a:spLocks noChangeArrowheads="1"/>
                </p:cNvSpPr>
                <p:nvPr/>
              </p:nvSpPr>
              <p:spPr bwMode="auto">
                <a:xfrm>
                  <a:off x="3324" y="240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54773" name="Text Box 137"/>
                <p:cNvSpPr txBox="1">
                  <a:spLocks noChangeArrowheads="1"/>
                </p:cNvSpPr>
                <p:nvPr/>
              </p:nvSpPr>
              <p:spPr bwMode="auto">
                <a:xfrm>
                  <a:off x="3324" y="2784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</p:grpSp>
          <p:sp>
            <p:nvSpPr>
              <p:cNvPr id="154767" name="Text Box 138"/>
              <p:cNvSpPr txBox="1">
                <a:spLocks noChangeArrowheads="1"/>
              </p:cNvSpPr>
              <p:nvPr/>
            </p:nvSpPr>
            <p:spPr bwMode="auto">
              <a:xfrm rot="5400000">
                <a:off x="916" y="1976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54768" name="Text Box 139"/>
              <p:cNvSpPr txBox="1">
                <a:spLocks noChangeArrowheads="1"/>
              </p:cNvSpPr>
              <p:nvPr/>
            </p:nvSpPr>
            <p:spPr bwMode="auto">
              <a:xfrm>
                <a:off x="1656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54769" name="Text Box 140"/>
              <p:cNvSpPr txBox="1">
                <a:spLocks noChangeArrowheads="1"/>
              </p:cNvSpPr>
              <p:nvPr/>
            </p:nvSpPr>
            <p:spPr bwMode="auto">
              <a:xfrm>
                <a:off x="3350" y="3312"/>
                <a:ext cx="340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</p:grpSp>
      <p:grpSp>
        <p:nvGrpSpPr>
          <p:cNvPr id="154627" name="Group 141"/>
          <p:cNvGrpSpPr/>
          <p:nvPr/>
        </p:nvGrpSpPr>
        <p:grpSpPr bwMode="auto">
          <a:xfrm>
            <a:off x="1833563" y="3711575"/>
            <a:ext cx="5791200" cy="646113"/>
            <a:chOff x="1155" y="2338"/>
            <a:chExt cx="3648" cy="407"/>
          </a:xfrm>
        </p:grpSpPr>
        <p:sp>
          <p:nvSpPr>
            <p:cNvPr id="154656" name="Freeform 142"/>
            <p:cNvSpPr/>
            <p:nvPr/>
          </p:nvSpPr>
          <p:spPr bwMode="auto">
            <a:xfrm>
              <a:off x="1155" y="2740"/>
              <a:ext cx="3648" cy="5"/>
            </a:xfrm>
            <a:custGeom>
              <a:avLst/>
              <a:gdLst>
                <a:gd name="T0" fmla="*/ 0 w 3648"/>
                <a:gd name="T1" fmla="*/ 0 h 5"/>
                <a:gd name="T2" fmla="*/ 3648 w 3648"/>
                <a:gd name="T3" fmla="*/ 5 h 5"/>
                <a:gd name="T4" fmla="*/ 0 60000 65536"/>
                <a:gd name="T5" fmla="*/ 0 60000 65536"/>
                <a:gd name="T6" fmla="*/ 0 w 3648"/>
                <a:gd name="T7" fmla="*/ 0 h 5"/>
                <a:gd name="T8" fmla="*/ 3648 w 3648"/>
                <a:gd name="T9" fmla="*/ 5 h 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48" h="5">
                  <a:moveTo>
                    <a:pt x="0" y="0"/>
                  </a:moveTo>
                  <a:lnTo>
                    <a:pt x="3648" y="5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4657" name="Line 143"/>
            <p:cNvSpPr>
              <a:spLocks noChangeShapeType="1"/>
            </p:cNvSpPr>
            <p:nvPr/>
          </p:nvSpPr>
          <p:spPr bwMode="auto">
            <a:xfrm rot="10800000">
              <a:off x="1788" y="2656"/>
              <a:ext cx="0" cy="84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4658" name="Line 144"/>
            <p:cNvSpPr>
              <a:spLocks noChangeShapeType="1"/>
            </p:cNvSpPr>
            <p:nvPr/>
          </p:nvSpPr>
          <p:spPr bwMode="auto">
            <a:xfrm rot="10800000">
              <a:off x="2725" y="2658"/>
              <a:ext cx="0" cy="84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4659" name="Freeform 145"/>
            <p:cNvSpPr/>
            <p:nvPr/>
          </p:nvSpPr>
          <p:spPr bwMode="auto">
            <a:xfrm>
              <a:off x="4350" y="2657"/>
              <a:ext cx="1" cy="79"/>
            </a:xfrm>
            <a:custGeom>
              <a:avLst/>
              <a:gdLst>
                <a:gd name="T0" fmla="*/ 0 w 1"/>
                <a:gd name="T1" fmla="*/ 79 h 79"/>
                <a:gd name="T2" fmla="*/ 1 w 1"/>
                <a:gd name="T3" fmla="*/ 0 h 79"/>
                <a:gd name="T4" fmla="*/ 0 60000 65536"/>
                <a:gd name="T5" fmla="*/ 0 60000 65536"/>
                <a:gd name="T6" fmla="*/ 0 w 1"/>
                <a:gd name="T7" fmla="*/ 0 h 79"/>
                <a:gd name="T8" fmla="*/ 1 w 1"/>
                <a:gd name="T9" fmla="*/ 79 h 7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79">
                  <a:moveTo>
                    <a:pt x="0" y="79"/>
                  </a:moveTo>
                  <a:lnTo>
                    <a:pt x="1" y="0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4660" name="Rectangle 146"/>
            <p:cNvSpPr>
              <a:spLocks noChangeArrowheads="1"/>
            </p:cNvSpPr>
            <p:nvPr/>
          </p:nvSpPr>
          <p:spPr bwMode="auto">
            <a:xfrm>
              <a:off x="1615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4661" name="Rectangle 147"/>
            <p:cNvSpPr>
              <a:spLocks noChangeArrowheads="1"/>
            </p:cNvSpPr>
            <p:nvPr/>
          </p:nvSpPr>
          <p:spPr bwMode="auto">
            <a:xfrm>
              <a:off x="2546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4662" name="Rectangle 148"/>
            <p:cNvSpPr>
              <a:spLocks noChangeArrowheads="1"/>
            </p:cNvSpPr>
            <p:nvPr/>
          </p:nvSpPr>
          <p:spPr bwMode="auto">
            <a:xfrm>
              <a:off x="4178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4663" name="Text Box 149"/>
            <p:cNvSpPr txBox="1">
              <a:spLocks noChangeArrowheads="1"/>
            </p:cNvSpPr>
            <p:nvPr/>
          </p:nvSpPr>
          <p:spPr bwMode="auto">
            <a:xfrm>
              <a:off x="3320" y="233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154628" name="Group 150"/>
          <p:cNvGrpSpPr/>
          <p:nvPr/>
        </p:nvGrpSpPr>
        <p:grpSpPr bwMode="auto">
          <a:xfrm>
            <a:off x="7646988" y="4808538"/>
            <a:ext cx="628650" cy="457200"/>
            <a:chOff x="4775" y="2954"/>
            <a:chExt cx="384" cy="316"/>
          </a:xfrm>
        </p:grpSpPr>
        <p:sp>
          <p:nvSpPr>
            <p:cNvPr id="154654" name="Line 151"/>
            <p:cNvSpPr>
              <a:spLocks noChangeShapeType="1"/>
            </p:cNvSpPr>
            <p:nvPr/>
          </p:nvSpPr>
          <p:spPr bwMode="auto">
            <a:xfrm>
              <a:off x="4775" y="3264"/>
              <a:ext cx="384" cy="0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4655" name="Text Box 152"/>
            <p:cNvSpPr txBox="1">
              <a:spLocks noChangeArrowheads="1"/>
            </p:cNvSpPr>
            <p:nvPr/>
          </p:nvSpPr>
          <p:spPr bwMode="auto">
            <a:xfrm>
              <a:off x="4861" y="2954"/>
              <a:ext cx="247" cy="3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D</a:t>
              </a:r>
            </a:p>
          </p:txBody>
        </p:sp>
      </p:grpSp>
      <p:sp>
        <p:nvSpPr>
          <p:cNvPr id="154629" name="Freeform 153"/>
          <p:cNvSpPr/>
          <p:nvPr/>
        </p:nvSpPr>
        <p:spPr bwMode="auto">
          <a:xfrm>
            <a:off x="3714750" y="1820863"/>
            <a:ext cx="14288" cy="3228975"/>
          </a:xfrm>
          <a:custGeom>
            <a:avLst/>
            <a:gdLst>
              <a:gd name="T0" fmla="*/ 0 w 9"/>
              <a:gd name="T1" fmla="*/ 0 h 2034"/>
              <a:gd name="T2" fmla="*/ 2147483647 w 9"/>
              <a:gd name="T3" fmla="*/ 2147483647 h 2034"/>
              <a:gd name="T4" fmla="*/ 2147483647 w 9"/>
              <a:gd name="T5" fmla="*/ 2147483647 h 2034"/>
              <a:gd name="T6" fmla="*/ 0 60000 65536"/>
              <a:gd name="T7" fmla="*/ 0 60000 65536"/>
              <a:gd name="T8" fmla="*/ 0 60000 65536"/>
              <a:gd name="T9" fmla="*/ 0 w 9"/>
              <a:gd name="T10" fmla="*/ 0 h 2034"/>
              <a:gd name="T11" fmla="*/ 9 w 9"/>
              <a:gd name="T12" fmla="*/ 2034 h 203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" h="2034">
                <a:moveTo>
                  <a:pt x="0" y="0"/>
                </a:moveTo>
                <a:lnTo>
                  <a:pt x="9" y="6"/>
                </a:lnTo>
                <a:lnTo>
                  <a:pt x="6" y="2034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54630" name="Freeform 154"/>
          <p:cNvSpPr/>
          <p:nvPr/>
        </p:nvSpPr>
        <p:spPr bwMode="auto">
          <a:xfrm>
            <a:off x="3729038" y="4084638"/>
            <a:ext cx="301625" cy="1587"/>
          </a:xfrm>
          <a:custGeom>
            <a:avLst/>
            <a:gdLst>
              <a:gd name="T0" fmla="*/ 0 w 190"/>
              <a:gd name="T1" fmla="*/ 0 h 1"/>
              <a:gd name="T2" fmla="*/ 2147483647 w 190"/>
              <a:gd name="T3" fmla="*/ 2147483647 h 1"/>
              <a:gd name="T4" fmla="*/ 0 60000 65536"/>
              <a:gd name="T5" fmla="*/ 0 60000 65536"/>
              <a:gd name="T6" fmla="*/ 0 w 190"/>
              <a:gd name="T7" fmla="*/ 0 h 1"/>
              <a:gd name="T8" fmla="*/ 190 w 190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90" h="1">
                <a:moveTo>
                  <a:pt x="0" y="0"/>
                </a:moveTo>
                <a:lnTo>
                  <a:pt x="190" y="1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  <a:headEnd type="oval" w="sm" len="sm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54631" name="Group 155"/>
          <p:cNvGrpSpPr/>
          <p:nvPr/>
        </p:nvGrpSpPr>
        <p:grpSpPr bwMode="auto">
          <a:xfrm>
            <a:off x="341313" y="1819275"/>
            <a:ext cx="361950" cy="3362325"/>
            <a:chOff x="300" y="720"/>
            <a:chExt cx="221" cy="2327"/>
          </a:xfrm>
        </p:grpSpPr>
        <p:sp>
          <p:nvSpPr>
            <p:cNvPr id="154649" name="Text Box 156"/>
            <p:cNvSpPr txBox="1">
              <a:spLocks noChangeArrowheads="1"/>
            </p:cNvSpPr>
            <p:nvPr/>
          </p:nvSpPr>
          <p:spPr bwMode="auto">
            <a:xfrm>
              <a:off x="300" y="720"/>
              <a:ext cx="221" cy="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4650" name="Text Box 157"/>
            <p:cNvSpPr txBox="1">
              <a:spLocks noChangeArrowheads="1"/>
            </p:cNvSpPr>
            <p:nvPr/>
          </p:nvSpPr>
          <p:spPr bwMode="auto">
            <a:xfrm>
              <a:off x="300" y="1212"/>
              <a:ext cx="221" cy="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4651" name="Text Box 158"/>
            <p:cNvSpPr txBox="1">
              <a:spLocks noChangeArrowheads="1"/>
            </p:cNvSpPr>
            <p:nvPr/>
          </p:nvSpPr>
          <p:spPr bwMode="auto">
            <a:xfrm>
              <a:off x="300" y="1705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4652" name="Text Box 159"/>
            <p:cNvSpPr txBox="1">
              <a:spLocks noChangeArrowheads="1"/>
            </p:cNvSpPr>
            <p:nvPr/>
          </p:nvSpPr>
          <p:spPr bwMode="auto">
            <a:xfrm>
              <a:off x="300" y="2196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4653" name="Text Box 160"/>
            <p:cNvSpPr txBox="1">
              <a:spLocks noChangeArrowheads="1"/>
            </p:cNvSpPr>
            <p:nvPr/>
          </p:nvSpPr>
          <p:spPr bwMode="auto">
            <a:xfrm>
              <a:off x="300" y="2688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</p:grpSp>
      <p:grpSp>
        <p:nvGrpSpPr>
          <p:cNvPr id="154632" name="Group 161"/>
          <p:cNvGrpSpPr/>
          <p:nvPr/>
        </p:nvGrpSpPr>
        <p:grpSpPr bwMode="auto">
          <a:xfrm>
            <a:off x="1981200" y="6138863"/>
            <a:ext cx="5154613" cy="519112"/>
            <a:chOff x="1452" y="3984"/>
            <a:chExt cx="3149" cy="359"/>
          </a:xfrm>
        </p:grpSpPr>
        <p:sp>
          <p:nvSpPr>
            <p:cNvPr id="154644" name="Text Box 162"/>
            <p:cNvSpPr txBox="1">
              <a:spLocks noChangeArrowheads="1"/>
            </p:cNvSpPr>
            <p:nvPr/>
          </p:nvSpPr>
          <p:spPr bwMode="auto">
            <a:xfrm>
              <a:off x="1452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54645" name="Text Box 163"/>
            <p:cNvSpPr txBox="1">
              <a:spLocks noChangeArrowheads="1"/>
            </p:cNvSpPr>
            <p:nvPr/>
          </p:nvSpPr>
          <p:spPr bwMode="auto">
            <a:xfrm>
              <a:off x="4380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4646" name="Text Box 164"/>
            <p:cNvSpPr txBox="1">
              <a:spLocks noChangeArrowheads="1"/>
            </p:cNvSpPr>
            <p:nvPr/>
          </p:nvSpPr>
          <p:spPr bwMode="auto">
            <a:xfrm>
              <a:off x="3648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54647" name="Text Box 165"/>
            <p:cNvSpPr txBox="1">
              <a:spLocks noChangeArrowheads="1"/>
            </p:cNvSpPr>
            <p:nvPr/>
          </p:nvSpPr>
          <p:spPr bwMode="auto">
            <a:xfrm>
              <a:off x="2917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54648" name="Text Box 166"/>
            <p:cNvSpPr txBox="1">
              <a:spLocks noChangeArrowheads="1"/>
            </p:cNvSpPr>
            <p:nvPr/>
          </p:nvSpPr>
          <p:spPr bwMode="auto">
            <a:xfrm>
              <a:off x="2186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</p:grpSp>
      <p:grpSp>
        <p:nvGrpSpPr>
          <p:cNvPr id="154633" name="Group 167"/>
          <p:cNvGrpSpPr/>
          <p:nvPr/>
        </p:nvGrpSpPr>
        <p:grpSpPr bwMode="auto">
          <a:xfrm>
            <a:off x="4151313" y="5429250"/>
            <a:ext cx="344487" cy="396875"/>
            <a:chOff x="2611" y="3425"/>
            <a:chExt cx="217" cy="250"/>
          </a:xfrm>
        </p:grpSpPr>
        <p:sp>
          <p:nvSpPr>
            <p:cNvPr id="154642" name="Text Box 168"/>
            <p:cNvSpPr txBox="1">
              <a:spLocks noChangeArrowheads="1"/>
            </p:cNvSpPr>
            <p:nvPr/>
          </p:nvSpPr>
          <p:spPr bwMode="auto">
            <a:xfrm>
              <a:off x="2611" y="3425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4643" name="Freeform 169"/>
            <p:cNvSpPr/>
            <p:nvPr/>
          </p:nvSpPr>
          <p:spPr bwMode="auto">
            <a:xfrm>
              <a:off x="2827" y="3430"/>
              <a:ext cx="1" cy="227"/>
            </a:xfrm>
            <a:custGeom>
              <a:avLst/>
              <a:gdLst>
                <a:gd name="T0" fmla="*/ 0 w 1"/>
                <a:gd name="T1" fmla="*/ 0 h 227"/>
                <a:gd name="T2" fmla="*/ 0 w 1"/>
                <a:gd name="T3" fmla="*/ 227 h 227"/>
                <a:gd name="T4" fmla="*/ 0 60000 65536"/>
                <a:gd name="T5" fmla="*/ 0 60000 65536"/>
                <a:gd name="T6" fmla="*/ 0 w 1"/>
                <a:gd name="T7" fmla="*/ 0 h 227"/>
                <a:gd name="T8" fmla="*/ 1 w 1"/>
                <a:gd name="T9" fmla="*/ 227 h 22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27">
                  <a:moveTo>
                    <a:pt x="0" y="0"/>
                  </a:moveTo>
                  <a:lnTo>
                    <a:pt x="0" y="227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242858" name="Rectangle 170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54635" name="Text Box 171"/>
          <p:cNvSpPr txBox="1">
            <a:spLocks noChangeArrowheads="1"/>
          </p:cNvSpPr>
          <p:nvPr/>
        </p:nvSpPr>
        <p:spPr bwMode="auto">
          <a:xfrm>
            <a:off x="304800" y="228600"/>
            <a:ext cx="7696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zh-CN" altLang="en-US" sz="3200">
                <a:latin typeface="Times New Roman" panose="02020603050405020304" pitchFamily="18" charset="0"/>
              </a:rPr>
              <a:t>三管动态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200">
                <a:latin typeface="Times New Roman" panose="02020603050405020304" pitchFamily="18" charset="0"/>
              </a:rPr>
              <a:t>芯片 (</a:t>
            </a:r>
            <a:r>
              <a:rPr lang="en-US" altLang="zh-CN" sz="3200">
                <a:latin typeface="Times New Roman" panose="02020603050405020304" pitchFamily="18" charset="0"/>
              </a:rPr>
              <a:t>Intel 1103)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</a:p>
        </p:txBody>
      </p:sp>
      <p:sp>
        <p:nvSpPr>
          <p:cNvPr id="154636" name="Rectangle 172"/>
          <p:cNvSpPr>
            <a:spLocks noChangeArrowheads="1"/>
          </p:cNvSpPr>
          <p:nvPr/>
        </p:nvSpPr>
        <p:spPr bwMode="auto">
          <a:xfrm>
            <a:off x="1911350" y="5029200"/>
            <a:ext cx="5735638" cy="415925"/>
          </a:xfrm>
          <a:prstGeom prst="rect">
            <a:avLst/>
          </a:prstGeom>
          <a:solidFill>
            <a:schemeClr val="folHlink"/>
          </a:solidFill>
          <a:ln w="38100">
            <a:solidFill>
              <a:schemeClr val="folHlink"/>
            </a:solidFill>
            <a:miter lim="800000"/>
          </a:ln>
        </p:spPr>
        <p:txBody>
          <a:bodyPr wrap="none" anchor="ctr"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400">
                <a:solidFill>
                  <a:schemeClr val="bg2"/>
                </a:solidFill>
                <a:latin typeface="Times New Roman" panose="02020603050405020304" pitchFamily="18" charset="0"/>
              </a:rPr>
              <a:t>读  写  控  制  电  路</a:t>
            </a:r>
          </a:p>
        </p:txBody>
      </p:sp>
      <p:grpSp>
        <p:nvGrpSpPr>
          <p:cNvPr id="154637" name="Group 173"/>
          <p:cNvGrpSpPr/>
          <p:nvPr/>
        </p:nvGrpSpPr>
        <p:grpSpPr bwMode="auto">
          <a:xfrm>
            <a:off x="4046538" y="1719263"/>
            <a:ext cx="793750" cy="2058987"/>
            <a:chOff x="2549" y="1083"/>
            <a:chExt cx="500" cy="1297"/>
          </a:xfrm>
        </p:grpSpPr>
        <p:sp>
          <p:nvSpPr>
            <p:cNvPr id="154639" name="Rectangle 174"/>
            <p:cNvSpPr>
              <a:spLocks noChangeArrowheads="1"/>
            </p:cNvSpPr>
            <p:nvPr/>
          </p:nvSpPr>
          <p:spPr bwMode="auto">
            <a:xfrm>
              <a:off x="2549" y="1083"/>
              <a:ext cx="347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4640" name="Rectangle 175"/>
            <p:cNvSpPr>
              <a:spLocks noChangeArrowheads="1"/>
            </p:cNvSpPr>
            <p:nvPr/>
          </p:nvSpPr>
          <p:spPr bwMode="auto">
            <a:xfrm>
              <a:off x="2549" y="1636"/>
              <a:ext cx="347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4641" name="Text Box 176"/>
            <p:cNvSpPr txBox="1">
              <a:spLocks noChangeArrowheads="1"/>
            </p:cNvSpPr>
            <p:nvPr/>
          </p:nvSpPr>
          <p:spPr bwMode="auto">
            <a:xfrm>
              <a:off x="2587" y="1972"/>
              <a:ext cx="462" cy="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154638" name="AutoShape 177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650" name="Group 2"/>
          <p:cNvGrpSpPr/>
          <p:nvPr/>
        </p:nvGrpSpPr>
        <p:grpSpPr bwMode="auto">
          <a:xfrm>
            <a:off x="0" y="1295400"/>
            <a:ext cx="9151938" cy="5438775"/>
            <a:chOff x="0" y="816"/>
            <a:chExt cx="5765" cy="3426"/>
          </a:xfrm>
        </p:grpSpPr>
        <p:grpSp>
          <p:nvGrpSpPr>
            <p:cNvPr id="155690" name="Group 3"/>
            <p:cNvGrpSpPr/>
            <p:nvPr/>
          </p:nvGrpSpPr>
          <p:grpSpPr bwMode="auto">
            <a:xfrm>
              <a:off x="0" y="1094"/>
              <a:ext cx="462" cy="250"/>
              <a:chOff x="0" y="933"/>
              <a:chExt cx="462" cy="250"/>
            </a:xfrm>
          </p:grpSpPr>
          <p:sp>
            <p:nvSpPr>
              <p:cNvPr id="155826" name="Line 4"/>
              <p:cNvSpPr>
                <a:spLocks noChangeShapeType="1"/>
              </p:cNvSpPr>
              <p:nvPr/>
            </p:nvSpPr>
            <p:spPr bwMode="auto">
              <a:xfrm>
                <a:off x="214" y="991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5827" name="Text Box 5"/>
              <p:cNvSpPr txBox="1">
                <a:spLocks noChangeArrowheads="1"/>
              </p:cNvSpPr>
              <p:nvPr/>
            </p:nvSpPr>
            <p:spPr bwMode="auto">
              <a:xfrm>
                <a:off x="0" y="933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9</a:t>
                </a:r>
              </a:p>
            </p:txBody>
          </p:sp>
        </p:grpSp>
        <p:grpSp>
          <p:nvGrpSpPr>
            <p:cNvPr id="155691" name="Group 6"/>
            <p:cNvGrpSpPr/>
            <p:nvPr/>
          </p:nvGrpSpPr>
          <p:grpSpPr bwMode="auto">
            <a:xfrm>
              <a:off x="16" y="1540"/>
              <a:ext cx="446" cy="250"/>
              <a:chOff x="16" y="1371"/>
              <a:chExt cx="446" cy="250"/>
            </a:xfrm>
          </p:grpSpPr>
          <p:sp>
            <p:nvSpPr>
              <p:cNvPr id="155824" name="Line 7"/>
              <p:cNvSpPr>
                <a:spLocks noChangeShapeType="1"/>
              </p:cNvSpPr>
              <p:nvPr/>
            </p:nvSpPr>
            <p:spPr bwMode="auto">
              <a:xfrm>
                <a:off x="214" y="1439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5825" name="Text Box 8"/>
              <p:cNvSpPr txBox="1">
                <a:spLocks noChangeArrowheads="1"/>
              </p:cNvSpPr>
              <p:nvPr/>
            </p:nvSpPr>
            <p:spPr bwMode="auto">
              <a:xfrm>
                <a:off x="16" y="1371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55692" name="Group 9"/>
            <p:cNvGrpSpPr/>
            <p:nvPr/>
          </p:nvGrpSpPr>
          <p:grpSpPr bwMode="auto">
            <a:xfrm>
              <a:off x="16" y="1987"/>
              <a:ext cx="446" cy="250"/>
              <a:chOff x="16" y="1809"/>
              <a:chExt cx="446" cy="250"/>
            </a:xfrm>
          </p:grpSpPr>
          <p:sp>
            <p:nvSpPr>
              <p:cNvPr id="155822" name="Line 10"/>
              <p:cNvSpPr>
                <a:spLocks noChangeShapeType="1"/>
              </p:cNvSpPr>
              <p:nvPr/>
            </p:nvSpPr>
            <p:spPr bwMode="auto">
              <a:xfrm>
                <a:off x="214" y="1886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5823" name="Text Box 11"/>
              <p:cNvSpPr txBox="1">
                <a:spLocks noChangeArrowheads="1"/>
              </p:cNvSpPr>
              <p:nvPr/>
            </p:nvSpPr>
            <p:spPr bwMode="auto">
              <a:xfrm>
                <a:off x="16" y="1809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</a:p>
            </p:txBody>
          </p:sp>
        </p:grpSp>
        <p:grpSp>
          <p:nvGrpSpPr>
            <p:cNvPr id="155693" name="Group 12"/>
            <p:cNvGrpSpPr/>
            <p:nvPr/>
          </p:nvGrpSpPr>
          <p:grpSpPr bwMode="auto">
            <a:xfrm>
              <a:off x="16" y="2433"/>
              <a:ext cx="446" cy="250"/>
              <a:chOff x="16" y="2276"/>
              <a:chExt cx="446" cy="250"/>
            </a:xfrm>
          </p:grpSpPr>
          <p:sp>
            <p:nvSpPr>
              <p:cNvPr id="155820" name="Line 13"/>
              <p:cNvSpPr>
                <a:spLocks noChangeShapeType="1"/>
              </p:cNvSpPr>
              <p:nvPr/>
            </p:nvSpPr>
            <p:spPr bwMode="auto">
              <a:xfrm>
                <a:off x="214" y="2334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5821" name="Text Box 14"/>
              <p:cNvSpPr txBox="1">
                <a:spLocks noChangeArrowheads="1"/>
              </p:cNvSpPr>
              <p:nvPr/>
            </p:nvSpPr>
            <p:spPr bwMode="auto">
              <a:xfrm>
                <a:off x="16" y="2276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55694" name="Group 15"/>
            <p:cNvGrpSpPr/>
            <p:nvPr/>
          </p:nvGrpSpPr>
          <p:grpSpPr bwMode="auto">
            <a:xfrm>
              <a:off x="16" y="2880"/>
              <a:ext cx="446" cy="250"/>
              <a:chOff x="16" y="2725"/>
              <a:chExt cx="446" cy="250"/>
            </a:xfrm>
          </p:grpSpPr>
          <p:sp>
            <p:nvSpPr>
              <p:cNvPr id="155818" name="Line 16"/>
              <p:cNvSpPr>
                <a:spLocks noChangeShapeType="1"/>
              </p:cNvSpPr>
              <p:nvPr/>
            </p:nvSpPr>
            <p:spPr bwMode="auto">
              <a:xfrm>
                <a:off x="214" y="2782"/>
                <a:ext cx="2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5819" name="Text Box 17"/>
              <p:cNvSpPr txBox="1">
                <a:spLocks noChangeArrowheads="1"/>
              </p:cNvSpPr>
              <p:nvPr/>
            </p:nvSpPr>
            <p:spPr bwMode="auto">
              <a:xfrm>
                <a:off x="16" y="2725"/>
                <a:ext cx="2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5</a:t>
                </a:r>
              </a:p>
            </p:txBody>
          </p:sp>
        </p:grpSp>
        <p:grpSp>
          <p:nvGrpSpPr>
            <p:cNvPr id="155695" name="Group 18"/>
            <p:cNvGrpSpPr/>
            <p:nvPr/>
          </p:nvGrpSpPr>
          <p:grpSpPr bwMode="auto">
            <a:xfrm>
              <a:off x="462" y="816"/>
              <a:ext cx="5303" cy="3426"/>
              <a:chOff x="462" y="816"/>
              <a:chExt cx="5303" cy="3426"/>
            </a:xfrm>
          </p:grpSpPr>
          <p:sp>
            <p:nvSpPr>
              <p:cNvPr id="155696" name="Rectangle 19"/>
              <p:cNvSpPr>
                <a:spLocks noChangeArrowheads="1"/>
              </p:cNvSpPr>
              <p:nvPr/>
            </p:nvSpPr>
            <p:spPr bwMode="auto">
              <a:xfrm>
                <a:off x="462" y="816"/>
                <a:ext cx="693" cy="248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5697" name="Freeform 20"/>
              <p:cNvSpPr/>
              <p:nvPr/>
            </p:nvSpPr>
            <p:spPr bwMode="auto">
              <a:xfrm>
                <a:off x="1155" y="991"/>
                <a:ext cx="3638" cy="1"/>
              </a:xfrm>
              <a:custGeom>
                <a:avLst/>
                <a:gdLst>
                  <a:gd name="T0" fmla="*/ 0 w 3528"/>
                  <a:gd name="T1" fmla="*/ 0 h 1"/>
                  <a:gd name="T2" fmla="*/ 5422 w 3528"/>
                  <a:gd name="T3" fmla="*/ 0 h 1"/>
                  <a:gd name="T4" fmla="*/ 0 60000 65536"/>
                  <a:gd name="T5" fmla="*/ 0 60000 65536"/>
                  <a:gd name="T6" fmla="*/ 0 w 3528"/>
                  <a:gd name="T7" fmla="*/ 0 h 1"/>
                  <a:gd name="T8" fmla="*/ 3528 w 352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28" h="1">
                    <a:moveTo>
                      <a:pt x="0" y="0"/>
                    </a:moveTo>
                    <a:lnTo>
                      <a:pt x="3528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698" name="Rectangle 21"/>
              <p:cNvSpPr>
                <a:spLocks noChangeArrowheads="1"/>
              </p:cNvSpPr>
              <p:nvPr/>
            </p:nvSpPr>
            <p:spPr bwMode="auto">
              <a:xfrm>
                <a:off x="1615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5699" name="Freeform 22"/>
              <p:cNvSpPr/>
              <p:nvPr/>
            </p:nvSpPr>
            <p:spPr bwMode="auto">
              <a:xfrm>
                <a:off x="4351" y="991"/>
                <a:ext cx="1" cy="79"/>
              </a:xfrm>
              <a:custGeom>
                <a:avLst/>
                <a:gdLst>
                  <a:gd name="T0" fmla="*/ 0 w 1"/>
                  <a:gd name="T1" fmla="*/ 0 h 87"/>
                  <a:gd name="T2" fmla="*/ 0 w 1"/>
                  <a:gd name="T3" fmla="*/ 23 h 87"/>
                  <a:gd name="T4" fmla="*/ 0 60000 65536"/>
                  <a:gd name="T5" fmla="*/ 0 60000 65536"/>
                  <a:gd name="T6" fmla="*/ 0 w 1"/>
                  <a:gd name="T7" fmla="*/ 0 h 87"/>
                  <a:gd name="T8" fmla="*/ 1 w 1"/>
                  <a:gd name="T9" fmla="*/ 87 h 8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87">
                    <a:moveTo>
                      <a:pt x="0" y="0"/>
                    </a:moveTo>
                    <a:lnTo>
                      <a:pt x="0" y="8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00" name="Freeform 23"/>
              <p:cNvSpPr/>
              <p:nvPr/>
            </p:nvSpPr>
            <p:spPr bwMode="auto">
              <a:xfrm>
                <a:off x="1155" y="1295"/>
                <a:ext cx="3659" cy="3"/>
              </a:xfrm>
              <a:custGeom>
                <a:avLst/>
                <a:gdLst>
                  <a:gd name="T0" fmla="*/ 0 w 3659"/>
                  <a:gd name="T1" fmla="*/ 0 h 3"/>
                  <a:gd name="T2" fmla="*/ 3659 w 3659"/>
                  <a:gd name="T3" fmla="*/ 3 h 3"/>
                  <a:gd name="T4" fmla="*/ 0 60000 65536"/>
                  <a:gd name="T5" fmla="*/ 0 60000 65536"/>
                  <a:gd name="T6" fmla="*/ 0 w 3659"/>
                  <a:gd name="T7" fmla="*/ 0 h 3"/>
                  <a:gd name="T8" fmla="*/ 3659 w 3659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659" h="3">
                    <a:moveTo>
                      <a:pt x="0" y="0"/>
                    </a:moveTo>
                    <a:lnTo>
                      <a:pt x="3659" y="3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01" name="Freeform 24"/>
              <p:cNvSpPr/>
              <p:nvPr/>
            </p:nvSpPr>
            <p:spPr bwMode="auto">
              <a:xfrm>
                <a:off x="2727" y="987"/>
                <a:ext cx="1" cy="86"/>
              </a:xfrm>
              <a:custGeom>
                <a:avLst/>
                <a:gdLst>
                  <a:gd name="T0" fmla="*/ 0 w 1"/>
                  <a:gd name="T1" fmla="*/ 0 h 86"/>
                  <a:gd name="T2" fmla="*/ 1 w 1"/>
                  <a:gd name="T3" fmla="*/ 86 h 86"/>
                  <a:gd name="T4" fmla="*/ 0 60000 65536"/>
                  <a:gd name="T5" fmla="*/ 0 60000 65536"/>
                  <a:gd name="T6" fmla="*/ 0 w 1"/>
                  <a:gd name="T7" fmla="*/ 0 h 86"/>
                  <a:gd name="T8" fmla="*/ 1 w 1"/>
                  <a:gd name="T9" fmla="*/ 86 h 8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86">
                    <a:moveTo>
                      <a:pt x="0" y="0"/>
                    </a:moveTo>
                    <a:lnTo>
                      <a:pt x="1" y="8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02" name="Freeform 25"/>
              <p:cNvSpPr/>
              <p:nvPr/>
            </p:nvSpPr>
            <p:spPr bwMode="auto">
              <a:xfrm>
                <a:off x="1791" y="985"/>
                <a:ext cx="1" cy="92"/>
              </a:xfrm>
              <a:custGeom>
                <a:avLst/>
                <a:gdLst>
                  <a:gd name="T0" fmla="*/ 0 w 1"/>
                  <a:gd name="T1" fmla="*/ 0 h 92"/>
                  <a:gd name="T2" fmla="*/ 0 w 1"/>
                  <a:gd name="T3" fmla="*/ 92 h 92"/>
                  <a:gd name="T4" fmla="*/ 0 60000 65536"/>
                  <a:gd name="T5" fmla="*/ 0 60000 65536"/>
                  <a:gd name="T6" fmla="*/ 0 w 1"/>
                  <a:gd name="T7" fmla="*/ 0 h 92"/>
                  <a:gd name="T8" fmla="*/ 1 w 1"/>
                  <a:gd name="T9" fmla="*/ 92 h 9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92">
                    <a:moveTo>
                      <a:pt x="0" y="0"/>
                    </a:moveTo>
                    <a:lnTo>
                      <a:pt x="0" y="92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03" name="Freeform 26"/>
              <p:cNvSpPr/>
              <p:nvPr/>
            </p:nvSpPr>
            <p:spPr bwMode="auto">
              <a:xfrm>
                <a:off x="1788" y="1212"/>
                <a:ext cx="1" cy="85"/>
              </a:xfrm>
              <a:custGeom>
                <a:avLst/>
                <a:gdLst>
                  <a:gd name="T0" fmla="*/ 0 w 1"/>
                  <a:gd name="T1" fmla="*/ 26 h 93"/>
                  <a:gd name="T2" fmla="*/ 0 w 1"/>
                  <a:gd name="T3" fmla="*/ 0 h 93"/>
                  <a:gd name="T4" fmla="*/ 0 60000 65536"/>
                  <a:gd name="T5" fmla="*/ 0 60000 65536"/>
                  <a:gd name="T6" fmla="*/ 0 w 1"/>
                  <a:gd name="T7" fmla="*/ 0 h 93"/>
                  <a:gd name="T8" fmla="*/ 1 w 1"/>
                  <a:gd name="T9" fmla="*/ 93 h 9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93">
                    <a:moveTo>
                      <a:pt x="0" y="93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04" name="Freeform 27"/>
              <p:cNvSpPr/>
              <p:nvPr/>
            </p:nvSpPr>
            <p:spPr bwMode="auto">
              <a:xfrm>
                <a:off x="2736" y="1200"/>
                <a:ext cx="3" cy="95"/>
              </a:xfrm>
              <a:custGeom>
                <a:avLst/>
                <a:gdLst>
                  <a:gd name="T0" fmla="*/ 0 w 3"/>
                  <a:gd name="T1" fmla="*/ 26 h 105"/>
                  <a:gd name="T2" fmla="*/ 3 w 3"/>
                  <a:gd name="T3" fmla="*/ 0 h 105"/>
                  <a:gd name="T4" fmla="*/ 0 60000 65536"/>
                  <a:gd name="T5" fmla="*/ 0 60000 65536"/>
                  <a:gd name="T6" fmla="*/ 0 w 3"/>
                  <a:gd name="T7" fmla="*/ 0 h 105"/>
                  <a:gd name="T8" fmla="*/ 3 w 3"/>
                  <a:gd name="T9" fmla="*/ 105 h 10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5">
                    <a:moveTo>
                      <a:pt x="0" y="105"/>
                    </a:moveTo>
                    <a:lnTo>
                      <a:pt x="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05" name="Line 28"/>
              <p:cNvSpPr>
                <a:spLocks noChangeShapeType="1"/>
              </p:cNvSpPr>
              <p:nvPr/>
            </p:nvSpPr>
            <p:spPr bwMode="auto">
              <a:xfrm rot="10800000">
                <a:off x="4351" y="121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06" name="Freeform 29"/>
              <p:cNvSpPr/>
              <p:nvPr/>
            </p:nvSpPr>
            <p:spPr bwMode="auto">
              <a:xfrm>
                <a:off x="1155" y="1559"/>
                <a:ext cx="3653" cy="1"/>
              </a:xfrm>
              <a:custGeom>
                <a:avLst/>
                <a:gdLst>
                  <a:gd name="T0" fmla="*/ 0 w 3543"/>
                  <a:gd name="T1" fmla="*/ 0 h 1"/>
                  <a:gd name="T2" fmla="*/ 5435 w 3543"/>
                  <a:gd name="T3" fmla="*/ 0 h 1"/>
                  <a:gd name="T4" fmla="*/ 0 60000 65536"/>
                  <a:gd name="T5" fmla="*/ 0 60000 65536"/>
                  <a:gd name="T6" fmla="*/ 0 w 3543"/>
                  <a:gd name="T7" fmla="*/ 0 h 1"/>
                  <a:gd name="T8" fmla="*/ 3543 w 3543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43" h="1">
                    <a:moveTo>
                      <a:pt x="0" y="0"/>
                    </a:moveTo>
                    <a:lnTo>
                      <a:pt x="354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07" name="Line 30"/>
              <p:cNvSpPr>
                <a:spLocks noChangeShapeType="1"/>
              </p:cNvSpPr>
              <p:nvPr/>
            </p:nvSpPr>
            <p:spPr bwMode="auto">
              <a:xfrm>
                <a:off x="4351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08" name="Freeform 31"/>
              <p:cNvSpPr/>
              <p:nvPr/>
            </p:nvSpPr>
            <p:spPr bwMode="auto">
              <a:xfrm>
                <a:off x="1155" y="1863"/>
                <a:ext cx="3656" cy="1"/>
              </a:xfrm>
              <a:custGeom>
                <a:avLst/>
                <a:gdLst>
                  <a:gd name="T0" fmla="*/ 0 w 3546"/>
                  <a:gd name="T1" fmla="*/ 0 h 2"/>
                  <a:gd name="T2" fmla="*/ 5438 w 3546"/>
                  <a:gd name="T3" fmla="*/ 1 h 2"/>
                  <a:gd name="T4" fmla="*/ 0 60000 65536"/>
                  <a:gd name="T5" fmla="*/ 0 60000 65536"/>
                  <a:gd name="T6" fmla="*/ 0 w 3546"/>
                  <a:gd name="T7" fmla="*/ 0 h 2"/>
                  <a:gd name="T8" fmla="*/ 3546 w 354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46" h="2">
                    <a:moveTo>
                      <a:pt x="0" y="0"/>
                    </a:moveTo>
                    <a:lnTo>
                      <a:pt x="3546" y="2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09" name="Line 32"/>
              <p:cNvSpPr>
                <a:spLocks noChangeShapeType="1"/>
              </p:cNvSpPr>
              <p:nvPr/>
            </p:nvSpPr>
            <p:spPr bwMode="auto">
              <a:xfrm>
                <a:off x="2725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10" name="Line 33"/>
              <p:cNvSpPr>
                <a:spLocks noChangeShapeType="1"/>
              </p:cNvSpPr>
              <p:nvPr/>
            </p:nvSpPr>
            <p:spPr bwMode="auto">
              <a:xfrm>
                <a:off x="1788" y="1559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11" name="Line 34"/>
              <p:cNvSpPr>
                <a:spLocks noChangeShapeType="1"/>
              </p:cNvSpPr>
              <p:nvPr/>
            </p:nvSpPr>
            <p:spPr bwMode="auto">
              <a:xfrm rot="10800000">
                <a:off x="1788" y="1778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12" name="Line 35"/>
              <p:cNvSpPr>
                <a:spLocks noChangeShapeType="1"/>
              </p:cNvSpPr>
              <p:nvPr/>
            </p:nvSpPr>
            <p:spPr bwMode="auto">
              <a:xfrm rot="10800000">
                <a:off x="2725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13" name="Line 36"/>
              <p:cNvSpPr>
                <a:spLocks noChangeShapeType="1"/>
              </p:cNvSpPr>
              <p:nvPr/>
            </p:nvSpPr>
            <p:spPr bwMode="auto">
              <a:xfrm rot="10800000">
                <a:off x="4351" y="1780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14" name="Freeform 37"/>
              <p:cNvSpPr/>
              <p:nvPr/>
            </p:nvSpPr>
            <p:spPr bwMode="auto">
              <a:xfrm>
                <a:off x="1155" y="2432"/>
                <a:ext cx="3675" cy="1"/>
              </a:xfrm>
              <a:custGeom>
                <a:avLst/>
                <a:gdLst>
                  <a:gd name="T0" fmla="*/ 0 w 3564"/>
                  <a:gd name="T1" fmla="*/ 0 h 1"/>
                  <a:gd name="T2" fmla="*/ 5474 w 3564"/>
                  <a:gd name="T3" fmla="*/ 0 h 1"/>
                  <a:gd name="T4" fmla="*/ 0 60000 65536"/>
                  <a:gd name="T5" fmla="*/ 0 60000 65536"/>
                  <a:gd name="T6" fmla="*/ 0 w 3564"/>
                  <a:gd name="T7" fmla="*/ 0 h 1"/>
                  <a:gd name="T8" fmla="*/ 3564 w 356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564" h="1">
                    <a:moveTo>
                      <a:pt x="0" y="0"/>
                    </a:moveTo>
                    <a:lnTo>
                      <a:pt x="3564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15" name="Line 38"/>
              <p:cNvSpPr>
                <a:spLocks noChangeShapeType="1"/>
              </p:cNvSpPr>
              <p:nvPr/>
            </p:nvSpPr>
            <p:spPr bwMode="auto">
              <a:xfrm>
                <a:off x="4351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16" name="Freeform 39"/>
              <p:cNvSpPr/>
              <p:nvPr/>
            </p:nvSpPr>
            <p:spPr bwMode="auto">
              <a:xfrm>
                <a:off x="1155" y="2736"/>
                <a:ext cx="3647" cy="1"/>
              </a:xfrm>
              <a:custGeom>
                <a:avLst/>
                <a:gdLst>
                  <a:gd name="T0" fmla="*/ 0 w 3647"/>
                  <a:gd name="T1" fmla="*/ 0 h 1"/>
                  <a:gd name="T2" fmla="*/ 3647 w 3647"/>
                  <a:gd name="T3" fmla="*/ 1 h 1"/>
                  <a:gd name="T4" fmla="*/ 0 60000 65536"/>
                  <a:gd name="T5" fmla="*/ 0 60000 65536"/>
                  <a:gd name="T6" fmla="*/ 0 w 3647"/>
                  <a:gd name="T7" fmla="*/ 0 h 1"/>
                  <a:gd name="T8" fmla="*/ 3647 w 364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647" h="1">
                    <a:moveTo>
                      <a:pt x="0" y="0"/>
                    </a:moveTo>
                    <a:lnTo>
                      <a:pt x="3647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17" name="Line 40"/>
              <p:cNvSpPr>
                <a:spLocks noChangeShapeType="1"/>
              </p:cNvSpPr>
              <p:nvPr/>
            </p:nvSpPr>
            <p:spPr bwMode="auto">
              <a:xfrm>
                <a:off x="2725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18" name="Line 41"/>
              <p:cNvSpPr>
                <a:spLocks noChangeShapeType="1"/>
              </p:cNvSpPr>
              <p:nvPr/>
            </p:nvSpPr>
            <p:spPr bwMode="auto">
              <a:xfrm>
                <a:off x="1788" y="2432"/>
                <a:ext cx="0" cy="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19" name="Line 42"/>
              <p:cNvSpPr>
                <a:spLocks noChangeShapeType="1"/>
              </p:cNvSpPr>
              <p:nvPr/>
            </p:nvSpPr>
            <p:spPr bwMode="auto">
              <a:xfrm rot="10800000">
                <a:off x="1788" y="2652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20" name="Line 43"/>
              <p:cNvSpPr>
                <a:spLocks noChangeShapeType="1"/>
              </p:cNvSpPr>
              <p:nvPr/>
            </p:nvSpPr>
            <p:spPr bwMode="auto">
              <a:xfrm rot="10800000">
                <a:off x="2725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21" name="Line 44"/>
              <p:cNvSpPr>
                <a:spLocks noChangeShapeType="1"/>
              </p:cNvSpPr>
              <p:nvPr/>
            </p:nvSpPr>
            <p:spPr bwMode="auto">
              <a:xfrm rot="10800000">
                <a:off x="4351" y="2654"/>
                <a:ext cx="0" cy="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22" name="AutoShape 45"/>
              <p:cNvSpPr>
                <a:spLocks noChangeArrowheads="1"/>
              </p:cNvSpPr>
              <p:nvPr/>
            </p:nvSpPr>
            <p:spPr bwMode="auto">
              <a:xfrm rot="-5400000">
                <a:off x="1700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5723" name="Freeform 46"/>
              <p:cNvSpPr/>
              <p:nvPr/>
            </p:nvSpPr>
            <p:spPr bwMode="auto">
              <a:xfrm>
                <a:off x="1416" y="1148"/>
                <a:ext cx="198" cy="2026"/>
              </a:xfrm>
              <a:custGeom>
                <a:avLst/>
                <a:gdLst>
                  <a:gd name="T0" fmla="*/ 198 w 198"/>
                  <a:gd name="T1" fmla="*/ 0 h 2026"/>
                  <a:gd name="T2" fmla="*/ 0 w 198"/>
                  <a:gd name="T3" fmla="*/ 0 h 2026"/>
                  <a:gd name="T4" fmla="*/ 6 w 198"/>
                  <a:gd name="T5" fmla="*/ 2026 h 2026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26"/>
                  <a:gd name="T11" fmla="*/ 198 w 198"/>
                  <a:gd name="T12" fmla="*/ 2026 h 20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26">
                    <a:moveTo>
                      <a:pt x="198" y="0"/>
                    </a:moveTo>
                    <a:lnTo>
                      <a:pt x="0" y="0"/>
                    </a:lnTo>
                    <a:lnTo>
                      <a:pt x="6" y="202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24" name="Freeform 47"/>
              <p:cNvSpPr/>
              <p:nvPr/>
            </p:nvSpPr>
            <p:spPr bwMode="auto">
              <a:xfrm>
                <a:off x="141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25" name="Freeform 48"/>
              <p:cNvSpPr/>
              <p:nvPr/>
            </p:nvSpPr>
            <p:spPr bwMode="auto">
              <a:xfrm>
                <a:off x="1422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26" name="Line 49"/>
              <p:cNvSpPr>
                <a:spLocks noChangeShapeType="1"/>
              </p:cNvSpPr>
              <p:nvPr/>
            </p:nvSpPr>
            <p:spPr bwMode="auto">
              <a:xfrm>
                <a:off x="1419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27" name="Freeform 50"/>
              <p:cNvSpPr/>
              <p:nvPr/>
            </p:nvSpPr>
            <p:spPr bwMode="auto">
              <a:xfrm>
                <a:off x="3979" y="1148"/>
                <a:ext cx="198" cy="2023"/>
              </a:xfrm>
              <a:custGeom>
                <a:avLst/>
                <a:gdLst>
                  <a:gd name="T0" fmla="*/ 198 w 198"/>
                  <a:gd name="T1" fmla="*/ 0 h 2023"/>
                  <a:gd name="T2" fmla="*/ 0 w 198"/>
                  <a:gd name="T3" fmla="*/ 0 h 2023"/>
                  <a:gd name="T4" fmla="*/ 2 w 198"/>
                  <a:gd name="T5" fmla="*/ 2023 h 2023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23"/>
                  <a:gd name="T11" fmla="*/ 198 w 198"/>
                  <a:gd name="T12" fmla="*/ 2023 h 202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23">
                    <a:moveTo>
                      <a:pt x="198" y="0"/>
                    </a:moveTo>
                    <a:lnTo>
                      <a:pt x="0" y="0"/>
                    </a:lnTo>
                    <a:lnTo>
                      <a:pt x="2" y="202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28" name="Freeform 51"/>
              <p:cNvSpPr/>
              <p:nvPr/>
            </p:nvSpPr>
            <p:spPr bwMode="auto">
              <a:xfrm>
                <a:off x="3982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29" name="Freeform 52"/>
              <p:cNvSpPr/>
              <p:nvPr/>
            </p:nvSpPr>
            <p:spPr bwMode="auto">
              <a:xfrm>
                <a:off x="3985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30" name="Line 53"/>
              <p:cNvSpPr>
                <a:spLocks noChangeShapeType="1"/>
              </p:cNvSpPr>
              <p:nvPr/>
            </p:nvSpPr>
            <p:spPr bwMode="auto">
              <a:xfrm>
                <a:off x="3982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31" name="Freeform 54"/>
              <p:cNvSpPr/>
              <p:nvPr/>
            </p:nvSpPr>
            <p:spPr bwMode="auto">
              <a:xfrm>
                <a:off x="2347" y="1148"/>
                <a:ext cx="198" cy="2024"/>
              </a:xfrm>
              <a:custGeom>
                <a:avLst/>
                <a:gdLst>
                  <a:gd name="T0" fmla="*/ 295 w 192"/>
                  <a:gd name="T1" fmla="*/ 0 h 2224"/>
                  <a:gd name="T2" fmla="*/ 0 w 192"/>
                  <a:gd name="T3" fmla="*/ 0 h 2224"/>
                  <a:gd name="T4" fmla="*/ 2 w 192"/>
                  <a:gd name="T5" fmla="*/ 594 h 2224"/>
                  <a:gd name="T6" fmla="*/ 0 60000 65536"/>
                  <a:gd name="T7" fmla="*/ 0 60000 65536"/>
                  <a:gd name="T8" fmla="*/ 0 60000 65536"/>
                  <a:gd name="T9" fmla="*/ 0 w 192"/>
                  <a:gd name="T10" fmla="*/ 0 h 2224"/>
                  <a:gd name="T11" fmla="*/ 192 w 192"/>
                  <a:gd name="T12" fmla="*/ 2224 h 22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2" h="2224">
                    <a:moveTo>
                      <a:pt x="192" y="0"/>
                    </a:moveTo>
                    <a:lnTo>
                      <a:pt x="0" y="0"/>
                    </a:lnTo>
                    <a:lnTo>
                      <a:pt x="2" y="222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32" name="Freeform 55"/>
              <p:cNvSpPr/>
              <p:nvPr/>
            </p:nvSpPr>
            <p:spPr bwMode="auto">
              <a:xfrm>
                <a:off x="235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33" name="Freeform 56"/>
              <p:cNvSpPr/>
              <p:nvPr/>
            </p:nvSpPr>
            <p:spPr bwMode="auto">
              <a:xfrm>
                <a:off x="2353" y="2585"/>
                <a:ext cx="198" cy="1"/>
              </a:xfrm>
              <a:custGeom>
                <a:avLst/>
                <a:gdLst>
                  <a:gd name="T0" fmla="*/ 0 w 192"/>
                  <a:gd name="T1" fmla="*/ 0 h 1"/>
                  <a:gd name="T2" fmla="*/ 295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34" name="Line 57"/>
              <p:cNvSpPr>
                <a:spLocks noChangeShapeType="1"/>
              </p:cNvSpPr>
              <p:nvPr/>
            </p:nvSpPr>
            <p:spPr bwMode="auto">
              <a:xfrm>
                <a:off x="2350" y="29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35" name="Freeform 58"/>
              <p:cNvSpPr/>
              <p:nvPr/>
            </p:nvSpPr>
            <p:spPr bwMode="auto">
              <a:xfrm>
                <a:off x="1964" y="1135"/>
                <a:ext cx="198" cy="2030"/>
              </a:xfrm>
              <a:custGeom>
                <a:avLst/>
                <a:gdLst>
                  <a:gd name="T0" fmla="*/ 0 w 198"/>
                  <a:gd name="T1" fmla="*/ 0 h 2030"/>
                  <a:gd name="T2" fmla="*/ 198 w 198"/>
                  <a:gd name="T3" fmla="*/ 0 h 2030"/>
                  <a:gd name="T4" fmla="*/ 193 w 198"/>
                  <a:gd name="T5" fmla="*/ 2030 h 2030"/>
                  <a:gd name="T6" fmla="*/ 0 60000 65536"/>
                  <a:gd name="T7" fmla="*/ 0 60000 65536"/>
                  <a:gd name="T8" fmla="*/ 0 60000 65536"/>
                  <a:gd name="T9" fmla="*/ 0 w 198"/>
                  <a:gd name="T10" fmla="*/ 0 h 2030"/>
                  <a:gd name="T11" fmla="*/ 198 w 198"/>
                  <a:gd name="T12" fmla="*/ 2030 h 203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8" h="2030">
                    <a:moveTo>
                      <a:pt x="0" y="0"/>
                    </a:moveTo>
                    <a:lnTo>
                      <a:pt x="198" y="0"/>
                    </a:lnTo>
                    <a:lnTo>
                      <a:pt x="193" y="203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36" name="Freeform 59"/>
              <p:cNvSpPr/>
              <p:nvPr/>
            </p:nvSpPr>
            <p:spPr bwMode="auto">
              <a:xfrm rot="10800000">
                <a:off x="1959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37" name="Freeform 60"/>
              <p:cNvSpPr/>
              <p:nvPr/>
            </p:nvSpPr>
            <p:spPr bwMode="auto">
              <a:xfrm rot="10800000">
                <a:off x="1959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38" name="Freeform 61"/>
              <p:cNvSpPr/>
              <p:nvPr/>
            </p:nvSpPr>
            <p:spPr bwMode="auto">
              <a:xfrm>
                <a:off x="1958" y="2957"/>
                <a:ext cx="200" cy="1"/>
              </a:xfrm>
              <a:custGeom>
                <a:avLst/>
                <a:gdLst>
                  <a:gd name="T0" fmla="*/ 297 w 194"/>
                  <a:gd name="T1" fmla="*/ 0 h 1"/>
                  <a:gd name="T2" fmla="*/ 0 w 194"/>
                  <a:gd name="T3" fmla="*/ 0 h 1"/>
                  <a:gd name="T4" fmla="*/ 0 60000 65536"/>
                  <a:gd name="T5" fmla="*/ 0 60000 65536"/>
                  <a:gd name="T6" fmla="*/ 0 w 194"/>
                  <a:gd name="T7" fmla="*/ 0 h 1"/>
                  <a:gd name="T8" fmla="*/ 194 w 19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4" h="1">
                    <a:moveTo>
                      <a:pt x="194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39" name="Freeform 62"/>
              <p:cNvSpPr/>
              <p:nvPr/>
            </p:nvSpPr>
            <p:spPr bwMode="auto">
              <a:xfrm>
                <a:off x="2893" y="1135"/>
                <a:ext cx="199" cy="2047"/>
              </a:xfrm>
              <a:custGeom>
                <a:avLst/>
                <a:gdLst>
                  <a:gd name="T0" fmla="*/ 0 w 193"/>
                  <a:gd name="T1" fmla="*/ 0 h 2250"/>
                  <a:gd name="T2" fmla="*/ 295 w 193"/>
                  <a:gd name="T3" fmla="*/ 0 h 2250"/>
                  <a:gd name="T4" fmla="*/ 296 w 193"/>
                  <a:gd name="T5" fmla="*/ 599 h 2250"/>
                  <a:gd name="T6" fmla="*/ 0 60000 65536"/>
                  <a:gd name="T7" fmla="*/ 0 60000 65536"/>
                  <a:gd name="T8" fmla="*/ 0 60000 65536"/>
                  <a:gd name="T9" fmla="*/ 0 w 193"/>
                  <a:gd name="T10" fmla="*/ 0 h 2250"/>
                  <a:gd name="T11" fmla="*/ 193 w 193"/>
                  <a:gd name="T12" fmla="*/ 2250 h 225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3" h="2250">
                    <a:moveTo>
                      <a:pt x="0" y="0"/>
                    </a:moveTo>
                    <a:lnTo>
                      <a:pt x="192" y="0"/>
                    </a:lnTo>
                    <a:lnTo>
                      <a:pt x="193" y="225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40" name="Freeform 63"/>
              <p:cNvSpPr/>
              <p:nvPr/>
            </p:nvSpPr>
            <p:spPr bwMode="auto">
              <a:xfrm rot="10800000">
                <a:off x="2890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41" name="Freeform 64"/>
              <p:cNvSpPr/>
              <p:nvPr/>
            </p:nvSpPr>
            <p:spPr bwMode="auto">
              <a:xfrm rot="10800000">
                <a:off x="2890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42" name="Freeform 65"/>
              <p:cNvSpPr/>
              <p:nvPr/>
            </p:nvSpPr>
            <p:spPr bwMode="auto">
              <a:xfrm>
                <a:off x="2895" y="2957"/>
                <a:ext cx="194" cy="1"/>
              </a:xfrm>
              <a:custGeom>
                <a:avLst/>
                <a:gdLst>
                  <a:gd name="T0" fmla="*/ 291 w 188"/>
                  <a:gd name="T1" fmla="*/ 0 h 1"/>
                  <a:gd name="T2" fmla="*/ 0 w 188"/>
                  <a:gd name="T3" fmla="*/ 0 h 1"/>
                  <a:gd name="T4" fmla="*/ 0 60000 65536"/>
                  <a:gd name="T5" fmla="*/ 0 60000 65536"/>
                  <a:gd name="T6" fmla="*/ 0 w 188"/>
                  <a:gd name="T7" fmla="*/ 0 h 1"/>
                  <a:gd name="T8" fmla="*/ 188 w 18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88" h="1">
                    <a:moveTo>
                      <a:pt x="188" y="0"/>
                    </a:move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43" name="Freeform 66"/>
              <p:cNvSpPr/>
              <p:nvPr/>
            </p:nvSpPr>
            <p:spPr bwMode="auto">
              <a:xfrm>
                <a:off x="4531" y="1135"/>
                <a:ext cx="203" cy="2027"/>
              </a:xfrm>
              <a:custGeom>
                <a:avLst/>
                <a:gdLst>
                  <a:gd name="T0" fmla="*/ 0 w 203"/>
                  <a:gd name="T1" fmla="*/ 0 h 2027"/>
                  <a:gd name="T2" fmla="*/ 198 w 203"/>
                  <a:gd name="T3" fmla="*/ 0 h 2027"/>
                  <a:gd name="T4" fmla="*/ 203 w 203"/>
                  <a:gd name="T5" fmla="*/ 2027 h 2027"/>
                  <a:gd name="T6" fmla="*/ 0 60000 65536"/>
                  <a:gd name="T7" fmla="*/ 0 60000 65536"/>
                  <a:gd name="T8" fmla="*/ 0 60000 65536"/>
                  <a:gd name="T9" fmla="*/ 0 w 203"/>
                  <a:gd name="T10" fmla="*/ 0 h 2027"/>
                  <a:gd name="T11" fmla="*/ 203 w 203"/>
                  <a:gd name="T12" fmla="*/ 2027 h 20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3" h="2027">
                    <a:moveTo>
                      <a:pt x="0" y="0"/>
                    </a:moveTo>
                    <a:lnTo>
                      <a:pt x="198" y="0"/>
                    </a:lnTo>
                    <a:lnTo>
                      <a:pt x="203" y="202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44" name="Freeform 67"/>
              <p:cNvSpPr/>
              <p:nvPr/>
            </p:nvSpPr>
            <p:spPr bwMode="auto">
              <a:xfrm rot="10800000">
                <a:off x="4528" y="1704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45" name="Freeform 68"/>
              <p:cNvSpPr/>
              <p:nvPr/>
            </p:nvSpPr>
            <p:spPr bwMode="auto">
              <a:xfrm rot="10800000">
                <a:off x="4528" y="258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46" name="Freeform 69"/>
              <p:cNvSpPr/>
              <p:nvPr/>
            </p:nvSpPr>
            <p:spPr bwMode="auto">
              <a:xfrm rot="10800000">
                <a:off x="4524" y="2955"/>
                <a:ext cx="201" cy="1"/>
              </a:xfrm>
              <a:custGeom>
                <a:avLst/>
                <a:gdLst>
                  <a:gd name="T0" fmla="*/ 0 w 195"/>
                  <a:gd name="T1" fmla="*/ 0 h 1"/>
                  <a:gd name="T2" fmla="*/ 298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5747" name="Rectangle 70"/>
              <p:cNvSpPr>
                <a:spLocks noChangeArrowheads="1"/>
              </p:cNvSpPr>
              <p:nvPr/>
            </p:nvSpPr>
            <p:spPr bwMode="auto">
              <a:xfrm>
                <a:off x="1204" y="3175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读  写  控  制  电  路</a:t>
                </a:r>
              </a:p>
            </p:txBody>
          </p:sp>
          <p:sp>
            <p:nvSpPr>
              <p:cNvPr id="155748" name="Rectangle 71"/>
              <p:cNvSpPr>
                <a:spLocks noChangeArrowheads="1"/>
              </p:cNvSpPr>
              <p:nvPr/>
            </p:nvSpPr>
            <p:spPr bwMode="auto">
              <a:xfrm>
                <a:off x="1204" y="3656"/>
                <a:ext cx="3613" cy="26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bIns="0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列  地  址  译  码  器</a:t>
                </a:r>
              </a:p>
            </p:txBody>
          </p:sp>
          <p:sp>
            <p:nvSpPr>
              <p:cNvPr id="155749" name="Text Box 72"/>
              <p:cNvSpPr txBox="1">
                <a:spLocks noChangeArrowheads="1"/>
              </p:cNvSpPr>
              <p:nvPr/>
            </p:nvSpPr>
            <p:spPr bwMode="auto">
              <a:xfrm rot="5400000">
                <a:off x="1689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55750" name="Text Box 73"/>
              <p:cNvSpPr txBox="1">
                <a:spLocks noChangeArrowheads="1"/>
              </p:cNvSpPr>
              <p:nvPr/>
            </p:nvSpPr>
            <p:spPr bwMode="auto">
              <a:xfrm rot="5400000">
                <a:off x="2620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55751" name="Text Box 74"/>
              <p:cNvSpPr txBox="1">
                <a:spLocks noChangeArrowheads="1"/>
              </p:cNvSpPr>
              <p:nvPr/>
            </p:nvSpPr>
            <p:spPr bwMode="auto">
              <a:xfrm rot="5400000">
                <a:off x="4252" y="1965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55752" name="Rectangle 75"/>
              <p:cNvSpPr>
                <a:spLocks noChangeArrowheads="1"/>
              </p:cNvSpPr>
              <p:nvPr/>
            </p:nvSpPr>
            <p:spPr bwMode="auto">
              <a:xfrm>
                <a:off x="1615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5753" name="Rectangle 76"/>
              <p:cNvSpPr>
                <a:spLocks noChangeArrowheads="1"/>
              </p:cNvSpPr>
              <p:nvPr/>
            </p:nvSpPr>
            <p:spPr bwMode="auto">
              <a:xfrm>
                <a:off x="1615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5754" name="Rectangle 77"/>
              <p:cNvSpPr>
                <a:spLocks noChangeArrowheads="1"/>
              </p:cNvSpPr>
              <p:nvPr/>
            </p:nvSpPr>
            <p:spPr bwMode="auto">
              <a:xfrm>
                <a:off x="2546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5755" name="Rectangle 78"/>
              <p:cNvSpPr>
                <a:spLocks noChangeArrowheads="1"/>
              </p:cNvSpPr>
              <p:nvPr/>
            </p:nvSpPr>
            <p:spPr bwMode="auto">
              <a:xfrm>
                <a:off x="2546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5756" name="Rectangle 79"/>
              <p:cNvSpPr>
                <a:spLocks noChangeArrowheads="1"/>
              </p:cNvSpPr>
              <p:nvPr/>
            </p:nvSpPr>
            <p:spPr bwMode="auto">
              <a:xfrm>
                <a:off x="2546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5757" name="Rectangle 80"/>
              <p:cNvSpPr>
                <a:spLocks noChangeArrowheads="1"/>
              </p:cNvSpPr>
              <p:nvPr/>
            </p:nvSpPr>
            <p:spPr bwMode="auto">
              <a:xfrm>
                <a:off x="4178" y="1078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5758" name="Rectangle 81"/>
              <p:cNvSpPr>
                <a:spLocks noChangeArrowheads="1"/>
              </p:cNvSpPr>
              <p:nvPr/>
            </p:nvSpPr>
            <p:spPr bwMode="auto">
              <a:xfrm>
                <a:off x="4178" y="1643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5759" name="Rectangle 82"/>
              <p:cNvSpPr>
                <a:spLocks noChangeArrowheads="1"/>
              </p:cNvSpPr>
              <p:nvPr/>
            </p:nvSpPr>
            <p:spPr bwMode="auto">
              <a:xfrm>
                <a:off x="4178" y="2517"/>
                <a:ext cx="346" cy="134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5760" name="AutoShape 83"/>
              <p:cNvSpPr>
                <a:spLocks noChangeArrowheads="1"/>
              </p:cNvSpPr>
              <p:nvPr/>
            </p:nvSpPr>
            <p:spPr bwMode="auto">
              <a:xfrm rot="-5400000">
                <a:off x="2631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5761" name="AutoShape 84"/>
              <p:cNvSpPr>
                <a:spLocks noChangeArrowheads="1"/>
              </p:cNvSpPr>
              <p:nvPr/>
            </p:nvSpPr>
            <p:spPr bwMode="auto">
              <a:xfrm rot="-5400000">
                <a:off x="4263" y="2784"/>
                <a:ext cx="175" cy="346"/>
              </a:xfrm>
              <a:prstGeom prst="triangle">
                <a:avLst>
                  <a:gd name="adj" fmla="val 56245"/>
                </a:avLst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5762" name="Text Box 85"/>
              <p:cNvSpPr txBox="1">
                <a:spLocks noChangeArrowheads="1"/>
              </p:cNvSpPr>
              <p:nvPr/>
            </p:nvSpPr>
            <p:spPr bwMode="auto">
              <a:xfrm>
                <a:off x="4796" y="861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读选择线</a:t>
                </a:r>
              </a:p>
            </p:txBody>
          </p:sp>
          <p:sp>
            <p:nvSpPr>
              <p:cNvPr id="155763" name="Text Box 86"/>
              <p:cNvSpPr txBox="1">
                <a:spLocks noChangeArrowheads="1"/>
              </p:cNvSpPr>
              <p:nvPr/>
            </p:nvSpPr>
            <p:spPr bwMode="auto">
              <a:xfrm>
                <a:off x="4806" y="1150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写选择线</a:t>
                </a:r>
              </a:p>
            </p:txBody>
          </p:sp>
          <p:sp>
            <p:nvSpPr>
              <p:cNvPr id="155764" name="Line 87"/>
              <p:cNvSpPr>
                <a:spLocks noChangeShapeType="1"/>
              </p:cNvSpPr>
              <p:nvPr/>
            </p:nvSpPr>
            <p:spPr bwMode="auto">
              <a:xfrm>
                <a:off x="4817" y="3306"/>
                <a:ext cx="3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5765" name="Text Box 88"/>
              <p:cNvSpPr txBox="1">
                <a:spLocks noChangeArrowheads="1"/>
              </p:cNvSpPr>
              <p:nvPr/>
            </p:nvSpPr>
            <p:spPr bwMode="auto">
              <a:xfrm>
                <a:off x="4906" y="3024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55766" name="Text Box 89"/>
              <p:cNvSpPr txBox="1">
                <a:spLocks noChangeArrowheads="1"/>
              </p:cNvSpPr>
              <p:nvPr/>
            </p:nvSpPr>
            <p:spPr bwMode="auto">
              <a:xfrm>
                <a:off x="3296" y="1929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单元</a:t>
                </a:r>
              </a:p>
            </p:txBody>
          </p:sp>
          <p:sp>
            <p:nvSpPr>
              <p:cNvPr id="155767" name="Text Box 90"/>
              <p:cNvSpPr txBox="1">
                <a:spLocks noChangeArrowheads="1"/>
              </p:cNvSpPr>
              <p:nvPr/>
            </p:nvSpPr>
            <p:spPr bwMode="auto">
              <a:xfrm>
                <a:off x="3296" y="2108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电路</a:t>
                </a:r>
              </a:p>
            </p:txBody>
          </p:sp>
          <p:sp>
            <p:nvSpPr>
              <p:cNvPr id="155768" name="Text Box 91"/>
              <p:cNvSpPr txBox="1">
                <a:spLocks noChangeArrowheads="1"/>
              </p:cNvSpPr>
              <p:nvPr/>
            </p:nvSpPr>
            <p:spPr bwMode="auto">
              <a:xfrm>
                <a:off x="503" y="936"/>
                <a:ext cx="309" cy="2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行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地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址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译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码</a:t>
                </a:r>
              </a:p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器</a:t>
                </a:r>
              </a:p>
            </p:txBody>
          </p:sp>
          <p:sp>
            <p:nvSpPr>
              <p:cNvPr id="155769" name="Text Box 92"/>
              <p:cNvSpPr txBox="1">
                <a:spLocks noChangeArrowheads="1"/>
              </p:cNvSpPr>
              <p:nvPr/>
            </p:nvSpPr>
            <p:spPr bwMode="auto">
              <a:xfrm>
                <a:off x="907" y="86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55770" name="Text Box 93"/>
              <p:cNvSpPr txBox="1">
                <a:spLocks noChangeArrowheads="1"/>
              </p:cNvSpPr>
              <p:nvPr/>
            </p:nvSpPr>
            <p:spPr bwMode="auto">
              <a:xfrm>
                <a:off x="907" y="1152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55771" name="Text Box 94"/>
              <p:cNvSpPr txBox="1">
                <a:spLocks noChangeArrowheads="1"/>
              </p:cNvSpPr>
              <p:nvPr/>
            </p:nvSpPr>
            <p:spPr bwMode="auto">
              <a:xfrm>
                <a:off x="907" y="1455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55772" name="Text Box 95"/>
              <p:cNvSpPr txBox="1">
                <a:spLocks noChangeArrowheads="1"/>
              </p:cNvSpPr>
              <p:nvPr/>
            </p:nvSpPr>
            <p:spPr bwMode="auto">
              <a:xfrm>
                <a:off x="907" y="1761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55773" name="Text Box 96"/>
              <p:cNvSpPr txBox="1">
                <a:spLocks noChangeArrowheads="1"/>
              </p:cNvSpPr>
              <p:nvPr/>
            </p:nvSpPr>
            <p:spPr bwMode="auto">
              <a:xfrm>
                <a:off x="854" y="2294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55774" name="Text Box 97"/>
              <p:cNvSpPr txBox="1">
                <a:spLocks noChangeArrowheads="1"/>
              </p:cNvSpPr>
              <p:nvPr/>
            </p:nvSpPr>
            <p:spPr bwMode="auto">
              <a:xfrm>
                <a:off x="858" y="2592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</a:p>
            </p:txBody>
          </p:sp>
          <p:sp>
            <p:nvSpPr>
              <p:cNvPr id="155775" name="Line 98"/>
              <p:cNvSpPr>
                <a:spLocks noChangeShapeType="1"/>
              </p:cNvSpPr>
              <p:nvPr/>
            </p:nvSpPr>
            <p:spPr bwMode="auto">
              <a:xfrm>
                <a:off x="1887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5776" name="Line 99"/>
              <p:cNvSpPr>
                <a:spLocks noChangeShapeType="1"/>
              </p:cNvSpPr>
              <p:nvPr/>
            </p:nvSpPr>
            <p:spPr bwMode="auto">
              <a:xfrm>
                <a:off x="2832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5777" name="Text Box 100"/>
              <p:cNvSpPr txBox="1">
                <a:spLocks noChangeArrowheads="1"/>
              </p:cNvSpPr>
              <p:nvPr/>
            </p:nvSpPr>
            <p:spPr bwMode="auto">
              <a:xfrm>
                <a:off x="2613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55778" name="Line 101"/>
              <p:cNvSpPr>
                <a:spLocks noChangeShapeType="1"/>
              </p:cNvSpPr>
              <p:nvPr/>
            </p:nvSpPr>
            <p:spPr bwMode="auto">
              <a:xfrm>
                <a:off x="4473" y="3449"/>
                <a:ext cx="0" cy="21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5779" name="Text Box 102"/>
              <p:cNvSpPr txBox="1">
                <a:spLocks noChangeArrowheads="1"/>
              </p:cNvSpPr>
              <p:nvPr/>
            </p:nvSpPr>
            <p:spPr bwMode="auto">
              <a:xfrm>
                <a:off x="4176" y="3420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31</a:t>
                </a:r>
                <a:endParaRPr lang="en-US" altLang="zh-CN" sz="20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55780" name="Group 103"/>
              <p:cNvGrpSpPr/>
              <p:nvPr/>
            </p:nvGrpSpPr>
            <p:grpSpPr bwMode="auto">
              <a:xfrm>
                <a:off x="1492" y="3918"/>
                <a:ext cx="284" cy="323"/>
                <a:chOff x="1584" y="3918"/>
                <a:chExt cx="284" cy="323"/>
              </a:xfrm>
            </p:grpSpPr>
            <p:sp>
              <p:nvSpPr>
                <p:cNvPr id="155816" name="Line 104"/>
                <p:cNvSpPr>
                  <a:spLocks noChangeShapeType="1"/>
                </p:cNvSpPr>
                <p:nvPr/>
              </p:nvSpPr>
              <p:spPr bwMode="auto">
                <a:xfrm rot="-5400000">
                  <a:off x="149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5817" name="Text Box 105"/>
                <p:cNvSpPr txBox="1">
                  <a:spLocks noChangeArrowheads="1"/>
                </p:cNvSpPr>
                <p:nvPr/>
              </p:nvSpPr>
              <p:spPr bwMode="auto">
                <a:xfrm>
                  <a:off x="1584" y="3991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</p:grpSp>
          <p:grpSp>
            <p:nvGrpSpPr>
              <p:cNvPr id="155781" name="Group 106"/>
              <p:cNvGrpSpPr/>
              <p:nvPr/>
            </p:nvGrpSpPr>
            <p:grpSpPr bwMode="auto">
              <a:xfrm>
                <a:off x="2234" y="3918"/>
                <a:ext cx="285" cy="324"/>
                <a:chOff x="2355" y="3918"/>
                <a:chExt cx="285" cy="324"/>
              </a:xfrm>
            </p:grpSpPr>
            <p:sp>
              <p:nvSpPr>
                <p:cNvPr id="155814" name="Line 107"/>
                <p:cNvSpPr>
                  <a:spLocks noChangeShapeType="1"/>
                </p:cNvSpPr>
                <p:nvPr/>
              </p:nvSpPr>
              <p:spPr bwMode="auto">
                <a:xfrm rot="-5400000">
                  <a:off x="224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5815" name="Text Box 108"/>
                <p:cNvSpPr txBox="1">
                  <a:spLocks noChangeArrowheads="1"/>
                </p:cNvSpPr>
                <p:nvPr/>
              </p:nvSpPr>
              <p:spPr bwMode="auto">
                <a:xfrm>
                  <a:off x="2356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3</a:t>
                  </a:r>
                </a:p>
              </p:txBody>
            </p:sp>
          </p:grpSp>
          <p:grpSp>
            <p:nvGrpSpPr>
              <p:cNvPr id="155782" name="Group 109"/>
              <p:cNvGrpSpPr/>
              <p:nvPr/>
            </p:nvGrpSpPr>
            <p:grpSpPr bwMode="auto">
              <a:xfrm>
                <a:off x="2978" y="3918"/>
                <a:ext cx="284" cy="324"/>
                <a:chOff x="3102" y="3918"/>
                <a:chExt cx="284" cy="324"/>
              </a:xfrm>
            </p:grpSpPr>
            <p:sp>
              <p:nvSpPr>
                <p:cNvPr id="155812" name="Line 110"/>
                <p:cNvSpPr>
                  <a:spLocks noChangeShapeType="1"/>
                </p:cNvSpPr>
                <p:nvPr/>
              </p:nvSpPr>
              <p:spPr bwMode="auto">
                <a:xfrm rot="-5400000">
                  <a:off x="3001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5813" name="Text Box 111"/>
                <p:cNvSpPr txBox="1">
                  <a:spLocks noChangeArrowheads="1"/>
                </p:cNvSpPr>
                <p:nvPr/>
              </p:nvSpPr>
              <p:spPr bwMode="auto">
                <a:xfrm>
                  <a:off x="3102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</p:grpSp>
          <p:grpSp>
            <p:nvGrpSpPr>
              <p:cNvPr id="155783" name="Group 112"/>
              <p:cNvGrpSpPr/>
              <p:nvPr/>
            </p:nvGrpSpPr>
            <p:grpSpPr bwMode="auto">
              <a:xfrm>
                <a:off x="3721" y="3918"/>
                <a:ext cx="284" cy="324"/>
                <a:chOff x="3844" y="3918"/>
                <a:chExt cx="284" cy="324"/>
              </a:xfrm>
            </p:grpSpPr>
            <p:sp>
              <p:nvSpPr>
                <p:cNvPr id="155810" name="Line 113"/>
                <p:cNvSpPr>
                  <a:spLocks noChangeShapeType="1"/>
                </p:cNvSpPr>
                <p:nvPr/>
              </p:nvSpPr>
              <p:spPr bwMode="auto">
                <a:xfrm rot="-5400000">
                  <a:off x="3756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5811" name="Text Box 114"/>
                <p:cNvSpPr txBox="1">
                  <a:spLocks noChangeArrowheads="1"/>
                </p:cNvSpPr>
                <p:nvPr/>
              </p:nvSpPr>
              <p:spPr bwMode="auto">
                <a:xfrm>
                  <a:off x="3844" y="3992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</p:grpSp>
          <p:grpSp>
            <p:nvGrpSpPr>
              <p:cNvPr id="155784" name="Group 115"/>
              <p:cNvGrpSpPr/>
              <p:nvPr/>
            </p:nvGrpSpPr>
            <p:grpSpPr bwMode="auto">
              <a:xfrm>
                <a:off x="4464" y="3918"/>
                <a:ext cx="284" cy="323"/>
                <a:chOff x="4603" y="3918"/>
                <a:chExt cx="284" cy="323"/>
              </a:xfrm>
            </p:grpSpPr>
            <p:sp>
              <p:nvSpPr>
                <p:cNvPr id="155808" name="Line 116"/>
                <p:cNvSpPr>
                  <a:spLocks noChangeShapeType="1"/>
                </p:cNvSpPr>
                <p:nvPr/>
              </p:nvSpPr>
              <p:spPr bwMode="auto">
                <a:xfrm rot="-5400000">
                  <a:off x="4510" y="4027"/>
                  <a:ext cx="218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5809" name="Text Box 117"/>
                <p:cNvSpPr txBox="1">
                  <a:spLocks noChangeArrowheads="1"/>
                </p:cNvSpPr>
                <p:nvPr/>
              </p:nvSpPr>
              <p:spPr bwMode="auto">
                <a:xfrm>
                  <a:off x="4603" y="3991"/>
                  <a:ext cx="2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A</a:t>
                  </a:r>
                  <a:r>
                    <a:rPr lang="en-US" altLang="zh-CN" sz="2000" baseline="-25000"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</p:grpSp>
          <p:sp>
            <p:nvSpPr>
              <p:cNvPr id="155785" name="Line 118"/>
              <p:cNvSpPr>
                <a:spLocks noChangeShapeType="1"/>
              </p:cNvSpPr>
              <p:nvPr/>
            </p:nvSpPr>
            <p:spPr bwMode="auto">
              <a:xfrm>
                <a:off x="2689" y="1690"/>
                <a:ext cx="643" cy="39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5786" name="Line 119"/>
              <p:cNvSpPr>
                <a:spLocks noChangeShapeType="1"/>
              </p:cNvSpPr>
              <p:nvPr/>
            </p:nvSpPr>
            <p:spPr bwMode="auto">
              <a:xfrm>
                <a:off x="3976" y="2039"/>
                <a:ext cx="990" cy="21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5787" name="Line 120"/>
              <p:cNvSpPr>
                <a:spLocks noChangeShapeType="1"/>
              </p:cNvSpPr>
              <p:nvPr/>
            </p:nvSpPr>
            <p:spPr bwMode="auto">
              <a:xfrm>
                <a:off x="4718" y="1384"/>
                <a:ext cx="693" cy="13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55788" name="Text Box 121"/>
              <p:cNvSpPr txBox="1">
                <a:spLocks noChangeArrowheads="1"/>
              </p:cNvSpPr>
              <p:nvPr/>
            </p:nvSpPr>
            <p:spPr bwMode="auto">
              <a:xfrm>
                <a:off x="4844" y="2728"/>
                <a:ext cx="92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刷新放大器</a:t>
                </a:r>
              </a:p>
            </p:txBody>
          </p:sp>
          <p:sp>
            <p:nvSpPr>
              <p:cNvPr id="155789" name="Line 122"/>
              <p:cNvSpPr>
                <a:spLocks noChangeShapeType="1"/>
              </p:cNvSpPr>
              <p:nvPr/>
            </p:nvSpPr>
            <p:spPr bwMode="auto">
              <a:xfrm flipV="1">
                <a:off x="4520" y="2957"/>
                <a:ext cx="495" cy="4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155790" name="Group 123"/>
              <p:cNvGrpSpPr/>
              <p:nvPr/>
            </p:nvGrpSpPr>
            <p:grpSpPr bwMode="auto">
              <a:xfrm>
                <a:off x="4916" y="1726"/>
                <a:ext cx="277" cy="893"/>
                <a:chOff x="4920" y="1790"/>
                <a:chExt cx="277" cy="893"/>
              </a:xfrm>
            </p:grpSpPr>
            <p:sp>
              <p:nvSpPr>
                <p:cNvPr id="155804" name="Text Box 124"/>
                <p:cNvSpPr txBox="1">
                  <a:spLocks noChangeArrowheads="1"/>
                </p:cNvSpPr>
                <p:nvPr/>
              </p:nvSpPr>
              <p:spPr bwMode="auto">
                <a:xfrm>
                  <a:off x="4920" y="1790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写</a:t>
                  </a:r>
                </a:p>
              </p:txBody>
            </p:sp>
            <p:sp>
              <p:nvSpPr>
                <p:cNvPr id="155805" name="Text Box 125"/>
                <p:cNvSpPr txBox="1">
                  <a:spLocks noChangeArrowheads="1"/>
                </p:cNvSpPr>
                <p:nvPr/>
              </p:nvSpPr>
              <p:spPr bwMode="auto">
                <a:xfrm>
                  <a:off x="4920" y="2005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</a:p>
              </p:txBody>
            </p:sp>
            <p:sp>
              <p:nvSpPr>
                <p:cNvPr id="155806" name="Text Box 126"/>
                <p:cNvSpPr txBox="1">
                  <a:spLocks noChangeArrowheads="1"/>
                </p:cNvSpPr>
                <p:nvPr/>
              </p:nvSpPr>
              <p:spPr bwMode="auto">
                <a:xfrm>
                  <a:off x="4920" y="2219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55807" name="Text Box 127"/>
                <p:cNvSpPr txBox="1">
                  <a:spLocks noChangeArrowheads="1"/>
                </p:cNvSpPr>
                <p:nvPr/>
              </p:nvSpPr>
              <p:spPr bwMode="auto">
                <a:xfrm>
                  <a:off x="4920" y="2433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</a:p>
              </p:txBody>
            </p:sp>
          </p:grpSp>
          <p:grpSp>
            <p:nvGrpSpPr>
              <p:cNvPr id="155791" name="Group 128"/>
              <p:cNvGrpSpPr/>
              <p:nvPr/>
            </p:nvGrpSpPr>
            <p:grpSpPr bwMode="auto">
              <a:xfrm>
                <a:off x="5372" y="1505"/>
                <a:ext cx="277" cy="879"/>
                <a:chOff x="5394" y="1612"/>
                <a:chExt cx="277" cy="879"/>
              </a:xfrm>
            </p:grpSpPr>
            <p:sp>
              <p:nvSpPr>
                <p:cNvPr id="155800" name="Text Box 129"/>
                <p:cNvSpPr txBox="1">
                  <a:spLocks noChangeArrowheads="1"/>
                </p:cNvSpPr>
                <p:nvPr/>
              </p:nvSpPr>
              <p:spPr bwMode="auto">
                <a:xfrm>
                  <a:off x="5394" y="161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读</a:t>
                  </a:r>
                </a:p>
              </p:txBody>
            </p:sp>
            <p:sp>
              <p:nvSpPr>
                <p:cNvPr id="155801" name="Text Box 130"/>
                <p:cNvSpPr txBox="1">
                  <a:spLocks noChangeArrowheads="1"/>
                </p:cNvSpPr>
                <p:nvPr/>
              </p:nvSpPr>
              <p:spPr bwMode="auto">
                <a:xfrm>
                  <a:off x="5394" y="182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</a:t>
                  </a:r>
                </a:p>
              </p:txBody>
            </p:sp>
            <p:sp>
              <p:nvSpPr>
                <p:cNvPr id="155802" name="Text Box 131"/>
                <p:cNvSpPr txBox="1">
                  <a:spLocks noChangeArrowheads="1"/>
                </p:cNvSpPr>
                <p:nvPr/>
              </p:nvSpPr>
              <p:spPr bwMode="auto">
                <a:xfrm>
                  <a:off x="5394" y="203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据</a:t>
                  </a:r>
                  <a:endParaRPr lang="zh-CN" altLang="en-US" sz="20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55803" name="Text Box 132"/>
                <p:cNvSpPr txBox="1">
                  <a:spLocks noChangeArrowheads="1"/>
                </p:cNvSpPr>
                <p:nvPr/>
              </p:nvSpPr>
              <p:spPr bwMode="auto">
                <a:xfrm>
                  <a:off x="5394" y="2241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线</a:t>
                  </a:r>
                </a:p>
              </p:txBody>
            </p:sp>
          </p:grpSp>
          <p:grpSp>
            <p:nvGrpSpPr>
              <p:cNvPr id="155792" name="Group 133"/>
              <p:cNvGrpSpPr/>
              <p:nvPr/>
            </p:nvGrpSpPr>
            <p:grpSpPr bwMode="auto">
              <a:xfrm>
                <a:off x="3320" y="915"/>
                <a:ext cx="372" cy="2170"/>
                <a:chOff x="3324" y="979"/>
                <a:chExt cx="372" cy="2170"/>
              </a:xfrm>
            </p:grpSpPr>
            <p:sp>
              <p:nvSpPr>
                <p:cNvPr id="155796" name="Text Box 134"/>
                <p:cNvSpPr txBox="1">
                  <a:spLocks noChangeArrowheads="1"/>
                </p:cNvSpPr>
                <p:nvPr/>
              </p:nvSpPr>
              <p:spPr bwMode="auto">
                <a:xfrm>
                  <a:off x="3324" y="979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55797" name="Text Box 135"/>
                <p:cNvSpPr txBox="1">
                  <a:spLocks noChangeArrowheads="1"/>
                </p:cNvSpPr>
                <p:nvPr/>
              </p:nvSpPr>
              <p:spPr bwMode="auto">
                <a:xfrm>
                  <a:off x="3324" y="1507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55798" name="Text Box 136"/>
                <p:cNvSpPr txBox="1">
                  <a:spLocks noChangeArrowheads="1"/>
                </p:cNvSpPr>
                <p:nvPr/>
              </p:nvSpPr>
              <p:spPr bwMode="auto">
                <a:xfrm>
                  <a:off x="3324" y="2400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  <p:sp>
              <p:nvSpPr>
                <p:cNvPr id="155799" name="Text Box 137"/>
                <p:cNvSpPr txBox="1">
                  <a:spLocks noChangeArrowheads="1"/>
                </p:cNvSpPr>
                <p:nvPr/>
              </p:nvSpPr>
              <p:spPr bwMode="auto">
                <a:xfrm>
                  <a:off x="3324" y="2784"/>
                  <a:ext cx="3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…</a:t>
                  </a:r>
                </a:p>
              </p:txBody>
            </p:sp>
          </p:grpSp>
          <p:sp>
            <p:nvSpPr>
              <p:cNvPr id="155793" name="Text Box 138"/>
              <p:cNvSpPr txBox="1">
                <a:spLocks noChangeArrowheads="1"/>
              </p:cNvSpPr>
              <p:nvPr/>
            </p:nvSpPr>
            <p:spPr bwMode="auto">
              <a:xfrm rot="5400000">
                <a:off x="916" y="1976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55794" name="Text Box 139"/>
              <p:cNvSpPr txBox="1">
                <a:spLocks noChangeArrowheads="1"/>
              </p:cNvSpPr>
              <p:nvPr/>
            </p:nvSpPr>
            <p:spPr bwMode="auto">
              <a:xfrm>
                <a:off x="1656" y="342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55795" name="Text Box 140"/>
              <p:cNvSpPr txBox="1">
                <a:spLocks noChangeArrowheads="1"/>
              </p:cNvSpPr>
              <p:nvPr/>
            </p:nvSpPr>
            <p:spPr bwMode="auto">
              <a:xfrm>
                <a:off x="3350" y="3312"/>
                <a:ext cx="340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</p:grpSp>
      <p:grpSp>
        <p:nvGrpSpPr>
          <p:cNvPr id="155651" name="Group 141"/>
          <p:cNvGrpSpPr/>
          <p:nvPr/>
        </p:nvGrpSpPr>
        <p:grpSpPr bwMode="auto">
          <a:xfrm>
            <a:off x="1833563" y="3711575"/>
            <a:ext cx="5791200" cy="646113"/>
            <a:chOff x="1155" y="2338"/>
            <a:chExt cx="3648" cy="407"/>
          </a:xfrm>
        </p:grpSpPr>
        <p:sp>
          <p:nvSpPr>
            <p:cNvPr id="155682" name="Freeform 142"/>
            <p:cNvSpPr/>
            <p:nvPr/>
          </p:nvSpPr>
          <p:spPr bwMode="auto">
            <a:xfrm>
              <a:off x="1155" y="2740"/>
              <a:ext cx="3648" cy="5"/>
            </a:xfrm>
            <a:custGeom>
              <a:avLst/>
              <a:gdLst>
                <a:gd name="T0" fmla="*/ 0 w 3648"/>
                <a:gd name="T1" fmla="*/ 0 h 5"/>
                <a:gd name="T2" fmla="*/ 3648 w 3648"/>
                <a:gd name="T3" fmla="*/ 5 h 5"/>
                <a:gd name="T4" fmla="*/ 0 60000 65536"/>
                <a:gd name="T5" fmla="*/ 0 60000 65536"/>
                <a:gd name="T6" fmla="*/ 0 w 3648"/>
                <a:gd name="T7" fmla="*/ 0 h 5"/>
                <a:gd name="T8" fmla="*/ 3648 w 3648"/>
                <a:gd name="T9" fmla="*/ 5 h 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48" h="5">
                  <a:moveTo>
                    <a:pt x="0" y="0"/>
                  </a:moveTo>
                  <a:lnTo>
                    <a:pt x="3648" y="5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5683" name="Line 143"/>
            <p:cNvSpPr>
              <a:spLocks noChangeShapeType="1"/>
            </p:cNvSpPr>
            <p:nvPr/>
          </p:nvSpPr>
          <p:spPr bwMode="auto">
            <a:xfrm rot="10800000">
              <a:off x="1788" y="2656"/>
              <a:ext cx="0" cy="84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5684" name="Line 144"/>
            <p:cNvSpPr>
              <a:spLocks noChangeShapeType="1"/>
            </p:cNvSpPr>
            <p:nvPr/>
          </p:nvSpPr>
          <p:spPr bwMode="auto">
            <a:xfrm rot="10800000">
              <a:off x="2725" y="2658"/>
              <a:ext cx="0" cy="84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5685" name="Freeform 145"/>
            <p:cNvSpPr/>
            <p:nvPr/>
          </p:nvSpPr>
          <p:spPr bwMode="auto">
            <a:xfrm>
              <a:off x="4350" y="2657"/>
              <a:ext cx="1" cy="79"/>
            </a:xfrm>
            <a:custGeom>
              <a:avLst/>
              <a:gdLst>
                <a:gd name="T0" fmla="*/ 0 w 1"/>
                <a:gd name="T1" fmla="*/ 79 h 79"/>
                <a:gd name="T2" fmla="*/ 1 w 1"/>
                <a:gd name="T3" fmla="*/ 0 h 79"/>
                <a:gd name="T4" fmla="*/ 0 60000 65536"/>
                <a:gd name="T5" fmla="*/ 0 60000 65536"/>
                <a:gd name="T6" fmla="*/ 0 w 1"/>
                <a:gd name="T7" fmla="*/ 0 h 79"/>
                <a:gd name="T8" fmla="*/ 1 w 1"/>
                <a:gd name="T9" fmla="*/ 79 h 7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79">
                  <a:moveTo>
                    <a:pt x="0" y="79"/>
                  </a:moveTo>
                  <a:lnTo>
                    <a:pt x="1" y="0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5686" name="Rectangle 146"/>
            <p:cNvSpPr>
              <a:spLocks noChangeArrowheads="1"/>
            </p:cNvSpPr>
            <p:nvPr/>
          </p:nvSpPr>
          <p:spPr bwMode="auto">
            <a:xfrm>
              <a:off x="1615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5687" name="Rectangle 147"/>
            <p:cNvSpPr>
              <a:spLocks noChangeArrowheads="1"/>
            </p:cNvSpPr>
            <p:nvPr/>
          </p:nvSpPr>
          <p:spPr bwMode="auto">
            <a:xfrm>
              <a:off x="2546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5688" name="Rectangle 148"/>
            <p:cNvSpPr>
              <a:spLocks noChangeArrowheads="1"/>
            </p:cNvSpPr>
            <p:nvPr/>
          </p:nvSpPr>
          <p:spPr bwMode="auto">
            <a:xfrm>
              <a:off x="4178" y="2519"/>
              <a:ext cx="346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5689" name="Text Box 149"/>
            <p:cNvSpPr txBox="1">
              <a:spLocks noChangeArrowheads="1"/>
            </p:cNvSpPr>
            <p:nvPr/>
          </p:nvSpPr>
          <p:spPr bwMode="auto">
            <a:xfrm>
              <a:off x="3320" y="2338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155652" name="Group 150"/>
          <p:cNvGrpSpPr/>
          <p:nvPr/>
        </p:nvGrpSpPr>
        <p:grpSpPr bwMode="auto">
          <a:xfrm>
            <a:off x="7646988" y="4808538"/>
            <a:ext cx="628650" cy="457200"/>
            <a:chOff x="4775" y="2954"/>
            <a:chExt cx="384" cy="316"/>
          </a:xfrm>
        </p:grpSpPr>
        <p:sp>
          <p:nvSpPr>
            <p:cNvPr id="155680" name="Line 151"/>
            <p:cNvSpPr>
              <a:spLocks noChangeShapeType="1"/>
            </p:cNvSpPr>
            <p:nvPr/>
          </p:nvSpPr>
          <p:spPr bwMode="auto">
            <a:xfrm>
              <a:off x="4775" y="3264"/>
              <a:ext cx="384" cy="0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5681" name="Text Box 152"/>
            <p:cNvSpPr txBox="1">
              <a:spLocks noChangeArrowheads="1"/>
            </p:cNvSpPr>
            <p:nvPr/>
          </p:nvSpPr>
          <p:spPr bwMode="auto">
            <a:xfrm>
              <a:off x="4861" y="2954"/>
              <a:ext cx="247" cy="3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D</a:t>
              </a:r>
            </a:p>
          </p:txBody>
        </p:sp>
      </p:grpSp>
      <p:grpSp>
        <p:nvGrpSpPr>
          <p:cNvPr id="155653" name="Group 153"/>
          <p:cNvGrpSpPr/>
          <p:nvPr/>
        </p:nvGrpSpPr>
        <p:grpSpPr bwMode="auto">
          <a:xfrm>
            <a:off x="3714750" y="1820863"/>
            <a:ext cx="315913" cy="3228975"/>
            <a:chOff x="2340" y="1128"/>
            <a:chExt cx="199" cy="2034"/>
          </a:xfrm>
        </p:grpSpPr>
        <p:sp>
          <p:nvSpPr>
            <p:cNvPr id="155678" name="Freeform 154"/>
            <p:cNvSpPr/>
            <p:nvPr/>
          </p:nvSpPr>
          <p:spPr bwMode="auto">
            <a:xfrm>
              <a:off x="2340" y="1128"/>
              <a:ext cx="9" cy="2034"/>
            </a:xfrm>
            <a:custGeom>
              <a:avLst/>
              <a:gdLst>
                <a:gd name="T0" fmla="*/ 0 w 9"/>
                <a:gd name="T1" fmla="*/ 0 h 2034"/>
                <a:gd name="T2" fmla="*/ 9 w 9"/>
                <a:gd name="T3" fmla="*/ 6 h 2034"/>
                <a:gd name="T4" fmla="*/ 6 w 9"/>
                <a:gd name="T5" fmla="*/ 2034 h 2034"/>
                <a:gd name="T6" fmla="*/ 0 60000 65536"/>
                <a:gd name="T7" fmla="*/ 0 60000 65536"/>
                <a:gd name="T8" fmla="*/ 0 60000 65536"/>
                <a:gd name="T9" fmla="*/ 0 w 9"/>
                <a:gd name="T10" fmla="*/ 0 h 2034"/>
                <a:gd name="T11" fmla="*/ 9 w 9"/>
                <a:gd name="T12" fmla="*/ 2034 h 203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2034">
                  <a:moveTo>
                    <a:pt x="0" y="0"/>
                  </a:moveTo>
                  <a:lnTo>
                    <a:pt x="9" y="6"/>
                  </a:lnTo>
                  <a:lnTo>
                    <a:pt x="6" y="2034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5679" name="Freeform 155"/>
            <p:cNvSpPr/>
            <p:nvPr/>
          </p:nvSpPr>
          <p:spPr bwMode="auto">
            <a:xfrm>
              <a:off x="2349" y="2577"/>
              <a:ext cx="190" cy="1"/>
            </a:xfrm>
            <a:custGeom>
              <a:avLst/>
              <a:gdLst>
                <a:gd name="T0" fmla="*/ 0 w 190"/>
                <a:gd name="T1" fmla="*/ 0 h 1"/>
                <a:gd name="T2" fmla="*/ 190 w 190"/>
                <a:gd name="T3" fmla="*/ 1 h 1"/>
                <a:gd name="T4" fmla="*/ 0 60000 65536"/>
                <a:gd name="T5" fmla="*/ 0 60000 65536"/>
                <a:gd name="T6" fmla="*/ 0 w 190"/>
                <a:gd name="T7" fmla="*/ 0 h 1"/>
                <a:gd name="T8" fmla="*/ 190 w 19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90" h="1">
                  <a:moveTo>
                    <a:pt x="0" y="0"/>
                  </a:moveTo>
                  <a:lnTo>
                    <a:pt x="190" y="1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43868" name="Rectangle 156"/>
          <p:cNvSpPr>
            <a:spLocks noChangeArrowheads="1"/>
          </p:cNvSpPr>
          <p:nvPr/>
        </p:nvSpPr>
        <p:spPr bwMode="auto">
          <a:xfrm>
            <a:off x="4041775" y="3987800"/>
            <a:ext cx="549275" cy="227013"/>
          </a:xfrm>
          <a:prstGeom prst="rect">
            <a:avLst/>
          </a:prstGeom>
          <a:solidFill>
            <a:srgbClr val="CC9900"/>
          </a:solidFill>
          <a:ln w="38100">
            <a:solidFill>
              <a:srgbClr val="CC9900"/>
            </a:solidFill>
            <a:miter lim="800000"/>
          </a:ln>
        </p:spPr>
        <p:txBody>
          <a:bodyPr wrap="none" anchor="ctr"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grpSp>
        <p:nvGrpSpPr>
          <p:cNvPr id="155655" name="Group 157"/>
          <p:cNvGrpSpPr/>
          <p:nvPr/>
        </p:nvGrpSpPr>
        <p:grpSpPr bwMode="auto">
          <a:xfrm>
            <a:off x="341313" y="1819275"/>
            <a:ext cx="361950" cy="3362325"/>
            <a:chOff x="300" y="720"/>
            <a:chExt cx="221" cy="2327"/>
          </a:xfrm>
        </p:grpSpPr>
        <p:sp>
          <p:nvSpPr>
            <p:cNvPr id="155673" name="Text Box 158"/>
            <p:cNvSpPr txBox="1">
              <a:spLocks noChangeArrowheads="1"/>
            </p:cNvSpPr>
            <p:nvPr/>
          </p:nvSpPr>
          <p:spPr bwMode="auto">
            <a:xfrm>
              <a:off x="300" y="720"/>
              <a:ext cx="221" cy="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5674" name="Text Box 159"/>
            <p:cNvSpPr txBox="1">
              <a:spLocks noChangeArrowheads="1"/>
            </p:cNvSpPr>
            <p:nvPr/>
          </p:nvSpPr>
          <p:spPr bwMode="auto">
            <a:xfrm>
              <a:off x="300" y="1212"/>
              <a:ext cx="221" cy="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5675" name="Text Box 160"/>
            <p:cNvSpPr txBox="1">
              <a:spLocks noChangeArrowheads="1"/>
            </p:cNvSpPr>
            <p:nvPr/>
          </p:nvSpPr>
          <p:spPr bwMode="auto">
            <a:xfrm>
              <a:off x="300" y="1705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5676" name="Text Box 161"/>
            <p:cNvSpPr txBox="1">
              <a:spLocks noChangeArrowheads="1"/>
            </p:cNvSpPr>
            <p:nvPr/>
          </p:nvSpPr>
          <p:spPr bwMode="auto">
            <a:xfrm>
              <a:off x="300" y="2196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endPara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5677" name="Text Box 162"/>
            <p:cNvSpPr txBox="1">
              <a:spLocks noChangeArrowheads="1"/>
            </p:cNvSpPr>
            <p:nvPr/>
          </p:nvSpPr>
          <p:spPr bwMode="auto">
            <a:xfrm>
              <a:off x="300" y="2688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</p:grpSp>
      <p:grpSp>
        <p:nvGrpSpPr>
          <p:cNvPr id="155656" name="Group 163"/>
          <p:cNvGrpSpPr/>
          <p:nvPr/>
        </p:nvGrpSpPr>
        <p:grpSpPr bwMode="auto">
          <a:xfrm>
            <a:off x="1981200" y="6138863"/>
            <a:ext cx="5154613" cy="519112"/>
            <a:chOff x="1452" y="3984"/>
            <a:chExt cx="3149" cy="359"/>
          </a:xfrm>
        </p:grpSpPr>
        <p:sp>
          <p:nvSpPr>
            <p:cNvPr id="155668" name="Text Box 164"/>
            <p:cNvSpPr txBox="1">
              <a:spLocks noChangeArrowheads="1"/>
            </p:cNvSpPr>
            <p:nvPr/>
          </p:nvSpPr>
          <p:spPr bwMode="auto">
            <a:xfrm>
              <a:off x="1452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55669" name="Text Box 165"/>
            <p:cNvSpPr txBox="1">
              <a:spLocks noChangeArrowheads="1"/>
            </p:cNvSpPr>
            <p:nvPr/>
          </p:nvSpPr>
          <p:spPr bwMode="auto">
            <a:xfrm>
              <a:off x="4380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5670" name="Text Box 166"/>
            <p:cNvSpPr txBox="1">
              <a:spLocks noChangeArrowheads="1"/>
            </p:cNvSpPr>
            <p:nvPr/>
          </p:nvSpPr>
          <p:spPr bwMode="auto">
            <a:xfrm>
              <a:off x="3648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55671" name="Text Box 167"/>
            <p:cNvSpPr txBox="1">
              <a:spLocks noChangeArrowheads="1"/>
            </p:cNvSpPr>
            <p:nvPr/>
          </p:nvSpPr>
          <p:spPr bwMode="auto">
            <a:xfrm>
              <a:off x="2917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55672" name="Text Box 168"/>
            <p:cNvSpPr txBox="1">
              <a:spLocks noChangeArrowheads="1"/>
            </p:cNvSpPr>
            <p:nvPr/>
          </p:nvSpPr>
          <p:spPr bwMode="auto">
            <a:xfrm>
              <a:off x="2186" y="3984"/>
              <a:ext cx="221" cy="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</a:p>
          </p:txBody>
        </p:sp>
      </p:grpSp>
      <p:grpSp>
        <p:nvGrpSpPr>
          <p:cNvPr id="155657" name="Group 169"/>
          <p:cNvGrpSpPr/>
          <p:nvPr/>
        </p:nvGrpSpPr>
        <p:grpSpPr bwMode="auto">
          <a:xfrm>
            <a:off x="4151313" y="5429250"/>
            <a:ext cx="344487" cy="396875"/>
            <a:chOff x="2611" y="3425"/>
            <a:chExt cx="217" cy="250"/>
          </a:xfrm>
        </p:grpSpPr>
        <p:sp>
          <p:nvSpPr>
            <p:cNvPr id="155666" name="Text Box 170"/>
            <p:cNvSpPr txBox="1">
              <a:spLocks noChangeArrowheads="1"/>
            </p:cNvSpPr>
            <p:nvPr/>
          </p:nvSpPr>
          <p:spPr bwMode="auto">
            <a:xfrm>
              <a:off x="2611" y="3425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55667" name="Freeform 171"/>
            <p:cNvSpPr/>
            <p:nvPr/>
          </p:nvSpPr>
          <p:spPr bwMode="auto">
            <a:xfrm>
              <a:off x="2827" y="3430"/>
              <a:ext cx="1" cy="227"/>
            </a:xfrm>
            <a:custGeom>
              <a:avLst/>
              <a:gdLst>
                <a:gd name="T0" fmla="*/ 0 w 1"/>
                <a:gd name="T1" fmla="*/ 0 h 227"/>
                <a:gd name="T2" fmla="*/ 0 w 1"/>
                <a:gd name="T3" fmla="*/ 227 h 227"/>
                <a:gd name="T4" fmla="*/ 0 60000 65536"/>
                <a:gd name="T5" fmla="*/ 0 60000 65536"/>
                <a:gd name="T6" fmla="*/ 0 w 1"/>
                <a:gd name="T7" fmla="*/ 0 h 227"/>
                <a:gd name="T8" fmla="*/ 1 w 1"/>
                <a:gd name="T9" fmla="*/ 227 h 22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27">
                  <a:moveTo>
                    <a:pt x="0" y="0"/>
                  </a:moveTo>
                  <a:lnTo>
                    <a:pt x="0" y="227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243884" name="Rectangle 172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55659" name="Text Box 173"/>
          <p:cNvSpPr txBox="1">
            <a:spLocks noChangeArrowheads="1"/>
          </p:cNvSpPr>
          <p:nvPr/>
        </p:nvSpPr>
        <p:spPr bwMode="auto">
          <a:xfrm>
            <a:off x="304800" y="228600"/>
            <a:ext cx="7696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② </a:t>
            </a:r>
            <a:r>
              <a:rPr lang="zh-CN" altLang="en-US" sz="3200">
                <a:latin typeface="Times New Roman" panose="02020603050405020304" pitchFamily="18" charset="0"/>
              </a:rPr>
              <a:t>三管动态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200">
                <a:latin typeface="Times New Roman" panose="02020603050405020304" pitchFamily="18" charset="0"/>
              </a:rPr>
              <a:t>芯片 (</a:t>
            </a:r>
            <a:r>
              <a:rPr lang="en-US" altLang="zh-CN" sz="3200">
                <a:latin typeface="Times New Roman" panose="02020603050405020304" pitchFamily="18" charset="0"/>
              </a:rPr>
              <a:t>Intel 1103)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</a:p>
        </p:txBody>
      </p:sp>
      <p:sp>
        <p:nvSpPr>
          <p:cNvPr id="155660" name="Rectangle 174"/>
          <p:cNvSpPr>
            <a:spLocks noChangeArrowheads="1"/>
          </p:cNvSpPr>
          <p:nvPr/>
        </p:nvSpPr>
        <p:spPr bwMode="auto">
          <a:xfrm>
            <a:off x="1911350" y="5029200"/>
            <a:ext cx="5735638" cy="415925"/>
          </a:xfrm>
          <a:prstGeom prst="rect">
            <a:avLst/>
          </a:prstGeom>
          <a:solidFill>
            <a:schemeClr val="folHlink"/>
          </a:solidFill>
          <a:ln w="38100">
            <a:solidFill>
              <a:schemeClr val="folHlink"/>
            </a:solidFill>
            <a:miter lim="800000"/>
          </a:ln>
        </p:spPr>
        <p:txBody>
          <a:bodyPr wrap="none" anchor="ctr"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zh-CN" altLang="en-US" sz="2400">
                <a:solidFill>
                  <a:schemeClr val="bg2"/>
                </a:solidFill>
                <a:latin typeface="Times New Roman" panose="02020603050405020304" pitchFamily="18" charset="0"/>
              </a:rPr>
              <a:t>读  写  控  制  电  路</a:t>
            </a:r>
          </a:p>
        </p:txBody>
      </p:sp>
      <p:grpSp>
        <p:nvGrpSpPr>
          <p:cNvPr id="155661" name="Group 175"/>
          <p:cNvGrpSpPr/>
          <p:nvPr/>
        </p:nvGrpSpPr>
        <p:grpSpPr bwMode="auto">
          <a:xfrm>
            <a:off x="4046538" y="1719263"/>
            <a:ext cx="793750" cy="2058987"/>
            <a:chOff x="2549" y="1083"/>
            <a:chExt cx="500" cy="1297"/>
          </a:xfrm>
        </p:grpSpPr>
        <p:sp>
          <p:nvSpPr>
            <p:cNvPr id="155663" name="Rectangle 176"/>
            <p:cNvSpPr>
              <a:spLocks noChangeArrowheads="1"/>
            </p:cNvSpPr>
            <p:nvPr/>
          </p:nvSpPr>
          <p:spPr bwMode="auto">
            <a:xfrm>
              <a:off x="2549" y="1083"/>
              <a:ext cx="347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5664" name="Rectangle 177"/>
            <p:cNvSpPr>
              <a:spLocks noChangeArrowheads="1"/>
            </p:cNvSpPr>
            <p:nvPr/>
          </p:nvSpPr>
          <p:spPr bwMode="auto">
            <a:xfrm>
              <a:off x="2549" y="1636"/>
              <a:ext cx="347" cy="13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5665" name="Text Box 178"/>
            <p:cNvSpPr txBox="1">
              <a:spLocks noChangeArrowheads="1"/>
            </p:cNvSpPr>
            <p:nvPr/>
          </p:nvSpPr>
          <p:spPr bwMode="auto">
            <a:xfrm>
              <a:off x="2587" y="1972"/>
              <a:ext cx="462" cy="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155662" name="AutoShape 179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438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3868" grpId="0" animBg="1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04"/>
          <p:cNvGrpSpPr/>
          <p:nvPr/>
        </p:nvGrpSpPr>
        <p:grpSpPr bwMode="auto">
          <a:xfrm>
            <a:off x="441325" y="1200150"/>
            <a:ext cx="8626475" cy="5456238"/>
            <a:chOff x="278" y="756"/>
            <a:chExt cx="5434" cy="3437"/>
          </a:xfrm>
        </p:grpSpPr>
        <p:grpSp>
          <p:nvGrpSpPr>
            <p:cNvPr id="156692" name="Group 103"/>
            <p:cNvGrpSpPr/>
            <p:nvPr/>
          </p:nvGrpSpPr>
          <p:grpSpPr bwMode="auto">
            <a:xfrm>
              <a:off x="278" y="756"/>
              <a:ext cx="5434" cy="3437"/>
              <a:chOff x="278" y="756"/>
              <a:chExt cx="5434" cy="3437"/>
            </a:xfrm>
          </p:grpSpPr>
          <p:sp>
            <p:nvSpPr>
              <p:cNvPr id="156695" name="Rectangle 5"/>
              <p:cNvSpPr>
                <a:spLocks noChangeArrowheads="1"/>
              </p:cNvSpPr>
              <p:nvPr/>
            </p:nvSpPr>
            <p:spPr bwMode="auto">
              <a:xfrm>
                <a:off x="1362" y="784"/>
                <a:ext cx="3015" cy="63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6696" name="Rectangle 6"/>
              <p:cNvSpPr>
                <a:spLocks noChangeArrowheads="1"/>
              </p:cNvSpPr>
              <p:nvPr/>
            </p:nvSpPr>
            <p:spPr bwMode="auto">
              <a:xfrm>
                <a:off x="2251" y="966"/>
                <a:ext cx="123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800"/>
                  <a:t>时序与控制 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6697" name="Rectangle 7"/>
              <p:cNvSpPr>
                <a:spLocks noChangeArrowheads="1"/>
              </p:cNvSpPr>
              <p:nvPr/>
            </p:nvSpPr>
            <p:spPr bwMode="auto">
              <a:xfrm>
                <a:off x="4728" y="766"/>
                <a:ext cx="483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/>
                  <a:t>行时钟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6698" name="Rectangle 8"/>
              <p:cNvSpPr>
                <a:spLocks noChangeArrowheads="1"/>
              </p:cNvSpPr>
              <p:nvPr/>
            </p:nvSpPr>
            <p:spPr bwMode="auto">
              <a:xfrm>
                <a:off x="4728" y="1004"/>
                <a:ext cx="483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/>
                  <a:t>列时钟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6699" name="Rectangle 9"/>
              <p:cNvSpPr>
                <a:spLocks noChangeArrowheads="1"/>
              </p:cNvSpPr>
              <p:nvPr/>
            </p:nvSpPr>
            <p:spPr bwMode="auto">
              <a:xfrm>
                <a:off x="4728" y="1242"/>
                <a:ext cx="483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/>
                  <a:t>写时钟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6700" name="Rectangle 10"/>
              <p:cNvSpPr>
                <a:spLocks noChangeArrowheads="1"/>
              </p:cNvSpPr>
              <p:nvPr/>
            </p:nvSpPr>
            <p:spPr bwMode="auto">
              <a:xfrm>
                <a:off x="640" y="1229"/>
                <a:ext cx="337" cy="2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200">
                    <a:latin typeface="Times New Roman" panose="02020603050405020304" pitchFamily="18" charset="0"/>
                  </a:rPr>
                  <a:t> </a:t>
                </a:r>
                <a:r>
                  <a:rPr lang="en-US" altLang="zh-CN" sz="2200">
                    <a:latin typeface="Times New Roman" panose="02020603050405020304" pitchFamily="18" charset="0"/>
                  </a:rPr>
                  <a:t>WE</a:t>
                </a:r>
              </a:p>
            </p:txBody>
          </p:sp>
          <p:sp>
            <p:nvSpPr>
              <p:cNvPr id="156701" name="Line 11"/>
              <p:cNvSpPr>
                <a:spLocks noChangeShapeType="1"/>
              </p:cNvSpPr>
              <p:nvPr/>
            </p:nvSpPr>
            <p:spPr bwMode="auto">
              <a:xfrm>
                <a:off x="648" y="1243"/>
                <a:ext cx="33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6702" name="Rectangle 12"/>
              <p:cNvSpPr>
                <a:spLocks noChangeArrowheads="1"/>
              </p:cNvSpPr>
              <p:nvPr/>
            </p:nvSpPr>
            <p:spPr bwMode="auto">
              <a:xfrm>
                <a:off x="651" y="756"/>
                <a:ext cx="352" cy="2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200">
                    <a:latin typeface="Times New Roman" panose="02020603050405020304" pitchFamily="18" charset="0"/>
                  </a:rPr>
                  <a:t>RAS</a:t>
                </a:r>
              </a:p>
            </p:txBody>
          </p:sp>
          <p:sp>
            <p:nvSpPr>
              <p:cNvPr id="156703" name="Line 13"/>
              <p:cNvSpPr>
                <a:spLocks noChangeShapeType="1"/>
              </p:cNvSpPr>
              <p:nvPr/>
            </p:nvSpPr>
            <p:spPr bwMode="auto">
              <a:xfrm>
                <a:off x="624" y="768"/>
                <a:ext cx="40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6704" name="Rectangle 14"/>
              <p:cNvSpPr>
                <a:spLocks noChangeArrowheads="1"/>
              </p:cNvSpPr>
              <p:nvPr/>
            </p:nvSpPr>
            <p:spPr bwMode="auto">
              <a:xfrm>
                <a:off x="651" y="992"/>
                <a:ext cx="352" cy="2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200">
                    <a:latin typeface="Times New Roman" panose="02020603050405020304" pitchFamily="18" charset="0"/>
                  </a:rPr>
                  <a:t>CAS</a:t>
                </a:r>
              </a:p>
            </p:txBody>
          </p:sp>
          <p:sp>
            <p:nvSpPr>
              <p:cNvPr id="156705" name="Line 15"/>
              <p:cNvSpPr>
                <a:spLocks noChangeShapeType="1"/>
              </p:cNvSpPr>
              <p:nvPr/>
            </p:nvSpPr>
            <p:spPr bwMode="auto">
              <a:xfrm>
                <a:off x="624" y="1004"/>
                <a:ext cx="40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6706" name="Rectangle 16"/>
              <p:cNvSpPr>
                <a:spLocks noChangeArrowheads="1"/>
              </p:cNvSpPr>
              <p:nvPr/>
            </p:nvSpPr>
            <p:spPr bwMode="auto">
              <a:xfrm>
                <a:off x="957" y="1618"/>
                <a:ext cx="525" cy="85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6707" name="Rectangle 19"/>
              <p:cNvSpPr>
                <a:spLocks noChangeArrowheads="1"/>
              </p:cNvSpPr>
              <p:nvPr/>
            </p:nvSpPr>
            <p:spPr bwMode="auto">
              <a:xfrm>
                <a:off x="957" y="3107"/>
                <a:ext cx="525" cy="857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6708" name="Rectangle 22"/>
              <p:cNvSpPr>
                <a:spLocks noChangeArrowheads="1"/>
              </p:cNvSpPr>
              <p:nvPr/>
            </p:nvSpPr>
            <p:spPr bwMode="auto">
              <a:xfrm rot="5400000">
                <a:off x="1785" y="2301"/>
                <a:ext cx="80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 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6709" name="Rectangle 23"/>
              <p:cNvSpPr>
                <a:spLocks noChangeArrowheads="1"/>
              </p:cNvSpPr>
              <p:nvPr/>
            </p:nvSpPr>
            <p:spPr bwMode="auto">
              <a:xfrm>
                <a:off x="336" y="1714"/>
                <a:ext cx="287" cy="4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6710" name="Rectangle 24"/>
              <p:cNvSpPr>
                <a:spLocks noChangeArrowheads="1"/>
              </p:cNvSpPr>
              <p:nvPr/>
            </p:nvSpPr>
            <p:spPr bwMode="auto">
              <a:xfrm>
                <a:off x="336" y="1743"/>
                <a:ext cx="121" cy="2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100">
                    <a:latin typeface="Times New Roman" panose="02020603050405020304" pitchFamily="18" charset="0"/>
                  </a:rPr>
                  <a:t>A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6711" name="Rectangle 25"/>
              <p:cNvSpPr>
                <a:spLocks noChangeArrowheads="1"/>
              </p:cNvSpPr>
              <p:nvPr/>
            </p:nvSpPr>
            <p:spPr bwMode="auto">
              <a:xfrm>
                <a:off x="432" y="1718"/>
                <a:ext cx="3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1600">
                    <a:latin typeface="Times New Roman" panose="02020603050405020304" pitchFamily="18" charset="0"/>
                  </a:rPr>
                  <a:t>'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6712" name="Rectangle 26"/>
              <p:cNvSpPr>
                <a:spLocks noChangeArrowheads="1"/>
              </p:cNvSpPr>
              <p:nvPr/>
            </p:nvSpPr>
            <p:spPr bwMode="auto">
              <a:xfrm>
                <a:off x="468" y="1822"/>
                <a:ext cx="64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1600">
                    <a:latin typeface="Times New Roman" panose="02020603050405020304" pitchFamily="18" charset="0"/>
                  </a:rPr>
                  <a:t>6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6713" name="Rectangle 27"/>
              <p:cNvSpPr>
                <a:spLocks noChangeArrowheads="1"/>
              </p:cNvSpPr>
              <p:nvPr/>
            </p:nvSpPr>
            <p:spPr bwMode="auto">
              <a:xfrm>
                <a:off x="336" y="2071"/>
                <a:ext cx="121" cy="2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100">
                    <a:latin typeface="Times New Roman" panose="02020603050405020304" pitchFamily="18" charset="0"/>
                  </a:rPr>
                  <a:t>A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6714" name="Rectangle 28"/>
              <p:cNvSpPr>
                <a:spLocks noChangeArrowheads="1"/>
              </p:cNvSpPr>
              <p:nvPr/>
            </p:nvSpPr>
            <p:spPr bwMode="auto">
              <a:xfrm>
                <a:off x="432" y="2054"/>
                <a:ext cx="3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1600">
                    <a:latin typeface="Times New Roman" panose="02020603050405020304" pitchFamily="18" charset="0"/>
                  </a:rPr>
                  <a:t>'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6715" name="Rectangle 29"/>
              <p:cNvSpPr>
                <a:spLocks noChangeArrowheads="1"/>
              </p:cNvSpPr>
              <p:nvPr/>
            </p:nvSpPr>
            <p:spPr bwMode="auto">
              <a:xfrm>
                <a:off x="468" y="2150"/>
                <a:ext cx="64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1600">
                    <a:latin typeface="Times New Roman" panose="02020603050405020304" pitchFamily="18" charset="0"/>
                  </a:rPr>
                  <a:t>0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6716" name="Rectangle 30"/>
              <p:cNvSpPr>
                <a:spLocks noChangeArrowheads="1"/>
              </p:cNvSpPr>
              <p:nvPr/>
            </p:nvSpPr>
            <p:spPr bwMode="auto">
              <a:xfrm>
                <a:off x="624" y="2016"/>
                <a:ext cx="48" cy="1536"/>
              </a:xfrm>
              <a:prstGeom prst="rect">
                <a:avLst/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endParaRPr lang="zh-CN" altLang="en-US" sz="20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6717" name="Rectangle 31"/>
              <p:cNvSpPr>
                <a:spLocks noChangeArrowheads="1"/>
              </p:cNvSpPr>
              <p:nvPr/>
            </p:nvSpPr>
            <p:spPr bwMode="auto">
              <a:xfrm>
                <a:off x="2208" y="3696"/>
                <a:ext cx="1152" cy="3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存储单元阵列</a:t>
                </a:r>
              </a:p>
            </p:txBody>
          </p:sp>
          <p:sp>
            <p:nvSpPr>
              <p:cNvPr id="156718" name="Rectangle 32"/>
              <p:cNvSpPr>
                <a:spLocks noChangeArrowheads="1"/>
              </p:cNvSpPr>
              <p:nvPr/>
            </p:nvSpPr>
            <p:spPr bwMode="auto">
              <a:xfrm>
                <a:off x="2304" y="3336"/>
                <a:ext cx="1152" cy="3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基准单元</a:t>
                </a:r>
              </a:p>
            </p:txBody>
          </p:sp>
          <p:sp>
            <p:nvSpPr>
              <p:cNvPr id="156719" name="Rectangle 33"/>
              <p:cNvSpPr>
                <a:spLocks noChangeArrowheads="1"/>
              </p:cNvSpPr>
              <p:nvPr/>
            </p:nvSpPr>
            <p:spPr bwMode="auto">
              <a:xfrm>
                <a:off x="1920" y="3264"/>
                <a:ext cx="288" cy="7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5000"/>
                  </a:lnSpc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行</a:t>
                </a:r>
              </a:p>
              <a:p>
                <a:pPr eaLnBrk="1" hangingPunct="1">
                  <a:lnSpc>
                    <a:spcPct val="95000"/>
                  </a:lnSpc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译</a:t>
                </a:r>
              </a:p>
              <a:p>
                <a:pPr eaLnBrk="1" hangingPunct="1">
                  <a:lnSpc>
                    <a:spcPct val="95000"/>
                  </a:lnSpc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码</a:t>
                </a:r>
              </a:p>
            </p:txBody>
          </p:sp>
          <p:sp>
            <p:nvSpPr>
              <p:cNvPr id="156720" name="Rectangle 34"/>
              <p:cNvSpPr>
                <a:spLocks noChangeArrowheads="1"/>
              </p:cNvSpPr>
              <p:nvPr/>
            </p:nvSpPr>
            <p:spPr bwMode="auto">
              <a:xfrm>
                <a:off x="2352" y="2948"/>
                <a:ext cx="1152" cy="3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列译码器</a:t>
                </a:r>
              </a:p>
            </p:txBody>
          </p:sp>
          <p:sp>
            <p:nvSpPr>
              <p:cNvPr id="156721" name="Rectangle 35"/>
              <p:cNvSpPr>
                <a:spLocks noChangeArrowheads="1"/>
              </p:cNvSpPr>
              <p:nvPr/>
            </p:nvSpPr>
            <p:spPr bwMode="auto">
              <a:xfrm>
                <a:off x="2256" y="2597"/>
                <a:ext cx="1152" cy="36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再生放大器</a:t>
                </a:r>
              </a:p>
            </p:txBody>
          </p:sp>
          <p:sp>
            <p:nvSpPr>
              <p:cNvPr id="156722" name="Rectangle 36"/>
              <p:cNvSpPr>
                <a:spLocks noChangeArrowheads="1"/>
              </p:cNvSpPr>
              <p:nvPr/>
            </p:nvSpPr>
            <p:spPr bwMode="auto">
              <a:xfrm>
                <a:off x="2352" y="2319"/>
                <a:ext cx="115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列译码器</a:t>
                </a:r>
              </a:p>
            </p:txBody>
          </p:sp>
          <p:sp>
            <p:nvSpPr>
              <p:cNvPr id="156723" name="Rectangle 37"/>
              <p:cNvSpPr>
                <a:spLocks noChangeArrowheads="1"/>
              </p:cNvSpPr>
              <p:nvPr/>
            </p:nvSpPr>
            <p:spPr bwMode="auto">
              <a:xfrm>
                <a:off x="1920" y="2279"/>
                <a:ext cx="288" cy="9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5000"/>
                  </a:lnSpc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读</a:t>
                </a:r>
              </a:p>
              <a:p>
                <a:pPr eaLnBrk="1" hangingPunct="1">
                  <a:lnSpc>
                    <a:spcPct val="95000"/>
                  </a:lnSpc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出</a:t>
                </a:r>
              </a:p>
              <a:p>
                <a:pPr eaLnBrk="1" hangingPunct="1">
                  <a:lnSpc>
                    <a:spcPct val="95000"/>
                  </a:lnSpc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放</a:t>
                </a:r>
              </a:p>
              <a:p>
                <a:pPr eaLnBrk="1" hangingPunct="1">
                  <a:lnSpc>
                    <a:spcPct val="95000"/>
                  </a:lnSpc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大</a:t>
                </a:r>
              </a:p>
            </p:txBody>
          </p:sp>
          <p:sp>
            <p:nvSpPr>
              <p:cNvPr id="156724" name="Rectangle 38"/>
              <p:cNvSpPr>
                <a:spLocks noChangeArrowheads="1"/>
              </p:cNvSpPr>
              <p:nvPr/>
            </p:nvSpPr>
            <p:spPr bwMode="auto">
              <a:xfrm>
                <a:off x="2352" y="1970"/>
                <a:ext cx="1152" cy="3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/>
                  <a:t>基准单元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6725" name="Rectangle 39"/>
              <p:cNvSpPr>
                <a:spLocks noChangeArrowheads="1"/>
              </p:cNvSpPr>
              <p:nvPr/>
            </p:nvSpPr>
            <p:spPr bwMode="auto">
              <a:xfrm>
                <a:off x="2208" y="1596"/>
                <a:ext cx="1152" cy="3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存储单元阵列</a:t>
                </a:r>
              </a:p>
            </p:txBody>
          </p:sp>
          <p:sp>
            <p:nvSpPr>
              <p:cNvPr id="156726" name="Rectangle 40"/>
              <p:cNvSpPr>
                <a:spLocks noChangeArrowheads="1"/>
              </p:cNvSpPr>
              <p:nvPr/>
            </p:nvSpPr>
            <p:spPr bwMode="auto">
              <a:xfrm>
                <a:off x="1920" y="1536"/>
                <a:ext cx="288" cy="7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5000"/>
                  </a:lnSpc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行</a:t>
                </a:r>
              </a:p>
              <a:p>
                <a:pPr eaLnBrk="1" hangingPunct="1">
                  <a:lnSpc>
                    <a:spcPct val="95000"/>
                  </a:lnSpc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译</a:t>
                </a:r>
              </a:p>
              <a:p>
                <a:pPr eaLnBrk="1" hangingPunct="1">
                  <a:lnSpc>
                    <a:spcPct val="95000"/>
                  </a:lnSpc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/>
                  <a:t>码</a:t>
                </a:r>
              </a:p>
            </p:txBody>
          </p:sp>
          <p:sp>
            <p:nvSpPr>
              <p:cNvPr id="156727" name="Line 41"/>
              <p:cNvSpPr>
                <a:spLocks noChangeShapeType="1"/>
              </p:cNvSpPr>
              <p:nvPr/>
            </p:nvSpPr>
            <p:spPr bwMode="auto">
              <a:xfrm>
                <a:off x="1920" y="2279"/>
                <a:ext cx="144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6728" name="Line 42"/>
              <p:cNvSpPr>
                <a:spLocks noChangeShapeType="1"/>
              </p:cNvSpPr>
              <p:nvPr/>
            </p:nvSpPr>
            <p:spPr bwMode="auto">
              <a:xfrm>
                <a:off x="1920" y="3264"/>
                <a:ext cx="144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6729" name="Line 43"/>
              <p:cNvSpPr>
                <a:spLocks noChangeShapeType="1"/>
              </p:cNvSpPr>
              <p:nvPr/>
            </p:nvSpPr>
            <p:spPr bwMode="auto">
              <a:xfrm>
                <a:off x="1920" y="4007"/>
                <a:ext cx="1440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6730" name="Line 44"/>
              <p:cNvSpPr>
                <a:spLocks noChangeShapeType="1"/>
              </p:cNvSpPr>
              <p:nvPr/>
            </p:nvSpPr>
            <p:spPr bwMode="auto">
              <a:xfrm>
                <a:off x="1920" y="1536"/>
                <a:ext cx="0" cy="2471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6731" name="Line 45"/>
              <p:cNvSpPr>
                <a:spLocks noChangeShapeType="1"/>
              </p:cNvSpPr>
              <p:nvPr/>
            </p:nvSpPr>
            <p:spPr bwMode="auto">
              <a:xfrm>
                <a:off x="2208" y="1536"/>
                <a:ext cx="0" cy="247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6732" name="Line 46"/>
              <p:cNvSpPr>
                <a:spLocks noChangeShapeType="1"/>
              </p:cNvSpPr>
              <p:nvPr/>
            </p:nvSpPr>
            <p:spPr bwMode="auto">
              <a:xfrm>
                <a:off x="3360" y="1536"/>
                <a:ext cx="0" cy="2471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6733" name="Freeform 47"/>
              <p:cNvSpPr/>
              <p:nvPr/>
            </p:nvSpPr>
            <p:spPr bwMode="auto">
              <a:xfrm>
                <a:off x="1923" y="1533"/>
                <a:ext cx="1437" cy="4"/>
              </a:xfrm>
              <a:custGeom>
                <a:avLst/>
                <a:gdLst>
                  <a:gd name="T0" fmla="*/ 0 w 1437"/>
                  <a:gd name="T1" fmla="*/ 0 h 4"/>
                  <a:gd name="T2" fmla="*/ 1437 w 1437"/>
                  <a:gd name="T3" fmla="*/ 4 h 4"/>
                  <a:gd name="T4" fmla="*/ 0 60000 65536"/>
                  <a:gd name="T5" fmla="*/ 0 60000 65536"/>
                  <a:gd name="T6" fmla="*/ 0 w 1437"/>
                  <a:gd name="T7" fmla="*/ 0 h 4"/>
                  <a:gd name="T8" fmla="*/ 1437 w 1437"/>
                  <a:gd name="T9" fmla="*/ 4 h 4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437" h="4">
                    <a:moveTo>
                      <a:pt x="0" y="0"/>
                    </a:moveTo>
                    <a:lnTo>
                      <a:pt x="1437" y="4"/>
                    </a:lnTo>
                  </a:path>
                </a:pathLst>
              </a:custGeom>
              <a:noFill/>
              <a:ln w="38100" cap="sq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6734" name="Line 48"/>
              <p:cNvSpPr>
                <a:spLocks noChangeShapeType="1"/>
              </p:cNvSpPr>
              <p:nvPr/>
            </p:nvSpPr>
            <p:spPr bwMode="auto">
              <a:xfrm>
                <a:off x="2208" y="1920"/>
                <a:ext cx="115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6735" name="Line 49"/>
              <p:cNvSpPr>
                <a:spLocks noChangeShapeType="1"/>
              </p:cNvSpPr>
              <p:nvPr/>
            </p:nvSpPr>
            <p:spPr bwMode="auto">
              <a:xfrm>
                <a:off x="2208" y="2567"/>
                <a:ext cx="115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6736" name="Line 50"/>
              <p:cNvSpPr>
                <a:spLocks noChangeShapeType="1"/>
              </p:cNvSpPr>
              <p:nvPr/>
            </p:nvSpPr>
            <p:spPr bwMode="auto">
              <a:xfrm>
                <a:off x="2208" y="2928"/>
                <a:ext cx="115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6737" name="Line 51"/>
              <p:cNvSpPr>
                <a:spLocks noChangeShapeType="1"/>
              </p:cNvSpPr>
              <p:nvPr/>
            </p:nvSpPr>
            <p:spPr bwMode="auto">
              <a:xfrm>
                <a:off x="2208" y="3648"/>
                <a:ext cx="115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6738" name="Rectangle 52"/>
              <p:cNvSpPr>
                <a:spLocks noChangeArrowheads="1"/>
              </p:cNvSpPr>
              <p:nvPr/>
            </p:nvSpPr>
            <p:spPr bwMode="auto">
              <a:xfrm>
                <a:off x="4215" y="2497"/>
                <a:ext cx="740" cy="62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6739" name="Rectangle 53"/>
              <p:cNvSpPr>
                <a:spLocks noChangeArrowheads="1"/>
              </p:cNvSpPr>
              <p:nvPr/>
            </p:nvSpPr>
            <p:spPr bwMode="auto">
              <a:xfrm>
                <a:off x="4223" y="2568"/>
                <a:ext cx="498" cy="2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200">
                    <a:latin typeface="Times New Roman" panose="02020603050405020304" pitchFamily="18" charset="0"/>
                  </a:rPr>
                  <a:t>     </a:t>
                </a:r>
                <a:r>
                  <a:rPr lang="zh-CN" altLang="en-US" sz="1200">
                    <a:latin typeface="Times New Roman" panose="02020603050405020304" pitchFamily="18" charset="0"/>
                  </a:rPr>
                  <a:t> </a:t>
                </a:r>
                <a:r>
                  <a:rPr lang="en-US" altLang="zh-CN" sz="2200">
                    <a:latin typeface="Times New Roman" panose="02020603050405020304" pitchFamily="18" charset="0"/>
                  </a:rPr>
                  <a:t>I/O</a:t>
                </a:r>
              </a:p>
            </p:txBody>
          </p:sp>
          <p:sp>
            <p:nvSpPr>
              <p:cNvPr id="156740" name="Rectangle 54"/>
              <p:cNvSpPr>
                <a:spLocks noChangeArrowheads="1"/>
              </p:cNvSpPr>
              <p:nvPr/>
            </p:nvSpPr>
            <p:spPr bwMode="auto">
              <a:xfrm>
                <a:off x="4353" y="2802"/>
                <a:ext cx="483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/>
                  <a:t>缓存器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6741" name="Rectangle 55"/>
              <p:cNvSpPr>
                <a:spLocks noChangeArrowheads="1"/>
              </p:cNvSpPr>
              <p:nvPr/>
            </p:nvSpPr>
            <p:spPr bwMode="auto">
              <a:xfrm>
                <a:off x="4192" y="3547"/>
                <a:ext cx="738" cy="49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6742" name="Rectangle 56"/>
              <p:cNvSpPr>
                <a:spLocks noChangeArrowheads="1"/>
              </p:cNvSpPr>
              <p:nvPr/>
            </p:nvSpPr>
            <p:spPr bwMode="auto">
              <a:xfrm>
                <a:off x="4224" y="3592"/>
                <a:ext cx="644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/>
                  <a:t>数据输出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6743" name="Rectangle 57"/>
              <p:cNvSpPr>
                <a:spLocks noChangeArrowheads="1"/>
              </p:cNvSpPr>
              <p:nvPr/>
            </p:nvSpPr>
            <p:spPr bwMode="auto">
              <a:xfrm>
                <a:off x="4417" y="3815"/>
                <a:ext cx="322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/>
                  <a:t>驱动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6744" name="Rectangle 58"/>
              <p:cNvSpPr>
                <a:spLocks noChangeArrowheads="1"/>
              </p:cNvSpPr>
              <p:nvPr/>
            </p:nvSpPr>
            <p:spPr bwMode="auto">
              <a:xfrm>
                <a:off x="4215" y="1692"/>
                <a:ext cx="740" cy="489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6745" name="Rectangle 59"/>
              <p:cNvSpPr>
                <a:spLocks noChangeArrowheads="1"/>
              </p:cNvSpPr>
              <p:nvPr/>
            </p:nvSpPr>
            <p:spPr bwMode="auto">
              <a:xfrm>
                <a:off x="4265" y="1718"/>
                <a:ext cx="644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/>
                  <a:t>数据输入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6746" name="Rectangle 60"/>
              <p:cNvSpPr>
                <a:spLocks noChangeArrowheads="1"/>
              </p:cNvSpPr>
              <p:nvPr/>
            </p:nvSpPr>
            <p:spPr bwMode="auto">
              <a:xfrm>
                <a:off x="4344" y="1958"/>
                <a:ext cx="483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/>
                  <a:t>寄存器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6747" name="Rectangle 61"/>
              <p:cNvSpPr>
                <a:spLocks noChangeArrowheads="1"/>
              </p:cNvSpPr>
              <p:nvPr/>
            </p:nvSpPr>
            <p:spPr bwMode="auto">
              <a:xfrm>
                <a:off x="3744" y="2389"/>
                <a:ext cx="48" cy="1795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6748" name="Rectangle 62"/>
              <p:cNvSpPr>
                <a:spLocks noChangeArrowheads="1"/>
              </p:cNvSpPr>
              <p:nvPr/>
            </p:nvSpPr>
            <p:spPr bwMode="auto">
              <a:xfrm>
                <a:off x="3840" y="2524"/>
                <a:ext cx="42" cy="2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100" b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endParaRPr lang="zh-CN" altLang="en-US" sz="24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6749" name="Rectangle 63"/>
              <p:cNvSpPr>
                <a:spLocks noChangeArrowheads="1"/>
              </p:cNvSpPr>
              <p:nvPr/>
            </p:nvSpPr>
            <p:spPr bwMode="auto">
              <a:xfrm rot="5400000">
                <a:off x="2479" y="2917"/>
                <a:ext cx="48" cy="2487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6750" name="Rectangle 64"/>
              <p:cNvSpPr>
                <a:spLocks noChangeArrowheads="1"/>
              </p:cNvSpPr>
              <p:nvPr/>
            </p:nvSpPr>
            <p:spPr bwMode="auto">
              <a:xfrm>
                <a:off x="1200" y="3975"/>
                <a:ext cx="48" cy="218"/>
              </a:xfrm>
              <a:prstGeom prst="rect">
                <a:avLst/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6751" name="Freeform 65"/>
              <p:cNvSpPr/>
              <p:nvPr/>
            </p:nvSpPr>
            <p:spPr bwMode="auto">
              <a:xfrm>
                <a:off x="4608" y="2181"/>
                <a:ext cx="1" cy="315"/>
              </a:xfrm>
              <a:custGeom>
                <a:avLst/>
                <a:gdLst>
                  <a:gd name="T0" fmla="*/ 0 w 1"/>
                  <a:gd name="T1" fmla="*/ 0 h 315"/>
                  <a:gd name="T2" fmla="*/ 1 w 1"/>
                  <a:gd name="T3" fmla="*/ 315 h 315"/>
                  <a:gd name="T4" fmla="*/ 0 60000 65536"/>
                  <a:gd name="T5" fmla="*/ 0 60000 65536"/>
                  <a:gd name="T6" fmla="*/ 0 w 1"/>
                  <a:gd name="T7" fmla="*/ 0 h 315"/>
                  <a:gd name="T8" fmla="*/ 1 w 1"/>
                  <a:gd name="T9" fmla="*/ 315 h 31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315">
                    <a:moveTo>
                      <a:pt x="0" y="0"/>
                    </a:moveTo>
                    <a:lnTo>
                      <a:pt x="1" y="31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6752" name="Freeform 66"/>
              <p:cNvSpPr/>
              <p:nvPr/>
            </p:nvSpPr>
            <p:spPr bwMode="auto">
              <a:xfrm>
                <a:off x="4608" y="3117"/>
                <a:ext cx="1" cy="429"/>
              </a:xfrm>
              <a:custGeom>
                <a:avLst/>
                <a:gdLst>
                  <a:gd name="T0" fmla="*/ 0 w 1"/>
                  <a:gd name="T1" fmla="*/ 0 h 429"/>
                  <a:gd name="T2" fmla="*/ 1 w 1"/>
                  <a:gd name="T3" fmla="*/ 429 h 429"/>
                  <a:gd name="T4" fmla="*/ 0 60000 65536"/>
                  <a:gd name="T5" fmla="*/ 0 60000 65536"/>
                  <a:gd name="T6" fmla="*/ 0 w 1"/>
                  <a:gd name="T7" fmla="*/ 0 h 429"/>
                  <a:gd name="T8" fmla="*/ 1 w 1"/>
                  <a:gd name="T9" fmla="*/ 429 h 42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29">
                    <a:moveTo>
                      <a:pt x="0" y="0"/>
                    </a:moveTo>
                    <a:lnTo>
                      <a:pt x="1" y="429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6753" name="Line 67"/>
              <p:cNvSpPr>
                <a:spLocks noChangeShapeType="1"/>
              </p:cNvSpPr>
              <p:nvPr/>
            </p:nvSpPr>
            <p:spPr bwMode="auto">
              <a:xfrm flipH="1">
                <a:off x="4944" y="1968"/>
                <a:ext cx="33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6754" name="Line 68"/>
              <p:cNvSpPr>
                <a:spLocks noChangeShapeType="1"/>
              </p:cNvSpPr>
              <p:nvPr/>
            </p:nvSpPr>
            <p:spPr bwMode="auto">
              <a:xfrm rot="10800000" flipH="1">
                <a:off x="4938" y="3792"/>
                <a:ext cx="33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6755" name="Text Box 69"/>
              <p:cNvSpPr txBox="1">
                <a:spLocks noChangeArrowheads="1"/>
              </p:cNvSpPr>
              <p:nvPr/>
            </p:nvSpPr>
            <p:spPr bwMode="auto">
              <a:xfrm>
                <a:off x="5040" y="1968"/>
                <a:ext cx="48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  <a:r>
                  <a:rPr lang="en-US" altLang="zh-CN" sz="2400" baseline="-25000">
                    <a:latin typeface="Times New Roman" panose="02020603050405020304" pitchFamily="18" charset="0"/>
                  </a:rPr>
                  <a:t>IN</a:t>
                </a:r>
              </a:p>
            </p:txBody>
          </p:sp>
          <p:sp>
            <p:nvSpPr>
              <p:cNvPr id="156756" name="Text Box 70"/>
              <p:cNvSpPr txBox="1">
                <a:spLocks noChangeArrowheads="1"/>
              </p:cNvSpPr>
              <p:nvPr/>
            </p:nvSpPr>
            <p:spPr bwMode="auto">
              <a:xfrm>
                <a:off x="4992" y="3801"/>
                <a:ext cx="72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  <a:r>
                  <a:rPr lang="en-US" altLang="zh-CN" sz="2400" baseline="-25000">
                    <a:latin typeface="Times New Roman" panose="02020603050405020304" pitchFamily="18" charset="0"/>
                  </a:rPr>
                  <a:t>OUT</a:t>
                </a:r>
              </a:p>
            </p:txBody>
          </p:sp>
          <p:sp>
            <p:nvSpPr>
              <p:cNvPr id="156757" name="Line 71"/>
              <p:cNvSpPr>
                <a:spLocks noChangeShapeType="1"/>
              </p:cNvSpPr>
              <p:nvPr/>
            </p:nvSpPr>
            <p:spPr bwMode="auto">
              <a:xfrm>
                <a:off x="1056" y="862"/>
                <a:ext cx="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6758" name="Line 72"/>
              <p:cNvSpPr>
                <a:spLocks noChangeShapeType="1"/>
              </p:cNvSpPr>
              <p:nvPr/>
            </p:nvSpPr>
            <p:spPr bwMode="auto">
              <a:xfrm>
                <a:off x="1056" y="1098"/>
                <a:ext cx="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6759" name="Line 73"/>
              <p:cNvSpPr>
                <a:spLocks noChangeShapeType="1"/>
              </p:cNvSpPr>
              <p:nvPr/>
            </p:nvSpPr>
            <p:spPr bwMode="auto">
              <a:xfrm>
                <a:off x="1056" y="1334"/>
                <a:ext cx="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6760" name="Line 74"/>
              <p:cNvSpPr>
                <a:spLocks noChangeShapeType="1"/>
              </p:cNvSpPr>
              <p:nvPr/>
            </p:nvSpPr>
            <p:spPr bwMode="auto">
              <a:xfrm>
                <a:off x="4368" y="864"/>
                <a:ext cx="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6761" name="Line 75"/>
              <p:cNvSpPr>
                <a:spLocks noChangeShapeType="1"/>
              </p:cNvSpPr>
              <p:nvPr/>
            </p:nvSpPr>
            <p:spPr bwMode="auto">
              <a:xfrm>
                <a:off x="4368" y="1100"/>
                <a:ext cx="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6762" name="Line 76"/>
              <p:cNvSpPr>
                <a:spLocks noChangeShapeType="1"/>
              </p:cNvSpPr>
              <p:nvPr/>
            </p:nvSpPr>
            <p:spPr bwMode="auto">
              <a:xfrm>
                <a:off x="4368" y="1336"/>
                <a:ext cx="28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6763" name="AutoShape 77"/>
              <p:cNvSpPr>
                <a:spLocks noChangeArrowheads="1"/>
              </p:cNvSpPr>
              <p:nvPr/>
            </p:nvSpPr>
            <p:spPr bwMode="auto">
              <a:xfrm>
                <a:off x="560" y="1980"/>
                <a:ext cx="388" cy="100"/>
              </a:xfrm>
              <a:prstGeom prst="rightArrow">
                <a:avLst>
                  <a:gd name="adj1" fmla="val 50000"/>
                  <a:gd name="adj2" fmla="val 97000"/>
                </a:avLst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6764" name="AutoShape 78"/>
              <p:cNvSpPr>
                <a:spLocks noChangeArrowheads="1"/>
              </p:cNvSpPr>
              <p:nvPr/>
            </p:nvSpPr>
            <p:spPr bwMode="auto">
              <a:xfrm>
                <a:off x="625" y="3488"/>
                <a:ext cx="320" cy="100"/>
              </a:xfrm>
              <a:prstGeom prst="rightArrow">
                <a:avLst>
                  <a:gd name="adj1" fmla="val 50000"/>
                  <a:gd name="adj2" fmla="val 80000"/>
                </a:avLst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6765" name="Rectangle 79"/>
              <p:cNvSpPr>
                <a:spLocks noChangeArrowheads="1"/>
              </p:cNvSpPr>
              <p:nvPr/>
            </p:nvSpPr>
            <p:spPr bwMode="auto">
              <a:xfrm>
                <a:off x="1572" y="2004"/>
                <a:ext cx="48" cy="1536"/>
              </a:xfrm>
              <a:prstGeom prst="rect">
                <a:avLst/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endParaRPr lang="zh-CN" altLang="en-US" sz="20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6766" name="AutoShape 80"/>
              <p:cNvSpPr>
                <a:spLocks noChangeArrowheads="1"/>
              </p:cNvSpPr>
              <p:nvPr/>
            </p:nvSpPr>
            <p:spPr bwMode="auto">
              <a:xfrm>
                <a:off x="1488" y="1968"/>
                <a:ext cx="433" cy="100"/>
              </a:xfrm>
              <a:prstGeom prst="rightArrow">
                <a:avLst>
                  <a:gd name="adj1" fmla="val 50000"/>
                  <a:gd name="adj2" fmla="val 108250"/>
                </a:avLst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6767" name="AutoShape 81"/>
              <p:cNvSpPr>
                <a:spLocks noChangeArrowheads="1"/>
              </p:cNvSpPr>
              <p:nvPr/>
            </p:nvSpPr>
            <p:spPr bwMode="auto">
              <a:xfrm>
                <a:off x="1573" y="3476"/>
                <a:ext cx="342" cy="100"/>
              </a:xfrm>
              <a:prstGeom prst="rightArrow">
                <a:avLst>
                  <a:gd name="adj1" fmla="val 50000"/>
                  <a:gd name="adj2" fmla="val 85500"/>
                </a:avLst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6768" name="AutoShape 82"/>
              <p:cNvSpPr>
                <a:spLocks noChangeArrowheads="1"/>
              </p:cNvSpPr>
              <p:nvPr/>
            </p:nvSpPr>
            <p:spPr bwMode="auto">
              <a:xfrm rot="10800000">
                <a:off x="3359" y="2348"/>
                <a:ext cx="433" cy="100"/>
              </a:xfrm>
              <a:prstGeom prst="rightArrow">
                <a:avLst>
                  <a:gd name="adj1" fmla="val 50000"/>
                  <a:gd name="adj2" fmla="val 108250"/>
                </a:avLst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6769" name="AutoShape 83"/>
              <p:cNvSpPr>
                <a:spLocks noChangeArrowheads="1"/>
              </p:cNvSpPr>
              <p:nvPr/>
            </p:nvSpPr>
            <p:spPr bwMode="auto">
              <a:xfrm rot="10800000">
                <a:off x="3360" y="3036"/>
                <a:ext cx="433" cy="100"/>
              </a:xfrm>
              <a:prstGeom prst="rightArrow">
                <a:avLst>
                  <a:gd name="adj1" fmla="val 50000"/>
                  <a:gd name="adj2" fmla="val 108250"/>
                </a:avLst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6770" name="AutoShape 84"/>
              <p:cNvSpPr>
                <a:spLocks noChangeArrowheads="1"/>
              </p:cNvSpPr>
              <p:nvPr/>
            </p:nvSpPr>
            <p:spPr bwMode="auto">
              <a:xfrm>
                <a:off x="3357" y="2700"/>
                <a:ext cx="841" cy="96"/>
              </a:xfrm>
              <a:prstGeom prst="leftRightArrow">
                <a:avLst>
                  <a:gd name="adj1" fmla="val 52083"/>
                  <a:gd name="adj2" fmla="val 115589"/>
                </a:avLst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56771" name="Text Box 85"/>
              <p:cNvSpPr txBox="1">
                <a:spLocks noChangeArrowheads="1"/>
              </p:cNvSpPr>
              <p:nvPr/>
            </p:nvSpPr>
            <p:spPr bwMode="auto">
              <a:xfrm>
                <a:off x="278" y="1920"/>
                <a:ext cx="346" cy="2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 b="0">
                    <a:latin typeface="Times New Roman" panose="02020603050405020304" pitchFamily="18" charset="0"/>
                  </a:rPr>
                  <a:t>~</a:t>
                </a:r>
              </a:p>
            </p:txBody>
          </p:sp>
        </p:grpSp>
        <p:sp>
          <p:nvSpPr>
            <p:cNvPr id="156693" name="Text Box 101"/>
            <p:cNvSpPr txBox="1">
              <a:spLocks noChangeArrowheads="1"/>
            </p:cNvSpPr>
            <p:nvPr/>
          </p:nvSpPr>
          <p:spPr bwMode="auto">
            <a:xfrm>
              <a:off x="939" y="1797"/>
              <a:ext cx="726" cy="5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0000"/>
                </a:lnSpc>
                <a:spcBef>
                  <a:spcPct val="50000"/>
                </a:spcBef>
              </a:pPr>
              <a:r>
                <a:rPr lang="zh-CN" altLang="en-US" sz="1800"/>
                <a:t>行地址</a:t>
              </a:r>
            </a:p>
            <a:p>
              <a:pPr eaLnBrk="1" hangingPunct="1">
                <a:lnSpc>
                  <a:spcPct val="90000"/>
                </a:lnSpc>
                <a:spcBef>
                  <a:spcPct val="50000"/>
                </a:spcBef>
              </a:pPr>
              <a:r>
                <a:rPr lang="zh-CN" altLang="en-US" sz="1800"/>
                <a:t>缓存器</a:t>
              </a:r>
            </a:p>
            <a:p>
              <a:pPr eaLnBrk="1" hangingPunct="1">
                <a:spcBef>
                  <a:spcPct val="50000"/>
                </a:spcBef>
              </a:pPr>
              <a:endParaRPr lang="zh-CN" altLang="en-US"/>
            </a:p>
          </p:txBody>
        </p:sp>
        <p:sp>
          <p:nvSpPr>
            <p:cNvPr id="156694" name="Text Box 102"/>
            <p:cNvSpPr txBox="1">
              <a:spLocks noChangeArrowheads="1"/>
            </p:cNvSpPr>
            <p:nvPr/>
          </p:nvSpPr>
          <p:spPr bwMode="auto">
            <a:xfrm>
              <a:off x="939" y="3319"/>
              <a:ext cx="726" cy="5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0000"/>
                </a:lnSpc>
                <a:spcBef>
                  <a:spcPct val="50000"/>
                </a:spcBef>
              </a:pPr>
              <a:r>
                <a:rPr lang="zh-CN" altLang="en-US" sz="1800"/>
                <a:t>列地址</a:t>
              </a:r>
            </a:p>
            <a:p>
              <a:pPr eaLnBrk="1" hangingPunct="1">
                <a:lnSpc>
                  <a:spcPct val="90000"/>
                </a:lnSpc>
                <a:spcBef>
                  <a:spcPct val="50000"/>
                </a:spcBef>
              </a:pPr>
              <a:r>
                <a:rPr lang="zh-CN" altLang="en-US" sz="1800"/>
                <a:t>缓存器</a:t>
              </a:r>
            </a:p>
            <a:p>
              <a:pPr eaLnBrk="1" hangingPunct="1">
                <a:spcBef>
                  <a:spcPct val="50000"/>
                </a:spcBef>
              </a:pPr>
              <a:endParaRPr lang="zh-CN" altLang="en-US"/>
            </a:p>
          </p:txBody>
        </p:sp>
      </p:grpSp>
      <p:sp>
        <p:nvSpPr>
          <p:cNvPr id="156675" name="Text Box 2"/>
          <p:cNvSpPr txBox="1">
            <a:spLocks noChangeArrowheads="1"/>
          </p:cNvSpPr>
          <p:nvPr/>
        </p:nvSpPr>
        <p:spPr bwMode="auto">
          <a:xfrm>
            <a:off x="0" y="334963"/>
            <a:ext cx="8153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③ </a:t>
            </a:r>
            <a:r>
              <a:rPr lang="zh-CN" altLang="en-US" sz="3200">
                <a:latin typeface="Times New Roman" panose="02020603050405020304" pitchFamily="18" charset="0"/>
              </a:rPr>
              <a:t>单管动态 </a:t>
            </a:r>
            <a:r>
              <a:rPr lang="en-US" altLang="zh-CN" sz="3200">
                <a:latin typeface="Times New Roman" panose="02020603050405020304" pitchFamily="18" charset="0"/>
              </a:rPr>
              <a:t>RAM 4116 </a:t>
            </a:r>
            <a:r>
              <a:rPr lang="zh-CN" altLang="en-US" sz="3200">
                <a:latin typeface="Times New Roman" panose="02020603050405020304" pitchFamily="18" charset="0"/>
              </a:rPr>
              <a:t>(16</a:t>
            </a:r>
            <a:r>
              <a:rPr lang="en-US" altLang="zh-CN" sz="3200">
                <a:latin typeface="Times New Roman" panose="02020603050405020304" pitchFamily="18" charset="0"/>
              </a:rPr>
              <a:t>K 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3200">
                <a:latin typeface="Times New Roman" panose="02020603050405020304" pitchFamily="18" charset="0"/>
              </a:rPr>
              <a:t> </a:t>
            </a:r>
            <a:r>
              <a:rPr lang="en-US" altLang="zh-CN" sz="2800"/>
              <a:t>1</a:t>
            </a:r>
            <a:r>
              <a:rPr lang="zh-CN" altLang="en-US" sz="2800"/>
              <a:t>位</a:t>
            </a:r>
            <a:r>
              <a:rPr lang="zh-CN" altLang="en-US" sz="3200">
                <a:latin typeface="Times New Roman" panose="02020603050405020304" pitchFamily="18" charset="0"/>
              </a:rPr>
              <a:t>) 外特性</a:t>
            </a:r>
          </a:p>
        </p:txBody>
      </p:sp>
      <p:sp>
        <p:nvSpPr>
          <p:cNvPr id="244739" name="Rectangle 3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grpSp>
        <p:nvGrpSpPr>
          <p:cNvPr id="4" name="Group 86"/>
          <p:cNvGrpSpPr/>
          <p:nvPr/>
        </p:nvGrpSpPr>
        <p:grpSpPr bwMode="auto">
          <a:xfrm>
            <a:off x="7839075" y="3124200"/>
            <a:ext cx="1228725" cy="3367088"/>
            <a:chOff x="4938" y="1968"/>
            <a:chExt cx="774" cy="2121"/>
          </a:xfrm>
        </p:grpSpPr>
        <p:sp>
          <p:nvSpPr>
            <p:cNvPr id="156688" name="Text Box 87"/>
            <p:cNvSpPr txBox="1">
              <a:spLocks noChangeArrowheads="1"/>
            </p:cNvSpPr>
            <p:nvPr/>
          </p:nvSpPr>
          <p:spPr bwMode="auto">
            <a:xfrm>
              <a:off x="5040" y="1968"/>
              <a:ext cx="48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D</a:t>
              </a:r>
              <a:r>
                <a:rPr lang="en-US" altLang="zh-CN" sz="2400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IN</a:t>
              </a:r>
            </a:p>
          </p:txBody>
        </p:sp>
        <p:sp>
          <p:nvSpPr>
            <p:cNvPr id="156689" name="Line 88"/>
            <p:cNvSpPr>
              <a:spLocks noChangeShapeType="1"/>
            </p:cNvSpPr>
            <p:nvPr/>
          </p:nvSpPr>
          <p:spPr bwMode="auto">
            <a:xfrm flipH="1">
              <a:off x="4944" y="1968"/>
              <a:ext cx="336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6690" name="Line 89"/>
            <p:cNvSpPr>
              <a:spLocks noChangeShapeType="1"/>
            </p:cNvSpPr>
            <p:nvPr/>
          </p:nvSpPr>
          <p:spPr bwMode="auto">
            <a:xfrm rot="10800000" flipH="1">
              <a:off x="4938" y="3792"/>
              <a:ext cx="336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6691" name="Text Box 90"/>
            <p:cNvSpPr txBox="1">
              <a:spLocks noChangeArrowheads="1"/>
            </p:cNvSpPr>
            <p:nvPr/>
          </p:nvSpPr>
          <p:spPr bwMode="auto">
            <a:xfrm>
              <a:off x="4992" y="3801"/>
              <a:ext cx="72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D</a:t>
              </a:r>
              <a:r>
                <a:rPr lang="en-US" altLang="zh-CN" sz="2400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OUT</a:t>
              </a:r>
            </a:p>
          </p:txBody>
        </p:sp>
      </p:grpSp>
      <p:grpSp>
        <p:nvGrpSpPr>
          <p:cNvPr id="5" name="Group 91"/>
          <p:cNvGrpSpPr/>
          <p:nvPr/>
        </p:nvGrpSpPr>
        <p:grpSpPr bwMode="auto">
          <a:xfrm>
            <a:off x="441325" y="2720975"/>
            <a:ext cx="549275" cy="936625"/>
            <a:chOff x="278" y="1714"/>
            <a:chExt cx="346" cy="590"/>
          </a:xfrm>
        </p:grpSpPr>
        <p:sp>
          <p:nvSpPr>
            <p:cNvPr id="156680" name="Rectangle 92"/>
            <p:cNvSpPr>
              <a:spLocks noChangeArrowheads="1"/>
            </p:cNvSpPr>
            <p:nvPr/>
          </p:nvSpPr>
          <p:spPr bwMode="auto">
            <a:xfrm>
              <a:off x="336" y="1714"/>
              <a:ext cx="287" cy="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6681" name="Rectangle 93"/>
            <p:cNvSpPr>
              <a:spLocks noChangeArrowheads="1"/>
            </p:cNvSpPr>
            <p:nvPr/>
          </p:nvSpPr>
          <p:spPr bwMode="auto">
            <a:xfrm>
              <a:off x="336" y="1743"/>
              <a:ext cx="121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1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A</a:t>
              </a:r>
              <a:endPara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6682" name="Rectangle 94"/>
            <p:cNvSpPr>
              <a:spLocks noChangeArrowheads="1"/>
            </p:cNvSpPr>
            <p:nvPr/>
          </p:nvSpPr>
          <p:spPr bwMode="auto">
            <a:xfrm>
              <a:off x="432" y="1718"/>
              <a:ext cx="3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'</a:t>
              </a:r>
              <a:endPara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6683" name="Rectangle 95"/>
            <p:cNvSpPr>
              <a:spLocks noChangeArrowheads="1"/>
            </p:cNvSpPr>
            <p:nvPr/>
          </p:nvSpPr>
          <p:spPr bwMode="auto">
            <a:xfrm>
              <a:off x="468" y="1822"/>
              <a:ext cx="6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6</a:t>
              </a:r>
              <a:endPara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6684" name="Rectangle 96"/>
            <p:cNvSpPr>
              <a:spLocks noChangeArrowheads="1"/>
            </p:cNvSpPr>
            <p:nvPr/>
          </p:nvSpPr>
          <p:spPr bwMode="auto">
            <a:xfrm>
              <a:off x="336" y="2071"/>
              <a:ext cx="121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1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A</a:t>
              </a:r>
              <a:endPara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6685" name="Rectangle 97"/>
            <p:cNvSpPr>
              <a:spLocks noChangeArrowheads="1"/>
            </p:cNvSpPr>
            <p:nvPr/>
          </p:nvSpPr>
          <p:spPr bwMode="auto">
            <a:xfrm>
              <a:off x="432" y="2054"/>
              <a:ext cx="3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'</a:t>
              </a:r>
              <a:endPara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6686" name="Rectangle 98"/>
            <p:cNvSpPr>
              <a:spLocks noChangeArrowheads="1"/>
            </p:cNvSpPr>
            <p:nvPr/>
          </p:nvSpPr>
          <p:spPr bwMode="auto">
            <a:xfrm>
              <a:off x="468" y="2150"/>
              <a:ext cx="6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endPara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6687" name="Text Box 99"/>
            <p:cNvSpPr txBox="1">
              <a:spLocks noChangeArrowheads="1"/>
            </p:cNvSpPr>
            <p:nvPr/>
          </p:nvSpPr>
          <p:spPr bwMode="auto">
            <a:xfrm>
              <a:off x="278" y="1920"/>
              <a:ext cx="346" cy="2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 b="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~</a:t>
              </a:r>
            </a:p>
          </p:txBody>
        </p:sp>
      </p:grpSp>
      <p:sp>
        <p:nvSpPr>
          <p:cNvPr id="156679" name="AutoShape 100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698" name="Group 327"/>
          <p:cNvGrpSpPr/>
          <p:nvPr/>
        </p:nvGrpSpPr>
        <p:grpSpPr bwMode="auto">
          <a:xfrm>
            <a:off x="44450" y="660400"/>
            <a:ext cx="9034463" cy="5892800"/>
            <a:chOff x="28" y="416"/>
            <a:chExt cx="5691" cy="3712"/>
          </a:xfrm>
        </p:grpSpPr>
        <p:sp>
          <p:nvSpPr>
            <p:cNvPr id="157787" name="Freeform 328"/>
            <p:cNvSpPr/>
            <p:nvPr/>
          </p:nvSpPr>
          <p:spPr bwMode="auto">
            <a:xfrm>
              <a:off x="4464" y="568"/>
              <a:ext cx="419" cy="3138"/>
            </a:xfrm>
            <a:custGeom>
              <a:avLst/>
              <a:gdLst>
                <a:gd name="T0" fmla="*/ 0 w 419"/>
                <a:gd name="T1" fmla="*/ 0 h 3138"/>
                <a:gd name="T2" fmla="*/ 0 w 419"/>
                <a:gd name="T3" fmla="*/ 130 h 3138"/>
                <a:gd name="T4" fmla="*/ 416 w 419"/>
                <a:gd name="T5" fmla="*/ 130 h 3138"/>
                <a:gd name="T6" fmla="*/ 419 w 419"/>
                <a:gd name="T7" fmla="*/ 3138 h 313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19"/>
                <a:gd name="T13" fmla="*/ 0 h 3138"/>
                <a:gd name="T14" fmla="*/ 419 w 419"/>
                <a:gd name="T15" fmla="*/ 3138 h 313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19" h="3138">
                  <a:moveTo>
                    <a:pt x="0" y="0"/>
                  </a:moveTo>
                  <a:lnTo>
                    <a:pt x="0" y="130"/>
                  </a:lnTo>
                  <a:lnTo>
                    <a:pt x="416" y="130"/>
                  </a:lnTo>
                  <a:lnTo>
                    <a:pt x="419" y="313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7788" name="Freeform 329"/>
            <p:cNvSpPr/>
            <p:nvPr/>
          </p:nvSpPr>
          <p:spPr bwMode="auto">
            <a:xfrm>
              <a:off x="3743" y="3684"/>
              <a:ext cx="1" cy="189"/>
            </a:xfrm>
            <a:custGeom>
              <a:avLst/>
              <a:gdLst>
                <a:gd name="T0" fmla="*/ 1 w 1"/>
                <a:gd name="T1" fmla="*/ 0 h 189"/>
                <a:gd name="T2" fmla="*/ 0 w 1"/>
                <a:gd name="T3" fmla="*/ 189 h 189"/>
                <a:gd name="T4" fmla="*/ 0 60000 65536"/>
                <a:gd name="T5" fmla="*/ 0 60000 65536"/>
                <a:gd name="T6" fmla="*/ 0 w 1"/>
                <a:gd name="T7" fmla="*/ 0 h 189"/>
                <a:gd name="T8" fmla="*/ 1 w 1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9">
                  <a:moveTo>
                    <a:pt x="1" y="0"/>
                  </a:moveTo>
                  <a:lnTo>
                    <a:pt x="0" y="18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7789" name="Freeform 330"/>
            <p:cNvSpPr/>
            <p:nvPr/>
          </p:nvSpPr>
          <p:spPr bwMode="auto">
            <a:xfrm>
              <a:off x="3751" y="3694"/>
              <a:ext cx="1145" cy="2"/>
            </a:xfrm>
            <a:custGeom>
              <a:avLst/>
              <a:gdLst>
                <a:gd name="T0" fmla="*/ 4958 w 1023"/>
                <a:gd name="T1" fmla="*/ 0 h 2"/>
                <a:gd name="T2" fmla="*/ 0 w 1023"/>
                <a:gd name="T3" fmla="*/ 2 h 2"/>
                <a:gd name="T4" fmla="*/ 0 60000 65536"/>
                <a:gd name="T5" fmla="*/ 0 60000 65536"/>
                <a:gd name="T6" fmla="*/ 0 w 1023"/>
                <a:gd name="T7" fmla="*/ 0 h 2"/>
                <a:gd name="T8" fmla="*/ 1023 w 1023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23" h="2">
                  <a:moveTo>
                    <a:pt x="1023" y="0"/>
                  </a:moveTo>
                  <a:lnTo>
                    <a:pt x="0" y="2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790" name="Freeform 331"/>
            <p:cNvSpPr/>
            <p:nvPr/>
          </p:nvSpPr>
          <p:spPr bwMode="auto">
            <a:xfrm>
              <a:off x="5308" y="432"/>
              <a:ext cx="144" cy="1776"/>
            </a:xfrm>
            <a:custGeom>
              <a:avLst/>
              <a:gdLst>
                <a:gd name="T0" fmla="*/ 0 w 134"/>
                <a:gd name="T1" fmla="*/ 0 h 1540"/>
                <a:gd name="T2" fmla="*/ 38 w 134"/>
                <a:gd name="T3" fmla="*/ 3 h 1540"/>
                <a:gd name="T4" fmla="*/ 73 w 134"/>
                <a:gd name="T5" fmla="*/ 77 h 1540"/>
                <a:gd name="T6" fmla="*/ 102 w 134"/>
                <a:gd name="T7" fmla="*/ 159 h 1540"/>
                <a:gd name="T8" fmla="*/ 129 w 134"/>
                <a:gd name="T9" fmla="*/ 280 h 1540"/>
                <a:gd name="T10" fmla="*/ 153 w 134"/>
                <a:gd name="T11" fmla="*/ 411 h 1540"/>
                <a:gd name="T12" fmla="*/ 171 w 134"/>
                <a:gd name="T13" fmla="*/ 571 h 1540"/>
                <a:gd name="T14" fmla="*/ 182 w 134"/>
                <a:gd name="T15" fmla="*/ 758 h 1540"/>
                <a:gd name="T16" fmla="*/ 185 w 134"/>
                <a:gd name="T17" fmla="*/ 943 h 1540"/>
                <a:gd name="T18" fmla="*/ 185 w 134"/>
                <a:gd name="T19" fmla="*/ 4733 h 1540"/>
                <a:gd name="T20" fmla="*/ 190 w 134"/>
                <a:gd name="T21" fmla="*/ 4915 h 1540"/>
                <a:gd name="T22" fmla="*/ 203 w 134"/>
                <a:gd name="T23" fmla="*/ 5084 h 1540"/>
                <a:gd name="T24" fmla="*/ 214 w 134"/>
                <a:gd name="T25" fmla="*/ 5251 h 1540"/>
                <a:gd name="T26" fmla="*/ 234 w 134"/>
                <a:gd name="T27" fmla="*/ 5388 h 1540"/>
                <a:gd name="T28" fmla="*/ 265 w 134"/>
                <a:gd name="T29" fmla="*/ 5508 h 1540"/>
                <a:gd name="T30" fmla="*/ 292 w 134"/>
                <a:gd name="T31" fmla="*/ 5587 h 1540"/>
                <a:gd name="T32" fmla="*/ 328 w 134"/>
                <a:gd name="T33" fmla="*/ 5647 h 1540"/>
                <a:gd name="T34" fmla="*/ 365 w 134"/>
                <a:gd name="T35" fmla="*/ 5668 h 1540"/>
                <a:gd name="T36" fmla="*/ 328 w 134"/>
                <a:gd name="T37" fmla="*/ 5695 h 1540"/>
                <a:gd name="T38" fmla="*/ 292 w 134"/>
                <a:gd name="T39" fmla="*/ 5739 h 1540"/>
                <a:gd name="T40" fmla="*/ 265 w 134"/>
                <a:gd name="T41" fmla="*/ 5825 h 1540"/>
                <a:gd name="T42" fmla="*/ 234 w 134"/>
                <a:gd name="T43" fmla="*/ 5952 h 1540"/>
                <a:gd name="T44" fmla="*/ 214 w 134"/>
                <a:gd name="T45" fmla="*/ 6079 h 1540"/>
                <a:gd name="T46" fmla="*/ 203 w 134"/>
                <a:gd name="T47" fmla="*/ 6244 h 1540"/>
                <a:gd name="T48" fmla="*/ 190 w 134"/>
                <a:gd name="T49" fmla="*/ 6428 h 1540"/>
                <a:gd name="T50" fmla="*/ 185 w 134"/>
                <a:gd name="T51" fmla="*/ 6615 h 1540"/>
                <a:gd name="T52" fmla="*/ 185 w 134"/>
                <a:gd name="T53" fmla="*/ 10378 h 1540"/>
                <a:gd name="T54" fmla="*/ 182 w 134"/>
                <a:gd name="T55" fmla="*/ 10581 h 1540"/>
                <a:gd name="T56" fmla="*/ 171 w 134"/>
                <a:gd name="T57" fmla="*/ 10753 h 1540"/>
                <a:gd name="T58" fmla="*/ 153 w 134"/>
                <a:gd name="T59" fmla="*/ 10919 h 1540"/>
                <a:gd name="T60" fmla="*/ 129 w 134"/>
                <a:gd name="T61" fmla="*/ 11062 h 1540"/>
                <a:gd name="T62" fmla="*/ 102 w 134"/>
                <a:gd name="T63" fmla="*/ 11170 h 1540"/>
                <a:gd name="T64" fmla="*/ 73 w 134"/>
                <a:gd name="T65" fmla="*/ 11251 h 1540"/>
                <a:gd name="T66" fmla="*/ 38 w 134"/>
                <a:gd name="T67" fmla="*/ 11316 h 1540"/>
                <a:gd name="T68" fmla="*/ 0 w 134"/>
                <a:gd name="T69" fmla="*/ 11332 h 154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34"/>
                <a:gd name="T106" fmla="*/ 0 h 1540"/>
                <a:gd name="T107" fmla="*/ 134 w 134"/>
                <a:gd name="T108" fmla="*/ 1540 h 154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34" h="1540">
                  <a:moveTo>
                    <a:pt x="0" y="0"/>
                  </a:moveTo>
                  <a:lnTo>
                    <a:pt x="15" y="3"/>
                  </a:lnTo>
                  <a:lnTo>
                    <a:pt x="27" y="10"/>
                  </a:lnTo>
                  <a:lnTo>
                    <a:pt x="37" y="22"/>
                  </a:lnTo>
                  <a:lnTo>
                    <a:pt x="47" y="38"/>
                  </a:lnTo>
                  <a:lnTo>
                    <a:pt x="56" y="56"/>
                  </a:lnTo>
                  <a:lnTo>
                    <a:pt x="62" y="78"/>
                  </a:lnTo>
                  <a:lnTo>
                    <a:pt x="66" y="103"/>
                  </a:lnTo>
                  <a:lnTo>
                    <a:pt x="68" y="128"/>
                  </a:lnTo>
                  <a:lnTo>
                    <a:pt x="68" y="643"/>
                  </a:lnTo>
                  <a:lnTo>
                    <a:pt x="70" y="668"/>
                  </a:lnTo>
                  <a:lnTo>
                    <a:pt x="74" y="691"/>
                  </a:lnTo>
                  <a:lnTo>
                    <a:pt x="78" y="714"/>
                  </a:lnTo>
                  <a:lnTo>
                    <a:pt x="86" y="733"/>
                  </a:lnTo>
                  <a:lnTo>
                    <a:pt x="97" y="748"/>
                  </a:lnTo>
                  <a:lnTo>
                    <a:pt x="107" y="759"/>
                  </a:lnTo>
                  <a:lnTo>
                    <a:pt x="119" y="767"/>
                  </a:lnTo>
                  <a:lnTo>
                    <a:pt x="134" y="770"/>
                  </a:lnTo>
                  <a:lnTo>
                    <a:pt x="119" y="773"/>
                  </a:lnTo>
                  <a:lnTo>
                    <a:pt x="107" y="780"/>
                  </a:lnTo>
                  <a:lnTo>
                    <a:pt x="97" y="792"/>
                  </a:lnTo>
                  <a:lnTo>
                    <a:pt x="86" y="808"/>
                  </a:lnTo>
                  <a:lnTo>
                    <a:pt x="78" y="826"/>
                  </a:lnTo>
                  <a:lnTo>
                    <a:pt x="74" y="848"/>
                  </a:lnTo>
                  <a:lnTo>
                    <a:pt x="70" y="873"/>
                  </a:lnTo>
                  <a:lnTo>
                    <a:pt x="68" y="898"/>
                  </a:lnTo>
                  <a:lnTo>
                    <a:pt x="68" y="1411"/>
                  </a:lnTo>
                  <a:lnTo>
                    <a:pt x="66" y="1438"/>
                  </a:lnTo>
                  <a:lnTo>
                    <a:pt x="62" y="1461"/>
                  </a:lnTo>
                  <a:lnTo>
                    <a:pt x="56" y="1484"/>
                  </a:lnTo>
                  <a:lnTo>
                    <a:pt x="47" y="1503"/>
                  </a:lnTo>
                  <a:lnTo>
                    <a:pt x="37" y="1518"/>
                  </a:lnTo>
                  <a:lnTo>
                    <a:pt x="27" y="1529"/>
                  </a:lnTo>
                  <a:lnTo>
                    <a:pt x="15" y="1537"/>
                  </a:lnTo>
                  <a:lnTo>
                    <a:pt x="0" y="154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791" name="Freeform 332"/>
            <p:cNvSpPr/>
            <p:nvPr/>
          </p:nvSpPr>
          <p:spPr bwMode="auto">
            <a:xfrm>
              <a:off x="121" y="1707"/>
              <a:ext cx="198" cy="3"/>
            </a:xfrm>
            <a:custGeom>
              <a:avLst/>
              <a:gdLst>
                <a:gd name="T0" fmla="*/ 0 w 198"/>
                <a:gd name="T1" fmla="*/ 3 h 3"/>
                <a:gd name="T2" fmla="*/ 198 w 198"/>
                <a:gd name="T3" fmla="*/ 0 h 3"/>
                <a:gd name="T4" fmla="*/ 0 60000 65536"/>
                <a:gd name="T5" fmla="*/ 0 60000 65536"/>
                <a:gd name="T6" fmla="*/ 0 w 198"/>
                <a:gd name="T7" fmla="*/ 0 h 3"/>
                <a:gd name="T8" fmla="*/ 198 w 198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98" h="3">
                  <a:moveTo>
                    <a:pt x="0" y="3"/>
                  </a:moveTo>
                  <a:lnTo>
                    <a:pt x="198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792" name="Freeform 333"/>
            <p:cNvSpPr/>
            <p:nvPr/>
          </p:nvSpPr>
          <p:spPr bwMode="auto">
            <a:xfrm>
              <a:off x="2956" y="1665"/>
              <a:ext cx="195" cy="1"/>
            </a:xfrm>
            <a:custGeom>
              <a:avLst/>
              <a:gdLst>
                <a:gd name="T0" fmla="*/ 0 w 195"/>
                <a:gd name="T1" fmla="*/ 1 h 1"/>
                <a:gd name="T2" fmla="*/ 195 w 195"/>
                <a:gd name="T3" fmla="*/ 0 h 1"/>
                <a:gd name="T4" fmla="*/ 0 60000 65536"/>
                <a:gd name="T5" fmla="*/ 0 60000 65536"/>
                <a:gd name="T6" fmla="*/ 0 w 195"/>
                <a:gd name="T7" fmla="*/ 0 h 1"/>
                <a:gd name="T8" fmla="*/ 195 w 19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95" h="1">
                  <a:moveTo>
                    <a:pt x="0" y="1"/>
                  </a:moveTo>
                  <a:lnTo>
                    <a:pt x="19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793" name="Freeform 334"/>
            <p:cNvSpPr/>
            <p:nvPr/>
          </p:nvSpPr>
          <p:spPr bwMode="auto">
            <a:xfrm>
              <a:off x="168" y="3445"/>
              <a:ext cx="3859" cy="155"/>
            </a:xfrm>
            <a:custGeom>
              <a:avLst/>
              <a:gdLst>
                <a:gd name="T0" fmla="*/ 0 w 3179"/>
                <a:gd name="T1" fmla="*/ 0 h 136"/>
                <a:gd name="T2" fmla="*/ 2 w 3179"/>
                <a:gd name="T3" fmla="*/ 47 h 136"/>
                <a:gd name="T4" fmla="*/ 87 w 3179"/>
                <a:gd name="T5" fmla="*/ 87 h 136"/>
                <a:gd name="T6" fmla="*/ 191 w 3179"/>
                <a:gd name="T7" fmla="*/ 129 h 136"/>
                <a:gd name="T8" fmla="*/ 303 w 3179"/>
                <a:gd name="T9" fmla="*/ 168 h 136"/>
                <a:gd name="T10" fmla="*/ 504 w 3179"/>
                <a:gd name="T11" fmla="*/ 207 h 136"/>
                <a:gd name="T12" fmla="*/ 677 w 3179"/>
                <a:gd name="T13" fmla="*/ 238 h 136"/>
                <a:gd name="T14" fmla="*/ 1179 w 3179"/>
                <a:gd name="T15" fmla="*/ 301 h 136"/>
                <a:gd name="T16" fmla="*/ 1764 w 3179"/>
                <a:gd name="T17" fmla="*/ 350 h 136"/>
                <a:gd name="T18" fmla="*/ 2444 w 3179"/>
                <a:gd name="T19" fmla="*/ 390 h 136"/>
                <a:gd name="T20" fmla="*/ 3189 w 3179"/>
                <a:gd name="T21" fmla="*/ 419 h 136"/>
                <a:gd name="T22" fmla="*/ 4008 w 3179"/>
                <a:gd name="T23" fmla="*/ 425 h 136"/>
                <a:gd name="T24" fmla="*/ 20232 w 3179"/>
                <a:gd name="T25" fmla="*/ 425 h 136"/>
                <a:gd name="T26" fmla="*/ 21047 w 3179"/>
                <a:gd name="T27" fmla="*/ 443 h 136"/>
                <a:gd name="T28" fmla="*/ 21785 w 3179"/>
                <a:gd name="T29" fmla="*/ 457 h 136"/>
                <a:gd name="T30" fmla="*/ 22478 w 3179"/>
                <a:gd name="T31" fmla="*/ 505 h 136"/>
                <a:gd name="T32" fmla="*/ 23062 w 3179"/>
                <a:gd name="T33" fmla="*/ 552 h 136"/>
                <a:gd name="T34" fmla="*/ 23547 w 3179"/>
                <a:gd name="T35" fmla="*/ 612 h 136"/>
                <a:gd name="T36" fmla="*/ 23725 w 3179"/>
                <a:gd name="T37" fmla="*/ 656 h 136"/>
                <a:gd name="T38" fmla="*/ 23918 w 3179"/>
                <a:gd name="T39" fmla="*/ 686 h 136"/>
                <a:gd name="T40" fmla="*/ 24044 w 3179"/>
                <a:gd name="T41" fmla="*/ 731 h 136"/>
                <a:gd name="T42" fmla="*/ 24131 w 3179"/>
                <a:gd name="T43" fmla="*/ 769 h 136"/>
                <a:gd name="T44" fmla="*/ 24187 w 3179"/>
                <a:gd name="T45" fmla="*/ 807 h 136"/>
                <a:gd name="T46" fmla="*/ 24234 w 3179"/>
                <a:gd name="T47" fmla="*/ 852 h 136"/>
                <a:gd name="T48" fmla="*/ 24262 w 3179"/>
                <a:gd name="T49" fmla="*/ 807 h 136"/>
                <a:gd name="T50" fmla="*/ 24325 w 3179"/>
                <a:gd name="T51" fmla="*/ 769 h 136"/>
                <a:gd name="T52" fmla="*/ 24402 w 3179"/>
                <a:gd name="T53" fmla="*/ 731 h 136"/>
                <a:gd name="T54" fmla="*/ 24533 w 3179"/>
                <a:gd name="T55" fmla="*/ 686 h 136"/>
                <a:gd name="T56" fmla="*/ 24730 w 3179"/>
                <a:gd name="T57" fmla="*/ 656 h 136"/>
                <a:gd name="T58" fmla="*/ 24909 w 3179"/>
                <a:gd name="T59" fmla="*/ 612 h 136"/>
                <a:gd name="T60" fmla="*/ 25399 w 3179"/>
                <a:gd name="T61" fmla="*/ 552 h 136"/>
                <a:gd name="T62" fmla="*/ 25987 w 3179"/>
                <a:gd name="T63" fmla="*/ 505 h 136"/>
                <a:gd name="T64" fmla="*/ 26668 w 3179"/>
                <a:gd name="T65" fmla="*/ 457 h 136"/>
                <a:gd name="T66" fmla="*/ 27418 w 3179"/>
                <a:gd name="T67" fmla="*/ 443 h 136"/>
                <a:gd name="T68" fmla="*/ 28222 w 3179"/>
                <a:gd name="T69" fmla="*/ 425 h 136"/>
                <a:gd name="T70" fmla="*/ 43966 w 3179"/>
                <a:gd name="T71" fmla="*/ 425 h 136"/>
                <a:gd name="T72" fmla="*/ 44789 w 3179"/>
                <a:gd name="T73" fmla="*/ 419 h 136"/>
                <a:gd name="T74" fmla="*/ 45508 w 3179"/>
                <a:gd name="T75" fmla="*/ 390 h 136"/>
                <a:gd name="T76" fmla="*/ 46195 w 3179"/>
                <a:gd name="T77" fmla="*/ 350 h 136"/>
                <a:gd name="T78" fmla="*/ 46774 w 3179"/>
                <a:gd name="T79" fmla="*/ 301 h 136"/>
                <a:gd name="T80" fmla="*/ 47283 w 3179"/>
                <a:gd name="T81" fmla="*/ 238 h 136"/>
                <a:gd name="T82" fmla="*/ 47465 w 3179"/>
                <a:gd name="T83" fmla="*/ 207 h 136"/>
                <a:gd name="T84" fmla="*/ 47652 w 3179"/>
                <a:gd name="T85" fmla="*/ 168 h 136"/>
                <a:gd name="T86" fmla="*/ 47760 w 3179"/>
                <a:gd name="T87" fmla="*/ 129 h 136"/>
                <a:gd name="T88" fmla="*/ 47870 w 3179"/>
                <a:gd name="T89" fmla="*/ 87 h 136"/>
                <a:gd name="T90" fmla="*/ 47933 w 3179"/>
                <a:gd name="T91" fmla="*/ 47 h 136"/>
                <a:gd name="T92" fmla="*/ 47952 w 3179"/>
                <a:gd name="T93" fmla="*/ 0 h 1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179"/>
                <a:gd name="T142" fmla="*/ 0 h 136"/>
                <a:gd name="T143" fmla="*/ 3179 w 3179"/>
                <a:gd name="T144" fmla="*/ 136 h 1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179" h="136">
                  <a:moveTo>
                    <a:pt x="0" y="0"/>
                  </a:moveTo>
                  <a:lnTo>
                    <a:pt x="2" y="8"/>
                  </a:lnTo>
                  <a:lnTo>
                    <a:pt x="6" y="14"/>
                  </a:lnTo>
                  <a:lnTo>
                    <a:pt x="12" y="21"/>
                  </a:lnTo>
                  <a:lnTo>
                    <a:pt x="21" y="27"/>
                  </a:lnTo>
                  <a:lnTo>
                    <a:pt x="33" y="33"/>
                  </a:lnTo>
                  <a:lnTo>
                    <a:pt x="45" y="39"/>
                  </a:lnTo>
                  <a:lnTo>
                    <a:pt x="78" y="48"/>
                  </a:lnTo>
                  <a:lnTo>
                    <a:pt x="117" y="56"/>
                  </a:lnTo>
                  <a:lnTo>
                    <a:pt x="162" y="62"/>
                  </a:lnTo>
                  <a:lnTo>
                    <a:pt x="211" y="67"/>
                  </a:lnTo>
                  <a:lnTo>
                    <a:pt x="265" y="68"/>
                  </a:lnTo>
                  <a:lnTo>
                    <a:pt x="1341" y="68"/>
                  </a:lnTo>
                  <a:lnTo>
                    <a:pt x="1395" y="70"/>
                  </a:lnTo>
                  <a:lnTo>
                    <a:pt x="1444" y="74"/>
                  </a:lnTo>
                  <a:lnTo>
                    <a:pt x="1489" y="80"/>
                  </a:lnTo>
                  <a:lnTo>
                    <a:pt x="1528" y="89"/>
                  </a:lnTo>
                  <a:lnTo>
                    <a:pt x="1561" y="98"/>
                  </a:lnTo>
                  <a:lnTo>
                    <a:pt x="1573" y="104"/>
                  </a:lnTo>
                  <a:lnTo>
                    <a:pt x="1585" y="110"/>
                  </a:lnTo>
                  <a:lnTo>
                    <a:pt x="1594" y="117"/>
                  </a:lnTo>
                  <a:lnTo>
                    <a:pt x="1600" y="123"/>
                  </a:lnTo>
                  <a:lnTo>
                    <a:pt x="1604" y="129"/>
                  </a:lnTo>
                  <a:lnTo>
                    <a:pt x="1606" y="136"/>
                  </a:lnTo>
                  <a:lnTo>
                    <a:pt x="1608" y="129"/>
                  </a:lnTo>
                  <a:lnTo>
                    <a:pt x="1612" y="123"/>
                  </a:lnTo>
                  <a:lnTo>
                    <a:pt x="1618" y="117"/>
                  </a:lnTo>
                  <a:lnTo>
                    <a:pt x="1626" y="110"/>
                  </a:lnTo>
                  <a:lnTo>
                    <a:pt x="1639" y="104"/>
                  </a:lnTo>
                  <a:lnTo>
                    <a:pt x="1651" y="98"/>
                  </a:lnTo>
                  <a:lnTo>
                    <a:pt x="1684" y="89"/>
                  </a:lnTo>
                  <a:lnTo>
                    <a:pt x="1723" y="80"/>
                  </a:lnTo>
                  <a:lnTo>
                    <a:pt x="1768" y="74"/>
                  </a:lnTo>
                  <a:lnTo>
                    <a:pt x="1817" y="70"/>
                  </a:lnTo>
                  <a:lnTo>
                    <a:pt x="1870" y="68"/>
                  </a:lnTo>
                  <a:lnTo>
                    <a:pt x="2914" y="68"/>
                  </a:lnTo>
                  <a:lnTo>
                    <a:pt x="2968" y="67"/>
                  </a:lnTo>
                  <a:lnTo>
                    <a:pt x="3017" y="62"/>
                  </a:lnTo>
                  <a:lnTo>
                    <a:pt x="3062" y="56"/>
                  </a:lnTo>
                  <a:lnTo>
                    <a:pt x="3101" y="48"/>
                  </a:lnTo>
                  <a:lnTo>
                    <a:pt x="3134" y="39"/>
                  </a:lnTo>
                  <a:lnTo>
                    <a:pt x="3146" y="33"/>
                  </a:lnTo>
                  <a:lnTo>
                    <a:pt x="3158" y="27"/>
                  </a:lnTo>
                  <a:lnTo>
                    <a:pt x="3166" y="21"/>
                  </a:lnTo>
                  <a:lnTo>
                    <a:pt x="3173" y="14"/>
                  </a:lnTo>
                  <a:lnTo>
                    <a:pt x="3177" y="8"/>
                  </a:lnTo>
                  <a:lnTo>
                    <a:pt x="3179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794" name="Rectangle 335"/>
            <p:cNvSpPr>
              <a:spLocks noChangeArrowheads="1"/>
            </p:cNvSpPr>
            <p:nvPr/>
          </p:nvSpPr>
          <p:spPr bwMode="auto">
            <a:xfrm>
              <a:off x="2163" y="3869"/>
              <a:ext cx="745" cy="25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7795" name="Rectangle 336"/>
            <p:cNvSpPr>
              <a:spLocks noChangeArrowheads="1"/>
            </p:cNvSpPr>
            <p:nvPr/>
          </p:nvSpPr>
          <p:spPr bwMode="auto">
            <a:xfrm>
              <a:off x="3354" y="3869"/>
              <a:ext cx="742" cy="25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7796" name="Rectangle 337"/>
            <p:cNvSpPr>
              <a:spLocks noChangeArrowheads="1"/>
            </p:cNvSpPr>
            <p:nvPr/>
          </p:nvSpPr>
          <p:spPr bwMode="auto">
            <a:xfrm>
              <a:off x="4540" y="3869"/>
              <a:ext cx="744" cy="25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7797" name="Line 338"/>
            <p:cNvSpPr>
              <a:spLocks noChangeShapeType="1"/>
            </p:cNvSpPr>
            <p:nvPr/>
          </p:nvSpPr>
          <p:spPr bwMode="auto">
            <a:xfrm>
              <a:off x="681" y="698"/>
              <a:ext cx="3" cy="1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798" name="Line 339"/>
            <p:cNvSpPr>
              <a:spLocks noChangeShapeType="1"/>
            </p:cNvSpPr>
            <p:nvPr/>
          </p:nvSpPr>
          <p:spPr bwMode="auto">
            <a:xfrm>
              <a:off x="3212" y="698"/>
              <a:ext cx="2" cy="1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799" name="Freeform 340"/>
            <p:cNvSpPr/>
            <p:nvPr/>
          </p:nvSpPr>
          <p:spPr bwMode="auto">
            <a:xfrm>
              <a:off x="3357" y="698"/>
              <a:ext cx="1" cy="187"/>
            </a:xfrm>
            <a:custGeom>
              <a:avLst/>
              <a:gdLst>
                <a:gd name="T0" fmla="*/ 0 w 1"/>
                <a:gd name="T1" fmla="*/ 0 h 187"/>
                <a:gd name="T2" fmla="*/ 0 w 1"/>
                <a:gd name="T3" fmla="*/ 187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0"/>
                  </a:moveTo>
                  <a:lnTo>
                    <a:pt x="0" y="187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800" name="Rectangle 341"/>
            <p:cNvSpPr>
              <a:spLocks noChangeArrowheads="1"/>
            </p:cNvSpPr>
            <p:nvPr/>
          </p:nvSpPr>
          <p:spPr bwMode="auto">
            <a:xfrm>
              <a:off x="1708" y="576"/>
              <a:ext cx="906" cy="24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7801" name="Text Box 342"/>
            <p:cNvSpPr txBox="1">
              <a:spLocks noChangeArrowheads="1"/>
            </p:cNvSpPr>
            <p:nvPr/>
          </p:nvSpPr>
          <p:spPr bwMode="auto">
            <a:xfrm>
              <a:off x="1704" y="566"/>
              <a:ext cx="9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>
                  <a:latin typeface="Times New Roman" panose="02020603050405020304" pitchFamily="18" charset="0"/>
                </a:rPr>
                <a:t>    </a:t>
              </a:r>
              <a:r>
                <a:rPr lang="zh-CN" altLang="en-US" sz="2000">
                  <a:latin typeface="Times New Roman" panose="02020603050405020304" pitchFamily="18" charset="0"/>
                </a:rPr>
                <a:t>读放大器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57802" name="Rectangle 343"/>
            <p:cNvSpPr>
              <a:spLocks noChangeArrowheads="1"/>
            </p:cNvSpPr>
            <p:nvPr/>
          </p:nvSpPr>
          <p:spPr bwMode="auto">
            <a:xfrm>
              <a:off x="1708" y="1292"/>
              <a:ext cx="906" cy="24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7803" name="Text Box 344"/>
            <p:cNvSpPr txBox="1">
              <a:spLocks noChangeArrowheads="1"/>
            </p:cNvSpPr>
            <p:nvPr/>
          </p:nvSpPr>
          <p:spPr bwMode="auto">
            <a:xfrm>
              <a:off x="1704" y="1282"/>
              <a:ext cx="9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>
                  <a:latin typeface="Times New Roman" panose="02020603050405020304" pitchFamily="18" charset="0"/>
                </a:rPr>
                <a:t>    </a:t>
              </a:r>
              <a:r>
                <a:rPr lang="zh-CN" altLang="en-US" sz="2000">
                  <a:latin typeface="Times New Roman" panose="02020603050405020304" pitchFamily="18" charset="0"/>
                </a:rPr>
                <a:t>读放大器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57804" name="Rectangle 345"/>
            <p:cNvSpPr>
              <a:spLocks noChangeArrowheads="1"/>
            </p:cNvSpPr>
            <p:nvPr/>
          </p:nvSpPr>
          <p:spPr bwMode="auto">
            <a:xfrm>
              <a:off x="1712" y="2348"/>
              <a:ext cx="906" cy="24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7805" name="Text Box 346"/>
            <p:cNvSpPr txBox="1">
              <a:spLocks noChangeArrowheads="1"/>
            </p:cNvSpPr>
            <p:nvPr/>
          </p:nvSpPr>
          <p:spPr bwMode="auto">
            <a:xfrm>
              <a:off x="1708" y="2338"/>
              <a:ext cx="9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>
                  <a:latin typeface="Times New Roman" panose="02020603050405020304" pitchFamily="18" charset="0"/>
                </a:rPr>
                <a:t>    </a:t>
              </a:r>
              <a:r>
                <a:rPr lang="zh-CN" altLang="en-US" sz="2000">
                  <a:latin typeface="Times New Roman" panose="02020603050405020304" pitchFamily="18" charset="0"/>
                </a:rPr>
                <a:t>读放大器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57806" name="Text Box 347"/>
            <p:cNvSpPr txBox="1">
              <a:spLocks noChangeArrowheads="1"/>
            </p:cNvSpPr>
            <p:nvPr/>
          </p:nvSpPr>
          <p:spPr bwMode="auto">
            <a:xfrm rot="5400000">
              <a:off x="361" y="2031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57807" name="Text Box 348"/>
            <p:cNvSpPr txBox="1">
              <a:spLocks noChangeArrowheads="1"/>
            </p:cNvSpPr>
            <p:nvPr/>
          </p:nvSpPr>
          <p:spPr bwMode="auto">
            <a:xfrm rot="5400000">
              <a:off x="1312" y="2031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57808" name="Text Box 349"/>
            <p:cNvSpPr txBox="1">
              <a:spLocks noChangeArrowheads="1"/>
            </p:cNvSpPr>
            <p:nvPr/>
          </p:nvSpPr>
          <p:spPr bwMode="auto">
            <a:xfrm rot="5400000">
              <a:off x="2732" y="2031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57809" name="Text Box 350"/>
            <p:cNvSpPr txBox="1">
              <a:spLocks noChangeArrowheads="1"/>
            </p:cNvSpPr>
            <p:nvPr/>
          </p:nvSpPr>
          <p:spPr bwMode="auto">
            <a:xfrm>
              <a:off x="3439" y="3043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57810" name="Text Box 351"/>
            <p:cNvSpPr txBox="1">
              <a:spLocks noChangeArrowheads="1"/>
            </p:cNvSpPr>
            <p:nvPr/>
          </p:nvSpPr>
          <p:spPr bwMode="auto">
            <a:xfrm>
              <a:off x="412" y="3043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57811" name="Text Box 352"/>
            <p:cNvSpPr txBox="1">
              <a:spLocks noChangeArrowheads="1"/>
            </p:cNvSpPr>
            <p:nvPr/>
          </p:nvSpPr>
          <p:spPr bwMode="auto">
            <a:xfrm rot="5400000">
              <a:off x="2060" y="1749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57812" name="Text Box 353"/>
            <p:cNvSpPr txBox="1">
              <a:spLocks noChangeArrowheads="1"/>
            </p:cNvSpPr>
            <p:nvPr/>
          </p:nvSpPr>
          <p:spPr bwMode="auto">
            <a:xfrm rot="5400000">
              <a:off x="1897" y="1755"/>
              <a:ext cx="423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rot="10800000" vert="eaVert"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157813" name="Text Box 354"/>
            <p:cNvSpPr txBox="1">
              <a:spLocks noChangeArrowheads="1"/>
            </p:cNvSpPr>
            <p:nvPr/>
          </p:nvSpPr>
          <p:spPr bwMode="auto">
            <a:xfrm>
              <a:off x="3340" y="576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57814" name="Text Box 355"/>
            <p:cNvSpPr txBox="1">
              <a:spLocks noChangeArrowheads="1"/>
            </p:cNvSpPr>
            <p:nvPr/>
          </p:nvSpPr>
          <p:spPr bwMode="auto">
            <a:xfrm>
              <a:off x="904" y="576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grpSp>
          <p:nvGrpSpPr>
            <p:cNvPr id="157815" name="Group 356"/>
            <p:cNvGrpSpPr/>
            <p:nvPr/>
          </p:nvGrpSpPr>
          <p:grpSpPr bwMode="auto">
            <a:xfrm>
              <a:off x="315" y="864"/>
              <a:ext cx="49" cy="231"/>
              <a:chOff x="315" y="864"/>
              <a:chExt cx="49" cy="231"/>
            </a:xfrm>
          </p:grpSpPr>
          <p:sp>
            <p:nvSpPr>
              <p:cNvPr id="158021" name="Freeform 357"/>
              <p:cNvSpPr/>
              <p:nvPr/>
            </p:nvSpPr>
            <p:spPr bwMode="auto">
              <a:xfrm>
                <a:off x="315" y="922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  <a:gd name="T6" fmla="*/ 0 w 1"/>
                  <a:gd name="T7" fmla="*/ 0 h 120"/>
                  <a:gd name="T8" fmla="*/ 1 w 1"/>
                  <a:gd name="T9" fmla="*/ 120 h 1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8022" name="Freeform 358"/>
              <p:cNvSpPr/>
              <p:nvPr/>
            </p:nvSpPr>
            <p:spPr bwMode="auto">
              <a:xfrm>
                <a:off x="363" y="864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  <a:gd name="T6" fmla="*/ 0 w 1"/>
                  <a:gd name="T7" fmla="*/ 0 h 231"/>
                  <a:gd name="T8" fmla="*/ 1 w 1"/>
                  <a:gd name="T9" fmla="*/ 231 h 23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57816" name="Group 359"/>
            <p:cNvGrpSpPr/>
            <p:nvPr/>
          </p:nvGrpSpPr>
          <p:grpSpPr bwMode="auto">
            <a:xfrm>
              <a:off x="315" y="1593"/>
              <a:ext cx="49" cy="231"/>
              <a:chOff x="315" y="1593"/>
              <a:chExt cx="49" cy="231"/>
            </a:xfrm>
          </p:grpSpPr>
          <p:sp>
            <p:nvSpPr>
              <p:cNvPr id="158019" name="Freeform 360"/>
              <p:cNvSpPr/>
              <p:nvPr/>
            </p:nvSpPr>
            <p:spPr bwMode="auto">
              <a:xfrm>
                <a:off x="315" y="1651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  <a:gd name="T6" fmla="*/ 0 w 1"/>
                  <a:gd name="T7" fmla="*/ 0 h 120"/>
                  <a:gd name="T8" fmla="*/ 1 w 1"/>
                  <a:gd name="T9" fmla="*/ 120 h 1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8020" name="Freeform 361"/>
              <p:cNvSpPr/>
              <p:nvPr/>
            </p:nvSpPr>
            <p:spPr bwMode="auto">
              <a:xfrm>
                <a:off x="363" y="1593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  <a:gd name="T6" fmla="*/ 0 w 1"/>
                  <a:gd name="T7" fmla="*/ 0 h 231"/>
                  <a:gd name="T8" fmla="*/ 1 w 1"/>
                  <a:gd name="T9" fmla="*/ 231 h 23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57817" name="Group 362"/>
            <p:cNvGrpSpPr/>
            <p:nvPr/>
          </p:nvGrpSpPr>
          <p:grpSpPr bwMode="auto">
            <a:xfrm>
              <a:off x="315" y="2601"/>
              <a:ext cx="49" cy="231"/>
              <a:chOff x="315" y="2601"/>
              <a:chExt cx="49" cy="231"/>
            </a:xfrm>
          </p:grpSpPr>
          <p:sp>
            <p:nvSpPr>
              <p:cNvPr id="158017" name="Freeform 363"/>
              <p:cNvSpPr/>
              <p:nvPr/>
            </p:nvSpPr>
            <p:spPr bwMode="auto">
              <a:xfrm>
                <a:off x="315" y="2659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  <a:gd name="T6" fmla="*/ 0 w 1"/>
                  <a:gd name="T7" fmla="*/ 0 h 120"/>
                  <a:gd name="T8" fmla="*/ 1 w 1"/>
                  <a:gd name="T9" fmla="*/ 120 h 1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8018" name="Freeform 364"/>
              <p:cNvSpPr/>
              <p:nvPr/>
            </p:nvSpPr>
            <p:spPr bwMode="auto">
              <a:xfrm>
                <a:off x="363" y="2601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  <a:gd name="T6" fmla="*/ 0 w 1"/>
                  <a:gd name="T7" fmla="*/ 0 h 231"/>
                  <a:gd name="T8" fmla="*/ 1 w 1"/>
                  <a:gd name="T9" fmla="*/ 231 h 23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57818" name="Group 365"/>
            <p:cNvGrpSpPr/>
            <p:nvPr/>
          </p:nvGrpSpPr>
          <p:grpSpPr bwMode="auto">
            <a:xfrm>
              <a:off x="1275" y="864"/>
              <a:ext cx="49" cy="231"/>
              <a:chOff x="1275" y="864"/>
              <a:chExt cx="49" cy="231"/>
            </a:xfrm>
          </p:grpSpPr>
          <p:sp>
            <p:nvSpPr>
              <p:cNvPr id="158015" name="Freeform 366"/>
              <p:cNvSpPr/>
              <p:nvPr/>
            </p:nvSpPr>
            <p:spPr bwMode="auto">
              <a:xfrm>
                <a:off x="1275" y="922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  <a:gd name="T6" fmla="*/ 0 w 1"/>
                  <a:gd name="T7" fmla="*/ 0 h 120"/>
                  <a:gd name="T8" fmla="*/ 1 w 1"/>
                  <a:gd name="T9" fmla="*/ 120 h 1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8016" name="Freeform 367"/>
              <p:cNvSpPr/>
              <p:nvPr/>
            </p:nvSpPr>
            <p:spPr bwMode="auto">
              <a:xfrm>
                <a:off x="1323" y="864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  <a:gd name="T6" fmla="*/ 0 w 1"/>
                  <a:gd name="T7" fmla="*/ 0 h 231"/>
                  <a:gd name="T8" fmla="*/ 1 w 1"/>
                  <a:gd name="T9" fmla="*/ 231 h 23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57819" name="Group 368"/>
            <p:cNvGrpSpPr/>
            <p:nvPr/>
          </p:nvGrpSpPr>
          <p:grpSpPr bwMode="auto">
            <a:xfrm>
              <a:off x="1276" y="1593"/>
              <a:ext cx="49" cy="231"/>
              <a:chOff x="1276" y="1593"/>
              <a:chExt cx="49" cy="231"/>
            </a:xfrm>
          </p:grpSpPr>
          <p:sp>
            <p:nvSpPr>
              <p:cNvPr id="158013" name="Freeform 369"/>
              <p:cNvSpPr/>
              <p:nvPr/>
            </p:nvSpPr>
            <p:spPr bwMode="auto">
              <a:xfrm>
                <a:off x="1276" y="1651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  <a:gd name="T6" fmla="*/ 0 w 1"/>
                  <a:gd name="T7" fmla="*/ 0 h 120"/>
                  <a:gd name="T8" fmla="*/ 1 w 1"/>
                  <a:gd name="T9" fmla="*/ 120 h 1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8014" name="Freeform 370"/>
              <p:cNvSpPr/>
              <p:nvPr/>
            </p:nvSpPr>
            <p:spPr bwMode="auto">
              <a:xfrm>
                <a:off x="1324" y="1593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  <a:gd name="T6" fmla="*/ 0 w 1"/>
                  <a:gd name="T7" fmla="*/ 0 h 231"/>
                  <a:gd name="T8" fmla="*/ 1 w 1"/>
                  <a:gd name="T9" fmla="*/ 231 h 23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57820" name="Group 371"/>
            <p:cNvGrpSpPr/>
            <p:nvPr/>
          </p:nvGrpSpPr>
          <p:grpSpPr bwMode="auto">
            <a:xfrm>
              <a:off x="1276" y="2601"/>
              <a:ext cx="49" cy="231"/>
              <a:chOff x="1276" y="2601"/>
              <a:chExt cx="49" cy="231"/>
            </a:xfrm>
          </p:grpSpPr>
          <p:sp>
            <p:nvSpPr>
              <p:cNvPr id="158011" name="Freeform 372"/>
              <p:cNvSpPr/>
              <p:nvPr/>
            </p:nvSpPr>
            <p:spPr bwMode="auto">
              <a:xfrm>
                <a:off x="1276" y="2659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  <a:gd name="T6" fmla="*/ 0 w 1"/>
                  <a:gd name="T7" fmla="*/ 0 h 120"/>
                  <a:gd name="T8" fmla="*/ 1 w 1"/>
                  <a:gd name="T9" fmla="*/ 120 h 1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8012" name="Freeform 373"/>
              <p:cNvSpPr/>
              <p:nvPr/>
            </p:nvSpPr>
            <p:spPr bwMode="auto">
              <a:xfrm>
                <a:off x="1324" y="2601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  <a:gd name="T6" fmla="*/ 0 w 1"/>
                  <a:gd name="T7" fmla="*/ 0 h 231"/>
                  <a:gd name="T8" fmla="*/ 1 w 1"/>
                  <a:gd name="T9" fmla="*/ 231 h 23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57821" name="Freeform 374"/>
            <p:cNvSpPr/>
            <p:nvPr/>
          </p:nvSpPr>
          <p:spPr bwMode="auto">
            <a:xfrm>
              <a:off x="124" y="981"/>
              <a:ext cx="189" cy="2235"/>
            </a:xfrm>
            <a:custGeom>
              <a:avLst/>
              <a:gdLst>
                <a:gd name="T0" fmla="*/ 189 w 189"/>
                <a:gd name="T1" fmla="*/ 0 h 2235"/>
                <a:gd name="T2" fmla="*/ 0 w 189"/>
                <a:gd name="T3" fmla="*/ 0 h 2235"/>
                <a:gd name="T4" fmla="*/ 0 w 189"/>
                <a:gd name="T5" fmla="*/ 2235 h 2235"/>
                <a:gd name="T6" fmla="*/ 0 60000 65536"/>
                <a:gd name="T7" fmla="*/ 0 60000 65536"/>
                <a:gd name="T8" fmla="*/ 0 60000 65536"/>
                <a:gd name="T9" fmla="*/ 0 w 189"/>
                <a:gd name="T10" fmla="*/ 0 h 2235"/>
                <a:gd name="T11" fmla="*/ 189 w 189"/>
                <a:gd name="T12" fmla="*/ 2235 h 223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9" h="2235">
                  <a:moveTo>
                    <a:pt x="189" y="0"/>
                  </a:move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7822" name="Line 375"/>
            <p:cNvSpPr>
              <a:spLocks noChangeShapeType="1"/>
            </p:cNvSpPr>
            <p:nvPr/>
          </p:nvSpPr>
          <p:spPr bwMode="auto">
            <a:xfrm>
              <a:off x="124" y="2063"/>
              <a:ext cx="190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823" name="Line 376"/>
            <p:cNvSpPr>
              <a:spLocks noChangeShapeType="1"/>
            </p:cNvSpPr>
            <p:nvPr/>
          </p:nvSpPr>
          <p:spPr bwMode="auto">
            <a:xfrm>
              <a:off x="126" y="2255"/>
              <a:ext cx="190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824" name="Freeform 377"/>
            <p:cNvSpPr/>
            <p:nvPr/>
          </p:nvSpPr>
          <p:spPr bwMode="auto">
            <a:xfrm>
              <a:off x="121" y="2718"/>
              <a:ext cx="192" cy="1"/>
            </a:xfrm>
            <a:custGeom>
              <a:avLst/>
              <a:gdLst>
                <a:gd name="T0" fmla="*/ 0 w 192"/>
                <a:gd name="T1" fmla="*/ 0 h 1"/>
                <a:gd name="T2" fmla="*/ 192 w 192"/>
                <a:gd name="T3" fmla="*/ 0 h 1"/>
                <a:gd name="T4" fmla="*/ 0 60000 65536"/>
                <a:gd name="T5" fmla="*/ 0 60000 65536"/>
                <a:gd name="T6" fmla="*/ 0 w 192"/>
                <a:gd name="T7" fmla="*/ 0 h 1"/>
                <a:gd name="T8" fmla="*/ 192 w 19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92" h="1">
                  <a:moveTo>
                    <a:pt x="0" y="0"/>
                  </a:moveTo>
                  <a:lnTo>
                    <a:pt x="192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825" name="Freeform 378"/>
            <p:cNvSpPr/>
            <p:nvPr/>
          </p:nvSpPr>
          <p:spPr bwMode="auto">
            <a:xfrm>
              <a:off x="1078" y="1707"/>
              <a:ext cx="198" cy="3"/>
            </a:xfrm>
            <a:custGeom>
              <a:avLst/>
              <a:gdLst>
                <a:gd name="T0" fmla="*/ 0 w 198"/>
                <a:gd name="T1" fmla="*/ 3 h 3"/>
                <a:gd name="T2" fmla="*/ 198 w 198"/>
                <a:gd name="T3" fmla="*/ 0 h 3"/>
                <a:gd name="T4" fmla="*/ 0 60000 65536"/>
                <a:gd name="T5" fmla="*/ 0 60000 65536"/>
                <a:gd name="T6" fmla="*/ 0 w 198"/>
                <a:gd name="T7" fmla="*/ 0 h 3"/>
                <a:gd name="T8" fmla="*/ 198 w 198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98" h="3">
                  <a:moveTo>
                    <a:pt x="0" y="3"/>
                  </a:moveTo>
                  <a:lnTo>
                    <a:pt x="198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826" name="Freeform 379"/>
            <p:cNvSpPr/>
            <p:nvPr/>
          </p:nvSpPr>
          <p:spPr bwMode="auto">
            <a:xfrm>
              <a:off x="1081" y="981"/>
              <a:ext cx="189" cy="2235"/>
            </a:xfrm>
            <a:custGeom>
              <a:avLst/>
              <a:gdLst>
                <a:gd name="T0" fmla="*/ 189 w 189"/>
                <a:gd name="T1" fmla="*/ 0 h 2235"/>
                <a:gd name="T2" fmla="*/ 0 w 189"/>
                <a:gd name="T3" fmla="*/ 0 h 2235"/>
                <a:gd name="T4" fmla="*/ 0 w 189"/>
                <a:gd name="T5" fmla="*/ 2235 h 2235"/>
                <a:gd name="T6" fmla="*/ 0 60000 65536"/>
                <a:gd name="T7" fmla="*/ 0 60000 65536"/>
                <a:gd name="T8" fmla="*/ 0 60000 65536"/>
                <a:gd name="T9" fmla="*/ 0 w 189"/>
                <a:gd name="T10" fmla="*/ 0 h 2235"/>
                <a:gd name="T11" fmla="*/ 189 w 189"/>
                <a:gd name="T12" fmla="*/ 2235 h 223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9" h="2235">
                  <a:moveTo>
                    <a:pt x="189" y="0"/>
                  </a:move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7827" name="Line 380"/>
            <p:cNvSpPr>
              <a:spLocks noChangeShapeType="1"/>
            </p:cNvSpPr>
            <p:nvPr/>
          </p:nvSpPr>
          <p:spPr bwMode="auto">
            <a:xfrm>
              <a:off x="1081" y="2063"/>
              <a:ext cx="190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828" name="Line 381"/>
            <p:cNvSpPr>
              <a:spLocks noChangeShapeType="1"/>
            </p:cNvSpPr>
            <p:nvPr/>
          </p:nvSpPr>
          <p:spPr bwMode="auto">
            <a:xfrm>
              <a:off x="1083" y="2255"/>
              <a:ext cx="190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829" name="Freeform 382"/>
            <p:cNvSpPr/>
            <p:nvPr/>
          </p:nvSpPr>
          <p:spPr bwMode="auto">
            <a:xfrm>
              <a:off x="1078" y="2718"/>
              <a:ext cx="192" cy="1"/>
            </a:xfrm>
            <a:custGeom>
              <a:avLst/>
              <a:gdLst>
                <a:gd name="T0" fmla="*/ 0 w 192"/>
                <a:gd name="T1" fmla="*/ 0 h 1"/>
                <a:gd name="T2" fmla="*/ 192 w 192"/>
                <a:gd name="T3" fmla="*/ 0 h 1"/>
                <a:gd name="T4" fmla="*/ 0 60000 65536"/>
                <a:gd name="T5" fmla="*/ 0 60000 65536"/>
                <a:gd name="T6" fmla="*/ 0 w 192"/>
                <a:gd name="T7" fmla="*/ 0 h 1"/>
                <a:gd name="T8" fmla="*/ 192 w 19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92" h="1">
                  <a:moveTo>
                    <a:pt x="0" y="0"/>
                  </a:moveTo>
                  <a:lnTo>
                    <a:pt x="192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830" name="Freeform 383"/>
            <p:cNvSpPr/>
            <p:nvPr/>
          </p:nvSpPr>
          <p:spPr bwMode="auto">
            <a:xfrm>
              <a:off x="364" y="696"/>
              <a:ext cx="1341" cy="243"/>
            </a:xfrm>
            <a:custGeom>
              <a:avLst/>
              <a:gdLst>
                <a:gd name="T0" fmla="*/ 0 w 1341"/>
                <a:gd name="T1" fmla="*/ 240 h 243"/>
                <a:gd name="T2" fmla="*/ 93 w 1341"/>
                <a:gd name="T3" fmla="*/ 243 h 243"/>
                <a:gd name="T4" fmla="*/ 93 w 1341"/>
                <a:gd name="T5" fmla="*/ 0 h 243"/>
                <a:gd name="T6" fmla="*/ 1341 w 1341"/>
                <a:gd name="T7" fmla="*/ 0 h 24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41"/>
                <a:gd name="T13" fmla="*/ 0 h 243"/>
                <a:gd name="T14" fmla="*/ 1341 w 1341"/>
                <a:gd name="T15" fmla="*/ 243 h 24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41" h="243">
                  <a:moveTo>
                    <a:pt x="0" y="240"/>
                  </a:moveTo>
                  <a:lnTo>
                    <a:pt x="93" y="243"/>
                  </a:lnTo>
                  <a:lnTo>
                    <a:pt x="93" y="0"/>
                  </a:lnTo>
                  <a:lnTo>
                    <a:pt x="134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57831" name="Group 384"/>
            <p:cNvGrpSpPr/>
            <p:nvPr/>
          </p:nvGrpSpPr>
          <p:grpSpPr bwMode="auto">
            <a:xfrm>
              <a:off x="364" y="1019"/>
              <a:ext cx="202" cy="277"/>
              <a:chOff x="364" y="1019"/>
              <a:chExt cx="202" cy="277"/>
            </a:xfrm>
          </p:grpSpPr>
          <p:sp>
            <p:nvSpPr>
              <p:cNvPr id="158005" name="Freeform 385"/>
              <p:cNvSpPr/>
              <p:nvPr/>
            </p:nvSpPr>
            <p:spPr bwMode="auto">
              <a:xfrm>
                <a:off x="466" y="1197"/>
                <a:ext cx="1" cy="97"/>
              </a:xfrm>
              <a:custGeom>
                <a:avLst/>
                <a:gdLst>
                  <a:gd name="T0" fmla="*/ 1 w 1"/>
                  <a:gd name="T1" fmla="*/ 0 h 97"/>
                  <a:gd name="T2" fmla="*/ 0 w 1"/>
                  <a:gd name="T3" fmla="*/ 97 h 97"/>
                  <a:gd name="T4" fmla="*/ 0 60000 65536"/>
                  <a:gd name="T5" fmla="*/ 0 60000 65536"/>
                  <a:gd name="T6" fmla="*/ 0 w 1"/>
                  <a:gd name="T7" fmla="*/ 0 h 97"/>
                  <a:gd name="T8" fmla="*/ 1 w 1"/>
                  <a:gd name="T9" fmla="*/ 97 h 9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97">
                    <a:moveTo>
                      <a:pt x="1" y="0"/>
                    </a:moveTo>
                    <a:lnTo>
                      <a:pt x="0" y="97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8006" name="Freeform 386"/>
              <p:cNvSpPr/>
              <p:nvPr/>
            </p:nvSpPr>
            <p:spPr bwMode="auto">
              <a:xfrm>
                <a:off x="412" y="129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  <a:gd name="T6" fmla="*/ 0 w 120"/>
                  <a:gd name="T7" fmla="*/ 0 h 1"/>
                  <a:gd name="T8" fmla="*/ 120 w 12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8007" name="Freeform 387"/>
              <p:cNvSpPr/>
              <p:nvPr/>
            </p:nvSpPr>
            <p:spPr bwMode="auto">
              <a:xfrm>
                <a:off x="364" y="1019"/>
                <a:ext cx="102" cy="141"/>
              </a:xfrm>
              <a:custGeom>
                <a:avLst/>
                <a:gdLst>
                  <a:gd name="T0" fmla="*/ 0 w 102"/>
                  <a:gd name="T1" fmla="*/ 0 h 141"/>
                  <a:gd name="T2" fmla="*/ 102 w 102"/>
                  <a:gd name="T3" fmla="*/ 0 h 141"/>
                  <a:gd name="T4" fmla="*/ 102 w 102"/>
                  <a:gd name="T5" fmla="*/ 141 h 141"/>
                  <a:gd name="T6" fmla="*/ 0 60000 65536"/>
                  <a:gd name="T7" fmla="*/ 0 60000 65536"/>
                  <a:gd name="T8" fmla="*/ 0 60000 65536"/>
                  <a:gd name="T9" fmla="*/ 0 w 102"/>
                  <a:gd name="T10" fmla="*/ 0 h 141"/>
                  <a:gd name="T11" fmla="*/ 102 w 102"/>
                  <a:gd name="T12" fmla="*/ 141 h 1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2" h="141">
                    <a:moveTo>
                      <a:pt x="0" y="0"/>
                    </a:moveTo>
                    <a:lnTo>
                      <a:pt x="102" y="0"/>
                    </a:lnTo>
                    <a:lnTo>
                      <a:pt x="102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58008" name="Group 388"/>
              <p:cNvGrpSpPr/>
              <p:nvPr/>
            </p:nvGrpSpPr>
            <p:grpSpPr bwMode="auto">
              <a:xfrm>
                <a:off x="364" y="1151"/>
                <a:ext cx="202" cy="49"/>
                <a:chOff x="432" y="1152"/>
                <a:chExt cx="202" cy="49"/>
              </a:xfrm>
            </p:grpSpPr>
            <p:sp>
              <p:nvSpPr>
                <p:cNvPr id="158009" name="Freeform 389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8010" name="Freeform 390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57832" name="Freeform 391"/>
            <p:cNvSpPr/>
            <p:nvPr/>
          </p:nvSpPr>
          <p:spPr bwMode="auto">
            <a:xfrm>
              <a:off x="885" y="698"/>
              <a:ext cx="4" cy="190"/>
            </a:xfrm>
            <a:custGeom>
              <a:avLst/>
              <a:gdLst>
                <a:gd name="T0" fmla="*/ 4 w 4"/>
                <a:gd name="T1" fmla="*/ 0 h 190"/>
                <a:gd name="T2" fmla="*/ 0 w 4"/>
                <a:gd name="T3" fmla="*/ 190 h 190"/>
                <a:gd name="T4" fmla="*/ 0 60000 65536"/>
                <a:gd name="T5" fmla="*/ 0 60000 65536"/>
                <a:gd name="T6" fmla="*/ 0 w 4"/>
                <a:gd name="T7" fmla="*/ 0 h 190"/>
                <a:gd name="T8" fmla="*/ 4 w 4"/>
                <a:gd name="T9" fmla="*/ 190 h 19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90">
                  <a:moveTo>
                    <a:pt x="4" y="0"/>
                  </a:moveTo>
                  <a:lnTo>
                    <a:pt x="0" y="19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57833" name="Group 392"/>
            <p:cNvGrpSpPr/>
            <p:nvPr/>
          </p:nvGrpSpPr>
          <p:grpSpPr bwMode="auto">
            <a:xfrm>
              <a:off x="364" y="1739"/>
              <a:ext cx="202" cy="277"/>
              <a:chOff x="364" y="1739"/>
              <a:chExt cx="202" cy="277"/>
            </a:xfrm>
          </p:grpSpPr>
          <p:sp>
            <p:nvSpPr>
              <p:cNvPr id="157999" name="Freeform 393"/>
              <p:cNvSpPr/>
              <p:nvPr/>
            </p:nvSpPr>
            <p:spPr bwMode="auto">
              <a:xfrm>
                <a:off x="466" y="1919"/>
                <a:ext cx="1" cy="95"/>
              </a:xfrm>
              <a:custGeom>
                <a:avLst/>
                <a:gdLst>
                  <a:gd name="T0" fmla="*/ 1 w 1"/>
                  <a:gd name="T1" fmla="*/ 0 h 95"/>
                  <a:gd name="T2" fmla="*/ 0 w 1"/>
                  <a:gd name="T3" fmla="*/ 95 h 95"/>
                  <a:gd name="T4" fmla="*/ 0 60000 65536"/>
                  <a:gd name="T5" fmla="*/ 0 60000 65536"/>
                  <a:gd name="T6" fmla="*/ 0 w 1"/>
                  <a:gd name="T7" fmla="*/ 0 h 95"/>
                  <a:gd name="T8" fmla="*/ 1 w 1"/>
                  <a:gd name="T9" fmla="*/ 95 h 9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95">
                    <a:moveTo>
                      <a:pt x="1" y="0"/>
                    </a:moveTo>
                    <a:lnTo>
                      <a:pt x="0" y="95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8000" name="Freeform 394"/>
              <p:cNvSpPr/>
              <p:nvPr/>
            </p:nvSpPr>
            <p:spPr bwMode="auto">
              <a:xfrm>
                <a:off x="412" y="201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  <a:gd name="T6" fmla="*/ 0 w 120"/>
                  <a:gd name="T7" fmla="*/ 0 h 1"/>
                  <a:gd name="T8" fmla="*/ 120 w 12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8001" name="Freeform 395"/>
              <p:cNvSpPr/>
              <p:nvPr/>
            </p:nvSpPr>
            <p:spPr bwMode="auto">
              <a:xfrm>
                <a:off x="364" y="1739"/>
                <a:ext cx="102" cy="141"/>
              </a:xfrm>
              <a:custGeom>
                <a:avLst/>
                <a:gdLst>
                  <a:gd name="T0" fmla="*/ 0 w 102"/>
                  <a:gd name="T1" fmla="*/ 0 h 141"/>
                  <a:gd name="T2" fmla="*/ 102 w 102"/>
                  <a:gd name="T3" fmla="*/ 0 h 141"/>
                  <a:gd name="T4" fmla="*/ 102 w 102"/>
                  <a:gd name="T5" fmla="*/ 141 h 141"/>
                  <a:gd name="T6" fmla="*/ 0 60000 65536"/>
                  <a:gd name="T7" fmla="*/ 0 60000 65536"/>
                  <a:gd name="T8" fmla="*/ 0 60000 65536"/>
                  <a:gd name="T9" fmla="*/ 0 w 102"/>
                  <a:gd name="T10" fmla="*/ 0 h 141"/>
                  <a:gd name="T11" fmla="*/ 102 w 102"/>
                  <a:gd name="T12" fmla="*/ 141 h 1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2" h="141">
                    <a:moveTo>
                      <a:pt x="0" y="0"/>
                    </a:moveTo>
                    <a:lnTo>
                      <a:pt x="102" y="0"/>
                    </a:lnTo>
                    <a:lnTo>
                      <a:pt x="102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58002" name="Group 396"/>
              <p:cNvGrpSpPr/>
              <p:nvPr/>
            </p:nvGrpSpPr>
            <p:grpSpPr bwMode="auto">
              <a:xfrm>
                <a:off x="364" y="1871"/>
                <a:ext cx="202" cy="49"/>
                <a:chOff x="432" y="1152"/>
                <a:chExt cx="202" cy="49"/>
              </a:xfrm>
            </p:grpSpPr>
            <p:sp>
              <p:nvSpPr>
                <p:cNvPr id="158003" name="Freeform 397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8004" name="Freeform 398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57834" name="Group 399"/>
            <p:cNvGrpSpPr/>
            <p:nvPr/>
          </p:nvGrpSpPr>
          <p:grpSpPr bwMode="auto">
            <a:xfrm>
              <a:off x="364" y="2747"/>
              <a:ext cx="202" cy="277"/>
              <a:chOff x="364" y="2747"/>
              <a:chExt cx="202" cy="277"/>
            </a:xfrm>
          </p:grpSpPr>
          <p:sp>
            <p:nvSpPr>
              <p:cNvPr id="157993" name="Freeform 400"/>
              <p:cNvSpPr/>
              <p:nvPr/>
            </p:nvSpPr>
            <p:spPr bwMode="auto">
              <a:xfrm>
                <a:off x="466" y="2925"/>
                <a:ext cx="1" cy="97"/>
              </a:xfrm>
              <a:custGeom>
                <a:avLst/>
                <a:gdLst>
                  <a:gd name="T0" fmla="*/ 1 w 1"/>
                  <a:gd name="T1" fmla="*/ 0 h 97"/>
                  <a:gd name="T2" fmla="*/ 0 w 1"/>
                  <a:gd name="T3" fmla="*/ 97 h 97"/>
                  <a:gd name="T4" fmla="*/ 0 60000 65536"/>
                  <a:gd name="T5" fmla="*/ 0 60000 65536"/>
                  <a:gd name="T6" fmla="*/ 0 w 1"/>
                  <a:gd name="T7" fmla="*/ 0 h 97"/>
                  <a:gd name="T8" fmla="*/ 1 w 1"/>
                  <a:gd name="T9" fmla="*/ 97 h 9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97">
                    <a:moveTo>
                      <a:pt x="1" y="0"/>
                    </a:moveTo>
                    <a:lnTo>
                      <a:pt x="0" y="97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7994" name="Freeform 401"/>
              <p:cNvSpPr/>
              <p:nvPr/>
            </p:nvSpPr>
            <p:spPr bwMode="auto">
              <a:xfrm>
                <a:off x="412" y="3023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  <a:gd name="T6" fmla="*/ 0 w 120"/>
                  <a:gd name="T7" fmla="*/ 0 h 1"/>
                  <a:gd name="T8" fmla="*/ 120 w 12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7995" name="Freeform 402"/>
              <p:cNvSpPr/>
              <p:nvPr/>
            </p:nvSpPr>
            <p:spPr bwMode="auto">
              <a:xfrm>
                <a:off x="364" y="2747"/>
                <a:ext cx="102" cy="141"/>
              </a:xfrm>
              <a:custGeom>
                <a:avLst/>
                <a:gdLst>
                  <a:gd name="T0" fmla="*/ 0 w 102"/>
                  <a:gd name="T1" fmla="*/ 0 h 141"/>
                  <a:gd name="T2" fmla="*/ 102 w 102"/>
                  <a:gd name="T3" fmla="*/ 0 h 141"/>
                  <a:gd name="T4" fmla="*/ 102 w 102"/>
                  <a:gd name="T5" fmla="*/ 141 h 141"/>
                  <a:gd name="T6" fmla="*/ 0 60000 65536"/>
                  <a:gd name="T7" fmla="*/ 0 60000 65536"/>
                  <a:gd name="T8" fmla="*/ 0 60000 65536"/>
                  <a:gd name="T9" fmla="*/ 0 w 102"/>
                  <a:gd name="T10" fmla="*/ 0 h 141"/>
                  <a:gd name="T11" fmla="*/ 102 w 102"/>
                  <a:gd name="T12" fmla="*/ 141 h 1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2" h="141">
                    <a:moveTo>
                      <a:pt x="0" y="0"/>
                    </a:moveTo>
                    <a:lnTo>
                      <a:pt x="102" y="0"/>
                    </a:lnTo>
                    <a:lnTo>
                      <a:pt x="102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57996" name="Group 403"/>
              <p:cNvGrpSpPr/>
              <p:nvPr/>
            </p:nvGrpSpPr>
            <p:grpSpPr bwMode="auto">
              <a:xfrm>
                <a:off x="364" y="2879"/>
                <a:ext cx="202" cy="49"/>
                <a:chOff x="432" y="1152"/>
                <a:chExt cx="202" cy="49"/>
              </a:xfrm>
            </p:grpSpPr>
            <p:sp>
              <p:nvSpPr>
                <p:cNvPr id="157997" name="Freeform 404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7998" name="Freeform 405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57835" name="Freeform 406"/>
            <p:cNvSpPr/>
            <p:nvPr/>
          </p:nvSpPr>
          <p:spPr bwMode="auto">
            <a:xfrm>
              <a:off x="364" y="1414"/>
              <a:ext cx="1341" cy="243"/>
            </a:xfrm>
            <a:custGeom>
              <a:avLst/>
              <a:gdLst>
                <a:gd name="T0" fmla="*/ 0 w 1341"/>
                <a:gd name="T1" fmla="*/ 240 h 243"/>
                <a:gd name="T2" fmla="*/ 93 w 1341"/>
                <a:gd name="T3" fmla="*/ 243 h 243"/>
                <a:gd name="T4" fmla="*/ 93 w 1341"/>
                <a:gd name="T5" fmla="*/ 0 h 243"/>
                <a:gd name="T6" fmla="*/ 1341 w 1341"/>
                <a:gd name="T7" fmla="*/ 0 h 24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41"/>
                <a:gd name="T13" fmla="*/ 0 h 243"/>
                <a:gd name="T14" fmla="*/ 1341 w 1341"/>
                <a:gd name="T15" fmla="*/ 243 h 24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41" h="243">
                  <a:moveTo>
                    <a:pt x="0" y="240"/>
                  </a:moveTo>
                  <a:lnTo>
                    <a:pt x="93" y="243"/>
                  </a:lnTo>
                  <a:lnTo>
                    <a:pt x="93" y="0"/>
                  </a:lnTo>
                  <a:lnTo>
                    <a:pt x="134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7836" name="Freeform 407"/>
            <p:cNvSpPr/>
            <p:nvPr/>
          </p:nvSpPr>
          <p:spPr bwMode="auto">
            <a:xfrm>
              <a:off x="367" y="2423"/>
              <a:ext cx="1341" cy="243"/>
            </a:xfrm>
            <a:custGeom>
              <a:avLst/>
              <a:gdLst>
                <a:gd name="T0" fmla="*/ 0 w 1341"/>
                <a:gd name="T1" fmla="*/ 240 h 243"/>
                <a:gd name="T2" fmla="*/ 93 w 1341"/>
                <a:gd name="T3" fmla="*/ 243 h 243"/>
                <a:gd name="T4" fmla="*/ 93 w 1341"/>
                <a:gd name="T5" fmla="*/ 0 h 243"/>
                <a:gd name="T6" fmla="*/ 1341 w 1341"/>
                <a:gd name="T7" fmla="*/ 0 h 24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41"/>
                <a:gd name="T13" fmla="*/ 0 h 243"/>
                <a:gd name="T14" fmla="*/ 1341 w 1341"/>
                <a:gd name="T15" fmla="*/ 243 h 24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41" h="243">
                  <a:moveTo>
                    <a:pt x="0" y="240"/>
                  </a:moveTo>
                  <a:lnTo>
                    <a:pt x="93" y="243"/>
                  </a:lnTo>
                  <a:lnTo>
                    <a:pt x="93" y="0"/>
                  </a:lnTo>
                  <a:lnTo>
                    <a:pt x="134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7837" name="Line 408"/>
            <p:cNvSpPr>
              <a:spLocks noChangeShapeType="1"/>
            </p:cNvSpPr>
            <p:nvPr/>
          </p:nvSpPr>
          <p:spPr bwMode="auto">
            <a:xfrm>
              <a:off x="681" y="1407"/>
              <a:ext cx="3" cy="1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838" name="Freeform 409"/>
            <p:cNvSpPr/>
            <p:nvPr/>
          </p:nvSpPr>
          <p:spPr bwMode="auto">
            <a:xfrm>
              <a:off x="888" y="1407"/>
              <a:ext cx="1" cy="189"/>
            </a:xfrm>
            <a:custGeom>
              <a:avLst/>
              <a:gdLst>
                <a:gd name="T0" fmla="*/ 1 w 1"/>
                <a:gd name="T1" fmla="*/ 0 h 189"/>
                <a:gd name="T2" fmla="*/ 0 w 1"/>
                <a:gd name="T3" fmla="*/ 189 h 189"/>
                <a:gd name="T4" fmla="*/ 0 60000 65536"/>
                <a:gd name="T5" fmla="*/ 0 60000 65536"/>
                <a:gd name="T6" fmla="*/ 0 w 1"/>
                <a:gd name="T7" fmla="*/ 0 h 189"/>
                <a:gd name="T8" fmla="*/ 1 w 1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9">
                  <a:moveTo>
                    <a:pt x="1" y="0"/>
                  </a:moveTo>
                  <a:lnTo>
                    <a:pt x="0" y="189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839" name="Line 410"/>
            <p:cNvSpPr>
              <a:spLocks noChangeShapeType="1"/>
            </p:cNvSpPr>
            <p:nvPr/>
          </p:nvSpPr>
          <p:spPr bwMode="auto">
            <a:xfrm>
              <a:off x="681" y="2423"/>
              <a:ext cx="3" cy="1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840" name="Freeform 411"/>
            <p:cNvSpPr/>
            <p:nvPr/>
          </p:nvSpPr>
          <p:spPr bwMode="auto">
            <a:xfrm>
              <a:off x="885" y="2423"/>
              <a:ext cx="4" cy="193"/>
            </a:xfrm>
            <a:custGeom>
              <a:avLst/>
              <a:gdLst>
                <a:gd name="T0" fmla="*/ 4 w 4"/>
                <a:gd name="T1" fmla="*/ 0 h 193"/>
                <a:gd name="T2" fmla="*/ 0 w 4"/>
                <a:gd name="T3" fmla="*/ 193 h 193"/>
                <a:gd name="T4" fmla="*/ 0 60000 65536"/>
                <a:gd name="T5" fmla="*/ 0 60000 65536"/>
                <a:gd name="T6" fmla="*/ 0 w 4"/>
                <a:gd name="T7" fmla="*/ 0 h 193"/>
                <a:gd name="T8" fmla="*/ 4 w 4"/>
                <a:gd name="T9" fmla="*/ 193 h 19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93">
                  <a:moveTo>
                    <a:pt x="4" y="0"/>
                  </a:moveTo>
                  <a:lnTo>
                    <a:pt x="0" y="193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57841" name="Group 412"/>
            <p:cNvGrpSpPr/>
            <p:nvPr/>
          </p:nvGrpSpPr>
          <p:grpSpPr bwMode="auto">
            <a:xfrm>
              <a:off x="1324" y="1019"/>
              <a:ext cx="202" cy="277"/>
              <a:chOff x="1324" y="1019"/>
              <a:chExt cx="202" cy="277"/>
            </a:xfrm>
          </p:grpSpPr>
          <p:sp>
            <p:nvSpPr>
              <p:cNvPr id="157987" name="Line 413"/>
              <p:cNvSpPr>
                <a:spLocks noChangeShapeType="1"/>
              </p:cNvSpPr>
              <p:nvPr/>
            </p:nvSpPr>
            <p:spPr bwMode="auto">
              <a:xfrm>
                <a:off x="1424" y="1199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7988" name="Freeform 414"/>
              <p:cNvSpPr/>
              <p:nvPr/>
            </p:nvSpPr>
            <p:spPr bwMode="auto">
              <a:xfrm>
                <a:off x="1372" y="129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  <a:gd name="T6" fmla="*/ 0 w 120"/>
                  <a:gd name="T7" fmla="*/ 0 h 1"/>
                  <a:gd name="T8" fmla="*/ 120 w 12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7989" name="Freeform 415"/>
              <p:cNvSpPr/>
              <p:nvPr/>
            </p:nvSpPr>
            <p:spPr bwMode="auto">
              <a:xfrm>
                <a:off x="1324" y="1019"/>
                <a:ext cx="102" cy="141"/>
              </a:xfrm>
              <a:custGeom>
                <a:avLst/>
                <a:gdLst>
                  <a:gd name="T0" fmla="*/ 0 w 102"/>
                  <a:gd name="T1" fmla="*/ 0 h 141"/>
                  <a:gd name="T2" fmla="*/ 102 w 102"/>
                  <a:gd name="T3" fmla="*/ 0 h 141"/>
                  <a:gd name="T4" fmla="*/ 102 w 102"/>
                  <a:gd name="T5" fmla="*/ 141 h 141"/>
                  <a:gd name="T6" fmla="*/ 0 60000 65536"/>
                  <a:gd name="T7" fmla="*/ 0 60000 65536"/>
                  <a:gd name="T8" fmla="*/ 0 60000 65536"/>
                  <a:gd name="T9" fmla="*/ 0 w 102"/>
                  <a:gd name="T10" fmla="*/ 0 h 141"/>
                  <a:gd name="T11" fmla="*/ 102 w 102"/>
                  <a:gd name="T12" fmla="*/ 141 h 1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2" h="141">
                    <a:moveTo>
                      <a:pt x="0" y="0"/>
                    </a:moveTo>
                    <a:lnTo>
                      <a:pt x="102" y="0"/>
                    </a:lnTo>
                    <a:lnTo>
                      <a:pt x="102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57990" name="Group 416"/>
              <p:cNvGrpSpPr/>
              <p:nvPr/>
            </p:nvGrpSpPr>
            <p:grpSpPr bwMode="auto">
              <a:xfrm>
                <a:off x="1324" y="1151"/>
                <a:ext cx="202" cy="49"/>
                <a:chOff x="432" y="1152"/>
                <a:chExt cx="202" cy="49"/>
              </a:xfrm>
            </p:grpSpPr>
            <p:sp>
              <p:nvSpPr>
                <p:cNvPr id="157991" name="Freeform 417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7992" name="Freeform 418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57842" name="Group 419"/>
            <p:cNvGrpSpPr/>
            <p:nvPr/>
          </p:nvGrpSpPr>
          <p:grpSpPr bwMode="auto">
            <a:xfrm>
              <a:off x="1324" y="1739"/>
              <a:ext cx="202" cy="277"/>
              <a:chOff x="1324" y="1739"/>
              <a:chExt cx="202" cy="277"/>
            </a:xfrm>
          </p:grpSpPr>
          <p:sp>
            <p:nvSpPr>
              <p:cNvPr id="157981" name="Line 420"/>
              <p:cNvSpPr>
                <a:spLocks noChangeShapeType="1"/>
              </p:cNvSpPr>
              <p:nvPr/>
            </p:nvSpPr>
            <p:spPr bwMode="auto">
              <a:xfrm>
                <a:off x="1424" y="1919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7982" name="Freeform 421"/>
              <p:cNvSpPr/>
              <p:nvPr/>
            </p:nvSpPr>
            <p:spPr bwMode="auto">
              <a:xfrm>
                <a:off x="1372" y="201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  <a:gd name="T6" fmla="*/ 0 w 120"/>
                  <a:gd name="T7" fmla="*/ 0 h 1"/>
                  <a:gd name="T8" fmla="*/ 120 w 12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7983" name="Freeform 422"/>
              <p:cNvSpPr/>
              <p:nvPr/>
            </p:nvSpPr>
            <p:spPr bwMode="auto">
              <a:xfrm>
                <a:off x="1324" y="1739"/>
                <a:ext cx="102" cy="141"/>
              </a:xfrm>
              <a:custGeom>
                <a:avLst/>
                <a:gdLst>
                  <a:gd name="T0" fmla="*/ 0 w 102"/>
                  <a:gd name="T1" fmla="*/ 0 h 141"/>
                  <a:gd name="T2" fmla="*/ 102 w 102"/>
                  <a:gd name="T3" fmla="*/ 0 h 141"/>
                  <a:gd name="T4" fmla="*/ 102 w 102"/>
                  <a:gd name="T5" fmla="*/ 141 h 141"/>
                  <a:gd name="T6" fmla="*/ 0 60000 65536"/>
                  <a:gd name="T7" fmla="*/ 0 60000 65536"/>
                  <a:gd name="T8" fmla="*/ 0 60000 65536"/>
                  <a:gd name="T9" fmla="*/ 0 w 102"/>
                  <a:gd name="T10" fmla="*/ 0 h 141"/>
                  <a:gd name="T11" fmla="*/ 102 w 102"/>
                  <a:gd name="T12" fmla="*/ 141 h 1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2" h="141">
                    <a:moveTo>
                      <a:pt x="0" y="0"/>
                    </a:moveTo>
                    <a:lnTo>
                      <a:pt x="102" y="0"/>
                    </a:lnTo>
                    <a:lnTo>
                      <a:pt x="102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57984" name="Group 423"/>
              <p:cNvGrpSpPr/>
              <p:nvPr/>
            </p:nvGrpSpPr>
            <p:grpSpPr bwMode="auto">
              <a:xfrm>
                <a:off x="1324" y="1871"/>
                <a:ext cx="202" cy="49"/>
                <a:chOff x="432" y="1152"/>
                <a:chExt cx="202" cy="49"/>
              </a:xfrm>
            </p:grpSpPr>
            <p:sp>
              <p:nvSpPr>
                <p:cNvPr id="157985" name="Freeform 424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7986" name="Freeform 425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57843" name="Group 426"/>
            <p:cNvGrpSpPr/>
            <p:nvPr/>
          </p:nvGrpSpPr>
          <p:grpSpPr bwMode="auto">
            <a:xfrm>
              <a:off x="1324" y="2747"/>
              <a:ext cx="202" cy="277"/>
              <a:chOff x="1324" y="2747"/>
              <a:chExt cx="202" cy="277"/>
            </a:xfrm>
          </p:grpSpPr>
          <p:sp>
            <p:nvSpPr>
              <p:cNvPr id="157975" name="Line 427"/>
              <p:cNvSpPr>
                <a:spLocks noChangeShapeType="1"/>
              </p:cNvSpPr>
              <p:nvPr/>
            </p:nvSpPr>
            <p:spPr bwMode="auto">
              <a:xfrm>
                <a:off x="1424" y="2927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7976" name="Freeform 428"/>
              <p:cNvSpPr/>
              <p:nvPr/>
            </p:nvSpPr>
            <p:spPr bwMode="auto">
              <a:xfrm>
                <a:off x="1372" y="3023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  <a:gd name="T6" fmla="*/ 0 w 120"/>
                  <a:gd name="T7" fmla="*/ 0 h 1"/>
                  <a:gd name="T8" fmla="*/ 120 w 12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7977" name="Freeform 429"/>
              <p:cNvSpPr/>
              <p:nvPr/>
            </p:nvSpPr>
            <p:spPr bwMode="auto">
              <a:xfrm>
                <a:off x="1324" y="2747"/>
                <a:ext cx="102" cy="141"/>
              </a:xfrm>
              <a:custGeom>
                <a:avLst/>
                <a:gdLst>
                  <a:gd name="T0" fmla="*/ 0 w 102"/>
                  <a:gd name="T1" fmla="*/ 0 h 141"/>
                  <a:gd name="T2" fmla="*/ 102 w 102"/>
                  <a:gd name="T3" fmla="*/ 0 h 141"/>
                  <a:gd name="T4" fmla="*/ 102 w 102"/>
                  <a:gd name="T5" fmla="*/ 141 h 141"/>
                  <a:gd name="T6" fmla="*/ 0 60000 65536"/>
                  <a:gd name="T7" fmla="*/ 0 60000 65536"/>
                  <a:gd name="T8" fmla="*/ 0 60000 65536"/>
                  <a:gd name="T9" fmla="*/ 0 w 102"/>
                  <a:gd name="T10" fmla="*/ 0 h 141"/>
                  <a:gd name="T11" fmla="*/ 102 w 102"/>
                  <a:gd name="T12" fmla="*/ 141 h 1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2" h="141">
                    <a:moveTo>
                      <a:pt x="0" y="0"/>
                    </a:moveTo>
                    <a:lnTo>
                      <a:pt x="102" y="0"/>
                    </a:lnTo>
                    <a:lnTo>
                      <a:pt x="102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57978" name="Group 430"/>
              <p:cNvGrpSpPr/>
              <p:nvPr/>
            </p:nvGrpSpPr>
            <p:grpSpPr bwMode="auto">
              <a:xfrm>
                <a:off x="1324" y="2879"/>
                <a:ext cx="202" cy="49"/>
                <a:chOff x="432" y="1152"/>
                <a:chExt cx="202" cy="49"/>
              </a:xfrm>
            </p:grpSpPr>
            <p:sp>
              <p:nvSpPr>
                <p:cNvPr id="157979" name="Freeform 431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7980" name="Freeform 432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57844" name="Freeform 433"/>
            <p:cNvSpPr/>
            <p:nvPr/>
          </p:nvSpPr>
          <p:spPr bwMode="auto">
            <a:xfrm>
              <a:off x="1315" y="696"/>
              <a:ext cx="108" cy="237"/>
            </a:xfrm>
            <a:custGeom>
              <a:avLst/>
              <a:gdLst>
                <a:gd name="T0" fmla="*/ 0 w 108"/>
                <a:gd name="T1" fmla="*/ 237 h 237"/>
                <a:gd name="T2" fmla="*/ 108 w 108"/>
                <a:gd name="T3" fmla="*/ 237 h 237"/>
                <a:gd name="T4" fmla="*/ 108 w 108"/>
                <a:gd name="T5" fmla="*/ 0 h 237"/>
                <a:gd name="T6" fmla="*/ 0 60000 65536"/>
                <a:gd name="T7" fmla="*/ 0 60000 65536"/>
                <a:gd name="T8" fmla="*/ 0 60000 65536"/>
                <a:gd name="T9" fmla="*/ 0 w 108"/>
                <a:gd name="T10" fmla="*/ 0 h 237"/>
                <a:gd name="T11" fmla="*/ 108 w 108"/>
                <a:gd name="T12" fmla="*/ 237 h 23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8" h="237">
                  <a:moveTo>
                    <a:pt x="0" y="237"/>
                  </a:moveTo>
                  <a:lnTo>
                    <a:pt x="108" y="237"/>
                  </a:lnTo>
                  <a:lnTo>
                    <a:pt x="108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7845" name="Freeform 434"/>
            <p:cNvSpPr/>
            <p:nvPr/>
          </p:nvSpPr>
          <p:spPr bwMode="auto">
            <a:xfrm>
              <a:off x="1327" y="1416"/>
              <a:ext cx="96" cy="243"/>
            </a:xfrm>
            <a:custGeom>
              <a:avLst/>
              <a:gdLst>
                <a:gd name="T0" fmla="*/ 0 w 96"/>
                <a:gd name="T1" fmla="*/ 243 h 243"/>
                <a:gd name="T2" fmla="*/ 96 w 96"/>
                <a:gd name="T3" fmla="*/ 243 h 243"/>
                <a:gd name="T4" fmla="*/ 96 w 96"/>
                <a:gd name="T5" fmla="*/ 0 h 243"/>
                <a:gd name="T6" fmla="*/ 0 60000 65536"/>
                <a:gd name="T7" fmla="*/ 0 60000 65536"/>
                <a:gd name="T8" fmla="*/ 0 60000 65536"/>
                <a:gd name="T9" fmla="*/ 0 w 96"/>
                <a:gd name="T10" fmla="*/ 0 h 243"/>
                <a:gd name="T11" fmla="*/ 96 w 96"/>
                <a:gd name="T12" fmla="*/ 243 h 24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6" h="243">
                  <a:moveTo>
                    <a:pt x="0" y="243"/>
                  </a:moveTo>
                  <a:lnTo>
                    <a:pt x="96" y="243"/>
                  </a:ln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7846" name="Freeform 435"/>
            <p:cNvSpPr/>
            <p:nvPr/>
          </p:nvSpPr>
          <p:spPr bwMode="auto">
            <a:xfrm>
              <a:off x="1327" y="2427"/>
              <a:ext cx="98" cy="249"/>
            </a:xfrm>
            <a:custGeom>
              <a:avLst/>
              <a:gdLst>
                <a:gd name="T0" fmla="*/ 0 w 98"/>
                <a:gd name="T1" fmla="*/ 249 h 249"/>
                <a:gd name="T2" fmla="*/ 96 w 98"/>
                <a:gd name="T3" fmla="*/ 249 h 249"/>
                <a:gd name="T4" fmla="*/ 98 w 98"/>
                <a:gd name="T5" fmla="*/ 0 h 249"/>
                <a:gd name="T6" fmla="*/ 0 60000 65536"/>
                <a:gd name="T7" fmla="*/ 0 60000 65536"/>
                <a:gd name="T8" fmla="*/ 0 60000 65536"/>
                <a:gd name="T9" fmla="*/ 0 w 98"/>
                <a:gd name="T10" fmla="*/ 0 h 249"/>
                <a:gd name="T11" fmla="*/ 98 w 98"/>
                <a:gd name="T12" fmla="*/ 249 h 2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8" h="249">
                  <a:moveTo>
                    <a:pt x="0" y="249"/>
                  </a:moveTo>
                  <a:lnTo>
                    <a:pt x="96" y="249"/>
                  </a:lnTo>
                  <a:lnTo>
                    <a:pt x="98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57847" name="Group 436"/>
            <p:cNvGrpSpPr/>
            <p:nvPr/>
          </p:nvGrpSpPr>
          <p:grpSpPr bwMode="auto">
            <a:xfrm>
              <a:off x="4299" y="526"/>
              <a:ext cx="231" cy="49"/>
              <a:chOff x="4299" y="526"/>
              <a:chExt cx="231" cy="49"/>
            </a:xfrm>
          </p:grpSpPr>
          <p:sp>
            <p:nvSpPr>
              <p:cNvPr id="157973" name="Freeform 437"/>
              <p:cNvSpPr/>
              <p:nvPr/>
            </p:nvSpPr>
            <p:spPr bwMode="auto">
              <a:xfrm rot="5400000">
                <a:off x="4412" y="467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  <a:gd name="T6" fmla="*/ 0 w 1"/>
                  <a:gd name="T7" fmla="*/ 0 h 120"/>
                  <a:gd name="T8" fmla="*/ 1 w 1"/>
                  <a:gd name="T9" fmla="*/ 120 h 1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7974" name="Freeform 438"/>
              <p:cNvSpPr/>
              <p:nvPr/>
            </p:nvSpPr>
            <p:spPr bwMode="auto">
              <a:xfrm rot="5400000">
                <a:off x="4414" y="459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  <a:gd name="T6" fmla="*/ 0 w 1"/>
                  <a:gd name="T7" fmla="*/ 0 h 231"/>
                  <a:gd name="T8" fmla="*/ 1 w 1"/>
                  <a:gd name="T9" fmla="*/ 231 h 23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57848" name="Freeform 439"/>
            <p:cNvSpPr/>
            <p:nvPr/>
          </p:nvSpPr>
          <p:spPr bwMode="auto">
            <a:xfrm>
              <a:off x="2617" y="579"/>
              <a:ext cx="1761" cy="120"/>
            </a:xfrm>
            <a:custGeom>
              <a:avLst/>
              <a:gdLst>
                <a:gd name="T0" fmla="*/ 1761 w 1761"/>
                <a:gd name="T1" fmla="*/ 0 h 120"/>
                <a:gd name="T2" fmla="*/ 1761 w 1761"/>
                <a:gd name="T3" fmla="*/ 117 h 120"/>
                <a:gd name="T4" fmla="*/ 0 w 1761"/>
                <a:gd name="T5" fmla="*/ 120 h 120"/>
                <a:gd name="T6" fmla="*/ 0 60000 65536"/>
                <a:gd name="T7" fmla="*/ 0 60000 65536"/>
                <a:gd name="T8" fmla="*/ 0 60000 65536"/>
                <a:gd name="T9" fmla="*/ 0 w 1761"/>
                <a:gd name="T10" fmla="*/ 0 h 120"/>
                <a:gd name="T11" fmla="*/ 1761 w 1761"/>
                <a:gd name="T12" fmla="*/ 120 h 1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61" h="120">
                  <a:moveTo>
                    <a:pt x="1761" y="0"/>
                  </a:moveTo>
                  <a:lnTo>
                    <a:pt x="1761" y="117"/>
                  </a:lnTo>
                  <a:lnTo>
                    <a:pt x="0" y="12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7849" name="Freeform 440"/>
            <p:cNvSpPr/>
            <p:nvPr/>
          </p:nvSpPr>
          <p:spPr bwMode="auto">
            <a:xfrm>
              <a:off x="2620" y="1296"/>
              <a:ext cx="1758" cy="117"/>
            </a:xfrm>
            <a:custGeom>
              <a:avLst/>
              <a:gdLst>
                <a:gd name="T0" fmla="*/ 1758 w 1758"/>
                <a:gd name="T1" fmla="*/ 0 h 117"/>
                <a:gd name="T2" fmla="*/ 1758 w 1758"/>
                <a:gd name="T3" fmla="*/ 117 h 117"/>
                <a:gd name="T4" fmla="*/ 0 w 1758"/>
                <a:gd name="T5" fmla="*/ 114 h 117"/>
                <a:gd name="T6" fmla="*/ 0 60000 65536"/>
                <a:gd name="T7" fmla="*/ 0 60000 65536"/>
                <a:gd name="T8" fmla="*/ 0 60000 65536"/>
                <a:gd name="T9" fmla="*/ 0 w 1758"/>
                <a:gd name="T10" fmla="*/ 0 h 117"/>
                <a:gd name="T11" fmla="*/ 1758 w 1758"/>
                <a:gd name="T12" fmla="*/ 117 h 1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58" h="117">
                  <a:moveTo>
                    <a:pt x="1758" y="0"/>
                  </a:moveTo>
                  <a:lnTo>
                    <a:pt x="1758" y="117"/>
                  </a:lnTo>
                  <a:lnTo>
                    <a:pt x="0" y="11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7850" name="Freeform 441"/>
            <p:cNvSpPr/>
            <p:nvPr/>
          </p:nvSpPr>
          <p:spPr bwMode="auto">
            <a:xfrm>
              <a:off x="2626" y="2352"/>
              <a:ext cx="1752" cy="120"/>
            </a:xfrm>
            <a:custGeom>
              <a:avLst/>
              <a:gdLst>
                <a:gd name="T0" fmla="*/ 1752 w 1752"/>
                <a:gd name="T1" fmla="*/ 0 h 120"/>
                <a:gd name="T2" fmla="*/ 1752 w 1752"/>
                <a:gd name="T3" fmla="*/ 117 h 120"/>
                <a:gd name="T4" fmla="*/ 0 w 1752"/>
                <a:gd name="T5" fmla="*/ 120 h 120"/>
                <a:gd name="T6" fmla="*/ 0 60000 65536"/>
                <a:gd name="T7" fmla="*/ 0 60000 65536"/>
                <a:gd name="T8" fmla="*/ 0 60000 65536"/>
                <a:gd name="T9" fmla="*/ 0 w 1752"/>
                <a:gd name="T10" fmla="*/ 0 h 120"/>
                <a:gd name="T11" fmla="*/ 1752 w 1752"/>
                <a:gd name="T12" fmla="*/ 120 h 1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52" h="120">
                  <a:moveTo>
                    <a:pt x="1752" y="0"/>
                  </a:moveTo>
                  <a:lnTo>
                    <a:pt x="1752" y="117"/>
                  </a:lnTo>
                  <a:lnTo>
                    <a:pt x="0" y="12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57851" name="Group 442"/>
            <p:cNvGrpSpPr/>
            <p:nvPr/>
          </p:nvGrpSpPr>
          <p:grpSpPr bwMode="auto">
            <a:xfrm>
              <a:off x="4299" y="1246"/>
              <a:ext cx="231" cy="49"/>
              <a:chOff x="4299" y="1246"/>
              <a:chExt cx="231" cy="49"/>
            </a:xfrm>
          </p:grpSpPr>
          <p:sp>
            <p:nvSpPr>
              <p:cNvPr id="157971" name="Freeform 443"/>
              <p:cNvSpPr/>
              <p:nvPr/>
            </p:nvSpPr>
            <p:spPr bwMode="auto">
              <a:xfrm rot="5400000">
                <a:off x="4412" y="1187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  <a:gd name="T6" fmla="*/ 0 w 1"/>
                  <a:gd name="T7" fmla="*/ 0 h 120"/>
                  <a:gd name="T8" fmla="*/ 1 w 1"/>
                  <a:gd name="T9" fmla="*/ 120 h 1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7972" name="Freeform 444"/>
              <p:cNvSpPr/>
              <p:nvPr/>
            </p:nvSpPr>
            <p:spPr bwMode="auto">
              <a:xfrm rot="5400000">
                <a:off x="4414" y="1179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  <a:gd name="T6" fmla="*/ 0 w 1"/>
                  <a:gd name="T7" fmla="*/ 0 h 231"/>
                  <a:gd name="T8" fmla="*/ 1 w 1"/>
                  <a:gd name="T9" fmla="*/ 231 h 23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57852" name="Group 445"/>
            <p:cNvGrpSpPr/>
            <p:nvPr/>
          </p:nvGrpSpPr>
          <p:grpSpPr bwMode="auto">
            <a:xfrm>
              <a:off x="4299" y="2302"/>
              <a:ext cx="231" cy="49"/>
              <a:chOff x="4299" y="2302"/>
              <a:chExt cx="231" cy="49"/>
            </a:xfrm>
          </p:grpSpPr>
          <p:sp>
            <p:nvSpPr>
              <p:cNvPr id="157969" name="Freeform 446"/>
              <p:cNvSpPr/>
              <p:nvPr/>
            </p:nvSpPr>
            <p:spPr bwMode="auto">
              <a:xfrm rot="5400000">
                <a:off x="4412" y="2243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  <a:gd name="T6" fmla="*/ 0 w 1"/>
                  <a:gd name="T7" fmla="*/ 0 h 120"/>
                  <a:gd name="T8" fmla="*/ 1 w 1"/>
                  <a:gd name="T9" fmla="*/ 120 h 1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7970" name="Freeform 447"/>
              <p:cNvSpPr/>
              <p:nvPr/>
            </p:nvSpPr>
            <p:spPr bwMode="auto">
              <a:xfrm rot="5400000">
                <a:off x="4414" y="2235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  <a:gd name="T6" fmla="*/ 0 w 1"/>
                  <a:gd name="T7" fmla="*/ 0 h 231"/>
                  <a:gd name="T8" fmla="*/ 1 w 1"/>
                  <a:gd name="T9" fmla="*/ 231 h 23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57853" name="Group 448"/>
            <p:cNvGrpSpPr/>
            <p:nvPr/>
          </p:nvGrpSpPr>
          <p:grpSpPr bwMode="auto">
            <a:xfrm>
              <a:off x="2706" y="702"/>
              <a:ext cx="251" cy="594"/>
              <a:chOff x="2706" y="702"/>
              <a:chExt cx="251" cy="594"/>
            </a:xfrm>
          </p:grpSpPr>
          <p:grpSp>
            <p:nvGrpSpPr>
              <p:cNvPr id="157959" name="Group 449"/>
              <p:cNvGrpSpPr/>
              <p:nvPr/>
            </p:nvGrpSpPr>
            <p:grpSpPr bwMode="auto">
              <a:xfrm rot="10800000">
                <a:off x="2908" y="864"/>
                <a:ext cx="49" cy="231"/>
                <a:chOff x="1586" y="1334"/>
                <a:chExt cx="49" cy="231"/>
              </a:xfrm>
            </p:grpSpPr>
            <p:sp>
              <p:nvSpPr>
                <p:cNvPr id="157967" name="Freeform 450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  <a:gd name="T6" fmla="*/ 0 w 1"/>
                    <a:gd name="T7" fmla="*/ 0 h 120"/>
                    <a:gd name="T8" fmla="*/ 1 w 1"/>
                    <a:gd name="T9" fmla="*/ 120 h 12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57968" name="Freeform 451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  <a:gd name="T6" fmla="*/ 0 w 1"/>
                    <a:gd name="T7" fmla="*/ 0 h 231"/>
                    <a:gd name="T8" fmla="*/ 1 w 1"/>
                    <a:gd name="T9" fmla="*/ 231 h 23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57960" name="Line 452"/>
              <p:cNvSpPr>
                <a:spLocks noChangeShapeType="1"/>
              </p:cNvSpPr>
              <p:nvPr/>
            </p:nvSpPr>
            <p:spPr bwMode="auto">
              <a:xfrm>
                <a:off x="2806" y="1199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7961" name="Freeform 453"/>
              <p:cNvSpPr/>
              <p:nvPr/>
            </p:nvSpPr>
            <p:spPr bwMode="auto">
              <a:xfrm>
                <a:off x="2754" y="129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  <a:gd name="T6" fmla="*/ 0 w 120"/>
                  <a:gd name="T7" fmla="*/ 0 h 1"/>
                  <a:gd name="T8" fmla="*/ 120 w 12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7962" name="Freeform 454"/>
              <p:cNvSpPr/>
              <p:nvPr/>
            </p:nvSpPr>
            <p:spPr bwMode="auto">
              <a:xfrm>
                <a:off x="2808" y="1019"/>
                <a:ext cx="103" cy="141"/>
              </a:xfrm>
              <a:custGeom>
                <a:avLst/>
                <a:gdLst>
                  <a:gd name="T0" fmla="*/ 103 w 103"/>
                  <a:gd name="T1" fmla="*/ 1 h 141"/>
                  <a:gd name="T2" fmla="*/ 0 w 103"/>
                  <a:gd name="T3" fmla="*/ 0 h 141"/>
                  <a:gd name="T4" fmla="*/ 0 w 103"/>
                  <a:gd name="T5" fmla="*/ 141 h 141"/>
                  <a:gd name="T6" fmla="*/ 0 60000 65536"/>
                  <a:gd name="T7" fmla="*/ 0 60000 65536"/>
                  <a:gd name="T8" fmla="*/ 0 60000 65536"/>
                  <a:gd name="T9" fmla="*/ 0 w 103"/>
                  <a:gd name="T10" fmla="*/ 0 h 141"/>
                  <a:gd name="T11" fmla="*/ 103 w 103"/>
                  <a:gd name="T12" fmla="*/ 141 h 1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3" h="141">
                    <a:moveTo>
                      <a:pt x="103" y="1"/>
                    </a:moveTo>
                    <a:lnTo>
                      <a:pt x="0" y="0"/>
                    </a:lnTo>
                    <a:lnTo>
                      <a:pt x="0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57963" name="Group 455"/>
              <p:cNvGrpSpPr/>
              <p:nvPr/>
            </p:nvGrpSpPr>
            <p:grpSpPr bwMode="auto">
              <a:xfrm>
                <a:off x="2706" y="1151"/>
                <a:ext cx="202" cy="49"/>
                <a:chOff x="432" y="1152"/>
                <a:chExt cx="202" cy="49"/>
              </a:xfrm>
            </p:grpSpPr>
            <p:sp>
              <p:nvSpPr>
                <p:cNvPr id="157965" name="Freeform 456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7966" name="Freeform 457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57964" name="Freeform 458"/>
              <p:cNvSpPr/>
              <p:nvPr/>
            </p:nvSpPr>
            <p:spPr bwMode="auto">
              <a:xfrm>
                <a:off x="2806" y="702"/>
                <a:ext cx="99" cy="225"/>
              </a:xfrm>
              <a:custGeom>
                <a:avLst/>
                <a:gdLst>
                  <a:gd name="T0" fmla="*/ 0 w 99"/>
                  <a:gd name="T1" fmla="*/ 0 h 225"/>
                  <a:gd name="T2" fmla="*/ 0 w 99"/>
                  <a:gd name="T3" fmla="*/ 225 h 225"/>
                  <a:gd name="T4" fmla="*/ 99 w 99"/>
                  <a:gd name="T5" fmla="*/ 225 h 225"/>
                  <a:gd name="T6" fmla="*/ 0 60000 65536"/>
                  <a:gd name="T7" fmla="*/ 0 60000 65536"/>
                  <a:gd name="T8" fmla="*/ 0 60000 65536"/>
                  <a:gd name="T9" fmla="*/ 0 w 99"/>
                  <a:gd name="T10" fmla="*/ 0 h 225"/>
                  <a:gd name="T11" fmla="*/ 99 w 99"/>
                  <a:gd name="T12" fmla="*/ 225 h 22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9" h="225">
                    <a:moveTo>
                      <a:pt x="0" y="0"/>
                    </a:moveTo>
                    <a:lnTo>
                      <a:pt x="0" y="225"/>
                    </a:lnTo>
                    <a:lnTo>
                      <a:pt x="99" y="22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57854" name="Group 459"/>
            <p:cNvGrpSpPr/>
            <p:nvPr/>
          </p:nvGrpSpPr>
          <p:grpSpPr bwMode="auto">
            <a:xfrm>
              <a:off x="2716" y="1406"/>
              <a:ext cx="251" cy="580"/>
              <a:chOff x="2716" y="1406"/>
              <a:chExt cx="251" cy="580"/>
            </a:xfrm>
          </p:grpSpPr>
          <p:grpSp>
            <p:nvGrpSpPr>
              <p:cNvPr id="157949" name="Group 460"/>
              <p:cNvGrpSpPr/>
              <p:nvPr/>
            </p:nvGrpSpPr>
            <p:grpSpPr bwMode="auto">
              <a:xfrm rot="10800000">
                <a:off x="2918" y="1554"/>
                <a:ext cx="49" cy="231"/>
                <a:chOff x="1586" y="1334"/>
                <a:chExt cx="49" cy="231"/>
              </a:xfrm>
            </p:grpSpPr>
            <p:sp>
              <p:nvSpPr>
                <p:cNvPr id="157957" name="Freeform 461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  <a:gd name="T6" fmla="*/ 0 w 1"/>
                    <a:gd name="T7" fmla="*/ 0 h 120"/>
                    <a:gd name="T8" fmla="*/ 1 w 1"/>
                    <a:gd name="T9" fmla="*/ 120 h 12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57958" name="Freeform 462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  <a:gd name="T6" fmla="*/ 0 w 1"/>
                    <a:gd name="T7" fmla="*/ 0 h 231"/>
                    <a:gd name="T8" fmla="*/ 1 w 1"/>
                    <a:gd name="T9" fmla="*/ 231 h 23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57950" name="Line 463"/>
              <p:cNvSpPr>
                <a:spLocks noChangeShapeType="1"/>
              </p:cNvSpPr>
              <p:nvPr/>
            </p:nvSpPr>
            <p:spPr bwMode="auto">
              <a:xfrm>
                <a:off x="2816" y="1889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7951" name="Freeform 464"/>
              <p:cNvSpPr/>
              <p:nvPr/>
            </p:nvSpPr>
            <p:spPr bwMode="auto">
              <a:xfrm>
                <a:off x="2764" y="198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  <a:gd name="T6" fmla="*/ 0 w 120"/>
                  <a:gd name="T7" fmla="*/ 0 h 1"/>
                  <a:gd name="T8" fmla="*/ 120 w 12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7952" name="Freeform 465"/>
              <p:cNvSpPr/>
              <p:nvPr/>
            </p:nvSpPr>
            <p:spPr bwMode="auto">
              <a:xfrm>
                <a:off x="2818" y="1709"/>
                <a:ext cx="103" cy="141"/>
              </a:xfrm>
              <a:custGeom>
                <a:avLst/>
                <a:gdLst>
                  <a:gd name="T0" fmla="*/ 103 w 103"/>
                  <a:gd name="T1" fmla="*/ 1 h 141"/>
                  <a:gd name="T2" fmla="*/ 0 w 103"/>
                  <a:gd name="T3" fmla="*/ 0 h 141"/>
                  <a:gd name="T4" fmla="*/ 0 w 103"/>
                  <a:gd name="T5" fmla="*/ 141 h 141"/>
                  <a:gd name="T6" fmla="*/ 0 60000 65536"/>
                  <a:gd name="T7" fmla="*/ 0 60000 65536"/>
                  <a:gd name="T8" fmla="*/ 0 60000 65536"/>
                  <a:gd name="T9" fmla="*/ 0 w 103"/>
                  <a:gd name="T10" fmla="*/ 0 h 141"/>
                  <a:gd name="T11" fmla="*/ 103 w 103"/>
                  <a:gd name="T12" fmla="*/ 141 h 1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3" h="141">
                    <a:moveTo>
                      <a:pt x="103" y="1"/>
                    </a:moveTo>
                    <a:lnTo>
                      <a:pt x="0" y="0"/>
                    </a:lnTo>
                    <a:lnTo>
                      <a:pt x="0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57953" name="Group 466"/>
              <p:cNvGrpSpPr/>
              <p:nvPr/>
            </p:nvGrpSpPr>
            <p:grpSpPr bwMode="auto">
              <a:xfrm>
                <a:off x="2716" y="1841"/>
                <a:ext cx="202" cy="49"/>
                <a:chOff x="432" y="1152"/>
                <a:chExt cx="202" cy="49"/>
              </a:xfrm>
            </p:grpSpPr>
            <p:sp>
              <p:nvSpPr>
                <p:cNvPr id="157955" name="Freeform 467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7956" name="Freeform 468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57954" name="Freeform 469"/>
              <p:cNvSpPr/>
              <p:nvPr/>
            </p:nvSpPr>
            <p:spPr bwMode="auto">
              <a:xfrm>
                <a:off x="2814" y="1406"/>
                <a:ext cx="101" cy="211"/>
              </a:xfrm>
              <a:custGeom>
                <a:avLst/>
                <a:gdLst>
                  <a:gd name="T0" fmla="*/ 0 w 101"/>
                  <a:gd name="T1" fmla="*/ 0 h 211"/>
                  <a:gd name="T2" fmla="*/ 2 w 101"/>
                  <a:gd name="T3" fmla="*/ 211 h 211"/>
                  <a:gd name="T4" fmla="*/ 101 w 101"/>
                  <a:gd name="T5" fmla="*/ 211 h 211"/>
                  <a:gd name="T6" fmla="*/ 0 60000 65536"/>
                  <a:gd name="T7" fmla="*/ 0 60000 65536"/>
                  <a:gd name="T8" fmla="*/ 0 60000 65536"/>
                  <a:gd name="T9" fmla="*/ 0 w 101"/>
                  <a:gd name="T10" fmla="*/ 0 h 211"/>
                  <a:gd name="T11" fmla="*/ 101 w 101"/>
                  <a:gd name="T12" fmla="*/ 211 h 2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1" h="211">
                    <a:moveTo>
                      <a:pt x="0" y="0"/>
                    </a:moveTo>
                    <a:lnTo>
                      <a:pt x="2" y="211"/>
                    </a:lnTo>
                    <a:lnTo>
                      <a:pt x="101" y="21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57855" name="Group 470"/>
            <p:cNvGrpSpPr/>
            <p:nvPr/>
          </p:nvGrpSpPr>
          <p:grpSpPr bwMode="auto">
            <a:xfrm>
              <a:off x="2716" y="2469"/>
              <a:ext cx="251" cy="573"/>
              <a:chOff x="2716" y="2469"/>
              <a:chExt cx="251" cy="573"/>
            </a:xfrm>
          </p:grpSpPr>
          <p:grpSp>
            <p:nvGrpSpPr>
              <p:cNvPr id="157939" name="Group 471"/>
              <p:cNvGrpSpPr/>
              <p:nvPr/>
            </p:nvGrpSpPr>
            <p:grpSpPr bwMode="auto">
              <a:xfrm rot="10800000">
                <a:off x="2918" y="2610"/>
                <a:ext cx="49" cy="231"/>
                <a:chOff x="1586" y="1334"/>
                <a:chExt cx="49" cy="231"/>
              </a:xfrm>
            </p:grpSpPr>
            <p:sp>
              <p:nvSpPr>
                <p:cNvPr id="157947" name="Freeform 472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  <a:gd name="T6" fmla="*/ 0 w 1"/>
                    <a:gd name="T7" fmla="*/ 0 h 120"/>
                    <a:gd name="T8" fmla="*/ 1 w 1"/>
                    <a:gd name="T9" fmla="*/ 120 h 12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57948" name="Freeform 473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  <a:gd name="T6" fmla="*/ 0 w 1"/>
                    <a:gd name="T7" fmla="*/ 0 h 231"/>
                    <a:gd name="T8" fmla="*/ 1 w 1"/>
                    <a:gd name="T9" fmla="*/ 231 h 23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57940" name="Line 474"/>
              <p:cNvSpPr>
                <a:spLocks noChangeShapeType="1"/>
              </p:cNvSpPr>
              <p:nvPr/>
            </p:nvSpPr>
            <p:spPr bwMode="auto">
              <a:xfrm>
                <a:off x="2816" y="2945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7941" name="Freeform 475"/>
              <p:cNvSpPr/>
              <p:nvPr/>
            </p:nvSpPr>
            <p:spPr bwMode="auto">
              <a:xfrm>
                <a:off x="2764" y="3041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  <a:gd name="T6" fmla="*/ 0 w 120"/>
                  <a:gd name="T7" fmla="*/ 0 h 1"/>
                  <a:gd name="T8" fmla="*/ 120 w 12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7942" name="Freeform 476"/>
              <p:cNvSpPr/>
              <p:nvPr/>
            </p:nvSpPr>
            <p:spPr bwMode="auto">
              <a:xfrm>
                <a:off x="2818" y="2765"/>
                <a:ext cx="103" cy="141"/>
              </a:xfrm>
              <a:custGeom>
                <a:avLst/>
                <a:gdLst>
                  <a:gd name="T0" fmla="*/ 103 w 103"/>
                  <a:gd name="T1" fmla="*/ 1 h 141"/>
                  <a:gd name="T2" fmla="*/ 0 w 103"/>
                  <a:gd name="T3" fmla="*/ 0 h 141"/>
                  <a:gd name="T4" fmla="*/ 0 w 103"/>
                  <a:gd name="T5" fmla="*/ 141 h 141"/>
                  <a:gd name="T6" fmla="*/ 0 60000 65536"/>
                  <a:gd name="T7" fmla="*/ 0 60000 65536"/>
                  <a:gd name="T8" fmla="*/ 0 60000 65536"/>
                  <a:gd name="T9" fmla="*/ 0 w 103"/>
                  <a:gd name="T10" fmla="*/ 0 h 141"/>
                  <a:gd name="T11" fmla="*/ 103 w 103"/>
                  <a:gd name="T12" fmla="*/ 141 h 1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3" h="141">
                    <a:moveTo>
                      <a:pt x="103" y="1"/>
                    </a:moveTo>
                    <a:lnTo>
                      <a:pt x="0" y="0"/>
                    </a:lnTo>
                    <a:lnTo>
                      <a:pt x="0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57943" name="Group 477"/>
              <p:cNvGrpSpPr/>
              <p:nvPr/>
            </p:nvGrpSpPr>
            <p:grpSpPr bwMode="auto">
              <a:xfrm>
                <a:off x="2716" y="2897"/>
                <a:ext cx="202" cy="49"/>
                <a:chOff x="432" y="1152"/>
                <a:chExt cx="202" cy="49"/>
              </a:xfrm>
            </p:grpSpPr>
            <p:sp>
              <p:nvSpPr>
                <p:cNvPr id="157945" name="Freeform 478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7946" name="Freeform 479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57944" name="Freeform 480"/>
              <p:cNvSpPr/>
              <p:nvPr/>
            </p:nvSpPr>
            <p:spPr bwMode="auto">
              <a:xfrm>
                <a:off x="2816" y="2469"/>
                <a:ext cx="99" cy="204"/>
              </a:xfrm>
              <a:custGeom>
                <a:avLst/>
                <a:gdLst>
                  <a:gd name="T0" fmla="*/ 1 w 99"/>
                  <a:gd name="T1" fmla="*/ 0 h 204"/>
                  <a:gd name="T2" fmla="*/ 0 w 99"/>
                  <a:gd name="T3" fmla="*/ 204 h 204"/>
                  <a:gd name="T4" fmla="*/ 99 w 99"/>
                  <a:gd name="T5" fmla="*/ 204 h 204"/>
                  <a:gd name="T6" fmla="*/ 0 60000 65536"/>
                  <a:gd name="T7" fmla="*/ 0 60000 65536"/>
                  <a:gd name="T8" fmla="*/ 0 60000 65536"/>
                  <a:gd name="T9" fmla="*/ 0 w 99"/>
                  <a:gd name="T10" fmla="*/ 0 h 204"/>
                  <a:gd name="T11" fmla="*/ 99 w 99"/>
                  <a:gd name="T12" fmla="*/ 204 h 2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9" h="204">
                    <a:moveTo>
                      <a:pt x="1" y="0"/>
                    </a:moveTo>
                    <a:lnTo>
                      <a:pt x="0" y="204"/>
                    </a:lnTo>
                    <a:lnTo>
                      <a:pt x="99" y="20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57856" name="Freeform 481"/>
            <p:cNvSpPr/>
            <p:nvPr/>
          </p:nvSpPr>
          <p:spPr bwMode="auto">
            <a:xfrm>
              <a:off x="2959" y="980"/>
              <a:ext cx="192" cy="2236"/>
            </a:xfrm>
            <a:custGeom>
              <a:avLst/>
              <a:gdLst>
                <a:gd name="T0" fmla="*/ 0 w 192"/>
                <a:gd name="T1" fmla="*/ 0 h 2236"/>
                <a:gd name="T2" fmla="*/ 192 w 192"/>
                <a:gd name="T3" fmla="*/ 1 h 2236"/>
                <a:gd name="T4" fmla="*/ 192 w 192"/>
                <a:gd name="T5" fmla="*/ 2236 h 2236"/>
                <a:gd name="T6" fmla="*/ 0 60000 65536"/>
                <a:gd name="T7" fmla="*/ 0 60000 65536"/>
                <a:gd name="T8" fmla="*/ 0 60000 65536"/>
                <a:gd name="T9" fmla="*/ 0 w 192"/>
                <a:gd name="T10" fmla="*/ 0 h 2236"/>
                <a:gd name="T11" fmla="*/ 192 w 192"/>
                <a:gd name="T12" fmla="*/ 2236 h 22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2" h="2236">
                  <a:moveTo>
                    <a:pt x="0" y="0"/>
                  </a:moveTo>
                  <a:lnTo>
                    <a:pt x="192" y="1"/>
                  </a:lnTo>
                  <a:lnTo>
                    <a:pt x="192" y="223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7857" name="Freeform 482"/>
            <p:cNvSpPr/>
            <p:nvPr/>
          </p:nvSpPr>
          <p:spPr bwMode="auto">
            <a:xfrm>
              <a:off x="2956" y="2112"/>
              <a:ext cx="195" cy="1"/>
            </a:xfrm>
            <a:custGeom>
              <a:avLst/>
              <a:gdLst>
                <a:gd name="T0" fmla="*/ 0 w 195"/>
                <a:gd name="T1" fmla="*/ 1 h 1"/>
                <a:gd name="T2" fmla="*/ 195 w 195"/>
                <a:gd name="T3" fmla="*/ 0 h 1"/>
                <a:gd name="T4" fmla="*/ 0 60000 65536"/>
                <a:gd name="T5" fmla="*/ 0 60000 65536"/>
                <a:gd name="T6" fmla="*/ 0 w 195"/>
                <a:gd name="T7" fmla="*/ 0 h 1"/>
                <a:gd name="T8" fmla="*/ 195 w 19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95" h="1">
                  <a:moveTo>
                    <a:pt x="0" y="1"/>
                  </a:moveTo>
                  <a:lnTo>
                    <a:pt x="19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858" name="Freeform 483"/>
            <p:cNvSpPr/>
            <p:nvPr/>
          </p:nvSpPr>
          <p:spPr bwMode="auto">
            <a:xfrm>
              <a:off x="2956" y="2256"/>
              <a:ext cx="195" cy="1"/>
            </a:xfrm>
            <a:custGeom>
              <a:avLst/>
              <a:gdLst>
                <a:gd name="T0" fmla="*/ 0 w 195"/>
                <a:gd name="T1" fmla="*/ 1 h 1"/>
                <a:gd name="T2" fmla="*/ 195 w 195"/>
                <a:gd name="T3" fmla="*/ 0 h 1"/>
                <a:gd name="T4" fmla="*/ 0 60000 65536"/>
                <a:gd name="T5" fmla="*/ 0 60000 65536"/>
                <a:gd name="T6" fmla="*/ 0 w 195"/>
                <a:gd name="T7" fmla="*/ 0 h 1"/>
                <a:gd name="T8" fmla="*/ 195 w 19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95" h="1">
                  <a:moveTo>
                    <a:pt x="0" y="1"/>
                  </a:moveTo>
                  <a:lnTo>
                    <a:pt x="19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859" name="Freeform 484"/>
            <p:cNvSpPr/>
            <p:nvPr/>
          </p:nvSpPr>
          <p:spPr bwMode="auto">
            <a:xfrm>
              <a:off x="2956" y="2722"/>
              <a:ext cx="195" cy="1"/>
            </a:xfrm>
            <a:custGeom>
              <a:avLst/>
              <a:gdLst>
                <a:gd name="T0" fmla="*/ 0 w 195"/>
                <a:gd name="T1" fmla="*/ 1 h 1"/>
                <a:gd name="T2" fmla="*/ 195 w 195"/>
                <a:gd name="T3" fmla="*/ 0 h 1"/>
                <a:gd name="T4" fmla="*/ 0 60000 65536"/>
                <a:gd name="T5" fmla="*/ 0 60000 65536"/>
                <a:gd name="T6" fmla="*/ 0 w 195"/>
                <a:gd name="T7" fmla="*/ 0 h 1"/>
                <a:gd name="T8" fmla="*/ 195 w 19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95" h="1">
                  <a:moveTo>
                    <a:pt x="0" y="1"/>
                  </a:moveTo>
                  <a:lnTo>
                    <a:pt x="19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860" name="Freeform 485"/>
            <p:cNvSpPr/>
            <p:nvPr/>
          </p:nvSpPr>
          <p:spPr bwMode="auto">
            <a:xfrm>
              <a:off x="3243" y="1410"/>
              <a:ext cx="1" cy="174"/>
            </a:xfrm>
            <a:custGeom>
              <a:avLst/>
              <a:gdLst>
                <a:gd name="T0" fmla="*/ 0 w 1"/>
                <a:gd name="T1" fmla="*/ 0 h 174"/>
                <a:gd name="T2" fmla="*/ 0 w 1"/>
                <a:gd name="T3" fmla="*/ 174 h 174"/>
                <a:gd name="T4" fmla="*/ 0 60000 65536"/>
                <a:gd name="T5" fmla="*/ 0 60000 65536"/>
                <a:gd name="T6" fmla="*/ 0 w 1"/>
                <a:gd name="T7" fmla="*/ 0 h 174"/>
                <a:gd name="T8" fmla="*/ 1 w 1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74">
                  <a:moveTo>
                    <a:pt x="0" y="0"/>
                  </a:moveTo>
                  <a:lnTo>
                    <a:pt x="0" y="174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861" name="Freeform 486"/>
            <p:cNvSpPr/>
            <p:nvPr/>
          </p:nvSpPr>
          <p:spPr bwMode="auto">
            <a:xfrm>
              <a:off x="3389" y="1409"/>
              <a:ext cx="1" cy="183"/>
            </a:xfrm>
            <a:custGeom>
              <a:avLst/>
              <a:gdLst>
                <a:gd name="T0" fmla="*/ 0 w 1"/>
                <a:gd name="T1" fmla="*/ 0 h 183"/>
                <a:gd name="T2" fmla="*/ 0 w 1"/>
                <a:gd name="T3" fmla="*/ 183 h 183"/>
                <a:gd name="T4" fmla="*/ 0 60000 65536"/>
                <a:gd name="T5" fmla="*/ 0 60000 65536"/>
                <a:gd name="T6" fmla="*/ 0 w 1"/>
                <a:gd name="T7" fmla="*/ 0 h 183"/>
                <a:gd name="T8" fmla="*/ 1 w 1"/>
                <a:gd name="T9" fmla="*/ 183 h 18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3">
                  <a:moveTo>
                    <a:pt x="0" y="0"/>
                  </a:moveTo>
                  <a:lnTo>
                    <a:pt x="0" y="183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862" name="Freeform 487"/>
            <p:cNvSpPr/>
            <p:nvPr/>
          </p:nvSpPr>
          <p:spPr bwMode="auto">
            <a:xfrm>
              <a:off x="3245" y="2466"/>
              <a:ext cx="1" cy="174"/>
            </a:xfrm>
            <a:custGeom>
              <a:avLst/>
              <a:gdLst>
                <a:gd name="T0" fmla="*/ 0 w 1"/>
                <a:gd name="T1" fmla="*/ 0 h 174"/>
                <a:gd name="T2" fmla="*/ 1 w 1"/>
                <a:gd name="T3" fmla="*/ 174 h 174"/>
                <a:gd name="T4" fmla="*/ 0 60000 65536"/>
                <a:gd name="T5" fmla="*/ 0 60000 65536"/>
                <a:gd name="T6" fmla="*/ 0 w 1"/>
                <a:gd name="T7" fmla="*/ 0 h 174"/>
                <a:gd name="T8" fmla="*/ 1 w 1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74">
                  <a:moveTo>
                    <a:pt x="0" y="0"/>
                  </a:moveTo>
                  <a:lnTo>
                    <a:pt x="1" y="174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863" name="Freeform 488"/>
            <p:cNvSpPr/>
            <p:nvPr/>
          </p:nvSpPr>
          <p:spPr bwMode="auto">
            <a:xfrm>
              <a:off x="3391" y="2459"/>
              <a:ext cx="2" cy="181"/>
            </a:xfrm>
            <a:custGeom>
              <a:avLst/>
              <a:gdLst>
                <a:gd name="T0" fmla="*/ 2 w 2"/>
                <a:gd name="T1" fmla="*/ 0 h 181"/>
                <a:gd name="T2" fmla="*/ 0 w 2"/>
                <a:gd name="T3" fmla="*/ 181 h 181"/>
                <a:gd name="T4" fmla="*/ 0 60000 65536"/>
                <a:gd name="T5" fmla="*/ 0 60000 65536"/>
                <a:gd name="T6" fmla="*/ 0 w 2"/>
                <a:gd name="T7" fmla="*/ 0 h 181"/>
                <a:gd name="T8" fmla="*/ 2 w 2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181">
                  <a:moveTo>
                    <a:pt x="2" y="0"/>
                  </a:moveTo>
                  <a:lnTo>
                    <a:pt x="0" y="181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864" name="Freeform 489"/>
            <p:cNvSpPr/>
            <p:nvPr/>
          </p:nvSpPr>
          <p:spPr bwMode="auto">
            <a:xfrm>
              <a:off x="3915" y="1665"/>
              <a:ext cx="178" cy="1"/>
            </a:xfrm>
            <a:custGeom>
              <a:avLst/>
              <a:gdLst>
                <a:gd name="T0" fmla="*/ 0 w 178"/>
                <a:gd name="T1" fmla="*/ 0 h 1"/>
                <a:gd name="T2" fmla="*/ 178 w 178"/>
                <a:gd name="T3" fmla="*/ 0 h 1"/>
                <a:gd name="T4" fmla="*/ 0 60000 65536"/>
                <a:gd name="T5" fmla="*/ 0 60000 65536"/>
                <a:gd name="T6" fmla="*/ 0 w 178"/>
                <a:gd name="T7" fmla="*/ 0 h 1"/>
                <a:gd name="T8" fmla="*/ 178 w 17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78" h="1">
                  <a:moveTo>
                    <a:pt x="0" y="0"/>
                  </a:moveTo>
                  <a:lnTo>
                    <a:pt x="178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865" name="Text Box 490"/>
            <p:cNvSpPr txBox="1">
              <a:spLocks noChangeArrowheads="1"/>
            </p:cNvSpPr>
            <p:nvPr/>
          </p:nvSpPr>
          <p:spPr bwMode="auto">
            <a:xfrm rot="5400000">
              <a:off x="3674" y="2031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grpSp>
          <p:nvGrpSpPr>
            <p:cNvPr id="157866" name="Group 491"/>
            <p:cNvGrpSpPr/>
            <p:nvPr/>
          </p:nvGrpSpPr>
          <p:grpSpPr bwMode="auto">
            <a:xfrm>
              <a:off x="3648" y="702"/>
              <a:ext cx="251" cy="594"/>
              <a:chOff x="3648" y="702"/>
              <a:chExt cx="251" cy="594"/>
            </a:xfrm>
          </p:grpSpPr>
          <p:grpSp>
            <p:nvGrpSpPr>
              <p:cNvPr id="157929" name="Group 492"/>
              <p:cNvGrpSpPr/>
              <p:nvPr/>
            </p:nvGrpSpPr>
            <p:grpSpPr bwMode="auto">
              <a:xfrm rot="10800000">
                <a:off x="3850" y="864"/>
                <a:ext cx="49" cy="231"/>
                <a:chOff x="1586" y="1334"/>
                <a:chExt cx="49" cy="231"/>
              </a:xfrm>
            </p:grpSpPr>
            <p:sp>
              <p:nvSpPr>
                <p:cNvPr id="157937" name="Freeform 493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  <a:gd name="T6" fmla="*/ 0 w 1"/>
                    <a:gd name="T7" fmla="*/ 0 h 120"/>
                    <a:gd name="T8" fmla="*/ 1 w 1"/>
                    <a:gd name="T9" fmla="*/ 120 h 12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57938" name="Freeform 494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  <a:gd name="T6" fmla="*/ 0 w 1"/>
                    <a:gd name="T7" fmla="*/ 0 h 231"/>
                    <a:gd name="T8" fmla="*/ 1 w 1"/>
                    <a:gd name="T9" fmla="*/ 231 h 23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57930" name="Line 495"/>
              <p:cNvSpPr>
                <a:spLocks noChangeShapeType="1"/>
              </p:cNvSpPr>
              <p:nvPr/>
            </p:nvSpPr>
            <p:spPr bwMode="auto">
              <a:xfrm>
                <a:off x="3748" y="1199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7931" name="Freeform 496"/>
              <p:cNvSpPr/>
              <p:nvPr/>
            </p:nvSpPr>
            <p:spPr bwMode="auto">
              <a:xfrm>
                <a:off x="3696" y="129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  <a:gd name="T6" fmla="*/ 0 w 120"/>
                  <a:gd name="T7" fmla="*/ 0 h 1"/>
                  <a:gd name="T8" fmla="*/ 120 w 12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7932" name="Freeform 497"/>
              <p:cNvSpPr/>
              <p:nvPr/>
            </p:nvSpPr>
            <p:spPr bwMode="auto">
              <a:xfrm>
                <a:off x="3750" y="1019"/>
                <a:ext cx="103" cy="141"/>
              </a:xfrm>
              <a:custGeom>
                <a:avLst/>
                <a:gdLst>
                  <a:gd name="T0" fmla="*/ 103 w 103"/>
                  <a:gd name="T1" fmla="*/ 1 h 141"/>
                  <a:gd name="T2" fmla="*/ 0 w 103"/>
                  <a:gd name="T3" fmla="*/ 0 h 141"/>
                  <a:gd name="T4" fmla="*/ 0 w 103"/>
                  <a:gd name="T5" fmla="*/ 141 h 141"/>
                  <a:gd name="T6" fmla="*/ 0 60000 65536"/>
                  <a:gd name="T7" fmla="*/ 0 60000 65536"/>
                  <a:gd name="T8" fmla="*/ 0 60000 65536"/>
                  <a:gd name="T9" fmla="*/ 0 w 103"/>
                  <a:gd name="T10" fmla="*/ 0 h 141"/>
                  <a:gd name="T11" fmla="*/ 103 w 103"/>
                  <a:gd name="T12" fmla="*/ 141 h 1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3" h="141">
                    <a:moveTo>
                      <a:pt x="103" y="1"/>
                    </a:moveTo>
                    <a:lnTo>
                      <a:pt x="0" y="0"/>
                    </a:lnTo>
                    <a:lnTo>
                      <a:pt x="0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57933" name="Group 498"/>
              <p:cNvGrpSpPr/>
              <p:nvPr/>
            </p:nvGrpSpPr>
            <p:grpSpPr bwMode="auto">
              <a:xfrm>
                <a:off x="3648" y="1151"/>
                <a:ext cx="202" cy="49"/>
                <a:chOff x="432" y="1152"/>
                <a:chExt cx="202" cy="49"/>
              </a:xfrm>
            </p:grpSpPr>
            <p:sp>
              <p:nvSpPr>
                <p:cNvPr id="157935" name="Freeform 499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7936" name="Freeform 500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57934" name="Freeform 501"/>
              <p:cNvSpPr/>
              <p:nvPr/>
            </p:nvSpPr>
            <p:spPr bwMode="auto">
              <a:xfrm>
                <a:off x="3748" y="702"/>
                <a:ext cx="99" cy="225"/>
              </a:xfrm>
              <a:custGeom>
                <a:avLst/>
                <a:gdLst>
                  <a:gd name="T0" fmla="*/ 0 w 99"/>
                  <a:gd name="T1" fmla="*/ 0 h 225"/>
                  <a:gd name="T2" fmla="*/ 0 w 99"/>
                  <a:gd name="T3" fmla="*/ 225 h 225"/>
                  <a:gd name="T4" fmla="*/ 99 w 99"/>
                  <a:gd name="T5" fmla="*/ 225 h 225"/>
                  <a:gd name="T6" fmla="*/ 0 60000 65536"/>
                  <a:gd name="T7" fmla="*/ 0 60000 65536"/>
                  <a:gd name="T8" fmla="*/ 0 60000 65536"/>
                  <a:gd name="T9" fmla="*/ 0 w 99"/>
                  <a:gd name="T10" fmla="*/ 0 h 225"/>
                  <a:gd name="T11" fmla="*/ 99 w 99"/>
                  <a:gd name="T12" fmla="*/ 225 h 22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9" h="225">
                    <a:moveTo>
                      <a:pt x="0" y="0"/>
                    </a:moveTo>
                    <a:lnTo>
                      <a:pt x="0" y="225"/>
                    </a:lnTo>
                    <a:lnTo>
                      <a:pt x="99" y="22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57867" name="Group 502"/>
            <p:cNvGrpSpPr/>
            <p:nvPr/>
          </p:nvGrpSpPr>
          <p:grpSpPr bwMode="auto">
            <a:xfrm>
              <a:off x="3658" y="1409"/>
              <a:ext cx="251" cy="577"/>
              <a:chOff x="3658" y="1409"/>
              <a:chExt cx="251" cy="577"/>
            </a:xfrm>
          </p:grpSpPr>
          <p:grpSp>
            <p:nvGrpSpPr>
              <p:cNvPr id="157919" name="Group 503"/>
              <p:cNvGrpSpPr/>
              <p:nvPr/>
            </p:nvGrpSpPr>
            <p:grpSpPr bwMode="auto">
              <a:xfrm rot="10800000">
                <a:off x="3860" y="1554"/>
                <a:ext cx="49" cy="231"/>
                <a:chOff x="1586" y="1334"/>
                <a:chExt cx="49" cy="231"/>
              </a:xfrm>
            </p:grpSpPr>
            <p:sp>
              <p:nvSpPr>
                <p:cNvPr id="157927" name="Freeform 504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  <a:gd name="T6" fmla="*/ 0 w 1"/>
                    <a:gd name="T7" fmla="*/ 0 h 120"/>
                    <a:gd name="T8" fmla="*/ 1 w 1"/>
                    <a:gd name="T9" fmla="*/ 120 h 12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57928" name="Freeform 505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  <a:gd name="T6" fmla="*/ 0 w 1"/>
                    <a:gd name="T7" fmla="*/ 0 h 231"/>
                    <a:gd name="T8" fmla="*/ 1 w 1"/>
                    <a:gd name="T9" fmla="*/ 231 h 23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57920" name="Line 506"/>
              <p:cNvSpPr>
                <a:spLocks noChangeShapeType="1"/>
              </p:cNvSpPr>
              <p:nvPr/>
            </p:nvSpPr>
            <p:spPr bwMode="auto">
              <a:xfrm>
                <a:off x="3758" y="1889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7921" name="Freeform 507"/>
              <p:cNvSpPr/>
              <p:nvPr/>
            </p:nvSpPr>
            <p:spPr bwMode="auto">
              <a:xfrm>
                <a:off x="3706" y="198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  <a:gd name="T6" fmla="*/ 0 w 120"/>
                  <a:gd name="T7" fmla="*/ 0 h 1"/>
                  <a:gd name="T8" fmla="*/ 120 w 12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7922" name="Freeform 508"/>
              <p:cNvSpPr/>
              <p:nvPr/>
            </p:nvSpPr>
            <p:spPr bwMode="auto">
              <a:xfrm>
                <a:off x="3760" y="1709"/>
                <a:ext cx="103" cy="141"/>
              </a:xfrm>
              <a:custGeom>
                <a:avLst/>
                <a:gdLst>
                  <a:gd name="T0" fmla="*/ 103 w 103"/>
                  <a:gd name="T1" fmla="*/ 1 h 141"/>
                  <a:gd name="T2" fmla="*/ 0 w 103"/>
                  <a:gd name="T3" fmla="*/ 0 h 141"/>
                  <a:gd name="T4" fmla="*/ 0 w 103"/>
                  <a:gd name="T5" fmla="*/ 141 h 141"/>
                  <a:gd name="T6" fmla="*/ 0 60000 65536"/>
                  <a:gd name="T7" fmla="*/ 0 60000 65536"/>
                  <a:gd name="T8" fmla="*/ 0 60000 65536"/>
                  <a:gd name="T9" fmla="*/ 0 w 103"/>
                  <a:gd name="T10" fmla="*/ 0 h 141"/>
                  <a:gd name="T11" fmla="*/ 103 w 103"/>
                  <a:gd name="T12" fmla="*/ 141 h 1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3" h="141">
                    <a:moveTo>
                      <a:pt x="103" y="1"/>
                    </a:moveTo>
                    <a:lnTo>
                      <a:pt x="0" y="0"/>
                    </a:lnTo>
                    <a:lnTo>
                      <a:pt x="0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57923" name="Group 509"/>
              <p:cNvGrpSpPr/>
              <p:nvPr/>
            </p:nvGrpSpPr>
            <p:grpSpPr bwMode="auto">
              <a:xfrm>
                <a:off x="3658" y="1841"/>
                <a:ext cx="202" cy="49"/>
                <a:chOff x="432" y="1152"/>
                <a:chExt cx="202" cy="49"/>
              </a:xfrm>
            </p:grpSpPr>
            <p:sp>
              <p:nvSpPr>
                <p:cNvPr id="157925" name="Freeform 510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7926" name="Freeform 511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57924" name="Freeform 512"/>
              <p:cNvSpPr/>
              <p:nvPr/>
            </p:nvSpPr>
            <p:spPr bwMode="auto">
              <a:xfrm>
                <a:off x="3758" y="1409"/>
                <a:ext cx="99" cy="208"/>
              </a:xfrm>
              <a:custGeom>
                <a:avLst/>
                <a:gdLst>
                  <a:gd name="T0" fmla="*/ 0 w 99"/>
                  <a:gd name="T1" fmla="*/ 0 h 208"/>
                  <a:gd name="T2" fmla="*/ 0 w 99"/>
                  <a:gd name="T3" fmla="*/ 208 h 208"/>
                  <a:gd name="T4" fmla="*/ 99 w 99"/>
                  <a:gd name="T5" fmla="*/ 208 h 208"/>
                  <a:gd name="T6" fmla="*/ 0 60000 65536"/>
                  <a:gd name="T7" fmla="*/ 0 60000 65536"/>
                  <a:gd name="T8" fmla="*/ 0 60000 65536"/>
                  <a:gd name="T9" fmla="*/ 0 w 99"/>
                  <a:gd name="T10" fmla="*/ 0 h 208"/>
                  <a:gd name="T11" fmla="*/ 99 w 99"/>
                  <a:gd name="T12" fmla="*/ 208 h 20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9" h="208">
                    <a:moveTo>
                      <a:pt x="0" y="0"/>
                    </a:moveTo>
                    <a:lnTo>
                      <a:pt x="0" y="208"/>
                    </a:lnTo>
                    <a:lnTo>
                      <a:pt x="99" y="208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57868" name="Group 513"/>
            <p:cNvGrpSpPr/>
            <p:nvPr/>
          </p:nvGrpSpPr>
          <p:grpSpPr bwMode="auto">
            <a:xfrm>
              <a:off x="3658" y="2468"/>
              <a:ext cx="251" cy="574"/>
              <a:chOff x="3658" y="2468"/>
              <a:chExt cx="251" cy="574"/>
            </a:xfrm>
          </p:grpSpPr>
          <p:grpSp>
            <p:nvGrpSpPr>
              <p:cNvPr id="157909" name="Group 514"/>
              <p:cNvGrpSpPr/>
              <p:nvPr/>
            </p:nvGrpSpPr>
            <p:grpSpPr bwMode="auto">
              <a:xfrm rot="10800000">
                <a:off x="3860" y="2610"/>
                <a:ext cx="49" cy="231"/>
                <a:chOff x="1586" y="1334"/>
                <a:chExt cx="49" cy="231"/>
              </a:xfrm>
            </p:grpSpPr>
            <p:sp>
              <p:nvSpPr>
                <p:cNvPr id="157917" name="Freeform 515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  <a:gd name="T6" fmla="*/ 0 w 1"/>
                    <a:gd name="T7" fmla="*/ 0 h 120"/>
                    <a:gd name="T8" fmla="*/ 1 w 1"/>
                    <a:gd name="T9" fmla="*/ 120 h 12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57918" name="Freeform 516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  <a:gd name="T6" fmla="*/ 0 w 1"/>
                    <a:gd name="T7" fmla="*/ 0 h 231"/>
                    <a:gd name="T8" fmla="*/ 1 w 1"/>
                    <a:gd name="T9" fmla="*/ 231 h 23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57910" name="Line 517"/>
              <p:cNvSpPr>
                <a:spLocks noChangeShapeType="1"/>
              </p:cNvSpPr>
              <p:nvPr/>
            </p:nvSpPr>
            <p:spPr bwMode="auto">
              <a:xfrm>
                <a:off x="3758" y="2945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7911" name="Freeform 518"/>
              <p:cNvSpPr/>
              <p:nvPr/>
            </p:nvSpPr>
            <p:spPr bwMode="auto">
              <a:xfrm>
                <a:off x="3706" y="3041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  <a:gd name="T6" fmla="*/ 0 w 120"/>
                  <a:gd name="T7" fmla="*/ 0 h 1"/>
                  <a:gd name="T8" fmla="*/ 120 w 12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7912" name="Freeform 519"/>
              <p:cNvSpPr/>
              <p:nvPr/>
            </p:nvSpPr>
            <p:spPr bwMode="auto">
              <a:xfrm>
                <a:off x="3760" y="2765"/>
                <a:ext cx="103" cy="141"/>
              </a:xfrm>
              <a:custGeom>
                <a:avLst/>
                <a:gdLst>
                  <a:gd name="T0" fmla="*/ 103 w 103"/>
                  <a:gd name="T1" fmla="*/ 1 h 141"/>
                  <a:gd name="T2" fmla="*/ 0 w 103"/>
                  <a:gd name="T3" fmla="*/ 0 h 141"/>
                  <a:gd name="T4" fmla="*/ 0 w 103"/>
                  <a:gd name="T5" fmla="*/ 141 h 141"/>
                  <a:gd name="T6" fmla="*/ 0 60000 65536"/>
                  <a:gd name="T7" fmla="*/ 0 60000 65536"/>
                  <a:gd name="T8" fmla="*/ 0 60000 65536"/>
                  <a:gd name="T9" fmla="*/ 0 w 103"/>
                  <a:gd name="T10" fmla="*/ 0 h 141"/>
                  <a:gd name="T11" fmla="*/ 103 w 103"/>
                  <a:gd name="T12" fmla="*/ 141 h 1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3" h="141">
                    <a:moveTo>
                      <a:pt x="103" y="1"/>
                    </a:moveTo>
                    <a:lnTo>
                      <a:pt x="0" y="0"/>
                    </a:lnTo>
                    <a:lnTo>
                      <a:pt x="0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57913" name="Group 520"/>
              <p:cNvGrpSpPr/>
              <p:nvPr/>
            </p:nvGrpSpPr>
            <p:grpSpPr bwMode="auto">
              <a:xfrm>
                <a:off x="3658" y="2897"/>
                <a:ext cx="202" cy="49"/>
                <a:chOff x="432" y="1152"/>
                <a:chExt cx="202" cy="49"/>
              </a:xfrm>
            </p:grpSpPr>
            <p:sp>
              <p:nvSpPr>
                <p:cNvPr id="157915" name="Freeform 521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7916" name="Freeform 522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57914" name="Freeform 523"/>
              <p:cNvSpPr/>
              <p:nvPr/>
            </p:nvSpPr>
            <p:spPr bwMode="auto">
              <a:xfrm>
                <a:off x="3758" y="2468"/>
                <a:ext cx="99" cy="205"/>
              </a:xfrm>
              <a:custGeom>
                <a:avLst/>
                <a:gdLst>
                  <a:gd name="T0" fmla="*/ 0 w 99"/>
                  <a:gd name="T1" fmla="*/ 0 h 205"/>
                  <a:gd name="T2" fmla="*/ 0 w 99"/>
                  <a:gd name="T3" fmla="*/ 205 h 205"/>
                  <a:gd name="T4" fmla="*/ 99 w 99"/>
                  <a:gd name="T5" fmla="*/ 205 h 205"/>
                  <a:gd name="T6" fmla="*/ 0 60000 65536"/>
                  <a:gd name="T7" fmla="*/ 0 60000 65536"/>
                  <a:gd name="T8" fmla="*/ 0 60000 65536"/>
                  <a:gd name="T9" fmla="*/ 0 w 99"/>
                  <a:gd name="T10" fmla="*/ 0 h 205"/>
                  <a:gd name="T11" fmla="*/ 99 w 99"/>
                  <a:gd name="T12" fmla="*/ 205 h 20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9" h="205">
                    <a:moveTo>
                      <a:pt x="0" y="0"/>
                    </a:moveTo>
                    <a:lnTo>
                      <a:pt x="0" y="205"/>
                    </a:lnTo>
                    <a:lnTo>
                      <a:pt x="99" y="20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57869" name="Freeform 524"/>
            <p:cNvSpPr/>
            <p:nvPr/>
          </p:nvSpPr>
          <p:spPr bwMode="auto">
            <a:xfrm>
              <a:off x="3901" y="980"/>
              <a:ext cx="192" cy="2236"/>
            </a:xfrm>
            <a:custGeom>
              <a:avLst/>
              <a:gdLst>
                <a:gd name="T0" fmla="*/ 0 w 192"/>
                <a:gd name="T1" fmla="*/ 0 h 2236"/>
                <a:gd name="T2" fmla="*/ 192 w 192"/>
                <a:gd name="T3" fmla="*/ 1 h 2236"/>
                <a:gd name="T4" fmla="*/ 192 w 192"/>
                <a:gd name="T5" fmla="*/ 2236 h 2236"/>
                <a:gd name="T6" fmla="*/ 0 60000 65536"/>
                <a:gd name="T7" fmla="*/ 0 60000 65536"/>
                <a:gd name="T8" fmla="*/ 0 60000 65536"/>
                <a:gd name="T9" fmla="*/ 0 w 192"/>
                <a:gd name="T10" fmla="*/ 0 h 2236"/>
                <a:gd name="T11" fmla="*/ 192 w 192"/>
                <a:gd name="T12" fmla="*/ 2236 h 22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2" h="2236">
                  <a:moveTo>
                    <a:pt x="0" y="0"/>
                  </a:moveTo>
                  <a:lnTo>
                    <a:pt x="192" y="1"/>
                  </a:lnTo>
                  <a:lnTo>
                    <a:pt x="192" y="223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7870" name="Freeform 525"/>
            <p:cNvSpPr/>
            <p:nvPr/>
          </p:nvSpPr>
          <p:spPr bwMode="auto">
            <a:xfrm>
              <a:off x="3898" y="2112"/>
              <a:ext cx="195" cy="1"/>
            </a:xfrm>
            <a:custGeom>
              <a:avLst/>
              <a:gdLst>
                <a:gd name="T0" fmla="*/ 0 w 195"/>
                <a:gd name="T1" fmla="*/ 1 h 1"/>
                <a:gd name="T2" fmla="*/ 195 w 195"/>
                <a:gd name="T3" fmla="*/ 0 h 1"/>
                <a:gd name="T4" fmla="*/ 0 60000 65536"/>
                <a:gd name="T5" fmla="*/ 0 60000 65536"/>
                <a:gd name="T6" fmla="*/ 0 w 195"/>
                <a:gd name="T7" fmla="*/ 0 h 1"/>
                <a:gd name="T8" fmla="*/ 195 w 19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95" h="1">
                  <a:moveTo>
                    <a:pt x="0" y="1"/>
                  </a:moveTo>
                  <a:lnTo>
                    <a:pt x="19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871" name="Freeform 526"/>
            <p:cNvSpPr/>
            <p:nvPr/>
          </p:nvSpPr>
          <p:spPr bwMode="auto">
            <a:xfrm>
              <a:off x="3898" y="2256"/>
              <a:ext cx="195" cy="1"/>
            </a:xfrm>
            <a:custGeom>
              <a:avLst/>
              <a:gdLst>
                <a:gd name="T0" fmla="*/ 0 w 195"/>
                <a:gd name="T1" fmla="*/ 1 h 1"/>
                <a:gd name="T2" fmla="*/ 195 w 195"/>
                <a:gd name="T3" fmla="*/ 0 h 1"/>
                <a:gd name="T4" fmla="*/ 0 60000 65536"/>
                <a:gd name="T5" fmla="*/ 0 60000 65536"/>
                <a:gd name="T6" fmla="*/ 0 w 195"/>
                <a:gd name="T7" fmla="*/ 0 h 1"/>
                <a:gd name="T8" fmla="*/ 195 w 19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95" h="1">
                  <a:moveTo>
                    <a:pt x="0" y="1"/>
                  </a:moveTo>
                  <a:lnTo>
                    <a:pt x="19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872" name="Freeform 527"/>
            <p:cNvSpPr/>
            <p:nvPr/>
          </p:nvSpPr>
          <p:spPr bwMode="auto">
            <a:xfrm>
              <a:off x="3906" y="2721"/>
              <a:ext cx="187" cy="1"/>
            </a:xfrm>
            <a:custGeom>
              <a:avLst/>
              <a:gdLst>
                <a:gd name="T0" fmla="*/ 0 w 187"/>
                <a:gd name="T1" fmla="*/ 0 h 1"/>
                <a:gd name="T2" fmla="*/ 187 w 187"/>
                <a:gd name="T3" fmla="*/ 1 h 1"/>
                <a:gd name="T4" fmla="*/ 0 60000 65536"/>
                <a:gd name="T5" fmla="*/ 0 60000 65536"/>
                <a:gd name="T6" fmla="*/ 0 w 187"/>
                <a:gd name="T7" fmla="*/ 0 h 1"/>
                <a:gd name="T8" fmla="*/ 187 w 18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87" h="1">
                  <a:moveTo>
                    <a:pt x="0" y="0"/>
                  </a:moveTo>
                  <a:lnTo>
                    <a:pt x="187" y="1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873" name="Freeform 528"/>
            <p:cNvSpPr/>
            <p:nvPr/>
          </p:nvSpPr>
          <p:spPr bwMode="auto">
            <a:xfrm>
              <a:off x="4453" y="1302"/>
              <a:ext cx="432" cy="111"/>
            </a:xfrm>
            <a:custGeom>
              <a:avLst/>
              <a:gdLst>
                <a:gd name="T0" fmla="*/ 0 w 432"/>
                <a:gd name="T1" fmla="*/ 0 h 111"/>
                <a:gd name="T2" fmla="*/ 0 w 432"/>
                <a:gd name="T3" fmla="*/ 111 h 111"/>
                <a:gd name="T4" fmla="*/ 432 w 432"/>
                <a:gd name="T5" fmla="*/ 111 h 111"/>
                <a:gd name="T6" fmla="*/ 0 60000 65536"/>
                <a:gd name="T7" fmla="*/ 0 60000 65536"/>
                <a:gd name="T8" fmla="*/ 0 60000 65536"/>
                <a:gd name="T9" fmla="*/ 0 w 432"/>
                <a:gd name="T10" fmla="*/ 0 h 111"/>
                <a:gd name="T11" fmla="*/ 432 w 432"/>
                <a:gd name="T12" fmla="*/ 111 h 1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2" h="111">
                  <a:moveTo>
                    <a:pt x="0" y="0"/>
                  </a:moveTo>
                  <a:lnTo>
                    <a:pt x="0" y="111"/>
                  </a:lnTo>
                  <a:lnTo>
                    <a:pt x="432" y="11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7874" name="Freeform 529"/>
            <p:cNvSpPr/>
            <p:nvPr/>
          </p:nvSpPr>
          <p:spPr bwMode="auto">
            <a:xfrm>
              <a:off x="4453" y="2358"/>
              <a:ext cx="423" cy="120"/>
            </a:xfrm>
            <a:custGeom>
              <a:avLst/>
              <a:gdLst>
                <a:gd name="T0" fmla="*/ 0 w 423"/>
                <a:gd name="T1" fmla="*/ 0 h 120"/>
                <a:gd name="T2" fmla="*/ 0 w 423"/>
                <a:gd name="T3" fmla="*/ 120 h 120"/>
                <a:gd name="T4" fmla="*/ 423 w 423"/>
                <a:gd name="T5" fmla="*/ 120 h 120"/>
                <a:gd name="T6" fmla="*/ 0 60000 65536"/>
                <a:gd name="T7" fmla="*/ 0 60000 65536"/>
                <a:gd name="T8" fmla="*/ 0 60000 65536"/>
                <a:gd name="T9" fmla="*/ 0 w 423"/>
                <a:gd name="T10" fmla="*/ 0 h 120"/>
                <a:gd name="T11" fmla="*/ 423 w 423"/>
                <a:gd name="T12" fmla="*/ 120 h 1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23" h="120">
                  <a:moveTo>
                    <a:pt x="0" y="0"/>
                  </a:moveTo>
                  <a:lnTo>
                    <a:pt x="0" y="120"/>
                  </a:lnTo>
                  <a:lnTo>
                    <a:pt x="423" y="12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7875" name="Freeform 530"/>
            <p:cNvSpPr/>
            <p:nvPr/>
          </p:nvSpPr>
          <p:spPr bwMode="auto">
            <a:xfrm>
              <a:off x="4411" y="432"/>
              <a:ext cx="800" cy="99"/>
            </a:xfrm>
            <a:custGeom>
              <a:avLst/>
              <a:gdLst>
                <a:gd name="T0" fmla="*/ 0 w 993"/>
                <a:gd name="T1" fmla="*/ 99 h 99"/>
                <a:gd name="T2" fmla="*/ 0 w 993"/>
                <a:gd name="T3" fmla="*/ 0 h 99"/>
                <a:gd name="T4" fmla="*/ 48 w 993"/>
                <a:gd name="T5" fmla="*/ 0 h 99"/>
                <a:gd name="T6" fmla="*/ 0 60000 65536"/>
                <a:gd name="T7" fmla="*/ 0 60000 65536"/>
                <a:gd name="T8" fmla="*/ 0 60000 65536"/>
                <a:gd name="T9" fmla="*/ 0 w 993"/>
                <a:gd name="T10" fmla="*/ 0 h 99"/>
                <a:gd name="T11" fmla="*/ 993 w 993"/>
                <a:gd name="T12" fmla="*/ 99 h 9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93" h="99">
                  <a:moveTo>
                    <a:pt x="0" y="99"/>
                  </a:moveTo>
                  <a:lnTo>
                    <a:pt x="0" y="0"/>
                  </a:lnTo>
                  <a:lnTo>
                    <a:pt x="993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7876" name="Freeform 531"/>
            <p:cNvSpPr/>
            <p:nvPr/>
          </p:nvSpPr>
          <p:spPr bwMode="auto">
            <a:xfrm>
              <a:off x="4411" y="1152"/>
              <a:ext cx="801" cy="96"/>
            </a:xfrm>
            <a:custGeom>
              <a:avLst/>
              <a:gdLst>
                <a:gd name="T0" fmla="*/ 0 w 993"/>
                <a:gd name="T1" fmla="*/ 65 h 99"/>
                <a:gd name="T2" fmla="*/ 0 w 993"/>
                <a:gd name="T3" fmla="*/ 0 h 99"/>
                <a:gd name="T4" fmla="*/ 48 w 993"/>
                <a:gd name="T5" fmla="*/ 0 h 99"/>
                <a:gd name="T6" fmla="*/ 0 60000 65536"/>
                <a:gd name="T7" fmla="*/ 0 60000 65536"/>
                <a:gd name="T8" fmla="*/ 0 60000 65536"/>
                <a:gd name="T9" fmla="*/ 0 w 993"/>
                <a:gd name="T10" fmla="*/ 0 h 99"/>
                <a:gd name="T11" fmla="*/ 993 w 993"/>
                <a:gd name="T12" fmla="*/ 99 h 9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93" h="99">
                  <a:moveTo>
                    <a:pt x="0" y="99"/>
                  </a:moveTo>
                  <a:lnTo>
                    <a:pt x="0" y="0"/>
                  </a:lnTo>
                  <a:lnTo>
                    <a:pt x="993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7877" name="Freeform 532"/>
            <p:cNvSpPr/>
            <p:nvPr/>
          </p:nvSpPr>
          <p:spPr bwMode="auto">
            <a:xfrm>
              <a:off x="4411" y="2208"/>
              <a:ext cx="800" cy="99"/>
            </a:xfrm>
            <a:custGeom>
              <a:avLst/>
              <a:gdLst>
                <a:gd name="T0" fmla="*/ 0 w 993"/>
                <a:gd name="T1" fmla="*/ 99 h 99"/>
                <a:gd name="T2" fmla="*/ 0 w 993"/>
                <a:gd name="T3" fmla="*/ 0 h 99"/>
                <a:gd name="T4" fmla="*/ 48 w 993"/>
                <a:gd name="T5" fmla="*/ 0 h 99"/>
                <a:gd name="T6" fmla="*/ 0 60000 65536"/>
                <a:gd name="T7" fmla="*/ 0 60000 65536"/>
                <a:gd name="T8" fmla="*/ 0 60000 65536"/>
                <a:gd name="T9" fmla="*/ 0 w 993"/>
                <a:gd name="T10" fmla="*/ 0 h 99"/>
                <a:gd name="T11" fmla="*/ 993 w 993"/>
                <a:gd name="T12" fmla="*/ 99 h 9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93" h="99">
                  <a:moveTo>
                    <a:pt x="0" y="99"/>
                  </a:moveTo>
                  <a:lnTo>
                    <a:pt x="0" y="0"/>
                  </a:lnTo>
                  <a:lnTo>
                    <a:pt x="993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7878" name="Text Box 533"/>
            <p:cNvSpPr txBox="1">
              <a:spLocks noChangeArrowheads="1"/>
            </p:cNvSpPr>
            <p:nvPr/>
          </p:nvSpPr>
          <p:spPr bwMode="auto">
            <a:xfrm>
              <a:off x="28" y="3161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57879" name="Text Box 534"/>
            <p:cNvSpPr txBox="1">
              <a:spLocks noChangeArrowheads="1"/>
            </p:cNvSpPr>
            <p:nvPr/>
          </p:nvSpPr>
          <p:spPr bwMode="auto">
            <a:xfrm>
              <a:off x="940" y="3161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63</a:t>
              </a:r>
            </a:p>
          </p:txBody>
        </p:sp>
        <p:sp>
          <p:nvSpPr>
            <p:cNvPr id="157880" name="Text Box 535"/>
            <p:cNvSpPr txBox="1">
              <a:spLocks noChangeArrowheads="1"/>
            </p:cNvSpPr>
            <p:nvPr/>
          </p:nvSpPr>
          <p:spPr bwMode="auto">
            <a:xfrm>
              <a:off x="2994" y="3161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64</a:t>
              </a:r>
            </a:p>
          </p:txBody>
        </p:sp>
        <p:sp>
          <p:nvSpPr>
            <p:cNvPr id="157881" name="Text Box 536"/>
            <p:cNvSpPr txBox="1">
              <a:spLocks noChangeArrowheads="1"/>
            </p:cNvSpPr>
            <p:nvPr/>
          </p:nvSpPr>
          <p:spPr bwMode="auto">
            <a:xfrm>
              <a:off x="3916" y="3161"/>
              <a:ext cx="40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127</a:t>
              </a:r>
            </a:p>
          </p:txBody>
        </p:sp>
        <p:sp>
          <p:nvSpPr>
            <p:cNvPr id="157882" name="Text Box 537"/>
            <p:cNvSpPr txBox="1">
              <a:spLocks noChangeArrowheads="1"/>
            </p:cNvSpPr>
            <p:nvPr/>
          </p:nvSpPr>
          <p:spPr bwMode="auto">
            <a:xfrm>
              <a:off x="1776" y="3590"/>
              <a:ext cx="87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128 根行线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157883" name="Text Box 538"/>
            <p:cNvSpPr txBox="1">
              <a:spLocks noChangeArrowheads="1"/>
            </p:cNvSpPr>
            <p:nvPr/>
          </p:nvSpPr>
          <p:spPr bwMode="auto">
            <a:xfrm>
              <a:off x="546" y="1034"/>
              <a:ext cx="24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</a:t>
              </a:r>
            </a:p>
          </p:txBody>
        </p:sp>
        <p:sp>
          <p:nvSpPr>
            <p:cNvPr id="157884" name="Text Box 539"/>
            <p:cNvSpPr txBox="1">
              <a:spLocks noChangeArrowheads="1"/>
            </p:cNvSpPr>
            <p:nvPr/>
          </p:nvSpPr>
          <p:spPr bwMode="auto">
            <a:xfrm>
              <a:off x="700" y="1119"/>
              <a:ext cx="16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1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157885" name="Text Box 540"/>
            <p:cNvSpPr txBox="1">
              <a:spLocks noChangeArrowheads="1"/>
            </p:cNvSpPr>
            <p:nvPr/>
          </p:nvSpPr>
          <p:spPr bwMode="auto">
            <a:xfrm>
              <a:off x="5100" y="416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57886" name="Text Box 541"/>
            <p:cNvSpPr txBox="1">
              <a:spLocks noChangeArrowheads="1"/>
            </p:cNvSpPr>
            <p:nvPr/>
          </p:nvSpPr>
          <p:spPr bwMode="auto">
            <a:xfrm>
              <a:off x="5020" y="2201"/>
              <a:ext cx="40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127</a:t>
              </a:r>
            </a:p>
          </p:txBody>
        </p:sp>
        <p:sp>
          <p:nvSpPr>
            <p:cNvPr id="157887" name="Text Box 542"/>
            <p:cNvSpPr txBox="1">
              <a:spLocks noChangeArrowheads="1"/>
            </p:cNvSpPr>
            <p:nvPr/>
          </p:nvSpPr>
          <p:spPr bwMode="auto">
            <a:xfrm>
              <a:off x="5100" y="1178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1</a:t>
              </a:r>
            </a:p>
          </p:txBody>
        </p:sp>
        <p:grpSp>
          <p:nvGrpSpPr>
            <p:cNvPr id="157888" name="Group 543"/>
            <p:cNvGrpSpPr/>
            <p:nvPr/>
          </p:nvGrpSpPr>
          <p:grpSpPr bwMode="auto">
            <a:xfrm>
              <a:off x="5356" y="1039"/>
              <a:ext cx="363" cy="972"/>
              <a:chOff x="5356" y="1039"/>
              <a:chExt cx="363" cy="972"/>
            </a:xfrm>
          </p:grpSpPr>
          <p:sp>
            <p:nvSpPr>
              <p:cNvPr id="157905" name="Text Box 544"/>
              <p:cNvSpPr txBox="1">
                <a:spLocks noChangeArrowheads="1"/>
              </p:cNvSpPr>
              <p:nvPr/>
            </p:nvSpPr>
            <p:spPr bwMode="auto">
              <a:xfrm>
                <a:off x="5356" y="1039"/>
                <a:ext cx="3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128</a:t>
                </a:r>
                <a:endParaRPr lang="zh-CN" altLang="en-US" sz="20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7906" name="Text Box 545"/>
              <p:cNvSpPr txBox="1">
                <a:spLocks noChangeArrowheads="1"/>
              </p:cNvSpPr>
              <p:nvPr/>
            </p:nvSpPr>
            <p:spPr bwMode="auto">
              <a:xfrm>
                <a:off x="5442" y="1294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列</a:t>
                </a:r>
              </a:p>
            </p:txBody>
          </p:sp>
          <p:sp>
            <p:nvSpPr>
              <p:cNvPr id="157907" name="Text Box 546"/>
              <p:cNvSpPr txBox="1">
                <a:spLocks noChangeArrowheads="1"/>
              </p:cNvSpPr>
              <p:nvPr/>
            </p:nvSpPr>
            <p:spPr bwMode="auto">
              <a:xfrm>
                <a:off x="5442" y="152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选</a:t>
                </a:r>
              </a:p>
            </p:txBody>
          </p:sp>
          <p:sp>
            <p:nvSpPr>
              <p:cNvPr id="157908" name="Text Box 547"/>
              <p:cNvSpPr txBox="1">
                <a:spLocks noChangeArrowheads="1"/>
              </p:cNvSpPr>
              <p:nvPr/>
            </p:nvSpPr>
            <p:spPr bwMode="auto">
              <a:xfrm>
                <a:off x="5442" y="176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择</a:t>
                </a:r>
              </a:p>
            </p:txBody>
          </p:sp>
        </p:grpSp>
        <p:sp>
          <p:nvSpPr>
            <p:cNvPr id="157889" name="Text Box 548"/>
            <p:cNvSpPr txBox="1">
              <a:spLocks noChangeArrowheads="1"/>
            </p:cNvSpPr>
            <p:nvPr/>
          </p:nvSpPr>
          <p:spPr bwMode="auto">
            <a:xfrm>
              <a:off x="4896" y="2745"/>
              <a:ext cx="64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读/写线</a:t>
              </a:r>
            </a:p>
          </p:txBody>
        </p:sp>
        <p:sp>
          <p:nvSpPr>
            <p:cNvPr id="157890" name="Line 549"/>
            <p:cNvSpPr>
              <a:spLocks noChangeShapeType="1"/>
            </p:cNvSpPr>
            <p:nvPr/>
          </p:nvSpPr>
          <p:spPr bwMode="auto">
            <a:xfrm flipV="1">
              <a:off x="4876" y="2976"/>
              <a:ext cx="336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7891" name="Line 550"/>
            <p:cNvSpPr>
              <a:spLocks noChangeShapeType="1"/>
            </p:cNvSpPr>
            <p:nvPr/>
          </p:nvSpPr>
          <p:spPr bwMode="auto">
            <a:xfrm>
              <a:off x="2908" y="3984"/>
              <a:ext cx="4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7892" name="Line 551"/>
            <p:cNvSpPr>
              <a:spLocks noChangeShapeType="1"/>
            </p:cNvSpPr>
            <p:nvPr/>
          </p:nvSpPr>
          <p:spPr bwMode="auto">
            <a:xfrm>
              <a:off x="4108" y="3984"/>
              <a:ext cx="4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7893" name="Line 552"/>
            <p:cNvSpPr>
              <a:spLocks noChangeShapeType="1"/>
            </p:cNvSpPr>
            <p:nvPr/>
          </p:nvSpPr>
          <p:spPr bwMode="auto">
            <a:xfrm>
              <a:off x="5295" y="3984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7894" name="Line 553"/>
            <p:cNvSpPr>
              <a:spLocks noChangeShapeType="1"/>
            </p:cNvSpPr>
            <p:nvPr/>
          </p:nvSpPr>
          <p:spPr bwMode="auto">
            <a:xfrm>
              <a:off x="1708" y="3984"/>
              <a:ext cx="4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7895" name="Text Box 554"/>
            <p:cNvSpPr txBox="1">
              <a:spLocks noChangeArrowheads="1"/>
            </p:cNvSpPr>
            <p:nvPr/>
          </p:nvSpPr>
          <p:spPr bwMode="auto">
            <a:xfrm>
              <a:off x="2158" y="3878"/>
              <a:ext cx="760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t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数据输入</a:t>
              </a:r>
            </a:p>
          </p:txBody>
        </p:sp>
        <p:sp>
          <p:nvSpPr>
            <p:cNvPr id="157896" name="Text Box 555"/>
            <p:cNvSpPr txBox="1">
              <a:spLocks noChangeArrowheads="1"/>
            </p:cNvSpPr>
            <p:nvPr/>
          </p:nvSpPr>
          <p:spPr bwMode="auto">
            <a:xfrm>
              <a:off x="3398" y="3865"/>
              <a:ext cx="66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I/O</a:t>
              </a:r>
              <a:r>
                <a:rPr lang="zh-CN" altLang="en-US" sz="2000">
                  <a:latin typeface="Times New Roman" panose="02020603050405020304" pitchFamily="18" charset="0"/>
                </a:rPr>
                <a:t>缓冲</a:t>
              </a:r>
            </a:p>
          </p:txBody>
        </p:sp>
        <p:sp>
          <p:nvSpPr>
            <p:cNvPr id="157897" name="Text Box 556"/>
            <p:cNvSpPr txBox="1">
              <a:spLocks noChangeArrowheads="1"/>
            </p:cNvSpPr>
            <p:nvPr/>
          </p:nvSpPr>
          <p:spPr bwMode="auto">
            <a:xfrm>
              <a:off x="4534" y="3853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输出驱动</a:t>
              </a:r>
            </a:p>
          </p:txBody>
        </p:sp>
        <p:sp>
          <p:nvSpPr>
            <p:cNvPr id="157898" name="Text Box 557"/>
            <p:cNvSpPr txBox="1">
              <a:spLocks noChangeArrowheads="1"/>
            </p:cNvSpPr>
            <p:nvPr/>
          </p:nvSpPr>
          <p:spPr bwMode="auto">
            <a:xfrm>
              <a:off x="5212" y="3648"/>
              <a:ext cx="2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D</a:t>
              </a:r>
            </a:p>
          </p:txBody>
        </p:sp>
        <p:sp>
          <p:nvSpPr>
            <p:cNvPr id="157899" name="Text Box 558"/>
            <p:cNvSpPr txBox="1">
              <a:spLocks noChangeArrowheads="1"/>
            </p:cNvSpPr>
            <p:nvPr/>
          </p:nvSpPr>
          <p:spPr bwMode="auto">
            <a:xfrm>
              <a:off x="5356" y="3744"/>
              <a:ext cx="359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1400">
                  <a:latin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157900" name="Text Box 559"/>
            <p:cNvSpPr txBox="1">
              <a:spLocks noChangeArrowheads="1"/>
            </p:cNvSpPr>
            <p:nvPr/>
          </p:nvSpPr>
          <p:spPr bwMode="auto">
            <a:xfrm>
              <a:off x="1392" y="3818"/>
              <a:ext cx="2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D</a:t>
              </a:r>
            </a:p>
          </p:txBody>
        </p:sp>
        <p:sp>
          <p:nvSpPr>
            <p:cNvPr id="157901" name="Text Box 560"/>
            <p:cNvSpPr txBox="1">
              <a:spLocks noChangeArrowheads="1"/>
            </p:cNvSpPr>
            <p:nvPr/>
          </p:nvSpPr>
          <p:spPr bwMode="auto">
            <a:xfrm>
              <a:off x="1535" y="3936"/>
              <a:ext cx="241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400">
                  <a:latin typeface="Times New Roman" panose="02020603050405020304" pitchFamily="18" charset="0"/>
                </a:rPr>
                <a:t>IN</a:t>
              </a:r>
            </a:p>
          </p:txBody>
        </p:sp>
        <p:grpSp>
          <p:nvGrpSpPr>
            <p:cNvPr id="157902" name="Group 561"/>
            <p:cNvGrpSpPr/>
            <p:nvPr/>
          </p:nvGrpSpPr>
          <p:grpSpPr bwMode="auto">
            <a:xfrm>
              <a:off x="1536" y="2784"/>
              <a:ext cx="320" cy="297"/>
              <a:chOff x="1536" y="2784"/>
              <a:chExt cx="320" cy="297"/>
            </a:xfrm>
          </p:grpSpPr>
          <p:sp>
            <p:nvSpPr>
              <p:cNvPr id="157903" name="Text Box 562"/>
              <p:cNvSpPr txBox="1">
                <a:spLocks noChangeArrowheads="1"/>
              </p:cNvSpPr>
              <p:nvPr/>
            </p:nvSpPr>
            <p:spPr bwMode="auto">
              <a:xfrm>
                <a:off x="1536" y="2784"/>
                <a:ext cx="24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C</a:t>
                </a:r>
              </a:p>
            </p:txBody>
          </p:sp>
          <p:sp>
            <p:nvSpPr>
              <p:cNvPr id="157904" name="Text Box 563"/>
              <p:cNvSpPr txBox="1">
                <a:spLocks noChangeArrowheads="1"/>
              </p:cNvSpPr>
              <p:nvPr/>
            </p:nvSpPr>
            <p:spPr bwMode="auto">
              <a:xfrm>
                <a:off x="1690" y="2869"/>
                <a:ext cx="16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s</a:t>
                </a:r>
              </a:p>
            </p:txBody>
          </p:sp>
        </p:grpSp>
      </p:grpSp>
      <p:sp>
        <p:nvSpPr>
          <p:cNvPr id="157699" name="Text Box 239"/>
          <p:cNvSpPr txBox="1">
            <a:spLocks noChangeArrowheads="1"/>
          </p:cNvSpPr>
          <p:nvPr/>
        </p:nvSpPr>
        <p:spPr bwMode="auto">
          <a:xfrm>
            <a:off x="228600" y="228600"/>
            <a:ext cx="62484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3200">
                <a:latin typeface="Times New Roman" panose="02020603050405020304" pitchFamily="18" charset="0"/>
                <a:ea typeface="楷体_GB2312" pitchFamily="49" charset="-122"/>
              </a:rPr>
              <a:t>④ </a:t>
            </a:r>
            <a:r>
              <a:rPr lang="en-US" altLang="zh-CN" sz="3200">
                <a:latin typeface="Times New Roman" panose="02020603050405020304" pitchFamily="18" charset="0"/>
              </a:rPr>
              <a:t>4116 (16K 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× </a:t>
            </a:r>
            <a:r>
              <a:rPr lang="en-US" altLang="zh-CN" sz="3200">
                <a:latin typeface="Times New Roman" panose="02020603050405020304" pitchFamily="18" charset="0"/>
              </a:rPr>
              <a:t>1</a:t>
            </a:r>
            <a:r>
              <a:rPr lang="zh-CN" altLang="en-US" sz="3200">
                <a:latin typeface="Times New Roman" panose="02020603050405020304" pitchFamily="18" charset="0"/>
              </a:rPr>
              <a:t>位) 芯片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latin typeface="Times New Roman" panose="02020603050405020304" pitchFamily="18" charset="0"/>
              </a:rPr>
              <a:t>原理</a:t>
            </a:r>
          </a:p>
        </p:txBody>
      </p:sp>
      <p:grpSp>
        <p:nvGrpSpPr>
          <p:cNvPr id="157709" name="Group 240"/>
          <p:cNvGrpSpPr/>
          <p:nvPr/>
        </p:nvGrpSpPr>
        <p:grpSpPr bwMode="auto">
          <a:xfrm>
            <a:off x="2022475" y="1371600"/>
            <a:ext cx="79375" cy="3124200"/>
            <a:chOff x="1342" y="864"/>
            <a:chExt cx="50" cy="1968"/>
          </a:xfrm>
        </p:grpSpPr>
        <p:grpSp>
          <p:nvGrpSpPr>
            <p:cNvPr id="157778" name="Group 241"/>
            <p:cNvGrpSpPr/>
            <p:nvPr/>
          </p:nvGrpSpPr>
          <p:grpSpPr bwMode="auto">
            <a:xfrm>
              <a:off x="1342" y="864"/>
              <a:ext cx="49" cy="231"/>
              <a:chOff x="1586" y="1334"/>
              <a:chExt cx="49" cy="231"/>
            </a:xfrm>
          </p:grpSpPr>
          <p:sp>
            <p:nvSpPr>
              <p:cNvPr id="157785" name="Freeform 242"/>
              <p:cNvSpPr/>
              <p:nvPr/>
            </p:nvSpPr>
            <p:spPr bwMode="auto">
              <a:xfrm>
                <a:off x="1586" y="1392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  <a:gd name="T6" fmla="*/ 0 w 1"/>
                  <a:gd name="T7" fmla="*/ 0 h 120"/>
                  <a:gd name="T8" fmla="*/ 1 w 1"/>
                  <a:gd name="T9" fmla="*/ 120 h 1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5715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7786" name="Freeform 243"/>
              <p:cNvSpPr/>
              <p:nvPr/>
            </p:nvSpPr>
            <p:spPr bwMode="auto">
              <a:xfrm>
                <a:off x="1634" y="1334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  <a:gd name="T6" fmla="*/ 0 w 1"/>
                  <a:gd name="T7" fmla="*/ 0 h 231"/>
                  <a:gd name="T8" fmla="*/ 1 w 1"/>
                  <a:gd name="T9" fmla="*/ 231 h 23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5715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57779" name="Group 244"/>
            <p:cNvGrpSpPr/>
            <p:nvPr/>
          </p:nvGrpSpPr>
          <p:grpSpPr bwMode="auto">
            <a:xfrm>
              <a:off x="1343" y="1593"/>
              <a:ext cx="49" cy="231"/>
              <a:chOff x="1586" y="1334"/>
              <a:chExt cx="49" cy="231"/>
            </a:xfrm>
          </p:grpSpPr>
          <p:sp>
            <p:nvSpPr>
              <p:cNvPr id="157783" name="Freeform 245"/>
              <p:cNvSpPr/>
              <p:nvPr/>
            </p:nvSpPr>
            <p:spPr bwMode="auto">
              <a:xfrm>
                <a:off x="1586" y="1392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  <a:gd name="T6" fmla="*/ 0 w 1"/>
                  <a:gd name="T7" fmla="*/ 0 h 120"/>
                  <a:gd name="T8" fmla="*/ 1 w 1"/>
                  <a:gd name="T9" fmla="*/ 120 h 1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5715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7784" name="Freeform 246"/>
              <p:cNvSpPr/>
              <p:nvPr/>
            </p:nvSpPr>
            <p:spPr bwMode="auto">
              <a:xfrm>
                <a:off x="1634" y="1334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  <a:gd name="T6" fmla="*/ 0 w 1"/>
                  <a:gd name="T7" fmla="*/ 0 h 231"/>
                  <a:gd name="T8" fmla="*/ 1 w 1"/>
                  <a:gd name="T9" fmla="*/ 231 h 23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5715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57780" name="Group 247"/>
            <p:cNvGrpSpPr/>
            <p:nvPr/>
          </p:nvGrpSpPr>
          <p:grpSpPr bwMode="auto">
            <a:xfrm>
              <a:off x="1343" y="2601"/>
              <a:ext cx="49" cy="231"/>
              <a:chOff x="1586" y="1334"/>
              <a:chExt cx="49" cy="231"/>
            </a:xfrm>
          </p:grpSpPr>
          <p:sp>
            <p:nvSpPr>
              <p:cNvPr id="157781" name="Freeform 248"/>
              <p:cNvSpPr/>
              <p:nvPr/>
            </p:nvSpPr>
            <p:spPr bwMode="auto">
              <a:xfrm>
                <a:off x="1586" y="1392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  <a:gd name="T6" fmla="*/ 0 w 1"/>
                  <a:gd name="T7" fmla="*/ 0 h 120"/>
                  <a:gd name="T8" fmla="*/ 1 w 1"/>
                  <a:gd name="T9" fmla="*/ 120 h 1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5715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7782" name="Freeform 249"/>
              <p:cNvSpPr/>
              <p:nvPr/>
            </p:nvSpPr>
            <p:spPr bwMode="auto">
              <a:xfrm>
                <a:off x="1634" y="1334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  <a:gd name="T6" fmla="*/ 0 w 1"/>
                  <a:gd name="T7" fmla="*/ 0 h 231"/>
                  <a:gd name="T8" fmla="*/ 1 w 1"/>
                  <a:gd name="T9" fmla="*/ 231 h 23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5715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grpSp>
        <p:nvGrpSpPr>
          <p:cNvPr id="157713" name="Group 564"/>
          <p:cNvGrpSpPr/>
          <p:nvPr/>
        </p:nvGrpSpPr>
        <p:grpSpPr bwMode="auto">
          <a:xfrm>
            <a:off x="2703513" y="898525"/>
            <a:ext cx="1538287" cy="3216275"/>
            <a:chOff x="1703" y="566"/>
            <a:chExt cx="969" cy="2026"/>
          </a:xfrm>
        </p:grpSpPr>
        <p:grpSp>
          <p:nvGrpSpPr>
            <p:cNvPr id="157766" name="Group 251"/>
            <p:cNvGrpSpPr/>
            <p:nvPr/>
          </p:nvGrpSpPr>
          <p:grpSpPr bwMode="auto">
            <a:xfrm>
              <a:off x="1703" y="566"/>
              <a:ext cx="964" cy="254"/>
              <a:chOff x="1771" y="566"/>
              <a:chExt cx="964" cy="254"/>
            </a:xfrm>
          </p:grpSpPr>
          <p:sp>
            <p:nvSpPr>
              <p:cNvPr id="157776" name="Rectangle 252"/>
              <p:cNvSpPr>
                <a:spLocks noChangeArrowheads="1"/>
              </p:cNvSpPr>
              <p:nvPr/>
            </p:nvSpPr>
            <p:spPr bwMode="auto">
              <a:xfrm>
                <a:off x="1775" y="576"/>
                <a:ext cx="906" cy="24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endParaRPr lang="zh-CN" altLang="en-US" sz="32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7777" name="Text Box 253"/>
              <p:cNvSpPr txBox="1">
                <a:spLocks noChangeArrowheads="1"/>
              </p:cNvSpPr>
              <p:nvPr/>
            </p:nvSpPr>
            <p:spPr bwMode="auto">
              <a:xfrm>
                <a:off x="1771" y="566"/>
                <a:ext cx="96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    </a:t>
                </a: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读放大器</a:t>
                </a:r>
                <a:endParaRPr lang="zh-CN" altLang="en-US" sz="24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157767" name="Group 254"/>
            <p:cNvGrpSpPr/>
            <p:nvPr/>
          </p:nvGrpSpPr>
          <p:grpSpPr bwMode="auto">
            <a:xfrm>
              <a:off x="1708" y="1282"/>
              <a:ext cx="964" cy="254"/>
              <a:chOff x="1771" y="566"/>
              <a:chExt cx="964" cy="254"/>
            </a:xfrm>
          </p:grpSpPr>
          <p:sp>
            <p:nvSpPr>
              <p:cNvPr id="157774" name="Rectangle 255"/>
              <p:cNvSpPr>
                <a:spLocks noChangeArrowheads="1"/>
              </p:cNvSpPr>
              <p:nvPr/>
            </p:nvSpPr>
            <p:spPr bwMode="auto">
              <a:xfrm>
                <a:off x="1775" y="576"/>
                <a:ext cx="906" cy="24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endParaRPr lang="zh-CN" altLang="en-US" sz="32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7775" name="Text Box 256"/>
              <p:cNvSpPr txBox="1">
                <a:spLocks noChangeArrowheads="1"/>
              </p:cNvSpPr>
              <p:nvPr/>
            </p:nvSpPr>
            <p:spPr bwMode="auto">
              <a:xfrm>
                <a:off x="1771" y="566"/>
                <a:ext cx="96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    </a:t>
                </a: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读放大器</a:t>
                </a:r>
                <a:endParaRPr lang="zh-CN" altLang="en-US" sz="24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157768" name="Group 257"/>
            <p:cNvGrpSpPr/>
            <p:nvPr/>
          </p:nvGrpSpPr>
          <p:grpSpPr bwMode="auto">
            <a:xfrm>
              <a:off x="1708" y="2338"/>
              <a:ext cx="964" cy="254"/>
              <a:chOff x="1771" y="566"/>
              <a:chExt cx="964" cy="254"/>
            </a:xfrm>
          </p:grpSpPr>
          <p:sp>
            <p:nvSpPr>
              <p:cNvPr id="157772" name="Rectangle 258"/>
              <p:cNvSpPr>
                <a:spLocks noChangeArrowheads="1"/>
              </p:cNvSpPr>
              <p:nvPr/>
            </p:nvSpPr>
            <p:spPr bwMode="auto">
              <a:xfrm>
                <a:off x="1775" y="576"/>
                <a:ext cx="906" cy="244"/>
              </a:xfrm>
              <a:prstGeom prst="rect">
                <a:avLst/>
              </a:prstGeom>
              <a:solidFill>
                <a:schemeClr val="folHlink"/>
              </a:solidFill>
              <a:ln w="38100">
                <a:solidFill>
                  <a:schemeClr val="folHlink"/>
                </a:solidFill>
                <a:miter lim="800000"/>
              </a:ln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endParaRPr lang="zh-CN" altLang="en-US" sz="32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7773" name="Text Box 259"/>
              <p:cNvSpPr txBox="1">
                <a:spLocks noChangeArrowheads="1"/>
              </p:cNvSpPr>
              <p:nvPr/>
            </p:nvSpPr>
            <p:spPr bwMode="auto">
              <a:xfrm>
                <a:off x="1771" y="566"/>
                <a:ext cx="96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    </a:t>
                </a: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读放大器</a:t>
                </a:r>
                <a:endParaRPr lang="zh-CN" altLang="en-US" sz="24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157769" name="Group 260"/>
            <p:cNvGrpSpPr/>
            <p:nvPr/>
          </p:nvGrpSpPr>
          <p:grpSpPr bwMode="auto">
            <a:xfrm>
              <a:off x="2062" y="1734"/>
              <a:ext cx="365" cy="423"/>
              <a:chOff x="2130" y="1572"/>
              <a:chExt cx="365" cy="423"/>
            </a:xfrm>
          </p:grpSpPr>
          <p:sp>
            <p:nvSpPr>
              <p:cNvPr id="157770" name="Text Box 261"/>
              <p:cNvSpPr txBox="1">
                <a:spLocks noChangeArrowheads="1"/>
              </p:cNvSpPr>
              <p:nvPr/>
            </p:nvSpPr>
            <p:spPr bwMode="auto">
              <a:xfrm rot="5400000">
                <a:off x="2127" y="1587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57771" name="Text Box 262"/>
              <p:cNvSpPr txBox="1">
                <a:spLocks noChangeArrowheads="1"/>
              </p:cNvSpPr>
              <p:nvPr/>
            </p:nvSpPr>
            <p:spPr bwMode="auto">
              <a:xfrm rot="5400000">
                <a:off x="1964" y="1755"/>
                <a:ext cx="423" cy="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rot="10800000"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endPara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246023" name="Freeform 263"/>
          <p:cNvSpPr/>
          <p:nvPr/>
        </p:nvSpPr>
        <p:spPr bwMode="auto">
          <a:xfrm>
            <a:off x="7010400" y="685800"/>
            <a:ext cx="1270000" cy="157163"/>
          </a:xfrm>
          <a:custGeom>
            <a:avLst/>
            <a:gdLst>
              <a:gd name="T0" fmla="*/ 0 w 993"/>
              <a:gd name="T1" fmla="*/ 2147483647 h 99"/>
              <a:gd name="T2" fmla="*/ 0 w 993"/>
              <a:gd name="T3" fmla="*/ 0 h 99"/>
              <a:gd name="T4" fmla="*/ 2147483647 w 993"/>
              <a:gd name="T5" fmla="*/ 0 h 99"/>
              <a:gd name="T6" fmla="*/ 0 60000 65536"/>
              <a:gd name="T7" fmla="*/ 0 60000 65536"/>
              <a:gd name="T8" fmla="*/ 0 60000 65536"/>
              <a:gd name="T9" fmla="*/ 0 w 993"/>
              <a:gd name="T10" fmla="*/ 0 h 99"/>
              <a:gd name="T11" fmla="*/ 993 w 993"/>
              <a:gd name="T12" fmla="*/ 99 h 9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93" h="99">
                <a:moveTo>
                  <a:pt x="0" y="99"/>
                </a:moveTo>
                <a:lnTo>
                  <a:pt x="0" y="0"/>
                </a:lnTo>
                <a:lnTo>
                  <a:pt x="993" y="0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46024" name="Freeform 264"/>
          <p:cNvSpPr/>
          <p:nvPr/>
        </p:nvSpPr>
        <p:spPr bwMode="auto">
          <a:xfrm>
            <a:off x="4152900" y="919163"/>
            <a:ext cx="2795588" cy="190500"/>
          </a:xfrm>
          <a:custGeom>
            <a:avLst/>
            <a:gdLst>
              <a:gd name="T0" fmla="*/ 2147483647 w 1761"/>
              <a:gd name="T1" fmla="*/ 0 h 120"/>
              <a:gd name="T2" fmla="*/ 2147483647 w 1761"/>
              <a:gd name="T3" fmla="*/ 2147483647 h 120"/>
              <a:gd name="T4" fmla="*/ 0 w 1761"/>
              <a:gd name="T5" fmla="*/ 2147483647 h 120"/>
              <a:gd name="T6" fmla="*/ 0 60000 65536"/>
              <a:gd name="T7" fmla="*/ 0 60000 65536"/>
              <a:gd name="T8" fmla="*/ 0 60000 65536"/>
              <a:gd name="T9" fmla="*/ 0 w 1761"/>
              <a:gd name="T10" fmla="*/ 0 h 120"/>
              <a:gd name="T11" fmla="*/ 1761 w 1761"/>
              <a:gd name="T12" fmla="*/ 120 h 12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61" h="120">
                <a:moveTo>
                  <a:pt x="1761" y="0"/>
                </a:moveTo>
                <a:lnTo>
                  <a:pt x="1761" y="117"/>
                </a:lnTo>
                <a:lnTo>
                  <a:pt x="0" y="120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246018" name="Group 265"/>
          <p:cNvGrpSpPr/>
          <p:nvPr/>
        </p:nvGrpSpPr>
        <p:grpSpPr bwMode="auto">
          <a:xfrm>
            <a:off x="1709738" y="1557338"/>
            <a:ext cx="314325" cy="3548062"/>
            <a:chOff x="1145" y="981"/>
            <a:chExt cx="198" cy="2235"/>
          </a:xfrm>
        </p:grpSpPr>
        <p:sp>
          <p:nvSpPr>
            <p:cNvPr id="157760" name="Line 266"/>
            <p:cNvSpPr>
              <a:spLocks noChangeShapeType="1"/>
            </p:cNvSpPr>
            <p:nvPr/>
          </p:nvSpPr>
          <p:spPr bwMode="auto">
            <a:xfrm>
              <a:off x="1150" y="2255"/>
              <a:ext cx="190" cy="1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57761" name="Group 267"/>
            <p:cNvGrpSpPr/>
            <p:nvPr/>
          </p:nvGrpSpPr>
          <p:grpSpPr bwMode="auto">
            <a:xfrm>
              <a:off x="1145" y="981"/>
              <a:ext cx="198" cy="2235"/>
              <a:chOff x="1145" y="981"/>
              <a:chExt cx="198" cy="2235"/>
            </a:xfrm>
          </p:grpSpPr>
          <p:sp>
            <p:nvSpPr>
              <p:cNvPr id="157763" name="Freeform 268"/>
              <p:cNvSpPr/>
              <p:nvPr/>
            </p:nvSpPr>
            <p:spPr bwMode="auto">
              <a:xfrm>
                <a:off x="1145" y="1707"/>
                <a:ext cx="198" cy="3"/>
              </a:xfrm>
              <a:custGeom>
                <a:avLst/>
                <a:gdLst>
                  <a:gd name="T0" fmla="*/ 0 w 198"/>
                  <a:gd name="T1" fmla="*/ 3 h 3"/>
                  <a:gd name="T2" fmla="*/ 198 w 198"/>
                  <a:gd name="T3" fmla="*/ 0 h 3"/>
                  <a:gd name="T4" fmla="*/ 0 60000 65536"/>
                  <a:gd name="T5" fmla="*/ 0 60000 65536"/>
                  <a:gd name="T6" fmla="*/ 0 w 198"/>
                  <a:gd name="T7" fmla="*/ 0 h 3"/>
                  <a:gd name="T8" fmla="*/ 198 w 198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8" h="3">
                    <a:moveTo>
                      <a:pt x="0" y="3"/>
                    </a:moveTo>
                    <a:lnTo>
                      <a:pt x="198" y="0"/>
                    </a:lnTo>
                  </a:path>
                </a:pathLst>
              </a:custGeom>
              <a:solidFill>
                <a:srgbClr val="FFFFFF"/>
              </a:solidFill>
              <a:ln w="76200" cmpd="sng">
                <a:solidFill>
                  <a:schemeClr val="folHlink"/>
                </a:solidFill>
                <a:round/>
                <a:headEnd type="oval" w="sm" len="sm"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7764" name="Freeform 269"/>
              <p:cNvSpPr/>
              <p:nvPr/>
            </p:nvSpPr>
            <p:spPr bwMode="auto">
              <a:xfrm>
                <a:off x="1148" y="981"/>
                <a:ext cx="189" cy="2235"/>
              </a:xfrm>
              <a:custGeom>
                <a:avLst/>
                <a:gdLst>
                  <a:gd name="T0" fmla="*/ 189 w 189"/>
                  <a:gd name="T1" fmla="*/ 0 h 2235"/>
                  <a:gd name="T2" fmla="*/ 0 w 189"/>
                  <a:gd name="T3" fmla="*/ 0 h 2235"/>
                  <a:gd name="T4" fmla="*/ 0 w 189"/>
                  <a:gd name="T5" fmla="*/ 2235 h 2235"/>
                  <a:gd name="T6" fmla="*/ 0 60000 65536"/>
                  <a:gd name="T7" fmla="*/ 0 60000 65536"/>
                  <a:gd name="T8" fmla="*/ 0 60000 65536"/>
                  <a:gd name="T9" fmla="*/ 0 w 189"/>
                  <a:gd name="T10" fmla="*/ 0 h 2235"/>
                  <a:gd name="T11" fmla="*/ 189 w 189"/>
                  <a:gd name="T12" fmla="*/ 2235 h 223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89" h="2235">
                    <a:moveTo>
                      <a:pt x="189" y="0"/>
                    </a:moveTo>
                    <a:lnTo>
                      <a:pt x="0" y="0"/>
                    </a:lnTo>
                    <a:lnTo>
                      <a:pt x="0" y="2235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7765" name="Freeform 270"/>
              <p:cNvSpPr/>
              <p:nvPr/>
            </p:nvSpPr>
            <p:spPr bwMode="auto">
              <a:xfrm>
                <a:off x="1145" y="2718"/>
                <a:ext cx="192" cy="1"/>
              </a:xfrm>
              <a:custGeom>
                <a:avLst/>
                <a:gdLst>
                  <a:gd name="T0" fmla="*/ 0 w 192"/>
                  <a:gd name="T1" fmla="*/ 0 h 1"/>
                  <a:gd name="T2" fmla="*/ 192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solidFill>
                <a:srgbClr val="FFFFFF"/>
              </a:solidFill>
              <a:ln w="76200" cmpd="sng">
                <a:solidFill>
                  <a:schemeClr val="folHlink"/>
                </a:solidFill>
                <a:round/>
                <a:headEnd type="oval" w="sm" len="sm"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57762" name="Line 271"/>
            <p:cNvSpPr>
              <a:spLocks noChangeShapeType="1"/>
            </p:cNvSpPr>
            <p:nvPr/>
          </p:nvSpPr>
          <p:spPr bwMode="auto">
            <a:xfrm>
              <a:off x="1148" y="2063"/>
              <a:ext cx="190" cy="1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6020" name="Group 272"/>
          <p:cNvGrpSpPr/>
          <p:nvPr/>
        </p:nvGrpSpPr>
        <p:grpSpPr bwMode="auto">
          <a:xfrm rot="5400000">
            <a:off x="6969125" y="692151"/>
            <a:ext cx="77787" cy="366712"/>
            <a:chOff x="1586" y="1334"/>
            <a:chExt cx="49" cy="231"/>
          </a:xfrm>
        </p:grpSpPr>
        <p:sp>
          <p:nvSpPr>
            <p:cNvPr id="157758" name="Freeform 273"/>
            <p:cNvSpPr/>
            <p:nvPr/>
          </p:nvSpPr>
          <p:spPr bwMode="auto">
            <a:xfrm>
              <a:off x="1586" y="1392"/>
              <a:ext cx="1" cy="120"/>
            </a:xfrm>
            <a:custGeom>
              <a:avLst/>
              <a:gdLst>
                <a:gd name="T0" fmla="*/ 0 w 1"/>
                <a:gd name="T1" fmla="*/ 0 h 120"/>
                <a:gd name="T2" fmla="*/ 0 w 1"/>
                <a:gd name="T3" fmla="*/ 120 h 120"/>
                <a:gd name="T4" fmla="*/ 0 60000 65536"/>
                <a:gd name="T5" fmla="*/ 0 60000 65536"/>
                <a:gd name="T6" fmla="*/ 0 w 1"/>
                <a:gd name="T7" fmla="*/ 0 h 120"/>
                <a:gd name="T8" fmla="*/ 1 w 1"/>
                <a:gd name="T9" fmla="*/ 120 h 12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20">
                  <a:moveTo>
                    <a:pt x="0" y="0"/>
                  </a:moveTo>
                  <a:lnTo>
                    <a:pt x="0" y="120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7759" name="Freeform 274"/>
            <p:cNvSpPr/>
            <p:nvPr/>
          </p:nvSpPr>
          <p:spPr bwMode="auto">
            <a:xfrm>
              <a:off x="1634" y="1334"/>
              <a:ext cx="1" cy="231"/>
            </a:xfrm>
            <a:custGeom>
              <a:avLst/>
              <a:gdLst>
                <a:gd name="T0" fmla="*/ 0 w 1"/>
                <a:gd name="T1" fmla="*/ 0 h 231"/>
                <a:gd name="T2" fmla="*/ 0 w 1"/>
                <a:gd name="T3" fmla="*/ 231 h 231"/>
                <a:gd name="T4" fmla="*/ 0 60000 65536"/>
                <a:gd name="T5" fmla="*/ 0 60000 65536"/>
                <a:gd name="T6" fmla="*/ 0 w 1"/>
                <a:gd name="T7" fmla="*/ 0 h 231"/>
                <a:gd name="T8" fmla="*/ 1 w 1"/>
                <a:gd name="T9" fmla="*/ 231 h 23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31">
                  <a:moveTo>
                    <a:pt x="0" y="0"/>
                  </a:moveTo>
                  <a:lnTo>
                    <a:pt x="0" y="231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46021" name="Group 275"/>
          <p:cNvGrpSpPr/>
          <p:nvPr/>
        </p:nvGrpSpPr>
        <p:grpSpPr bwMode="auto">
          <a:xfrm>
            <a:off x="2039938" y="1104900"/>
            <a:ext cx="690562" cy="3695700"/>
            <a:chOff x="1285" y="696"/>
            <a:chExt cx="435" cy="2328"/>
          </a:xfrm>
        </p:grpSpPr>
        <p:grpSp>
          <p:nvGrpSpPr>
            <p:cNvPr id="157727" name="Group 276"/>
            <p:cNvGrpSpPr/>
            <p:nvPr/>
          </p:nvGrpSpPr>
          <p:grpSpPr bwMode="auto">
            <a:xfrm>
              <a:off x="1314" y="696"/>
              <a:ext cx="406" cy="2328"/>
              <a:chOff x="1314" y="696"/>
              <a:chExt cx="406" cy="2328"/>
            </a:xfrm>
          </p:grpSpPr>
          <p:grpSp>
            <p:nvGrpSpPr>
              <p:cNvPr id="157729" name="Group 277"/>
              <p:cNvGrpSpPr/>
              <p:nvPr/>
            </p:nvGrpSpPr>
            <p:grpSpPr bwMode="auto">
              <a:xfrm>
                <a:off x="1314" y="696"/>
                <a:ext cx="391" cy="237"/>
                <a:chOff x="1382" y="696"/>
                <a:chExt cx="391" cy="237"/>
              </a:xfrm>
            </p:grpSpPr>
            <p:sp>
              <p:nvSpPr>
                <p:cNvPr id="157756" name="Freeform 278"/>
                <p:cNvSpPr/>
                <p:nvPr/>
              </p:nvSpPr>
              <p:spPr bwMode="auto">
                <a:xfrm>
                  <a:off x="1382" y="696"/>
                  <a:ext cx="108" cy="237"/>
                </a:xfrm>
                <a:custGeom>
                  <a:avLst/>
                  <a:gdLst>
                    <a:gd name="T0" fmla="*/ 0 w 108"/>
                    <a:gd name="T1" fmla="*/ 237 h 237"/>
                    <a:gd name="T2" fmla="*/ 108 w 108"/>
                    <a:gd name="T3" fmla="*/ 237 h 237"/>
                    <a:gd name="T4" fmla="*/ 108 w 108"/>
                    <a:gd name="T5" fmla="*/ 0 h 237"/>
                    <a:gd name="T6" fmla="*/ 0 60000 65536"/>
                    <a:gd name="T7" fmla="*/ 0 60000 65536"/>
                    <a:gd name="T8" fmla="*/ 0 60000 65536"/>
                    <a:gd name="T9" fmla="*/ 0 w 108"/>
                    <a:gd name="T10" fmla="*/ 0 h 237"/>
                    <a:gd name="T11" fmla="*/ 108 w 108"/>
                    <a:gd name="T12" fmla="*/ 237 h 23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08" h="237">
                      <a:moveTo>
                        <a:pt x="0" y="237"/>
                      </a:moveTo>
                      <a:lnTo>
                        <a:pt x="108" y="237"/>
                      </a:lnTo>
                      <a:lnTo>
                        <a:pt x="108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57757" name="Freeform 279"/>
                <p:cNvSpPr/>
                <p:nvPr/>
              </p:nvSpPr>
              <p:spPr bwMode="auto">
                <a:xfrm>
                  <a:off x="1509" y="702"/>
                  <a:ext cx="264" cy="1"/>
                </a:xfrm>
                <a:custGeom>
                  <a:avLst/>
                  <a:gdLst>
                    <a:gd name="T0" fmla="*/ 0 w 264"/>
                    <a:gd name="T1" fmla="*/ 0 h 1"/>
                    <a:gd name="T2" fmla="*/ 264 w 264"/>
                    <a:gd name="T3" fmla="*/ 0 h 1"/>
                    <a:gd name="T4" fmla="*/ 0 60000 65536"/>
                    <a:gd name="T5" fmla="*/ 0 60000 65536"/>
                    <a:gd name="T6" fmla="*/ 0 w 264"/>
                    <a:gd name="T7" fmla="*/ 0 h 1"/>
                    <a:gd name="T8" fmla="*/ 264 w 264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64" h="1">
                      <a:moveTo>
                        <a:pt x="0" y="0"/>
                      </a:moveTo>
                      <a:lnTo>
                        <a:pt x="264" y="0"/>
                      </a:lnTo>
                    </a:path>
                  </a:pathLst>
                </a:custGeom>
                <a:noFill/>
                <a:ln w="7620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57730" name="Group 280"/>
              <p:cNvGrpSpPr/>
              <p:nvPr/>
            </p:nvGrpSpPr>
            <p:grpSpPr bwMode="auto">
              <a:xfrm>
                <a:off x="1330" y="1403"/>
                <a:ext cx="390" cy="253"/>
                <a:chOff x="1398" y="1403"/>
                <a:chExt cx="390" cy="253"/>
              </a:xfrm>
            </p:grpSpPr>
            <p:sp>
              <p:nvSpPr>
                <p:cNvPr id="157754" name="Freeform 281"/>
                <p:cNvSpPr/>
                <p:nvPr/>
              </p:nvSpPr>
              <p:spPr bwMode="auto">
                <a:xfrm>
                  <a:off x="1398" y="1403"/>
                  <a:ext cx="102" cy="253"/>
                </a:xfrm>
                <a:custGeom>
                  <a:avLst/>
                  <a:gdLst>
                    <a:gd name="T0" fmla="*/ 0 w 102"/>
                    <a:gd name="T1" fmla="*/ 253 h 253"/>
                    <a:gd name="T2" fmla="*/ 102 w 102"/>
                    <a:gd name="T3" fmla="*/ 253 h 253"/>
                    <a:gd name="T4" fmla="*/ 102 w 102"/>
                    <a:gd name="T5" fmla="*/ 0 h 253"/>
                    <a:gd name="T6" fmla="*/ 0 60000 65536"/>
                    <a:gd name="T7" fmla="*/ 0 60000 65536"/>
                    <a:gd name="T8" fmla="*/ 0 60000 65536"/>
                    <a:gd name="T9" fmla="*/ 0 w 102"/>
                    <a:gd name="T10" fmla="*/ 0 h 253"/>
                    <a:gd name="T11" fmla="*/ 102 w 102"/>
                    <a:gd name="T12" fmla="*/ 253 h 25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02" h="253">
                      <a:moveTo>
                        <a:pt x="0" y="253"/>
                      </a:moveTo>
                      <a:lnTo>
                        <a:pt x="102" y="253"/>
                      </a:lnTo>
                      <a:lnTo>
                        <a:pt x="102" y="0"/>
                      </a:lnTo>
                    </a:path>
                  </a:pathLst>
                </a:custGeom>
                <a:noFill/>
                <a:ln w="76200" cmpd="sng">
                  <a:solidFill>
                    <a:schemeClr val="folHlink"/>
                  </a:solidFill>
                  <a:round/>
                  <a:tailEnd type="oval" w="sm" len="sm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57755" name="Freeform 282"/>
                <p:cNvSpPr/>
                <p:nvPr/>
              </p:nvSpPr>
              <p:spPr bwMode="auto">
                <a:xfrm>
                  <a:off x="1521" y="1413"/>
                  <a:ext cx="267" cy="1"/>
                </a:xfrm>
                <a:custGeom>
                  <a:avLst/>
                  <a:gdLst>
                    <a:gd name="T0" fmla="*/ 0 w 267"/>
                    <a:gd name="T1" fmla="*/ 0 h 1"/>
                    <a:gd name="T2" fmla="*/ 267 w 267"/>
                    <a:gd name="T3" fmla="*/ 0 h 1"/>
                    <a:gd name="T4" fmla="*/ 0 60000 65536"/>
                    <a:gd name="T5" fmla="*/ 0 60000 65536"/>
                    <a:gd name="T6" fmla="*/ 0 w 267"/>
                    <a:gd name="T7" fmla="*/ 0 h 1"/>
                    <a:gd name="T8" fmla="*/ 267 w 267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67" h="1">
                      <a:moveTo>
                        <a:pt x="0" y="0"/>
                      </a:moveTo>
                      <a:lnTo>
                        <a:pt x="267" y="0"/>
                      </a:lnTo>
                    </a:path>
                  </a:pathLst>
                </a:custGeom>
                <a:noFill/>
                <a:ln w="76200" cap="flat" cmpd="sng">
                  <a:solidFill>
                    <a:schemeClr val="fol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157731" name="Freeform 283"/>
              <p:cNvSpPr/>
              <p:nvPr/>
            </p:nvSpPr>
            <p:spPr bwMode="auto">
              <a:xfrm>
                <a:off x="1324" y="2415"/>
                <a:ext cx="108" cy="252"/>
              </a:xfrm>
              <a:custGeom>
                <a:avLst/>
                <a:gdLst>
                  <a:gd name="T0" fmla="*/ 0 w 108"/>
                  <a:gd name="T1" fmla="*/ 252 h 252"/>
                  <a:gd name="T2" fmla="*/ 107 w 108"/>
                  <a:gd name="T3" fmla="*/ 249 h 252"/>
                  <a:gd name="T4" fmla="*/ 108 w 108"/>
                  <a:gd name="T5" fmla="*/ 0 h 252"/>
                  <a:gd name="T6" fmla="*/ 0 60000 65536"/>
                  <a:gd name="T7" fmla="*/ 0 60000 65536"/>
                  <a:gd name="T8" fmla="*/ 0 60000 65536"/>
                  <a:gd name="T9" fmla="*/ 0 w 108"/>
                  <a:gd name="T10" fmla="*/ 0 h 252"/>
                  <a:gd name="T11" fmla="*/ 108 w 108"/>
                  <a:gd name="T12" fmla="*/ 252 h 25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8" h="252">
                    <a:moveTo>
                      <a:pt x="0" y="252"/>
                    </a:moveTo>
                    <a:lnTo>
                      <a:pt x="107" y="249"/>
                    </a:lnTo>
                    <a:lnTo>
                      <a:pt x="108" y="0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7732" name="Freeform 284"/>
              <p:cNvSpPr/>
              <p:nvPr/>
            </p:nvSpPr>
            <p:spPr bwMode="auto">
              <a:xfrm>
                <a:off x="1444" y="2414"/>
                <a:ext cx="274" cy="1"/>
              </a:xfrm>
              <a:custGeom>
                <a:avLst/>
                <a:gdLst>
                  <a:gd name="T0" fmla="*/ 0 w 274"/>
                  <a:gd name="T1" fmla="*/ 1 h 1"/>
                  <a:gd name="T2" fmla="*/ 274 w 274"/>
                  <a:gd name="T3" fmla="*/ 0 h 1"/>
                  <a:gd name="T4" fmla="*/ 0 60000 65536"/>
                  <a:gd name="T5" fmla="*/ 0 60000 65536"/>
                  <a:gd name="T6" fmla="*/ 0 w 274"/>
                  <a:gd name="T7" fmla="*/ 0 h 1"/>
                  <a:gd name="T8" fmla="*/ 274 w 27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74" h="1">
                    <a:moveTo>
                      <a:pt x="0" y="1"/>
                    </a:moveTo>
                    <a:lnTo>
                      <a:pt x="274" y="0"/>
                    </a:lnTo>
                  </a:path>
                </a:pathLst>
              </a:custGeom>
              <a:noFill/>
              <a:ln w="7620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157733" name="Group 285"/>
              <p:cNvGrpSpPr/>
              <p:nvPr/>
            </p:nvGrpSpPr>
            <p:grpSpPr bwMode="auto">
              <a:xfrm>
                <a:off x="1324" y="2747"/>
                <a:ext cx="202" cy="277"/>
                <a:chOff x="1392" y="2736"/>
                <a:chExt cx="202" cy="277"/>
              </a:xfrm>
            </p:grpSpPr>
            <p:sp>
              <p:nvSpPr>
                <p:cNvPr id="157748" name="Line 286"/>
                <p:cNvSpPr>
                  <a:spLocks noChangeShapeType="1"/>
                </p:cNvSpPr>
                <p:nvPr/>
              </p:nvSpPr>
              <p:spPr bwMode="auto">
                <a:xfrm>
                  <a:off x="1492" y="2916"/>
                  <a:ext cx="2" cy="95"/>
                </a:xfrm>
                <a:prstGeom prst="line">
                  <a:avLst/>
                </a:prstGeom>
                <a:noFill/>
                <a:ln w="5715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7749" name="Freeform 287"/>
                <p:cNvSpPr/>
                <p:nvPr/>
              </p:nvSpPr>
              <p:spPr bwMode="auto">
                <a:xfrm>
                  <a:off x="1440" y="3012"/>
                  <a:ext cx="120" cy="1"/>
                </a:xfrm>
                <a:custGeom>
                  <a:avLst/>
                  <a:gdLst>
                    <a:gd name="T0" fmla="*/ 0 w 120"/>
                    <a:gd name="T1" fmla="*/ 0 h 1"/>
                    <a:gd name="T2" fmla="*/ 120 w 120"/>
                    <a:gd name="T3" fmla="*/ 0 h 1"/>
                    <a:gd name="T4" fmla="*/ 0 60000 65536"/>
                    <a:gd name="T5" fmla="*/ 0 60000 65536"/>
                    <a:gd name="T6" fmla="*/ 0 w 120"/>
                    <a:gd name="T7" fmla="*/ 0 h 1"/>
                    <a:gd name="T8" fmla="*/ 120 w 120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20" h="1">
                      <a:moveTo>
                        <a:pt x="0" y="0"/>
                      </a:moveTo>
                      <a:lnTo>
                        <a:pt x="120" y="0"/>
                      </a:lnTo>
                    </a:path>
                  </a:pathLst>
                </a:custGeom>
                <a:noFill/>
                <a:ln w="5715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57750" name="Freeform 288"/>
                <p:cNvSpPr/>
                <p:nvPr/>
              </p:nvSpPr>
              <p:spPr bwMode="auto">
                <a:xfrm>
                  <a:off x="1392" y="2736"/>
                  <a:ext cx="102" cy="141"/>
                </a:xfrm>
                <a:custGeom>
                  <a:avLst/>
                  <a:gdLst>
                    <a:gd name="T0" fmla="*/ 0 w 102"/>
                    <a:gd name="T1" fmla="*/ 0 h 141"/>
                    <a:gd name="T2" fmla="*/ 102 w 102"/>
                    <a:gd name="T3" fmla="*/ 0 h 141"/>
                    <a:gd name="T4" fmla="*/ 102 w 102"/>
                    <a:gd name="T5" fmla="*/ 141 h 141"/>
                    <a:gd name="T6" fmla="*/ 0 60000 65536"/>
                    <a:gd name="T7" fmla="*/ 0 60000 65536"/>
                    <a:gd name="T8" fmla="*/ 0 60000 65536"/>
                    <a:gd name="T9" fmla="*/ 0 w 102"/>
                    <a:gd name="T10" fmla="*/ 0 h 141"/>
                    <a:gd name="T11" fmla="*/ 102 w 102"/>
                    <a:gd name="T12" fmla="*/ 141 h 14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02" h="141">
                      <a:moveTo>
                        <a:pt x="0" y="0"/>
                      </a:moveTo>
                      <a:lnTo>
                        <a:pt x="102" y="0"/>
                      </a:lnTo>
                      <a:lnTo>
                        <a:pt x="102" y="141"/>
                      </a:lnTo>
                    </a:path>
                  </a:pathLst>
                </a:custGeom>
                <a:noFill/>
                <a:ln w="57150" cmpd="sng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57751" name="Group 289"/>
                <p:cNvGrpSpPr/>
                <p:nvPr/>
              </p:nvGrpSpPr>
              <p:grpSpPr bwMode="auto">
                <a:xfrm>
                  <a:off x="1392" y="2868"/>
                  <a:ext cx="202" cy="49"/>
                  <a:chOff x="432" y="1152"/>
                  <a:chExt cx="202" cy="49"/>
                </a:xfrm>
              </p:grpSpPr>
              <p:sp>
                <p:nvSpPr>
                  <p:cNvPr id="157752" name="Freeform 290"/>
                  <p:cNvSpPr/>
                  <p:nvPr/>
                </p:nvSpPr>
                <p:spPr bwMode="auto">
                  <a:xfrm>
                    <a:off x="432" y="1152"/>
                    <a:ext cx="202" cy="1"/>
                  </a:xfrm>
                  <a:custGeom>
                    <a:avLst/>
                    <a:gdLst>
                      <a:gd name="T0" fmla="*/ 0 w 202"/>
                      <a:gd name="T1" fmla="*/ 0 h 1"/>
                      <a:gd name="T2" fmla="*/ 202 w 202"/>
                      <a:gd name="T3" fmla="*/ 0 h 1"/>
                      <a:gd name="T4" fmla="*/ 0 60000 65536"/>
                      <a:gd name="T5" fmla="*/ 0 60000 65536"/>
                      <a:gd name="T6" fmla="*/ 0 w 202"/>
                      <a:gd name="T7" fmla="*/ 0 h 1"/>
                      <a:gd name="T8" fmla="*/ 202 w 202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202" h="1">
                        <a:moveTo>
                          <a:pt x="0" y="0"/>
                        </a:moveTo>
                        <a:lnTo>
                          <a:pt x="202" y="0"/>
                        </a:lnTo>
                      </a:path>
                    </a:pathLst>
                  </a:custGeom>
                  <a:solidFill>
                    <a:srgbClr val="FFFFFF"/>
                  </a:solidFill>
                  <a:ln w="57150" cmpd="sng">
                    <a:solidFill>
                      <a:schemeClr val="folHlink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7753" name="Freeform 291"/>
                  <p:cNvSpPr/>
                  <p:nvPr/>
                </p:nvSpPr>
                <p:spPr bwMode="auto">
                  <a:xfrm>
                    <a:off x="432" y="1200"/>
                    <a:ext cx="202" cy="1"/>
                  </a:xfrm>
                  <a:custGeom>
                    <a:avLst/>
                    <a:gdLst>
                      <a:gd name="T0" fmla="*/ 0 w 202"/>
                      <a:gd name="T1" fmla="*/ 0 h 1"/>
                      <a:gd name="T2" fmla="*/ 202 w 202"/>
                      <a:gd name="T3" fmla="*/ 0 h 1"/>
                      <a:gd name="T4" fmla="*/ 0 60000 65536"/>
                      <a:gd name="T5" fmla="*/ 0 60000 65536"/>
                      <a:gd name="T6" fmla="*/ 0 w 202"/>
                      <a:gd name="T7" fmla="*/ 0 h 1"/>
                      <a:gd name="T8" fmla="*/ 202 w 202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202" h="1">
                        <a:moveTo>
                          <a:pt x="0" y="0"/>
                        </a:moveTo>
                        <a:lnTo>
                          <a:pt x="202" y="0"/>
                        </a:lnTo>
                      </a:path>
                    </a:pathLst>
                  </a:custGeom>
                  <a:solidFill>
                    <a:srgbClr val="FFFFFF"/>
                  </a:solidFill>
                  <a:ln w="57150" cmpd="sng">
                    <a:solidFill>
                      <a:schemeClr val="folHlink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57734" name="Group 292"/>
              <p:cNvGrpSpPr/>
              <p:nvPr/>
            </p:nvGrpSpPr>
            <p:grpSpPr bwMode="auto">
              <a:xfrm>
                <a:off x="1324" y="1019"/>
                <a:ext cx="202" cy="277"/>
                <a:chOff x="1392" y="1019"/>
                <a:chExt cx="202" cy="277"/>
              </a:xfrm>
            </p:grpSpPr>
            <p:sp>
              <p:nvSpPr>
                <p:cNvPr id="157742" name="Line 293"/>
                <p:cNvSpPr>
                  <a:spLocks noChangeShapeType="1"/>
                </p:cNvSpPr>
                <p:nvPr/>
              </p:nvSpPr>
              <p:spPr bwMode="auto">
                <a:xfrm>
                  <a:off x="1492" y="1199"/>
                  <a:ext cx="2" cy="95"/>
                </a:xfrm>
                <a:prstGeom prst="line">
                  <a:avLst/>
                </a:prstGeom>
                <a:noFill/>
                <a:ln w="5715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7743" name="Freeform 294"/>
                <p:cNvSpPr/>
                <p:nvPr/>
              </p:nvSpPr>
              <p:spPr bwMode="auto">
                <a:xfrm>
                  <a:off x="1440" y="1295"/>
                  <a:ext cx="120" cy="1"/>
                </a:xfrm>
                <a:custGeom>
                  <a:avLst/>
                  <a:gdLst>
                    <a:gd name="T0" fmla="*/ 0 w 120"/>
                    <a:gd name="T1" fmla="*/ 0 h 1"/>
                    <a:gd name="T2" fmla="*/ 120 w 120"/>
                    <a:gd name="T3" fmla="*/ 0 h 1"/>
                    <a:gd name="T4" fmla="*/ 0 60000 65536"/>
                    <a:gd name="T5" fmla="*/ 0 60000 65536"/>
                    <a:gd name="T6" fmla="*/ 0 w 120"/>
                    <a:gd name="T7" fmla="*/ 0 h 1"/>
                    <a:gd name="T8" fmla="*/ 120 w 120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20" h="1">
                      <a:moveTo>
                        <a:pt x="0" y="0"/>
                      </a:moveTo>
                      <a:lnTo>
                        <a:pt x="120" y="0"/>
                      </a:lnTo>
                    </a:path>
                  </a:pathLst>
                </a:custGeom>
                <a:noFill/>
                <a:ln w="5715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57744" name="Freeform 295"/>
                <p:cNvSpPr/>
                <p:nvPr/>
              </p:nvSpPr>
              <p:spPr bwMode="auto">
                <a:xfrm>
                  <a:off x="1392" y="1019"/>
                  <a:ext cx="102" cy="141"/>
                </a:xfrm>
                <a:custGeom>
                  <a:avLst/>
                  <a:gdLst>
                    <a:gd name="T0" fmla="*/ 0 w 102"/>
                    <a:gd name="T1" fmla="*/ 0 h 141"/>
                    <a:gd name="T2" fmla="*/ 102 w 102"/>
                    <a:gd name="T3" fmla="*/ 0 h 141"/>
                    <a:gd name="T4" fmla="*/ 102 w 102"/>
                    <a:gd name="T5" fmla="*/ 141 h 141"/>
                    <a:gd name="T6" fmla="*/ 0 60000 65536"/>
                    <a:gd name="T7" fmla="*/ 0 60000 65536"/>
                    <a:gd name="T8" fmla="*/ 0 60000 65536"/>
                    <a:gd name="T9" fmla="*/ 0 w 102"/>
                    <a:gd name="T10" fmla="*/ 0 h 141"/>
                    <a:gd name="T11" fmla="*/ 102 w 102"/>
                    <a:gd name="T12" fmla="*/ 141 h 14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02" h="141">
                      <a:moveTo>
                        <a:pt x="0" y="0"/>
                      </a:moveTo>
                      <a:lnTo>
                        <a:pt x="102" y="0"/>
                      </a:lnTo>
                      <a:lnTo>
                        <a:pt x="102" y="141"/>
                      </a:lnTo>
                    </a:path>
                  </a:pathLst>
                </a:custGeom>
                <a:noFill/>
                <a:ln w="57150" cmpd="sng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57745" name="Group 296"/>
                <p:cNvGrpSpPr/>
                <p:nvPr/>
              </p:nvGrpSpPr>
              <p:grpSpPr bwMode="auto">
                <a:xfrm>
                  <a:off x="1392" y="1151"/>
                  <a:ext cx="202" cy="49"/>
                  <a:chOff x="432" y="1152"/>
                  <a:chExt cx="202" cy="49"/>
                </a:xfrm>
              </p:grpSpPr>
              <p:sp>
                <p:nvSpPr>
                  <p:cNvPr id="157746" name="Freeform 297"/>
                  <p:cNvSpPr/>
                  <p:nvPr/>
                </p:nvSpPr>
                <p:spPr bwMode="auto">
                  <a:xfrm>
                    <a:off x="432" y="1152"/>
                    <a:ext cx="202" cy="1"/>
                  </a:xfrm>
                  <a:custGeom>
                    <a:avLst/>
                    <a:gdLst>
                      <a:gd name="T0" fmla="*/ 0 w 202"/>
                      <a:gd name="T1" fmla="*/ 0 h 1"/>
                      <a:gd name="T2" fmla="*/ 202 w 202"/>
                      <a:gd name="T3" fmla="*/ 0 h 1"/>
                      <a:gd name="T4" fmla="*/ 0 60000 65536"/>
                      <a:gd name="T5" fmla="*/ 0 60000 65536"/>
                      <a:gd name="T6" fmla="*/ 0 w 202"/>
                      <a:gd name="T7" fmla="*/ 0 h 1"/>
                      <a:gd name="T8" fmla="*/ 202 w 202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202" h="1">
                        <a:moveTo>
                          <a:pt x="0" y="0"/>
                        </a:moveTo>
                        <a:lnTo>
                          <a:pt x="202" y="0"/>
                        </a:lnTo>
                      </a:path>
                    </a:pathLst>
                  </a:custGeom>
                  <a:solidFill>
                    <a:srgbClr val="FFFFFF"/>
                  </a:solidFill>
                  <a:ln w="57150" cmpd="sng">
                    <a:solidFill>
                      <a:schemeClr val="folHlink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7747" name="Freeform 298"/>
                  <p:cNvSpPr/>
                  <p:nvPr/>
                </p:nvSpPr>
                <p:spPr bwMode="auto">
                  <a:xfrm>
                    <a:off x="432" y="1200"/>
                    <a:ext cx="202" cy="1"/>
                  </a:xfrm>
                  <a:custGeom>
                    <a:avLst/>
                    <a:gdLst>
                      <a:gd name="T0" fmla="*/ 0 w 202"/>
                      <a:gd name="T1" fmla="*/ 0 h 1"/>
                      <a:gd name="T2" fmla="*/ 202 w 202"/>
                      <a:gd name="T3" fmla="*/ 0 h 1"/>
                      <a:gd name="T4" fmla="*/ 0 60000 65536"/>
                      <a:gd name="T5" fmla="*/ 0 60000 65536"/>
                      <a:gd name="T6" fmla="*/ 0 w 202"/>
                      <a:gd name="T7" fmla="*/ 0 h 1"/>
                      <a:gd name="T8" fmla="*/ 202 w 202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202" h="1">
                        <a:moveTo>
                          <a:pt x="0" y="0"/>
                        </a:moveTo>
                        <a:lnTo>
                          <a:pt x="202" y="0"/>
                        </a:lnTo>
                      </a:path>
                    </a:pathLst>
                  </a:custGeom>
                  <a:solidFill>
                    <a:srgbClr val="FFFFFF"/>
                  </a:solidFill>
                  <a:ln w="57150" cmpd="sng">
                    <a:solidFill>
                      <a:schemeClr val="folHlink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57735" name="Group 299"/>
              <p:cNvGrpSpPr/>
              <p:nvPr/>
            </p:nvGrpSpPr>
            <p:grpSpPr bwMode="auto">
              <a:xfrm>
                <a:off x="1324" y="1739"/>
                <a:ext cx="202" cy="277"/>
                <a:chOff x="1392" y="1776"/>
                <a:chExt cx="202" cy="277"/>
              </a:xfrm>
            </p:grpSpPr>
            <p:sp>
              <p:nvSpPr>
                <p:cNvPr id="157736" name="Line 300"/>
                <p:cNvSpPr>
                  <a:spLocks noChangeShapeType="1"/>
                </p:cNvSpPr>
                <p:nvPr/>
              </p:nvSpPr>
              <p:spPr bwMode="auto">
                <a:xfrm>
                  <a:off x="1492" y="1956"/>
                  <a:ext cx="2" cy="95"/>
                </a:xfrm>
                <a:prstGeom prst="line">
                  <a:avLst/>
                </a:prstGeom>
                <a:noFill/>
                <a:ln w="5715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7737" name="Freeform 301"/>
                <p:cNvSpPr/>
                <p:nvPr/>
              </p:nvSpPr>
              <p:spPr bwMode="auto">
                <a:xfrm>
                  <a:off x="1440" y="2052"/>
                  <a:ext cx="120" cy="1"/>
                </a:xfrm>
                <a:custGeom>
                  <a:avLst/>
                  <a:gdLst>
                    <a:gd name="T0" fmla="*/ 0 w 120"/>
                    <a:gd name="T1" fmla="*/ 0 h 1"/>
                    <a:gd name="T2" fmla="*/ 120 w 120"/>
                    <a:gd name="T3" fmla="*/ 0 h 1"/>
                    <a:gd name="T4" fmla="*/ 0 60000 65536"/>
                    <a:gd name="T5" fmla="*/ 0 60000 65536"/>
                    <a:gd name="T6" fmla="*/ 0 w 120"/>
                    <a:gd name="T7" fmla="*/ 0 h 1"/>
                    <a:gd name="T8" fmla="*/ 120 w 120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20" h="1">
                      <a:moveTo>
                        <a:pt x="0" y="0"/>
                      </a:moveTo>
                      <a:lnTo>
                        <a:pt x="120" y="0"/>
                      </a:lnTo>
                    </a:path>
                  </a:pathLst>
                </a:custGeom>
                <a:noFill/>
                <a:ln w="5715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57738" name="Freeform 302"/>
                <p:cNvSpPr/>
                <p:nvPr/>
              </p:nvSpPr>
              <p:spPr bwMode="auto">
                <a:xfrm>
                  <a:off x="1392" y="1776"/>
                  <a:ext cx="102" cy="141"/>
                </a:xfrm>
                <a:custGeom>
                  <a:avLst/>
                  <a:gdLst>
                    <a:gd name="T0" fmla="*/ 0 w 102"/>
                    <a:gd name="T1" fmla="*/ 0 h 141"/>
                    <a:gd name="T2" fmla="*/ 102 w 102"/>
                    <a:gd name="T3" fmla="*/ 0 h 141"/>
                    <a:gd name="T4" fmla="*/ 102 w 102"/>
                    <a:gd name="T5" fmla="*/ 141 h 141"/>
                    <a:gd name="T6" fmla="*/ 0 60000 65536"/>
                    <a:gd name="T7" fmla="*/ 0 60000 65536"/>
                    <a:gd name="T8" fmla="*/ 0 60000 65536"/>
                    <a:gd name="T9" fmla="*/ 0 w 102"/>
                    <a:gd name="T10" fmla="*/ 0 h 141"/>
                    <a:gd name="T11" fmla="*/ 102 w 102"/>
                    <a:gd name="T12" fmla="*/ 141 h 14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02" h="141">
                      <a:moveTo>
                        <a:pt x="0" y="0"/>
                      </a:moveTo>
                      <a:lnTo>
                        <a:pt x="102" y="0"/>
                      </a:lnTo>
                      <a:lnTo>
                        <a:pt x="102" y="141"/>
                      </a:lnTo>
                    </a:path>
                  </a:pathLst>
                </a:custGeom>
                <a:noFill/>
                <a:ln w="57150" cmpd="sng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grpSp>
              <p:nvGrpSpPr>
                <p:cNvPr id="157739" name="Group 303"/>
                <p:cNvGrpSpPr/>
                <p:nvPr/>
              </p:nvGrpSpPr>
              <p:grpSpPr bwMode="auto">
                <a:xfrm>
                  <a:off x="1392" y="1908"/>
                  <a:ext cx="202" cy="49"/>
                  <a:chOff x="432" y="1152"/>
                  <a:chExt cx="202" cy="49"/>
                </a:xfrm>
              </p:grpSpPr>
              <p:sp>
                <p:nvSpPr>
                  <p:cNvPr id="157740" name="Freeform 304"/>
                  <p:cNvSpPr/>
                  <p:nvPr/>
                </p:nvSpPr>
                <p:spPr bwMode="auto">
                  <a:xfrm>
                    <a:off x="432" y="1152"/>
                    <a:ext cx="202" cy="1"/>
                  </a:xfrm>
                  <a:custGeom>
                    <a:avLst/>
                    <a:gdLst>
                      <a:gd name="T0" fmla="*/ 0 w 202"/>
                      <a:gd name="T1" fmla="*/ 0 h 1"/>
                      <a:gd name="T2" fmla="*/ 202 w 202"/>
                      <a:gd name="T3" fmla="*/ 0 h 1"/>
                      <a:gd name="T4" fmla="*/ 0 60000 65536"/>
                      <a:gd name="T5" fmla="*/ 0 60000 65536"/>
                      <a:gd name="T6" fmla="*/ 0 w 202"/>
                      <a:gd name="T7" fmla="*/ 0 h 1"/>
                      <a:gd name="T8" fmla="*/ 202 w 202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202" h="1">
                        <a:moveTo>
                          <a:pt x="0" y="0"/>
                        </a:moveTo>
                        <a:lnTo>
                          <a:pt x="202" y="0"/>
                        </a:lnTo>
                      </a:path>
                    </a:pathLst>
                  </a:custGeom>
                  <a:solidFill>
                    <a:srgbClr val="FFFFFF"/>
                  </a:solidFill>
                  <a:ln w="57150" cmpd="sng">
                    <a:solidFill>
                      <a:schemeClr val="folHlink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7741" name="Freeform 305"/>
                  <p:cNvSpPr/>
                  <p:nvPr/>
                </p:nvSpPr>
                <p:spPr bwMode="auto">
                  <a:xfrm>
                    <a:off x="432" y="1200"/>
                    <a:ext cx="202" cy="1"/>
                  </a:xfrm>
                  <a:custGeom>
                    <a:avLst/>
                    <a:gdLst>
                      <a:gd name="T0" fmla="*/ 0 w 202"/>
                      <a:gd name="T1" fmla="*/ 0 h 1"/>
                      <a:gd name="T2" fmla="*/ 202 w 202"/>
                      <a:gd name="T3" fmla="*/ 0 h 1"/>
                      <a:gd name="T4" fmla="*/ 0 60000 65536"/>
                      <a:gd name="T5" fmla="*/ 0 60000 65536"/>
                      <a:gd name="T6" fmla="*/ 0 w 202"/>
                      <a:gd name="T7" fmla="*/ 0 h 1"/>
                      <a:gd name="T8" fmla="*/ 202 w 202"/>
                      <a:gd name="T9" fmla="*/ 1 h 1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202" h="1">
                        <a:moveTo>
                          <a:pt x="0" y="0"/>
                        </a:moveTo>
                        <a:lnTo>
                          <a:pt x="202" y="0"/>
                        </a:lnTo>
                      </a:path>
                    </a:pathLst>
                  </a:custGeom>
                  <a:solidFill>
                    <a:srgbClr val="FFFFFF"/>
                  </a:solidFill>
                  <a:ln w="57150" cmpd="sng">
                    <a:solidFill>
                      <a:schemeClr val="folHlink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</p:grpSp>
        <p:sp>
          <p:nvSpPr>
            <p:cNvPr id="157728" name="Text Box 306"/>
            <p:cNvSpPr txBox="1">
              <a:spLocks noChangeArrowheads="1"/>
            </p:cNvSpPr>
            <p:nvPr/>
          </p:nvSpPr>
          <p:spPr bwMode="auto">
            <a:xfrm>
              <a:off x="1285" y="2056"/>
              <a:ext cx="423" cy="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246067" name="Rectangle 307"/>
          <p:cNvSpPr>
            <a:spLocks noChangeArrowheads="1"/>
          </p:cNvSpPr>
          <p:nvPr/>
        </p:nvSpPr>
        <p:spPr bwMode="auto">
          <a:xfrm>
            <a:off x="8001000" y="-762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246068" name="Text Box 308"/>
          <p:cNvSpPr txBox="1">
            <a:spLocks noChangeArrowheads="1"/>
          </p:cNvSpPr>
          <p:nvPr/>
        </p:nvSpPr>
        <p:spPr bwMode="auto">
          <a:xfrm>
            <a:off x="1492250" y="5018088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63</a:t>
            </a:r>
          </a:p>
        </p:txBody>
      </p:sp>
      <p:sp>
        <p:nvSpPr>
          <p:cNvPr id="246069" name="Text Box 309"/>
          <p:cNvSpPr txBox="1">
            <a:spLocks noChangeArrowheads="1"/>
          </p:cNvSpPr>
          <p:nvPr/>
        </p:nvSpPr>
        <p:spPr bwMode="auto">
          <a:xfrm>
            <a:off x="8096250" y="6604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246070" name="Text Box 310"/>
          <p:cNvSpPr txBox="1">
            <a:spLocks noChangeArrowheads="1"/>
          </p:cNvSpPr>
          <p:nvPr/>
        </p:nvSpPr>
        <p:spPr bwMode="auto">
          <a:xfrm>
            <a:off x="8096250" y="661988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246071" name="Text Box 311"/>
          <p:cNvSpPr txBox="1">
            <a:spLocks noChangeArrowheads="1"/>
          </p:cNvSpPr>
          <p:nvPr/>
        </p:nvSpPr>
        <p:spPr bwMode="auto">
          <a:xfrm>
            <a:off x="8096250" y="661988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</a:p>
        </p:txBody>
      </p:sp>
      <p:grpSp>
        <p:nvGrpSpPr>
          <p:cNvPr id="246033" name="Group 312"/>
          <p:cNvGrpSpPr/>
          <p:nvPr/>
        </p:nvGrpSpPr>
        <p:grpSpPr bwMode="auto">
          <a:xfrm>
            <a:off x="5942013" y="901700"/>
            <a:ext cx="1847850" cy="5246688"/>
            <a:chOff x="3743" y="568"/>
            <a:chExt cx="1164" cy="3305"/>
          </a:xfrm>
        </p:grpSpPr>
        <p:grpSp>
          <p:nvGrpSpPr>
            <p:cNvPr id="157723" name="Group 313"/>
            <p:cNvGrpSpPr/>
            <p:nvPr/>
          </p:nvGrpSpPr>
          <p:grpSpPr bwMode="auto">
            <a:xfrm>
              <a:off x="3743" y="568"/>
              <a:ext cx="1140" cy="3305"/>
              <a:chOff x="3743" y="568"/>
              <a:chExt cx="1140" cy="3305"/>
            </a:xfrm>
          </p:grpSpPr>
          <p:sp>
            <p:nvSpPr>
              <p:cNvPr id="157725" name="Freeform 314"/>
              <p:cNvSpPr/>
              <p:nvPr/>
            </p:nvSpPr>
            <p:spPr bwMode="auto">
              <a:xfrm>
                <a:off x="4464" y="568"/>
                <a:ext cx="419" cy="3138"/>
              </a:xfrm>
              <a:custGeom>
                <a:avLst/>
                <a:gdLst>
                  <a:gd name="T0" fmla="*/ 0 w 419"/>
                  <a:gd name="T1" fmla="*/ 0 h 3138"/>
                  <a:gd name="T2" fmla="*/ 0 w 419"/>
                  <a:gd name="T3" fmla="*/ 130 h 3138"/>
                  <a:gd name="T4" fmla="*/ 416 w 419"/>
                  <a:gd name="T5" fmla="*/ 130 h 3138"/>
                  <a:gd name="T6" fmla="*/ 419 w 419"/>
                  <a:gd name="T7" fmla="*/ 3138 h 313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19"/>
                  <a:gd name="T13" fmla="*/ 0 h 3138"/>
                  <a:gd name="T14" fmla="*/ 419 w 419"/>
                  <a:gd name="T15" fmla="*/ 3138 h 313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19" h="3138">
                    <a:moveTo>
                      <a:pt x="0" y="0"/>
                    </a:moveTo>
                    <a:lnTo>
                      <a:pt x="0" y="130"/>
                    </a:lnTo>
                    <a:lnTo>
                      <a:pt x="416" y="130"/>
                    </a:lnTo>
                    <a:lnTo>
                      <a:pt x="419" y="3138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7726" name="Freeform 315"/>
              <p:cNvSpPr/>
              <p:nvPr/>
            </p:nvSpPr>
            <p:spPr bwMode="auto">
              <a:xfrm>
                <a:off x="3743" y="3672"/>
                <a:ext cx="1" cy="201"/>
              </a:xfrm>
              <a:custGeom>
                <a:avLst/>
                <a:gdLst>
                  <a:gd name="T0" fmla="*/ 1 w 1"/>
                  <a:gd name="T1" fmla="*/ 0 h 201"/>
                  <a:gd name="T2" fmla="*/ 0 w 1"/>
                  <a:gd name="T3" fmla="*/ 201 h 201"/>
                  <a:gd name="T4" fmla="*/ 0 60000 65536"/>
                  <a:gd name="T5" fmla="*/ 0 60000 65536"/>
                  <a:gd name="T6" fmla="*/ 0 w 1"/>
                  <a:gd name="T7" fmla="*/ 0 h 201"/>
                  <a:gd name="T8" fmla="*/ 1 w 1"/>
                  <a:gd name="T9" fmla="*/ 201 h 20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01">
                    <a:moveTo>
                      <a:pt x="1" y="0"/>
                    </a:moveTo>
                    <a:lnTo>
                      <a:pt x="0" y="201"/>
                    </a:lnTo>
                  </a:path>
                </a:pathLst>
              </a:custGeom>
              <a:noFill/>
              <a:ln w="76200">
                <a:solidFill>
                  <a:schemeClr val="folHlink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57724" name="Freeform 316"/>
            <p:cNvSpPr/>
            <p:nvPr/>
          </p:nvSpPr>
          <p:spPr bwMode="auto">
            <a:xfrm>
              <a:off x="3751" y="3694"/>
              <a:ext cx="1156" cy="2"/>
            </a:xfrm>
            <a:custGeom>
              <a:avLst/>
              <a:gdLst>
                <a:gd name="T0" fmla="*/ 5665 w 1023"/>
                <a:gd name="T1" fmla="*/ 0 h 2"/>
                <a:gd name="T2" fmla="*/ 0 w 1023"/>
                <a:gd name="T3" fmla="*/ 2 h 2"/>
                <a:gd name="T4" fmla="*/ 0 60000 65536"/>
                <a:gd name="T5" fmla="*/ 0 60000 65536"/>
                <a:gd name="T6" fmla="*/ 0 w 1023"/>
                <a:gd name="T7" fmla="*/ 0 h 2"/>
                <a:gd name="T8" fmla="*/ 1023 w 1023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23" h="2">
                  <a:moveTo>
                    <a:pt x="1023" y="0"/>
                  </a:moveTo>
                  <a:lnTo>
                    <a:pt x="0" y="2"/>
                  </a:lnTo>
                </a:path>
              </a:pathLst>
            </a:custGeom>
            <a:solidFill>
              <a:srgbClr val="FFFFFF"/>
            </a:solidFill>
            <a:ln w="76200" cmpd="sng">
              <a:solidFill>
                <a:schemeClr val="folHlink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6035" name="Group 317"/>
          <p:cNvGrpSpPr/>
          <p:nvPr/>
        </p:nvGrpSpPr>
        <p:grpSpPr bwMode="auto">
          <a:xfrm>
            <a:off x="5321300" y="5791200"/>
            <a:ext cx="3751263" cy="750888"/>
            <a:chOff x="3352" y="3648"/>
            <a:chExt cx="2363" cy="473"/>
          </a:xfrm>
        </p:grpSpPr>
        <p:sp>
          <p:nvSpPr>
            <p:cNvPr id="157715" name="Rectangle 318"/>
            <p:cNvSpPr>
              <a:spLocks noChangeArrowheads="1"/>
            </p:cNvSpPr>
            <p:nvPr/>
          </p:nvSpPr>
          <p:spPr bwMode="auto">
            <a:xfrm>
              <a:off x="4538" y="3869"/>
              <a:ext cx="742" cy="25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7716" name="Rectangle 319"/>
            <p:cNvSpPr>
              <a:spLocks noChangeArrowheads="1"/>
            </p:cNvSpPr>
            <p:nvPr/>
          </p:nvSpPr>
          <p:spPr bwMode="auto">
            <a:xfrm>
              <a:off x="3352" y="3869"/>
              <a:ext cx="742" cy="252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7717" name="Freeform 320"/>
            <p:cNvSpPr/>
            <p:nvPr/>
          </p:nvSpPr>
          <p:spPr bwMode="auto">
            <a:xfrm>
              <a:off x="4080" y="3984"/>
              <a:ext cx="453" cy="1"/>
            </a:xfrm>
            <a:custGeom>
              <a:avLst/>
              <a:gdLst>
                <a:gd name="T0" fmla="*/ 0 w 453"/>
                <a:gd name="T1" fmla="*/ 0 h 1"/>
                <a:gd name="T2" fmla="*/ 453 w 453"/>
                <a:gd name="T3" fmla="*/ 1 h 1"/>
                <a:gd name="T4" fmla="*/ 0 60000 65536"/>
                <a:gd name="T5" fmla="*/ 0 60000 65536"/>
                <a:gd name="T6" fmla="*/ 0 w 453"/>
                <a:gd name="T7" fmla="*/ 0 h 1"/>
                <a:gd name="T8" fmla="*/ 453 w 45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53" h="1">
                  <a:moveTo>
                    <a:pt x="0" y="0"/>
                  </a:moveTo>
                  <a:lnTo>
                    <a:pt x="453" y="1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7718" name="Text Box 321"/>
            <p:cNvSpPr txBox="1">
              <a:spLocks noChangeArrowheads="1"/>
            </p:cNvSpPr>
            <p:nvPr/>
          </p:nvSpPr>
          <p:spPr bwMode="auto">
            <a:xfrm>
              <a:off x="3402" y="3867"/>
              <a:ext cx="66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I/O</a:t>
              </a: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缓冲</a:t>
              </a:r>
            </a:p>
          </p:txBody>
        </p:sp>
        <p:sp>
          <p:nvSpPr>
            <p:cNvPr id="157719" name="Text Box 322"/>
            <p:cNvSpPr txBox="1">
              <a:spLocks noChangeArrowheads="1"/>
            </p:cNvSpPr>
            <p:nvPr/>
          </p:nvSpPr>
          <p:spPr bwMode="auto">
            <a:xfrm>
              <a:off x="4540" y="3856"/>
              <a:ext cx="76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输出驱动</a:t>
              </a:r>
            </a:p>
          </p:txBody>
        </p:sp>
        <p:sp>
          <p:nvSpPr>
            <p:cNvPr id="157720" name="Line 323"/>
            <p:cNvSpPr>
              <a:spLocks noChangeShapeType="1"/>
            </p:cNvSpPr>
            <p:nvPr/>
          </p:nvSpPr>
          <p:spPr bwMode="auto">
            <a:xfrm>
              <a:off x="5295" y="3984"/>
              <a:ext cx="192" cy="0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7721" name="Text Box 324"/>
            <p:cNvSpPr txBox="1">
              <a:spLocks noChangeArrowheads="1"/>
            </p:cNvSpPr>
            <p:nvPr/>
          </p:nvSpPr>
          <p:spPr bwMode="auto">
            <a:xfrm>
              <a:off x="5356" y="3744"/>
              <a:ext cx="359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1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157722" name="Text Box 325"/>
            <p:cNvSpPr txBox="1">
              <a:spLocks noChangeArrowheads="1"/>
            </p:cNvSpPr>
            <p:nvPr/>
          </p:nvSpPr>
          <p:spPr bwMode="auto">
            <a:xfrm>
              <a:off x="5212" y="3648"/>
              <a:ext cx="2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D</a:t>
              </a:r>
            </a:p>
          </p:txBody>
        </p:sp>
      </p:grpSp>
      <p:sp>
        <p:nvSpPr>
          <p:cNvPr id="157714" name="AutoShape 326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460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2" dur="500"/>
                                        <p:tgtEl>
                                          <p:spTgt spid="2460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7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577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2" dur="500"/>
                                        <p:tgtEl>
                                          <p:spTgt spid="246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7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577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46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0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" dur="500"/>
                                        <p:tgtEl>
                                          <p:spTgt spid="2460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0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" dur="500"/>
                                        <p:tgtEl>
                                          <p:spTgt spid="2460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8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45" dur="500"/>
                                        <p:tgtEl>
                                          <p:spTgt spid="2460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" dur="500"/>
                                        <p:tgtEl>
                                          <p:spTgt spid="246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4" dur="500"/>
                                        <p:tgtEl>
                                          <p:spTgt spid="246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59" dur="500"/>
                                        <p:tgtEl>
                                          <p:spTgt spid="246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4" dur="500"/>
                                        <p:tgtEl>
                                          <p:spTgt spid="246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6023" grpId="0" animBg="1"/>
      <p:bldP spid="246024" grpId="0" animBg="1"/>
      <p:bldP spid="246068" grpId="0" autoUpdateAnimBg="0"/>
      <p:bldP spid="246069" grpId="0" autoUpdateAnimBg="0"/>
      <p:bldP spid="246070" grpId="0" autoUpdateAnimBg="0"/>
      <p:bldP spid="246071" grpId="0" autoUpdateAnimBg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8722" name="Group 308"/>
          <p:cNvGrpSpPr/>
          <p:nvPr/>
        </p:nvGrpSpPr>
        <p:grpSpPr bwMode="auto">
          <a:xfrm>
            <a:off x="44450" y="660400"/>
            <a:ext cx="9034463" cy="5892800"/>
            <a:chOff x="28" y="416"/>
            <a:chExt cx="5691" cy="3712"/>
          </a:xfrm>
        </p:grpSpPr>
        <p:sp>
          <p:nvSpPr>
            <p:cNvPr id="158790" name="Freeform 309"/>
            <p:cNvSpPr/>
            <p:nvPr/>
          </p:nvSpPr>
          <p:spPr bwMode="auto">
            <a:xfrm>
              <a:off x="4464" y="568"/>
              <a:ext cx="419" cy="3138"/>
            </a:xfrm>
            <a:custGeom>
              <a:avLst/>
              <a:gdLst>
                <a:gd name="T0" fmla="*/ 0 w 419"/>
                <a:gd name="T1" fmla="*/ 0 h 3138"/>
                <a:gd name="T2" fmla="*/ 0 w 419"/>
                <a:gd name="T3" fmla="*/ 130 h 3138"/>
                <a:gd name="T4" fmla="*/ 416 w 419"/>
                <a:gd name="T5" fmla="*/ 130 h 3138"/>
                <a:gd name="T6" fmla="*/ 419 w 419"/>
                <a:gd name="T7" fmla="*/ 3138 h 313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19"/>
                <a:gd name="T13" fmla="*/ 0 h 3138"/>
                <a:gd name="T14" fmla="*/ 419 w 419"/>
                <a:gd name="T15" fmla="*/ 3138 h 313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19" h="3138">
                  <a:moveTo>
                    <a:pt x="0" y="0"/>
                  </a:moveTo>
                  <a:lnTo>
                    <a:pt x="0" y="130"/>
                  </a:lnTo>
                  <a:lnTo>
                    <a:pt x="416" y="130"/>
                  </a:lnTo>
                  <a:lnTo>
                    <a:pt x="419" y="313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8791" name="Freeform 310"/>
            <p:cNvSpPr/>
            <p:nvPr/>
          </p:nvSpPr>
          <p:spPr bwMode="auto">
            <a:xfrm>
              <a:off x="3743" y="3684"/>
              <a:ext cx="1" cy="189"/>
            </a:xfrm>
            <a:custGeom>
              <a:avLst/>
              <a:gdLst>
                <a:gd name="T0" fmla="*/ 1 w 1"/>
                <a:gd name="T1" fmla="*/ 0 h 189"/>
                <a:gd name="T2" fmla="*/ 0 w 1"/>
                <a:gd name="T3" fmla="*/ 189 h 189"/>
                <a:gd name="T4" fmla="*/ 0 60000 65536"/>
                <a:gd name="T5" fmla="*/ 0 60000 65536"/>
                <a:gd name="T6" fmla="*/ 0 w 1"/>
                <a:gd name="T7" fmla="*/ 0 h 189"/>
                <a:gd name="T8" fmla="*/ 1 w 1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9">
                  <a:moveTo>
                    <a:pt x="1" y="0"/>
                  </a:moveTo>
                  <a:lnTo>
                    <a:pt x="0" y="18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8792" name="Freeform 311"/>
            <p:cNvSpPr/>
            <p:nvPr/>
          </p:nvSpPr>
          <p:spPr bwMode="auto">
            <a:xfrm>
              <a:off x="3751" y="3694"/>
              <a:ext cx="1145" cy="2"/>
            </a:xfrm>
            <a:custGeom>
              <a:avLst/>
              <a:gdLst>
                <a:gd name="T0" fmla="*/ 4958 w 1023"/>
                <a:gd name="T1" fmla="*/ 0 h 2"/>
                <a:gd name="T2" fmla="*/ 0 w 1023"/>
                <a:gd name="T3" fmla="*/ 2 h 2"/>
                <a:gd name="T4" fmla="*/ 0 60000 65536"/>
                <a:gd name="T5" fmla="*/ 0 60000 65536"/>
                <a:gd name="T6" fmla="*/ 0 w 1023"/>
                <a:gd name="T7" fmla="*/ 0 h 2"/>
                <a:gd name="T8" fmla="*/ 1023 w 1023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23" h="2">
                  <a:moveTo>
                    <a:pt x="1023" y="0"/>
                  </a:moveTo>
                  <a:lnTo>
                    <a:pt x="0" y="2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793" name="Freeform 312"/>
            <p:cNvSpPr/>
            <p:nvPr/>
          </p:nvSpPr>
          <p:spPr bwMode="auto">
            <a:xfrm>
              <a:off x="5308" y="432"/>
              <a:ext cx="144" cy="1776"/>
            </a:xfrm>
            <a:custGeom>
              <a:avLst/>
              <a:gdLst>
                <a:gd name="T0" fmla="*/ 0 w 134"/>
                <a:gd name="T1" fmla="*/ 0 h 1540"/>
                <a:gd name="T2" fmla="*/ 38 w 134"/>
                <a:gd name="T3" fmla="*/ 3 h 1540"/>
                <a:gd name="T4" fmla="*/ 73 w 134"/>
                <a:gd name="T5" fmla="*/ 77 h 1540"/>
                <a:gd name="T6" fmla="*/ 102 w 134"/>
                <a:gd name="T7" fmla="*/ 159 h 1540"/>
                <a:gd name="T8" fmla="*/ 129 w 134"/>
                <a:gd name="T9" fmla="*/ 280 h 1540"/>
                <a:gd name="T10" fmla="*/ 153 w 134"/>
                <a:gd name="T11" fmla="*/ 411 h 1540"/>
                <a:gd name="T12" fmla="*/ 171 w 134"/>
                <a:gd name="T13" fmla="*/ 571 h 1540"/>
                <a:gd name="T14" fmla="*/ 182 w 134"/>
                <a:gd name="T15" fmla="*/ 758 h 1540"/>
                <a:gd name="T16" fmla="*/ 185 w 134"/>
                <a:gd name="T17" fmla="*/ 943 h 1540"/>
                <a:gd name="T18" fmla="*/ 185 w 134"/>
                <a:gd name="T19" fmla="*/ 4733 h 1540"/>
                <a:gd name="T20" fmla="*/ 190 w 134"/>
                <a:gd name="T21" fmla="*/ 4915 h 1540"/>
                <a:gd name="T22" fmla="*/ 203 w 134"/>
                <a:gd name="T23" fmla="*/ 5084 h 1540"/>
                <a:gd name="T24" fmla="*/ 214 w 134"/>
                <a:gd name="T25" fmla="*/ 5251 h 1540"/>
                <a:gd name="T26" fmla="*/ 234 w 134"/>
                <a:gd name="T27" fmla="*/ 5388 h 1540"/>
                <a:gd name="T28" fmla="*/ 265 w 134"/>
                <a:gd name="T29" fmla="*/ 5508 h 1540"/>
                <a:gd name="T30" fmla="*/ 292 w 134"/>
                <a:gd name="T31" fmla="*/ 5587 h 1540"/>
                <a:gd name="T32" fmla="*/ 328 w 134"/>
                <a:gd name="T33" fmla="*/ 5647 h 1540"/>
                <a:gd name="T34" fmla="*/ 365 w 134"/>
                <a:gd name="T35" fmla="*/ 5668 h 1540"/>
                <a:gd name="T36" fmla="*/ 328 w 134"/>
                <a:gd name="T37" fmla="*/ 5695 h 1540"/>
                <a:gd name="T38" fmla="*/ 292 w 134"/>
                <a:gd name="T39" fmla="*/ 5739 h 1540"/>
                <a:gd name="T40" fmla="*/ 265 w 134"/>
                <a:gd name="T41" fmla="*/ 5825 h 1540"/>
                <a:gd name="T42" fmla="*/ 234 w 134"/>
                <a:gd name="T43" fmla="*/ 5952 h 1540"/>
                <a:gd name="T44" fmla="*/ 214 w 134"/>
                <a:gd name="T45" fmla="*/ 6079 h 1540"/>
                <a:gd name="T46" fmla="*/ 203 w 134"/>
                <a:gd name="T47" fmla="*/ 6244 h 1540"/>
                <a:gd name="T48" fmla="*/ 190 w 134"/>
                <a:gd name="T49" fmla="*/ 6428 h 1540"/>
                <a:gd name="T50" fmla="*/ 185 w 134"/>
                <a:gd name="T51" fmla="*/ 6615 h 1540"/>
                <a:gd name="T52" fmla="*/ 185 w 134"/>
                <a:gd name="T53" fmla="*/ 10378 h 1540"/>
                <a:gd name="T54" fmla="*/ 182 w 134"/>
                <a:gd name="T55" fmla="*/ 10581 h 1540"/>
                <a:gd name="T56" fmla="*/ 171 w 134"/>
                <a:gd name="T57" fmla="*/ 10753 h 1540"/>
                <a:gd name="T58" fmla="*/ 153 w 134"/>
                <a:gd name="T59" fmla="*/ 10919 h 1540"/>
                <a:gd name="T60" fmla="*/ 129 w 134"/>
                <a:gd name="T61" fmla="*/ 11062 h 1540"/>
                <a:gd name="T62" fmla="*/ 102 w 134"/>
                <a:gd name="T63" fmla="*/ 11170 h 1540"/>
                <a:gd name="T64" fmla="*/ 73 w 134"/>
                <a:gd name="T65" fmla="*/ 11251 h 1540"/>
                <a:gd name="T66" fmla="*/ 38 w 134"/>
                <a:gd name="T67" fmla="*/ 11316 h 1540"/>
                <a:gd name="T68" fmla="*/ 0 w 134"/>
                <a:gd name="T69" fmla="*/ 11332 h 154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34"/>
                <a:gd name="T106" fmla="*/ 0 h 1540"/>
                <a:gd name="T107" fmla="*/ 134 w 134"/>
                <a:gd name="T108" fmla="*/ 1540 h 154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34" h="1540">
                  <a:moveTo>
                    <a:pt x="0" y="0"/>
                  </a:moveTo>
                  <a:lnTo>
                    <a:pt x="15" y="3"/>
                  </a:lnTo>
                  <a:lnTo>
                    <a:pt x="27" y="10"/>
                  </a:lnTo>
                  <a:lnTo>
                    <a:pt x="37" y="22"/>
                  </a:lnTo>
                  <a:lnTo>
                    <a:pt x="47" y="38"/>
                  </a:lnTo>
                  <a:lnTo>
                    <a:pt x="56" y="56"/>
                  </a:lnTo>
                  <a:lnTo>
                    <a:pt x="62" y="78"/>
                  </a:lnTo>
                  <a:lnTo>
                    <a:pt x="66" y="103"/>
                  </a:lnTo>
                  <a:lnTo>
                    <a:pt x="68" y="128"/>
                  </a:lnTo>
                  <a:lnTo>
                    <a:pt x="68" y="643"/>
                  </a:lnTo>
                  <a:lnTo>
                    <a:pt x="70" y="668"/>
                  </a:lnTo>
                  <a:lnTo>
                    <a:pt x="74" y="691"/>
                  </a:lnTo>
                  <a:lnTo>
                    <a:pt x="78" y="714"/>
                  </a:lnTo>
                  <a:lnTo>
                    <a:pt x="86" y="733"/>
                  </a:lnTo>
                  <a:lnTo>
                    <a:pt x="97" y="748"/>
                  </a:lnTo>
                  <a:lnTo>
                    <a:pt x="107" y="759"/>
                  </a:lnTo>
                  <a:lnTo>
                    <a:pt x="119" y="767"/>
                  </a:lnTo>
                  <a:lnTo>
                    <a:pt x="134" y="770"/>
                  </a:lnTo>
                  <a:lnTo>
                    <a:pt x="119" y="773"/>
                  </a:lnTo>
                  <a:lnTo>
                    <a:pt x="107" y="780"/>
                  </a:lnTo>
                  <a:lnTo>
                    <a:pt x="97" y="792"/>
                  </a:lnTo>
                  <a:lnTo>
                    <a:pt x="86" y="808"/>
                  </a:lnTo>
                  <a:lnTo>
                    <a:pt x="78" y="826"/>
                  </a:lnTo>
                  <a:lnTo>
                    <a:pt x="74" y="848"/>
                  </a:lnTo>
                  <a:lnTo>
                    <a:pt x="70" y="873"/>
                  </a:lnTo>
                  <a:lnTo>
                    <a:pt x="68" y="898"/>
                  </a:lnTo>
                  <a:lnTo>
                    <a:pt x="68" y="1411"/>
                  </a:lnTo>
                  <a:lnTo>
                    <a:pt x="66" y="1438"/>
                  </a:lnTo>
                  <a:lnTo>
                    <a:pt x="62" y="1461"/>
                  </a:lnTo>
                  <a:lnTo>
                    <a:pt x="56" y="1484"/>
                  </a:lnTo>
                  <a:lnTo>
                    <a:pt x="47" y="1503"/>
                  </a:lnTo>
                  <a:lnTo>
                    <a:pt x="37" y="1518"/>
                  </a:lnTo>
                  <a:lnTo>
                    <a:pt x="27" y="1529"/>
                  </a:lnTo>
                  <a:lnTo>
                    <a:pt x="15" y="1537"/>
                  </a:lnTo>
                  <a:lnTo>
                    <a:pt x="0" y="154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794" name="Freeform 313"/>
            <p:cNvSpPr/>
            <p:nvPr/>
          </p:nvSpPr>
          <p:spPr bwMode="auto">
            <a:xfrm>
              <a:off x="121" y="1707"/>
              <a:ext cx="198" cy="3"/>
            </a:xfrm>
            <a:custGeom>
              <a:avLst/>
              <a:gdLst>
                <a:gd name="T0" fmla="*/ 0 w 198"/>
                <a:gd name="T1" fmla="*/ 3 h 3"/>
                <a:gd name="T2" fmla="*/ 198 w 198"/>
                <a:gd name="T3" fmla="*/ 0 h 3"/>
                <a:gd name="T4" fmla="*/ 0 60000 65536"/>
                <a:gd name="T5" fmla="*/ 0 60000 65536"/>
                <a:gd name="T6" fmla="*/ 0 w 198"/>
                <a:gd name="T7" fmla="*/ 0 h 3"/>
                <a:gd name="T8" fmla="*/ 198 w 198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98" h="3">
                  <a:moveTo>
                    <a:pt x="0" y="3"/>
                  </a:moveTo>
                  <a:lnTo>
                    <a:pt x="198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795" name="Freeform 314"/>
            <p:cNvSpPr/>
            <p:nvPr/>
          </p:nvSpPr>
          <p:spPr bwMode="auto">
            <a:xfrm>
              <a:off x="2956" y="1665"/>
              <a:ext cx="195" cy="1"/>
            </a:xfrm>
            <a:custGeom>
              <a:avLst/>
              <a:gdLst>
                <a:gd name="T0" fmla="*/ 0 w 195"/>
                <a:gd name="T1" fmla="*/ 1 h 1"/>
                <a:gd name="T2" fmla="*/ 195 w 195"/>
                <a:gd name="T3" fmla="*/ 0 h 1"/>
                <a:gd name="T4" fmla="*/ 0 60000 65536"/>
                <a:gd name="T5" fmla="*/ 0 60000 65536"/>
                <a:gd name="T6" fmla="*/ 0 w 195"/>
                <a:gd name="T7" fmla="*/ 0 h 1"/>
                <a:gd name="T8" fmla="*/ 195 w 19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95" h="1">
                  <a:moveTo>
                    <a:pt x="0" y="1"/>
                  </a:moveTo>
                  <a:lnTo>
                    <a:pt x="19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796" name="Freeform 315"/>
            <p:cNvSpPr/>
            <p:nvPr/>
          </p:nvSpPr>
          <p:spPr bwMode="auto">
            <a:xfrm>
              <a:off x="168" y="3445"/>
              <a:ext cx="3859" cy="155"/>
            </a:xfrm>
            <a:custGeom>
              <a:avLst/>
              <a:gdLst>
                <a:gd name="T0" fmla="*/ 0 w 3179"/>
                <a:gd name="T1" fmla="*/ 0 h 136"/>
                <a:gd name="T2" fmla="*/ 2 w 3179"/>
                <a:gd name="T3" fmla="*/ 47 h 136"/>
                <a:gd name="T4" fmla="*/ 87 w 3179"/>
                <a:gd name="T5" fmla="*/ 87 h 136"/>
                <a:gd name="T6" fmla="*/ 191 w 3179"/>
                <a:gd name="T7" fmla="*/ 129 h 136"/>
                <a:gd name="T8" fmla="*/ 303 w 3179"/>
                <a:gd name="T9" fmla="*/ 168 h 136"/>
                <a:gd name="T10" fmla="*/ 504 w 3179"/>
                <a:gd name="T11" fmla="*/ 207 h 136"/>
                <a:gd name="T12" fmla="*/ 677 w 3179"/>
                <a:gd name="T13" fmla="*/ 238 h 136"/>
                <a:gd name="T14" fmla="*/ 1179 w 3179"/>
                <a:gd name="T15" fmla="*/ 301 h 136"/>
                <a:gd name="T16" fmla="*/ 1764 w 3179"/>
                <a:gd name="T17" fmla="*/ 350 h 136"/>
                <a:gd name="T18" fmla="*/ 2444 w 3179"/>
                <a:gd name="T19" fmla="*/ 390 h 136"/>
                <a:gd name="T20" fmla="*/ 3189 w 3179"/>
                <a:gd name="T21" fmla="*/ 419 h 136"/>
                <a:gd name="T22" fmla="*/ 4008 w 3179"/>
                <a:gd name="T23" fmla="*/ 425 h 136"/>
                <a:gd name="T24" fmla="*/ 20232 w 3179"/>
                <a:gd name="T25" fmla="*/ 425 h 136"/>
                <a:gd name="T26" fmla="*/ 21047 w 3179"/>
                <a:gd name="T27" fmla="*/ 443 h 136"/>
                <a:gd name="T28" fmla="*/ 21785 w 3179"/>
                <a:gd name="T29" fmla="*/ 457 h 136"/>
                <a:gd name="T30" fmla="*/ 22478 w 3179"/>
                <a:gd name="T31" fmla="*/ 505 h 136"/>
                <a:gd name="T32" fmla="*/ 23062 w 3179"/>
                <a:gd name="T33" fmla="*/ 552 h 136"/>
                <a:gd name="T34" fmla="*/ 23547 w 3179"/>
                <a:gd name="T35" fmla="*/ 612 h 136"/>
                <a:gd name="T36" fmla="*/ 23725 w 3179"/>
                <a:gd name="T37" fmla="*/ 656 h 136"/>
                <a:gd name="T38" fmla="*/ 23918 w 3179"/>
                <a:gd name="T39" fmla="*/ 686 h 136"/>
                <a:gd name="T40" fmla="*/ 24044 w 3179"/>
                <a:gd name="T41" fmla="*/ 731 h 136"/>
                <a:gd name="T42" fmla="*/ 24131 w 3179"/>
                <a:gd name="T43" fmla="*/ 769 h 136"/>
                <a:gd name="T44" fmla="*/ 24187 w 3179"/>
                <a:gd name="T45" fmla="*/ 807 h 136"/>
                <a:gd name="T46" fmla="*/ 24234 w 3179"/>
                <a:gd name="T47" fmla="*/ 852 h 136"/>
                <a:gd name="T48" fmla="*/ 24262 w 3179"/>
                <a:gd name="T49" fmla="*/ 807 h 136"/>
                <a:gd name="T50" fmla="*/ 24325 w 3179"/>
                <a:gd name="T51" fmla="*/ 769 h 136"/>
                <a:gd name="T52" fmla="*/ 24402 w 3179"/>
                <a:gd name="T53" fmla="*/ 731 h 136"/>
                <a:gd name="T54" fmla="*/ 24533 w 3179"/>
                <a:gd name="T55" fmla="*/ 686 h 136"/>
                <a:gd name="T56" fmla="*/ 24730 w 3179"/>
                <a:gd name="T57" fmla="*/ 656 h 136"/>
                <a:gd name="T58" fmla="*/ 24909 w 3179"/>
                <a:gd name="T59" fmla="*/ 612 h 136"/>
                <a:gd name="T60" fmla="*/ 25399 w 3179"/>
                <a:gd name="T61" fmla="*/ 552 h 136"/>
                <a:gd name="T62" fmla="*/ 25987 w 3179"/>
                <a:gd name="T63" fmla="*/ 505 h 136"/>
                <a:gd name="T64" fmla="*/ 26668 w 3179"/>
                <a:gd name="T65" fmla="*/ 457 h 136"/>
                <a:gd name="T66" fmla="*/ 27418 w 3179"/>
                <a:gd name="T67" fmla="*/ 443 h 136"/>
                <a:gd name="T68" fmla="*/ 28222 w 3179"/>
                <a:gd name="T69" fmla="*/ 425 h 136"/>
                <a:gd name="T70" fmla="*/ 43966 w 3179"/>
                <a:gd name="T71" fmla="*/ 425 h 136"/>
                <a:gd name="T72" fmla="*/ 44789 w 3179"/>
                <a:gd name="T73" fmla="*/ 419 h 136"/>
                <a:gd name="T74" fmla="*/ 45508 w 3179"/>
                <a:gd name="T75" fmla="*/ 390 h 136"/>
                <a:gd name="T76" fmla="*/ 46195 w 3179"/>
                <a:gd name="T77" fmla="*/ 350 h 136"/>
                <a:gd name="T78" fmla="*/ 46774 w 3179"/>
                <a:gd name="T79" fmla="*/ 301 h 136"/>
                <a:gd name="T80" fmla="*/ 47283 w 3179"/>
                <a:gd name="T81" fmla="*/ 238 h 136"/>
                <a:gd name="T82" fmla="*/ 47465 w 3179"/>
                <a:gd name="T83" fmla="*/ 207 h 136"/>
                <a:gd name="T84" fmla="*/ 47652 w 3179"/>
                <a:gd name="T85" fmla="*/ 168 h 136"/>
                <a:gd name="T86" fmla="*/ 47760 w 3179"/>
                <a:gd name="T87" fmla="*/ 129 h 136"/>
                <a:gd name="T88" fmla="*/ 47870 w 3179"/>
                <a:gd name="T89" fmla="*/ 87 h 136"/>
                <a:gd name="T90" fmla="*/ 47933 w 3179"/>
                <a:gd name="T91" fmla="*/ 47 h 136"/>
                <a:gd name="T92" fmla="*/ 47952 w 3179"/>
                <a:gd name="T93" fmla="*/ 0 h 1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179"/>
                <a:gd name="T142" fmla="*/ 0 h 136"/>
                <a:gd name="T143" fmla="*/ 3179 w 3179"/>
                <a:gd name="T144" fmla="*/ 136 h 1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179" h="136">
                  <a:moveTo>
                    <a:pt x="0" y="0"/>
                  </a:moveTo>
                  <a:lnTo>
                    <a:pt x="2" y="8"/>
                  </a:lnTo>
                  <a:lnTo>
                    <a:pt x="6" y="14"/>
                  </a:lnTo>
                  <a:lnTo>
                    <a:pt x="12" y="21"/>
                  </a:lnTo>
                  <a:lnTo>
                    <a:pt x="21" y="27"/>
                  </a:lnTo>
                  <a:lnTo>
                    <a:pt x="33" y="33"/>
                  </a:lnTo>
                  <a:lnTo>
                    <a:pt x="45" y="39"/>
                  </a:lnTo>
                  <a:lnTo>
                    <a:pt x="78" y="48"/>
                  </a:lnTo>
                  <a:lnTo>
                    <a:pt x="117" y="56"/>
                  </a:lnTo>
                  <a:lnTo>
                    <a:pt x="162" y="62"/>
                  </a:lnTo>
                  <a:lnTo>
                    <a:pt x="211" y="67"/>
                  </a:lnTo>
                  <a:lnTo>
                    <a:pt x="265" y="68"/>
                  </a:lnTo>
                  <a:lnTo>
                    <a:pt x="1341" y="68"/>
                  </a:lnTo>
                  <a:lnTo>
                    <a:pt x="1395" y="70"/>
                  </a:lnTo>
                  <a:lnTo>
                    <a:pt x="1444" y="74"/>
                  </a:lnTo>
                  <a:lnTo>
                    <a:pt x="1489" y="80"/>
                  </a:lnTo>
                  <a:lnTo>
                    <a:pt x="1528" y="89"/>
                  </a:lnTo>
                  <a:lnTo>
                    <a:pt x="1561" y="98"/>
                  </a:lnTo>
                  <a:lnTo>
                    <a:pt x="1573" y="104"/>
                  </a:lnTo>
                  <a:lnTo>
                    <a:pt x="1585" y="110"/>
                  </a:lnTo>
                  <a:lnTo>
                    <a:pt x="1594" y="117"/>
                  </a:lnTo>
                  <a:lnTo>
                    <a:pt x="1600" y="123"/>
                  </a:lnTo>
                  <a:lnTo>
                    <a:pt x="1604" y="129"/>
                  </a:lnTo>
                  <a:lnTo>
                    <a:pt x="1606" y="136"/>
                  </a:lnTo>
                  <a:lnTo>
                    <a:pt x="1608" y="129"/>
                  </a:lnTo>
                  <a:lnTo>
                    <a:pt x="1612" y="123"/>
                  </a:lnTo>
                  <a:lnTo>
                    <a:pt x="1618" y="117"/>
                  </a:lnTo>
                  <a:lnTo>
                    <a:pt x="1626" y="110"/>
                  </a:lnTo>
                  <a:lnTo>
                    <a:pt x="1639" y="104"/>
                  </a:lnTo>
                  <a:lnTo>
                    <a:pt x="1651" y="98"/>
                  </a:lnTo>
                  <a:lnTo>
                    <a:pt x="1684" y="89"/>
                  </a:lnTo>
                  <a:lnTo>
                    <a:pt x="1723" y="80"/>
                  </a:lnTo>
                  <a:lnTo>
                    <a:pt x="1768" y="74"/>
                  </a:lnTo>
                  <a:lnTo>
                    <a:pt x="1817" y="70"/>
                  </a:lnTo>
                  <a:lnTo>
                    <a:pt x="1870" y="68"/>
                  </a:lnTo>
                  <a:lnTo>
                    <a:pt x="2914" y="68"/>
                  </a:lnTo>
                  <a:lnTo>
                    <a:pt x="2968" y="67"/>
                  </a:lnTo>
                  <a:lnTo>
                    <a:pt x="3017" y="62"/>
                  </a:lnTo>
                  <a:lnTo>
                    <a:pt x="3062" y="56"/>
                  </a:lnTo>
                  <a:lnTo>
                    <a:pt x="3101" y="48"/>
                  </a:lnTo>
                  <a:lnTo>
                    <a:pt x="3134" y="39"/>
                  </a:lnTo>
                  <a:lnTo>
                    <a:pt x="3146" y="33"/>
                  </a:lnTo>
                  <a:lnTo>
                    <a:pt x="3158" y="27"/>
                  </a:lnTo>
                  <a:lnTo>
                    <a:pt x="3166" y="21"/>
                  </a:lnTo>
                  <a:lnTo>
                    <a:pt x="3173" y="14"/>
                  </a:lnTo>
                  <a:lnTo>
                    <a:pt x="3177" y="8"/>
                  </a:lnTo>
                  <a:lnTo>
                    <a:pt x="3179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797" name="Rectangle 316"/>
            <p:cNvSpPr>
              <a:spLocks noChangeArrowheads="1"/>
            </p:cNvSpPr>
            <p:nvPr/>
          </p:nvSpPr>
          <p:spPr bwMode="auto">
            <a:xfrm>
              <a:off x="2163" y="3869"/>
              <a:ext cx="745" cy="25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8798" name="Rectangle 317"/>
            <p:cNvSpPr>
              <a:spLocks noChangeArrowheads="1"/>
            </p:cNvSpPr>
            <p:nvPr/>
          </p:nvSpPr>
          <p:spPr bwMode="auto">
            <a:xfrm>
              <a:off x="3354" y="3869"/>
              <a:ext cx="742" cy="25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8799" name="Rectangle 318"/>
            <p:cNvSpPr>
              <a:spLocks noChangeArrowheads="1"/>
            </p:cNvSpPr>
            <p:nvPr/>
          </p:nvSpPr>
          <p:spPr bwMode="auto">
            <a:xfrm>
              <a:off x="4540" y="3869"/>
              <a:ext cx="744" cy="25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8800" name="Line 319"/>
            <p:cNvSpPr>
              <a:spLocks noChangeShapeType="1"/>
            </p:cNvSpPr>
            <p:nvPr/>
          </p:nvSpPr>
          <p:spPr bwMode="auto">
            <a:xfrm>
              <a:off x="681" y="698"/>
              <a:ext cx="3" cy="1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801" name="Line 320"/>
            <p:cNvSpPr>
              <a:spLocks noChangeShapeType="1"/>
            </p:cNvSpPr>
            <p:nvPr/>
          </p:nvSpPr>
          <p:spPr bwMode="auto">
            <a:xfrm>
              <a:off x="3212" y="698"/>
              <a:ext cx="2" cy="1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802" name="Freeform 321"/>
            <p:cNvSpPr/>
            <p:nvPr/>
          </p:nvSpPr>
          <p:spPr bwMode="auto">
            <a:xfrm>
              <a:off x="3357" y="698"/>
              <a:ext cx="1" cy="187"/>
            </a:xfrm>
            <a:custGeom>
              <a:avLst/>
              <a:gdLst>
                <a:gd name="T0" fmla="*/ 0 w 1"/>
                <a:gd name="T1" fmla="*/ 0 h 187"/>
                <a:gd name="T2" fmla="*/ 0 w 1"/>
                <a:gd name="T3" fmla="*/ 187 h 187"/>
                <a:gd name="T4" fmla="*/ 0 60000 65536"/>
                <a:gd name="T5" fmla="*/ 0 60000 65536"/>
                <a:gd name="T6" fmla="*/ 0 w 1"/>
                <a:gd name="T7" fmla="*/ 0 h 187"/>
                <a:gd name="T8" fmla="*/ 1 w 1"/>
                <a:gd name="T9" fmla="*/ 187 h 1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7">
                  <a:moveTo>
                    <a:pt x="0" y="0"/>
                  </a:moveTo>
                  <a:lnTo>
                    <a:pt x="0" y="187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803" name="Rectangle 322"/>
            <p:cNvSpPr>
              <a:spLocks noChangeArrowheads="1"/>
            </p:cNvSpPr>
            <p:nvPr/>
          </p:nvSpPr>
          <p:spPr bwMode="auto">
            <a:xfrm>
              <a:off x="1708" y="576"/>
              <a:ext cx="906" cy="24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8804" name="Text Box 323"/>
            <p:cNvSpPr txBox="1">
              <a:spLocks noChangeArrowheads="1"/>
            </p:cNvSpPr>
            <p:nvPr/>
          </p:nvSpPr>
          <p:spPr bwMode="auto">
            <a:xfrm>
              <a:off x="1704" y="566"/>
              <a:ext cx="9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>
                  <a:latin typeface="Times New Roman" panose="02020603050405020304" pitchFamily="18" charset="0"/>
                </a:rPr>
                <a:t>    </a:t>
              </a:r>
              <a:r>
                <a:rPr lang="zh-CN" altLang="en-US" sz="2000">
                  <a:latin typeface="Times New Roman" panose="02020603050405020304" pitchFamily="18" charset="0"/>
                </a:rPr>
                <a:t>读放大器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58805" name="Rectangle 324"/>
            <p:cNvSpPr>
              <a:spLocks noChangeArrowheads="1"/>
            </p:cNvSpPr>
            <p:nvPr/>
          </p:nvSpPr>
          <p:spPr bwMode="auto">
            <a:xfrm>
              <a:off x="1708" y="1292"/>
              <a:ext cx="906" cy="24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8806" name="Text Box 325"/>
            <p:cNvSpPr txBox="1">
              <a:spLocks noChangeArrowheads="1"/>
            </p:cNvSpPr>
            <p:nvPr/>
          </p:nvSpPr>
          <p:spPr bwMode="auto">
            <a:xfrm>
              <a:off x="1704" y="1282"/>
              <a:ext cx="9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>
                  <a:latin typeface="Times New Roman" panose="02020603050405020304" pitchFamily="18" charset="0"/>
                </a:rPr>
                <a:t>    </a:t>
              </a:r>
              <a:r>
                <a:rPr lang="zh-CN" altLang="en-US" sz="2000">
                  <a:latin typeface="Times New Roman" panose="02020603050405020304" pitchFamily="18" charset="0"/>
                </a:rPr>
                <a:t>读放大器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58807" name="Rectangle 326"/>
            <p:cNvSpPr>
              <a:spLocks noChangeArrowheads="1"/>
            </p:cNvSpPr>
            <p:nvPr/>
          </p:nvSpPr>
          <p:spPr bwMode="auto">
            <a:xfrm>
              <a:off x="1712" y="2348"/>
              <a:ext cx="906" cy="244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8808" name="Text Box 327"/>
            <p:cNvSpPr txBox="1">
              <a:spLocks noChangeArrowheads="1"/>
            </p:cNvSpPr>
            <p:nvPr/>
          </p:nvSpPr>
          <p:spPr bwMode="auto">
            <a:xfrm>
              <a:off x="1708" y="2338"/>
              <a:ext cx="9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>
                  <a:latin typeface="Times New Roman" panose="02020603050405020304" pitchFamily="18" charset="0"/>
                </a:rPr>
                <a:t>    </a:t>
              </a:r>
              <a:r>
                <a:rPr lang="zh-CN" altLang="en-US" sz="2000">
                  <a:latin typeface="Times New Roman" panose="02020603050405020304" pitchFamily="18" charset="0"/>
                </a:rPr>
                <a:t>读放大器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58809" name="Text Box 328"/>
            <p:cNvSpPr txBox="1">
              <a:spLocks noChangeArrowheads="1"/>
            </p:cNvSpPr>
            <p:nvPr/>
          </p:nvSpPr>
          <p:spPr bwMode="auto">
            <a:xfrm rot="5400000">
              <a:off x="361" y="2031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58810" name="Text Box 329"/>
            <p:cNvSpPr txBox="1">
              <a:spLocks noChangeArrowheads="1"/>
            </p:cNvSpPr>
            <p:nvPr/>
          </p:nvSpPr>
          <p:spPr bwMode="auto">
            <a:xfrm rot="5400000">
              <a:off x="1312" y="2031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58811" name="Text Box 330"/>
            <p:cNvSpPr txBox="1">
              <a:spLocks noChangeArrowheads="1"/>
            </p:cNvSpPr>
            <p:nvPr/>
          </p:nvSpPr>
          <p:spPr bwMode="auto">
            <a:xfrm rot="5400000">
              <a:off x="2732" y="2031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58812" name="Text Box 331"/>
            <p:cNvSpPr txBox="1">
              <a:spLocks noChangeArrowheads="1"/>
            </p:cNvSpPr>
            <p:nvPr/>
          </p:nvSpPr>
          <p:spPr bwMode="auto">
            <a:xfrm>
              <a:off x="3439" y="3043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58813" name="Text Box 332"/>
            <p:cNvSpPr txBox="1">
              <a:spLocks noChangeArrowheads="1"/>
            </p:cNvSpPr>
            <p:nvPr/>
          </p:nvSpPr>
          <p:spPr bwMode="auto">
            <a:xfrm>
              <a:off x="412" y="3043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58814" name="Text Box 333"/>
            <p:cNvSpPr txBox="1">
              <a:spLocks noChangeArrowheads="1"/>
            </p:cNvSpPr>
            <p:nvPr/>
          </p:nvSpPr>
          <p:spPr bwMode="auto">
            <a:xfrm rot="5400000">
              <a:off x="2060" y="1749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58815" name="Text Box 334"/>
            <p:cNvSpPr txBox="1">
              <a:spLocks noChangeArrowheads="1"/>
            </p:cNvSpPr>
            <p:nvPr/>
          </p:nvSpPr>
          <p:spPr bwMode="auto">
            <a:xfrm rot="5400000">
              <a:off x="1897" y="1755"/>
              <a:ext cx="423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rot="10800000" vert="eaVert"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endParaRPr lang="zh-CN" altLang="en-US" sz="3200">
                <a:latin typeface="Times New Roman" panose="02020603050405020304" pitchFamily="18" charset="0"/>
              </a:endParaRPr>
            </a:p>
          </p:txBody>
        </p:sp>
        <p:sp>
          <p:nvSpPr>
            <p:cNvPr id="158816" name="Text Box 335"/>
            <p:cNvSpPr txBox="1">
              <a:spLocks noChangeArrowheads="1"/>
            </p:cNvSpPr>
            <p:nvPr/>
          </p:nvSpPr>
          <p:spPr bwMode="auto">
            <a:xfrm>
              <a:off x="3340" y="576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58817" name="Text Box 336"/>
            <p:cNvSpPr txBox="1">
              <a:spLocks noChangeArrowheads="1"/>
            </p:cNvSpPr>
            <p:nvPr/>
          </p:nvSpPr>
          <p:spPr bwMode="auto">
            <a:xfrm>
              <a:off x="904" y="576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grpSp>
          <p:nvGrpSpPr>
            <p:cNvPr id="158818" name="Group 337"/>
            <p:cNvGrpSpPr/>
            <p:nvPr/>
          </p:nvGrpSpPr>
          <p:grpSpPr bwMode="auto">
            <a:xfrm>
              <a:off x="315" y="864"/>
              <a:ext cx="49" cy="231"/>
              <a:chOff x="315" y="864"/>
              <a:chExt cx="49" cy="231"/>
            </a:xfrm>
          </p:grpSpPr>
          <p:sp>
            <p:nvSpPr>
              <p:cNvPr id="159024" name="Freeform 338"/>
              <p:cNvSpPr/>
              <p:nvPr/>
            </p:nvSpPr>
            <p:spPr bwMode="auto">
              <a:xfrm>
                <a:off x="315" y="922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  <a:gd name="T6" fmla="*/ 0 w 1"/>
                  <a:gd name="T7" fmla="*/ 0 h 120"/>
                  <a:gd name="T8" fmla="*/ 1 w 1"/>
                  <a:gd name="T9" fmla="*/ 120 h 1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9025" name="Freeform 339"/>
              <p:cNvSpPr/>
              <p:nvPr/>
            </p:nvSpPr>
            <p:spPr bwMode="auto">
              <a:xfrm>
                <a:off x="363" y="864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  <a:gd name="T6" fmla="*/ 0 w 1"/>
                  <a:gd name="T7" fmla="*/ 0 h 231"/>
                  <a:gd name="T8" fmla="*/ 1 w 1"/>
                  <a:gd name="T9" fmla="*/ 231 h 23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58819" name="Group 340"/>
            <p:cNvGrpSpPr/>
            <p:nvPr/>
          </p:nvGrpSpPr>
          <p:grpSpPr bwMode="auto">
            <a:xfrm>
              <a:off x="315" y="1593"/>
              <a:ext cx="49" cy="231"/>
              <a:chOff x="315" y="1593"/>
              <a:chExt cx="49" cy="231"/>
            </a:xfrm>
          </p:grpSpPr>
          <p:sp>
            <p:nvSpPr>
              <p:cNvPr id="159022" name="Freeform 341"/>
              <p:cNvSpPr/>
              <p:nvPr/>
            </p:nvSpPr>
            <p:spPr bwMode="auto">
              <a:xfrm>
                <a:off x="315" y="1651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  <a:gd name="T6" fmla="*/ 0 w 1"/>
                  <a:gd name="T7" fmla="*/ 0 h 120"/>
                  <a:gd name="T8" fmla="*/ 1 w 1"/>
                  <a:gd name="T9" fmla="*/ 120 h 1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9023" name="Freeform 342"/>
              <p:cNvSpPr/>
              <p:nvPr/>
            </p:nvSpPr>
            <p:spPr bwMode="auto">
              <a:xfrm>
                <a:off x="363" y="1593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  <a:gd name="T6" fmla="*/ 0 w 1"/>
                  <a:gd name="T7" fmla="*/ 0 h 231"/>
                  <a:gd name="T8" fmla="*/ 1 w 1"/>
                  <a:gd name="T9" fmla="*/ 231 h 23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58820" name="Group 343"/>
            <p:cNvGrpSpPr/>
            <p:nvPr/>
          </p:nvGrpSpPr>
          <p:grpSpPr bwMode="auto">
            <a:xfrm>
              <a:off x="315" y="2601"/>
              <a:ext cx="49" cy="231"/>
              <a:chOff x="315" y="2601"/>
              <a:chExt cx="49" cy="231"/>
            </a:xfrm>
          </p:grpSpPr>
          <p:sp>
            <p:nvSpPr>
              <p:cNvPr id="159020" name="Freeform 344"/>
              <p:cNvSpPr/>
              <p:nvPr/>
            </p:nvSpPr>
            <p:spPr bwMode="auto">
              <a:xfrm>
                <a:off x="315" y="2659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  <a:gd name="T6" fmla="*/ 0 w 1"/>
                  <a:gd name="T7" fmla="*/ 0 h 120"/>
                  <a:gd name="T8" fmla="*/ 1 w 1"/>
                  <a:gd name="T9" fmla="*/ 120 h 1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9021" name="Freeform 345"/>
              <p:cNvSpPr/>
              <p:nvPr/>
            </p:nvSpPr>
            <p:spPr bwMode="auto">
              <a:xfrm>
                <a:off x="363" y="2601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  <a:gd name="T6" fmla="*/ 0 w 1"/>
                  <a:gd name="T7" fmla="*/ 0 h 231"/>
                  <a:gd name="T8" fmla="*/ 1 w 1"/>
                  <a:gd name="T9" fmla="*/ 231 h 23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58821" name="Group 346"/>
            <p:cNvGrpSpPr/>
            <p:nvPr/>
          </p:nvGrpSpPr>
          <p:grpSpPr bwMode="auto">
            <a:xfrm>
              <a:off x="1275" y="864"/>
              <a:ext cx="49" cy="231"/>
              <a:chOff x="1275" y="864"/>
              <a:chExt cx="49" cy="231"/>
            </a:xfrm>
          </p:grpSpPr>
          <p:sp>
            <p:nvSpPr>
              <p:cNvPr id="159018" name="Freeform 347"/>
              <p:cNvSpPr/>
              <p:nvPr/>
            </p:nvSpPr>
            <p:spPr bwMode="auto">
              <a:xfrm>
                <a:off x="1275" y="922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  <a:gd name="T6" fmla="*/ 0 w 1"/>
                  <a:gd name="T7" fmla="*/ 0 h 120"/>
                  <a:gd name="T8" fmla="*/ 1 w 1"/>
                  <a:gd name="T9" fmla="*/ 120 h 1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9019" name="Freeform 348"/>
              <p:cNvSpPr/>
              <p:nvPr/>
            </p:nvSpPr>
            <p:spPr bwMode="auto">
              <a:xfrm>
                <a:off x="1323" y="864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  <a:gd name="T6" fmla="*/ 0 w 1"/>
                  <a:gd name="T7" fmla="*/ 0 h 231"/>
                  <a:gd name="T8" fmla="*/ 1 w 1"/>
                  <a:gd name="T9" fmla="*/ 231 h 23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58822" name="Group 349"/>
            <p:cNvGrpSpPr/>
            <p:nvPr/>
          </p:nvGrpSpPr>
          <p:grpSpPr bwMode="auto">
            <a:xfrm>
              <a:off x="1276" y="1593"/>
              <a:ext cx="49" cy="231"/>
              <a:chOff x="1276" y="1593"/>
              <a:chExt cx="49" cy="231"/>
            </a:xfrm>
          </p:grpSpPr>
          <p:sp>
            <p:nvSpPr>
              <p:cNvPr id="159016" name="Freeform 350"/>
              <p:cNvSpPr/>
              <p:nvPr/>
            </p:nvSpPr>
            <p:spPr bwMode="auto">
              <a:xfrm>
                <a:off x="1276" y="1651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  <a:gd name="T6" fmla="*/ 0 w 1"/>
                  <a:gd name="T7" fmla="*/ 0 h 120"/>
                  <a:gd name="T8" fmla="*/ 1 w 1"/>
                  <a:gd name="T9" fmla="*/ 120 h 1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9017" name="Freeform 351"/>
              <p:cNvSpPr/>
              <p:nvPr/>
            </p:nvSpPr>
            <p:spPr bwMode="auto">
              <a:xfrm>
                <a:off x="1324" y="1593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  <a:gd name="T6" fmla="*/ 0 w 1"/>
                  <a:gd name="T7" fmla="*/ 0 h 231"/>
                  <a:gd name="T8" fmla="*/ 1 w 1"/>
                  <a:gd name="T9" fmla="*/ 231 h 23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58823" name="Group 352"/>
            <p:cNvGrpSpPr/>
            <p:nvPr/>
          </p:nvGrpSpPr>
          <p:grpSpPr bwMode="auto">
            <a:xfrm>
              <a:off x="1276" y="2601"/>
              <a:ext cx="49" cy="231"/>
              <a:chOff x="1276" y="2601"/>
              <a:chExt cx="49" cy="231"/>
            </a:xfrm>
          </p:grpSpPr>
          <p:sp>
            <p:nvSpPr>
              <p:cNvPr id="159014" name="Freeform 353"/>
              <p:cNvSpPr/>
              <p:nvPr/>
            </p:nvSpPr>
            <p:spPr bwMode="auto">
              <a:xfrm>
                <a:off x="1276" y="2659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  <a:gd name="T6" fmla="*/ 0 w 1"/>
                  <a:gd name="T7" fmla="*/ 0 h 120"/>
                  <a:gd name="T8" fmla="*/ 1 w 1"/>
                  <a:gd name="T9" fmla="*/ 120 h 1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9015" name="Freeform 354"/>
              <p:cNvSpPr/>
              <p:nvPr/>
            </p:nvSpPr>
            <p:spPr bwMode="auto">
              <a:xfrm>
                <a:off x="1324" y="2601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  <a:gd name="T6" fmla="*/ 0 w 1"/>
                  <a:gd name="T7" fmla="*/ 0 h 231"/>
                  <a:gd name="T8" fmla="*/ 1 w 1"/>
                  <a:gd name="T9" fmla="*/ 231 h 23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58824" name="Freeform 355"/>
            <p:cNvSpPr/>
            <p:nvPr/>
          </p:nvSpPr>
          <p:spPr bwMode="auto">
            <a:xfrm>
              <a:off x="124" y="981"/>
              <a:ext cx="189" cy="2235"/>
            </a:xfrm>
            <a:custGeom>
              <a:avLst/>
              <a:gdLst>
                <a:gd name="T0" fmla="*/ 189 w 189"/>
                <a:gd name="T1" fmla="*/ 0 h 2235"/>
                <a:gd name="T2" fmla="*/ 0 w 189"/>
                <a:gd name="T3" fmla="*/ 0 h 2235"/>
                <a:gd name="T4" fmla="*/ 0 w 189"/>
                <a:gd name="T5" fmla="*/ 2235 h 2235"/>
                <a:gd name="T6" fmla="*/ 0 60000 65536"/>
                <a:gd name="T7" fmla="*/ 0 60000 65536"/>
                <a:gd name="T8" fmla="*/ 0 60000 65536"/>
                <a:gd name="T9" fmla="*/ 0 w 189"/>
                <a:gd name="T10" fmla="*/ 0 h 2235"/>
                <a:gd name="T11" fmla="*/ 189 w 189"/>
                <a:gd name="T12" fmla="*/ 2235 h 223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9" h="2235">
                  <a:moveTo>
                    <a:pt x="189" y="0"/>
                  </a:move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8825" name="Line 356"/>
            <p:cNvSpPr>
              <a:spLocks noChangeShapeType="1"/>
            </p:cNvSpPr>
            <p:nvPr/>
          </p:nvSpPr>
          <p:spPr bwMode="auto">
            <a:xfrm>
              <a:off x="124" y="2063"/>
              <a:ext cx="190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826" name="Line 357"/>
            <p:cNvSpPr>
              <a:spLocks noChangeShapeType="1"/>
            </p:cNvSpPr>
            <p:nvPr/>
          </p:nvSpPr>
          <p:spPr bwMode="auto">
            <a:xfrm>
              <a:off x="126" y="2255"/>
              <a:ext cx="190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827" name="Freeform 358"/>
            <p:cNvSpPr/>
            <p:nvPr/>
          </p:nvSpPr>
          <p:spPr bwMode="auto">
            <a:xfrm>
              <a:off x="121" y="2718"/>
              <a:ext cx="192" cy="1"/>
            </a:xfrm>
            <a:custGeom>
              <a:avLst/>
              <a:gdLst>
                <a:gd name="T0" fmla="*/ 0 w 192"/>
                <a:gd name="T1" fmla="*/ 0 h 1"/>
                <a:gd name="T2" fmla="*/ 192 w 192"/>
                <a:gd name="T3" fmla="*/ 0 h 1"/>
                <a:gd name="T4" fmla="*/ 0 60000 65536"/>
                <a:gd name="T5" fmla="*/ 0 60000 65536"/>
                <a:gd name="T6" fmla="*/ 0 w 192"/>
                <a:gd name="T7" fmla="*/ 0 h 1"/>
                <a:gd name="T8" fmla="*/ 192 w 19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92" h="1">
                  <a:moveTo>
                    <a:pt x="0" y="0"/>
                  </a:moveTo>
                  <a:lnTo>
                    <a:pt x="192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828" name="Freeform 359"/>
            <p:cNvSpPr/>
            <p:nvPr/>
          </p:nvSpPr>
          <p:spPr bwMode="auto">
            <a:xfrm>
              <a:off x="1078" y="1707"/>
              <a:ext cx="198" cy="3"/>
            </a:xfrm>
            <a:custGeom>
              <a:avLst/>
              <a:gdLst>
                <a:gd name="T0" fmla="*/ 0 w 198"/>
                <a:gd name="T1" fmla="*/ 3 h 3"/>
                <a:gd name="T2" fmla="*/ 198 w 198"/>
                <a:gd name="T3" fmla="*/ 0 h 3"/>
                <a:gd name="T4" fmla="*/ 0 60000 65536"/>
                <a:gd name="T5" fmla="*/ 0 60000 65536"/>
                <a:gd name="T6" fmla="*/ 0 w 198"/>
                <a:gd name="T7" fmla="*/ 0 h 3"/>
                <a:gd name="T8" fmla="*/ 198 w 198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98" h="3">
                  <a:moveTo>
                    <a:pt x="0" y="3"/>
                  </a:moveTo>
                  <a:lnTo>
                    <a:pt x="198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829" name="Freeform 360"/>
            <p:cNvSpPr/>
            <p:nvPr/>
          </p:nvSpPr>
          <p:spPr bwMode="auto">
            <a:xfrm>
              <a:off x="1081" y="981"/>
              <a:ext cx="189" cy="2235"/>
            </a:xfrm>
            <a:custGeom>
              <a:avLst/>
              <a:gdLst>
                <a:gd name="T0" fmla="*/ 189 w 189"/>
                <a:gd name="T1" fmla="*/ 0 h 2235"/>
                <a:gd name="T2" fmla="*/ 0 w 189"/>
                <a:gd name="T3" fmla="*/ 0 h 2235"/>
                <a:gd name="T4" fmla="*/ 0 w 189"/>
                <a:gd name="T5" fmla="*/ 2235 h 2235"/>
                <a:gd name="T6" fmla="*/ 0 60000 65536"/>
                <a:gd name="T7" fmla="*/ 0 60000 65536"/>
                <a:gd name="T8" fmla="*/ 0 60000 65536"/>
                <a:gd name="T9" fmla="*/ 0 w 189"/>
                <a:gd name="T10" fmla="*/ 0 h 2235"/>
                <a:gd name="T11" fmla="*/ 189 w 189"/>
                <a:gd name="T12" fmla="*/ 2235 h 223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9" h="2235">
                  <a:moveTo>
                    <a:pt x="189" y="0"/>
                  </a:move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8830" name="Line 361"/>
            <p:cNvSpPr>
              <a:spLocks noChangeShapeType="1"/>
            </p:cNvSpPr>
            <p:nvPr/>
          </p:nvSpPr>
          <p:spPr bwMode="auto">
            <a:xfrm>
              <a:off x="1081" y="2063"/>
              <a:ext cx="190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831" name="Line 362"/>
            <p:cNvSpPr>
              <a:spLocks noChangeShapeType="1"/>
            </p:cNvSpPr>
            <p:nvPr/>
          </p:nvSpPr>
          <p:spPr bwMode="auto">
            <a:xfrm>
              <a:off x="1083" y="2255"/>
              <a:ext cx="190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832" name="Freeform 363"/>
            <p:cNvSpPr/>
            <p:nvPr/>
          </p:nvSpPr>
          <p:spPr bwMode="auto">
            <a:xfrm>
              <a:off x="1078" y="2718"/>
              <a:ext cx="192" cy="1"/>
            </a:xfrm>
            <a:custGeom>
              <a:avLst/>
              <a:gdLst>
                <a:gd name="T0" fmla="*/ 0 w 192"/>
                <a:gd name="T1" fmla="*/ 0 h 1"/>
                <a:gd name="T2" fmla="*/ 192 w 192"/>
                <a:gd name="T3" fmla="*/ 0 h 1"/>
                <a:gd name="T4" fmla="*/ 0 60000 65536"/>
                <a:gd name="T5" fmla="*/ 0 60000 65536"/>
                <a:gd name="T6" fmla="*/ 0 w 192"/>
                <a:gd name="T7" fmla="*/ 0 h 1"/>
                <a:gd name="T8" fmla="*/ 192 w 19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92" h="1">
                  <a:moveTo>
                    <a:pt x="0" y="0"/>
                  </a:moveTo>
                  <a:lnTo>
                    <a:pt x="192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833" name="Freeform 364"/>
            <p:cNvSpPr/>
            <p:nvPr/>
          </p:nvSpPr>
          <p:spPr bwMode="auto">
            <a:xfrm>
              <a:off x="364" y="696"/>
              <a:ext cx="1341" cy="243"/>
            </a:xfrm>
            <a:custGeom>
              <a:avLst/>
              <a:gdLst>
                <a:gd name="T0" fmla="*/ 0 w 1341"/>
                <a:gd name="T1" fmla="*/ 240 h 243"/>
                <a:gd name="T2" fmla="*/ 93 w 1341"/>
                <a:gd name="T3" fmla="*/ 243 h 243"/>
                <a:gd name="T4" fmla="*/ 93 w 1341"/>
                <a:gd name="T5" fmla="*/ 0 h 243"/>
                <a:gd name="T6" fmla="*/ 1341 w 1341"/>
                <a:gd name="T7" fmla="*/ 0 h 24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41"/>
                <a:gd name="T13" fmla="*/ 0 h 243"/>
                <a:gd name="T14" fmla="*/ 1341 w 1341"/>
                <a:gd name="T15" fmla="*/ 243 h 24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41" h="243">
                  <a:moveTo>
                    <a:pt x="0" y="240"/>
                  </a:moveTo>
                  <a:lnTo>
                    <a:pt x="93" y="243"/>
                  </a:lnTo>
                  <a:lnTo>
                    <a:pt x="93" y="0"/>
                  </a:lnTo>
                  <a:lnTo>
                    <a:pt x="134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58834" name="Group 365"/>
            <p:cNvGrpSpPr/>
            <p:nvPr/>
          </p:nvGrpSpPr>
          <p:grpSpPr bwMode="auto">
            <a:xfrm>
              <a:off x="364" y="1019"/>
              <a:ext cx="202" cy="277"/>
              <a:chOff x="364" y="1019"/>
              <a:chExt cx="202" cy="277"/>
            </a:xfrm>
          </p:grpSpPr>
          <p:sp>
            <p:nvSpPr>
              <p:cNvPr id="159008" name="Freeform 366"/>
              <p:cNvSpPr/>
              <p:nvPr/>
            </p:nvSpPr>
            <p:spPr bwMode="auto">
              <a:xfrm>
                <a:off x="466" y="1197"/>
                <a:ext cx="1" cy="97"/>
              </a:xfrm>
              <a:custGeom>
                <a:avLst/>
                <a:gdLst>
                  <a:gd name="T0" fmla="*/ 1 w 1"/>
                  <a:gd name="T1" fmla="*/ 0 h 97"/>
                  <a:gd name="T2" fmla="*/ 0 w 1"/>
                  <a:gd name="T3" fmla="*/ 97 h 97"/>
                  <a:gd name="T4" fmla="*/ 0 60000 65536"/>
                  <a:gd name="T5" fmla="*/ 0 60000 65536"/>
                  <a:gd name="T6" fmla="*/ 0 w 1"/>
                  <a:gd name="T7" fmla="*/ 0 h 97"/>
                  <a:gd name="T8" fmla="*/ 1 w 1"/>
                  <a:gd name="T9" fmla="*/ 97 h 9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97">
                    <a:moveTo>
                      <a:pt x="1" y="0"/>
                    </a:moveTo>
                    <a:lnTo>
                      <a:pt x="0" y="97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9009" name="Freeform 367"/>
              <p:cNvSpPr/>
              <p:nvPr/>
            </p:nvSpPr>
            <p:spPr bwMode="auto">
              <a:xfrm>
                <a:off x="412" y="129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  <a:gd name="T6" fmla="*/ 0 w 120"/>
                  <a:gd name="T7" fmla="*/ 0 h 1"/>
                  <a:gd name="T8" fmla="*/ 120 w 12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9010" name="Freeform 368"/>
              <p:cNvSpPr/>
              <p:nvPr/>
            </p:nvSpPr>
            <p:spPr bwMode="auto">
              <a:xfrm>
                <a:off x="364" y="1019"/>
                <a:ext cx="102" cy="141"/>
              </a:xfrm>
              <a:custGeom>
                <a:avLst/>
                <a:gdLst>
                  <a:gd name="T0" fmla="*/ 0 w 102"/>
                  <a:gd name="T1" fmla="*/ 0 h 141"/>
                  <a:gd name="T2" fmla="*/ 102 w 102"/>
                  <a:gd name="T3" fmla="*/ 0 h 141"/>
                  <a:gd name="T4" fmla="*/ 102 w 102"/>
                  <a:gd name="T5" fmla="*/ 141 h 141"/>
                  <a:gd name="T6" fmla="*/ 0 60000 65536"/>
                  <a:gd name="T7" fmla="*/ 0 60000 65536"/>
                  <a:gd name="T8" fmla="*/ 0 60000 65536"/>
                  <a:gd name="T9" fmla="*/ 0 w 102"/>
                  <a:gd name="T10" fmla="*/ 0 h 141"/>
                  <a:gd name="T11" fmla="*/ 102 w 102"/>
                  <a:gd name="T12" fmla="*/ 141 h 1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2" h="141">
                    <a:moveTo>
                      <a:pt x="0" y="0"/>
                    </a:moveTo>
                    <a:lnTo>
                      <a:pt x="102" y="0"/>
                    </a:lnTo>
                    <a:lnTo>
                      <a:pt x="102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59011" name="Group 369"/>
              <p:cNvGrpSpPr/>
              <p:nvPr/>
            </p:nvGrpSpPr>
            <p:grpSpPr bwMode="auto">
              <a:xfrm>
                <a:off x="364" y="1151"/>
                <a:ext cx="202" cy="49"/>
                <a:chOff x="432" y="1152"/>
                <a:chExt cx="202" cy="49"/>
              </a:xfrm>
            </p:grpSpPr>
            <p:sp>
              <p:nvSpPr>
                <p:cNvPr id="159012" name="Freeform 370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9013" name="Freeform 371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58835" name="Freeform 372"/>
            <p:cNvSpPr/>
            <p:nvPr/>
          </p:nvSpPr>
          <p:spPr bwMode="auto">
            <a:xfrm>
              <a:off x="885" y="698"/>
              <a:ext cx="4" cy="190"/>
            </a:xfrm>
            <a:custGeom>
              <a:avLst/>
              <a:gdLst>
                <a:gd name="T0" fmla="*/ 4 w 4"/>
                <a:gd name="T1" fmla="*/ 0 h 190"/>
                <a:gd name="T2" fmla="*/ 0 w 4"/>
                <a:gd name="T3" fmla="*/ 190 h 190"/>
                <a:gd name="T4" fmla="*/ 0 60000 65536"/>
                <a:gd name="T5" fmla="*/ 0 60000 65536"/>
                <a:gd name="T6" fmla="*/ 0 w 4"/>
                <a:gd name="T7" fmla="*/ 0 h 190"/>
                <a:gd name="T8" fmla="*/ 4 w 4"/>
                <a:gd name="T9" fmla="*/ 190 h 19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90">
                  <a:moveTo>
                    <a:pt x="4" y="0"/>
                  </a:moveTo>
                  <a:lnTo>
                    <a:pt x="0" y="19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58836" name="Group 373"/>
            <p:cNvGrpSpPr/>
            <p:nvPr/>
          </p:nvGrpSpPr>
          <p:grpSpPr bwMode="auto">
            <a:xfrm>
              <a:off x="364" y="1739"/>
              <a:ext cx="202" cy="277"/>
              <a:chOff x="364" y="1739"/>
              <a:chExt cx="202" cy="277"/>
            </a:xfrm>
          </p:grpSpPr>
          <p:sp>
            <p:nvSpPr>
              <p:cNvPr id="159002" name="Freeform 374"/>
              <p:cNvSpPr/>
              <p:nvPr/>
            </p:nvSpPr>
            <p:spPr bwMode="auto">
              <a:xfrm>
                <a:off x="466" y="1919"/>
                <a:ext cx="1" cy="95"/>
              </a:xfrm>
              <a:custGeom>
                <a:avLst/>
                <a:gdLst>
                  <a:gd name="T0" fmla="*/ 1 w 1"/>
                  <a:gd name="T1" fmla="*/ 0 h 95"/>
                  <a:gd name="T2" fmla="*/ 0 w 1"/>
                  <a:gd name="T3" fmla="*/ 95 h 95"/>
                  <a:gd name="T4" fmla="*/ 0 60000 65536"/>
                  <a:gd name="T5" fmla="*/ 0 60000 65536"/>
                  <a:gd name="T6" fmla="*/ 0 w 1"/>
                  <a:gd name="T7" fmla="*/ 0 h 95"/>
                  <a:gd name="T8" fmla="*/ 1 w 1"/>
                  <a:gd name="T9" fmla="*/ 95 h 9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95">
                    <a:moveTo>
                      <a:pt x="1" y="0"/>
                    </a:moveTo>
                    <a:lnTo>
                      <a:pt x="0" y="95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9003" name="Freeform 375"/>
              <p:cNvSpPr/>
              <p:nvPr/>
            </p:nvSpPr>
            <p:spPr bwMode="auto">
              <a:xfrm>
                <a:off x="412" y="201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  <a:gd name="T6" fmla="*/ 0 w 120"/>
                  <a:gd name="T7" fmla="*/ 0 h 1"/>
                  <a:gd name="T8" fmla="*/ 120 w 12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9004" name="Freeform 376"/>
              <p:cNvSpPr/>
              <p:nvPr/>
            </p:nvSpPr>
            <p:spPr bwMode="auto">
              <a:xfrm>
                <a:off x="364" y="1739"/>
                <a:ext cx="102" cy="141"/>
              </a:xfrm>
              <a:custGeom>
                <a:avLst/>
                <a:gdLst>
                  <a:gd name="T0" fmla="*/ 0 w 102"/>
                  <a:gd name="T1" fmla="*/ 0 h 141"/>
                  <a:gd name="T2" fmla="*/ 102 w 102"/>
                  <a:gd name="T3" fmla="*/ 0 h 141"/>
                  <a:gd name="T4" fmla="*/ 102 w 102"/>
                  <a:gd name="T5" fmla="*/ 141 h 141"/>
                  <a:gd name="T6" fmla="*/ 0 60000 65536"/>
                  <a:gd name="T7" fmla="*/ 0 60000 65536"/>
                  <a:gd name="T8" fmla="*/ 0 60000 65536"/>
                  <a:gd name="T9" fmla="*/ 0 w 102"/>
                  <a:gd name="T10" fmla="*/ 0 h 141"/>
                  <a:gd name="T11" fmla="*/ 102 w 102"/>
                  <a:gd name="T12" fmla="*/ 141 h 1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2" h="141">
                    <a:moveTo>
                      <a:pt x="0" y="0"/>
                    </a:moveTo>
                    <a:lnTo>
                      <a:pt x="102" y="0"/>
                    </a:lnTo>
                    <a:lnTo>
                      <a:pt x="102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59005" name="Group 377"/>
              <p:cNvGrpSpPr/>
              <p:nvPr/>
            </p:nvGrpSpPr>
            <p:grpSpPr bwMode="auto">
              <a:xfrm>
                <a:off x="364" y="1871"/>
                <a:ext cx="202" cy="49"/>
                <a:chOff x="432" y="1152"/>
                <a:chExt cx="202" cy="49"/>
              </a:xfrm>
            </p:grpSpPr>
            <p:sp>
              <p:nvSpPr>
                <p:cNvPr id="159006" name="Freeform 378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9007" name="Freeform 379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58837" name="Group 380"/>
            <p:cNvGrpSpPr/>
            <p:nvPr/>
          </p:nvGrpSpPr>
          <p:grpSpPr bwMode="auto">
            <a:xfrm>
              <a:off x="364" y="2747"/>
              <a:ext cx="202" cy="277"/>
              <a:chOff x="364" y="2747"/>
              <a:chExt cx="202" cy="277"/>
            </a:xfrm>
          </p:grpSpPr>
          <p:sp>
            <p:nvSpPr>
              <p:cNvPr id="158996" name="Freeform 381"/>
              <p:cNvSpPr/>
              <p:nvPr/>
            </p:nvSpPr>
            <p:spPr bwMode="auto">
              <a:xfrm>
                <a:off x="466" y="2925"/>
                <a:ext cx="1" cy="97"/>
              </a:xfrm>
              <a:custGeom>
                <a:avLst/>
                <a:gdLst>
                  <a:gd name="T0" fmla="*/ 1 w 1"/>
                  <a:gd name="T1" fmla="*/ 0 h 97"/>
                  <a:gd name="T2" fmla="*/ 0 w 1"/>
                  <a:gd name="T3" fmla="*/ 97 h 97"/>
                  <a:gd name="T4" fmla="*/ 0 60000 65536"/>
                  <a:gd name="T5" fmla="*/ 0 60000 65536"/>
                  <a:gd name="T6" fmla="*/ 0 w 1"/>
                  <a:gd name="T7" fmla="*/ 0 h 97"/>
                  <a:gd name="T8" fmla="*/ 1 w 1"/>
                  <a:gd name="T9" fmla="*/ 97 h 9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97">
                    <a:moveTo>
                      <a:pt x="1" y="0"/>
                    </a:moveTo>
                    <a:lnTo>
                      <a:pt x="0" y="97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8997" name="Freeform 382"/>
              <p:cNvSpPr/>
              <p:nvPr/>
            </p:nvSpPr>
            <p:spPr bwMode="auto">
              <a:xfrm>
                <a:off x="412" y="3023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  <a:gd name="T6" fmla="*/ 0 w 120"/>
                  <a:gd name="T7" fmla="*/ 0 h 1"/>
                  <a:gd name="T8" fmla="*/ 120 w 12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8998" name="Freeform 383"/>
              <p:cNvSpPr/>
              <p:nvPr/>
            </p:nvSpPr>
            <p:spPr bwMode="auto">
              <a:xfrm>
                <a:off x="364" y="2747"/>
                <a:ext cx="102" cy="141"/>
              </a:xfrm>
              <a:custGeom>
                <a:avLst/>
                <a:gdLst>
                  <a:gd name="T0" fmla="*/ 0 w 102"/>
                  <a:gd name="T1" fmla="*/ 0 h 141"/>
                  <a:gd name="T2" fmla="*/ 102 w 102"/>
                  <a:gd name="T3" fmla="*/ 0 h 141"/>
                  <a:gd name="T4" fmla="*/ 102 w 102"/>
                  <a:gd name="T5" fmla="*/ 141 h 141"/>
                  <a:gd name="T6" fmla="*/ 0 60000 65536"/>
                  <a:gd name="T7" fmla="*/ 0 60000 65536"/>
                  <a:gd name="T8" fmla="*/ 0 60000 65536"/>
                  <a:gd name="T9" fmla="*/ 0 w 102"/>
                  <a:gd name="T10" fmla="*/ 0 h 141"/>
                  <a:gd name="T11" fmla="*/ 102 w 102"/>
                  <a:gd name="T12" fmla="*/ 141 h 1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2" h="141">
                    <a:moveTo>
                      <a:pt x="0" y="0"/>
                    </a:moveTo>
                    <a:lnTo>
                      <a:pt x="102" y="0"/>
                    </a:lnTo>
                    <a:lnTo>
                      <a:pt x="102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58999" name="Group 384"/>
              <p:cNvGrpSpPr/>
              <p:nvPr/>
            </p:nvGrpSpPr>
            <p:grpSpPr bwMode="auto">
              <a:xfrm>
                <a:off x="364" y="2879"/>
                <a:ext cx="202" cy="49"/>
                <a:chOff x="432" y="1152"/>
                <a:chExt cx="202" cy="49"/>
              </a:xfrm>
            </p:grpSpPr>
            <p:sp>
              <p:nvSpPr>
                <p:cNvPr id="159000" name="Freeform 385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9001" name="Freeform 386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58838" name="Freeform 387"/>
            <p:cNvSpPr/>
            <p:nvPr/>
          </p:nvSpPr>
          <p:spPr bwMode="auto">
            <a:xfrm>
              <a:off x="364" y="1414"/>
              <a:ext cx="1341" cy="243"/>
            </a:xfrm>
            <a:custGeom>
              <a:avLst/>
              <a:gdLst>
                <a:gd name="T0" fmla="*/ 0 w 1341"/>
                <a:gd name="T1" fmla="*/ 240 h 243"/>
                <a:gd name="T2" fmla="*/ 93 w 1341"/>
                <a:gd name="T3" fmla="*/ 243 h 243"/>
                <a:gd name="T4" fmla="*/ 93 w 1341"/>
                <a:gd name="T5" fmla="*/ 0 h 243"/>
                <a:gd name="T6" fmla="*/ 1341 w 1341"/>
                <a:gd name="T7" fmla="*/ 0 h 24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41"/>
                <a:gd name="T13" fmla="*/ 0 h 243"/>
                <a:gd name="T14" fmla="*/ 1341 w 1341"/>
                <a:gd name="T15" fmla="*/ 243 h 24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41" h="243">
                  <a:moveTo>
                    <a:pt x="0" y="240"/>
                  </a:moveTo>
                  <a:lnTo>
                    <a:pt x="93" y="243"/>
                  </a:lnTo>
                  <a:lnTo>
                    <a:pt x="93" y="0"/>
                  </a:lnTo>
                  <a:lnTo>
                    <a:pt x="134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8839" name="Freeform 388"/>
            <p:cNvSpPr/>
            <p:nvPr/>
          </p:nvSpPr>
          <p:spPr bwMode="auto">
            <a:xfrm>
              <a:off x="367" y="2423"/>
              <a:ext cx="1341" cy="243"/>
            </a:xfrm>
            <a:custGeom>
              <a:avLst/>
              <a:gdLst>
                <a:gd name="T0" fmla="*/ 0 w 1341"/>
                <a:gd name="T1" fmla="*/ 240 h 243"/>
                <a:gd name="T2" fmla="*/ 93 w 1341"/>
                <a:gd name="T3" fmla="*/ 243 h 243"/>
                <a:gd name="T4" fmla="*/ 93 w 1341"/>
                <a:gd name="T5" fmla="*/ 0 h 243"/>
                <a:gd name="T6" fmla="*/ 1341 w 1341"/>
                <a:gd name="T7" fmla="*/ 0 h 24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41"/>
                <a:gd name="T13" fmla="*/ 0 h 243"/>
                <a:gd name="T14" fmla="*/ 1341 w 1341"/>
                <a:gd name="T15" fmla="*/ 243 h 24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41" h="243">
                  <a:moveTo>
                    <a:pt x="0" y="240"/>
                  </a:moveTo>
                  <a:lnTo>
                    <a:pt x="93" y="243"/>
                  </a:lnTo>
                  <a:lnTo>
                    <a:pt x="93" y="0"/>
                  </a:lnTo>
                  <a:lnTo>
                    <a:pt x="134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8840" name="Line 389"/>
            <p:cNvSpPr>
              <a:spLocks noChangeShapeType="1"/>
            </p:cNvSpPr>
            <p:nvPr/>
          </p:nvSpPr>
          <p:spPr bwMode="auto">
            <a:xfrm>
              <a:off x="681" y="1407"/>
              <a:ext cx="3" cy="1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841" name="Freeform 390"/>
            <p:cNvSpPr/>
            <p:nvPr/>
          </p:nvSpPr>
          <p:spPr bwMode="auto">
            <a:xfrm>
              <a:off x="888" y="1407"/>
              <a:ext cx="1" cy="189"/>
            </a:xfrm>
            <a:custGeom>
              <a:avLst/>
              <a:gdLst>
                <a:gd name="T0" fmla="*/ 1 w 1"/>
                <a:gd name="T1" fmla="*/ 0 h 189"/>
                <a:gd name="T2" fmla="*/ 0 w 1"/>
                <a:gd name="T3" fmla="*/ 189 h 189"/>
                <a:gd name="T4" fmla="*/ 0 60000 65536"/>
                <a:gd name="T5" fmla="*/ 0 60000 65536"/>
                <a:gd name="T6" fmla="*/ 0 w 1"/>
                <a:gd name="T7" fmla="*/ 0 h 189"/>
                <a:gd name="T8" fmla="*/ 1 w 1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9">
                  <a:moveTo>
                    <a:pt x="1" y="0"/>
                  </a:moveTo>
                  <a:lnTo>
                    <a:pt x="0" y="189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842" name="Line 391"/>
            <p:cNvSpPr>
              <a:spLocks noChangeShapeType="1"/>
            </p:cNvSpPr>
            <p:nvPr/>
          </p:nvSpPr>
          <p:spPr bwMode="auto">
            <a:xfrm>
              <a:off x="681" y="2423"/>
              <a:ext cx="3" cy="1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843" name="Freeform 392"/>
            <p:cNvSpPr/>
            <p:nvPr/>
          </p:nvSpPr>
          <p:spPr bwMode="auto">
            <a:xfrm>
              <a:off x="885" y="2423"/>
              <a:ext cx="4" cy="193"/>
            </a:xfrm>
            <a:custGeom>
              <a:avLst/>
              <a:gdLst>
                <a:gd name="T0" fmla="*/ 4 w 4"/>
                <a:gd name="T1" fmla="*/ 0 h 193"/>
                <a:gd name="T2" fmla="*/ 0 w 4"/>
                <a:gd name="T3" fmla="*/ 193 h 193"/>
                <a:gd name="T4" fmla="*/ 0 60000 65536"/>
                <a:gd name="T5" fmla="*/ 0 60000 65536"/>
                <a:gd name="T6" fmla="*/ 0 w 4"/>
                <a:gd name="T7" fmla="*/ 0 h 193"/>
                <a:gd name="T8" fmla="*/ 4 w 4"/>
                <a:gd name="T9" fmla="*/ 193 h 19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93">
                  <a:moveTo>
                    <a:pt x="4" y="0"/>
                  </a:moveTo>
                  <a:lnTo>
                    <a:pt x="0" y="193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58844" name="Group 393"/>
            <p:cNvGrpSpPr/>
            <p:nvPr/>
          </p:nvGrpSpPr>
          <p:grpSpPr bwMode="auto">
            <a:xfrm>
              <a:off x="1324" y="1019"/>
              <a:ext cx="202" cy="277"/>
              <a:chOff x="1324" y="1019"/>
              <a:chExt cx="202" cy="277"/>
            </a:xfrm>
          </p:grpSpPr>
          <p:sp>
            <p:nvSpPr>
              <p:cNvPr id="158990" name="Line 394"/>
              <p:cNvSpPr>
                <a:spLocks noChangeShapeType="1"/>
              </p:cNvSpPr>
              <p:nvPr/>
            </p:nvSpPr>
            <p:spPr bwMode="auto">
              <a:xfrm>
                <a:off x="1424" y="1199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8991" name="Freeform 395"/>
              <p:cNvSpPr/>
              <p:nvPr/>
            </p:nvSpPr>
            <p:spPr bwMode="auto">
              <a:xfrm>
                <a:off x="1372" y="129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  <a:gd name="T6" fmla="*/ 0 w 120"/>
                  <a:gd name="T7" fmla="*/ 0 h 1"/>
                  <a:gd name="T8" fmla="*/ 120 w 12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8992" name="Freeform 396"/>
              <p:cNvSpPr/>
              <p:nvPr/>
            </p:nvSpPr>
            <p:spPr bwMode="auto">
              <a:xfrm>
                <a:off x="1324" y="1019"/>
                <a:ext cx="102" cy="141"/>
              </a:xfrm>
              <a:custGeom>
                <a:avLst/>
                <a:gdLst>
                  <a:gd name="T0" fmla="*/ 0 w 102"/>
                  <a:gd name="T1" fmla="*/ 0 h 141"/>
                  <a:gd name="T2" fmla="*/ 102 w 102"/>
                  <a:gd name="T3" fmla="*/ 0 h 141"/>
                  <a:gd name="T4" fmla="*/ 102 w 102"/>
                  <a:gd name="T5" fmla="*/ 141 h 141"/>
                  <a:gd name="T6" fmla="*/ 0 60000 65536"/>
                  <a:gd name="T7" fmla="*/ 0 60000 65536"/>
                  <a:gd name="T8" fmla="*/ 0 60000 65536"/>
                  <a:gd name="T9" fmla="*/ 0 w 102"/>
                  <a:gd name="T10" fmla="*/ 0 h 141"/>
                  <a:gd name="T11" fmla="*/ 102 w 102"/>
                  <a:gd name="T12" fmla="*/ 141 h 1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2" h="141">
                    <a:moveTo>
                      <a:pt x="0" y="0"/>
                    </a:moveTo>
                    <a:lnTo>
                      <a:pt x="102" y="0"/>
                    </a:lnTo>
                    <a:lnTo>
                      <a:pt x="102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58993" name="Group 397"/>
              <p:cNvGrpSpPr/>
              <p:nvPr/>
            </p:nvGrpSpPr>
            <p:grpSpPr bwMode="auto">
              <a:xfrm>
                <a:off x="1324" y="1151"/>
                <a:ext cx="202" cy="49"/>
                <a:chOff x="432" y="1152"/>
                <a:chExt cx="202" cy="49"/>
              </a:xfrm>
            </p:grpSpPr>
            <p:sp>
              <p:nvSpPr>
                <p:cNvPr id="158994" name="Freeform 398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8995" name="Freeform 399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58845" name="Group 400"/>
            <p:cNvGrpSpPr/>
            <p:nvPr/>
          </p:nvGrpSpPr>
          <p:grpSpPr bwMode="auto">
            <a:xfrm>
              <a:off x="1324" y="1739"/>
              <a:ext cx="202" cy="277"/>
              <a:chOff x="1324" y="1739"/>
              <a:chExt cx="202" cy="277"/>
            </a:xfrm>
          </p:grpSpPr>
          <p:sp>
            <p:nvSpPr>
              <p:cNvPr id="158984" name="Line 401"/>
              <p:cNvSpPr>
                <a:spLocks noChangeShapeType="1"/>
              </p:cNvSpPr>
              <p:nvPr/>
            </p:nvSpPr>
            <p:spPr bwMode="auto">
              <a:xfrm>
                <a:off x="1424" y="1919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8985" name="Freeform 402"/>
              <p:cNvSpPr/>
              <p:nvPr/>
            </p:nvSpPr>
            <p:spPr bwMode="auto">
              <a:xfrm>
                <a:off x="1372" y="201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  <a:gd name="T6" fmla="*/ 0 w 120"/>
                  <a:gd name="T7" fmla="*/ 0 h 1"/>
                  <a:gd name="T8" fmla="*/ 120 w 12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8986" name="Freeform 403"/>
              <p:cNvSpPr/>
              <p:nvPr/>
            </p:nvSpPr>
            <p:spPr bwMode="auto">
              <a:xfrm>
                <a:off x="1324" y="1739"/>
                <a:ext cx="102" cy="141"/>
              </a:xfrm>
              <a:custGeom>
                <a:avLst/>
                <a:gdLst>
                  <a:gd name="T0" fmla="*/ 0 w 102"/>
                  <a:gd name="T1" fmla="*/ 0 h 141"/>
                  <a:gd name="T2" fmla="*/ 102 w 102"/>
                  <a:gd name="T3" fmla="*/ 0 h 141"/>
                  <a:gd name="T4" fmla="*/ 102 w 102"/>
                  <a:gd name="T5" fmla="*/ 141 h 141"/>
                  <a:gd name="T6" fmla="*/ 0 60000 65536"/>
                  <a:gd name="T7" fmla="*/ 0 60000 65536"/>
                  <a:gd name="T8" fmla="*/ 0 60000 65536"/>
                  <a:gd name="T9" fmla="*/ 0 w 102"/>
                  <a:gd name="T10" fmla="*/ 0 h 141"/>
                  <a:gd name="T11" fmla="*/ 102 w 102"/>
                  <a:gd name="T12" fmla="*/ 141 h 1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2" h="141">
                    <a:moveTo>
                      <a:pt x="0" y="0"/>
                    </a:moveTo>
                    <a:lnTo>
                      <a:pt x="102" y="0"/>
                    </a:lnTo>
                    <a:lnTo>
                      <a:pt x="102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58987" name="Group 404"/>
              <p:cNvGrpSpPr/>
              <p:nvPr/>
            </p:nvGrpSpPr>
            <p:grpSpPr bwMode="auto">
              <a:xfrm>
                <a:off x="1324" y="1871"/>
                <a:ext cx="202" cy="49"/>
                <a:chOff x="432" y="1152"/>
                <a:chExt cx="202" cy="49"/>
              </a:xfrm>
            </p:grpSpPr>
            <p:sp>
              <p:nvSpPr>
                <p:cNvPr id="158988" name="Freeform 405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8989" name="Freeform 406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58846" name="Group 407"/>
            <p:cNvGrpSpPr/>
            <p:nvPr/>
          </p:nvGrpSpPr>
          <p:grpSpPr bwMode="auto">
            <a:xfrm>
              <a:off x="1324" y="2747"/>
              <a:ext cx="202" cy="277"/>
              <a:chOff x="1324" y="2747"/>
              <a:chExt cx="202" cy="277"/>
            </a:xfrm>
          </p:grpSpPr>
          <p:sp>
            <p:nvSpPr>
              <p:cNvPr id="158978" name="Line 408"/>
              <p:cNvSpPr>
                <a:spLocks noChangeShapeType="1"/>
              </p:cNvSpPr>
              <p:nvPr/>
            </p:nvSpPr>
            <p:spPr bwMode="auto">
              <a:xfrm>
                <a:off x="1424" y="2927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8979" name="Freeform 409"/>
              <p:cNvSpPr/>
              <p:nvPr/>
            </p:nvSpPr>
            <p:spPr bwMode="auto">
              <a:xfrm>
                <a:off x="1372" y="3023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  <a:gd name="T6" fmla="*/ 0 w 120"/>
                  <a:gd name="T7" fmla="*/ 0 h 1"/>
                  <a:gd name="T8" fmla="*/ 120 w 12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8980" name="Freeform 410"/>
              <p:cNvSpPr/>
              <p:nvPr/>
            </p:nvSpPr>
            <p:spPr bwMode="auto">
              <a:xfrm>
                <a:off x="1324" y="2747"/>
                <a:ext cx="102" cy="141"/>
              </a:xfrm>
              <a:custGeom>
                <a:avLst/>
                <a:gdLst>
                  <a:gd name="T0" fmla="*/ 0 w 102"/>
                  <a:gd name="T1" fmla="*/ 0 h 141"/>
                  <a:gd name="T2" fmla="*/ 102 w 102"/>
                  <a:gd name="T3" fmla="*/ 0 h 141"/>
                  <a:gd name="T4" fmla="*/ 102 w 102"/>
                  <a:gd name="T5" fmla="*/ 141 h 141"/>
                  <a:gd name="T6" fmla="*/ 0 60000 65536"/>
                  <a:gd name="T7" fmla="*/ 0 60000 65536"/>
                  <a:gd name="T8" fmla="*/ 0 60000 65536"/>
                  <a:gd name="T9" fmla="*/ 0 w 102"/>
                  <a:gd name="T10" fmla="*/ 0 h 141"/>
                  <a:gd name="T11" fmla="*/ 102 w 102"/>
                  <a:gd name="T12" fmla="*/ 141 h 1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2" h="141">
                    <a:moveTo>
                      <a:pt x="0" y="0"/>
                    </a:moveTo>
                    <a:lnTo>
                      <a:pt x="102" y="0"/>
                    </a:lnTo>
                    <a:lnTo>
                      <a:pt x="102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58981" name="Group 411"/>
              <p:cNvGrpSpPr/>
              <p:nvPr/>
            </p:nvGrpSpPr>
            <p:grpSpPr bwMode="auto">
              <a:xfrm>
                <a:off x="1324" y="2879"/>
                <a:ext cx="202" cy="49"/>
                <a:chOff x="432" y="1152"/>
                <a:chExt cx="202" cy="49"/>
              </a:xfrm>
            </p:grpSpPr>
            <p:sp>
              <p:nvSpPr>
                <p:cNvPr id="158982" name="Freeform 412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8983" name="Freeform 413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58847" name="Freeform 414"/>
            <p:cNvSpPr/>
            <p:nvPr/>
          </p:nvSpPr>
          <p:spPr bwMode="auto">
            <a:xfrm>
              <a:off x="1315" y="696"/>
              <a:ext cx="108" cy="237"/>
            </a:xfrm>
            <a:custGeom>
              <a:avLst/>
              <a:gdLst>
                <a:gd name="T0" fmla="*/ 0 w 108"/>
                <a:gd name="T1" fmla="*/ 237 h 237"/>
                <a:gd name="T2" fmla="*/ 108 w 108"/>
                <a:gd name="T3" fmla="*/ 237 h 237"/>
                <a:gd name="T4" fmla="*/ 108 w 108"/>
                <a:gd name="T5" fmla="*/ 0 h 237"/>
                <a:gd name="T6" fmla="*/ 0 60000 65536"/>
                <a:gd name="T7" fmla="*/ 0 60000 65536"/>
                <a:gd name="T8" fmla="*/ 0 60000 65536"/>
                <a:gd name="T9" fmla="*/ 0 w 108"/>
                <a:gd name="T10" fmla="*/ 0 h 237"/>
                <a:gd name="T11" fmla="*/ 108 w 108"/>
                <a:gd name="T12" fmla="*/ 237 h 23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8" h="237">
                  <a:moveTo>
                    <a:pt x="0" y="237"/>
                  </a:moveTo>
                  <a:lnTo>
                    <a:pt x="108" y="237"/>
                  </a:lnTo>
                  <a:lnTo>
                    <a:pt x="108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8848" name="Freeform 415"/>
            <p:cNvSpPr/>
            <p:nvPr/>
          </p:nvSpPr>
          <p:spPr bwMode="auto">
            <a:xfrm>
              <a:off x="1327" y="1416"/>
              <a:ext cx="96" cy="243"/>
            </a:xfrm>
            <a:custGeom>
              <a:avLst/>
              <a:gdLst>
                <a:gd name="T0" fmla="*/ 0 w 96"/>
                <a:gd name="T1" fmla="*/ 243 h 243"/>
                <a:gd name="T2" fmla="*/ 96 w 96"/>
                <a:gd name="T3" fmla="*/ 243 h 243"/>
                <a:gd name="T4" fmla="*/ 96 w 96"/>
                <a:gd name="T5" fmla="*/ 0 h 243"/>
                <a:gd name="T6" fmla="*/ 0 60000 65536"/>
                <a:gd name="T7" fmla="*/ 0 60000 65536"/>
                <a:gd name="T8" fmla="*/ 0 60000 65536"/>
                <a:gd name="T9" fmla="*/ 0 w 96"/>
                <a:gd name="T10" fmla="*/ 0 h 243"/>
                <a:gd name="T11" fmla="*/ 96 w 96"/>
                <a:gd name="T12" fmla="*/ 243 h 24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6" h="243">
                  <a:moveTo>
                    <a:pt x="0" y="243"/>
                  </a:moveTo>
                  <a:lnTo>
                    <a:pt x="96" y="243"/>
                  </a:ln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8849" name="Freeform 416"/>
            <p:cNvSpPr/>
            <p:nvPr/>
          </p:nvSpPr>
          <p:spPr bwMode="auto">
            <a:xfrm>
              <a:off x="1327" y="2427"/>
              <a:ext cx="98" cy="249"/>
            </a:xfrm>
            <a:custGeom>
              <a:avLst/>
              <a:gdLst>
                <a:gd name="T0" fmla="*/ 0 w 98"/>
                <a:gd name="T1" fmla="*/ 249 h 249"/>
                <a:gd name="T2" fmla="*/ 96 w 98"/>
                <a:gd name="T3" fmla="*/ 249 h 249"/>
                <a:gd name="T4" fmla="*/ 98 w 98"/>
                <a:gd name="T5" fmla="*/ 0 h 249"/>
                <a:gd name="T6" fmla="*/ 0 60000 65536"/>
                <a:gd name="T7" fmla="*/ 0 60000 65536"/>
                <a:gd name="T8" fmla="*/ 0 60000 65536"/>
                <a:gd name="T9" fmla="*/ 0 w 98"/>
                <a:gd name="T10" fmla="*/ 0 h 249"/>
                <a:gd name="T11" fmla="*/ 98 w 98"/>
                <a:gd name="T12" fmla="*/ 249 h 2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8" h="249">
                  <a:moveTo>
                    <a:pt x="0" y="249"/>
                  </a:moveTo>
                  <a:lnTo>
                    <a:pt x="96" y="249"/>
                  </a:lnTo>
                  <a:lnTo>
                    <a:pt x="98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58850" name="Group 417"/>
            <p:cNvGrpSpPr/>
            <p:nvPr/>
          </p:nvGrpSpPr>
          <p:grpSpPr bwMode="auto">
            <a:xfrm>
              <a:off x="4299" y="526"/>
              <a:ext cx="231" cy="49"/>
              <a:chOff x="4299" y="526"/>
              <a:chExt cx="231" cy="49"/>
            </a:xfrm>
          </p:grpSpPr>
          <p:sp>
            <p:nvSpPr>
              <p:cNvPr id="158976" name="Freeform 418"/>
              <p:cNvSpPr/>
              <p:nvPr/>
            </p:nvSpPr>
            <p:spPr bwMode="auto">
              <a:xfrm rot="5400000">
                <a:off x="4412" y="467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  <a:gd name="T6" fmla="*/ 0 w 1"/>
                  <a:gd name="T7" fmla="*/ 0 h 120"/>
                  <a:gd name="T8" fmla="*/ 1 w 1"/>
                  <a:gd name="T9" fmla="*/ 120 h 1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8977" name="Freeform 419"/>
              <p:cNvSpPr/>
              <p:nvPr/>
            </p:nvSpPr>
            <p:spPr bwMode="auto">
              <a:xfrm rot="5400000">
                <a:off x="4414" y="459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  <a:gd name="T6" fmla="*/ 0 w 1"/>
                  <a:gd name="T7" fmla="*/ 0 h 231"/>
                  <a:gd name="T8" fmla="*/ 1 w 1"/>
                  <a:gd name="T9" fmla="*/ 231 h 23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58851" name="Freeform 420"/>
            <p:cNvSpPr/>
            <p:nvPr/>
          </p:nvSpPr>
          <p:spPr bwMode="auto">
            <a:xfrm>
              <a:off x="2617" y="579"/>
              <a:ext cx="1761" cy="120"/>
            </a:xfrm>
            <a:custGeom>
              <a:avLst/>
              <a:gdLst>
                <a:gd name="T0" fmla="*/ 1761 w 1761"/>
                <a:gd name="T1" fmla="*/ 0 h 120"/>
                <a:gd name="T2" fmla="*/ 1761 w 1761"/>
                <a:gd name="T3" fmla="*/ 117 h 120"/>
                <a:gd name="T4" fmla="*/ 0 w 1761"/>
                <a:gd name="T5" fmla="*/ 120 h 120"/>
                <a:gd name="T6" fmla="*/ 0 60000 65536"/>
                <a:gd name="T7" fmla="*/ 0 60000 65536"/>
                <a:gd name="T8" fmla="*/ 0 60000 65536"/>
                <a:gd name="T9" fmla="*/ 0 w 1761"/>
                <a:gd name="T10" fmla="*/ 0 h 120"/>
                <a:gd name="T11" fmla="*/ 1761 w 1761"/>
                <a:gd name="T12" fmla="*/ 120 h 1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61" h="120">
                  <a:moveTo>
                    <a:pt x="1761" y="0"/>
                  </a:moveTo>
                  <a:lnTo>
                    <a:pt x="1761" y="117"/>
                  </a:lnTo>
                  <a:lnTo>
                    <a:pt x="0" y="12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8852" name="Freeform 421"/>
            <p:cNvSpPr/>
            <p:nvPr/>
          </p:nvSpPr>
          <p:spPr bwMode="auto">
            <a:xfrm>
              <a:off x="2620" y="1296"/>
              <a:ext cx="1758" cy="117"/>
            </a:xfrm>
            <a:custGeom>
              <a:avLst/>
              <a:gdLst>
                <a:gd name="T0" fmla="*/ 1758 w 1758"/>
                <a:gd name="T1" fmla="*/ 0 h 117"/>
                <a:gd name="T2" fmla="*/ 1758 w 1758"/>
                <a:gd name="T3" fmla="*/ 117 h 117"/>
                <a:gd name="T4" fmla="*/ 0 w 1758"/>
                <a:gd name="T5" fmla="*/ 114 h 117"/>
                <a:gd name="T6" fmla="*/ 0 60000 65536"/>
                <a:gd name="T7" fmla="*/ 0 60000 65536"/>
                <a:gd name="T8" fmla="*/ 0 60000 65536"/>
                <a:gd name="T9" fmla="*/ 0 w 1758"/>
                <a:gd name="T10" fmla="*/ 0 h 117"/>
                <a:gd name="T11" fmla="*/ 1758 w 1758"/>
                <a:gd name="T12" fmla="*/ 117 h 1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58" h="117">
                  <a:moveTo>
                    <a:pt x="1758" y="0"/>
                  </a:moveTo>
                  <a:lnTo>
                    <a:pt x="1758" y="117"/>
                  </a:lnTo>
                  <a:lnTo>
                    <a:pt x="0" y="11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8853" name="Freeform 422"/>
            <p:cNvSpPr/>
            <p:nvPr/>
          </p:nvSpPr>
          <p:spPr bwMode="auto">
            <a:xfrm>
              <a:off x="2626" y="2352"/>
              <a:ext cx="1752" cy="120"/>
            </a:xfrm>
            <a:custGeom>
              <a:avLst/>
              <a:gdLst>
                <a:gd name="T0" fmla="*/ 1752 w 1752"/>
                <a:gd name="T1" fmla="*/ 0 h 120"/>
                <a:gd name="T2" fmla="*/ 1752 w 1752"/>
                <a:gd name="T3" fmla="*/ 117 h 120"/>
                <a:gd name="T4" fmla="*/ 0 w 1752"/>
                <a:gd name="T5" fmla="*/ 120 h 120"/>
                <a:gd name="T6" fmla="*/ 0 60000 65536"/>
                <a:gd name="T7" fmla="*/ 0 60000 65536"/>
                <a:gd name="T8" fmla="*/ 0 60000 65536"/>
                <a:gd name="T9" fmla="*/ 0 w 1752"/>
                <a:gd name="T10" fmla="*/ 0 h 120"/>
                <a:gd name="T11" fmla="*/ 1752 w 1752"/>
                <a:gd name="T12" fmla="*/ 120 h 1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52" h="120">
                  <a:moveTo>
                    <a:pt x="1752" y="0"/>
                  </a:moveTo>
                  <a:lnTo>
                    <a:pt x="1752" y="117"/>
                  </a:lnTo>
                  <a:lnTo>
                    <a:pt x="0" y="12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58854" name="Group 423"/>
            <p:cNvGrpSpPr/>
            <p:nvPr/>
          </p:nvGrpSpPr>
          <p:grpSpPr bwMode="auto">
            <a:xfrm>
              <a:off x="4299" y="1246"/>
              <a:ext cx="231" cy="49"/>
              <a:chOff x="4299" y="1246"/>
              <a:chExt cx="231" cy="49"/>
            </a:xfrm>
          </p:grpSpPr>
          <p:sp>
            <p:nvSpPr>
              <p:cNvPr id="158974" name="Freeform 424"/>
              <p:cNvSpPr/>
              <p:nvPr/>
            </p:nvSpPr>
            <p:spPr bwMode="auto">
              <a:xfrm rot="5400000">
                <a:off x="4412" y="1187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  <a:gd name="T6" fmla="*/ 0 w 1"/>
                  <a:gd name="T7" fmla="*/ 0 h 120"/>
                  <a:gd name="T8" fmla="*/ 1 w 1"/>
                  <a:gd name="T9" fmla="*/ 120 h 1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8975" name="Freeform 425"/>
              <p:cNvSpPr/>
              <p:nvPr/>
            </p:nvSpPr>
            <p:spPr bwMode="auto">
              <a:xfrm rot="5400000">
                <a:off x="4414" y="1179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  <a:gd name="T6" fmla="*/ 0 w 1"/>
                  <a:gd name="T7" fmla="*/ 0 h 231"/>
                  <a:gd name="T8" fmla="*/ 1 w 1"/>
                  <a:gd name="T9" fmla="*/ 231 h 23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58855" name="Group 426"/>
            <p:cNvGrpSpPr/>
            <p:nvPr/>
          </p:nvGrpSpPr>
          <p:grpSpPr bwMode="auto">
            <a:xfrm>
              <a:off x="4299" y="2302"/>
              <a:ext cx="231" cy="49"/>
              <a:chOff x="4299" y="2302"/>
              <a:chExt cx="231" cy="49"/>
            </a:xfrm>
          </p:grpSpPr>
          <p:sp>
            <p:nvSpPr>
              <p:cNvPr id="158972" name="Freeform 427"/>
              <p:cNvSpPr/>
              <p:nvPr/>
            </p:nvSpPr>
            <p:spPr bwMode="auto">
              <a:xfrm rot="5400000">
                <a:off x="4412" y="2243"/>
                <a:ext cx="1" cy="120"/>
              </a:xfrm>
              <a:custGeom>
                <a:avLst/>
                <a:gdLst>
                  <a:gd name="T0" fmla="*/ 0 w 1"/>
                  <a:gd name="T1" fmla="*/ 0 h 120"/>
                  <a:gd name="T2" fmla="*/ 0 w 1"/>
                  <a:gd name="T3" fmla="*/ 120 h 120"/>
                  <a:gd name="T4" fmla="*/ 0 60000 65536"/>
                  <a:gd name="T5" fmla="*/ 0 60000 65536"/>
                  <a:gd name="T6" fmla="*/ 0 w 1"/>
                  <a:gd name="T7" fmla="*/ 0 h 120"/>
                  <a:gd name="T8" fmla="*/ 1 w 1"/>
                  <a:gd name="T9" fmla="*/ 120 h 1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20">
                    <a:moveTo>
                      <a:pt x="0" y="0"/>
                    </a:moveTo>
                    <a:lnTo>
                      <a:pt x="0" y="12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8973" name="Freeform 428"/>
              <p:cNvSpPr/>
              <p:nvPr/>
            </p:nvSpPr>
            <p:spPr bwMode="auto">
              <a:xfrm rot="5400000">
                <a:off x="4414" y="2235"/>
                <a:ext cx="1" cy="231"/>
              </a:xfrm>
              <a:custGeom>
                <a:avLst/>
                <a:gdLst>
                  <a:gd name="T0" fmla="*/ 0 w 1"/>
                  <a:gd name="T1" fmla="*/ 0 h 231"/>
                  <a:gd name="T2" fmla="*/ 0 w 1"/>
                  <a:gd name="T3" fmla="*/ 231 h 231"/>
                  <a:gd name="T4" fmla="*/ 0 60000 65536"/>
                  <a:gd name="T5" fmla="*/ 0 60000 65536"/>
                  <a:gd name="T6" fmla="*/ 0 w 1"/>
                  <a:gd name="T7" fmla="*/ 0 h 231"/>
                  <a:gd name="T8" fmla="*/ 1 w 1"/>
                  <a:gd name="T9" fmla="*/ 231 h 23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31">
                    <a:moveTo>
                      <a:pt x="0" y="0"/>
                    </a:moveTo>
                    <a:lnTo>
                      <a:pt x="0" y="23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58856" name="Group 429"/>
            <p:cNvGrpSpPr/>
            <p:nvPr/>
          </p:nvGrpSpPr>
          <p:grpSpPr bwMode="auto">
            <a:xfrm>
              <a:off x="2706" y="702"/>
              <a:ext cx="251" cy="594"/>
              <a:chOff x="2706" y="702"/>
              <a:chExt cx="251" cy="594"/>
            </a:xfrm>
          </p:grpSpPr>
          <p:grpSp>
            <p:nvGrpSpPr>
              <p:cNvPr id="158962" name="Group 430"/>
              <p:cNvGrpSpPr/>
              <p:nvPr/>
            </p:nvGrpSpPr>
            <p:grpSpPr bwMode="auto">
              <a:xfrm rot="10800000">
                <a:off x="2908" y="864"/>
                <a:ext cx="49" cy="231"/>
                <a:chOff x="1586" y="1334"/>
                <a:chExt cx="49" cy="231"/>
              </a:xfrm>
            </p:grpSpPr>
            <p:sp>
              <p:nvSpPr>
                <p:cNvPr id="158970" name="Freeform 431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  <a:gd name="T6" fmla="*/ 0 w 1"/>
                    <a:gd name="T7" fmla="*/ 0 h 120"/>
                    <a:gd name="T8" fmla="*/ 1 w 1"/>
                    <a:gd name="T9" fmla="*/ 120 h 12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58971" name="Freeform 432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  <a:gd name="T6" fmla="*/ 0 w 1"/>
                    <a:gd name="T7" fmla="*/ 0 h 231"/>
                    <a:gd name="T8" fmla="*/ 1 w 1"/>
                    <a:gd name="T9" fmla="*/ 231 h 23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58963" name="Line 433"/>
              <p:cNvSpPr>
                <a:spLocks noChangeShapeType="1"/>
              </p:cNvSpPr>
              <p:nvPr/>
            </p:nvSpPr>
            <p:spPr bwMode="auto">
              <a:xfrm>
                <a:off x="2806" y="1199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8964" name="Freeform 434"/>
              <p:cNvSpPr/>
              <p:nvPr/>
            </p:nvSpPr>
            <p:spPr bwMode="auto">
              <a:xfrm>
                <a:off x="2754" y="129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  <a:gd name="T6" fmla="*/ 0 w 120"/>
                  <a:gd name="T7" fmla="*/ 0 h 1"/>
                  <a:gd name="T8" fmla="*/ 120 w 12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8965" name="Freeform 435"/>
              <p:cNvSpPr/>
              <p:nvPr/>
            </p:nvSpPr>
            <p:spPr bwMode="auto">
              <a:xfrm>
                <a:off x="2808" y="1019"/>
                <a:ext cx="103" cy="141"/>
              </a:xfrm>
              <a:custGeom>
                <a:avLst/>
                <a:gdLst>
                  <a:gd name="T0" fmla="*/ 103 w 103"/>
                  <a:gd name="T1" fmla="*/ 1 h 141"/>
                  <a:gd name="T2" fmla="*/ 0 w 103"/>
                  <a:gd name="T3" fmla="*/ 0 h 141"/>
                  <a:gd name="T4" fmla="*/ 0 w 103"/>
                  <a:gd name="T5" fmla="*/ 141 h 141"/>
                  <a:gd name="T6" fmla="*/ 0 60000 65536"/>
                  <a:gd name="T7" fmla="*/ 0 60000 65536"/>
                  <a:gd name="T8" fmla="*/ 0 60000 65536"/>
                  <a:gd name="T9" fmla="*/ 0 w 103"/>
                  <a:gd name="T10" fmla="*/ 0 h 141"/>
                  <a:gd name="T11" fmla="*/ 103 w 103"/>
                  <a:gd name="T12" fmla="*/ 141 h 1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3" h="141">
                    <a:moveTo>
                      <a:pt x="103" y="1"/>
                    </a:moveTo>
                    <a:lnTo>
                      <a:pt x="0" y="0"/>
                    </a:lnTo>
                    <a:lnTo>
                      <a:pt x="0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58966" name="Group 436"/>
              <p:cNvGrpSpPr/>
              <p:nvPr/>
            </p:nvGrpSpPr>
            <p:grpSpPr bwMode="auto">
              <a:xfrm>
                <a:off x="2706" y="1151"/>
                <a:ext cx="202" cy="49"/>
                <a:chOff x="432" y="1152"/>
                <a:chExt cx="202" cy="49"/>
              </a:xfrm>
            </p:grpSpPr>
            <p:sp>
              <p:nvSpPr>
                <p:cNvPr id="158968" name="Freeform 437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8969" name="Freeform 438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58967" name="Freeform 439"/>
              <p:cNvSpPr/>
              <p:nvPr/>
            </p:nvSpPr>
            <p:spPr bwMode="auto">
              <a:xfrm>
                <a:off x="2806" y="702"/>
                <a:ext cx="99" cy="225"/>
              </a:xfrm>
              <a:custGeom>
                <a:avLst/>
                <a:gdLst>
                  <a:gd name="T0" fmla="*/ 0 w 99"/>
                  <a:gd name="T1" fmla="*/ 0 h 225"/>
                  <a:gd name="T2" fmla="*/ 0 w 99"/>
                  <a:gd name="T3" fmla="*/ 225 h 225"/>
                  <a:gd name="T4" fmla="*/ 99 w 99"/>
                  <a:gd name="T5" fmla="*/ 225 h 225"/>
                  <a:gd name="T6" fmla="*/ 0 60000 65536"/>
                  <a:gd name="T7" fmla="*/ 0 60000 65536"/>
                  <a:gd name="T8" fmla="*/ 0 60000 65536"/>
                  <a:gd name="T9" fmla="*/ 0 w 99"/>
                  <a:gd name="T10" fmla="*/ 0 h 225"/>
                  <a:gd name="T11" fmla="*/ 99 w 99"/>
                  <a:gd name="T12" fmla="*/ 225 h 22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9" h="225">
                    <a:moveTo>
                      <a:pt x="0" y="0"/>
                    </a:moveTo>
                    <a:lnTo>
                      <a:pt x="0" y="225"/>
                    </a:lnTo>
                    <a:lnTo>
                      <a:pt x="99" y="22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58857" name="Group 440"/>
            <p:cNvGrpSpPr/>
            <p:nvPr/>
          </p:nvGrpSpPr>
          <p:grpSpPr bwMode="auto">
            <a:xfrm>
              <a:off x="2716" y="1406"/>
              <a:ext cx="251" cy="580"/>
              <a:chOff x="2716" y="1406"/>
              <a:chExt cx="251" cy="580"/>
            </a:xfrm>
          </p:grpSpPr>
          <p:grpSp>
            <p:nvGrpSpPr>
              <p:cNvPr id="158952" name="Group 441"/>
              <p:cNvGrpSpPr/>
              <p:nvPr/>
            </p:nvGrpSpPr>
            <p:grpSpPr bwMode="auto">
              <a:xfrm rot="10800000">
                <a:off x="2918" y="1554"/>
                <a:ext cx="49" cy="231"/>
                <a:chOff x="1586" y="1334"/>
                <a:chExt cx="49" cy="231"/>
              </a:xfrm>
            </p:grpSpPr>
            <p:sp>
              <p:nvSpPr>
                <p:cNvPr id="158960" name="Freeform 442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  <a:gd name="T6" fmla="*/ 0 w 1"/>
                    <a:gd name="T7" fmla="*/ 0 h 120"/>
                    <a:gd name="T8" fmla="*/ 1 w 1"/>
                    <a:gd name="T9" fmla="*/ 120 h 12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58961" name="Freeform 443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  <a:gd name="T6" fmla="*/ 0 w 1"/>
                    <a:gd name="T7" fmla="*/ 0 h 231"/>
                    <a:gd name="T8" fmla="*/ 1 w 1"/>
                    <a:gd name="T9" fmla="*/ 231 h 23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58953" name="Line 444"/>
              <p:cNvSpPr>
                <a:spLocks noChangeShapeType="1"/>
              </p:cNvSpPr>
              <p:nvPr/>
            </p:nvSpPr>
            <p:spPr bwMode="auto">
              <a:xfrm>
                <a:off x="2816" y="1889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8954" name="Freeform 445"/>
              <p:cNvSpPr/>
              <p:nvPr/>
            </p:nvSpPr>
            <p:spPr bwMode="auto">
              <a:xfrm>
                <a:off x="2764" y="198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  <a:gd name="T6" fmla="*/ 0 w 120"/>
                  <a:gd name="T7" fmla="*/ 0 h 1"/>
                  <a:gd name="T8" fmla="*/ 120 w 12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8955" name="Freeform 446"/>
              <p:cNvSpPr/>
              <p:nvPr/>
            </p:nvSpPr>
            <p:spPr bwMode="auto">
              <a:xfrm>
                <a:off x="2818" y="1709"/>
                <a:ext cx="103" cy="141"/>
              </a:xfrm>
              <a:custGeom>
                <a:avLst/>
                <a:gdLst>
                  <a:gd name="T0" fmla="*/ 103 w 103"/>
                  <a:gd name="T1" fmla="*/ 1 h 141"/>
                  <a:gd name="T2" fmla="*/ 0 w 103"/>
                  <a:gd name="T3" fmla="*/ 0 h 141"/>
                  <a:gd name="T4" fmla="*/ 0 w 103"/>
                  <a:gd name="T5" fmla="*/ 141 h 141"/>
                  <a:gd name="T6" fmla="*/ 0 60000 65536"/>
                  <a:gd name="T7" fmla="*/ 0 60000 65536"/>
                  <a:gd name="T8" fmla="*/ 0 60000 65536"/>
                  <a:gd name="T9" fmla="*/ 0 w 103"/>
                  <a:gd name="T10" fmla="*/ 0 h 141"/>
                  <a:gd name="T11" fmla="*/ 103 w 103"/>
                  <a:gd name="T12" fmla="*/ 141 h 1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3" h="141">
                    <a:moveTo>
                      <a:pt x="103" y="1"/>
                    </a:moveTo>
                    <a:lnTo>
                      <a:pt x="0" y="0"/>
                    </a:lnTo>
                    <a:lnTo>
                      <a:pt x="0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58956" name="Group 447"/>
              <p:cNvGrpSpPr/>
              <p:nvPr/>
            </p:nvGrpSpPr>
            <p:grpSpPr bwMode="auto">
              <a:xfrm>
                <a:off x="2716" y="1841"/>
                <a:ext cx="202" cy="49"/>
                <a:chOff x="432" y="1152"/>
                <a:chExt cx="202" cy="49"/>
              </a:xfrm>
            </p:grpSpPr>
            <p:sp>
              <p:nvSpPr>
                <p:cNvPr id="158958" name="Freeform 448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8959" name="Freeform 449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58957" name="Freeform 450"/>
              <p:cNvSpPr/>
              <p:nvPr/>
            </p:nvSpPr>
            <p:spPr bwMode="auto">
              <a:xfrm>
                <a:off x="2814" y="1406"/>
                <a:ext cx="101" cy="211"/>
              </a:xfrm>
              <a:custGeom>
                <a:avLst/>
                <a:gdLst>
                  <a:gd name="T0" fmla="*/ 0 w 101"/>
                  <a:gd name="T1" fmla="*/ 0 h 211"/>
                  <a:gd name="T2" fmla="*/ 2 w 101"/>
                  <a:gd name="T3" fmla="*/ 211 h 211"/>
                  <a:gd name="T4" fmla="*/ 101 w 101"/>
                  <a:gd name="T5" fmla="*/ 211 h 211"/>
                  <a:gd name="T6" fmla="*/ 0 60000 65536"/>
                  <a:gd name="T7" fmla="*/ 0 60000 65536"/>
                  <a:gd name="T8" fmla="*/ 0 60000 65536"/>
                  <a:gd name="T9" fmla="*/ 0 w 101"/>
                  <a:gd name="T10" fmla="*/ 0 h 211"/>
                  <a:gd name="T11" fmla="*/ 101 w 101"/>
                  <a:gd name="T12" fmla="*/ 211 h 2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1" h="211">
                    <a:moveTo>
                      <a:pt x="0" y="0"/>
                    </a:moveTo>
                    <a:lnTo>
                      <a:pt x="2" y="211"/>
                    </a:lnTo>
                    <a:lnTo>
                      <a:pt x="101" y="21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58858" name="Group 451"/>
            <p:cNvGrpSpPr/>
            <p:nvPr/>
          </p:nvGrpSpPr>
          <p:grpSpPr bwMode="auto">
            <a:xfrm>
              <a:off x="2716" y="2469"/>
              <a:ext cx="251" cy="573"/>
              <a:chOff x="2716" y="2469"/>
              <a:chExt cx="251" cy="573"/>
            </a:xfrm>
          </p:grpSpPr>
          <p:grpSp>
            <p:nvGrpSpPr>
              <p:cNvPr id="158942" name="Group 452"/>
              <p:cNvGrpSpPr/>
              <p:nvPr/>
            </p:nvGrpSpPr>
            <p:grpSpPr bwMode="auto">
              <a:xfrm rot="10800000">
                <a:off x="2918" y="2610"/>
                <a:ext cx="49" cy="231"/>
                <a:chOff x="1586" y="1334"/>
                <a:chExt cx="49" cy="231"/>
              </a:xfrm>
            </p:grpSpPr>
            <p:sp>
              <p:nvSpPr>
                <p:cNvPr id="158950" name="Freeform 453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  <a:gd name="T6" fmla="*/ 0 w 1"/>
                    <a:gd name="T7" fmla="*/ 0 h 120"/>
                    <a:gd name="T8" fmla="*/ 1 w 1"/>
                    <a:gd name="T9" fmla="*/ 120 h 12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58951" name="Freeform 454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  <a:gd name="T6" fmla="*/ 0 w 1"/>
                    <a:gd name="T7" fmla="*/ 0 h 231"/>
                    <a:gd name="T8" fmla="*/ 1 w 1"/>
                    <a:gd name="T9" fmla="*/ 231 h 23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58943" name="Line 455"/>
              <p:cNvSpPr>
                <a:spLocks noChangeShapeType="1"/>
              </p:cNvSpPr>
              <p:nvPr/>
            </p:nvSpPr>
            <p:spPr bwMode="auto">
              <a:xfrm>
                <a:off x="2816" y="2945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8944" name="Freeform 456"/>
              <p:cNvSpPr/>
              <p:nvPr/>
            </p:nvSpPr>
            <p:spPr bwMode="auto">
              <a:xfrm>
                <a:off x="2764" y="3041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  <a:gd name="T6" fmla="*/ 0 w 120"/>
                  <a:gd name="T7" fmla="*/ 0 h 1"/>
                  <a:gd name="T8" fmla="*/ 120 w 12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8945" name="Freeform 457"/>
              <p:cNvSpPr/>
              <p:nvPr/>
            </p:nvSpPr>
            <p:spPr bwMode="auto">
              <a:xfrm>
                <a:off x="2818" y="2765"/>
                <a:ext cx="103" cy="141"/>
              </a:xfrm>
              <a:custGeom>
                <a:avLst/>
                <a:gdLst>
                  <a:gd name="T0" fmla="*/ 103 w 103"/>
                  <a:gd name="T1" fmla="*/ 1 h 141"/>
                  <a:gd name="T2" fmla="*/ 0 w 103"/>
                  <a:gd name="T3" fmla="*/ 0 h 141"/>
                  <a:gd name="T4" fmla="*/ 0 w 103"/>
                  <a:gd name="T5" fmla="*/ 141 h 141"/>
                  <a:gd name="T6" fmla="*/ 0 60000 65536"/>
                  <a:gd name="T7" fmla="*/ 0 60000 65536"/>
                  <a:gd name="T8" fmla="*/ 0 60000 65536"/>
                  <a:gd name="T9" fmla="*/ 0 w 103"/>
                  <a:gd name="T10" fmla="*/ 0 h 141"/>
                  <a:gd name="T11" fmla="*/ 103 w 103"/>
                  <a:gd name="T12" fmla="*/ 141 h 1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3" h="141">
                    <a:moveTo>
                      <a:pt x="103" y="1"/>
                    </a:moveTo>
                    <a:lnTo>
                      <a:pt x="0" y="0"/>
                    </a:lnTo>
                    <a:lnTo>
                      <a:pt x="0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58946" name="Group 458"/>
              <p:cNvGrpSpPr/>
              <p:nvPr/>
            </p:nvGrpSpPr>
            <p:grpSpPr bwMode="auto">
              <a:xfrm>
                <a:off x="2716" y="2897"/>
                <a:ext cx="202" cy="49"/>
                <a:chOff x="432" y="1152"/>
                <a:chExt cx="202" cy="49"/>
              </a:xfrm>
            </p:grpSpPr>
            <p:sp>
              <p:nvSpPr>
                <p:cNvPr id="158948" name="Freeform 459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8949" name="Freeform 460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58947" name="Freeform 461"/>
              <p:cNvSpPr/>
              <p:nvPr/>
            </p:nvSpPr>
            <p:spPr bwMode="auto">
              <a:xfrm>
                <a:off x="2816" y="2469"/>
                <a:ext cx="99" cy="204"/>
              </a:xfrm>
              <a:custGeom>
                <a:avLst/>
                <a:gdLst>
                  <a:gd name="T0" fmla="*/ 1 w 99"/>
                  <a:gd name="T1" fmla="*/ 0 h 204"/>
                  <a:gd name="T2" fmla="*/ 0 w 99"/>
                  <a:gd name="T3" fmla="*/ 204 h 204"/>
                  <a:gd name="T4" fmla="*/ 99 w 99"/>
                  <a:gd name="T5" fmla="*/ 204 h 204"/>
                  <a:gd name="T6" fmla="*/ 0 60000 65536"/>
                  <a:gd name="T7" fmla="*/ 0 60000 65536"/>
                  <a:gd name="T8" fmla="*/ 0 60000 65536"/>
                  <a:gd name="T9" fmla="*/ 0 w 99"/>
                  <a:gd name="T10" fmla="*/ 0 h 204"/>
                  <a:gd name="T11" fmla="*/ 99 w 99"/>
                  <a:gd name="T12" fmla="*/ 204 h 2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9" h="204">
                    <a:moveTo>
                      <a:pt x="1" y="0"/>
                    </a:moveTo>
                    <a:lnTo>
                      <a:pt x="0" y="204"/>
                    </a:lnTo>
                    <a:lnTo>
                      <a:pt x="99" y="20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58859" name="Freeform 462"/>
            <p:cNvSpPr/>
            <p:nvPr/>
          </p:nvSpPr>
          <p:spPr bwMode="auto">
            <a:xfrm>
              <a:off x="2959" y="980"/>
              <a:ext cx="192" cy="2236"/>
            </a:xfrm>
            <a:custGeom>
              <a:avLst/>
              <a:gdLst>
                <a:gd name="T0" fmla="*/ 0 w 192"/>
                <a:gd name="T1" fmla="*/ 0 h 2236"/>
                <a:gd name="T2" fmla="*/ 192 w 192"/>
                <a:gd name="T3" fmla="*/ 1 h 2236"/>
                <a:gd name="T4" fmla="*/ 192 w 192"/>
                <a:gd name="T5" fmla="*/ 2236 h 2236"/>
                <a:gd name="T6" fmla="*/ 0 60000 65536"/>
                <a:gd name="T7" fmla="*/ 0 60000 65536"/>
                <a:gd name="T8" fmla="*/ 0 60000 65536"/>
                <a:gd name="T9" fmla="*/ 0 w 192"/>
                <a:gd name="T10" fmla="*/ 0 h 2236"/>
                <a:gd name="T11" fmla="*/ 192 w 192"/>
                <a:gd name="T12" fmla="*/ 2236 h 22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2" h="2236">
                  <a:moveTo>
                    <a:pt x="0" y="0"/>
                  </a:moveTo>
                  <a:lnTo>
                    <a:pt x="192" y="1"/>
                  </a:lnTo>
                  <a:lnTo>
                    <a:pt x="192" y="223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8860" name="Freeform 463"/>
            <p:cNvSpPr/>
            <p:nvPr/>
          </p:nvSpPr>
          <p:spPr bwMode="auto">
            <a:xfrm>
              <a:off x="2956" y="2112"/>
              <a:ext cx="195" cy="1"/>
            </a:xfrm>
            <a:custGeom>
              <a:avLst/>
              <a:gdLst>
                <a:gd name="T0" fmla="*/ 0 w 195"/>
                <a:gd name="T1" fmla="*/ 1 h 1"/>
                <a:gd name="T2" fmla="*/ 195 w 195"/>
                <a:gd name="T3" fmla="*/ 0 h 1"/>
                <a:gd name="T4" fmla="*/ 0 60000 65536"/>
                <a:gd name="T5" fmla="*/ 0 60000 65536"/>
                <a:gd name="T6" fmla="*/ 0 w 195"/>
                <a:gd name="T7" fmla="*/ 0 h 1"/>
                <a:gd name="T8" fmla="*/ 195 w 19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95" h="1">
                  <a:moveTo>
                    <a:pt x="0" y="1"/>
                  </a:moveTo>
                  <a:lnTo>
                    <a:pt x="19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861" name="Freeform 464"/>
            <p:cNvSpPr/>
            <p:nvPr/>
          </p:nvSpPr>
          <p:spPr bwMode="auto">
            <a:xfrm>
              <a:off x="2956" y="2256"/>
              <a:ext cx="195" cy="1"/>
            </a:xfrm>
            <a:custGeom>
              <a:avLst/>
              <a:gdLst>
                <a:gd name="T0" fmla="*/ 0 w 195"/>
                <a:gd name="T1" fmla="*/ 1 h 1"/>
                <a:gd name="T2" fmla="*/ 195 w 195"/>
                <a:gd name="T3" fmla="*/ 0 h 1"/>
                <a:gd name="T4" fmla="*/ 0 60000 65536"/>
                <a:gd name="T5" fmla="*/ 0 60000 65536"/>
                <a:gd name="T6" fmla="*/ 0 w 195"/>
                <a:gd name="T7" fmla="*/ 0 h 1"/>
                <a:gd name="T8" fmla="*/ 195 w 19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95" h="1">
                  <a:moveTo>
                    <a:pt x="0" y="1"/>
                  </a:moveTo>
                  <a:lnTo>
                    <a:pt x="19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862" name="Freeform 465"/>
            <p:cNvSpPr/>
            <p:nvPr/>
          </p:nvSpPr>
          <p:spPr bwMode="auto">
            <a:xfrm>
              <a:off x="2956" y="2722"/>
              <a:ext cx="195" cy="1"/>
            </a:xfrm>
            <a:custGeom>
              <a:avLst/>
              <a:gdLst>
                <a:gd name="T0" fmla="*/ 0 w 195"/>
                <a:gd name="T1" fmla="*/ 1 h 1"/>
                <a:gd name="T2" fmla="*/ 195 w 195"/>
                <a:gd name="T3" fmla="*/ 0 h 1"/>
                <a:gd name="T4" fmla="*/ 0 60000 65536"/>
                <a:gd name="T5" fmla="*/ 0 60000 65536"/>
                <a:gd name="T6" fmla="*/ 0 w 195"/>
                <a:gd name="T7" fmla="*/ 0 h 1"/>
                <a:gd name="T8" fmla="*/ 195 w 19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95" h="1">
                  <a:moveTo>
                    <a:pt x="0" y="1"/>
                  </a:moveTo>
                  <a:lnTo>
                    <a:pt x="19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863" name="Freeform 466"/>
            <p:cNvSpPr/>
            <p:nvPr/>
          </p:nvSpPr>
          <p:spPr bwMode="auto">
            <a:xfrm>
              <a:off x="3243" y="1410"/>
              <a:ext cx="1" cy="174"/>
            </a:xfrm>
            <a:custGeom>
              <a:avLst/>
              <a:gdLst>
                <a:gd name="T0" fmla="*/ 0 w 1"/>
                <a:gd name="T1" fmla="*/ 0 h 174"/>
                <a:gd name="T2" fmla="*/ 0 w 1"/>
                <a:gd name="T3" fmla="*/ 174 h 174"/>
                <a:gd name="T4" fmla="*/ 0 60000 65536"/>
                <a:gd name="T5" fmla="*/ 0 60000 65536"/>
                <a:gd name="T6" fmla="*/ 0 w 1"/>
                <a:gd name="T7" fmla="*/ 0 h 174"/>
                <a:gd name="T8" fmla="*/ 1 w 1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74">
                  <a:moveTo>
                    <a:pt x="0" y="0"/>
                  </a:moveTo>
                  <a:lnTo>
                    <a:pt x="0" y="174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864" name="Freeform 467"/>
            <p:cNvSpPr/>
            <p:nvPr/>
          </p:nvSpPr>
          <p:spPr bwMode="auto">
            <a:xfrm>
              <a:off x="3389" y="1409"/>
              <a:ext cx="1" cy="183"/>
            </a:xfrm>
            <a:custGeom>
              <a:avLst/>
              <a:gdLst>
                <a:gd name="T0" fmla="*/ 0 w 1"/>
                <a:gd name="T1" fmla="*/ 0 h 183"/>
                <a:gd name="T2" fmla="*/ 0 w 1"/>
                <a:gd name="T3" fmla="*/ 183 h 183"/>
                <a:gd name="T4" fmla="*/ 0 60000 65536"/>
                <a:gd name="T5" fmla="*/ 0 60000 65536"/>
                <a:gd name="T6" fmla="*/ 0 w 1"/>
                <a:gd name="T7" fmla="*/ 0 h 183"/>
                <a:gd name="T8" fmla="*/ 1 w 1"/>
                <a:gd name="T9" fmla="*/ 183 h 18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3">
                  <a:moveTo>
                    <a:pt x="0" y="0"/>
                  </a:moveTo>
                  <a:lnTo>
                    <a:pt x="0" y="183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865" name="Freeform 468"/>
            <p:cNvSpPr/>
            <p:nvPr/>
          </p:nvSpPr>
          <p:spPr bwMode="auto">
            <a:xfrm>
              <a:off x="3245" y="2466"/>
              <a:ext cx="1" cy="174"/>
            </a:xfrm>
            <a:custGeom>
              <a:avLst/>
              <a:gdLst>
                <a:gd name="T0" fmla="*/ 0 w 1"/>
                <a:gd name="T1" fmla="*/ 0 h 174"/>
                <a:gd name="T2" fmla="*/ 1 w 1"/>
                <a:gd name="T3" fmla="*/ 174 h 174"/>
                <a:gd name="T4" fmla="*/ 0 60000 65536"/>
                <a:gd name="T5" fmla="*/ 0 60000 65536"/>
                <a:gd name="T6" fmla="*/ 0 w 1"/>
                <a:gd name="T7" fmla="*/ 0 h 174"/>
                <a:gd name="T8" fmla="*/ 1 w 1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74">
                  <a:moveTo>
                    <a:pt x="0" y="0"/>
                  </a:moveTo>
                  <a:lnTo>
                    <a:pt x="1" y="174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866" name="Freeform 469"/>
            <p:cNvSpPr/>
            <p:nvPr/>
          </p:nvSpPr>
          <p:spPr bwMode="auto">
            <a:xfrm>
              <a:off x="3391" y="2459"/>
              <a:ext cx="2" cy="181"/>
            </a:xfrm>
            <a:custGeom>
              <a:avLst/>
              <a:gdLst>
                <a:gd name="T0" fmla="*/ 2 w 2"/>
                <a:gd name="T1" fmla="*/ 0 h 181"/>
                <a:gd name="T2" fmla="*/ 0 w 2"/>
                <a:gd name="T3" fmla="*/ 181 h 181"/>
                <a:gd name="T4" fmla="*/ 0 60000 65536"/>
                <a:gd name="T5" fmla="*/ 0 60000 65536"/>
                <a:gd name="T6" fmla="*/ 0 w 2"/>
                <a:gd name="T7" fmla="*/ 0 h 181"/>
                <a:gd name="T8" fmla="*/ 2 w 2"/>
                <a:gd name="T9" fmla="*/ 181 h 18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181">
                  <a:moveTo>
                    <a:pt x="2" y="0"/>
                  </a:moveTo>
                  <a:lnTo>
                    <a:pt x="0" y="181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867" name="Freeform 470"/>
            <p:cNvSpPr/>
            <p:nvPr/>
          </p:nvSpPr>
          <p:spPr bwMode="auto">
            <a:xfrm>
              <a:off x="3915" y="1665"/>
              <a:ext cx="178" cy="1"/>
            </a:xfrm>
            <a:custGeom>
              <a:avLst/>
              <a:gdLst>
                <a:gd name="T0" fmla="*/ 0 w 178"/>
                <a:gd name="T1" fmla="*/ 0 h 1"/>
                <a:gd name="T2" fmla="*/ 178 w 178"/>
                <a:gd name="T3" fmla="*/ 0 h 1"/>
                <a:gd name="T4" fmla="*/ 0 60000 65536"/>
                <a:gd name="T5" fmla="*/ 0 60000 65536"/>
                <a:gd name="T6" fmla="*/ 0 w 178"/>
                <a:gd name="T7" fmla="*/ 0 h 1"/>
                <a:gd name="T8" fmla="*/ 178 w 17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78" h="1">
                  <a:moveTo>
                    <a:pt x="0" y="0"/>
                  </a:moveTo>
                  <a:lnTo>
                    <a:pt x="178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868" name="Text Box 471"/>
            <p:cNvSpPr txBox="1">
              <a:spLocks noChangeArrowheads="1"/>
            </p:cNvSpPr>
            <p:nvPr/>
          </p:nvSpPr>
          <p:spPr bwMode="auto">
            <a:xfrm rot="5400000">
              <a:off x="3674" y="2031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grpSp>
          <p:nvGrpSpPr>
            <p:cNvPr id="158869" name="Group 472"/>
            <p:cNvGrpSpPr/>
            <p:nvPr/>
          </p:nvGrpSpPr>
          <p:grpSpPr bwMode="auto">
            <a:xfrm>
              <a:off x="3648" y="702"/>
              <a:ext cx="251" cy="594"/>
              <a:chOff x="3648" y="702"/>
              <a:chExt cx="251" cy="594"/>
            </a:xfrm>
          </p:grpSpPr>
          <p:grpSp>
            <p:nvGrpSpPr>
              <p:cNvPr id="158932" name="Group 473"/>
              <p:cNvGrpSpPr/>
              <p:nvPr/>
            </p:nvGrpSpPr>
            <p:grpSpPr bwMode="auto">
              <a:xfrm rot="10800000">
                <a:off x="3850" y="864"/>
                <a:ext cx="49" cy="231"/>
                <a:chOff x="1586" y="1334"/>
                <a:chExt cx="49" cy="231"/>
              </a:xfrm>
            </p:grpSpPr>
            <p:sp>
              <p:nvSpPr>
                <p:cNvPr id="158940" name="Freeform 474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  <a:gd name="T6" fmla="*/ 0 w 1"/>
                    <a:gd name="T7" fmla="*/ 0 h 120"/>
                    <a:gd name="T8" fmla="*/ 1 w 1"/>
                    <a:gd name="T9" fmla="*/ 120 h 12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58941" name="Freeform 475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  <a:gd name="T6" fmla="*/ 0 w 1"/>
                    <a:gd name="T7" fmla="*/ 0 h 231"/>
                    <a:gd name="T8" fmla="*/ 1 w 1"/>
                    <a:gd name="T9" fmla="*/ 231 h 23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58933" name="Line 476"/>
              <p:cNvSpPr>
                <a:spLocks noChangeShapeType="1"/>
              </p:cNvSpPr>
              <p:nvPr/>
            </p:nvSpPr>
            <p:spPr bwMode="auto">
              <a:xfrm>
                <a:off x="3748" y="1199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8934" name="Freeform 477"/>
              <p:cNvSpPr/>
              <p:nvPr/>
            </p:nvSpPr>
            <p:spPr bwMode="auto">
              <a:xfrm>
                <a:off x="3696" y="129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  <a:gd name="T6" fmla="*/ 0 w 120"/>
                  <a:gd name="T7" fmla="*/ 0 h 1"/>
                  <a:gd name="T8" fmla="*/ 120 w 12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8935" name="Freeform 478"/>
              <p:cNvSpPr/>
              <p:nvPr/>
            </p:nvSpPr>
            <p:spPr bwMode="auto">
              <a:xfrm>
                <a:off x="3750" y="1019"/>
                <a:ext cx="103" cy="141"/>
              </a:xfrm>
              <a:custGeom>
                <a:avLst/>
                <a:gdLst>
                  <a:gd name="T0" fmla="*/ 103 w 103"/>
                  <a:gd name="T1" fmla="*/ 1 h 141"/>
                  <a:gd name="T2" fmla="*/ 0 w 103"/>
                  <a:gd name="T3" fmla="*/ 0 h 141"/>
                  <a:gd name="T4" fmla="*/ 0 w 103"/>
                  <a:gd name="T5" fmla="*/ 141 h 141"/>
                  <a:gd name="T6" fmla="*/ 0 60000 65536"/>
                  <a:gd name="T7" fmla="*/ 0 60000 65536"/>
                  <a:gd name="T8" fmla="*/ 0 60000 65536"/>
                  <a:gd name="T9" fmla="*/ 0 w 103"/>
                  <a:gd name="T10" fmla="*/ 0 h 141"/>
                  <a:gd name="T11" fmla="*/ 103 w 103"/>
                  <a:gd name="T12" fmla="*/ 141 h 1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3" h="141">
                    <a:moveTo>
                      <a:pt x="103" y="1"/>
                    </a:moveTo>
                    <a:lnTo>
                      <a:pt x="0" y="0"/>
                    </a:lnTo>
                    <a:lnTo>
                      <a:pt x="0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58936" name="Group 479"/>
              <p:cNvGrpSpPr/>
              <p:nvPr/>
            </p:nvGrpSpPr>
            <p:grpSpPr bwMode="auto">
              <a:xfrm>
                <a:off x="3648" y="1151"/>
                <a:ext cx="202" cy="49"/>
                <a:chOff x="432" y="1152"/>
                <a:chExt cx="202" cy="49"/>
              </a:xfrm>
            </p:grpSpPr>
            <p:sp>
              <p:nvSpPr>
                <p:cNvPr id="158938" name="Freeform 480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8939" name="Freeform 481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58937" name="Freeform 482"/>
              <p:cNvSpPr/>
              <p:nvPr/>
            </p:nvSpPr>
            <p:spPr bwMode="auto">
              <a:xfrm>
                <a:off x="3748" y="702"/>
                <a:ext cx="99" cy="225"/>
              </a:xfrm>
              <a:custGeom>
                <a:avLst/>
                <a:gdLst>
                  <a:gd name="T0" fmla="*/ 0 w 99"/>
                  <a:gd name="T1" fmla="*/ 0 h 225"/>
                  <a:gd name="T2" fmla="*/ 0 w 99"/>
                  <a:gd name="T3" fmla="*/ 225 h 225"/>
                  <a:gd name="T4" fmla="*/ 99 w 99"/>
                  <a:gd name="T5" fmla="*/ 225 h 225"/>
                  <a:gd name="T6" fmla="*/ 0 60000 65536"/>
                  <a:gd name="T7" fmla="*/ 0 60000 65536"/>
                  <a:gd name="T8" fmla="*/ 0 60000 65536"/>
                  <a:gd name="T9" fmla="*/ 0 w 99"/>
                  <a:gd name="T10" fmla="*/ 0 h 225"/>
                  <a:gd name="T11" fmla="*/ 99 w 99"/>
                  <a:gd name="T12" fmla="*/ 225 h 22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9" h="225">
                    <a:moveTo>
                      <a:pt x="0" y="0"/>
                    </a:moveTo>
                    <a:lnTo>
                      <a:pt x="0" y="225"/>
                    </a:lnTo>
                    <a:lnTo>
                      <a:pt x="99" y="22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58870" name="Group 483"/>
            <p:cNvGrpSpPr/>
            <p:nvPr/>
          </p:nvGrpSpPr>
          <p:grpSpPr bwMode="auto">
            <a:xfrm>
              <a:off x="3658" y="1409"/>
              <a:ext cx="251" cy="577"/>
              <a:chOff x="3658" y="1409"/>
              <a:chExt cx="251" cy="577"/>
            </a:xfrm>
          </p:grpSpPr>
          <p:grpSp>
            <p:nvGrpSpPr>
              <p:cNvPr id="158922" name="Group 484"/>
              <p:cNvGrpSpPr/>
              <p:nvPr/>
            </p:nvGrpSpPr>
            <p:grpSpPr bwMode="auto">
              <a:xfrm rot="10800000">
                <a:off x="3860" y="1554"/>
                <a:ext cx="49" cy="231"/>
                <a:chOff x="1586" y="1334"/>
                <a:chExt cx="49" cy="231"/>
              </a:xfrm>
            </p:grpSpPr>
            <p:sp>
              <p:nvSpPr>
                <p:cNvPr id="158930" name="Freeform 485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  <a:gd name="T6" fmla="*/ 0 w 1"/>
                    <a:gd name="T7" fmla="*/ 0 h 120"/>
                    <a:gd name="T8" fmla="*/ 1 w 1"/>
                    <a:gd name="T9" fmla="*/ 120 h 12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58931" name="Freeform 486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  <a:gd name="T6" fmla="*/ 0 w 1"/>
                    <a:gd name="T7" fmla="*/ 0 h 231"/>
                    <a:gd name="T8" fmla="*/ 1 w 1"/>
                    <a:gd name="T9" fmla="*/ 231 h 23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58923" name="Line 487"/>
              <p:cNvSpPr>
                <a:spLocks noChangeShapeType="1"/>
              </p:cNvSpPr>
              <p:nvPr/>
            </p:nvSpPr>
            <p:spPr bwMode="auto">
              <a:xfrm>
                <a:off x="3758" y="1889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8924" name="Freeform 488"/>
              <p:cNvSpPr/>
              <p:nvPr/>
            </p:nvSpPr>
            <p:spPr bwMode="auto">
              <a:xfrm>
                <a:off x="3706" y="198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  <a:gd name="T6" fmla="*/ 0 w 120"/>
                  <a:gd name="T7" fmla="*/ 0 h 1"/>
                  <a:gd name="T8" fmla="*/ 120 w 12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8925" name="Freeform 489"/>
              <p:cNvSpPr/>
              <p:nvPr/>
            </p:nvSpPr>
            <p:spPr bwMode="auto">
              <a:xfrm>
                <a:off x="3760" y="1709"/>
                <a:ext cx="103" cy="141"/>
              </a:xfrm>
              <a:custGeom>
                <a:avLst/>
                <a:gdLst>
                  <a:gd name="T0" fmla="*/ 103 w 103"/>
                  <a:gd name="T1" fmla="*/ 1 h 141"/>
                  <a:gd name="T2" fmla="*/ 0 w 103"/>
                  <a:gd name="T3" fmla="*/ 0 h 141"/>
                  <a:gd name="T4" fmla="*/ 0 w 103"/>
                  <a:gd name="T5" fmla="*/ 141 h 141"/>
                  <a:gd name="T6" fmla="*/ 0 60000 65536"/>
                  <a:gd name="T7" fmla="*/ 0 60000 65536"/>
                  <a:gd name="T8" fmla="*/ 0 60000 65536"/>
                  <a:gd name="T9" fmla="*/ 0 w 103"/>
                  <a:gd name="T10" fmla="*/ 0 h 141"/>
                  <a:gd name="T11" fmla="*/ 103 w 103"/>
                  <a:gd name="T12" fmla="*/ 141 h 1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3" h="141">
                    <a:moveTo>
                      <a:pt x="103" y="1"/>
                    </a:moveTo>
                    <a:lnTo>
                      <a:pt x="0" y="0"/>
                    </a:lnTo>
                    <a:lnTo>
                      <a:pt x="0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58926" name="Group 490"/>
              <p:cNvGrpSpPr/>
              <p:nvPr/>
            </p:nvGrpSpPr>
            <p:grpSpPr bwMode="auto">
              <a:xfrm>
                <a:off x="3658" y="1841"/>
                <a:ext cx="202" cy="49"/>
                <a:chOff x="432" y="1152"/>
                <a:chExt cx="202" cy="49"/>
              </a:xfrm>
            </p:grpSpPr>
            <p:sp>
              <p:nvSpPr>
                <p:cNvPr id="158928" name="Freeform 491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8929" name="Freeform 492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58927" name="Freeform 493"/>
              <p:cNvSpPr/>
              <p:nvPr/>
            </p:nvSpPr>
            <p:spPr bwMode="auto">
              <a:xfrm>
                <a:off x="3758" y="1409"/>
                <a:ext cx="99" cy="208"/>
              </a:xfrm>
              <a:custGeom>
                <a:avLst/>
                <a:gdLst>
                  <a:gd name="T0" fmla="*/ 0 w 99"/>
                  <a:gd name="T1" fmla="*/ 0 h 208"/>
                  <a:gd name="T2" fmla="*/ 0 w 99"/>
                  <a:gd name="T3" fmla="*/ 208 h 208"/>
                  <a:gd name="T4" fmla="*/ 99 w 99"/>
                  <a:gd name="T5" fmla="*/ 208 h 208"/>
                  <a:gd name="T6" fmla="*/ 0 60000 65536"/>
                  <a:gd name="T7" fmla="*/ 0 60000 65536"/>
                  <a:gd name="T8" fmla="*/ 0 60000 65536"/>
                  <a:gd name="T9" fmla="*/ 0 w 99"/>
                  <a:gd name="T10" fmla="*/ 0 h 208"/>
                  <a:gd name="T11" fmla="*/ 99 w 99"/>
                  <a:gd name="T12" fmla="*/ 208 h 20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9" h="208">
                    <a:moveTo>
                      <a:pt x="0" y="0"/>
                    </a:moveTo>
                    <a:lnTo>
                      <a:pt x="0" y="208"/>
                    </a:lnTo>
                    <a:lnTo>
                      <a:pt x="99" y="208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58871" name="Group 494"/>
            <p:cNvGrpSpPr/>
            <p:nvPr/>
          </p:nvGrpSpPr>
          <p:grpSpPr bwMode="auto">
            <a:xfrm>
              <a:off x="3658" y="2468"/>
              <a:ext cx="251" cy="574"/>
              <a:chOff x="3658" y="2468"/>
              <a:chExt cx="251" cy="574"/>
            </a:xfrm>
          </p:grpSpPr>
          <p:grpSp>
            <p:nvGrpSpPr>
              <p:cNvPr id="158912" name="Group 495"/>
              <p:cNvGrpSpPr/>
              <p:nvPr/>
            </p:nvGrpSpPr>
            <p:grpSpPr bwMode="auto">
              <a:xfrm rot="10800000">
                <a:off x="3860" y="2610"/>
                <a:ext cx="49" cy="231"/>
                <a:chOff x="1586" y="1334"/>
                <a:chExt cx="49" cy="231"/>
              </a:xfrm>
            </p:grpSpPr>
            <p:sp>
              <p:nvSpPr>
                <p:cNvPr id="158920" name="Freeform 496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  <a:gd name="T6" fmla="*/ 0 w 1"/>
                    <a:gd name="T7" fmla="*/ 0 h 120"/>
                    <a:gd name="T8" fmla="*/ 1 w 1"/>
                    <a:gd name="T9" fmla="*/ 120 h 12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58921" name="Freeform 497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  <a:gd name="T6" fmla="*/ 0 w 1"/>
                    <a:gd name="T7" fmla="*/ 0 h 231"/>
                    <a:gd name="T8" fmla="*/ 1 w 1"/>
                    <a:gd name="T9" fmla="*/ 231 h 23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58913" name="Line 498"/>
              <p:cNvSpPr>
                <a:spLocks noChangeShapeType="1"/>
              </p:cNvSpPr>
              <p:nvPr/>
            </p:nvSpPr>
            <p:spPr bwMode="auto">
              <a:xfrm>
                <a:off x="3758" y="2945"/>
                <a:ext cx="2" cy="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8914" name="Freeform 499"/>
              <p:cNvSpPr/>
              <p:nvPr/>
            </p:nvSpPr>
            <p:spPr bwMode="auto">
              <a:xfrm>
                <a:off x="3706" y="3041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  <a:gd name="T6" fmla="*/ 0 w 120"/>
                  <a:gd name="T7" fmla="*/ 0 h 1"/>
                  <a:gd name="T8" fmla="*/ 120 w 12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8915" name="Freeform 500"/>
              <p:cNvSpPr/>
              <p:nvPr/>
            </p:nvSpPr>
            <p:spPr bwMode="auto">
              <a:xfrm>
                <a:off x="3760" y="2765"/>
                <a:ext cx="103" cy="141"/>
              </a:xfrm>
              <a:custGeom>
                <a:avLst/>
                <a:gdLst>
                  <a:gd name="T0" fmla="*/ 103 w 103"/>
                  <a:gd name="T1" fmla="*/ 1 h 141"/>
                  <a:gd name="T2" fmla="*/ 0 w 103"/>
                  <a:gd name="T3" fmla="*/ 0 h 141"/>
                  <a:gd name="T4" fmla="*/ 0 w 103"/>
                  <a:gd name="T5" fmla="*/ 141 h 141"/>
                  <a:gd name="T6" fmla="*/ 0 60000 65536"/>
                  <a:gd name="T7" fmla="*/ 0 60000 65536"/>
                  <a:gd name="T8" fmla="*/ 0 60000 65536"/>
                  <a:gd name="T9" fmla="*/ 0 w 103"/>
                  <a:gd name="T10" fmla="*/ 0 h 141"/>
                  <a:gd name="T11" fmla="*/ 103 w 103"/>
                  <a:gd name="T12" fmla="*/ 141 h 1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3" h="141">
                    <a:moveTo>
                      <a:pt x="103" y="1"/>
                    </a:moveTo>
                    <a:lnTo>
                      <a:pt x="0" y="0"/>
                    </a:lnTo>
                    <a:lnTo>
                      <a:pt x="0" y="14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58916" name="Group 501"/>
              <p:cNvGrpSpPr/>
              <p:nvPr/>
            </p:nvGrpSpPr>
            <p:grpSpPr bwMode="auto">
              <a:xfrm>
                <a:off x="3658" y="2897"/>
                <a:ext cx="202" cy="49"/>
                <a:chOff x="432" y="1152"/>
                <a:chExt cx="202" cy="49"/>
              </a:xfrm>
            </p:grpSpPr>
            <p:sp>
              <p:nvSpPr>
                <p:cNvPr id="158918" name="Freeform 502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8919" name="Freeform 503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58917" name="Freeform 504"/>
              <p:cNvSpPr/>
              <p:nvPr/>
            </p:nvSpPr>
            <p:spPr bwMode="auto">
              <a:xfrm>
                <a:off x="3758" y="2468"/>
                <a:ext cx="99" cy="205"/>
              </a:xfrm>
              <a:custGeom>
                <a:avLst/>
                <a:gdLst>
                  <a:gd name="T0" fmla="*/ 0 w 99"/>
                  <a:gd name="T1" fmla="*/ 0 h 205"/>
                  <a:gd name="T2" fmla="*/ 0 w 99"/>
                  <a:gd name="T3" fmla="*/ 205 h 205"/>
                  <a:gd name="T4" fmla="*/ 99 w 99"/>
                  <a:gd name="T5" fmla="*/ 205 h 205"/>
                  <a:gd name="T6" fmla="*/ 0 60000 65536"/>
                  <a:gd name="T7" fmla="*/ 0 60000 65536"/>
                  <a:gd name="T8" fmla="*/ 0 60000 65536"/>
                  <a:gd name="T9" fmla="*/ 0 w 99"/>
                  <a:gd name="T10" fmla="*/ 0 h 205"/>
                  <a:gd name="T11" fmla="*/ 99 w 99"/>
                  <a:gd name="T12" fmla="*/ 205 h 20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9" h="205">
                    <a:moveTo>
                      <a:pt x="0" y="0"/>
                    </a:moveTo>
                    <a:lnTo>
                      <a:pt x="0" y="205"/>
                    </a:lnTo>
                    <a:lnTo>
                      <a:pt x="99" y="20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58872" name="Freeform 505"/>
            <p:cNvSpPr/>
            <p:nvPr/>
          </p:nvSpPr>
          <p:spPr bwMode="auto">
            <a:xfrm>
              <a:off x="3901" y="980"/>
              <a:ext cx="192" cy="2236"/>
            </a:xfrm>
            <a:custGeom>
              <a:avLst/>
              <a:gdLst>
                <a:gd name="T0" fmla="*/ 0 w 192"/>
                <a:gd name="T1" fmla="*/ 0 h 2236"/>
                <a:gd name="T2" fmla="*/ 192 w 192"/>
                <a:gd name="T3" fmla="*/ 1 h 2236"/>
                <a:gd name="T4" fmla="*/ 192 w 192"/>
                <a:gd name="T5" fmla="*/ 2236 h 2236"/>
                <a:gd name="T6" fmla="*/ 0 60000 65536"/>
                <a:gd name="T7" fmla="*/ 0 60000 65536"/>
                <a:gd name="T8" fmla="*/ 0 60000 65536"/>
                <a:gd name="T9" fmla="*/ 0 w 192"/>
                <a:gd name="T10" fmla="*/ 0 h 2236"/>
                <a:gd name="T11" fmla="*/ 192 w 192"/>
                <a:gd name="T12" fmla="*/ 2236 h 22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2" h="2236">
                  <a:moveTo>
                    <a:pt x="0" y="0"/>
                  </a:moveTo>
                  <a:lnTo>
                    <a:pt x="192" y="1"/>
                  </a:lnTo>
                  <a:lnTo>
                    <a:pt x="192" y="223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8873" name="Freeform 506"/>
            <p:cNvSpPr/>
            <p:nvPr/>
          </p:nvSpPr>
          <p:spPr bwMode="auto">
            <a:xfrm>
              <a:off x="3898" y="2112"/>
              <a:ext cx="195" cy="1"/>
            </a:xfrm>
            <a:custGeom>
              <a:avLst/>
              <a:gdLst>
                <a:gd name="T0" fmla="*/ 0 w 195"/>
                <a:gd name="T1" fmla="*/ 1 h 1"/>
                <a:gd name="T2" fmla="*/ 195 w 195"/>
                <a:gd name="T3" fmla="*/ 0 h 1"/>
                <a:gd name="T4" fmla="*/ 0 60000 65536"/>
                <a:gd name="T5" fmla="*/ 0 60000 65536"/>
                <a:gd name="T6" fmla="*/ 0 w 195"/>
                <a:gd name="T7" fmla="*/ 0 h 1"/>
                <a:gd name="T8" fmla="*/ 195 w 19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95" h="1">
                  <a:moveTo>
                    <a:pt x="0" y="1"/>
                  </a:moveTo>
                  <a:lnTo>
                    <a:pt x="19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874" name="Freeform 507"/>
            <p:cNvSpPr/>
            <p:nvPr/>
          </p:nvSpPr>
          <p:spPr bwMode="auto">
            <a:xfrm>
              <a:off x="3898" y="2256"/>
              <a:ext cx="195" cy="1"/>
            </a:xfrm>
            <a:custGeom>
              <a:avLst/>
              <a:gdLst>
                <a:gd name="T0" fmla="*/ 0 w 195"/>
                <a:gd name="T1" fmla="*/ 1 h 1"/>
                <a:gd name="T2" fmla="*/ 195 w 195"/>
                <a:gd name="T3" fmla="*/ 0 h 1"/>
                <a:gd name="T4" fmla="*/ 0 60000 65536"/>
                <a:gd name="T5" fmla="*/ 0 60000 65536"/>
                <a:gd name="T6" fmla="*/ 0 w 195"/>
                <a:gd name="T7" fmla="*/ 0 h 1"/>
                <a:gd name="T8" fmla="*/ 195 w 19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95" h="1">
                  <a:moveTo>
                    <a:pt x="0" y="1"/>
                  </a:moveTo>
                  <a:lnTo>
                    <a:pt x="19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875" name="Freeform 508"/>
            <p:cNvSpPr/>
            <p:nvPr/>
          </p:nvSpPr>
          <p:spPr bwMode="auto">
            <a:xfrm>
              <a:off x="3906" y="2721"/>
              <a:ext cx="187" cy="1"/>
            </a:xfrm>
            <a:custGeom>
              <a:avLst/>
              <a:gdLst>
                <a:gd name="T0" fmla="*/ 0 w 187"/>
                <a:gd name="T1" fmla="*/ 0 h 1"/>
                <a:gd name="T2" fmla="*/ 187 w 187"/>
                <a:gd name="T3" fmla="*/ 1 h 1"/>
                <a:gd name="T4" fmla="*/ 0 60000 65536"/>
                <a:gd name="T5" fmla="*/ 0 60000 65536"/>
                <a:gd name="T6" fmla="*/ 0 w 187"/>
                <a:gd name="T7" fmla="*/ 0 h 1"/>
                <a:gd name="T8" fmla="*/ 187 w 187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87" h="1">
                  <a:moveTo>
                    <a:pt x="0" y="0"/>
                  </a:moveTo>
                  <a:lnTo>
                    <a:pt x="187" y="1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876" name="Freeform 509"/>
            <p:cNvSpPr/>
            <p:nvPr/>
          </p:nvSpPr>
          <p:spPr bwMode="auto">
            <a:xfrm>
              <a:off x="4453" y="1302"/>
              <a:ext cx="432" cy="111"/>
            </a:xfrm>
            <a:custGeom>
              <a:avLst/>
              <a:gdLst>
                <a:gd name="T0" fmla="*/ 0 w 432"/>
                <a:gd name="T1" fmla="*/ 0 h 111"/>
                <a:gd name="T2" fmla="*/ 0 w 432"/>
                <a:gd name="T3" fmla="*/ 111 h 111"/>
                <a:gd name="T4" fmla="*/ 432 w 432"/>
                <a:gd name="T5" fmla="*/ 111 h 111"/>
                <a:gd name="T6" fmla="*/ 0 60000 65536"/>
                <a:gd name="T7" fmla="*/ 0 60000 65536"/>
                <a:gd name="T8" fmla="*/ 0 60000 65536"/>
                <a:gd name="T9" fmla="*/ 0 w 432"/>
                <a:gd name="T10" fmla="*/ 0 h 111"/>
                <a:gd name="T11" fmla="*/ 432 w 432"/>
                <a:gd name="T12" fmla="*/ 111 h 1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2" h="111">
                  <a:moveTo>
                    <a:pt x="0" y="0"/>
                  </a:moveTo>
                  <a:lnTo>
                    <a:pt x="0" y="111"/>
                  </a:lnTo>
                  <a:lnTo>
                    <a:pt x="432" y="11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8877" name="Freeform 510"/>
            <p:cNvSpPr/>
            <p:nvPr/>
          </p:nvSpPr>
          <p:spPr bwMode="auto">
            <a:xfrm>
              <a:off x="4453" y="2358"/>
              <a:ext cx="423" cy="120"/>
            </a:xfrm>
            <a:custGeom>
              <a:avLst/>
              <a:gdLst>
                <a:gd name="T0" fmla="*/ 0 w 423"/>
                <a:gd name="T1" fmla="*/ 0 h 120"/>
                <a:gd name="T2" fmla="*/ 0 w 423"/>
                <a:gd name="T3" fmla="*/ 120 h 120"/>
                <a:gd name="T4" fmla="*/ 423 w 423"/>
                <a:gd name="T5" fmla="*/ 120 h 120"/>
                <a:gd name="T6" fmla="*/ 0 60000 65536"/>
                <a:gd name="T7" fmla="*/ 0 60000 65536"/>
                <a:gd name="T8" fmla="*/ 0 60000 65536"/>
                <a:gd name="T9" fmla="*/ 0 w 423"/>
                <a:gd name="T10" fmla="*/ 0 h 120"/>
                <a:gd name="T11" fmla="*/ 423 w 423"/>
                <a:gd name="T12" fmla="*/ 120 h 1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23" h="120">
                  <a:moveTo>
                    <a:pt x="0" y="0"/>
                  </a:moveTo>
                  <a:lnTo>
                    <a:pt x="0" y="120"/>
                  </a:lnTo>
                  <a:lnTo>
                    <a:pt x="423" y="12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8878" name="Freeform 511"/>
            <p:cNvSpPr/>
            <p:nvPr/>
          </p:nvSpPr>
          <p:spPr bwMode="auto">
            <a:xfrm>
              <a:off x="4411" y="432"/>
              <a:ext cx="800" cy="99"/>
            </a:xfrm>
            <a:custGeom>
              <a:avLst/>
              <a:gdLst>
                <a:gd name="T0" fmla="*/ 0 w 993"/>
                <a:gd name="T1" fmla="*/ 99 h 99"/>
                <a:gd name="T2" fmla="*/ 0 w 993"/>
                <a:gd name="T3" fmla="*/ 0 h 99"/>
                <a:gd name="T4" fmla="*/ 48 w 993"/>
                <a:gd name="T5" fmla="*/ 0 h 99"/>
                <a:gd name="T6" fmla="*/ 0 60000 65536"/>
                <a:gd name="T7" fmla="*/ 0 60000 65536"/>
                <a:gd name="T8" fmla="*/ 0 60000 65536"/>
                <a:gd name="T9" fmla="*/ 0 w 993"/>
                <a:gd name="T10" fmla="*/ 0 h 99"/>
                <a:gd name="T11" fmla="*/ 993 w 993"/>
                <a:gd name="T12" fmla="*/ 99 h 9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93" h="99">
                  <a:moveTo>
                    <a:pt x="0" y="99"/>
                  </a:moveTo>
                  <a:lnTo>
                    <a:pt x="0" y="0"/>
                  </a:lnTo>
                  <a:lnTo>
                    <a:pt x="993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8879" name="Freeform 512"/>
            <p:cNvSpPr/>
            <p:nvPr/>
          </p:nvSpPr>
          <p:spPr bwMode="auto">
            <a:xfrm>
              <a:off x="4411" y="1152"/>
              <a:ext cx="801" cy="96"/>
            </a:xfrm>
            <a:custGeom>
              <a:avLst/>
              <a:gdLst>
                <a:gd name="T0" fmla="*/ 0 w 993"/>
                <a:gd name="T1" fmla="*/ 65 h 99"/>
                <a:gd name="T2" fmla="*/ 0 w 993"/>
                <a:gd name="T3" fmla="*/ 0 h 99"/>
                <a:gd name="T4" fmla="*/ 48 w 993"/>
                <a:gd name="T5" fmla="*/ 0 h 99"/>
                <a:gd name="T6" fmla="*/ 0 60000 65536"/>
                <a:gd name="T7" fmla="*/ 0 60000 65536"/>
                <a:gd name="T8" fmla="*/ 0 60000 65536"/>
                <a:gd name="T9" fmla="*/ 0 w 993"/>
                <a:gd name="T10" fmla="*/ 0 h 99"/>
                <a:gd name="T11" fmla="*/ 993 w 993"/>
                <a:gd name="T12" fmla="*/ 99 h 9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93" h="99">
                  <a:moveTo>
                    <a:pt x="0" y="99"/>
                  </a:moveTo>
                  <a:lnTo>
                    <a:pt x="0" y="0"/>
                  </a:lnTo>
                  <a:lnTo>
                    <a:pt x="993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8880" name="Freeform 513"/>
            <p:cNvSpPr/>
            <p:nvPr/>
          </p:nvSpPr>
          <p:spPr bwMode="auto">
            <a:xfrm>
              <a:off x="4411" y="2208"/>
              <a:ext cx="800" cy="99"/>
            </a:xfrm>
            <a:custGeom>
              <a:avLst/>
              <a:gdLst>
                <a:gd name="T0" fmla="*/ 0 w 993"/>
                <a:gd name="T1" fmla="*/ 99 h 99"/>
                <a:gd name="T2" fmla="*/ 0 w 993"/>
                <a:gd name="T3" fmla="*/ 0 h 99"/>
                <a:gd name="T4" fmla="*/ 48 w 993"/>
                <a:gd name="T5" fmla="*/ 0 h 99"/>
                <a:gd name="T6" fmla="*/ 0 60000 65536"/>
                <a:gd name="T7" fmla="*/ 0 60000 65536"/>
                <a:gd name="T8" fmla="*/ 0 60000 65536"/>
                <a:gd name="T9" fmla="*/ 0 w 993"/>
                <a:gd name="T10" fmla="*/ 0 h 99"/>
                <a:gd name="T11" fmla="*/ 993 w 993"/>
                <a:gd name="T12" fmla="*/ 99 h 9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93" h="99">
                  <a:moveTo>
                    <a:pt x="0" y="99"/>
                  </a:moveTo>
                  <a:lnTo>
                    <a:pt x="0" y="0"/>
                  </a:lnTo>
                  <a:lnTo>
                    <a:pt x="993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8881" name="Text Box 514"/>
            <p:cNvSpPr txBox="1">
              <a:spLocks noChangeArrowheads="1"/>
            </p:cNvSpPr>
            <p:nvPr/>
          </p:nvSpPr>
          <p:spPr bwMode="auto">
            <a:xfrm>
              <a:off x="28" y="3161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58882" name="Text Box 515"/>
            <p:cNvSpPr txBox="1">
              <a:spLocks noChangeArrowheads="1"/>
            </p:cNvSpPr>
            <p:nvPr/>
          </p:nvSpPr>
          <p:spPr bwMode="auto">
            <a:xfrm>
              <a:off x="940" y="3161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63</a:t>
              </a:r>
            </a:p>
          </p:txBody>
        </p:sp>
        <p:sp>
          <p:nvSpPr>
            <p:cNvPr id="158883" name="Text Box 516"/>
            <p:cNvSpPr txBox="1">
              <a:spLocks noChangeArrowheads="1"/>
            </p:cNvSpPr>
            <p:nvPr/>
          </p:nvSpPr>
          <p:spPr bwMode="auto">
            <a:xfrm>
              <a:off x="2994" y="3161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64</a:t>
              </a:r>
            </a:p>
          </p:txBody>
        </p:sp>
        <p:sp>
          <p:nvSpPr>
            <p:cNvPr id="158884" name="Text Box 517"/>
            <p:cNvSpPr txBox="1">
              <a:spLocks noChangeArrowheads="1"/>
            </p:cNvSpPr>
            <p:nvPr/>
          </p:nvSpPr>
          <p:spPr bwMode="auto">
            <a:xfrm>
              <a:off x="3916" y="3161"/>
              <a:ext cx="40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127</a:t>
              </a:r>
            </a:p>
          </p:txBody>
        </p:sp>
        <p:sp>
          <p:nvSpPr>
            <p:cNvPr id="158885" name="Text Box 518"/>
            <p:cNvSpPr txBox="1">
              <a:spLocks noChangeArrowheads="1"/>
            </p:cNvSpPr>
            <p:nvPr/>
          </p:nvSpPr>
          <p:spPr bwMode="auto">
            <a:xfrm>
              <a:off x="1776" y="3590"/>
              <a:ext cx="87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128 根行线</a:t>
              </a:r>
              <a:endParaRPr lang="en-US" altLang="zh-CN" sz="2000">
                <a:latin typeface="Times New Roman" panose="02020603050405020304" pitchFamily="18" charset="0"/>
              </a:endParaRPr>
            </a:p>
          </p:txBody>
        </p:sp>
        <p:sp>
          <p:nvSpPr>
            <p:cNvPr id="158886" name="Text Box 519"/>
            <p:cNvSpPr txBox="1">
              <a:spLocks noChangeArrowheads="1"/>
            </p:cNvSpPr>
            <p:nvPr/>
          </p:nvSpPr>
          <p:spPr bwMode="auto">
            <a:xfrm>
              <a:off x="546" y="1034"/>
              <a:ext cx="24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</a:t>
              </a:r>
            </a:p>
          </p:txBody>
        </p:sp>
        <p:sp>
          <p:nvSpPr>
            <p:cNvPr id="158887" name="Text Box 520"/>
            <p:cNvSpPr txBox="1">
              <a:spLocks noChangeArrowheads="1"/>
            </p:cNvSpPr>
            <p:nvPr/>
          </p:nvSpPr>
          <p:spPr bwMode="auto">
            <a:xfrm>
              <a:off x="700" y="1119"/>
              <a:ext cx="16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1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158888" name="Text Box 521"/>
            <p:cNvSpPr txBox="1">
              <a:spLocks noChangeArrowheads="1"/>
            </p:cNvSpPr>
            <p:nvPr/>
          </p:nvSpPr>
          <p:spPr bwMode="auto">
            <a:xfrm>
              <a:off x="5100" y="416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58889" name="Text Box 522"/>
            <p:cNvSpPr txBox="1">
              <a:spLocks noChangeArrowheads="1"/>
            </p:cNvSpPr>
            <p:nvPr/>
          </p:nvSpPr>
          <p:spPr bwMode="auto">
            <a:xfrm>
              <a:off x="5020" y="2201"/>
              <a:ext cx="40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127</a:t>
              </a:r>
            </a:p>
          </p:txBody>
        </p:sp>
        <p:sp>
          <p:nvSpPr>
            <p:cNvPr id="158890" name="Text Box 523"/>
            <p:cNvSpPr txBox="1">
              <a:spLocks noChangeArrowheads="1"/>
            </p:cNvSpPr>
            <p:nvPr/>
          </p:nvSpPr>
          <p:spPr bwMode="auto">
            <a:xfrm>
              <a:off x="5100" y="1178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1</a:t>
              </a:r>
            </a:p>
          </p:txBody>
        </p:sp>
        <p:grpSp>
          <p:nvGrpSpPr>
            <p:cNvPr id="158891" name="Group 524"/>
            <p:cNvGrpSpPr/>
            <p:nvPr/>
          </p:nvGrpSpPr>
          <p:grpSpPr bwMode="auto">
            <a:xfrm>
              <a:off x="5356" y="1039"/>
              <a:ext cx="363" cy="972"/>
              <a:chOff x="5356" y="1039"/>
              <a:chExt cx="363" cy="972"/>
            </a:xfrm>
          </p:grpSpPr>
          <p:sp>
            <p:nvSpPr>
              <p:cNvPr id="158908" name="Text Box 525"/>
              <p:cNvSpPr txBox="1">
                <a:spLocks noChangeArrowheads="1"/>
              </p:cNvSpPr>
              <p:nvPr/>
            </p:nvSpPr>
            <p:spPr bwMode="auto">
              <a:xfrm>
                <a:off x="5356" y="1039"/>
                <a:ext cx="3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128</a:t>
                </a:r>
                <a:endParaRPr lang="zh-CN" altLang="en-US" sz="20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8909" name="Text Box 526"/>
              <p:cNvSpPr txBox="1">
                <a:spLocks noChangeArrowheads="1"/>
              </p:cNvSpPr>
              <p:nvPr/>
            </p:nvSpPr>
            <p:spPr bwMode="auto">
              <a:xfrm>
                <a:off x="5442" y="1294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列</a:t>
                </a:r>
              </a:p>
            </p:txBody>
          </p:sp>
          <p:sp>
            <p:nvSpPr>
              <p:cNvPr id="158910" name="Text Box 527"/>
              <p:cNvSpPr txBox="1">
                <a:spLocks noChangeArrowheads="1"/>
              </p:cNvSpPr>
              <p:nvPr/>
            </p:nvSpPr>
            <p:spPr bwMode="auto">
              <a:xfrm>
                <a:off x="5442" y="152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选</a:t>
                </a:r>
              </a:p>
            </p:txBody>
          </p:sp>
          <p:sp>
            <p:nvSpPr>
              <p:cNvPr id="158911" name="Text Box 528"/>
              <p:cNvSpPr txBox="1">
                <a:spLocks noChangeArrowheads="1"/>
              </p:cNvSpPr>
              <p:nvPr/>
            </p:nvSpPr>
            <p:spPr bwMode="auto">
              <a:xfrm>
                <a:off x="5442" y="1761"/>
                <a:ext cx="277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择</a:t>
                </a:r>
              </a:p>
            </p:txBody>
          </p:sp>
        </p:grpSp>
        <p:sp>
          <p:nvSpPr>
            <p:cNvPr id="158892" name="Text Box 529"/>
            <p:cNvSpPr txBox="1">
              <a:spLocks noChangeArrowheads="1"/>
            </p:cNvSpPr>
            <p:nvPr/>
          </p:nvSpPr>
          <p:spPr bwMode="auto">
            <a:xfrm>
              <a:off x="4896" y="2745"/>
              <a:ext cx="64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读/写线</a:t>
              </a:r>
            </a:p>
          </p:txBody>
        </p:sp>
        <p:sp>
          <p:nvSpPr>
            <p:cNvPr id="158893" name="Line 530"/>
            <p:cNvSpPr>
              <a:spLocks noChangeShapeType="1"/>
            </p:cNvSpPr>
            <p:nvPr/>
          </p:nvSpPr>
          <p:spPr bwMode="auto">
            <a:xfrm flipV="1">
              <a:off x="4876" y="2976"/>
              <a:ext cx="336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8894" name="Line 531"/>
            <p:cNvSpPr>
              <a:spLocks noChangeShapeType="1"/>
            </p:cNvSpPr>
            <p:nvPr/>
          </p:nvSpPr>
          <p:spPr bwMode="auto">
            <a:xfrm>
              <a:off x="2908" y="3984"/>
              <a:ext cx="4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8895" name="Line 532"/>
            <p:cNvSpPr>
              <a:spLocks noChangeShapeType="1"/>
            </p:cNvSpPr>
            <p:nvPr/>
          </p:nvSpPr>
          <p:spPr bwMode="auto">
            <a:xfrm>
              <a:off x="4108" y="3984"/>
              <a:ext cx="4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8896" name="Line 533"/>
            <p:cNvSpPr>
              <a:spLocks noChangeShapeType="1"/>
            </p:cNvSpPr>
            <p:nvPr/>
          </p:nvSpPr>
          <p:spPr bwMode="auto">
            <a:xfrm>
              <a:off x="5295" y="3984"/>
              <a:ext cx="1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8897" name="Line 534"/>
            <p:cNvSpPr>
              <a:spLocks noChangeShapeType="1"/>
            </p:cNvSpPr>
            <p:nvPr/>
          </p:nvSpPr>
          <p:spPr bwMode="auto">
            <a:xfrm>
              <a:off x="1708" y="3984"/>
              <a:ext cx="4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8898" name="Text Box 535"/>
            <p:cNvSpPr txBox="1">
              <a:spLocks noChangeArrowheads="1"/>
            </p:cNvSpPr>
            <p:nvPr/>
          </p:nvSpPr>
          <p:spPr bwMode="auto">
            <a:xfrm>
              <a:off x="2158" y="3878"/>
              <a:ext cx="760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t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数据输入</a:t>
              </a:r>
            </a:p>
          </p:txBody>
        </p:sp>
        <p:sp>
          <p:nvSpPr>
            <p:cNvPr id="158899" name="Text Box 536"/>
            <p:cNvSpPr txBox="1">
              <a:spLocks noChangeArrowheads="1"/>
            </p:cNvSpPr>
            <p:nvPr/>
          </p:nvSpPr>
          <p:spPr bwMode="auto">
            <a:xfrm>
              <a:off x="3398" y="3865"/>
              <a:ext cx="66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I/O</a:t>
              </a:r>
              <a:r>
                <a:rPr lang="zh-CN" altLang="en-US" sz="2000">
                  <a:latin typeface="Times New Roman" panose="02020603050405020304" pitchFamily="18" charset="0"/>
                </a:rPr>
                <a:t>缓冲</a:t>
              </a:r>
            </a:p>
          </p:txBody>
        </p:sp>
        <p:sp>
          <p:nvSpPr>
            <p:cNvPr id="158900" name="Text Box 537"/>
            <p:cNvSpPr txBox="1">
              <a:spLocks noChangeArrowheads="1"/>
            </p:cNvSpPr>
            <p:nvPr/>
          </p:nvSpPr>
          <p:spPr bwMode="auto">
            <a:xfrm>
              <a:off x="4534" y="3853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输出驱动</a:t>
              </a:r>
            </a:p>
          </p:txBody>
        </p:sp>
        <p:sp>
          <p:nvSpPr>
            <p:cNvPr id="158901" name="Text Box 538"/>
            <p:cNvSpPr txBox="1">
              <a:spLocks noChangeArrowheads="1"/>
            </p:cNvSpPr>
            <p:nvPr/>
          </p:nvSpPr>
          <p:spPr bwMode="auto">
            <a:xfrm>
              <a:off x="5212" y="3648"/>
              <a:ext cx="2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D</a:t>
              </a:r>
            </a:p>
          </p:txBody>
        </p:sp>
        <p:sp>
          <p:nvSpPr>
            <p:cNvPr id="158902" name="Text Box 539"/>
            <p:cNvSpPr txBox="1">
              <a:spLocks noChangeArrowheads="1"/>
            </p:cNvSpPr>
            <p:nvPr/>
          </p:nvSpPr>
          <p:spPr bwMode="auto">
            <a:xfrm>
              <a:off x="5356" y="3744"/>
              <a:ext cx="359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1400">
                  <a:latin typeface="Times New Roman" panose="02020603050405020304" pitchFamily="18" charset="0"/>
                </a:rPr>
                <a:t>OUT</a:t>
              </a:r>
            </a:p>
          </p:txBody>
        </p:sp>
        <p:sp>
          <p:nvSpPr>
            <p:cNvPr id="158903" name="Text Box 540"/>
            <p:cNvSpPr txBox="1">
              <a:spLocks noChangeArrowheads="1"/>
            </p:cNvSpPr>
            <p:nvPr/>
          </p:nvSpPr>
          <p:spPr bwMode="auto">
            <a:xfrm>
              <a:off x="1392" y="3818"/>
              <a:ext cx="2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D</a:t>
              </a:r>
            </a:p>
          </p:txBody>
        </p:sp>
        <p:sp>
          <p:nvSpPr>
            <p:cNvPr id="158904" name="Text Box 541"/>
            <p:cNvSpPr txBox="1">
              <a:spLocks noChangeArrowheads="1"/>
            </p:cNvSpPr>
            <p:nvPr/>
          </p:nvSpPr>
          <p:spPr bwMode="auto">
            <a:xfrm>
              <a:off x="1535" y="3936"/>
              <a:ext cx="241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400">
                  <a:latin typeface="Times New Roman" panose="02020603050405020304" pitchFamily="18" charset="0"/>
                </a:rPr>
                <a:t>IN</a:t>
              </a:r>
            </a:p>
          </p:txBody>
        </p:sp>
        <p:grpSp>
          <p:nvGrpSpPr>
            <p:cNvPr id="158905" name="Group 542"/>
            <p:cNvGrpSpPr/>
            <p:nvPr/>
          </p:nvGrpSpPr>
          <p:grpSpPr bwMode="auto">
            <a:xfrm>
              <a:off x="1536" y="2784"/>
              <a:ext cx="320" cy="297"/>
              <a:chOff x="1536" y="2784"/>
              <a:chExt cx="320" cy="297"/>
            </a:xfrm>
          </p:grpSpPr>
          <p:sp>
            <p:nvSpPr>
              <p:cNvPr id="158906" name="Text Box 543"/>
              <p:cNvSpPr txBox="1">
                <a:spLocks noChangeArrowheads="1"/>
              </p:cNvSpPr>
              <p:nvPr/>
            </p:nvSpPr>
            <p:spPr bwMode="auto">
              <a:xfrm>
                <a:off x="1536" y="2784"/>
                <a:ext cx="24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400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C</a:t>
                </a:r>
              </a:p>
            </p:txBody>
          </p:sp>
          <p:sp>
            <p:nvSpPr>
              <p:cNvPr id="158907" name="Text Box 544"/>
              <p:cNvSpPr txBox="1">
                <a:spLocks noChangeArrowheads="1"/>
              </p:cNvSpPr>
              <p:nvPr/>
            </p:nvSpPr>
            <p:spPr bwMode="auto">
              <a:xfrm>
                <a:off x="1690" y="2869"/>
                <a:ext cx="16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s</a:t>
                </a:r>
              </a:p>
            </p:txBody>
          </p:sp>
        </p:grpSp>
      </p:grpSp>
      <p:sp>
        <p:nvSpPr>
          <p:cNvPr id="247025" name="Freeform 241"/>
          <p:cNvSpPr/>
          <p:nvPr/>
        </p:nvSpPr>
        <p:spPr bwMode="auto">
          <a:xfrm>
            <a:off x="7010400" y="685800"/>
            <a:ext cx="1270000" cy="157163"/>
          </a:xfrm>
          <a:custGeom>
            <a:avLst/>
            <a:gdLst>
              <a:gd name="T0" fmla="*/ 0 w 993"/>
              <a:gd name="T1" fmla="*/ 2147483647 h 99"/>
              <a:gd name="T2" fmla="*/ 0 w 993"/>
              <a:gd name="T3" fmla="*/ 0 h 99"/>
              <a:gd name="T4" fmla="*/ 2147483647 w 993"/>
              <a:gd name="T5" fmla="*/ 0 h 99"/>
              <a:gd name="T6" fmla="*/ 0 60000 65536"/>
              <a:gd name="T7" fmla="*/ 0 60000 65536"/>
              <a:gd name="T8" fmla="*/ 0 60000 65536"/>
              <a:gd name="T9" fmla="*/ 0 w 993"/>
              <a:gd name="T10" fmla="*/ 0 h 99"/>
              <a:gd name="T11" fmla="*/ 993 w 993"/>
              <a:gd name="T12" fmla="*/ 99 h 9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93" h="99">
                <a:moveTo>
                  <a:pt x="0" y="99"/>
                </a:moveTo>
                <a:lnTo>
                  <a:pt x="0" y="0"/>
                </a:lnTo>
                <a:lnTo>
                  <a:pt x="993" y="0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47026" name="Freeform 242"/>
          <p:cNvSpPr/>
          <p:nvPr/>
        </p:nvSpPr>
        <p:spPr bwMode="auto">
          <a:xfrm>
            <a:off x="4152900" y="919163"/>
            <a:ext cx="2795588" cy="190500"/>
          </a:xfrm>
          <a:custGeom>
            <a:avLst/>
            <a:gdLst>
              <a:gd name="T0" fmla="*/ 2147483647 w 1761"/>
              <a:gd name="T1" fmla="*/ 0 h 120"/>
              <a:gd name="T2" fmla="*/ 2147483647 w 1761"/>
              <a:gd name="T3" fmla="*/ 2147483647 h 120"/>
              <a:gd name="T4" fmla="*/ 0 w 1761"/>
              <a:gd name="T5" fmla="*/ 2147483647 h 120"/>
              <a:gd name="T6" fmla="*/ 0 60000 65536"/>
              <a:gd name="T7" fmla="*/ 0 60000 65536"/>
              <a:gd name="T8" fmla="*/ 0 60000 65536"/>
              <a:gd name="T9" fmla="*/ 0 w 1761"/>
              <a:gd name="T10" fmla="*/ 0 h 120"/>
              <a:gd name="T11" fmla="*/ 1761 w 1761"/>
              <a:gd name="T12" fmla="*/ 120 h 12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61" h="120">
                <a:moveTo>
                  <a:pt x="1761" y="0"/>
                </a:moveTo>
                <a:lnTo>
                  <a:pt x="1761" y="117"/>
                </a:lnTo>
                <a:lnTo>
                  <a:pt x="0" y="120"/>
                </a:lnTo>
              </a:path>
            </a:pathLst>
          </a:custGeom>
          <a:noFill/>
          <a:ln w="76200" cmpd="sng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59032" name="Group 243"/>
          <p:cNvGrpSpPr/>
          <p:nvPr/>
        </p:nvGrpSpPr>
        <p:grpSpPr bwMode="auto">
          <a:xfrm>
            <a:off x="1709738" y="1557338"/>
            <a:ext cx="314325" cy="3548062"/>
            <a:chOff x="1145" y="981"/>
            <a:chExt cx="198" cy="2235"/>
          </a:xfrm>
        </p:grpSpPr>
        <p:sp>
          <p:nvSpPr>
            <p:cNvPr id="158784" name="Line 244"/>
            <p:cNvSpPr>
              <a:spLocks noChangeShapeType="1"/>
            </p:cNvSpPr>
            <p:nvPr/>
          </p:nvSpPr>
          <p:spPr bwMode="auto">
            <a:xfrm>
              <a:off x="1150" y="2255"/>
              <a:ext cx="190" cy="1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58785" name="Group 245"/>
            <p:cNvGrpSpPr/>
            <p:nvPr/>
          </p:nvGrpSpPr>
          <p:grpSpPr bwMode="auto">
            <a:xfrm>
              <a:off x="1145" y="981"/>
              <a:ext cx="198" cy="2235"/>
              <a:chOff x="1145" y="981"/>
              <a:chExt cx="198" cy="2235"/>
            </a:xfrm>
          </p:grpSpPr>
          <p:sp>
            <p:nvSpPr>
              <p:cNvPr id="158787" name="Freeform 246"/>
              <p:cNvSpPr/>
              <p:nvPr/>
            </p:nvSpPr>
            <p:spPr bwMode="auto">
              <a:xfrm>
                <a:off x="1145" y="1707"/>
                <a:ext cx="198" cy="3"/>
              </a:xfrm>
              <a:custGeom>
                <a:avLst/>
                <a:gdLst>
                  <a:gd name="T0" fmla="*/ 0 w 198"/>
                  <a:gd name="T1" fmla="*/ 3 h 3"/>
                  <a:gd name="T2" fmla="*/ 198 w 198"/>
                  <a:gd name="T3" fmla="*/ 0 h 3"/>
                  <a:gd name="T4" fmla="*/ 0 60000 65536"/>
                  <a:gd name="T5" fmla="*/ 0 60000 65536"/>
                  <a:gd name="T6" fmla="*/ 0 w 198"/>
                  <a:gd name="T7" fmla="*/ 0 h 3"/>
                  <a:gd name="T8" fmla="*/ 198 w 198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8" h="3">
                    <a:moveTo>
                      <a:pt x="0" y="3"/>
                    </a:moveTo>
                    <a:lnTo>
                      <a:pt x="198" y="0"/>
                    </a:lnTo>
                  </a:path>
                </a:pathLst>
              </a:custGeom>
              <a:solidFill>
                <a:srgbClr val="FFFFFF"/>
              </a:solidFill>
              <a:ln w="76200" cmpd="sng">
                <a:solidFill>
                  <a:schemeClr val="folHlink"/>
                </a:solidFill>
                <a:round/>
                <a:headEnd type="oval" w="sm" len="sm"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8788" name="Freeform 247"/>
              <p:cNvSpPr/>
              <p:nvPr/>
            </p:nvSpPr>
            <p:spPr bwMode="auto">
              <a:xfrm>
                <a:off x="1148" y="981"/>
                <a:ext cx="189" cy="2235"/>
              </a:xfrm>
              <a:custGeom>
                <a:avLst/>
                <a:gdLst>
                  <a:gd name="T0" fmla="*/ 189 w 189"/>
                  <a:gd name="T1" fmla="*/ 0 h 2235"/>
                  <a:gd name="T2" fmla="*/ 0 w 189"/>
                  <a:gd name="T3" fmla="*/ 0 h 2235"/>
                  <a:gd name="T4" fmla="*/ 0 w 189"/>
                  <a:gd name="T5" fmla="*/ 2235 h 2235"/>
                  <a:gd name="T6" fmla="*/ 0 60000 65536"/>
                  <a:gd name="T7" fmla="*/ 0 60000 65536"/>
                  <a:gd name="T8" fmla="*/ 0 60000 65536"/>
                  <a:gd name="T9" fmla="*/ 0 w 189"/>
                  <a:gd name="T10" fmla="*/ 0 h 2235"/>
                  <a:gd name="T11" fmla="*/ 189 w 189"/>
                  <a:gd name="T12" fmla="*/ 2235 h 223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89" h="2235">
                    <a:moveTo>
                      <a:pt x="189" y="0"/>
                    </a:moveTo>
                    <a:lnTo>
                      <a:pt x="0" y="0"/>
                    </a:lnTo>
                    <a:lnTo>
                      <a:pt x="0" y="2235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8789" name="Freeform 248"/>
              <p:cNvSpPr/>
              <p:nvPr/>
            </p:nvSpPr>
            <p:spPr bwMode="auto">
              <a:xfrm>
                <a:off x="1145" y="2718"/>
                <a:ext cx="192" cy="1"/>
              </a:xfrm>
              <a:custGeom>
                <a:avLst/>
                <a:gdLst>
                  <a:gd name="T0" fmla="*/ 0 w 192"/>
                  <a:gd name="T1" fmla="*/ 0 h 1"/>
                  <a:gd name="T2" fmla="*/ 192 w 192"/>
                  <a:gd name="T3" fmla="*/ 0 h 1"/>
                  <a:gd name="T4" fmla="*/ 0 60000 65536"/>
                  <a:gd name="T5" fmla="*/ 0 60000 65536"/>
                  <a:gd name="T6" fmla="*/ 0 w 192"/>
                  <a:gd name="T7" fmla="*/ 0 h 1"/>
                  <a:gd name="T8" fmla="*/ 192 w 19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2" h="1">
                    <a:moveTo>
                      <a:pt x="0" y="0"/>
                    </a:moveTo>
                    <a:lnTo>
                      <a:pt x="192" y="0"/>
                    </a:lnTo>
                  </a:path>
                </a:pathLst>
              </a:custGeom>
              <a:solidFill>
                <a:srgbClr val="FFFFFF"/>
              </a:solidFill>
              <a:ln w="76200" cmpd="sng">
                <a:solidFill>
                  <a:schemeClr val="folHlink"/>
                </a:solidFill>
                <a:round/>
                <a:headEnd type="oval" w="sm" len="sm"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58786" name="Line 249"/>
            <p:cNvSpPr>
              <a:spLocks noChangeShapeType="1"/>
            </p:cNvSpPr>
            <p:nvPr/>
          </p:nvSpPr>
          <p:spPr bwMode="auto">
            <a:xfrm>
              <a:off x="1148" y="2063"/>
              <a:ext cx="190" cy="1"/>
            </a:xfrm>
            <a:prstGeom prst="line">
              <a:avLst/>
            </a:prstGeom>
            <a:noFill/>
            <a:ln w="76200">
              <a:solidFill>
                <a:schemeClr val="folHlink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9034" name="Group 250"/>
          <p:cNvGrpSpPr/>
          <p:nvPr/>
        </p:nvGrpSpPr>
        <p:grpSpPr bwMode="auto">
          <a:xfrm rot="5400000">
            <a:off x="6969125" y="692151"/>
            <a:ext cx="77787" cy="366712"/>
            <a:chOff x="1586" y="1334"/>
            <a:chExt cx="49" cy="231"/>
          </a:xfrm>
        </p:grpSpPr>
        <p:sp>
          <p:nvSpPr>
            <p:cNvPr id="158782" name="Freeform 251"/>
            <p:cNvSpPr/>
            <p:nvPr/>
          </p:nvSpPr>
          <p:spPr bwMode="auto">
            <a:xfrm>
              <a:off x="1586" y="1392"/>
              <a:ext cx="1" cy="120"/>
            </a:xfrm>
            <a:custGeom>
              <a:avLst/>
              <a:gdLst>
                <a:gd name="T0" fmla="*/ 0 w 1"/>
                <a:gd name="T1" fmla="*/ 0 h 120"/>
                <a:gd name="T2" fmla="*/ 0 w 1"/>
                <a:gd name="T3" fmla="*/ 120 h 120"/>
                <a:gd name="T4" fmla="*/ 0 60000 65536"/>
                <a:gd name="T5" fmla="*/ 0 60000 65536"/>
                <a:gd name="T6" fmla="*/ 0 w 1"/>
                <a:gd name="T7" fmla="*/ 0 h 120"/>
                <a:gd name="T8" fmla="*/ 1 w 1"/>
                <a:gd name="T9" fmla="*/ 120 h 12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20">
                  <a:moveTo>
                    <a:pt x="0" y="0"/>
                  </a:moveTo>
                  <a:lnTo>
                    <a:pt x="0" y="120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58783" name="Freeform 252"/>
            <p:cNvSpPr/>
            <p:nvPr/>
          </p:nvSpPr>
          <p:spPr bwMode="auto">
            <a:xfrm>
              <a:off x="1634" y="1334"/>
              <a:ext cx="1" cy="231"/>
            </a:xfrm>
            <a:custGeom>
              <a:avLst/>
              <a:gdLst>
                <a:gd name="T0" fmla="*/ 0 w 1"/>
                <a:gd name="T1" fmla="*/ 0 h 231"/>
                <a:gd name="T2" fmla="*/ 0 w 1"/>
                <a:gd name="T3" fmla="*/ 231 h 231"/>
                <a:gd name="T4" fmla="*/ 0 60000 65536"/>
                <a:gd name="T5" fmla="*/ 0 60000 65536"/>
                <a:gd name="T6" fmla="*/ 0 w 1"/>
                <a:gd name="T7" fmla="*/ 0 h 231"/>
                <a:gd name="T8" fmla="*/ 1 w 1"/>
                <a:gd name="T9" fmla="*/ 231 h 23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31">
                  <a:moveTo>
                    <a:pt x="0" y="0"/>
                  </a:moveTo>
                  <a:lnTo>
                    <a:pt x="0" y="231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59035" name="Group 253"/>
          <p:cNvGrpSpPr/>
          <p:nvPr/>
        </p:nvGrpSpPr>
        <p:grpSpPr bwMode="auto">
          <a:xfrm>
            <a:off x="2085975" y="1104900"/>
            <a:ext cx="620713" cy="952500"/>
            <a:chOff x="1314" y="696"/>
            <a:chExt cx="391" cy="600"/>
          </a:xfrm>
        </p:grpSpPr>
        <p:grpSp>
          <p:nvGrpSpPr>
            <p:cNvPr id="158772" name="Group 254"/>
            <p:cNvGrpSpPr/>
            <p:nvPr/>
          </p:nvGrpSpPr>
          <p:grpSpPr bwMode="auto">
            <a:xfrm>
              <a:off x="1314" y="696"/>
              <a:ext cx="391" cy="237"/>
              <a:chOff x="1382" y="696"/>
              <a:chExt cx="391" cy="237"/>
            </a:xfrm>
          </p:grpSpPr>
          <p:sp>
            <p:nvSpPr>
              <p:cNvPr id="158780" name="Freeform 255"/>
              <p:cNvSpPr/>
              <p:nvPr/>
            </p:nvSpPr>
            <p:spPr bwMode="auto">
              <a:xfrm>
                <a:off x="1382" y="696"/>
                <a:ext cx="108" cy="237"/>
              </a:xfrm>
              <a:custGeom>
                <a:avLst/>
                <a:gdLst>
                  <a:gd name="T0" fmla="*/ 0 w 108"/>
                  <a:gd name="T1" fmla="*/ 237 h 237"/>
                  <a:gd name="T2" fmla="*/ 108 w 108"/>
                  <a:gd name="T3" fmla="*/ 237 h 237"/>
                  <a:gd name="T4" fmla="*/ 108 w 108"/>
                  <a:gd name="T5" fmla="*/ 0 h 237"/>
                  <a:gd name="T6" fmla="*/ 0 60000 65536"/>
                  <a:gd name="T7" fmla="*/ 0 60000 65536"/>
                  <a:gd name="T8" fmla="*/ 0 60000 65536"/>
                  <a:gd name="T9" fmla="*/ 0 w 108"/>
                  <a:gd name="T10" fmla="*/ 0 h 237"/>
                  <a:gd name="T11" fmla="*/ 108 w 108"/>
                  <a:gd name="T12" fmla="*/ 237 h 23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8" h="237">
                    <a:moveTo>
                      <a:pt x="0" y="237"/>
                    </a:moveTo>
                    <a:lnTo>
                      <a:pt x="108" y="237"/>
                    </a:lnTo>
                    <a:lnTo>
                      <a:pt x="108" y="0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8781" name="Freeform 256"/>
              <p:cNvSpPr/>
              <p:nvPr/>
            </p:nvSpPr>
            <p:spPr bwMode="auto">
              <a:xfrm>
                <a:off x="1509" y="702"/>
                <a:ext cx="264" cy="1"/>
              </a:xfrm>
              <a:custGeom>
                <a:avLst/>
                <a:gdLst>
                  <a:gd name="T0" fmla="*/ 0 w 264"/>
                  <a:gd name="T1" fmla="*/ 0 h 1"/>
                  <a:gd name="T2" fmla="*/ 264 w 264"/>
                  <a:gd name="T3" fmla="*/ 0 h 1"/>
                  <a:gd name="T4" fmla="*/ 0 60000 65536"/>
                  <a:gd name="T5" fmla="*/ 0 60000 65536"/>
                  <a:gd name="T6" fmla="*/ 0 w 264"/>
                  <a:gd name="T7" fmla="*/ 0 h 1"/>
                  <a:gd name="T8" fmla="*/ 264 w 26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64" h="1">
                    <a:moveTo>
                      <a:pt x="0" y="0"/>
                    </a:moveTo>
                    <a:lnTo>
                      <a:pt x="264" y="0"/>
                    </a:lnTo>
                  </a:path>
                </a:pathLst>
              </a:custGeom>
              <a:noFill/>
              <a:ln w="7620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58773" name="Group 257"/>
            <p:cNvGrpSpPr/>
            <p:nvPr/>
          </p:nvGrpSpPr>
          <p:grpSpPr bwMode="auto">
            <a:xfrm>
              <a:off x="1324" y="1019"/>
              <a:ext cx="202" cy="277"/>
              <a:chOff x="1392" y="1019"/>
              <a:chExt cx="202" cy="277"/>
            </a:xfrm>
          </p:grpSpPr>
          <p:sp>
            <p:nvSpPr>
              <p:cNvPr id="158774" name="Line 258"/>
              <p:cNvSpPr>
                <a:spLocks noChangeShapeType="1"/>
              </p:cNvSpPr>
              <p:nvPr/>
            </p:nvSpPr>
            <p:spPr bwMode="auto">
              <a:xfrm>
                <a:off x="1492" y="1199"/>
                <a:ext cx="2" cy="95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8775" name="Freeform 259"/>
              <p:cNvSpPr/>
              <p:nvPr/>
            </p:nvSpPr>
            <p:spPr bwMode="auto">
              <a:xfrm>
                <a:off x="1440" y="1295"/>
                <a:ext cx="120" cy="1"/>
              </a:xfrm>
              <a:custGeom>
                <a:avLst/>
                <a:gdLst>
                  <a:gd name="T0" fmla="*/ 0 w 120"/>
                  <a:gd name="T1" fmla="*/ 0 h 1"/>
                  <a:gd name="T2" fmla="*/ 120 w 120"/>
                  <a:gd name="T3" fmla="*/ 0 h 1"/>
                  <a:gd name="T4" fmla="*/ 0 60000 65536"/>
                  <a:gd name="T5" fmla="*/ 0 60000 65536"/>
                  <a:gd name="T6" fmla="*/ 0 w 120"/>
                  <a:gd name="T7" fmla="*/ 0 h 1"/>
                  <a:gd name="T8" fmla="*/ 120 w 12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0" h="1">
                    <a:moveTo>
                      <a:pt x="0" y="0"/>
                    </a:moveTo>
                    <a:lnTo>
                      <a:pt x="120" y="0"/>
                    </a:lnTo>
                  </a:path>
                </a:pathLst>
              </a:custGeom>
              <a:noFill/>
              <a:ln w="57150" cmpd="sng">
                <a:solidFill>
                  <a:schemeClr val="folHlink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8776" name="Freeform 260"/>
              <p:cNvSpPr/>
              <p:nvPr/>
            </p:nvSpPr>
            <p:spPr bwMode="auto">
              <a:xfrm>
                <a:off x="1392" y="1019"/>
                <a:ext cx="102" cy="141"/>
              </a:xfrm>
              <a:custGeom>
                <a:avLst/>
                <a:gdLst>
                  <a:gd name="T0" fmla="*/ 0 w 102"/>
                  <a:gd name="T1" fmla="*/ 0 h 141"/>
                  <a:gd name="T2" fmla="*/ 102 w 102"/>
                  <a:gd name="T3" fmla="*/ 0 h 141"/>
                  <a:gd name="T4" fmla="*/ 102 w 102"/>
                  <a:gd name="T5" fmla="*/ 141 h 141"/>
                  <a:gd name="T6" fmla="*/ 0 60000 65536"/>
                  <a:gd name="T7" fmla="*/ 0 60000 65536"/>
                  <a:gd name="T8" fmla="*/ 0 60000 65536"/>
                  <a:gd name="T9" fmla="*/ 0 w 102"/>
                  <a:gd name="T10" fmla="*/ 0 h 141"/>
                  <a:gd name="T11" fmla="*/ 102 w 102"/>
                  <a:gd name="T12" fmla="*/ 141 h 1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2" h="141">
                    <a:moveTo>
                      <a:pt x="0" y="0"/>
                    </a:moveTo>
                    <a:lnTo>
                      <a:pt x="102" y="0"/>
                    </a:lnTo>
                    <a:lnTo>
                      <a:pt x="102" y="141"/>
                    </a:lnTo>
                  </a:path>
                </a:pathLst>
              </a:custGeom>
              <a:noFill/>
              <a:ln w="57150" cmpd="sng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58777" name="Group 261"/>
              <p:cNvGrpSpPr/>
              <p:nvPr/>
            </p:nvGrpSpPr>
            <p:grpSpPr bwMode="auto">
              <a:xfrm>
                <a:off x="1392" y="1151"/>
                <a:ext cx="202" cy="49"/>
                <a:chOff x="432" y="1152"/>
                <a:chExt cx="202" cy="49"/>
              </a:xfrm>
            </p:grpSpPr>
            <p:sp>
              <p:nvSpPr>
                <p:cNvPr id="158778" name="Freeform 262"/>
                <p:cNvSpPr/>
                <p:nvPr/>
              </p:nvSpPr>
              <p:spPr bwMode="auto">
                <a:xfrm>
                  <a:off x="432" y="1152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57150" cmpd="sng">
                  <a:solidFill>
                    <a:schemeClr val="folHlink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8779" name="Freeform 263"/>
                <p:cNvSpPr/>
                <p:nvPr/>
              </p:nvSpPr>
              <p:spPr bwMode="auto">
                <a:xfrm>
                  <a:off x="432" y="1200"/>
                  <a:ext cx="202" cy="1"/>
                </a:xfrm>
                <a:custGeom>
                  <a:avLst/>
                  <a:gdLst>
                    <a:gd name="T0" fmla="*/ 0 w 202"/>
                    <a:gd name="T1" fmla="*/ 0 h 1"/>
                    <a:gd name="T2" fmla="*/ 202 w 202"/>
                    <a:gd name="T3" fmla="*/ 0 h 1"/>
                    <a:gd name="T4" fmla="*/ 0 60000 65536"/>
                    <a:gd name="T5" fmla="*/ 0 60000 65536"/>
                    <a:gd name="T6" fmla="*/ 0 w 202"/>
                    <a:gd name="T7" fmla="*/ 0 h 1"/>
                    <a:gd name="T8" fmla="*/ 202 w 202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02" h="1">
                      <a:moveTo>
                        <a:pt x="0" y="0"/>
                      </a:moveTo>
                      <a:lnTo>
                        <a:pt x="202" y="0"/>
                      </a:lnTo>
                    </a:path>
                  </a:pathLst>
                </a:custGeom>
                <a:solidFill>
                  <a:srgbClr val="FFFFFF"/>
                </a:solidFill>
                <a:ln w="57150" cmpd="sng">
                  <a:solidFill>
                    <a:schemeClr val="folHlink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159039" name="Group 264"/>
          <p:cNvGrpSpPr/>
          <p:nvPr/>
        </p:nvGrpSpPr>
        <p:grpSpPr bwMode="auto">
          <a:xfrm>
            <a:off x="2022475" y="1371600"/>
            <a:ext cx="688975" cy="3124200"/>
            <a:chOff x="1274" y="864"/>
            <a:chExt cx="434" cy="1968"/>
          </a:xfrm>
        </p:grpSpPr>
        <p:grpSp>
          <p:nvGrpSpPr>
            <p:cNvPr id="158761" name="Group 265"/>
            <p:cNvGrpSpPr/>
            <p:nvPr/>
          </p:nvGrpSpPr>
          <p:grpSpPr bwMode="auto">
            <a:xfrm>
              <a:off x="1274" y="864"/>
              <a:ext cx="50" cy="1968"/>
              <a:chOff x="1342" y="864"/>
              <a:chExt cx="50" cy="1968"/>
            </a:xfrm>
          </p:grpSpPr>
          <p:grpSp>
            <p:nvGrpSpPr>
              <p:cNvPr id="158763" name="Group 266"/>
              <p:cNvGrpSpPr/>
              <p:nvPr/>
            </p:nvGrpSpPr>
            <p:grpSpPr bwMode="auto">
              <a:xfrm>
                <a:off x="1342" y="864"/>
                <a:ext cx="49" cy="231"/>
                <a:chOff x="1586" y="1334"/>
                <a:chExt cx="49" cy="231"/>
              </a:xfrm>
            </p:grpSpPr>
            <p:sp>
              <p:nvSpPr>
                <p:cNvPr id="158770" name="Freeform 267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  <a:gd name="T6" fmla="*/ 0 w 1"/>
                    <a:gd name="T7" fmla="*/ 0 h 120"/>
                    <a:gd name="T8" fmla="*/ 1 w 1"/>
                    <a:gd name="T9" fmla="*/ 120 h 12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5715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58771" name="Freeform 268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  <a:gd name="T6" fmla="*/ 0 w 1"/>
                    <a:gd name="T7" fmla="*/ 0 h 231"/>
                    <a:gd name="T8" fmla="*/ 1 w 1"/>
                    <a:gd name="T9" fmla="*/ 231 h 23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5715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58764" name="Group 269"/>
              <p:cNvGrpSpPr/>
              <p:nvPr/>
            </p:nvGrpSpPr>
            <p:grpSpPr bwMode="auto">
              <a:xfrm>
                <a:off x="1343" y="1593"/>
                <a:ext cx="49" cy="231"/>
                <a:chOff x="1586" y="1334"/>
                <a:chExt cx="49" cy="231"/>
              </a:xfrm>
            </p:grpSpPr>
            <p:sp>
              <p:nvSpPr>
                <p:cNvPr id="158768" name="Freeform 270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  <a:gd name="T6" fmla="*/ 0 w 1"/>
                    <a:gd name="T7" fmla="*/ 0 h 120"/>
                    <a:gd name="T8" fmla="*/ 1 w 1"/>
                    <a:gd name="T9" fmla="*/ 120 h 12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5715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58769" name="Freeform 271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  <a:gd name="T6" fmla="*/ 0 w 1"/>
                    <a:gd name="T7" fmla="*/ 0 h 231"/>
                    <a:gd name="T8" fmla="*/ 1 w 1"/>
                    <a:gd name="T9" fmla="*/ 231 h 23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5715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58765" name="Group 272"/>
              <p:cNvGrpSpPr/>
              <p:nvPr/>
            </p:nvGrpSpPr>
            <p:grpSpPr bwMode="auto">
              <a:xfrm>
                <a:off x="1343" y="2601"/>
                <a:ext cx="49" cy="231"/>
                <a:chOff x="1586" y="1334"/>
                <a:chExt cx="49" cy="231"/>
              </a:xfrm>
            </p:grpSpPr>
            <p:sp>
              <p:nvSpPr>
                <p:cNvPr id="158766" name="Freeform 273"/>
                <p:cNvSpPr/>
                <p:nvPr/>
              </p:nvSpPr>
              <p:spPr bwMode="auto">
                <a:xfrm>
                  <a:off x="1586" y="1392"/>
                  <a:ext cx="1" cy="120"/>
                </a:xfrm>
                <a:custGeom>
                  <a:avLst/>
                  <a:gdLst>
                    <a:gd name="T0" fmla="*/ 0 w 1"/>
                    <a:gd name="T1" fmla="*/ 0 h 120"/>
                    <a:gd name="T2" fmla="*/ 0 w 1"/>
                    <a:gd name="T3" fmla="*/ 120 h 120"/>
                    <a:gd name="T4" fmla="*/ 0 60000 65536"/>
                    <a:gd name="T5" fmla="*/ 0 60000 65536"/>
                    <a:gd name="T6" fmla="*/ 0 w 1"/>
                    <a:gd name="T7" fmla="*/ 0 h 120"/>
                    <a:gd name="T8" fmla="*/ 1 w 1"/>
                    <a:gd name="T9" fmla="*/ 120 h 12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120">
                      <a:moveTo>
                        <a:pt x="0" y="0"/>
                      </a:moveTo>
                      <a:lnTo>
                        <a:pt x="0" y="120"/>
                      </a:lnTo>
                    </a:path>
                  </a:pathLst>
                </a:custGeom>
                <a:noFill/>
                <a:ln w="5715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158767" name="Freeform 274"/>
                <p:cNvSpPr/>
                <p:nvPr/>
              </p:nvSpPr>
              <p:spPr bwMode="auto">
                <a:xfrm>
                  <a:off x="1634" y="1334"/>
                  <a:ext cx="1" cy="231"/>
                </a:xfrm>
                <a:custGeom>
                  <a:avLst/>
                  <a:gdLst>
                    <a:gd name="T0" fmla="*/ 0 w 1"/>
                    <a:gd name="T1" fmla="*/ 0 h 231"/>
                    <a:gd name="T2" fmla="*/ 0 w 1"/>
                    <a:gd name="T3" fmla="*/ 231 h 231"/>
                    <a:gd name="T4" fmla="*/ 0 60000 65536"/>
                    <a:gd name="T5" fmla="*/ 0 60000 65536"/>
                    <a:gd name="T6" fmla="*/ 0 w 1"/>
                    <a:gd name="T7" fmla="*/ 0 h 231"/>
                    <a:gd name="T8" fmla="*/ 1 w 1"/>
                    <a:gd name="T9" fmla="*/ 231 h 23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31">
                      <a:moveTo>
                        <a:pt x="0" y="0"/>
                      </a:moveTo>
                      <a:lnTo>
                        <a:pt x="0" y="231"/>
                      </a:lnTo>
                    </a:path>
                  </a:pathLst>
                </a:custGeom>
                <a:noFill/>
                <a:ln w="5715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58762" name="Text Box 275"/>
            <p:cNvSpPr txBox="1">
              <a:spLocks noChangeArrowheads="1"/>
            </p:cNvSpPr>
            <p:nvPr/>
          </p:nvSpPr>
          <p:spPr bwMode="auto">
            <a:xfrm>
              <a:off x="1285" y="2056"/>
              <a:ext cx="423" cy="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158729" name="Text Box 276"/>
          <p:cNvSpPr txBox="1">
            <a:spLocks noChangeArrowheads="1"/>
          </p:cNvSpPr>
          <p:nvPr/>
        </p:nvSpPr>
        <p:spPr bwMode="auto">
          <a:xfrm>
            <a:off x="304800" y="228600"/>
            <a:ext cx="60198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3200">
                <a:latin typeface="Times New Roman" panose="02020603050405020304" pitchFamily="18" charset="0"/>
                <a:ea typeface="楷体_GB2312" pitchFamily="49" charset="-122"/>
              </a:rPr>
              <a:t>⑤ </a:t>
            </a:r>
            <a:r>
              <a:rPr lang="en-US" altLang="zh-CN" sz="3200">
                <a:latin typeface="Times New Roman" panose="02020603050405020304" pitchFamily="18" charset="0"/>
              </a:rPr>
              <a:t>4116 (16K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3200">
                <a:latin typeface="Times New Roman" panose="02020603050405020304" pitchFamily="18" charset="0"/>
              </a:rPr>
              <a:t>1</a:t>
            </a:r>
            <a:r>
              <a:rPr lang="zh-CN" altLang="en-US" sz="3200">
                <a:latin typeface="Times New Roman" panose="02020603050405020304" pitchFamily="18" charset="0"/>
              </a:rPr>
              <a:t>位) 芯片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latin typeface="Times New Roman" panose="02020603050405020304" pitchFamily="18" charset="0"/>
              </a:rPr>
              <a:t>原理</a:t>
            </a:r>
          </a:p>
        </p:txBody>
      </p:sp>
      <p:grpSp>
        <p:nvGrpSpPr>
          <p:cNvPr id="247012" name="Group 277"/>
          <p:cNvGrpSpPr/>
          <p:nvPr/>
        </p:nvGrpSpPr>
        <p:grpSpPr bwMode="auto">
          <a:xfrm>
            <a:off x="2209800" y="6061075"/>
            <a:ext cx="4292600" cy="508000"/>
            <a:chOff x="1392" y="3818"/>
            <a:chExt cx="2704" cy="320"/>
          </a:xfrm>
        </p:grpSpPr>
        <p:grpSp>
          <p:nvGrpSpPr>
            <p:cNvPr id="158748" name="Group 278"/>
            <p:cNvGrpSpPr/>
            <p:nvPr/>
          </p:nvGrpSpPr>
          <p:grpSpPr bwMode="auto">
            <a:xfrm>
              <a:off x="2163" y="3867"/>
              <a:ext cx="1933" cy="271"/>
              <a:chOff x="2163" y="3867"/>
              <a:chExt cx="1933" cy="271"/>
            </a:xfrm>
          </p:grpSpPr>
          <p:sp>
            <p:nvSpPr>
              <p:cNvPr id="158752" name="Line 279"/>
              <p:cNvSpPr>
                <a:spLocks noChangeShapeType="1"/>
              </p:cNvSpPr>
              <p:nvPr/>
            </p:nvSpPr>
            <p:spPr bwMode="auto">
              <a:xfrm>
                <a:off x="2908" y="3984"/>
                <a:ext cx="432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158753" name="Group 280"/>
              <p:cNvGrpSpPr/>
              <p:nvPr/>
            </p:nvGrpSpPr>
            <p:grpSpPr bwMode="auto">
              <a:xfrm>
                <a:off x="2163" y="3867"/>
                <a:ext cx="765" cy="254"/>
                <a:chOff x="2163" y="3867"/>
                <a:chExt cx="765" cy="254"/>
              </a:xfrm>
            </p:grpSpPr>
            <p:sp>
              <p:nvSpPr>
                <p:cNvPr id="158759" name="Rectangle 281"/>
                <p:cNvSpPr>
                  <a:spLocks noChangeArrowheads="1"/>
                </p:cNvSpPr>
                <p:nvPr/>
              </p:nvSpPr>
              <p:spPr bwMode="auto">
                <a:xfrm>
                  <a:off x="2163" y="3869"/>
                  <a:ext cx="745" cy="252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/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endParaRPr lang="zh-CN" altLang="en-US" sz="2400" b="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58760" name="Text Box 282"/>
                <p:cNvSpPr txBox="1">
                  <a:spLocks noChangeArrowheads="1"/>
                </p:cNvSpPr>
                <p:nvPr/>
              </p:nvSpPr>
              <p:spPr bwMode="auto">
                <a:xfrm>
                  <a:off x="2168" y="3867"/>
                  <a:ext cx="760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数据输入</a:t>
                  </a:r>
                </a:p>
              </p:txBody>
            </p:sp>
          </p:grpSp>
          <p:grpSp>
            <p:nvGrpSpPr>
              <p:cNvPr id="158754" name="Group 283"/>
              <p:cNvGrpSpPr/>
              <p:nvPr/>
            </p:nvGrpSpPr>
            <p:grpSpPr bwMode="auto">
              <a:xfrm>
                <a:off x="3352" y="3869"/>
                <a:ext cx="744" cy="269"/>
                <a:chOff x="3352" y="3869"/>
                <a:chExt cx="744" cy="269"/>
              </a:xfrm>
            </p:grpSpPr>
            <p:sp>
              <p:nvSpPr>
                <p:cNvPr id="158755" name="Rectangle 284"/>
                <p:cNvSpPr>
                  <a:spLocks noChangeArrowheads="1"/>
                </p:cNvSpPr>
                <p:nvPr/>
              </p:nvSpPr>
              <p:spPr bwMode="auto">
                <a:xfrm>
                  <a:off x="3354" y="3869"/>
                  <a:ext cx="742" cy="252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58756" name="Text Box 285"/>
                <p:cNvSpPr txBox="1">
                  <a:spLocks noChangeArrowheads="1"/>
                </p:cNvSpPr>
                <p:nvPr/>
              </p:nvSpPr>
              <p:spPr bwMode="auto">
                <a:xfrm>
                  <a:off x="3388" y="3888"/>
                  <a:ext cx="668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I/O</a:t>
                  </a:r>
                  <a:r>
                    <a:rPr lang="zh-CN" altLang="en-US" sz="2000">
                      <a:latin typeface="Times New Roman" panose="02020603050405020304" pitchFamily="18" charset="0"/>
                    </a:rPr>
                    <a:t>缓冲</a:t>
                  </a:r>
                </a:p>
              </p:txBody>
            </p:sp>
            <p:sp>
              <p:nvSpPr>
                <p:cNvPr id="158757" name="Rectangle 286"/>
                <p:cNvSpPr>
                  <a:spLocks noChangeArrowheads="1"/>
                </p:cNvSpPr>
                <p:nvPr/>
              </p:nvSpPr>
              <p:spPr bwMode="auto">
                <a:xfrm>
                  <a:off x="3352" y="3869"/>
                  <a:ext cx="742" cy="252"/>
                </a:xfrm>
                <a:prstGeom prst="rect">
                  <a:avLst/>
                </a:prstGeom>
                <a:solidFill>
                  <a:schemeClr val="folHlink"/>
                </a:solidFill>
                <a:ln w="38100">
                  <a:solidFill>
                    <a:schemeClr val="folHlink"/>
                  </a:solidFill>
                  <a:miter lim="800000"/>
                </a:ln>
              </p:spPr>
              <p:txBody>
                <a:bodyPr/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58758" name="Text Box 287"/>
                <p:cNvSpPr txBox="1">
                  <a:spLocks noChangeArrowheads="1"/>
                </p:cNvSpPr>
                <p:nvPr/>
              </p:nvSpPr>
              <p:spPr bwMode="auto">
                <a:xfrm>
                  <a:off x="3402" y="3878"/>
                  <a:ext cx="668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US" altLang="zh-CN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I/O</a:t>
                  </a:r>
                  <a:r>
                    <a:rPr lang="zh-CN" altLang="en-US" sz="2000">
                      <a:solidFill>
                        <a:schemeClr val="bg2"/>
                      </a:solidFill>
                      <a:latin typeface="Times New Roman" panose="02020603050405020304" pitchFamily="18" charset="0"/>
                    </a:rPr>
                    <a:t>缓冲</a:t>
                  </a:r>
                </a:p>
              </p:txBody>
            </p:sp>
          </p:grpSp>
        </p:grpSp>
        <p:sp>
          <p:nvSpPr>
            <p:cNvPr id="158749" name="Line 288"/>
            <p:cNvSpPr>
              <a:spLocks noChangeShapeType="1"/>
            </p:cNvSpPr>
            <p:nvPr/>
          </p:nvSpPr>
          <p:spPr bwMode="auto">
            <a:xfrm>
              <a:off x="1708" y="3984"/>
              <a:ext cx="432" cy="0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8750" name="Text Box 289"/>
            <p:cNvSpPr txBox="1">
              <a:spLocks noChangeArrowheads="1"/>
            </p:cNvSpPr>
            <p:nvPr/>
          </p:nvSpPr>
          <p:spPr bwMode="auto">
            <a:xfrm>
              <a:off x="1392" y="3818"/>
              <a:ext cx="2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D</a:t>
              </a:r>
            </a:p>
          </p:txBody>
        </p:sp>
        <p:sp>
          <p:nvSpPr>
            <p:cNvPr id="158751" name="Text Box 290"/>
            <p:cNvSpPr txBox="1">
              <a:spLocks noChangeArrowheads="1"/>
            </p:cNvSpPr>
            <p:nvPr/>
          </p:nvSpPr>
          <p:spPr bwMode="auto">
            <a:xfrm>
              <a:off x="1535" y="3936"/>
              <a:ext cx="241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1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IN</a:t>
              </a:r>
            </a:p>
          </p:txBody>
        </p:sp>
      </p:grpSp>
      <p:grpSp>
        <p:nvGrpSpPr>
          <p:cNvPr id="247016" name="Group 291"/>
          <p:cNvGrpSpPr/>
          <p:nvPr/>
        </p:nvGrpSpPr>
        <p:grpSpPr bwMode="auto">
          <a:xfrm>
            <a:off x="2659063" y="898525"/>
            <a:ext cx="1531937" cy="406400"/>
            <a:chOff x="1703" y="566"/>
            <a:chExt cx="965" cy="256"/>
          </a:xfrm>
        </p:grpSpPr>
        <p:sp>
          <p:nvSpPr>
            <p:cNvPr id="158744" name="Rectangle 292"/>
            <p:cNvSpPr>
              <a:spLocks noChangeArrowheads="1"/>
            </p:cNvSpPr>
            <p:nvPr/>
          </p:nvSpPr>
          <p:spPr bwMode="auto">
            <a:xfrm>
              <a:off x="1708" y="576"/>
              <a:ext cx="906" cy="24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58745" name="Text Box 293"/>
            <p:cNvSpPr txBox="1">
              <a:spLocks noChangeArrowheads="1"/>
            </p:cNvSpPr>
            <p:nvPr/>
          </p:nvSpPr>
          <p:spPr bwMode="auto">
            <a:xfrm>
              <a:off x="1704" y="566"/>
              <a:ext cx="964" cy="256"/>
            </a:xfrm>
            <a:prstGeom prst="rect">
              <a:avLst/>
            </a:prstGeom>
            <a:solidFill>
              <a:schemeClr val="folHlink"/>
            </a:solidFill>
            <a:ln w="9525">
              <a:solidFill>
                <a:schemeClr val="folHlink"/>
              </a:solidFill>
              <a:miter lim="800000"/>
            </a:ln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读出放大器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58746" name="Rectangle 294"/>
            <p:cNvSpPr>
              <a:spLocks noChangeArrowheads="1"/>
            </p:cNvSpPr>
            <p:nvPr/>
          </p:nvSpPr>
          <p:spPr bwMode="auto">
            <a:xfrm>
              <a:off x="1707" y="576"/>
              <a:ext cx="906" cy="244"/>
            </a:xfrm>
            <a:prstGeom prst="rect">
              <a:avLst/>
            </a:prstGeom>
            <a:solidFill>
              <a:schemeClr val="folHlink"/>
            </a:solidFill>
            <a:ln w="38100">
              <a:solidFill>
                <a:schemeClr val="folHlink"/>
              </a:solidFill>
              <a:miter lim="800000"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endParaRPr lang="zh-CN" altLang="en-US" sz="3200" b="0">
                <a:latin typeface="Times New Roman" panose="02020603050405020304" pitchFamily="18" charset="0"/>
              </a:endParaRPr>
            </a:p>
          </p:txBody>
        </p:sp>
        <p:sp>
          <p:nvSpPr>
            <p:cNvPr id="158747" name="Text Box 295"/>
            <p:cNvSpPr txBox="1">
              <a:spLocks noChangeArrowheads="1"/>
            </p:cNvSpPr>
            <p:nvPr/>
          </p:nvSpPr>
          <p:spPr bwMode="auto">
            <a:xfrm>
              <a:off x="1703" y="566"/>
              <a:ext cx="964" cy="256"/>
            </a:xfrm>
            <a:prstGeom prst="rect">
              <a:avLst/>
            </a:prstGeom>
            <a:solidFill>
              <a:schemeClr val="folHlink"/>
            </a:solidFill>
            <a:ln w="9525">
              <a:solidFill>
                <a:schemeClr val="folHlink"/>
              </a:solidFill>
              <a:miter lim="800000"/>
            </a:ln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>
                  <a:solidFill>
                    <a:schemeClr val="bg2"/>
                  </a:solidFill>
                  <a:latin typeface="Times New Roman" panose="02020603050405020304" pitchFamily="18" charset="0"/>
                </a:rPr>
                <a:t>       </a:t>
              </a: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读放大器</a:t>
              </a:r>
              <a:endParaRPr lang="zh-CN" altLang="en-US" sz="24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</p:grpSp>
      <p:sp>
        <p:nvSpPr>
          <p:cNvPr id="247080" name="Rectangle 296"/>
          <p:cNvSpPr>
            <a:spLocks noChangeArrowheads="1"/>
          </p:cNvSpPr>
          <p:nvPr/>
        </p:nvSpPr>
        <p:spPr bwMode="auto">
          <a:xfrm>
            <a:off x="8001000" y="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247081" name="Text Box 297"/>
          <p:cNvSpPr txBox="1">
            <a:spLocks noChangeArrowheads="1"/>
          </p:cNvSpPr>
          <p:nvPr/>
        </p:nvSpPr>
        <p:spPr bwMode="auto">
          <a:xfrm>
            <a:off x="1492250" y="5016500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63</a:t>
            </a:r>
          </a:p>
        </p:txBody>
      </p:sp>
      <p:sp>
        <p:nvSpPr>
          <p:cNvPr id="247082" name="Text Box 298"/>
          <p:cNvSpPr txBox="1">
            <a:spLocks noChangeArrowheads="1"/>
          </p:cNvSpPr>
          <p:nvPr/>
        </p:nvSpPr>
        <p:spPr bwMode="auto">
          <a:xfrm>
            <a:off x="8096250" y="6604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</a:p>
        </p:txBody>
      </p:sp>
      <p:grpSp>
        <p:nvGrpSpPr>
          <p:cNvPr id="247017" name="Group 299"/>
          <p:cNvGrpSpPr/>
          <p:nvPr/>
        </p:nvGrpSpPr>
        <p:grpSpPr bwMode="auto">
          <a:xfrm>
            <a:off x="5942013" y="5829300"/>
            <a:ext cx="1847850" cy="319088"/>
            <a:chOff x="3743" y="3672"/>
            <a:chExt cx="1164" cy="201"/>
          </a:xfrm>
        </p:grpSpPr>
        <p:sp>
          <p:nvSpPr>
            <p:cNvPr id="158742" name="Freeform 300"/>
            <p:cNvSpPr/>
            <p:nvPr/>
          </p:nvSpPr>
          <p:spPr bwMode="auto">
            <a:xfrm>
              <a:off x="3743" y="3672"/>
              <a:ext cx="1" cy="201"/>
            </a:xfrm>
            <a:custGeom>
              <a:avLst/>
              <a:gdLst>
                <a:gd name="T0" fmla="*/ 1 w 1"/>
                <a:gd name="T1" fmla="*/ 0 h 201"/>
                <a:gd name="T2" fmla="*/ 0 w 1"/>
                <a:gd name="T3" fmla="*/ 201 h 201"/>
                <a:gd name="T4" fmla="*/ 0 60000 65536"/>
                <a:gd name="T5" fmla="*/ 0 60000 65536"/>
                <a:gd name="T6" fmla="*/ 0 w 1"/>
                <a:gd name="T7" fmla="*/ 0 h 201"/>
                <a:gd name="T8" fmla="*/ 1 w 1"/>
                <a:gd name="T9" fmla="*/ 201 h 20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01">
                  <a:moveTo>
                    <a:pt x="1" y="0"/>
                  </a:moveTo>
                  <a:lnTo>
                    <a:pt x="0" y="201"/>
                  </a:lnTo>
                </a:path>
              </a:pathLst>
            </a:custGeom>
            <a:noFill/>
            <a:ln w="76200">
              <a:solidFill>
                <a:schemeClr val="folHlink"/>
              </a:solidFill>
              <a:round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58743" name="Freeform 301"/>
            <p:cNvSpPr/>
            <p:nvPr/>
          </p:nvSpPr>
          <p:spPr bwMode="auto">
            <a:xfrm>
              <a:off x="3751" y="3694"/>
              <a:ext cx="1156" cy="2"/>
            </a:xfrm>
            <a:custGeom>
              <a:avLst/>
              <a:gdLst>
                <a:gd name="T0" fmla="*/ 5665 w 1023"/>
                <a:gd name="T1" fmla="*/ 0 h 2"/>
                <a:gd name="T2" fmla="*/ 0 w 1023"/>
                <a:gd name="T3" fmla="*/ 2 h 2"/>
                <a:gd name="T4" fmla="*/ 0 60000 65536"/>
                <a:gd name="T5" fmla="*/ 0 60000 65536"/>
                <a:gd name="T6" fmla="*/ 0 w 1023"/>
                <a:gd name="T7" fmla="*/ 0 h 2"/>
                <a:gd name="T8" fmla="*/ 1023 w 1023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23" h="2">
                  <a:moveTo>
                    <a:pt x="1023" y="0"/>
                  </a:moveTo>
                  <a:lnTo>
                    <a:pt x="0" y="2"/>
                  </a:lnTo>
                </a:path>
              </a:pathLst>
            </a:custGeom>
            <a:solidFill>
              <a:srgbClr val="FFFFFF"/>
            </a:solidFill>
            <a:ln w="76200" cmpd="sng">
              <a:solidFill>
                <a:schemeClr val="folHlink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7018" name="Group 302"/>
          <p:cNvGrpSpPr/>
          <p:nvPr/>
        </p:nvGrpSpPr>
        <p:grpSpPr bwMode="auto">
          <a:xfrm>
            <a:off x="7069138" y="881063"/>
            <a:ext cx="682625" cy="5002212"/>
            <a:chOff x="4453" y="555"/>
            <a:chExt cx="430" cy="3151"/>
          </a:xfrm>
        </p:grpSpPr>
        <p:sp>
          <p:nvSpPr>
            <p:cNvPr id="158738" name="Freeform 303"/>
            <p:cNvSpPr/>
            <p:nvPr/>
          </p:nvSpPr>
          <p:spPr bwMode="auto">
            <a:xfrm>
              <a:off x="4464" y="555"/>
              <a:ext cx="419" cy="3151"/>
            </a:xfrm>
            <a:custGeom>
              <a:avLst/>
              <a:gdLst>
                <a:gd name="T0" fmla="*/ 0 w 419"/>
                <a:gd name="T1" fmla="*/ 0 h 3045"/>
                <a:gd name="T2" fmla="*/ 0 w 419"/>
                <a:gd name="T3" fmla="*/ 224 h 3045"/>
                <a:gd name="T4" fmla="*/ 416 w 419"/>
                <a:gd name="T5" fmla="*/ 224 h 3045"/>
                <a:gd name="T6" fmla="*/ 419 w 419"/>
                <a:gd name="T7" fmla="*/ 4916 h 304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19"/>
                <a:gd name="T13" fmla="*/ 0 h 3045"/>
                <a:gd name="T14" fmla="*/ 419 w 419"/>
                <a:gd name="T15" fmla="*/ 3045 h 304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19" h="3045">
                  <a:moveTo>
                    <a:pt x="0" y="0"/>
                  </a:moveTo>
                  <a:lnTo>
                    <a:pt x="0" y="138"/>
                  </a:lnTo>
                  <a:lnTo>
                    <a:pt x="416" y="138"/>
                  </a:lnTo>
                  <a:lnTo>
                    <a:pt x="419" y="3045"/>
                  </a:lnTo>
                </a:path>
              </a:pathLst>
            </a:custGeom>
            <a:noFill/>
            <a:ln w="76200" cmpd="sng">
              <a:solidFill>
                <a:schemeClr val="folHlink"/>
              </a:solidFill>
              <a:round/>
              <a:headEnd type="stealth" w="med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58739" name="Group 304"/>
            <p:cNvGrpSpPr/>
            <p:nvPr/>
          </p:nvGrpSpPr>
          <p:grpSpPr bwMode="auto">
            <a:xfrm>
              <a:off x="4453" y="1302"/>
              <a:ext cx="423" cy="1176"/>
              <a:chOff x="4453" y="1302"/>
              <a:chExt cx="423" cy="1176"/>
            </a:xfrm>
          </p:grpSpPr>
          <p:sp>
            <p:nvSpPr>
              <p:cNvPr id="158740" name="Freeform 305"/>
              <p:cNvSpPr/>
              <p:nvPr/>
            </p:nvSpPr>
            <p:spPr bwMode="auto">
              <a:xfrm>
                <a:off x="4453" y="1302"/>
                <a:ext cx="419" cy="111"/>
              </a:xfrm>
              <a:custGeom>
                <a:avLst/>
                <a:gdLst>
                  <a:gd name="T0" fmla="*/ 0 w 432"/>
                  <a:gd name="T1" fmla="*/ 0 h 111"/>
                  <a:gd name="T2" fmla="*/ 0 w 432"/>
                  <a:gd name="T3" fmla="*/ 111 h 111"/>
                  <a:gd name="T4" fmla="*/ 281 w 432"/>
                  <a:gd name="T5" fmla="*/ 111 h 111"/>
                  <a:gd name="T6" fmla="*/ 0 60000 65536"/>
                  <a:gd name="T7" fmla="*/ 0 60000 65536"/>
                  <a:gd name="T8" fmla="*/ 0 60000 65536"/>
                  <a:gd name="T9" fmla="*/ 0 w 432"/>
                  <a:gd name="T10" fmla="*/ 0 h 111"/>
                  <a:gd name="T11" fmla="*/ 432 w 432"/>
                  <a:gd name="T12" fmla="*/ 111 h 1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32" h="111">
                    <a:moveTo>
                      <a:pt x="0" y="0"/>
                    </a:moveTo>
                    <a:lnTo>
                      <a:pt x="0" y="111"/>
                    </a:lnTo>
                    <a:lnTo>
                      <a:pt x="432" y="111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58741" name="Freeform 306"/>
              <p:cNvSpPr/>
              <p:nvPr/>
            </p:nvSpPr>
            <p:spPr bwMode="auto">
              <a:xfrm>
                <a:off x="4453" y="2358"/>
                <a:ext cx="423" cy="120"/>
              </a:xfrm>
              <a:custGeom>
                <a:avLst/>
                <a:gdLst>
                  <a:gd name="T0" fmla="*/ 0 w 423"/>
                  <a:gd name="T1" fmla="*/ 0 h 120"/>
                  <a:gd name="T2" fmla="*/ 0 w 423"/>
                  <a:gd name="T3" fmla="*/ 120 h 120"/>
                  <a:gd name="T4" fmla="*/ 423 w 423"/>
                  <a:gd name="T5" fmla="*/ 120 h 120"/>
                  <a:gd name="T6" fmla="*/ 0 60000 65536"/>
                  <a:gd name="T7" fmla="*/ 0 60000 65536"/>
                  <a:gd name="T8" fmla="*/ 0 60000 65536"/>
                  <a:gd name="T9" fmla="*/ 0 w 423"/>
                  <a:gd name="T10" fmla="*/ 0 h 120"/>
                  <a:gd name="T11" fmla="*/ 423 w 423"/>
                  <a:gd name="T12" fmla="*/ 120 h 1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23" h="120">
                    <a:moveTo>
                      <a:pt x="0" y="0"/>
                    </a:moveTo>
                    <a:lnTo>
                      <a:pt x="0" y="120"/>
                    </a:lnTo>
                    <a:lnTo>
                      <a:pt x="423" y="120"/>
                    </a:lnTo>
                  </a:path>
                </a:pathLst>
              </a:custGeom>
              <a:noFill/>
              <a:ln w="76200" cmpd="sng">
                <a:solidFill>
                  <a:schemeClr val="folHlink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sp>
        <p:nvSpPr>
          <p:cNvPr id="158737" name="AutoShape 307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470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2" dur="500"/>
                                        <p:tgtEl>
                                          <p:spTgt spid="159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59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" dur="500"/>
                                        <p:tgtEl>
                                          <p:spTgt spid="2470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7" dur="500"/>
                                        <p:tgtEl>
                                          <p:spTgt spid="2470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31" dur="500"/>
                                        <p:tgtEl>
                                          <p:spTgt spid="2470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" dur="500"/>
                                        <p:tgtEl>
                                          <p:spTgt spid="2470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8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41" dur="500"/>
                                        <p:tgtEl>
                                          <p:spTgt spid="247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" dur="500"/>
                                        <p:tgtEl>
                                          <p:spTgt spid="1590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8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50" dur="500"/>
                                        <p:tgtEl>
                                          <p:spTgt spid="247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"/>
                            </p:stCondLst>
                            <p:childTnLst>
                              <p:par>
                                <p:cTn id="52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" dur="500"/>
                                        <p:tgtEl>
                                          <p:spTgt spid="2470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59" dur="500"/>
                                        <p:tgtEl>
                                          <p:spTgt spid="159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7025" grpId="0" animBg="1"/>
      <p:bldP spid="247026" grpId="0" animBg="1"/>
      <p:bldP spid="247081" grpId="0" autoUpdateAnimBg="0"/>
      <p:bldP spid="247082" grpId="0" autoUpdateAnimBg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6" name="Text Box 2"/>
          <p:cNvSpPr txBox="1">
            <a:spLocks noChangeArrowheads="1"/>
          </p:cNvSpPr>
          <p:nvPr/>
        </p:nvSpPr>
        <p:spPr bwMode="auto">
          <a:xfrm>
            <a:off x="304800" y="381000"/>
            <a:ext cx="5410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 (3)  动态 </a:t>
            </a:r>
            <a:r>
              <a:rPr lang="en-US" altLang="zh-CN" sz="3600">
                <a:latin typeface="Times New Roman" panose="02020603050405020304" pitchFamily="18" charset="0"/>
              </a:rPr>
              <a:t>RAM </a:t>
            </a:r>
            <a:r>
              <a:rPr lang="zh-CN" altLang="en-US" sz="3600">
                <a:latin typeface="Times New Roman" panose="02020603050405020304" pitchFamily="18" charset="0"/>
              </a:rPr>
              <a:t>时序</a:t>
            </a:r>
          </a:p>
        </p:txBody>
      </p:sp>
      <p:sp>
        <p:nvSpPr>
          <p:cNvPr id="247811" name="Text Box 3"/>
          <p:cNvSpPr txBox="1">
            <a:spLocks noChangeArrowheads="1"/>
          </p:cNvSpPr>
          <p:nvPr/>
        </p:nvSpPr>
        <p:spPr bwMode="auto">
          <a:xfrm>
            <a:off x="1676400" y="1295400"/>
            <a:ext cx="5410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行、列地址分开传送</a:t>
            </a:r>
          </a:p>
        </p:txBody>
      </p:sp>
      <p:sp>
        <p:nvSpPr>
          <p:cNvPr id="247812" name="Text Box 4"/>
          <p:cNvSpPr txBox="1">
            <a:spLocks noChangeArrowheads="1"/>
          </p:cNvSpPr>
          <p:nvPr/>
        </p:nvSpPr>
        <p:spPr bwMode="auto">
          <a:xfrm>
            <a:off x="5638800" y="2438400"/>
            <a:ext cx="2438400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000">
                <a:latin typeface="Times New Roman" panose="02020603050405020304" pitchFamily="18" charset="0"/>
              </a:rPr>
              <a:t>写时序</a:t>
            </a:r>
          </a:p>
        </p:txBody>
      </p:sp>
      <p:grpSp>
        <p:nvGrpSpPr>
          <p:cNvPr id="2" name="Group 5"/>
          <p:cNvGrpSpPr/>
          <p:nvPr/>
        </p:nvGrpSpPr>
        <p:grpSpPr bwMode="auto">
          <a:xfrm>
            <a:off x="838200" y="3190875"/>
            <a:ext cx="3200400" cy="519113"/>
            <a:chOff x="528" y="2106"/>
            <a:chExt cx="2016" cy="327"/>
          </a:xfrm>
        </p:grpSpPr>
        <p:sp>
          <p:nvSpPr>
            <p:cNvPr id="159770" name="Text Box 6"/>
            <p:cNvSpPr txBox="1">
              <a:spLocks noChangeArrowheads="1"/>
            </p:cNvSpPr>
            <p:nvPr/>
          </p:nvSpPr>
          <p:spPr bwMode="auto">
            <a:xfrm>
              <a:off x="528" y="2106"/>
              <a:ext cx="201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行地址  </a:t>
              </a:r>
              <a:r>
                <a:rPr lang="en-US" altLang="zh-CN" sz="2800">
                  <a:latin typeface="Times New Roman" panose="02020603050405020304" pitchFamily="18" charset="0"/>
                </a:rPr>
                <a:t>RAS  </a:t>
              </a:r>
              <a:r>
                <a:rPr lang="zh-CN" altLang="en-US" sz="2800">
                  <a:latin typeface="Times New Roman" panose="02020603050405020304" pitchFamily="18" charset="0"/>
                </a:rPr>
                <a:t>有效</a:t>
              </a:r>
            </a:p>
          </p:txBody>
        </p:sp>
        <p:sp>
          <p:nvSpPr>
            <p:cNvPr id="159771" name="Freeform 7"/>
            <p:cNvSpPr/>
            <p:nvPr/>
          </p:nvSpPr>
          <p:spPr bwMode="auto">
            <a:xfrm>
              <a:off x="1351" y="2142"/>
              <a:ext cx="501" cy="1"/>
            </a:xfrm>
            <a:custGeom>
              <a:avLst/>
              <a:gdLst>
                <a:gd name="T0" fmla="*/ 0 w 501"/>
                <a:gd name="T1" fmla="*/ 0 h 1"/>
                <a:gd name="T2" fmla="*/ 501 w 501"/>
                <a:gd name="T3" fmla="*/ 0 h 1"/>
                <a:gd name="T4" fmla="*/ 0 60000 65536"/>
                <a:gd name="T5" fmla="*/ 0 60000 65536"/>
                <a:gd name="T6" fmla="*/ 0 w 501"/>
                <a:gd name="T7" fmla="*/ 0 h 1"/>
                <a:gd name="T8" fmla="*/ 501 w 501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01" h="1">
                  <a:moveTo>
                    <a:pt x="0" y="0"/>
                  </a:moveTo>
                  <a:lnTo>
                    <a:pt x="50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3" name="Group 8"/>
          <p:cNvGrpSpPr/>
          <p:nvPr/>
        </p:nvGrpSpPr>
        <p:grpSpPr bwMode="auto">
          <a:xfrm>
            <a:off x="838200" y="3914775"/>
            <a:ext cx="3657600" cy="519113"/>
            <a:chOff x="528" y="2562"/>
            <a:chExt cx="2304" cy="327"/>
          </a:xfrm>
        </p:grpSpPr>
        <p:sp>
          <p:nvSpPr>
            <p:cNvPr id="159768" name="Text Box 9"/>
            <p:cNvSpPr txBox="1">
              <a:spLocks noChangeArrowheads="1"/>
            </p:cNvSpPr>
            <p:nvPr/>
          </p:nvSpPr>
          <p:spPr bwMode="auto">
            <a:xfrm>
              <a:off x="528" y="2562"/>
              <a:ext cx="230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写允许  </a:t>
              </a:r>
              <a:r>
                <a:rPr lang="en-US" altLang="zh-CN" sz="2800">
                  <a:latin typeface="Times New Roman" panose="02020603050405020304" pitchFamily="18" charset="0"/>
                </a:rPr>
                <a:t>WE   </a:t>
              </a:r>
              <a:r>
                <a:rPr lang="zh-CN" altLang="en-US" sz="2800">
                  <a:latin typeface="Times New Roman" panose="02020603050405020304" pitchFamily="18" charset="0"/>
                </a:rPr>
                <a:t>有效(高)</a:t>
              </a:r>
            </a:p>
          </p:txBody>
        </p:sp>
        <p:sp>
          <p:nvSpPr>
            <p:cNvPr id="159769" name="Line 10"/>
            <p:cNvSpPr>
              <a:spLocks noChangeShapeType="1"/>
            </p:cNvSpPr>
            <p:nvPr/>
          </p:nvSpPr>
          <p:spPr bwMode="auto">
            <a:xfrm>
              <a:off x="1344" y="2592"/>
              <a:ext cx="43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247819" name="Text Box 11"/>
          <p:cNvSpPr txBox="1">
            <a:spLocks noChangeArrowheads="1"/>
          </p:cNvSpPr>
          <p:nvPr/>
        </p:nvSpPr>
        <p:spPr bwMode="auto">
          <a:xfrm>
            <a:off x="838200" y="5364163"/>
            <a:ext cx="3200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数据</a:t>
            </a: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en-US" altLang="zh-CN" sz="2000">
                <a:latin typeface="Times New Roman" panose="02020603050405020304" pitchFamily="18" charset="0"/>
              </a:rPr>
              <a:t>       </a:t>
            </a:r>
            <a:r>
              <a:rPr lang="en-US" altLang="zh-CN" sz="2800">
                <a:latin typeface="Times New Roman" panose="02020603050405020304" pitchFamily="18" charset="0"/>
              </a:rPr>
              <a:t>D</a:t>
            </a:r>
            <a:r>
              <a:rPr lang="en-US" altLang="zh-CN" sz="2200" baseline="-25000">
                <a:latin typeface="Times New Roman" panose="02020603050405020304" pitchFamily="18" charset="0"/>
              </a:rPr>
              <a:t>OUT</a:t>
            </a:r>
            <a:r>
              <a:rPr lang="en-US" altLang="zh-CN" sz="2200" baseline="-25000"/>
              <a:t>   </a:t>
            </a:r>
            <a:r>
              <a:rPr lang="zh-CN" altLang="en-US" sz="2800">
                <a:latin typeface="Times New Roman" panose="02020603050405020304" pitchFamily="18" charset="0"/>
              </a:rPr>
              <a:t>有效</a:t>
            </a:r>
          </a:p>
        </p:txBody>
      </p:sp>
      <p:sp>
        <p:nvSpPr>
          <p:cNvPr id="247820" name="Text Box 12"/>
          <p:cNvSpPr txBox="1">
            <a:spLocks noChangeArrowheads="1"/>
          </p:cNvSpPr>
          <p:nvPr/>
        </p:nvSpPr>
        <p:spPr bwMode="auto">
          <a:xfrm>
            <a:off x="5029200" y="4638675"/>
            <a:ext cx="3733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数据 </a:t>
            </a:r>
            <a:r>
              <a:rPr lang="en-US" altLang="zh-CN" sz="2000">
                <a:latin typeface="Times New Roman" panose="02020603050405020304" pitchFamily="18" charset="0"/>
              </a:rPr>
              <a:t>       </a:t>
            </a:r>
            <a:r>
              <a:rPr lang="en-US" altLang="zh-CN" sz="2800">
                <a:latin typeface="Times New Roman" panose="02020603050405020304" pitchFamily="18" charset="0"/>
              </a:rPr>
              <a:t>D</a:t>
            </a:r>
            <a:r>
              <a:rPr lang="en-US" altLang="zh-CN" sz="2200" baseline="-25000">
                <a:latin typeface="Times New Roman" panose="02020603050405020304" pitchFamily="18" charset="0"/>
              </a:rPr>
              <a:t>IN </a:t>
            </a:r>
            <a:r>
              <a:rPr lang="en-US" altLang="zh-CN" sz="2200" baseline="-25000"/>
              <a:t>  </a:t>
            </a:r>
            <a:r>
              <a:rPr lang="zh-CN" altLang="en-US" sz="2800">
                <a:latin typeface="Times New Roman" panose="02020603050405020304" pitchFamily="18" charset="0"/>
              </a:rPr>
              <a:t>有效</a:t>
            </a:r>
          </a:p>
        </p:txBody>
      </p:sp>
      <p:sp>
        <p:nvSpPr>
          <p:cNvPr id="247821" name="Text Box 13"/>
          <p:cNvSpPr txBox="1">
            <a:spLocks noChangeArrowheads="1"/>
          </p:cNvSpPr>
          <p:nvPr/>
        </p:nvSpPr>
        <p:spPr bwMode="auto">
          <a:xfrm>
            <a:off x="1752600" y="2438400"/>
            <a:ext cx="1752600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000">
                <a:latin typeface="Times New Roman" panose="02020603050405020304" pitchFamily="18" charset="0"/>
              </a:rPr>
              <a:t>读时序</a:t>
            </a:r>
          </a:p>
        </p:txBody>
      </p:sp>
      <p:sp>
        <p:nvSpPr>
          <p:cNvPr id="247822" name="Rectangle 14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grpSp>
        <p:nvGrpSpPr>
          <p:cNvPr id="4" name="Group 15"/>
          <p:cNvGrpSpPr/>
          <p:nvPr/>
        </p:nvGrpSpPr>
        <p:grpSpPr bwMode="auto">
          <a:xfrm>
            <a:off x="5029200" y="3190875"/>
            <a:ext cx="3200400" cy="519113"/>
            <a:chOff x="3168" y="2106"/>
            <a:chExt cx="2016" cy="327"/>
          </a:xfrm>
        </p:grpSpPr>
        <p:sp>
          <p:nvSpPr>
            <p:cNvPr id="159766" name="Text Box 16"/>
            <p:cNvSpPr txBox="1">
              <a:spLocks noChangeArrowheads="1"/>
            </p:cNvSpPr>
            <p:nvPr/>
          </p:nvSpPr>
          <p:spPr bwMode="auto">
            <a:xfrm>
              <a:off x="3168" y="2106"/>
              <a:ext cx="201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行地址  </a:t>
              </a:r>
              <a:r>
                <a:rPr lang="en-US" altLang="zh-CN" sz="2800">
                  <a:latin typeface="Times New Roman" panose="02020603050405020304" pitchFamily="18" charset="0"/>
                </a:rPr>
                <a:t>RAS </a:t>
              </a:r>
              <a:r>
                <a:rPr lang="zh-CN" altLang="en-US" sz="2800">
                  <a:latin typeface="Times New Roman" panose="02020603050405020304" pitchFamily="18" charset="0"/>
                </a:rPr>
                <a:t>有效</a:t>
              </a:r>
            </a:p>
          </p:txBody>
        </p:sp>
        <p:sp>
          <p:nvSpPr>
            <p:cNvPr id="159767" name="Freeform 17"/>
            <p:cNvSpPr/>
            <p:nvPr/>
          </p:nvSpPr>
          <p:spPr bwMode="auto">
            <a:xfrm>
              <a:off x="3984" y="2142"/>
              <a:ext cx="501" cy="1"/>
            </a:xfrm>
            <a:custGeom>
              <a:avLst/>
              <a:gdLst>
                <a:gd name="T0" fmla="*/ 0 w 501"/>
                <a:gd name="T1" fmla="*/ 0 h 1"/>
                <a:gd name="T2" fmla="*/ 501 w 501"/>
                <a:gd name="T3" fmla="*/ 0 h 1"/>
                <a:gd name="T4" fmla="*/ 0 60000 65536"/>
                <a:gd name="T5" fmla="*/ 0 60000 65536"/>
                <a:gd name="T6" fmla="*/ 0 w 501"/>
                <a:gd name="T7" fmla="*/ 0 h 1"/>
                <a:gd name="T8" fmla="*/ 501 w 501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01" h="1">
                  <a:moveTo>
                    <a:pt x="0" y="0"/>
                  </a:moveTo>
                  <a:lnTo>
                    <a:pt x="50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5" name="Group 18"/>
          <p:cNvGrpSpPr/>
          <p:nvPr/>
        </p:nvGrpSpPr>
        <p:grpSpPr bwMode="auto">
          <a:xfrm>
            <a:off x="5029200" y="3914775"/>
            <a:ext cx="3657600" cy="519113"/>
            <a:chOff x="3168" y="2562"/>
            <a:chExt cx="2304" cy="327"/>
          </a:xfrm>
        </p:grpSpPr>
        <p:sp>
          <p:nvSpPr>
            <p:cNvPr id="159764" name="Text Box 19"/>
            <p:cNvSpPr txBox="1">
              <a:spLocks noChangeArrowheads="1"/>
            </p:cNvSpPr>
            <p:nvPr/>
          </p:nvSpPr>
          <p:spPr bwMode="auto">
            <a:xfrm>
              <a:off x="3168" y="2562"/>
              <a:ext cx="230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写允许  </a:t>
              </a:r>
              <a:r>
                <a:rPr lang="en-US" altLang="zh-CN" sz="2800">
                  <a:latin typeface="Times New Roman" panose="02020603050405020304" pitchFamily="18" charset="0"/>
                </a:rPr>
                <a:t>WE  </a:t>
              </a:r>
              <a:r>
                <a:rPr lang="zh-CN" altLang="en-US" sz="2800">
                  <a:latin typeface="Times New Roman" panose="02020603050405020304" pitchFamily="18" charset="0"/>
                </a:rPr>
                <a:t>有效(低)</a:t>
              </a:r>
            </a:p>
          </p:txBody>
        </p:sp>
        <p:sp>
          <p:nvSpPr>
            <p:cNvPr id="159765" name="Line 20"/>
            <p:cNvSpPr>
              <a:spLocks noChangeShapeType="1"/>
            </p:cNvSpPr>
            <p:nvPr/>
          </p:nvSpPr>
          <p:spPr bwMode="auto">
            <a:xfrm>
              <a:off x="3984" y="2592"/>
              <a:ext cx="43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6" name="Group 21"/>
          <p:cNvGrpSpPr/>
          <p:nvPr/>
        </p:nvGrpSpPr>
        <p:grpSpPr bwMode="auto">
          <a:xfrm>
            <a:off x="838200" y="4638675"/>
            <a:ext cx="3200400" cy="519113"/>
            <a:chOff x="528" y="3018"/>
            <a:chExt cx="2016" cy="327"/>
          </a:xfrm>
        </p:grpSpPr>
        <p:sp>
          <p:nvSpPr>
            <p:cNvPr id="159762" name="Text Box 22"/>
            <p:cNvSpPr txBox="1">
              <a:spLocks noChangeArrowheads="1"/>
            </p:cNvSpPr>
            <p:nvPr/>
          </p:nvSpPr>
          <p:spPr bwMode="auto">
            <a:xfrm>
              <a:off x="528" y="3018"/>
              <a:ext cx="201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列地址  </a:t>
              </a:r>
              <a:r>
                <a:rPr lang="en-US" altLang="zh-CN" sz="2800">
                  <a:latin typeface="Times New Roman" panose="02020603050405020304" pitchFamily="18" charset="0"/>
                </a:rPr>
                <a:t>CAS  </a:t>
              </a:r>
              <a:r>
                <a:rPr lang="zh-CN" altLang="en-US" sz="2800">
                  <a:latin typeface="Times New Roman" panose="02020603050405020304" pitchFamily="18" charset="0"/>
                </a:rPr>
                <a:t>有效</a:t>
              </a:r>
            </a:p>
          </p:txBody>
        </p:sp>
        <p:sp>
          <p:nvSpPr>
            <p:cNvPr id="159763" name="Freeform 23"/>
            <p:cNvSpPr/>
            <p:nvPr/>
          </p:nvSpPr>
          <p:spPr bwMode="auto">
            <a:xfrm>
              <a:off x="1351" y="3049"/>
              <a:ext cx="501" cy="1"/>
            </a:xfrm>
            <a:custGeom>
              <a:avLst/>
              <a:gdLst>
                <a:gd name="T0" fmla="*/ 0 w 501"/>
                <a:gd name="T1" fmla="*/ 0 h 1"/>
                <a:gd name="T2" fmla="*/ 501 w 501"/>
                <a:gd name="T3" fmla="*/ 0 h 1"/>
                <a:gd name="T4" fmla="*/ 0 60000 65536"/>
                <a:gd name="T5" fmla="*/ 0 60000 65536"/>
                <a:gd name="T6" fmla="*/ 0 w 501"/>
                <a:gd name="T7" fmla="*/ 0 h 1"/>
                <a:gd name="T8" fmla="*/ 501 w 501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01" h="1">
                  <a:moveTo>
                    <a:pt x="0" y="0"/>
                  </a:moveTo>
                  <a:lnTo>
                    <a:pt x="50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7" name="Group 24"/>
          <p:cNvGrpSpPr/>
          <p:nvPr/>
        </p:nvGrpSpPr>
        <p:grpSpPr bwMode="auto">
          <a:xfrm>
            <a:off x="5029200" y="5424488"/>
            <a:ext cx="3200400" cy="519112"/>
            <a:chOff x="3168" y="3513"/>
            <a:chExt cx="2016" cy="327"/>
          </a:xfrm>
        </p:grpSpPr>
        <p:sp>
          <p:nvSpPr>
            <p:cNvPr id="159760" name="Text Box 25"/>
            <p:cNvSpPr txBox="1">
              <a:spLocks noChangeArrowheads="1"/>
            </p:cNvSpPr>
            <p:nvPr/>
          </p:nvSpPr>
          <p:spPr bwMode="auto">
            <a:xfrm>
              <a:off x="3168" y="3513"/>
              <a:ext cx="201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列地址  </a:t>
              </a:r>
              <a:r>
                <a:rPr lang="en-US" altLang="zh-CN" sz="2800">
                  <a:latin typeface="Times New Roman" panose="02020603050405020304" pitchFamily="18" charset="0"/>
                </a:rPr>
                <a:t>CAS </a:t>
              </a:r>
              <a:r>
                <a:rPr lang="zh-CN" altLang="en-US" sz="2800">
                  <a:latin typeface="Times New Roman" panose="02020603050405020304" pitchFamily="18" charset="0"/>
                </a:rPr>
                <a:t>有效</a:t>
              </a:r>
            </a:p>
          </p:txBody>
        </p:sp>
        <p:sp>
          <p:nvSpPr>
            <p:cNvPr id="159761" name="Freeform 26"/>
            <p:cNvSpPr/>
            <p:nvPr/>
          </p:nvSpPr>
          <p:spPr bwMode="auto">
            <a:xfrm>
              <a:off x="3984" y="3551"/>
              <a:ext cx="501" cy="1"/>
            </a:xfrm>
            <a:custGeom>
              <a:avLst/>
              <a:gdLst>
                <a:gd name="T0" fmla="*/ 0 w 501"/>
                <a:gd name="T1" fmla="*/ 0 h 1"/>
                <a:gd name="T2" fmla="*/ 501 w 501"/>
                <a:gd name="T3" fmla="*/ 0 h 1"/>
                <a:gd name="T4" fmla="*/ 0 60000 65536"/>
                <a:gd name="T5" fmla="*/ 0 60000 65536"/>
                <a:gd name="T6" fmla="*/ 0 w 501"/>
                <a:gd name="T7" fmla="*/ 0 h 1"/>
                <a:gd name="T8" fmla="*/ 501 w 501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01" h="1">
                  <a:moveTo>
                    <a:pt x="0" y="0"/>
                  </a:moveTo>
                  <a:lnTo>
                    <a:pt x="501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159759" name="AutoShape 27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478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47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478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47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2478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7811" grpId="0" autoUpdateAnimBg="0"/>
      <p:bldP spid="247812" grpId="0" autoUpdateAnimBg="0"/>
      <p:bldP spid="247819" grpId="0" autoUpdateAnimBg="0"/>
      <p:bldP spid="247820" grpId="0" autoUpdateAnimBg="0"/>
      <p:bldP spid="247821" grpId="0" autoUpdateAnimBg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0" name="Text Box 2"/>
          <p:cNvSpPr txBox="1">
            <a:spLocks noChangeArrowheads="1"/>
          </p:cNvSpPr>
          <p:nvPr/>
        </p:nvSpPr>
        <p:spPr bwMode="auto">
          <a:xfrm>
            <a:off x="0" y="152400"/>
            <a:ext cx="5410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 (4)  动态 </a:t>
            </a:r>
            <a:r>
              <a:rPr lang="en-US" altLang="zh-CN" sz="3600">
                <a:latin typeface="Times New Roman" panose="02020603050405020304" pitchFamily="18" charset="0"/>
              </a:rPr>
              <a:t>RAM </a:t>
            </a:r>
            <a:r>
              <a:rPr lang="zh-CN" altLang="en-US" sz="3600">
                <a:latin typeface="Times New Roman" panose="02020603050405020304" pitchFamily="18" charset="0"/>
              </a:rPr>
              <a:t>刷新</a:t>
            </a:r>
          </a:p>
        </p:txBody>
      </p:sp>
      <p:sp>
        <p:nvSpPr>
          <p:cNvPr id="248835" name="Text Box 3"/>
          <p:cNvSpPr txBox="1">
            <a:spLocks noChangeArrowheads="1"/>
          </p:cNvSpPr>
          <p:nvPr/>
        </p:nvSpPr>
        <p:spPr bwMode="auto">
          <a:xfrm>
            <a:off x="1371600" y="715963"/>
            <a:ext cx="5410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刷新与行地址有关</a:t>
            </a:r>
          </a:p>
        </p:txBody>
      </p:sp>
      <p:grpSp>
        <p:nvGrpSpPr>
          <p:cNvPr id="2" name="Group 4"/>
          <p:cNvGrpSpPr/>
          <p:nvPr/>
        </p:nvGrpSpPr>
        <p:grpSpPr bwMode="auto">
          <a:xfrm>
            <a:off x="914400" y="1309688"/>
            <a:ext cx="6172200" cy="457200"/>
            <a:chOff x="624" y="825"/>
            <a:chExt cx="3888" cy="288"/>
          </a:xfrm>
        </p:grpSpPr>
        <p:sp>
          <p:nvSpPr>
            <p:cNvPr id="160893" name="Text Box 5"/>
            <p:cNvSpPr txBox="1">
              <a:spLocks noChangeArrowheads="1"/>
            </p:cNvSpPr>
            <p:nvPr/>
          </p:nvSpPr>
          <p:spPr bwMode="auto">
            <a:xfrm>
              <a:off x="624" y="825"/>
              <a:ext cx="177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  <a:ea typeface="楷体_GB2312" pitchFamily="49" charset="-122"/>
                </a:rPr>
                <a:t>① </a:t>
              </a:r>
              <a:r>
                <a:rPr lang="zh-CN" altLang="en-US" sz="2400">
                  <a:latin typeface="Times New Roman" panose="02020603050405020304" pitchFamily="18" charset="0"/>
                </a:rPr>
                <a:t>集中刷新</a:t>
              </a:r>
            </a:p>
          </p:txBody>
        </p:sp>
        <p:sp>
          <p:nvSpPr>
            <p:cNvPr id="160894" name="Text Box 6"/>
            <p:cNvSpPr txBox="1">
              <a:spLocks noChangeArrowheads="1"/>
            </p:cNvSpPr>
            <p:nvPr/>
          </p:nvSpPr>
          <p:spPr bwMode="auto">
            <a:xfrm>
              <a:off x="1728" y="825"/>
              <a:ext cx="27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  <a:ea typeface="楷体_GB2312" pitchFamily="49" charset="-122"/>
                </a:rPr>
                <a:t>（</a:t>
              </a:r>
              <a:r>
                <a:rPr lang="zh-CN" altLang="en-US" sz="2400">
                  <a:latin typeface="Times New Roman" panose="02020603050405020304" pitchFamily="18" charset="0"/>
                </a:rPr>
                <a:t>存取周期为</a:t>
              </a:r>
              <a:r>
                <a:rPr lang="zh-CN" altLang="en-US" sz="2400">
                  <a:latin typeface="Times New Roman" panose="02020603050405020304" pitchFamily="18" charset="0"/>
                  <a:ea typeface="楷体_GB2312" pitchFamily="49" charset="-122"/>
                </a:rPr>
                <a:t>0.5 </a:t>
              </a:r>
              <a:r>
                <a:rPr lang="en-US" altLang="zh-CN" sz="2400">
                  <a:sym typeface="Symbol" panose="05050102010706020507" pitchFamily="18" charset="2"/>
                </a:rPr>
                <a:t></a:t>
              </a:r>
              <a:r>
                <a:rPr lang="en-US" altLang="zh-CN" sz="2400"/>
                <a:t>s</a:t>
              </a:r>
              <a:r>
                <a:rPr lang="en-US" altLang="zh-CN"/>
                <a:t> </a:t>
              </a:r>
              <a:r>
                <a:rPr lang="en-US" altLang="zh-CN" sz="2400">
                  <a:latin typeface="Times New Roman" panose="02020603050405020304" pitchFamily="18" charset="0"/>
                </a:rPr>
                <a:t>）</a:t>
              </a:r>
            </a:p>
          </p:txBody>
        </p:sp>
      </p:grpSp>
      <p:sp>
        <p:nvSpPr>
          <p:cNvPr id="248839" name="Text Box 7"/>
          <p:cNvSpPr txBox="1">
            <a:spLocks noChangeArrowheads="1"/>
          </p:cNvSpPr>
          <p:nvPr/>
        </p:nvSpPr>
        <p:spPr bwMode="auto">
          <a:xfrm>
            <a:off x="914400" y="6172200"/>
            <a:ext cx="7696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“死时间率”</a:t>
            </a:r>
            <a:r>
              <a:rPr lang="zh-CN" altLang="en-US" sz="2800">
                <a:latin typeface="Times New Roman" panose="02020603050405020304" pitchFamily="18" charset="0"/>
              </a:rPr>
              <a:t> 为     </a:t>
            </a:r>
            <a:r>
              <a:rPr lang="en-US" altLang="zh-CN" sz="2800">
                <a:latin typeface="Times New Roman" panose="02020603050405020304" pitchFamily="18" charset="0"/>
              </a:rPr>
              <a:t>128/4 000</a:t>
            </a:r>
            <a:r>
              <a:rPr lang="en-US" altLang="zh-CN" sz="2800">
                <a:latin typeface="Times New Roman" panose="02020603050405020304" pitchFamily="18" charset="0"/>
                <a:cs typeface="Times New Roman" panose="02020603050405020304" pitchFamily="18" charset="0"/>
              </a:rPr>
              <a:t> ×100% = 3.2%</a:t>
            </a:r>
            <a:endParaRPr lang="zh-CN" altLang="en-US" sz="28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8840" name="Text Box 8"/>
          <p:cNvSpPr txBox="1">
            <a:spLocks noChangeArrowheads="1"/>
          </p:cNvSpPr>
          <p:nvPr/>
        </p:nvSpPr>
        <p:spPr bwMode="auto">
          <a:xfrm>
            <a:off x="1633538" y="5653088"/>
            <a:ext cx="72390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“死区”</a:t>
            </a:r>
            <a:r>
              <a:rPr lang="zh-CN" altLang="en-US" sz="2800">
                <a:latin typeface="Times New Roman" panose="02020603050405020304" pitchFamily="18" charset="0"/>
              </a:rPr>
              <a:t> 为     0.5 </a:t>
            </a:r>
            <a:r>
              <a:rPr lang="en-US" altLang="zh-CN" sz="2800">
                <a:sym typeface="Symbol" panose="05050102010706020507" pitchFamily="18" charset="2"/>
              </a:rPr>
              <a:t></a:t>
            </a:r>
            <a:r>
              <a:rPr lang="en-US" altLang="zh-CN" sz="2800"/>
              <a:t>s</a:t>
            </a:r>
            <a:r>
              <a:rPr lang="en-US" altLang="zh-CN"/>
              <a:t> </a:t>
            </a:r>
            <a:r>
              <a:rPr lang="en-US" altLang="zh-CN" sz="2800">
                <a:latin typeface="Times New Roman" panose="02020603050405020304" pitchFamily="18" charset="0"/>
                <a:cs typeface="Times New Roman" panose="02020603050405020304" pitchFamily="18" charset="0"/>
              </a:rPr>
              <a:t>×128 = 64 </a:t>
            </a:r>
            <a:r>
              <a:rPr lang="en-US" altLang="zh-CN" sz="2800">
                <a:sym typeface="Symbol" panose="05050102010706020507" pitchFamily="18" charset="2"/>
              </a:rPr>
              <a:t></a:t>
            </a:r>
            <a:r>
              <a:rPr lang="en-US" altLang="zh-CN" sz="2800"/>
              <a:t>s</a:t>
            </a:r>
            <a:r>
              <a:rPr lang="en-US" altLang="zh-CN"/>
              <a:t> </a:t>
            </a:r>
            <a:endParaRPr lang="zh-CN" altLang="en-US"/>
          </a:p>
        </p:txBody>
      </p:sp>
      <p:grpSp>
        <p:nvGrpSpPr>
          <p:cNvPr id="3" name="Group 138"/>
          <p:cNvGrpSpPr/>
          <p:nvPr/>
        </p:nvGrpSpPr>
        <p:grpSpPr bwMode="auto">
          <a:xfrm>
            <a:off x="615950" y="1981200"/>
            <a:ext cx="7934325" cy="3619500"/>
            <a:chOff x="388" y="1248"/>
            <a:chExt cx="4998" cy="2280"/>
          </a:xfrm>
        </p:grpSpPr>
        <p:sp>
          <p:nvSpPr>
            <p:cNvPr id="160779" name="Line 10"/>
            <p:cNvSpPr>
              <a:spLocks noChangeShapeType="1"/>
            </p:cNvSpPr>
            <p:nvPr/>
          </p:nvSpPr>
          <p:spPr bwMode="auto">
            <a:xfrm flipV="1">
              <a:off x="3216" y="1271"/>
              <a:ext cx="1" cy="181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780" name="Rectangle 11"/>
            <p:cNvSpPr>
              <a:spLocks noChangeArrowheads="1"/>
            </p:cNvSpPr>
            <p:nvPr/>
          </p:nvSpPr>
          <p:spPr bwMode="auto">
            <a:xfrm>
              <a:off x="581" y="1662"/>
              <a:ext cx="532" cy="2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0781" name="Rectangle 12"/>
            <p:cNvSpPr>
              <a:spLocks noChangeArrowheads="1"/>
            </p:cNvSpPr>
            <p:nvPr/>
          </p:nvSpPr>
          <p:spPr bwMode="auto">
            <a:xfrm>
              <a:off x="388" y="1721"/>
              <a:ext cx="612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900"/>
                <a:t>周期序号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60782" name="Rectangle 13"/>
            <p:cNvSpPr>
              <a:spLocks noChangeArrowheads="1"/>
            </p:cNvSpPr>
            <p:nvPr/>
          </p:nvSpPr>
          <p:spPr bwMode="auto">
            <a:xfrm>
              <a:off x="527" y="2647"/>
              <a:ext cx="546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0783" name="Rectangle 14"/>
            <p:cNvSpPr>
              <a:spLocks noChangeArrowheads="1"/>
            </p:cNvSpPr>
            <p:nvPr/>
          </p:nvSpPr>
          <p:spPr bwMode="auto">
            <a:xfrm>
              <a:off x="388" y="2703"/>
              <a:ext cx="612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900"/>
                <a:t>地址序号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60784" name="Line 15"/>
            <p:cNvSpPr>
              <a:spLocks noChangeShapeType="1"/>
            </p:cNvSpPr>
            <p:nvPr/>
          </p:nvSpPr>
          <p:spPr bwMode="auto">
            <a:xfrm>
              <a:off x="1164" y="1248"/>
              <a:ext cx="1" cy="2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785" name="Freeform 16"/>
            <p:cNvSpPr/>
            <p:nvPr/>
          </p:nvSpPr>
          <p:spPr bwMode="auto">
            <a:xfrm>
              <a:off x="1170" y="1821"/>
              <a:ext cx="1188" cy="1"/>
            </a:xfrm>
            <a:custGeom>
              <a:avLst/>
              <a:gdLst>
                <a:gd name="T0" fmla="*/ 0 w 1188"/>
                <a:gd name="T1" fmla="*/ 1 h 1"/>
                <a:gd name="T2" fmla="*/ 1188 w 1188"/>
                <a:gd name="T3" fmla="*/ 0 h 1"/>
                <a:gd name="T4" fmla="*/ 0 60000 65536"/>
                <a:gd name="T5" fmla="*/ 0 60000 65536"/>
                <a:gd name="T6" fmla="*/ 0 w 1188"/>
                <a:gd name="T7" fmla="*/ 0 h 1"/>
                <a:gd name="T8" fmla="*/ 1188 w 118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88" h="1">
                  <a:moveTo>
                    <a:pt x="0" y="1"/>
                  </a:moveTo>
                  <a:lnTo>
                    <a:pt x="1188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786" name="Rectangle 17"/>
            <p:cNvSpPr>
              <a:spLocks noChangeArrowheads="1"/>
            </p:cNvSpPr>
            <p:nvPr/>
          </p:nvSpPr>
          <p:spPr bwMode="auto">
            <a:xfrm>
              <a:off x="4087" y="2096"/>
              <a:ext cx="226" cy="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0787" name="Rectangle 18"/>
            <p:cNvSpPr>
              <a:spLocks noChangeArrowheads="1"/>
            </p:cNvSpPr>
            <p:nvPr/>
          </p:nvSpPr>
          <p:spPr bwMode="auto">
            <a:xfrm>
              <a:off x="4167" y="2148"/>
              <a:ext cx="42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900" i="1">
                  <a:latin typeface="Times New Roman" panose="02020603050405020304" pitchFamily="18" charset="0"/>
                </a:rPr>
                <a:t>t</a:t>
              </a:r>
              <a:endParaRPr lang="en-US" altLang="zh-CN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160788" name="Rectangle 19"/>
            <p:cNvSpPr>
              <a:spLocks noChangeArrowheads="1"/>
            </p:cNvSpPr>
            <p:nvPr/>
          </p:nvSpPr>
          <p:spPr bwMode="auto">
            <a:xfrm>
              <a:off x="4213" y="2238"/>
              <a:ext cx="43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200">
                  <a:latin typeface="Times New Roman" panose="02020603050405020304" pitchFamily="18" charset="0"/>
                </a:rPr>
                <a:t>c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160789" name="Rectangle 20"/>
            <p:cNvSpPr>
              <a:spLocks noChangeArrowheads="1"/>
            </p:cNvSpPr>
            <p:nvPr/>
          </p:nvSpPr>
          <p:spPr bwMode="auto">
            <a:xfrm>
              <a:off x="1301" y="1629"/>
              <a:ext cx="146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0790" name="Rectangle 21"/>
            <p:cNvSpPr>
              <a:spLocks noChangeArrowheads="1"/>
            </p:cNvSpPr>
            <p:nvPr/>
          </p:nvSpPr>
          <p:spPr bwMode="auto">
            <a:xfrm>
              <a:off x="1219" y="1649"/>
              <a:ext cx="6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600">
                  <a:latin typeface="Times New Roman" panose="02020603050405020304" pitchFamily="18" charset="0"/>
                </a:rPr>
                <a:t>0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60791" name="Rectangle 22"/>
            <p:cNvSpPr>
              <a:spLocks noChangeArrowheads="1"/>
            </p:cNvSpPr>
            <p:nvPr/>
          </p:nvSpPr>
          <p:spPr bwMode="auto">
            <a:xfrm>
              <a:off x="1473" y="1619"/>
              <a:ext cx="148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0792" name="Rectangle 23"/>
            <p:cNvSpPr>
              <a:spLocks noChangeArrowheads="1"/>
            </p:cNvSpPr>
            <p:nvPr/>
          </p:nvSpPr>
          <p:spPr bwMode="auto">
            <a:xfrm>
              <a:off x="1390" y="1649"/>
              <a:ext cx="6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600">
                  <a:latin typeface="Times New Roman" panose="02020603050405020304" pitchFamily="18" charset="0"/>
                </a:rPr>
                <a:t>1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60793" name="Rectangle 24"/>
            <p:cNvSpPr>
              <a:spLocks noChangeArrowheads="1"/>
            </p:cNvSpPr>
            <p:nvPr/>
          </p:nvSpPr>
          <p:spPr bwMode="auto">
            <a:xfrm>
              <a:off x="1659" y="1629"/>
              <a:ext cx="146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0794" name="Rectangle 25"/>
            <p:cNvSpPr>
              <a:spLocks noChangeArrowheads="1"/>
            </p:cNvSpPr>
            <p:nvPr/>
          </p:nvSpPr>
          <p:spPr bwMode="auto">
            <a:xfrm>
              <a:off x="1577" y="1649"/>
              <a:ext cx="6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600">
                  <a:latin typeface="Times New Roman" panose="02020603050405020304" pitchFamily="18" charset="0"/>
                </a:rPr>
                <a:t>2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60795" name="Rectangle 26"/>
            <p:cNvSpPr>
              <a:spLocks noChangeArrowheads="1"/>
            </p:cNvSpPr>
            <p:nvPr/>
          </p:nvSpPr>
          <p:spPr bwMode="auto">
            <a:xfrm>
              <a:off x="2429" y="1593"/>
              <a:ext cx="213" cy="3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0796" name="Rectangle 27"/>
            <p:cNvSpPr>
              <a:spLocks noChangeArrowheads="1"/>
            </p:cNvSpPr>
            <p:nvPr/>
          </p:nvSpPr>
          <p:spPr bwMode="auto">
            <a:xfrm>
              <a:off x="2951" y="1644"/>
              <a:ext cx="25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600">
                  <a:latin typeface="Times New Roman" panose="02020603050405020304" pitchFamily="18" charset="0"/>
                </a:rPr>
                <a:t>3</a:t>
              </a:r>
              <a:r>
                <a:rPr lang="en-US" altLang="zh-CN" sz="1600">
                  <a:latin typeface="Times New Roman" panose="02020603050405020304" pitchFamily="18" charset="0"/>
                </a:rPr>
                <a:t>871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160797" name="Rectangle 28"/>
            <p:cNvSpPr>
              <a:spLocks noChangeArrowheads="1"/>
            </p:cNvSpPr>
            <p:nvPr/>
          </p:nvSpPr>
          <p:spPr bwMode="auto">
            <a:xfrm>
              <a:off x="3216" y="1593"/>
              <a:ext cx="227" cy="2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0798" name="Rectangle 29"/>
            <p:cNvSpPr>
              <a:spLocks noChangeArrowheads="1"/>
            </p:cNvSpPr>
            <p:nvPr/>
          </p:nvSpPr>
          <p:spPr bwMode="auto">
            <a:xfrm>
              <a:off x="3259" y="1644"/>
              <a:ext cx="25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600">
                  <a:latin typeface="Times New Roman" panose="02020603050405020304" pitchFamily="18" charset="0"/>
                </a:rPr>
                <a:t>3</a:t>
              </a:r>
              <a:r>
                <a:rPr lang="en-US" altLang="zh-CN" sz="1600">
                  <a:latin typeface="Times New Roman" panose="02020603050405020304" pitchFamily="18" charset="0"/>
                </a:rPr>
                <a:t>872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160799" name="Rectangle 30"/>
            <p:cNvSpPr>
              <a:spLocks noChangeArrowheads="1"/>
            </p:cNvSpPr>
            <p:nvPr/>
          </p:nvSpPr>
          <p:spPr bwMode="auto">
            <a:xfrm>
              <a:off x="4308" y="1556"/>
              <a:ext cx="148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0800" name="Rectangle 31"/>
            <p:cNvSpPr>
              <a:spLocks noChangeArrowheads="1"/>
            </p:cNvSpPr>
            <p:nvPr/>
          </p:nvSpPr>
          <p:spPr bwMode="auto">
            <a:xfrm>
              <a:off x="4356" y="1651"/>
              <a:ext cx="6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600">
                  <a:latin typeface="Times New Roman" panose="02020603050405020304" pitchFamily="18" charset="0"/>
                </a:rPr>
                <a:t>0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60801" name="Rectangle 32"/>
            <p:cNvSpPr>
              <a:spLocks noChangeArrowheads="1"/>
            </p:cNvSpPr>
            <p:nvPr/>
          </p:nvSpPr>
          <p:spPr bwMode="auto">
            <a:xfrm>
              <a:off x="4525" y="1556"/>
              <a:ext cx="146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0802" name="Rectangle 33"/>
            <p:cNvSpPr>
              <a:spLocks noChangeArrowheads="1"/>
            </p:cNvSpPr>
            <p:nvPr/>
          </p:nvSpPr>
          <p:spPr bwMode="auto">
            <a:xfrm>
              <a:off x="4572" y="1651"/>
              <a:ext cx="6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600">
                  <a:latin typeface="Times New Roman" panose="02020603050405020304" pitchFamily="18" charset="0"/>
                </a:rPr>
                <a:t>1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60803" name="Freeform 34"/>
            <p:cNvSpPr/>
            <p:nvPr/>
          </p:nvSpPr>
          <p:spPr bwMode="auto">
            <a:xfrm>
              <a:off x="2796" y="1991"/>
              <a:ext cx="1" cy="703"/>
            </a:xfrm>
            <a:custGeom>
              <a:avLst/>
              <a:gdLst>
                <a:gd name="T0" fmla="*/ 0 w 1"/>
                <a:gd name="T1" fmla="*/ 0 h 703"/>
                <a:gd name="T2" fmla="*/ 0 w 1"/>
                <a:gd name="T3" fmla="*/ 703 h 703"/>
                <a:gd name="T4" fmla="*/ 0 60000 65536"/>
                <a:gd name="T5" fmla="*/ 0 60000 65536"/>
                <a:gd name="T6" fmla="*/ 0 w 1"/>
                <a:gd name="T7" fmla="*/ 0 h 703"/>
                <a:gd name="T8" fmla="*/ 1 w 1"/>
                <a:gd name="T9" fmla="*/ 703 h 70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703">
                  <a:moveTo>
                    <a:pt x="0" y="0"/>
                  </a:moveTo>
                  <a:lnTo>
                    <a:pt x="0" y="703"/>
                  </a:lnTo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04" name="Rectangle 35"/>
            <p:cNvSpPr>
              <a:spLocks noChangeArrowheads="1"/>
            </p:cNvSpPr>
            <p:nvPr/>
          </p:nvSpPr>
          <p:spPr bwMode="auto">
            <a:xfrm>
              <a:off x="2855" y="2148"/>
              <a:ext cx="42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900" i="1">
                  <a:latin typeface="Times New Roman" panose="02020603050405020304" pitchFamily="18" charset="0"/>
                </a:rPr>
                <a:t>t</a:t>
              </a:r>
              <a:endParaRPr lang="en-US" altLang="zh-CN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160805" name="Rectangle 36"/>
            <p:cNvSpPr>
              <a:spLocks noChangeArrowheads="1"/>
            </p:cNvSpPr>
            <p:nvPr/>
          </p:nvSpPr>
          <p:spPr bwMode="auto">
            <a:xfrm>
              <a:off x="2914" y="2238"/>
              <a:ext cx="43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200">
                  <a:latin typeface="Times New Roman" panose="02020603050405020304" pitchFamily="18" charset="0"/>
                </a:rPr>
                <a:t>c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160806" name="Rectangle 37"/>
            <p:cNvSpPr>
              <a:spLocks noChangeArrowheads="1"/>
            </p:cNvSpPr>
            <p:nvPr/>
          </p:nvSpPr>
          <p:spPr bwMode="auto">
            <a:xfrm>
              <a:off x="3070" y="2148"/>
              <a:ext cx="42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900" i="1">
                  <a:latin typeface="Times New Roman" panose="02020603050405020304" pitchFamily="18" charset="0"/>
                </a:rPr>
                <a:t>t</a:t>
              </a:r>
              <a:endParaRPr lang="en-US" altLang="zh-CN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160807" name="Rectangle 38"/>
            <p:cNvSpPr>
              <a:spLocks noChangeArrowheads="1"/>
            </p:cNvSpPr>
            <p:nvPr/>
          </p:nvSpPr>
          <p:spPr bwMode="auto">
            <a:xfrm>
              <a:off x="3129" y="2238"/>
              <a:ext cx="43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200">
                  <a:latin typeface="Times New Roman" panose="02020603050405020304" pitchFamily="18" charset="0"/>
                </a:rPr>
                <a:t>c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160808" name="Rectangle 39"/>
            <p:cNvSpPr>
              <a:spLocks noChangeArrowheads="1"/>
            </p:cNvSpPr>
            <p:nvPr/>
          </p:nvSpPr>
          <p:spPr bwMode="auto">
            <a:xfrm>
              <a:off x="3213" y="2096"/>
              <a:ext cx="227" cy="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0809" name="Rectangle 40"/>
            <p:cNvSpPr>
              <a:spLocks noChangeArrowheads="1"/>
            </p:cNvSpPr>
            <p:nvPr/>
          </p:nvSpPr>
          <p:spPr bwMode="auto">
            <a:xfrm>
              <a:off x="3282" y="2148"/>
              <a:ext cx="42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900" i="1">
                  <a:latin typeface="Times New Roman" panose="02020603050405020304" pitchFamily="18" charset="0"/>
                </a:rPr>
                <a:t>t</a:t>
              </a:r>
              <a:endParaRPr lang="en-US" altLang="zh-CN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160810" name="Rectangle 41"/>
            <p:cNvSpPr>
              <a:spLocks noChangeArrowheads="1"/>
            </p:cNvSpPr>
            <p:nvPr/>
          </p:nvSpPr>
          <p:spPr bwMode="auto">
            <a:xfrm>
              <a:off x="3335" y="2238"/>
              <a:ext cx="43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200">
                  <a:latin typeface="Times New Roman" panose="02020603050405020304" pitchFamily="18" charset="0"/>
                </a:rPr>
                <a:t>c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160811" name="Rectangle 42"/>
            <p:cNvSpPr>
              <a:spLocks noChangeArrowheads="1"/>
            </p:cNvSpPr>
            <p:nvPr/>
          </p:nvSpPr>
          <p:spPr bwMode="auto">
            <a:xfrm>
              <a:off x="3418" y="2096"/>
              <a:ext cx="226" cy="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0812" name="Rectangle 43"/>
            <p:cNvSpPr>
              <a:spLocks noChangeArrowheads="1"/>
            </p:cNvSpPr>
            <p:nvPr/>
          </p:nvSpPr>
          <p:spPr bwMode="auto">
            <a:xfrm>
              <a:off x="3484" y="2148"/>
              <a:ext cx="42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900" i="1">
                  <a:latin typeface="Times New Roman" panose="02020603050405020304" pitchFamily="18" charset="0"/>
                </a:rPr>
                <a:t>t</a:t>
              </a:r>
              <a:endParaRPr lang="en-US" altLang="zh-CN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160813" name="Rectangle 44"/>
            <p:cNvSpPr>
              <a:spLocks noChangeArrowheads="1"/>
            </p:cNvSpPr>
            <p:nvPr/>
          </p:nvSpPr>
          <p:spPr bwMode="auto">
            <a:xfrm>
              <a:off x="3544" y="2238"/>
              <a:ext cx="43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200">
                  <a:latin typeface="Times New Roman" panose="02020603050405020304" pitchFamily="18" charset="0"/>
                </a:rPr>
                <a:t>c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160814" name="Line 45"/>
            <p:cNvSpPr>
              <a:spLocks noChangeShapeType="1"/>
            </p:cNvSpPr>
            <p:nvPr/>
          </p:nvSpPr>
          <p:spPr bwMode="auto">
            <a:xfrm flipH="1">
              <a:off x="4098" y="1988"/>
              <a:ext cx="0" cy="7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15" name="Line 46"/>
            <p:cNvSpPr>
              <a:spLocks noChangeShapeType="1"/>
            </p:cNvSpPr>
            <p:nvPr/>
          </p:nvSpPr>
          <p:spPr bwMode="auto">
            <a:xfrm>
              <a:off x="2716" y="1822"/>
              <a:ext cx="999" cy="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16" name="Freeform 47"/>
            <p:cNvSpPr/>
            <p:nvPr/>
          </p:nvSpPr>
          <p:spPr bwMode="auto">
            <a:xfrm>
              <a:off x="3966" y="1821"/>
              <a:ext cx="816" cy="1"/>
            </a:xfrm>
            <a:custGeom>
              <a:avLst/>
              <a:gdLst>
                <a:gd name="T0" fmla="*/ 0 w 816"/>
                <a:gd name="T1" fmla="*/ 1 h 1"/>
                <a:gd name="T2" fmla="*/ 816 w 816"/>
                <a:gd name="T3" fmla="*/ 0 h 1"/>
                <a:gd name="T4" fmla="*/ 0 60000 65536"/>
                <a:gd name="T5" fmla="*/ 0 60000 65536"/>
                <a:gd name="T6" fmla="*/ 0 w 816"/>
                <a:gd name="T7" fmla="*/ 0 h 1"/>
                <a:gd name="T8" fmla="*/ 816 w 81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16" h="1">
                  <a:moveTo>
                    <a:pt x="0" y="1"/>
                  </a:moveTo>
                  <a:lnTo>
                    <a:pt x="816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17" name="Rectangle 48"/>
            <p:cNvSpPr>
              <a:spLocks noChangeArrowheads="1"/>
            </p:cNvSpPr>
            <p:nvPr/>
          </p:nvSpPr>
          <p:spPr bwMode="auto">
            <a:xfrm>
              <a:off x="4097" y="1556"/>
              <a:ext cx="227" cy="2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0818" name="Rectangle 49"/>
            <p:cNvSpPr>
              <a:spLocks noChangeArrowheads="1"/>
            </p:cNvSpPr>
            <p:nvPr/>
          </p:nvSpPr>
          <p:spPr bwMode="auto">
            <a:xfrm>
              <a:off x="4009" y="1649"/>
              <a:ext cx="25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600">
                  <a:latin typeface="Times New Roman" panose="02020603050405020304" pitchFamily="18" charset="0"/>
                </a:rPr>
                <a:t>3999</a:t>
              </a:r>
            </a:p>
          </p:txBody>
        </p:sp>
        <p:sp>
          <p:nvSpPr>
            <p:cNvPr id="160819" name="Rectangle 50"/>
            <p:cNvSpPr>
              <a:spLocks noChangeArrowheads="1"/>
            </p:cNvSpPr>
            <p:nvPr/>
          </p:nvSpPr>
          <p:spPr bwMode="auto">
            <a:xfrm>
              <a:off x="1212" y="2467"/>
              <a:ext cx="188" cy="2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0820" name="Rectangle 51"/>
            <p:cNvSpPr>
              <a:spLocks noChangeArrowheads="1"/>
            </p:cNvSpPr>
            <p:nvPr/>
          </p:nvSpPr>
          <p:spPr bwMode="auto">
            <a:xfrm>
              <a:off x="2429" y="2454"/>
              <a:ext cx="186" cy="2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0821" name="Rectangle 52"/>
            <p:cNvSpPr>
              <a:spLocks noChangeArrowheads="1"/>
            </p:cNvSpPr>
            <p:nvPr/>
          </p:nvSpPr>
          <p:spPr bwMode="auto">
            <a:xfrm>
              <a:off x="2867" y="2516"/>
              <a:ext cx="92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V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160822" name="Rectangle 53"/>
            <p:cNvSpPr>
              <a:spLocks noChangeArrowheads="1"/>
            </p:cNvSpPr>
            <p:nvPr/>
          </p:nvSpPr>
          <p:spPr bwMode="auto">
            <a:xfrm>
              <a:off x="2945" y="2454"/>
              <a:ext cx="188" cy="2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0823" name="Rectangle 54"/>
            <p:cNvSpPr>
              <a:spLocks noChangeArrowheads="1"/>
            </p:cNvSpPr>
            <p:nvPr/>
          </p:nvSpPr>
          <p:spPr bwMode="auto">
            <a:xfrm>
              <a:off x="3051" y="2516"/>
              <a:ext cx="128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W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160824" name="Rectangle 55"/>
            <p:cNvSpPr>
              <a:spLocks noChangeArrowheads="1"/>
            </p:cNvSpPr>
            <p:nvPr/>
          </p:nvSpPr>
          <p:spPr bwMode="auto">
            <a:xfrm>
              <a:off x="3245" y="2454"/>
              <a:ext cx="186" cy="2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0825" name="Rectangle 56"/>
            <p:cNvSpPr>
              <a:spLocks noChangeArrowheads="1"/>
            </p:cNvSpPr>
            <p:nvPr/>
          </p:nvSpPr>
          <p:spPr bwMode="auto">
            <a:xfrm>
              <a:off x="3292" y="2516"/>
              <a:ext cx="6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600">
                  <a:latin typeface="Times New Roman" panose="02020603050405020304" pitchFamily="18" charset="0"/>
                </a:rPr>
                <a:t>0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60826" name="Rectangle 57"/>
            <p:cNvSpPr>
              <a:spLocks noChangeArrowheads="1"/>
            </p:cNvSpPr>
            <p:nvPr/>
          </p:nvSpPr>
          <p:spPr bwMode="auto">
            <a:xfrm>
              <a:off x="3427" y="2454"/>
              <a:ext cx="188" cy="2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0827" name="Rectangle 58"/>
            <p:cNvSpPr>
              <a:spLocks noChangeArrowheads="1"/>
            </p:cNvSpPr>
            <p:nvPr/>
          </p:nvSpPr>
          <p:spPr bwMode="auto">
            <a:xfrm>
              <a:off x="3494" y="2516"/>
              <a:ext cx="6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600">
                  <a:latin typeface="Times New Roman" panose="02020603050405020304" pitchFamily="18" charset="0"/>
                </a:rPr>
                <a:t>1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60828" name="Rectangle 59"/>
            <p:cNvSpPr>
              <a:spLocks noChangeArrowheads="1"/>
            </p:cNvSpPr>
            <p:nvPr/>
          </p:nvSpPr>
          <p:spPr bwMode="auto">
            <a:xfrm>
              <a:off x="4116" y="2454"/>
              <a:ext cx="188" cy="2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0829" name="Rectangle 60"/>
            <p:cNvSpPr>
              <a:spLocks noChangeArrowheads="1"/>
            </p:cNvSpPr>
            <p:nvPr/>
          </p:nvSpPr>
          <p:spPr bwMode="auto">
            <a:xfrm>
              <a:off x="4105" y="2516"/>
              <a:ext cx="192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127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160830" name="Rectangle 61"/>
            <p:cNvSpPr>
              <a:spLocks noChangeArrowheads="1"/>
            </p:cNvSpPr>
            <p:nvPr/>
          </p:nvSpPr>
          <p:spPr bwMode="auto">
            <a:xfrm>
              <a:off x="1791" y="1265"/>
              <a:ext cx="71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0831" name="Rectangle 62"/>
            <p:cNvSpPr>
              <a:spLocks noChangeArrowheads="1"/>
            </p:cNvSpPr>
            <p:nvPr/>
          </p:nvSpPr>
          <p:spPr bwMode="auto">
            <a:xfrm>
              <a:off x="1781" y="1299"/>
              <a:ext cx="153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900"/>
                <a:t>读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60832" name="Rectangle 63"/>
            <p:cNvSpPr>
              <a:spLocks noChangeArrowheads="1"/>
            </p:cNvSpPr>
            <p:nvPr/>
          </p:nvSpPr>
          <p:spPr bwMode="auto">
            <a:xfrm>
              <a:off x="1940" y="1299"/>
              <a:ext cx="42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900">
                  <a:latin typeface="Times New Roman" panose="02020603050405020304" pitchFamily="18" charset="0"/>
                </a:rPr>
                <a:t>/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60833" name="Rectangle 64"/>
            <p:cNvSpPr>
              <a:spLocks noChangeArrowheads="1"/>
            </p:cNvSpPr>
            <p:nvPr/>
          </p:nvSpPr>
          <p:spPr bwMode="auto">
            <a:xfrm>
              <a:off x="1984" y="1299"/>
              <a:ext cx="612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900"/>
                <a:t>写或维持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60834" name="Rectangle 65"/>
            <p:cNvSpPr>
              <a:spLocks noChangeArrowheads="1"/>
            </p:cNvSpPr>
            <p:nvPr/>
          </p:nvSpPr>
          <p:spPr bwMode="auto">
            <a:xfrm>
              <a:off x="3357" y="1288"/>
              <a:ext cx="43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0835" name="Rectangle 66"/>
            <p:cNvSpPr>
              <a:spLocks noChangeArrowheads="1"/>
            </p:cNvSpPr>
            <p:nvPr/>
          </p:nvSpPr>
          <p:spPr bwMode="auto">
            <a:xfrm>
              <a:off x="3606" y="1299"/>
              <a:ext cx="306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900"/>
                <a:t>刷新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60836" name="Rectangle 67"/>
            <p:cNvSpPr>
              <a:spLocks noChangeArrowheads="1"/>
            </p:cNvSpPr>
            <p:nvPr/>
          </p:nvSpPr>
          <p:spPr bwMode="auto">
            <a:xfrm>
              <a:off x="4528" y="1266"/>
              <a:ext cx="709" cy="2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0837" name="Rectangle 68"/>
            <p:cNvSpPr>
              <a:spLocks noChangeArrowheads="1"/>
            </p:cNvSpPr>
            <p:nvPr/>
          </p:nvSpPr>
          <p:spPr bwMode="auto">
            <a:xfrm>
              <a:off x="4581" y="1299"/>
              <a:ext cx="153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900"/>
                <a:t>读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60838" name="Rectangle 69"/>
            <p:cNvSpPr>
              <a:spLocks noChangeArrowheads="1"/>
            </p:cNvSpPr>
            <p:nvPr/>
          </p:nvSpPr>
          <p:spPr bwMode="auto">
            <a:xfrm>
              <a:off x="4732" y="1299"/>
              <a:ext cx="42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900">
                  <a:latin typeface="Times New Roman" panose="02020603050405020304" pitchFamily="18" charset="0"/>
                </a:rPr>
                <a:t>/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60839" name="Rectangle 70"/>
            <p:cNvSpPr>
              <a:spLocks noChangeArrowheads="1"/>
            </p:cNvSpPr>
            <p:nvPr/>
          </p:nvSpPr>
          <p:spPr bwMode="auto">
            <a:xfrm>
              <a:off x="4774" y="1299"/>
              <a:ext cx="612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900"/>
                <a:t>写或维持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60840" name="Rectangle 71"/>
            <p:cNvSpPr>
              <a:spLocks noChangeArrowheads="1"/>
            </p:cNvSpPr>
            <p:nvPr/>
          </p:nvSpPr>
          <p:spPr bwMode="auto">
            <a:xfrm>
              <a:off x="1341" y="3003"/>
              <a:ext cx="1196" cy="2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0841" name="Rectangle 72"/>
            <p:cNvSpPr>
              <a:spLocks noChangeArrowheads="1"/>
            </p:cNvSpPr>
            <p:nvPr/>
          </p:nvSpPr>
          <p:spPr bwMode="auto">
            <a:xfrm>
              <a:off x="1505" y="2987"/>
              <a:ext cx="25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600">
                  <a:latin typeface="Times New Roman" panose="02020603050405020304" pitchFamily="18" charset="0"/>
                </a:rPr>
                <a:t>3</a:t>
              </a:r>
              <a:r>
                <a:rPr lang="en-US" altLang="zh-CN" sz="1600">
                  <a:latin typeface="Times New Roman" panose="02020603050405020304" pitchFamily="18" charset="0"/>
                </a:rPr>
                <a:t>872</a:t>
              </a:r>
            </a:p>
          </p:txBody>
        </p:sp>
        <p:sp>
          <p:nvSpPr>
            <p:cNvPr id="160842" name="Rectangle 73"/>
            <p:cNvSpPr>
              <a:spLocks noChangeArrowheads="1"/>
            </p:cNvSpPr>
            <p:nvPr/>
          </p:nvSpPr>
          <p:spPr bwMode="auto">
            <a:xfrm>
              <a:off x="1795" y="2987"/>
              <a:ext cx="387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600"/>
                <a:t>个周期</a:t>
              </a:r>
              <a:endParaRPr lang="zh-CN" altLang="en-US" sz="1600">
                <a:latin typeface="Times New Roman" panose="02020603050405020304" pitchFamily="18" charset="0"/>
              </a:endParaRPr>
            </a:p>
          </p:txBody>
        </p:sp>
        <p:sp>
          <p:nvSpPr>
            <p:cNvPr id="160843" name="Rectangle 75"/>
            <p:cNvSpPr>
              <a:spLocks noChangeArrowheads="1"/>
            </p:cNvSpPr>
            <p:nvPr/>
          </p:nvSpPr>
          <p:spPr bwMode="auto">
            <a:xfrm>
              <a:off x="2154" y="2987"/>
              <a:ext cx="717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600">
                  <a:latin typeface="Times New Roman" panose="02020603050405020304" pitchFamily="18" charset="0"/>
                </a:rPr>
                <a:t>（19</a:t>
              </a:r>
              <a:r>
                <a:rPr lang="en-US" altLang="zh-CN" sz="1600">
                  <a:latin typeface="Times New Roman" panose="02020603050405020304" pitchFamily="18" charset="0"/>
                </a:rPr>
                <a:t>36 </a:t>
              </a:r>
              <a:r>
                <a:rPr lang="en-US" altLang="zh-CN" sz="1600">
                  <a:sym typeface="Symbol" panose="05050102010706020507" pitchFamily="18" charset="2"/>
                </a:rPr>
                <a:t></a:t>
              </a:r>
              <a:r>
                <a:rPr lang="en-US" altLang="zh-CN" sz="1600"/>
                <a:t>s</a:t>
              </a:r>
              <a:r>
                <a:rPr lang="zh-CN" altLang="en-US" sz="1600"/>
                <a:t>）</a:t>
              </a:r>
              <a:r>
                <a:rPr lang="zh-CN" altLang="en-US"/>
                <a:t> </a:t>
              </a:r>
            </a:p>
          </p:txBody>
        </p:sp>
        <p:sp>
          <p:nvSpPr>
            <p:cNvPr id="160844" name="Rectangle 77"/>
            <p:cNvSpPr>
              <a:spLocks noChangeArrowheads="1"/>
            </p:cNvSpPr>
            <p:nvPr/>
          </p:nvSpPr>
          <p:spPr bwMode="auto">
            <a:xfrm>
              <a:off x="3250" y="2987"/>
              <a:ext cx="192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128</a:t>
              </a:r>
            </a:p>
          </p:txBody>
        </p:sp>
        <p:sp>
          <p:nvSpPr>
            <p:cNvPr id="160845" name="Rectangle 78"/>
            <p:cNvSpPr>
              <a:spLocks noChangeArrowheads="1"/>
            </p:cNvSpPr>
            <p:nvPr/>
          </p:nvSpPr>
          <p:spPr bwMode="auto">
            <a:xfrm>
              <a:off x="3467" y="2987"/>
              <a:ext cx="429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600">
                  <a:solidFill>
                    <a:schemeClr val="folHlink"/>
                  </a:solidFill>
                </a:rPr>
                <a:t>个周期</a:t>
              </a:r>
              <a:endParaRPr lang="zh-CN" altLang="en-US" sz="16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0846" name="Rectangle 80"/>
            <p:cNvSpPr>
              <a:spLocks noChangeArrowheads="1"/>
            </p:cNvSpPr>
            <p:nvPr/>
          </p:nvSpPr>
          <p:spPr bwMode="auto">
            <a:xfrm>
              <a:off x="3815" y="2987"/>
              <a:ext cx="589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600">
                  <a:latin typeface="Times New Roman" panose="02020603050405020304" pitchFamily="18" charset="0"/>
                </a:rPr>
                <a:t>（</a:t>
              </a:r>
              <a:r>
                <a:rPr lang="en-US" altLang="zh-CN" sz="1600">
                  <a:latin typeface="Times New Roman" panose="02020603050405020304" pitchFamily="18" charset="0"/>
                </a:rPr>
                <a:t>64 </a:t>
              </a:r>
              <a:r>
                <a:rPr lang="en-US" altLang="zh-CN" sz="1600">
                  <a:sym typeface="Symbol" panose="05050102010706020507" pitchFamily="18" charset="2"/>
                </a:rPr>
                <a:t></a:t>
              </a:r>
              <a:r>
                <a:rPr lang="en-US" altLang="zh-CN" sz="1600"/>
                <a:t>s</a:t>
              </a:r>
              <a:r>
                <a:rPr lang="zh-CN" altLang="en-US" sz="1600"/>
                <a:t>）</a:t>
              </a:r>
              <a:r>
                <a:rPr lang="zh-CN" altLang="en-US"/>
                <a:t> </a:t>
              </a:r>
            </a:p>
          </p:txBody>
        </p:sp>
        <p:sp>
          <p:nvSpPr>
            <p:cNvPr id="160847" name="Rectangle 82"/>
            <p:cNvSpPr>
              <a:spLocks noChangeArrowheads="1"/>
            </p:cNvSpPr>
            <p:nvPr/>
          </p:nvSpPr>
          <p:spPr bwMode="auto">
            <a:xfrm>
              <a:off x="2403" y="3237"/>
              <a:ext cx="1247" cy="2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0848" name="Rectangle 83"/>
            <p:cNvSpPr>
              <a:spLocks noChangeArrowheads="1"/>
            </p:cNvSpPr>
            <p:nvPr/>
          </p:nvSpPr>
          <p:spPr bwMode="auto">
            <a:xfrm>
              <a:off x="2016" y="3290"/>
              <a:ext cx="918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900">
                  <a:solidFill>
                    <a:schemeClr val="folHlink"/>
                  </a:solidFill>
                </a:rPr>
                <a:t>刷新时间间隔</a:t>
              </a:r>
              <a:endPara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0849" name="Rectangle 84"/>
            <p:cNvSpPr>
              <a:spLocks noChangeArrowheads="1"/>
            </p:cNvSpPr>
            <p:nvPr/>
          </p:nvSpPr>
          <p:spPr bwMode="auto">
            <a:xfrm>
              <a:off x="2880" y="3290"/>
              <a:ext cx="153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900">
                  <a:solidFill>
                    <a:schemeClr val="folHlink"/>
                  </a:solidFill>
                </a:rPr>
                <a:t>（</a:t>
              </a:r>
              <a:endPara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0850" name="Rectangle 85"/>
            <p:cNvSpPr>
              <a:spLocks noChangeArrowheads="1"/>
            </p:cNvSpPr>
            <p:nvPr/>
          </p:nvSpPr>
          <p:spPr bwMode="auto">
            <a:xfrm>
              <a:off x="3042" y="3293"/>
              <a:ext cx="455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9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2 </a:t>
              </a:r>
              <a:r>
                <a:rPr lang="en-US" altLang="zh-CN" sz="19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m</a:t>
              </a:r>
              <a:endPara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0851" name="Rectangle 86"/>
            <p:cNvSpPr>
              <a:spLocks noChangeArrowheads="1"/>
            </p:cNvSpPr>
            <p:nvPr/>
          </p:nvSpPr>
          <p:spPr bwMode="auto">
            <a:xfrm>
              <a:off x="3303" y="3293"/>
              <a:ext cx="203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9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s</a:t>
              </a:r>
              <a:endPara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0852" name="Rectangle 87"/>
            <p:cNvSpPr>
              <a:spLocks noChangeArrowheads="1"/>
            </p:cNvSpPr>
            <p:nvPr/>
          </p:nvSpPr>
          <p:spPr bwMode="auto">
            <a:xfrm>
              <a:off x="3351" y="3290"/>
              <a:ext cx="153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900">
                  <a:solidFill>
                    <a:schemeClr val="folHlink"/>
                  </a:solidFill>
                </a:rPr>
                <a:t>）</a:t>
              </a:r>
              <a:endPara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0853" name="Rectangle 88"/>
            <p:cNvSpPr>
              <a:spLocks noChangeArrowheads="1"/>
            </p:cNvSpPr>
            <p:nvPr/>
          </p:nvSpPr>
          <p:spPr bwMode="auto">
            <a:xfrm>
              <a:off x="4697" y="2915"/>
              <a:ext cx="399" cy="2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0854" name="Rectangle 89"/>
            <p:cNvSpPr>
              <a:spLocks noChangeArrowheads="1"/>
            </p:cNvSpPr>
            <p:nvPr/>
          </p:nvSpPr>
          <p:spPr bwMode="auto">
            <a:xfrm>
              <a:off x="4572" y="3076"/>
              <a:ext cx="58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800"/>
                <a:t>刷新序号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160855" name="Freeform 90"/>
            <p:cNvSpPr/>
            <p:nvPr/>
          </p:nvSpPr>
          <p:spPr bwMode="auto">
            <a:xfrm>
              <a:off x="4332" y="2621"/>
              <a:ext cx="421" cy="421"/>
            </a:xfrm>
            <a:custGeom>
              <a:avLst/>
              <a:gdLst>
                <a:gd name="T0" fmla="*/ 421 w 421"/>
                <a:gd name="T1" fmla="*/ 421 h 421"/>
                <a:gd name="T2" fmla="*/ 0 w 421"/>
                <a:gd name="T3" fmla="*/ 0 h 421"/>
                <a:gd name="T4" fmla="*/ 0 60000 65536"/>
                <a:gd name="T5" fmla="*/ 0 60000 65536"/>
                <a:gd name="T6" fmla="*/ 0 w 421"/>
                <a:gd name="T7" fmla="*/ 0 h 421"/>
                <a:gd name="T8" fmla="*/ 421 w 421"/>
                <a:gd name="T9" fmla="*/ 421 h 42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21" h="421">
                  <a:moveTo>
                    <a:pt x="421" y="421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chemeClr val="tx1"/>
              </a:solidFill>
              <a:prstDash val="solid"/>
              <a:round/>
              <a:headEnd type="none" w="med" len="med"/>
              <a:tailEnd type="stealth" w="med" len="med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56" name="Freeform 91"/>
            <p:cNvSpPr/>
            <p:nvPr/>
          </p:nvSpPr>
          <p:spPr bwMode="auto">
            <a:xfrm>
              <a:off x="1161" y="3402"/>
              <a:ext cx="750" cy="1"/>
            </a:xfrm>
            <a:custGeom>
              <a:avLst/>
              <a:gdLst>
                <a:gd name="T0" fmla="*/ 750 w 750"/>
                <a:gd name="T1" fmla="*/ 0 h 1"/>
                <a:gd name="T2" fmla="*/ 0 w 750"/>
                <a:gd name="T3" fmla="*/ 0 h 1"/>
                <a:gd name="T4" fmla="*/ 0 60000 65536"/>
                <a:gd name="T5" fmla="*/ 0 60000 65536"/>
                <a:gd name="T6" fmla="*/ 0 w 750"/>
                <a:gd name="T7" fmla="*/ 0 h 1"/>
                <a:gd name="T8" fmla="*/ 750 w 750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750" h="1">
                  <a:moveTo>
                    <a:pt x="750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0857" name="Line 92"/>
            <p:cNvSpPr>
              <a:spLocks noChangeShapeType="1"/>
            </p:cNvSpPr>
            <p:nvPr/>
          </p:nvSpPr>
          <p:spPr bwMode="auto">
            <a:xfrm>
              <a:off x="3575" y="3391"/>
              <a:ext cx="757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0858" name="Line 93"/>
            <p:cNvSpPr>
              <a:spLocks noChangeShapeType="1"/>
            </p:cNvSpPr>
            <p:nvPr/>
          </p:nvSpPr>
          <p:spPr bwMode="auto">
            <a:xfrm>
              <a:off x="1012" y="1819"/>
              <a:ext cx="14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0859" name="Line 94"/>
            <p:cNvSpPr>
              <a:spLocks noChangeShapeType="1"/>
            </p:cNvSpPr>
            <p:nvPr/>
          </p:nvSpPr>
          <p:spPr bwMode="auto">
            <a:xfrm>
              <a:off x="1012" y="2800"/>
              <a:ext cx="14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0860" name="Line 95"/>
            <p:cNvSpPr>
              <a:spLocks noChangeShapeType="1"/>
            </p:cNvSpPr>
            <p:nvPr/>
          </p:nvSpPr>
          <p:spPr bwMode="auto">
            <a:xfrm flipH="1">
              <a:off x="1156" y="1397"/>
              <a:ext cx="49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0861" name="Line 96"/>
            <p:cNvSpPr>
              <a:spLocks noChangeShapeType="1"/>
            </p:cNvSpPr>
            <p:nvPr/>
          </p:nvSpPr>
          <p:spPr bwMode="auto">
            <a:xfrm>
              <a:off x="2712" y="1397"/>
              <a:ext cx="49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0862" name="Line 97"/>
            <p:cNvSpPr>
              <a:spLocks noChangeShapeType="1"/>
            </p:cNvSpPr>
            <p:nvPr/>
          </p:nvSpPr>
          <p:spPr bwMode="auto">
            <a:xfrm flipH="1">
              <a:off x="3219" y="1395"/>
              <a:ext cx="31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0863" name="Line 98"/>
            <p:cNvSpPr>
              <a:spLocks noChangeShapeType="1"/>
            </p:cNvSpPr>
            <p:nvPr/>
          </p:nvSpPr>
          <p:spPr bwMode="auto">
            <a:xfrm>
              <a:off x="3996" y="1407"/>
              <a:ext cx="3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0864" name="Line 99"/>
            <p:cNvSpPr>
              <a:spLocks noChangeShapeType="1"/>
            </p:cNvSpPr>
            <p:nvPr/>
          </p:nvSpPr>
          <p:spPr bwMode="auto">
            <a:xfrm flipH="1">
              <a:off x="4339" y="1408"/>
              <a:ext cx="21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0865" name="Text Box 100"/>
            <p:cNvSpPr txBox="1">
              <a:spLocks noChangeArrowheads="1"/>
            </p:cNvSpPr>
            <p:nvPr/>
          </p:nvSpPr>
          <p:spPr bwMode="auto">
            <a:xfrm>
              <a:off x="2422" y="1669"/>
              <a:ext cx="38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8000" rIns="1800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  <a:cs typeface="Times New Roman" panose="02020603050405020304" pitchFamily="18" charset="0"/>
                </a:rPr>
                <a:t>•••</a:t>
              </a:r>
            </a:p>
          </p:txBody>
        </p:sp>
        <p:sp>
          <p:nvSpPr>
            <p:cNvPr id="160866" name="Text Box 101"/>
            <p:cNvSpPr txBox="1">
              <a:spLocks noChangeArrowheads="1"/>
            </p:cNvSpPr>
            <p:nvPr/>
          </p:nvSpPr>
          <p:spPr bwMode="auto">
            <a:xfrm>
              <a:off x="3729" y="1665"/>
              <a:ext cx="29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8000" rIns="1800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  <a:cs typeface="Times New Roman" panose="02020603050405020304" pitchFamily="18" charset="0"/>
                </a:rPr>
                <a:t>•••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60867" name="Freeform 102"/>
            <p:cNvSpPr/>
            <p:nvPr/>
          </p:nvSpPr>
          <p:spPr bwMode="auto">
            <a:xfrm>
              <a:off x="1158" y="2958"/>
              <a:ext cx="2055" cy="2"/>
            </a:xfrm>
            <a:custGeom>
              <a:avLst/>
              <a:gdLst>
                <a:gd name="T0" fmla="*/ 0 w 2055"/>
                <a:gd name="T1" fmla="*/ 0 h 2"/>
                <a:gd name="T2" fmla="*/ 2055 w 2055"/>
                <a:gd name="T3" fmla="*/ 2 h 2"/>
                <a:gd name="T4" fmla="*/ 0 60000 65536"/>
                <a:gd name="T5" fmla="*/ 0 60000 65536"/>
                <a:gd name="T6" fmla="*/ 0 w 2055"/>
                <a:gd name="T7" fmla="*/ 0 h 2"/>
                <a:gd name="T8" fmla="*/ 2055 w 2055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055" h="2">
                  <a:moveTo>
                    <a:pt x="0" y="0"/>
                  </a:moveTo>
                  <a:lnTo>
                    <a:pt x="2055" y="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0868" name="Line 103"/>
            <p:cNvSpPr>
              <a:spLocks noChangeShapeType="1"/>
            </p:cNvSpPr>
            <p:nvPr/>
          </p:nvSpPr>
          <p:spPr bwMode="auto">
            <a:xfrm>
              <a:off x="3211" y="2959"/>
              <a:ext cx="1111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0869" name="Line 104"/>
            <p:cNvSpPr>
              <a:spLocks noChangeShapeType="1"/>
            </p:cNvSpPr>
            <p:nvPr/>
          </p:nvSpPr>
          <p:spPr bwMode="auto">
            <a:xfrm>
              <a:off x="3011" y="1991"/>
              <a:ext cx="1" cy="7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70" name="Line 105"/>
            <p:cNvSpPr>
              <a:spLocks noChangeShapeType="1"/>
            </p:cNvSpPr>
            <p:nvPr/>
          </p:nvSpPr>
          <p:spPr bwMode="auto">
            <a:xfrm>
              <a:off x="3012" y="2434"/>
              <a:ext cx="204" cy="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0871" name="Line 106"/>
            <p:cNvSpPr>
              <a:spLocks noChangeShapeType="1"/>
            </p:cNvSpPr>
            <p:nvPr/>
          </p:nvSpPr>
          <p:spPr bwMode="auto">
            <a:xfrm>
              <a:off x="3214" y="2435"/>
              <a:ext cx="204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0872" name="Line 107"/>
            <p:cNvSpPr>
              <a:spLocks noChangeShapeType="1"/>
            </p:cNvSpPr>
            <p:nvPr/>
          </p:nvSpPr>
          <p:spPr bwMode="auto">
            <a:xfrm>
              <a:off x="3411" y="2435"/>
              <a:ext cx="204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0873" name="Line 108"/>
            <p:cNvSpPr>
              <a:spLocks noChangeShapeType="1"/>
            </p:cNvSpPr>
            <p:nvPr/>
          </p:nvSpPr>
          <p:spPr bwMode="auto">
            <a:xfrm>
              <a:off x="4105" y="2435"/>
              <a:ext cx="204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0874" name="Line 113"/>
            <p:cNvSpPr>
              <a:spLocks noChangeShapeType="1"/>
            </p:cNvSpPr>
            <p:nvPr/>
          </p:nvSpPr>
          <p:spPr bwMode="auto">
            <a:xfrm>
              <a:off x="3617" y="1991"/>
              <a:ext cx="1" cy="7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75" name="Rectangle 114"/>
            <p:cNvSpPr>
              <a:spLocks noChangeArrowheads="1"/>
            </p:cNvSpPr>
            <p:nvPr/>
          </p:nvSpPr>
          <p:spPr bwMode="auto">
            <a:xfrm>
              <a:off x="1222" y="2127"/>
              <a:ext cx="42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900" i="1">
                  <a:latin typeface="Times New Roman" panose="02020603050405020304" pitchFamily="18" charset="0"/>
                </a:rPr>
                <a:t>t</a:t>
              </a:r>
              <a:endParaRPr lang="en-US" altLang="zh-CN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160876" name="Rectangle 115"/>
            <p:cNvSpPr>
              <a:spLocks noChangeArrowheads="1"/>
            </p:cNvSpPr>
            <p:nvPr/>
          </p:nvSpPr>
          <p:spPr bwMode="auto">
            <a:xfrm>
              <a:off x="1281" y="2216"/>
              <a:ext cx="43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200">
                  <a:latin typeface="Times New Roman" panose="02020603050405020304" pitchFamily="18" charset="0"/>
                </a:rPr>
                <a:t>c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160877" name="Rectangle 116"/>
            <p:cNvSpPr>
              <a:spLocks noChangeArrowheads="1"/>
            </p:cNvSpPr>
            <p:nvPr/>
          </p:nvSpPr>
          <p:spPr bwMode="auto">
            <a:xfrm>
              <a:off x="1234" y="2495"/>
              <a:ext cx="92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X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160878" name="Freeform 117"/>
            <p:cNvSpPr/>
            <p:nvPr/>
          </p:nvSpPr>
          <p:spPr bwMode="auto">
            <a:xfrm>
              <a:off x="1377" y="1991"/>
              <a:ext cx="1" cy="703"/>
            </a:xfrm>
            <a:custGeom>
              <a:avLst/>
              <a:gdLst>
                <a:gd name="T0" fmla="*/ 1 w 1"/>
                <a:gd name="T1" fmla="*/ 0 h 703"/>
                <a:gd name="T2" fmla="*/ 0 w 1"/>
                <a:gd name="T3" fmla="*/ 703 h 703"/>
                <a:gd name="T4" fmla="*/ 0 60000 65536"/>
                <a:gd name="T5" fmla="*/ 0 60000 65536"/>
                <a:gd name="T6" fmla="*/ 0 w 1"/>
                <a:gd name="T7" fmla="*/ 0 h 703"/>
                <a:gd name="T8" fmla="*/ 1 w 1"/>
                <a:gd name="T9" fmla="*/ 703 h 70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703">
                  <a:moveTo>
                    <a:pt x="1" y="0"/>
                  </a:moveTo>
                  <a:lnTo>
                    <a:pt x="0" y="703"/>
                  </a:lnTo>
                </a:path>
              </a:pathLst>
            </a:custGeom>
            <a:solidFill>
              <a:srgbClr val="FFFFFF"/>
            </a:solidFill>
            <a:ln w="19050" cmpd="sng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79" name="Rectangle 118"/>
            <p:cNvSpPr>
              <a:spLocks noChangeArrowheads="1"/>
            </p:cNvSpPr>
            <p:nvPr/>
          </p:nvSpPr>
          <p:spPr bwMode="auto">
            <a:xfrm>
              <a:off x="1425" y="2473"/>
              <a:ext cx="188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0880" name="Rectangle 119"/>
            <p:cNvSpPr>
              <a:spLocks noChangeArrowheads="1"/>
            </p:cNvSpPr>
            <p:nvPr/>
          </p:nvSpPr>
          <p:spPr bwMode="auto">
            <a:xfrm>
              <a:off x="1435" y="2131"/>
              <a:ext cx="42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900" i="1">
                  <a:latin typeface="Times New Roman" panose="02020603050405020304" pitchFamily="18" charset="0"/>
                </a:rPr>
                <a:t>t</a:t>
              </a:r>
              <a:endParaRPr lang="en-US" altLang="zh-CN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160881" name="Rectangle 120"/>
            <p:cNvSpPr>
              <a:spLocks noChangeArrowheads="1"/>
            </p:cNvSpPr>
            <p:nvPr/>
          </p:nvSpPr>
          <p:spPr bwMode="auto">
            <a:xfrm>
              <a:off x="1494" y="2222"/>
              <a:ext cx="43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200">
                  <a:latin typeface="Times New Roman" panose="02020603050405020304" pitchFamily="18" charset="0"/>
                </a:rPr>
                <a:t>c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160882" name="Rectangle 121"/>
            <p:cNvSpPr>
              <a:spLocks noChangeArrowheads="1"/>
            </p:cNvSpPr>
            <p:nvPr/>
          </p:nvSpPr>
          <p:spPr bwMode="auto">
            <a:xfrm>
              <a:off x="1447" y="2495"/>
              <a:ext cx="92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600">
                  <a:latin typeface="Times New Roman" panose="02020603050405020304" pitchFamily="18" charset="0"/>
                </a:rPr>
                <a:t>Y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160883" name="Line 122"/>
            <p:cNvSpPr>
              <a:spLocks noChangeShapeType="1"/>
            </p:cNvSpPr>
            <p:nvPr/>
          </p:nvSpPr>
          <p:spPr bwMode="auto">
            <a:xfrm>
              <a:off x="1591" y="1991"/>
              <a:ext cx="1" cy="7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84" name="Line 123"/>
            <p:cNvSpPr>
              <a:spLocks noChangeShapeType="1"/>
            </p:cNvSpPr>
            <p:nvPr/>
          </p:nvSpPr>
          <p:spPr bwMode="auto">
            <a:xfrm>
              <a:off x="1385" y="2435"/>
              <a:ext cx="204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0885" name="Line 124"/>
            <p:cNvSpPr>
              <a:spLocks noChangeShapeType="1"/>
            </p:cNvSpPr>
            <p:nvPr/>
          </p:nvSpPr>
          <p:spPr bwMode="auto">
            <a:xfrm>
              <a:off x="3427" y="1991"/>
              <a:ext cx="1" cy="7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86" name="Text Box 125"/>
            <p:cNvSpPr txBox="1">
              <a:spLocks noChangeArrowheads="1"/>
            </p:cNvSpPr>
            <p:nvPr/>
          </p:nvSpPr>
          <p:spPr bwMode="auto">
            <a:xfrm>
              <a:off x="1980" y="2311"/>
              <a:ext cx="387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8000" rIns="1800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  <a:cs typeface="Times New Roman" panose="02020603050405020304" pitchFamily="18" charset="0"/>
                </a:rPr>
                <a:t>• • •</a:t>
              </a:r>
            </a:p>
          </p:txBody>
        </p:sp>
        <p:sp>
          <p:nvSpPr>
            <p:cNvPr id="160887" name="Text Box 126"/>
            <p:cNvSpPr txBox="1">
              <a:spLocks noChangeArrowheads="1"/>
            </p:cNvSpPr>
            <p:nvPr/>
          </p:nvSpPr>
          <p:spPr bwMode="auto">
            <a:xfrm>
              <a:off x="3747" y="2321"/>
              <a:ext cx="387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8000" rIns="1800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1800">
                  <a:latin typeface="Times New Roman" panose="02020603050405020304" pitchFamily="18" charset="0"/>
                  <a:cs typeface="Times New Roman" panose="02020603050405020304" pitchFamily="18" charset="0"/>
                </a:rPr>
                <a:t>• • •</a:t>
              </a:r>
            </a:p>
          </p:txBody>
        </p:sp>
        <p:sp>
          <p:nvSpPr>
            <p:cNvPr id="160888" name="Freeform 127"/>
            <p:cNvSpPr/>
            <p:nvPr/>
          </p:nvSpPr>
          <p:spPr bwMode="auto">
            <a:xfrm>
              <a:off x="4332" y="1253"/>
              <a:ext cx="3" cy="2275"/>
            </a:xfrm>
            <a:custGeom>
              <a:avLst/>
              <a:gdLst>
                <a:gd name="T0" fmla="*/ 3 w 3"/>
                <a:gd name="T1" fmla="*/ 0 h 2275"/>
                <a:gd name="T2" fmla="*/ 0 w 3"/>
                <a:gd name="T3" fmla="*/ 2275 h 2275"/>
                <a:gd name="T4" fmla="*/ 0 60000 65536"/>
                <a:gd name="T5" fmla="*/ 0 60000 65536"/>
                <a:gd name="T6" fmla="*/ 0 w 3"/>
                <a:gd name="T7" fmla="*/ 0 h 2275"/>
                <a:gd name="T8" fmla="*/ 3 w 3"/>
                <a:gd name="T9" fmla="*/ 2275 h 227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" h="2275">
                  <a:moveTo>
                    <a:pt x="3" y="0"/>
                  </a:moveTo>
                  <a:lnTo>
                    <a:pt x="0" y="2275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89" name="Line 128"/>
            <p:cNvSpPr>
              <a:spLocks noChangeShapeType="1"/>
            </p:cNvSpPr>
            <p:nvPr/>
          </p:nvSpPr>
          <p:spPr bwMode="auto">
            <a:xfrm flipH="1">
              <a:off x="4549" y="1988"/>
              <a:ext cx="0" cy="7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90" name="Line 129"/>
            <p:cNvSpPr>
              <a:spLocks noChangeShapeType="1"/>
            </p:cNvSpPr>
            <p:nvPr/>
          </p:nvSpPr>
          <p:spPr bwMode="auto">
            <a:xfrm flipH="1">
              <a:off x="4756" y="1988"/>
              <a:ext cx="0" cy="7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91" name="Freeform 130"/>
            <p:cNvSpPr/>
            <p:nvPr/>
          </p:nvSpPr>
          <p:spPr bwMode="auto">
            <a:xfrm>
              <a:off x="1156" y="2435"/>
              <a:ext cx="203" cy="1"/>
            </a:xfrm>
            <a:custGeom>
              <a:avLst/>
              <a:gdLst>
                <a:gd name="T0" fmla="*/ 0 w 203"/>
                <a:gd name="T1" fmla="*/ 1 h 1"/>
                <a:gd name="T2" fmla="*/ 203 w 203"/>
                <a:gd name="T3" fmla="*/ 0 h 1"/>
                <a:gd name="T4" fmla="*/ 0 60000 65536"/>
                <a:gd name="T5" fmla="*/ 0 60000 65536"/>
                <a:gd name="T6" fmla="*/ 0 w 203"/>
                <a:gd name="T7" fmla="*/ 0 h 1"/>
                <a:gd name="T8" fmla="*/ 203 w 20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03" h="1">
                  <a:moveTo>
                    <a:pt x="0" y="1"/>
                  </a:moveTo>
                  <a:lnTo>
                    <a:pt x="203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0892" name="Freeform 131"/>
            <p:cNvSpPr/>
            <p:nvPr/>
          </p:nvSpPr>
          <p:spPr bwMode="auto">
            <a:xfrm>
              <a:off x="2787" y="2432"/>
              <a:ext cx="211" cy="4"/>
            </a:xfrm>
            <a:custGeom>
              <a:avLst/>
              <a:gdLst>
                <a:gd name="T0" fmla="*/ 0 w 211"/>
                <a:gd name="T1" fmla="*/ 4 h 4"/>
                <a:gd name="T2" fmla="*/ 211 w 211"/>
                <a:gd name="T3" fmla="*/ 0 h 4"/>
                <a:gd name="T4" fmla="*/ 0 60000 65536"/>
                <a:gd name="T5" fmla="*/ 0 60000 65536"/>
                <a:gd name="T6" fmla="*/ 0 w 211"/>
                <a:gd name="T7" fmla="*/ 0 h 4"/>
                <a:gd name="T8" fmla="*/ 211 w 211"/>
                <a:gd name="T9" fmla="*/ 4 h 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1" h="4">
                  <a:moveTo>
                    <a:pt x="0" y="4"/>
                  </a:moveTo>
                  <a:lnTo>
                    <a:pt x="211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48964" name="Rectangle 132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248965" name="Text Box 133"/>
          <p:cNvSpPr txBox="1">
            <a:spLocks noChangeArrowheads="1"/>
          </p:cNvSpPr>
          <p:nvPr/>
        </p:nvSpPr>
        <p:spPr bwMode="auto">
          <a:xfrm>
            <a:off x="5508625" y="1309688"/>
            <a:ext cx="38211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以</a:t>
            </a:r>
            <a:r>
              <a:rPr lang="en-US" altLang="zh-CN" sz="2400">
                <a:latin typeface="Times New Roman" panose="02020603050405020304" pitchFamily="18" charset="0"/>
              </a:rPr>
              <a:t>128 </a:t>
            </a:r>
            <a:r>
              <a:rPr lang="en-US" altLang="zh-CN" sz="2400">
                <a:latin typeface="Times New Roman" panose="02020603050405020304" pitchFamily="18" charset="0"/>
                <a:cs typeface="Times New Roman" panose="02020603050405020304" pitchFamily="18" charset="0"/>
              </a:rPr>
              <a:t>× 128 </a:t>
            </a:r>
            <a:r>
              <a:rPr lang="zh-CN" altLang="en-US" sz="2400">
                <a:latin typeface="Times New Roman" panose="02020603050405020304" pitchFamily="18" charset="0"/>
              </a:rPr>
              <a:t>矩阵为例</a:t>
            </a:r>
          </a:p>
        </p:txBody>
      </p:sp>
      <p:sp>
        <p:nvSpPr>
          <p:cNvPr id="160778" name="AutoShape 134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488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48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48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48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8835" grpId="0" autoUpdateAnimBg="0"/>
      <p:bldP spid="248839" grpId="0" autoUpdateAnimBg="0"/>
      <p:bldP spid="248840" grpId="0" autoUpdateAnimBg="0"/>
      <p:bldP spid="248965" grpId="0" autoUpdateAnimBg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2338" name="Text Box 2"/>
          <p:cNvSpPr txBox="1">
            <a:spLocks noChangeArrowheads="1"/>
          </p:cNvSpPr>
          <p:nvPr/>
        </p:nvSpPr>
        <p:spPr bwMode="auto">
          <a:xfrm>
            <a:off x="1371600" y="4830763"/>
            <a:ext cx="28956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3200" i="1">
                <a:latin typeface="Times New Roman" panose="02020603050405020304" pitchFamily="18" charset="0"/>
              </a:rPr>
              <a:t>t</a:t>
            </a:r>
            <a:r>
              <a:rPr lang="en-US" altLang="zh-CN" sz="2800" baseline="-25000">
                <a:latin typeface="Times New Roman" panose="02020603050405020304" pitchFamily="18" charset="0"/>
              </a:rPr>
              <a:t>C</a:t>
            </a:r>
            <a:r>
              <a:rPr lang="en-US" altLang="zh-CN" sz="2800"/>
              <a:t> = </a:t>
            </a:r>
            <a:r>
              <a:rPr lang="en-US" altLang="zh-CN" sz="3200" i="1">
                <a:latin typeface="Times New Roman" panose="02020603050405020304" pitchFamily="18" charset="0"/>
              </a:rPr>
              <a:t>t</a:t>
            </a:r>
            <a:r>
              <a:rPr lang="en-US" altLang="zh-CN" sz="2800" baseline="-25000">
                <a:latin typeface="Times New Roman" panose="02020603050405020304" pitchFamily="18" charset="0"/>
              </a:rPr>
              <a:t>M</a:t>
            </a:r>
            <a:r>
              <a:rPr lang="en-US" altLang="zh-CN" sz="2800" baseline="-25000"/>
              <a:t> </a:t>
            </a:r>
            <a:r>
              <a:rPr lang="en-US" altLang="zh-CN" sz="2800"/>
              <a:t>+ </a:t>
            </a:r>
            <a:r>
              <a:rPr lang="en-US" altLang="zh-CN" sz="3200" i="1">
                <a:latin typeface="Times New Roman" panose="02020603050405020304" pitchFamily="18" charset="0"/>
              </a:rPr>
              <a:t>t</a:t>
            </a:r>
            <a:r>
              <a:rPr lang="en-US" altLang="zh-CN" sz="2800" baseline="-25000">
                <a:latin typeface="Times New Roman" panose="02020603050405020304" pitchFamily="18" charset="0"/>
              </a:rPr>
              <a:t>R</a:t>
            </a:r>
            <a:endParaRPr lang="zh-CN" altLang="en-US" sz="2800" baseline="-25000">
              <a:latin typeface="Times New Roman" panose="02020603050405020304" pitchFamily="18" charset="0"/>
            </a:endParaRPr>
          </a:p>
        </p:txBody>
      </p:sp>
      <p:grpSp>
        <p:nvGrpSpPr>
          <p:cNvPr id="2" name="Group 3"/>
          <p:cNvGrpSpPr/>
          <p:nvPr/>
        </p:nvGrpSpPr>
        <p:grpSpPr bwMode="auto">
          <a:xfrm>
            <a:off x="1833563" y="5470525"/>
            <a:ext cx="2057400" cy="1082675"/>
            <a:chOff x="1200" y="3350"/>
            <a:chExt cx="1296" cy="682"/>
          </a:xfrm>
        </p:grpSpPr>
        <p:sp>
          <p:nvSpPr>
            <p:cNvPr id="161848" name="Line 4"/>
            <p:cNvSpPr>
              <a:spLocks noChangeShapeType="1"/>
            </p:cNvSpPr>
            <p:nvPr/>
          </p:nvSpPr>
          <p:spPr bwMode="auto">
            <a:xfrm>
              <a:off x="1536" y="3350"/>
              <a:ext cx="0" cy="336"/>
            </a:xfrm>
            <a:prstGeom prst="line">
              <a:avLst/>
            </a:prstGeom>
            <a:noFill/>
            <a:ln w="635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61849" name="Line 5"/>
            <p:cNvSpPr>
              <a:spLocks noChangeShapeType="1"/>
            </p:cNvSpPr>
            <p:nvPr/>
          </p:nvSpPr>
          <p:spPr bwMode="auto">
            <a:xfrm>
              <a:off x="2064" y="3350"/>
              <a:ext cx="0" cy="336"/>
            </a:xfrm>
            <a:prstGeom prst="line">
              <a:avLst/>
            </a:prstGeom>
            <a:noFill/>
            <a:ln w="635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zh-CN" altLang="en-US"/>
            </a:p>
          </p:txBody>
        </p:sp>
        <p:sp>
          <p:nvSpPr>
            <p:cNvPr id="161850" name="Text Box 6"/>
            <p:cNvSpPr txBox="1">
              <a:spLocks noChangeArrowheads="1"/>
            </p:cNvSpPr>
            <p:nvPr/>
          </p:nvSpPr>
          <p:spPr bwMode="auto">
            <a:xfrm>
              <a:off x="1200" y="3705"/>
              <a:ext cx="72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读写</a:t>
              </a:r>
            </a:p>
          </p:txBody>
        </p:sp>
        <p:sp>
          <p:nvSpPr>
            <p:cNvPr id="161851" name="Text Box 7"/>
            <p:cNvSpPr txBox="1">
              <a:spLocks noChangeArrowheads="1"/>
            </p:cNvSpPr>
            <p:nvPr/>
          </p:nvSpPr>
          <p:spPr bwMode="auto">
            <a:xfrm>
              <a:off x="1776" y="3705"/>
              <a:ext cx="72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刷新</a:t>
              </a:r>
            </a:p>
          </p:txBody>
        </p:sp>
      </p:grpSp>
      <p:sp>
        <p:nvSpPr>
          <p:cNvPr id="782344" name="Text Box 8"/>
          <p:cNvSpPr txBox="1">
            <a:spLocks noChangeArrowheads="1"/>
          </p:cNvSpPr>
          <p:nvPr/>
        </p:nvSpPr>
        <p:spPr bwMode="auto">
          <a:xfrm>
            <a:off x="4191000" y="4951413"/>
            <a:ext cx="4773488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 dirty="0">
                <a:solidFill>
                  <a:schemeClr val="folHlink"/>
                </a:solidFill>
                <a:latin typeface="Times New Roman" panose="02020603050405020304" pitchFamily="18" charset="0"/>
              </a:rPr>
              <a:t>无 “死区”，</a:t>
            </a:r>
            <a:r>
              <a:rPr lang="en-US" altLang="zh-CN" sz="2800" dirty="0">
                <a:solidFill>
                  <a:schemeClr val="folHlink"/>
                </a:solidFill>
                <a:latin typeface="Times New Roman" panose="02020603050405020304" pitchFamily="18" charset="0"/>
              </a:rPr>
              <a:t>128</a:t>
            </a:r>
            <a:r>
              <a:rPr lang="en-US" altLang="zh-CN" sz="2800" dirty="0">
                <a:solidFill>
                  <a:schemeClr val="folHlink"/>
                </a:solidFill>
                <a:sym typeface="Symbol" panose="05050102010706020507" pitchFamily="18" charset="2"/>
              </a:rPr>
              <a:t></a:t>
            </a:r>
            <a:r>
              <a:rPr lang="en-US" altLang="zh-CN" sz="2800" dirty="0">
                <a:solidFill>
                  <a:schemeClr val="folHlink"/>
                </a:solidFill>
              </a:rPr>
              <a:t>s</a:t>
            </a:r>
            <a:r>
              <a:rPr lang="en-US" altLang="zh-CN" sz="2800" dirty="0"/>
              <a:t> </a:t>
            </a:r>
            <a:r>
              <a:rPr lang="zh-CN" altLang="en-US" sz="2800" dirty="0">
                <a:solidFill>
                  <a:schemeClr val="folHlink"/>
                </a:solidFill>
                <a:latin typeface="Times New Roman" panose="02020603050405020304" pitchFamily="18" charset="0"/>
              </a:rPr>
              <a:t>全部刷新，比</a:t>
            </a:r>
            <a:r>
              <a:rPr lang="en-US" altLang="zh-CN" sz="2800" dirty="0">
                <a:solidFill>
                  <a:schemeClr val="folHlink"/>
                </a:solidFill>
                <a:latin typeface="Times New Roman" panose="02020603050405020304" pitchFamily="18" charset="0"/>
              </a:rPr>
              <a:t>2ms</a:t>
            </a:r>
            <a:r>
              <a:rPr lang="zh-CN" altLang="en-US" sz="2800" dirty="0">
                <a:solidFill>
                  <a:schemeClr val="folHlink"/>
                </a:solidFill>
                <a:latin typeface="Times New Roman" panose="02020603050405020304" pitchFamily="18" charset="0"/>
              </a:rPr>
              <a:t>间隔短很多</a:t>
            </a:r>
            <a:endParaRPr lang="zh-CN" altLang="en-US" sz="2800" dirty="0"/>
          </a:p>
        </p:txBody>
      </p:sp>
      <p:sp>
        <p:nvSpPr>
          <p:cNvPr id="161797" name="Text Box 9"/>
          <p:cNvSpPr txBox="1">
            <a:spLocks noChangeArrowheads="1"/>
          </p:cNvSpPr>
          <p:nvPr/>
        </p:nvSpPr>
        <p:spPr bwMode="auto">
          <a:xfrm>
            <a:off x="228600" y="242888"/>
            <a:ext cx="67056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  <a:ea typeface="仿宋_GB2312" pitchFamily="49" charset="-122"/>
              </a:rPr>
              <a:t>②</a:t>
            </a: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lang="zh-CN" altLang="en-US" sz="3200">
                <a:latin typeface="Times New Roman" panose="02020603050405020304" pitchFamily="18" charset="0"/>
              </a:rPr>
              <a:t>分散刷新</a:t>
            </a:r>
            <a:r>
              <a:rPr lang="en-US" altLang="zh-CN" sz="3200">
                <a:latin typeface="Times New Roman" panose="02020603050405020304" pitchFamily="18" charset="0"/>
                <a:ea typeface="楷体_GB2312" pitchFamily="49" charset="-122"/>
              </a:rPr>
              <a:t>（</a:t>
            </a:r>
            <a:r>
              <a:rPr lang="zh-CN" altLang="en-US" sz="3200">
                <a:latin typeface="Times New Roman" panose="02020603050405020304" pitchFamily="18" charset="0"/>
              </a:rPr>
              <a:t>存取周期为</a:t>
            </a: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1</a:t>
            </a:r>
            <a:r>
              <a:rPr lang="zh-CN" altLang="en-US"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lang="en-US" altLang="zh-CN" sz="3200">
                <a:latin typeface="Times New Roman" panose="02020603050405020304" pitchFamily="18" charset="0"/>
                <a:sym typeface="Symbol" panose="05050102010706020507" pitchFamily="18" charset="2"/>
              </a:rPr>
              <a:t></a:t>
            </a:r>
            <a:r>
              <a:rPr lang="en-US" altLang="zh-CN" sz="3200">
                <a:latin typeface="Times New Roman" panose="02020603050405020304" pitchFamily="18" charset="0"/>
              </a:rPr>
              <a:t>s</a:t>
            </a:r>
            <a:r>
              <a:rPr lang="en-US" altLang="zh-CN"/>
              <a:t> </a:t>
            </a:r>
            <a:r>
              <a:rPr lang="en-US" altLang="zh-CN" sz="3200">
                <a:latin typeface="Times New Roman" panose="02020603050405020304" pitchFamily="18" charset="0"/>
              </a:rPr>
              <a:t>）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782346" name="Text Box 10"/>
          <p:cNvSpPr txBox="1">
            <a:spLocks noChangeArrowheads="1"/>
          </p:cNvSpPr>
          <p:nvPr/>
        </p:nvSpPr>
        <p:spPr bwMode="auto">
          <a:xfrm>
            <a:off x="4191000" y="6034088"/>
            <a:ext cx="49530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(存取周期为 0.5 </a:t>
            </a:r>
            <a:r>
              <a:rPr lang="en-US" altLang="zh-CN" sz="2800">
                <a:latin typeface="Times New Roman" panose="02020603050405020304" pitchFamily="18" charset="0"/>
                <a:sym typeface="Symbol" panose="05050102010706020507" pitchFamily="18" charset="2"/>
              </a:rPr>
              <a:t></a:t>
            </a:r>
            <a:r>
              <a:rPr lang="en-US" altLang="zh-CN" sz="2800">
                <a:latin typeface="Times New Roman" panose="02020603050405020304" pitchFamily="18" charset="0"/>
              </a:rPr>
              <a:t>s</a:t>
            </a:r>
            <a:r>
              <a:rPr lang="zh-CN" altLang="en-US" sz="2800">
                <a:latin typeface="Times New Roman" panose="02020603050405020304" pitchFamily="18" charset="0"/>
              </a:rPr>
              <a:t> </a:t>
            </a:r>
            <a:r>
              <a:rPr lang="en-US" altLang="zh-CN" sz="2800">
                <a:latin typeface="Times New Roman" panose="02020603050405020304" pitchFamily="18" charset="0"/>
              </a:rPr>
              <a:t>+ </a:t>
            </a:r>
            <a:r>
              <a:rPr lang="zh-CN" altLang="en-US" sz="2800">
                <a:latin typeface="Times New Roman" panose="02020603050405020304" pitchFamily="18" charset="0"/>
              </a:rPr>
              <a:t>0.5 </a:t>
            </a:r>
            <a:r>
              <a:rPr lang="en-US" altLang="zh-CN" sz="2800">
                <a:latin typeface="Times New Roman" panose="02020603050405020304" pitchFamily="18" charset="0"/>
                <a:sym typeface="Symbol" panose="05050102010706020507" pitchFamily="18" charset="2"/>
              </a:rPr>
              <a:t></a:t>
            </a:r>
            <a:r>
              <a:rPr lang="en-US" altLang="zh-CN" sz="2800">
                <a:latin typeface="Times New Roman" panose="02020603050405020304" pitchFamily="18" charset="0"/>
              </a:rPr>
              <a:t>s</a:t>
            </a:r>
            <a:r>
              <a:rPr lang="en-US" altLang="zh-CN"/>
              <a:t> </a:t>
            </a:r>
            <a:r>
              <a:rPr lang="en-US" altLang="zh-CN" sz="2800">
                <a:latin typeface="Times New Roman" panose="02020603050405020304" pitchFamily="18" charset="0"/>
              </a:rPr>
              <a:t>)</a:t>
            </a:r>
          </a:p>
        </p:txBody>
      </p:sp>
      <p:sp>
        <p:nvSpPr>
          <p:cNvPr id="782347" name="Rectangle 11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782348" name="Text Box 12"/>
          <p:cNvSpPr txBox="1">
            <a:spLocks noChangeArrowheads="1"/>
          </p:cNvSpPr>
          <p:nvPr/>
        </p:nvSpPr>
        <p:spPr bwMode="auto">
          <a:xfrm>
            <a:off x="762000" y="928688"/>
            <a:ext cx="48006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以 128</a:t>
            </a:r>
            <a:r>
              <a:rPr lang="zh-CN" altLang="en-US" sz="2400">
                <a:latin typeface="Times New Roman" panose="02020603050405020304" pitchFamily="18" charset="0"/>
              </a:rPr>
              <a:t> </a:t>
            </a:r>
            <a:r>
              <a:rPr lang="en-US" altLang="zh-CN" sz="2800">
                <a:latin typeface="Times New Roman" panose="02020603050405020304" pitchFamily="18" charset="0"/>
                <a:cs typeface="Times New Roman" panose="02020603050405020304" pitchFamily="18" charset="0"/>
              </a:rPr>
              <a:t>×128 </a:t>
            </a:r>
            <a:r>
              <a:rPr lang="zh-CN" altLang="en-US" sz="2800">
                <a:latin typeface="Times New Roman" panose="02020603050405020304" pitchFamily="18" charset="0"/>
              </a:rPr>
              <a:t>矩阵为例</a:t>
            </a:r>
          </a:p>
        </p:txBody>
      </p:sp>
      <p:sp>
        <p:nvSpPr>
          <p:cNvPr id="161801" name="AutoShape 13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grpSp>
        <p:nvGrpSpPr>
          <p:cNvPr id="3" name="Group 14"/>
          <p:cNvGrpSpPr/>
          <p:nvPr/>
        </p:nvGrpSpPr>
        <p:grpSpPr bwMode="auto">
          <a:xfrm>
            <a:off x="152400" y="1801813"/>
            <a:ext cx="8458200" cy="2922587"/>
            <a:chOff x="96" y="1135"/>
            <a:chExt cx="5328" cy="1841"/>
          </a:xfrm>
        </p:grpSpPr>
        <p:grpSp>
          <p:nvGrpSpPr>
            <p:cNvPr id="161803" name="Group 15"/>
            <p:cNvGrpSpPr/>
            <p:nvPr/>
          </p:nvGrpSpPr>
          <p:grpSpPr bwMode="auto">
            <a:xfrm>
              <a:off x="96" y="1135"/>
              <a:ext cx="5328" cy="1841"/>
              <a:chOff x="96" y="1135"/>
              <a:chExt cx="5328" cy="1841"/>
            </a:xfrm>
          </p:grpSpPr>
          <p:sp>
            <p:nvSpPr>
              <p:cNvPr id="161805" name="Line 16"/>
              <p:cNvSpPr>
                <a:spLocks noChangeShapeType="1"/>
              </p:cNvSpPr>
              <p:nvPr/>
            </p:nvSpPr>
            <p:spPr bwMode="auto">
              <a:xfrm>
                <a:off x="96" y="1716"/>
                <a:ext cx="1594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1806" name="Line 17"/>
              <p:cNvSpPr>
                <a:spLocks noChangeShapeType="1"/>
              </p:cNvSpPr>
              <p:nvPr/>
            </p:nvSpPr>
            <p:spPr bwMode="auto">
              <a:xfrm>
                <a:off x="416" y="1163"/>
                <a:ext cx="1" cy="181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1807" name="Line 18"/>
              <p:cNvSpPr>
                <a:spLocks noChangeShapeType="1"/>
              </p:cNvSpPr>
              <p:nvPr/>
            </p:nvSpPr>
            <p:spPr bwMode="auto">
              <a:xfrm>
                <a:off x="794" y="1163"/>
                <a:ext cx="1" cy="104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1808" name="Line 19"/>
              <p:cNvSpPr>
                <a:spLocks noChangeShapeType="1"/>
              </p:cNvSpPr>
              <p:nvPr/>
            </p:nvSpPr>
            <p:spPr bwMode="auto">
              <a:xfrm>
                <a:off x="1172" y="1163"/>
                <a:ext cx="1" cy="146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1809" name="Rectangle 20"/>
              <p:cNvSpPr>
                <a:spLocks noChangeArrowheads="1"/>
              </p:cNvSpPr>
              <p:nvPr/>
            </p:nvSpPr>
            <p:spPr bwMode="auto">
              <a:xfrm>
                <a:off x="467" y="1135"/>
                <a:ext cx="272" cy="1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1700">
                    <a:latin typeface="Times New Roman" panose="02020603050405020304" pitchFamily="18" charset="0"/>
                  </a:rPr>
                  <a:t>W/R</a:t>
                </a:r>
              </a:p>
            </p:txBody>
          </p:sp>
          <p:sp>
            <p:nvSpPr>
              <p:cNvPr id="161810" name="Line 21"/>
              <p:cNvSpPr>
                <a:spLocks noChangeShapeType="1"/>
              </p:cNvSpPr>
              <p:nvPr/>
            </p:nvSpPr>
            <p:spPr bwMode="auto">
              <a:xfrm>
                <a:off x="1550" y="1163"/>
                <a:ext cx="1" cy="1115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1811" name="Rectangle 22"/>
              <p:cNvSpPr>
                <a:spLocks noChangeArrowheads="1"/>
              </p:cNvSpPr>
              <p:nvPr/>
            </p:nvSpPr>
            <p:spPr bwMode="auto">
              <a:xfrm>
                <a:off x="825" y="1227"/>
                <a:ext cx="272" cy="1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1700">
                    <a:latin typeface="Times New Roman" panose="02020603050405020304" pitchFamily="18" charset="0"/>
                  </a:rPr>
                  <a:t>REF</a:t>
                </a:r>
              </a:p>
            </p:txBody>
          </p:sp>
          <p:sp>
            <p:nvSpPr>
              <p:cNvPr id="161812" name="Rectangle 23"/>
              <p:cNvSpPr>
                <a:spLocks noChangeArrowheads="1"/>
              </p:cNvSpPr>
              <p:nvPr/>
            </p:nvSpPr>
            <p:spPr bwMode="auto">
              <a:xfrm>
                <a:off x="920" y="1502"/>
                <a:ext cx="68" cy="1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1700">
                    <a:latin typeface="Times New Roman" panose="02020603050405020304" pitchFamily="18" charset="0"/>
                  </a:rPr>
                  <a:t>0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813" name="Rectangle 24"/>
              <p:cNvSpPr>
                <a:spLocks noChangeArrowheads="1"/>
              </p:cNvSpPr>
              <p:nvPr/>
            </p:nvSpPr>
            <p:spPr bwMode="auto">
              <a:xfrm>
                <a:off x="1221" y="1135"/>
                <a:ext cx="272" cy="1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1700">
                    <a:latin typeface="Times New Roman" panose="02020603050405020304" pitchFamily="18" charset="0"/>
                  </a:rPr>
                  <a:t>W/R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814" name="Rectangle 25"/>
              <p:cNvSpPr>
                <a:spLocks noChangeArrowheads="1"/>
              </p:cNvSpPr>
              <p:nvPr/>
            </p:nvSpPr>
            <p:spPr bwMode="auto">
              <a:xfrm>
                <a:off x="874" y="1750"/>
                <a:ext cx="53" cy="2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 i="1">
                    <a:latin typeface="Times New Roman" panose="02020603050405020304" pitchFamily="18" charset="0"/>
                  </a:rPr>
                  <a:t>t</a:t>
                </a:r>
              </a:p>
            </p:txBody>
          </p:sp>
          <p:sp>
            <p:nvSpPr>
              <p:cNvPr id="161815" name="Rectangle 26"/>
              <p:cNvSpPr>
                <a:spLocks noChangeArrowheads="1"/>
              </p:cNvSpPr>
              <p:nvPr/>
            </p:nvSpPr>
            <p:spPr bwMode="auto">
              <a:xfrm>
                <a:off x="944" y="1853"/>
                <a:ext cx="87" cy="1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1500">
                    <a:latin typeface="Times New Roman" panose="02020603050405020304" pitchFamily="18" charset="0"/>
                  </a:rPr>
                  <a:t>R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816" name="Rectangle 27"/>
              <p:cNvSpPr>
                <a:spLocks noChangeArrowheads="1"/>
              </p:cNvSpPr>
              <p:nvPr/>
            </p:nvSpPr>
            <p:spPr bwMode="auto">
              <a:xfrm>
                <a:off x="520" y="1750"/>
                <a:ext cx="53" cy="2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 i="1">
                    <a:latin typeface="Times New Roman" panose="02020603050405020304" pitchFamily="18" charset="0"/>
                  </a:rPr>
                  <a:t>t</a:t>
                </a:r>
              </a:p>
            </p:txBody>
          </p:sp>
          <p:sp>
            <p:nvSpPr>
              <p:cNvPr id="161817" name="Rectangle 28"/>
              <p:cNvSpPr>
                <a:spLocks noChangeArrowheads="1"/>
              </p:cNvSpPr>
              <p:nvPr/>
            </p:nvSpPr>
            <p:spPr bwMode="auto">
              <a:xfrm>
                <a:off x="604" y="1853"/>
                <a:ext cx="113" cy="1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1500">
                    <a:latin typeface="Times New Roman" panose="02020603050405020304" pitchFamily="18" charset="0"/>
                  </a:rPr>
                  <a:t>M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818" name="Rectangle 29"/>
              <p:cNvSpPr>
                <a:spLocks noChangeArrowheads="1"/>
              </p:cNvSpPr>
              <p:nvPr/>
            </p:nvSpPr>
            <p:spPr bwMode="auto">
              <a:xfrm>
                <a:off x="761" y="2239"/>
                <a:ext cx="53" cy="2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 i="1">
                    <a:latin typeface="Times New Roman" panose="02020603050405020304" pitchFamily="18" charset="0"/>
                  </a:rPr>
                  <a:t>t</a:t>
                </a:r>
              </a:p>
            </p:txBody>
          </p:sp>
          <p:sp>
            <p:nvSpPr>
              <p:cNvPr id="161819" name="Rectangle 30"/>
              <p:cNvSpPr>
                <a:spLocks noChangeArrowheads="1"/>
              </p:cNvSpPr>
              <p:nvPr/>
            </p:nvSpPr>
            <p:spPr bwMode="auto">
              <a:xfrm>
                <a:off x="830" y="2342"/>
                <a:ext cx="87" cy="1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1500">
                    <a:latin typeface="Times New Roman" panose="02020603050405020304" pitchFamily="18" charset="0"/>
                  </a:rPr>
                  <a:t>C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820" name="Line 31"/>
              <p:cNvSpPr>
                <a:spLocks noChangeShapeType="1"/>
              </p:cNvSpPr>
              <p:nvPr/>
            </p:nvSpPr>
            <p:spPr bwMode="auto">
              <a:xfrm>
                <a:off x="2180" y="1716"/>
                <a:ext cx="3244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1821" name="Line 32"/>
              <p:cNvSpPr>
                <a:spLocks noChangeShapeType="1"/>
              </p:cNvSpPr>
              <p:nvPr/>
            </p:nvSpPr>
            <p:spPr bwMode="auto">
              <a:xfrm>
                <a:off x="2273" y="1163"/>
                <a:ext cx="1" cy="1115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1822" name="Line 33"/>
              <p:cNvSpPr>
                <a:spLocks noChangeShapeType="1"/>
              </p:cNvSpPr>
              <p:nvPr/>
            </p:nvSpPr>
            <p:spPr bwMode="auto">
              <a:xfrm>
                <a:off x="2651" y="1163"/>
                <a:ext cx="1" cy="1115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1823" name="Line 34"/>
              <p:cNvSpPr>
                <a:spLocks noChangeShapeType="1"/>
              </p:cNvSpPr>
              <p:nvPr/>
            </p:nvSpPr>
            <p:spPr bwMode="auto">
              <a:xfrm>
                <a:off x="3025" y="1163"/>
                <a:ext cx="1" cy="1115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1824" name="Line 35"/>
              <p:cNvSpPr>
                <a:spLocks noChangeShapeType="1"/>
              </p:cNvSpPr>
              <p:nvPr/>
            </p:nvSpPr>
            <p:spPr bwMode="auto">
              <a:xfrm>
                <a:off x="3403" y="1163"/>
                <a:ext cx="1" cy="1115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1825" name="Freeform 36"/>
              <p:cNvSpPr/>
              <p:nvPr/>
            </p:nvSpPr>
            <p:spPr bwMode="auto">
              <a:xfrm>
                <a:off x="3778" y="1161"/>
                <a:ext cx="5" cy="1812"/>
              </a:xfrm>
              <a:custGeom>
                <a:avLst/>
                <a:gdLst>
                  <a:gd name="T0" fmla="*/ 0 w 5"/>
                  <a:gd name="T1" fmla="*/ 0 h 1812"/>
                  <a:gd name="T2" fmla="*/ 5 w 5"/>
                  <a:gd name="T3" fmla="*/ 1812 h 1812"/>
                  <a:gd name="T4" fmla="*/ 0 60000 65536"/>
                  <a:gd name="T5" fmla="*/ 0 60000 65536"/>
                  <a:gd name="T6" fmla="*/ 0 w 5"/>
                  <a:gd name="T7" fmla="*/ 0 h 1812"/>
                  <a:gd name="T8" fmla="*/ 5 w 5"/>
                  <a:gd name="T9" fmla="*/ 1812 h 181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1812">
                    <a:moveTo>
                      <a:pt x="0" y="0"/>
                    </a:moveTo>
                    <a:lnTo>
                      <a:pt x="5" y="1812"/>
                    </a:lnTo>
                  </a:path>
                </a:pathLst>
              </a:custGeom>
              <a:solidFill>
                <a:srgbClr val="FFFFFF"/>
              </a:solidFill>
              <a:ln w="28575" cmpd="sng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1826" name="Freeform 37"/>
              <p:cNvSpPr/>
              <p:nvPr/>
            </p:nvSpPr>
            <p:spPr bwMode="auto">
              <a:xfrm>
                <a:off x="4153" y="1163"/>
                <a:ext cx="6" cy="1111"/>
              </a:xfrm>
              <a:custGeom>
                <a:avLst/>
                <a:gdLst>
                  <a:gd name="T0" fmla="*/ 0 w 5"/>
                  <a:gd name="T1" fmla="*/ 0 h 1111"/>
                  <a:gd name="T2" fmla="*/ 60 w 5"/>
                  <a:gd name="T3" fmla="*/ 1111 h 1111"/>
                  <a:gd name="T4" fmla="*/ 0 60000 65536"/>
                  <a:gd name="T5" fmla="*/ 0 60000 65536"/>
                  <a:gd name="T6" fmla="*/ 0 w 5"/>
                  <a:gd name="T7" fmla="*/ 0 h 1111"/>
                  <a:gd name="T8" fmla="*/ 5 w 5"/>
                  <a:gd name="T9" fmla="*/ 1111 h 11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1111">
                    <a:moveTo>
                      <a:pt x="0" y="0"/>
                    </a:moveTo>
                    <a:lnTo>
                      <a:pt x="5" y="1111"/>
                    </a:lnTo>
                  </a:path>
                </a:pathLst>
              </a:custGeom>
              <a:solidFill>
                <a:srgbClr val="FFFFFF"/>
              </a:solidFill>
              <a:ln w="28575" cmpd="sng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1827" name="Rectangle 38"/>
              <p:cNvSpPr>
                <a:spLocks noChangeArrowheads="1"/>
              </p:cNvSpPr>
              <p:nvPr/>
            </p:nvSpPr>
            <p:spPr bwMode="auto">
              <a:xfrm>
                <a:off x="2705" y="1227"/>
                <a:ext cx="271" cy="1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1700">
                    <a:latin typeface="Times New Roman" panose="02020603050405020304" pitchFamily="18" charset="0"/>
                  </a:rPr>
                  <a:t>REF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828" name="Rectangle 39"/>
              <p:cNvSpPr>
                <a:spLocks noChangeArrowheads="1"/>
              </p:cNvSpPr>
              <p:nvPr/>
            </p:nvSpPr>
            <p:spPr bwMode="auto">
              <a:xfrm>
                <a:off x="2729" y="1502"/>
                <a:ext cx="204" cy="1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1700">
                    <a:latin typeface="Times New Roman" panose="02020603050405020304" pitchFamily="18" charset="0"/>
                  </a:rPr>
                  <a:t>126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829" name="Rectangle 40"/>
              <p:cNvSpPr>
                <a:spLocks noChangeArrowheads="1"/>
              </p:cNvSpPr>
              <p:nvPr/>
            </p:nvSpPr>
            <p:spPr bwMode="auto">
              <a:xfrm>
                <a:off x="3443" y="1227"/>
                <a:ext cx="272" cy="1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1700">
                    <a:latin typeface="Times New Roman" panose="02020603050405020304" pitchFamily="18" charset="0"/>
                  </a:rPr>
                  <a:t>REF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830" name="Rectangle 41"/>
              <p:cNvSpPr>
                <a:spLocks noChangeArrowheads="1"/>
              </p:cNvSpPr>
              <p:nvPr/>
            </p:nvSpPr>
            <p:spPr bwMode="auto">
              <a:xfrm>
                <a:off x="3466" y="1502"/>
                <a:ext cx="204" cy="1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1700">
                    <a:latin typeface="Times New Roman" panose="02020603050405020304" pitchFamily="18" charset="0"/>
                  </a:rPr>
                  <a:t>127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831" name="Line 42"/>
              <p:cNvSpPr>
                <a:spLocks noChangeShapeType="1"/>
              </p:cNvSpPr>
              <p:nvPr/>
            </p:nvSpPr>
            <p:spPr bwMode="auto">
              <a:xfrm>
                <a:off x="4531" y="1163"/>
                <a:ext cx="1" cy="1115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1832" name="Line 43"/>
              <p:cNvSpPr>
                <a:spLocks noChangeShapeType="1"/>
              </p:cNvSpPr>
              <p:nvPr/>
            </p:nvSpPr>
            <p:spPr bwMode="auto">
              <a:xfrm>
                <a:off x="4909" y="1163"/>
                <a:ext cx="1" cy="1115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1833" name="Line 44"/>
              <p:cNvSpPr>
                <a:spLocks noChangeShapeType="1"/>
              </p:cNvSpPr>
              <p:nvPr/>
            </p:nvSpPr>
            <p:spPr bwMode="auto">
              <a:xfrm>
                <a:off x="5283" y="1163"/>
                <a:ext cx="1" cy="1115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1834" name="Rectangle 45"/>
              <p:cNvSpPr>
                <a:spLocks noChangeArrowheads="1"/>
              </p:cNvSpPr>
              <p:nvPr/>
            </p:nvSpPr>
            <p:spPr bwMode="auto">
              <a:xfrm>
                <a:off x="4953" y="1227"/>
                <a:ext cx="272" cy="1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1700">
                    <a:latin typeface="Times New Roman" panose="02020603050405020304" pitchFamily="18" charset="0"/>
                  </a:rPr>
                  <a:t>REF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835" name="Rectangle 46"/>
              <p:cNvSpPr>
                <a:spLocks noChangeArrowheads="1"/>
              </p:cNvSpPr>
              <p:nvPr/>
            </p:nvSpPr>
            <p:spPr bwMode="auto">
              <a:xfrm>
                <a:off x="2327" y="1135"/>
                <a:ext cx="272" cy="1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1700">
                    <a:latin typeface="Times New Roman" panose="02020603050405020304" pitchFamily="18" charset="0"/>
                  </a:rPr>
                  <a:t>W/R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836" name="Rectangle 47"/>
              <p:cNvSpPr>
                <a:spLocks noChangeArrowheads="1"/>
              </p:cNvSpPr>
              <p:nvPr/>
            </p:nvSpPr>
            <p:spPr bwMode="auto">
              <a:xfrm>
                <a:off x="3082" y="1135"/>
                <a:ext cx="273" cy="1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1700">
                    <a:latin typeface="Times New Roman" panose="02020603050405020304" pitchFamily="18" charset="0"/>
                  </a:rPr>
                  <a:t>W/R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837" name="Rectangle 48"/>
              <p:cNvSpPr>
                <a:spLocks noChangeArrowheads="1"/>
              </p:cNvSpPr>
              <p:nvPr/>
            </p:nvSpPr>
            <p:spPr bwMode="auto">
              <a:xfrm>
                <a:off x="3825" y="1135"/>
                <a:ext cx="272" cy="1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1700">
                    <a:latin typeface="Times New Roman" panose="02020603050405020304" pitchFamily="18" charset="0"/>
                  </a:rPr>
                  <a:t>W/R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838" name="Rectangle 49"/>
              <p:cNvSpPr>
                <a:spLocks noChangeArrowheads="1"/>
              </p:cNvSpPr>
              <p:nvPr/>
            </p:nvSpPr>
            <p:spPr bwMode="auto">
              <a:xfrm>
                <a:off x="4582" y="1135"/>
                <a:ext cx="272" cy="1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1700">
                    <a:latin typeface="Times New Roman" panose="02020603050405020304" pitchFamily="18" charset="0"/>
                  </a:rPr>
                  <a:t>W/R</a:t>
                </a:r>
                <a:endParaRPr lang="en-US" altLang="zh-CN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839" name="Rectangle 50"/>
              <p:cNvSpPr>
                <a:spLocks noChangeArrowheads="1"/>
              </p:cNvSpPr>
              <p:nvPr/>
            </p:nvSpPr>
            <p:spPr bwMode="auto">
              <a:xfrm>
                <a:off x="1154" y="2753"/>
                <a:ext cx="644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/>
                  <a:t>刷新间隔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840" name="Rectangle 51"/>
              <p:cNvSpPr>
                <a:spLocks noChangeArrowheads="1"/>
              </p:cNvSpPr>
              <p:nvPr/>
            </p:nvSpPr>
            <p:spPr bwMode="auto">
              <a:xfrm>
                <a:off x="1882" y="2749"/>
                <a:ext cx="240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128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841" name="Rectangle 52"/>
              <p:cNvSpPr>
                <a:spLocks noChangeArrowheads="1"/>
              </p:cNvSpPr>
              <p:nvPr/>
            </p:nvSpPr>
            <p:spPr bwMode="auto">
              <a:xfrm>
                <a:off x="2178" y="2753"/>
                <a:ext cx="805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/>
                  <a:t>个存取周期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842" name="Line 53"/>
              <p:cNvSpPr>
                <a:spLocks noChangeShapeType="1"/>
              </p:cNvSpPr>
              <p:nvPr/>
            </p:nvSpPr>
            <p:spPr bwMode="auto">
              <a:xfrm flipH="1">
                <a:off x="416" y="2845"/>
                <a:ext cx="524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1843" name="Line 54"/>
              <p:cNvSpPr>
                <a:spLocks noChangeShapeType="1"/>
              </p:cNvSpPr>
              <p:nvPr/>
            </p:nvSpPr>
            <p:spPr bwMode="auto">
              <a:xfrm>
                <a:off x="3268" y="2845"/>
                <a:ext cx="52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1844" name="Text Box 55"/>
              <p:cNvSpPr txBox="1">
                <a:spLocks noChangeArrowheads="1"/>
              </p:cNvSpPr>
              <p:nvPr/>
            </p:nvSpPr>
            <p:spPr bwMode="auto">
              <a:xfrm>
                <a:off x="1708" y="1530"/>
                <a:ext cx="61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845" name="Line 56"/>
              <p:cNvSpPr>
                <a:spLocks noChangeShapeType="1"/>
              </p:cNvSpPr>
              <p:nvPr/>
            </p:nvSpPr>
            <p:spPr bwMode="auto">
              <a:xfrm>
                <a:off x="416" y="2464"/>
                <a:ext cx="75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1846" name="Line 57"/>
              <p:cNvSpPr>
                <a:spLocks noChangeShapeType="1"/>
              </p:cNvSpPr>
              <p:nvPr/>
            </p:nvSpPr>
            <p:spPr bwMode="auto">
              <a:xfrm>
                <a:off x="403" y="2030"/>
                <a:ext cx="38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1847" name="Line 58"/>
              <p:cNvSpPr>
                <a:spLocks noChangeShapeType="1"/>
              </p:cNvSpPr>
              <p:nvPr/>
            </p:nvSpPr>
            <p:spPr bwMode="auto">
              <a:xfrm>
                <a:off x="790" y="2029"/>
                <a:ext cx="38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61804" name="Text Box 59"/>
            <p:cNvSpPr txBox="1">
              <a:spLocks noChangeArrowheads="1"/>
            </p:cNvSpPr>
            <p:nvPr/>
          </p:nvSpPr>
          <p:spPr bwMode="auto">
            <a:xfrm>
              <a:off x="1754" y="1471"/>
              <a:ext cx="499" cy="3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3000">
                  <a:latin typeface="Times New Roman" panose="02020603050405020304" pitchFamily="18" charset="0"/>
                </a:rPr>
                <a:t>…</a:t>
              </a:r>
              <a:endParaRPr lang="zh-CN" altLang="en-US" sz="3000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2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82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2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82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2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782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2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782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2338" grpId="0" autoUpdateAnimBg="0"/>
      <p:bldP spid="782344" grpId="0" autoUpdateAnimBg="0"/>
      <p:bldP spid="782346" grpId="0" autoUpdateAnimBg="0"/>
      <p:bldP spid="782348" grpId="0" autoUpdateAnimBg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7" name="Text Box 2"/>
          <p:cNvSpPr txBox="1">
            <a:spLocks noChangeArrowheads="1"/>
          </p:cNvSpPr>
          <p:nvPr/>
        </p:nvSpPr>
        <p:spPr bwMode="auto">
          <a:xfrm>
            <a:off x="107950" y="533400"/>
            <a:ext cx="82994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  <a:ea typeface="楷体_GB2312" pitchFamily="49" charset="-122"/>
              </a:rPr>
              <a:t>③ </a:t>
            </a:r>
            <a:r>
              <a:rPr lang="zh-CN" altLang="en-US" sz="3200">
                <a:latin typeface="Times New Roman" panose="02020603050405020304" pitchFamily="18" charset="0"/>
              </a:rPr>
              <a:t>分散刷新与集中刷新相结合（异步刷新）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674819" name="Text Box 3"/>
          <p:cNvSpPr txBox="1">
            <a:spLocks noChangeArrowheads="1"/>
          </p:cNvSpPr>
          <p:nvPr/>
        </p:nvSpPr>
        <p:spPr bwMode="auto">
          <a:xfrm>
            <a:off x="609600" y="1341438"/>
            <a:ext cx="85344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对于 128 </a:t>
            </a:r>
            <a:r>
              <a:rPr lang="en-US" altLang="zh-CN" sz="2800">
                <a:latin typeface="Times New Roman" panose="02020603050405020304" pitchFamily="18" charset="0"/>
                <a:cs typeface="Times New Roman" panose="02020603050405020304" pitchFamily="18" charset="0"/>
              </a:rPr>
              <a:t>×128 </a:t>
            </a:r>
            <a:r>
              <a:rPr lang="zh-CN" altLang="en-US" sz="2800">
                <a:latin typeface="Times New Roman" panose="02020603050405020304" pitchFamily="18" charset="0"/>
              </a:rPr>
              <a:t>的存储芯片</a:t>
            </a:r>
            <a:r>
              <a:rPr lang="en-US" altLang="zh-CN" sz="2800">
                <a:latin typeface="Times New Roman" panose="02020603050405020304" pitchFamily="18" charset="0"/>
                <a:ea typeface="楷体_GB2312" pitchFamily="49" charset="-122"/>
              </a:rPr>
              <a:t>（</a:t>
            </a:r>
            <a:r>
              <a:rPr lang="zh-CN" altLang="en-US" sz="2800">
                <a:latin typeface="Times New Roman" panose="02020603050405020304" pitchFamily="18" charset="0"/>
              </a:rPr>
              <a:t>存取周期为 </a:t>
            </a:r>
            <a:r>
              <a:rPr lang="zh-CN" altLang="en-US" sz="2800">
                <a:latin typeface="Times New Roman" panose="02020603050405020304" pitchFamily="18" charset="0"/>
                <a:ea typeface="楷体_GB2312" pitchFamily="49" charset="-122"/>
              </a:rPr>
              <a:t>0.5 </a:t>
            </a:r>
            <a:r>
              <a:rPr lang="en-US" altLang="zh-CN" sz="2800">
                <a:sym typeface="Symbol" panose="05050102010706020507" pitchFamily="18" charset="2"/>
              </a:rPr>
              <a:t></a:t>
            </a:r>
            <a:r>
              <a:rPr lang="en-US" altLang="zh-CN" sz="2800"/>
              <a:t>s</a:t>
            </a:r>
            <a:r>
              <a:rPr lang="en-US" altLang="zh-CN"/>
              <a:t> </a:t>
            </a:r>
            <a:r>
              <a:rPr lang="en-US" altLang="zh-CN" sz="2800">
                <a:latin typeface="Times New Roman" panose="02020603050405020304" pitchFamily="18" charset="0"/>
              </a:rPr>
              <a:t>）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674820" name="Text Box 4"/>
          <p:cNvSpPr txBox="1">
            <a:spLocks noChangeArrowheads="1"/>
          </p:cNvSpPr>
          <p:nvPr/>
        </p:nvSpPr>
        <p:spPr bwMode="auto">
          <a:xfrm>
            <a:off x="609600" y="6021388"/>
            <a:ext cx="86868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将刷新安排在指令译码阶段，不会出现 “死区”</a:t>
            </a:r>
          </a:p>
        </p:txBody>
      </p:sp>
      <p:sp>
        <p:nvSpPr>
          <p:cNvPr id="674821" name="Text Box 5"/>
          <p:cNvSpPr txBox="1">
            <a:spLocks noChangeArrowheads="1"/>
          </p:cNvSpPr>
          <p:nvPr/>
        </p:nvSpPr>
        <p:spPr bwMode="auto">
          <a:xfrm>
            <a:off x="5222875" y="5286375"/>
            <a:ext cx="3886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 dirty="0">
                <a:solidFill>
                  <a:schemeClr val="folHlink"/>
                </a:solidFill>
                <a:latin typeface="Times New Roman" panose="02020603050405020304" pitchFamily="18" charset="0"/>
              </a:rPr>
              <a:t>“死区” 为 0.5 </a:t>
            </a:r>
            <a:r>
              <a:rPr lang="en-US" altLang="zh-CN" sz="2800" dirty="0">
                <a:solidFill>
                  <a:schemeClr val="folHlink"/>
                </a:solidFill>
                <a:sym typeface="Symbol" panose="05050102010706020507" pitchFamily="18" charset="2"/>
              </a:rPr>
              <a:t></a:t>
            </a:r>
            <a:r>
              <a:rPr lang="en-US" altLang="zh-CN" sz="2800" dirty="0">
                <a:solidFill>
                  <a:schemeClr val="folHlink"/>
                </a:solidFill>
              </a:rPr>
              <a:t>s</a:t>
            </a:r>
            <a:r>
              <a:rPr lang="en-US" altLang="zh-CN" dirty="0"/>
              <a:t> </a:t>
            </a:r>
            <a:endParaRPr lang="zh-CN" altLang="en-US" dirty="0"/>
          </a:p>
        </p:txBody>
      </p:sp>
      <p:sp>
        <p:nvSpPr>
          <p:cNvPr id="674822" name="Text Box 6"/>
          <p:cNvSpPr txBox="1">
            <a:spLocks noChangeArrowheads="1"/>
          </p:cNvSpPr>
          <p:nvPr/>
        </p:nvSpPr>
        <p:spPr bwMode="auto">
          <a:xfrm>
            <a:off x="609600" y="1989138"/>
            <a:ext cx="51816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若每隔 </a:t>
            </a:r>
            <a:r>
              <a: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15.6 </a:t>
            </a:r>
            <a:r>
              <a:rPr lang="en-US" altLang="zh-CN" sz="2800">
                <a:solidFill>
                  <a:schemeClr val="folHlink"/>
                </a:solidFill>
                <a:sym typeface="Symbol" panose="05050102010706020507" pitchFamily="18" charset="2"/>
              </a:rPr>
              <a:t></a:t>
            </a:r>
            <a:r>
              <a:rPr lang="en-US" altLang="zh-CN" sz="2800">
                <a:solidFill>
                  <a:schemeClr val="folHlink"/>
                </a:solidFill>
              </a:rPr>
              <a:t>s</a:t>
            </a:r>
            <a:r>
              <a:rPr lang="en-US" altLang="zh-CN" sz="28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zh-CN" altLang="en-US" sz="2800">
                <a:latin typeface="Times New Roman" panose="02020603050405020304" pitchFamily="18" charset="0"/>
              </a:rPr>
              <a:t>刷新一行</a:t>
            </a:r>
          </a:p>
        </p:txBody>
      </p:sp>
      <p:sp>
        <p:nvSpPr>
          <p:cNvPr id="674823" name="Text Box 7"/>
          <p:cNvSpPr txBox="1">
            <a:spLocks noChangeArrowheads="1"/>
          </p:cNvSpPr>
          <p:nvPr/>
        </p:nvSpPr>
        <p:spPr bwMode="auto">
          <a:xfrm>
            <a:off x="609600" y="5286375"/>
            <a:ext cx="7010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每行每隔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2 </a:t>
            </a:r>
            <a:r>
              <a: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rPr>
              <a:t>ms</a:t>
            </a:r>
            <a:r>
              <a:rPr lang="en-US" altLang="zh-CN" sz="2800">
                <a:latin typeface="Times New Roman" panose="02020603050405020304" pitchFamily="18" charset="0"/>
              </a:rPr>
              <a:t> </a:t>
            </a:r>
            <a:r>
              <a:rPr lang="zh-CN" altLang="en-US" sz="2800">
                <a:latin typeface="Times New Roman" panose="02020603050405020304" pitchFamily="18" charset="0"/>
              </a:rPr>
              <a:t>刷新一次</a:t>
            </a:r>
          </a:p>
        </p:txBody>
      </p:sp>
      <p:sp>
        <p:nvSpPr>
          <p:cNvPr id="674824" name="Rectangle 8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034" name="Rectangle 9"/>
          <p:cNvSpPr>
            <a:spLocks noChangeArrowheads="1"/>
          </p:cNvSpPr>
          <p:nvPr/>
        </p:nvSpPr>
        <p:spPr bwMode="auto">
          <a:xfrm>
            <a:off x="0" y="2938463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graphicFrame>
        <p:nvGraphicFramePr>
          <p:cNvPr id="674826" name="Object 10"/>
          <p:cNvGraphicFramePr>
            <a:graphicFrameLocks noChangeAspect="1"/>
          </p:cNvGraphicFramePr>
          <p:nvPr/>
        </p:nvGraphicFramePr>
        <p:xfrm>
          <a:off x="755650" y="2997200"/>
          <a:ext cx="7561263" cy="20161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Visio" r:id="rId2" imgW="3943350" imgH="990600" progId="Visio.Drawing.11">
                  <p:embed/>
                </p:oleObj>
              </mc:Choice>
              <mc:Fallback>
                <p:oleObj name="Visio" r:id="rId2" imgW="3943350" imgH="990600" progId="Visio.Drawing.11">
                  <p:embed/>
                  <p:pic>
                    <p:nvPicPr>
                      <p:cNvPr id="0" name="图片 104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55650" y="2997200"/>
                        <a:ext cx="7561263" cy="20161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35" name="AutoShape 11">
            <a:hlinkClick r:id="rId4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4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6748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4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674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4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6748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4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6748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4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674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4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6748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4819" grpId="0" autoUpdateAnimBg="0"/>
      <p:bldP spid="674820" grpId="0" autoUpdateAnimBg="0"/>
      <p:bldP spid="674821" grpId="0" autoUpdateAnimBg="0"/>
      <p:bldP spid="674822" grpId="0"/>
      <p:bldP spid="674823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8" name="Text Box 2"/>
          <p:cNvSpPr txBox="1">
            <a:spLocks noChangeArrowheads="1"/>
          </p:cNvSpPr>
          <p:nvPr/>
        </p:nvSpPr>
        <p:spPr bwMode="auto">
          <a:xfrm>
            <a:off x="457200" y="533400"/>
            <a:ext cx="6858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3. 动态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200">
                <a:latin typeface="Times New Roman" panose="02020603050405020304" pitchFamily="18" charset="0"/>
              </a:rPr>
              <a:t>和静态 </a:t>
            </a:r>
            <a:r>
              <a:rPr lang="en-US" altLang="zh-CN" sz="3200">
                <a:latin typeface="Times New Roman" panose="02020603050405020304" pitchFamily="18" charset="0"/>
              </a:rPr>
              <a:t>RAM </a:t>
            </a:r>
            <a:r>
              <a:rPr lang="zh-CN" altLang="en-US" sz="3200">
                <a:latin typeface="Times New Roman" panose="02020603050405020304" pitchFamily="18" charset="0"/>
              </a:rPr>
              <a:t>的比较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grpSp>
        <p:nvGrpSpPr>
          <p:cNvPr id="2" name="Group 3"/>
          <p:cNvGrpSpPr/>
          <p:nvPr/>
        </p:nvGrpSpPr>
        <p:grpSpPr bwMode="auto">
          <a:xfrm>
            <a:off x="3352800" y="1249363"/>
            <a:ext cx="4648200" cy="457200"/>
            <a:chOff x="2112" y="787"/>
            <a:chExt cx="2928" cy="288"/>
          </a:xfrm>
        </p:grpSpPr>
        <p:sp>
          <p:nvSpPr>
            <p:cNvPr id="162856" name="Text Box 4"/>
            <p:cNvSpPr txBox="1">
              <a:spLocks noChangeArrowheads="1"/>
            </p:cNvSpPr>
            <p:nvPr/>
          </p:nvSpPr>
          <p:spPr bwMode="auto">
            <a:xfrm>
              <a:off x="2112" y="787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DRAM</a:t>
              </a:r>
            </a:p>
          </p:txBody>
        </p:sp>
        <p:sp>
          <p:nvSpPr>
            <p:cNvPr id="162857" name="Text Box 5"/>
            <p:cNvSpPr txBox="1">
              <a:spLocks noChangeArrowheads="1"/>
            </p:cNvSpPr>
            <p:nvPr/>
          </p:nvSpPr>
          <p:spPr bwMode="auto">
            <a:xfrm>
              <a:off x="3504" y="787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SRAM</a:t>
              </a:r>
            </a:p>
          </p:txBody>
        </p:sp>
      </p:grpSp>
      <p:sp>
        <p:nvSpPr>
          <p:cNvPr id="791558" name="Text Box 6"/>
          <p:cNvSpPr txBox="1">
            <a:spLocks noChangeArrowheads="1"/>
          </p:cNvSpPr>
          <p:nvPr/>
        </p:nvSpPr>
        <p:spPr bwMode="auto">
          <a:xfrm>
            <a:off x="1219200" y="1858963"/>
            <a:ext cx="2438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存储原理</a:t>
            </a:r>
          </a:p>
        </p:txBody>
      </p:sp>
      <p:sp>
        <p:nvSpPr>
          <p:cNvPr id="791559" name="Text Box 7"/>
          <p:cNvSpPr txBox="1">
            <a:spLocks noChangeArrowheads="1"/>
          </p:cNvSpPr>
          <p:nvPr/>
        </p:nvSpPr>
        <p:spPr bwMode="auto">
          <a:xfrm>
            <a:off x="1219200" y="2538413"/>
            <a:ext cx="2438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集成度</a:t>
            </a:r>
          </a:p>
        </p:txBody>
      </p:sp>
      <p:sp>
        <p:nvSpPr>
          <p:cNvPr id="791560" name="Text Box 8"/>
          <p:cNvSpPr txBox="1">
            <a:spLocks noChangeArrowheads="1"/>
          </p:cNvSpPr>
          <p:nvPr/>
        </p:nvSpPr>
        <p:spPr bwMode="auto">
          <a:xfrm>
            <a:off x="1219200" y="3219450"/>
            <a:ext cx="2438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芯片引脚</a:t>
            </a:r>
          </a:p>
        </p:txBody>
      </p:sp>
      <p:sp>
        <p:nvSpPr>
          <p:cNvPr id="791561" name="Text Box 9"/>
          <p:cNvSpPr txBox="1">
            <a:spLocks noChangeArrowheads="1"/>
          </p:cNvSpPr>
          <p:nvPr/>
        </p:nvSpPr>
        <p:spPr bwMode="auto">
          <a:xfrm>
            <a:off x="1219200" y="3900488"/>
            <a:ext cx="2438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功耗</a:t>
            </a:r>
          </a:p>
        </p:txBody>
      </p:sp>
      <p:sp>
        <p:nvSpPr>
          <p:cNvPr id="791562" name="Text Box 10"/>
          <p:cNvSpPr txBox="1">
            <a:spLocks noChangeArrowheads="1"/>
          </p:cNvSpPr>
          <p:nvPr/>
        </p:nvSpPr>
        <p:spPr bwMode="auto">
          <a:xfrm>
            <a:off x="1219200" y="4581525"/>
            <a:ext cx="2438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价格</a:t>
            </a:r>
          </a:p>
        </p:txBody>
      </p:sp>
      <p:sp>
        <p:nvSpPr>
          <p:cNvPr id="791563" name="Text Box 11"/>
          <p:cNvSpPr txBox="1">
            <a:spLocks noChangeArrowheads="1"/>
          </p:cNvSpPr>
          <p:nvPr/>
        </p:nvSpPr>
        <p:spPr bwMode="auto">
          <a:xfrm>
            <a:off x="1219200" y="5262563"/>
            <a:ext cx="2438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速度</a:t>
            </a:r>
          </a:p>
        </p:txBody>
      </p:sp>
      <p:sp>
        <p:nvSpPr>
          <p:cNvPr id="791564" name="Text Box 12"/>
          <p:cNvSpPr txBox="1">
            <a:spLocks noChangeArrowheads="1"/>
          </p:cNvSpPr>
          <p:nvPr/>
        </p:nvSpPr>
        <p:spPr bwMode="auto">
          <a:xfrm>
            <a:off x="1219200" y="5943600"/>
            <a:ext cx="2438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刷新</a:t>
            </a:r>
          </a:p>
        </p:txBody>
      </p:sp>
      <p:grpSp>
        <p:nvGrpSpPr>
          <p:cNvPr id="3" name="Group 13"/>
          <p:cNvGrpSpPr/>
          <p:nvPr/>
        </p:nvGrpSpPr>
        <p:grpSpPr bwMode="auto">
          <a:xfrm>
            <a:off x="3429000" y="1858963"/>
            <a:ext cx="4648200" cy="457200"/>
            <a:chOff x="2160" y="1171"/>
            <a:chExt cx="2928" cy="288"/>
          </a:xfrm>
        </p:grpSpPr>
        <p:sp>
          <p:nvSpPr>
            <p:cNvPr id="162854" name="Text Box 14"/>
            <p:cNvSpPr txBox="1">
              <a:spLocks noChangeArrowheads="1"/>
            </p:cNvSpPr>
            <p:nvPr/>
          </p:nvSpPr>
          <p:spPr bwMode="auto">
            <a:xfrm>
              <a:off x="2160" y="1171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电容</a:t>
              </a:r>
            </a:p>
          </p:txBody>
        </p:sp>
        <p:sp>
          <p:nvSpPr>
            <p:cNvPr id="162855" name="Text Box 15"/>
            <p:cNvSpPr txBox="1">
              <a:spLocks noChangeArrowheads="1"/>
            </p:cNvSpPr>
            <p:nvPr/>
          </p:nvSpPr>
          <p:spPr bwMode="auto">
            <a:xfrm>
              <a:off x="3552" y="1171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触发器</a:t>
              </a:r>
            </a:p>
          </p:txBody>
        </p:sp>
      </p:grpSp>
      <p:grpSp>
        <p:nvGrpSpPr>
          <p:cNvPr id="4" name="Group 16"/>
          <p:cNvGrpSpPr/>
          <p:nvPr/>
        </p:nvGrpSpPr>
        <p:grpSpPr bwMode="auto">
          <a:xfrm>
            <a:off x="3429000" y="2538413"/>
            <a:ext cx="4648200" cy="457200"/>
            <a:chOff x="2160" y="1599"/>
            <a:chExt cx="2928" cy="288"/>
          </a:xfrm>
        </p:grpSpPr>
        <p:sp>
          <p:nvSpPr>
            <p:cNvPr id="162852" name="Text Box 17"/>
            <p:cNvSpPr txBox="1">
              <a:spLocks noChangeArrowheads="1"/>
            </p:cNvSpPr>
            <p:nvPr/>
          </p:nvSpPr>
          <p:spPr bwMode="auto">
            <a:xfrm>
              <a:off x="2160" y="1599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高</a:t>
              </a:r>
            </a:p>
          </p:txBody>
        </p:sp>
        <p:sp>
          <p:nvSpPr>
            <p:cNvPr id="162853" name="Text Box 18"/>
            <p:cNvSpPr txBox="1">
              <a:spLocks noChangeArrowheads="1"/>
            </p:cNvSpPr>
            <p:nvPr/>
          </p:nvSpPr>
          <p:spPr bwMode="auto">
            <a:xfrm>
              <a:off x="3552" y="1599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低</a:t>
              </a:r>
            </a:p>
          </p:txBody>
        </p:sp>
      </p:grpSp>
      <p:grpSp>
        <p:nvGrpSpPr>
          <p:cNvPr id="5" name="Group 19"/>
          <p:cNvGrpSpPr/>
          <p:nvPr/>
        </p:nvGrpSpPr>
        <p:grpSpPr bwMode="auto">
          <a:xfrm>
            <a:off x="3429000" y="3219450"/>
            <a:ext cx="4648200" cy="457200"/>
            <a:chOff x="2160" y="2028"/>
            <a:chExt cx="2928" cy="288"/>
          </a:xfrm>
        </p:grpSpPr>
        <p:sp>
          <p:nvSpPr>
            <p:cNvPr id="162850" name="Text Box 20"/>
            <p:cNvSpPr txBox="1">
              <a:spLocks noChangeArrowheads="1"/>
            </p:cNvSpPr>
            <p:nvPr/>
          </p:nvSpPr>
          <p:spPr bwMode="auto">
            <a:xfrm>
              <a:off x="2160" y="2028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少</a:t>
              </a:r>
            </a:p>
          </p:txBody>
        </p:sp>
        <p:sp>
          <p:nvSpPr>
            <p:cNvPr id="162851" name="Text Box 21"/>
            <p:cNvSpPr txBox="1">
              <a:spLocks noChangeArrowheads="1"/>
            </p:cNvSpPr>
            <p:nvPr/>
          </p:nvSpPr>
          <p:spPr bwMode="auto">
            <a:xfrm>
              <a:off x="3552" y="2028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多</a:t>
              </a:r>
            </a:p>
          </p:txBody>
        </p:sp>
      </p:grpSp>
      <p:grpSp>
        <p:nvGrpSpPr>
          <p:cNvPr id="6" name="Group 22"/>
          <p:cNvGrpSpPr/>
          <p:nvPr/>
        </p:nvGrpSpPr>
        <p:grpSpPr bwMode="auto">
          <a:xfrm>
            <a:off x="3429000" y="3900488"/>
            <a:ext cx="4648200" cy="457200"/>
            <a:chOff x="2160" y="2457"/>
            <a:chExt cx="2928" cy="288"/>
          </a:xfrm>
        </p:grpSpPr>
        <p:sp>
          <p:nvSpPr>
            <p:cNvPr id="162848" name="Text Box 23"/>
            <p:cNvSpPr txBox="1">
              <a:spLocks noChangeArrowheads="1"/>
            </p:cNvSpPr>
            <p:nvPr/>
          </p:nvSpPr>
          <p:spPr bwMode="auto">
            <a:xfrm>
              <a:off x="2160" y="2457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小</a:t>
              </a:r>
            </a:p>
          </p:txBody>
        </p:sp>
        <p:sp>
          <p:nvSpPr>
            <p:cNvPr id="162849" name="Text Box 24"/>
            <p:cNvSpPr txBox="1">
              <a:spLocks noChangeArrowheads="1"/>
            </p:cNvSpPr>
            <p:nvPr/>
          </p:nvSpPr>
          <p:spPr bwMode="auto">
            <a:xfrm>
              <a:off x="3552" y="2457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大</a:t>
              </a:r>
            </a:p>
          </p:txBody>
        </p:sp>
      </p:grpSp>
      <p:grpSp>
        <p:nvGrpSpPr>
          <p:cNvPr id="7" name="Group 25"/>
          <p:cNvGrpSpPr/>
          <p:nvPr/>
        </p:nvGrpSpPr>
        <p:grpSpPr bwMode="auto">
          <a:xfrm>
            <a:off x="3429000" y="4581525"/>
            <a:ext cx="4648200" cy="457200"/>
            <a:chOff x="2160" y="2886"/>
            <a:chExt cx="2928" cy="288"/>
          </a:xfrm>
        </p:grpSpPr>
        <p:sp>
          <p:nvSpPr>
            <p:cNvPr id="162846" name="Text Box 26"/>
            <p:cNvSpPr txBox="1">
              <a:spLocks noChangeArrowheads="1"/>
            </p:cNvSpPr>
            <p:nvPr/>
          </p:nvSpPr>
          <p:spPr bwMode="auto">
            <a:xfrm>
              <a:off x="2160" y="2886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低</a:t>
              </a:r>
            </a:p>
          </p:txBody>
        </p:sp>
        <p:sp>
          <p:nvSpPr>
            <p:cNvPr id="162847" name="Text Box 27"/>
            <p:cNvSpPr txBox="1">
              <a:spLocks noChangeArrowheads="1"/>
            </p:cNvSpPr>
            <p:nvPr/>
          </p:nvSpPr>
          <p:spPr bwMode="auto">
            <a:xfrm>
              <a:off x="3552" y="2886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高</a:t>
              </a:r>
            </a:p>
          </p:txBody>
        </p:sp>
      </p:grpSp>
      <p:grpSp>
        <p:nvGrpSpPr>
          <p:cNvPr id="8" name="Group 28"/>
          <p:cNvGrpSpPr/>
          <p:nvPr/>
        </p:nvGrpSpPr>
        <p:grpSpPr bwMode="auto">
          <a:xfrm>
            <a:off x="3429000" y="5262563"/>
            <a:ext cx="4648200" cy="457200"/>
            <a:chOff x="2160" y="3315"/>
            <a:chExt cx="2928" cy="288"/>
          </a:xfrm>
        </p:grpSpPr>
        <p:sp>
          <p:nvSpPr>
            <p:cNvPr id="162844" name="Text Box 29"/>
            <p:cNvSpPr txBox="1">
              <a:spLocks noChangeArrowheads="1"/>
            </p:cNvSpPr>
            <p:nvPr/>
          </p:nvSpPr>
          <p:spPr bwMode="auto">
            <a:xfrm>
              <a:off x="2160" y="3315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慢</a:t>
              </a:r>
            </a:p>
          </p:txBody>
        </p:sp>
        <p:sp>
          <p:nvSpPr>
            <p:cNvPr id="162845" name="Text Box 30"/>
            <p:cNvSpPr txBox="1">
              <a:spLocks noChangeArrowheads="1"/>
            </p:cNvSpPr>
            <p:nvPr/>
          </p:nvSpPr>
          <p:spPr bwMode="auto">
            <a:xfrm>
              <a:off x="3552" y="3315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快</a:t>
              </a:r>
            </a:p>
          </p:txBody>
        </p:sp>
      </p:grpSp>
      <p:grpSp>
        <p:nvGrpSpPr>
          <p:cNvPr id="9" name="Group 31"/>
          <p:cNvGrpSpPr/>
          <p:nvPr/>
        </p:nvGrpSpPr>
        <p:grpSpPr bwMode="auto">
          <a:xfrm>
            <a:off x="3429000" y="5943600"/>
            <a:ext cx="4648200" cy="457200"/>
            <a:chOff x="2160" y="3744"/>
            <a:chExt cx="2928" cy="288"/>
          </a:xfrm>
        </p:grpSpPr>
        <p:sp>
          <p:nvSpPr>
            <p:cNvPr id="162842" name="Text Box 32"/>
            <p:cNvSpPr txBox="1">
              <a:spLocks noChangeArrowheads="1"/>
            </p:cNvSpPr>
            <p:nvPr/>
          </p:nvSpPr>
          <p:spPr bwMode="auto">
            <a:xfrm>
              <a:off x="2160" y="3744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有</a:t>
              </a:r>
            </a:p>
          </p:txBody>
        </p:sp>
        <p:sp>
          <p:nvSpPr>
            <p:cNvPr id="162843" name="Text Box 33"/>
            <p:cNvSpPr txBox="1">
              <a:spLocks noChangeArrowheads="1"/>
            </p:cNvSpPr>
            <p:nvPr/>
          </p:nvSpPr>
          <p:spPr bwMode="auto">
            <a:xfrm>
              <a:off x="3552" y="3744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无</a:t>
              </a:r>
            </a:p>
          </p:txBody>
        </p:sp>
      </p:grpSp>
      <p:grpSp>
        <p:nvGrpSpPr>
          <p:cNvPr id="10" name="Group 34"/>
          <p:cNvGrpSpPr/>
          <p:nvPr/>
        </p:nvGrpSpPr>
        <p:grpSpPr bwMode="auto">
          <a:xfrm>
            <a:off x="2362200" y="1201738"/>
            <a:ext cx="1066800" cy="550862"/>
            <a:chOff x="1488" y="757"/>
            <a:chExt cx="672" cy="347"/>
          </a:xfrm>
        </p:grpSpPr>
        <p:sp>
          <p:nvSpPr>
            <p:cNvPr id="162840" name="AutoShape 35"/>
            <p:cNvSpPr>
              <a:spLocks noChangeArrowheads="1"/>
            </p:cNvSpPr>
            <p:nvPr/>
          </p:nvSpPr>
          <p:spPr bwMode="auto">
            <a:xfrm>
              <a:off x="1488" y="768"/>
              <a:ext cx="672" cy="336"/>
            </a:xfrm>
            <a:prstGeom prst="wedgeRoundRectCallout">
              <a:avLst>
                <a:gd name="adj1" fmla="val 97306"/>
                <a:gd name="adj2" fmla="val -259"/>
                <a:gd name="adj3" fmla="val 16667"/>
              </a:avLst>
            </a:prstGeom>
            <a:noFill/>
            <a:ln w="38100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162841" name="Text Box 36"/>
            <p:cNvSpPr txBox="1">
              <a:spLocks noChangeArrowheads="1"/>
            </p:cNvSpPr>
            <p:nvPr/>
          </p:nvSpPr>
          <p:spPr bwMode="auto">
            <a:xfrm>
              <a:off x="1528" y="757"/>
              <a:ext cx="59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主存</a:t>
              </a:r>
            </a:p>
          </p:txBody>
        </p:sp>
      </p:grpSp>
      <p:grpSp>
        <p:nvGrpSpPr>
          <p:cNvPr id="11" name="Group 37"/>
          <p:cNvGrpSpPr/>
          <p:nvPr/>
        </p:nvGrpSpPr>
        <p:grpSpPr bwMode="auto">
          <a:xfrm>
            <a:off x="7772400" y="1676400"/>
            <a:ext cx="1219200" cy="561975"/>
            <a:chOff x="4896" y="1104"/>
            <a:chExt cx="816" cy="384"/>
          </a:xfrm>
        </p:grpSpPr>
        <p:sp>
          <p:nvSpPr>
            <p:cNvPr id="162838" name="AutoShape 38"/>
            <p:cNvSpPr>
              <a:spLocks noChangeArrowheads="1"/>
            </p:cNvSpPr>
            <p:nvPr/>
          </p:nvSpPr>
          <p:spPr bwMode="auto">
            <a:xfrm>
              <a:off x="4896" y="1104"/>
              <a:ext cx="816" cy="384"/>
            </a:xfrm>
            <a:prstGeom prst="wedgeRoundRectCallout">
              <a:avLst>
                <a:gd name="adj1" fmla="val -106250"/>
                <a:gd name="adj2" fmla="val -56509"/>
                <a:gd name="adj3" fmla="val 16667"/>
              </a:avLst>
            </a:prstGeom>
            <a:noFill/>
            <a:ln w="38100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162839" name="Text Box 39"/>
            <p:cNvSpPr txBox="1">
              <a:spLocks noChangeArrowheads="1"/>
            </p:cNvSpPr>
            <p:nvPr/>
          </p:nvSpPr>
          <p:spPr bwMode="auto">
            <a:xfrm>
              <a:off x="4992" y="1104"/>
              <a:ext cx="634" cy="3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缓存</a:t>
              </a:r>
            </a:p>
          </p:txBody>
        </p:sp>
      </p:grpSp>
      <p:sp>
        <p:nvSpPr>
          <p:cNvPr id="791592" name="Rectangle 40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62837" name="AutoShape 41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791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791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791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791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791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791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791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1558" grpId="0" autoUpdateAnimBg="0"/>
      <p:bldP spid="791559" grpId="0" autoUpdateAnimBg="0"/>
      <p:bldP spid="791560" grpId="0" autoUpdateAnimBg="0"/>
      <p:bldP spid="791561" grpId="0" autoUpdateAnimBg="0"/>
      <p:bldP spid="791562" grpId="0" autoUpdateAnimBg="0"/>
      <p:bldP spid="791563" grpId="0" autoUpdateAnimBg="0"/>
      <p:bldP spid="791564" grpId="0" autoUpdateAnimBg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42" name="Text Box 2"/>
          <p:cNvSpPr txBox="1">
            <a:spLocks noChangeArrowheads="1"/>
          </p:cNvSpPr>
          <p:nvPr/>
        </p:nvSpPr>
        <p:spPr bwMode="auto">
          <a:xfrm>
            <a:off x="457200" y="457200"/>
            <a:ext cx="6172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 四、只读存储器（</a:t>
            </a:r>
            <a:r>
              <a:rPr lang="en-US" altLang="zh-CN" sz="3600">
                <a:latin typeface="Times New Roman" panose="02020603050405020304" pitchFamily="18" charset="0"/>
              </a:rPr>
              <a:t>ROM） </a:t>
            </a:r>
          </a:p>
        </p:txBody>
      </p:sp>
      <p:sp>
        <p:nvSpPr>
          <p:cNvPr id="792579" name="Text Box 3"/>
          <p:cNvSpPr txBox="1">
            <a:spLocks noChangeArrowheads="1"/>
          </p:cNvSpPr>
          <p:nvPr/>
        </p:nvSpPr>
        <p:spPr bwMode="auto">
          <a:xfrm>
            <a:off x="755650" y="1219200"/>
            <a:ext cx="47593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1.  掩模 </a:t>
            </a:r>
            <a:r>
              <a:rPr lang="en-US" altLang="zh-CN" sz="3200">
                <a:latin typeface="Times New Roman" panose="02020603050405020304" pitchFamily="18" charset="0"/>
              </a:rPr>
              <a:t>ROM ( MROM ) </a:t>
            </a:r>
          </a:p>
        </p:txBody>
      </p:sp>
      <p:sp>
        <p:nvSpPr>
          <p:cNvPr id="792580" name="Text Box 4"/>
          <p:cNvSpPr txBox="1">
            <a:spLocks noChangeArrowheads="1"/>
          </p:cNvSpPr>
          <p:nvPr/>
        </p:nvSpPr>
        <p:spPr bwMode="auto">
          <a:xfrm>
            <a:off x="1371600" y="1854200"/>
            <a:ext cx="6858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行列选择线交叉处有 </a:t>
            </a:r>
            <a:r>
              <a:rPr lang="en-US" altLang="zh-CN" sz="2800">
                <a:latin typeface="Times New Roman" panose="02020603050405020304" pitchFamily="18" charset="0"/>
              </a:rPr>
              <a:t>MOS </a:t>
            </a:r>
            <a:r>
              <a:rPr lang="zh-CN" altLang="en-US" sz="2800">
                <a:latin typeface="Times New Roman" panose="02020603050405020304" pitchFamily="18" charset="0"/>
              </a:rPr>
              <a:t>管为“1”</a:t>
            </a:r>
          </a:p>
        </p:txBody>
      </p:sp>
      <p:sp>
        <p:nvSpPr>
          <p:cNvPr id="792581" name="Text Box 5"/>
          <p:cNvSpPr txBox="1">
            <a:spLocks noChangeArrowheads="1"/>
          </p:cNvSpPr>
          <p:nvPr/>
        </p:nvSpPr>
        <p:spPr bwMode="auto">
          <a:xfrm>
            <a:off x="1371600" y="2489200"/>
            <a:ext cx="6858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行列选择线交叉处无 </a:t>
            </a:r>
            <a:r>
              <a:rPr lang="en-US" altLang="zh-CN" sz="2800">
                <a:latin typeface="Times New Roman" panose="02020603050405020304" pitchFamily="18" charset="0"/>
              </a:rPr>
              <a:t>MOS </a:t>
            </a:r>
            <a:r>
              <a:rPr lang="zh-CN" altLang="en-US" sz="2800">
                <a:latin typeface="Times New Roman" panose="02020603050405020304" pitchFamily="18" charset="0"/>
              </a:rPr>
              <a:t>管为“0”</a:t>
            </a:r>
          </a:p>
        </p:txBody>
      </p:sp>
      <p:sp>
        <p:nvSpPr>
          <p:cNvPr id="792582" name="Text Box 6"/>
          <p:cNvSpPr txBox="1">
            <a:spLocks noChangeArrowheads="1"/>
          </p:cNvSpPr>
          <p:nvPr/>
        </p:nvSpPr>
        <p:spPr bwMode="auto">
          <a:xfrm>
            <a:off x="762000" y="3124200"/>
            <a:ext cx="45402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2.  </a:t>
            </a:r>
            <a:r>
              <a:rPr lang="en-US" altLang="zh-CN" sz="3200">
                <a:latin typeface="Times New Roman" panose="02020603050405020304" pitchFamily="18" charset="0"/>
              </a:rPr>
              <a:t>PROM (</a:t>
            </a:r>
            <a:r>
              <a:rPr lang="zh-CN" altLang="en-US" sz="3200">
                <a:latin typeface="Times New Roman" panose="02020603050405020304" pitchFamily="18" charset="0"/>
              </a:rPr>
              <a:t>一次性编程) </a:t>
            </a:r>
          </a:p>
        </p:txBody>
      </p:sp>
      <p:grpSp>
        <p:nvGrpSpPr>
          <p:cNvPr id="2" name="Group 7"/>
          <p:cNvGrpSpPr/>
          <p:nvPr/>
        </p:nvGrpSpPr>
        <p:grpSpPr bwMode="auto">
          <a:xfrm>
            <a:off x="1219200" y="3810000"/>
            <a:ext cx="4268788" cy="2819400"/>
            <a:chOff x="672" y="2400"/>
            <a:chExt cx="2689" cy="1776"/>
          </a:xfrm>
        </p:grpSpPr>
        <p:grpSp>
          <p:nvGrpSpPr>
            <p:cNvPr id="163856" name="Group 8"/>
            <p:cNvGrpSpPr/>
            <p:nvPr/>
          </p:nvGrpSpPr>
          <p:grpSpPr bwMode="auto">
            <a:xfrm>
              <a:off x="1344" y="2400"/>
              <a:ext cx="1968" cy="1680"/>
              <a:chOff x="1344" y="2544"/>
              <a:chExt cx="1968" cy="1680"/>
            </a:xfrm>
          </p:grpSpPr>
          <p:sp>
            <p:nvSpPr>
              <p:cNvPr id="163861" name="Line 9"/>
              <p:cNvSpPr>
                <a:spLocks noChangeShapeType="1"/>
              </p:cNvSpPr>
              <p:nvPr/>
            </p:nvSpPr>
            <p:spPr bwMode="auto">
              <a:xfrm>
                <a:off x="1344" y="2784"/>
                <a:ext cx="1968" cy="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63862" name="Line 10"/>
              <p:cNvSpPr>
                <a:spLocks noChangeShapeType="1"/>
              </p:cNvSpPr>
              <p:nvPr/>
            </p:nvSpPr>
            <p:spPr bwMode="auto">
              <a:xfrm>
                <a:off x="2928" y="2544"/>
                <a:ext cx="0" cy="1680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63863" name="Freeform 11"/>
              <p:cNvSpPr/>
              <p:nvPr/>
            </p:nvSpPr>
            <p:spPr bwMode="auto">
              <a:xfrm>
                <a:off x="1872" y="2784"/>
                <a:ext cx="288" cy="480"/>
              </a:xfrm>
              <a:custGeom>
                <a:avLst/>
                <a:gdLst>
                  <a:gd name="T0" fmla="*/ 0 w 288"/>
                  <a:gd name="T1" fmla="*/ 0 h 480"/>
                  <a:gd name="T2" fmla="*/ 0 w 288"/>
                  <a:gd name="T3" fmla="*/ 480 h 480"/>
                  <a:gd name="T4" fmla="*/ 288 w 288"/>
                  <a:gd name="T5" fmla="*/ 480 h 480"/>
                  <a:gd name="T6" fmla="*/ 0 60000 65536"/>
                  <a:gd name="T7" fmla="*/ 0 60000 65536"/>
                  <a:gd name="T8" fmla="*/ 0 60000 65536"/>
                  <a:gd name="T9" fmla="*/ 0 w 288"/>
                  <a:gd name="T10" fmla="*/ 0 h 480"/>
                  <a:gd name="T11" fmla="*/ 288 w 288"/>
                  <a:gd name="T12" fmla="*/ 480 h 48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8" h="480">
                    <a:moveTo>
                      <a:pt x="0" y="0"/>
                    </a:moveTo>
                    <a:lnTo>
                      <a:pt x="0" y="480"/>
                    </a:lnTo>
                    <a:lnTo>
                      <a:pt x="288" y="48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oval" w="sm" len="sm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63864" name="Freeform 12"/>
              <p:cNvSpPr/>
              <p:nvPr/>
            </p:nvSpPr>
            <p:spPr bwMode="auto">
              <a:xfrm>
                <a:off x="2160" y="3024"/>
                <a:ext cx="96" cy="240"/>
              </a:xfrm>
              <a:custGeom>
                <a:avLst/>
                <a:gdLst>
                  <a:gd name="T0" fmla="*/ 0 w 96"/>
                  <a:gd name="T1" fmla="*/ 240 h 240"/>
                  <a:gd name="T2" fmla="*/ 96 w 96"/>
                  <a:gd name="T3" fmla="*/ 144 h 240"/>
                  <a:gd name="T4" fmla="*/ 96 w 96"/>
                  <a:gd name="T5" fmla="*/ 0 h 240"/>
                  <a:gd name="T6" fmla="*/ 0 60000 65536"/>
                  <a:gd name="T7" fmla="*/ 0 60000 65536"/>
                  <a:gd name="T8" fmla="*/ 0 60000 65536"/>
                  <a:gd name="T9" fmla="*/ 0 w 96"/>
                  <a:gd name="T10" fmla="*/ 0 h 240"/>
                  <a:gd name="T11" fmla="*/ 96 w 96"/>
                  <a:gd name="T12" fmla="*/ 240 h 24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6" h="240">
                    <a:moveTo>
                      <a:pt x="0" y="240"/>
                    </a:moveTo>
                    <a:lnTo>
                      <a:pt x="96" y="144"/>
                    </a:lnTo>
                    <a:lnTo>
                      <a:pt x="96" y="0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63865" name="Line 13"/>
              <p:cNvSpPr>
                <a:spLocks noChangeShapeType="1"/>
              </p:cNvSpPr>
              <p:nvPr/>
            </p:nvSpPr>
            <p:spPr bwMode="auto">
              <a:xfrm>
                <a:off x="2160" y="3168"/>
                <a:ext cx="0" cy="192"/>
              </a:xfrm>
              <a:prstGeom prst="line">
                <a:avLst/>
              </a:prstGeom>
              <a:noFill/>
              <a:ln w="762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63866" name="Line 14"/>
              <p:cNvSpPr>
                <a:spLocks noChangeShapeType="1"/>
              </p:cNvSpPr>
              <p:nvPr/>
            </p:nvSpPr>
            <p:spPr bwMode="auto">
              <a:xfrm>
                <a:off x="2160" y="3264"/>
                <a:ext cx="144" cy="144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  <a:tailEnd type="triangl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63867" name="Freeform 15"/>
              <p:cNvSpPr/>
              <p:nvPr/>
            </p:nvSpPr>
            <p:spPr bwMode="auto">
              <a:xfrm>
                <a:off x="2208" y="3552"/>
                <a:ext cx="96" cy="288"/>
              </a:xfrm>
              <a:custGeom>
                <a:avLst/>
                <a:gdLst>
                  <a:gd name="T0" fmla="*/ 1 w 144"/>
                  <a:gd name="T1" fmla="*/ 0 h 336"/>
                  <a:gd name="T2" fmla="*/ 0 w 144"/>
                  <a:gd name="T3" fmla="*/ 11 h 336"/>
                  <a:gd name="T4" fmla="*/ 1 w 144"/>
                  <a:gd name="T5" fmla="*/ 28 h 336"/>
                  <a:gd name="T6" fmla="*/ 0 w 144"/>
                  <a:gd name="T7" fmla="*/ 39 h 3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4"/>
                  <a:gd name="T13" fmla="*/ 0 h 336"/>
                  <a:gd name="T14" fmla="*/ 144 w 144"/>
                  <a:gd name="T15" fmla="*/ 336 h 3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4" h="336">
                    <a:moveTo>
                      <a:pt x="144" y="0"/>
                    </a:moveTo>
                    <a:cubicBezTo>
                      <a:pt x="72" y="28"/>
                      <a:pt x="0" y="56"/>
                      <a:pt x="0" y="96"/>
                    </a:cubicBezTo>
                    <a:cubicBezTo>
                      <a:pt x="0" y="136"/>
                      <a:pt x="144" y="200"/>
                      <a:pt x="144" y="240"/>
                    </a:cubicBezTo>
                    <a:cubicBezTo>
                      <a:pt x="144" y="280"/>
                      <a:pt x="72" y="308"/>
                      <a:pt x="0" y="336"/>
                    </a:cubicBez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63868" name="Freeform 16"/>
              <p:cNvSpPr/>
              <p:nvPr/>
            </p:nvSpPr>
            <p:spPr bwMode="auto">
              <a:xfrm>
                <a:off x="2208" y="3888"/>
                <a:ext cx="720" cy="144"/>
              </a:xfrm>
              <a:custGeom>
                <a:avLst/>
                <a:gdLst>
                  <a:gd name="T0" fmla="*/ 0 w 720"/>
                  <a:gd name="T1" fmla="*/ 0 h 144"/>
                  <a:gd name="T2" fmla="*/ 0 w 720"/>
                  <a:gd name="T3" fmla="*/ 144 h 144"/>
                  <a:gd name="T4" fmla="*/ 720 w 720"/>
                  <a:gd name="T5" fmla="*/ 144 h 144"/>
                  <a:gd name="T6" fmla="*/ 0 60000 65536"/>
                  <a:gd name="T7" fmla="*/ 0 60000 65536"/>
                  <a:gd name="T8" fmla="*/ 0 60000 65536"/>
                  <a:gd name="T9" fmla="*/ 0 w 720"/>
                  <a:gd name="T10" fmla="*/ 0 h 144"/>
                  <a:gd name="T11" fmla="*/ 720 w 720"/>
                  <a:gd name="T12" fmla="*/ 144 h 14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20" h="144">
                    <a:moveTo>
                      <a:pt x="0" y="0"/>
                    </a:moveTo>
                    <a:lnTo>
                      <a:pt x="0" y="144"/>
                    </a:lnTo>
                    <a:lnTo>
                      <a:pt x="720" y="144"/>
                    </a:lnTo>
                  </a:path>
                </a:pathLst>
              </a:custGeom>
              <a:noFill/>
              <a:ln w="57150" cap="flat" cmpd="sng">
                <a:solidFill>
                  <a:schemeClr val="folHlink"/>
                </a:solidFill>
                <a:prstDash val="solid"/>
                <a:round/>
                <a:headEnd type="none" w="med" len="med"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63869" name="Oval 17"/>
              <p:cNvSpPr>
                <a:spLocks noChangeArrowheads="1"/>
              </p:cNvSpPr>
              <p:nvPr/>
            </p:nvSpPr>
            <p:spPr bwMode="auto">
              <a:xfrm>
                <a:off x="2230" y="2976"/>
                <a:ext cx="48" cy="48"/>
              </a:xfrm>
              <a:prstGeom prst="ellips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63870" name="Oval 18"/>
              <p:cNvSpPr>
                <a:spLocks noChangeArrowheads="1"/>
              </p:cNvSpPr>
              <p:nvPr/>
            </p:nvSpPr>
            <p:spPr bwMode="auto">
              <a:xfrm>
                <a:off x="2267" y="3504"/>
                <a:ext cx="48" cy="48"/>
              </a:xfrm>
              <a:prstGeom prst="ellips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63871" name="Line 19"/>
              <p:cNvSpPr>
                <a:spLocks noChangeShapeType="1"/>
              </p:cNvSpPr>
              <p:nvPr/>
            </p:nvSpPr>
            <p:spPr bwMode="auto">
              <a:xfrm>
                <a:off x="2296" y="3408"/>
                <a:ext cx="0" cy="96"/>
              </a:xfrm>
              <a:prstGeom prst="lin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63872" name="Oval 20"/>
              <p:cNvSpPr>
                <a:spLocks noChangeArrowheads="1"/>
              </p:cNvSpPr>
              <p:nvPr/>
            </p:nvSpPr>
            <p:spPr bwMode="auto">
              <a:xfrm>
                <a:off x="2180" y="3840"/>
                <a:ext cx="48" cy="48"/>
              </a:xfrm>
              <a:prstGeom prst="ellipse">
                <a:avLst/>
              </a:prstGeom>
              <a:noFill/>
              <a:ln w="5715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63873" name="Text Box 21"/>
              <p:cNvSpPr txBox="1">
                <a:spLocks noChangeArrowheads="1"/>
              </p:cNvSpPr>
              <p:nvPr/>
            </p:nvSpPr>
            <p:spPr bwMode="auto">
              <a:xfrm>
                <a:off x="2160" y="2784"/>
                <a:ext cx="672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US" altLang="zh-CN" sz="2800" i="1">
                    <a:latin typeface="Times New Roman" panose="02020603050405020304" pitchFamily="18" charset="0"/>
                  </a:rPr>
                  <a:t>V</a:t>
                </a:r>
                <a:r>
                  <a:rPr lang="en-US" altLang="zh-CN" sz="2400" baseline="-25000">
                    <a:latin typeface="Times New Roman" panose="02020603050405020304" pitchFamily="18" charset="0"/>
                  </a:rPr>
                  <a:t>CC</a:t>
                </a:r>
              </a:p>
            </p:txBody>
          </p:sp>
        </p:grpSp>
        <p:grpSp>
          <p:nvGrpSpPr>
            <p:cNvPr id="163857" name="Group 22"/>
            <p:cNvGrpSpPr/>
            <p:nvPr/>
          </p:nvGrpSpPr>
          <p:grpSpPr bwMode="auto">
            <a:xfrm>
              <a:off x="672" y="2448"/>
              <a:ext cx="2689" cy="1728"/>
              <a:chOff x="672" y="2448"/>
              <a:chExt cx="2689" cy="1728"/>
            </a:xfrm>
          </p:grpSpPr>
          <p:sp>
            <p:nvSpPr>
              <p:cNvPr id="163858" name="Text Box 23"/>
              <p:cNvSpPr txBox="1">
                <a:spLocks noChangeArrowheads="1"/>
              </p:cNvSpPr>
              <p:nvPr/>
            </p:nvSpPr>
            <p:spPr bwMode="auto">
              <a:xfrm>
                <a:off x="672" y="2448"/>
                <a:ext cx="76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行线</a:t>
                </a:r>
              </a:p>
            </p:txBody>
          </p:sp>
          <p:sp>
            <p:nvSpPr>
              <p:cNvPr id="163859" name="Text Box 24"/>
              <p:cNvSpPr txBox="1">
                <a:spLocks noChangeArrowheads="1"/>
              </p:cNvSpPr>
              <p:nvPr/>
            </p:nvSpPr>
            <p:spPr bwMode="auto">
              <a:xfrm>
                <a:off x="2976" y="3600"/>
                <a:ext cx="385" cy="57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列线</a:t>
                </a:r>
              </a:p>
            </p:txBody>
          </p:sp>
          <p:sp>
            <p:nvSpPr>
              <p:cNvPr id="163860" name="Text Box 25"/>
              <p:cNvSpPr txBox="1">
                <a:spLocks noChangeArrowheads="1"/>
              </p:cNvSpPr>
              <p:nvPr/>
            </p:nvSpPr>
            <p:spPr bwMode="auto">
              <a:xfrm>
                <a:off x="1584" y="3360"/>
                <a:ext cx="76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熔丝</a:t>
                </a:r>
              </a:p>
            </p:txBody>
          </p:sp>
        </p:grpSp>
      </p:grpSp>
      <p:grpSp>
        <p:nvGrpSpPr>
          <p:cNvPr id="5" name="Group 26"/>
          <p:cNvGrpSpPr/>
          <p:nvPr/>
        </p:nvGrpSpPr>
        <p:grpSpPr bwMode="auto">
          <a:xfrm>
            <a:off x="5943600" y="4495800"/>
            <a:ext cx="3276600" cy="519113"/>
            <a:chOff x="3600" y="2832"/>
            <a:chExt cx="2064" cy="327"/>
          </a:xfrm>
        </p:grpSpPr>
        <p:sp>
          <p:nvSpPr>
            <p:cNvPr id="163854" name="Text Box 27"/>
            <p:cNvSpPr txBox="1">
              <a:spLocks noChangeArrowheads="1"/>
            </p:cNvSpPr>
            <p:nvPr/>
          </p:nvSpPr>
          <p:spPr bwMode="auto">
            <a:xfrm>
              <a:off x="3600" y="2832"/>
              <a:ext cx="192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熔丝断</a:t>
              </a:r>
            </a:p>
          </p:txBody>
        </p:sp>
        <p:sp>
          <p:nvSpPr>
            <p:cNvPr id="163855" name="Text Box 28"/>
            <p:cNvSpPr txBox="1">
              <a:spLocks noChangeArrowheads="1"/>
            </p:cNvSpPr>
            <p:nvPr/>
          </p:nvSpPr>
          <p:spPr bwMode="auto">
            <a:xfrm>
              <a:off x="4752" y="2832"/>
              <a:ext cx="91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为 “0”</a:t>
              </a:r>
            </a:p>
          </p:txBody>
        </p:sp>
      </p:grpSp>
      <p:grpSp>
        <p:nvGrpSpPr>
          <p:cNvPr id="6" name="Group 29"/>
          <p:cNvGrpSpPr/>
          <p:nvPr/>
        </p:nvGrpSpPr>
        <p:grpSpPr bwMode="auto">
          <a:xfrm>
            <a:off x="5943600" y="5135563"/>
            <a:ext cx="3048000" cy="519112"/>
            <a:chOff x="3600" y="3235"/>
            <a:chExt cx="1920" cy="327"/>
          </a:xfrm>
        </p:grpSpPr>
        <p:sp>
          <p:nvSpPr>
            <p:cNvPr id="163852" name="Text Box 30"/>
            <p:cNvSpPr txBox="1">
              <a:spLocks noChangeArrowheads="1"/>
            </p:cNvSpPr>
            <p:nvPr/>
          </p:nvSpPr>
          <p:spPr bwMode="auto">
            <a:xfrm>
              <a:off x="4752" y="3235"/>
              <a:ext cx="76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为 “1”</a:t>
              </a:r>
            </a:p>
          </p:txBody>
        </p:sp>
        <p:sp>
          <p:nvSpPr>
            <p:cNvPr id="163853" name="Text Box 31"/>
            <p:cNvSpPr txBox="1">
              <a:spLocks noChangeArrowheads="1"/>
            </p:cNvSpPr>
            <p:nvPr/>
          </p:nvSpPr>
          <p:spPr bwMode="auto">
            <a:xfrm>
              <a:off x="3600" y="3235"/>
              <a:ext cx="139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熔丝未断</a:t>
              </a:r>
            </a:p>
          </p:txBody>
        </p:sp>
      </p:grpSp>
      <p:sp>
        <p:nvSpPr>
          <p:cNvPr id="792608" name="Rectangle 32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63851" name="AutoShape 33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2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925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2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7925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2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92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2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792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2579" grpId="0" autoUpdateAnimBg="0"/>
      <p:bldP spid="792580" grpId="0" autoUpdateAnimBg="0"/>
      <p:bldP spid="792581" grpId="0" autoUpdateAnimBg="0"/>
      <p:bldP spid="792582" grpId="0" autoUpdateAnimBg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6" name="Text Box 2"/>
          <p:cNvSpPr txBox="1">
            <a:spLocks noChangeArrowheads="1"/>
          </p:cNvSpPr>
          <p:nvPr/>
        </p:nvSpPr>
        <p:spPr bwMode="auto">
          <a:xfrm>
            <a:off x="381000" y="457200"/>
            <a:ext cx="632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3. </a:t>
            </a:r>
            <a:r>
              <a:rPr lang="en-US" altLang="zh-CN" sz="3200">
                <a:latin typeface="Times New Roman" panose="02020603050405020304" pitchFamily="18" charset="0"/>
              </a:rPr>
              <a:t>EPROM (</a:t>
            </a:r>
            <a:r>
              <a:rPr lang="zh-CN" altLang="en-US" sz="3200">
                <a:latin typeface="Times New Roman" panose="02020603050405020304" pitchFamily="18" charset="0"/>
              </a:rPr>
              <a:t>多次性编程 ) </a:t>
            </a:r>
          </a:p>
        </p:txBody>
      </p:sp>
      <p:sp>
        <p:nvSpPr>
          <p:cNvPr id="793603" name="Text Box 3"/>
          <p:cNvSpPr txBox="1">
            <a:spLocks noChangeArrowheads="1"/>
          </p:cNvSpPr>
          <p:nvPr/>
        </p:nvSpPr>
        <p:spPr bwMode="auto">
          <a:xfrm>
            <a:off x="1143000" y="1295400"/>
            <a:ext cx="5257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2800">
                <a:latin typeface="Times New Roman" panose="02020603050405020304" pitchFamily="18" charset="0"/>
              </a:rPr>
              <a:t>(1) N</a:t>
            </a:r>
            <a:r>
              <a:rPr lang="zh-CN" altLang="en-US" sz="2800">
                <a:latin typeface="Times New Roman" panose="02020603050405020304" pitchFamily="18" charset="0"/>
              </a:rPr>
              <a:t>型沟道浮动栅 </a:t>
            </a:r>
            <a:r>
              <a:rPr lang="en-US" altLang="zh-CN" sz="2800">
                <a:latin typeface="Times New Roman" panose="02020603050405020304" pitchFamily="18" charset="0"/>
              </a:rPr>
              <a:t>MOS </a:t>
            </a:r>
            <a:r>
              <a:rPr lang="zh-CN" altLang="en-US" sz="2800">
                <a:latin typeface="Times New Roman" panose="02020603050405020304" pitchFamily="18" charset="0"/>
              </a:rPr>
              <a:t>电路</a:t>
            </a:r>
          </a:p>
        </p:txBody>
      </p:sp>
      <p:grpSp>
        <p:nvGrpSpPr>
          <p:cNvPr id="2" name="Group 4"/>
          <p:cNvGrpSpPr/>
          <p:nvPr/>
        </p:nvGrpSpPr>
        <p:grpSpPr bwMode="auto">
          <a:xfrm>
            <a:off x="6096000" y="2316163"/>
            <a:ext cx="2438400" cy="1778000"/>
            <a:chOff x="3600" y="1459"/>
            <a:chExt cx="1536" cy="1120"/>
          </a:xfrm>
        </p:grpSpPr>
        <p:sp>
          <p:nvSpPr>
            <p:cNvPr id="164938" name="Text Box 5"/>
            <p:cNvSpPr txBox="1">
              <a:spLocks noChangeArrowheads="1"/>
            </p:cNvSpPr>
            <p:nvPr/>
          </p:nvSpPr>
          <p:spPr bwMode="auto">
            <a:xfrm>
              <a:off x="3600" y="1459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G </a:t>
              </a:r>
              <a:r>
                <a:rPr lang="zh-CN" altLang="en-US" sz="2400">
                  <a:latin typeface="Times New Roman" panose="02020603050405020304" pitchFamily="18" charset="0"/>
                </a:rPr>
                <a:t>栅极</a:t>
              </a:r>
            </a:p>
          </p:txBody>
        </p:sp>
        <p:sp>
          <p:nvSpPr>
            <p:cNvPr id="164939" name="Text Box 6"/>
            <p:cNvSpPr txBox="1">
              <a:spLocks noChangeArrowheads="1"/>
            </p:cNvSpPr>
            <p:nvPr/>
          </p:nvSpPr>
          <p:spPr bwMode="auto">
            <a:xfrm>
              <a:off x="3600" y="1875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S  </a:t>
              </a:r>
              <a:r>
                <a:rPr lang="zh-CN" altLang="en-US" sz="2400">
                  <a:latin typeface="Times New Roman" panose="02020603050405020304" pitchFamily="18" charset="0"/>
                </a:rPr>
                <a:t>源</a:t>
              </a:r>
            </a:p>
          </p:txBody>
        </p:sp>
        <p:sp>
          <p:nvSpPr>
            <p:cNvPr id="164940" name="Text Box 7"/>
            <p:cNvSpPr txBox="1">
              <a:spLocks noChangeArrowheads="1"/>
            </p:cNvSpPr>
            <p:nvPr/>
          </p:nvSpPr>
          <p:spPr bwMode="auto">
            <a:xfrm>
              <a:off x="3600" y="2291"/>
              <a:ext cx="153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D </a:t>
              </a:r>
              <a:r>
                <a:rPr lang="zh-CN" altLang="en-US" sz="2400">
                  <a:latin typeface="Times New Roman" panose="02020603050405020304" pitchFamily="18" charset="0"/>
                </a:rPr>
                <a:t>漏</a:t>
              </a:r>
            </a:p>
          </p:txBody>
        </p:sp>
      </p:grpSp>
      <p:sp>
        <p:nvSpPr>
          <p:cNvPr id="793608" name="Text Box 8"/>
          <p:cNvSpPr txBox="1">
            <a:spLocks noChangeArrowheads="1"/>
          </p:cNvSpPr>
          <p:nvPr/>
        </p:nvSpPr>
        <p:spPr bwMode="auto">
          <a:xfrm>
            <a:off x="6096000" y="4297363"/>
            <a:ext cx="34290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紫外线全部擦洗</a:t>
            </a:r>
          </a:p>
        </p:txBody>
      </p:sp>
      <p:grpSp>
        <p:nvGrpSpPr>
          <p:cNvPr id="3" name="Group 9"/>
          <p:cNvGrpSpPr/>
          <p:nvPr/>
        </p:nvGrpSpPr>
        <p:grpSpPr bwMode="auto">
          <a:xfrm>
            <a:off x="914400" y="5410200"/>
            <a:ext cx="9372600" cy="457200"/>
            <a:chOff x="336" y="3408"/>
            <a:chExt cx="5904" cy="288"/>
          </a:xfrm>
        </p:grpSpPr>
        <p:sp>
          <p:nvSpPr>
            <p:cNvPr id="164935" name="Text Box 10"/>
            <p:cNvSpPr txBox="1">
              <a:spLocks noChangeArrowheads="1"/>
            </p:cNvSpPr>
            <p:nvPr/>
          </p:nvSpPr>
          <p:spPr bwMode="auto">
            <a:xfrm>
              <a:off x="336" y="3408"/>
              <a:ext cx="182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D </a:t>
              </a:r>
              <a:r>
                <a:rPr lang="zh-CN" altLang="en-US" sz="2400">
                  <a:latin typeface="Times New Roman" panose="02020603050405020304" pitchFamily="18" charset="0"/>
                </a:rPr>
                <a:t>端加正电压</a:t>
              </a:r>
            </a:p>
          </p:txBody>
        </p:sp>
        <p:sp>
          <p:nvSpPr>
            <p:cNvPr id="164936" name="Text Box 11"/>
            <p:cNvSpPr txBox="1">
              <a:spLocks noChangeArrowheads="1"/>
            </p:cNvSpPr>
            <p:nvPr/>
          </p:nvSpPr>
          <p:spPr bwMode="auto">
            <a:xfrm>
              <a:off x="2064" y="3408"/>
              <a:ext cx="182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形成浮动栅</a:t>
              </a:r>
            </a:p>
          </p:txBody>
        </p:sp>
        <p:sp>
          <p:nvSpPr>
            <p:cNvPr id="164937" name="Text Box 12"/>
            <p:cNvSpPr txBox="1">
              <a:spLocks noChangeArrowheads="1"/>
            </p:cNvSpPr>
            <p:nvPr/>
          </p:nvSpPr>
          <p:spPr bwMode="auto">
            <a:xfrm>
              <a:off x="3600" y="3408"/>
              <a:ext cx="264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S </a:t>
              </a:r>
              <a:r>
                <a:rPr lang="zh-CN" altLang="en-US" sz="2400">
                  <a:latin typeface="Times New Roman" panose="02020603050405020304" pitchFamily="18" charset="0"/>
                </a:rPr>
                <a:t>与 </a:t>
              </a:r>
              <a:r>
                <a:rPr lang="en-US" altLang="zh-CN" sz="2400">
                  <a:latin typeface="Times New Roman" panose="02020603050405020304" pitchFamily="18" charset="0"/>
                </a:rPr>
                <a:t>D </a:t>
              </a:r>
              <a:r>
                <a:rPr lang="zh-CN" altLang="en-US" sz="2400">
                  <a:latin typeface="Times New Roman" panose="02020603050405020304" pitchFamily="18" charset="0"/>
                </a:rPr>
                <a:t>不导通为 “0”</a:t>
              </a:r>
            </a:p>
          </p:txBody>
        </p:sp>
      </p:grpSp>
      <p:grpSp>
        <p:nvGrpSpPr>
          <p:cNvPr id="4" name="Group 13"/>
          <p:cNvGrpSpPr/>
          <p:nvPr/>
        </p:nvGrpSpPr>
        <p:grpSpPr bwMode="auto">
          <a:xfrm>
            <a:off x="914400" y="6019800"/>
            <a:ext cx="8229600" cy="457200"/>
            <a:chOff x="336" y="3792"/>
            <a:chExt cx="5184" cy="288"/>
          </a:xfrm>
        </p:grpSpPr>
        <p:sp>
          <p:nvSpPr>
            <p:cNvPr id="164932" name="Text Box 14"/>
            <p:cNvSpPr txBox="1">
              <a:spLocks noChangeArrowheads="1"/>
            </p:cNvSpPr>
            <p:nvPr/>
          </p:nvSpPr>
          <p:spPr bwMode="auto">
            <a:xfrm>
              <a:off x="336" y="3792"/>
              <a:ext cx="196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D </a:t>
              </a:r>
              <a:r>
                <a:rPr lang="zh-CN" altLang="en-US" sz="2400">
                  <a:latin typeface="Times New Roman" panose="02020603050405020304" pitchFamily="18" charset="0"/>
                </a:rPr>
                <a:t>端不加正电压</a:t>
              </a:r>
            </a:p>
          </p:txBody>
        </p:sp>
        <p:sp>
          <p:nvSpPr>
            <p:cNvPr id="164933" name="Text Box 15"/>
            <p:cNvSpPr txBox="1">
              <a:spLocks noChangeArrowheads="1"/>
            </p:cNvSpPr>
            <p:nvPr/>
          </p:nvSpPr>
          <p:spPr bwMode="auto">
            <a:xfrm>
              <a:off x="2064" y="3792"/>
              <a:ext cx="182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不形成浮动栅</a:t>
              </a:r>
            </a:p>
          </p:txBody>
        </p:sp>
        <p:sp>
          <p:nvSpPr>
            <p:cNvPr id="164934" name="Text Box 16"/>
            <p:cNvSpPr txBox="1">
              <a:spLocks noChangeArrowheads="1"/>
            </p:cNvSpPr>
            <p:nvPr/>
          </p:nvSpPr>
          <p:spPr bwMode="auto">
            <a:xfrm>
              <a:off x="3600" y="3792"/>
              <a:ext cx="192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S </a:t>
              </a:r>
              <a:r>
                <a:rPr lang="zh-CN" altLang="en-US" sz="2400">
                  <a:latin typeface="Times New Roman" panose="02020603050405020304" pitchFamily="18" charset="0"/>
                </a:rPr>
                <a:t>与 </a:t>
              </a:r>
              <a:r>
                <a:rPr lang="en-US" altLang="zh-CN" sz="2400">
                  <a:latin typeface="Times New Roman" panose="02020603050405020304" pitchFamily="18" charset="0"/>
                </a:rPr>
                <a:t>D </a:t>
              </a:r>
              <a:r>
                <a:rPr lang="zh-CN" altLang="en-US" sz="2400">
                  <a:latin typeface="Times New Roman" panose="02020603050405020304" pitchFamily="18" charset="0"/>
                </a:rPr>
                <a:t>导通为 “1”</a:t>
              </a:r>
            </a:p>
          </p:txBody>
        </p:sp>
      </p:grpSp>
      <p:grpSp>
        <p:nvGrpSpPr>
          <p:cNvPr id="5" name="Group 17"/>
          <p:cNvGrpSpPr/>
          <p:nvPr/>
        </p:nvGrpSpPr>
        <p:grpSpPr bwMode="auto">
          <a:xfrm>
            <a:off x="706438" y="2193925"/>
            <a:ext cx="4932362" cy="2835275"/>
            <a:chOff x="445" y="1382"/>
            <a:chExt cx="3107" cy="1786"/>
          </a:xfrm>
        </p:grpSpPr>
        <p:grpSp>
          <p:nvGrpSpPr>
            <p:cNvPr id="164875" name="Group 18"/>
            <p:cNvGrpSpPr/>
            <p:nvPr/>
          </p:nvGrpSpPr>
          <p:grpSpPr bwMode="auto">
            <a:xfrm>
              <a:off x="852" y="1929"/>
              <a:ext cx="1901" cy="717"/>
              <a:chOff x="599" y="1833"/>
              <a:chExt cx="1901" cy="717"/>
            </a:xfrm>
          </p:grpSpPr>
          <p:sp>
            <p:nvSpPr>
              <p:cNvPr id="164930" name="Freeform 19"/>
              <p:cNvSpPr/>
              <p:nvPr/>
            </p:nvSpPr>
            <p:spPr bwMode="auto">
              <a:xfrm>
                <a:off x="599" y="1833"/>
                <a:ext cx="1901" cy="717"/>
              </a:xfrm>
              <a:custGeom>
                <a:avLst/>
                <a:gdLst>
                  <a:gd name="T0" fmla="*/ 0 w 1759"/>
                  <a:gd name="T1" fmla="*/ 1068 h 695"/>
                  <a:gd name="T2" fmla="*/ 0 w 1759"/>
                  <a:gd name="T3" fmla="*/ 1008 h 695"/>
                  <a:gd name="T4" fmla="*/ 0 w 1759"/>
                  <a:gd name="T5" fmla="*/ 962 h 695"/>
                  <a:gd name="T6" fmla="*/ 0 w 1759"/>
                  <a:gd name="T7" fmla="*/ 0 h 695"/>
                  <a:gd name="T8" fmla="*/ 251 w 1759"/>
                  <a:gd name="T9" fmla="*/ 0 h 695"/>
                  <a:gd name="T10" fmla="*/ 562 w 1759"/>
                  <a:gd name="T11" fmla="*/ 12 h 695"/>
                  <a:gd name="T12" fmla="*/ 747 w 1759"/>
                  <a:gd name="T13" fmla="*/ 141 h 695"/>
                  <a:gd name="T14" fmla="*/ 856 w 1759"/>
                  <a:gd name="T15" fmla="*/ 446 h 695"/>
                  <a:gd name="T16" fmla="*/ 1256 w 1759"/>
                  <a:gd name="T17" fmla="*/ 446 h 695"/>
                  <a:gd name="T18" fmla="*/ 1423 w 1759"/>
                  <a:gd name="T19" fmla="*/ 77 h 695"/>
                  <a:gd name="T20" fmla="*/ 1553 w 1759"/>
                  <a:gd name="T21" fmla="*/ 12 h 695"/>
                  <a:gd name="T22" fmla="*/ 1804 w 1759"/>
                  <a:gd name="T23" fmla="*/ 12 h 695"/>
                  <a:gd name="T24" fmla="*/ 2667 w 1759"/>
                  <a:gd name="T25" fmla="*/ 12 h 695"/>
                  <a:gd name="T26" fmla="*/ 3663 w 1759"/>
                  <a:gd name="T27" fmla="*/ 12 h 695"/>
                  <a:gd name="T28" fmla="*/ 3906 w 1759"/>
                  <a:gd name="T29" fmla="*/ 54 h 695"/>
                  <a:gd name="T30" fmla="*/ 4040 w 1759"/>
                  <a:gd name="T31" fmla="*/ 266 h 695"/>
                  <a:gd name="T32" fmla="*/ 4054 w 1759"/>
                  <a:gd name="T33" fmla="*/ 465 h 695"/>
                  <a:gd name="T34" fmla="*/ 4521 w 1759"/>
                  <a:gd name="T35" fmla="*/ 465 h 695"/>
                  <a:gd name="T36" fmla="*/ 4602 w 1759"/>
                  <a:gd name="T37" fmla="*/ 103 h 695"/>
                  <a:gd name="T38" fmla="*/ 4868 w 1759"/>
                  <a:gd name="T39" fmla="*/ 32 h 695"/>
                  <a:gd name="T40" fmla="*/ 5211 w 1759"/>
                  <a:gd name="T41" fmla="*/ 38 h 695"/>
                  <a:gd name="T42" fmla="*/ 5211 w 1759"/>
                  <a:gd name="T43" fmla="*/ 1075 h 695"/>
                  <a:gd name="T44" fmla="*/ 0 w 1759"/>
                  <a:gd name="T45" fmla="*/ 1068 h 69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59"/>
                  <a:gd name="T70" fmla="*/ 0 h 695"/>
                  <a:gd name="T71" fmla="*/ 1759 w 1759"/>
                  <a:gd name="T72" fmla="*/ 695 h 695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59" h="695">
                    <a:moveTo>
                      <a:pt x="0" y="689"/>
                    </a:moveTo>
                    <a:lnTo>
                      <a:pt x="0" y="652"/>
                    </a:lnTo>
                    <a:lnTo>
                      <a:pt x="0" y="621"/>
                    </a:lnTo>
                    <a:lnTo>
                      <a:pt x="0" y="0"/>
                    </a:lnTo>
                    <a:lnTo>
                      <a:pt x="84" y="0"/>
                    </a:lnTo>
                    <a:lnTo>
                      <a:pt x="190" y="12"/>
                    </a:lnTo>
                    <a:lnTo>
                      <a:pt x="251" y="92"/>
                    </a:lnTo>
                    <a:lnTo>
                      <a:pt x="290" y="289"/>
                    </a:lnTo>
                    <a:lnTo>
                      <a:pt x="424" y="289"/>
                    </a:lnTo>
                    <a:lnTo>
                      <a:pt x="480" y="49"/>
                    </a:lnTo>
                    <a:lnTo>
                      <a:pt x="525" y="12"/>
                    </a:lnTo>
                    <a:lnTo>
                      <a:pt x="609" y="12"/>
                    </a:lnTo>
                    <a:lnTo>
                      <a:pt x="899" y="12"/>
                    </a:lnTo>
                    <a:lnTo>
                      <a:pt x="1234" y="12"/>
                    </a:lnTo>
                    <a:lnTo>
                      <a:pt x="1318" y="37"/>
                    </a:lnTo>
                    <a:lnTo>
                      <a:pt x="1363" y="172"/>
                    </a:lnTo>
                    <a:lnTo>
                      <a:pt x="1368" y="301"/>
                    </a:lnTo>
                    <a:lnTo>
                      <a:pt x="1525" y="301"/>
                    </a:lnTo>
                    <a:lnTo>
                      <a:pt x="1553" y="67"/>
                    </a:lnTo>
                    <a:lnTo>
                      <a:pt x="1642" y="18"/>
                    </a:lnTo>
                    <a:lnTo>
                      <a:pt x="1759" y="24"/>
                    </a:lnTo>
                    <a:lnTo>
                      <a:pt x="1759" y="695"/>
                    </a:lnTo>
                    <a:lnTo>
                      <a:pt x="0" y="689"/>
                    </a:lnTo>
                    <a:close/>
                  </a:path>
                </a:pathLst>
              </a:custGeom>
              <a:solidFill>
                <a:schemeClr val="folHlink">
                  <a:alpha val="50195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4931" name="Freeform 20"/>
              <p:cNvSpPr/>
              <p:nvPr/>
            </p:nvSpPr>
            <p:spPr bwMode="auto">
              <a:xfrm>
                <a:off x="599" y="1833"/>
                <a:ext cx="1901" cy="717"/>
              </a:xfrm>
              <a:custGeom>
                <a:avLst/>
                <a:gdLst>
                  <a:gd name="T0" fmla="*/ 0 w 1759"/>
                  <a:gd name="T1" fmla="*/ 1068 h 695"/>
                  <a:gd name="T2" fmla="*/ 0 w 1759"/>
                  <a:gd name="T3" fmla="*/ 1008 h 695"/>
                  <a:gd name="T4" fmla="*/ 0 w 1759"/>
                  <a:gd name="T5" fmla="*/ 962 h 695"/>
                  <a:gd name="T6" fmla="*/ 0 w 1759"/>
                  <a:gd name="T7" fmla="*/ 0 h 695"/>
                  <a:gd name="T8" fmla="*/ 251 w 1759"/>
                  <a:gd name="T9" fmla="*/ 0 h 695"/>
                  <a:gd name="T10" fmla="*/ 562 w 1759"/>
                  <a:gd name="T11" fmla="*/ 12 h 695"/>
                  <a:gd name="T12" fmla="*/ 747 w 1759"/>
                  <a:gd name="T13" fmla="*/ 141 h 695"/>
                  <a:gd name="T14" fmla="*/ 856 w 1759"/>
                  <a:gd name="T15" fmla="*/ 446 h 695"/>
                  <a:gd name="T16" fmla="*/ 1256 w 1759"/>
                  <a:gd name="T17" fmla="*/ 446 h 695"/>
                  <a:gd name="T18" fmla="*/ 1423 w 1759"/>
                  <a:gd name="T19" fmla="*/ 77 h 695"/>
                  <a:gd name="T20" fmla="*/ 1553 w 1759"/>
                  <a:gd name="T21" fmla="*/ 12 h 695"/>
                  <a:gd name="T22" fmla="*/ 1804 w 1759"/>
                  <a:gd name="T23" fmla="*/ 12 h 695"/>
                  <a:gd name="T24" fmla="*/ 2667 w 1759"/>
                  <a:gd name="T25" fmla="*/ 12 h 695"/>
                  <a:gd name="T26" fmla="*/ 3663 w 1759"/>
                  <a:gd name="T27" fmla="*/ 12 h 695"/>
                  <a:gd name="T28" fmla="*/ 3906 w 1759"/>
                  <a:gd name="T29" fmla="*/ 54 h 695"/>
                  <a:gd name="T30" fmla="*/ 4040 w 1759"/>
                  <a:gd name="T31" fmla="*/ 266 h 695"/>
                  <a:gd name="T32" fmla="*/ 4054 w 1759"/>
                  <a:gd name="T33" fmla="*/ 465 h 695"/>
                  <a:gd name="T34" fmla="*/ 4521 w 1759"/>
                  <a:gd name="T35" fmla="*/ 465 h 695"/>
                  <a:gd name="T36" fmla="*/ 4602 w 1759"/>
                  <a:gd name="T37" fmla="*/ 103 h 695"/>
                  <a:gd name="T38" fmla="*/ 4868 w 1759"/>
                  <a:gd name="T39" fmla="*/ 32 h 695"/>
                  <a:gd name="T40" fmla="*/ 5211 w 1759"/>
                  <a:gd name="T41" fmla="*/ 38 h 695"/>
                  <a:gd name="T42" fmla="*/ 5211 w 1759"/>
                  <a:gd name="T43" fmla="*/ 1075 h 695"/>
                  <a:gd name="T44" fmla="*/ 0 w 1759"/>
                  <a:gd name="T45" fmla="*/ 1068 h 69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59"/>
                  <a:gd name="T70" fmla="*/ 0 h 695"/>
                  <a:gd name="T71" fmla="*/ 1759 w 1759"/>
                  <a:gd name="T72" fmla="*/ 695 h 695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59" h="695">
                    <a:moveTo>
                      <a:pt x="0" y="689"/>
                    </a:moveTo>
                    <a:lnTo>
                      <a:pt x="0" y="652"/>
                    </a:lnTo>
                    <a:lnTo>
                      <a:pt x="0" y="621"/>
                    </a:lnTo>
                    <a:lnTo>
                      <a:pt x="0" y="0"/>
                    </a:lnTo>
                    <a:lnTo>
                      <a:pt x="84" y="0"/>
                    </a:lnTo>
                    <a:lnTo>
                      <a:pt x="190" y="12"/>
                    </a:lnTo>
                    <a:lnTo>
                      <a:pt x="251" y="92"/>
                    </a:lnTo>
                    <a:lnTo>
                      <a:pt x="290" y="289"/>
                    </a:lnTo>
                    <a:lnTo>
                      <a:pt x="424" y="289"/>
                    </a:lnTo>
                    <a:lnTo>
                      <a:pt x="480" y="49"/>
                    </a:lnTo>
                    <a:lnTo>
                      <a:pt x="525" y="12"/>
                    </a:lnTo>
                    <a:lnTo>
                      <a:pt x="609" y="12"/>
                    </a:lnTo>
                    <a:lnTo>
                      <a:pt x="899" y="12"/>
                    </a:lnTo>
                    <a:lnTo>
                      <a:pt x="1234" y="12"/>
                    </a:lnTo>
                    <a:lnTo>
                      <a:pt x="1318" y="37"/>
                    </a:lnTo>
                    <a:lnTo>
                      <a:pt x="1363" y="172"/>
                    </a:lnTo>
                    <a:lnTo>
                      <a:pt x="1368" y="301"/>
                    </a:lnTo>
                    <a:lnTo>
                      <a:pt x="1525" y="301"/>
                    </a:lnTo>
                    <a:lnTo>
                      <a:pt x="1553" y="67"/>
                    </a:lnTo>
                    <a:lnTo>
                      <a:pt x="1642" y="18"/>
                    </a:lnTo>
                    <a:lnTo>
                      <a:pt x="1759" y="24"/>
                    </a:lnTo>
                    <a:lnTo>
                      <a:pt x="1759" y="695"/>
                    </a:lnTo>
                    <a:lnTo>
                      <a:pt x="0" y="689"/>
                    </a:lnTo>
                    <a:close/>
                  </a:path>
                </a:pathLst>
              </a:custGeom>
              <a:solidFill>
                <a:schemeClr val="folHlink">
                  <a:alpha val="50195"/>
                </a:schemeClr>
              </a:solidFill>
              <a:ln w="17463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64876" name="Oval 21"/>
            <p:cNvSpPr>
              <a:spLocks noChangeArrowheads="1"/>
            </p:cNvSpPr>
            <p:nvPr/>
          </p:nvSpPr>
          <p:spPr bwMode="auto">
            <a:xfrm>
              <a:off x="1538" y="2377"/>
              <a:ext cx="693" cy="180"/>
            </a:xfrm>
            <a:prstGeom prst="ellipse">
              <a:avLst/>
            </a:prstGeom>
            <a:solidFill>
              <a:srgbClr val="FFFFFF"/>
            </a:solidFill>
            <a:ln w="17463">
              <a:solidFill>
                <a:srgbClr val="000000"/>
              </a:solidFill>
              <a:round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4877" name="Rectangle 22"/>
            <p:cNvSpPr>
              <a:spLocks noChangeArrowheads="1"/>
            </p:cNvSpPr>
            <p:nvPr/>
          </p:nvSpPr>
          <p:spPr bwMode="auto">
            <a:xfrm>
              <a:off x="852" y="2639"/>
              <a:ext cx="1907" cy="529"/>
            </a:xfrm>
            <a:prstGeom prst="rect">
              <a:avLst/>
            </a:prstGeom>
            <a:solidFill>
              <a:srgbClr val="FFFFFF"/>
            </a:solidFill>
            <a:ln w="17463">
              <a:solidFill>
                <a:srgbClr val="000000"/>
              </a:solidFill>
              <a:miter lim="800000"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4878" name="Rectangle 23"/>
            <p:cNvSpPr>
              <a:spLocks noChangeArrowheads="1"/>
            </p:cNvSpPr>
            <p:nvPr/>
          </p:nvSpPr>
          <p:spPr bwMode="auto">
            <a:xfrm>
              <a:off x="1191" y="2107"/>
              <a:ext cx="129" cy="105"/>
            </a:xfrm>
            <a:prstGeom prst="rect">
              <a:avLst/>
            </a:prstGeom>
            <a:solidFill>
              <a:srgbClr val="000000"/>
            </a:solidFill>
            <a:ln w="17463">
              <a:solidFill>
                <a:srgbClr val="000000"/>
              </a:solidFill>
              <a:miter lim="800000"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64879" name="Rectangle 24"/>
            <p:cNvSpPr>
              <a:spLocks noChangeArrowheads="1"/>
            </p:cNvSpPr>
            <p:nvPr/>
          </p:nvSpPr>
          <p:spPr bwMode="auto">
            <a:xfrm>
              <a:off x="2371" y="2139"/>
              <a:ext cx="129" cy="104"/>
            </a:xfrm>
            <a:prstGeom prst="rect">
              <a:avLst/>
            </a:prstGeom>
            <a:solidFill>
              <a:srgbClr val="000000"/>
            </a:solidFill>
            <a:ln w="17463">
              <a:solidFill>
                <a:srgbClr val="000000"/>
              </a:solidFill>
              <a:miter lim="800000"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64880" name="Rectangle 25"/>
            <p:cNvSpPr>
              <a:spLocks noChangeArrowheads="1"/>
            </p:cNvSpPr>
            <p:nvPr/>
          </p:nvSpPr>
          <p:spPr bwMode="auto">
            <a:xfrm>
              <a:off x="1854" y="1947"/>
              <a:ext cx="134" cy="105"/>
            </a:xfrm>
            <a:prstGeom prst="rect">
              <a:avLst/>
            </a:prstGeom>
            <a:solidFill>
              <a:srgbClr val="000000"/>
            </a:solidFill>
            <a:ln w="17463">
              <a:solidFill>
                <a:srgbClr val="000000"/>
              </a:solidFill>
              <a:miter lim="800000"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4881" name="Freeform 26"/>
            <p:cNvSpPr/>
            <p:nvPr/>
          </p:nvSpPr>
          <p:spPr bwMode="auto">
            <a:xfrm>
              <a:off x="842" y="2606"/>
              <a:ext cx="542" cy="160"/>
            </a:xfrm>
            <a:custGeom>
              <a:avLst/>
              <a:gdLst>
                <a:gd name="T0" fmla="*/ 542 w 542"/>
                <a:gd name="T1" fmla="*/ 0 h 160"/>
                <a:gd name="T2" fmla="*/ 530 w 542"/>
                <a:gd name="T3" fmla="*/ 61 h 160"/>
                <a:gd name="T4" fmla="*/ 519 w 542"/>
                <a:gd name="T5" fmla="*/ 92 h 160"/>
                <a:gd name="T6" fmla="*/ 502 w 542"/>
                <a:gd name="T7" fmla="*/ 117 h 160"/>
                <a:gd name="T8" fmla="*/ 480 w 542"/>
                <a:gd name="T9" fmla="*/ 135 h 160"/>
                <a:gd name="T10" fmla="*/ 458 w 542"/>
                <a:gd name="T11" fmla="*/ 148 h 160"/>
                <a:gd name="T12" fmla="*/ 424 w 542"/>
                <a:gd name="T13" fmla="*/ 154 h 160"/>
                <a:gd name="T14" fmla="*/ 402 w 542"/>
                <a:gd name="T15" fmla="*/ 160 h 160"/>
                <a:gd name="T16" fmla="*/ 374 w 542"/>
                <a:gd name="T17" fmla="*/ 160 h 160"/>
                <a:gd name="T18" fmla="*/ 335 w 542"/>
                <a:gd name="T19" fmla="*/ 160 h 160"/>
                <a:gd name="T20" fmla="*/ 290 w 542"/>
                <a:gd name="T21" fmla="*/ 160 h 160"/>
                <a:gd name="T22" fmla="*/ 234 w 542"/>
                <a:gd name="T23" fmla="*/ 160 h 160"/>
                <a:gd name="T24" fmla="*/ 178 w 542"/>
                <a:gd name="T25" fmla="*/ 160 h 160"/>
                <a:gd name="T26" fmla="*/ 123 w 542"/>
                <a:gd name="T27" fmla="*/ 160 h 160"/>
                <a:gd name="T28" fmla="*/ 72 w 542"/>
                <a:gd name="T29" fmla="*/ 160 h 160"/>
                <a:gd name="T30" fmla="*/ 28 w 542"/>
                <a:gd name="T31" fmla="*/ 160 h 160"/>
                <a:gd name="T32" fmla="*/ 0 w 542"/>
                <a:gd name="T33" fmla="*/ 160 h 1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42"/>
                <a:gd name="T52" fmla="*/ 0 h 160"/>
                <a:gd name="T53" fmla="*/ 542 w 542"/>
                <a:gd name="T54" fmla="*/ 160 h 16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42" h="160">
                  <a:moveTo>
                    <a:pt x="542" y="0"/>
                  </a:moveTo>
                  <a:lnTo>
                    <a:pt x="530" y="61"/>
                  </a:lnTo>
                  <a:lnTo>
                    <a:pt x="519" y="92"/>
                  </a:lnTo>
                  <a:lnTo>
                    <a:pt x="502" y="117"/>
                  </a:lnTo>
                  <a:lnTo>
                    <a:pt x="480" y="135"/>
                  </a:lnTo>
                  <a:lnTo>
                    <a:pt x="458" y="148"/>
                  </a:lnTo>
                  <a:lnTo>
                    <a:pt x="424" y="154"/>
                  </a:lnTo>
                  <a:lnTo>
                    <a:pt x="402" y="160"/>
                  </a:lnTo>
                  <a:lnTo>
                    <a:pt x="374" y="160"/>
                  </a:lnTo>
                  <a:lnTo>
                    <a:pt x="335" y="160"/>
                  </a:lnTo>
                  <a:lnTo>
                    <a:pt x="290" y="160"/>
                  </a:lnTo>
                  <a:lnTo>
                    <a:pt x="234" y="160"/>
                  </a:lnTo>
                  <a:lnTo>
                    <a:pt x="178" y="160"/>
                  </a:lnTo>
                  <a:lnTo>
                    <a:pt x="123" y="160"/>
                  </a:lnTo>
                  <a:lnTo>
                    <a:pt x="72" y="160"/>
                  </a:lnTo>
                  <a:lnTo>
                    <a:pt x="28" y="160"/>
                  </a:lnTo>
                  <a:lnTo>
                    <a:pt x="0" y="16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882" name="Freeform 27"/>
            <p:cNvSpPr/>
            <p:nvPr/>
          </p:nvSpPr>
          <p:spPr bwMode="auto">
            <a:xfrm>
              <a:off x="2273" y="2606"/>
              <a:ext cx="502" cy="154"/>
            </a:xfrm>
            <a:custGeom>
              <a:avLst/>
              <a:gdLst>
                <a:gd name="T0" fmla="*/ 0 w 502"/>
                <a:gd name="T1" fmla="*/ 0 h 154"/>
                <a:gd name="T2" fmla="*/ 11 w 502"/>
                <a:gd name="T3" fmla="*/ 61 h 154"/>
                <a:gd name="T4" fmla="*/ 22 w 502"/>
                <a:gd name="T5" fmla="*/ 92 h 154"/>
                <a:gd name="T6" fmla="*/ 39 w 502"/>
                <a:gd name="T7" fmla="*/ 111 h 154"/>
                <a:gd name="T8" fmla="*/ 55 w 502"/>
                <a:gd name="T9" fmla="*/ 129 h 154"/>
                <a:gd name="T10" fmla="*/ 78 w 502"/>
                <a:gd name="T11" fmla="*/ 141 h 154"/>
                <a:gd name="T12" fmla="*/ 111 w 502"/>
                <a:gd name="T13" fmla="*/ 148 h 154"/>
                <a:gd name="T14" fmla="*/ 128 w 502"/>
                <a:gd name="T15" fmla="*/ 154 h 154"/>
                <a:gd name="T16" fmla="*/ 156 w 502"/>
                <a:gd name="T17" fmla="*/ 154 h 154"/>
                <a:gd name="T18" fmla="*/ 189 w 502"/>
                <a:gd name="T19" fmla="*/ 154 h 154"/>
                <a:gd name="T20" fmla="*/ 234 w 502"/>
                <a:gd name="T21" fmla="*/ 154 h 154"/>
                <a:gd name="T22" fmla="*/ 284 w 502"/>
                <a:gd name="T23" fmla="*/ 154 h 154"/>
                <a:gd name="T24" fmla="*/ 340 w 502"/>
                <a:gd name="T25" fmla="*/ 154 h 154"/>
                <a:gd name="T26" fmla="*/ 390 w 502"/>
                <a:gd name="T27" fmla="*/ 154 h 154"/>
                <a:gd name="T28" fmla="*/ 435 w 502"/>
                <a:gd name="T29" fmla="*/ 154 h 154"/>
                <a:gd name="T30" fmla="*/ 474 w 502"/>
                <a:gd name="T31" fmla="*/ 154 h 154"/>
                <a:gd name="T32" fmla="*/ 502 w 502"/>
                <a:gd name="T33" fmla="*/ 154 h 1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02"/>
                <a:gd name="T52" fmla="*/ 0 h 154"/>
                <a:gd name="T53" fmla="*/ 502 w 502"/>
                <a:gd name="T54" fmla="*/ 154 h 1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02" h="154">
                  <a:moveTo>
                    <a:pt x="0" y="0"/>
                  </a:moveTo>
                  <a:lnTo>
                    <a:pt x="11" y="61"/>
                  </a:lnTo>
                  <a:lnTo>
                    <a:pt x="22" y="92"/>
                  </a:lnTo>
                  <a:lnTo>
                    <a:pt x="39" y="111"/>
                  </a:lnTo>
                  <a:lnTo>
                    <a:pt x="55" y="129"/>
                  </a:lnTo>
                  <a:lnTo>
                    <a:pt x="78" y="141"/>
                  </a:lnTo>
                  <a:lnTo>
                    <a:pt x="111" y="148"/>
                  </a:lnTo>
                  <a:lnTo>
                    <a:pt x="128" y="154"/>
                  </a:lnTo>
                  <a:lnTo>
                    <a:pt x="156" y="154"/>
                  </a:lnTo>
                  <a:lnTo>
                    <a:pt x="189" y="154"/>
                  </a:lnTo>
                  <a:lnTo>
                    <a:pt x="234" y="154"/>
                  </a:lnTo>
                  <a:lnTo>
                    <a:pt x="284" y="154"/>
                  </a:lnTo>
                  <a:lnTo>
                    <a:pt x="340" y="154"/>
                  </a:lnTo>
                  <a:lnTo>
                    <a:pt x="390" y="154"/>
                  </a:lnTo>
                  <a:lnTo>
                    <a:pt x="435" y="154"/>
                  </a:lnTo>
                  <a:lnTo>
                    <a:pt x="474" y="154"/>
                  </a:lnTo>
                  <a:lnTo>
                    <a:pt x="502" y="15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883" name="Oval 28"/>
            <p:cNvSpPr>
              <a:spLocks noChangeArrowheads="1"/>
            </p:cNvSpPr>
            <p:nvPr/>
          </p:nvSpPr>
          <p:spPr bwMode="auto">
            <a:xfrm>
              <a:off x="1259" y="2667"/>
              <a:ext cx="40" cy="43"/>
            </a:xfrm>
            <a:prstGeom prst="ellipse">
              <a:avLst/>
            </a:prstGeom>
            <a:solidFill>
              <a:srgbClr val="000000"/>
            </a:solidFill>
            <a:ln w="17463">
              <a:solidFill>
                <a:srgbClr val="000000"/>
              </a:solidFill>
              <a:round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4884" name="Oval 29"/>
            <p:cNvSpPr>
              <a:spLocks noChangeArrowheads="1"/>
            </p:cNvSpPr>
            <p:nvPr/>
          </p:nvSpPr>
          <p:spPr bwMode="auto">
            <a:xfrm>
              <a:off x="2401" y="2686"/>
              <a:ext cx="33" cy="43"/>
            </a:xfrm>
            <a:prstGeom prst="ellipse">
              <a:avLst/>
            </a:prstGeom>
            <a:solidFill>
              <a:srgbClr val="000000"/>
            </a:solidFill>
            <a:ln w="17463">
              <a:solidFill>
                <a:srgbClr val="000000"/>
              </a:solidFill>
              <a:round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4885" name="Line 30"/>
            <p:cNvSpPr>
              <a:spLocks noChangeShapeType="1"/>
            </p:cNvSpPr>
            <p:nvPr/>
          </p:nvSpPr>
          <p:spPr bwMode="auto">
            <a:xfrm flipH="1">
              <a:off x="1173" y="2706"/>
              <a:ext cx="86" cy="1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886" name="Line 31"/>
            <p:cNvSpPr>
              <a:spLocks noChangeShapeType="1"/>
            </p:cNvSpPr>
            <p:nvPr/>
          </p:nvSpPr>
          <p:spPr bwMode="auto">
            <a:xfrm>
              <a:off x="2423" y="2704"/>
              <a:ext cx="79" cy="1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887" name="Rectangle 32"/>
            <p:cNvSpPr>
              <a:spLocks noChangeArrowheads="1"/>
            </p:cNvSpPr>
            <p:nvPr/>
          </p:nvSpPr>
          <p:spPr bwMode="auto">
            <a:xfrm>
              <a:off x="1284" y="1485"/>
              <a:ext cx="218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4888" name="Rectangle 33"/>
            <p:cNvSpPr>
              <a:spLocks noChangeArrowheads="1"/>
            </p:cNvSpPr>
            <p:nvPr/>
          </p:nvSpPr>
          <p:spPr bwMode="auto">
            <a:xfrm>
              <a:off x="1213" y="1398"/>
              <a:ext cx="107" cy="2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164889" name="Rectangle 34"/>
            <p:cNvSpPr>
              <a:spLocks noChangeArrowheads="1"/>
            </p:cNvSpPr>
            <p:nvPr/>
          </p:nvSpPr>
          <p:spPr bwMode="auto">
            <a:xfrm>
              <a:off x="1831" y="1467"/>
              <a:ext cx="212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4890" name="Rectangle 35"/>
            <p:cNvSpPr>
              <a:spLocks noChangeArrowheads="1"/>
            </p:cNvSpPr>
            <p:nvPr/>
          </p:nvSpPr>
          <p:spPr bwMode="auto">
            <a:xfrm>
              <a:off x="1843" y="1398"/>
              <a:ext cx="149" cy="2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G</a:t>
              </a:r>
            </a:p>
          </p:txBody>
        </p:sp>
        <p:sp>
          <p:nvSpPr>
            <p:cNvPr id="164891" name="Rectangle 36"/>
            <p:cNvSpPr>
              <a:spLocks noChangeArrowheads="1"/>
            </p:cNvSpPr>
            <p:nvPr/>
          </p:nvSpPr>
          <p:spPr bwMode="auto">
            <a:xfrm>
              <a:off x="2395" y="1485"/>
              <a:ext cx="218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4892" name="Rectangle 37"/>
            <p:cNvSpPr>
              <a:spLocks noChangeArrowheads="1"/>
            </p:cNvSpPr>
            <p:nvPr/>
          </p:nvSpPr>
          <p:spPr bwMode="auto">
            <a:xfrm>
              <a:off x="2384" y="1398"/>
              <a:ext cx="139" cy="2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D</a:t>
              </a:r>
            </a:p>
          </p:txBody>
        </p:sp>
        <p:sp>
          <p:nvSpPr>
            <p:cNvPr id="164893" name="Rectangle 38"/>
            <p:cNvSpPr>
              <a:spLocks noChangeArrowheads="1"/>
            </p:cNvSpPr>
            <p:nvPr/>
          </p:nvSpPr>
          <p:spPr bwMode="auto">
            <a:xfrm>
              <a:off x="947" y="2784"/>
              <a:ext cx="212" cy="2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4894" name="Rectangle 39"/>
            <p:cNvSpPr>
              <a:spLocks noChangeArrowheads="1"/>
            </p:cNvSpPr>
            <p:nvPr/>
          </p:nvSpPr>
          <p:spPr bwMode="auto">
            <a:xfrm>
              <a:off x="985" y="2840"/>
              <a:ext cx="10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solidFill>
                    <a:srgbClr val="000000"/>
                  </a:solidFill>
                  <a:latin typeface="Times New Roman" panose="02020603050405020304" pitchFamily="18" charset="0"/>
                </a:rPr>
                <a:t>N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164895" name="Rectangle 40"/>
            <p:cNvSpPr>
              <a:spLocks noChangeArrowheads="1"/>
            </p:cNvSpPr>
            <p:nvPr/>
          </p:nvSpPr>
          <p:spPr bwMode="auto">
            <a:xfrm>
              <a:off x="1096" y="2821"/>
              <a:ext cx="41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900">
                  <a:solidFill>
                    <a:srgbClr val="000000"/>
                  </a:solidFill>
                  <a:latin typeface="Times New Roman" panose="02020603050405020304" pitchFamily="18" charset="0"/>
                </a:rPr>
                <a:t>+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64896" name="Rectangle 41"/>
            <p:cNvSpPr>
              <a:spLocks noChangeArrowheads="1"/>
            </p:cNvSpPr>
            <p:nvPr/>
          </p:nvSpPr>
          <p:spPr bwMode="auto">
            <a:xfrm>
              <a:off x="2502" y="2784"/>
              <a:ext cx="212" cy="2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4897" name="Rectangle 42"/>
            <p:cNvSpPr>
              <a:spLocks noChangeArrowheads="1"/>
            </p:cNvSpPr>
            <p:nvPr/>
          </p:nvSpPr>
          <p:spPr bwMode="auto">
            <a:xfrm>
              <a:off x="2530" y="2840"/>
              <a:ext cx="10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solidFill>
                    <a:srgbClr val="000000"/>
                  </a:solidFill>
                  <a:latin typeface="Times New Roman" panose="02020603050405020304" pitchFamily="18" charset="0"/>
                </a:rPr>
                <a:t>N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164898" name="Rectangle 43"/>
            <p:cNvSpPr>
              <a:spLocks noChangeArrowheads="1"/>
            </p:cNvSpPr>
            <p:nvPr/>
          </p:nvSpPr>
          <p:spPr bwMode="auto">
            <a:xfrm>
              <a:off x="2637" y="2821"/>
              <a:ext cx="41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900">
                  <a:solidFill>
                    <a:srgbClr val="000000"/>
                  </a:solidFill>
                  <a:latin typeface="Times New Roman" panose="02020603050405020304" pitchFamily="18" charset="0"/>
                </a:rPr>
                <a:t>+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64899" name="Rectangle 44"/>
            <p:cNvSpPr>
              <a:spLocks noChangeArrowheads="1"/>
            </p:cNvSpPr>
            <p:nvPr/>
          </p:nvSpPr>
          <p:spPr bwMode="auto">
            <a:xfrm>
              <a:off x="1703" y="2747"/>
              <a:ext cx="553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4900" name="Rectangle 45"/>
            <p:cNvSpPr>
              <a:spLocks noChangeArrowheads="1"/>
            </p:cNvSpPr>
            <p:nvPr/>
          </p:nvSpPr>
          <p:spPr bwMode="auto">
            <a:xfrm>
              <a:off x="1683" y="2820"/>
              <a:ext cx="8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solidFill>
                    <a:srgbClr val="000000"/>
                  </a:solidFill>
                  <a:latin typeface="Times New Roman" panose="02020603050405020304" pitchFamily="18" charset="0"/>
                </a:rPr>
                <a:t>P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164901" name="Rectangle 46"/>
            <p:cNvSpPr>
              <a:spLocks noChangeArrowheads="1"/>
            </p:cNvSpPr>
            <p:nvPr/>
          </p:nvSpPr>
          <p:spPr bwMode="auto">
            <a:xfrm>
              <a:off x="1772" y="2820"/>
              <a:ext cx="28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800">
                  <a:solidFill>
                    <a:srgbClr val="000000"/>
                  </a:solidFill>
                </a:rPr>
                <a:t>基片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164902" name="Rectangle 47"/>
            <p:cNvSpPr>
              <a:spLocks noChangeArrowheads="1"/>
            </p:cNvSpPr>
            <p:nvPr/>
          </p:nvSpPr>
          <p:spPr bwMode="auto">
            <a:xfrm>
              <a:off x="2855" y="2210"/>
              <a:ext cx="149" cy="2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G</a:t>
              </a:r>
            </a:p>
          </p:txBody>
        </p:sp>
        <p:sp>
          <p:nvSpPr>
            <p:cNvPr id="164903" name="Rectangle 48"/>
            <p:cNvSpPr>
              <a:spLocks noChangeArrowheads="1"/>
            </p:cNvSpPr>
            <p:nvPr/>
          </p:nvSpPr>
          <p:spPr bwMode="auto">
            <a:xfrm>
              <a:off x="3339" y="1787"/>
              <a:ext cx="213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4904" name="Rectangle 49"/>
            <p:cNvSpPr>
              <a:spLocks noChangeArrowheads="1"/>
            </p:cNvSpPr>
            <p:nvPr/>
          </p:nvSpPr>
          <p:spPr bwMode="auto">
            <a:xfrm>
              <a:off x="3406" y="1743"/>
              <a:ext cx="139" cy="2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D</a:t>
              </a:r>
            </a:p>
          </p:txBody>
        </p:sp>
        <p:sp>
          <p:nvSpPr>
            <p:cNvPr id="164905" name="Rectangle 50"/>
            <p:cNvSpPr>
              <a:spLocks noChangeArrowheads="1"/>
            </p:cNvSpPr>
            <p:nvPr/>
          </p:nvSpPr>
          <p:spPr bwMode="auto">
            <a:xfrm>
              <a:off x="3339" y="2649"/>
              <a:ext cx="213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4906" name="Rectangle 51"/>
            <p:cNvSpPr>
              <a:spLocks noChangeArrowheads="1"/>
            </p:cNvSpPr>
            <p:nvPr/>
          </p:nvSpPr>
          <p:spPr bwMode="auto">
            <a:xfrm>
              <a:off x="3412" y="2737"/>
              <a:ext cx="107" cy="2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164907" name="Freeform 52"/>
            <p:cNvSpPr/>
            <p:nvPr/>
          </p:nvSpPr>
          <p:spPr bwMode="auto">
            <a:xfrm>
              <a:off x="2814" y="1641"/>
              <a:ext cx="222" cy="4"/>
            </a:xfrm>
            <a:custGeom>
              <a:avLst/>
              <a:gdLst>
                <a:gd name="T0" fmla="*/ 0 w 222"/>
                <a:gd name="T1" fmla="*/ 4 h 4"/>
                <a:gd name="T2" fmla="*/ 222 w 222"/>
                <a:gd name="T3" fmla="*/ 0 h 4"/>
                <a:gd name="T4" fmla="*/ 0 60000 65536"/>
                <a:gd name="T5" fmla="*/ 0 60000 65536"/>
                <a:gd name="T6" fmla="*/ 0 w 222"/>
                <a:gd name="T7" fmla="*/ 0 h 4"/>
                <a:gd name="T8" fmla="*/ 222 w 222"/>
                <a:gd name="T9" fmla="*/ 4 h 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4">
                  <a:moveTo>
                    <a:pt x="0" y="4"/>
                  </a:moveTo>
                  <a:lnTo>
                    <a:pt x="222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908" name="Rectangle 53"/>
            <p:cNvSpPr>
              <a:spLocks noChangeArrowheads="1"/>
            </p:cNvSpPr>
            <p:nvPr/>
          </p:nvSpPr>
          <p:spPr bwMode="auto">
            <a:xfrm>
              <a:off x="2670" y="1396"/>
              <a:ext cx="48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/>
                <a:t>浮动栅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164909" name="Rectangle 54"/>
            <p:cNvSpPr>
              <a:spLocks noChangeArrowheads="1"/>
            </p:cNvSpPr>
            <p:nvPr/>
          </p:nvSpPr>
          <p:spPr bwMode="auto">
            <a:xfrm>
              <a:off x="781" y="1547"/>
              <a:ext cx="425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4910" name="Rectangle 55"/>
            <p:cNvSpPr>
              <a:spLocks noChangeArrowheads="1"/>
            </p:cNvSpPr>
            <p:nvPr/>
          </p:nvSpPr>
          <p:spPr bwMode="auto">
            <a:xfrm>
              <a:off x="781" y="1602"/>
              <a:ext cx="120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500">
                  <a:solidFill>
                    <a:srgbClr val="000000"/>
                  </a:solidFill>
                </a:rPr>
                <a:t>　</a:t>
              </a:r>
              <a:endParaRPr lang="zh-CN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164911" name="Rectangle 56"/>
            <p:cNvSpPr>
              <a:spLocks noChangeArrowheads="1"/>
            </p:cNvSpPr>
            <p:nvPr/>
          </p:nvSpPr>
          <p:spPr bwMode="auto">
            <a:xfrm>
              <a:off x="445" y="1382"/>
              <a:ext cx="309" cy="2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SiO</a:t>
              </a:r>
            </a:p>
          </p:txBody>
        </p:sp>
        <p:sp>
          <p:nvSpPr>
            <p:cNvPr id="164912" name="Rectangle 57"/>
            <p:cNvSpPr>
              <a:spLocks noChangeArrowheads="1"/>
            </p:cNvSpPr>
            <p:nvPr/>
          </p:nvSpPr>
          <p:spPr bwMode="auto">
            <a:xfrm>
              <a:off x="761" y="1460"/>
              <a:ext cx="6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600">
                  <a:latin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164913" name="Text Box 58"/>
            <p:cNvSpPr txBox="1">
              <a:spLocks noChangeArrowheads="1"/>
            </p:cNvSpPr>
            <p:nvPr/>
          </p:nvSpPr>
          <p:spPr bwMode="auto">
            <a:xfrm>
              <a:off x="1479" y="2561"/>
              <a:ext cx="81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8000" rIns="1800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solidFill>
                    <a:schemeClr val="bg2"/>
                  </a:solidFill>
                  <a:latin typeface="Times New Roman" panose="02020603050405020304" pitchFamily="18" charset="0"/>
                </a:rPr>
                <a:t>+ + + + +</a:t>
              </a:r>
            </a:p>
          </p:txBody>
        </p:sp>
        <p:sp>
          <p:nvSpPr>
            <p:cNvPr id="164914" name="Text Box 59"/>
            <p:cNvSpPr txBox="1">
              <a:spLocks noChangeArrowheads="1"/>
            </p:cNvSpPr>
            <p:nvPr/>
          </p:nvSpPr>
          <p:spPr bwMode="auto">
            <a:xfrm>
              <a:off x="1686" y="2224"/>
              <a:ext cx="53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8000" rIns="1800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solidFill>
                    <a:schemeClr val="bg2"/>
                  </a:solidFill>
                  <a:latin typeface="Times New Roman" panose="02020603050405020304" pitchFamily="18" charset="0"/>
                </a:rPr>
                <a:t>_ _ _</a:t>
              </a:r>
              <a:r>
                <a:rPr lang="zh-CN" altLang="en-US" sz="2400" b="0">
                  <a:solidFill>
                    <a:schemeClr val="bg2"/>
                  </a:solidFill>
                  <a:latin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164915" name="Line 60"/>
            <p:cNvSpPr>
              <a:spLocks noChangeShapeType="1"/>
            </p:cNvSpPr>
            <p:nvPr/>
          </p:nvSpPr>
          <p:spPr bwMode="auto">
            <a:xfrm>
              <a:off x="501" y="1703"/>
              <a:ext cx="29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4916" name="Line 61"/>
            <p:cNvSpPr>
              <a:spLocks noChangeShapeType="1"/>
            </p:cNvSpPr>
            <p:nvPr/>
          </p:nvSpPr>
          <p:spPr bwMode="auto">
            <a:xfrm>
              <a:off x="782" y="1703"/>
              <a:ext cx="380" cy="78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4917" name="Line 62"/>
            <p:cNvSpPr>
              <a:spLocks noChangeShapeType="1"/>
            </p:cNvSpPr>
            <p:nvPr/>
          </p:nvSpPr>
          <p:spPr bwMode="auto">
            <a:xfrm>
              <a:off x="1271" y="1660"/>
              <a:ext cx="0" cy="46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4918" name="Line 63"/>
            <p:cNvSpPr>
              <a:spLocks noChangeShapeType="1"/>
            </p:cNvSpPr>
            <p:nvPr/>
          </p:nvSpPr>
          <p:spPr bwMode="auto">
            <a:xfrm>
              <a:off x="1925" y="1660"/>
              <a:ext cx="0" cy="29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4919" name="Line 64"/>
            <p:cNvSpPr>
              <a:spLocks noChangeShapeType="1"/>
            </p:cNvSpPr>
            <p:nvPr/>
          </p:nvSpPr>
          <p:spPr bwMode="auto">
            <a:xfrm>
              <a:off x="2438" y="1660"/>
              <a:ext cx="0" cy="49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4920" name="Freeform 65"/>
            <p:cNvSpPr/>
            <p:nvPr/>
          </p:nvSpPr>
          <p:spPr bwMode="auto">
            <a:xfrm>
              <a:off x="3032" y="1649"/>
              <a:ext cx="197" cy="391"/>
            </a:xfrm>
            <a:custGeom>
              <a:avLst/>
              <a:gdLst>
                <a:gd name="T0" fmla="*/ 0 w 197"/>
                <a:gd name="T1" fmla="*/ 0 h 391"/>
                <a:gd name="T2" fmla="*/ 197 w 197"/>
                <a:gd name="T3" fmla="*/ 391 h 391"/>
                <a:gd name="T4" fmla="*/ 0 60000 65536"/>
                <a:gd name="T5" fmla="*/ 0 60000 65536"/>
                <a:gd name="T6" fmla="*/ 0 w 197"/>
                <a:gd name="T7" fmla="*/ 0 h 391"/>
                <a:gd name="T8" fmla="*/ 197 w 197"/>
                <a:gd name="T9" fmla="*/ 391 h 39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97" h="391">
                  <a:moveTo>
                    <a:pt x="0" y="0"/>
                  </a:moveTo>
                  <a:lnTo>
                    <a:pt x="197" y="39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4921" name="Line 66"/>
            <p:cNvSpPr>
              <a:spLocks noChangeShapeType="1"/>
            </p:cNvSpPr>
            <p:nvPr/>
          </p:nvSpPr>
          <p:spPr bwMode="auto">
            <a:xfrm flipH="1">
              <a:off x="2077" y="1638"/>
              <a:ext cx="739" cy="73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4922" name="Line 67"/>
            <p:cNvSpPr>
              <a:spLocks noChangeShapeType="1"/>
            </p:cNvSpPr>
            <p:nvPr/>
          </p:nvSpPr>
          <p:spPr bwMode="auto">
            <a:xfrm>
              <a:off x="3066" y="2334"/>
              <a:ext cx="8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4923" name="Line 68"/>
            <p:cNvSpPr>
              <a:spLocks noChangeShapeType="1"/>
            </p:cNvSpPr>
            <p:nvPr/>
          </p:nvSpPr>
          <p:spPr bwMode="auto">
            <a:xfrm flipH="1">
              <a:off x="3163" y="2235"/>
              <a:ext cx="1" cy="1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4924" name="Line 69"/>
            <p:cNvSpPr>
              <a:spLocks noChangeShapeType="1"/>
            </p:cNvSpPr>
            <p:nvPr/>
          </p:nvSpPr>
          <p:spPr bwMode="auto">
            <a:xfrm>
              <a:off x="3294" y="2149"/>
              <a:ext cx="0" cy="34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4925" name="Line 70"/>
            <p:cNvSpPr>
              <a:spLocks noChangeShapeType="1"/>
            </p:cNvSpPr>
            <p:nvPr/>
          </p:nvSpPr>
          <p:spPr bwMode="auto">
            <a:xfrm>
              <a:off x="3294" y="2268"/>
              <a:ext cx="1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4926" name="Line 71"/>
            <p:cNvSpPr>
              <a:spLocks noChangeShapeType="1"/>
            </p:cNvSpPr>
            <p:nvPr/>
          </p:nvSpPr>
          <p:spPr bwMode="auto">
            <a:xfrm flipH="1" flipV="1">
              <a:off x="3446" y="1996"/>
              <a:ext cx="0" cy="28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4927" name="Line 72"/>
            <p:cNvSpPr>
              <a:spLocks noChangeShapeType="1"/>
            </p:cNvSpPr>
            <p:nvPr/>
          </p:nvSpPr>
          <p:spPr bwMode="auto">
            <a:xfrm>
              <a:off x="3294" y="2399"/>
              <a:ext cx="1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4928" name="Line 73"/>
            <p:cNvSpPr>
              <a:spLocks noChangeShapeType="1"/>
            </p:cNvSpPr>
            <p:nvPr/>
          </p:nvSpPr>
          <p:spPr bwMode="auto">
            <a:xfrm>
              <a:off x="3446" y="2389"/>
              <a:ext cx="0" cy="33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4929" name="Line 74"/>
            <p:cNvSpPr>
              <a:spLocks noChangeShapeType="1"/>
            </p:cNvSpPr>
            <p:nvPr/>
          </p:nvSpPr>
          <p:spPr bwMode="auto">
            <a:xfrm>
              <a:off x="3229" y="2072"/>
              <a:ext cx="1" cy="5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793675" name="Rectangle 75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64874" name="AutoShape 76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3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93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3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793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3603" grpId="0" autoUpdateAnimBg="0"/>
      <p:bldP spid="793608" grpId="0" autoUpdateAnimBg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41"/>
          <p:cNvGrpSpPr/>
          <p:nvPr/>
        </p:nvGrpSpPr>
        <p:grpSpPr bwMode="auto">
          <a:xfrm>
            <a:off x="0" y="1081088"/>
            <a:ext cx="9525000" cy="4633912"/>
            <a:chOff x="0" y="681"/>
            <a:chExt cx="6000" cy="2919"/>
          </a:xfrm>
        </p:grpSpPr>
        <p:grpSp>
          <p:nvGrpSpPr>
            <p:cNvPr id="165902" name="Group 3"/>
            <p:cNvGrpSpPr/>
            <p:nvPr/>
          </p:nvGrpSpPr>
          <p:grpSpPr bwMode="auto">
            <a:xfrm>
              <a:off x="0" y="681"/>
              <a:ext cx="3552" cy="2919"/>
              <a:chOff x="0" y="681"/>
              <a:chExt cx="3552" cy="2919"/>
            </a:xfrm>
          </p:grpSpPr>
          <p:sp>
            <p:nvSpPr>
              <p:cNvPr id="165958" name="Text Box 4"/>
              <p:cNvSpPr txBox="1">
                <a:spLocks noChangeArrowheads="1"/>
              </p:cNvSpPr>
              <p:nvPr/>
            </p:nvSpPr>
            <p:spPr bwMode="auto">
              <a:xfrm>
                <a:off x="1584" y="2793"/>
                <a:ext cx="385" cy="62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65959" name="Text Box 5"/>
              <p:cNvSpPr txBox="1">
                <a:spLocks noChangeArrowheads="1"/>
              </p:cNvSpPr>
              <p:nvPr/>
            </p:nvSpPr>
            <p:spPr bwMode="auto">
              <a:xfrm>
                <a:off x="912" y="1248"/>
                <a:ext cx="10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控制逻辑</a:t>
                </a:r>
              </a:p>
            </p:txBody>
          </p:sp>
          <p:sp>
            <p:nvSpPr>
              <p:cNvPr id="165960" name="Rectangle 6"/>
              <p:cNvSpPr>
                <a:spLocks noChangeArrowheads="1"/>
              </p:cNvSpPr>
              <p:nvPr/>
            </p:nvSpPr>
            <p:spPr bwMode="auto">
              <a:xfrm>
                <a:off x="912" y="1152"/>
                <a:ext cx="768" cy="43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grpSp>
            <p:nvGrpSpPr>
              <p:cNvPr id="165961" name="Group 7"/>
              <p:cNvGrpSpPr/>
              <p:nvPr/>
            </p:nvGrpSpPr>
            <p:grpSpPr bwMode="auto">
              <a:xfrm>
                <a:off x="1002" y="1776"/>
                <a:ext cx="678" cy="480"/>
                <a:chOff x="834" y="1776"/>
                <a:chExt cx="678" cy="480"/>
              </a:xfrm>
            </p:grpSpPr>
            <p:sp>
              <p:nvSpPr>
                <p:cNvPr id="166026" name="Rectangle 8"/>
                <p:cNvSpPr>
                  <a:spLocks noChangeArrowheads="1"/>
                </p:cNvSpPr>
                <p:nvPr/>
              </p:nvSpPr>
              <p:spPr bwMode="auto">
                <a:xfrm>
                  <a:off x="864" y="1776"/>
                  <a:ext cx="526" cy="480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66027" name="Text Box 9"/>
                <p:cNvSpPr txBox="1">
                  <a:spLocks noChangeArrowheads="1"/>
                </p:cNvSpPr>
                <p:nvPr/>
              </p:nvSpPr>
              <p:spPr bwMode="auto">
                <a:xfrm>
                  <a:off x="834" y="1904"/>
                  <a:ext cx="678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Y </a:t>
                  </a:r>
                  <a:r>
                    <a:rPr lang="zh-CN" altLang="en-US" sz="2000">
                      <a:latin typeface="Times New Roman" panose="02020603050405020304" pitchFamily="18" charset="0"/>
                    </a:rPr>
                    <a:t>译码</a:t>
                  </a:r>
                </a:p>
              </p:txBody>
            </p:sp>
          </p:grpSp>
          <p:grpSp>
            <p:nvGrpSpPr>
              <p:cNvPr id="165962" name="Group 10"/>
              <p:cNvGrpSpPr/>
              <p:nvPr/>
            </p:nvGrpSpPr>
            <p:grpSpPr bwMode="auto">
              <a:xfrm>
                <a:off x="1032" y="2448"/>
                <a:ext cx="528" cy="912"/>
                <a:chOff x="864" y="2544"/>
                <a:chExt cx="528" cy="912"/>
              </a:xfrm>
            </p:grpSpPr>
            <p:sp>
              <p:nvSpPr>
                <p:cNvPr id="166024" name="Rectangle 11"/>
                <p:cNvSpPr>
                  <a:spLocks noChangeArrowheads="1"/>
                </p:cNvSpPr>
                <p:nvPr/>
              </p:nvSpPr>
              <p:spPr bwMode="auto">
                <a:xfrm>
                  <a:off x="864" y="2544"/>
                  <a:ext cx="528" cy="912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66025" name="Text Box 12"/>
                <p:cNvSpPr txBox="1">
                  <a:spLocks noChangeArrowheads="1"/>
                </p:cNvSpPr>
                <p:nvPr/>
              </p:nvSpPr>
              <p:spPr bwMode="auto">
                <a:xfrm>
                  <a:off x="1002" y="2582"/>
                  <a:ext cx="333" cy="82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X </a:t>
                  </a:r>
                </a:p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译</a:t>
                  </a:r>
                </a:p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码</a:t>
                  </a:r>
                </a:p>
              </p:txBody>
            </p:sp>
          </p:grpSp>
          <p:grpSp>
            <p:nvGrpSpPr>
              <p:cNvPr id="165963" name="Group 13"/>
              <p:cNvGrpSpPr/>
              <p:nvPr/>
            </p:nvGrpSpPr>
            <p:grpSpPr bwMode="auto">
              <a:xfrm>
                <a:off x="1872" y="1218"/>
                <a:ext cx="1440" cy="288"/>
                <a:chOff x="2112" y="1152"/>
                <a:chExt cx="1440" cy="288"/>
              </a:xfrm>
            </p:grpSpPr>
            <p:sp>
              <p:nvSpPr>
                <p:cNvPr id="166022" name="Rectangle 14"/>
                <p:cNvSpPr>
                  <a:spLocks noChangeArrowheads="1"/>
                </p:cNvSpPr>
                <p:nvPr/>
              </p:nvSpPr>
              <p:spPr bwMode="auto">
                <a:xfrm>
                  <a:off x="2112" y="1152"/>
                  <a:ext cx="1200" cy="288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66023" name="Text Box 15"/>
                <p:cNvSpPr txBox="1">
                  <a:spLocks noChangeArrowheads="1"/>
                </p:cNvSpPr>
                <p:nvPr/>
              </p:nvSpPr>
              <p:spPr bwMode="auto">
                <a:xfrm>
                  <a:off x="2256" y="1160"/>
                  <a:ext cx="12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数据缓冲区</a:t>
                  </a:r>
                </a:p>
              </p:txBody>
            </p:sp>
          </p:grpSp>
          <p:grpSp>
            <p:nvGrpSpPr>
              <p:cNvPr id="165964" name="Group 16"/>
              <p:cNvGrpSpPr/>
              <p:nvPr/>
            </p:nvGrpSpPr>
            <p:grpSpPr bwMode="auto">
              <a:xfrm>
                <a:off x="1872" y="1824"/>
                <a:ext cx="1584" cy="432"/>
                <a:chOff x="1968" y="1872"/>
                <a:chExt cx="1584" cy="432"/>
              </a:xfrm>
            </p:grpSpPr>
            <p:sp>
              <p:nvSpPr>
                <p:cNvPr id="166020" name="Rectangle 17"/>
                <p:cNvSpPr>
                  <a:spLocks noChangeArrowheads="1"/>
                </p:cNvSpPr>
                <p:nvPr/>
              </p:nvSpPr>
              <p:spPr bwMode="auto">
                <a:xfrm>
                  <a:off x="1968" y="1872"/>
                  <a:ext cx="1200" cy="432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66021" name="Text Box 18"/>
                <p:cNvSpPr txBox="1">
                  <a:spLocks noChangeArrowheads="1"/>
                </p:cNvSpPr>
                <p:nvPr/>
              </p:nvSpPr>
              <p:spPr bwMode="auto">
                <a:xfrm>
                  <a:off x="2256" y="1957"/>
                  <a:ext cx="1296" cy="2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Y </a:t>
                  </a:r>
                  <a:r>
                    <a:rPr lang="zh-CN" altLang="en-US" sz="2000">
                      <a:latin typeface="Times New Roman" panose="02020603050405020304" pitchFamily="18" charset="0"/>
                    </a:rPr>
                    <a:t>控制</a:t>
                  </a:r>
                </a:p>
              </p:txBody>
            </p:sp>
          </p:grpSp>
          <p:grpSp>
            <p:nvGrpSpPr>
              <p:cNvPr id="165965" name="Group 19"/>
              <p:cNvGrpSpPr/>
              <p:nvPr/>
            </p:nvGrpSpPr>
            <p:grpSpPr bwMode="auto">
              <a:xfrm>
                <a:off x="1872" y="2592"/>
                <a:ext cx="1488" cy="576"/>
                <a:chOff x="1968" y="2976"/>
                <a:chExt cx="1488" cy="576"/>
              </a:xfrm>
            </p:grpSpPr>
            <p:sp>
              <p:nvSpPr>
                <p:cNvPr id="166018" name="Rectangle 20"/>
                <p:cNvSpPr>
                  <a:spLocks noChangeArrowheads="1"/>
                </p:cNvSpPr>
                <p:nvPr/>
              </p:nvSpPr>
              <p:spPr bwMode="auto">
                <a:xfrm>
                  <a:off x="1968" y="2976"/>
                  <a:ext cx="1200" cy="576"/>
                </a:xfrm>
                <a:prstGeom prst="rect">
                  <a:avLst/>
                </a:prstGeom>
                <a:noFill/>
                <a:ln w="38100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66019" name="Text Box 21"/>
                <p:cNvSpPr txBox="1">
                  <a:spLocks noChangeArrowheads="1"/>
                </p:cNvSpPr>
                <p:nvPr/>
              </p:nvSpPr>
              <p:spPr bwMode="auto">
                <a:xfrm>
                  <a:off x="2160" y="2996"/>
                  <a:ext cx="1296" cy="5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80000"/>
                    </a:lnSpc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128 </a:t>
                  </a:r>
                  <a:r>
                    <a:rPr lang="en-US" altLang="zh-CN" sz="2600"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×</a:t>
                  </a:r>
                  <a:r>
                    <a:rPr lang="zh-CN" altLang="en-US" sz="2000">
                      <a:latin typeface="Times New Roman" panose="02020603050405020304" pitchFamily="18" charset="0"/>
                    </a:rPr>
                    <a:t> 128</a:t>
                  </a:r>
                </a:p>
                <a:p>
                  <a:pPr eaLnBrk="1" hangingPunct="1">
                    <a:lnSpc>
                      <a:spcPct val="80000"/>
                    </a:lnSpc>
                    <a:spcBef>
                      <a:spcPct val="5000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存储矩阵</a:t>
                  </a:r>
                </a:p>
              </p:txBody>
            </p:sp>
          </p:grpSp>
          <p:sp>
            <p:nvSpPr>
              <p:cNvPr id="165966" name="Line 22"/>
              <p:cNvSpPr>
                <a:spLocks noChangeShapeType="1"/>
              </p:cNvSpPr>
              <p:nvPr/>
            </p:nvSpPr>
            <p:spPr bwMode="auto">
              <a:xfrm flipH="1">
                <a:off x="720" y="1248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67" name="Line 23"/>
              <p:cNvSpPr>
                <a:spLocks noChangeShapeType="1"/>
              </p:cNvSpPr>
              <p:nvPr/>
            </p:nvSpPr>
            <p:spPr bwMode="auto">
              <a:xfrm flipH="1">
                <a:off x="720" y="1488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68" name="Line 24"/>
              <p:cNvSpPr>
                <a:spLocks noChangeShapeType="1"/>
              </p:cNvSpPr>
              <p:nvPr/>
            </p:nvSpPr>
            <p:spPr bwMode="auto">
              <a:xfrm flipH="1">
                <a:off x="850" y="182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69" name="Line 25"/>
              <p:cNvSpPr>
                <a:spLocks noChangeShapeType="1"/>
              </p:cNvSpPr>
              <p:nvPr/>
            </p:nvSpPr>
            <p:spPr bwMode="auto">
              <a:xfrm flipH="1">
                <a:off x="850" y="2208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70" name="Line 26"/>
              <p:cNvSpPr>
                <a:spLocks noChangeShapeType="1"/>
              </p:cNvSpPr>
              <p:nvPr/>
            </p:nvSpPr>
            <p:spPr bwMode="auto">
              <a:xfrm flipH="1">
                <a:off x="850" y="195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71" name="Line 27"/>
              <p:cNvSpPr>
                <a:spLocks noChangeShapeType="1"/>
              </p:cNvSpPr>
              <p:nvPr/>
            </p:nvSpPr>
            <p:spPr bwMode="auto">
              <a:xfrm flipH="1">
                <a:off x="850" y="208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72" name="Line 28"/>
              <p:cNvSpPr>
                <a:spLocks noChangeShapeType="1"/>
              </p:cNvSpPr>
              <p:nvPr/>
            </p:nvSpPr>
            <p:spPr bwMode="auto">
              <a:xfrm flipH="1">
                <a:off x="850" y="263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73" name="Line 29"/>
              <p:cNvSpPr>
                <a:spLocks noChangeShapeType="1"/>
              </p:cNvSpPr>
              <p:nvPr/>
            </p:nvSpPr>
            <p:spPr bwMode="auto">
              <a:xfrm flipH="1">
                <a:off x="850" y="331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74" name="Line 30"/>
              <p:cNvSpPr>
                <a:spLocks noChangeShapeType="1"/>
              </p:cNvSpPr>
              <p:nvPr/>
            </p:nvSpPr>
            <p:spPr bwMode="auto">
              <a:xfrm flipH="1">
                <a:off x="850" y="3176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75" name="Line 31"/>
              <p:cNvSpPr>
                <a:spLocks noChangeShapeType="1"/>
              </p:cNvSpPr>
              <p:nvPr/>
            </p:nvSpPr>
            <p:spPr bwMode="auto">
              <a:xfrm flipH="1">
                <a:off x="850" y="304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76" name="Line 32"/>
              <p:cNvSpPr>
                <a:spLocks noChangeShapeType="1"/>
              </p:cNvSpPr>
              <p:nvPr/>
            </p:nvSpPr>
            <p:spPr bwMode="auto">
              <a:xfrm flipH="1">
                <a:off x="850" y="290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77" name="Line 33"/>
              <p:cNvSpPr>
                <a:spLocks noChangeShapeType="1"/>
              </p:cNvSpPr>
              <p:nvPr/>
            </p:nvSpPr>
            <p:spPr bwMode="auto">
              <a:xfrm flipH="1">
                <a:off x="850" y="2768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78" name="Line 34"/>
              <p:cNvSpPr>
                <a:spLocks noChangeShapeType="1"/>
              </p:cNvSpPr>
              <p:nvPr/>
            </p:nvSpPr>
            <p:spPr bwMode="auto">
              <a:xfrm>
                <a:off x="1555" y="2688"/>
                <a:ext cx="31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79" name="Line 35"/>
              <p:cNvSpPr>
                <a:spLocks noChangeShapeType="1"/>
              </p:cNvSpPr>
              <p:nvPr/>
            </p:nvSpPr>
            <p:spPr bwMode="auto">
              <a:xfrm>
                <a:off x="1555" y="2784"/>
                <a:ext cx="31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80" name="Line 36"/>
              <p:cNvSpPr>
                <a:spLocks noChangeShapeType="1"/>
              </p:cNvSpPr>
              <p:nvPr/>
            </p:nvSpPr>
            <p:spPr bwMode="auto">
              <a:xfrm>
                <a:off x="1555" y="3072"/>
                <a:ext cx="31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81" name="Line 37"/>
              <p:cNvSpPr>
                <a:spLocks noChangeShapeType="1"/>
              </p:cNvSpPr>
              <p:nvPr/>
            </p:nvSpPr>
            <p:spPr bwMode="auto">
              <a:xfrm>
                <a:off x="1555" y="2208"/>
                <a:ext cx="31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82" name="Line 38"/>
              <p:cNvSpPr>
                <a:spLocks noChangeShapeType="1"/>
              </p:cNvSpPr>
              <p:nvPr/>
            </p:nvSpPr>
            <p:spPr bwMode="auto">
              <a:xfrm>
                <a:off x="1555" y="1872"/>
                <a:ext cx="31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83" name="Line 39"/>
              <p:cNvSpPr>
                <a:spLocks noChangeShapeType="1"/>
              </p:cNvSpPr>
              <p:nvPr/>
            </p:nvSpPr>
            <p:spPr bwMode="auto">
              <a:xfrm>
                <a:off x="1555" y="1968"/>
                <a:ext cx="31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84" name="Line 40"/>
              <p:cNvSpPr>
                <a:spLocks noChangeShapeType="1"/>
              </p:cNvSpPr>
              <p:nvPr/>
            </p:nvSpPr>
            <p:spPr bwMode="auto">
              <a:xfrm>
                <a:off x="1680" y="136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85" name="Line 41"/>
              <p:cNvSpPr>
                <a:spLocks noChangeShapeType="1"/>
              </p:cNvSpPr>
              <p:nvPr/>
            </p:nvSpPr>
            <p:spPr bwMode="auto">
              <a:xfrm rot="5400000" flipH="1">
                <a:off x="1872" y="113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86" name="Line 42"/>
              <p:cNvSpPr>
                <a:spLocks noChangeShapeType="1"/>
              </p:cNvSpPr>
              <p:nvPr/>
            </p:nvSpPr>
            <p:spPr bwMode="auto">
              <a:xfrm rot="5400000" flipH="1">
                <a:off x="2880" y="113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87" name="Line 43"/>
              <p:cNvSpPr>
                <a:spLocks noChangeShapeType="1"/>
              </p:cNvSpPr>
              <p:nvPr/>
            </p:nvSpPr>
            <p:spPr bwMode="auto">
              <a:xfrm rot="5400000" flipH="1">
                <a:off x="2016" y="113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88" name="Line 44"/>
              <p:cNvSpPr>
                <a:spLocks noChangeShapeType="1"/>
              </p:cNvSpPr>
              <p:nvPr/>
            </p:nvSpPr>
            <p:spPr bwMode="auto">
              <a:xfrm rot="5400000" flipH="1">
                <a:off x="2160" y="113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89" name="Line 45"/>
              <p:cNvSpPr>
                <a:spLocks noChangeShapeType="1"/>
              </p:cNvSpPr>
              <p:nvPr/>
            </p:nvSpPr>
            <p:spPr bwMode="auto">
              <a:xfrm rot="5400000" flipH="1">
                <a:off x="2304" y="113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90" name="Line 46"/>
              <p:cNvSpPr>
                <a:spLocks noChangeShapeType="1"/>
              </p:cNvSpPr>
              <p:nvPr/>
            </p:nvSpPr>
            <p:spPr bwMode="auto">
              <a:xfrm rot="5400000" flipH="1">
                <a:off x="2448" y="113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91" name="Line 47"/>
              <p:cNvSpPr>
                <a:spLocks noChangeShapeType="1"/>
              </p:cNvSpPr>
              <p:nvPr/>
            </p:nvSpPr>
            <p:spPr bwMode="auto">
              <a:xfrm rot="5400000" flipH="1">
                <a:off x="2592" y="113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92" name="Line 48"/>
              <p:cNvSpPr>
                <a:spLocks noChangeShapeType="1"/>
              </p:cNvSpPr>
              <p:nvPr/>
            </p:nvSpPr>
            <p:spPr bwMode="auto">
              <a:xfrm rot="5400000" flipH="1">
                <a:off x="2736" y="113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93" name="Line 49"/>
              <p:cNvSpPr>
                <a:spLocks noChangeShapeType="1"/>
              </p:cNvSpPr>
              <p:nvPr/>
            </p:nvSpPr>
            <p:spPr bwMode="auto">
              <a:xfrm>
                <a:off x="1968" y="1516"/>
                <a:ext cx="0" cy="30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94" name="Line 50"/>
              <p:cNvSpPr>
                <a:spLocks noChangeShapeType="1"/>
              </p:cNvSpPr>
              <p:nvPr/>
            </p:nvSpPr>
            <p:spPr bwMode="auto">
              <a:xfrm>
                <a:off x="2112" y="1516"/>
                <a:ext cx="0" cy="30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95" name="Line 51"/>
              <p:cNvSpPr>
                <a:spLocks noChangeShapeType="1"/>
              </p:cNvSpPr>
              <p:nvPr/>
            </p:nvSpPr>
            <p:spPr bwMode="auto">
              <a:xfrm>
                <a:off x="2976" y="1516"/>
                <a:ext cx="0" cy="30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96" name="Line 52"/>
              <p:cNvSpPr>
                <a:spLocks noChangeShapeType="1"/>
              </p:cNvSpPr>
              <p:nvPr/>
            </p:nvSpPr>
            <p:spPr bwMode="auto">
              <a:xfrm>
                <a:off x="1968" y="2267"/>
                <a:ext cx="0" cy="31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97" name="Line 53"/>
              <p:cNvSpPr>
                <a:spLocks noChangeShapeType="1"/>
              </p:cNvSpPr>
              <p:nvPr/>
            </p:nvSpPr>
            <p:spPr bwMode="auto">
              <a:xfrm>
                <a:off x="2112" y="2267"/>
                <a:ext cx="0" cy="31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98" name="Line 54"/>
              <p:cNvSpPr>
                <a:spLocks noChangeShapeType="1"/>
              </p:cNvSpPr>
              <p:nvPr/>
            </p:nvSpPr>
            <p:spPr bwMode="auto">
              <a:xfrm>
                <a:off x="2976" y="2267"/>
                <a:ext cx="0" cy="31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99" name="Text Box 55"/>
              <p:cNvSpPr txBox="1">
                <a:spLocks noChangeArrowheads="1"/>
              </p:cNvSpPr>
              <p:nvPr/>
            </p:nvSpPr>
            <p:spPr bwMode="auto">
              <a:xfrm>
                <a:off x="2322" y="1449"/>
                <a:ext cx="76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66000" name="Text Box 56"/>
              <p:cNvSpPr txBox="1">
                <a:spLocks noChangeArrowheads="1"/>
              </p:cNvSpPr>
              <p:nvPr/>
            </p:nvSpPr>
            <p:spPr bwMode="auto">
              <a:xfrm>
                <a:off x="2322" y="2208"/>
                <a:ext cx="76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grpSp>
            <p:nvGrpSpPr>
              <p:cNvPr id="166001" name="Group 57"/>
              <p:cNvGrpSpPr/>
              <p:nvPr/>
            </p:nvGrpSpPr>
            <p:grpSpPr bwMode="auto">
              <a:xfrm>
                <a:off x="0" y="1094"/>
                <a:ext cx="960" cy="250"/>
                <a:chOff x="96" y="998"/>
                <a:chExt cx="960" cy="250"/>
              </a:xfrm>
            </p:grpSpPr>
            <p:sp>
              <p:nvSpPr>
                <p:cNvPr id="166016" name="Text Box 58"/>
                <p:cNvSpPr txBox="1">
                  <a:spLocks noChangeArrowheads="1"/>
                </p:cNvSpPr>
                <p:nvPr/>
              </p:nvSpPr>
              <p:spPr bwMode="auto">
                <a:xfrm>
                  <a:off x="96" y="998"/>
                  <a:ext cx="960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PD/Progr</a:t>
                  </a:r>
                </a:p>
              </p:txBody>
            </p:sp>
            <p:sp>
              <p:nvSpPr>
                <p:cNvPr id="166017" name="Line 59"/>
                <p:cNvSpPr>
                  <a:spLocks noChangeShapeType="1"/>
                </p:cNvSpPr>
                <p:nvPr/>
              </p:nvSpPr>
              <p:spPr bwMode="auto">
                <a:xfrm>
                  <a:off x="144" y="1031"/>
                  <a:ext cx="240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66002" name="Group 60"/>
              <p:cNvGrpSpPr/>
              <p:nvPr/>
            </p:nvGrpSpPr>
            <p:grpSpPr bwMode="auto">
              <a:xfrm>
                <a:off x="432" y="1382"/>
                <a:ext cx="480" cy="250"/>
                <a:chOff x="432" y="1382"/>
                <a:chExt cx="480" cy="250"/>
              </a:xfrm>
            </p:grpSpPr>
            <p:sp>
              <p:nvSpPr>
                <p:cNvPr id="166014" name="Text Box 61"/>
                <p:cNvSpPr txBox="1">
                  <a:spLocks noChangeArrowheads="1"/>
                </p:cNvSpPr>
                <p:nvPr/>
              </p:nvSpPr>
              <p:spPr bwMode="auto">
                <a:xfrm>
                  <a:off x="432" y="1382"/>
                  <a:ext cx="480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CS</a:t>
                  </a:r>
                </a:p>
              </p:txBody>
            </p:sp>
            <p:sp>
              <p:nvSpPr>
                <p:cNvPr id="166015" name="Line 62"/>
                <p:cNvSpPr>
                  <a:spLocks noChangeShapeType="1"/>
                </p:cNvSpPr>
                <p:nvPr/>
              </p:nvSpPr>
              <p:spPr bwMode="auto">
                <a:xfrm>
                  <a:off x="498" y="1419"/>
                  <a:ext cx="20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66003" name="Text Box 63"/>
              <p:cNvSpPr txBox="1">
                <a:spLocks noChangeArrowheads="1"/>
              </p:cNvSpPr>
              <p:nvPr/>
            </p:nvSpPr>
            <p:spPr bwMode="auto">
              <a:xfrm>
                <a:off x="576" y="1584"/>
                <a:ext cx="816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10</a:t>
                </a:r>
              </a:p>
              <a:p>
                <a:pPr eaLnBrk="1" hangingPunct="1">
                  <a:spcBef>
                    <a:spcPct val="50000"/>
                  </a:spcBef>
                </a:pP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004" name="Text Box 64"/>
              <p:cNvSpPr txBox="1">
                <a:spLocks noChangeArrowheads="1"/>
              </p:cNvSpPr>
              <p:nvPr/>
            </p:nvSpPr>
            <p:spPr bwMode="auto">
              <a:xfrm>
                <a:off x="576" y="2064"/>
                <a:ext cx="816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</a:p>
              <a:p>
                <a:pPr eaLnBrk="1" hangingPunct="1">
                  <a:spcBef>
                    <a:spcPct val="50000"/>
                  </a:spcBef>
                </a:pP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005" name="Text Box 65"/>
              <p:cNvSpPr txBox="1">
                <a:spLocks noChangeArrowheads="1"/>
              </p:cNvSpPr>
              <p:nvPr/>
            </p:nvSpPr>
            <p:spPr bwMode="auto">
              <a:xfrm>
                <a:off x="623" y="1872"/>
                <a:ext cx="385" cy="4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66006" name="Text Box 66"/>
              <p:cNvSpPr txBox="1">
                <a:spLocks noChangeArrowheads="1"/>
              </p:cNvSpPr>
              <p:nvPr/>
            </p:nvSpPr>
            <p:spPr bwMode="auto">
              <a:xfrm>
                <a:off x="576" y="2304"/>
                <a:ext cx="816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6</a:t>
                </a:r>
              </a:p>
              <a:p>
                <a:pPr eaLnBrk="1" hangingPunct="1">
                  <a:spcBef>
                    <a:spcPct val="50000"/>
                  </a:spcBef>
                </a:pP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007" name="Text Box 67"/>
              <p:cNvSpPr txBox="1">
                <a:spLocks noChangeArrowheads="1"/>
              </p:cNvSpPr>
              <p:nvPr/>
            </p:nvSpPr>
            <p:spPr bwMode="auto">
              <a:xfrm>
                <a:off x="576" y="3162"/>
                <a:ext cx="816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0</a:t>
                </a:r>
              </a:p>
              <a:p>
                <a:pPr eaLnBrk="1" hangingPunct="1">
                  <a:spcBef>
                    <a:spcPct val="50000"/>
                  </a:spcBef>
                </a:pP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008" name="Line 68"/>
              <p:cNvSpPr>
                <a:spLocks noChangeShapeType="1"/>
              </p:cNvSpPr>
              <p:nvPr/>
            </p:nvSpPr>
            <p:spPr bwMode="auto">
              <a:xfrm flipH="1">
                <a:off x="850" y="2496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6009" name="Text Box 69"/>
              <p:cNvSpPr txBox="1">
                <a:spLocks noChangeArrowheads="1"/>
              </p:cNvSpPr>
              <p:nvPr/>
            </p:nvSpPr>
            <p:spPr bwMode="auto">
              <a:xfrm>
                <a:off x="1584" y="1959"/>
                <a:ext cx="385" cy="3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>
                    <a:latin typeface="Times New Roman" panose="02020603050405020304" pitchFamily="18" charset="0"/>
                  </a:rPr>
                  <a:t>…</a:t>
                </a:r>
                <a:endParaRPr lang="zh-CN" altLang="en-US" sz="2800"/>
              </a:p>
            </p:txBody>
          </p:sp>
          <p:sp>
            <p:nvSpPr>
              <p:cNvPr id="166010" name="Text Box 70"/>
              <p:cNvSpPr txBox="1">
                <a:spLocks noChangeArrowheads="1"/>
              </p:cNvSpPr>
              <p:nvPr/>
            </p:nvSpPr>
            <p:spPr bwMode="auto">
              <a:xfrm>
                <a:off x="623" y="2784"/>
                <a:ext cx="385" cy="62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66011" name="Text Box 71"/>
              <p:cNvSpPr txBox="1">
                <a:spLocks noChangeArrowheads="1"/>
              </p:cNvSpPr>
              <p:nvPr/>
            </p:nvSpPr>
            <p:spPr bwMode="auto">
              <a:xfrm>
                <a:off x="1728" y="768"/>
                <a:ext cx="76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DO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66012" name="Text Box 72"/>
              <p:cNvSpPr txBox="1">
                <a:spLocks noChangeArrowheads="1"/>
              </p:cNvSpPr>
              <p:nvPr/>
            </p:nvSpPr>
            <p:spPr bwMode="auto">
              <a:xfrm>
                <a:off x="2322" y="681"/>
                <a:ext cx="720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66013" name="Text Box 73"/>
              <p:cNvSpPr txBox="1">
                <a:spLocks noChangeArrowheads="1"/>
              </p:cNvSpPr>
              <p:nvPr/>
            </p:nvSpPr>
            <p:spPr bwMode="auto">
              <a:xfrm>
                <a:off x="2784" y="768"/>
                <a:ext cx="76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DO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</a:p>
            </p:txBody>
          </p:sp>
        </p:grpSp>
        <p:grpSp>
          <p:nvGrpSpPr>
            <p:cNvPr id="165903" name="Group 140"/>
            <p:cNvGrpSpPr/>
            <p:nvPr/>
          </p:nvGrpSpPr>
          <p:grpSpPr bwMode="auto">
            <a:xfrm>
              <a:off x="3504" y="954"/>
              <a:ext cx="2496" cy="2604"/>
              <a:chOff x="3504" y="954"/>
              <a:chExt cx="2496" cy="2604"/>
            </a:xfrm>
          </p:grpSpPr>
          <p:sp>
            <p:nvSpPr>
              <p:cNvPr id="165904" name="Rectangle 75"/>
              <p:cNvSpPr>
                <a:spLocks noChangeArrowheads="1"/>
              </p:cNvSpPr>
              <p:nvPr/>
            </p:nvSpPr>
            <p:spPr bwMode="auto">
              <a:xfrm>
                <a:off x="4032" y="960"/>
                <a:ext cx="816" cy="244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65905" name="Line 76"/>
              <p:cNvSpPr>
                <a:spLocks noChangeShapeType="1"/>
              </p:cNvSpPr>
              <p:nvPr/>
            </p:nvSpPr>
            <p:spPr bwMode="auto">
              <a:xfrm flipH="1">
                <a:off x="3840" y="110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06" name="Line 77"/>
              <p:cNvSpPr>
                <a:spLocks noChangeShapeType="1"/>
              </p:cNvSpPr>
              <p:nvPr/>
            </p:nvSpPr>
            <p:spPr bwMode="auto">
              <a:xfrm flipH="1">
                <a:off x="3840" y="130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07" name="Line 78"/>
              <p:cNvSpPr>
                <a:spLocks noChangeShapeType="1"/>
              </p:cNvSpPr>
              <p:nvPr/>
            </p:nvSpPr>
            <p:spPr bwMode="auto">
              <a:xfrm flipH="1">
                <a:off x="3840" y="1496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08" name="Line 79"/>
              <p:cNvSpPr>
                <a:spLocks noChangeShapeType="1"/>
              </p:cNvSpPr>
              <p:nvPr/>
            </p:nvSpPr>
            <p:spPr bwMode="auto">
              <a:xfrm flipH="1">
                <a:off x="3840" y="169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09" name="Line 80"/>
              <p:cNvSpPr>
                <a:spLocks noChangeShapeType="1"/>
              </p:cNvSpPr>
              <p:nvPr/>
            </p:nvSpPr>
            <p:spPr bwMode="auto">
              <a:xfrm flipH="1">
                <a:off x="3840" y="326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10" name="Line 81"/>
              <p:cNvSpPr>
                <a:spLocks noChangeShapeType="1"/>
              </p:cNvSpPr>
              <p:nvPr/>
            </p:nvSpPr>
            <p:spPr bwMode="auto">
              <a:xfrm flipH="1">
                <a:off x="3840" y="1889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11" name="Line 82"/>
              <p:cNvSpPr>
                <a:spLocks noChangeShapeType="1"/>
              </p:cNvSpPr>
              <p:nvPr/>
            </p:nvSpPr>
            <p:spPr bwMode="auto">
              <a:xfrm flipH="1">
                <a:off x="3840" y="2085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12" name="Line 83"/>
              <p:cNvSpPr>
                <a:spLocks noChangeShapeType="1"/>
              </p:cNvSpPr>
              <p:nvPr/>
            </p:nvSpPr>
            <p:spPr bwMode="auto">
              <a:xfrm flipH="1">
                <a:off x="3840" y="228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13" name="Line 84"/>
              <p:cNvSpPr>
                <a:spLocks noChangeShapeType="1"/>
              </p:cNvSpPr>
              <p:nvPr/>
            </p:nvSpPr>
            <p:spPr bwMode="auto">
              <a:xfrm flipH="1">
                <a:off x="3840" y="3067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14" name="Line 85"/>
              <p:cNvSpPr>
                <a:spLocks noChangeShapeType="1"/>
              </p:cNvSpPr>
              <p:nvPr/>
            </p:nvSpPr>
            <p:spPr bwMode="auto">
              <a:xfrm flipH="1">
                <a:off x="3840" y="2478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15" name="Line 86"/>
              <p:cNvSpPr>
                <a:spLocks noChangeShapeType="1"/>
              </p:cNvSpPr>
              <p:nvPr/>
            </p:nvSpPr>
            <p:spPr bwMode="auto">
              <a:xfrm flipH="1">
                <a:off x="3840" y="267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16" name="Line 87"/>
              <p:cNvSpPr>
                <a:spLocks noChangeShapeType="1"/>
              </p:cNvSpPr>
              <p:nvPr/>
            </p:nvSpPr>
            <p:spPr bwMode="auto">
              <a:xfrm flipH="1">
                <a:off x="3840" y="287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17" name="Text Box 88"/>
              <p:cNvSpPr txBox="1">
                <a:spLocks noChangeArrowheads="1"/>
              </p:cNvSpPr>
              <p:nvPr/>
            </p:nvSpPr>
            <p:spPr bwMode="auto">
              <a:xfrm>
                <a:off x="4032" y="970"/>
                <a:ext cx="24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65918" name="Text Box 89"/>
              <p:cNvSpPr txBox="1">
                <a:spLocks noChangeArrowheads="1"/>
              </p:cNvSpPr>
              <p:nvPr/>
            </p:nvSpPr>
            <p:spPr bwMode="auto">
              <a:xfrm>
                <a:off x="4032" y="3120"/>
                <a:ext cx="48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12</a:t>
                </a:r>
              </a:p>
            </p:txBody>
          </p:sp>
          <p:sp>
            <p:nvSpPr>
              <p:cNvPr id="165919" name="Text Box 90"/>
              <p:cNvSpPr txBox="1">
                <a:spLocks noChangeArrowheads="1"/>
              </p:cNvSpPr>
              <p:nvPr/>
            </p:nvSpPr>
            <p:spPr bwMode="auto">
              <a:xfrm>
                <a:off x="4032" y="1524"/>
                <a:ext cx="385" cy="8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65920" name="Text Box 91"/>
              <p:cNvSpPr txBox="1">
                <a:spLocks noChangeArrowheads="1"/>
              </p:cNvSpPr>
              <p:nvPr/>
            </p:nvSpPr>
            <p:spPr bwMode="auto">
              <a:xfrm>
                <a:off x="3600" y="960"/>
                <a:ext cx="816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</a:p>
              <a:p>
                <a:pPr eaLnBrk="1" hangingPunct="1">
                  <a:spcBef>
                    <a:spcPct val="50000"/>
                  </a:spcBef>
                </a:pP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921" name="Text Box 92"/>
              <p:cNvSpPr txBox="1">
                <a:spLocks noChangeArrowheads="1"/>
              </p:cNvSpPr>
              <p:nvPr/>
            </p:nvSpPr>
            <p:spPr bwMode="auto">
              <a:xfrm>
                <a:off x="3600" y="2106"/>
                <a:ext cx="816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1</a:t>
                </a:r>
              </a:p>
              <a:p>
                <a:pPr eaLnBrk="1" hangingPunct="1">
                  <a:spcBef>
                    <a:spcPct val="50000"/>
                  </a:spcBef>
                </a:pP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922" name="Text Box 93"/>
              <p:cNvSpPr txBox="1">
                <a:spLocks noChangeArrowheads="1"/>
              </p:cNvSpPr>
              <p:nvPr/>
            </p:nvSpPr>
            <p:spPr bwMode="auto">
              <a:xfrm>
                <a:off x="3600" y="2298"/>
                <a:ext cx="816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0</a:t>
                </a:r>
              </a:p>
              <a:p>
                <a:pPr eaLnBrk="1" hangingPunct="1">
                  <a:spcBef>
                    <a:spcPct val="50000"/>
                  </a:spcBef>
                </a:pP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923" name="Text Box 94"/>
              <p:cNvSpPr txBox="1">
                <a:spLocks noChangeArrowheads="1"/>
              </p:cNvSpPr>
              <p:nvPr/>
            </p:nvSpPr>
            <p:spPr bwMode="auto">
              <a:xfrm>
                <a:off x="3504" y="3120"/>
                <a:ext cx="816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 i="1">
                    <a:latin typeface="Times New Roman" panose="02020603050405020304" pitchFamily="18" charset="0"/>
                  </a:rPr>
                  <a:t>V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SS</a:t>
                </a:r>
              </a:p>
              <a:p>
                <a:pPr eaLnBrk="1" hangingPunct="1">
                  <a:spcBef>
                    <a:spcPct val="50000"/>
                  </a:spcBef>
                </a:pP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924" name="Text Box 95"/>
              <p:cNvSpPr txBox="1">
                <a:spLocks noChangeArrowheads="1"/>
              </p:cNvSpPr>
              <p:nvPr/>
            </p:nvSpPr>
            <p:spPr bwMode="auto">
              <a:xfrm>
                <a:off x="3504" y="2928"/>
                <a:ext cx="76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DO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2</a:t>
                </a:r>
              </a:p>
            </p:txBody>
          </p:sp>
          <p:sp>
            <p:nvSpPr>
              <p:cNvPr id="165925" name="Text Box 96"/>
              <p:cNvSpPr txBox="1">
                <a:spLocks noChangeArrowheads="1"/>
              </p:cNvSpPr>
              <p:nvPr/>
            </p:nvSpPr>
            <p:spPr bwMode="auto">
              <a:xfrm>
                <a:off x="3504" y="2534"/>
                <a:ext cx="76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DO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65926" name="Text Box 97"/>
              <p:cNvSpPr txBox="1">
                <a:spLocks noChangeArrowheads="1"/>
              </p:cNvSpPr>
              <p:nvPr/>
            </p:nvSpPr>
            <p:spPr bwMode="auto">
              <a:xfrm>
                <a:off x="3504" y="2726"/>
                <a:ext cx="76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DO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65927" name="Text Box 98"/>
              <p:cNvSpPr txBox="1">
                <a:spLocks noChangeArrowheads="1"/>
              </p:cNvSpPr>
              <p:nvPr/>
            </p:nvSpPr>
            <p:spPr bwMode="auto">
              <a:xfrm>
                <a:off x="3600" y="1524"/>
                <a:ext cx="385" cy="11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65928" name="Text Box 99"/>
              <p:cNvSpPr txBox="1">
                <a:spLocks noChangeArrowheads="1"/>
              </p:cNvSpPr>
              <p:nvPr/>
            </p:nvSpPr>
            <p:spPr bwMode="auto">
              <a:xfrm>
                <a:off x="4224" y="1958"/>
                <a:ext cx="672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2716</a:t>
                </a:r>
              </a:p>
            </p:txBody>
          </p:sp>
          <p:sp>
            <p:nvSpPr>
              <p:cNvPr id="165929" name="Text Box 100"/>
              <p:cNvSpPr txBox="1">
                <a:spLocks noChangeArrowheads="1"/>
              </p:cNvSpPr>
              <p:nvPr/>
            </p:nvSpPr>
            <p:spPr bwMode="auto">
              <a:xfrm>
                <a:off x="4560" y="970"/>
                <a:ext cx="33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24</a:t>
                </a:r>
              </a:p>
            </p:txBody>
          </p:sp>
          <p:sp>
            <p:nvSpPr>
              <p:cNvPr id="165930" name="Text Box 101"/>
              <p:cNvSpPr txBox="1">
                <a:spLocks noChangeArrowheads="1"/>
              </p:cNvSpPr>
              <p:nvPr/>
            </p:nvSpPr>
            <p:spPr bwMode="auto">
              <a:xfrm>
                <a:off x="4560" y="3120"/>
                <a:ext cx="48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13</a:t>
                </a:r>
              </a:p>
            </p:txBody>
          </p:sp>
          <p:sp>
            <p:nvSpPr>
              <p:cNvPr id="165931" name="Text Box 102"/>
              <p:cNvSpPr txBox="1">
                <a:spLocks noChangeArrowheads="1"/>
              </p:cNvSpPr>
              <p:nvPr/>
            </p:nvSpPr>
            <p:spPr bwMode="auto">
              <a:xfrm>
                <a:off x="4607" y="1524"/>
                <a:ext cx="385" cy="6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65932" name="Line 103"/>
              <p:cNvSpPr>
                <a:spLocks noChangeShapeType="1"/>
              </p:cNvSpPr>
              <p:nvPr/>
            </p:nvSpPr>
            <p:spPr bwMode="auto">
              <a:xfrm flipH="1">
                <a:off x="4848" y="110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33" name="Line 104"/>
              <p:cNvSpPr>
                <a:spLocks noChangeShapeType="1"/>
              </p:cNvSpPr>
              <p:nvPr/>
            </p:nvSpPr>
            <p:spPr bwMode="auto">
              <a:xfrm flipH="1">
                <a:off x="4848" y="1300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34" name="Line 105"/>
              <p:cNvSpPr>
                <a:spLocks noChangeShapeType="1"/>
              </p:cNvSpPr>
              <p:nvPr/>
            </p:nvSpPr>
            <p:spPr bwMode="auto">
              <a:xfrm flipH="1">
                <a:off x="4848" y="1496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35" name="Line 106"/>
              <p:cNvSpPr>
                <a:spLocks noChangeShapeType="1"/>
              </p:cNvSpPr>
              <p:nvPr/>
            </p:nvSpPr>
            <p:spPr bwMode="auto">
              <a:xfrm flipH="1">
                <a:off x="4848" y="1693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36" name="Line 107"/>
              <p:cNvSpPr>
                <a:spLocks noChangeShapeType="1"/>
              </p:cNvSpPr>
              <p:nvPr/>
            </p:nvSpPr>
            <p:spPr bwMode="auto">
              <a:xfrm flipH="1">
                <a:off x="4848" y="326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37" name="Line 108"/>
              <p:cNvSpPr>
                <a:spLocks noChangeShapeType="1"/>
              </p:cNvSpPr>
              <p:nvPr/>
            </p:nvSpPr>
            <p:spPr bwMode="auto">
              <a:xfrm flipH="1">
                <a:off x="4848" y="1889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38" name="Line 109"/>
              <p:cNvSpPr>
                <a:spLocks noChangeShapeType="1"/>
              </p:cNvSpPr>
              <p:nvPr/>
            </p:nvSpPr>
            <p:spPr bwMode="auto">
              <a:xfrm flipH="1">
                <a:off x="4848" y="2085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39" name="Line 110"/>
              <p:cNvSpPr>
                <a:spLocks noChangeShapeType="1"/>
              </p:cNvSpPr>
              <p:nvPr/>
            </p:nvSpPr>
            <p:spPr bwMode="auto">
              <a:xfrm flipH="1">
                <a:off x="4848" y="2282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40" name="Line 111"/>
              <p:cNvSpPr>
                <a:spLocks noChangeShapeType="1"/>
              </p:cNvSpPr>
              <p:nvPr/>
            </p:nvSpPr>
            <p:spPr bwMode="auto">
              <a:xfrm flipH="1">
                <a:off x="4848" y="3067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41" name="Line 112"/>
              <p:cNvSpPr>
                <a:spLocks noChangeShapeType="1"/>
              </p:cNvSpPr>
              <p:nvPr/>
            </p:nvSpPr>
            <p:spPr bwMode="auto">
              <a:xfrm flipH="1">
                <a:off x="4848" y="2478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42" name="Line 113"/>
              <p:cNvSpPr>
                <a:spLocks noChangeShapeType="1"/>
              </p:cNvSpPr>
              <p:nvPr/>
            </p:nvSpPr>
            <p:spPr bwMode="auto">
              <a:xfrm flipH="1">
                <a:off x="4848" y="2674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43" name="Line 114"/>
              <p:cNvSpPr>
                <a:spLocks noChangeShapeType="1"/>
              </p:cNvSpPr>
              <p:nvPr/>
            </p:nvSpPr>
            <p:spPr bwMode="auto">
              <a:xfrm flipH="1">
                <a:off x="4848" y="2871"/>
                <a:ext cx="1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65944" name="Text Box 115"/>
              <p:cNvSpPr txBox="1">
                <a:spLocks noChangeArrowheads="1"/>
              </p:cNvSpPr>
              <p:nvPr/>
            </p:nvSpPr>
            <p:spPr bwMode="auto">
              <a:xfrm>
                <a:off x="4992" y="954"/>
                <a:ext cx="816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 i="1">
                    <a:latin typeface="Times New Roman" panose="02020603050405020304" pitchFamily="18" charset="0"/>
                  </a:rPr>
                  <a:t>V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CC</a:t>
                </a:r>
              </a:p>
              <a:p>
                <a:pPr eaLnBrk="1" hangingPunct="1">
                  <a:spcBef>
                    <a:spcPct val="50000"/>
                  </a:spcBef>
                </a:pP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945" name="Text Box 116"/>
              <p:cNvSpPr txBox="1">
                <a:spLocks noChangeArrowheads="1"/>
              </p:cNvSpPr>
              <p:nvPr/>
            </p:nvSpPr>
            <p:spPr bwMode="auto">
              <a:xfrm>
                <a:off x="5040" y="1152"/>
                <a:ext cx="816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8</a:t>
                </a:r>
              </a:p>
              <a:p>
                <a:pPr eaLnBrk="1" hangingPunct="1">
                  <a:spcBef>
                    <a:spcPct val="50000"/>
                  </a:spcBef>
                </a:pP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946" name="Text Box 117"/>
              <p:cNvSpPr txBox="1">
                <a:spLocks noChangeArrowheads="1"/>
              </p:cNvSpPr>
              <p:nvPr/>
            </p:nvSpPr>
            <p:spPr bwMode="auto">
              <a:xfrm>
                <a:off x="5040" y="1344"/>
                <a:ext cx="816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9</a:t>
                </a:r>
              </a:p>
              <a:p>
                <a:pPr eaLnBrk="1" hangingPunct="1">
                  <a:spcBef>
                    <a:spcPct val="50000"/>
                  </a:spcBef>
                </a:pP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947" name="Text Box 118"/>
              <p:cNvSpPr txBox="1">
                <a:spLocks noChangeArrowheads="1"/>
              </p:cNvSpPr>
              <p:nvPr/>
            </p:nvSpPr>
            <p:spPr bwMode="auto">
              <a:xfrm>
                <a:off x="5040" y="1536"/>
                <a:ext cx="816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 i="1">
                    <a:latin typeface="Times New Roman" panose="02020603050405020304" pitchFamily="18" charset="0"/>
                  </a:rPr>
                  <a:t>V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PP</a:t>
                </a:r>
              </a:p>
              <a:p>
                <a:pPr eaLnBrk="1" hangingPunct="1">
                  <a:spcBef>
                    <a:spcPct val="50000"/>
                  </a:spcBef>
                </a:pP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65948" name="Group 119"/>
              <p:cNvGrpSpPr/>
              <p:nvPr/>
            </p:nvGrpSpPr>
            <p:grpSpPr bwMode="auto">
              <a:xfrm>
                <a:off x="5040" y="1776"/>
                <a:ext cx="480" cy="250"/>
                <a:chOff x="5040" y="1776"/>
                <a:chExt cx="480" cy="250"/>
              </a:xfrm>
            </p:grpSpPr>
            <p:sp>
              <p:nvSpPr>
                <p:cNvPr id="165956" name="Text Box 120"/>
                <p:cNvSpPr txBox="1">
                  <a:spLocks noChangeArrowheads="1"/>
                </p:cNvSpPr>
                <p:nvPr/>
              </p:nvSpPr>
              <p:spPr bwMode="auto">
                <a:xfrm>
                  <a:off x="5040" y="1776"/>
                  <a:ext cx="480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CS</a:t>
                  </a:r>
                </a:p>
              </p:txBody>
            </p:sp>
            <p:sp>
              <p:nvSpPr>
                <p:cNvPr id="165957" name="Line 121"/>
                <p:cNvSpPr>
                  <a:spLocks noChangeShapeType="1"/>
                </p:cNvSpPr>
                <p:nvPr/>
              </p:nvSpPr>
              <p:spPr bwMode="auto">
                <a:xfrm>
                  <a:off x="5106" y="1813"/>
                  <a:ext cx="20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65949" name="Text Box 122"/>
              <p:cNvSpPr txBox="1">
                <a:spLocks noChangeArrowheads="1"/>
              </p:cNvSpPr>
              <p:nvPr/>
            </p:nvSpPr>
            <p:spPr bwMode="auto">
              <a:xfrm>
                <a:off x="5040" y="1920"/>
                <a:ext cx="816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10</a:t>
                </a:r>
              </a:p>
              <a:p>
                <a:pPr eaLnBrk="1" hangingPunct="1">
                  <a:spcBef>
                    <a:spcPct val="50000"/>
                  </a:spcBef>
                </a:pPr>
                <a:endParaRPr lang="en-US" altLang="zh-CN" sz="2000" baseline="-25000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65950" name="Group 123"/>
              <p:cNvGrpSpPr/>
              <p:nvPr/>
            </p:nvGrpSpPr>
            <p:grpSpPr bwMode="auto">
              <a:xfrm>
                <a:off x="5040" y="2160"/>
                <a:ext cx="960" cy="250"/>
                <a:chOff x="5040" y="2160"/>
                <a:chExt cx="960" cy="250"/>
              </a:xfrm>
            </p:grpSpPr>
            <p:sp>
              <p:nvSpPr>
                <p:cNvPr id="165954" name="Text Box 124"/>
                <p:cNvSpPr txBox="1">
                  <a:spLocks noChangeArrowheads="1"/>
                </p:cNvSpPr>
                <p:nvPr/>
              </p:nvSpPr>
              <p:spPr bwMode="auto">
                <a:xfrm>
                  <a:off x="5040" y="2160"/>
                  <a:ext cx="960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US" altLang="zh-CN" sz="2000">
                      <a:latin typeface="Times New Roman" panose="02020603050405020304" pitchFamily="18" charset="0"/>
                    </a:rPr>
                    <a:t>PD/Progr</a:t>
                  </a:r>
                </a:p>
              </p:txBody>
            </p:sp>
            <p:sp>
              <p:nvSpPr>
                <p:cNvPr id="165955" name="Line 125"/>
                <p:cNvSpPr>
                  <a:spLocks noChangeShapeType="1"/>
                </p:cNvSpPr>
                <p:nvPr/>
              </p:nvSpPr>
              <p:spPr bwMode="auto">
                <a:xfrm>
                  <a:off x="5088" y="2193"/>
                  <a:ext cx="240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sp>
            <p:nvSpPr>
              <p:cNvPr id="165951" name="Text Box 126"/>
              <p:cNvSpPr txBox="1">
                <a:spLocks noChangeArrowheads="1"/>
              </p:cNvSpPr>
              <p:nvPr/>
            </p:nvSpPr>
            <p:spPr bwMode="auto">
              <a:xfrm>
                <a:off x="5040" y="3158"/>
                <a:ext cx="76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DO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3</a:t>
                </a:r>
              </a:p>
            </p:txBody>
          </p:sp>
          <p:sp>
            <p:nvSpPr>
              <p:cNvPr id="165952" name="Text Box 127"/>
              <p:cNvSpPr txBox="1">
                <a:spLocks noChangeArrowheads="1"/>
              </p:cNvSpPr>
              <p:nvPr/>
            </p:nvSpPr>
            <p:spPr bwMode="auto">
              <a:xfrm>
                <a:off x="5040" y="2352"/>
                <a:ext cx="76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DO</a:t>
                </a:r>
                <a:r>
                  <a:rPr lang="en-US" altLang="zh-CN" sz="2000" baseline="-25000">
                    <a:latin typeface="Times New Roman" panose="02020603050405020304" pitchFamily="18" charset="0"/>
                  </a:rPr>
                  <a:t>7</a:t>
                </a:r>
              </a:p>
            </p:txBody>
          </p:sp>
          <p:sp>
            <p:nvSpPr>
              <p:cNvPr id="165953" name="Text Box 128"/>
              <p:cNvSpPr txBox="1">
                <a:spLocks noChangeArrowheads="1"/>
              </p:cNvSpPr>
              <p:nvPr/>
            </p:nvSpPr>
            <p:spPr bwMode="auto">
              <a:xfrm>
                <a:off x="5039" y="2736"/>
                <a:ext cx="385" cy="62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800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</p:grpSp>
      <p:sp>
        <p:nvSpPr>
          <p:cNvPr id="165891" name="Text Box 129"/>
          <p:cNvSpPr txBox="1">
            <a:spLocks noChangeArrowheads="1"/>
          </p:cNvSpPr>
          <p:nvPr/>
        </p:nvSpPr>
        <p:spPr bwMode="auto">
          <a:xfrm>
            <a:off x="381000" y="381000"/>
            <a:ext cx="7010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3200">
                <a:latin typeface="Times New Roman" panose="02020603050405020304" pitchFamily="18" charset="0"/>
              </a:rPr>
              <a:t>(2) 2716 EPROM </a:t>
            </a:r>
            <a:r>
              <a:rPr lang="zh-CN" altLang="en-US" sz="3200">
                <a:latin typeface="Times New Roman" panose="02020603050405020304" pitchFamily="18" charset="0"/>
              </a:rPr>
              <a:t>的逻辑图和引脚</a:t>
            </a:r>
          </a:p>
        </p:txBody>
      </p:sp>
      <p:sp>
        <p:nvSpPr>
          <p:cNvPr id="794754" name="Rectangle 130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grpSp>
        <p:nvGrpSpPr>
          <p:cNvPr id="14" name="Group 131"/>
          <p:cNvGrpSpPr/>
          <p:nvPr/>
        </p:nvGrpSpPr>
        <p:grpSpPr bwMode="auto">
          <a:xfrm>
            <a:off x="0" y="1736725"/>
            <a:ext cx="1524000" cy="396875"/>
            <a:chOff x="96" y="998"/>
            <a:chExt cx="960" cy="250"/>
          </a:xfrm>
        </p:grpSpPr>
        <p:sp>
          <p:nvSpPr>
            <p:cNvPr id="165900" name="Text Box 132"/>
            <p:cNvSpPr txBox="1">
              <a:spLocks noChangeArrowheads="1"/>
            </p:cNvSpPr>
            <p:nvPr/>
          </p:nvSpPr>
          <p:spPr bwMode="auto">
            <a:xfrm>
              <a:off x="96" y="998"/>
              <a:ext cx="9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PD/Progr</a:t>
              </a:r>
            </a:p>
          </p:txBody>
        </p:sp>
        <p:sp>
          <p:nvSpPr>
            <p:cNvPr id="165901" name="Line 133"/>
            <p:cNvSpPr>
              <a:spLocks noChangeShapeType="1"/>
            </p:cNvSpPr>
            <p:nvPr/>
          </p:nvSpPr>
          <p:spPr bwMode="auto">
            <a:xfrm>
              <a:off x="144" y="1031"/>
              <a:ext cx="24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5" name="Group 134"/>
          <p:cNvGrpSpPr/>
          <p:nvPr/>
        </p:nvGrpSpPr>
        <p:grpSpPr bwMode="auto">
          <a:xfrm>
            <a:off x="533400" y="5729288"/>
            <a:ext cx="8915400" cy="581025"/>
            <a:chOff x="336" y="3609"/>
            <a:chExt cx="5616" cy="366"/>
          </a:xfrm>
        </p:grpSpPr>
        <p:grpSp>
          <p:nvGrpSpPr>
            <p:cNvPr id="165896" name="Group 135"/>
            <p:cNvGrpSpPr/>
            <p:nvPr/>
          </p:nvGrpSpPr>
          <p:grpSpPr bwMode="auto">
            <a:xfrm>
              <a:off x="336" y="3609"/>
              <a:ext cx="1248" cy="327"/>
              <a:chOff x="288" y="3744"/>
              <a:chExt cx="1248" cy="327"/>
            </a:xfrm>
          </p:grpSpPr>
          <p:sp>
            <p:nvSpPr>
              <p:cNvPr id="165898" name="Text Box 136"/>
              <p:cNvSpPr txBox="1">
                <a:spLocks noChangeArrowheads="1"/>
              </p:cNvSpPr>
              <p:nvPr/>
            </p:nvSpPr>
            <p:spPr bwMode="auto">
              <a:xfrm>
                <a:off x="288" y="3744"/>
                <a:ext cx="124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PD/Progr</a:t>
                </a:r>
              </a:p>
            </p:txBody>
          </p:sp>
          <p:sp>
            <p:nvSpPr>
              <p:cNvPr id="165899" name="Line 137"/>
              <p:cNvSpPr>
                <a:spLocks noChangeShapeType="1"/>
              </p:cNvSpPr>
              <p:nvPr/>
            </p:nvSpPr>
            <p:spPr bwMode="auto">
              <a:xfrm>
                <a:off x="336" y="3815"/>
                <a:ext cx="299" cy="0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65897" name="Text Box 138"/>
            <p:cNvSpPr txBox="1">
              <a:spLocks noChangeArrowheads="1"/>
            </p:cNvSpPr>
            <p:nvPr/>
          </p:nvSpPr>
          <p:spPr bwMode="auto">
            <a:xfrm>
              <a:off x="1296" y="3648"/>
              <a:ext cx="465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功率下降 / </a:t>
              </a: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编程输入端</a:t>
              </a:r>
              <a:r>
                <a:rPr lang="zh-CN" altLang="en-US" sz="2800">
                  <a:latin typeface="Times New Roman" panose="02020603050405020304" pitchFamily="18" charset="0"/>
                </a:rPr>
                <a:t>    </a:t>
              </a: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读出时 </a:t>
              </a:r>
              <a:r>
                <a:rPr lang="zh-CN" altLang="en-US" sz="2800">
                  <a:latin typeface="Times New Roman" panose="02020603050405020304" pitchFamily="18" charset="0"/>
                </a:rPr>
                <a:t>为 </a:t>
              </a: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低电平</a:t>
              </a:r>
            </a:p>
          </p:txBody>
        </p:sp>
      </p:grpSp>
      <p:sp>
        <p:nvSpPr>
          <p:cNvPr id="165895" name="AutoShape 139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Text Box 2"/>
          <p:cNvSpPr txBox="1">
            <a:spLocks noChangeArrowheads="1"/>
          </p:cNvSpPr>
          <p:nvPr/>
        </p:nvSpPr>
        <p:spPr bwMode="auto">
          <a:xfrm>
            <a:off x="609600" y="457200"/>
            <a:ext cx="6324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4. </a:t>
            </a:r>
            <a:r>
              <a:rPr lang="en-US" altLang="zh-CN" sz="3200">
                <a:latin typeface="Times New Roman" panose="02020603050405020304" pitchFamily="18" charset="0"/>
              </a:rPr>
              <a:t>EEPROM (</a:t>
            </a:r>
            <a:r>
              <a:rPr lang="zh-CN" altLang="en-US" sz="3200">
                <a:latin typeface="Times New Roman" panose="02020603050405020304" pitchFamily="18" charset="0"/>
              </a:rPr>
              <a:t>多次性编程 ) </a:t>
            </a:r>
          </a:p>
        </p:txBody>
      </p:sp>
      <p:sp>
        <p:nvSpPr>
          <p:cNvPr id="795651" name="Text Box 3"/>
          <p:cNvSpPr txBox="1">
            <a:spLocks noChangeArrowheads="1"/>
          </p:cNvSpPr>
          <p:nvPr/>
        </p:nvSpPr>
        <p:spPr bwMode="auto">
          <a:xfrm>
            <a:off x="1066800" y="1219200"/>
            <a:ext cx="2514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电可擦写</a:t>
            </a:r>
          </a:p>
        </p:txBody>
      </p:sp>
      <p:sp>
        <p:nvSpPr>
          <p:cNvPr id="795652" name="Text Box 4"/>
          <p:cNvSpPr txBox="1">
            <a:spLocks noChangeArrowheads="1"/>
          </p:cNvSpPr>
          <p:nvPr/>
        </p:nvSpPr>
        <p:spPr bwMode="auto">
          <a:xfrm>
            <a:off x="1066800" y="1905000"/>
            <a:ext cx="2590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局部擦写</a:t>
            </a:r>
          </a:p>
        </p:txBody>
      </p:sp>
      <p:sp>
        <p:nvSpPr>
          <p:cNvPr id="795653" name="Text Box 5"/>
          <p:cNvSpPr txBox="1">
            <a:spLocks noChangeArrowheads="1"/>
          </p:cNvSpPr>
          <p:nvPr/>
        </p:nvSpPr>
        <p:spPr bwMode="auto">
          <a:xfrm>
            <a:off x="1066800" y="2590800"/>
            <a:ext cx="1905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全部擦写</a:t>
            </a:r>
          </a:p>
        </p:txBody>
      </p:sp>
      <p:sp>
        <p:nvSpPr>
          <p:cNvPr id="795654" name="Text Box 6"/>
          <p:cNvSpPr txBox="1">
            <a:spLocks noChangeArrowheads="1"/>
          </p:cNvSpPr>
          <p:nvPr/>
        </p:nvSpPr>
        <p:spPr bwMode="auto">
          <a:xfrm>
            <a:off x="609600" y="3352800"/>
            <a:ext cx="7467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5. </a:t>
            </a:r>
            <a:r>
              <a:rPr lang="en-US" altLang="zh-CN" sz="3200">
                <a:latin typeface="Times New Roman" panose="02020603050405020304" pitchFamily="18" charset="0"/>
              </a:rPr>
              <a:t>Flash Memory (</a:t>
            </a:r>
            <a:r>
              <a:rPr lang="zh-CN" altLang="en-US" sz="3200">
                <a:latin typeface="Times New Roman" panose="02020603050405020304" pitchFamily="18" charset="0"/>
              </a:rPr>
              <a:t>闪速型存储器) 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166919" name="Text Box 7"/>
          <p:cNvSpPr txBox="1">
            <a:spLocks noChangeArrowheads="1"/>
          </p:cNvSpPr>
          <p:nvPr/>
        </p:nvSpPr>
        <p:spPr bwMode="auto">
          <a:xfrm>
            <a:off x="3962400" y="3505200"/>
            <a:ext cx="3657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795656" name="Text Box 8"/>
          <p:cNvSpPr txBox="1">
            <a:spLocks noChangeArrowheads="1"/>
          </p:cNvSpPr>
          <p:nvPr/>
        </p:nvSpPr>
        <p:spPr bwMode="auto">
          <a:xfrm>
            <a:off x="1066800" y="5638800"/>
            <a:ext cx="2971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比 </a:t>
            </a:r>
            <a:r>
              <a:rPr lang="en-US" altLang="zh-CN" sz="2800">
                <a:latin typeface="Times New Roman" panose="02020603050405020304" pitchFamily="18" charset="0"/>
              </a:rPr>
              <a:t>EEPROM</a:t>
            </a:r>
            <a:r>
              <a:rPr lang="zh-CN" altLang="en-US" sz="2800">
                <a:latin typeface="Times New Roman" panose="02020603050405020304" pitchFamily="18" charset="0"/>
              </a:rPr>
              <a:t>快</a:t>
            </a:r>
          </a:p>
        </p:txBody>
      </p:sp>
      <p:sp>
        <p:nvSpPr>
          <p:cNvPr id="795657" name="Rectangle 9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795658" name="Text Box 10"/>
          <p:cNvSpPr txBox="1">
            <a:spLocks noChangeArrowheads="1"/>
          </p:cNvSpPr>
          <p:nvPr/>
        </p:nvSpPr>
        <p:spPr bwMode="auto">
          <a:xfrm>
            <a:off x="1066800" y="4114800"/>
            <a:ext cx="3962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2800">
                <a:latin typeface="Times New Roman" panose="02020603050405020304" pitchFamily="18" charset="0"/>
              </a:rPr>
              <a:t>EPROM</a:t>
            </a:r>
          </a:p>
        </p:txBody>
      </p:sp>
      <p:sp>
        <p:nvSpPr>
          <p:cNvPr id="795659" name="Text Box 11"/>
          <p:cNvSpPr txBox="1">
            <a:spLocks noChangeArrowheads="1"/>
          </p:cNvSpPr>
          <p:nvPr/>
        </p:nvSpPr>
        <p:spPr bwMode="auto">
          <a:xfrm>
            <a:off x="3657600" y="4114800"/>
            <a:ext cx="4191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价格便宜  集成度高</a:t>
            </a:r>
          </a:p>
        </p:txBody>
      </p:sp>
      <p:sp>
        <p:nvSpPr>
          <p:cNvPr id="795660" name="Text Box 12"/>
          <p:cNvSpPr txBox="1">
            <a:spLocks noChangeArrowheads="1"/>
          </p:cNvSpPr>
          <p:nvPr/>
        </p:nvSpPr>
        <p:spPr bwMode="auto">
          <a:xfrm>
            <a:off x="1066800" y="4876800"/>
            <a:ext cx="4343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2800">
                <a:latin typeface="Times New Roman" panose="02020603050405020304" pitchFamily="18" charset="0"/>
              </a:rPr>
              <a:t>EEPROM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795661" name="Text Box 13"/>
          <p:cNvSpPr txBox="1">
            <a:spLocks noChangeArrowheads="1"/>
          </p:cNvSpPr>
          <p:nvPr/>
        </p:nvSpPr>
        <p:spPr bwMode="auto">
          <a:xfrm>
            <a:off x="3657600" y="4876800"/>
            <a:ext cx="4800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电可擦洗重写</a:t>
            </a:r>
          </a:p>
        </p:txBody>
      </p:sp>
      <p:sp>
        <p:nvSpPr>
          <p:cNvPr id="795662" name="Text Box 14"/>
          <p:cNvSpPr txBox="1">
            <a:spLocks noChangeArrowheads="1"/>
          </p:cNvSpPr>
          <p:nvPr/>
        </p:nvSpPr>
        <p:spPr bwMode="auto">
          <a:xfrm>
            <a:off x="3657600" y="5638800"/>
            <a:ext cx="3657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具备 </a:t>
            </a:r>
            <a:r>
              <a:rPr lang="en-US" altLang="zh-CN" sz="2800">
                <a:latin typeface="Times New Roman" panose="02020603050405020304" pitchFamily="18" charset="0"/>
              </a:rPr>
              <a:t>RAM </a:t>
            </a:r>
            <a:r>
              <a:rPr lang="zh-CN" altLang="en-US" sz="2800">
                <a:latin typeface="Times New Roman" panose="02020603050405020304" pitchFamily="18" charset="0"/>
              </a:rPr>
              <a:t>功能</a:t>
            </a:r>
          </a:p>
        </p:txBody>
      </p:sp>
      <p:sp>
        <p:nvSpPr>
          <p:cNvPr id="166927" name="AutoShape 15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5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95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5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795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5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95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5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795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5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7956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5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7956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56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7956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5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7956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5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795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5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7956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5651" grpId="0" autoUpdateAnimBg="0"/>
      <p:bldP spid="795652" grpId="0" autoUpdateAnimBg="0"/>
      <p:bldP spid="795653" grpId="0" autoUpdateAnimBg="0"/>
      <p:bldP spid="795654" grpId="0" autoUpdateAnimBg="0"/>
      <p:bldP spid="795656" grpId="0" autoUpdateAnimBg="0"/>
      <p:bldP spid="795658" grpId="0" autoUpdateAnimBg="0"/>
      <p:bldP spid="795659" grpId="0" autoUpdateAnimBg="0"/>
      <p:bldP spid="795660" grpId="0" autoUpdateAnimBg="0"/>
      <p:bldP spid="795661" grpId="0" autoUpdateAnimBg="0"/>
      <p:bldP spid="795662" grpId="0" autoUpdateAnimBg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6674" name="Text Box 2"/>
          <p:cNvSpPr txBox="1">
            <a:spLocks noChangeArrowheads="1"/>
          </p:cNvSpPr>
          <p:nvPr/>
        </p:nvSpPr>
        <p:spPr bwMode="auto">
          <a:xfrm>
            <a:off x="762000" y="2292350"/>
            <a:ext cx="8305800" cy="488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600">
                <a:latin typeface="Times New Roman" panose="02020603050405020304" pitchFamily="18" charset="0"/>
              </a:rPr>
              <a:t> 用         1</a:t>
            </a:r>
            <a:r>
              <a:rPr lang="en-US" altLang="zh-CN" sz="2600">
                <a:latin typeface="Times New Roman" panose="02020603050405020304" pitchFamily="18" charset="0"/>
              </a:rPr>
              <a:t>K</a:t>
            </a:r>
            <a:r>
              <a:rPr lang="en-US" altLang="zh-CN" sz="900">
                <a:latin typeface="Times New Roman" panose="02020603050405020304" pitchFamily="18" charset="0"/>
              </a:rPr>
              <a:t> </a:t>
            </a:r>
            <a:r>
              <a:rPr lang="en-US" altLang="zh-CN" sz="26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9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zh-CN" altLang="en-US" sz="2600">
                <a:latin typeface="Times New Roman" panose="02020603050405020304" pitchFamily="18" charset="0"/>
              </a:rPr>
              <a:t>4位 存储芯片组成 1</a:t>
            </a:r>
            <a:r>
              <a:rPr lang="en-US" altLang="zh-CN" sz="2600">
                <a:latin typeface="Times New Roman" panose="02020603050405020304" pitchFamily="18" charset="0"/>
              </a:rPr>
              <a:t>K</a:t>
            </a:r>
            <a:r>
              <a:rPr lang="en-US" altLang="zh-CN" sz="900">
                <a:latin typeface="Times New Roman" panose="02020603050405020304" pitchFamily="18" charset="0"/>
              </a:rPr>
              <a:t> </a:t>
            </a:r>
            <a:r>
              <a:rPr lang="en-US" altLang="zh-CN" sz="26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9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2600">
                <a:latin typeface="Times New Roman" panose="02020603050405020304" pitchFamily="18" charset="0"/>
              </a:rPr>
              <a:t>8</a:t>
            </a:r>
            <a:r>
              <a:rPr lang="zh-CN" altLang="en-US" sz="2600">
                <a:latin typeface="Times New Roman" panose="02020603050405020304" pitchFamily="18" charset="0"/>
              </a:rPr>
              <a:t>位 的存储器</a:t>
            </a:r>
          </a:p>
        </p:txBody>
      </p:sp>
      <p:sp>
        <p:nvSpPr>
          <p:cNvPr id="796675" name="Text Box 3"/>
          <p:cNvSpPr txBox="1">
            <a:spLocks noChangeArrowheads="1"/>
          </p:cNvSpPr>
          <p:nvPr/>
        </p:nvSpPr>
        <p:spPr bwMode="auto">
          <a:xfrm>
            <a:off x="1201738" y="2262188"/>
            <a:ext cx="1282700" cy="488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600">
                <a:solidFill>
                  <a:schemeClr val="folHlink"/>
                </a:solidFill>
                <a:latin typeface="Times New Roman" panose="02020603050405020304" pitchFamily="18" charset="0"/>
              </a:rPr>
              <a:t>？片</a:t>
            </a:r>
          </a:p>
        </p:txBody>
      </p:sp>
      <p:grpSp>
        <p:nvGrpSpPr>
          <p:cNvPr id="2" name="Group 4"/>
          <p:cNvGrpSpPr/>
          <p:nvPr/>
        </p:nvGrpSpPr>
        <p:grpSpPr bwMode="auto">
          <a:xfrm>
            <a:off x="2314575" y="4687888"/>
            <a:ext cx="852488" cy="665162"/>
            <a:chOff x="1458" y="2953"/>
            <a:chExt cx="537" cy="419"/>
          </a:xfrm>
        </p:grpSpPr>
        <p:sp>
          <p:nvSpPr>
            <p:cNvPr id="168070" name="Freeform 5"/>
            <p:cNvSpPr/>
            <p:nvPr/>
          </p:nvSpPr>
          <p:spPr bwMode="auto">
            <a:xfrm>
              <a:off x="1458" y="2954"/>
              <a:ext cx="1" cy="193"/>
            </a:xfrm>
            <a:custGeom>
              <a:avLst/>
              <a:gdLst>
                <a:gd name="T0" fmla="*/ 0 w 1"/>
                <a:gd name="T1" fmla="*/ 0 h 193"/>
                <a:gd name="T2" fmla="*/ 0 w 1"/>
                <a:gd name="T3" fmla="*/ 193 h 193"/>
                <a:gd name="T4" fmla="*/ 0 60000 65536"/>
                <a:gd name="T5" fmla="*/ 0 60000 65536"/>
                <a:gd name="T6" fmla="*/ 0 w 1"/>
                <a:gd name="T7" fmla="*/ 0 h 193"/>
                <a:gd name="T8" fmla="*/ 1 w 1"/>
                <a:gd name="T9" fmla="*/ 193 h 19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93">
                  <a:moveTo>
                    <a:pt x="0" y="0"/>
                  </a:moveTo>
                  <a:lnTo>
                    <a:pt x="0" y="193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none" w="med" len="med"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071" name="Line 6"/>
            <p:cNvSpPr>
              <a:spLocks noChangeShapeType="1"/>
            </p:cNvSpPr>
            <p:nvPr/>
          </p:nvSpPr>
          <p:spPr bwMode="auto">
            <a:xfrm>
              <a:off x="1635" y="2953"/>
              <a:ext cx="1" cy="26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072" name="Line 7"/>
            <p:cNvSpPr>
              <a:spLocks noChangeShapeType="1"/>
            </p:cNvSpPr>
            <p:nvPr/>
          </p:nvSpPr>
          <p:spPr bwMode="auto">
            <a:xfrm>
              <a:off x="1813" y="2953"/>
              <a:ext cx="1" cy="33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073" name="Freeform 8"/>
            <p:cNvSpPr/>
            <p:nvPr/>
          </p:nvSpPr>
          <p:spPr bwMode="auto">
            <a:xfrm>
              <a:off x="1993" y="2960"/>
              <a:ext cx="2" cy="412"/>
            </a:xfrm>
            <a:custGeom>
              <a:avLst/>
              <a:gdLst>
                <a:gd name="T0" fmla="*/ 2 w 2"/>
                <a:gd name="T1" fmla="*/ 0 h 412"/>
                <a:gd name="T2" fmla="*/ 0 w 2"/>
                <a:gd name="T3" fmla="*/ 412 h 412"/>
                <a:gd name="T4" fmla="*/ 0 60000 65536"/>
                <a:gd name="T5" fmla="*/ 0 60000 65536"/>
                <a:gd name="T6" fmla="*/ 0 w 2"/>
                <a:gd name="T7" fmla="*/ 0 h 412"/>
                <a:gd name="T8" fmla="*/ 2 w 2"/>
                <a:gd name="T9" fmla="*/ 412 h 41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412">
                  <a:moveTo>
                    <a:pt x="2" y="0"/>
                  </a:moveTo>
                  <a:lnTo>
                    <a:pt x="0" y="412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none" w="med" len="med"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67941" name="Text Box 9"/>
          <p:cNvSpPr txBox="1">
            <a:spLocks noChangeArrowheads="1"/>
          </p:cNvSpPr>
          <p:nvPr/>
        </p:nvSpPr>
        <p:spPr bwMode="auto">
          <a:xfrm>
            <a:off x="457200" y="304800"/>
            <a:ext cx="63246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 五、存储器与 </a:t>
            </a:r>
            <a:r>
              <a:rPr lang="en-US" altLang="zh-CN" sz="3600">
                <a:latin typeface="Times New Roman" panose="02020603050405020304" pitchFamily="18" charset="0"/>
              </a:rPr>
              <a:t>CPU </a:t>
            </a:r>
            <a:r>
              <a:rPr lang="zh-CN" altLang="en-US" sz="3600">
                <a:latin typeface="Times New Roman" panose="02020603050405020304" pitchFamily="18" charset="0"/>
              </a:rPr>
              <a:t>的连接 </a:t>
            </a:r>
          </a:p>
        </p:txBody>
      </p:sp>
      <p:sp>
        <p:nvSpPr>
          <p:cNvPr id="796682" name="Text Box 10"/>
          <p:cNvSpPr txBox="1">
            <a:spLocks noChangeArrowheads="1"/>
          </p:cNvSpPr>
          <p:nvPr/>
        </p:nvSpPr>
        <p:spPr bwMode="auto">
          <a:xfrm>
            <a:off x="838200" y="990600"/>
            <a:ext cx="49037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1.  存储器容量的扩展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grpSp>
        <p:nvGrpSpPr>
          <p:cNvPr id="3" name="Group 11"/>
          <p:cNvGrpSpPr/>
          <p:nvPr/>
        </p:nvGrpSpPr>
        <p:grpSpPr bwMode="auto">
          <a:xfrm>
            <a:off x="762000" y="1628775"/>
            <a:ext cx="4953000" cy="519113"/>
            <a:chOff x="768" y="960"/>
            <a:chExt cx="3120" cy="327"/>
          </a:xfrm>
        </p:grpSpPr>
        <p:sp>
          <p:nvSpPr>
            <p:cNvPr id="168068" name="Text Box 12"/>
            <p:cNvSpPr txBox="1">
              <a:spLocks noChangeArrowheads="1"/>
            </p:cNvSpPr>
            <p:nvPr/>
          </p:nvSpPr>
          <p:spPr bwMode="auto">
            <a:xfrm>
              <a:off x="768" y="960"/>
              <a:ext cx="177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 (1)  位扩展</a:t>
              </a:r>
            </a:p>
          </p:txBody>
        </p:sp>
        <p:sp>
          <p:nvSpPr>
            <p:cNvPr id="168069" name="Text Box 13"/>
            <p:cNvSpPr txBox="1">
              <a:spLocks noChangeArrowheads="1"/>
            </p:cNvSpPr>
            <p:nvPr/>
          </p:nvSpPr>
          <p:spPr bwMode="auto">
            <a:xfrm>
              <a:off x="1872" y="960"/>
              <a:ext cx="201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（增加存储字长）</a:t>
              </a:r>
            </a:p>
          </p:txBody>
        </p:sp>
      </p:grpSp>
      <p:grpSp>
        <p:nvGrpSpPr>
          <p:cNvPr id="4" name="Group 14"/>
          <p:cNvGrpSpPr/>
          <p:nvPr/>
        </p:nvGrpSpPr>
        <p:grpSpPr bwMode="auto">
          <a:xfrm>
            <a:off x="6948488" y="1600200"/>
            <a:ext cx="2016125" cy="533400"/>
            <a:chOff x="4176" y="1008"/>
            <a:chExt cx="1344" cy="336"/>
          </a:xfrm>
        </p:grpSpPr>
        <p:sp>
          <p:nvSpPr>
            <p:cNvPr id="168066" name="AutoShape 15"/>
            <p:cNvSpPr>
              <a:spLocks noChangeArrowheads="1"/>
            </p:cNvSpPr>
            <p:nvPr/>
          </p:nvSpPr>
          <p:spPr bwMode="auto">
            <a:xfrm>
              <a:off x="4176" y="1008"/>
              <a:ext cx="1344" cy="336"/>
            </a:xfrm>
            <a:prstGeom prst="wedgeRoundRectCallout">
              <a:avLst>
                <a:gd name="adj1" fmla="val -112204"/>
                <a:gd name="adj2" fmla="val 86903"/>
                <a:gd name="adj3" fmla="val 16667"/>
              </a:avLst>
            </a:prstGeom>
            <a:noFill/>
            <a:ln w="28575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rIns="0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endParaRPr lang="en-US" altLang="zh-CN" sz="2800">
                <a:latin typeface="Times New Roman" panose="02020603050405020304" pitchFamily="18" charset="0"/>
              </a:endParaRPr>
            </a:p>
          </p:txBody>
        </p:sp>
        <p:sp>
          <p:nvSpPr>
            <p:cNvPr id="168067" name="Text Box 16"/>
            <p:cNvSpPr txBox="1">
              <a:spLocks noChangeArrowheads="1"/>
            </p:cNvSpPr>
            <p:nvPr/>
          </p:nvSpPr>
          <p:spPr bwMode="auto">
            <a:xfrm>
              <a:off x="4224" y="1008"/>
              <a:ext cx="1296" cy="3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600">
                  <a:latin typeface="Times New Roman" panose="02020603050405020304" pitchFamily="18" charset="0"/>
                </a:rPr>
                <a:t>10根地址线</a:t>
              </a:r>
            </a:p>
          </p:txBody>
        </p:sp>
      </p:grpSp>
      <p:grpSp>
        <p:nvGrpSpPr>
          <p:cNvPr id="5" name="Group 17"/>
          <p:cNvGrpSpPr/>
          <p:nvPr/>
        </p:nvGrpSpPr>
        <p:grpSpPr bwMode="auto">
          <a:xfrm>
            <a:off x="7164388" y="3068638"/>
            <a:ext cx="1979612" cy="533400"/>
            <a:chOff x="4176" y="1872"/>
            <a:chExt cx="1344" cy="336"/>
          </a:xfrm>
        </p:grpSpPr>
        <p:sp>
          <p:nvSpPr>
            <p:cNvPr id="168064" name="AutoShape 18"/>
            <p:cNvSpPr>
              <a:spLocks noChangeArrowheads="1"/>
            </p:cNvSpPr>
            <p:nvPr/>
          </p:nvSpPr>
          <p:spPr bwMode="auto">
            <a:xfrm>
              <a:off x="4176" y="1872"/>
              <a:ext cx="1296" cy="336"/>
            </a:xfrm>
            <a:prstGeom prst="wedgeRoundRectCallout">
              <a:avLst>
                <a:gd name="adj1" fmla="val -82486"/>
                <a:gd name="adj2" fmla="val -112796"/>
                <a:gd name="adj3" fmla="val 16667"/>
              </a:avLst>
            </a:prstGeom>
            <a:noFill/>
            <a:ln w="28575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168065" name="Text Box 19"/>
            <p:cNvSpPr txBox="1">
              <a:spLocks noChangeArrowheads="1"/>
            </p:cNvSpPr>
            <p:nvPr/>
          </p:nvSpPr>
          <p:spPr bwMode="auto">
            <a:xfrm>
              <a:off x="4272" y="1872"/>
              <a:ext cx="1248" cy="3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600">
                  <a:latin typeface="Times New Roman" panose="02020603050405020304" pitchFamily="18" charset="0"/>
                </a:rPr>
                <a:t>8根数据线</a:t>
              </a:r>
            </a:p>
          </p:txBody>
        </p:sp>
      </p:grpSp>
      <p:sp>
        <p:nvSpPr>
          <p:cNvPr id="167946" name="Line 20"/>
          <p:cNvSpPr>
            <a:spLocks noChangeShapeType="1"/>
          </p:cNvSpPr>
          <p:nvPr/>
        </p:nvSpPr>
        <p:spPr bwMode="auto">
          <a:xfrm>
            <a:off x="1006475" y="6159500"/>
            <a:ext cx="255588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7947" name="Rectangle 21"/>
          <p:cNvSpPr>
            <a:spLocks noChangeArrowheads="1"/>
          </p:cNvSpPr>
          <p:nvPr/>
        </p:nvSpPr>
        <p:spPr bwMode="auto">
          <a:xfrm>
            <a:off x="998538" y="3435350"/>
            <a:ext cx="296862" cy="295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grpSp>
        <p:nvGrpSpPr>
          <p:cNvPr id="6" name="Group 22"/>
          <p:cNvGrpSpPr/>
          <p:nvPr/>
        </p:nvGrpSpPr>
        <p:grpSpPr bwMode="auto">
          <a:xfrm>
            <a:off x="4276725" y="4700588"/>
            <a:ext cx="842963" cy="1168400"/>
            <a:chOff x="2694" y="2961"/>
            <a:chExt cx="531" cy="736"/>
          </a:xfrm>
        </p:grpSpPr>
        <p:grpSp>
          <p:nvGrpSpPr>
            <p:cNvPr id="168057" name="Group 23"/>
            <p:cNvGrpSpPr/>
            <p:nvPr/>
          </p:nvGrpSpPr>
          <p:grpSpPr bwMode="auto">
            <a:xfrm>
              <a:off x="2694" y="2971"/>
              <a:ext cx="36" cy="501"/>
              <a:chOff x="2499" y="2165"/>
              <a:chExt cx="36" cy="501"/>
            </a:xfrm>
          </p:grpSpPr>
          <p:sp>
            <p:nvSpPr>
              <p:cNvPr id="168062" name="Line 24"/>
              <p:cNvSpPr>
                <a:spLocks noChangeShapeType="1"/>
              </p:cNvSpPr>
              <p:nvPr/>
            </p:nvSpPr>
            <p:spPr bwMode="auto">
              <a:xfrm>
                <a:off x="2516" y="2165"/>
                <a:ext cx="7" cy="4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8063" name="Oval 25"/>
              <p:cNvSpPr>
                <a:spLocks noChangeArrowheads="1"/>
              </p:cNvSpPr>
              <p:nvPr/>
            </p:nvSpPr>
            <p:spPr bwMode="auto">
              <a:xfrm>
                <a:off x="2499" y="2630"/>
                <a:ext cx="36" cy="36"/>
              </a:xfrm>
              <a:prstGeom prst="ellipse">
                <a:avLst/>
              </a:prstGeom>
              <a:solidFill>
                <a:schemeClr val="tx1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</p:grpSp>
        <p:sp>
          <p:nvSpPr>
            <p:cNvPr id="168058" name="Freeform 26"/>
            <p:cNvSpPr/>
            <p:nvPr/>
          </p:nvSpPr>
          <p:spPr bwMode="auto">
            <a:xfrm>
              <a:off x="2881" y="2966"/>
              <a:ext cx="2" cy="555"/>
            </a:xfrm>
            <a:custGeom>
              <a:avLst/>
              <a:gdLst>
                <a:gd name="T0" fmla="*/ 2 w 2"/>
                <a:gd name="T1" fmla="*/ 0 h 555"/>
                <a:gd name="T2" fmla="*/ 0 w 2"/>
                <a:gd name="T3" fmla="*/ 555 h 555"/>
                <a:gd name="T4" fmla="*/ 0 60000 65536"/>
                <a:gd name="T5" fmla="*/ 0 60000 65536"/>
                <a:gd name="T6" fmla="*/ 0 w 2"/>
                <a:gd name="T7" fmla="*/ 0 h 555"/>
                <a:gd name="T8" fmla="*/ 2 w 2"/>
                <a:gd name="T9" fmla="*/ 555 h 55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555">
                  <a:moveTo>
                    <a:pt x="2" y="0"/>
                  </a:moveTo>
                  <a:lnTo>
                    <a:pt x="0" y="555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none" w="med" len="med"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059" name="Freeform 27"/>
            <p:cNvSpPr/>
            <p:nvPr/>
          </p:nvSpPr>
          <p:spPr bwMode="auto">
            <a:xfrm>
              <a:off x="3060" y="2961"/>
              <a:ext cx="1" cy="648"/>
            </a:xfrm>
            <a:custGeom>
              <a:avLst/>
              <a:gdLst>
                <a:gd name="T0" fmla="*/ 0 w 1"/>
                <a:gd name="T1" fmla="*/ 0 h 648"/>
                <a:gd name="T2" fmla="*/ 1 w 1"/>
                <a:gd name="T3" fmla="*/ 648 h 648"/>
                <a:gd name="T4" fmla="*/ 0 60000 65536"/>
                <a:gd name="T5" fmla="*/ 0 60000 65536"/>
                <a:gd name="T6" fmla="*/ 0 w 1"/>
                <a:gd name="T7" fmla="*/ 0 h 648"/>
                <a:gd name="T8" fmla="*/ 1 w 1"/>
                <a:gd name="T9" fmla="*/ 648 h 64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648">
                  <a:moveTo>
                    <a:pt x="0" y="0"/>
                  </a:moveTo>
                  <a:lnTo>
                    <a:pt x="1" y="648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060" name="Oval 28"/>
            <p:cNvSpPr>
              <a:spLocks noChangeArrowheads="1"/>
            </p:cNvSpPr>
            <p:nvPr/>
          </p:nvSpPr>
          <p:spPr bwMode="auto">
            <a:xfrm>
              <a:off x="3041" y="3593"/>
              <a:ext cx="32" cy="32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8061" name="Freeform 29"/>
            <p:cNvSpPr/>
            <p:nvPr/>
          </p:nvSpPr>
          <p:spPr bwMode="auto">
            <a:xfrm>
              <a:off x="3223" y="2966"/>
              <a:ext cx="2" cy="731"/>
            </a:xfrm>
            <a:custGeom>
              <a:avLst/>
              <a:gdLst>
                <a:gd name="T0" fmla="*/ 2 w 2"/>
                <a:gd name="T1" fmla="*/ 0 h 731"/>
                <a:gd name="T2" fmla="*/ 0 w 2"/>
                <a:gd name="T3" fmla="*/ 731 h 731"/>
                <a:gd name="T4" fmla="*/ 0 60000 65536"/>
                <a:gd name="T5" fmla="*/ 0 60000 65536"/>
                <a:gd name="T6" fmla="*/ 0 w 2"/>
                <a:gd name="T7" fmla="*/ 0 h 731"/>
                <a:gd name="T8" fmla="*/ 2 w 2"/>
                <a:gd name="T9" fmla="*/ 731 h 73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731">
                  <a:moveTo>
                    <a:pt x="2" y="0"/>
                  </a:moveTo>
                  <a:lnTo>
                    <a:pt x="0" y="731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none" w="med" len="med"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67949" name="Rectangle 30"/>
          <p:cNvSpPr>
            <a:spLocks noChangeArrowheads="1"/>
          </p:cNvSpPr>
          <p:nvPr/>
        </p:nvSpPr>
        <p:spPr bwMode="auto">
          <a:xfrm>
            <a:off x="954088" y="6107113"/>
            <a:ext cx="292100" cy="28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167950" name="Rectangle 31"/>
          <p:cNvSpPr>
            <a:spLocks noChangeArrowheads="1"/>
          </p:cNvSpPr>
          <p:nvPr/>
        </p:nvSpPr>
        <p:spPr bwMode="auto">
          <a:xfrm>
            <a:off x="968375" y="5892800"/>
            <a:ext cx="298450" cy="28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167951" name="Oval 32"/>
          <p:cNvSpPr>
            <a:spLocks noChangeArrowheads="1"/>
          </p:cNvSpPr>
          <p:nvPr/>
        </p:nvSpPr>
        <p:spPr bwMode="auto">
          <a:xfrm>
            <a:off x="1096963" y="3151188"/>
            <a:ext cx="31750" cy="36512"/>
          </a:xfrm>
          <a:prstGeom prst="ellips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167952" name="Oval 33"/>
          <p:cNvSpPr>
            <a:spLocks noChangeArrowheads="1"/>
          </p:cNvSpPr>
          <p:nvPr/>
        </p:nvSpPr>
        <p:spPr bwMode="auto">
          <a:xfrm>
            <a:off x="1079500" y="3414713"/>
            <a:ext cx="36513" cy="36512"/>
          </a:xfrm>
          <a:prstGeom prst="ellips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167953" name="Oval 34"/>
          <p:cNvSpPr>
            <a:spLocks noChangeArrowheads="1"/>
          </p:cNvSpPr>
          <p:nvPr/>
        </p:nvSpPr>
        <p:spPr bwMode="auto">
          <a:xfrm>
            <a:off x="1096963" y="3343275"/>
            <a:ext cx="36512" cy="36513"/>
          </a:xfrm>
          <a:prstGeom prst="ellips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grpSp>
        <p:nvGrpSpPr>
          <p:cNvPr id="8" name="Group 147"/>
          <p:cNvGrpSpPr/>
          <p:nvPr/>
        </p:nvGrpSpPr>
        <p:grpSpPr bwMode="auto">
          <a:xfrm>
            <a:off x="941388" y="4437063"/>
            <a:ext cx="5329237" cy="2376487"/>
            <a:chOff x="593" y="2795"/>
            <a:chExt cx="3357" cy="1497"/>
          </a:xfrm>
        </p:grpSpPr>
        <p:sp>
          <p:nvSpPr>
            <p:cNvPr id="168028" name="Line 36"/>
            <p:cNvSpPr>
              <a:spLocks noChangeShapeType="1"/>
            </p:cNvSpPr>
            <p:nvPr/>
          </p:nvSpPr>
          <p:spPr bwMode="auto">
            <a:xfrm>
              <a:off x="795" y="3146"/>
              <a:ext cx="3155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68029" name="Group 146"/>
            <p:cNvGrpSpPr/>
            <p:nvPr/>
          </p:nvGrpSpPr>
          <p:grpSpPr bwMode="auto">
            <a:xfrm>
              <a:off x="593" y="2795"/>
              <a:ext cx="3347" cy="1497"/>
              <a:chOff x="593" y="2795"/>
              <a:chExt cx="3347" cy="1497"/>
            </a:xfrm>
          </p:grpSpPr>
          <p:sp>
            <p:nvSpPr>
              <p:cNvPr id="168030" name="Rectangle 38"/>
              <p:cNvSpPr>
                <a:spLocks noChangeArrowheads="1"/>
              </p:cNvSpPr>
              <p:nvPr/>
            </p:nvSpPr>
            <p:spPr bwMode="auto">
              <a:xfrm>
                <a:off x="617" y="3621"/>
                <a:ext cx="81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1400"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168031" name="Group 145"/>
              <p:cNvGrpSpPr/>
              <p:nvPr/>
            </p:nvGrpSpPr>
            <p:grpSpPr bwMode="auto">
              <a:xfrm>
                <a:off x="593" y="2795"/>
                <a:ext cx="3347" cy="1497"/>
                <a:chOff x="593" y="2795"/>
                <a:chExt cx="3347" cy="1497"/>
              </a:xfrm>
            </p:grpSpPr>
            <p:sp>
              <p:nvSpPr>
                <p:cNvPr id="168032" name="Rectangle 40"/>
                <p:cNvSpPr>
                  <a:spLocks noChangeArrowheads="1"/>
                </p:cNvSpPr>
                <p:nvPr/>
              </p:nvSpPr>
              <p:spPr bwMode="auto">
                <a:xfrm>
                  <a:off x="617" y="3322"/>
                  <a:ext cx="81" cy="13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1400">
                      <a:latin typeface="Times New Roman" panose="02020603050405020304" pitchFamily="18" charset="0"/>
                    </a:rPr>
                    <a:t>D</a:t>
                  </a:r>
                </a:p>
              </p:txBody>
            </p:sp>
            <p:grpSp>
              <p:nvGrpSpPr>
                <p:cNvPr id="168033" name="Group 144"/>
                <p:cNvGrpSpPr/>
                <p:nvPr/>
              </p:nvGrpSpPr>
              <p:grpSpPr bwMode="auto">
                <a:xfrm>
                  <a:off x="593" y="2795"/>
                  <a:ext cx="3347" cy="1497"/>
                  <a:chOff x="593" y="2795"/>
                  <a:chExt cx="3347" cy="1497"/>
                </a:xfrm>
              </p:grpSpPr>
              <p:sp>
                <p:nvSpPr>
                  <p:cNvPr id="168034" name="Text Box 42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93" y="3145"/>
                    <a:ext cx="192" cy="20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eaVert" lIns="0" rIns="0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en-US" altLang="zh-CN" sz="2000">
                        <a:latin typeface="Times New Roman" panose="02020603050405020304" pitchFamily="18" charset="0"/>
                      </a:rPr>
                      <a:t>…</a:t>
                    </a:r>
                    <a:endParaRPr lang="zh-CN" altLang="en-US" sz="2000"/>
                  </a:p>
                </p:txBody>
              </p:sp>
              <p:grpSp>
                <p:nvGrpSpPr>
                  <p:cNvPr id="168035" name="Group 143"/>
                  <p:cNvGrpSpPr/>
                  <p:nvPr/>
                </p:nvGrpSpPr>
                <p:grpSpPr bwMode="auto">
                  <a:xfrm>
                    <a:off x="593" y="2795"/>
                    <a:ext cx="3347" cy="1497"/>
                    <a:chOff x="593" y="2795"/>
                    <a:chExt cx="3347" cy="1497"/>
                  </a:xfrm>
                </p:grpSpPr>
                <p:sp>
                  <p:nvSpPr>
                    <p:cNvPr id="168036" name="Text Box 44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93" y="3441"/>
                      <a:ext cx="192" cy="206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eaVert" lIns="0" rIns="0">
                      <a:spAutoFit/>
                    </a:bodyPr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en-US" altLang="zh-CN" sz="2000">
                          <a:latin typeface="Times New Roman" panose="02020603050405020304" pitchFamily="18" charset="0"/>
                        </a:rPr>
                        <a:t>…</a:t>
                      </a:r>
                      <a:endParaRPr lang="zh-CN" altLang="en-US" sz="2000"/>
                    </a:p>
                  </p:txBody>
                </p:sp>
                <p:sp>
                  <p:nvSpPr>
                    <p:cNvPr id="168037" name="Rectangle 4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795"/>
                      <a:ext cx="187" cy="23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1pPr>
                      <a:lvl2pPr marL="742950" indent="-28575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2pPr>
                      <a:lvl3pPr marL="11430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3pPr>
                      <a:lvl4pPr marL="16002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4pPr>
                      <a:lvl5pPr marL="2057400" indent="-228600" eaLnBrk="0" hangingPunct="0"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 sz="800" b="1">
                          <a:solidFill>
                            <a:schemeClr val="tx1"/>
                          </a:solidFill>
                          <a:latin typeface="宋体" panose="02010600030101010101" pitchFamily="2" charset="-122"/>
                          <a:ea typeface="宋体" panose="02010600030101010101" pitchFamily="2" charset="-122"/>
                        </a:defRPr>
                      </a:lvl9pPr>
                    </a:lstStyle>
                    <a:p>
                      <a:pPr eaLnBrk="1" hangingPunct="1"/>
                      <a:endParaRPr lang="zh-CN" altLang="en-US"/>
                    </a:p>
                  </p:txBody>
                </p:sp>
                <p:grpSp>
                  <p:nvGrpSpPr>
                    <p:cNvPr id="168038" name="Group 142"/>
                    <p:cNvGrpSpPr/>
                    <p:nvPr/>
                  </p:nvGrpSpPr>
                  <p:grpSpPr bwMode="auto">
                    <a:xfrm>
                      <a:off x="617" y="2795"/>
                      <a:ext cx="3323" cy="1497"/>
                      <a:chOff x="617" y="2795"/>
                      <a:chExt cx="3323" cy="1497"/>
                    </a:xfrm>
                  </p:grpSpPr>
                  <p:sp>
                    <p:nvSpPr>
                      <p:cNvPr id="168039" name="Rectangle 47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617" y="3038"/>
                        <a:ext cx="81" cy="13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lIns="0" tIns="0" rIns="0" bIns="0">
                        <a:spAutoFit/>
                      </a:bodyPr>
                      <a:lstStyle>
                        <a:lvl1pPr eaLnBrk="0" hangingPunct="0"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1pPr>
                        <a:lvl2pPr marL="742950" indent="-285750" eaLnBrk="0" hangingPunct="0"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2pPr>
                        <a:lvl3pPr marL="1143000" indent="-228600" eaLnBrk="0" hangingPunct="0"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3pPr>
                        <a:lvl4pPr marL="1600200" indent="-228600" eaLnBrk="0" hangingPunct="0"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4pPr>
                        <a:lvl5pPr marL="2057400" indent="-228600" eaLnBrk="0" hangingPunct="0"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9pPr>
                      </a:lstStyle>
                      <a:p>
                        <a:pPr eaLnBrk="1" hangingPunct="1">
                          <a:spcBef>
                            <a:spcPct val="0"/>
                          </a:spcBef>
                        </a:pPr>
                        <a:r>
                          <a:rPr lang="en-US" altLang="zh-CN" sz="1400">
                            <a:latin typeface="Times New Roman" panose="02020603050405020304" pitchFamily="18" charset="0"/>
                          </a:rPr>
                          <a:t>D</a:t>
                        </a:r>
                      </a:p>
                    </p:txBody>
                  </p:sp>
                  <p:grpSp>
                    <p:nvGrpSpPr>
                      <p:cNvPr id="168040" name="Group 141"/>
                      <p:cNvGrpSpPr/>
                      <p:nvPr/>
                    </p:nvGrpSpPr>
                    <p:grpSpPr bwMode="auto">
                      <a:xfrm>
                        <a:off x="688" y="3097"/>
                        <a:ext cx="3252" cy="717"/>
                        <a:chOff x="688" y="3097"/>
                        <a:chExt cx="3252" cy="717"/>
                      </a:xfrm>
                    </p:grpSpPr>
                    <p:sp>
                      <p:nvSpPr>
                        <p:cNvPr id="168043" name="Rectangle 49"/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688" y="3680"/>
                          <a:ext cx="56" cy="13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 wrap="none" lIns="0" tIns="0" rIns="0" bIns="0">
                          <a:spAutoFit/>
                        </a:bodyPr>
                        <a:lstStyle>
                          <a:lvl1pPr eaLnBrk="0" hangingPunct="0">
                            <a:defRPr kumimoji="1" sz="800" b="1">
                              <a:solidFill>
                                <a:schemeClr val="tx1"/>
                              </a:solidFill>
                              <a:latin typeface="宋体" panose="02010600030101010101" pitchFamily="2" charset="-122"/>
                              <a:ea typeface="宋体" panose="02010600030101010101" pitchFamily="2" charset="-122"/>
                            </a:defRPr>
                          </a:lvl1pPr>
                          <a:lvl2pPr marL="742950" indent="-285750" eaLnBrk="0" hangingPunct="0">
                            <a:defRPr kumimoji="1" sz="800" b="1">
                              <a:solidFill>
                                <a:schemeClr val="tx1"/>
                              </a:solidFill>
                              <a:latin typeface="宋体" panose="02010600030101010101" pitchFamily="2" charset="-122"/>
                              <a:ea typeface="宋体" panose="02010600030101010101" pitchFamily="2" charset="-122"/>
                            </a:defRPr>
                          </a:lvl2pPr>
                          <a:lvl3pPr marL="1143000" indent="-228600" eaLnBrk="0" hangingPunct="0">
                            <a:defRPr kumimoji="1" sz="800" b="1">
                              <a:solidFill>
                                <a:schemeClr val="tx1"/>
                              </a:solidFill>
                              <a:latin typeface="宋体" panose="02010600030101010101" pitchFamily="2" charset="-122"/>
                              <a:ea typeface="宋体" panose="02010600030101010101" pitchFamily="2" charset="-122"/>
                            </a:defRPr>
                          </a:lvl3pPr>
                          <a:lvl4pPr marL="1600200" indent="-228600" eaLnBrk="0" hangingPunct="0">
                            <a:defRPr kumimoji="1" sz="800" b="1">
                              <a:solidFill>
                                <a:schemeClr val="tx1"/>
                              </a:solidFill>
                              <a:latin typeface="宋体" panose="02010600030101010101" pitchFamily="2" charset="-122"/>
                              <a:ea typeface="宋体" panose="02010600030101010101" pitchFamily="2" charset="-122"/>
                            </a:defRPr>
                          </a:lvl4pPr>
                          <a:lvl5pPr marL="2057400" indent="-228600" eaLnBrk="0" hangingPunct="0">
                            <a:defRPr kumimoji="1" sz="800" b="1">
                              <a:solidFill>
                                <a:schemeClr val="tx1"/>
                              </a:solidFill>
                              <a:latin typeface="宋体" panose="02010600030101010101" pitchFamily="2" charset="-122"/>
                              <a:ea typeface="宋体" panose="02010600030101010101" pitchFamily="2" charset="-122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defRPr kumimoji="1" sz="800" b="1">
                              <a:solidFill>
                                <a:schemeClr val="tx1"/>
                              </a:solidFill>
                              <a:latin typeface="宋体" panose="02010600030101010101" pitchFamily="2" charset="-122"/>
                              <a:ea typeface="宋体" panose="02010600030101010101" pitchFamily="2" charset="-122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defRPr kumimoji="1" sz="800" b="1">
                              <a:solidFill>
                                <a:schemeClr val="tx1"/>
                              </a:solidFill>
                              <a:latin typeface="宋体" panose="02010600030101010101" pitchFamily="2" charset="-122"/>
                              <a:ea typeface="宋体" panose="02010600030101010101" pitchFamily="2" charset="-122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defRPr kumimoji="1" sz="800" b="1">
                              <a:solidFill>
                                <a:schemeClr val="tx1"/>
                              </a:solidFill>
                              <a:latin typeface="宋体" panose="02010600030101010101" pitchFamily="2" charset="-122"/>
                              <a:ea typeface="宋体" panose="02010600030101010101" pitchFamily="2" charset="-122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defRPr kumimoji="1" sz="800" b="1">
                              <a:solidFill>
                                <a:schemeClr val="tx1"/>
                              </a:solidFill>
                              <a:latin typeface="宋体" panose="02010600030101010101" pitchFamily="2" charset="-122"/>
                              <a:ea typeface="宋体" panose="02010600030101010101" pitchFamily="2" charset="-122"/>
                            </a:defRPr>
                          </a:lvl9pPr>
                        </a:lstStyle>
                        <a:p>
                          <a:pPr eaLnBrk="1" hangingPunct="1">
                            <a:spcBef>
                              <a:spcPct val="0"/>
                            </a:spcBef>
                          </a:pPr>
                          <a:r>
                            <a:rPr lang="zh-CN" altLang="en-US" sz="1400">
                              <a:latin typeface="Times New Roman" panose="02020603050405020304" pitchFamily="18" charset="0"/>
                            </a:rPr>
                            <a:t>0</a:t>
                          </a:r>
                        </a:p>
                      </p:txBody>
                    </p:sp>
                    <p:grpSp>
                      <p:nvGrpSpPr>
                        <p:cNvPr id="168044" name="Group 140"/>
                        <p:cNvGrpSpPr/>
                        <p:nvPr/>
                      </p:nvGrpSpPr>
                      <p:grpSpPr bwMode="auto">
                        <a:xfrm>
                          <a:off x="688" y="3097"/>
                          <a:ext cx="3252" cy="588"/>
                          <a:chOff x="688" y="3097"/>
                          <a:chExt cx="3252" cy="588"/>
                        </a:xfrm>
                      </p:grpSpPr>
                      <p:sp>
                        <p:nvSpPr>
                          <p:cNvPr id="168045" name="Rectangle 51"/>
                          <p:cNvSpPr>
                            <a:spLocks noChangeArrowheads="1"/>
                          </p:cNvSpPr>
                          <p:nvPr/>
                        </p:nvSpPr>
                        <p:spPr bwMode="auto">
                          <a:xfrm>
                            <a:off x="688" y="3381"/>
                            <a:ext cx="56" cy="134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</a:extLst>
                        </p:spPr>
                        <p:txBody>
                          <a:bodyPr wrap="none" lIns="0" tIns="0" rIns="0" bIns="0">
                            <a:spAutoFit/>
                          </a:bodyPr>
                          <a:lstStyle>
                            <a:lvl1pPr eaLnBrk="0" hangingPunct="0">
                              <a:defRPr kumimoji="1" sz="800" b="1">
                                <a:solidFill>
                                  <a:schemeClr val="tx1"/>
                                </a:solidFill>
                                <a:latin typeface="宋体" panose="02010600030101010101" pitchFamily="2" charset="-122"/>
                                <a:ea typeface="宋体" panose="02010600030101010101" pitchFamily="2" charset="-122"/>
                              </a:defRPr>
                            </a:lvl1pPr>
                            <a:lvl2pPr marL="742950" indent="-285750" eaLnBrk="0" hangingPunct="0">
                              <a:defRPr kumimoji="1" sz="800" b="1">
                                <a:solidFill>
                                  <a:schemeClr val="tx1"/>
                                </a:solidFill>
                                <a:latin typeface="宋体" panose="02010600030101010101" pitchFamily="2" charset="-122"/>
                                <a:ea typeface="宋体" panose="02010600030101010101" pitchFamily="2" charset="-122"/>
                              </a:defRPr>
                            </a:lvl2pPr>
                            <a:lvl3pPr marL="1143000" indent="-228600" eaLnBrk="0" hangingPunct="0">
                              <a:defRPr kumimoji="1" sz="800" b="1">
                                <a:solidFill>
                                  <a:schemeClr val="tx1"/>
                                </a:solidFill>
                                <a:latin typeface="宋体" panose="02010600030101010101" pitchFamily="2" charset="-122"/>
                                <a:ea typeface="宋体" panose="02010600030101010101" pitchFamily="2" charset="-122"/>
                              </a:defRPr>
                            </a:lvl3pPr>
                            <a:lvl4pPr marL="1600200" indent="-228600" eaLnBrk="0" hangingPunct="0">
                              <a:defRPr kumimoji="1" sz="800" b="1">
                                <a:solidFill>
                                  <a:schemeClr val="tx1"/>
                                </a:solidFill>
                                <a:latin typeface="宋体" panose="02010600030101010101" pitchFamily="2" charset="-122"/>
                                <a:ea typeface="宋体" panose="02010600030101010101" pitchFamily="2" charset="-122"/>
                              </a:defRPr>
                            </a:lvl4pPr>
                            <a:lvl5pPr marL="2057400" indent="-228600" eaLnBrk="0" hangingPunct="0">
                              <a:defRPr kumimoji="1" sz="800" b="1">
                                <a:solidFill>
                                  <a:schemeClr val="tx1"/>
                                </a:solidFill>
                                <a:latin typeface="宋体" panose="02010600030101010101" pitchFamily="2" charset="-122"/>
                                <a:ea typeface="宋体" panose="02010600030101010101" pitchFamily="2" charset="-122"/>
                              </a:defRPr>
                            </a:lvl5pPr>
                            <a:lvl6pPr marL="25146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defRPr kumimoji="1" sz="800" b="1">
                                <a:solidFill>
                                  <a:schemeClr val="tx1"/>
                                </a:solidFill>
                                <a:latin typeface="宋体" panose="02010600030101010101" pitchFamily="2" charset="-122"/>
                                <a:ea typeface="宋体" panose="02010600030101010101" pitchFamily="2" charset="-122"/>
                              </a:defRPr>
                            </a:lvl6pPr>
                            <a:lvl7pPr marL="29718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defRPr kumimoji="1" sz="800" b="1">
                                <a:solidFill>
                                  <a:schemeClr val="tx1"/>
                                </a:solidFill>
                                <a:latin typeface="宋体" panose="02010600030101010101" pitchFamily="2" charset="-122"/>
                                <a:ea typeface="宋体" panose="02010600030101010101" pitchFamily="2" charset="-122"/>
                              </a:defRPr>
                            </a:lvl7pPr>
                            <a:lvl8pPr marL="34290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defRPr kumimoji="1" sz="800" b="1">
                                <a:solidFill>
                                  <a:schemeClr val="tx1"/>
                                </a:solidFill>
                                <a:latin typeface="宋体" panose="02010600030101010101" pitchFamily="2" charset="-122"/>
                                <a:ea typeface="宋体" panose="02010600030101010101" pitchFamily="2" charset="-122"/>
                              </a:defRPr>
                            </a:lvl8pPr>
                            <a:lvl9pPr marL="38862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defRPr kumimoji="1" sz="800" b="1">
                                <a:solidFill>
                                  <a:schemeClr val="tx1"/>
                                </a:solidFill>
                                <a:latin typeface="宋体" panose="02010600030101010101" pitchFamily="2" charset="-122"/>
                                <a:ea typeface="宋体" panose="02010600030101010101" pitchFamily="2" charset="-122"/>
                              </a:defRPr>
                            </a:lvl9pPr>
                          </a:lstStyle>
                          <a:p>
                            <a:pPr eaLnBrk="1" hangingPunct="1">
                              <a:spcBef>
                                <a:spcPct val="0"/>
                              </a:spcBef>
                            </a:pPr>
                            <a:r>
                              <a:rPr lang="zh-CN" altLang="en-US" sz="1400">
                                <a:latin typeface="Times New Roman" panose="02020603050405020304" pitchFamily="18" charset="0"/>
                              </a:rPr>
                              <a:t>4</a:t>
                            </a:r>
                          </a:p>
                        </p:txBody>
                      </p:sp>
                      <p:grpSp>
                        <p:nvGrpSpPr>
                          <p:cNvPr id="168046" name="Group 139"/>
                          <p:cNvGrpSpPr/>
                          <p:nvPr/>
                        </p:nvGrpSpPr>
                        <p:grpSpPr bwMode="auto">
                          <a:xfrm>
                            <a:off x="688" y="3097"/>
                            <a:ext cx="3252" cy="588"/>
                            <a:chOff x="688" y="3097"/>
                            <a:chExt cx="3252" cy="588"/>
                          </a:xfrm>
                        </p:grpSpPr>
                        <p:sp>
                          <p:nvSpPr>
                            <p:cNvPr id="168047" name="Rectangle 53"/>
                            <p:cNvSpPr>
                              <a:spLocks noChangeArrowheads="1"/>
                            </p:cNvSpPr>
                            <p:nvPr/>
                          </p:nvSpPr>
                          <p:spPr bwMode="auto">
                            <a:xfrm>
                              <a:off x="688" y="3097"/>
                              <a:ext cx="56" cy="134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rgbClr val="000000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</a:extLst>
                          </p:spPr>
                          <p:txBody>
                            <a:bodyPr wrap="none" lIns="0" tIns="0" rIns="0" bIns="0">
                              <a:spAutoFit/>
                            </a:bodyPr>
                            <a:lstStyle>
                              <a:lvl1pPr eaLnBrk="0" hangingPunct="0">
                                <a:defRPr kumimoji="1" sz="800" b="1">
                                  <a:solidFill>
                                    <a:schemeClr val="tx1"/>
                                  </a:solidFill>
                                  <a:latin typeface="宋体" panose="02010600030101010101" pitchFamily="2" charset="-122"/>
                                  <a:ea typeface="宋体" panose="02010600030101010101" pitchFamily="2" charset="-122"/>
                                </a:defRPr>
                              </a:lvl1pPr>
                              <a:lvl2pPr marL="742950" indent="-285750" eaLnBrk="0" hangingPunct="0">
                                <a:defRPr kumimoji="1" sz="800" b="1">
                                  <a:solidFill>
                                    <a:schemeClr val="tx1"/>
                                  </a:solidFill>
                                  <a:latin typeface="宋体" panose="02010600030101010101" pitchFamily="2" charset="-122"/>
                                  <a:ea typeface="宋体" panose="02010600030101010101" pitchFamily="2" charset="-122"/>
                                </a:defRPr>
                              </a:lvl2pPr>
                              <a:lvl3pPr marL="1143000" indent="-228600" eaLnBrk="0" hangingPunct="0">
                                <a:defRPr kumimoji="1" sz="800" b="1">
                                  <a:solidFill>
                                    <a:schemeClr val="tx1"/>
                                  </a:solidFill>
                                  <a:latin typeface="宋体" panose="02010600030101010101" pitchFamily="2" charset="-122"/>
                                  <a:ea typeface="宋体" panose="02010600030101010101" pitchFamily="2" charset="-122"/>
                                </a:defRPr>
                              </a:lvl3pPr>
                              <a:lvl4pPr marL="1600200" indent="-228600" eaLnBrk="0" hangingPunct="0">
                                <a:defRPr kumimoji="1" sz="800" b="1">
                                  <a:solidFill>
                                    <a:schemeClr val="tx1"/>
                                  </a:solidFill>
                                  <a:latin typeface="宋体" panose="02010600030101010101" pitchFamily="2" charset="-122"/>
                                  <a:ea typeface="宋体" panose="02010600030101010101" pitchFamily="2" charset="-122"/>
                                </a:defRPr>
                              </a:lvl4pPr>
                              <a:lvl5pPr marL="2057400" indent="-228600" eaLnBrk="0" hangingPunct="0">
                                <a:defRPr kumimoji="1" sz="800" b="1">
                                  <a:solidFill>
                                    <a:schemeClr val="tx1"/>
                                  </a:solidFill>
                                  <a:latin typeface="宋体" panose="02010600030101010101" pitchFamily="2" charset="-122"/>
                                  <a:ea typeface="宋体" panose="02010600030101010101" pitchFamily="2" charset="-122"/>
                                </a:defRPr>
                              </a:lvl5pPr>
                              <a:lvl6pPr marL="2514600" indent="-228600" eaLnBrk="0" fontAlgn="base" hangingPunct="0">
                                <a:spcBef>
                                  <a:spcPct val="20000"/>
                                </a:spcBef>
                                <a:spcAft>
                                  <a:spcPct val="0"/>
                                </a:spcAft>
                                <a:defRPr kumimoji="1" sz="800" b="1">
                                  <a:solidFill>
                                    <a:schemeClr val="tx1"/>
                                  </a:solidFill>
                                  <a:latin typeface="宋体" panose="02010600030101010101" pitchFamily="2" charset="-122"/>
                                  <a:ea typeface="宋体" panose="02010600030101010101" pitchFamily="2" charset="-122"/>
                                </a:defRPr>
                              </a:lvl6pPr>
                              <a:lvl7pPr marL="2971800" indent="-228600" eaLnBrk="0" fontAlgn="base" hangingPunct="0">
                                <a:spcBef>
                                  <a:spcPct val="20000"/>
                                </a:spcBef>
                                <a:spcAft>
                                  <a:spcPct val="0"/>
                                </a:spcAft>
                                <a:defRPr kumimoji="1" sz="800" b="1">
                                  <a:solidFill>
                                    <a:schemeClr val="tx1"/>
                                  </a:solidFill>
                                  <a:latin typeface="宋体" panose="02010600030101010101" pitchFamily="2" charset="-122"/>
                                  <a:ea typeface="宋体" panose="02010600030101010101" pitchFamily="2" charset="-122"/>
                                </a:defRPr>
                              </a:lvl7pPr>
                              <a:lvl8pPr marL="3429000" indent="-228600" eaLnBrk="0" fontAlgn="base" hangingPunct="0">
                                <a:spcBef>
                                  <a:spcPct val="20000"/>
                                </a:spcBef>
                                <a:spcAft>
                                  <a:spcPct val="0"/>
                                </a:spcAft>
                                <a:defRPr kumimoji="1" sz="800" b="1">
                                  <a:solidFill>
                                    <a:schemeClr val="tx1"/>
                                  </a:solidFill>
                                  <a:latin typeface="宋体" panose="02010600030101010101" pitchFamily="2" charset="-122"/>
                                  <a:ea typeface="宋体" panose="02010600030101010101" pitchFamily="2" charset="-122"/>
                                </a:defRPr>
                              </a:lvl8pPr>
                              <a:lvl9pPr marL="3886200" indent="-228600" eaLnBrk="0" fontAlgn="base" hangingPunct="0">
                                <a:spcBef>
                                  <a:spcPct val="20000"/>
                                </a:spcBef>
                                <a:spcAft>
                                  <a:spcPct val="0"/>
                                </a:spcAft>
                                <a:defRPr kumimoji="1" sz="800" b="1">
                                  <a:solidFill>
                                    <a:schemeClr val="tx1"/>
                                  </a:solidFill>
                                  <a:latin typeface="宋体" panose="02010600030101010101" pitchFamily="2" charset="-122"/>
                                  <a:ea typeface="宋体" panose="02010600030101010101" pitchFamily="2" charset="-122"/>
                                </a:defRPr>
                              </a:lvl9pPr>
                            </a:lstStyle>
                            <a:p>
                              <a:pPr eaLnBrk="1" hangingPunct="1">
                                <a:spcBef>
                                  <a:spcPct val="0"/>
                                </a:spcBef>
                              </a:pPr>
                              <a:r>
                                <a:rPr lang="zh-CN" altLang="en-US" sz="1400">
                                  <a:latin typeface="Times New Roman" panose="02020603050405020304" pitchFamily="18" charset="0"/>
                                </a:rPr>
                                <a:t>7</a:t>
                              </a:r>
                            </a:p>
                          </p:txBody>
                        </p:sp>
                        <p:grpSp>
                          <p:nvGrpSpPr>
                            <p:cNvPr id="168048" name="Group 138"/>
                            <p:cNvGrpSpPr/>
                            <p:nvPr/>
                          </p:nvGrpSpPr>
                          <p:grpSpPr bwMode="auto">
                            <a:xfrm>
                              <a:off x="782" y="3146"/>
                              <a:ext cx="3158" cy="539"/>
                              <a:chOff x="782" y="3146"/>
                              <a:chExt cx="3158" cy="539"/>
                            </a:xfrm>
                          </p:grpSpPr>
                          <p:sp>
                            <p:nvSpPr>
                              <p:cNvPr id="168049" name="Line 55"/>
                              <p:cNvSpPr>
                                <a:spLocks noChangeShapeType="1"/>
                              </p:cNvSpPr>
                              <p:nvPr/>
                            </p:nvSpPr>
                            <p:spPr bwMode="auto">
                              <a:xfrm>
                                <a:off x="782" y="3146"/>
                                <a:ext cx="3155" cy="1"/>
                              </a:xfrm>
                              <a:prstGeom prst="line">
                                <a:avLst/>
                              </a:prstGeom>
                              <a:noFill/>
                              <a:ln w="38100">
                                <a:solidFill>
                                  <a:schemeClr val="tx1"/>
                                </a:solidFill>
                                <a:round/>
                              </a:ln>
                              <a:extLst>
                                <a:ext uri="{909E8E84-426E-40DD-AFC4-6F175D3DCCD1}">
                                  <a14:hiddenFill xmlns:a14="http://schemas.microsoft.com/office/drawing/2010/main">
                                    <a:noFill/>
                                  </a14:hiddenFill>
                                </a:ext>
                              </a:extLst>
                            </p:spPr>
                            <p:txBody>
                              <a:bodyPr/>
                              <a:lstStyle/>
                              <a:p>
                                <a:endParaRPr lang="zh-CN" altLang="en-US"/>
                              </a:p>
                            </p:txBody>
                          </p:sp>
                          <p:sp>
                            <p:nvSpPr>
                              <p:cNvPr id="168050" name="Line 56"/>
                              <p:cNvSpPr>
                                <a:spLocks noChangeShapeType="1"/>
                              </p:cNvSpPr>
                              <p:nvPr/>
                            </p:nvSpPr>
                            <p:spPr bwMode="auto">
                              <a:xfrm>
                                <a:off x="785" y="3218"/>
                                <a:ext cx="3155" cy="1"/>
                              </a:xfrm>
                              <a:prstGeom prst="line">
                                <a:avLst/>
                              </a:prstGeom>
                              <a:noFill/>
                              <a:ln w="38100">
                                <a:solidFill>
                                  <a:schemeClr val="tx1"/>
                                </a:solidFill>
                                <a:round/>
                              </a:ln>
                              <a:extLst>
                                <a:ext uri="{909E8E84-426E-40DD-AFC4-6F175D3DCCD1}">
                                  <a14:hiddenFill xmlns:a14="http://schemas.microsoft.com/office/drawing/2010/main">
                                    <a:noFill/>
                                  </a14:hiddenFill>
                                </a:ext>
                              </a:extLst>
                            </p:spPr>
                            <p:txBody>
                              <a:bodyPr/>
                              <a:lstStyle/>
                              <a:p>
                                <a:endParaRPr lang="zh-CN" altLang="en-US"/>
                              </a:p>
                            </p:txBody>
                          </p:sp>
                          <p:sp>
                            <p:nvSpPr>
                              <p:cNvPr id="168051" name="Line 57"/>
                              <p:cNvSpPr>
                                <a:spLocks noChangeShapeType="1"/>
                              </p:cNvSpPr>
                              <p:nvPr/>
                            </p:nvSpPr>
                            <p:spPr bwMode="auto">
                              <a:xfrm>
                                <a:off x="782" y="3299"/>
                                <a:ext cx="3155" cy="1"/>
                              </a:xfrm>
                              <a:prstGeom prst="line">
                                <a:avLst/>
                              </a:prstGeom>
                              <a:noFill/>
                              <a:ln w="38100">
                                <a:solidFill>
                                  <a:schemeClr val="tx1"/>
                                </a:solidFill>
                                <a:round/>
                              </a:ln>
                              <a:extLst>
                                <a:ext uri="{909E8E84-426E-40DD-AFC4-6F175D3DCCD1}">
                                  <a14:hiddenFill xmlns:a14="http://schemas.microsoft.com/office/drawing/2010/main">
                                    <a:noFill/>
                                  </a14:hiddenFill>
                                </a:ext>
                              </a:extLst>
                            </p:spPr>
                            <p:txBody>
                              <a:bodyPr/>
                              <a:lstStyle/>
                              <a:p>
                                <a:endParaRPr lang="zh-CN" altLang="en-US"/>
                              </a:p>
                            </p:txBody>
                          </p:sp>
                          <p:sp>
                            <p:nvSpPr>
                              <p:cNvPr id="168052" name="Line 58"/>
                              <p:cNvSpPr>
                                <a:spLocks noChangeShapeType="1"/>
                              </p:cNvSpPr>
                              <p:nvPr/>
                            </p:nvSpPr>
                            <p:spPr bwMode="auto">
                              <a:xfrm>
                                <a:off x="782" y="3374"/>
                                <a:ext cx="3155" cy="1"/>
                              </a:xfrm>
                              <a:prstGeom prst="line">
                                <a:avLst/>
                              </a:prstGeom>
                              <a:noFill/>
                              <a:ln w="38100">
                                <a:solidFill>
                                  <a:schemeClr val="tx1"/>
                                </a:solidFill>
                                <a:round/>
                              </a:ln>
                              <a:extLst>
                                <a:ext uri="{909E8E84-426E-40DD-AFC4-6F175D3DCCD1}">
                                  <a14:hiddenFill xmlns:a14="http://schemas.microsoft.com/office/drawing/2010/main">
                                    <a:noFill/>
                                  </a14:hiddenFill>
                                </a:ext>
                              </a:extLst>
                            </p:spPr>
                            <p:txBody>
                              <a:bodyPr/>
                              <a:lstStyle/>
                              <a:p>
                                <a:endParaRPr lang="zh-CN" altLang="en-US"/>
                              </a:p>
                            </p:txBody>
                          </p:sp>
                          <p:sp>
                            <p:nvSpPr>
                              <p:cNvPr id="168053" name="Line 59"/>
                              <p:cNvSpPr>
                                <a:spLocks noChangeShapeType="1"/>
                              </p:cNvSpPr>
                              <p:nvPr/>
                            </p:nvSpPr>
                            <p:spPr bwMode="auto">
                              <a:xfrm>
                                <a:off x="782" y="3453"/>
                                <a:ext cx="3155" cy="1"/>
                              </a:xfrm>
                              <a:prstGeom prst="line">
                                <a:avLst/>
                              </a:prstGeom>
                              <a:noFill/>
                              <a:ln w="38100">
                                <a:solidFill>
                                  <a:schemeClr val="tx1"/>
                                </a:solidFill>
                                <a:round/>
                              </a:ln>
                              <a:extLst>
                                <a:ext uri="{909E8E84-426E-40DD-AFC4-6F175D3DCCD1}">
                                  <a14:hiddenFill xmlns:a14="http://schemas.microsoft.com/office/drawing/2010/main">
                                    <a:noFill/>
                                  </a14:hiddenFill>
                                </a:ext>
                              </a:extLst>
                            </p:spPr>
                            <p:txBody>
                              <a:bodyPr/>
                              <a:lstStyle/>
                              <a:p>
                                <a:endParaRPr lang="zh-CN" altLang="en-US"/>
                              </a:p>
                            </p:txBody>
                          </p:sp>
                          <p:sp>
                            <p:nvSpPr>
                              <p:cNvPr id="168054" name="Freeform 60"/>
                              <p:cNvSpPr/>
                              <p:nvPr/>
                            </p:nvSpPr>
                            <p:spPr bwMode="auto">
                              <a:xfrm>
                                <a:off x="782" y="3531"/>
                                <a:ext cx="3157" cy="1"/>
                              </a:xfrm>
                              <a:custGeom>
                                <a:avLst/>
                                <a:gdLst>
                                  <a:gd name="T0" fmla="*/ 0 w 3157"/>
                                  <a:gd name="T1" fmla="*/ 0 h 1"/>
                                  <a:gd name="T2" fmla="*/ 3157 w 3157"/>
                                  <a:gd name="T3" fmla="*/ 0 h 1"/>
                                  <a:gd name="T4" fmla="*/ 0 60000 65536"/>
                                  <a:gd name="T5" fmla="*/ 0 60000 65536"/>
                                  <a:gd name="T6" fmla="*/ 0 w 3157"/>
                                  <a:gd name="T7" fmla="*/ 0 h 1"/>
                                  <a:gd name="T8" fmla="*/ 3157 w 3157"/>
                                  <a:gd name="T9" fmla="*/ 1 h 1"/>
                                </a:gdLst>
                                <a:ahLst/>
                                <a:cxnLst>
                                  <a:cxn ang="T4">
                                    <a:pos x="T0" y="T1"/>
                                  </a:cxn>
                                  <a:cxn ang="T5">
                                    <a:pos x="T2" y="T3"/>
                                  </a:cxn>
                                </a:cxnLst>
                                <a:rect l="T6" t="T7" r="T8" b="T9"/>
                                <a:pathLst>
                                  <a:path w="3157" h="1">
                                    <a:moveTo>
                                      <a:pt x="0" y="0"/>
                                    </a:moveTo>
                                    <a:lnTo>
                                      <a:pt x="3157" y="0"/>
                                    </a:lnTo>
                                  </a:path>
                                </a:pathLst>
                              </a:custGeom>
                              <a:solidFill>
                                <a:srgbClr val="FFFFFF"/>
                              </a:solidFill>
                              <a:ln w="38100">
                                <a:solidFill>
                                  <a:schemeClr val="tx1"/>
                                </a:solidFill>
                                <a:round/>
                              </a:ln>
                            </p:spPr>
                            <p:txBody>
                              <a:bodyPr/>
                              <a:lstStyle/>
                              <a:p>
                                <a:endParaRPr lang="zh-CN" altLang="en-US"/>
                              </a:p>
                            </p:txBody>
                          </p:sp>
                          <p:sp>
                            <p:nvSpPr>
                              <p:cNvPr id="168055" name="Line 61"/>
                              <p:cNvSpPr>
                                <a:spLocks noChangeShapeType="1"/>
                              </p:cNvSpPr>
                              <p:nvPr/>
                            </p:nvSpPr>
                            <p:spPr bwMode="auto">
                              <a:xfrm>
                                <a:off x="782" y="3606"/>
                                <a:ext cx="3155" cy="1"/>
                              </a:xfrm>
                              <a:prstGeom prst="line">
                                <a:avLst/>
                              </a:prstGeom>
                              <a:noFill/>
                              <a:ln w="38100">
                                <a:solidFill>
                                  <a:schemeClr val="tx1"/>
                                </a:solidFill>
                                <a:round/>
                              </a:ln>
                              <a:extLst>
                                <a:ext uri="{909E8E84-426E-40DD-AFC4-6F175D3DCCD1}">
                                  <a14:hiddenFill xmlns:a14="http://schemas.microsoft.com/office/drawing/2010/main">
                                    <a:noFill/>
                                  </a14:hiddenFill>
                                </a:ext>
                              </a:extLst>
                            </p:spPr>
                            <p:txBody>
                              <a:bodyPr/>
                              <a:lstStyle/>
                              <a:p>
                                <a:endParaRPr lang="zh-CN" altLang="en-US"/>
                              </a:p>
                            </p:txBody>
                          </p:sp>
                          <p:sp>
                            <p:nvSpPr>
                              <p:cNvPr id="168056" name="Line 62"/>
                              <p:cNvSpPr>
                                <a:spLocks noChangeShapeType="1"/>
                              </p:cNvSpPr>
                              <p:nvPr/>
                            </p:nvSpPr>
                            <p:spPr bwMode="auto">
                              <a:xfrm>
                                <a:off x="782" y="3684"/>
                                <a:ext cx="3155" cy="1"/>
                              </a:xfrm>
                              <a:prstGeom prst="line">
                                <a:avLst/>
                              </a:prstGeom>
                              <a:noFill/>
                              <a:ln w="38100">
                                <a:solidFill>
                                  <a:schemeClr val="tx1"/>
                                </a:solidFill>
                                <a:round/>
                              </a:ln>
                              <a:extLst>
                                <a:ext uri="{909E8E84-426E-40DD-AFC4-6F175D3DCCD1}">
                                  <a14:hiddenFill xmlns:a14="http://schemas.microsoft.com/office/drawing/2010/main">
                                    <a:noFill/>
                                  </a14:hiddenFill>
                                </a:ext>
                              </a:extLst>
                            </p:spPr>
                            <p:txBody>
                              <a:bodyPr/>
                              <a:lstStyle/>
                              <a:p>
                                <a:endParaRPr lang="zh-CN" altLang="en-US"/>
                              </a:p>
                            </p:txBody>
                          </p:sp>
                        </p:grpSp>
                      </p:grpSp>
                    </p:grpSp>
                  </p:grpSp>
                  <p:sp>
                    <p:nvSpPr>
                      <p:cNvPr id="168041" name="Rectangle 63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630" y="2795"/>
                        <a:ext cx="145" cy="189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>
                        <a:lvl1pPr eaLnBrk="0" hangingPunct="0"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1pPr>
                        <a:lvl2pPr marL="742950" indent="-285750" eaLnBrk="0" hangingPunct="0"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2pPr>
                        <a:lvl3pPr marL="1143000" indent="-228600" eaLnBrk="0" hangingPunct="0"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3pPr>
                        <a:lvl4pPr marL="1600200" indent="-228600" eaLnBrk="0" hangingPunct="0"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4pPr>
                        <a:lvl5pPr marL="2057400" indent="-228600" eaLnBrk="0" hangingPunct="0"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9pPr>
                      </a:lstStyle>
                      <a:p>
                        <a:pPr eaLnBrk="1" hangingPunct="1"/>
                        <a:endParaRPr lang="zh-CN" altLang="en-US"/>
                      </a:p>
                    </p:txBody>
                  </p:sp>
                  <p:sp>
                    <p:nvSpPr>
                      <p:cNvPr id="168042" name="Rectangle 64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630" y="4103"/>
                        <a:ext cx="145" cy="189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>
                        <a:lvl1pPr eaLnBrk="0" hangingPunct="0"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1pPr>
                        <a:lvl2pPr marL="742950" indent="-285750" eaLnBrk="0" hangingPunct="0"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2pPr>
                        <a:lvl3pPr marL="1143000" indent="-228600" eaLnBrk="0" hangingPunct="0"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3pPr>
                        <a:lvl4pPr marL="1600200" indent="-228600" eaLnBrk="0" hangingPunct="0"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4pPr>
                        <a:lvl5pPr marL="2057400" indent="-228600" eaLnBrk="0" hangingPunct="0"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defRPr kumimoji="1" sz="800" b="1">
                            <a:solidFill>
                              <a:schemeClr val="tx1"/>
                            </a:solidFill>
                            <a:latin typeface="宋体" panose="02010600030101010101" pitchFamily="2" charset="-122"/>
                            <a:ea typeface="宋体" panose="02010600030101010101" pitchFamily="2" charset="-122"/>
                          </a:defRPr>
                        </a:lvl9pPr>
                      </a:lstStyle>
                      <a:p>
                        <a:pPr eaLnBrk="1" hangingPunct="1"/>
                        <a:endParaRPr lang="zh-CN" altLang="en-US"/>
                      </a:p>
                    </p:txBody>
                  </p:sp>
                </p:grpSp>
              </p:grpSp>
            </p:grpSp>
          </p:grpSp>
        </p:grpSp>
      </p:grpSp>
      <p:sp>
        <p:nvSpPr>
          <p:cNvPr id="167955" name="Oval 65"/>
          <p:cNvSpPr>
            <a:spLocks noChangeArrowheads="1"/>
          </p:cNvSpPr>
          <p:nvPr/>
        </p:nvSpPr>
        <p:spPr bwMode="auto">
          <a:xfrm>
            <a:off x="1096963" y="5060950"/>
            <a:ext cx="36512" cy="36513"/>
          </a:xfrm>
          <a:prstGeom prst="ellips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167956" name="Oval 66"/>
          <p:cNvSpPr>
            <a:spLocks noChangeArrowheads="1"/>
          </p:cNvSpPr>
          <p:nvPr/>
        </p:nvSpPr>
        <p:spPr bwMode="auto">
          <a:xfrm>
            <a:off x="1103313" y="5237163"/>
            <a:ext cx="34925" cy="36512"/>
          </a:xfrm>
          <a:prstGeom prst="ellips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167957" name="Oval 67"/>
          <p:cNvSpPr>
            <a:spLocks noChangeArrowheads="1"/>
          </p:cNvSpPr>
          <p:nvPr/>
        </p:nvSpPr>
        <p:spPr bwMode="auto">
          <a:xfrm>
            <a:off x="1096963" y="5548313"/>
            <a:ext cx="36512" cy="31750"/>
          </a:xfrm>
          <a:prstGeom prst="ellips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167958" name="Oval 68"/>
          <p:cNvSpPr>
            <a:spLocks noChangeArrowheads="1"/>
          </p:cNvSpPr>
          <p:nvPr/>
        </p:nvSpPr>
        <p:spPr bwMode="auto">
          <a:xfrm>
            <a:off x="1096963" y="5681663"/>
            <a:ext cx="36512" cy="34925"/>
          </a:xfrm>
          <a:prstGeom prst="ellips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grpSp>
        <p:nvGrpSpPr>
          <p:cNvPr id="18" name="Group 69"/>
          <p:cNvGrpSpPr/>
          <p:nvPr/>
        </p:nvGrpSpPr>
        <p:grpSpPr bwMode="auto">
          <a:xfrm>
            <a:off x="911225" y="2876550"/>
            <a:ext cx="5376863" cy="936625"/>
            <a:chOff x="574" y="1812"/>
            <a:chExt cx="3387" cy="590"/>
          </a:xfrm>
        </p:grpSpPr>
        <p:sp>
          <p:nvSpPr>
            <p:cNvPr id="168017" name="Rectangle 70"/>
            <p:cNvSpPr>
              <a:spLocks noChangeArrowheads="1"/>
            </p:cNvSpPr>
            <p:nvPr/>
          </p:nvSpPr>
          <p:spPr bwMode="auto">
            <a:xfrm>
              <a:off x="701" y="1871"/>
              <a:ext cx="56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400">
                  <a:latin typeface="Times New Roman" panose="02020603050405020304" pitchFamily="18" charset="0"/>
                </a:rPr>
                <a:t>9</a:t>
              </a:r>
            </a:p>
          </p:txBody>
        </p:sp>
        <p:sp>
          <p:nvSpPr>
            <p:cNvPr id="168018" name="Rectangle 71"/>
            <p:cNvSpPr>
              <a:spLocks noChangeArrowheads="1"/>
            </p:cNvSpPr>
            <p:nvPr/>
          </p:nvSpPr>
          <p:spPr bwMode="auto">
            <a:xfrm>
              <a:off x="629" y="2210"/>
              <a:ext cx="81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400">
                  <a:latin typeface="Times New Roman" panose="02020603050405020304" pitchFamily="18" charset="0"/>
                </a:rPr>
                <a:t>A</a:t>
              </a:r>
            </a:p>
          </p:txBody>
        </p:sp>
        <p:grpSp>
          <p:nvGrpSpPr>
            <p:cNvPr id="7" name="Group 72"/>
            <p:cNvGrpSpPr/>
            <p:nvPr/>
          </p:nvGrpSpPr>
          <p:grpSpPr bwMode="auto">
            <a:xfrm>
              <a:off x="574" y="1812"/>
              <a:ext cx="3387" cy="590"/>
              <a:chOff x="574" y="1812"/>
              <a:chExt cx="3387" cy="590"/>
            </a:xfrm>
          </p:grpSpPr>
          <p:sp>
            <p:nvSpPr>
              <p:cNvPr id="168020" name="Line 73"/>
              <p:cNvSpPr>
                <a:spLocks noChangeShapeType="1"/>
              </p:cNvSpPr>
              <p:nvPr/>
            </p:nvSpPr>
            <p:spPr bwMode="auto">
              <a:xfrm>
                <a:off x="795" y="1913"/>
                <a:ext cx="3155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8021" name="Line 74"/>
              <p:cNvSpPr>
                <a:spLocks noChangeShapeType="1"/>
              </p:cNvSpPr>
              <p:nvPr/>
            </p:nvSpPr>
            <p:spPr bwMode="auto">
              <a:xfrm>
                <a:off x="795" y="1992"/>
                <a:ext cx="3155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8022" name="Line 75"/>
              <p:cNvSpPr>
                <a:spLocks noChangeShapeType="1"/>
              </p:cNvSpPr>
              <p:nvPr/>
            </p:nvSpPr>
            <p:spPr bwMode="auto">
              <a:xfrm>
                <a:off x="806" y="2233"/>
                <a:ext cx="3155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8023" name="Line 76"/>
              <p:cNvSpPr>
                <a:spLocks noChangeShapeType="1"/>
              </p:cNvSpPr>
              <p:nvPr/>
            </p:nvSpPr>
            <p:spPr bwMode="auto">
              <a:xfrm>
                <a:off x="795" y="2311"/>
                <a:ext cx="3155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8024" name="Line 77"/>
              <p:cNvSpPr>
                <a:spLocks noChangeShapeType="1"/>
              </p:cNvSpPr>
              <p:nvPr/>
            </p:nvSpPr>
            <p:spPr bwMode="auto">
              <a:xfrm>
                <a:off x="795" y="2067"/>
                <a:ext cx="3155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8025" name="Rectangle 78"/>
              <p:cNvSpPr>
                <a:spLocks noChangeArrowheads="1"/>
              </p:cNvSpPr>
              <p:nvPr/>
            </p:nvSpPr>
            <p:spPr bwMode="auto">
              <a:xfrm>
                <a:off x="630" y="1812"/>
                <a:ext cx="81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1400">
                    <a:latin typeface="Times New Roman" panose="02020603050405020304" pitchFamily="18" charset="0"/>
                  </a:rPr>
                  <a:t>A</a:t>
                </a:r>
              </a:p>
            </p:txBody>
          </p:sp>
          <p:sp>
            <p:nvSpPr>
              <p:cNvPr id="168026" name="Rectangle 79"/>
              <p:cNvSpPr>
                <a:spLocks noChangeArrowheads="1"/>
              </p:cNvSpPr>
              <p:nvPr/>
            </p:nvSpPr>
            <p:spPr bwMode="auto">
              <a:xfrm>
                <a:off x="700" y="2268"/>
                <a:ext cx="56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14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68027" name="Text Box 80"/>
              <p:cNvSpPr txBox="1">
                <a:spLocks noChangeArrowheads="1"/>
              </p:cNvSpPr>
              <p:nvPr/>
            </p:nvSpPr>
            <p:spPr bwMode="auto">
              <a:xfrm>
                <a:off x="574" y="1969"/>
                <a:ext cx="230" cy="28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lIns="0" r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2400" b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•••</a:t>
                </a:r>
                <a:endParaRPr lang="zh-CN" altLang="en-US" sz="2400" b="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0" name="Group 81"/>
          <p:cNvGrpSpPr/>
          <p:nvPr/>
        </p:nvGrpSpPr>
        <p:grpSpPr bwMode="auto">
          <a:xfrm>
            <a:off x="2222500" y="4062413"/>
            <a:ext cx="3024188" cy="646112"/>
            <a:chOff x="1400" y="2559"/>
            <a:chExt cx="1905" cy="407"/>
          </a:xfrm>
        </p:grpSpPr>
        <p:sp>
          <p:nvSpPr>
            <p:cNvPr id="168012" name="Rectangle 82"/>
            <p:cNvSpPr>
              <a:spLocks noChangeArrowheads="1"/>
            </p:cNvSpPr>
            <p:nvPr/>
          </p:nvSpPr>
          <p:spPr bwMode="auto">
            <a:xfrm>
              <a:off x="1561" y="2659"/>
              <a:ext cx="3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2114</a:t>
              </a:r>
            </a:p>
          </p:txBody>
        </p:sp>
        <p:grpSp>
          <p:nvGrpSpPr>
            <p:cNvPr id="168013" name="Group 83"/>
            <p:cNvGrpSpPr/>
            <p:nvPr/>
          </p:nvGrpSpPr>
          <p:grpSpPr bwMode="auto">
            <a:xfrm>
              <a:off x="1400" y="2559"/>
              <a:ext cx="1905" cy="407"/>
              <a:chOff x="1400" y="2559"/>
              <a:chExt cx="1905" cy="407"/>
            </a:xfrm>
          </p:grpSpPr>
          <p:sp>
            <p:nvSpPr>
              <p:cNvPr id="168015" name="Rectangle 84"/>
              <p:cNvSpPr>
                <a:spLocks noChangeArrowheads="1"/>
              </p:cNvSpPr>
              <p:nvPr/>
            </p:nvSpPr>
            <p:spPr bwMode="auto">
              <a:xfrm>
                <a:off x="1400" y="2559"/>
                <a:ext cx="651" cy="401"/>
              </a:xfrm>
              <a:prstGeom prst="rect">
                <a:avLst/>
              </a:prstGeom>
              <a:noFill/>
              <a:ln w="38100">
                <a:solidFill>
                  <a:schemeClr val="folHlink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68016" name="Rectangle 85"/>
              <p:cNvSpPr>
                <a:spLocks noChangeArrowheads="1"/>
              </p:cNvSpPr>
              <p:nvPr/>
            </p:nvSpPr>
            <p:spPr bwMode="auto">
              <a:xfrm>
                <a:off x="2654" y="2565"/>
                <a:ext cx="651" cy="401"/>
              </a:xfrm>
              <a:prstGeom prst="rect">
                <a:avLst/>
              </a:prstGeom>
              <a:noFill/>
              <a:ln w="38100">
                <a:solidFill>
                  <a:schemeClr val="folHlink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</p:grpSp>
        <p:sp>
          <p:nvSpPr>
            <p:cNvPr id="168014" name="Rectangle 86"/>
            <p:cNvSpPr>
              <a:spLocks noChangeArrowheads="1"/>
            </p:cNvSpPr>
            <p:nvPr/>
          </p:nvSpPr>
          <p:spPr bwMode="auto">
            <a:xfrm>
              <a:off x="2832" y="2659"/>
              <a:ext cx="3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2114</a:t>
              </a:r>
            </a:p>
          </p:txBody>
        </p:sp>
      </p:grpSp>
      <p:grpSp>
        <p:nvGrpSpPr>
          <p:cNvPr id="22" name="Group 87"/>
          <p:cNvGrpSpPr/>
          <p:nvPr/>
        </p:nvGrpSpPr>
        <p:grpSpPr bwMode="auto">
          <a:xfrm>
            <a:off x="3276600" y="4494213"/>
            <a:ext cx="2276475" cy="11112"/>
            <a:chOff x="2064" y="2831"/>
            <a:chExt cx="1434" cy="7"/>
          </a:xfrm>
        </p:grpSpPr>
        <p:sp>
          <p:nvSpPr>
            <p:cNvPr id="168010" name="Freeform 88"/>
            <p:cNvSpPr/>
            <p:nvPr/>
          </p:nvSpPr>
          <p:spPr bwMode="auto">
            <a:xfrm>
              <a:off x="3309" y="2837"/>
              <a:ext cx="189" cy="1"/>
            </a:xfrm>
            <a:custGeom>
              <a:avLst/>
              <a:gdLst>
                <a:gd name="T0" fmla="*/ 0 w 189"/>
                <a:gd name="T1" fmla="*/ 0 h 1"/>
                <a:gd name="T2" fmla="*/ 189 w 189"/>
                <a:gd name="T3" fmla="*/ 1 h 1"/>
                <a:gd name="T4" fmla="*/ 0 60000 65536"/>
                <a:gd name="T5" fmla="*/ 0 60000 65536"/>
                <a:gd name="T6" fmla="*/ 0 w 189"/>
                <a:gd name="T7" fmla="*/ 0 h 1"/>
                <a:gd name="T8" fmla="*/ 189 w 18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89" h="1">
                  <a:moveTo>
                    <a:pt x="0" y="0"/>
                  </a:moveTo>
                  <a:lnTo>
                    <a:pt x="189" y="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68011" name="Line 89"/>
            <p:cNvSpPr>
              <a:spLocks noChangeShapeType="1"/>
            </p:cNvSpPr>
            <p:nvPr/>
          </p:nvSpPr>
          <p:spPr bwMode="auto">
            <a:xfrm>
              <a:off x="2064" y="2831"/>
              <a:ext cx="15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3" name="Group 90"/>
          <p:cNvGrpSpPr/>
          <p:nvPr/>
        </p:nvGrpSpPr>
        <p:grpSpPr bwMode="auto">
          <a:xfrm>
            <a:off x="3476625" y="4479925"/>
            <a:ext cx="2057400" cy="1638300"/>
            <a:chOff x="2190" y="2822"/>
            <a:chExt cx="1296" cy="1032"/>
          </a:xfrm>
        </p:grpSpPr>
        <p:grpSp>
          <p:nvGrpSpPr>
            <p:cNvPr id="168006" name="Group 91"/>
            <p:cNvGrpSpPr/>
            <p:nvPr/>
          </p:nvGrpSpPr>
          <p:grpSpPr bwMode="auto">
            <a:xfrm>
              <a:off x="2209" y="2822"/>
              <a:ext cx="1277" cy="1025"/>
              <a:chOff x="2209" y="2822"/>
              <a:chExt cx="1277" cy="1025"/>
            </a:xfrm>
          </p:grpSpPr>
          <p:sp>
            <p:nvSpPr>
              <p:cNvPr id="168008" name="Freeform 92"/>
              <p:cNvSpPr/>
              <p:nvPr/>
            </p:nvSpPr>
            <p:spPr bwMode="auto">
              <a:xfrm>
                <a:off x="3485" y="2837"/>
                <a:ext cx="1" cy="1003"/>
              </a:xfrm>
              <a:custGeom>
                <a:avLst/>
                <a:gdLst>
                  <a:gd name="T0" fmla="*/ 1 w 1"/>
                  <a:gd name="T1" fmla="*/ 0 h 1003"/>
                  <a:gd name="T2" fmla="*/ 0 w 1"/>
                  <a:gd name="T3" fmla="*/ 1003 h 1003"/>
                  <a:gd name="T4" fmla="*/ 0 60000 65536"/>
                  <a:gd name="T5" fmla="*/ 0 60000 65536"/>
                  <a:gd name="T6" fmla="*/ 0 w 1"/>
                  <a:gd name="T7" fmla="*/ 0 h 1003"/>
                  <a:gd name="T8" fmla="*/ 1 w 1"/>
                  <a:gd name="T9" fmla="*/ 1003 h 100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1003">
                    <a:moveTo>
                      <a:pt x="1" y="0"/>
                    </a:moveTo>
                    <a:lnTo>
                      <a:pt x="0" y="1003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8009" name="Line 93"/>
              <p:cNvSpPr>
                <a:spLocks noChangeShapeType="1"/>
              </p:cNvSpPr>
              <p:nvPr/>
            </p:nvSpPr>
            <p:spPr bwMode="auto">
              <a:xfrm>
                <a:off x="2209" y="2822"/>
                <a:ext cx="1" cy="102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68007" name="Oval 94"/>
            <p:cNvSpPr>
              <a:spLocks noChangeArrowheads="1"/>
            </p:cNvSpPr>
            <p:nvPr/>
          </p:nvSpPr>
          <p:spPr bwMode="auto">
            <a:xfrm>
              <a:off x="2190" y="3821"/>
              <a:ext cx="35" cy="33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grpSp>
        <p:nvGrpSpPr>
          <p:cNvPr id="25" name="Group 95"/>
          <p:cNvGrpSpPr/>
          <p:nvPr/>
        </p:nvGrpSpPr>
        <p:grpSpPr bwMode="auto">
          <a:xfrm>
            <a:off x="966788" y="6002338"/>
            <a:ext cx="4573587" cy="212725"/>
            <a:chOff x="609" y="3781"/>
            <a:chExt cx="2881" cy="134"/>
          </a:xfrm>
        </p:grpSpPr>
        <p:sp>
          <p:nvSpPr>
            <p:cNvPr id="168002" name="Line 96"/>
            <p:cNvSpPr>
              <a:spLocks noChangeShapeType="1"/>
            </p:cNvSpPr>
            <p:nvPr/>
          </p:nvSpPr>
          <p:spPr bwMode="auto">
            <a:xfrm>
              <a:off x="795" y="3831"/>
              <a:ext cx="2695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9" name="Group 97"/>
            <p:cNvGrpSpPr/>
            <p:nvPr/>
          </p:nvGrpSpPr>
          <p:grpSpPr bwMode="auto">
            <a:xfrm>
              <a:off x="609" y="3781"/>
              <a:ext cx="156" cy="134"/>
              <a:chOff x="414" y="2975"/>
              <a:chExt cx="156" cy="134"/>
            </a:xfrm>
          </p:grpSpPr>
          <p:sp>
            <p:nvSpPr>
              <p:cNvPr id="168004" name="Rectangle 98"/>
              <p:cNvSpPr>
                <a:spLocks noChangeArrowheads="1"/>
              </p:cNvSpPr>
              <p:nvPr/>
            </p:nvSpPr>
            <p:spPr bwMode="auto">
              <a:xfrm>
                <a:off x="415" y="2975"/>
                <a:ext cx="143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1400">
                    <a:latin typeface="Times New Roman" panose="02020603050405020304" pitchFamily="18" charset="0"/>
                  </a:rPr>
                  <a:t>CS</a:t>
                </a:r>
              </a:p>
            </p:txBody>
          </p:sp>
          <p:sp>
            <p:nvSpPr>
              <p:cNvPr id="168005" name="Line 99"/>
              <p:cNvSpPr>
                <a:spLocks noChangeShapeType="1"/>
              </p:cNvSpPr>
              <p:nvPr/>
            </p:nvSpPr>
            <p:spPr bwMode="auto">
              <a:xfrm>
                <a:off x="414" y="2991"/>
                <a:ext cx="15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7" name="Group 100"/>
          <p:cNvGrpSpPr/>
          <p:nvPr/>
        </p:nvGrpSpPr>
        <p:grpSpPr bwMode="auto">
          <a:xfrm>
            <a:off x="3246438" y="4230688"/>
            <a:ext cx="2509837" cy="1587"/>
            <a:chOff x="2045" y="2665"/>
            <a:chExt cx="1581" cy="1"/>
          </a:xfrm>
        </p:grpSpPr>
        <p:sp>
          <p:nvSpPr>
            <p:cNvPr id="168000" name="Line 101"/>
            <p:cNvSpPr>
              <a:spLocks noChangeShapeType="1"/>
            </p:cNvSpPr>
            <p:nvPr/>
          </p:nvSpPr>
          <p:spPr bwMode="auto">
            <a:xfrm>
              <a:off x="3303" y="2665"/>
              <a:ext cx="323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001" name="Line 102"/>
            <p:cNvSpPr>
              <a:spLocks noChangeShapeType="1"/>
            </p:cNvSpPr>
            <p:nvPr/>
          </p:nvSpPr>
          <p:spPr bwMode="auto">
            <a:xfrm>
              <a:off x="2045" y="2665"/>
              <a:ext cx="306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8" name="Group 103"/>
          <p:cNvGrpSpPr/>
          <p:nvPr/>
        </p:nvGrpSpPr>
        <p:grpSpPr bwMode="auto">
          <a:xfrm>
            <a:off x="3702050" y="4217988"/>
            <a:ext cx="2055813" cy="2055812"/>
            <a:chOff x="2332" y="2657"/>
            <a:chExt cx="1295" cy="1295"/>
          </a:xfrm>
        </p:grpSpPr>
        <p:grpSp>
          <p:nvGrpSpPr>
            <p:cNvPr id="167996" name="Group 104"/>
            <p:cNvGrpSpPr/>
            <p:nvPr/>
          </p:nvGrpSpPr>
          <p:grpSpPr bwMode="auto">
            <a:xfrm>
              <a:off x="2345" y="2657"/>
              <a:ext cx="1282" cy="1291"/>
              <a:chOff x="2345" y="2657"/>
              <a:chExt cx="1282" cy="1291"/>
            </a:xfrm>
          </p:grpSpPr>
          <p:sp>
            <p:nvSpPr>
              <p:cNvPr id="167998" name="Line 105"/>
              <p:cNvSpPr>
                <a:spLocks noChangeShapeType="1"/>
              </p:cNvSpPr>
              <p:nvPr/>
            </p:nvSpPr>
            <p:spPr bwMode="auto">
              <a:xfrm>
                <a:off x="3620" y="2657"/>
                <a:ext cx="7" cy="129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7999" name="Line 106"/>
              <p:cNvSpPr>
                <a:spLocks noChangeShapeType="1"/>
              </p:cNvSpPr>
              <p:nvPr/>
            </p:nvSpPr>
            <p:spPr bwMode="auto">
              <a:xfrm>
                <a:off x="2345" y="2660"/>
                <a:ext cx="7" cy="127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67997" name="Oval 107"/>
            <p:cNvSpPr>
              <a:spLocks noChangeArrowheads="1"/>
            </p:cNvSpPr>
            <p:nvPr/>
          </p:nvSpPr>
          <p:spPr bwMode="auto">
            <a:xfrm>
              <a:off x="2332" y="3919"/>
              <a:ext cx="32" cy="33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grpSp>
        <p:nvGrpSpPr>
          <p:cNvPr id="30" name="Group 108"/>
          <p:cNvGrpSpPr/>
          <p:nvPr/>
        </p:nvGrpSpPr>
        <p:grpSpPr bwMode="auto">
          <a:xfrm>
            <a:off x="947738" y="6199188"/>
            <a:ext cx="4808537" cy="212725"/>
            <a:chOff x="597" y="3905"/>
            <a:chExt cx="3029" cy="134"/>
          </a:xfrm>
        </p:grpSpPr>
        <p:sp>
          <p:nvSpPr>
            <p:cNvPr id="167992" name="Line 109"/>
            <p:cNvSpPr>
              <a:spLocks noChangeShapeType="1"/>
            </p:cNvSpPr>
            <p:nvPr/>
          </p:nvSpPr>
          <p:spPr bwMode="auto">
            <a:xfrm>
              <a:off x="795" y="3935"/>
              <a:ext cx="2831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67993" name="Group 110"/>
            <p:cNvGrpSpPr/>
            <p:nvPr/>
          </p:nvGrpSpPr>
          <p:grpSpPr bwMode="auto">
            <a:xfrm>
              <a:off x="597" y="3905"/>
              <a:ext cx="195" cy="134"/>
              <a:chOff x="402" y="3099"/>
              <a:chExt cx="195" cy="134"/>
            </a:xfrm>
          </p:grpSpPr>
          <p:sp>
            <p:nvSpPr>
              <p:cNvPr id="167994" name="Rectangle 111"/>
              <p:cNvSpPr>
                <a:spLocks noChangeArrowheads="1"/>
              </p:cNvSpPr>
              <p:nvPr/>
            </p:nvSpPr>
            <p:spPr bwMode="auto">
              <a:xfrm>
                <a:off x="406" y="3099"/>
                <a:ext cx="187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1400">
                    <a:latin typeface="Times New Roman" panose="02020603050405020304" pitchFamily="18" charset="0"/>
                  </a:rPr>
                  <a:t>WE</a:t>
                </a:r>
              </a:p>
            </p:txBody>
          </p:sp>
          <p:sp>
            <p:nvSpPr>
              <p:cNvPr id="167995" name="Freeform 112"/>
              <p:cNvSpPr/>
              <p:nvPr/>
            </p:nvSpPr>
            <p:spPr bwMode="auto">
              <a:xfrm>
                <a:off x="402" y="3099"/>
                <a:ext cx="195" cy="3"/>
              </a:xfrm>
              <a:custGeom>
                <a:avLst/>
                <a:gdLst>
                  <a:gd name="T0" fmla="*/ 0 w 195"/>
                  <a:gd name="T1" fmla="*/ 3 h 3"/>
                  <a:gd name="T2" fmla="*/ 195 w 195"/>
                  <a:gd name="T3" fmla="*/ 0 h 3"/>
                  <a:gd name="T4" fmla="*/ 0 60000 65536"/>
                  <a:gd name="T5" fmla="*/ 0 60000 65536"/>
                  <a:gd name="T6" fmla="*/ 0 w 195"/>
                  <a:gd name="T7" fmla="*/ 0 h 3"/>
                  <a:gd name="T8" fmla="*/ 195 w 19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3">
                    <a:moveTo>
                      <a:pt x="0" y="3"/>
                    </a:moveTo>
                    <a:lnTo>
                      <a:pt x="195" y="0"/>
                    </a:ln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168003" name="Group 113"/>
          <p:cNvGrpSpPr/>
          <p:nvPr/>
        </p:nvGrpSpPr>
        <p:grpSpPr bwMode="auto">
          <a:xfrm>
            <a:off x="4303713" y="3032125"/>
            <a:ext cx="855662" cy="1039813"/>
            <a:chOff x="2711" y="1910"/>
            <a:chExt cx="539" cy="655"/>
          </a:xfrm>
        </p:grpSpPr>
        <p:grpSp>
          <p:nvGrpSpPr>
            <p:cNvPr id="167982" name="Group 114"/>
            <p:cNvGrpSpPr/>
            <p:nvPr/>
          </p:nvGrpSpPr>
          <p:grpSpPr bwMode="auto">
            <a:xfrm>
              <a:off x="2711" y="1910"/>
              <a:ext cx="539" cy="655"/>
              <a:chOff x="2711" y="1910"/>
              <a:chExt cx="539" cy="655"/>
            </a:xfrm>
          </p:grpSpPr>
          <p:sp>
            <p:nvSpPr>
              <p:cNvPr id="167987" name="Freeform 115"/>
              <p:cNvSpPr/>
              <p:nvPr/>
            </p:nvSpPr>
            <p:spPr bwMode="auto">
              <a:xfrm>
                <a:off x="3249" y="2295"/>
                <a:ext cx="1" cy="270"/>
              </a:xfrm>
              <a:custGeom>
                <a:avLst/>
                <a:gdLst>
                  <a:gd name="T0" fmla="*/ 1 w 1"/>
                  <a:gd name="T1" fmla="*/ 270 h 270"/>
                  <a:gd name="T2" fmla="*/ 0 w 1"/>
                  <a:gd name="T3" fmla="*/ 0 h 270"/>
                  <a:gd name="T4" fmla="*/ 0 60000 65536"/>
                  <a:gd name="T5" fmla="*/ 0 60000 65536"/>
                  <a:gd name="T6" fmla="*/ 0 w 1"/>
                  <a:gd name="T7" fmla="*/ 0 h 270"/>
                  <a:gd name="T8" fmla="*/ 1 w 1"/>
                  <a:gd name="T9" fmla="*/ 270 h 27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70">
                    <a:moveTo>
                      <a:pt x="1" y="27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  <a:headEnd type="none" w="med" len="med"/>
                <a:tailEnd type="oval" w="sm" len="sm"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7988" name="Freeform 116"/>
              <p:cNvSpPr/>
              <p:nvPr/>
            </p:nvSpPr>
            <p:spPr bwMode="auto">
              <a:xfrm>
                <a:off x="3156" y="2225"/>
                <a:ext cx="1" cy="340"/>
              </a:xfrm>
              <a:custGeom>
                <a:avLst/>
                <a:gdLst>
                  <a:gd name="T0" fmla="*/ 1 w 1"/>
                  <a:gd name="T1" fmla="*/ 340 h 340"/>
                  <a:gd name="T2" fmla="*/ 0 w 1"/>
                  <a:gd name="T3" fmla="*/ 0 h 340"/>
                  <a:gd name="T4" fmla="*/ 0 60000 65536"/>
                  <a:gd name="T5" fmla="*/ 0 60000 65536"/>
                  <a:gd name="T6" fmla="*/ 0 w 1"/>
                  <a:gd name="T7" fmla="*/ 0 h 340"/>
                  <a:gd name="T8" fmla="*/ 1 w 1"/>
                  <a:gd name="T9" fmla="*/ 340 h 34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340">
                    <a:moveTo>
                      <a:pt x="1" y="34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  <a:headEnd type="none" w="med" len="med"/>
                <a:tailEnd type="oval" w="sm" len="sm"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7989" name="Line 117"/>
              <p:cNvSpPr>
                <a:spLocks noChangeShapeType="1"/>
              </p:cNvSpPr>
              <p:nvPr/>
            </p:nvSpPr>
            <p:spPr bwMode="auto">
              <a:xfrm flipV="1">
                <a:off x="2891" y="2069"/>
                <a:ext cx="1" cy="49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7990" name="Line 118"/>
              <p:cNvSpPr>
                <a:spLocks noChangeShapeType="1"/>
              </p:cNvSpPr>
              <p:nvPr/>
            </p:nvSpPr>
            <p:spPr bwMode="auto">
              <a:xfrm flipV="1">
                <a:off x="2801" y="1998"/>
                <a:ext cx="1" cy="56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7991" name="Line 119"/>
              <p:cNvSpPr>
                <a:spLocks noChangeShapeType="1"/>
              </p:cNvSpPr>
              <p:nvPr/>
            </p:nvSpPr>
            <p:spPr bwMode="auto">
              <a:xfrm flipV="1">
                <a:off x="2711" y="1910"/>
                <a:ext cx="1" cy="65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67983" name="Group 120"/>
            <p:cNvGrpSpPr/>
            <p:nvPr/>
          </p:nvGrpSpPr>
          <p:grpSpPr bwMode="auto">
            <a:xfrm>
              <a:off x="2935" y="2464"/>
              <a:ext cx="169" cy="23"/>
              <a:chOff x="2935" y="2464"/>
              <a:chExt cx="169" cy="23"/>
            </a:xfrm>
          </p:grpSpPr>
          <p:sp>
            <p:nvSpPr>
              <p:cNvPr id="167984" name="Oval 121"/>
              <p:cNvSpPr>
                <a:spLocks noChangeArrowheads="1"/>
              </p:cNvSpPr>
              <p:nvPr/>
            </p:nvSpPr>
            <p:spPr bwMode="auto">
              <a:xfrm>
                <a:off x="3082" y="2464"/>
                <a:ext cx="22" cy="23"/>
              </a:xfrm>
              <a:prstGeom prst="ellipse">
                <a:avLst/>
              </a:prstGeom>
              <a:solidFill>
                <a:srgbClr val="000000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67985" name="Oval 122"/>
              <p:cNvSpPr>
                <a:spLocks noChangeArrowheads="1"/>
              </p:cNvSpPr>
              <p:nvPr/>
            </p:nvSpPr>
            <p:spPr bwMode="auto">
              <a:xfrm>
                <a:off x="2935" y="2464"/>
                <a:ext cx="22" cy="23"/>
              </a:xfrm>
              <a:prstGeom prst="ellipse">
                <a:avLst/>
              </a:prstGeom>
              <a:solidFill>
                <a:srgbClr val="000000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67986" name="Oval 123"/>
              <p:cNvSpPr>
                <a:spLocks noChangeArrowheads="1"/>
              </p:cNvSpPr>
              <p:nvPr/>
            </p:nvSpPr>
            <p:spPr bwMode="auto">
              <a:xfrm>
                <a:off x="3008" y="2464"/>
                <a:ext cx="22" cy="23"/>
              </a:xfrm>
              <a:prstGeom prst="ellipse">
                <a:avLst/>
              </a:prstGeom>
              <a:solidFill>
                <a:srgbClr val="000000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</p:grpSp>
      </p:grpSp>
      <p:grpSp>
        <p:nvGrpSpPr>
          <p:cNvPr id="168019" name="Group 124"/>
          <p:cNvGrpSpPr/>
          <p:nvPr/>
        </p:nvGrpSpPr>
        <p:grpSpPr bwMode="auto">
          <a:xfrm>
            <a:off x="2312988" y="3022600"/>
            <a:ext cx="857250" cy="1039813"/>
            <a:chOff x="1457" y="1904"/>
            <a:chExt cx="540" cy="655"/>
          </a:xfrm>
        </p:grpSpPr>
        <p:grpSp>
          <p:nvGrpSpPr>
            <p:cNvPr id="167972" name="Group 125"/>
            <p:cNvGrpSpPr/>
            <p:nvPr/>
          </p:nvGrpSpPr>
          <p:grpSpPr bwMode="auto">
            <a:xfrm>
              <a:off x="1457" y="1904"/>
              <a:ext cx="540" cy="655"/>
              <a:chOff x="1457" y="1904"/>
              <a:chExt cx="540" cy="655"/>
            </a:xfrm>
          </p:grpSpPr>
          <p:sp>
            <p:nvSpPr>
              <p:cNvPr id="167977" name="Line 126"/>
              <p:cNvSpPr>
                <a:spLocks noChangeShapeType="1"/>
              </p:cNvSpPr>
              <p:nvPr/>
            </p:nvSpPr>
            <p:spPr bwMode="auto">
              <a:xfrm flipV="1">
                <a:off x="1996" y="2301"/>
                <a:ext cx="1" cy="25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7978" name="Line 127"/>
              <p:cNvSpPr>
                <a:spLocks noChangeShapeType="1"/>
              </p:cNvSpPr>
              <p:nvPr/>
            </p:nvSpPr>
            <p:spPr bwMode="auto">
              <a:xfrm flipV="1">
                <a:off x="1903" y="2223"/>
                <a:ext cx="1" cy="3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7979" name="Line 128"/>
              <p:cNvSpPr>
                <a:spLocks noChangeShapeType="1"/>
              </p:cNvSpPr>
              <p:nvPr/>
            </p:nvSpPr>
            <p:spPr bwMode="auto">
              <a:xfrm flipV="1">
                <a:off x="1637" y="2063"/>
                <a:ext cx="1" cy="49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7980" name="Line 129"/>
              <p:cNvSpPr>
                <a:spLocks noChangeShapeType="1"/>
              </p:cNvSpPr>
              <p:nvPr/>
            </p:nvSpPr>
            <p:spPr bwMode="auto">
              <a:xfrm flipV="1">
                <a:off x="1547" y="1992"/>
                <a:ext cx="1" cy="56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7981" name="Line 130"/>
              <p:cNvSpPr>
                <a:spLocks noChangeShapeType="1"/>
              </p:cNvSpPr>
              <p:nvPr/>
            </p:nvSpPr>
            <p:spPr bwMode="auto">
              <a:xfrm flipV="1">
                <a:off x="1457" y="1904"/>
                <a:ext cx="1" cy="65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67973" name="Group 131"/>
            <p:cNvGrpSpPr/>
            <p:nvPr/>
          </p:nvGrpSpPr>
          <p:grpSpPr bwMode="auto">
            <a:xfrm>
              <a:off x="1684" y="2464"/>
              <a:ext cx="169" cy="23"/>
              <a:chOff x="1684" y="2464"/>
              <a:chExt cx="169" cy="23"/>
            </a:xfrm>
          </p:grpSpPr>
          <p:sp>
            <p:nvSpPr>
              <p:cNvPr id="167974" name="Oval 132"/>
              <p:cNvSpPr>
                <a:spLocks noChangeArrowheads="1"/>
              </p:cNvSpPr>
              <p:nvPr/>
            </p:nvSpPr>
            <p:spPr bwMode="auto">
              <a:xfrm>
                <a:off x="1831" y="2464"/>
                <a:ext cx="22" cy="23"/>
              </a:xfrm>
              <a:prstGeom prst="ellipse">
                <a:avLst/>
              </a:prstGeom>
              <a:solidFill>
                <a:srgbClr val="000000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67975" name="Oval 133"/>
              <p:cNvSpPr>
                <a:spLocks noChangeArrowheads="1"/>
              </p:cNvSpPr>
              <p:nvPr/>
            </p:nvSpPr>
            <p:spPr bwMode="auto">
              <a:xfrm>
                <a:off x="1684" y="2464"/>
                <a:ext cx="22" cy="23"/>
              </a:xfrm>
              <a:prstGeom prst="ellipse">
                <a:avLst/>
              </a:prstGeom>
              <a:solidFill>
                <a:srgbClr val="000000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67976" name="Oval 134"/>
              <p:cNvSpPr>
                <a:spLocks noChangeArrowheads="1"/>
              </p:cNvSpPr>
              <p:nvPr/>
            </p:nvSpPr>
            <p:spPr bwMode="auto">
              <a:xfrm>
                <a:off x="1757" y="2464"/>
                <a:ext cx="22" cy="23"/>
              </a:xfrm>
              <a:prstGeom prst="ellipse">
                <a:avLst/>
              </a:prstGeom>
              <a:solidFill>
                <a:srgbClr val="000000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</p:grpSp>
      </p:grpSp>
      <p:sp>
        <p:nvSpPr>
          <p:cNvPr id="796807" name="Rectangle 135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796808" name="Text Box 136"/>
          <p:cNvSpPr txBox="1">
            <a:spLocks noChangeArrowheads="1"/>
          </p:cNvSpPr>
          <p:nvPr/>
        </p:nvSpPr>
        <p:spPr bwMode="auto">
          <a:xfrm>
            <a:off x="1331913" y="2276475"/>
            <a:ext cx="792162" cy="488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2600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lang="zh-CN" altLang="en-US" sz="2600">
                <a:solidFill>
                  <a:schemeClr val="folHlink"/>
                </a:solidFill>
                <a:latin typeface="Times New Roman" panose="02020603050405020304" pitchFamily="18" charset="0"/>
              </a:rPr>
              <a:t>片</a:t>
            </a:r>
          </a:p>
        </p:txBody>
      </p:sp>
      <p:sp>
        <p:nvSpPr>
          <p:cNvPr id="167971" name="AutoShape 137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966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96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79667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96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7968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0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2" dur="500"/>
                                        <p:tgtEl>
                                          <p:spTgt spid="1680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0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7" dur="500"/>
                                        <p:tgtEl>
                                          <p:spTgt spid="1680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500"/>
                            </p:stCondLst>
                            <p:childTnLst>
                              <p:par>
                                <p:cTn id="7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"/>
                            </p:stCondLst>
                            <p:childTnLst>
                              <p:par>
                                <p:cTn id="83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8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9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500"/>
                            </p:stCondLst>
                            <p:childTnLst>
                              <p:par>
                                <p:cTn id="9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1000"/>
                            </p:stCondLst>
                            <p:childTnLst>
                              <p:par>
                                <p:cTn id="96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9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6674" grpId="0"/>
      <p:bldP spid="796675" grpId="0"/>
      <p:bldP spid="796682" grpId="0" autoUpdateAnimBg="0"/>
      <p:bldP spid="796808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Text Box 2"/>
          <p:cNvSpPr txBox="1">
            <a:spLocks noChangeArrowheads="1"/>
          </p:cNvSpPr>
          <p:nvPr/>
        </p:nvSpPr>
        <p:spPr bwMode="auto">
          <a:xfrm>
            <a:off x="304800" y="457200"/>
            <a:ext cx="6858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(2) 字扩展（增加存储字的数量）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797699" name="Text Box 3"/>
          <p:cNvSpPr txBox="1">
            <a:spLocks noChangeArrowheads="1"/>
          </p:cNvSpPr>
          <p:nvPr/>
        </p:nvSpPr>
        <p:spPr bwMode="auto">
          <a:xfrm>
            <a:off x="685800" y="1492250"/>
            <a:ext cx="7772400" cy="488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600">
                <a:latin typeface="Times New Roman" panose="02020603050405020304" pitchFamily="18" charset="0"/>
              </a:rPr>
              <a:t> 用         1</a:t>
            </a:r>
            <a:r>
              <a:rPr lang="en-US" altLang="zh-CN" sz="2600">
                <a:latin typeface="Times New Roman" panose="02020603050405020304" pitchFamily="18" charset="0"/>
              </a:rPr>
              <a:t>K</a:t>
            </a:r>
            <a:r>
              <a:rPr lang="en-US" altLang="zh-CN" sz="900">
                <a:latin typeface="Times New Roman" panose="02020603050405020304" pitchFamily="18" charset="0"/>
              </a:rPr>
              <a:t> </a:t>
            </a:r>
            <a:r>
              <a:rPr lang="en-US" altLang="zh-CN" sz="26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9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zh-CN" altLang="en-US" sz="2600">
                <a:latin typeface="Times New Roman" panose="02020603050405020304" pitchFamily="18" charset="0"/>
              </a:rPr>
              <a:t>8位 存储芯片组成 2</a:t>
            </a:r>
            <a:r>
              <a:rPr lang="en-US" altLang="zh-CN" sz="2600">
                <a:latin typeface="Times New Roman" panose="02020603050405020304" pitchFamily="18" charset="0"/>
              </a:rPr>
              <a:t>K</a:t>
            </a:r>
            <a:r>
              <a:rPr lang="en-US" altLang="zh-CN" sz="900">
                <a:latin typeface="Times New Roman" panose="02020603050405020304" pitchFamily="18" charset="0"/>
              </a:rPr>
              <a:t> </a:t>
            </a:r>
            <a:r>
              <a:rPr lang="en-US" altLang="zh-CN" sz="26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9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2600">
                <a:latin typeface="Times New Roman" panose="02020603050405020304" pitchFamily="18" charset="0"/>
              </a:rPr>
              <a:t>8</a:t>
            </a:r>
            <a:r>
              <a:rPr lang="zh-CN" altLang="en-US" sz="2600">
                <a:latin typeface="Times New Roman" panose="02020603050405020304" pitchFamily="18" charset="0"/>
              </a:rPr>
              <a:t>位 的存储器</a:t>
            </a:r>
          </a:p>
        </p:txBody>
      </p:sp>
      <p:grpSp>
        <p:nvGrpSpPr>
          <p:cNvPr id="2" name="Group 4"/>
          <p:cNvGrpSpPr/>
          <p:nvPr/>
        </p:nvGrpSpPr>
        <p:grpSpPr bwMode="auto">
          <a:xfrm>
            <a:off x="6821488" y="879475"/>
            <a:ext cx="1998662" cy="457200"/>
            <a:chOff x="4224" y="571"/>
            <a:chExt cx="1259" cy="288"/>
          </a:xfrm>
        </p:grpSpPr>
        <p:sp>
          <p:nvSpPr>
            <p:cNvPr id="169048" name="AutoShape 5"/>
            <p:cNvSpPr>
              <a:spLocks noChangeArrowheads="1"/>
            </p:cNvSpPr>
            <p:nvPr/>
          </p:nvSpPr>
          <p:spPr bwMode="auto">
            <a:xfrm>
              <a:off x="4224" y="576"/>
              <a:ext cx="1248" cy="270"/>
            </a:xfrm>
            <a:prstGeom prst="wedgeRoundRectCallout">
              <a:avLst>
                <a:gd name="adj1" fmla="val -110255"/>
                <a:gd name="adj2" fmla="val 109259"/>
                <a:gd name="adj3" fmla="val 16667"/>
              </a:avLst>
            </a:prstGeom>
            <a:noFill/>
            <a:ln w="28575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rIns="0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endParaRPr lang="en-US" altLang="zh-CN" sz="2600">
                <a:latin typeface="Times New Roman" panose="02020603050405020304" pitchFamily="18" charset="0"/>
              </a:endParaRPr>
            </a:p>
          </p:txBody>
        </p:sp>
        <p:sp>
          <p:nvSpPr>
            <p:cNvPr id="169049" name="Text Box 6"/>
            <p:cNvSpPr txBox="1">
              <a:spLocks noChangeArrowheads="1"/>
            </p:cNvSpPr>
            <p:nvPr/>
          </p:nvSpPr>
          <p:spPr bwMode="auto">
            <a:xfrm>
              <a:off x="4280" y="571"/>
              <a:ext cx="120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11根地址线</a:t>
              </a:r>
            </a:p>
          </p:txBody>
        </p:sp>
      </p:grpSp>
      <p:grpSp>
        <p:nvGrpSpPr>
          <p:cNvPr id="3" name="Group 7"/>
          <p:cNvGrpSpPr/>
          <p:nvPr/>
        </p:nvGrpSpPr>
        <p:grpSpPr bwMode="auto">
          <a:xfrm>
            <a:off x="7061200" y="2230438"/>
            <a:ext cx="2119313" cy="457200"/>
            <a:chOff x="4272" y="1396"/>
            <a:chExt cx="1335" cy="288"/>
          </a:xfrm>
        </p:grpSpPr>
        <p:sp>
          <p:nvSpPr>
            <p:cNvPr id="169046" name="AutoShape 8"/>
            <p:cNvSpPr>
              <a:spLocks noChangeArrowheads="1"/>
            </p:cNvSpPr>
            <p:nvPr/>
          </p:nvSpPr>
          <p:spPr bwMode="auto">
            <a:xfrm>
              <a:off x="4272" y="1410"/>
              <a:ext cx="1250" cy="270"/>
            </a:xfrm>
            <a:prstGeom prst="wedgeRoundRectCallout">
              <a:avLst>
                <a:gd name="adj1" fmla="val -80560"/>
                <a:gd name="adj2" fmla="val -121852"/>
                <a:gd name="adj3" fmla="val 16667"/>
              </a:avLst>
            </a:prstGeom>
            <a:noFill/>
            <a:ln w="28575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endParaRPr lang="zh-CN" altLang="en-US" sz="2600">
                <a:latin typeface="Times New Roman" panose="02020603050405020304" pitchFamily="18" charset="0"/>
              </a:endParaRPr>
            </a:p>
          </p:txBody>
        </p:sp>
        <p:sp>
          <p:nvSpPr>
            <p:cNvPr id="169047" name="Text Box 9"/>
            <p:cNvSpPr txBox="1">
              <a:spLocks noChangeArrowheads="1"/>
            </p:cNvSpPr>
            <p:nvPr/>
          </p:nvSpPr>
          <p:spPr bwMode="auto">
            <a:xfrm>
              <a:off x="4404" y="1396"/>
              <a:ext cx="120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8根数据线</a:t>
              </a:r>
            </a:p>
          </p:txBody>
        </p:sp>
      </p:grpSp>
      <p:sp>
        <p:nvSpPr>
          <p:cNvPr id="797706" name="Rectangle 10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797707" name="Text Box 11"/>
          <p:cNvSpPr txBox="1">
            <a:spLocks noChangeArrowheads="1"/>
          </p:cNvSpPr>
          <p:nvPr/>
        </p:nvSpPr>
        <p:spPr bwMode="auto">
          <a:xfrm>
            <a:off x="1144588" y="1470025"/>
            <a:ext cx="1282700" cy="488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600">
                <a:solidFill>
                  <a:schemeClr val="folHlink"/>
                </a:solidFill>
                <a:latin typeface="Times New Roman" panose="02020603050405020304" pitchFamily="18" charset="0"/>
              </a:rPr>
              <a:t>？片</a:t>
            </a:r>
          </a:p>
        </p:txBody>
      </p:sp>
      <p:sp>
        <p:nvSpPr>
          <p:cNvPr id="797708" name="Text Box 12"/>
          <p:cNvSpPr txBox="1">
            <a:spLocks noChangeArrowheads="1"/>
          </p:cNvSpPr>
          <p:nvPr/>
        </p:nvSpPr>
        <p:spPr bwMode="auto">
          <a:xfrm>
            <a:off x="1246188" y="1484313"/>
            <a:ext cx="792162" cy="488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2600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lang="zh-CN" altLang="en-US" sz="2600">
                <a:solidFill>
                  <a:schemeClr val="folHlink"/>
                </a:solidFill>
                <a:latin typeface="Times New Roman" panose="02020603050405020304" pitchFamily="18" charset="0"/>
              </a:rPr>
              <a:t>片</a:t>
            </a:r>
          </a:p>
        </p:txBody>
      </p:sp>
      <p:grpSp>
        <p:nvGrpSpPr>
          <p:cNvPr id="4" name="Group 13"/>
          <p:cNvGrpSpPr/>
          <p:nvPr/>
        </p:nvGrpSpPr>
        <p:grpSpPr bwMode="auto">
          <a:xfrm>
            <a:off x="3843338" y="4786313"/>
            <a:ext cx="3173412" cy="1587"/>
            <a:chOff x="2421" y="3015"/>
            <a:chExt cx="1999" cy="1"/>
          </a:xfrm>
        </p:grpSpPr>
        <p:sp>
          <p:nvSpPr>
            <p:cNvPr id="169044" name="Freeform 14"/>
            <p:cNvSpPr/>
            <p:nvPr/>
          </p:nvSpPr>
          <p:spPr bwMode="auto">
            <a:xfrm>
              <a:off x="2421" y="3015"/>
              <a:ext cx="233" cy="1"/>
            </a:xfrm>
            <a:custGeom>
              <a:avLst/>
              <a:gdLst>
                <a:gd name="T0" fmla="*/ 0 w 233"/>
                <a:gd name="T1" fmla="*/ 0 h 1"/>
                <a:gd name="T2" fmla="*/ 233 w 233"/>
                <a:gd name="T3" fmla="*/ 0 h 1"/>
                <a:gd name="T4" fmla="*/ 0 60000 65536"/>
                <a:gd name="T5" fmla="*/ 0 60000 65536"/>
                <a:gd name="T6" fmla="*/ 0 w 233"/>
                <a:gd name="T7" fmla="*/ 0 h 1"/>
                <a:gd name="T8" fmla="*/ 233 w 23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33" h="1">
                  <a:moveTo>
                    <a:pt x="0" y="0"/>
                  </a:moveTo>
                  <a:lnTo>
                    <a:pt x="233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9045" name="Freeform 15"/>
            <p:cNvSpPr/>
            <p:nvPr/>
          </p:nvSpPr>
          <p:spPr bwMode="auto">
            <a:xfrm>
              <a:off x="4194" y="3015"/>
              <a:ext cx="226" cy="1"/>
            </a:xfrm>
            <a:custGeom>
              <a:avLst/>
              <a:gdLst>
                <a:gd name="T0" fmla="*/ 0 w 226"/>
                <a:gd name="T1" fmla="*/ 0 h 1"/>
                <a:gd name="T2" fmla="*/ 226 w 226"/>
                <a:gd name="T3" fmla="*/ 0 h 1"/>
                <a:gd name="T4" fmla="*/ 0 60000 65536"/>
                <a:gd name="T5" fmla="*/ 0 60000 65536"/>
                <a:gd name="T6" fmla="*/ 0 w 226"/>
                <a:gd name="T7" fmla="*/ 0 h 1"/>
                <a:gd name="T8" fmla="*/ 226 w 22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6" h="1">
                  <a:moveTo>
                    <a:pt x="0" y="0"/>
                  </a:moveTo>
                  <a:lnTo>
                    <a:pt x="226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" name="Group 16"/>
          <p:cNvGrpSpPr/>
          <p:nvPr/>
        </p:nvGrpSpPr>
        <p:grpSpPr bwMode="auto">
          <a:xfrm>
            <a:off x="4217988" y="4773613"/>
            <a:ext cx="2805112" cy="1612900"/>
            <a:chOff x="2657" y="3007"/>
            <a:chExt cx="1767" cy="1016"/>
          </a:xfrm>
        </p:grpSpPr>
        <p:sp>
          <p:nvSpPr>
            <p:cNvPr id="169042" name="Line 17"/>
            <p:cNvSpPr>
              <a:spLocks noChangeShapeType="1"/>
            </p:cNvSpPr>
            <p:nvPr/>
          </p:nvSpPr>
          <p:spPr bwMode="auto">
            <a:xfrm>
              <a:off x="2657" y="3007"/>
              <a:ext cx="1" cy="10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9043" name="Freeform 18"/>
            <p:cNvSpPr/>
            <p:nvPr/>
          </p:nvSpPr>
          <p:spPr bwMode="auto">
            <a:xfrm>
              <a:off x="4419" y="3009"/>
              <a:ext cx="5" cy="1014"/>
            </a:xfrm>
            <a:custGeom>
              <a:avLst/>
              <a:gdLst>
                <a:gd name="T0" fmla="*/ 0 w 5"/>
                <a:gd name="T1" fmla="*/ 0 h 1014"/>
                <a:gd name="T2" fmla="*/ 5 w 5"/>
                <a:gd name="T3" fmla="*/ 1014 h 1014"/>
                <a:gd name="T4" fmla="*/ 0 60000 65536"/>
                <a:gd name="T5" fmla="*/ 0 60000 65536"/>
                <a:gd name="T6" fmla="*/ 0 w 5"/>
                <a:gd name="T7" fmla="*/ 0 h 1014"/>
                <a:gd name="T8" fmla="*/ 5 w 5"/>
                <a:gd name="T9" fmla="*/ 1014 h 101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" h="1014">
                  <a:moveTo>
                    <a:pt x="0" y="0"/>
                  </a:moveTo>
                  <a:lnTo>
                    <a:pt x="5" y="1014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chemeClr val="tx1"/>
              </a:solidFill>
              <a:prstDash val="solid"/>
              <a:rou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" name="Group 19"/>
          <p:cNvGrpSpPr/>
          <p:nvPr/>
        </p:nvGrpSpPr>
        <p:grpSpPr bwMode="auto">
          <a:xfrm>
            <a:off x="2493963" y="4291013"/>
            <a:ext cx="4160837" cy="652462"/>
            <a:chOff x="1571" y="2703"/>
            <a:chExt cx="2621" cy="411"/>
          </a:xfrm>
        </p:grpSpPr>
        <p:sp>
          <p:nvSpPr>
            <p:cNvPr id="169038" name="Rectangle 20"/>
            <p:cNvSpPr>
              <a:spLocks noChangeArrowheads="1"/>
            </p:cNvSpPr>
            <p:nvPr/>
          </p:nvSpPr>
          <p:spPr bwMode="auto">
            <a:xfrm>
              <a:off x="1571" y="2703"/>
              <a:ext cx="857" cy="411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9039" name="Rectangle 21"/>
            <p:cNvSpPr>
              <a:spLocks noChangeArrowheads="1"/>
            </p:cNvSpPr>
            <p:nvPr/>
          </p:nvSpPr>
          <p:spPr bwMode="auto">
            <a:xfrm>
              <a:off x="1674" y="2792"/>
              <a:ext cx="6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K× </a:t>
              </a:r>
              <a:r>
                <a:rPr lang="zh-CN" altLang="en-US" sz="2000">
                  <a:solidFill>
                    <a:schemeClr val="folHlink"/>
                  </a:solidFill>
                </a:rPr>
                <a:t>8位</a:t>
              </a:r>
              <a:endParaRPr lang="en-US" altLang="zh-CN" sz="2000">
                <a:solidFill>
                  <a:schemeClr val="folHlink"/>
                </a:solidFill>
              </a:endParaRPr>
            </a:p>
          </p:txBody>
        </p:sp>
        <p:sp>
          <p:nvSpPr>
            <p:cNvPr id="169040" name="Rectangle 22"/>
            <p:cNvSpPr>
              <a:spLocks noChangeArrowheads="1"/>
            </p:cNvSpPr>
            <p:nvPr/>
          </p:nvSpPr>
          <p:spPr bwMode="auto">
            <a:xfrm>
              <a:off x="3335" y="2703"/>
              <a:ext cx="857" cy="411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69041" name="Rectangle 23"/>
            <p:cNvSpPr>
              <a:spLocks noChangeArrowheads="1"/>
            </p:cNvSpPr>
            <p:nvPr/>
          </p:nvSpPr>
          <p:spPr bwMode="auto">
            <a:xfrm>
              <a:off x="3443" y="2805"/>
              <a:ext cx="6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K× </a:t>
              </a:r>
              <a:r>
                <a:rPr lang="zh-CN" altLang="en-US" sz="2000">
                  <a:solidFill>
                    <a:schemeClr val="folHlink"/>
                  </a:solidFill>
                </a:rPr>
                <a:t>8位</a:t>
              </a:r>
              <a:endParaRPr lang="en-US" altLang="zh-CN" sz="2000">
                <a:solidFill>
                  <a:schemeClr val="folHlink"/>
                </a:solidFill>
              </a:endParaRPr>
            </a:p>
          </p:txBody>
        </p:sp>
      </p:grpSp>
      <p:grpSp>
        <p:nvGrpSpPr>
          <p:cNvPr id="7" name="Group 24"/>
          <p:cNvGrpSpPr/>
          <p:nvPr/>
        </p:nvGrpSpPr>
        <p:grpSpPr bwMode="auto">
          <a:xfrm>
            <a:off x="568325" y="5197475"/>
            <a:ext cx="7653338" cy="1271588"/>
            <a:chOff x="358" y="3274"/>
            <a:chExt cx="4821" cy="801"/>
          </a:xfrm>
        </p:grpSpPr>
        <p:sp>
          <p:nvSpPr>
            <p:cNvPr id="169030" name="Line 25"/>
            <p:cNvSpPr>
              <a:spLocks noChangeShapeType="1"/>
            </p:cNvSpPr>
            <p:nvPr/>
          </p:nvSpPr>
          <p:spPr bwMode="auto">
            <a:xfrm>
              <a:off x="735" y="3869"/>
              <a:ext cx="444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69031" name="Group 26"/>
            <p:cNvGrpSpPr/>
            <p:nvPr/>
          </p:nvGrpSpPr>
          <p:grpSpPr bwMode="auto">
            <a:xfrm>
              <a:off x="358" y="3274"/>
              <a:ext cx="4821" cy="801"/>
              <a:chOff x="358" y="3274"/>
              <a:chExt cx="4821" cy="801"/>
            </a:xfrm>
          </p:grpSpPr>
          <p:sp>
            <p:nvSpPr>
              <p:cNvPr id="169032" name="Freeform 27"/>
              <p:cNvSpPr/>
              <p:nvPr/>
            </p:nvSpPr>
            <p:spPr bwMode="auto">
              <a:xfrm>
                <a:off x="735" y="3404"/>
                <a:ext cx="4443" cy="1"/>
              </a:xfrm>
              <a:custGeom>
                <a:avLst/>
                <a:gdLst>
                  <a:gd name="T0" fmla="*/ 0 w 4447"/>
                  <a:gd name="T1" fmla="*/ 1 h 1"/>
                  <a:gd name="T2" fmla="*/ 4391 w 4447"/>
                  <a:gd name="T3" fmla="*/ 0 h 1"/>
                  <a:gd name="T4" fmla="*/ 0 60000 65536"/>
                  <a:gd name="T5" fmla="*/ 0 60000 65536"/>
                  <a:gd name="T6" fmla="*/ 0 w 4447"/>
                  <a:gd name="T7" fmla="*/ 0 h 1"/>
                  <a:gd name="T8" fmla="*/ 4447 w 444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47" h="1">
                    <a:moveTo>
                      <a:pt x="0" y="1"/>
                    </a:moveTo>
                    <a:lnTo>
                      <a:pt x="4447" y="0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9033" name="Freeform 28"/>
              <p:cNvSpPr/>
              <p:nvPr/>
            </p:nvSpPr>
            <p:spPr bwMode="auto">
              <a:xfrm>
                <a:off x="738" y="3490"/>
                <a:ext cx="4441" cy="5"/>
              </a:xfrm>
              <a:custGeom>
                <a:avLst/>
                <a:gdLst>
                  <a:gd name="T0" fmla="*/ 0 w 4441"/>
                  <a:gd name="T1" fmla="*/ 5 h 5"/>
                  <a:gd name="T2" fmla="*/ 4441 w 4441"/>
                  <a:gd name="T3" fmla="*/ 0 h 5"/>
                  <a:gd name="T4" fmla="*/ 0 60000 65536"/>
                  <a:gd name="T5" fmla="*/ 0 60000 65536"/>
                  <a:gd name="T6" fmla="*/ 0 w 4441"/>
                  <a:gd name="T7" fmla="*/ 0 h 5"/>
                  <a:gd name="T8" fmla="*/ 4441 w 4441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41" h="5">
                    <a:moveTo>
                      <a:pt x="0" y="5"/>
                    </a:moveTo>
                    <a:lnTo>
                      <a:pt x="4441" y="0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9034" name="Freeform 29"/>
              <p:cNvSpPr/>
              <p:nvPr/>
            </p:nvSpPr>
            <p:spPr bwMode="auto">
              <a:xfrm>
                <a:off x="735" y="3575"/>
                <a:ext cx="4443" cy="4"/>
              </a:xfrm>
              <a:custGeom>
                <a:avLst/>
                <a:gdLst>
                  <a:gd name="T0" fmla="*/ 0 w 4435"/>
                  <a:gd name="T1" fmla="*/ 4 h 4"/>
                  <a:gd name="T2" fmla="*/ 4547 w 4435"/>
                  <a:gd name="T3" fmla="*/ 0 h 4"/>
                  <a:gd name="T4" fmla="*/ 0 60000 65536"/>
                  <a:gd name="T5" fmla="*/ 0 60000 65536"/>
                  <a:gd name="T6" fmla="*/ 0 w 4435"/>
                  <a:gd name="T7" fmla="*/ 0 h 4"/>
                  <a:gd name="T8" fmla="*/ 4435 w 4435"/>
                  <a:gd name="T9" fmla="*/ 4 h 4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35" h="4">
                    <a:moveTo>
                      <a:pt x="0" y="4"/>
                    </a:moveTo>
                    <a:lnTo>
                      <a:pt x="4435" y="0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9035" name="Rectangle 30"/>
              <p:cNvSpPr>
                <a:spLocks noChangeArrowheads="1"/>
              </p:cNvSpPr>
              <p:nvPr/>
            </p:nvSpPr>
            <p:spPr bwMode="auto">
              <a:xfrm>
                <a:off x="479" y="3274"/>
                <a:ext cx="152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1800">
                    <a:latin typeface="Times New Roman" panose="02020603050405020304" pitchFamily="18" charset="0"/>
                  </a:rPr>
                  <a:t>D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7</a:t>
                </a:r>
                <a:endParaRPr lang="en-US" altLang="zh-CN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036" name="Rectangle 31"/>
              <p:cNvSpPr>
                <a:spLocks noChangeArrowheads="1"/>
              </p:cNvSpPr>
              <p:nvPr/>
            </p:nvSpPr>
            <p:spPr bwMode="auto">
              <a:xfrm>
                <a:off x="479" y="3729"/>
                <a:ext cx="385" cy="3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1800">
                    <a:latin typeface="Times New Roman" panose="02020603050405020304" pitchFamily="18" charset="0"/>
                  </a:rPr>
                  <a:t>D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0</a:t>
                </a:r>
              </a:p>
              <a:p>
                <a:pPr eaLnBrk="1" hangingPunct="1">
                  <a:spcBef>
                    <a:spcPct val="0"/>
                  </a:spcBef>
                </a:pPr>
                <a:endParaRPr lang="en-US" altLang="zh-CN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037" name="Text Box 32"/>
              <p:cNvSpPr txBox="1">
                <a:spLocks noChangeArrowheads="1"/>
              </p:cNvSpPr>
              <p:nvPr/>
            </p:nvSpPr>
            <p:spPr bwMode="auto">
              <a:xfrm>
                <a:off x="358" y="3373"/>
                <a:ext cx="346" cy="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 b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•••</a:t>
                </a:r>
                <a:endParaRPr lang="zh-CN" altLang="en-US" sz="2400" b="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9" name="Group 33"/>
          <p:cNvGrpSpPr/>
          <p:nvPr/>
        </p:nvGrpSpPr>
        <p:grpSpPr bwMode="auto">
          <a:xfrm>
            <a:off x="2609850" y="3160713"/>
            <a:ext cx="1074738" cy="1196975"/>
            <a:chOff x="1644" y="1991"/>
            <a:chExt cx="677" cy="754"/>
          </a:xfrm>
        </p:grpSpPr>
        <p:sp>
          <p:nvSpPr>
            <p:cNvPr id="169024" name="Line 34"/>
            <p:cNvSpPr>
              <a:spLocks noChangeShapeType="1"/>
            </p:cNvSpPr>
            <p:nvPr/>
          </p:nvSpPr>
          <p:spPr bwMode="auto">
            <a:xfrm flipV="1">
              <a:off x="2319" y="2525"/>
              <a:ext cx="2" cy="17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9025" name="Line 35"/>
            <p:cNvSpPr>
              <a:spLocks noChangeShapeType="1"/>
            </p:cNvSpPr>
            <p:nvPr/>
          </p:nvSpPr>
          <p:spPr bwMode="auto">
            <a:xfrm flipV="1">
              <a:off x="2198" y="2434"/>
              <a:ext cx="1" cy="26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69026" name="Group 36"/>
            <p:cNvGrpSpPr/>
            <p:nvPr/>
          </p:nvGrpSpPr>
          <p:grpSpPr bwMode="auto">
            <a:xfrm>
              <a:off x="1644" y="1991"/>
              <a:ext cx="578" cy="754"/>
              <a:chOff x="1644" y="1991"/>
              <a:chExt cx="578" cy="754"/>
            </a:xfrm>
          </p:grpSpPr>
          <p:sp>
            <p:nvSpPr>
              <p:cNvPr id="169027" name="Line 37"/>
              <p:cNvSpPr>
                <a:spLocks noChangeShapeType="1"/>
              </p:cNvSpPr>
              <p:nvPr/>
            </p:nvSpPr>
            <p:spPr bwMode="auto">
              <a:xfrm flipV="1">
                <a:off x="1777" y="2075"/>
                <a:ext cx="1" cy="62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9028" name="Line 38"/>
              <p:cNvSpPr>
                <a:spLocks noChangeShapeType="1"/>
              </p:cNvSpPr>
              <p:nvPr/>
            </p:nvSpPr>
            <p:spPr bwMode="auto">
              <a:xfrm flipV="1">
                <a:off x="1644" y="1991"/>
                <a:ext cx="1" cy="71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9029" name="Text Box 39"/>
              <p:cNvSpPr txBox="1">
                <a:spLocks noChangeArrowheads="1"/>
              </p:cNvSpPr>
              <p:nvPr/>
            </p:nvSpPr>
            <p:spPr bwMode="auto">
              <a:xfrm>
                <a:off x="1768" y="2457"/>
                <a:ext cx="45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 b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•••</a:t>
                </a:r>
                <a:endParaRPr lang="zh-CN" altLang="en-US" sz="2400" b="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11" name="Group 40"/>
          <p:cNvGrpSpPr/>
          <p:nvPr/>
        </p:nvGrpSpPr>
        <p:grpSpPr bwMode="auto">
          <a:xfrm>
            <a:off x="2624138" y="4932363"/>
            <a:ext cx="1174750" cy="1209675"/>
            <a:chOff x="1653" y="3107"/>
            <a:chExt cx="740" cy="762"/>
          </a:xfrm>
        </p:grpSpPr>
        <p:sp>
          <p:nvSpPr>
            <p:cNvPr id="169020" name="Freeform 41"/>
            <p:cNvSpPr/>
            <p:nvPr/>
          </p:nvSpPr>
          <p:spPr bwMode="auto">
            <a:xfrm>
              <a:off x="1653" y="3114"/>
              <a:ext cx="3" cy="289"/>
            </a:xfrm>
            <a:custGeom>
              <a:avLst/>
              <a:gdLst>
                <a:gd name="T0" fmla="*/ 0 w 3"/>
                <a:gd name="T1" fmla="*/ 0 h 289"/>
                <a:gd name="T2" fmla="*/ 3 w 3"/>
                <a:gd name="T3" fmla="*/ 289 h 289"/>
                <a:gd name="T4" fmla="*/ 0 60000 65536"/>
                <a:gd name="T5" fmla="*/ 0 60000 65536"/>
                <a:gd name="T6" fmla="*/ 0 w 3"/>
                <a:gd name="T7" fmla="*/ 0 h 289"/>
                <a:gd name="T8" fmla="*/ 3 w 3"/>
                <a:gd name="T9" fmla="*/ 289 h 2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" h="289">
                  <a:moveTo>
                    <a:pt x="0" y="0"/>
                  </a:moveTo>
                  <a:lnTo>
                    <a:pt x="3" y="289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9021" name="Freeform 42"/>
            <p:cNvSpPr/>
            <p:nvPr/>
          </p:nvSpPr>
          <p:spPr bwMode="auto">
            <a:xfrm>
              <a:off x="1797" y="3120"/>
              <a:ext cx="1" cy="378"/>
            </a:xfrm>
            <a:custGeom>
              <a:avLst/>
              <a:gdLst>
                <a:gd name="T0" fmla="*/ 0 w 1"/>
                <a:gd name="T1" fmla="*/ 0 h 378"/>
                <a:gd name="T2" fmla="*/ 0 w 1"/>
                <a:gd name="T3" fmla="*/ 378 h 378"/>
                <a:gd name="T4" fmla="*/ 0 60000 65536"/>
                <a:gd name="T5" fmla="*/ 0 60000 65536"/>
                <a:gd name="T6" fmla="*/ 0 w 1"/>
                <a:gd name="T7" fmla="*/ 0 h 378"/>
                <a:gd name="T8" fmla="*/ 1 w 1"/>
                <a:gd name="T9" fmla="*/ 378 h 37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378">
                  <a:moveTo>
                    <a:pt x="0" y="0"/>
                  </a:moveTo>
                  <a:lnTo>
                    <a:pt x="0" y="378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chemeClr val="tx1"/>
              </a:solidFill>
              <a:prstDash val="solid"/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9022" name="Freeform 43"/>
            <p:cNvSpPr/>
            <p:nvPr/>
          </p:nvSpPr>
          <p:spPr bwMode="auto">
            <a:xfrm>
              <a:off x="2370" y="3114"/>
              <a:ext cx="1" cy="755"/>
            </a:xfrm>
            <a:custGeom>
              <a:avLst/>
              <a:gdLst>
                <a:gd name="T0" fmla="*/ 0 w 1"/>
                <a:gd name="T1" fmla="*/ 0 h 755"/>
                <a:gd name="T2" fmla="*/ 0 w 1"/>
                <a:gd name="T3" fmla="*/ 755 h 755"/>
                <a:gd name="T4" fmla="*/ 0 60000 65536"/>
                <a:gd name="T5" fmla="*/ 0 60000 65536"/>
                <a:gd name="T6" fmla="*/ 0 w 1"/>
                <a:gd name="T7" fmla="*/ 0 h 755"/>
                <a:gd name="T8" fmla="*/ 1 w 1"/>
                <a:gd name="T9" fmla="*/ 755 h 75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755">
                  <a:moveTo>
                    <a:pt x="0" y="0"/>
                  </a:moveTo>
                  <a:lnTo>
                    <a:pt x="0" y="755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9023" name="Text Box 44"/>
            <p:cNvSpPr txBox="1">
              <a:spLocks noChangeArrowheads="1"/>
            </p:cNvSpPr>
            <p:nvPr/>
          </p:nvSpPr>
          <p:spPr bwMode="auto">
            <a:xfrm>
              <a:off x="1743" y="3107"/>
              <a:ext cx="65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2400" b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•••</a:t>
              </a:r>
            </a:p>
          </p:txBody>
        </p:sp>
      </p:grpSp>
      <p:grpSp>
        <p:nvGrpSpPr>
          <p:cNvPr id="12" name="Group 45"/>
          <p:cNvGrpSpPr/>
          <p:nvPr/>
        </p:nvGrpSpPr>
        <p:grpSpPr bwMode="auto">
          <a:xfrm>
            <a:off x="5395913" y="3160713"/>
            <a:ext cx="1096962" cy="1196975"/>
            <a:chOff x="3399" y="1991"/>
            <a:chExt cx="691" cy="754"/>
          </a:xfrm>
        </p:grpSpPr>
        <p:sp>
          <p:nvSpPr>
            <p:cNvPr id="169014" name="Line 46"/>
            <p:cNvSpPr>
              <a:spLocks noChangeShapeType="1"/>
            </p:cNvSpPr>
            <p:nvPr/>
          </p:nvSpPr>
          <p:spPr bwMode="auto">
            <a:xfrm flipV="1">
              <a:off x="4089" y="2525"/>
              <a:ext cx="1" cy="17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9015" name="Line 47"/>
            <p:cNvSpPr>
              <a:spLocks noChangeShapeType="1"/>
            </p:cNvSpPr>
            <p:nvPr/>
          </p:nvSpPr>
          <p:spPr bwMode="auto">
            <a:xfrm flipV="1">
              <a:off x="3955" y="2434"/>
              <a:ext cx="1" cy="26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69016" name="Group 48"/>
            <p:cNvGrpSpPr/>
            <p:nvPr/>
          </p:nvGrpSpPr>
          <p:grpSpPr bwMode="auto">
            <a:xfrm>
              <a:off x="3399" y="1991"/>
              <a:ext cx="557" cy="754"/>
              <a:chOff x="3399" y="1991"/>
              <a:chExt cx="557" cy="754"/>
            </a:xfrm>
          </p:grpSpPr>
          <p:sp>
            <p:nvSpPr>
              <p:cNvPr id="169017" name="Line 49"/>
              <p:cNvSpPr>
                <a:spLocks noChangeShapeType="1"/>
              </p:cNvSpPr>
              <p:nvPr/>
            </p:nvSpPr>
            <p:spPr bwMode="auto">
              <a:xfrm flipV="1">
                <a:off x="3532" y="2075"/>
                <a:ext cx="1" cy="62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9018" name="Line 50"/>
              <p:cNvSpPr>
                <a:spLocks noChangeShapeType="1"/>
              </p:cNvSpPr>
              <p:nvPr/>
            </p:nvSpPr>
            <p:spPr bwMode="auto">
              <a:xfrm flipV="1">
                <a:off x="3399" y="1991"/>
                <a:ext cx="1" cy="71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9019" name="Text Box 51"/>
              <p:cNvSpPr txBox="1">
                <a:spLocks noChangeArrowheads="1"/>
              </p:cNvSpPr>
              <p:nvPr/>
            </p:nvSpPr>
            <p:spPr bwMode="auto">
              <a:xfrm>
                <a:off x="3557" y="2457"/>
                <a:ext cx="399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 b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•••</a:t>
                </a:r>
                <a:endParaRPr lang="zh-CN" altLang="en-US" sz="2400" b="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14" name="Group 52"/>
          <p:cNvGrpSpPr/>
          <p:nvPr/>
        </p:nvGrpSpPr>
        <p:grpSpPr bwMode="auto">
          <a:xfrm>
            <a:off x="5434013" y="4932363"/>
            <a:ext cx="1219200" cy="1209675"/>
            <a:chOff x="3423" y="3107"/>
            <a:chExt cx="768" cy="762"/>
          </a:xfrm>
        </p:grpSpPr>
        <p:sp>
          <p:nvSpPr>
            <p:cNvPr id="169009" name="Line 53"/>
            <p:cNvSpPr>
              <a:spLocks noChangeShapeType="1"/>
            </p:cNvSpPr>
            <p:nvPr/>
          </p:nvSpPr>
          <p:spPr bwMode="auto">
            <a:xfrm>
              <a:off x="3565" y="3123"/>
              <a:ext cx="1" cy="37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69010" name="Group 54"/>
            <p:cNvGrpSpPr/>
            <p:nvPr/>
          </p:nvGrpSpPr>
          <p:grpSpPr bwMode="auto">
            <a:xfrm>
              <a:off x="3423" y="3107"/>
              <a:ext cx="768" cy="762"/>
              <a:chOff x="3423" y="3107"/>
              <a:chExt cx="768" cy="762"/>
            </a:xfrm>
          </p:grpSpPr>
          <p:sp>
            <p:nvSpPr>
              <p:cNvPr id="169011" name="Freeform 55"/>
              <p:cNvSpPr/>
              <p:nvPr/>
            </p:nvSpPr>
            <p:spPr bwMode="auto">
              <a:xfrm>
                <a:off x="3423" y="3111"/>
                <a:ext cx="1" cy="292"/>
              </a:xfrm>
              <a:custGeom>
                <a:avLst/>
                <a:gdLst>
                  <a:gd name="T0" fmla="*/ 0 w 1"/>
                  <a:gd name="T1" fmla="*/ 0 h 292"/>
                  <a:gd name="T2" fmla="*/ 0 w 1"/>
                  <a:gd name="T3" fmla="*/ 292 h 292"/>
                  <a:gd name="T4" fmla="*/ 0 60000 65536"/>
                  <a:gd name="T5" fmla="*/ 0 60000 65536"/>
                  <a:gd name="T6" fmla="*/ 0 w 1"/>
                  <a:gd name="T7" fmla="*/ 0 h 292"/>
                  <a:gd name="T8" fmla="*/ 1 w 1"/>
                  <a:gd name="T9" fmla="*/ 292 h 29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92">
                    <a:moveTo>
                      <a:pt x="0" y="0"/>
                    </a:moveTo>
                    <a:lnTo>
                      <a:pt x="0" y="292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  <a:tailEnd type="oval" w="sm" len="sm"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9012" name="Freeform 56"/>
              <p:cNvSpPr/>
              <p:nvPr/>
            </p:nvSpPr>
            <p:spPr bwMode="auto">
              <a:xfrm>
                <a:off x="4134" y="3114"/>
                <a:ext cx="2" cy="755"/>
              </a:xfrm>
              <a:custGeom>
                <a:avLst/>
                <a:gdLst>
                  <a:gd name="T0" fmla="*/ 0 w 2"/>
                  <a:gd name="T1" fmla="*/ 0 h 755"/>
                  <a:gd name="T2" fmla="*/ 2 w 2"/>
                  <a:gd name="T3" fmla="*/ 755 h 755"/>
                  <a:gd name="T4" fmla="*/ 0 60000 65536"/>
                  <a:gd name="T5" fmla="*/ 0 60000 65536"/>
                  <a:gd name="T6" fmla="*/ 0 w 2"/>
                  <a:gd name="T7" fmla="*/ 0 h 755"/>
                  <a:gd name="T8" fmla="*/ 2 w 2"/>
                  <a:gd name="T9" fmla="*/ 755 h 75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755">
                    <a:moveTo>
                      <a:pt x="0" y="0"/>
                    </a:moveTo>
                    <a:lnTo>
                      <a:pt x="2" y="755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  <a:tailEnd type="oval" w="sm" len="sm"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9013" name="Text Box 57"/>
              <p:cNvSpPr txBox="1">
                <a:spLocks noChangeArrowheads="1"/>
              </p:cNvSpPr>
              <p:nvPr/>
            </p:nvSpPr>
            <p:spPr bwMode="auto">
              <a:xfrm>
                <a:off x="3541" y="3107"/>
                <a:ext cx="65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 b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•••</a:t>
                </a:r>
              </a:p>
            </p:txBody>
          </p:sp>
        </p:grpSp>
      </p:grpSp>
      <p:grpSp>
        <p:nvGrpSpPr>
          <p:cNvPr id="16" name="Group 58"/>
          <p:cNvGrpSpPr/>
          <p:nvPr/>
        </p:nvGrpSpPr>
        <p:grpSpPr bwMode="auto">
          <a:xfrm>
            <a:off x="682625" y="6248400"/>
            <a:ext cx="6334125" cy="280988"/>
            <a:chOff x="430" y="3936"/>
            <a:chExt cx="3990" cy="177"/>
          </a:xfrm>
        </p:grpSpPr>
        <p:sp>
          <p:nvSpPr>
            <p:cNvPr id="169006" name="Freeform 59"/>
            <p:cNvSpPr/>
            <p:nvPr/>
          </p:nvSpPr>
          <p:spPr bwMode="auto">
            <a:xfrm>
              <a:off x="735" y="4007"/>
              <a:ext cx="3685" cy="4"/>
            </a:xfrm>
            <a:custGeom>
              <a:avLst/>
              <a:gdLst>
                <a:gd name="T0" fmla="*/ 0 w 3685"/>
                <a:gd name="T1" fmla="*/ 4 h 4"/>
                <a:gd name="T2" fmla="*/ 3685 w 3685"/>
                <a:gd name="T3" fmla="*/ 0 h 4"/>
                <a:gd name="T4" fmla="*/ 0 60000 65536"/>
                <a:gd name="T5" fmla="*/ 0 60000 65536"/>
                <a:gd name="T6" fmla="*/ 0 w 3685"/>
                <a:gd name="T7" fmla="*/ 0 h 4"/>
                <a:gd name="T8" fmla="*/ 3685 w 3685"/>
                <a:gd name="T9" fmla="*/ 4 h 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85" h="4">
                  <a:moveTo>
                    <a:pt x="0" y="4"/>
                  </a:moveTo>
                  <a:lnTo>
                    <a:pt x="3685" y="0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chemeClr val="tx1"/>
              </a:solidFill>
              <a:prstDash val="solid"/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9007" name="Rectangle 60"/>
            <p:cNvSpPr>
              <a:spLocks noChangeArrowheads="1"/>
            </p:cNvSpPr>
            <p:nvPr/>
          </p:nvSpPr>
          <p:spPr bwMode="auto">
            <a:xfrm>
              <a:off x="440" y="3940"/>
              <a:ext cx="24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WE</a:t>
              </a:r>
            </a:p>
          </p:txBody>
        </p:sp>
        <p:sp>
          <p:nvSpPr>
            <p:cNvPr id="169008" name="Line 61"/>
            <p:cNvSpPr>
              <a:spLocks noChangeShapeType="1"/>
            </p:cNvSpPr>
            <p:nvPr/>
          </p:nvSpPr>
          <p:spPr bwMode="auto">
            <a:xfrm>
              <a:off x="430" y="3936"/>
              <a:ext cx="242" cy="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" name="Group 62"/>
          <p:cNvGrpSpPr/>
          <p:nvPr/>
        </p:nvGrpSpPr>
        <p:grpSpPr bwMode="auto">
          <a:xfrm>
            <a:off x="609600" y="2940050"/>
            <a:ext cx="7612063" cy="1495425"/>
            <a:chOff x="384" y="1852"/>
            <a:chExt cx="4795" cy="942"/>
          </a:xfrm>
        </p:grpSpPr>
        <p:sp>
          <p:nvSpPr>
            <p:cNvPr id="168996" name="Rectangle 63"/>
            <p:cNvSpPr>
              <a:spLocks noChangeArrowheads="1"/>
            </p:cNvSpPr>
            <p:nvPr/>
          </p:nvSpPr>
          <p:spPr bwMode="auto">
            <a:xfrm>
              <a:off x="499" y="2269"/>
              <a:ext cx="19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1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grpSp>
          <p:nvGrpSpPr>
            <p:cNvPr id="168997" name="Group 64"/>
            <p:cNvGrpSpPr/>
            <p:nvPr/>
          </p:nvGrpSpPr>
          <p:grpSpPr bwMode="auto">
            <a:xfrm>
              <a:off x="384" y="1852"/>
              <a:ext cx="4795" cy="942"/>
              <a:chOff x="384" y="1852"/>
              <a:chExt cx="4795" cy="942"/>
            </a:xfrm>
          </p:grpSpPr>
          <p:sp>
            <p:nvSpPr>
              <p:cNvPr id="168998" name="Line 65"/>
              <p:cNvSpPr>
                <a:spLocks noChangeShapeType="1"/>
              </p:cNvSpPr>
              <p:nvPr/>
            </p:nvSpPr>
            <p:spPr bwMode="auto">
              <a:xfrm>
                <a:off x="735" y="1991"/>
                <a:ext cx="4444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8999" name="Freeform 66"/>
              <p:cNvSpPr/>
              <p:nvPr/>
            </p:nvSpPr>
            <p:spPr bwMode="auto">
              <a:xfrm>
                <a:off x="738" y="2076"/>
                <a:ext cx="4440" cy="1"/>
              </a:xfrm>
              <a:custGeom>
                <a:avLst/>
                <a:gdLst>
                  <a:gd name="T0" fmla="*/ 0 w 4440"/>
                  <a:gd name="T1" fmla="*/ 0 h 1"/>
                  <a:gd name="T2" fmla="*/ 4440 w 4440"/>
                  <a:gd name="T3" fmla="*/ 0 h 1"/>
                  <a:gd name="T4" fmla="*/ 0 60000 65536"/>
                  <a:gd name="T5" fmla="*/ 0 60000 65536"/>
                  <a:gd name="T6" fmla="*/ 0 w 4440"/>
                  <a:gd name="T7" fmla="*/ 0 h 1"/>
                  <a:gd name="T8" fmla="*/ 4440 w 444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40" h="1">
                    <a:moveTo>
                      <a:pt x="0" y="0"/>
                    </a:moveTo>
                    <a:lnTo>
                      <a:pt x="4440" y="0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9000" name="Line 67"/>
              <p:cNvSpPr>
                <a:spLocks noChangeShapeType="1"/>
              </p:cNvSpPr>
              <p:nvPr/>
            </p:nvSpPr>
            <p:spPr bwMode="auto">
              <a:xfrm>
                <a:off x="735" y="2431"/>
                <a:ext cx="4444" cy="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9001" name="Freeform 68"/>
              <p:cNvSpPr/>
              <p:nvPr/>
            </p:nvSpPr>
            <p:spPr bwMode="auto">
              <a:xfrm>
                <a:off x="738" y="2517"/>
                <a:ext cx="4441" cy="3"/>
              </a:xfrm>
              <a:custGeom>
                <a:avLst/>
                <a:gdLst>
                  <a:gd name="T0" fmla="*/ 0 w 4441"/>
                  <a:gd name="T1" fmla="*/ 3 h 3"/>
                  <a:gd name="T2" fmla="*/ 4441 w 4441"/>
                  <a:gd name="T3" fmla="*/ 0 h 3"/>
                  <a:gd name="T4" fmla="*/ 0 60000 65536"/>
                  <a:gd name="T5" fmla="*/ 0 60000 65536"/>
                  <a:gd name="T6" fmla="*/ 0 w 4441"/>
                  <a:gd name="T7" fmla="*/ 0 h 3"/>
                  <a:gd name="T8" fmla="*/ 4441 w 4441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41" h="3">
                    <a:moveTo>
                      <a:pt x="0" y="3"/>
                    </a:moveTo>
                    <a:lnTo>
                      <a:pt x="4441" y="0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9002" name="Freeform 69"/>
              <p:cNvSpPr/>
              <p:nvPr/>
            </p:nvSpPr>
            <p:spPr bwMode="auto">
              <a:xfrm>
                <a:off x="741" y="2157"/>
                <a:ext cx="4437" cy="6"/>
              </a:xfrm>
              <a:custGeom>
                <a:avLst/>
                <a:gdLst>
                  <a:gd name="T0" fmla="*/ 0 w 4437"/>
                  <a:gd name="T1" fmla="*/ 0 h 6"/>
                  <a:gd name="T2" fmla="*/ 4437 w 4437"/>
                  <a:gd name="T3" fmla="*/ 6 h 6"/>
                  <a:gd name="T4" fmla="*/ 0 60000 65536"/>
                  <a:gd name="T5" fmla="*/ 0 60000 65536"/>
                  <a:gd name="T6" fmla="*/ 0 w 4437"/>
                  <a:gd name="T7" fmla="*/ 0 h 6"/>
                  <a:gd name="T8" fmla="*/ 4437 w 443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437" h="6">
                    <a:moveTo>
                      <a:pt x="0" y="0"/>
                    </a:moveTo>
                    <a:lnTo>
                      <a:pt x="4437" y="6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9003" name="Rectangle 70"/>
              <p:cNvSpPr>
                <a:spLocks noChangeArrowheads="1"/>
              </p:cNvSpPr>
              <p:nvPr/>
            </p:nvSpPr>
            <p:spPr bwMode="auto">
              <a:xfrm>
                <a:off x="499" y="2448"/>
                <a:ext cx="317" cy="3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18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0</a:t>
                </a:r>
              </a:p>
              <a:p>
                <a:pPr eaLnBrk="1" hangingPunct="1">
                  <a:spcBef>
                    <a:spcPct val="0"/>
                  </a:spcBef>
                </a:pPr>
                <a:endParaRPr lang="en-US" altLang="zh-CN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004" name="Text Box 71"/>
              <p:cNvSpPr txBox="1">
                <a:spLocks noChangeArrowheads="1"/>
              </p:cNvSpPr>
              <p:nvPr/>
            </p:nvSpPr>
            <p:spPr bwMode="auto">
              <a:xfrm>
                <a:off x="384" y="1956"/>
                <a:ext cx="346" cy="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 b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•••</a:t>
                </a:r>
                <a:endParaRPr lang="zh-CN" altLang="en-US" sz="24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005" name="Rectangle 72"/>
              <p:cNvSpPr>
                <a:spLocks noChangeArrowheads="1"/>
              </p:cNvSpPr>
              <p:nvPr/>
            </p:nvSpPr>
            <p:spPr bwMode="auto">
              <a:xfrm>
                <a:off x="491" y="1852"/>
                <a:ext cx="152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18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9</a:t>
                </a:r>
                <a:endParaRPr lang="en-US" altLang="zh-CN" sz="180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19" name="Group 73"/>
          <p:cNvGrpSpPr/>
          <p:nvPr/>
        </p:nvGrpSpPr>
        <p:grpSpPr bwMode="auto">
          <a:xfrm>
            <a:off x="792163" y="2684463"/>
            <a:ext cx="4856162" cy="1854200"/>
            <a:chOff x="499" y="1691"/>
            <a:chExt cx="3059" cy="1168"/>
          </a:xfrm>
        </p:grpSpPr>
        <p:sp>
          <p:nvSpPr>
            <p:cNvPr id="168990" name="Line 74"/>
            <p:cNvSpPr>
              <a:spLocks noChangeShapeType="1"/>
            </p:cNvSpPr>
            <p:nvPr/>
          </p:nvSpPr>
          <p:spPr bwMode="auto">
            <a:xfrm flipV="1">
              <a:off x="2852" y="1835"/>
              <a:ext cx="1" cy="102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991" name="Freeform 75"/>
            <p:cNvSpPr/>
            <p:nvPr/>
          </p:nvSpPr>
          <p:spPr bwMode="auto">
            <a:xfrm>
              <a:off x="2424" y="2841"/>
              <a:ext cx="428" cy="1"/>
            </a:xfrm>
            <a:custGeom>
              <a:avLst/>
              <a:gdLst>
                <a:gd name="T0" fmla="*/ 0 w 428"/>
                <a:gd name="T1" fmla="*/ 0 h 1"/>
                <a:gd name="T2" fmla="*/ 428 w 428"/>
                <a:gd name="T3" fmla="*/ 1 h 1"/>
                <a:gd name="T4" fmla="*/ 0 60000 65536"/>
                <a:gd name="T5" fmla="*/ 0 60000 65536"/>
                <a:gd name="T6" fmla="*/ 0 w 428"/>
                <a:gd name="T7" fmla="*/ 0 h 1"/>
                <a:gd name="T8" fmla="*/ 428 w 42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28" h="1">
                  <a:moveTo>
                    <a:pt x="0" y="0"/>
                  </a:moveTo>
                  <a:lnTo>
                    <a:pt x="428" y="1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992" name="Rectangle 76"/>
            <p:cNvSpPr>
              <a:spLocks noChangeArrowheads="1"/>
            </p:cNvSpPr>
            <p:nvPr/>
          </p:nvSpPr>
          <p:spPr bwMode="auto">
            <a:xfrm>
              <a:off x="2515" y="2623"/>
              <a:ext cx="30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CS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0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168993" name="Line 77"/>
            <p:cNvSpPr>
              <a:spLocks noChangeShapeType="1"/>
            </p:cNvSpPr>
            <p:nvPr/>
          </p:nvSpPr>
          <p:spPr bwMode="auto">
            <a:xfrm>
              <a:off x="735" y="1830"/>
              <a:ext cx="2823" cy="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994" name="Rectangle 78"/>
            <p:cNvSpPr>
              <a:spLocks noChangeArrowheads="1"/>
            </p:cNvSpPr>
            <p:nvPr/>
          </p:nvSpPr>
          <p:spPr bwMode="auto">
            <a:xfrm>
              <a:off x="499" y="1691"/>
              <a:ext cx="20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10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168995" name="Freeform 79"/>
            <p:cNvSpPr/>
            <p:nvPr/>
          </p:nvSpPr>
          <p:spPr bwMode="auto">
            <a:xfrm>
              <a:off x="2511" y="2625"/>
              <a:ext cx="213" cy="1"/>
            </a:xfrm>
            <a:custGeom>
              <a:avLst/>
              <a:gdLst>
                <a:gd name="T0" fmla="*/ 0 w 213"/>
                <a:gd name="T1" fmla="*/ 0 h 1"/>
                <a:gd name="T2" fmla="*/ 213 w 213"/>
                <a:gd name="T3" fmla="*/ 0 h 1"/>
                <a:gd name="T4" fmla="*/ 0 60000 65536"/>
                <a:gd name="T5" fmla="*/ 0 60000 65536"/>
                <a:gd name="T6" fmla="*/ 0 w 213"/>
                <a:gd name="T7" fmla="*/ 0 h 1"/>
                <a:gd name="T8" fmla="*/ 213 w 21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3" h="1">
                  <a:moveTo>
                    <a:pt x="0" y="0"/>
                  </a:moveTo>
                  <a:lnTo>
                    <a:pt x="213" y="0"/>
                  </a:lnTo>
                </a:path>
              </a:pathLst>
            </a:custGeom>
            <a:noFill/>
            <a:ln w="1905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" name="Group 80"/>
          <p:cNvGrpSpPr/>
          <p:nvPr/>
        </p:nvGrpSpPr>
        <p:grpSpPr bwMode="auto">
          <a:xfrm>
            <a:off x="5654675" y="2736850"/>
            <a:ext cx="346075" cy="342900"/>
            <a:chOff x="3562" y="1724"/>
            <a:chExt cx="218" cy="216"/>
          </a:xfrm>
        </p:grpSpPr>
        <p:sp>
          <p:nvSpPr>
            <p:cNvPr id="168988" name="Rectangle 81"/>
            <p:cNvSpPr>
              <a:spLocks noChangeArrowheads="1"/>
            </p:cNvSpPr>
            <p:nvPr/>
          </p:nvSpPr>
          <p:spPr bwMode="auto">
            <a:xfrm>
              <a:off x="3562" y="1724"/>
              <a:ext cx="146" cy="216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zh-CN" altLang="en-US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</a:t>
              </a: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68989" name="Oval 82"/>
            <p:cNvSpPr>
              <a:spLocks noChangeArrowheads="1"/>
            </p:cNvSpPr>
            <p:nvPr/>
          </p:nvSpPr>
          <p:spPr bwMode="auto">
            <a:xfrm>
              <a:off x="3724" y="1797"/>
              <a:ext cx="56" cy="56"/>
            </a:xfrm>
            <a:prstGeom prst="ellipse">
              <a:avLst/>
            </a:prstGeom>
            <a:noFill/>
            <a:ln w="1905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grpSp>
        <p:nvGrpSpPr>
          <p:cNvPr id="21" name="Group 83"/>
          <p:cNvGrpSpPr/>
          <p:nvPr/>
        </p:nvGrpSpPr>
        <p:grpSpPr bwMode="auto">
          <a:xfrm>
            <a:off x="5995988" y="2876550"/>
            <a:ext cx="1360487" cy="1655763"/>
            <a:chOff x="3777" y="1812"/>
            <a:chExt cx="857" cy="1043"/>
          </a:xfrm>
        </p:grpSpPr>
        <p:sp>
          <p:nvSpPr>
            <p:cNvPr id="168983" name="Freeform 84"/>
            <p:cNvSpPr/>
            <p:nvPr/>
          </p:nvSpPr>
          <p:spPr bwMode="auto">
            <a:xfrm>
              <a:off x="4623" y="1812"/>
              <a:ext cx="2" cy="1043"/>
            </a:xfrm>
            <a:custGeom>
              <a:avLst/>
              <a:gdLst>
                <a:gd name="T0" fmla="*/ 2 w 2"/>
                <a:gd name="T1" fmla="*/ 1043 h 1043"/>
                <a:gd name="T2" fmla="*/ 0 w 2"/>
                <a:gd name="T3" fmla="*/ 0 h 1043"/>
                <a:gd name="T4" fmla="*/ 0 60000 65536"/>
                <a:gd name="T5" fmla="*/ 0 60000 65536"/>
                <a:gd name="T6" fmla="*/ 0 w 2"/>
                <a:gd name="T7" fmla="*/ 0 h 1043"/>
                <a:gd name="T8" fmla="*/ 2 w 2"/>
                <a:gd name="T9" fmla="*/ 1043 h 104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1043">
                  <a:moveTo>
                    <a:pt x="2" y="1043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headEnd type="none" w="med" len="med"/>
              <a:tailEnd type="none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984" name="Freeform 85"/>
            <p:cNvSpPr/>
            <p:nvPr/>
          </p:nvSpPr>
          <p:spPr bwMode="auto">
            <a:xfrm>
              <a:off x="4191" y="2841"/>
              <a:ext cx="428" cy="1"/>
            </a:xfrm>
            <a:custGeom>
              <a:avLst/>
              <a:gdLst>
                <a:gd name="T0" fmla="*/ 0 w 428"/>
                <a:gd name="T1" fmla="*/ 0 h 1"/>
                <a:gd name="T2" fmla="*/ 428 w 428"/>
                <a:gd name="T3" fmla="*/ 1 h 1"/>
                <a:gd name="T4" fmla="*/ 0 60000 65536"/>
                <a:gd name="T5" fmla="*/ 0 60000 65536"/>
                <a:gd name="T6" fmla="*/ 0 w 428"/>
                <a:gd name="T7" fmla="*/ 0 h 1"/>
                <a:gd name="T8" fmla="*/ 428 w 42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28" h="1">
                  <a:moveTo>
                    <a:pt x="0" y="0"/>
                  </a:moveTo>
                  <a:lnTo>
                    <a:pt x="428" y="1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985" name="Rectangle 86"/>
            <p:cNvSpPr>
              <a:spLocks noChangeArrowheads="1"/>
            </p:cNvSpPr>
            <p:nvPr/>
          </p:nvSpPr>
          <p:spPr bwMode="auto">
            <a:xfrm>
              <a:off x="4271" y="2623"/>
              <a:ext cx="23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CS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1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168986" name="Line 87"/>
            <p:cNvSpPr>
              <a:spLocks noChangeShapeType="1"/>
            </p:cNvSpPr>
            <p:nvPr/>
          </p:nvSpPr>
          <p:spPr bwMode="auto">
            <a:xfrm>
              <a:off x="3777" y="1822"/>
              <a:ext cx="8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987" name="Freeform 88"/>
            <p:cNvSpPr/>
            <p:nvPr/>
          </p:nvSpPr>
          <p:spPr bwMode="auto">
            <a:xfrm>
              <a:off x="4263" y="2625"/>
              <a:ext cx="213" cy="1"/>
            </a:xfrm>
            <a:custGeom>
              <a:avLst/>
              <a:gdLst>
                <a:gd name="T0" fmla="*/ 0 w 213"/>
                <a:gd name="T1" fmla="*/ 0 h 1"/>
                <a:gd name="T2" fmla="*/ 213 w 213"/>
                <a:gd name="T3" fmla="*/ 0 h 1"/>
                <a:gd name="T4" fmla="*/ 0 60000 65536"/>
                <a:gd name="T5" fmla="*/ 0 60000 65536"/>
                <a:gd name="T6" fmla="*/ 0 w 213"/>
                <a:gd name="T7" fmla="*/ 0 h 1"/>
                <a:gd name="T8" fmla="*/ 213 w 21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3" h="1">
                  <a:moveTo>
                    <a:pt x="0" y="0"/>
                  </a:moveTo>
                  <a:lnTo>
                    <a:pt x="213" y="0"/>
                  </a:lnTo>
                </a:path>
              </a:pathLst>
            </a:custGeom>
            <a:noFill/>
            <a:ln w="1905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68982" name="AutoShape 89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976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79770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97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977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5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6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00"/>
                            </p:stCondLst>
                            <p:childTnLst>
                              <p:par>
                                <p:cTn id="6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000"/>
                            </p:stCondLst>
                            <p:childTnLst>
                              <p:par>
                                <p:cTn id="73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7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8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9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7699" grpId="0" autoUpdateAnimBg="0"/>
      <p:bldP spid="797707" grpId="0"/>
      <p:bldP spid="797708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1933575" y="4679950"/>
            <a:ext cx="6505575" cy="1662113"/>
            <a:chOff x="1218" y="2948"/>
            <a:chExt cx="4098" cy="1047"/>
          </a:xfrm>
        </p:grpSpPr>
        <p:sp>
          <p:nvSpPr>
            <p:cNvPr id="170188" name="Line 3"/>
            <p:cNvSpPr>
              <a:spLocks noChangeShapeType="1"/>
            </p:cNvSpPr>
            <p:nvPr/>
          </p:nvSpPr>
          <p:spPr bwMode="auto">
            <a:xfrm>
              <a:off x="1218" y="2952"/>
              <a:ext cx="1" cy="104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89" name="Line 4"/>
            <p:cNvSpPr>
              <a:spLocks noChangeShapeType="1"/>
            </p:cNvSpPr>
            <p:nvPr/>
          </p:nvSpPr>
          <p:spPr bwMode="auto">
            <a:xfrm>
              <a:off x="1798" y="2952"/>
              <a:ext cx="1" cy="104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90" name="Line 5"/>
            <p:cNvSpPr>
              <a:spLocks noChangeShapeType="1"/>
            </p:cNvSpPr>
            <p:nvPr/>
          </p:nvSpPr>
          <p:spPr bwMode="auto">
            <a:xfrm>
              <a:off x="2368" y="2952"/>
              <a:ext cx="1" cy="104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91" name="Line 6"/>
            <p:cNvSpPr>
              <a:spLocks noChangeShapeType="1"/>
            </p:cNvSpPr>
            <p:nvPr/>
          </p:nvSpPr>
          <p:spPr bwMode="auto">
            <a:xfrm>
              <a:off x="2951" y="2952"/>
              <a:ext cx="1" cy="104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92" name="Line 7"/>
            <p:cNvSpPr>
              <a:spLocks noChangeShapeType="1"/>
            </p:cNvSpPr>
            <p:nvPr/>
          </p:nvSpPr>
          <p:spPr bwMode="auto">
            <a:xfrm>
              <a:off x="3567" y="2952"/>
              <a:ext cx="1" cy="104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93" name="Line 8"/>
            <p:cNvSpPr>
              <a:spLocks noChangeShapeType="1"/>
            </p:cNvSpPr>
            <p:nvPr/>
          </p:nvSpPr>
          <p:spPr bwMode="auto">
            <a:xfrm>
              <a:off x="4162" y="2952"/>
              <a:ext cx="1" cy="104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94" name="Line 9"/>
            <p:cNvSpPr>
              <a:spLocks noChangeShapeType="1"/>
            </p:cNvSpPr>
            <p:nvPr/>
          </p:nvSpPr>
          <p:spPr bwMode="auto">
            <a:xfrm>
              <a:off x="4732" y="2952"/>
              <a:ext cx="1" cy="104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95" name="Line 10"/>
            <p:cNvSpPr>
              <a:spLocks noChangeShapeType="1"/>
            </p:cNvSpPr>
            <p:nvPr/>
          </p:nvSpPr>
          <p:spPr bwMode="auto">
            <a:xfrm>
              <a:off x="5315" y="2948"/>
              <a:ext cx="1" cy="104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69987" name="Text Box 11"/>
          <p:cNvSpPr txBox="1">
            <a:spLocks noChangeArrowheads="1"/>
          </p:cNvSpPr>
          <p:nvPr/>
        </p:nvSpPr>
        <p:spPr bwMode="auto">
          <a:xfrm>
            <a:off x="152400" y="334963"/>
            <a:ext cx="6858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(3) 字、位扩展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798732" name="Text Box 12"/>
          <p:cNvSpPr txBox="1">
            <a:spLocks noChangeArrowheads="1"/>
          </p:cNvSpPr>
          <p:nvPr/>
        </p:nvSpPr>
        <p:spPr bwMode="auto">
          <a:xfrm>
            <a:off x="838200" y="952500"/>
            <a:ext cx="8229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用        1</a:t>
            </a:r>
            <a:r>
              <a:rPr lang="en-US" altLang="zh-CN" sz="2800">
                <a:latin typeface="Times New Roman" panose="02020603050405020304" pitchFamily="18" charset="0"/>
              </a:rPr>
              <a:t>K</a:t>
            </a:r>
            <a:r>
              <a:rPr lang="en-US" altLang="zh-CN" sz="900">
                <a:latin typeface="Times New Roman" panose="02020603050405020304" pitchFamily="18" charset="0"/>
              </a:rPr>
              <a:t> 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9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zh-CN" altLang="en-US" sz="2800">
                <a:latin typeface="Times New Roman" panose="02020603050405020304" pitchFamily="18" charset="0"/>
              </a:rPr>
              <a:t>4位 存储芯片组成 4</a:t>
            </a:r>
            <a:r>
              <a:rPr lang="en-US" altLang="zh-CN" sz="2800">
                <a:latin typeface="Times New Roman" panose="02020603050405020304" pitchFamily="18" charset="0"/>
              </a:rPr>
              <a:t>K</a:t>
            </a:r>
            <a:r>
              <a:rPr lang="en-US" altLang="zh-CN" sz="900">
                <a:latin typeface="Times New Roman" panose="02020603050405020304" pitchFamily="18" charset="0"/>
              </a:rPr>
              <a:t> 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9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2800">
                <a:latin typeface="Times New Roman" panose="02020603050405020304" pitchFamily="18" charset="0"/>
              </a:rPr>
              <a:t>8</a:t>
            </a:r>
            <a:r>
              <a:rPr lang="zh-CN" altLang="en-US" sz="2800">
                <a:latin typeface="Times New Roman" panose="02020603050405020304" pitchFamily="18" charset="0"/>
              </a:rPr>
              <a:t>位 的存储器</a:t>
            </a:r>
          </a:p>
        </p:txBody>
      </p:sp>
      <p:grpSp>
        <p:nvGrpSpPr>
          <p:cNvPr id="3" name="Group 13"/>
          <p:cNvGrpSpPr/>
          <p:nvPr/>
        </p:nvGrpSpPr>
        <p:grpSpPr bwMode="auto">
          <a:xfrm>
            <a:off x="6997700" y="1752600"/>
            <a:ext cx="2182813" cy="533400"/>
            <a:chOff x="4176" y="1067"/>
            <a:chExt cx="1375" cy="336"/>
          </a:xfrm>
        </p:grpSpPr>
        <p:sp>
          <p:nvSpPr>
            <p:cNvPr id="170186" name="AutoShape 14"/>
            <p:cNvSpPr>
              <a:spLocks noChangeArrowheads="1"/>
            </p:cNvSpPr>
            <p:nvPr/>
          </p:nvSpPr>
          <p:spPr bwMode="auto">
            <a:xfrm>
              <a:off x="4176" y="1067"/>
              <a:ext cx="1296" cy="336"/>
            </a:xfrm>
            <a:prstGeom prst="wedgeRoundRectCallout">
              <a:avLst>
                <a:gd name="adj1" fmla="val -51468"/>
                <a:gd name="adj2" fmla="val -97319"/>
                <a:gd name="adj3" fmla="val 16667"/>
              </a:avLst>
            </a:prstGeom>
            <a:noFill/>
            <a:ln w="28575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170187" name="Text Box 15"/>
            <p:cNvSpPr txBox="1">
              <a:spLocks noChangeArrowheads="1"/>
            </p:cNvSpPr>
            <p:nvPr/>
          </p:nvSpPr>
          <p:spPr bwMode="auto">
            <a:xfrm>
              <a:off x="4303" y="1073"/>
              <a:ext cx="1248" cy="3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600">
                  <a:latin typeface="Times New Roman" panose="02020603050405020304" pitchFamily="18" charset="0"/>
                </a:rPr>
                <a:t>8根数据线</a:t>
              </a:r>
            </a:p>
          </p:txBody>
        </p:sp>
      </p:grpSp>
      <p:grpSp>
        <p:nvGrpSpPr>
          <p:cNvPr id="4" name="Group 16"/>
          <p:cNvGrpSpPr/>
          <p:nvPr/>
        </p:nvGrpSpPr>
        <p:grpSpPr bwMode="auto">
          <a:xfrm>
            <a:off x="4200525" y="1676400"/>
            <a:ext cx="2243138" cy="533400"/>
            <a:chOff x="2427" y="1064"/>
            <a:chExt cx="1413" cy="336"/>
          </a:xfrm>
        </p:grpSpPr>
        <p:sp>
          <p:nvSpPr>
            <p:cNvPr id="170184" name="AutoShape 17"/>
            <p:cNvSpPr>
              <a:spLocks noChangeArrowheads="1"/>
            </p:cNvSpPr>
            <p:nvPr/>
          </p:nvSpPr>
          <p:spPr bwMode="auto">
            <a:xfrm>
              <a:off x="2427" y="1064"/>
              <a:ext cx="1342" cy="336"/>
            </a:xfrm>
            <a:prstGeom prst="wedgeRoundRectCallout">
              <a:avLst>
                <a:gd name="adj1" fmla="val 34722"/>
                <a:gd name="adj2" fmla="val -87500"/>
                <a:gd name="adj3" fmla="val 16667"/>
              </a:avLst>
            </a:prstGeom>
            <a:noFill/>
            <a:ln w="28575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rIns="0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endParaRPr lang="en-US" altLang="zh-CN" sz="2800">
                <a:latin typeface="Times New Roman" panose="02020603050405020304" pitchFamily="18" charset="0"/>
              </a:endParaRPr>
            </a:p>
          </p:txBody>
        </p:sp>
        <p:sp>
          <p:nvSpPr>
            <p:cNvPr id="170185" name="Text Box 18"/>
            <p:cNvSpPr txBox="1">
              <a:spLocks noChangeArrowheads="1"/>
            </p:cNvSpPr>
            <p:nvPr/>
          </p:nvSpPr>
          <p:spPr bwMode="auto">
            <a:xfrm>
              <a:off x="2496" y="1073"/>
              <a:ext cx="1344" cy="3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600">
                  <a:latin typeface="Times New Roman" panose="02020603050405020304" pitchFamily="18" charset="0"/>
                </a:rPr>
                <a:t>12根地址线</a:t>
              </a:r>
            </a:p>
          </p:txBody>
        </p:sp>
      </p:grpSp>
      <p:sp>
        <p:nvSpPr>
          <p:cNvPr id="169991" name="Rectangle 19"/>
          <p:cNvSpPr>
            <a:spLocks noChangeArrowheads="1"/>
          </p:cNvSpPr>
          <p:nvPr/>
        </p:nvSpPr>
        <p:spPr bwMode="auto">
          <a:xfrm>
            <a:off x="8424863" y="2697163"/>
            <a:ext cx="3206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grpSp>
        <p:nvGrpSpPr>
          <p:cNvPr id="5" name="Group 20"/>
          <p:cNvGrpSpPr/>
          <p:nvPr/>
        </p:nvGrpSpPr>
        <p:grpSpPr bwMode="auto">
          <a:xfrm>
            <a:off x="588963" y="6337300"/>
            <a:ext cx="8115300" cy="274638"/>
            <a:chOff x="371" y="3992"/>
            <a:chExt cx="5112" cy="173"/>
          </a:xfrm>
        </p:grpSpPr>
        <p:sp>
          <p:nvSpPr>
            <p:cNvPr id="170181" name="Rectangle 21"/>
            <p:cNvSpPr>
              <a:spLocks noChangeArrowheads="1"/>
            </p:cNvSpPr>
            <p:nvPr/>
          </p:nvSpPr>
          <p:spPr bwMode="auto">
            <a:xfrm>
              <a:off x="395" y="3992"/>
              <a:ext cx="24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WE</a:t>
              </a:r>
            </a:p>
          </p:txBody>
        </p:sp>
        <p:sp>
          <p:nvSpPr>
            <p:cNvPr id="170182" name="Line 22"/>
            <p:cNvSpPr>
              <a:spLocks noChangeShapeType="1"/>
            </p:cNvSpPr>
            <p:nvPr/>
          </p:nvSpPr>
          <p:spPr bwMode="auto">
            <a:xfrm>
              <a:off x="677" y="3998"/>
              <a:ext cx="4806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83" name="Line 23"/>
            <p:cNvSpPr>
              <a:spLocks noChangeShapeType="1"/>
            </p:cNvSpPr>
            <p:nvPr/>
          </p:nvSpPr>
          <p:spPr bwMode="auto">
            <a:xfrm>
              <a:off x="371" y="3996"/>
              <a:ext cx="24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" name="Group 24"/>
          <p:cNvGrpSpPr/>
          <p:nvPr/>
        </p:nvGrpSpPr>
        <p:grpSpPr bwMode="auto">
          <a:xfrm>
            <a:off x="609600" y="3213100"/>
            <a:ext cx="8094663" cy="1236663"/>
            <a:chOff x="384" y="2024"/>
            <a:chExt cx="5099" cy="779"/>
          </a:xfrm>
        </p:grpSpPr>
        <p:sp>
          <p:nvSpPr>
            <p:cNvPr id="170173" name="Rectangle 25"/>
            <p:cNvSpPr>
              <a:spLocks noChangeArrowheads="1"/>
            </p:cNvSpPr>
            <p:nvPr/>
          </p:nvSpPr>
          <p:spPr bwMode="auto">
            <a:xfrm>
              <a:off x="395" y="2146"/>
              <a:ext cx="15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8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grpSp>
          <p:nvGrpSpPr>
            <p:cNvPr id="170174" name="Group 26"/>
            <p:cNvGrpSpPr/>
            <p:nvPr/>
          </p:nvGrpSpPr>
          <p:grpSpPr bwMode="auto">
            <a:xfrm>
              <a:off x="384" y="2024"/>
              <a:ext cx="5099" cy="779"/>
              <a:chOff x="384" y="2024"/>
              <a:chExt cx="5099" cy="779"/>
            </a:xfrm>
          </p:grpSpPr>
          <p:sp>
            <p:nvSpPr>
              <p:cNvPr id="170175" name="Line 27"/>
              <p:cNvSpPr>
                <a:spLocks noChangeShapeType="1"/>
              </p:cNvSpPr>
              <p:nvPr/>
            </p:nvSpPr>
            <p:spPr bwMode="auto">
              <a:xfrm>
                <a:off x="677" y="2174"/>
                <a:ext cx="4806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176" name="Line 28"/>
              <p:cNvSpPr>
                <a:spLocks noChangeShapeType="1"/>
              </p:cNvSpPr>
              <p:nvPr/>
            </p:nvSpPr>
            <p:spPr bwMode="auto">
              <a:xfrm>
                <a:off x="677" y="2268"/>
                <a:ext cx="4806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177" name="Freeform 29"/>
              <p:cNvSpPr/>
              <p:nvPr/>
            </p:nvSpPr>
            <p:spPr bwMode="auto">
              <a:xfrm>
                <a:off x="677" y="2553"/>
                <a:ext cx="4806" cy="1"/>
              </a:xfrm>
              <a:custGeom>
                <a:avLst/>
                <a:gdLst>
                  <a:gd name="T0" fmla="*/ 0 w 4649"/>
                  <a:gd name="T1" fmla="*/ 0 h 1"/>
                  <a:gd name="T2" fmla="*/ 7401 w 4649"/>
                  <a:gd name="T3" fmla="*/ 0 h 1"/>
                  <a:gd name="T4" fmla="*/ 0 60000 65536"/>
                  <a:gd name="T5" fmla="*/ 0 60000 65536"/>
                  <a:gd name="T6" fmla="*/ 0 w 4649"/>
                  <a:gd name="T7" fmla="*/ 0 h 1"/>
                  <a:gd name="T8" fmla="*/ 4649 w 464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649" h="1">
                    <a:moveTo>
                      <a:pt x="0" y="0"/>
                    </a:moveTo>
                    <a:lnTo>
                      <a:pt x="4649" y="0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178" name="Rectangle 30"/>
              <p:cNvSpPr>
                <a:spLocks noChangeArrowheads="1"/>
              </p:cNvSpPr>
              <p:nvPr/>
            </p:nvSpPr>
            <p:spPr bwMode="auto">
              <a:xfrm>
                <a:off x="395" y="2024"/>
                <a:ext cx="152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en-US" altLang="zh-CN" sz="18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9</a:t>
                </a:r>
                <a:endParaRPr lang="en-US" altLang="zh-CN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179" name="Rectangle 31"/>
              <p:cNvSpPr>
                <a:spLocks noChangeArrowheads="1"/>
              </p:cNvSpPr>
              <p:nvPr/>
            </p:nvSpPr>
            <p:spPr bwMode="auto">
              <a:xfrm>
                <a:off x="395" y="2457"/>
                <a:ext cx="152" cy="3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en-US" altLang="zh-CN" sz="18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0</a:t>
                </a:r>
              </a:p>
              <a:p>
                <a:pPr algn="ctr" eaLnBrk="1" hangingPunct="1">
                  <a:spcBef>
                    <a:spcPct val="0"/>
                  </a:spcBef>
                </a:pPr>
                <a:endParaRPr lang="en-US" altLang="zh-CN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180" name="Text Box 32"/>
              <p:cNvSpPr txBox="1">
                <a:spLocks noChangeArrowheads="1"/>
              </p:cNvSpPr>
              <p:nvPr/>
            </p:nvSpPr>
            <p:spPr bwMode="auto">
              <a:xfrm>
                <a:off x="384" y="2286"/>
                <a:ext cx="252" cy="2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lIns="18000" rIns="1800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...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8" name="Group 33"/>
          <p:cNvGrpSpPr/>
          <p:nvPr/>
        </p:nvGrpSpPr>
        <p:grpSpPr bwMode="auto">
          <a:xfrm>
            <a:off x="590550" y="5048250"/>
            <a:ext cx="8120063" cy="1533525"/>
            <a:chOff x="372" y="3180"/>
            <a:chExt cx="5115" cy="966"/>
          </a:xfrm>
        </p:grpSpPr>
        <p:grpSp>
          <p:nvGrpSpPr>
            <p:cNvPr id="170160" name="Group 34"/>
            <p:cNvGrpSpPr/>
            <p:nvPr/>
          </p:nvGrpSpPr>
          <p:grpSpPr bwMode="auto">
            <a:xfrm>
              <a:off x="672" y="3335"/>
              <a:ext cx="4815" cy="567"/>
              <a:chOff x="672" y="3335"/>
              <a:chExt cx="4815" cy="567"/>
            </a:xfrm>
          </p:grpSpPr>
          <p:sp>
            <p:nvSpPr>
              <p:cNvPr id="170165" name="Freeform 35"/>
              <p:cNvSpPr/>
              <p:nvPr/>
            </p:nvSpPr>
            <p:spPr bwMode="auto">
              <a:xfrm>
                <a:off x="677" y="3335"/>
                <a:ext cx="4806" cy="1"/>
              </a:xfrm>
              <a:custGeom>
                <a:avLst/>
                <a:gdLst>
                  <a:gd name="T0" fmla="*/ 0 w 4659"/>
                  <a:gd name="T1" fmla="*/ 1 h 1"/>
                  <a:gd name="T2" fmla="*/ 7196 w 4659"/>
                  <a:gd name="T3" fmla="*/ 0 h 1"/>
                  <a:gd name="T4" fmla="*/ 0 60000 65536"/>
                  <a:gd name="T5" fmla="*/ 0 60000 65536"/>
                  <a:gd name="T6" fmla="*/ 0 w 4659"/>
                  <a:gd name="T7" fmla="*/ 0 h 1"/>
                  <a:gd name="T8" fmla="*/ 4659 w 4659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659" h="1">
                    <a:moveTo>
                      <a:pt x="0" y="1"/>
                    </a:moveTo>
                    <a:lnTo>
                      <a:pt x="4659" y="0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166" name="Freeform 36"/>
              <p:cNvSpPr/>
              <p:nvPr/>
            </p:nvSpPr>
            <p:spPr bwMode="auto">
              <a:xfrm>
                <a:off x="672" y="3411"/>
                <a:ext cx="4815" cy="3"/>
              </a:xfrm>
              <a:custGeom>
                <a:avLst/>
                <a:gdLst>
                  <a:gd name="T0" fmla="*/ 0 w 4815"/>
                  <a:gd name="T1" fmla="*/ 3 h 3"/>
                  <a:gd name="T2" fmla="*/ 4815 w 4815"/>
                  <a:gd name="T3" fmla="*/ 0 h 3"/>
                  <a:gd name="T4" fmla="*/ 0 60000 65536"/>
                  <a:gd name="T5" fmla="*/ 0 60000 65536"/>
                  <a:gd name="T6" fmla="*/ 0 w 4815"/>
                  <a:gd name="T7" fmla="*/ 0 h 3"/>
                  <a:gd name="T8" fmla="*/ 4815 w 481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815" h="3">
                    <a:moveTo>
                      <a:pt x="0" y="3"/>
                    </a:moveTo>
                    <a:lnTo>
                      <a:pt x="4815" y="0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167" name="Line 37"/>
              <p:cNvSpPr>
                <a:spLocks noChangeShapeType="1"/>
              </p:cNvSpPr>
              <p:nvPr/>
            </p:nvSpPr>
            <p:spPr bwMode="auto">
              <a:xfrm>
                <a:off x="677" y="3492"/>
                <a:ext cx="4806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168" name="Line 38"/>
              <p:cNvSpPr>
                <a:spLocks noChangeShapeType="1"/>
              </p:cNvSpPr>
              <p:nvPr/>
            </p:nvSpPr>
            <p:spPr bwMode="auto">
              <a:xfrm>
                <a:off x="677" y="3575"/>
                <a:ext cx="4806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169" name="Line 39"/>
              <p:cNvSpPr>
                <a:spLocks noChangeShapeType="1"/>
              </p:cNvSpPr>
              <p:nvPr/>
            </p:nvSpPr>
            <p:spPr bwMode="auto">
              <a:xfrm>
                <a:off x="677" y="3655"/>
                <a:ext cx="4806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170" name="Freeform 40"/>
              <p:cNvSpPr/>
              <p:nvPr/>
            </p:nvSpPr>
            <p:spPr bwMode="auto">
              <a:xfrm>
                <a:off x="672" y="3735"/>
                <a:ext cx="4811" cy="4"/>
              </a:xfrm>
              <a:custGeom>
                <a:avLst/>
                <a:gdLst>
                  <a:gd name="T0" fmla="*/ 0 w 4811"/>
                  <a:gd name="T1" fmla="*/ 0 h 4"/>
                  <a:gd name="T2" fmla="*/ 4811 w 4811"/>
                  <a:gd name="T3" fmla="*/ 4 h 4"/>
                  <a:gd name="T4" fmla="*/ 0 60000 65536"/>
                  <a:gd name="T5" fmla="*/ 0 60000 65536"/>
                  <a:gd name="T6" fmla="*/ 0 w 4811"/>
                  <a:gd name="T7" fmla="*/ 0 h 4"/>
                  <a:gd name="T8" fmla="*/ 4811 w 4811"/>
                  <a:gd name="T9" fmla="*/ 4 h 4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811" h="4">
                    <a:moveTo>
                      <a:pt x="0" y="0"/>
                    </a:moveTo>
                    <a:lnTo>
                      <a:pt x="4811" y="4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171" name="Line 41"/>
              <p:cNvSpPr>
                <a:spLocks noChangeShapeType="1"/>
              </p:cNvSpPr>
              <p:nvPr/>
            </p:nvSpPr>
            <p:spPr bwMode="auto">
              <a:xfrm>
                <a:off x="677" y="3818"/>
                <a:ext cx="4806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172" name="Line 42"/>
              <p:cNvSpPr>
                <a:spLocks noChangeShapeType="1"/>
              </p:cNvSpPr>
              <p:nvPr/>
            </p:nvSpPr>
            <p:spPr bwMode="auto">
              <a:xfrm>
                <a:off x="677" y="3901"/>
                <a:ext cx="4806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70161" name="Group 43"/>
            <p:cNvGrpSpPr/>
            <p:nvPr/>
          </p:nvGrpSpPr>
          <p:grpSpPr bwMode="auto">
            <a:xfrm>
              <a:off x="372" y="3180"/>
              <a:ext cx="252" cy="966"/>
              <a:chOff x="372" y="3180"/>
              <a:chExt cx="252" cy="966"/>
            </a:xfrm>
          </p:grpSpPr>
          <p:sp>
            <p:nvSpPr>
              <p:cNvPr id="170162" name="Rectangle 44"/>
              <p:cNvSpPr>
                <a:spLocks noChangeArrowheads="1"/>
              </p:cNvSpPr>
              <p:nvPr/>
            </p:nvSpPr>
            <p:spPr bwMode="auto">
              <a:xfrm>
                <a:off x="395" y="3180"/>
                <a:ext cx="152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en-US" altLang="zh-CN" sz="1800">
                    <a:latin typeface="Times New Roman" panose="02020603050405020304" pitchFamily="18" charset="0"/>
                  </a:rPr>
                  <a:t>D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7</a:t>
                </a:r>
                <a:endParaRPr lang="en-US" altLang="zh-CN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163" name="Rectangle 45"/>
              <p:cNvSpPr>
                <a:spLocks noChangeArrowheads="1"/>
              </p:cNvSpPr>
              <p:nvPr/>
            </p:nvSpPr>
            <p:spPr bwMode="auto">
              <a:xfrm>
                <a:off x="395" y="3800"/>
                <a:ext cx="152" cy="3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en-US" altLang="zh-CN" sz="1800">
                    <a:latin typeface="Times New Roman" panose="02020603050405020304" pitchFamily="18" charset="0"/>
                  </a:rPr>
                  <a:t>D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0</a:t>
                </a:r>
              </a:p>
              <a:p>
                <a:pPr algn="ctr" eaLnBrk="1" hangingPunct="1">
                  <a:spcBef>
                    <a:spcPct val="0"/>
                  </a:spcBef>
                </a:pPr>
                <a:endParaRPr lang="en-US" altLang="zh-CN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164" name="Text Box 46"/>
              <p:cNvSpPr txBox="1">
                <a:spLocks noChangeArrowheads="1"/>
              </p:cNvSpPr>
              <p:nvPr/>
            </p:nvSpPr>
            <p:spPr bwMode="auto">
              <a:xfrm>
                <a:off x="372" y="3359"/>
                <a:ext cx="252" cy="4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lIns="18000" rIns="1800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…</a:t>
                </a:r>
              </a:p>
            </p:txBody>
          </p:sp>
        </p:grpSp>
      </p:grpSp>
      <p:grpSp>
        <p:nvGrpSpPr>
          <p:cNvPr id="11" name="Group 47"/>
          <p:cNvGrpSpPr/>
          <p:nvPr/>
        </p:nvGrpSpPr>
        <p:grpSpPr bwMode="auto">
          <a:xfrm>
            <a:off x="1160463" y="4757738"/>
            <a:ext cx="6991350" cy="1457325"/>
            <a:chOff x="731" y="2997"/>
            <a:chExt cx="4404" cy="918"/>
          </a:xfrm>
        </p:grpSpPr>
        <p:sp>
          <p:nvSpPr>
            <p:cNvPr id="170128" name="Line 48"/>
            <p:cNvSpPr>
              <a:spLocks noChangeShapeType="1"/>
            </p:cNvSpPr>
            <p:nvPr/>
          </p:nvSpPr>
          <p:spPr bwMode="auto">
            <a:xfrm>
              <a:off x="859" y="3006"/>
              <a:ext cx="1" cy="41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29" name="Line 49"/>
            <p:cNvSpPr>
              <a:spLocks noChangeShapeType="1"/>
            </p:cNvSpPr>
            <p:nvPr/>
          </p:nvSpPr>
          <p:spPr bwMode="auto">
            <a:xfrm>
              <a:off x="951" y="3006"/>
              <a:ext cx="1" cy="4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30" name="Freeform 50"/>
            <p:cNvSpPr/>
            <p:nvPr/>
          </p:nvSpPr>
          <p:spPr bwMode="auto">
            <a:xfrm>
              <a:off x="1041" y="3000"/>
              <a:ext cx="6" cy="582"/>
            </a:xfrm>
            <a:custGeom>
              <a:avLst/>
              <a:gdLst>
                <a:gd name="T0" fmla="*/ 6 w 6"/>
                <a:gd name="T1" fmla="*/ 0 h 582"/>
                <a:gd name="T2" fmla="*/ 0 w 6"/>
                <a:gd name="T3" fmla="*/ 582 h 582"/>
                <a:gd name="T4" fmla="*/ 0 60000 65536"/>
                <a:gd name="T5" fmla="*/ 0 60000 65536"/>
                <a:gd name="T6" fmla="*/ 0 w 6"/>
                <a:gd name="T7" fmla="*/ 0 h 582"/>
                <a:gd name="T8" fmla="*/ 6 w 6"/>
                <a:gd name="T9" fmla="*/ 582 h 58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582">
                  <a:moveTo>
                    <a:pt x="6" y="0"/>
                  </a:moveTo>
                  <a:lnTo>
                    <a:pt x="0" y="582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31" name="Line 51"/>
            <p:cNvSpPr>
              <a:spLocks noChangeShapeType="1"/>
            </p:cNvSpPr>
            <p:nvPr/>
          </p:nvSpPr>
          <p:spPr bwMode="auto">
            <a:xfrm>
              <a:off x="1344" y="3003"/>
              <a:ext cx="1" cy="65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32" name="Freeform 52"/>
            <p:cNvSpPr/>
            <p:nvPr/>
          </p:nvSpPr>
          <p:spPr bwMode="auto">
            <a:xfrm>
              <a:off x="1437" y="2997"/>
              <a:ext cx="1" cy="745"/>
            </a:xfrm>
            <a:custGeom>
              <a:avLst/>
              <a:gdLst>
                <a:gd name="T0" fmla="*/ 0 w 1"/>
                <a:gd name="T1" fmla="*/ 0 h 745"/>
                <a:gd name="T2" fmla="*/ 0 w 1"/>
                <a:gd name="T3" fmla="*/ 745 h 745"/>
                <a:gd name="T4" fmla="*/ 0 60000 65536"/>
                <a:gd name="T5" fmla="*/ 0 60000 65536"/>
                <a:gd name="T6" fmla="*/ 0 w 1"/>
                <a:gd name="T7" fmla="*/ 0 h 745"/>
                <a:gd name="T8" fmla="*/ 1 w 1"/>
                <a:gd name="T9" fmla="*/ 745 h 7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745">
                  <a:moveTo>
                    <a:pt x="0" y="0"/>
                  </a:moveTo>
                  <a:lnTo>
                    <a:pt x="0" y="745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33" name="Line 53"/>
            <p:cNvSpPr>
              <a:spLocks noChangeShapeType="1"/>
            </p:cNvSpPr>
            <p:nvPr/>
          </p:nvSpPr>
          <p:spPr bwMode="auto">
            <a:xfrm>
              <a:off x="1528" y="3003"/>
              <a:ext cx="1" cy="82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34" name="Line 54"/>
            <p:cNvSpPr>
              <a:spLocks noChangeShapeType="1"/>
            </p:cNvSpPr>
            <p:nvPr/>
          </p:nvSpPr>
          <p:spPr bwMode="auto">
            <a:xfrm>
              <a:off x="1620" y="3003"/>
              <a:ext cx="1" cy="9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35" name="Line 55"/>
            <p:cNvSpPr>
              <a:spLocks noChangeShapeType="1"/>
            </p:cNvSpPr>
            <p:nvPr/>
          </p:nvSpPr>
          <p:spPr bwMode="auto">
            <a:xfrm>
              <a:off x="1917" y="3004"/>
              <a:ext cx="1" cy="33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36" name="Line 56"/>
            <p:cNvSpPr>
              <a:spLocks noChangeShapeType="1"/>
            </p:cNvSpPr>
            <p:nvPr/>
          </p:nvSpPr>
          <p:spPr bwMode="auto">
            <a:xfrm>
              <a:off x="2009" y="3006"/>
              <a:ext cx="1" cy="41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37" name="Line 57"/>
            <p:cNvSpPr>
              <a:spLocks noChangeShapeType="1"/>
            </p:cNvSpPr>
            <p:nvPr/>
          </p:nvSpPr>
          <p:spPr bwMode="auto">
            <a:xfrm flipH="1">
              <a:off x="2101" y="3006"/>
              <a:ext cx="4" cy="4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38" name="Line 58"/>
            <p:cNvSpPr>
              <a:spLocks noChangeShapeType="1"/>
            </p:cNvSpPr>
            <p:nvPr/>
          </p:nvSpPr>
          <p:spPr bwMode="auto">
            <a:xfrm>
              <a:off x="2197" y="3006"/>
              <a:ext cx="1" cy="58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39" name="Line 59"/>
            <p:cNvSpPr>
              <a:spLocks noChangeShapeType="1"/>
            </p:cNvSpPr>
            <p:nvPr/>
          </p:nvSpPr>
          <p:spPr bwMode="auto">
            <a:xfrm>
              <a:off x="2494" y="3003"/>
              <a:ext cx="1" cy="65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40" name="Line 60"/>
            <p:cNvSpPr>
              <a:spLocks noChangeShapeType="1"/>
            </p:cNvSpPr>
            <p:nvPr/>
          </p:nvSpPr>
          <p:spPr bwMode="auto">
            <a:xfrm>
              <a:off x="2586" y="3003"/>
              <a:ext cx="1" cy="73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41" name="Line 61"/>
            <p:cNvSpPr>
              <a:spLocks noChangeShapeType="1"/>
            </p:cNvSpPr>
            <p:nvPr/>
          </p:nvSpPr>
          <p:spPr bwMode="auto">
            <a:xfrm>
              <a:off x="2678" y="3003"/>
              <a:ext cx="1" cy="82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42" name="Freeform 62"/>
            <p:cNvSpPr/>
            <p:nvPr/>
          </p:nvSpPr>
          <p:spPr bwMode="auto">
            <a:xfrm>
              <a:off x="2771" y="3000"/>
              <a:ext cx="3" cy="915"/>
            </a:xfrm>
            <a:custGeom>
              <a:avLst/>
              <a:gdLst>
                <a:gd name="T0" fmla="*/ 3 w 3"/>
                <a:gd name="T1" fmla="*/ 0 h 915"/>
                <a:gd name="T2" fmla="*/ 0 w 3"/>
                <a:gd name="T3" fmla="*/ 915 h 915"/>
                <a:gd name="T4" fmla="*/ 0 60000 65536"/>
                <a:gd name="T5" fmla="*/ 0 60000 65536"/>
                <a:gd name="T6" fmla="*/ 0 w 3"/>
                <a:gd name="T7" fmla="*/ 0 h 915"/>
                <a:gd name="T8" fmla="*/ 3 w 3"/>
                <a:gd name="T9" fmla="*/ 915 h 91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" h="915">
                  <a:moveTo>
                    <a:pt x="3" y="0"/>
                  </a:moveTo>
                  <a:lnTo>
                    <a:pt x="0" y="915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chemeClr val="tx1"/>
              </a:solidFill>
              <a:prstDash val="solid"/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43" name="Freeform 63"/>
            <p:cNvSpPr/>
            <p:nvPr/>
          </p:nvSpPr>
          <p:spPr bwMode="auto">
            <a:xfrm>
              <a:off x="3131" y="3006"/>
              <a:ext cx="1" cy="318"/>
            </a:xfrm>
            <a:custGeom>
              <a:avLst/>
              <a:gdLst>
                <a:gd name="T0" fmla="*/ 0 w 1"/>
                <a:gd name="T1" fmla="*/ 0 h 318"/>
                <a:gd name="T2" fmla="*/ 1 w 1"/>
                <a:gd name="T3" fmla="*/ 318 h 318"/>
                <a:gd name="T4" fmla="*/ 0 60000 65536"/>
                <a:gd name="T5" fmla="*/ 0 60000 65536"/>
                <a:gd name="T6" fmla="*/ 0 w 1"/>
                <a:gd name="T7" fmla="*/ 0 h 318"/>
                <a:gd name="T8" fmla="*/ 1 w 1"/>
                <a:gd name="T9" fmla="*/ 318 h 31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318">
                  <a:moveTo>
                    <a:pt x="0" y="0"/>
                  </a:moveTo>
                  <a:lnTo>
                    <a:pt x="1" y="318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44" name="Line 64"/>
            <p:cNvSpPr>
              <a:spLocks noChangeShapeType="1"/>
            </p:cNvSpPr>
            <p:nvPr/>
          </p:nvSpPr>
          <p:spPr bwMode="auto">
            <a:xfrm>
              <a:off x="3223" y="3003"/>
              <a:ext cx="1" cy="4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45" name="Freeform 65"/>
            <p:cNvSpPr/>
            <p:nvPr/>
          </p:nvSpPr>
          <p:spPr bwMode="auto">
            <a:xfrm>
              <a:off x="3309" y="2997"/>
              <a:ext cx="6" cy="504"/>
            </a:xfrm>
            <a:custGeom>
              <a:avLst/>
              <a:gdLst>
                <a:gd name="T0" fmla="*/ 6 w 6"/>
                <a:gd name="T1" fmla="*/ 0 h 504"/>
                <a:gd name="T2" fmla="*/ 0 w 6"/>
                <a:gd name="T3" fmla="*/ 504 h 504"/>
                <a:gd name="T4" fmla="*/ 0 60000 65536"/>
                <a:gd name="T5" fmla="*/ 0 60000 65536"/>
                <a:gd name="T6" fmla="*/ 0 w 6"/>
                <a:gd name="T7" fmla="*/ 0 h 504"/>
                <a:gd name="T8" fmla="*/ 6 w 6"/>
                <a:gd name="T9" fmla="*/ 504 h 50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504">
                  <a:moveTo>
                    <a:pt x="6" y="0"/>
                  </a:moveTo>
                  <a:lnTo>
                    <a:pt x="0" y="504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46" name="Line 66"/>
            <p:cNvSpPr>
              <a:spLocks noChangeShapeType="1"/>
            </p:cNvSpPr>
            <p:nvPr/>
          </p:nvSpPr>
          <p:spPr bwMode="auto">
            <a:xfrm>
              <a:off x="3407" y="3003"/>
              <a:ext cx="1" cy="58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47" name="Line 67"/>
            <p:cNvSpPr>
              <a:spLocks noChangeShapeType="1"/>
            </p:cNvSpPr>
            <p:nvPr/>
          </p:nvSpPr>
          <p:spPr bwMode="auto">
            <a:xfrm>
              <a:off x="3704" y="3000"/>
              <a:ext cx="1" cy="65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48" name="Line 68"/>
            <p:cNvSpPr>
              <a:spLocks noChangeShapeType="1"/>
            </p:cNvSpPr>
            <p:nvPr/>
          </p:nvSpPr>
          <p:spPr bwMode="auto">
            <a:xfrm>
              <a:off x="3796" y="3004"/>
              <a:ext cx="1" cy="73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49" name="Line 69"/>
            <p:cNvSpPr>
              <a:spLocks noChangeShapeType="1"/>
            </p:cNvSpPr>
            <p:nvPr/>
          </p:nvSpPr>
          <p:spPr bwMode="auto">
            <a:xfrm flipH="1">
              <a:off x="3888" y="3004"/>
              <a:ext cx="4" cy="82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50" name="Line 70"/>
            <p:cNvSpPr>
              <a:spLocks noChangeShapeType="1"/>
            </p:cNvSpPr>
            <p:nvPr/>
          </p:nvSpPr>
          <p:spPr bwMode="auto">
            <a:xfrm>
              <a:off x="3984" y="3000"/>
              <a:ext cx="1" cy="91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51" name="Freeform 71"/>
            <p:cNvSpPr/>
            <p:nvPr/>
          </p:nvSpPr>
          <p:spPr bwMode="auto">
            <a:xfrm>
              <a:off x="4281" y="3009"/>
              <a:ext cx="1" cy="324"/>
            </a:xfrm>
            <a:custGeom>
              <a:avLst/>
              <a:gdLst>
                <a:gd name="T0" fmla="*/ 0 w 1"/>
                <a:gd name="T1" fmla="*/ 0 h 324"/>
                <a:gd name="T2" fmla="*/ 0 w 1"/>
                <a:gd name="T3" fmla="*/ 324 h 324"/>
                <a:gd name="T4" fmla="*/ 0 60000 65536"/>
                <a:gd name="T5" fmla="*/ 0 60000 65536"/>
                <a:gd name="T6" fmla="*/ 0 w 1"/>
                <a:gd name="T7" fmla="*/ 0 h 324"/>
                <a:gd name="T8" fmla="*/ 1 w 1"/>
                <a:gd name="T9" fmla="*/ 324 h 32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324">
                  <a:moveTo>
                    <a:pt x="0" y="0"/>
                  </a:moveTo>
                  <a:lnTo>
                    <a:pt x="0" y="324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52" name="Line 72"/>
            <p:cNvSpPr>
              <a:spLocks noChangeShapeType="1"/>
            </p:cNvSpPr>
            <p:nvPr/>
          </p:nvSpPr>
          <p:spPr bwMode="auto">
            <a:xfrm>
              <a:off x="4373" y="3003"/>
              <a:ext cx="1" cy="4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53" name="Line 73"/>
            <p:cNvSpPr>
              <a:spLocks noChangeShapeType="1"/>
            </p:cNvSpPr>
            <p:nvPr/>
          </p:nvSpPr>
          <p:spPr bwMode="auto">
            <a:xfrm>
              <a:off x="4465" y="3003"/>
              <a:ext cx="1" cy="49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54" name="Line 74"/>
            <p:cNvSpPr>
              <a:spLocks noChangeShapeType="1"/>
            </p:cNvSpPr>
            <p:nvPr/>
          </p:nvSpPr>
          <p:spPr bwMode="auto">
            <a:xfrm>
              <a:off x="4557" y="3003"/>
              <a:ext cx="1" cy="58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55" name="Line 75"/>
            <p:cNvSpPr>
              <a:spLocks noChangeShapeType="1"/>
            </p:cNvSpPr>
            <p:nvPr/>
          </p:nvSpPr>
          <p:spPr bwMode="auto">
            <a:xfrm>
              <a:off x="4854" y="3000"/>
              <a:ext cx="1" cy="65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56" name="Line 76"/>
            <p:cNvSpPr>
              <a:spLocks noChangeShapeType="1"/>
            </p:cNvSpPr>
            <p:nvPr/>
          </p:nvSpPr>
          <p:spPr bwMode="auto">
            <a:xfrm>
              <a:off x="4946" y="3004"/>
              <a:ext cx="1" cy="73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57" name="Line 77"/>
            <p:cNvSpPr>
              <a:spLocks noChangeShapeType="1"/>
            </p:cNvSpPr>
            <p:nvPr/>
          </p:nvSpPr>
          <p:spPr bwMode="auto">
            <a:xfrm flipH="1">
              <a:off x="5038" y="3004"/>
              <a:ext cx="4" cy="82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58" name="Line 78"/>
            <p:cNvSpPr>
              <a:spLocks noChangeShapeType="1"/>
            </p:cNvSpPr>
            <p:nvPr/>
          </p:nvSpPr>
          <p:spPr bwMode="auto">
            <a:xfrm>
              <a:off x="5134" y="3000"/>
              <a:ext cx="1" cy="91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59" name="Line 79"/>
            <p:cNvSpPr>
              <a:spLocks noChangeShapeType="1"/>
            </p:cNvSpPr>
            <p:nvPr/>
          </p:nvSpPr>
          <p:spPr bwMode="auto">
            <a:xfrm>
              <a:off x="731" y="3004"/>
              <a:ext cx="1" cy="33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2" name="Group 80"/>
          <p:cNvGrpSpPr/>
          <p:nvPr/>
        </p:nvGrpSpPr>
        <p:grpSpPr bwMode="auto">
          <a:xfrm>
            <a:off x="627063" y="2608263"/>
            <a:ext cx="1119187" cy="817562"/>
            <a:chOff x="395" y="1643"/>
            <a:chExt cx="705" cy="515"/>
          </a:xfrm>
        </p:grpSpPr>
        <p:sp>
          <p:nvSpPr>
            <p:cNvPr id="170124" name="Rectangle 81"/>
            <p:cNvSpPr>
              <a:spLocks noChangeArrowheads="1"/>
            </p:cNvSpPr>
            <p:nvPr/>
          </p:nvSpPr>
          <p:spPr bwMode="auto">
            <a:xfrm>
              <a:off x="395" y="1643"/>
              <a:ext cx="20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11</a:t>
              </a: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170125" name="Rectangle 82"/>
            <p:cNvSpPr>
              <a:spLocks noChangeArrowheads="1"/>
            </p:cNvSpPr>
            <p:nvPr/>
          </p:nvSpPr>
          <p:spPr bwMode="auto">
            <a:xfrm>
              <a:off x="395" y="1812"/>
              <a:ext cx="325" cy="3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10</a:t>
              </a:r>
            </a:p>
            <a:p>
              <a:pPr eaLnBrk="1" hangingPunct="1">
                <a:spcBef>
                  <a:spcPct val="0"/>
                </a:spcBef>
              </a:pPr>
              <a:endParaRPr lang="en-US" altLang="zh-CN" sz="1800">
                <a:latin typeface="Times New Roman" panose="02020603050405020304" pitchFamily="18" charset="0"/>
              </a:endParaRPr>
            </a:p>
          </p:txBody>
        </p:sp>
        <p:sp>
          <p:nvSpPr>
            <p:cNvPr id="170126" name="Freeform 83"/>
            <p:cNvSpPr/>
            <p:nvPr/>
          </p:nvSpPr>
          <p:spPr bwMode="auto">
            <a:xfrm>
              <a:off x="679" y="1742"/>
              <a:ext cx="421" cy="1"/>
            </a:xfrm>
            <a:custGeom>
              <a:avLst/>
              <a:gdLst>
                <a:gd name="T0" fmla="*/ 421 w 421"/>
                <a:gd name="T1" fmla="*/ 0 h 1"/>
                <a:gd name="T2" fmla="*/ 0 w 421"/>
                <a:gd name="T3" fmla="*/ 1 h 1"/>
                <a:gd name="T4" fmla="*/ 0 60000 65536"/>
                <a:gd name="T5" fmla="*/ 0 60000 65536"/>
                <a:gd name="T6" fmla="*/ 0 w 421"/>
                <a:gd name="T7" fmla="*/ 0 h 1"/>
                <a:gd name="T8" fmla="*/ 421 w 421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21" h="1">
                  <a:moveTo>
                    <a:pt x="421" y="0"/>
                  </a:moveTo>
                  <a:lnTo>
                    <a:pt x="0" y="1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27" name="Freeform 84"/>
            <p:cNvSpPr/>
            <p:nvPr/>
          </p:nvSpPr>
          <p:spPr bwMode="auto">
            <a:xfrm>
              <a:off x="681" y="1899"/>
              <a:ext cx="411" cy="4"/>
            </a:xfrm>
            <a:custGeom>
              <a:avLst/>
              <a:gdLst>
                <a:gd name="T0" fmla="*/ 411 w 411"/>
                <a:gd name="T1" fmla="*/ 4 h 4"/>
                <a:gd name="T2" fmla="*/ 0 w 411"/>
                <a:gd name="T3" fmla="*/ 0 h 4"/>
                <a:gd name="T4" fmla="*/ 0 60000 65536"/>
                <a:gd name="T5" fmla="*/ 0 60000 65536"/>
                <a:gd name="T6" fmla="*/ 0 w 411"/>
                <a:gd name="T7" fmla="*/ 0 h 4"/>
                <a:gd name="T8" fmla="*/ 411 w 411"/>
                <a:gd name="T9" fmla="*/ 4 h 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11" h="4">
                  <a:moveTo>
                    <a:pt x="411" y="4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3" name="Group 85"/>
          <p:cNvGrpSpPr/>
          <p:nvPr/>
        </p:nvGrpSpPr>
        <p:grpSpPr bwMode="auto">
          <a:xfrm>
            <a:off x="1790700" y="3095625"/>
            <a:ext cx="1497013" cy="1403350"/>
            <a:chOff x="1128" y="1950"/>
            <a:chExt cx="943" cy="884"/>
          </a:xfrm>
        </p:grpSpPr>
        <p:sp>
          <p:nvSpPr>
            <p:cNvPr id="170115" name="Line 86"/>
            <p:cNvSpPr>
              <a:spLocks noChangeShapeType="1"/>
            </p:cNvSpPr>
            <p:nvPr/>
          </p:nvSpPr>
          <p:spPr bwMode="auto">
            <a:xfrm flipV="1">
              <a:off x="1705" y="2821"/>
              <a:ext cx="104" cy="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70116" name="Group 87"/>
            <p:cNvGrpSpPr/>
            <p:nvPr/>
          </p:nvGrpSpPr>
          <p:grpSpPr bwMode="auto">
            <a:xfrm>
              <a:off x="1128" y="1950"/>
              <a:ext cx="943" cy="884"/>
              <a:chOff x="1128" y="1950"/>
              <a:chExt cx="943" cy="884"/>
            </a:xfrm>
          </p:grpSpPr>
          <p:sp>
            <p:nvSpPr>
              <p:cNvPr id="170117" name="Freeform 88"/>
              <p:cNvSpPr/>
              <p:nvPr/>
            </p:nvSpPr>
            <p:spPr bwMode="auto">
              <a:xfrm>
                <a:off x="1467" y="1950"/>
                <a:ext cx="339" cy="6"/>
              </a:xfrm>
              <a:custGeom>
                <a:avLst/>
                <a:gdLst>
                  <a:gd name="T0" fmla="*/ 0 w 339"/>
                  <a:gd name="T1" fmla="*/ 6 h 6"/>
                  <a:gd name="T2" fmla="*/ 0 w 339"/>
                  <a:gd name="T3" fmla="*/ 0 h 6"/>
                  <a:gd name="T4" fmla="*/ 339 w 339"/>
                  <a:gd name="T5" fmla="*/ 0 h 6"/>
                  <a:gd name="T6" fmla="*/ 0 60000 65536"/>
                  <a:gd name="T7" fmla="*/ 0 60000 65536"/>
                  <a:gd name="T8" fmla="*/ 0 60000 65536"/>
                  <a:gd name="T9" fmla="*/ 0 w 339"/>
                  <a:gd name="T10" fmla="*/ 0 h 6"/>
                  <a:gd name="T11" fmla="*/ 339 w 339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9" h="6">
                    <a:moveTo>
                      <a:pt x="0" y="6"/>
                    </a:moveTo>
                    <a:lnTo>
                      <a:pt x="0" y="0"/>
                    </a:lnTo>
                    <a:lnTo>
                      <a:pt x="339" y="0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118" name="Freeform 89"/>
              <p:cNvSpPr/>
              <p:nvPr/>
            </p:nvSpPr>
            <p:spPr bwMode="auto">
              <a:xfrm>
                <a:off x="1795" y="1950"/>
                <a:ext cx="1" cy="884"/>
              </a:xfrm>
              <a:custGeom>
                <a:avLst/>
                <a:gdLst>
                  <a:gd name="T0" fmla="*/ 1 w 1"/>
                  <a:gd name="T1" fmla="*/ 0 h 861"/>
                  <a:gd name="T2" fmla="*/ 0 w 1"/>
                  <a:gd name="T3" fmla="*/ 1246 h 861"/>
                  <a:gd name="T4" fmla="*/ 0 60000 65536"/>
                  <a:gd name="T5" fmla="*/ 0 60000 65536"/>
                  <a:gd name="T6" fmla="*/ 0 w 1"/>
                  <a:gd name="T7" fmla="*/ 0 h 861"/>
                  <a:gd name="T8" fmla="*/ 1 w 1"/>
                  <a:gd name="T9" fmla="*/ 861 h 86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861">
                    <a:moveTo>
                      <a:pt x="1" y="0"/>
                    </a:moveTo>
                    <a:lnTo>
                      <a:pt x="0" y="861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119" name="Line 90"/>
              <p:cNvSpPr>
                <a:spLocks noChangeShapeType="1"/>
              </p:cNvSpPr>
              <p:nvPr/>
            </p:nvSpPr>
            <p:spPr bwMode="auto">
              <a:xfrm>
                <a:off x="1128" y="2823"/>
                <a:ext cx="10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120" name="Line 91"/>
              <p:cNvSpPr>
                <a:spLocks noChangeShapeType="1"/>
              </p:cNvSpPr>
              <p:nvPr/>
            </p:nvSpPr>
            <p:spPr bwMode="auto">
              <a:xfrm flipV="1">
                <a:off x="1218" y="2639"/>
                <a:ext cx="1" cy="1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121" name="Line 92"/>
              <p:cNvSpPr>
                <a:spLocks noChangeShapeType="1"/>
              </p:cNvSpPr>
              <p:nvPr/>
            </p:nvSpPr>
            <p:spPr bwMode="auto">
              <a:xfrm>
                <a:off x="1209" y="2639"/>
                <a:ext cx="577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122" name="Rectangle 93"/>
              <p:cNvSpPr>
                <a:spLocks noChangeArrowheads="1"/>
              </p:cNvSpPr>
              <p:nvPr/>
            </p:nvSpPr>
            <p:spPr bwMode="auto">
              <a:xfrm>
                <a:off x="1839" y="1954"/>
                <a:ext cx="232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en-US" altLang="zh-CN" sz="1800">
                    <a:latin typeface="Times New Roman" panose="02020603050405020304" pitchFamily="18" charset="0"/>
                  </a:rPr>
                  <a:t>CS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0</a:t>
                </a:r>
                <a:endParaRPr lang="en-US" altLang="zh-CN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123" name="Freeform 94"/>
              <p:cNvSpPr/>
              <p:nvPr/>
            </p:nvSpPr>
            <p:spPr bwMode="auto">
              <a:xfrm>
                <a:off x="1842" y="1962"/>
                <a:ext cx="195" cy="1"/>
              </a:xfrm>
              <a:custGeom>
                <a:avLst/>
                <a:gdLst>
                  <a:gd name="T0" fmla="*/ 0 w 195"/>
                  <a:gd name="T1" fmla="*/ 0 h 1"/>
                  <a:gd name="T2" fmla="*/ 195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15" name="Group 95"/>
          <p:cNvGrpSpPr/>
          <p:nvPr/>
        </p:nvGrpSpPr>
        <p:grpSpPr bwMode="auto">
          <a:xfrm>
            <a:off x="2328863" y="2971800"/>
            <a:ext cx="2787650" cy="1509713"/>
            <a:chOff x="1467" y="1872"/>
            <a:chExt cx="1756" cy="951"/>
          </a:xfrm>
        </p:grpSpPr>
        <p:sp>
          <p:nvSpPr>
            <p:cNvPr id="170105" name="Line 96"/>
            <p:cNvSpPr>
              <a:spLocks noChangeShapeType="1"/>
            </p:cNvSpPr>
            <p:nvPr/>
          </p:nvSpPr>
          <p:spPr bwMode="auto">
            <a:xfrm flipV="1">
              <a:off x="2855" y="2821"/>
              <a:ext cx="104" cy="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70106" name="Group 97"/>
            <p:cNvGrpSpPr/>
            <p:nvPr/>
          </p:nvGrpSpPr>
          <p:grpSpPr bwMode="auto">
            <a:xfrm>
              <a:off x="1467" y="1872"/>
              <a:ext cx="1756" cy="951"/>
              <a:chOff x="1467" y="1872"/>
              <a:chExt cx="1756" cy="951"/>
            </a:xfrm>
          </p:grpSpPr>
          <p:sp>
            <p:nvSpPr>
              <p:cNvPr id="170107" name="Freeform 98"/>
              <p:cNvSpPr/>
              <p:nvPr/>
            </p:nvSpPr>
            <p:spPr bwMode="auto">
              <a:xfrm>
                <a:off x="2948" y="1872"/>
                <a:ext cx="1" cy="948"/>
              </a:xfrm>
              <a:custGeom>
                <a:avLst/>
                <a:gdLst>
                  <a:gd name="T0" fmla="*/ 0 w 1"/>
                  <a:gd name="T1" fmla="*/ 948 h 948"/>
                  <a:gd name="T2" fmla="*/ 0 w 1"/>
                  <a:gd name="T3" fmla="*/ 0 h 948"/>
                  <a:gd name="T4" fmla="*/ 0 60000 65536"/>
                  <a:gd name="T5" fmla="*/ 0 60000 65536"/>
                  <a:gd name="T6" fmla="*/ 0 w 1"/>
                  <a:gd name="T7" fmla="*/ 0 h 948"/>
                  <a:gd name="T8" fmla="*/ 1 w 1"/>
                  <a:gd name="T9" fmla="*/ 948 h 94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948">
                    <a:moveTo>
                      <a:pt x="0" y="948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108" name="Line 99"/>
              <p:cNvSpPr>
                <a:spLocks noChangeShapeType="1"/>
              </p:cNvSpPr>
              <p:nvPr/>
            </p:nvSpPr>
            <p:spPr bwMode="auto">
              <a:xfrm flipV="1">
                <a:off x="2278" y="2820"/>
                <a:ext cx="104" cy="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109" name="Line 100"/>
              <p:cNvSpPr>
                <a:spLocks noChangeShapeType="1"/>
              </p:cNvSpPr>
              <p:nvPr/>
            </p:nvSpPr>
            <p:spPr bwMode="auto">
              <a:xfrm flipV="1">
                <a:off x="2371" y="2639"/>
                <a:ext cx="1" cy="18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110" name="Line 101"/>
              <p:cNvSpPr>
                <a:spLocks noChangeShapeType="1"/>
              </p:cNvSpPr>
              <p:nvPr/>
            </p:nvSpPr>
            <p:spPr bwMode="auto">
              <a:xfrm>
                <a:off x="2365" y="2639"/>
                <a:ext cx="578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170111" name="Group 102"/>
              <p:cNvGrpSpPr/>
              <p:nvPr/>
            </p:nvGrpSpPr>
            <p:grpSpPr bwMode="auto">
              <a:xfrm>
                <a:off x="1467" y="1878"/>
                <a:ext cx="1756" cy="249"/>
                <a:chOff x="1467" y="1878"/>
                <a:chExt cx="1756" cy="249"/>
              </a:xfrm>
            </p:grpSpPr>
            <p:sp>
              <p:nvSpPr>
                <p:cNvPr id="170112" name="Rectangle 103"/>
                <p:cNvSpPr>
                  <a:spLocks noChangeArrowheads="1"/>
                </p:cNvSpPr>
                <p:nvPr/>
              </p:nvSpPr>
              <p:spPr bwMode="auto">
                <a:xfrm>
                  <a:off x="2991" y="1954"/>
                  <a:ext cx="232" cy="17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</a:pPr>
                  <a:r>
                    <a:rPr lang="en-US" altLang="zh-CN" sz="1800">
                      <a:latin typeface="Times New Roman" panose="02020603050405020304" pitchFamily="18" charset="0"/>
                    </a:rPr>
                    <a:t>CS</a:t>
                  </a:r>
                  <a:r>
                    <a:rPr lang="en-US" altLang="zh-CN" sz="1800" baseline="-25000">
                      <a:latin typeface="Times New Roman" panose="02020603050405020304" pitchFamily="18" charset="0"/>
                    </a:rPr>
                    <a:t>1</a:t>
                  </a:r>
                  <a:endParaRPr lang="en-US" altLang="zh-CN" sz="18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70113" name="Freeform 104"/>
                <p:cNvSpPr/>
                <p:nvPr/>
              </p:nvSpPr>
              <p:spPr bwMode="auto">
                <a:xfrm>
                  <a:off x="1467" y="1878"/>
                  <a:ext cx="1485" cy="1"/>
                </a:xfrm>
                <a:custGeom>
                  <a:avLst/>
                  <a:gdLst>
                    <a:gd name="T0" fmla="*/ 0 w 1485"/>
                    <a:gd name="T1" fmla="*/ 0 h 1"/>
                    <a:gd name="T2" fmla="*/ 1485 w 1485"/>
                    <a:gd name="T3" fmla="*/ 0 h 1"/>
                    <a:gd name="T4" fmla="*/ 0 60000 65536"/>
                    <a:gd name="T5" fmla="*/ 0 60000 65536"/>
                    <a:gd name="T6" fmla="*/ 0 w 1485"/>
                    <a:gd name="T7" fmla="*/ 0 h 1"/>
                    <a:gd name="T8" fmla="*/ 1485 w 1485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485" h="1">
                      <a:moveTo>
                        <a:pt x="0" y="0"/>
                      </a:moveTo>
                      <a:lnTo>
                        <a:pt x="1485" y="0"/>
                      </a:lnTo>
                    </a:path>
                  </a:pathLst>
                </a:custGeom>
                <a:solidFill>
                  <a:srgbClr val="FFFFFF"/>
                </a:solidFill>
                <a:ln w="38100" cmpd="sng">
                  <a:solidFill>
                    <a:schemeClr val="tx1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70114" name="Freeform 105"/>
                <p:cNvSpPr/>
                <p:nvPr/>
              </p:nvSpPr>
              <p:spPr bwMode="auto">
                <a:xfrm flipV="1">
                  <a:off x="2994" y="1936"/>
                  <a:ext cx="195" cy="27"/>
                </a:xfrm>
                <a:custGeom>
                  <a:avLst/>
                  <a:gdLst>
                    <a:gd name="T0" fmla="*/ 0 w 195"/>
                    <a:gd name="T1" fmla="*/ 0 h 1"/>
                    <a:gd name="T2" fmla="*/ 195 w 195"/>
                    <a:gd name="T3" fmla="*/ 0 h 1"/>
                    <a:gd name="T4" fmla="*/ 0 60000 65536"/>
                    <a:gd name="T5" fmla="*/ 0 60000 65536"/>
                    <a:gd name="T6" fmla="*/ 0 w 195"/>
                    <a:gd name="T7" fmla="*/ 0 h 1"/>
                    <a:gd name="T8" fmla="*/ 195 w 195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95" h="1">
                      <a:moveTo>
                        <a:pt x="0" y="0"/>
                      </a:moveTo>
                      <a:lnTo>
                        <a:pt x="195" y="0"/>
                      </a:ln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18" name="Group 106"/>
          <p:cNvGrpSpPr/>
          <p:nvPr/>
        </p:nvGrpSpPr>
        <p:grpSpPr bwMode="auto">
          <a:xfrm>
            <a:off x="2309813" y="2819400"/>
            <a:ext cx="4725987" cy="1662113"/>
            <a:chOff x="1455" y="1776"/>
            <a:chExt cx="2977" cy="1047"/>
          </a:xfrm>
        </p:grpSpPr>
        <p:sp>
          <p:nvSpPr>
            <p:cNvPr id="170096" name="Freeform 107"/>
            <p:cNvSpPr/>
            <p:nvPr/>
          </p:nvSpPr>
          <p:spPr bwMode="auto">
            <a:xfrm>
              <a:off x="4154" y="1776"/>
              <a:ext cx="6" cy="1044"/>
            </a:xfrm>
            <a:custGeom>
              <a:avLst/>
              <a:gdLst>
                <a:gd name="T0" fmla="*/ 6 w 6"/>
                <a:gd name="T1" fmla="*/ 1044 h 1044"/>
                <a:gd name="T2" fmla="*/ 0 w 6"/>
                <a:gd name="T3" fmla="*/ 0 h 1044"/>
                <a:gd name="T4" fmla="*/ 0 60000 65536"/>
                <a:gd name="T5" fmla="*/ 0 60000 65536"/>
                <a:gd name="T6" fmla="*/ 0 w 6"/>
                <a:gd name="T7" fmla="*/ 0 h 1044"/>
                <a:gd name="T8" fmla="*/ 6 w 6"/>
                <a:gd name="T9" fmla="*/ 1044 h 104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1044">
                  <a:moveTo>
                    <a:pt x="6" y="1044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chemeClr val="tx1"/>
              </a:solidFill>
              <a:prstDash val="solid"/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097" name="Line 108"/>
            <p:cNvSpPr>
              <a:spLocks noChangeShapeType="1"/>
            </p:cNvSpPr>
            <p:nvPr/>
          </p:nvSpPr>
          <p:spPr bwMode="auto">
            <a:xfrm flipV="1">
              <a:off x="3474" y="2814"/>
              <a:ext cx="110" cy="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098" name="Line 109"/>
            <p:cNvSpPr>
              <a:spLocks noChangeShapeType="1"/>
            </p:cNvSpPr>
            <p:nvPr/>
          </p:nvSpPr>
          <p:spPr bwMode="auto">
            <a:xfrm flipV="1">
              <a:off x="4069" y="2814"/>
              <a:ext cx="104" cy="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099" name="Freeform 110"/>
            <p:cNvSpPr/>
            <p:nvPr/>
          </p:nvSpPr>
          <p:spPr bwMode="auto">
            <a:xfrm>
              <a:off x="3573" y="2641"/>
              <a:ext cx="1" cy="182"/>
            </a:xfrm>
            <a:custGeom>
              <a:avLst/>
              <a:gdLst>
                <a:gd name="T0" fmla="*/ 0 w 1"/>
                <a:gd name="T1" fmla="*/ 182 h 182"/>
                <a:gd name="T2" fmla="*/ 1 w 1"/>
                <a:gd name="T3" fmla="*/ 0 h 182"/>
                <a:gd name="T4" fmla="*/ 0 60000 65536"/>
                <a:gd name="T5" fmla="*/ 0 60000 65536"/>
                <a:gd name="T6" fmla="*/ 0 w 1"/>
                <a:gd name="T7" fmla="*/ 0 h 182"/>
                <a:gd name="T8" fmla="*/ 1 w 1"/>
                <a:gd name="T9" fmla="*/ 182 h 18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2">
                  <a:moveTo>
                    <a:pt x="0" y="182"/>
                  </a:moveTo>
                  <a:lnTo>
                    <a:pt x="1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100" name="Line 111"/>
            <p:cNvSpPr>
              <a:spLocks noChangeShapeType="1"/>
            </p:cNvSpPr>
            <p:nvPr/>
          </p:nvSpPr>
          <p:spPr bwMode="auto">
            <a:xfrm>
              <a:off x="3564" y="2628"/>
              <a:ext cx="58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70101" name="Group 112"/>
            <p:cNvGrpSpPr/>
            <p:nvPr/>
          </p:nvGrpSpPr>
          <p:grpSpPr bwMode="auto">
            <a:xfrm>
              <a:off x="1455" y="1779"/>
              <a:ext cx="2977" cy="348"/>
              <a:chOff x="1455" y="1779"/>
              <a:chExt cx="2977" cy="348"/>
            </a:xfrm>
          </p:grpSpPr>
          <p:sp>
            <p:nvSpPr>
              <p:cNvPr id="170102" name="Freeform 113"/>
              <p:cNvSpPr/>
              <p:nvPr/>
            </p:nvSpPr>
            <p:spPr bwMode="auto">
              <a:xfrm>
                <a:off x="1455" y="1779"/>
                <a:ext cx="2712" cy="3"/>
              </a:xfrm>
              <a:custGeom>
                <a:avLst/>
                <a:gdLst>
                  <a:gd name="T0" fmla="*/ 0 w 2712"/>
                  <a:gd name="T1" fmla="*/ 0 h 3"/>
                  <a:gd name="T2" fmla="*/ 2712 w 2712"/>
                  <a:gd name="T3" fmla="*/ 3 h 3"/>
                  <a:gd name="T4" fmla="*/ 0 60000 65536"/>
                  <a:gd name="T5" fmla="*/ 0 60000 65536"/>
                  <a:gd name="T6" fmla="*/ 0 w 2712"/>
                  <a:gd name="T7" fmla="*/ 0 h 3"/>
                  <a:gd name="T8" fmla="*/ 2712 w 2712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712" h="3">
                    <a:moveTo>
                      <a:pt x="0" y="0"/>
                    </a:moveTo>
                    <a:lnTo>
                      <a:pt x="2712" y="3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103" name="Rectangle 114"/>
              <p:cNvSpPr>
                <a:spLocks noChangeArrowheads="1"/>
              </p:cNvSpPr>
              <p:nvPr/>
            </p:nvSpPr>
            <p:spPr bwMode="auto">
              <a:xfrm>
                <a:off x="4200" y="1954"/>
                <a:ext cx="232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en-US" altLang="zh-CN" sz="1800">
                    <a:latin typeface="Times New Roman" panose="02020603050405020304" pitchFamily="18" charset="0"/>
                  </a:rPr>
                  <a:t>CS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2</a:t>
                </a:r>
                <a:endParaRPr lang="en-US" altLang="zh-CN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104" name="Freeform 115"/>
              <p:cNvSpPr/>
              <p:nvPr/>
            </p:nvSpPr>
            <p:spPr bwMode="auto">
              <a:xfrm flipV="1">
                <a:off x="4200" y="1936"/>
                <a:ext cx="195" cy="27"/>
              </a:xfrm>
              <a:custGeom>
                <a:avLst/>
                <a:gdLst>
                  <a:gd name="T0" fmla="*/ 0 w 195"/>
                  <a:gd name="T1" fmla="*/ 0 h 1"/>
                  <a:gd name="T2" fmla="*/ 195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0" name="Group 116"/>
          <p:cNvGrpSpPr/>
          <p:nvPr/>
        </p:nvGrpSpPr>
        <p:grpSpPr bwMode="auto">
          <a:xfrm>
            <a:off x="2305050" y="2692400"/>
            <a:ext cx="6554788" cy="1778000"/>
            <a:chOff x="1452" y="1696"/>
            <a:chExt cx="4129" cy="1120"/>
          </a:xfrm>
        </p:grpSpPr>
        <p:sp>
          <p:nvSpPr>
            <p:cNvPr id="170087" name="Line 117"/>
            <p:cNvSpPr>
              <a:spLocks noChangeShapeType="1"/>
            </p:cNvSpPr>
            <p:nvPr/>
          </p:nvSpPr>
          <p:spPr bwMode="auto">
            <a:xfrm flipV="1">
              <a:off x="4642" y="2814"/>
              <a:ext cx="104" cy="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088" name="Line 118"/>
            <p:cNvSpPr>
              <a:spLocks noChangeShapeType="1"/>
            </p:cNvSpPr>
            <p:nvPr/>
          </p:nvSpPr>
          <p:spPr bwMode="auto">
            <a:xfrm flipV="1">
              <a:off x="5219" y="2814"/>
              <a:ext cx="104" cy="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089" name="Line 119"/>
            <p:cNvSpPr>
              <a:spLocks noChangeShapeType="1"/>
            </p:cNvSpPr>
            <p:nvPr/>
          </p:nvSpPr>
          <p:spPr bwMode="auto">
            <a:xfrm flipV="1">
              <a:off x="4732" y="2628"/>
              <a:ext cx="1" cy="1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090" name="Line 120"/>
            <p:cNvSpPr>
              <a:spLocks noChangeShapeType="1"/>
            </p:cNvSpPr>
            <p:nvPr/>
          </p:nvSpPr>
          <p:spPr bwMode="auto">
            <a:xfrm>
              <a:off x="4726" y="2628"/>
              <a:ext cx="578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091" name="Line 121"/>
            <p:cNvSpPr>
              <a:spLocks noChangeShapeType="1"/>
            </p:cNvSpPr>
            <p:nvPr/>
          </p:nvSpPr>
          <p:spPr bwMode="auto">
            <a:xfrm flipH="1" flipV="1">
              <a:off x="5308" y="1696"/>
              <a:ext cx="4" cy="11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70092" name="Group 122"/>
            <p:cNvGrpSpPr/>
            <p:nvPr/>
          </p:nvGrpSpPr>
          <p:grpSpPr bwMode="auto">
            <a:xfrm>
              <a:off x="1452" y="1698"/>
              <a:ext cx="4129" cy="429"/>
              <a:chOff x="1452" y="1698"/>
              <a:chExt cx="4129" cy="429"/>
            </a:xfrm>
          </p:grpSpPr>
          <p:sp>
            <p:nvSpPr>
              <p:cNvPr id="170093" name="Freeform 123"/>
              <p:cNvSpPr/>
              <p:nvPr/>
            </p:nvSpPr>
            <p:spPr bwMode="auto">
              <a:xfrm>
                <a:off x="1452" y="1698"/>
                <a:ext cx="3870" cy="1"/>
              </a:xfrm>
              <a:custGeom>
                <a:avLst/>
                <a:gdLst>
                  <a:gd name="T0" fmla="*/ 0 w 3870"/>
                  <a:gd name="T1" fmla="*/ 0 h 1"/>
                  <a:gd name="T2" fmla="*/ 3870 w 3870"/>
                  <a:gd name="T3" fmla="*/ 0 h 1"/>
                  <a:gd name="T4" fmla="*/ 0 60000 65536"/>
                  <a:gd name="T5" fmla="*/ 0 60000 65536"/>
                  <a:gd name="T6" fmla="*/ 0 w 3870"/>
                  <a:gd name="T7" fmla="*/ 0 h 1"/>
                  <a:gd name="T8" fmla="*/ 3870 w 387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70" h="1">
                    <a:moveTo>
                      <a:pt x="0" y="0"/>
                    </a:moveTo>
                    <a:lnTo>
                      <a:pt x="3870" y="0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094" name="Rectangle 124"/>
              <p:cNvSpPr>
                <a:spLocks noChangeArrowheads="1"/>
              </p:cNvSpPr>
              <p:nvPr/>
            </p:nvSpPr>
            <p:spPr bwMode="auto">
              <a:xfrm>
                <a:off x="5349" y="1954"/>
                <a:ext cx="232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en-US" altLang="zh-CN" sz="1800">
                    <a:latin typeface="Times New Roman" panose="02020603050405020304" pitchFamily="18" charset="0"/>
                  </a:rPr>
                  <a:t>CS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3</a:t>
                </a:r>
                <a:endParaRPr lang="en-US" altLang="zh-CN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095" name="Freeform 125"/>
              <p:cNvSpPr/>
              <p:nvPr/>
            </p:nvSpPr>
            <p:spPr bwMode="auto">
              <a:xfrm flipV="1">
                <a:off x="5343" y="1936"/>
                <a:ext cx="195" cy="27"/>
              </a:xfrm>
              <a:custGeom>
                <a:avLst/>
                <a:gdLst>
                  <a:gd name="T0" fmla="*/ 0 w 195"/>
                  <a:gd name="T1" fmla="*/ 0 h 1"/>
                  <a:gd name="T2" fmla="*/ 195 w 195"/>
                  <a:gd name="T3" fmla="*/ 0 h 1"/>
                  <a:gd name="T4" fmla="*/ 0 60000 65536"/>
                  <a:gd name="T5" fmla="*/ 0 60000 65536"/>
                  <a:gd name="T6" fmla="*/ 0 w 195"/>
                  <a:gd name="T7" fmla="*/ 0 h 1"/>
                  <a:gd name="T8" fmla="*/ 195 w 19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95" h="1">
                    <a:moveTo>
                      <a:pt x="0" y="0"/>
                    </a:moveTo>
                    <a:lnTo>
                      <a:pt x="195" y="0"/>
                    </a:ln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2" name="Group 126"/>
          <p:cNvGrpSpPr/>
          <p:nvPr/>
        </p:nvGrpSpPr>
        <p:grpSpPr bwMode="auto">
          <a:xfrm>
            <a:off x="1746250" y="2614613"/>
            <a:ext cx="574675" cy="622300"/>
            <a:chOff x="1100" y="1647"/>
            <a:chExt cx="362" cy="392"/>
          </a:xfrm>
        </p:grpSpPr>
        <p:sp>
          <p:nvSpPr>
            <p:cNvPr id="170080" name="Rectangle 127"/>
            <p:cNvSpPr>
              <a:spLocks noChangeArrowheads="1"/>
            </p:cNvSpPr>
            <p:nvPr/>
          </p:nvSpPr>
          <p:spPr bwMode="auto">
            <a:xfrm>
              <a:off x="1100" y="1651"/>
              <a:ext cx="298" cy="388"/>
            </a:xfrm>
            <a:prstGeom prst="rect">
              <a:avLst/>
            </a:prstGeom>
            <a:noFill/>
            <a:ln w="38100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70081" name="Rectangle 128"/>
            <p:cNvSpPr>
              <a:spLocks noChangeArrowheads="1"/>
            </p:cNvSpPr>
            <p:nvPr/>
          </p:nvSpPr>
          <p:spPr bwMode="auto">
            <a:xfrm>
              <a:off x="1103" y="1647"/>
              <a:ext cx="29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zh-CN" altLang="en-US" sz="1800"/>
                <a:t>片选</a:t>
              </a:r>
            </a:p>
          </p:txBody>
        </p:sp>
        <p:sp>
          <p:nvSpPr>
            <p:cNvPr id="170082" name="Rectangle 129"/>
            <p:cNvSpPr>
              <a:spLocks noChangeArrowheads="1"/>
            </p:cNvSpPr>
            <p:nvPr/>
          </p:nvSpPr>
          <p:spPr bwMode="auto">
            <a:xfrm>
              <a:off x="1103" y="1835"/>
              <a:ext cx="29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zh-CN" altLang="en-US" sz="1800"/>
                <a:t>译码</a:t>
              </a:r>
            </a:p>
          </p:txBody>
        </p:sp>
        <p:sp>
          <p:nvSpPr>
            <p:cNvPr id="170083" name="Oval 130"/>
            <p:cNvSpPr>
              <a:spLocks noChangeArrowheads="1"/>
            </p:cNvSpPr>
            <p:nvPr/>
          </p:nvSpPr>
          <p:spPr bwMode="auto">
            <a:xfrm>
              <a:off x="1397" y="1673"/>
              <a:ext cx="56" cy="56"/>
            </a:xfrm>
            <a:prstGeom prst="ellipse">
              <a:avLst/>
            </a:prstGeom>
            <a:noFill/>
            <a:ln w="1905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70084" name="Oval 131"/>
            <p:cNvSpPr>
              <a:spLocks noChangeArrowheads="1"/>
            </p:cNvSpPr>
            <p:nvPr/>
          </p:nvSpPr>
          <p:spPr bwMode="auto">
            <a:xfrm>
              <a:off x="1403" y="1754"/>
              <a:ext cx="56" cy="56"/>
            </a:xfrm>
            <a:prstGeom prst="ellipse">
              <a:avLst/>
            </a:prstGeom>
            <a:noFill/>
            <a:ln w="1905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70085" name="Oval 132"/>
            <p:cNvSpPr>
              <a:spLocks noChangeArrowheads="1"/>
            </p:cNvSpPr>
            <p:nvPr/>
          </p:nvSpPr>
          <p:spPr bwMode="auto">
            <a:xfrm>
              <a:off x="1403" y="1847"/>
              <a:ext cx="56" cy="56"/>
            </a:xfrm>
            <a:prstGeom prst="ellipse">
              <a:avLst/>
            </a:prstGeom>
            <a:noFill/>
            <a:ln w="1905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70086" name="Oval 133"/>
            <p:cNvSpPr>
              <a:spLocks noChangeArrowheads="1"/>
            </p:cNvSpPr>
            <p:nvPr/>
          </p:nvSpPr>
          <p:spPr bwMode="auto">
            <a:xfrm>
              <a:off x="1406" y="1931"/>
              <a:ext cx="56" cy="56"/>
            </a:xfrm>
            <a:prstGeom prst="ellipse">
              <a:avLst/>
            </a:prstGeom>
            <a:noFill/>
            <a:ln w="1905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grpSp>
        <p:nvGrpSpPr>
          <p:cNvPr id="23" name="Group 220"/>
          <p:cNvGrpSpPr/>
          <p:nvPr/>
        </p:nvGrpSpPr>
        <p:grpSpPr bwMode="auto">
          <a:xfrm>
            <a:off x="1190625" y="3433763"/>
            <a:ext cx="7061200" cy="985837"/>
            <a:chOff x="750" y="2163"/>
            <a:chExt cx="4448" cy="621"/>
          </a:xfrm>
        </p:grpSpPr>
        <p:grpSp>
          <p:nvGrpSpPr>
            <p:cNvPr id="170040" name="Group 219"/>
            <p:cNvGrpSpPr/>
            <p:nvPr/>
          </p:nvGrpSpPr>
          <p:grpSpPr bwMode="auto">
            <a:xfrm>
              <a:off x="750" y="2169"/>
              <a:ext cx="354" cy="615"/>
              <a:chOff x="750" y="2169"/>
              <a:chExt cx="354" cy="615"/>
            </a:xfrm>
          </p:grpSpPr>
          <p:sp>
            <p:nvSpPr>
              <p:cNvPr id="170076" name="Line 136"/>
              <p:cNvSpPr>
                <a:spLocks noChangeShapeType="1"/>
              </p:cNvSpPr>
              <p:nvPr/>
            </p:nvSpPr>
            <p:spPr bwMode="auto">
              <a:xfrm flipV="1">
                <a:off x="834" y="2254"/>
                <a:ext cx="1" cy="49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077" name="Line 137"/>
              <p:cNvSpPr>
                <a:spLocks noChangeShapeType="1"/>
              </p:cNvSpPr>
              <p:nvPr/>
            </p:nvSpPr>
            <p:spPr bwMode="auto">
              <a:xfrm flipV="1">
                <a:off x="750" y="2169"/>
                <a:ext cx="1" cy="57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078" name="Line 138"/>
              <p:cNvSpPr>
                <a:spLocks noChangeShapeType="1"/>
              </p:cNvSpPr>
              <p:nvPr/>
            </p:nvSpPr>
            <p:spPr bwMode="auto">
              <a:xfrm flipV="1">
                <a:off x="1056" y="2546"/>
                <a:ext cx="1" cy="20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079" name="Text Box 139"/>
              <p:cNvSpPr txBox="1">
                <a:spLocks noChangeArrowheads="1"/>
              </p:cNvSpPr>
              <p:nvPr/>
            </p:nvSpPr>
            <p:spPr bwMode="auto">
              <a:xfrm>
                <a:off x="796" y="2496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…</a:t>
                </a:r>
                <a:endParaRPr lang="zh-CN" altLang="en-US" sz="2400"/>
              </a:p>
            </p:txBody>
          </p:sp>
        </p:grpSp>
        <p:grpSp>
          <p:nvGrpSpPr>
            <p:cNvPr id="7" name="Group 218"/>
            <p:cNvGrpSpPr/>
            <p:nvPr/>
          </p:nvGrpSpPr>
          <p:grpSpPr bwMode="auto">
            <a:xfrm>
              <a:off x="1340" y="2174"/>
              <a:ext cx="352" cy="610"/>
              <a:chOff x="1340" y="2174"/>
              <a:chExt cx="352" cy="610"/>
            </a:xfrm>
          </p:grpSpPr>
          <p:sp>
            <p:nvSpPr>
              <p:cNvPr id="170072" name="Line 141"/>
              <p:cNvSpPr>
                <a:spLocks noChangeShapeType="1"/>
              </p:cNvSpPr>
              <p:nvPr/>
            </p:nvSpPr>
            <p:spPr bwMode="auto">
              <a:xfrm flipV="1">
                <a:off x="1424" y="2259"/>
                <a:ext cx="1" cy="49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073" name="Line 142"/>
              <p:cNvSpPr>
                <a:spLocks noChangeShapeType="1"/>
              </p:cNvSpPr>
              <p:nvPr/>
            </p:nvSpPr>
            <p:spPr bwMode="auto">
              <a:xfrm flipV="1">
                <a:off x="1340" y="2174"/>
                <a:ext cx="1" cy="57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074" name="Line 143"/>
              <p:cNvSpPr>
                <a:spLocks noChangeShapeType="1"/>
              </p:cNvSpPr>
              <p:nvPr/>
            </p:nvSpPr>
            <p:spPr bwMode="auto">
              <a:xfrm flipV="1">
                <a:off x="1646" y="2551"/>
                <a:ext cx="1" cy="20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075" name="Text Box 144"/>
              <p:cNvSpPr txBox="1">
                <a:spLocks noChangeArrowheads="1"/>
              </p:cNvSpPr>
              <p:nvPr/>
            </p:nvSpPr>
            <p:spPr bwMode="auto">
              <a:xfrm>
                <a:off x="1384" y="2496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…</a:t>
                </a:r>
                <a:endParaRPr lang="zh-CN" altLang="en-US" sz="2400"/>
              </a:p>
            </p:txBody>
          </p:sp>
        </p:grpSp>
        <p:grpSp>
          <p:nvGrpSpPr>
            <p:cNvPr id="170042" name="Group 217"/>
            <p:cNvGrpSpPr/>
            <p:nvPr/>
          </p:nvGrpSpPr>
          <p:grpSpPr bwMode="auto">
            <a:xfrm>
              <a:off x="1917" y="2166"/>
              <a:ext cx="337" cy="611"/>
              <a:chOff x="1917" y="2166"/>
              <a:chExt cx="337" cy="611"/>
            </a:xfrm>
          </p:grpSpPr>
          <p:sp>
            <p:nvSpPr>
              <p:cNvPr id="170068" name="Line 146"/>
              <p:cNvSpPr>
                <a:spLocks noChangeShapeType="1"/>
              </p:cNvSpPr>
              <p:nvPr/>
            </p:nvSpPr>
            <p:spPr bwMode="auto">
              <a:xfrm flipV="1">
                <a:off x="2001" y="2251"/>
                <a:ext cx="1" cy="49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069" name="Line 147"/>
              <p:cNvSpPr>
                <a:spLocks noChangeShapeType="1"/>
              </p:cNvSpPr>
              <p:nvPr/>
            </p:nvSpPr>
            <p:spPr bwMode="auto">
              <a:xfrm flipV="1">
                <a:off x="1917" y="2166"/>
                <a:ext cx="1" cy="57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070" name="Line 148"/>
              <p:cNvSpPr>
                <a:spLocks noChangeShapeType="1"/>
              </p:cNvSpPr>
              <p:nvPr/>
            </p:nvSpPr>
            <p:spPr bwMode="auto">
              <a:xfrm flipV="1">
                <a:off x="2223" y="2543"/>
                <a:ext cx="1" cy="20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071" name="Text Box 149"/>
              <p:cNvSpPr txBox="1">
                <a:spLocks noChangeArrowheads="1"/>
              </p:cNvSpPr>
              <p:nvPr/>
            </p:nvSpPr>
            <p:spPr bwMode="auto">
              <a:xfrm>
                <a:off x="1978" y="2527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…</a:t>
                </a:r>
                <a:endParaRPr lang="zh-CN" altLang="en-US" sz="2000"/>
              </a:p>
            </p:txBody>
          </p:sp>
        </p:grpSp>
        <p:grpSp>
          <p:nvGrpSpPr>
            <p:cNvPr id="170043" name="Group 216"/>
            <p:cNvGrpSpPr/>
            <p:nvPr/>
          </p:nvGrpSpPr>
          <p:grpSpPr bwMode="auto">
            <a:xfrm>
              <a:off x="2481" y="2171"/>
              <a:ext cx="359" cy="613"/>
              <a:chOff x="2481" y="2171"/>
              <a:chExt cx="359" cy="613"/>
            </a:xfrm>
          </p:grpSpPr>
          <p:sp>
            <p:nvSpPr>
              <p:cNvPr id="170064" name="Line 151"/>
              <p:cNvSpPr>
                <a:spLocks noChangeShapeType="1"/>
              </p:cNvSpPr>
              <p:nvPr/>
            </p:nvSpPr>
            <p:spPr bwMode="auto">
              <a:xfrm flipV="1">
                <a:off x="2565" y="2256"/>
                <a:ext cx="1" cy="49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065" name="Line 152"/>
              <p:cNvSpPr>
                <a:spLocks noChangeShapeType="1"/>
              </p:cNvSpPr>
              <p:nvPr/>
            </p:nvSpPr>
            <p:spPr bwMode="auto">
              <a:xfrm flipV="1">
                <a:off x="2481" y="2171"/>
                <a:ext cx="1" cy="57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066" name="Line 153"/>
              <p:cNvSpPr>
                <a:spLocks noChangeShapeType="1"/>
              </p:cNvSpPr>
              <p:nvPr/>
            </p:nvSpPr>
            <p:spPr bwMode="auto">
              <a:xfrm flipV="1">
                <a:off x="2787" y="2548"/>
                <a:ext cx="1" cy="20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067" name="Text Box 154"/>
              <p:cNvSpPr txBox="1">
                <a:spLocks noChangeArrowheads="1"/>
              </p:cNvSpPr>
              <p:nvPr/>
            </p:nvSpPr>
            <p:spPr bwMode="auto">
              <a:xfrm>
                <a:off x="2532" y="2496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…</a:t>
                </a:r>
                <a:endParaRPr lang="zh-CN" altLang="en-US" sz="2400"/>
              </a:p>
            </p:txBody>
          </p:sp>
        </p:grpSp>
        <p:grpSp>
          <p:nvGrpSpPr>
            <p:cNvPr id="170044" name="Group 215"/>
            <p:cNvGrpSpPr/>
            <p:nvPr/>
          </p:nvGrpSpPr>
          <p:grpSpPr bwMode="auto">
            <a:xfrm>
              <a:off x="3093" y="2178"/>
              <a:ext cx="347" cy="606"/>
              <a:chOff x="3093" y="2178"/>
              <a:chExt cx="347" cy="606"/>
            </a:xfrm>
          </p:grpSpPr>
          <p:sp>
            <p:nvSpPr>
              <p:cNvPr id="170060" name="Line 156"/>
              <p:cNvSpPr>
                <a:spLocks noChangeShapeType="1"/>
              </p:cNvSpPr>
              <p:nvPr/>
            </p:nvSpPr>
            <p:spPr bwMode="auto">
              <a:xfrm flipV="1">
                <a:off x="3176" y="2256"/>
                <a:ext cx="1" cy="49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061" name="Freeform 157"/>
              <p:cNvSpPr/>
              <p:nvPr/>
            </p:nvSpPr>
            <p:spPr bwMode="auto">
              <a:xfrm>
                <a:off x="3093" y="2178"/>
                <a:ext cx="1" cy="561"/>
              </a:xfrm>
              <a:custGeom>
                <a:avLst/>
                <a:gdLst>
                  <a:gd name="T0" fmla="*/ 0 w 1"/>
                  <a:gd name="T1" fmla="*/ 561 h 561"/>
                  <a:gd name="T2" fmla="*/ 0 w 1"/>
                  <a:gd name="T3" fmla="*/ 0 h 561"/>
                  <a:gd name="T4" fmla="*/ 0 60000 65536"/>
                  <a:gd name="T5" fmla="*/ 0 60000 65536"/>
                  <a:gd name="T6" fmla="*/ 0 w 1"/>
                  <a:gd name="T7" fmla="*/ 0 h 561"/>
                  <a:gd name="T8" fmla="*/ 1 w 1"/>
                  <a:gd name="T9" fmla="*/ 561 h 56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561">
                    <a:moveTo>
                      <a:pt x="0" y="561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  <a:tailEnd type="oval" w="sm" len="sm"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062" name="Line 158"/>
              <p:cNvSpPr>
                <a:spLocks noChangeShapeType="1"/>
              </p:cNvSpPr>
              <p:nvPr/>
            </p:nvSpPr>
            <p:spPr bwMode="auto">
              <a:xfrm flipV="1">
                <a:off x="3398" y="2548"/>
                <a:ext cx="1" cy="20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063" name="Text Box 159"/>
              <p:cNvSpPr txBox="1">
                <a:spLocks noChangeArrowheads="1"/>
              </p:cNvSpPr>
              <p:nvPr/>
            </p:nvSpPr>
            <p:spPr bwMode="auto">
              <a:xfrm>
                <a:off x="3132" y="2496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…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170045" name="Group 214"/>
            <p:cNvGrpSpPr/>
            <p:nvPr/>
          </p:nvGrpSpPr>
          <p:grpSpPr bwMode="auto">
            <a:xfrm>
              <a:off x="3695" y="2163"/>
              <a:ext cx="349" cy="621"/>
              <a:chOff x="3695" y="2163"/>
              <a:chExt cx="349" cy="621"/>
            </a:xfrm>
          </p:grpSpPr>
          <p:sp>
            <p:nvSpPr>
              <p:cNvPr id="170056" name="Line 161"/>
              <p:cNvSpPr>
                <a:spLocks noChangeShapeType="1"/>
              </p:cNvSpPr>
              <p:nvPr/>
            </p:nvSpPr>
            <p:spPr bwMode="auto">
              <a:xfrm flipV="1">
                <a:off x="3779" y="2248"/>
                <a:ext cx="1" cy="49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057" name="Line 162"/>
              <p:cNvSpPr>
                <a:spLocks noChangeShapeType="1"/>
              </p:cNvSpPr>
              <p:nvPr/>
            </p:nvSpPr>
            <p:spPr bwMode="auto">
              <a:xfrm flipV="1">
                <a:off x="3695" y="2163"/>
                <a:ext cx="1" cy="57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058" name="Line 163"/>
              <p:cNvSpPr>
                <a:spLocks noChangeShapeType="1"/>
              </p:cNvSpPr>
              <p:nvPr/>
            </p:nvSpPr>
            <p:spPr bwMode="auto">
              <a:xfrm flipV="1">
                <a:off x="4001" y="2540"/>
                <a:ext cx="1" cy="20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059" name="Text Box 164"/>
              <p:cNvSpPr txBox="1">
                <a:spLocks noChangeArrowheads="1"/>
              </p:cNvSpPr>
              <p:nvPr/>
            </p:nvSpPr>
            <p:spPr bwMode="auto">
              <a:xfrm>
                <a:off x="3736" y="2496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…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170046" name="Group 213"/>
            <p:cNvGrpSpPr/>
            <p:nvPr/>
          </p:nvGrpSpPr>
          <p:grpSpPr bwMode="auto">
            <a:xfrm>
              <a:off x="4246" y="2168"/>
              <a:ext cx="346" cy="616"/>
              <a:chOff x="4246" y="2168"/>
              <a:chExt cx="346" cy="616"/>
            </a:xfrm>
          </p:grpSpPr>
          <p:sp>
            <p:nvSpPr>
              <p:cNvPr id="170052" name="Freeform 166"/>
              <p:cNvSpPr/>
              <p:nvPr/>
            </p:nvSpPr>
            <p:spPr bwMode="auto">
              <a:xfrm>
                <a:off x="4326" y="2250"/>
                <a:ext cx="4" cy="497"/>
              </a:xfrm>
              <a:custGeom>
                <a:avLst/>
                <a:gdLst>
                  <a:gd name="T0" fmla="*/ 4 w 4"/>
                  <a:gd name="T1" fmla="*/ 497 h 497"/>
                  <a:gd name="T2" fmla="*/ 0 w 4"/>
                  <a:gd name="T3" fmla="*/ 0 h 497"/>
                  <a:gd name="T4" fmla="*/ 0 60000 65536"/>
                  <a:gd name="T5" fmla="*/ 0 60000 65536"/>
                  <a:gd name="T6" fmla="*/ 0 w 4"/>
                  <a:gd name="T7" fmla="*/ 0 h 497"/>
                  <a:gd name="T8" fmla="*/ 4 w 4"/>
                  <a:gd name="T9" fmla="*/ 497 h 49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497">
                    <a:moveTo>
                      <a:pt x="4" y="497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  <a:tailEnd type="oval" w="sm" len="sm"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053" name="Line 167"/>
              <p:cNvSpPr>
                <a:spLocks noChangeShapeType="1"/>
              </p:cNvSpPr>
              <p:nvPr/>
            </p:nvSpPr>
            <p:spPr bwMode="auto">
              <a:xfrm flipV="1">
                <a:off x="4246" y="2168"/>
                <a:ext cx="1" cy="57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054" name="Line 168"/>
              <p:cNvSpPr>
                <a:spLocks noChangeShapeType="1"/>
              </p:cNvSpPr>
              <p:nvPr/>
            </p:nvSpPr>
            <p:spPr bwMode="auto">
              <a:xfrm flipV="1">
                <a:off x="4552" y="2545"/>
                <a:ext cx="1" cy="20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055" name="Text Box 169"/>
              <p:cNvSpPr txBox="1">
                <a:spLocks noChangeArrowheads="1"/>
              </p:cNvSpPr>
              <p:nvPr/>
            </p:nvSpPr>
            <p:spPr bwMode="auto">
              <a:xfrm>
                <a:off x="4284" y="2496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…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170047" name="Group 212"/>
            <p:cNvGrpSpPr/>
            <p:nvPr/>
          </p:nvGrpSpPr>
          <p:grpSpPr bwMode="auto">
            <a:xfrm>
              <a:off x="4845" y="2175"/>
              <a:ext cx="353" cy="609"/>
              <a:chOff x="4845" y="2175"/>
              <a:chExt cx="353" cy="609"/>
            </a:xfrm>
          </p:grpSpPr>
          <p:sp>
            <p:nvSpPr>
              <p:cNvPr id="170048" name="Line 171"/>
              <p:cNvSpPr>
                <a:spLocks noChangeShapeType="1"/>
              </p:cNvSpPr>
              <p:nvPr/>
            </p:nvSpPr>
            <p:spPr bwMode="auto">
              <a:xfrm flipV="1">
                <a:off x="4933" y="2258"/>
                <a:ext cx="1" cy="49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049" name="Freeform 172"/>
              <p:cNvSpPr/>
              <p:nvPr/>
            </p:nvSpPr>
            <p:spPr bwMode="auto">
              <a:xfrm>
                <a:off x="4845" y="2175"/>
                <a:ext cx="4" cy="570"/>
              </a:xfrm>
              <a:custGeom>
                <a:avLst/>
                <a:gdLst>
                  <a:gd name="T0" fmla="*/ 4 w 4"/>
                  <a:gd name="T1" fmla="*/ 570 h 570"/>
                  <a:gd name="T2" fmla="*/ 0 w 4"/>
                  <a:gd name="T3" fmla="*/ 0 h 570"/>
                  <a:gd name="T4" fmla="*/ 0 60000 65536"/>
                  <a:gd name="T5" fmla="*/ 0 60000 65536"/>
                  <a:gd name="T6" fmla="*/ 0 w 4"/>
                  <a:gd name="T7" fmla="*/ 0 h 570"/>
                  <a:gd name="T8" fmla="*/ 4 w 4"/>
                  <a:gd name="T9" fmla="*/ 570 h 57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70">
                    <a:moveTo>
                      <a:pt x="4" y="57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38100">
                <a:solidFill>
                  <a:schemeClr val="tx1"/>
                </a:solidFill>
                <a:round/>
                <a:tailEnd type="oval" w="sm" len="sm"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050" name="Line 173"/>
              <p:cNvSpPr>
                <a:spLocks noChangeShapeType="1"/>
              </p:cNvSpPr>
              <p:nvPr/>
            </p:nvSpPr>
            <p:spPr bwMode="auto">
              <a:xfrm flipV="1">
                <a:off x="5155" y="2550"/>
                <a:ext cx="1" cy="20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oval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0051" name="Text Box 174"/>
              <p:cNvSpPr txBox="1">
                <a:spLocks noChangeArrowheads="1"/>
              </p:cNvSpPr>
              <p:nvPr/>
            </p:nvSpPr>
            <p:spPr bwMode="auto">
              <a:xfrm>
                <a:off x="4890" y="2496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…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798895" name="Rectangle 175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grpSp>
        <p:nvGrpSpPr>
          <p:cNvPr id="170027" name="Group 176"/>
          <p:cNvGrpSpPr/>
          <p:nvPr/>
        </p:nvGrpSpPr>
        <p:grpSpPr bwMode="auto">
          <a:xfrm>
            <a:off x="1790700" y="4678363"/>
            <a:ext cx="6664325" cy="19050"/>
            <a:chOff x="1128" y="2947"/>
            <a:chExt cx="4198" cy="12"/>
          </a:xfrm>
        </p:grpSpPr>
        <p:grpSp>
          <p:nvGrpSpPr>
            <p:cNvPr id="9" name="Group 177"/>
            <p:cNvGrpSpPr/>
            <p:nvPr/>
          </p:nvGrpSpPr>
          <p:grpSpPr bwMode="auto">
            <a:xfrm>
              <a:off x="1128" y="2947"/>
              <a:ext cx="4198" cy="12"/>
              <a:chOff x="1128" y="2947"/>
              <a:chExt cx="4198" cy="12"/>
            </a:xfrm>
          </p:grpSpPr>
          <p:grpSp>
            <p:nvGrpSpPr>
              <p:cNvPr id="170029" name="Group 178"/>
              <p:cNvGrpSpPr/>
              <p:nvPr/>
            </p:nvGrpSpPr>
            <p:grpSpPr bwMode="auto">
              <a:xfrm>
                <a:off x="2858" y="2947"/>
                <a:ext cx="1318" cy="12"/>
                <a:chOff x="2858" y="2947"/>
                <a:chExt cx="1318" cy="12"/>
              </a:xfrm>
            </p:grpSpPr>
            <p:sp>
              <p:nvSpPr>
                <p:cNvPr id="170037" name="Line 179"/>
                <p:cNvSpPr>
                  <a:spLocks noChangeShapeType="1"/>
                </p:cNvSpPr>
                <p:nvPr/>
              </p:nvSpPr>
              <p:spPr bwMode="auto">
                <a:xfrm>
                  <a:off x="2858" y="2958"/>
                  <a:ext cx="104" cy="1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70038" name="Line 180"/>
                <p:cNvSpPr>
                  <a:spLocks noChangeShapeType="1"/>
                </p:cNvSpPr>
                <p:nvPr/>
              </p:nvSpPr>
              <p:spPr bwMode="auto">
                <a:xfrm>
                  <a:off x="3477" y="2947"/>
                  <a:ext cx="104" cy="1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70039" name="Line 181"/>
                <p:cNvSpPr>
                  <a:spLocks noChangeShapeType="1"/>
                </p:cNvSpPr>
                <p:nvPr/>
              </p:nvSpPr>
              <p:spPr bwMode="auto">
                <a:xfrm>
                  <a:off x="4072" y="2947"/>
                  <a:ext cx="104" cy="1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70030" name="Group 182"/>
              <p:cNvGrpSpPr/>
              <p:nvPr/>
            </p:nvGrpSpPr>
            <p:grpSpPr bwMode="auto">
              <a:xfrm>
                <a:off x="1128" y="2947"/>
                <a:ext cx="4198" cy="12"/>
                <a:chOff x="1128" y="2947"/>
                <a:chExt cx="4198" cy="12"/>
              </a:xfrm>
            </p:grpSpPr>
            <p:sp>
              <p:nvSpPr>
                <p:cNvPr id="170031" name="Line 183"/>
                <p:cNvSpPr>
                  <a:spLocks noChangeShapeType="1"/>
                </p:cNvSpPr>
                <p:nvPr/>
              </p:nvSpPr>
              <p:spPr bwMode="auto">
                <a:xfrm>
                  <a:off x="2278" y="2958"/>
                  <a:ext cx="104" cy="1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grpSp>
              <p:nvGrpSpPr>
                <p:cNvPr id="170032" name="Group 184"/>
                <p:cNvGrpSpPr/>
                <p:nvPr/>
              </p:nvGrpSpPr>
              <p:grpSpPr bwMode="auto">
                <a:xfrm>
                  <a:off x="1128" y="2947"/>
                  <a:ext cx="4198" cy="12"/>
                  <a:chOff x="1128" y="2947"/>
                  <a:chExt cx="4198" cy="12"/>
                </a:xfrm>
              </p:grpSpPr>
              <p:sp>
                <p:nvSpPr>
                  <p:cNvPr id="170033" name="Line 185"/>
                  <p:cNvSpPr>
                    <a:spLocks noChangeShapeType="1"/>
                  </p:cNvSpPr>
                  <p:nvPr/>
                </p:nvSpPr>
                <p:spPr bwMode="auto">
                  <a:xfrm>
                    <a:off x="1708" y="2958"/>
                    <a:ext cx="104" cy="1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70034" name="Group 186"/>
                  <p:cNvGrpSpPr/>
                  <p:nvPr/>
                </p:nvGrpSpPr>
                <p:grpSpPr bwMode="auto">
                  <a:xfrm>
                    <a:off x="1128" y="2947"/>
                    <a:ext cx="4198" cy="12"/>
                    <a:chOff x="1128" y="2947"/>
                    <a:chExt cx="4198" cy="12"/>
                  </a:xfrm>
                </p:grpSpPr>
                <p:sp>
                  <p:nvSpPr>
                    <p:cNvPr id="170035" name="Line 18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128" y="2958"/>
                      <a:ext cx="104" cy="1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70036" name="Line 1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222" y="2947"/>
                      <a:ext cx="104" cy="1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</p:grpSp>
            </p:grpSp>
          </p:grpSp>
        </p:grpSp>
        <p:sp>
          <p:nvSpPr>
            <p:cNvPr id="170028" name="Line 189"/>
            <p:cNvSpPr>
              <a:spLocks noChangeShapeType="1"/>
            </p:cNvSpPr>
            <p:nvPr/>
          </p:nvSpPr>
          <p:spPr bwMode="auto">
            <a:xfrm>
              <a:off x="4642" y="2947"/>
              <a:ext cx="10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0041" name="Group 190"/>
          <p:cNvGrpSpPr/>
          <p:nvPr/>
        </p:nvGrpSpPr>
        <p:grpSpPr bwMode="auto">
          <a:xfrm>
            <a:off x="1049338" y="4359275"/>
            <a:ext cx="7224712" cy="407988"/>
            <a:chOff x="661" y="2746"/>
            <a:chExt cx="4551" cy="257"/>
          </a:xfrm>
        </p:grpSpPr>
        <p:grpSp>
          <p:nvGrpSpPr>
            <p:cNvPr id="170009" name="Group 191"/>
            <p:cNvGrpSpPr/>
            <p:nvPr/>
          </p:nvGrpSpPr>
          <p:grpSpPr bwMode="auto">
            <a:xfrm>
              <a:off x="661" y="2746"/>
              <a:ext cx="4551" cy="257"/>
              <a:chOff x="661" y="2746"/>
              <a:chExt cx="4551" cy="257"/>
            </a:xfrm>
          </p:grpSpPr>
          <p:sp>
            <p:nvSpPr>
              <p:cNvPr id="170011" name="Rectangle 192"/>
              <p:cNvSpPr>
                <a:spLocks noChangeArrowheads="1"/>
              </p:cNvSpPr>
              <p:nvPr/>
            </p:nvSpPr>
            <p:spPr bwMode="auto">
              <a:xfrm>
                <a:off x="690" y="2794"/>
                <a:ext cx="407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zh-CN" altLang="en-US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K</a:t>
                </a:r>
                <a:r>
                  <a:rPr lang="en-US" altLang="zh-CN" sz="16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×</a:t>
                </a: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4</a:t>
                </a:r>
              </a:p>
            </p:txBody>
          </p:sp>
          <p:grpSp>
            <p:nvGrpSpPr>
              <p:cNvPr id="170012" name="Group 193"/>
              <p:cNvGrpSpPr/>
              <p:nvPr/>
            </p:nvGrpSpPr>
            <p:grpSpPr bwMode="auto">
              <a:xfrm>
                <a:off x="661" y="2746"/>
                <a:ext cx="4551" cy="257"/>
                <a:chOff x="661" y="2746"/>
                <a:chExt cx="4551" cy="257"/>
              </a:xfrm>
            </p:grpSpPr>
            <p:sp>
              <p:nvSpPr>
                <p:cNvPr id="170019" name="Rectangle 194"/>
                <p:cNvSpPr>
                  <a:spLocks noChangeArrowheads="1"/>
                </p:cNvSpPr>
                <p:nvPr/>
              </p:nvSpPr>
              <p:spPr bwMode="auto">
                <a:xfrm>
                  <a:off x="661" y="2746"/>
                  <a:ext cx="463" cy="253"/>
                </a:xfrm>
                <a:prstGeom prst="rect">
                  <a:avLst/>
                </a:prstGeom>
                <a:noFill/>
                <a:ln w="38100">
                  <a:solidFill>
                    <a:schemeClr val="folHlink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70020" name="Rectangle 195"/>
                <p:cNvSpPr>
                  <a:spLocks noChangeArrowheads="1"/>
                </p:cNvSpPr>
                <p:nvPr/>
              </p:nvSpPr>
              <p:spPr bwMode="auto">
                <a:xfrm>
                  <a:off x="1853" y="2746"/>
                  <a:ext cx="421" cy="253"/>
                </a:xfrm>
                <a:prstGeom prst="rect">
                  <a:avLst/>
                </a:prstGeom>
                <a:noFill/>
                <a:ln w="38100">
                  <a:solidFill>
                    <a:schemeClr val="folHlink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70021" name="Rectangle 196"/>
                <p:cNvSpPr>
                  <a:spLocks noChangeArrowheads="1"/>
                </p:cNvSpPr>
                <p:nvPr/>
              </p:nvSpPr>
              <p:spPr bwMode="auto">
                <a:xfrm>
                  <a:off x="2427" y="2746"/>
                  <a:ext cx="421" cy="253"/>
                </a:xfrm>
                <a:prstGeom prst="rect">
                  <a:avLst/>
                </a:prstGeom>
                <a:noFill/>
                <a:ln w="38100">
                  <a:solidFill>
                    <a:schemeClr val="folHlink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70022" name="Rectangle 197"/>
                <p:cNvSpPr>
                  <a:spLocks noChangeArrowheads="1"/>
                </p:cNvSpPr>
                <p:nvPr/>
              </p:nvSpPr>
              <p:spPr bwMode="auto">
                <a:xfrm>
                  <a:off x="3043" y="2746"/>
                  <a:ext cx="421" cy="257"/>
                </a:xfrm>
                <a:prstGeom prst="rect">
                  <a:avLst/>
                </a:prstGeom>
                <a:noFill/>
                <a:ln w="38100">
                  <a:solidFill>
                    <a:schemeClr val="folHlink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70023" name="Rectangle 198"/>
                <p:cNvSpPr>
                  <a:spLocks noChangeArrowheads="1"/>
                </p:cNvSpPr>
                <p:nvPr/>
              </p:nvSpPr>
              <p:spPr bwMode="auto">
                <a:xfrm>
                  <a:off x="3640" y="2746"/>
                  <a:ext cx="422" cy="254"/>
                </a:xfrm>
                <a:prstGeom prst="rect">
                  <a:avLst/>
                </a:prstGeom>
                <a:noFill/>
                <a:ln w="38100">
                  <a:solidFill>
                    <a:schemeClr val="folHlink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70024" name="Rectangle 199"/>
                <p:cNvSpPr>
                  <a:spLocks noChangeArrowheads="1"/>
                </p:cNvSpPr>
                <p:nvPr/>
              </p:nvSpPr>
              <p:spPr bwMode="auto">
                <a:xfrm>
                  <a:off x="4214" y="2746"/>
                  <a:ext cx="421" cy="257"/>
                </a:xfrm>
                <a:prstGeom prst="rect">
                  <a:avLst/>
                </a:prstGeom>
                <a:noFill/>
                <a:ln w="38100">
                  <a:solidFill>
                    <a:schemeClr val="folHlink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70025" name="Rectangle 200"/>
                <p:cNvSpPr>
                  <a:spLocks noChangeArrowheads="1"/>
                </p:cNvSpPr>
                <p:nvPr/>
              </p:nvSpPr>
              <p:spPr bwMode="auto">
                <a:xfrm>
                  <a:off x="4791" y="2746"/>
                  <a:ext cx="421" cy="254"/>
                </a:xfrm>
                <a:prstGeom prst="rect">
                  <a:avLst/>
                </a:prstGeom>
                <a:noFill/>
                <a:ln w="38100">
                  <a:solidFill>
                    <a:schemeClr val="folHlink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  <p:sp>
              <p:nvSpPr>
                <p:cNvPr id="170026" name="Rectangle 201"/>
                <p:cNvSpPr>
                  <a:spLocks noChangeArrowheads="1"/>
                </p:cNvSpPr>
                <p:nvPr/>
              </p:nvSpPr>
              <p:spPr bwMode="auto">
                <a:xfrm>
                  <a:off x="1277" y="2746"/>
                  <a:ext cx="421" cy="253"/>
                </a:xfrm>
                <a:prstGeom prst="rect">
                  <a:avLst/>
                </a:prstGeom>
                <a:noFill/>
                <a:ln w="38100">
                  <a:solidFill>
                    <a:schemeClr val="folHlink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/>
                </a:p>
              </p:txBody>
            </p:sp>
          </p:grpSp>
          <p:sp>
            <p:nvSpPr>
              <p:cNvPr id="170013" name="Rectangle 202"/>
              <p:cNvSpPr>
                <a:spLocks noChangeArrowheads="1"/>
              </p:cNvSpPr>
              <p:nvPr/>
            </p:nvSpPr>
            <p:spPr bwMode="auto">
              <a:xfrm>
                <a:off x="1858" y="2794"/>
                <a:ext cx="407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zh-CN" altLang="en-US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K</a:t>
                </a:r>
                <a:r>
                  <a:rPr lang="en-US" altLang="zh-CN" sz="1600">
                    <a:solidFill>
                      <a:schemeClr val="folHlink"/>
                    </a:solidFill>
                  </a:rPr>
                  <a:t>×</a:t>
                </a: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4</a:t>
                </a:r>
              </a:p>
            </p:txBody>
          </p:sp>
          <p:sp>
            <p:nvSpPr>
              <p:cNvPr id="170014" name="Rectangle 203"/>
              <p:cNvSpPr>
                <a:spLocks noChangeArrowheads="1"/>
              </p:cNvSpPr>
              <p:nvPr/>
            </p:nvSpPr>
            <p:spPr bwMode="auto">
              <a:xfrm>
                <a:off x="2432" y="2794"/>
                <a:ext cx="407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zh-CN" altLang="en-US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K</a:t>
                </a:r>
                <a:r>
                  <a:rPr lang="en-US" altLang="zh-CN" sz="1600">
                    <a:solidFill>
                      <a:schemeClr val="folHlink"/>
                    </a:solidFill>
                  </a:rPr>
                  <a:t>×</a:t>
                </a: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4</a:t>
                </a:r>
              </a:p>
            </p:txBody>
          </p:sp>
          <p:sp>
            <p:nvSpPr>
              <p:cNvPr id="170015" name="Rectangle 204"/>
              <p:cNvSpPr>
                <a:spLocks noChangeArrowheads="1"/>
              </p:cNvSpPr>
              <p:nvPr/>
            </p:nvSpPr>
            <p:spPr bwMode="auto">
              <a:xfrm>
                <a:off x="3051" y="2794"/>
                <a:ext cx="407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zh-CN" altLang="en-US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K</a:t>
                </a:r>
                <a:r>
                  <a:rPr lang="en-US" altLang="zh-CN" sz="1600">
                    <a:solidFill>
                      <a:schemeClr val="folHlink"/>
                    </a:solidFill>
                  </a:rPr>
                  <a:t>×</a:t>
                </a: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4</a:t>
                </a:r>
              </a:p>
            </p:txBody>
          </p:sp>
          <p:sp>
            <p:nvSpPr>
              <p:cNvPr id="170016" name="Rectangle 205"/>
              <p:cNvSpPr>
                <a:spLocks noChangeArrowheads="1"/>
              </p:cNvSpPr>
              <p:nvPr/>
            </p:nvSpPr>
            <p:spPr bwMode="auto">
              <a:xfrm>
                <a:off x="3645" y="2794"/>
                <a:ext cx="407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zh-CN" altLang="en-US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K</a:t>
                </a:r>
                <a:r>
                  <a:rPr lang="en-US" altLang="zh-CN" sz="1600">
                    <a:solidFill>
                      <a:schemeClr val="folHlink"/>
                    </a:solidFill>
                  </a:rPr>
                  <a:t>×</a:t>
                </a: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4</a:t>
                </a:r>
              </a:p>
            </p:txBody>
          </p:sp>
          <p:sp>
            <p:nvSpPr>
              <p:cNvPr id="170017" name="Rectangle 206"/>
              <p:cNvSpPr>
                <a:spLocks noChangeArrowheads="1"/>
              </p:cNvSpPr>
              <p:nvPr/>
            </p:nvSpPr>
            <p:spPr bwMode="auto">
              <a:xfrm>
                <a:off x="4221" y="2794"/>
                <a:ext cx="407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zh-CN" altLang="en-US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K</a:t>
                </a:r>
                <a:r>
                  <a:rPr lang="en-US" altLang="zh-CN" sz="1600">
                    <a:solidFill>
                      <a:schemeClr val="folHlink"/>
                    </a:solidFill>
                  </a:rPr>
                  <a:t>×</a:t>
                </a: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4</a:t>
                </a:r>
              </a:p>
            </p:txBody>
          </p:sp>
          <p:sp>
            <p:nvSpPr>
              <p:cNvPr id="170018" name="Rectangle 207"/>
              <p:cNvSpPr>
                <a:spLocks noChangeArrowheads="1"/>
              </p:cNvSpPr>
              <p:nvPr/>
            </p:nvSpPr>
            <p:spPr bwMode="auto">
              <a:xfrm>
                <a:off x="4797" y="2794"/>
                <a:ext cx="407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</a:pPr>
                <a:r>
                  <a:rPr lang="zh-CN" altLang="en-US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K</a:t>
                </a:r>
                <a:r>
                  <a:rPr lang="en-US" altLang="zh-CN" sz="1600">
                    <a:solidFill>
                      <a:schemeClr val="folHlink"/>
                    </a:solidFill>
                  </a:rPr>
                  <a:t>×</a:t>
                </a:r>
                <a:r>
                  <a:rPr lang="en-US" altLang="zh-CN" sz="18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sp>
          <p:nvSpPr>
            <p:cNvPr id="170010" name="Rectangle 208"/>
            <p:cNvSpPr>
              <a:spLocks noChangeArrowheads="1"/>
            </p:cNvSpPr>
            <p:nvPr/>
          </p:nvSpPr>
          <p:spPr bwMode="auto">
            <a:xfrm>
              <a:off x="1278" y="2794"/>
              <a:ext cx="40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</a:pPr>
              <a:r>
                <a:rPr lang="zh-CN" altLang="en-US" sz="1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r>
                <a:rPr lang="en-US" altLang="zh-CN" sz="1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K</a:t>
              </a:r>
              <a:r>
                <a:rPr lang="en-US" altLang="zh-CN" sz="1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×</a:t>
              </a:r>
              <a:r>
                <a:rPr lang="en-US" altLang="zh-CN" sz="1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4</a:t>
              </a:r>
            </a:p>
          </p:txBody>
        </p:sp>
      </p:grpSp>
      <p:sp>
        <p:nvSpPr>
          <p:cNvPr id="798929" name="Text Box 209"/>
          <p:cNvSpPr txBox="1">
            <a:spLocks noChangeArrowheads="1"/>
          </p:cNvSpPr>
          <p:nvPr/>
        </p:nvSpPr>
        <p:spPr bwMode="auto">
          <a:xfrm>
            <a:off x="1201738" y="995363"/>
            <a:ext cx="1282700" cy="488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600">
                <a:solidFill>
                  <a:schemeClr val="folHlink"/>
                </a:solidFill>
                <a:latin typeface="Times New Roman" panose="02020603050405020304" pitchFamily="18" charset="0"/>
              </a:rPr>
              <a:t>？片</a:t>
            </a:r>
          </a:p>
        </p:txBody>
      </p:sp>
      <p:sp>
        <p:nvSpPr>
          <p:cNvPr id="798930" name="Text Box 210"/>
          <p:cNvSpPr txBox="1">
            <a:spLocks noChangeArrowheads="1"/>
          </p:cNvSpPr>
          <p:nvPr/>
        </p:nvSpPr>
        <p:spPr bwMode="auto">
          <a:xfrm>
            <a:off x="1331913" y="1009650"/>
            <a:ext cx="792162" cy="488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2600">
                <a:solidFill>
                  <a:schemeClr val="folHlink"/>
                </a:solidFill>
                <a:latin typeface="Times New Roman" panose="02020603050405020304" pitchFamily="18" charset="0"/>
              </a:rPr>
              <a:t>8</a:t>
            </a:r>
            <a:r>
              <a:rPr lang="zh-CN" altLang="en-US" sz="2600">
                <a:solidFill>
                  <a:schemeClr val="folHlink"/>
                </a:solidFill>
                <a:latin typeface="Times New Roman" panose="02020603050405020304" pitchFamily="18" charset="0"/>
              </a:rPr>
              <a:t>片</a:t>
            </a:r>
          </a:p>
        </p:txBody>
      </p:sp>
      <p:sp>
        <p:nvSpPr>
          <p:cNvPr id="170008" name="AutoShape 211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7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987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79892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98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989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2" dur="500"/>
                                        <p:tgtEl>
                                          <p:spTgt spid="170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5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5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"/>
                            </p:stCondLst>
                            <p:childTnLst>
                              <p:par>
                                <p:cTn id="5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1000"/>
                            </p:stCondLst>
                            <p:childTnLst>
                              <p:par>
                                <p:cTn id="63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65" dur="500"/>
                                        <p:tgtEl>
                                          <p:spTgt spid="1700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500"/>
                            </p:stCondLst>
                            <p:childTnLst>
                              <p:par>
                                <p:cTn id="72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9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8732" grpId="0" autoUpdateAnimBg="0"/>
      <p:bldP spid="798929" grpId="0"/>
      <p:bldP spid="798930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10" name="Text Box 2"/>
          <p:cNvSpPr txBox="1">
            <a:spLocks noChangeArrowheads="1"/>
          </p:cNvSpPr>
          <p:nvPr/>
        </p:nvSpPr>
        <p:spPr bwMode="auto">
          <a:xfrm>
            <a:off x="755650" y="577850"/>
            <a:ext cx="5224463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zh-CN" altLang="en-US" sz="3600">
                <a:latin typeface="Times New Roman" panose="02020603050405020304" pitchFamily="18" charset="0"/>
              </a:rPr>
              <a:t>2. 存储器与 </a:t>
            </a:r>
            <a:r>
              <a:rPr lang="en-US" altLang="zh-CN" sz="3600">
                <a:latin typeface="Times New Roman" panose="02020603050405020304" pitchFamily="18" charset="0"/>
              </a:rPr>
              <a:t>CPU </a:t>
            </a:r>
            <a:r>
              <a:rPr lang="zh-CN" altLang="en-US" sz="3600">
                <a:latin typeface="Times New Roman" panose="02020603050405020304" pitchFamily="18" charset="0"/>
              </a:rPr>
              <a:t>的连接</a:t>
            </a:r>
            <a:r>
              <a:rPr lang="en-US" altLang="zh-CN" sz="3200"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260099" name="Text Box 3"/>
          <p:cNvSpPr txBox="1">
            <a:spLocks noChangeArrowheads="1"/>
          </p:cNvSpPr>
          <p:nvPr/>
        </p:nvSpPr>
        <p:spPr bwMode="auto">
          <a:xfrm>
            <a:off x="1828800" y="1401763"/>
            <a:ext cx="5867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(1) 地址线的连接</a:t>
            </a:r>
          </a:p>
        </p:txBody>
      </p:sp>
      <p:sp>
        <p:nvSpPr>
          <p:cNvPr id="260100" name="Text Box 4"/>
          <p:cNvSpPr txBox="1">
            <a:spLocks noChangeArrowheads="1"/>
          </p:cNvSpPr>
          <p:nvPr/>
        </p:nvSpPr>
        <p:spPr bwMode="auto">
          <a:xfrm>
            <a:off x="1828800" y="2217738"/>
            <a:ext cx="5867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(2) 数据线的连接</a:t>
            </a:r>
          </a:p>
        </p:txBody>
      </p:sp>
      <p:sp>
        <p:nvSpPr>
          <p:cNvPr id="260101" name="Text Box 5"/>
          <p:cNvSpPr txBox="1">
            <a:spLocks noChangeArrowheads="1"/>
          </p:cNvSpPr>
          <p:nvPr/>
        </p:nvSpPr>
        <p:spPr bwMode="auto">
          <a:xfrm>
            <a:off x="1828800" y="3035300"/>
            <a:ext cx="5867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(3) 读/写命令线的连接</a:t>
            </a:r>
          </a:p>
        </p:txBody>
      </p:sp>
      <p:sp>
        <p:nvSpPr>
          <p:cNvPr id="260102" name="Text Box 6"/>
          <p:cNvSpPr txBox="1">
            <a:spLocks noChangeArrowheads="1"/>
          </p:cNvSpPr>
          <p:nvPr/>
        </p:nvSpPr>
        <p:spPr bwMode="auto">
          <a:xfrm>
            <a:off x="1828800" y="3851275"/>
            <a:ext cx="5867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(4) 片选线的连接</a:t>
            </a:r>
          </a:p>
        </p:txBody>
      </p:sp>
      <p:sp>
        <p:nvSpPr>
          <p:cNvPr id="260103" name="Text Box 7"/>
          <p:cNvSpPr txBox="1">
            <a:spLocks noChangeArrowheads="1"/>
          </p:cNvSpPr>
          <p:nvPr/>
        </p:nvSpPr>
        <p:spPr bwMode="auto">
          <a:xfrm>
            <a:off x="1828800" y="4668838"/>
            <a:ext cx="5867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(5) 合理选择存储芯片</a:t>
            </a:r>
          </a:p>
        </p:txBody>
      </p:sp>
      <p:sp>
        <p:nvSpPr>
          <p:cNvPr id="260104" name="Text Box 8"/>
          <p:cNvSpPr txBox="1">
            <a:spLocks noChangeArrowheads="1"/>
          </p:cNvSpPr>
          <p:nvPr/>
        </p:nvSpPr>
        <p:spPr bwMode="auto">
          <a:xfrm>
            <a:off x="1828800" y="5486400"/>
            <a:ext cx="5867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(6) 其他       时序、负载</a:t>
            </a:r>
          </a:p>
        </p:txBody>
      </p:sp>
      <p:sp>
        <p:nvSpPr>
          <p:cNvPr id="260105" name="Rectangle 9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71018" name="AutoShape 10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600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60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60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60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60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60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0099" grpId="0" autoUpdateAnimBg="0"/>
      <p:bldP spid="260100" grpId="0" autoUpdateAnimBg="0"/>
      <p:bldP spid="260101" grpId="0" autoUpdateAnimBg="0"/>
      <p:bldP spid="260102" grpId="0" autoUpdateAnimBg="0"/>
      <p:bldP spid="260103" grpId="0" autoUpdateAnimBg="0"/>
      <p:bldP spid="260104" grpId="0" autoUpdateAnimBg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4" name="Text Box 2"/>
          <p:cNvSpPr txBox="1">
            <a:spLocks noChangeArrowheads="1"/>
          </p:cNvSpPr>
          <p:nvPr/>
        </p:nvSpPr>
        <p:spPr bwMode="auto">
          <a:xfrm>
            <a:off x="152400" y="196850"/>
            <a:ext cx="43434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600"/>
              <a:t>例</a:t>
            </a:r>
            <a:r>
              <a:rPr lang="zh-CN" altLang="en-US" sz="3600">
                <a:latin typeface="Times New Roman" panose="02020603050405020304" pitchFamily="18" charset="0"/>
              </a:rPr>
              <a:t>4.1</a:t>
            </a:r>
            <a:r>
              <a:rPr lang="zh-CN" altLang="en-US" sz="3200">
                <a:latin typeface="Times New Roman" panose="02020603050405020304" pitchFamily="18" charset="0"/>
              </a:rPr>
              <a:t>   </a:t>
            </a:r>
            <a:r>
              <a:rPr lang="zh-CN" altLang="en-US" sz="3200"/>
              <a:t>解:</a:t>
            </a:r>
            <a:r>
              <a:rPr lang="zh-CN" altLang="en-US" sz="3200">
                <a:latin typeface="Times New Roman" panose="02020603050405020304" pitchFamily="18" charset="0"/>
              </a:rPr>
              <a:t> 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261123" name="Text Box 3"/>
          <p:cNvSpPr txBox="1">
            <a:spLocks noChangeArrowheads="1"/>
          </p:cNvSpPr>
          <p:nvPr/>
        </p:nvSpPr>
        <p:spPr bwMode="auto">
          <a:xfrm>
            <a:off x="533400" y="990600"/>
            <a:ext cx="7924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(1) 写出对应的二进制地址码</a:t>
            </a:r>
          </a:p>
        </p:txBody>
      </p:sp>
      <p:sp>
        <p:nvSpPr>
          <p:cNvPr id="261124" name="Text Box 4"/>
          <p:cNvSpPr txBox="1">
            <a:spLocks noChangeArrowheads="1"/>
          </p:cNvSpPr>
          <p:nvPr/>
        </p:nvSpPr>
        <p:spPr bwMode="auto">
          <a:xfrm>
            <a:off x="533400" y="5791200"/>
            <a:ext cx="7924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(2) 确定芯片的数量及类型</a:t>
            </a:r>
          </a:p>
        </p:txBody>
      </p:sp>
      <p:grpSp>
        <p:nvGrpSpPr>
          <p:cNvPr id="2" name="Group 5"/>
          <p:cNvGrpSpPr/>
          <p:nvPr/>
        </p:nvGrpSpPr>
        <p:grpSpPr bwMode="auto">
          <a:xfrm>
            <a:off x="457200" y="2057400"/>
            <a:ext cx="6858000" cy="579438"/>
            <a:chOff x="384" y="1296"/>
            <a:chExt cx="4320" cy="365"/>
          </a:xfrm>
        </p:grpSpPr>
        <p:sp>
          <p:nvSpPr>
            <p:cNvPr id="172077" name="Text Box 6"/>
            <p:cNvSpPr txBox="1">
              <a:spLocks noChangeArrowheads="1"/>
            </p:cNvSpPr>
            <p:nvPr/>
          </p:nvSpPr>
          <p:spPr bwMode="auto">
            <a:xfrm>
              <a:off x="384" y="1296"/>
              <a:ext cx="115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0  1  1  0</a:t>
              </a:r>
            </a:p>
          </p:txBody>
        </p:sp>
        <p:sp>
          <p:nvSpPr>
            <p:cNvPr id="172078" name="Text Box 7"/>
            <p:cNvSpPr txBox="1">
              <a:spLocks noChangeArrowheads="1"/>
            </p:cNvSpPr>
            <p:nvPr/>
          </p:nvSpPr>
          <p:spPr bwMode="auto">
            <a:xfrm>
              <a:off x="1440" y="1296"/>
              <a:ext cx="115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0  0  0  0</a:t>
              </a:r>
            </a:p>
          </p:txBody>
        </p:sp>
        <p:sp>
          <p:nvSpPr>
            <p:cNvPr id="172079" name="Text Box 8"/>
            <p:cNvSpPr txBox="1">
              <a:spLocks noChangeArrowheads="1"/>
            </p:cNvSpPr>
            <p:nvPr/>
          </p:nvSpPr>
          <p:spPr bwMode="auto">
            <a:xfrm>
              <a:off x="2496" y="1296"/>
              <a:ext cx="115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0  0  0  0</a:t>
              </a:r>
            </a:p>
          </p:txBody>
        </p:sp>
        <p:sp>
          <p:nvSpPr>
            <p:cNvPr id="172080" name="Text Box 9"/>
            <p:cNvSpPr txBox="1">
              <a:spLocks noChangeArrowheads="1"/>
            </p:cNvSpPr>
            <p:nvPr/>
          </p:nvSpPr>
          <p:spPr bwMode="auto">
            <a:xfrm>
              <a:off x="3552" y="1296"/>
              <a:ext cx="115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0  0  0  0</a:t>
              </a:r>
            </a:p>
          </p:txBody>
        </p:sp>
      </p:grpSp>
      <p:sp>
        <p:nvSpPr>
          <p:cNvPr id="261130" name="Text Box 10"/>
          <p:cNvSpPr txBox="1">
            <a:spLocks noChangeArrowheads="1"/>
          </p:cNvSpPr>
          <p:nvPr/>
        </p:nvSpPr>
        <p:spPr bwMode="auto">
          <a:xfrm>
            <a:off x="381000" y="1676400"/>
            <a:ext cx="7848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15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14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13       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11 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10</a:t>
            </a:r>
            <a:r>
              <a:rPr lang="en-US" altLang="zh-CN" sz="2400">
                <a:latin typeface="Times New Roman" panose="02020603050405020304" pitchFamily="18" charset="0"/>
              </a:rPr>
              <a:t>    …    A</a:t>
            </a:r>
            <a:r>
              <a:rPr lang="en-US" altLang="zh-CN" sz="2400" baseline="-25000">
                <a:latin typeface="Times New Roman" panose="02020603050405020304" pitchFamily="18" charset="0"/>
              </a:rPr>
              <a:t>7     </a:t>
            </a:r>
            <a:r>
              <a:rPr lang="en-US" altLang="zh-CN" sz="2400">
                <a:latin typeface="Times New Roman" panose="02020603050405020304" pitchFamily="18" charset="0"/>
              </a:rPr>
              <a:t>…   </a:t>
            </a:r>
            <a:r>
              <a:rPr lang="en-US" altLang="zh-CN" sz="2400" baseline="-25000">
                <a:latin typeface="Times New Roman" panose="02020603050405020304" pitchFamily="18" charset="0"/>
              </a:rPr>
              <a:t> 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4   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3      </a:t>
            </a:r>
            <a:r>
              <a:rPr lang="en-US" altLang="zh-CN" sz="2400">
                <a:latin typeface="Times New Roman" panose="02020603050405020304" pitchFamily="18" charset="0"/>
              </a:rPr>
              <a:t>…</a:t>
            </a:r>
            <a:r>
              <a:rPr lang="en-US" altLang="zh-CN" sz="2400" baseline="-25000">
                <a:latin typeface="Times New Roman" panose="02020603050405020304" pitchFamily="18" charset="0"/>
              </a:rPr>
              <a:t>   </a:t>
            </a:r>
            <a:r>
              <a:rPr lang="en-US" altLang="zh-CN" baseline="-25000">
                <a:latin typeface="Times New Roman" panose="02020603050405020304" pitchFamily="18" charset="0"/>
              </a:rPr>
              <a:t> </a:t>
            </a:r>
            <a:r>
              <a:rPr lang="en-US" altLang="zh-CN" sz="2400" baseline="-25000">
                <a:latin typeface="Times New Roman" panose="02020603050405020304" pitchFamily="18" charset="0"/>
              </a:rPr>
              <a:t>  </a:t>
            </a:r>
            <a:r>
              <a:rPr lang="en-US" altLang="zh-CN" sz="2400">
                <a:latin typeface="Times New Roman" panose="02020603050405020304" pitchFamily="18" charset="0"/>
              </a:rPr>
              <a:t>A</a:t>
            </a:r>
            <a:r>
              <a:rPr lang="en-US" altLang="zh-CN" sz="2400" baseline="-25000">
                <a:latin typeface="Times New Roman" panose="02020603050405020304" pitchFamily="18" charset="0"/>
              </a:rPr>
              <a:t>0</a:t>
            </a:r>
          </a:p>
        </p:txBody>
      </p:sp>
      <p:grpSp>
        <p:nvGrpSpPr>
          <p:cNvPr id="3" name="Group 11"/>
          <p:cNvGrpSpPr/>
          <p:nvPr/>
        </p:nvGrpSpPr>
        <p:grpSpPr bwMode="auto">
          <a:xfrm>
            <a:off x="457200" y="2590800"/>
            <a:ext cx="6858000" cy="1112838"/>
            <a:chOff x="288" y="1632"/>
            <a:chExt cx="4320" cy="701"/>
          </a:xfrm>
        </p:grpSpPr>
        <p:sp>
          <p:nvSpPr>
            <p:cNvPr id="172071" name="Text Box 12"/>
            <p:cNvSpPr txBox="1">
              <a:spLocks noChangeArrowheads="1"/>
            </p:cNvSpPr>
            <p:nvPr/>
          </p:nvSpPr>
          <p:spPr bwMode="auto">
            <a:xfrm>
              <a:off x="297" y="1632"/>
              <a:ext cx="423" cy="4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grpSp>
          <p:nvGrpSpPr>
            <p:cNvPr id="172072" name="Group 13"/>
            <p:cNvGrpSpPr/>
            <p:nvPr/>
          </p:nvGrpSpPr>
          <p:grpSpPr bwMode="auto">
            <a:xfrm>
              <a:off x="288" y="1968"/>
              <a:ext cx="4320" cy="365"/>
              <a:chOff x="384" y="1968"/>
              <a:chExt cx="4320" cy="365"/>
            </a:xfrm>
          </p:grpSpPr>
          <p:sp>
            <p:nvSpPr>
              <p:cNvPr id="172073" name="Text Box 14"/>
              <p:cNvSpPr txBox="1">
                <a:spLocks noChangeArrowheads="1"/>
              </p:cNvSpPr>
              <p:nvPr/>
            </p:nvSpPr>
            <p:spPr bwMode="auto">
              <a:xfrm>
                <a:off x="384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0  1  1  0</a:t>
                </a:r>
              </a:p>
            </p:txBody>
          </p:sp>
          <p:sp>
            <p:nvSpPr>
              <p:cNvPr id="172074" name="Text Box 15"/>
              <p:cNvSpPr txBox="1">
                <a:spLocks noChangeArrowheads="1"/>
              </p:cNvSpPr>
              <p:nvPr/>
            </p:nvSpPr>
            <p:spPr bwMode="auto">
              <a:xfrm>
                <a:off x="1440" y="1968"/>
                <a:ext cx="144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0  1  1  1</a:t>
                </a:r>
              </a:p>
            </p:txBody>
          </p:sp>
          <p:sp>
            <p:nvSpPr>
              <p:cNvPr id="172075" name="Text Box 16"/>
              <p:cNvSpPr txBox="1">
                <a:spLocks noChangeArrowheads="1"/>
              </p:cNvSpPr>
              <p:nvPr/>
            </p:nvSpPr>
            <p:spPr bwMode="auto">
              <a:xfrm>
                <a:off x="2496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1  1  1  1</a:t>
                </a:r>
              </a:p>
            </p:txBody>
          </p:sp>
          <p:sp>
            <p:nvSpPr>
              <p:cNvPr id="172076" name="Text Box 17"/>
              <p:cNvSpPr txBox="1">
                <a:spLocks noChangeArrowheads="1"/>
              </p:cNvSpPr>
              <p:nvPr/>
            </p:nvSpPr>
            <p:spPr bwMode="auto">
              <a:xfrm>
                <a:off x="3552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1  1  1  1</a:t>
                </a:r>
              </a:p>
            </p:txBody>
          </p:sp>
        </p:grpSp>
      </p:grpSp>
      <p:grpSp>
        <p:nvGrpSpPr>
          <p:cNvPr id="5" name="Group 18"/>
          <p:cNvGrpSpPr/>
          <p:nvPr/>
        </p:nvGrpSpPr>
        <p:grpSpPr bwMode="auto">
          <a:xfrm>
            <a:off x="457200" y="3763963"/>
            <a:ext cx="6858000" cy="579437"/>
            <a:chOff x="384" y="1296"/>
            <a:chExt cx="4320" cy="365"/>
          </a:xfrm>
        </p:grpSpPr>
        <p:sp>
          <p:nvSpPr>
            <p:cNvPr id="172067" name="Text Box 19"/>
            <p:cNvSpPr txBox="1">
              <a:spLocks noChangeArrowheads="1"/>
            </p:cNvSpPr>
            <p:nvPr/>
          </p:nvSpPr>
          <p:spPr bwMode="auto">
            <a:xfrm>
              <a:off x="384" y="1296"/>
              <a:ext cx="115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0  1  1  0</a:t>
              </a:r>
            </a:p>
          </p:txBody>
        </p:sp>
        <p:sp>
          <p:nvSpPr>
            <p:cNvPr id="172068" name="Text Box 20"/>
            <p:cNvSpPr txBox="1">
              <a:spLocks noChangeArrowheads="1"/>
            </p:cNvSpPr>
            <p:nvPr/>
          </p:nvSpPr>
          <p:spPr bwMode="auto">
            <a:xfrm>
              <a:off x="1440" y="1296"/>
              <a:ext cx="115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1  0  0  0</a:t>
              </a:r>
            </a:p>
          </p:txBody>
        </p:sp>
        <p:sp>
          <p:nvSpPr>
            <p:cNvPr id="172069" name="Text Box 21"/>
            <p:cNvSpPr txBox="1">
              <a:spLocks noChangeArrowheads="1"/>
            </p:cNvSpPr>
            <p:nvPr/>
          </p:nvSpPr>
          <p:spPr bwMode="auto">
            <a:xfrm>
              <a:off x="2496" y="1296"/>
              <a:ext cx="115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0  0  0  0</a:t>
              </a:r>
            </a:p>
          </p:txBody>
        </p:sp>
        <p:sp>
          <p:nvSpPr>
            <p:cNvPr id="172070" name="Text Box 22"/>
            <p:cNvSpPr txBox="1">
              <a:spLocks noChangeArrowheads="1"/>
            </p:cNvSpPr>
            <p:nvPr/>
          </p:nvSpPr>
          <p:spPr bwMode="auto">
            <a:xfrm>
              <a:off x="3552" y="1296"/>
              <a:ext cx="115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0  0  0  0</a:t>
              </a:r>
            </a:p>
          </p:txBody>
        </p:sp>
      </p:grpSp>
      <p:grpSp>
        <p:nvGrpSpPr>
          <p:cNvPr id="6" name="Group 23"/>
          <p:cNvGrpSpPr/>
          <p:nvPr/>
        </p:nvGrpSpPr>
        <p:grpSpPr bwMode="auto">
          <a:xfrm>
            <a:off x="457200" y="4267200"/>
            <a:ext cx="6858000" cy="1189038"/>
            <a:chOff x="288" y="2688"/>
            <a:chExt cx="4320" cy="749"/>
          </a:xfrm>
        </p:grpSpPr>
        <p:sp>
          <p:nvSpPr>
            <p:cNvPr id="172061" name="Text Box 24"/>
            <p:cNvSpPr txBox="1">
              <a:spLocks noChangeArrowheads="1"/>
            </p:cNvSpPr>
            <p:nvPr/>
          </p:nvSpPr>
          <p:spPr bwMode="auto">
            <a:xfrm>
              <a:off x="288" y="2688"/>
              <a:ext cx="423" cy="4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grpSp>
          <p:nvGrpSpPr>
            <p:cNvPr id="172062" name="Group 25"/>
            <p:cNvGrpSpPr/>
            <p:nvPr/>
          </p:nvGrpSpPr>
          <p:grpSpPr bwMode="auto">
            <a:xfrm>
              <a:off x="288" y="3072"/>
              <a:ext cx="4320" cy="365"/>
              <a:chOff x="384" y="1968"/>
              <a:chExt cx="4320" cy="365"/>
            </a:xfrm>
          </p:grpSpPr>
          <p:sp>
            <p:nvSpPr>
              <p:cNvPr id="172063" name="Text Box 26"/>
              <p:cNvSpPr txBox="1">
                <a:spLocks noChangeArrowheads="1"/>
              </p:cNvSpPr>
              <p:nvPr/>
            </p:nvSpPr>
            <p:spPr bwMode="auto">
              <a:xfrm>
                <a:off x="384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0  1  1  0</a:t>
                </a:r>
              </a:p>
            </p:txBody>
          </p:sp>
          <p:sp>
            <p:nvSpPr>
              <p:cNvPr id="172064" name="Text Box 27"/>
              <p:cNvSpPr txBox="1">
                <a:spLocks noChangeArrowheads="1"/>
              </p:cNvSpPr>
              <p:nvPr/>
            </p:nvSpPr>
            <p:spPr bwMode="auto">
              <a:xfrm>
                <a:off x="1440" y="1968"/>
                <a:ext cx="144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1  0  1  1</a:t>
                </a:r>
              </a:p>
            </p:txBody>
          </p:sp>
          <p:sp>
            <p:nvSpPr>
              <p:cNvPr id="172065" name="Text Box 28"/>
              <p:cNvSpPr txBox="1">
                <a:spLocks noChangeArrowheads="1"/>
              </p:cNvSpPr>
              <p:nvPr/>
            </p:nvSpPr>
            <p:spPr bwMode="auto">
              <a:xfrm>
                <a:off x="2496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1  1  1  1</a:t>
                </a:r>
              </a:p>
            </p:txBody>
          </p:sp>
          <p:sp>
            <p:nvSpPr>
              <p:cNvPr id="172066" name="Text Box 29"/>
              <p:cNvSpPr txBox="1">
                <a:spLocks noChangeArrowheads="1"/>
              </p:cNvSpPr>
              <p:nvPr/>
            </p:nvSpPr>
            <p:spPr bwMode="auto">
              <a:xfrm>
                <a:off x="3552" y="1968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1  1  1  1</a:t>
                </a:r>
              </a:p>
            </p:txBody>
          </p:sp>
        </p:grpSp>
      </p:grpSp>
      <p:grpSp>
        <p:nvGrpSpPr>
          <p:cNvPr id="8" name="Group 30"/>
          <p:cNvGrpSpPr/>
          <p:nvPr/>
        </p:nvGrpSpPr>
        <p:grpSpPr bwMode="auto">
          <a:xfrm>
            <a:off x="7162800" y="2286000"/>
            <a:ext cx="2514600" cy="1219200"/>
            <a:chOff x="4512" y="1440"/>
            <a:chExt cx="1584" cy="768"/>
          </a:xfrm>
        </p:grpSpPr>
        <p:sp>
          <p:nvSpPr>
            <p:cNvPr id="172059" name="AutoShape 31"/>
            <p:cNvSpPr/>
            <p:nvPr/>
          </p:nvSpPr>
          <p:spPr bwMode="auto">
            <a:xfrm>
              <a:off x="4512" y="1440"/>
              <a:ext cx="192" cy="768"/>
            </a:xfrm>
            <a:prstGeom prst="rightBrace">
              <a:avLst>
                <a:gd name="adj1" fmla="val 33333"/>
                <a:gd name="adj2" fmla="val 50000"/>
              </a:avLst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72060" name="Text Box 32"/>
            <p:cNvSpPr txBox="1">
              <a:spLocks noChangeArrowheads="1"/>
            </p:cNvSpPr>
            <p:nvPr/>
          </p:nvSpPr>
          <p:spPr bwMode="auto">
            <a:xfrm>
              <a:off x="4752" y="1795"/>
              <a:ext cx="13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2</a:t>
              </a:r>
              <a:r>
                <a:rPr lang="en-US" altLang="zh-CN" sz="2800">
                  <a:latin typeface="Times New Roman" panose="02020603050405020304" pitchFamily="18" charset="0"/>
                </a:rPr>
                <a:t>K</a:t>
              </a:r>
              <a:r>
                <a:rPr lang="en-US" altLang="zh-CN" sz="3200">
                  <a:latin typeface="Times New Roman" panose="02020603050405020304" pitchFamily="18" charset="0"/>
                  <a:cs typeface="Times New Roman" panose="02020603050405020304" pitchFamily="18" charset="0"/>
                </a:rPr>
                <a:t>×</a:t>
              </a:r>
              <a:r>
                <a:rPr lang="en-US" altLang="zh-CN" sz="2800">
                  <a:latin typeface="Times New Roman" panose="02020603050405020304" pitchFamily="18" charset="0"/>
                  <a:cs typeface="Times New Roman" panose="02020603050405020304" pitchFamily="18" charset="0"/>
                </a:rPr>
                <a:t>8</a:t>
              </a:r>
              <a:r>
                <a:rPr lang="zh-CN" altLang="en-US" sz="2800">
                  <a:latin typeface="Times New Roman" panose="02020603050405020304" pitchFamily="18" charset="0"/>
                </a:rPr>
                <a:t>位</a:t>
              </a:r>
            </a:p>
          </p:txBody>
        </p:sp>
      </p:grpSp>
      <p:grpSp>
        <p:nvGrpSpPr>
          <p:cNvPr id="9" name="Group 33"/>
          <p:cNvGrpSpPr/>
          <p:nvPr/>
        </p:nvGrpSpPr>
        <p:grpSpPr bwMode="auto">
          <a:xfrm>
            <a:off x="7162800" y="4038600"/>
            <a:ext cx="2514600" cy="1219200"/>
            <a:chOff x="4512" y="2544"/>
            <a:chExt cx="1584" cy="768"/>
          </a:xfrm>
        </p:grpSpPr>
        <p:sp>
          <p:nvSpPr>
            <p:cNvPr id="172057" name="Text Box 34"/>
            <p:cNvSpPr txBox="1">
              <a:spLocks noChangeArrowheads="1"/>
            </p:cNvSpPr>
            <p:nvPr/>
          </p:nvSpPr>
          <p:spPr bwMode="auto">
            <a:xfrm>
              <a:off x="4752" y="2544"/>
              <a:ext cx="13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>
                  <a:latin typeface="Times New Roman" panose="02020603050405020304" pitchFamily="18" charset="0"/>
                </a:rPr>
                <a:t>1K</a:t>
              </a:r>
              <a:r>
                <a:rPr lang="en-US" altLang="zh-CN" sz="3200">
                  <a:latin typeface="Times New Roman" panose="02020603050405020304" pitchFamily="18" charset="0"/>
                  <a:cs typeface="Times New Roman" panose="02020603050405020304" pitchFamily="18" charset="0"/>
                </a:rPr>
                <a:t>×</a:t>
              </a:r>
              <a:r>
                <a:rPr lang="en-US" altLang="zh-CN" sz="2800">
                  <a:latin typeface="Times New Roman" panose="02020603050405020304" pitchFamily="18" charset="0"/>
                  <a:cs typeface="Times New Roman" panose="02020603050405020304" pitchFamily="18" charset="0"/>
                </a:rPr>
                <a:t>8</a:t>
              </a:r>
              <a:r>
                <a:rPr lang="zh-CN" altLang="en-US" sz="2800">
                  <a:latin typeface="Times New Roman" panose="02020603050405020304" pitchFamily="18" charset="0"/>
                </a:rPr>
                <a:t>位</a:t>
              </a:r>
            </a:p>
          </p:txBody>
        </p:sp>
        <p:sp>
          <p:nvSpPr>
            <p:cNvPr id="172058" name="AutoShape 35"/>
            <p:cNvSpPr/>
            <p:nvPr/>
          </p:nvSpPr>
          <p:spPr bwMode="auto">
            <a:xfrm>
              <a:off x="4512" y="2544"/>
              <a:ext cx="192" cy="768"/>
            </a:xfrm>
            <a:prstGeom prst="rightBrace">
              <a:avLst>
                <a:gd name="adj1" fmla="val 33333"/>
                <a:gd name="adj2" fmla="val 50000"/>
              </a:avLst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sp>
        <p:nvSpPr>
          <p:cNvPr id="172044" name="Text Box 36"/>
          <p:cNvSpPr txBox="1">
            <a:spLocks noChangeArrowheads="1"/>
          </p:cNvSpPr>
          <p:nvPr/>
        </p:nvSpPr>
        <p:spPr bwMode="auto">
          <a:xfrm>
            <a:off x="7604125" y="6011863"/>
            <a:ext cx="15398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endParaRPr lang="zh-CN" altLang="en-US" sz="3200">
              <a:latin typeface="Times New Roman" panose="02020603050405020304" pitchFamily="18" charset="0"/>
            </a:endParaRPr>
          </a:p>
        </p:txBody>
      </p:sp>
      <p:grpSp>
        <p:nvGrpSpPr>
          <p:cNvPr id="10" name="Group 37"/>
          <p:cNvGrpSpPr/>
          <p:nvPr/>
        </p:nvGrpSpPr>
        <p:grpSpPr bwMode="auto">
          <a:xfrm>
            <a:off x="6545263" y="4630738"/>
            <a:ext cx="2497137" cy="1541462"/>
            <a:chOff x="4123" y="2917"/>
            <a:chExt cx="1573" cy="971"/>
          </a:xfrm>
        </p:grpSpPr>
        <p:sp>
          <p:nvSpPr>
            <p:cNvPr id="172053" name="AutoShape 38"/>
            <p:cNvSpPr>
              <a:spLocks noChangeArrowheads="1"/>
            </p:cNvSpPr>
            <p:nvPr/>
          </p:nvSpPr>
          <p:spPr bwMode="auto">
            <a:xfrm>
              <a:off x="4720" y="2917"/>
              <a:ext cx="976" cy="349"/>
            </a:xfrm>
            <a:prstGeom prst="wedgeRoundRectCallout">
              <a:avLst>
                <a:gd name="adj1" fmla="val -43750"/>
                <a:gd name="adj2" fmla="val 70000"/>
                <a:gd name="adj3" fmla="val 16667"/>
              </a:avLst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>
                  <a:latin typeface="Times New Roman" panose="02020603050405020304" pitchFamily="18" charset="0"/>
                  <a:cs typeface="Times New Roman" panose="02020603050405020304" pitchFamily="18" charset="0"/>
                </a:rPr>
                <a:t>RAM</a:t>
              </a:r>
            </a:p>
          </p:txBody>
        </p:sp>
        <p:grpSp>
          <p:nvGrpSpPr>
            <p:cNvPr id="172054" name="Group 39"/>
            <p:cNvGrpSpPr/>
            <p:nvPr/>
          </p:nvGrpSpPr>
          <p:grpSpPr bwMode="auto">
            <a:xfrm>
              <a:off x="4123" y="3511"/>
              <a:ext cx="1546" cy="377"/>
              <a:chOff x="4123" y="3511"/>
              <a:chExt cx="1546" cy="377"/>
            </a:xfrm>
          </p:grpSpPr>
          <p:sp>
            <p:nvSpPr>
              <p:cNvPr id="172055" name="AutoShape 40"/>
              <p:cNvSpPr>
                <a:spLocks noChangeArrowheads="1"/>
              </p:cNvSpPr>
              <p:nvPr/>
            </p:nvSpPr>
            <p:spPr bwMode="auto">
              <a:xfrm>
                <a:off x="4176" y="3552"/>
                <a:ext cx="1392" cy="336"/>
              </a:xfrm>
              <a:prstGeom prst="wedgeRoundRectCallout">
                <a:avLst>
                  <a:gd name="adj1" fmla="val -505"/>
                  <a:gd name="adj2" fmla="val -157144"/>
                  <a:gd name="adj3" fmla="val 16667"/>
                </a:avLst>
              </a:prstGeom>
              <a:noFill/>
              <a:ln w="28575">
                <a:solidFill>
                  <a:schemeClr val="folHlink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2056" name="AutoShape 41"/>
              <p:cNvSpPr>
                <a:spLocks noChangeArrowheads="1"/>
              </p:cNvSpPr>
              <p:nvPr/>
            </p:nvSpPr>
            <p:spPr bwMode="auto">
              <a:xfrm>
                <a:off x="4123" y="3511"/>
                <a:ext cx="1546" cy="328"/>
              </a:xfrm>
              <a:prstGeom prst="wedgeRoundRectCallout">
                <a:avLst>
                  <a:gd name="adj1" fmla="val -43750"/>
                  <a:gd name="adj2" fmla="val 70000"/>
                  <a:gd name="adj3" fmla="val 16667"/>
                </a:avLst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600">
                    <a:latin typeface="Times New Roman" panose="02020603050405020304" pitchFamily="18" charset="0"/>
                  </a:rPr>
                  <a:t>2片</a:t>
                </a:r>
                <a:r>
                  <a:rPr lang="en-US" altLang="zh-CN" sz="2600">
                    <a:latin typeface="Times New Roman" panose="02020603050405020304" pitchFamily="18" charset="0"/>
                  </a:rPr>
                  <a:t>1K</a:t>
                </a:r>
                <a:r>
                  <a:rPr lang="en-US" altLang="zh-CN" sz="260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×4</a:t>
                </a:r>
                <a:r>
                  <a:rPr lang="zh-CN" altLang="en-US" sz="2600">
                    <a:latin typeface="Times New Roman" panose="02020603050405020304" pitchFamily="18" charset="0"/>
                  </a:rPr>
                  <a:t>位</a:t>
                </a:r>
              </a:p>
            </p:txBody>
          </p:sp>
        </p:grpSp>
      </p:grpSp>
      <p:grpSp>
        <p:nvGrpSpPr>
          <p:cNvPr id="12" name="Group 42"/>
          <p:cNvGrpSpPr/>
          <p:nvPr/>
        </p:nvGrpSpPr>
        <p:grpSpPr bwMode="auto">
          <a:xfrm>
            <a:off x="7010400" y="1295400"/>
            <a:ext cx="2057400" cy="1585913"/>
            <a:chOff x="4416" y="816"/>
            <a:chExt cx="1296" cy="999"/>
          </a:xfrm>
        </p:grpSpPr>
        <p:sp>
          <p:nvSpPr>
            <p:cNvPr id="172049" name="Text Box 43"/>
            <p:cNvSpPr txBox="1">
              <a:spLocks noChangeArrowheads="1"/>
            </p:cNvSpPr>
            <p:nvPr/>
          </p:nvSpPr>
          <p:spPr bwMode="auto">
            <a:xfrm>
              <a:off x="4752" y="1488"/>
              <a:ext cx="91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>
                  <a:latin typeface="Times New Roman" panose="02020603050405020304" pitchFamily="18" charset="0"/>
                  <a:cs typeface="Times New Roman" panose="02020603050405020304" pitchFamily="18" charset="0"/>
                </a:rPr>
                <a:t>ROM</a:t>
              </a:r>
              <a:endParaRPr lang="zh-CN" alt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72050" name="Group 44"/>
            <p:cNvGrpSpPr/>
            <p:nvPr/>
          </p:nvGrpSpPr>
          <p:grpSpPr bwMode="auto">
            <a:xfrm>
              <a:off x="4416" y="816"/>
              <a:ext cx="1296" cy="384"/>
              <a:chOff x="4416" y="816"/>
              <a:chExt cx="1296" cy="384"/>
            </a:xfrm>
          </p:grpSpPr>
          <p:sp>
            <p:nvSpPr>
              <p:cNvPr id="172051" name="AutoShape 45"/>
              <p:cNvSpPr>
                <a:spLocks noChangeArrowheads="1"/>
              </p:cNvSpPr>
              <p:nvPr/>
            </p:nvSpPr>
            <p:spPr bwMode="auto">
              <a:xfrm>
                <a:off x="4416" y="816"/>
                <a:ext cx="1296" cy="384"/>
              </a:xfrm>
              <a:prstGeom prst="wedgeRoundRectCallout">
                <a:avLst>
                  <a:gd name="adj1" fmla="val -3319"/>
                  <a:gd name="adj2" fmla="val 141926"/>
                  <a:gd name="adj3" fmla="val 16667"/>
                </a:avLst>
              </a:prstGeom>
              <a:noFill/>
              <a:ln w="28575">
                <a:solidFill>
                  <a:schemeClr val="folHlink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endParaRPr lang="zh-CN" altLang="en-US" sz="32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2052" name="Text Box 46"/>
              <p:cNvSpPr txBox="1">
                <a:spLocks noChangeArrowheads="1"/>
              </p:cNvSpPr>
              <p:nvPr/>
            </p:nvSpPr>
            <p:spPr bwMode="auto">
              <a:xfrm>
                <a:off x="4416" y="816"/>
                <a:ext cx="1296" cy="3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2600">
                    <a:latin typeface="Times New Roman" panose="02020603050405020304" pitchFamily="18" charset="0"/>
                  </a:rPr>
                  <a:t>1片 2</a:t>
                </a:r>
                <a:r>
                  <a:rPr lang="en-US" altLang="zh-CN" sz="2600">
                    <a:latin typeface="Times New Roman" panose="02020603050405020304" pitchFamily="18" charset="0"/>
                  </a:rPr>
                  <a:t>K</a:t>
                </a:r>
                <a:r>
                  <a:rPr lang="en-US" altLang="zh-CN" sz="260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×8</a:t>
                </a:r>
                <a:r>
                  <a:rPr lang="zh-CN" altLang="en-US" sz="2600">
                    <a:latin typeface="Times New Roman" panose="02020603050405020304" pitchFamily="18" charset="0"/>
                  </a:rPr>
                  <a:t>位</a:t>
                </a:r>
              </a:p>
            </p:txBody>
          </p:sp>
        </p:grpSp>
      </p:grpSp>
      <p:sp>
        <p:nvSpPr>
          <p:cNvPr id="261167" name="Rectangle 47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72048" name="AutoShape 48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61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61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261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1123" grpId="0" autoUpdateAnimBg="0"/>
      <p:bldP spid="261124" grpId="0" autoUpdateAnimBg="0"/>
      <p:bldP spid="261130" grpId="0" autoUpdateAnimBg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Text Box 2"/>
          <p:cNvSpPr txBox="1">
            <a:spLocks noChangeArrowheads="1"/>
          </p:cNvSpPr>
          <p:nvPr/>
        </p:nvSpPr>
        <p:spPr bwMode="auto">
          <a:xfrm>
            <a:off x="533400" y="304800"/>
            <a:ext cx="7924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(3) 分配地址线</a:t>
            </a:r>
          </a:p>
        </p:txBody>
      </p:sp>
      <p:sp>
        <p:nvSpPr>
          <p:cNvPr id="262147" name="Text Box 3"/>
          <p:cNvSpPr txBox="1">
            <a:spLocks noChangeArrowheads="1"/>
          </p:cNvSpPr>
          <p:nvPr/>
        </p:nvSpPr>
        <p:spPr bwMode="auto">
          <a:xfrm>
            <a:off x="762000" y="4953000"/>
            <a:ext cx="6172200" cy="488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2600">
                <a:latin typeface="Times New Roman" panose="02020603050405020304" pitchFamily="18" charset="0"/>
              </a:rPr>
              <a:t>A</a:t>
            </a:r>
            <a:r>
              <a:rPr lang="en-US" altLang="zh-CN" sz="2600" baseline="-25000">
                <a:latin typeface="Times New Roman" panose="02020603050405020304" pitchFamily="18" charset="0"/>
              </a:rPr>
              <a:t>10</a:t>
            </a:r>
            <a:r>
              <a:rPr lang="en-US" altLang="zh-CN" sz="2600">
                <a:latin typeface="Times New Roman" panose="02020603050405020304" pitchFamily="18" charset="0"/>
              </a:rPr>
              <a:t>~ A</a:t>
            </a:r>
            <a:r>
              <a:rPr lang="en-US" altLang="zh-CN" sz="2600" baseline="-25000">
                <a:latin typeface="Times New Roman" panose="02020603050405020304" pitchFamily="18" charset="0"/>
              </a:rPr>
              <a:t>0    </a:t>
            </a:r>
            <a:r>
              <a:rPr lang="zh-CN" altLang="en-US" sz="2600">
                <a:latin typeface="Times New Roman" panose="02020603050405020304" pitchFamily="18" charset="0"/>
              </a:rPr>
              <a:t>接 2</a:t>
            </a:r>
            <a:r>
              <a:rPr lang="en-US" altLang="zh-CN" sz="2600">
                <a:latin typeface="Times New Roman" panose="02020603050405020304" pitchFamily="18" charset="0"/>
              </a:rPr>
              <a:t>K</a:t>
            </a:r>
            <a:r>
              <a:rPr lang="en-US" altLang="zh-CN" sz="900">
                <a:latin typeface="Times New Roman" panose="02020603050405020304" pitchFamily="18" charset="0"/>
              </a:rPr>
              <a:t> </a:t>
            </a:r>
            <a:r>
              <a:rPr lang="en-US" altLang="zh-CN" sz="26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9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2600">
                <a:latin typeface="Times New Roman" panose="02020603050405020304" pitchFamily="18" charset="0"/>
                <a:cs typeface="Times New Roman" panose="02020603050405020304" pitchFamily="18" charset="0"/>
              </a:rPr>
              <a:t>8</a:t>
            </a:r>
            <a:r>
              <a:rPr lang="zh-CN" altLang="en-US" sz="2600">
                <a:latin typeface="Times New Roman" panose="02020603050405020304" pitchFamily="18" charset="0"/>
              </a:rPr>
              <a:t>位 </a:t>
            </a:r>
            <a:r>
              <a:rPr lang="en-US" altLang="zh-CN" sz="2600">
                <a:latin typeface="Times New Roman" panose="02020603050405020304" pitchFamily="18" charset="0"/>
              </a:rPr>
              <a:t>ROM </a:t>
            </a:r>
            <a:r>
              <a:rPr lang="zh-CN" altLang="en-US" sz="2600">
                <a:latin typeface="Times New Roman" panose="02020603050405020304" pitchFamily="18" charset="0"/>
              </a:rPr>
              <a:t>的地址线</a:t>
            </a:r>
          </a:p>
        </p:txBody>
      </p:sp>
      <p:sp>
        <p:nvSpPr>
          <p:cNvPr id="262148" name="Text Box 4"/>
          <p:cNvSpPr txBox="1">
            <a:spLocks noChangeArrowheads="1"/>
          </p:cNvSpPr>
          <p:nvPr/>
        </p:nvSpPr>
        <p:spPr bwMode="auto">
          <a:xfrm>
            <a:off x="762000" y="5486400"/>
            <a:ext cx="6248400" cy="488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2600">
                <a:latin typeface="Times New Roman" panose="02020603050405020304" pitchFamily="18" charset="0"/>
              </a:rPr>
              <a:t>A</a:t>
            </a:r>
            <a:r>
              <a:rPr lang="en-US" altLang="zh-CN" sz="2600" baseline="-25000">
                <a:latin typeface="Times New Roman" panose="02020603050405020304" pitchFamily="18" charset="0"/>
              </a:rPr>
              <a:t>9  </a:t>
            </a:r>
            <a:r>
              <a:rPr lang="en-US" altLang="zh-CN" sz="2600">
                <a:latin typeface="Times New Roman" panose="02020603050405020304" pitchFamily="18" charset="0"/>
              </a:rPr>
              <a:t>~ A</a:t>
            </a:r>
            <a:r>
              <a:rPr lang="en-US" altLang="zh-CN" sz="2600" baseline="-25000">
                <a:latin typeface="Times New Roman" panose="02020603050405020304" pitchFamily="18" charset="0"/>
              </a:rPr>
              <a:t>0    </a:t>
            </a:r>
            <a:r>
              <a:rPr lang="zh-CN" altLang="en-US" sz="2600">
                <a:latin typeface="Times New Roman" panose="02020603050405020304" pitchFamily="18" charset="0"/>
              </a:rPr>
              <a:t>接 1</a:t>
            </a:r>
            <a:r>
              <a:rPr lang="en-US" altLang="zh-CN" sz="2600">
                <a:latin typeface="Times New Roman" panose="02020603050405020304" pitchFamily="18" charset="0"/>
              </a:rPr>
              <a:t>K</a:t>
            </a:r>
            <a:r>
              <a:rPr lang="en-US" altLang="zh-CN" sz="900">
                <a:latin typeface="Times New Roman" panose="02020603050405020304" pitchFamily="18" charset="0"/>
              </a:rPr>
              <a:t> </a:t>
            </a:r>
            <a:r>
              <a:rPr lang="en-US" altLang="zh-CN" sz="26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9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2600"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r>
              <a:rPr lang="zh-CN" altLang="en-US" sz="2600">
                <a:latin typeface="Times New Roman" panose="02020603050405020304" pitchFamily="18" charset="0"/>
              </a:rPr>
              <a:t>位 </a:t>
            </a:r>
            <a:r>
              <a:rPr lang="en-US" altLang="zh-CN" sz="2600">
                <a:latin typeface="Times New Roman" panose="02020603050405020304" pitchFamily="18" charset="0"/>
              </a:rPr>
              <a:t>RAM </a:t>
            </a:r>
            <a:r>
              <a:rPr lang="zh-CN" altLang="en-US" sz="2600">
                <a:latin typeface="Times New Roman" panose="02020603050405020304" pitchFamily="18" charset="0"/>
              </a:rPr>
              <a:t>的地址线</a:t>
            </a:r>
            <a:endParaRPr lang="en-US" altLang="zh-CN" sz="2600">
              <a:latin typeface="Times New Roman" panose="02020603050405020304" pitchFamily="18" charset="0"/>
            </a:endParaRPr>
          </a:p>
        </p:txBody>
      </p:sp>
      <p:sp>
        <p:nvSpPr>
          <p:cNvPr id="262149" name="Rectangle 5"/>
          <p:cNvSpPr>
            <a:spLocks noChangeArrowheads="1"/>
          </p:cNvSpPr>
          <p:nvPr/>
        </p:nvSpPr>
        <p:spPr bwMode="auto">
          <a:xfrm>
            <a:off x="533400" y="6049963"/>
            <a:ext cx="4089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(4) 确定片选信号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262150" name="Line 6"/>
          <p:cNvSpPr>
            <a:spLocks noChangeShapeType="1"/>
          </p:cNvSpPr>
          <p:nvPr/>
        </p:nvSpPr>
        <p:spPr bwMode="auto">
          <a:xfrm>
            <a:off x="2438400" y="1447800"/>
            <a:ext cx="0" cy="3200400"/>
          </a:xfrm>
          <a:prstGeom prst="line">
            <a:avLst/>
          </a:prstGeom>
          <a:noFill/>
          <a:ln w="38100">
            <a:solidFill>
              <a:schemeClr val="folHlink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62151" name="Line 7"/>
          <p:cNvSpPr>
            <a:spLocks noChangeShapeType="1"/>
          </p:cNvSpPr>
          <p:nvPr/>
        </p:nvSpPr>
        <p:spPr bwMode="auto">
          <a:xfrm>
            <a:off x="2895600" y="1447800"/>
            <a:ext cx="0" cy="3200400"/>
          </a:xfrm>
          <a:prstGeom prst="line">
            <a:avLst/>
          </a:prstGeom>
          <a:noFill/>
          <a:ln w="38100">
            <a:solidFill>
              <a:schemeClr val="folHlink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262152" name="Line 8"/>
          <p:cNvSpPr>
            <a:spLocks noChangeShapeType="1"/>
          </p:cNvSpPr>
          <p:nvPr/>
        </p:nvSpPr>
        <p:spPr bwMode="auto">
          <a:xfrm>
            <a:off x="1143000" y="1447800"/>
            <a:ext cx="0" cy="3200400"/>
          </a:xfrm>
          <a:prstGeom prst="line">
            <a:avLst/>
          </a:prstGeom>
          <a:noFill/>
          <a:ln w="38100">
            <a:solidFill>
              <a:schemeClr val="folHlink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grpSp>
        <p:nvGrpSpPr>
          <p:cNvPr id="2" name="Group 9"/>
          <p:cNvGrpSpPr/>
          <p:nvPr/>
        </p:nvGrpSpPr>
        <p:grpSpPr bwMode="auto">
          <a:xfrm>
            <a:off x="1143000" y="4572000"/>
            <a:ext cx="1371600" cy="519113"/>
            <a:chOff x="720" y="2880"/>
            <a:chExt cx="864" cy="327"/>
          </a:xfrm>
        </p:grpSpPr>
        <p:sp>
          <p:nvSpPr>
            <p:cNvPr id="173100" name="Text Box 10"/>
            <p:cNvSpPr txBox="1">
              <a:spLocks noChangeArrowheads="1"/>
            </p:cNvSpPr>
            <p:nvPr/>
          </p:nvSpPr>
          <p:spPr bwMode="auto">
            <a:xfrm>
              <a:off x="720" y="2880"/>
              <a:ext cx="33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</a:t>
              </a:r>
            </a:p>
          </p:txBody>
        </p:sp>
        <p:sp>
          <p:nvSpPr>
            <p:cNvPr id="173101" name="Text Box 11"/>
            <p:cNvSpPr txBox="1">
              <a:spLocks noChangeArrowheads="1"/>
            </p:cNvSpPr>
            <p:nvPr/>
          </p:nvSpPr>
          <p:spPr bwMode="auto">
            <a:xfrm>
              <a:off x="960" y="2880"/>
              <a:ext cx="33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B</a:t>
              </a:r>
            </a:p>
          </p:txBody>
        </p:sp>
        <p:sp>
          <p:nvSpPr>
            <p:cNvPr id="173102" name="Text Box 12"/>
            <p:cNvSpPr txBox="1">
              <a:spLocks noChangeArrowheads="1"/>
            </p:cNvSpPr>
            <p:nvPr/>
          </p:nvSpPr>
          <p:spPr bwMode="auto">
            <a:xfrm>
              <a:off x="1248" y="2880"/>
              <a:ext cx="33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zh-CN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A</a:t>
              </a:r>
            </a:p>
          </p:txBody>
        </p:sp>
      </p:grpSp>
      <p:grpSp>
        <p:nvGrpSpPr>
          <p:cNvPr id="3" name="Group 13"/>
          <p:cNvGrpSpPr/>
          <p:nvPr/>
        </p:nvGrpSpPr>
        <p:grpSpPr bwMode="auto">
          <a:xfrm>
            <a:off x="304800" y="990600"/>
            <a:ext cx="9296400" cy="3779838"/>
            <a:chOff x="192" y="624"/>
            <a:chExt cx="5856" cy="2381"/>
          </a:xfrm>
        </p:grpSpPr>
        <p:grpSp>
          <p:nvGrpSpPr>
            <p:cNvPr id="173069" name="Group 14"/>
            <p:cNvGrpSpPr/>
            <p:nvPr/>
          </p:nvGrpSpPr>
          <p:grpSpPr bwMode="auto">
            <a:xfrm>
              <a:off x="240" y="864"/>
              <a:ext cx="4320" cy="365"/>
              <a:chOff x="384" y="1296"/>
              <a:chExt cx="4320" cy="365"/>
            </a:xfrm>
          </p:grpSpPr>
          <p:sp>
            <p:nvSpPr>
              <p:cNvPr id="173096" name="Text Box 15"/>
              <p:cNvSpPr txBox="1">
                <a:spLocks noChangeArrowheads="1"/>
              </p:cNvSpPr>
              <p:nvPr/>
            </p:nvSpPr>
            <p:spPr bwMode="auto">
              <a:xfrm>
                <a:off x="384" y="1296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0  1  1  0</a:t>
                </a:r>
              </a:p>
            </p:txBody>
          </p:sp>
          <p:sp>
            <p:nvSpPr>
              <p:cNvPr id="173097" name="Text Box 16"/>
              <p:cNvSpPr txBox="1">
                <a:spLocks noChangeArrowheads="1"/>
              </p:cNvSpPr>
              <p:nvPr/>
            </p:nvSpPr>
            <p:spPr bwMode="auto">
              <a:xfrm>
                <a:off x="1440" y="1296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0  0  0  0</a:t>
                </a:r>
              </a:p>
            </p:txBody>
          </p:sp>
          <p:sp>
            <p:nvSpPr>
              <p:cNvPr id="173098" name="Text Box 17"/>
              <p:cNvSpPr txBox="1">
                <a:spLocks noChangeArrowheads="1"/>
              </p:cNvSpPr>
              <p:nvPr/>
            </p:nvSpPr>
            <p:spPr bwMode="auto">
              <a:xfrm>
                <a:off x="2496" y="1296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0  0  0  0</a:t>
                </a:r>
              </a:p>
            </p:txBody>
          </p:sp>
          <p:sp>
            <p:nvSpPr>
              <p:cNvPr id="173099" name="Text Box 18"/>
              <p:cNvSpPr txBox="1">
                <a:spLocks noChangeArrowheads="1"/>
              </p:cNvSpPr>
              <p:nvPr/>
            </p:nvSpPr>
            <p:spPr bwMode="auto">
              <a:xfrm>
                <a:off x="3552" y="1296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0  0  0  0</a:t>
                </a:r>
              </a:p>
            </p:txBody>
          </p:sp>
        </p:grpSp>
        <p:sp>
          <p:nvSpPr>
            <p:cNvPr id="173070" name="Text Box 19"/>
            <p:cNvSpPr txBox="1">
              <a:spLocks noChangeArrowheads="1"/>
            </p:cNvSpPr>
            <p:nvPr/>
          </p:nvSpPr>
          <p:spPr bwMode="auto">
            <a:xfrm>
              <a:off x="192" y="624"/>
              <a:ext cx="494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A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15        </a:t>
              </a:r>
              <a:r>
                <a:rPr lang="en-US" altLang="zh-CN" sz="2400">
                  <a:latin typeface="Times New Roman" panose="02020603050405020304" pitchFamily="18" charset="0"/>
                </a:rPr>
                <a:t>A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13       </a:t>
              </a:r>
              <a:r>
                <a:rPr lang="en-US" altLang="zh-CN" sz="2400">
                  <a:latin typeface="Times New Roman" panose="02020603050405020304" pitchFamily="18" charset="0"/>
                </a:rPr>
                <a:t>A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11 </a:t>
              </a:r>
              <a:r>
                <a:rPr lang="en-US" altLang="zh-CN" sz="2400">
                  <a:latin typeface="Times New Roman" panose="02020603050405020304" pitchFamily="18" charset="0"/>
                </a:rPr>
                <a:t>A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10</a:t>
              </a:r>
              <a:r>
                <a:rPr lang="en-US" altLang="zh-CN" sz="2400">
                  <a:latin typeface="Times New Roman" panose="02020603050405020304" pitchFamily="18" charset="0"/>
                </a:rPr>
                <a:t>    …    A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7     </a:t>
              </a:r>
              <a:r>
                <a:rPr lang="en-US" altLang="zh-CN" sz="2400">
                  <a:latin typeface="Times New Roman" panose="02020603050405020304" pitchFamily="18" charset="0"/>
                </a:rPr>
                <a:t>…    A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4   </a:t>
              </a:r>
              <a:r>
                <a:rPr lang="en-US" altLang="zh-CN" sz="2400">
                  <a:latin typeface="Times New Roman" panose="02020603050405020304" pitchFamily="18" charset="0"/>
                </a:rPr>
                <a:t>A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3      </a:t>
              </a:r>
              <a:r>
                <a:rPr lang="en-US" altLang="zh-CN" sz="2400">
                  <a:latin typeface="Times New Roman" panose="02020603050405020304" pitchFamily="18" charset="0"/>
                </a:rPr>
                <a:t>…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     </a:t>
              </a:r>
              <a:r>
                <a:rPr lang="en-US" altLang="zh-CN" sz="2400">
                  <a:latin typeface="Times New Roman" panose="02020603050405020304" pitchFamily="18" charset="0"/>
                </a:rPr>
                <a:t>A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0</a:t>
              </a:r>
            </a:p>
          </p:txBody>
        </p:sp>
        <p:grpSp>
          <p:nvGrpSpPr>
            <p:cNvPr id="173071" name="Group 20"/>
            <p:cNvGrpSpPr/>
            <p:nvPr/>
          </p:nvGrpSpPr>
          <p:grpSpPr bwMode="auto">
            <a:xfrm>
              <a:off x="240" y="1200"/>
              <a:ext cx="4320" cy="701"/>
              <a:chOff x="288" y="1632"/>
              <a:chExt cx="4320" cy="701"/>
            </a:xfrm>
          </p:grpSpPr>
          <p:sp>
            <p:nvSpPr>
              <p:cNvPr id="173090" name="Text Box 21"/>
              <p:cNvSpPr txBox="1">
                <a:spLocks noChangeArrowheads="1"/>
              </p:cNvSpPr>
              <p:nvPr/>
            </p:nvSpPr>
            <p:spPr bwMode="auto">
              <a:xfrm>
                <a:off x="297" y="1632"/>
                <a:ext cx="423" cy="4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grpSp>
            <p:nvGrpSpPr>
              <p:cNvPr id="173091" name="Group 22"/>
              <p:cNvGrpSpPr/>
              <p:nvPr/>
            </p:nvGrpSpPr>
            <p:grpSpPr bwMode="auto">
              <a:xfrm>
                <a:off x="288" y="1968"/>
                <a:ext cx="4320" cy="365"/>
                <a:chOff x="384" y="1968"/>
                <a:chExt cx="4320" cy="365"/>
              </a:xfrm>
            </p:grpSpPr>
            <p:sp>
              <p:nvSpPr>
                <p:cNvPr id="173092" name="Text Box 23"/>
                <p:cNvSpPr txBox="1">
                  <a:spLocks noChangeArrowheads="1"/>
                </p:cNvSpPr>
                <p:nvPr/>
              </p:nvSpPr>
              <p:spPr bwMode="auto">
                <a:xfrm>
                  <a:off x="384" y="1968"/>
                  <a:ext cx="115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0  1  1  0</a:t>
                  </a:r>
                </a:p>
              </p:txBody>
            </p:sp>
            <p:sp>
              <p:nvSpPr>
                <p:cNvPr id="173093" name="Text Box 24"/>
                <p:cNvSpPr txBox="1">
                  <a:spLocks noChangeArrowheads="1"/>
                </p:cNvSpPr>
                <p:nvPr/>
              </p:nvSpPr>
              <p:spPr bwMode="auto">
                <a:xfrm>
                  <a:off x="1440" y="1968"/>
                  <a:ext cx="1440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0  1  1  1</a:t>
                  </a:r>
                </a:p>
              </p:txBody>
            </p:sp>
            <p:sp>
              <p:nvSpPr>
                <p:cNvPr id="173094" name="Text Box 25"/>
                <p:cNvSpPr txBox="1">
                  <a:spLocks noChangeArrowheads="1"/>
                </p:cNvSpPr>
                <p:nvPr/>
              </p:nvSpPr>
              <p:spPr bwMode="auto">
                <a:xfrm>
                  <a:off x="2496" y="1968"/>
                  <a:ext cx="115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1  1  1  1</a:t>
                  </a:r>
                </a:p>
              </p:txBody>
            </p:sp>
            <p:sp>
              <p:nvSpPr>
                <p:cNvPr id="173095" name="Text Box 26"/>
                <p:cNvSpPr txBox="1">
                  <a:spLocks noChangeArrowheads="1"/>
                </p:cNvSpPr>
                <p:nvPr/>
              </p:nvSpPr>
              <p:spPr bwMode="auto">
                <a:xfrm>
                  <a:off x="3552" y="1968"/>
                  <a:ext cx="115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1  1  1  1</a:t>
                  </a:r>
                </a:p>
              </p:txBody>
            </p:sp>
          </p:grpSp>
        </p:grpSp>
        <p:grpSp>
          <p:nvGrpSpPr>
            <p:cNvPr id="173072" name="Group 27"/>
            <p:cNvGrpSpPr/>
            <p:nvPr/>
          </p:nvGrpSpPr>
          <p:grpSpPr bwMode="auto">
            <a:xfrm>
              <a:off x="240" y="1939"/>
              <a:ext cx="4320" cy="365"/>
              <a:chOff x="384" y="1296"/>
              <a:chExt cx="4320" cy="365"/>
            </a:xfrm>
          </p:grpSpPr>
          <p:sp>
            <p:nvSpPr>
              <p:cNvPr id="173086" name="Text Box 28"/>
              <p:cNvSpPr txBox="1">
                <a:spLocks noChangeArrowheads="1"/>
              </p:cNvSpPr>
              <p:nvPr/>
            </p:nvSpPr>
            <p:spPr bwMode="auto">
              <a:xfrm>
                <a:off x="384" y="1296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0  1  1  0</a:t>
                </a:r>
              </a:p>
            </p:txBody>
          </p:sp>
          <p:sp>
            <p:nvSpPr>
              <p:cNvPr id="173087" name="Text Box 29"/>
              <p:cNvSpPr txBox="1">
                <a:spLocks noChangeArrowheads="1"/>
              </p:cNvSpPr>
              <p:nvPr/>
            </p:nvSpPr>
            <p:spPr bwMode="auto">
              <a:xfrm>
                <a:off x="1440" y="1296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1  0  0  0</a:t>
                </a:r>
              </a:p>
            </p:txBody>
          </p:sp>
          <p:sp>
            <p:nvSpPr>
              <p:cNvPr id="173088" name="Text Box 30"/>
              <p:cNvSpPr txBox="1">
                <a:spLocks noChangeArrowheads="1"/>
              </p:cNvSpPr>
              <p:nvPr/>
            </p:nvSpPr>
            <p:spPr bwMode="auto">
              <a:xfrm>
                <a:off x="2496" y="1296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0  0  0  0</a:t>
                </a:r>
              </a:p>
            </p:txBody>
          </p:sp>
          <p:sp>
            <p:nvSpPr>
              <p:cNvPr id="173089" name="Text Box 31"/>
              <p:cNvSpPr txBox="1">
                <a:spLocks noChangeArrowheads="1"/>
              </p:cNvSpPr>
              <p:nvPr/>
            </p:nvSpPr>
            <p:spPr bwMode="auto">
              <a:xfrm>
                <a:off x="3552" y="1296"/>
                <a:ext cx="115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0  0  0  0</a:t>
                </a:r>
              </a:p>
            </p:txBody>
          </p:sp>
        </p:grpSp>
        <p:grpSp>
          <p:nvGrpSpPr>
            <p:cNvPr id="173073" name="Group 32"/>
            <p:cNvGrpSpPr/>
            <p:nvPr/>
          </p:nvGrpSpPr>
          <p:grpSpPr bwMode="auto">
            <a:xfrm>
              <a:off x="240" y="2256"/>
              <a:ext cx="4320" cy="749"/>
              <a:chOff x="288" y="2688"/>
              <a:chExt cx="4320" cy="749"/>
            </a:xfrm>
          </p:grpSpPr>
          <p:sp>
            <p:nvSpPr>
              <p:cNvPr id="173080" name="Text Box 33"/>
              <p:cNvSpPr txBox="1">
                <a:spLocks noChangeArrowheads="1"/>
              </p:cNvSpPr>
              <p:nvPr/>
            </p:nvSpPr>
            <p:spPr bwMode="auto">
              <a:xfrm>
                <a:off x="288" y="2688"/>
                <a:ext cx="423" cy="4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grpSp>
            <p:nvGrpSpPr>
              <p:cNvPr id="173081" name="Group 34"/>
              <p:cNvGrpSpPr/>
              <p:nvPr/>
            </p:nvGrpSpPr>
            <p:grpSpPr bwMode="auto">
              <a:xfrm>
                <a:off x="288" y="3072"/>
                <a:ext cx="4320" cy="365"/>
                <a:chOff x="384" y="1968"/>
                <a:chExt cx="4320" cy="365"/>
              </a:xfrm>
            </p:grpSpPr>
            <p:sp>
              <p:nvSpPr>
                <p:cNvPr id="173082" name="Text Box 35"/>
                <p:cNvSpPr txBox="1">
                  <a:spLocks noChangeArrowheads="1"/>
                </p:cNvSpPr>
                <p:nvPr/>
              </p:nvSpPr>
              <p:spPr bwMode="auto">
                <a:xfrm>
                  <a:off x="384" y="1968"/>
                  <a:ext cx="115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0  1  1  0</a:t>
                  </a:r>
                </a:p>
              </p:txBody>
            </p:sp>
            <p:sp>
              <p:nvSpPr>
                <p:cNvPr id="173083" name="Text Box 36"/>
                <p:cNvSpPr txBox="1">
                  <a:spLocks noChangeArrowheads="1"/>
                </p:cNvSpPr>
                <p:nvPr/>
              </p:nvSpPr>
              <p:spPr bwMode="auto">
                <a:xfrm>
                  <a:off x="1440" y="1968"/>
                  <a:ext cx="1440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1  0  1  1</a:t>
                  </a:r>
                </a:p>
              </p:txBody>
            </p:sp>
            <p:sp>
              <p:nvSpPr>
                <p:cNvPr id="173084" name="Text Box 37"/>
                <p:cNvSpPr txBox="1">
                  <a:spLocks noChangeArrowheads="1"/>
                </p:cNvSpPr>
                <p:nvPr/>
              </p:nvSpPr>
              <p:spPr bwMode="auto">
                <a:xfrm>
                  <a:off x="2496" y="1968"/>
                  <a:ext cx="115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1  1  1  1</a:t>
                  </a:r>
                </a:p>
              </p:txBody>
            </p:sp>
            <p:sp>
              <p:nvSpPr>
                <p:cNvPr id="173085" name="Text Box 38"/>
                <p:cNvSpPr txBox="1">
                  <a:spLocks noChangeArrowheads="1"/>
                </p:cNvSpPr>
                <p:nvPr/>
              </p:nvSpPr>
              <p:spPr bwMode="auto">
                <a:xfrm>
                  <a:off x="3552" y="1968"/>
                  <a:ext cx="115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zh-CN" altLang="en-US" sz="3200">
                      <a:latin typeface="Times New Roman" panose="02020603050405020304" pitchFamily="18" charset="0"/>
                    </a:rPr>
                    <a:t>1  1  1  1</a:t>
                  </a:r>
                </a:p>
              </p:txBody>
            </p:sp>
          </p:grpSp>
        </p:grpSp>
        <p:sp>
          <p:nvSpPr>
            <p:cNvPr id="173074" name="AutoShape 39"/>
            <p:cNvSpPr/>
            <p:nvPr/>
          </p:nvSpPr>
          <p:spPr bwMode="auto">
            <a:xfrm>
              <a:off x="4464" y="1008"/>
              <a:ext cx="192" cy="768"/>
            </a:xfrm>
            <a:prstGeom prst="rightBrace">
              <a:avLst>
                <a:gd name="adj1" fmla="val 33333"/>
                <a:gd name="adj2" fmla="val 50000"/>
              </a:avLst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73075" name="Text Box 40"/>
            <p:cNvSpPr txBox="1">
              <a:spLocks noChangeArrowheads="1"/>
            </p:cNvSpPr>
            <p:nvPr/>
          </p:nvSpPr>
          <p:spPr bwMode="auto">
            <a:xfrm>
              <a:off x="4704" y="1363"/>
              <a:ext cx="13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>
                  <a:latin typeface="Times New Roman" panose="02020603050405020304" pitchFamily="18" charset="0"/>
                </a:rPr>
                <a:t>2K</a:t>
              </a:r>
              <a:r>
                <a:rPr lang="en-US" altLang="zh-CN" sz="900">
                  <a:latin typeface="Times New Roman" panose="02020603050405020304" pitchFamily="18" charset="0"/>
                </a:rPr>
                <a:t> </a:t>
              </a:r>
              <a:r>
                <a:rPr lang="en-US" altLang="zh-CN" sz="3200">
                  <a:latin typeface="Times New Roman" panose="02020603050405020304" pitchFamily="18" charset="0"/>
                  <a:cs typeface="Times New Roman" panose="02020603050405020304" pitchFamily="18" charset="0"/>
                </a:rPr>
                <a:t>×</a:t>
              </a:r>
              <a:r>
                <a:rPr lang="en-US" altLang="zh-CN" sz="90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zh-CN" sz="2800">
                  <a:latin typeface="Times New Roman" panose="02020603050405020304" pitchFamily="18" charset="0"/>
                  <a:cs typeface="Times New Roman" panose="02020603050405020304" pitchFamily="18" charset="0"/>
                </a:rPr>
                <a:t>8</a:t>
              </a:r>
              <a:r>
                <a:rPr lang="zh-CN" altLang="en-US" sz="2800">
                  <a:latin typeface="Times New Roman" panose="02020603050405020304" pitchFamily="18" charset="0"/>
                </a:rPr>
                <a:t>位</a:t>
              </a:r>
              <a:endParaRPr lang="en-US" altLang="zh-CN" sz="2800">
                <a:latin typeface="Times New Roman" panose="02020603050405020304" pitchFamily="18" charset="0"/>
              </a:endParaRPr>
            </a:p>
          </p:txBody>
        </p:sp>
        <p:sp>
          <p:nvSpPr>
            <p:cNvPr id="173076" name="Text Box 41"/>
            <p:cNvSpPr txBox="1">
              <a:spLocks noChangeArrowheads="1"/>
            </p:cNvSpPr>
            <p:nvPr/>
          </p:nvSpPr>
          <p:spPr bwMode="auto">
            <a:xfrm>
              <a:off x="4704" y="1056"/>
              <a:ext cx="115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r>
                <a:rPr lang="zh-CN" altLang="en-US" sz="2800">
                  <a:latin typeface="Times New Roman" panose="02020603050405020304" pitchFamily="18" charset="0"/>
                </a:rPr>
                <a:t>片 </a:t>
              </a:r>
              <a:r>
                <a:rPr lang="en-US" altLang="zh-CN" sz="2800">
                  <a:latin typeface="Times New Roman" panose="02020603050405020304" pitchFamily="18" charset="0"/>
                  <a:cs typeface="Times New Roman" panose="02020603050405020304" pitchFamily="18" charset="0"/>
                </a:rPr>
                <a:t>ROM</a:t>
              </a:r>
              <a:endParaRPr lang="zh-CN" alt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3077" name="AutoShape 42"/>
            <p:cNvSpPr/>
            <p:nvPr/>
          </p:nvSpPr>
          <p:spPr bwMode="auto">
            <a:xfrm>
              <a:off x="4464" y="2112"/>
              <a:ext cx="192" cy="768"/>
            </a:xfrm>
            <a:prstGeom prst="rightBrace">
              <a:avLst>
                <a:gd name="adj1" fmla="val 33333"/>
                <a:gd name="adj2" fmla="val 50000"/>
              </a:avLst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73078" name="Text Box 43"/>
            <p:cNvSpPr txBox="1">
              <a:spLocks noChangeArrowheads="1"/>
            </p:cNvSpPr>
            <p:nvPr/>
          </p:nvSpPr>
          <p:spPr bwMode="auto">
            <a:xfrm>
              <a:off x="4704" y="2448"/>
              <a:ext cx="13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>
                  <a:latin typeface="Times New Roman" panose="02020603050405020304" pitchFamily="18" charset="0"/>
                </a:rPr>
                <a:t>1K</a:t>
              </a:r>
              <a:r>
                <a:rPr lang="en-US" altLang="zh-CN" sz="900">
                  <a:latin typeface="Times New Roman" panose="02020603050405020304" pitchFamily="18" charset="0"/>
                </a:rPr>
                <a:t> </a:t>
              </a:r>
              <a:r>
                <a:rPr lang="en-US" altLang="zh-CN" sz="3200">
                  <a:latin typeface="Times New Roman" panose="02020603050405020304" pitchFamily="18" charset="0"/>
                  <a:cs typeface="Times New Roman" panose="02020603050405020304" pitchFamily="18" charset="0"/>
                </a:rPr>
                <a:t>×</a:t>
              </a:r>
              <a:r>
                <a:rPr lang="en-US" altLang="zh-CN" sz="90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zh-CN" sz="2800"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  <a:r>
                <a:rPr lang="zh-CN" altLang="en-US" sz="2800">
                  <a:latin typeface="Times New Roman" panose="02020603050405020304" pitchFamily="18" charset="0"/>
                </a:rPr>
                <a:t>位</a:t>
              </a:r>
              <a:endParaRPr lang="en-US" altLang="zh-CN" sz="2800">
                <a:latin typeface="Times New Roman" panose="02020603050405020304" pitchFamily="18" charset="0"/>
              </a:endParaRPr>
            </a:p>
          </p:txBody>
        </p:sp>
        <p:sp>
          <p:nvSpPr>
            <p:cNvPr id="173079" name="Text Box 44"/>
            <p:cNvSpPr txBox="1">
              <a:spLocks noChangeArrowheads="1"/>
            </p:cNvSpPr>
            <p:nvPr/>
          </p:nvSpPr>
          <p:spPr bwMode="auto">
            <a:xfrm>
              <a:off x="4704" y="2121"/>
              <a:ext cx="115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lang="zh-CN" altLang="en-US" sz="2800">
                  <a:latin typeface="Times New Roman" panose="02020603050405020304" pitchFamily="18" charset="0"/>
                </a:rPr>
                <a:t>片</a:t>
              </a:r>
              <a:r>
                <a:rPr lang="en-US" altLang="zh-CN" sz="2800">
                  <a:latin typeface="Times New Roman" panose="02020603050405020304" pitchFamily="18" charset="0"/>
                  <a:cs typeface="Times New Roman" panose="02020603050405020304" pitchFamily="18" charset="0"/>
                </a:rPr>
                <a:t>RAM</a:t>
              </a:r>
              <a:endParaRPr lang="zh-CN" alt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62189" name="Rectangle 45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73068" name="AutoShape 46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12" dur="500"/>
                                        <p:tgtEl>
                                          <p:spTgt spid="262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62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22" dur="500"/>
                                        <p:tgtEl>
                                          <p:spTgt spid="262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62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62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37" dur="500"/>
                                        <p:tgtEl>
                                          <p:spTgt spid="262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2147" grpId="0" autoUpdateAnimBg="0"/>
      <p:bldP spid="262148" grpId="0" autoUpdateAnimBg="0"/>
      <p:bldP spid="262149" grpId="0" autoUpdateAnimBg="0"/>
      <p:bldP spid="262150" grpId="0" animBg="1"/>
      <p:bldP spid="262151" grpId="0" animBg="1"/>
      <p:bldP spid="262152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170" name="Freeform 2"/>
          <p:cNvSpPr/>
          <p:nvPr/>
        </p:nvSpPr>
        <p:spPr bwMode="auto">
          <a:xfrm>
            <a:off x="2209800" y="1809750"/>
            <a:ext cx="1062038" cy="1588"/>
          </a:xfrm>
          <a:custGeom>
            <a:avLst/>
            <a:gdLst>
              <a:gd name="T0" fmla="*/ 2147483647 w 669"/>
              <a:gd name="T1" fmla="*/ 0 h 1"/>
              <a:gd name="T2" fmla="*/ 0 w 669"/>
              <a:gd name="T3" fmla="*/ 0 h 1"/>
              <a:gd name="T4" fmla="*/ 0 60000 65536"/>
              <a:gd name="T5" fmla="*/ 0 60000 65536"/>
              <a:gd name="T6" fmla="*/ 0 w 669"/>
              <a:gd name="T7" fmla="*/ 0 h 1"/>
              <a:gd name="T8" fmla="*/ 669 w 669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69" h="1">
                <a:moveTo>
                  <a:pt x="669" y="0"/>
                </a:moveTo>
                <a:lnTo>
                  <a:pt x="0" y="0"/>
                </a:lnTo>
              </a:path>
            </a:pathLst>
          </a:custGeom>
          <a:solidFill>
            <a:srgbClr val="FFFFFF"/>
          </a:solidFill>
          <a:ln w="38100">
            <a:solidFill>
              <a:schemeClr val="tx1"/>
            </a:solidFill>
            <a:rou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63171" name="Line 3"/>
          <p:cNvSpPr>
            <a:spLocks noChangeShapeType="1"/>
          </p:cNvSpPr>
          <p:nvPr/>
        </p:nvSpPr>
        <p:spPr bwMode="auto">
          <a:xfrm flipH="1">
            <a:off x="2209800" y="1524000"/>
            <a:ext cx="1198563" cy="15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" name="Group 4"/>
          <p:cNvGrpSpPr/>
          <p:nvPr/>
        </p:nvGrpSpPr>
        <p:grpSpPr bwMode="auto">
          <a:xfrm>
            <a:off x="247650" y="1104900"/>
            <a:ext cx="298450" cy="1247775"/>
            <a:chOff x="156" y="696"/>
            <a:chExt cx="188" cy="786"/>
          </a:xfrm>
        </p:grpSpPr>
        <p:sp>
          <p:nvSpPr>
            <p:cNvPr id="174229" name="Line 5"/>
            <p:cNvSpPr>
              <a:spLocks noChangeShapeType="1"/>
            </p:cNvSpPr>
            <p:nvPr/>
          </p:nvSpPr>
          <p:spPr bwMode="auto">
            <a:xfrm flipH="1">
              <a:off x="157" y="1467"/>
              <a:ext cx="187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230" name="Freeform 6"/>
            <p:cNvSpPr/>
            <p:nvPr/>
          </p:nvSpPr>
          <p:spPr bwMode="auto">
            <a:xfrm>
              <a:off x="156" y="696"/>
              <a:ext cx="1" cy="786"/>
            </a:xfrm>
            <a:custGeom>
              <a:avLst/>
              <a:gdLst>
                <a:gd name="T0" fmla="*/ 0 w 1"/>
                <a:gd name="T1" fmla="*/ 786 h 786"/>
                <a:gd name="T2" fmla="*/ 0 w 1"/>
                <a:gd name="T3" fmla="*/ 0 h 786"/>
                <a:gd name="T4" fmla="*/ 0 60000 65536"/>
                <a:gd name="T5" fmla="*/ 0 60000 65536"/>
                <a:gd name="T6" fmla="*/ 0 w 1"/>
                <a:gd name="T7" fmla="*/ 0 h 786"/>
                <a:gd name="T8" fmla="*/ 1 w 1"/>
                <a:gd name="T9" fmla="*/ 786 h 7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786">
                  <a:moveTo>
                    <a:pt x="0" y="786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" name="Group 7"/>
          <p:cNvGrpSpPr/>
          <p:nvPr/>
        </p:nvGrpSpPr>
        <p:grpSpPr bwMode="auto">
          <a:xfrm>
            <a:off x="236538" y="1108075"/>
            <a:ext cx="3040062" cy="990600"/>
            <a:chOff x="149" y="698"/>
            <a:chExt cx="1915" cy="624"/>
          </a:xfrm>
        </p:grpSpPr>
        <p:sp>
          <p:nvSpPr>
            <p:cNvPr id="174226" name="Freeform 8"/>
            <p:cNvSpPr/>
            <p:nvPr/>
          </p:nvSpPr>
          <p:spPr bwMode="auto">
            <a:xfrm>
              <a:off x="1727" y="1321"/>
              <a:ext cx="337" cy="1"/>
            </a:xfrm>
            <a:custGeom>
              <a:avLst/>
              <a:gdLst>
                <a:gd name="T0" fmla="*/ 350 w 336"/>
                <a:gd name="T1" fmla="*/ 0 h 1"/>
                <a:gd name="T2" fmla="*/ 0 w 336"/>
                <a:gd name="T3" fmla="*/ 0 h 1"/>
                <a:gd name="T4" fmla="*/ 0 60000 65536"/>
                <a:gd name="T5" fmla="*/ 0 60000 65536"/>
                <a:gd name="T6" fmla="*/ 0 w 336"/>
                <a:gd name="T7" fmla="*/ 0 h 1"/>
                <a:gd name="T8" fmla="*/ 336 w 33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36" h="1">
                  <a:moveTo>
                    <a:pt x="336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chemeClr val="tx1"/>
              </a:solidFill>
              <a:prstDash val="solid"/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227" name="Line 9"/>
            <p:cNvSpPr>
              <a:spLocks noChangeShapeType="1"/>
            </p:cNvSpPr>
            <p:nvPr/>
          </p:nvSpPr>
          <p:spPr bwMode="auto">
            <a:xfrm>
              <a:off x="149" y="698"/>
              <a:ext cx="158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228" name="Line 10"/>
            <p:cNvSpPr>
              <a:spLocks noChangeShapeType="1"/>
            </p:cNvSpPr>
            <p:nvPr/>
          </p:nvSpPr>
          <p:spPr bwMode="auto">
            <a:xfrm>
              <a:off x="1733" y="698"/>
              <a:ext cx="1" cy="6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3179" name="Line 11"/>
          <p:cNvSpPr>
            <a:spLocks noChangeShapeType="1"/>
          </p:cNvSpPr>
          <p:nvPr/>
        </p:nvSpPr>
        <p:spPr bwMode="auto">
          <a:xfrm flipH="1">
            <a:off x="2209800" y="2414588"/>
            <a:ext cx="1193800" cy="158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3180" name="Line 12"/>
          <p:cNvSpPr>
            <a:spLocks noChangeShapeType="1"/>
          </p:cNvSpPr>
          <p:nvPr/>
        </p:nvSpPr>
        <p:spPr bwMode="auto">
          <a:xfrm flipH="1">
            <a:off x="2209800" y="2706688"/>
            <a:ext cx="1190625" cy="158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3181" name="Line 13"/>
          <p:cNvSpPr>
            <a:spLocks noChangeShapeType="1"/>
          </p:cNvSpPr>
          <p:nvPr/>
        </p:nvSpPr>
        <p:spPr bwMode="auto">
          <a:xfrm flipH="1">
            <a:off x="2209800" y="2970213"/>
            <a:ext cx="1190625" cy="158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" name="Group 14"/>
          <p:cNvGrpSpPr/>
          <p:nvPr/>
        </p:nvGrpSpPr>
        <p:grpSpPr bwMode="auto">
          <a:xfrm>
            <a:off x="5791200" y="2133600"/>
            <a:ext cx="361950" cy="1190625"/>
            <a:chOff x="3648" y="1344"/>
            <a:chExt cx="228" cy="750"/>
          </a:xfrm>
        </p:grpSpPr>
        <p:sp>
          <p:nvSpPr>
            <p:cNvPr id="174224" name="Freeform 15"/>
            <p:cNvSpPr/>
            <p:nvPr/>
          </p:nvSpPr>
          <p:spPr bwMode="auto">
            <a:xfrm>
              <a:off x="3651" y="1344"/>
              <a:ext cx="225" cy="1"/>
            </a:xfrm>
            <a:custGeom>
              <a:avLst/>
              <a:gdLst>
                <a:gd name="T0" fmla="*/ 0 w 225"/>
                <a:gd name="T1" fmla="*/ 0 h 1"/>
                <a:gd name="T2" fmla="*/ 225 w 225"/>
                <a:gd name="T3" fmla="*/ 0 h 1"/>
                <a:gd name="T4" fmla="*/ 0 60000 65536"/>
                <a:gd name="T5" fmla="*/ 0 60000 65536"/>
                <a:gd name="T6" fmla="*/ 0 w 225"/>
                <a:gd name="T7" fmla="*/ 0 h 1"/>
                <a:gd name="T8" fmla="*/ 225 w 22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5" h="1">
                  <a:moveTo>
                    <a:pt x="0" y="0"/>
                  </a:moveTo>
                  <a:lnTo>
                    <a:pt x="225" y="0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chemeClr val="tx1"/>
              </a:solidFill>
              <a:prstDash val="solid"/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225" name="Line 16"/>
            <p:cNvSpPr>
              <a:spLocks noChangeShapeType="1"/>
            </p:cNvSpPr>
            <p:nvPr/>
          </p:nvSpPr>
          <p:spPr bwMode="auto">
            <a:xfrm>
              <a:off x="3648" y="1344"/>
              <a:ext cx="1" cy="75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" name="Group 17"/>
          <p:cNvGrpSpPr/>
          <p:nvPr/>
        </p:nvGrpSpPr>
        <p:grpSpPr bwMode="auto">
          <a:xfrm>
            <a:off x="2806700" y="4527550"/>
            <a:ext cx="723900" cy="355600"/>
            <a:chOff x="1768" y="2852"/>
            <a:chExt cx="456" cy="224"/>
          </a:xfrm>
        </p:grpSpPr>
        <p:sp>
          <p:nvSpPr>
            <p:cNvPr id="174221" name="Line 18"/>
            <p:cNvSpPr>
              <a:spLocks noChangeShapeType="1"/>
            </p:cNvSpPr>
            <p:nvPr/>
          </p:nvSpPr>
          <p:spPr bwMode="auto">
            <a:xfrm flipH="1">
              <a:off x="1876" y="2852"/>
              <a:ext cx="348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222" name="Line 19"/>
            <p:cNvSpPr>
              <a:spLocks noChangeShapeType="1"/>
            </p:cNvSpPr>
            <p:nvPr/>
          </p:nvSpPr>
          <p:spPr bwMode="auto">
            <a:xfrm>
              <a:off x="1876" y="2852"/>
              <a:ext cx="1" cy="21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223" name="Rectangle 20"/>
            <p:cNvSpPr>
              <a:spLocks noChangeArrowheads="1"/>
            </p:cNvSpPr>
            <p:nvPr/>
          </p:nvSpPr>
          <p:spPr bwMode="auto">
            <a:xfrm>
              <a:off x="1768" y="3057"/>
              <a:ext cx="187" cy="19"/>
            </a:xfrm>
            <a:prstGeom prst="rect">
              <a:avLst/>
            </a:prstGeom>
            <a:solidFill>
              <a:srgbClr val="000000"/>
            </a:solidFill>
            <a:ln w="38100">
              <a:solidFill>
                <a:schemeClr val="tx1"/>
              </a:solidFill>
              <a:miter lim="800000"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grpSp>
        <p:nvGrpSpPr>
          <p:cNvPr id="6" name="Group 21"/>
          <p:cNvGrpSpPr/>
          <p:nvPr/>
        </p:nvGrpSpPr>
        <p:grpSpPr bwMode="auto">
          <a:xfrm>
            <a:off x="6772275" y="1952625"/>
            <a:ext cx="314325" cy="2395538"/>
            <a:chOff x="4266" y="1230"/>
            <a:chExt cx="198" cy="1509"/>
          </a:xfrm>
        </p:grpSpPr>
        <p:sp>
          <p:nvSpPr>
            <p:cNvPr id="174219" name="Freeform 22"/>
            <p:cNvSpPr/>
            <p:nvPr/>
          </p:nvSpPr>
          <p:spPr bwMode="auto">
            <a:xfrm>
              <a:off x="4266" y="1236"/>
              <a:ext cx="195" cy="1"/>
            </a:xfrm>
            <a:custGeom>
              <a:avLst/>
              <a:gdLst>
                <a:gd name="T0" fmla="*/ 0 w 195"/>
                <a:gd name="T1" fmla="*/ 0 h 1"/>
                <a:gd name="T2" fmla="*/ 195 w 195"/>
                <a:gd name="T3" fmla="*/ 0 h 1"/>
                <a:gd name="T4" fmla="*/ 0 60000 65536"/>
                <a:gd name="T5" fmla="*/ 0 60000 65536"/>
                <a:gd name="T6" fmla="*/ 0 w 195"/>
                <a:gd name="T7" fmla="*/ 0 h 1"/>
                <a:gd name="T8" fmla="*/ 195 w 19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95" h="1">
                  <a:moveTo>
                    <a:pt x="0" y="0"/>
                  </a:moveTo>
                  <a:lnTo>
                    <a:pt x="19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220" name="Freeform 23"/>
            <p:cNvSpPr/>
            <p:nvPr/>
          </p:nvSpPr>
          <p:spPr bwMode="auto">
            <a:xfrm>
              <a:off x="4462" y="1230"/>
              <a:ext cx="2" cy="1509"/>
            </a:xfrm>
            <a:custGeom>
              <a:avLst/>
              <a:gdLst>
                <a:gd name="T0" fmla="*/ 1 w 3"/>
                <a:gd name="T1" fmla="*/ 0 h 1509"/>
                <a:gd name="T2" fmla="*/ 0 w 3"/>
                <a:gd name="T3" fmla="*/ 1509 h 1509"/>
                <a:gd name="T4" fmla="*/ 0 60000 65536"/>
                <a:gd name="T5" fmla="*/ 0 60000 65536"/>
                <a:gd name="T6" fmla="*/ 0 w 3"/>
                <a:gd name="T7" fmla="*/ 0 h 1509"/>
                <a:gd name="T8" fmla="*/ 3 w 3"/>
                <a:gd name="T9" fmla="*/ 1509 h 150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" h="1509">
                  <a:moveTo>
                    <a:pt x="3" y="0"/>
                  </a:moveTo>
                  <a:lnTo>
                    <a:pt x="0" y="1509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  <a:tailEnd type="oval" w="sm" len="sm"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3192" name="Freeform 24"/>
          <p:cNvSpPr/>
          <p:nvPr/>
        </p:nvSpPr>
        <p:spPr bwMode="auto">
          <a:xfrm>
            <a:off x="4638675" y="4343400"/>
            <a:ext cx="657225" cy="1588"/>
          </a:xfrm>
          <a:custGeom>
            <a:avLst/>
            <a:gdLst>
              <a:gd name="T0" fmla="*/ 2147483647 w 414"/>
              <a:gd name="T1" fmla="*/ 0 h 1"/>
              <a:gd name="T2" fmla="*/ 0 w 414"/>
              <a:gd name="T3" fmla="*/ 2147483647 h 1"/>
              <a:gd name="T4" fmla="*/ 0 60000 65536"/>
              <a:gd name="T5" fmla="*/ 0 60000 65536"/>
              <a:gd name="T6" fmla="*/ 0 w 414"/>
              <a:gd name="T7" fmla="*/ 0 h 1"/>
              <a:gd name="T8" fmla="*/ 414 w 414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14" h="1">
                <a:moveTo>
                  <a:pt x="414" y="0"/>
                </a:moveTo>
                <a:lnTo>
                  <a:pt x="0" y="1"/>
                </a:lnTo>
              </a:path>
            </a:pathLst>
          </a:custGeom>
          <a:solidFill>
            <a:srgbClr val="FFFFFF"/>
          </a:solidFill>
          <a:ln w="38100">
            <a:solidFill>
              <a:schemeClr val="tx1"/>
            </a:solidFill>
            <a:round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7" name="Group 25"/>
          <p:cNvGrpSpPr/>
          <p:nvPr/>
        </p:nvGrpSpPr>
        <p:grpSpPr bwMode="auto">
          <a:xfrm>
            <a:off x="3530600" y="4191000"/>
            <a:ext cx="1120775" cy="595313"/>
            <a:chOff x="2224" y="2640"/>
            <a:chExt cx="706" cy="375"/>
          </a:xfrm>
        </p:grpSpPr>
        <p:sp>
          <p:nvSpPr>
            <p:cNvPr id="174216" name="Rectangle 26"/>
            <p:cNvSpPr>
              <a:spLocks noChangeArrowheads="1"/>
            </p:cNvSpPr>
            <p:nvPr/>
          </p:nvSpPr>
          <p:spPr bwMode="auto">
            <a:xfrm>
              <a:off x="2224" y="2671"/>
              <a:ext cx="700" cy="305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74217" name="Text Box 27"/>
            <p:cNvSpPr txBox="1">
              <a:spLocks noChangeArrowheads="1"/>
            </p:cNvSpPr>
            <p:nvPr/>
          </p:nvSpPr>
          <p:spPr bwMode="auto">
            <a:xfrm>
              <a:off x="2232" y="2640"/>
              <a:ext cx="69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800">
                  <a:latin typeface="Times New Roman" panose="02020603050405020304" pitchFamily="18" charset="0"/>
                </a:rPr>
                <a:t> 2</a:t>
              </a:r>
              <a:r>
                <a:rPr lang="en-US" altLang="zh-CN" sz="1800">
                  <a:latin typeface="Times New Roman" panose="02020603050405020304" pitchFamily="18" charset="0"/>
                </a:rPr>
                <a:t>K</a:t>
              </a:r>
              <a:r>
                <a:rPr lang="en-US" altLang="zh-CN">
                  <a:latin typeface="Times New Roman" panose="02020603050405020304" pitchFamily="18" charset="0"/>
                </a:rPr>
                <a:t> </a:t>
              </a:r>
              <a:r>
                <a:rPr lang="en-US" altLang="zh-CN" sz="1600"/>
                <a:t>×</a:t>
              </a:r>
              <a:r>
                <a:rPr lang="en-US" altLang="zh-CN" sz="1800">
                  <a:latin typeface="Times New Roman" panose="02020603050405020304" pitchFamily="18" charset="0"/>
                </a:rPr>
                <a:t>8</a:t>
              </a:r>
              <a:r>
                <a:rPr lang="zh-CN" altLang="en-US" sz="1800">
                  <a:latin typeface="Times New Roman" panose="02020603050405020304" pitchFamily="18" charset="0"/>
                </a:rPr>
                <a:t>位</a:t>
              </a:r>
            </a:p>
          </p:txBody>
        </p:sp>
        <p:sp>
          <p:nvSpPr>
            <p:cNvPr id="174218" name="Text Box 28"/>
            <p:cNvSpPr txBox="1">
              <a:spLocks noChangeArrowheads="1"/>
            </p:cNvSpPr>
            <p:nvPr/>
          </p:nvSpPr>
          <p:spPr bwMode="auto">
            <a:xfrm>
              <a:off x="2304" y="2784"/>
              <a:ext cx="5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 ROM</a:t>
              </a:r>
            </a:p>
          </p:txBody>
        </p:sp>
      </p:grpSp>
      <p:sp>
        <p:nvSpPr>
          <p:cNvPr id="263197" name="Line 29"/>
          <p:cNvSpPr>
            <a:spLocks noChangeShapeType="1"/>
          </p:cNvSpPr>
          <p:nvPr/>
        </p:nvSpPr>
        <p:spPr bwMode="auto">
          <a:xfrm>
            <a:off x="6645275" y="4343400"/>
            <a:ext cx="852488" cy="15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8" name="Group 30"/>
          <p:cNvGrpSpPr/>
          <p:nvPr/>
        </p:nvGrpSpPr>
        <p:grpSpPr bwMode="auto">
          <a:xfrm>
            <a:off x="2209800" y="4527550"/>
            <a:ext cx="5287963" cy="1649413"/>
            <a:chOff x="1392" y="2852"/>
            <a:chExt cx="3331" cy="1039"/>
          </a:xfrm>
        </p:grpSpPr>
        <p:sp>
          <p:nvSpPr>
            <p:cNvPr id="174211" name="Line 31"/>
            <p:cNvSpPr>
              <a:spLocks noChangeShapeType="1"/>
            </p:cNvSpPr>
            <p:nvPr/>
          </p:nvSpPr>
          <p:spPr bwMode="auto">
            <a:xfrm flipH="1">
              <a:off x="3137" y="2852"/>
              <a:ext cx="350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212" name="Line 32"/>
            <p:cNvSpPr>
              <a:spLocks noChangeShapeType="1"/>
            </p:cNvSpPr>
            <p:nvPr/>
          </p:nvSpPr>
          <p:spPr bwMode="auto">
            <a:xfrm rot="10800000">
              <a:off x="3137" y="2852"/>
              <a:ext cx="1" cy="103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213" name="Line 33"/>
            <p:cNvSpPr>
              <a:spLocks noChangeShapeType="1"/>
            </p:cNvSpPr>
            <p:nvPr/>
          </p:nvSpPr>
          <p:spPr bwMode="auto">
            <a:xfrm>
              <a:off x="4373" y="2852"/>
              <a:ext cx="1" cy="103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214" name="Freeform 34"/>
            <p:cNvSpPr/>
            <p:nvPr/>
          </p:nvSpPr>
          <p:spPr bwMode="auto">
            <a:xfrm>
              <a:off x="1392" y="3885"/>
              <a:ext cx="2994" cy="6"/>
            </a:xfrm>
            <a:custGeom>
              <a:avLst/>
              <a:gdLst>
                <a:gd name="T0" fmla="*/ 0 w 2994"/>
                <a:gd name="T1" fmla="*/ 6 h 6"/>
                <a:gd name="T2" fmla="*/ 2994 w 2994"/>
                <a:gd name="T3" fmla="*/ 0 h 6"/>
                <a:gd name="T4" fmla="*/ 0 60000 65536"/>
                <a:gd name="T5" fmla="*/ 0 60000 65536"/>
                <a:gd name="T6" fmla="*/ 0 w 2994"/>
                <a:gd name="T7" fmla="*/ 0 h 6"/>
                <a:gd name="T8" fmla="*/ 2994 w 2994"/>
                <a:gd name="T9" fmla="*/ 6 h 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994" h="6">
                  <a:moveTo>
                    <a:pt x="0" y="6"/>
                  </a:moveTo>
                  <a:lnTo>
                    <a:pt x="2994" y="0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chemeClr val="tx1"/>
              </a:solidFill>
              <a:prstDash val="solid"/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215" name="Line 35"/>
            <p:cNvSpPr>
              <a:spLocks noChangeShapeType="1"/>
            </p:cNvSpPr>
            <p:nvPr/>
          </p:nvSpPr>
          <p:spPr bwMode="auto">
            <a:xfrm flipH="1">
              <a:off x="4373" y="2852"/>
              <a:ext cx="350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9" name="Group 36"/>
          <p:cNvGrpSpPr/>
          <p:nvPr/>
        </p:nvGrpSpPr>
        <p:grpSpPr bwMode="auto">
          <a:xfrm>
            <a:off x="5518150" y="4205288"/>
            <a:ext cx="3092450" cy="614362"/>
            <a:chOff x="3476" y="2649"/>
            <a:chExt cx="1948" cy="387"/>
          </a:xfrm>
        </p:grpSpPr>
        <p:sp>
          <p:nvSpPr>
            <p:cNvPr id="174205" name="Text Box 37"/>
            <p:cNvSpPr txBox="1">
              <a:spLocks noChangeArrowheads="1"/>
            </p:cNvSpPr>
            <p:nvPr/>
          </p:nvSpPr>
          <p:spPr bwMode="auto">
            <a:xfrm>
              <a:off x="3504" y="2649"/>
              <a:ext cx="67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>
                  <a:latin typeface="Times New Roman" panose="02020603050405020304" pitchFamily="18" charset="0"/>
                </a:rPr>
                <a:t> </a:t>
              </a:r>
              <a:r>
                <a:rPr lang="en-US" altLang="zh-CN" sz="1800">
                  <a:latin typeface="Times New Roman" panose="02020603050405020304" pitchFamily="18" charset="0"/>
                </a:rPr>
                <a:t>1K</a:t>
              </a:r>
              <a:r>
                <a:rPr lang="en-US" altLang="zh-CN">
                  <a:latin typeface="Times New Roman" panose="02020603050405020304" pitchFamily="18" charset="0"/>
                </a:rPr>
                <a:t> </a:t>
              </a:r>
              <a:r>
                <a:rPr lang="en-US" altLang="zh-CN" sz="1600"/>
                <a:t>×</a:t>
              </a:r>
              <a:r>
                <a:rPr lang="en-US" altLang="zh-CN" sz="1800">
                  <a:latin typeface="Times New Roman" panose="02020603050405020304" pitchFamily="18" charset="0"/>
                </a:rPr>
                <a:t>4</a:t>
              </a:r>
              <a:r>
                <a:rPr lang="zh-CN" altLang="en-US" sz="1800">
                  <a:latin typeface="Times New Roman" panose="02020603050405020304" pitchFamily="18" charset="0"/>
                </a:rPr>
                <a:t>位</a:t>
              </a:r>
            </a:p>
          </p:txBody>
        </p:sp>
        <p:sp>
          <p:nvSpPr>
            <p:cNvPr id="174206" name="Rectangle 38"/>
            <p:cNvSpPr>
              <a:spLocks noChangeArrowheads="1"/>
            </p:cNvSpPr>
            <p:nvPr/>
          </p:nvSpPr>
          <p:spPr bwMode="auto">
            <a:xfrm>
              <a:off x="3476" y="2688"/>
              <a:ext cx="700" cy="305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74207" name="Text Box 39"/>
            <p:cNvSpPr txBox="1">
              <a:spLocks noChangeArrowheads="1"/>
            </p:cNvSpPr>
            <p:nvPr/>
          </p:nvSpPr>
          <p:spPr bwMode="auto">
            <a:xfrm>
              <a:off x="3600" y="2784"/>
              <a:ext cx="47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>
                  <a:latin typeface="Times New Roman" panose="02020603050405020304" pitchFamily="18" charset="0"/>
                </a:rPr>
                <a:t> </a:t>
              </a:r>
              <a:r>
                <a:rPr lang="en-US" altLang="zh-CN" sz="1800">
                  <a:latin typeface="Times New Roman" panose="02020603050405020304" pitchFamily="18" charset="0"/>
                </a:rPr>
                <a:t>RAM</a:t>
              </a:r>
            </a:p>
          </p:txBody>
        </p:sp>
        <p:sp>
          <p:nvSpPr>
            <p:cNvPr id="174208" name="Rectangle 40"/>
            <p:cNvSpPr>
              <a:spLocks noChangeArrowheads="1"/>
            </p:cNvSpPr>
            <p:nvPr/>
          </p:nvSpPr>
          <p:spPr bwMode="auto">
            <a:xfrm>
              <a:off x="4724" y="2697"/>
              <a:ext cx="700" cy="305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74209" name="Text Box 41"/>
            <p:cNvSpPr txBox="1">
              <a:spLocks noChangeArrowheads="1"/>
            </p:cNvSpPr>
            <p:nvPr/>
          </p:nvSpPr>
          <p:spPr bwMode="auto">
            <a:xfrm>
              <a:off x="4752" y="2670"/>
              <a:ext cx="66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1K</a:t>
              </a:r>
              <a:r>
                <a:rPr lang="en-US" altLang="zh-CN">
                  <a:latin typeface="Times New Roman" panose="02020603050405020304" pitchFamily="18" charset="0"/>
                </a:rPr>
                <a:t> </a:t>
              </a:r>
              <a:r>
                <a:rPr lang="en-US" altLang="zh-CN" sz="1600"/>
                <a:t>×</a:t>
              </a:r>
              <a:r>
                <a:rPr lang="en-US" altLang="zh-CN" sz="1800">
                  <a:latin typeface="Times New Roman" panose="02020603050405020304" pitchFamily="18" charset="0"/>
                </a:rPr>
                <a:t>4</a:t>
              </a:r>
              <a:r>
                <a:rPr lang="zh-CN" altLang="en-US" sz="1800">
                  <a:latin typeface="Times New Roman" panose="02020603050405020304" pitchFamily="18" charset="0"/>
                </a:rPr>
                <a:t>位</a:t>
              </a:r>
            </a:p>
          </p:txBody>
        </p:sp>
        <p:sp>
          <p:nvSpPr>
            <p:cNvPr id="174210" name="Text Box 42"/>
            <p:cNvSpPr txBox="1">
              <a:spLocks noChangeArrowheads="1"/>
            </p:cNvSpPr>
            <p:nvPr/>
          </p:nvSpPr>
          <p:spPr bwMode="auto">
            <a:xfrm>
              <a:off x="4848" y="2805"/>
              <a:ext cx="47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>
                  <a:latin typeface="Times New Roman" panose="02020603050405020304" pitchFamily="18" charset="0"/>
                </a:rPr>
                <a:t> </a:t>
              </a:r>
              <a:r>
                <a:rPr lang="en-US" altLang="zh-CN" sz="1800">
                  <a:latin typeface="Times New Roman" panose="02020603050405020304" pitchFamily="18" charset="0"/>
                </a:rPr>
                <a:t>RAM</a:t>
              </a:r>
            </a:p>
          </p:txBody>
        </p:sp>
      </p:grpSp>
      <p:grpSp>
        <p:nvGrpSpPr>
          <p:cNvPr id="10" name="Group 43"/>
          <p:cNvGrpSpPr/>
          <p:nvPr/>
        </p:nvGrpSpPr>
        <p:grpSpPr bwMode="auto">
          <a:xfrm>
            <a:off x="7672388" y="3530600"/>
            <a:ext cx="711200" cy="750888"/>
            <a:chOff x="4833" y="2224"/>
            <a:chExt cx="448" cy="473"/>
          </a:xfrm>
        </p:grpSpPr>
        <p:sp>
          <p:nvSpPr>
            <p:cNvPr id="174202" name="Freeform 44"/>
            <p:cNvSpPr/>
            <p:nvPr/>
          </p:nvSpPr>
          <p:spPr bwMode="auto">
            <a:xfrm>
              <a:off x="4833" y="2224"/>
              <a:ext cx="1" cy="473"/>
            </a:xfrm>
            <a:custGeom>
              <a:avLst/>
              <a:gdLst>
                <a:gd name="T0" fmla="*/ 0 w 1"/>
                <a:gd name="T1" fmla="*/ 0 h 473"/>
                <a:gd name="T2" fmla="*/ 0 w 1"/>
                <a:gd name="T3" fmla="*/ 473 h 473"/>
                <a:gd name="T4" fmla="*/ 0 60000 65536"/>
                <a:gd name="T5" fmla="*/ 0 60000 65536"/>
                <a:gd name="T6" fmla="*/ 0 w 1"/>
                <a:gd name="T7" fmla="*/ 0 h 473"/>
                <a:gd name="T8" fmla="*/ 1 w 1"/>
                <a:gd name="T9" fmla="*/ 473 h 47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73">
                  <a:moveTo>
                    <a:pt x="0" y="0"/>
                  </a:moveTo>
                  <a:lnTo>
                    <a:pt x="0" y="473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203" name="Freeform 45"/>
            <p:cNvSpPr/>
            <p:nvPr/>
          </p:nvSpPr>
          <p:spPr bwMode="auto">
            <a:xfrm>
              <a:off x="5280" y="2496"/>
              <a:ext cx="1" cy="198"/>
            </a:xfrm>
            <a:custGeom>
              <a:avLst/>
              <a:gdLst>
                <a:gd name="T0" fmla="*/ 0 w 1"/>
                <a:gd name="T1" fmla="*/ 0 h 198"/>
                <a:gd name="T2" fmla="*/ 0 w 1"/>
                <a:gd name="T3" fmla="*/ 198 h 198"/>
                <a:gd name="T4" fmla="*/ 0 60000 65536"/>
                <a:gd name="T5" fmla="*/ 0 60000 65536"/>
                <a:gd name="T6" fmla="*/ 0 w 1"/>
                <a:gd name="T7" fmla="*/ 0 h 198"/>
                <a:gd name="T8" fmla="*/ 1 w 1"/>
                <a:gd name="T9" fmla="*/ 198 h 19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98">
                  <a:moveTo>
                    <a:pt x="0" y="0"/>
                  </a:moveTo>
                  <a:lnTo>
                    <a:pt x="0" y="198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204" name="Text Box 46"/>
            <p:cNvSpPr txBox="1">
              <a:spLocks noChangeArrowheads="1"/>
            </p:cNvSpPr>
            <p:nvPr/>
          </p:nvSpPr>
          <p:spPr bwMode="auto">
            <a:xfrm>
              <a:off x="4876" y="2416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11" name="Group 47"/>
          <p:cNvGrpSpPr/>
          <p:nvPr/>
        </p:nvGrpSpPr>
        <p:grpSpPr bwMode="auto">
          <a:xfrm>
            <a:off x="3657600" y="3314700"/>
            <a:ext cx="844550" cy="927100"/>
            <a:chOff x="2304" y="2088"/>
            <a:chExt cx="532" cy="584"/>
          </a:xfrm>
        </p:grpSpPr>
        <p:sp>
          <p:nvSpPr>
            <p:cNvPr id="174199" name="Freeform 48"/>
            <p:cNvSpPr/>
            <p:nvPr/>
          </p:nvSpPr>
          <p:spPr bwMode="auto">
            <a:xfrm>
              <a:off x="2304" y="2088"/>
              <a:ext cx="2" cy="584"/>
            </a:xfrm>
            <a:custGeom>
              <a:avLst/>
              <a:gdLst>
                <a:gd name="T0" fmla="*/ 2 w 2"/>
                <a:gd name="T1" fmla="*/ 0 h 584"/>
                <a:gd name="T2" fmla="*/ 0 w 2"/>
                <a:gd name="T3" fmla="*/ 584 h 584"/>
                <a:gd name="T4" fmla="*/ 0 60000 65536"/>
                <a:gd name="T5" fmla="*/ 0 60000 65536"/>
                <a:gd name="T6" fmla="*/ 0 w 2"/>
                <a:gd name="T7" fmla="*/ 0 h 584"/>
                <a:gd name="T8" fmla="*/ 2 w 2"/>
                <a:gd name="T9" fmla="*/ 584 h 58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584">
                  <a:moveTo>
                    <a:pt x="2" y="0"/>
                  </a:moveTo>
                  <a:lnTo>
                    <a:pt x="0" y="584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200" name="Freeform 49"/>
            <p:cNvSpPr/>
            <p:nvPr/>
          </p:nvSpPr>
          <p:spPr bwMode="auto">
            <a:xfrm>
              <a:off x="2835" y="2496"/>
              <a:ext cx="1" cy="171"/>
            </a:xfrm>
            <a:custGeom>
              <a:avLst/>
              <a:gdLst>
                <a:gd name="T0" fmla="*/ 0 w 1"/>
                <a:gd name="T1" fmla="*/ 0 h 171"/>
                <a:gd name="T2" fmla="*/ 0 w 1"/>
                <a:gd name="T3" fmla="*/ 171 h 171"/>
                <a:gd name="T4" fmla="*/ 0 60000 65536"/>
                <a:gd name="T5" fmla="*/ 0 60000 65536"/>
                <a:gd name="T6" fmla="*/ 0 w 1"/>
                <a:gd name="T7" fmla="*/ 0 h 171"/>
                <a:gd name="T8" fmla="*/ 1 w 1"/>
                <a:gd name="T9" fmla="*/ 171 h 17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71">
                  <a:moveTo>
                    <a:pt x="0" y="0"/>
                  </a:moveTo>
                  <a:lnTo>
                    <a:pt x="0" y="171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201" name="Text Box 50"/>
            <p:cNvSpPr txBox="1">
              <a:spLocks noChangeArrowheads="1"/>
            </p:cNvSpPr>
            <p:nvPr/>
          </p:nvSpPr>
          <p:spPr bwMode="auto">
            <a:xfrm>
              <a:off x="2400" y="2416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12" name="Group 51"/>
          <p:cNvGrpSpPr/>
          <p:nvPr/>
        </p:nvGrpSpPr>
        <p:grpSpPr bwMode="auto">
          <a:xfrm>
            <a:off x="5689600" y="3529013"/>
            <a:ext cx="787400" cy="738187"/>
            <a:chOff x="3584" y="2223"/>
            <a:chExt cx="496" cy="465"/>
          </a:xfrm>
        </p:grpSpPr>
        <p:sp>
          <p:nvSpPr>
            <p:cNvPr id="174196" name="Freeform 52"/>
            <p:cNvSpPr/>
            <p:nvPr/>
          </p:nvSpPr>
          <p:spPr bwMode="auto">
            <a:xfrm>
              <a:off x="3584" y="2223"/>
              <a:ext cx="1" cy="459"/>
            </a:xfrm>
            <a:custGeom>
              <a:avLst/>
              <a:gdLst>
                <a:gd name="T0" fmla="*/ 0 w 1"/>
                <a:gd name="T1" fmla="*/ 0 h 459"/>
                <a:gd name="T2" fmla="*/ 0 w 1"/>
                <a:gd name="T3" fmla="*/ 459 h 459"/>
                <a:gd name="T4" fmla="*/ 0 60000 65536"/>
                <a:gd name="T5" fmla="*/ 0 60000 65536"/>
                <a:gd name="T6" fmla="*/ 0 w 1"/>
                <a:gd name="T7" fmla="*/ 0 h 459"/>
                <a:gd name="T8" fmla="*/ 1 w 1"/>
                <a:gd name="T9" fmla="*/ 459 h 45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59">
                  <a:moveTo>
                    <a:pt x="0" y="0"/>
                  </a:moveTo>
                  <a:lnTo>
                    <a:pt x="0" y="459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oval" w="sm" len="sm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197" name="Line 53"/>
            <p:cNvSpPr>
              <a:spLocks noChangeShapeType="1"/>
            </p:cNvSpPr>
            <p:nvPr/>
          </p:nvSpPr>
          <p:spPr bwMode="auto">
            <a:xfrm>
              <a:off x="4080" y="2496"/>
              <a:ext cx="0" cy="19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198" name="Text Box 54"/>
            <p:cNvSpPr txBox="1">
              <a:spLocks noChangeArrowheads="1"/>
            </p:cNvSpPr>
            <p:nvPr/>
          </p:nvSpPr>
          <p:spPr bwMode="auto">
            <a:xfrm>
              <a:off x="3648" y="2416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13" name="Group 55"/>
          <p:cNvGrpSpPr/>
          <p:nvPr/>
        </p:nvGrpSpPr>
        <p:grpSpPr bwMode="auto">
          <a:xfrm>
            <a:off x="6140450" y="1600200"/>
            <a:ext cx="641350" cy="762000"/>
            <a:chOff x="3868" y="1008"/>
            <a:chExt cx="472" cy="480"/>
          </a:xfrm>
        </p:grpSpPr>
        <p:sp>
          <p:nvSpPr>
            <p:cNvPr id="174191" name="Text Box 56"/>
            <p:cNvSpPr txBox="1">
              <a:spLocks noChangeArrowheads="1"/>
            </p:cNvSpPr>
            <p:nvPr/>
          </p:nvSpPr>
          <p:spPr bwMode="auto">
            <a:xfrm>
              <a:off x="3936" y="1065"/>
              <a:ext cx="35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&amp;</a:t>
              </a:r>
            </a:p>
          </p:txBody>
        </p:sp>
        <p:sp>
          <p:nvSpPr>
            <p:cNvPr id="174192" name="Rectangle 57"/>
            <p:cNvSpPr>
              <a:spLocks noChangeArrowheads="1"/>
            </p:cNvSpPr>
            <p:nvPr/>
          </p:nvSpPr>
          <p:spPr bwMode="auto">
            <a:xfrm>
              <a:off x="3936" y="1008"/>
              <a:ext cx="336" cy="480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74193" name="Oval 58"/>
            <p:cNvSpPr>
              <a:spLocks noChangeArrowheads="1"/>
            </p:cNvSpPr>
            <p:nvPr/>
          </p:nvSpPr>
          <p:spPr bwMode="auto">
            <a:xfrm>
              <a:off x="3868" y="1178"/>
              <a:ext cx="68" cy="6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74194" name="Oval 59"/>
            <p:cNvSpPr>
              <a:spLocks noChangeArrowheads="1"/>
            </p:cNvSpPr>
            <p:nvPr/>
          </p:nvSpPr>
          <p:spPr bwMode="auto">
            <a:xfrm>
              <a:off x="3868" y="1310"/>
              <a:ext cx="68" cy="6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74195" name="Oval 60"/>
            <p:cNvSpPr>
              <a:spLocks noChangeArrowheads="1"/>
            </p:cNvSpPr>
            <p:nvPr/>
          </p:nvSpPr>
          <p:spPr bwMode="auto">
            <a:xfrm>
              <a:off x="4272" y="1200"/>
              <a:ext cx="68" cy="6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grpSp>
        <p:nvGrpSpPr>
          <p:cNvPr id="14" name="Group 61"/>
          <p:cNvGrpSpPr/>
          <p:nvPr/>
        </p:nvGrpSpPr>
        <p:grpSpPr bwMode="auto">
          <a:xfrm>
            <a:off x="2362200" y="4205288"/>
            <a:ext cx="1219200" cy="366712"/>
            <a:chOff x="1488" y="2649"/>
            <a:chExt cx="768" cy="231"/>
          </a:xfrm>
        </p:grpSpPr>
        <p:sp>
          <p:nvSpPr>
            <p:cNvPr id="174189" name="Text Box 62"/>
            <p:cNvSpPr txBox="1">
              <a:spLocks noChangeArrowheads="1"/>
            </p:cNvSpPr>
            <p:nvPr/>
          </p:nvSpPr>
          <p:spPr bwMode="auto">
            <a:xfrm>
              <a:off x="1488" y="2649"/>
              <a:ext cx="7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PD/Progr</a:t>
              </a:r>
            </a:p>
          </p:txBody>
        </p:sp>
        <p:sp>
          <p:nvSpPr>
            <p:cNvPr id="174190" name="Line 63"/>
            <p:cNvSpPr>
              <a:spLocks noChangeShapeType="1"/>
            </p:cNvSpPr>
            <p:nvPr/>
          </p:nvSpPr>
          <p:spPr bwMode="auto">
            <a:xfrm>
              <a:off x="1539" y="2685"/>
              <a:ext cx="19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5" name="Group 64"/>
          <p:cNvGrpSpPr/>
          <p:nvPr/>
        </p:nvGrpSpPr>
        <p:grpSpPr bwMode="auto">
          <a:xfrm>
            <a:off x="4387850" y="1557338"/>
            <a:ext cx="1746250" cy="381000"/>
            <a:chOff x="2764" y="981"/>
            <a:chExt cx="1100" cy="240"/>
          </a:xfrm>
        </p:grpSpPr>
        <p:grpSp>
          <p:nvGrpSpPr>
            <p:cNvPr id="174184" name="Group 65"/>
            <p:cNvGrpSpPr/>
            <p:nvPr/>
          </p:nvGrpSpPr>
          <p:grpSpPr bwMode="auto">
            <a:xfrm>
              <a:off x="2826" y="981"/>
              <a:ext cx="1038" cy="231"/>
              <a:chOff x="2826" y="981"/>
              <a:chExt cx="1038" cy="231"/>
            </a:xfrm>
          </p:grpSpPr>
          <p:sp>
            <p:nvSpPr>
              <p:cNvPr id="174186" name="Freeform 66"/>
              <p:cNvSpPr/>
              <p:nvPr/>
            </p:nvSpPr>
            <p:spPr bwMode="auto">
              <a:xfrm>
                <a:off x="2826" y="1206"/>
                <a:ext cx="1038" cy="1"/>
              </a:xfrm>
              <a:custGeom>
                <a:avLst/>
                <a:gdLst>
                  <a:gd name="T0" fmla="*/ 1038 w 1038"/>
                  <a:gd name="T1" fmla="*/ 0 h 1"/>
                  <a:gd name="T2" fmla="*/ 0 w 1038"/>
                  <a:gd name="T3" fmla="*/ 0 h 1"/>
                  <a:gd name="T4" fmla="*/ 0 60000 65536"/>
                  <a:gd name="T5" fmla="*/ 0 60000 65536"/>
                  <a:gd name="T6" fmla="*/ 0 w 1038"/>
                  <a:gd name="T7" fmla="*/ 0 h 1"/>
                  <a:gd name="T8" fmla="*/ 1038 w 1038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38" h="1">
                    <a:moveTo>
                      <a:pt x="1038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187" name="Text Box 67"/>
              <p:cNvSpPr txBox="1">
                <a:spLocks noChangeArrowheads="1"/>
              </p:cNvSpPr>
              <p:nvPr/>
            </p:nvSpPr>
            <p:spPr bwMode="auto">
              <a:xfrm>
                <a:off x="2844" y="981"/>
                <a:ext cx="26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1800">
                    <a:latin typeface="Times New Roman" panose="02020603050405020304" pitchFamily="18" charset="0"/>
                  </a:rPr>
                  <a:t>Y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5</a:t>
                </a:r>
              </a:p>
            </p:txBody>
          </p:sp>
          <p:sp>
            <p:nvSpPr>
              <p:cNvPr id="174188" name="Line 68"/>
              <p:cNvSpPr>
                <a:spLocks noChangeShapeType="1"/>
              </p:cNvSpPr>
              <p:nvPr/>
            </p:nvSpPr>
            <p:spPr bwMode="auto">
              <a:xfrm>
                <a:off x="2876" y="1019"/>
                <a:ext cx="14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74185" name="Oval 69"/>
            <p:cNvSpPr>
              <a:spLocks noChangeArrowheads="1"/>
            </p:cNvSpPr>
            <p:nvPr/>
          </p:nvSpPr>
          <p:spPr bwMode="auto">
            <a:xfrm>
              <a:off x="2764" y="1153"/>
              <a:ext cx="68" cy="6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grpSp>
        <p:nvGrpSpPr>
          <p:cNvPr id="17" name="Group 70"/>
          <p:cNvGrpSpPr/>
          <p:nvPr/>
        </p:nvGrpSpPr>
        <p:grpSpPr bwMode="auto">
          <a:xfrm>
            <a:off x="4387850" y="2178050"/>
            <a:ext cx="903288" cy="2170113"/>
            <a:chOff x="2764" y="1372"/>
            <a:chExt cx="569" cy="1367"/>
          </a:xfrm>
        </p:grpSpPr>
        <p:grpSp>
          <p:nvGrpSpPr>
            <p:cNvPr id="174177" name="Group 71"/>
            <p:cNvGrpSpPr/>
            <p:nvPr/>
          </p:nvGrpSpPr>
          <p:grpSpPr bwMode="auto">
            <a:xfrm>
              <a:off x="2814" y="1401"/>
              <a:ext cx="519" cy="1338"/>
              <a:chOff x="2814" y="1401"/>
              <a:chExt cx="519" cy="1338"/>
            </a:xfrm>
          </p:grpSpPr>
          <p:grpSp>
            <p:nvGrpSpPr>
              <p:cNvPr id="174179" name="Group 72"/>
              <p:cNvGrpSpPr/>
              <p:nvPr/>
            </p:nvGrpSpPr>
            <p:grpSpPr bwMode="auto">
              <a:xfrm>
                <a:off x="2814" y="1401"/>
                <a:ext cx="519" cy="1338"/>
                <a:chOff x="2814" y="1401"/>
                <a:chExt cx="519" cy="1338"/>
              </a:xfrm>
            </p:grpSpPr>
            <p:sp>
              <p:nvSpPr>
                <p:cNvPr id="174182" name="Freeform 73"/>
                <p:cNvSpPr/>
                <p:nvPr/>
              </p:nvSpPr>
              <p:spPr bwMode="auto">
                <a:xfrm>
                  <a:off x="2814" y="1401"/>
                  <a:ext cx="519" cy="3"/>
                </a:xfrm>
                <a:custGeom>
                  <a:avLst/>
                  <a:gdLst>
                    <a:gd name="T0" fmla="*/ 0 w 519"/>
                    <a:gd name="T1" fmla="*/ 3 h 3"/>
                    <a:gd name="T2" fmla="*/ 519 w 519"/>
                    <a:gd name="T3" fmla="*/ 0 h 3"/>
                    <a:gd name="T4" fmla="*/ 0 60000 65536"/>
                    <a:gd name="T5" fmla="*/ 0 60000 65536"/>
                    <a:gd name="T6" fmla="*/ 0 w 519"/>
                    <a:gd name="T7" fmla="*/ 0 h 3"/>
                    <a:gd name="T8" fmla="*/ 519 w 519"/>
                    <a:gd name="T9" fmla="*/ 3 h 3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519" h="3">
                      <a:moveTo>
                        <a:pt x="0" y="3"/>
                      </a:moveTo>
                      <a:lnTo>
                        <a:pt x="519" y="0"/>
                      </a:lnTo>
                    </a:path>
                  </a:pathLst>
                </a:custGeom>
                <a:solidFill>
                  <a:srgbClr val="FFFFFF"/>
                </a:solidFill>
                <a:ln w="38100" cmpd="sng">
                  <a:solidFill>
                    <a:schemeClr val="tx1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74183" name="Freeform 74"/>
                <p:cNvSpPr/>
                <p:nvPr/>
              </p:nvSpPr>
              <p:spPr bwMode="auto">
                <a:xfrm>
                  <a:off x="3324" y="1402"/>
                  <a:ext cx="2" cy="1337"/>
                </a:xfrm>
                <a:custGeom>
                  <a:avLst/>
                  <a:gdLst>
                    <a:gd name="T0" fmla="*/ 2 w 2"/>
                    <a:gd name="T1" fmla="*/ 0 h 1337"/>
                    <a:gd name="T2" fmla="*/ 0 w 2"/>
                    <a:gd name="T3" fmla="*/ 1337 h 1337"/>
                    <a:gd name="T4" fmla="*/ 0 60000 65536"/>
                    <a:gd name="T5" fmla="*/ 0 60000 65536"/>
                    <a:gd name="T6" fmla="*/ 0 w 2"/>
                    <a:gd name="T7" fmla="*/ 0 h 1337"/>
                    <a:gd name="T8" fmla="*/ 2 w 2"/>
                    <a:gd name="T9" fmla="*/ 1337 h 1337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" h="1337">
                      <a:moveTo>
                        <a:pt x="2" y="0"/>
                      </a:moveTo>
                      <a:lnTo>
                        <a:pt x="0" y="1337"/>
                      </a:lnTo>
                    </a:path>
                  </a:pathLst>
                </a:custGeom>
                <a:solidFill>
                  <a:srgbClr val="FFFFFF"/>
                </a:solidFill>
                <a:ln w="38100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74180" name="Text Box 75"/>
              <p:cNvSpPr txBox="1">
                <a:spLocks noChangeArrowheads="1"/>
              </p:cNvSpPr>
              <p:nvPr/>
            </p:nvSpPr>
            <p:spPr bwMode="auto">
              <a:xfrm>
                <a:off x="2844" y="1464"/>
                <a:ext cx="26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1800">
                    <a:latin typeface="Times New Roman" panose="02020603050405020304" pitchFamily="18" charset="0"/>
                  </a:rPr>
                  <a:t>Y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sp>
            <p:nvSpPr>
              <p:cNvPr id="174181" name="Line 76"/>
              <p:cNvSpPr>
                <a:spLocks noChangeShapeType="1"/>
              </p:cNvSpPr>
              <p:nvPr/>
            </p:nvSpPr>
            <p:spPr bwMode="auto">
              <a:xfrm>
                <a:off x="2876" y="1490"/>
                <a:ext cx="14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74178" name="Oval 77"/>
            <p:cNvSpPr>
              <a:spLocks noChangeArrowheads="1"/>
            </p:cNvSpPr>
            <p:nvPr/>
          </p:nvSpPr>
          <p:spPr bwMode="auto">
            <a:xfrm>
              <a:off x="2764" y="1372"/>
              <a:ext cx="68" cy="6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grpSp>
        <p:nvGrpSpPr>
          <p:cNvPr id="20" name="Group 157"/>
          <p:cNvGrpSpPr/>
          <p:nvPr/>
        </p:nvGrpSpPr>
        <p:grpSpPr bwMode="auto">
          <a:xfrm>
            <a:off x="3276600" y="1295400"/>
            <a:ext cx="1109663" cy="1890713"/>
            <a:chOff x="2064" y="816"/>
            <a:chExt cx="699" cy="1191"/>
          </a:xfrm>
        </p:grpSpPr>
        <p:sp>
          <p:nvSpPr>
            <p:cNvPr id="174164" name="Rectangle 79"/>
            <p:cNvSpPr>
              <a:spLocks noChangeArrowheads="1"/>
            </p:cNvSpPr>
            <p:nvPr/>
          </p:nvSpPr>
          <p:spPr bwMode="auto">
            <a:xfrm>
              <a:off x="2144" y="816"/>
              <a:ext cx="619" cy="115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74165" name="Text Box 80"/>
            <p:cNvSpPr txBox="1">
              <a:spLocks noChangeArrowheads="1"/>
            </p:cNvSpPr>
            <p:nvPr/>
          </p:nvSpPr>
          <p:spPr bwMode="auto">
            <a:xfrm>
              <a:off x="2120" y="816"/>
              <a:ext cx="27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G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74166" name="Text Box 81"/>
            <p:cNvSpPr txBox="1">
              <a:spLocks noChangeArrowheads="1"/>
            </p:cNvSpPr>
            <p:nvPr/>
          </p:nvSpPr>
          <p:spPr bwMode="auto">
            <a:xfrm>
              <a:off x="2120" y="1409"/>
              <a:ext cx="22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C</a:t>
              </a:r>
            </a:p>
          </p:txBody>
        </p:sp>
        <p:sp>
          <p:nvSpPr>
            <p:cNvPr id="174167" name="Text Box 82"/>
            <p:cNvSpPr txBox="1">
              <a:spLocks noChangeArrowheads="1"/>
            </p:cNvSpPr>
            <p:nvPr/>
          </p:nvSpPr>
          <p:spPr bwMode="auto">
            <a:xfrm>
              <a:off x="2120" y="1593"/>
              <a:ext cx="21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B</a:t>
              </a:r>
            </a:p>
          </p:txBody>
        </p:sp>
        <p:sp>
          <p:nvSpPr>
            <p:cNvPr id="174168" name="Text Box 83"/>
            <p:cNvSpPr txBox="1">
              <a:spLocks noChangeArrowheads="1"/>
            </p:cNvSpPr>
            <p:nvPr/>
          </p:nvSpPr>
          <p:spPr bwMode="auto">
            <a:xfrm>
              <a:off x="2120" y="1776"/>
              <a:ext cx="22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</a:p>
          </p:txBody>
        </p:sp>
        <p:sp>
          <p:nvSpPr>
            <p:cNvPr id="174169" name="Oval 84"/>
            <p:cNvSpPr>
              <a:spLocks noChangeArrowheads="1"/>
            </p:cNvSpPr>
            <p:nvPr/>
          </p:nvSpPr>
          <p:spPr bwMode="auto">
            <a:xfrm>
              <a:off x="2064" y="1099"/>
              <a:ext cx="68" cy="6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74170" name="Oval 85"/>
            <p:cNvSpPr>
              <a:spLocks noChangeArrowheads="1"/>
            </p:cNvSpPr>
            <p:nvPr/>
          </p:nvSpPr>
          <p:spPr bwMode="auto">
            <a:xfrm>
              <a:off x="2064" y="1296"/>
              <a:ext cx="68" cy="68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grpSp>
          <p:nvGrpSpPr>
            <p:cNvPr id="174171" name="Group 156"/>
            <p:cNvGrpSpPr/>
            <p:nvPr/>
          </p:nvGrpSpPr>
          <p:grpSpPr bwMode="auto">
            <a:xfrm>
              <a:off x="2137" y="1205"/>
              <a:ext cx="340" cy="231"/>
              <a:chOff x="2137" y="1205"/>
              <a:chExt cx="340" cy="231"/>
            </a:xfrm>
          </p:grpSpPr>
          <p:sp>
            <p:nvSpPr>
              <p:cNvPr id="174175" name="Text Box 87"/>
              <p:cNvSpPr txBox="1">
                <a:spLocks noChangeArrowheads="1"/>
              </p:cNvSpPr>
              <p:nvPr/>
            </p:nvSpPr>
            <p:spPr bwMode="auto">
              <a:xfrm>
                <a:off x="2137" y="1205"/>
                <a:ext cx="34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1800">
                    <a:latin typeface="Times New Roman" panose="02020603050405020304" pitchFamily="18" charset="0"/>
                  </a:rPr>
                  <a:t>G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2B</a:t>
                </a:r>
              </a:p>
            </p:txBody>
          </p:sp>
          <p:sp>
            <p:nvSpPr>
              <p:cNvPr id="174176" name="Freeform 88"/>
              <p:cNvSpPr/>
              <p:nvPr/>
            </p:nvSpPr>
            <p:spPr bwMode="auto">
              <a:xfrm>
                <a:off x="2184" y="1255"/>
                <a:ext cx="120" cy="1"/>
              </a:xfrm>
              <a:custGeom>
                <a:avLst/>
                <a:gdLst>
                  <a:gd name="T0" fmla="*/ 0 w 207"/>
                  <a:gd name="T1" fmla="*/ 0 h 1"/>
                  <a:gd name="T2" fmla="*/ 1 w 207"/>
                  <a:gd name="T3" fmla="*/ 0 h 1"/>
                  <a:gd name="T4" fmla="*/ 0 60000 65536"/>
                  <a:gd name="T5" fmla="*/ 0 60000 65536"/>
                  <a:gd name="T6" fmla="*/ 0 w 207"/>
                  <a:gd name="T7" fmla="*/ 0 h 1"/>
                  <a:gd name="T8" fmla="*/ 207 w 20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07" h="1">
                    <a:moveTo>
                      <a:pt x="0" y="0"/>
                    </a:moveTo>
                    <a:lnTo>
                      <a:pt x="207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174172" name="Group 155"/>
            <p:cNvGrpSpPr/>
            <p:nvPr/>
          </p:nvGrpSpPr>
          <p:grpSpPr bwMode="auto">
            <a:xfrm>
              <a:off x="2132" y="1004"/>
              <a:ext cx="345" cy="231"/>
              <a:chOff x="2132" y="1004"/>
              <a:chExt cx="345" cy="231"/>
            </a:xfrm>
          </p:grpSpPr>
          <p:sp>
            <p:nvSpPr>
              <p:cNvPr id="174173" name="Text Box 90"/>
              <p:cNvSpPr txBox="1">
                <a:spLocks noChangeArrowheads="1"/>
              </p:cNvSpPr>
              <p:nvPr/>
            </p:nvSpPr>
            <p:spPr bwMode="auto">
              <a:xfrm>
                <a:off x="2132" y="1004"/>
                <a:ext cx="345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1800">
                    <a:latin typeface="Times New Roman" panose="02020603050405020304" pitchFamily="18" charset="0"/>
                  </a:rPr>
                  <a:t>G</a:t>
                </a:r>
                <a:r>
                  <a:rPr lang="en-US" altLang="zh-CN" sz="1800" baseline="-25000">
                    <a:latin typeface="Times New Roman" panose="02020603050405020304" pitchFamily="18" charset="0"/>
                  </a:rPr>
                  <a:t>2A</a:t>
                </a:r>
              </a:p>
            </p:txBody>
          </p:sp>
          <p:sp>
            <p:nvSpPr>
              <p:cNvPr id="174174" name="Freeform 91"/>
              <p:cNvSpPr/>
              <p:nvPr/>
            </p:nvSpPr>
            <p:spPr bwMode="auto">
              <a:xfrm>
                <a:off x="2184" y="1051"/>
                <a:ext cx="120" cy="1"/>
              </a:xfrm>
              <a:custGeom>
                <a:avLst/>
                <a:gdLst>
                  <a:gd name="T0" fmla="*/ 0 w 204"/>
                  <a:gd name="T1" fmla="*/ 0 h 1"/>
                  <a:gd name="T2" fmla="*/ 1 w 204"/>
                  <a:gd name="T3" fmla="*/ 0 h 1"/>
                  <a:gd name="T4" fmla="*/ 0 60000 65536"/>
                  <a:gd name="T5" fmla="*/ 0 60000 65536"/>
                  <a:gd name="T6" fmla="*/ 0 w 204"/>
                  <a:gd name="T7" fmla="*/ 0 h 1"/>
                  <a:gd name="T8" fmla="*/ 204 w 20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04" h="1">
                    <a:moveTo>
                      <a:pt x="0" y="0"/>
                    </a:moveTo>
                    <a:lnTo>
                      <a:pt x="204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grpSp>
        <p:nvGrpSpPr>
          <p:cNvPr id="23" name="Group 92"/>
          <p:cNvGrpSpPr/>
          <p:nvPr/>
        </p:nvGrpSpPr>
        <p:grpSpPr bwMode="auto">
          <a:xfrm>
            <a:off x="2209800" y="4999038"/>
            <a:ext cx="6737350" cy="919162"/>
            <a:chOff x="1392" y="3149"/>
            <a:chExt cx="4244" cy="579"/>
          </a:xfrm>
        </p:grpSpPr>
        <p:sp>
          <p:nvSpPr>
            <p:cNvPr id="174158" name="Line 93"/>
            <p:cNvSpPr>
              <a:spLocks noChangeShapeType="1"/>
            </p:cNvSpPr>
            <p:nvPr/>
          </p:nvSpPr>
          <p:spPr bwMode="auto">
            <a:xfrm>
              <a:off x="1392" y="3149"/>
              <a:ext cx="2873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159" name="Line 94"/>
            <p:cNvSpPr>
              <a:spLocks noChangeShapeType="1"/>
            </p:cNvSpPr>
            <p:nvPr/>
          </p:nvSpPr>
          <p:spPr bwMode="auto">
            <a:xfrm>
              <a:off x="1392" y="3725"/>
              <a:ext cx="424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160" name="Line 95"/>
            <p:cNvSpPr>
              <a:spLocks noChangeShapeType="1"/>
            </p:cNvSpPr>
            <p:nvPr/>
          </p:nvSpPr>
          <p:spPr bwMode="auto">
            <a:xfrm>
              <a:off x="1392" y="3363"/>
              <a:ext cx="2873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161" name="Line 96"/>
            <p:cNvSpPr>
              <a:spLocks noChangeShapeType="1"/>
            </p:cNvSpPr>
            <p:nvPr/>
          </p:nvSpPr>
          <p:spPr bwMode="auto">
            <a:xfrm>
              <a:off x="1392" y="3528"/>
              <a:ext cx="424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162" name="Text Box 97"/>
            <p:cNvSpPr txBox="1">
              <a:spLocks noChangeArrowheads="1"/>
            </p:cNvSpPr>
            <p:nvPr/>
          </p:nvSpPr>
          <p:spPr bwMode="auto">
            <a:xfrm>
              <a:off x="1516" y="3168"/>
              <a:ext cx="30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74163" name="Text Box 98"/>
            <p:cNvSpPr txBox="1">
              <a:spLocks noChangeArrowheads="1"/>
            </p:cNvSpPr>
            <p:nvPr/>
          </p:nvSpPr>
          <p:spPr bwMode="auto">
            <a:xfrm>
              <a:off x="1516" y="3536"/>
              <a:ext cx="30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24" name="Group 151"/>
          <p:cNvGrpSpPr/>
          <p:nvPr/>
        </p:nvGrpSpPr>
        <p:grpSpPr bwMode="auto">
          <a:xfrm>
            <a:off x="533400" y="1295400"/>
            <a:ext cx="1681163" cy="5257800"/>
            <a:chOff x="336" y="816"/>
            <a:chExt cx="1059" cy="3312"/>
          </a:xfrm>
        </p:grpSpPr>
        <p:sp>
          <p:nvSpPr>
            <p:cNvPr id="174140" name="Rectangle 100"/>
            <p:cNvSpPr>
              <a:spLocks noChangeArrowheads="1"/>
            </p:cNvSpPr>
            <p:nvPr/>
          </p:nvSpPr>
          <p:spPr bwMode="auto">
            <a:xfrm>
              <a:off x="344" y="816"/>
              <a:ext cx="1051" cy="331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74141" name="Freeform 101"/>
            <p:cNvSpPr/>
            <p:nvPr/>
          </p:nvSpPr>
          <p:spPr bwMode="auto">
            <a:xfrm>
              <a:off x="368" y="1425"/>
              <a:ext cx="474" cy="1"/>
            </a:xfrm>
            <a:custGeom>
              <a:avLst/>
              <a:gdLst>
                <a:gd name="T0" fmla="*/ 0 w 474"/>
                <a:gd name="T1" fmla="*/ 0 h 1"/>
                <a:gd name="T2" fmla="*/ 474 w 474"/>
                <a:gd name="T3" fmla="*/ 0 h 1"/>
                <a:gd name="T4" fmla="*/ 0 60000 65536"/>
                <a:gd name="T5" fmla="*/ 0 60000 65536"/>
                <a:gd name="T6" fmla="*/ 0 w 474"/>
                <a:gd name="T7" fmla="*/ 0 h 1"/>
                <a:gd name="T8" fmla="*/ 474 w 474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74" h="1">
                  <a:moveTo>
                    <a:pt x="0" y="0"/>
                  </a:moveTo>
                  <a:lnTo>
                    <a:pt x="474" y="0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chemeClr val="tx1"/>
              </a:solidFill>
              <a:prstDash val="solid"/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142" name="Text Box 102"/>
            <p:cNvSpPr txBox="1">
              <a:spLocks noChangeArrowheads="1"/>
            </p:cNvSpPr>
            <p:nvPr/>
          </p:nvSpPr>
          <p:spPr bwMode="auto">
            <a:xfrm>
              <a:off x="336" y="1392"/>
              <a:ext cx="56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MREQ</a:t>
              </a:r>
            </a:p>
          </p:txBody>
        </p:sp>
        <p:sp>
          <p:nvSpPr>
            <p:cNvPr id="174143" name="Text Box 103"/>
            <p:cNvSpPr txBox="1">
              <a:spLocks noChangeArrowheads="1"/>
            </p:cNvSpPr>
            <p:nvPr/>
          </p:nvSpPr>
          <p:spPr bwMode="auto">
            <a:xfrm>
              <a:off x="1008" y="816"/>
              <a:ext cx="31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14</a:t>
              </a:r>
            </a:p>
          </p:txBody>
        </p:sp>
        <p:sp>
          <p:nvSpPr>
            <p:cNvPr id="174144" name="Text Box 104"/>
            <p:cNvSpPr txBox="1">
              <a:spLocks noChangeArrowheads="1"/>
            </p:cNvSpPr>
            <p:nvPr/>
          </p:nvSpPr>
          <p:spPr bwMode="auto">
            <a:xfrm>
              <a:off x="1008" y="1008"/>
              <a:ext cx="31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15</a:t>
              </a:r>
            </a:p>
          </p:txBody>
        </p:sp>
        <p:sp>
          <p:nvSpPr>
            <p:cNvPr id="174145" name="Text Box 105"/>
            <p:cNvSpPr txBox="1">
              <a:spLocks noChangeArrowheads="1"/>
            </p:cNvSpPr>
            <p:nvPr/>
          </p:nvSpPr>
          <p:spPr bwMode="auto">
            <a:xfrm>
              <a:off x="1008" y="1342"/>
              <a:ext cx="31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13</a:t>
              </a:r>
            </a:p>
          </p:txBody>
        </p:sp>
        <p:sp>
          <p:nvSpPr>
            <p:cNvPr id="174146" name="Text Box 106"/>
            <p:cNvSpPr txBox="1">
              <a:spLocks noChangeArrowheads="1"/>
            </p:cNvSpPr>
            <p:nvPr/>
          </p:nvSpPr>
          <p:spPr bwMode="auto">
            <a:xfrm>
              <a:off x="1008" y="1534"/>
              <a:ext cx="31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12</a:t>
              </a:r>
            </a:p>
          </p:txBody>
        </p:sp>
        <p:sp>
          <p:nvSpPr>
            <p:cNvPr id="174147" name="Text Box 107"/>
            <p:cNvSpPr txBox="1">
              <a:spLocks noChangeArrowheads="1"/>
            </p:cNvSpPr>
            <p:nvPr/>
          </p:nvSpPr>
          <p:spPr bwMode="auto">
            <a:xfrm>
              <a:off x="1008" y="1726"/>
              <a:ext cx="31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174148" name="Text Box 108"/>
            <p:cNvSpPr txBox="1">
              <a:spLocks noChangeArrowheads="1"/>
            </p:cNvSpPr>
            <p:nvPr/>
          </p:nvSpPr>
          <p:spPr bwMode="auto">
            <a:xfrm>
              <a:off x="1008" y="1918"/>
              <a:ext cx="31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174149" name="Text Box 109"/>
            <p:cNvSpPr txBox="1">
              <a:spLocks noChangeArrowheads="1"/>
            </p:cNvSpPr>
            <p:nvPr/>
          </p:nvSpPr>
          <p:spPr bwMode="auto">
            <a:xfrm>
              <a:off x="1008" y="2088"/>
              <a:ext cx="2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9</a:t>
              </a:r>
            </a:p>
          </p:txBody>
        </p:sp>
        <p:sp>
          <p:nvSpPr>
            <p:cNvPr id="174150" name="Text Box 110"/>
            <p:cNvSpPr txBox="1">
              <a:spLocks noChangeArrowheads="1"/>
            </p:cNvSpPr>
            <p:nvPr/>
          </p:nvSpPr>
          <p:spPr bwMode="auto">
            <a:xfrm>
              <a:off x="1008" y="2361"/>
              <a:ext cx="2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A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74151" name="Text Box 111"/>
            <p:cNvSpPr txBox="1">
              <a:spLocks noChangeArrowheads="1"/>
            </p:cNvSpPr>
            <p:nvPr/>
          </p:nvSpPr>
          <p:spPr bwMode="auto">
            <a:xfrm>
              <a:off x="1030" y="2251"/>
              <a:ext cx="308" cy="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74152" name="Text Box 112"/>
            <p:cNvSpPr txBox="1">
              <a:spLocks noChangeArrowheads="1"/>
            </p:cNvSpPr>
            <p:nvPr/>
          </p:nvSpPr>
          <p:spPr bwMode="auto">
            <a:xfrm>
              <a:off x="1056" y="3000"/>
              <a:ext cx="2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D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7</a:t>
              </a:r>
            </a:p>
          </p:txBody>
        </p:sp>
        <p:sp>
          <p:nvSpPr>
            <p:cNvPr id="174153" name="Text Box 113"/>
            <p:cNvSpPr txBox="1">
              <a:spLocks noChangeArrowheads="1"/>
            </p:cNvSpPr>
            <p:nvPr/>
          </p:nvSpPr>
          <p:spPr bwMode="auto">
            <a:xfrm>
              <a:off x="1056" y="3192"/>
              <a:ext cx="2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D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4</a:t>
              </a:r>
            </a:p>
          </p:txBody>
        </p:sp>
        <p:sp>
          <p:nvSpPr>
            <p:cNvPr id="174154" name="Text Box 114"/>
            <p:cNvSpPr txBox="1">
              <a:spLocks noChangeArrowheads="1"/>
            </p:cNvSpPr>
            <p:nvPr/>
          </p:nvSpPr>
          <p:spPr bwMode="auto">
            <a:xfrm>
              <a:off x="1056" y="3384"/>
              <a:ext cx="2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D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174155" name="Text Box 115"/>
            <p:cNvSpPr txBox="1">
              <a:spLocks noChangeArrowheads="1"/>
            </p:cNvSpPr>
            <p:nvPr/>
          </p:nvSpPr>
          <p:spPr bwMode="auto">
            <a:xfrm>
              <a:off x="1056" y="3576"/>
              <a:ext cx="2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D</a:t>
              </a:r>
              <a:r>
                <a:rPr lang="en-US" altLang="zh-CN" sz="1800" baseline="-250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74156" name="Text Box 116"/>
            <p:cNvSpPr txBox="1">
              <a:spLocks noChangeArrowheads="1"/>
            </p:cNvSpPr>
            <p:nvPr/>
          </p:nvSpPr>
          <p:spPr bwMode="auto">
            <a:xfrm>
              <a:off x="1008" y="3792"/>
              <a:ext cx="36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WR</a:t>
              </a:r>
            </a:p>
          </p:txBody>
        </p:sp>
        <p:sp>
          <p:nvSpPr>
            <p:cNvPr id="174157" name="Freeform 117"/>
            <p:cNvSpPr/>
            <p:nvPr/>
          </p:nvSpPr>
          <p:spPr bwMode="auto">
            <a:xfrm>
              <a:off x="1056" y="3834"/>
              <a:ext cx="243" cy="1"/>
            </a:xfrm>
            <a:custGeom>
              <a:avLst/>
              <a:gdLst>
                <a:gd name="T0" fmla="*/ 0 w 243"/>
                <a:gd name="T1" fmla="*/ 1 h 1"/>
                <a:gd name="T2" fmla="*/ 243 w 243"/>
                <a:gd name="T3" fmla="*/ 0 h 1"/>
                <a:gd name="T4" fmla="*/ 0 60000 65536"/>
                <a:gd name="T5" fmla="*/ 0 60000 65536"/>
                <a:gd name="T6" fmla="*/ 0 w 243"/>
                <a:gd name="T7" fmla="*/ 0 h 1"/>
                <a:gd name="T8" fmla="*/ 243 w 24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43" h="1">
                  <a:moveTo>
                    <a:pt x="0" y="1"/>
                  </a:moveTo>
                  <a:lnTo>
                    <a:pt x="243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5" name="Group 118"/>
          <p:cNvGrpSpPr/>
          <p:nvPr/>
        </p:nvGrpSpPr>
        <p:grpSpPr bwMode="auto">
          <a:xfrm>
            <a:off x="7672388" y="4752975"/>
            <a:ext cx="711200" cy="1162050"/>
            <a:chOff x="4833" y="2994"/>
            <a:chExt cx="448" cy="732"/>
          </a:xfrm>
        </p:grpSpPr>
        <p:sp>
          <p:nvSpPr>
            <p:cNvPr id="174137" name="Freeform 119"/>
            <p:cNvSpPr/>
            <p:nvPr/>
          </p:nvSpPr>
          <p:spPr bwMode="auto">
            <a:xfrm>
              <a:off x="4833" y="2994"/>
              <a:ext cx="1" cy="510"/>
            </a:xfrm>
            <a:custGeom>
              <a:avLst/>
              <a:gdLst>
                <a:gd name="T0" fmla="*/ 0 w 1"/>
                <a:gd name="T1" fmla="*/ 0 h 510"/>
                <a:gd name="T2" fmla="*/ 1 w 1"/>
                <a:gd name="T3" fmla="*/ 510 h 510"/>
                <a:gd name="T4" fmla="*/ 0 60000 65536"/>
                <a:gd name="T5" fmla="*/ 0 60000 65536"/>
                <a:gd name="T6" fmla="*/ 0 w 1"/>
                <a:gd name="T7" fmla="*/ 0 h 510"/>
                <a:gd name="T8" fmla="*/ 1 w 1"/>
                <a:gd name="T9" fmla="*/ 510 h 51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10">
                  <a:moveTo>
                    <a:pt x="0" y="0"/>
                  </a:moveTo>
                  <a:lnTo>
                    <a:pt x="1" y="51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none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138" name="Freeform 120"/>
            <p:cNvSpPr/>
            <p:nvPr/>
          </p:nvSpPr>
          <p:spPr bwMode="auto">
            <a:xfrm>
              <a:off x="5280" y="3000"/>
              <a:ext cx="1" cy="726"/>
            </a:xfrm>
            <a:custGeom>
              <a:avLst/>
              <a:gdLst>
                <a:gd name="T0" fmla="*/ 0 w 1"/>
                <a:gd name="T1" fmla="*/ 0 h 726"/>
                <a:gd name="T2" fmla="*/ 0 w 1"/>
                <a:gd name="T3" fmla="*/ 726 h 726"/>
                <a:gd name="T4" fmla="*/ 0 60000 65536"/>
                <a:gd name="T5" fmla="*/ 0 60000 65536"/>
                <a:gd name="T6" fmla="*/ 0 w 1"/>
                <a:gd name="T7" fmla="*/ 0 h 726"/>
                <a:gd name="T8" fmla="*/ 1 w 1"/>
                <a:gd name="T9" fmla="*/ 726 h 72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726">
                  <a:moveTo>
                    <a:pt x="0" y="0"/>
                  </a:moveTo>
                  <a:lnTo>
                    <a:pt x="0" y="72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none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139" name="Text Box 121"/>
            <p:cNvSpPr txBox="1">
              <a:spLocks noChangeArrowheads="1"/>
            </p:cNvSpPr>
            <p:nvPr/>
          </p:nvSpPr>
          <p:spPr bwMode="auto">
            <a:xfrm>
              <a:off x="4876" y="3069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26" name="Group 122"/>
          <p:cNvGrpSpPr/>
          <p:nvPr/>
        </p:nvGrpSpPr>
        <p:grpSpPr bwMode="auto">
          <a:xfrm>
            <a:off x="5689600" y="4616450"/>
            <a:ext cx="788988" cy="717550"/>
            <a:chOff x="3584" y="2908"/>
            <a:chExt cx="497" cy="452"/>
          </a:xfrm>
        </p:grpSpPr>
        <p:sp>
          <p:nvSpPr>
            <p:cNvPr id="174134" name="Freeform 123"/>
            <p:cNvSpPr/>
            <p:nvPr/>
          </p:nvSpPr>
          <p:spPr bwMode="auto">
            <a:xfrm>
              <a:off x="3584" y="2994"/>
              <a:ext cx="1" cy="150"/>
            </a:xfrm>
            <a:custGeom>
              <a:avLst/>
              <a:gdLst>
                <a:gd name="T0" fmla="*/ 0 w 1"/>
                <a:gd name="T1" fmla="*/ 0 h 150"/>
                <a:gd name="T2" fmla="*/ 1 w 1"/>
                <a:gd name="T3" fmla="*/ 150 h 150"/>
                <a:gd name="T4" fmla="*/ 0 60000 65536"/>
                <a:gd name="T5" fmla="*/ 0 60000 65536"/>
                <a:gd name="T6" fmla="*/ 0 w 1"/>
                <a:gd name="T7" fmla="*/ 0 h 150"/>
                <a:gd name="T8" fmla="*/ 1 w 1"/>
                <a:gd name="T9" fmla="*/ 150 h 1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50">
                  <a:moveTo>
                    <a:pt x="0" y="0"/>
                  </a:moveTo>
                  <a:lnTo>
                    <a:pt x="1" y="1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135" name="Freeform 124"/>
            <p:cNvSpPr/>
            <p:nvPr/>
          </p:nvSpPr>
          <p:spPr bwMode="auto">
            <a:xfrm>
              <a:off x="4080" y="2994"/>
              <a:ext cx="1" cy="366"/>
            </a:xfrm>
            <a:custGeom>
              <a:avLst/>
              <a:gdLst>
                <a:gd name="T0" fmla="*/ 0 w 1"/>
                <a:gd name="T1" fmla="*/ 0 h 366"/>
                <a:gd name="T2" fmla="*/ 0 w 1"/>
                <a:gd name="T3" fmla="*/ 366 h 366"/>
                <a:gd name="T4" fmla="*/ 0 60000 65536"/>
                <a:gd name="T5" fmla="*/ 0 60000 65536"/>
                <a:gd name="T6" fmla="*/ 0 w 1"/>
                <a:gd name="T7" fmla="*/ 0 h 366"/>
                <a:gd name="T8" fmla="*/ 1 w 1"/>
                <a:gd name="T9" fmla="*/ 366 h 36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366">
                  <a:moveTo>
                    <a:pt x="0" y="0"/>
                  </a:moveTo>
                  <a:lnTo>
                    <a:pt x="0" y="36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136" name="Text Box 125"/>
            <p:cNvSpPr txBox="1">
              <a:spLocks noChangeArrowheads="1"/>
            </p:cNvSpPr>
            <p:nvPr/>
          </p:nvSpPr>
          <p:spPr bwMode="auto">
            <a:xfrm>
              <a:off x="3648" y="2908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27" name="Group 126"/>
          <p:cNvGrpSpPr/>
          <p:nvPr/>
        </p:nvGrpSpPr>
        <p:grpSpPr bwMode="auto">
          <a:xfrm>
            <a:off x="3657600" y="4616450"/>
            <a:ext cx="844550" cy="1270000"/>
            <a:chOff x="2304" y="2908"/>
            <a:chExt cx="532" cy="800"/>
          </a:xfrm>
        </p:grpSpPr>
        <p:sp>
          <p:nvSpPr>
            <p:cNvPr id="174131" name="Line 127"/>
            <p:cNvSpPr>
              <a:spLocks noChangeShapeType="1"/>
            </p:cNvSpPr>
            <p:nvPr/>
          </p:nvSpPr>
          <p:spPr bwMode="auto">
            <a:xfrm>
              <a:off x="2304" y="2976"/>
              <a:ext cx="0" cy="16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132" name="Text Box 128"/>
            <p:cNvSpPr txBox="1">
              <a:spLocks noChangeArrowheads="1"/>
            </p:cNvSpPr>
            <p:nvPr/>
          </p:nvSpPr>
          <p:spPr bwMode="auto">
            <a:xfrm>
              <a:off x="2400" y="2908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74133" name="Freeform 129"/>
            <p:cNvSpPr/>
            <p:nvPr/>
          </p:nvSpPr>
          <p:spPr bwMode="auto">
            <a:xfrm>
              <a:off x="2835" y="2976"/>
              <a:ext cx="1" cy="732"/>
            </a:xfrm>
            <a:custGeom>
              <a:avLst/>
              <a:gdLst>
                <a:gd name="T0" fmla="*/ 0 w 1"/>
                <a:gd name="T1" fmla="*/ 0 h 732"/>
                <a:gd name="T2" fmla="*/ 0 w 1"/>
                <a:gd name="T3" fmla="*/ 732 h 732"/>
                <a:gd name="T4" fmla="*/ 0 60000 65536"/>
                <a:gd name="T5" fmla="*/ 0 60000 65536"/>
                <a:gd name="T6" fmla="*/ 0 w 1"/>
                <a:gd name="T7" fmla="*/ 0 h 732"/>
                <a:gd name="T8" fmla="*/ 1 w 1"/>
                <a:gd name="T9" fmla="*/ 732 h 73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732">
                  <a:moveTo>
                    <a:pt x="0" y="0"/>
                  </a:moveTo>
                  <a:lnTo>
                    <a:pt x="0" y="73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 type="none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28" name="Group 130"/>
          <p:cNvGrpSpPr/>
          <p:nvPr/>
        </p:nvGrpSpPr>
        <p:grpSpPr bwMode="auto">
          <a:xfrm>
            <a:off x="2209800" y="3324225"/>
            <a:ext cx="6396038" cy="627063"/>
            <a:chOff x="1392" y="2094"/>
            <a:chExt cx="4029" cy="395"/>
          </a:xfrm>
        </p:grpSpPr>
        <p:sp>
          <p:nvSpPr>
            <p:cNvPr id="174126" name="Freeform 131"/>
            <p:cNvSpPr/>
            <p:nvPr/>
          </p:nvSpPr>
          <p:spPr bwMode="auto">
            <a:xfrm>
              <a:off x="1392" y="2094"/>
              <a:ext cx="2265" cy="1"/>
            </a:xfrm>
            <a:custGeom>
              <a:avLst/>
              <a:gdLst>
                <a:gd name="T0" fmla="*/ 0 w 2265"/>
                <a:gd name="T1" fmla="*/ 0 h 1"/>
                <a:gd name="T2" fmla="*/ 2265 w 2265"/>
                <a:gd name="T3" fmla="*/ 0 h 1"/>
                <a:gd name="T4" fmla="*/ 0 60000 65536"/>
                <a:gd name="T5" fmla="*/ 0 60000 65536"/>
                <a:gd name="T6" fmla="*/ 0 w 2265"/>
                <a:gd name="T7" fmla="*/ 0 h 1"/>
                <a:gd name="T8" fmla="*/ 2265 w 226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65" h="1">
                  <a:moveTo>
                    <a:pt x="0" y="0"/>
                  </a:moveTo>
                  <a:lnTo>
                    <a:pt x="2265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74127" name="Group 132"/>
            <p:cNvGrpSpPr/>
            <p:nvPr/>
          </p:nvGrpSpPr>
          <p:grpSpPr bwMode="auto">
            <a:xfrm>
              <a:off x="1392" y="2229"/>
              <a:ext cx="4029" cy="260"/>
              <a:chOff x="1392" y="2229"/>
              <a:chExt cx="4029" cy="260"/>
            </a:xfrm>
          </p:grpSpPr>
          <p:sp>
            <p:nvSpPr>
              <p:cNvPr id="174128" name="Freeform 133"/>
              <p:cNvSpPr/>
              <p:nvPr/>
            </p:nvSpPr>
            <p:spPr bwMode="auto">
              <a:xfrm>
                <a:off x="1395" y="2229"/>
                <a:ext cx="4026" cy="5"/>
              </a:xfrm>
              <a:custGeom>
                <a:avLst/>
                <a:gdLst>
                  <a:gd name="T0" fmla="*/ 0 w 4026"/>
                  <a:gd name="T1" fmla="*/ 0 h 5"/>
                  <a:gd name="T2" fmla="*/ 4026 w 4026"/>
                  <a:gd name="T3" fmla="*/ 5 h 5"/>
                  <a:gd name="T4" fmla="*/ 0 60000 65536"/>
                  <a:gd name="T5" fmla="*/ 0 60000 65536"/>
                  <a:gd name="T6" fmla="*/ 0 w 4026"/>
                  <a:gd name="T7" fmla="*/ 0 h 5"/>
                  <a:gd name="T8" fmla="*/ 4026 w 4026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026" h="5">
                    <a:moveTo>
                      <a:pt x="0" y="0"/>
                    </a:moveTo>
                    <a:lnTo>
                      <a:pt x="4026" y="5"/>
                    </a:lnTo>
                  </a:path>
                </a:pathLst>
              </a:custGeom>
              <a:solidFill>
                <a:srgbClr val="FFFFFF"/>
              </a:solidFill>
              <a:ln w="38100" cmpd="sng">
                <a:solidFill>
                  <a:schemeClr val="tx1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129" name="Line 134"/>
              <p:cNvSpPr>
                <a:spLocks noChangeShapeType="1"/>
              </p:cNvSpPr>
              <p:nvPr/>
            </p:nvSpPr>
            <p:spPr bwMode="auto">
              <a:xfrm>
                <a:off x="1392" y="2488"/>
                <a:ext cx="4029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130" name="Text Box 135"/>
              <p:cNvSpPr txBox="1">
                <a:spLocks noChangeArrowheads="1"/>
              </p:cNvSpPr>
              <p:nvPr/>
            </p:nvSpPr>
            <p:spPr bwMode="auto">
              <a:xfrm>
                <a:off x="1516" y="2276"/>
                <a:ext cx="30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</p:grpSp>
      <p:sp>
        <p:nvSpPr>
          <p:cNvPr id="174111" name="Text Box 136"/>
          <p:cNvSpPr txBox="1">
            <a:spLocks noChangeArrowheads="1"/>
          </p:cNvSpPr>
          <p:nvPr/>
        </p:nvSpPr>
        <p:spPr bwMode="auto">
          <a:xfrm>
            <a:off x="533400" y="304800"/>
            <a:ext cx="79248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例 4.1 </a:t>
            </a:r>
            <a:r>
              <a:rPr lang="zh-CN" altLang="en-US" sz="3200">
                <a:latin typeface="Times New Roman" panose="02020603050405020304" pitchFamily="18" charset="0"/>
              </a:rPr>
              <a:t> </a:t>
            </a:r>
            <a:r>
              <a:rPr lang="en-US" altLang="zh-CN" sz="3200">
                <a:latin typeface="Times New Roman" panose="02020603050405020304" pitchFamily="18" charset="0"/>
              </a:rPr>
              <a:t>CPU </a:t>
            </a:r>
            <a:r>
              <a:rPr lang="zh-CN" altLang="en-US" sz="3200">
                <a:latin typeface="Times New Roman" panose="02020603050405020304" pitchFamily="18" charset="0"/>
              </a:rPr>
              <a:t>与存储器的连接图</a:t>
            </a:r>
          </a:p>
        </p:txBody>
      </p:sp>
      <p:sp>
        <p:nvSpPr>
          <p:cNvPr id="263305" name="Rectangle 137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grpSp>
        <p:nvGrpSpPr>
          <p:cNvPr id="30" name="Group 138"/>
          <p:cNvGrpSpPr/>
          <p:nvPr/>
        </p:nvGrpSpPr>
        <p:grpSpPr bwMode="auto">
          <a:xfrm>
            <a:off x="3657600" y="4616450"/>
            <a:ext cx="854075" cy="1308100"/>
            <a:chOff x="2304" y="2908"/>
            <a:chExt cx="538" cy="824"/>
          </a:xfrm>
        </p:grpSpPr>
        <p:sp>
          <p:nvSpPr>
            <p:cNvPr id="174123" name="Freeform 139"/>
            <p:cNvSpPr/>
            <p:nvPr/>
          </p:nvSpPr>
          <p:spPr bwMode="auto">
            <a:xfrm>
              <a:off x="2304" y="2979"/>
              <a:ext cx="3" cy="195"/>
            </a:xfrm>
            <a:custGeom>
              <a:avLst/>
              <a:gdLst>
                <a:gd name="T0" fmla="*/ 3 w 3"/>
                <a:gd name="T1" fmla="*/ 0 h 195"/>
                <a:gd name="T2" fmla="*/ 0 w 3"/>
                <a:gd name="T3" fmla="*/ 195 h 195"/>
                <a:gd name="T4" fmla="*/ 0 60000 65536"/>
                <a:gd name="T5" fmla="*/ 0 60000 65536"/>
                <a:gd name="T6" fmla="*/ 0 w 3"/>
                <a:gd name="T7" fmla="*/ 0 h 195"/>
                <a:gd name="T8" fmla="*/ 3 w 3"/>
                <a:gd name="T9" fmla="*/ 195 h 19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" h="195">
                  <a:moveTo>
                    <a:pt x="3" y="0"/>
                  </a:moveTo>
                  <a:lnTo>
                    <a:pt x="0" y="195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124" name="Text Box 140"/>
            <p:cNvSpPr txBox="1">
              <a:spLocks noChangeArrowheads="1"/>
            </p:cNvSpPr>
            <p:nvPr/>
          </p:nvSpPr>
          <p:spPr bwMode="auto">
            <a:xfrm>
              <a:off x="2400" y="2908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74125" name="Freeform 141"/>
            <p:cNvSpPr/>
            <p:nvPr/>
          </p:nvSpPr>
          <p:spPr bwMode="auto">
            <a:xfrm>
              <a:off x="2841" y="2979"/>
              <a:ext cx="1" cy="753"/>
            </a:xfrm>
            <a:custGeom>
              <a:avLst/>
              <a:gdLst>
                <a:gd name="T0" fmla="*/ 0 w 1"/>
                <a:gd name="T1" fmla="*/ 0 h 753"/>
                <a:gd name="T2" fmla="*/ 0 w 1"/>
                <a:gd name="T3" fmla="*/ 753 h 753"/>
                <a:gd name="T4" fmla="*/ 0 60000 65536"/>
                <a:gd name="T5" fmla="*/ 0 60000 65536"/>
                <a:gd name="T6" fmla="*/ 0 w 1"/>
                <a:gd name="T7" fmla="*/ 0 h 753"/>
                <a:gd name="T8" fmla="*/ 1 w 1"/>
                <a:gd name="T9" fmla="*/ 753 h 75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753">
                  <a:moveTo>
                    <a:pt x="0" y="0"/>
                  </a:moveTo>
                  <a:lnTo>
                    <a:pt x="0" y="753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none" w="med" len="med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31" name="Group 142"/>
          <p:cNvGrpSpPr/>
          <p:nvPr/>
        </p:nvGrpSpPr>
        <p:grpSpPr bwMode="auto">
          <a:xfrm>
            <a:off x="5689600" y="4616450"/>
            <a:ext cx="782638" cy="765175"/>
            <a:chOff x="3584" y="2908"/>
            <a:chExt cx="493" cy="482"/>
          </a:xfrm>
        </p:grpSpPr>
        <p:sp>
          <p:nvSpPr>
            <p:cNvPr id="174120" name="Freeform 143"/>
            <p:cNvSpPr/>
            <p:nvPr/>
          </p:nvSpPr>
          <p:spPr bwMode="auto">
            <a:xfrm>
              <a:off x="3584" y="2988"/>
              <a:ext cx="1" cy="198"/>
            </a:xfrm>
            <a:custGeom>
              <a:avLst/>
              <a:gdLst>
                <a:gd name="T0" fmla="*/ 0 w 1"/>
                <a:gd name="T1" fmla="*/ 0 h 198"/>
                <a:gd name="T2" fmla="*/ 0 w 1"/>
                <a:gd name="T3" fmla="*/ 198 h 198"/>
                <a:gd name="T4" fmla="*/ 0 60000 65536"/>
                <a:gd name="T5" fmla="*/ 0 60000 65536"/>
                <a:gd name="T6" fmla="*/ 0 w 1"/>
                <a:gd name="T7" fmla="*/ 0 h 198"/>
                <a:gd name="T8" fmla="*/ 1 w 1"/>
                <a:gd name="T9" fmla="*/ 198 h 19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98">
                  <a:moveTo>
                    <a:pt x="0" y="0"/>
                  </a:moveTo>
                  <a:lnTo>
                    <a:pt x="0" y="198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121" name="Text Box 144"/>
            <p:cNvSpPr txBox="1">
              <a:spLocks noChangeArrowheads="1"/>
            </p:cNvSpPr>
            <p:nvPr/>
          </p:nvSpPr>
          <p:spPr bwMode="auto">
            <a:xfrm>
              <a:off x="3648" y="2908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74122" name="Freeform 145"/>
            <p:cNvSpPr/>
            <p:nvPr/>
          </p:nvSpPr>
          <p:spPr bwMode="auto">
            <a:xfrm>
              <a:off x="4074" y="2991"/>
              <a:ext cx="3" cy="399"/>
            </a:xfrm>
            <a:custGeom>
              <a:avLst/>
              <a:gdLst>
                <a:gd name="T0" fmla="*/ 3 w 3"/>
                <a:gd name="T1" fmla="*/ 0 h 375"/>
                <a:gd name="T2" fmla="*/ 0 w 3"/>
                <a:gd name="T3" fmla="*/ 896 h 375"/>
                <a:gd name="T4" fmla="*/ 0 60000 65536"/>
                <a:gd name="T5" fmla="*/ 0 60000 65536"/>
                <a:gd name="T6" fmla="*/ 0 w 3"/>
                <a:gd name="T7" fmla="*/ 0 h 375"/>
                <a:gd name="T8" fmla="*/ 3 w 3"/>
                <a:gd name="T9" fmla="*/ 375 h 37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" h="375">
                  <a:moveTo>
                    <a:pt x="3" y="0"/>
                  </a:moveTo>
                  <a:lnTo>
                    <a:pt x="0" y="375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74080" name="Group 146"/>
          <p:cNvGrpSpPr/>
          <p:nvPr/>
        </p:nvGrpSpPr>
        <p:grpSpPr bwMode="auto">
          <a:xfrm>
            <a:off x="7672388" y="4762500"/>
            <a:ext cx="711200" cy="1162050"/>
            <a:chOff x="4833" y="3000"/>
            <a:chExt cx="448" cy="732"/>
          </a:xfrm>
        </p:grpSpPr>
        <p:sp>
          <p:nvSpPr>
            <p:cNvPr id="174117" name="Freeform 147"/>
            <p:cNvSpPr/>
            <p:nvPr/>
          </p:nvSpPr>
          <p:spPr bwMode="auto">
            <a:xfrm>
              <a:off x="4833" y="3006"/>
              <a:ext cx="1" cy="519"/>
            </a:xfrm>
            <a:custGeom>
              <a:avLst/>
              <a:gdLst>
                <a:gd name="T0" fmla="*/ 0 w 1"/>
                <a:gd name="T1" fmla="*/ 0 h 519"/>
                <a:gd name="T2" fmla="*/ 0 w 1"/>
                <a:gd name="T3" fmla="*/ 519 h 519"/>
                <a:gd name="T4" fmla="*/ 0 60000 65536"/>
                <a:gd name="T5" fmla="*/ 0 60000 65536"/>
                <a:gd name="T6" fmla="*/ 0 w 1"/>
                <a:gd name="T7" fmla="*/ 0 h 519"/>
                <a:gd name="T8" fmla="*/ 1 w 1"/>
                <a:gd name="T9" fmla="*/ 519 h 51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19">
                  <a:moveTo>
                    <a:pt x="0" y="0"/>
                  </a:moveTo>
                  <a:lnTo>
                    <a:pt x="0" y="519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4118" name="Text Box 148"/>
            <p:cNvSpPr txBox="1">
              <a:spLocks noChangeArrowheads="1"/>
            </p:cNvSpPr>
            <p:nvPr/>
          </p:nvSpPr>
          <p:spPr bwMode="auto">
            <a:xfrm>
              <a:off x="4876" y="3069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174119" name="Freeform 149"/>
            <p:cNvSpPr/>
            <p:nvPr/>
          </p:nvSpPr>
          <p:spPr bwMode="auto">
            <a:xfrm>
              <a:off x="5280" y="3000"/>
              <a:ext cx="1" cy="732"/>
            </a:xfrm>
            <a:custGeom>
              <a:avLst/>
              <a:gdLst>
                <a:gd name="T0" fmla="*/ 0 w 1"/>
                <a:gd name="T1" fmla="*/ 0 h 732"/>
                <a:gd name="T2" fmla="*/ 0 w 1"/>
                <a:gd name="T3" fmla="*/ 732 h 732"/>
                <a:gd name="T4" fmla="*/ 0 60000 65536"/>
                <a:gd name="T5" fmla="*/ 0 60000 65536"/>
                <a:gd name="T6" fmla="*/ 0 w 1"/>
                <a:gd name="T7" fmla="*/ 0 h 732"/>
                <a:gd name="T8" fmla="*/ 1 w 1"/>
                <a:gd name="T9" fmla="*/ 732 h 73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732">
                  <a:moveTo>
                    <a:pt x="0" y="0"/>
                  </a:moveTo>
                  <a:lnTo>
                    <a:pt x="0" y="732"/>
                  </a:lnTo>
                </a:path>
              </a:pathLst>
            </a:custGeom>
            <a:noFill/>
            <a:ln w="57150" cmpd="sng">
              <a:solidFill>
                <a:schemeClr val="folHlink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74116" name="AutoShape 150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7" dur="500"/>
                                        <p:tgtEl>
                                          <p:spTgt spid="263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2" dur="500"/>
                                        <p:tgtEl>
                                          <p:spTgt spid="263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7" dur="500"/>
                                        <p:tgtEl>
                                          <p:spTgt spid="263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2" dur="500"/>
                                        <p:tgtEl>
                                          <p:spTgt spid="263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7" dur="500"/>
                                        <p:tgtEl>
                                          <p:spTgt spid="263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8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7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500"/>
                            </p:stCondLst>
                            <p:childTnLst>
                              <p:par>
                                <p:cTn id="74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500"/>
                            </p:stCondLst>
                            <p:childTnLst>
                              <p:par>
                                <p:cTn id="83" presetID="18" presetClass="entr" presetSubtype="1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85" dur="500"/>
                                        <p:tgtEl>
                                          <p:spTgt spid="263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9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500"/>
                            </p:stCondLst>
                            <p:childTnLst>
                              <p:par>
                                <p:cTn id="92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9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0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500"/>
                            </p:stCondLst>
                            <p:childTnLst>
                              <p:par>
                                <p:cTn id="106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08" dur="500"/>
                                        <p:tgtEl>
                                          <p:spTgt spid="263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500"/>
                            </p:stCondLst>
                            <p:childTnLst>
                              <p:par>
                                <p:cTn id="11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2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4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4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5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57" dur="500"/>
                                        <p:tgtEl>
                                          <p:spTgt spid="1740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3170" grpId="0" animBg="1"/>
      <p:bldP spid="263171" grpId="0" animBg="1"/>
      <p:bldP spid="263179" grpId="0" animBg="1"/>
      <p:bldP spid="263180" grpId="0" animBg="1"/>
      <p:bldP spid="263181" grpId="0" animBg="1"/>
      <p:bldP spid="263192" grpId="0" animBg="1"/>
      <p:bldP spid="263197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194" name="Text Box 2"/>
          <p:cNvSpPr txBox="1">
            <a:spLocks noChangeArrowheads="1"/>
          </p:cNvSpPr>
          <p:nvPr/>
        </p:nvSpPr>
        <p:spPr bwMode="auto">
          <a:xfrm>
            <a:off x="1524000" y="1960563"/>
            <a:ext cx="79248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(1) 写出对应的二进制地址码</a:t>
            </a:r>
          </a:p>
        </p:txBody>
      </p:sp>
      <p:grpSp>
        <p:nvGrpSpPr>
          <p:cNvPr id="175107" name="Group 3"/>
          <p:cNvGrpSpPr/>
          <p:nvPr/>
        </p:nvGrpSpPr>
        <p:grpSpPr bwMode="auto">
          <a:xfrm>
            <a:off x="546100" y="547688"/>
            <a:ext cx="7986713" cy="1262062"/>
            <a:chOff x="344" y="345"/>
            <a:chExt cx="4386" cy="750"/>
          </a:xfrm>
        </p:grpSpPr>
        <p:sp>
          <p:nvSpPr>
            <p:cNvPr id="175115" name="Text Box 4"/>
            <p:cNvSpPr txBox="1">
              <a:spLocks noChangeArrowheads="1"/>
            </p:cNvSpPr>
            <p:nvPr/>
          </p:nvSpPr>
          <p:spPr bwMode="auto">
            <a:xfrm>
              <a:off x="344" y="345"/>
              <a:ext cx="4386" cy="3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600"/>
                <a:t>例</a:t>
              </a:r>
              <a:r>
                <a:rPr lang="zh-CN" altLang="en-US" sz="3600">
                  <a:latin typeface="Times New Roman" panose="02020603050405020304" pitchFamily="18" charset="0"/>
                </a:rPr>
                <a:t>4.2</a:t>
              </a:r>
              <a:r>
                <a:rPr lang="zh-CN" altLang="en-US" sz="3200">
                  <a:latin typeface="Times New Roman" panose="02020603050405020304" pitchFamily="18" charset="0"/>
                </a:rPr>
                <a:t>  </a:t>
              </a:r>
              <a:r>
                <a:rPr lang="zh-CN" altLang="en-US" sz="1000">
                  <a:latin typeface="Times New Roman" panose="02020603050405020304" pitchFamily="18" charset="0"/>
                </a:rPr>
                <a:t> </a:t>
              </a:r>
              <a:r>
                <a:rPr lang="zh-CN" altLang="en-US" sz="3200">
                  <a:latin typeface="Times New Roman" panose="02020603050405020304" pitchFamily="18" charset="0"/>
                </a:rPr>
                <a:t>假设同前，要求最小 4</a:t>
              </a:r>
              <a:r>
                <a:rPr lang="en-US" altLang="zh-CN" sz="3200">
                  <a:latin typeface="Times New Roman" panose="02020603050405020304" pitchFamily="18" charset="0"/>
                </a:rPr>
                <a:t>K</a:t>
              </a:r>
              <a:r>
                <a:rPr lang="zh-CN" altLang="en-US" sz="3200">
                  <a:latin typeface="Times New Roman" panose="02020603050405020304" pitchFamily="18" charset="0"/>
                </a:rPr>
                <a:t>为系统</a:t>
              </a:r>
            </a:p>
          </p:txBody>
        </p:sp>
        <p:sp>
          <p:nvSpPr>
            <p:cNvPr id="175116" name="Text Box 5"/>
            <p:cNvSpPr txBox="1">
              <a:spLocks noChangeArrowheads="1"/>
            </p:cNvSpPr>
            <p:nvPr/>
          </p:nvSpPr>
          <p:spPr bwMode="auto">
            <a:xfrm>
              <a:off x="344" y="751"/>
              <a:ext cx="4386" cy="3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             程序区，相邻 8</a:t>
              </a:r>
              <a:r>
                <a:rPr lang="en-US" altLang="zh-CN" sz="3200">
                  <a:latin typeface="Times New Roman" panose="02020603050405020304" pitchFamily="18" charset="0"/>
                </a:rPr>
                <a:t>K</a:t>
              </a:r>
              <a:r>
                <a:rPr lang="zh-CN" altLang="en-US" sz="3200">
                  <a:latin typeface="Times New Roman" panose="02020603050405020304" pitchFamily="18" charset="0"/>
                </a:rPr>
                <a:t>为用户程序区。</a:t>
              </a:r>
            </a:p>
          </p:txBody>
        </p:sp>
      </p:grpSp>
      <p:sp>
        <p:nvSpPr>
          <p:cNvPr id="264198" name="Text Box 6"/>
          <p:cNvSpPr txBox="1">
            <a:spLocks noChangeArrowheads="1"/>
          </p:cNvSpPr>
          <p:nvPr/>
        </p:nvSpPr>
        <p:spPr bwMode="auto">
          <a:xfrm>
            <a:off x="1524000" y="2751138"/>
            <a:ext cx="79248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(2) 确定芯片的数量及类型</a:t>
            </a:r>
          </a:p>
        </p:txBody>
      </p:sp>
      <p:sp>
        <p:nvSpPr>
          <p:cNvPr id="264199" name="Text Box 7"/>
          <p:cNvSpPr txBox="1">
            <a:spLocks noChangeArrowheads="1"/>
          </p:cNvSpPr>
          <p:nvPr/>
        </p:nvSpPr>
        <p:spPr bwMode="auto">
          <a:xfrm>
            <a:off x="1524000" y="4335463"/>
            <a:ext cx="79248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(3) 分配地址线</a:t>
            </a:r>
          </a:p>
        </p:txBody>
      </p:sp>
      <p:sp>
        <p:nvSpPr>
          <p:cNvPr id="264200" name="Rectangle 8"/>
          <p:cNvSpPr>
            <a:spLocks noChangeArrowheads="1"/>
          </p:cNvSpPr>
          <p:nvPr/>
        </p:nvSpPr>
        <p:spPr bwMode="auto">
          <a:xfrm>
            <a:off x="1524000" y="5919788"/>
            <a:ext cx="40894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(4) 确定片选信号</a:t>
            </a:r>
            <a:endParaRPr lang="en-US" altLang="zh-CN" sz="2800">
              <a:latin typeface="Times New Roman" panose="02020603050405020304" pitchFamily="18" charset="0"/>
            </a:endParaRPr>
          </a:p>
        </p:txBody>
      </p:sp>
      <p:sp>
        <p:nvSpPr>
          <p:cNvPr id="264201" name="Text Box 9"/>
          <p:cNvSpPr txBox="1">
            <a:spLocks noChangeArrowheads="1"/>
          </p:cNvSpPr>
          <p:nvPr/>
        </p:nvSpPr>
        <p:spPr bwMode="auto">
          <a:xfrm>
            <a:off x="2085975" y="3543300"/>
            <a:ext cx="70580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1片 </a:t>
            </a:r>
            <a:r>
              <a:rPr lang="en-US" altLang="zh-CN" sz="2800">
                <a:latin typeface="Times New Roman" panose="02020603050405020304" pitchFamily="18" charset="0"/>
              </a:rPr>
              <a:t>4K</a:t>
            </a:r>
            <a:r>
              <a:rPr lang="en-US" altLang="zh-CN" sz="900">
                <a:latin typeface="Times New Roman" panose="02020603050405020304" pitchFamily="18" charset="0"/>
              </a:rPr>
              <a:t> </a:t>
            </a:r>
            <a:r>
              <a:rPr lang="en-US" altLang="zh-CN" sz="28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9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2800">
                <a:latin typeface="Times New Roman" panose="02020603050405020304" pitchFamily="18" charset="0"/>
                <a:cs typeface="Times New Roman" panose="02020603050405020304" pitchFamily="18" charset="0"/>
              </a:rPr>
              <a:t>8</a:t>
            </a:r>
            <a:r>
              <a:rPr lang="zh-CN" altLang="en-US" sz="2800">
                <a:latin typeface="Times New Roman" panose="02020603050405020304" pitchFamily="18" charset="0"/>
              </a:rPr>
              <a:t>位 </a:t>
            </a:r>
            <a:r>
              <a:rPr lang="zh-CN" altLang="en-US" sz="28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2800">
                <a:latin typeface="Times New Roman" panose="02020603050405020304" pitchFamily="18" charset="0"/>
              </a:rPr>
              <a:t>ROM   </a:t>
            </a:r>
            <a:r>
              <a: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片 </a:t>
            </a:r>
            <a:r>
              <a:rPr lang="en-US" altLang="zh-CN" sz="2800">
                <a:latin typeface="Times New Roman" panose="02020603050405020304" pitchFamily="18" charset="0"/>
              </a:rPr>
              <a:t>4K</a:t>
            </a:r>
            <a:r>
              <a:rPr lang="en-US" altLang="zh-CN" sz="900">
                <a:latin typeface="Times New Roman" panose="02020603050405020304" pitchFamily="18" charset="0"/>
              </a:rPr>
              <a:t> </a:t>
            </a:r>
            <a:r>
              <a:rPr lang="en-US" altLang="zh-CN" sz="28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9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2800">
                <a:latin typeface="Times New Roman" panose="02020603050405020304" pitchFamily="18" charset="0"/>
                <a:cs typeface="Times New Roman" panose="02020603050405020304" pitchFamily="18" charset="0"/>
              </a:rPr>
              <a:t>8</a:t>
            </a:r>
            <a:r>
              <a:rPr lang="zh-CN" altLang="en-US" sz="2800">
                <a:latin typeface="Times New Roman" panose="02020603050405020304" pitchFamily="18" charset="0"/>
              </a:rPr>
              <a:t>位 </a:t>
            </a:r>
            <a:r>
              <a:rPr lang="zh-CN" altLang="en-US" sz="28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zh-CN" sz="2800">
                <a:latin typeface="Times New Roman" panose="02020603050405020304" pitchFamily="18" charset="0"/>
              </a:rPr>
              <a:t>RAM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64202" name="Text Box 10"/>
          <p:cNvSpPr txBox="1">
            <a:spLocks noChangeArrowheads="1"/>
          </p:cNvSpPr>
          <p:nvPr/>
        </p:nvSpPr>
        <p:spPr bwMode="auto">
          <a:xfrm>
            <a:off x="2085975" y="5127625"/>
            <a:ext cx="67532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zh-CN" sz="2800">
                <a:latin typeface="Times New Roman" panose="02020603050405020304" pitchFamily="18" charset="0"/>
              </a:rPr>
              <a:t>A</a:t>
            </a:r>
            <a:r>
              <a:rPr lang="en-US" altLang="zh-CN" sz="2800" baseline="-25000">
                <a:latin typeface="Times New Roman" panose="02020603050405020304" pitchFamily="18" charset="0"/>
              </a:rPr>
              <a:t>11</a:t>
            </a:r>
            <a:r>
              <a:rPr lang="en-US" altLang="zh-CN" sz="2800">
                <a:latin typeface="Times New Roman" panose="02020603050405020304" pitchFamily="18" charset="0"/>
              </a:rPr>
              <a:t>~ A</a:t>
            </a:r>
            <a:r>
              <a:rPr lang="en-US" altLang="zh-CN" sz="2800" baseline="-25000">
                <a:latin typeface="Times New Roman" panose="02020603050405020304" pitchFamily="18" charset="0"/>
              </a:rPr>
              <a:t>0    </a:t>
            </a:r>
            <a:r>
              <a:rPr lang="zh-CN" altLang="en-US" sz="2800">
                <a:latin typeface="Times New Roman" panose="02020603050405020304" pitchFamily="18" charset="0"/>
              </a:rPr>
              <a:t>接  </a:t>
            </a:r>
            <a:r>
              <a:rPr lang="en-US" altLang="zh-CN" sz="2800">
                <a:latin typeface="Times New Roman" panose="02020603050405020304" pitchFamily="18" charset="0"/>
              </a:rPr>
              <a:t>ROM </a:t>
            </a:r>
            <a:r>
              <a:rPr lang="zh-CN" altLang="en-US" sz="2800">
                <a:latin typeface="Times New Roman" panose="02020603050405020304" pitchFamily="18" charset="0"/>
              </a:rPr>
              <a:t>和 </a:t>
            </a:r>
            <a:r>
              <a:rPr lang="en-US" altLang="zh-CN" sz="2800">
                <a:latin typeface="Times New Roman" panose="02020603050405020304" pitchFamily="18" charset="0"/>
              </a:rPr>
              <a:t>RAM </a:t>
            </a:r>
            <a:r>
              <a:rPr lang="zh-CN" altLang="en-US" sz="2800">
                <a:latin typeface="Times New Roman" panose="02020603050405020304" pitchFamily="18" charset="0"/>
              </a:rPr>
              <a:t>的地址线</a:t>
            </a:r>
          </a:p>
        </p:txBody>
      </p:sp>
      <p:sp>
        <p:nvSpPr>
          <p:cNvPr id="264203" name="Rectangle 11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75114" name="AutoShape 12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64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64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64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64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64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64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4194" grpId="0" autoUpdateAnimBg="0"/>
      <p:bldP spid="264198" grpId="0" autoUpdateAnimBg="0"/>
      <p:bldP spid="264199" grpId="0" autoUpdateAnimBg="0"/>
      <p:bldP spid="264200" grpId="0" autoUpdateAnimBg="0"/>
      <p:bldP spid="264201" grpId="0" autoUpdateAnimBg="0"/>
      <p:bldP spid="264202" grpId="0" autoUpdateAnimBg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130" name="Group 2"/>
          <p:cNvGrpSpPr/>
          <p:nvPr/>
        </p:nvGrpSpPr>
        <p:grpSpPr bwMode="auto">
          <a:xfrm>
            <a:off x="76200" y="254000"/>
            <a:ext cx="8710613" cy="1922463"/>
            <a:chOff x="48" y="160"/>
            <a:chExt cx="5487" cy="1211"/>
          </a:xfrm>
        </p:grpSpPr>
        <p:sp>
          <p:nvSpPr>
            <p:cNvPr id="176168" name="Text Box 3"/>
            <p:cNvSpPr txBox="1">
              <a:spLocks noChangeArrowheads="1"/>
            </p:cNvSpPr>
            <p:nvPr/>
          </p:nvSpPr>
          <p:spPr bwMode="auto">
            <a:xfrm>
              <a:off x="48" y="160"/>
              <a:ext cx="5487" cy="1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600">
                  <a:latin typeface="Times New Roman" panose="02020603050405020304" pitchFamily="18" charset="0"/>
                </a:rPr>
                <a:t>例 4.3</a:t>
              </a:r>
              <a:r>
                <a:rPr lang="zh-CN" altLang="en-US" sz="2800">
                  <a:latin typeface="Times New Roman" panose="02020603050405020304" pitchFamily="18" charset="0"/>
                </a:rPr>
                <a:t>  </a:t>
              </a:r>
              <a:r>
                <a:rPr lang="zh-CN" altLang="en-US" sz="1200">
                  <a:latin typeface="Times New Roman" panose="02020603050405020304" pitchFamily="18" charset="0"/>
                </a:rPr>
                <a:t> </a:t>
              </a:r>
              <a:r>
                <a:rPr lang="zh-CN" altLang="en-US" sz="2800">
                  <a:latin typeface="Times New Roman" panose="02020603050405020304" pitchFamily="18" charset="0"/>
                </a:rPr>
                <a:t>设 </a:t>
              </a:r>
              <a:r>
                <a:rPr lang="en-US" altLang="zh-CN" sz="2800">
                  <a:latin typeface="Times New Roman" panose="02020603050405020304" pitchFamily="18" charset="0"/>
                </a:rPr>
                <a:t>CPU </a:t>
              </a:r>
              <a:r>
                <a:rPr lang="zh-CN" altLang="en-US" sz="2800">
                  <a:latin typeface="Times New Roman" panose="02020603050405020304" pitchFamily="18" charset="0"/>
                </a:rPr>
                <a:t>有 20 根地址线，8 根数据线。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      并用</a:t>
              </a:r>
              <a:r>
                <a:rPr lang="en-US" altLang="zh-CN" sz="2800">
                  <a:latin typeface="Times New Roman" panose="02020603050405020304" pitchFamily="18" charset="0"/>
                </a:rPr>
                <a:t> IO/M </a:t>
              </a:r>
              <a:r>
                <a:rPr lang="zh-CN" altLang="en-US" sz="2800">
                  <a:latin typeface="Times New Roman" panose="02020603050405020304" pitchFamily="18" charset="0"/>
                </a:rPr>
                <a:t> 作访存控制信号。</a:t>
              </a:r>
              <a:r>
                <a:rPr lang="en-US" altLang="zh-CN" sz="2800">
                  <a:latin typeface="Times New Roman" panose="02020603050405020304" pitchFamily="18" charset="0"/>
                </a:rPr>
                <a:t>RD </a:t>
              </a:r>
              <a:r>
                <a:rPr lang="zh-CN" altLang="en-US" sz="2800">
                  <a:latin typeface="Times New Roman" panose="02020603050405020304" pitchFamily="18" charset="0"/>
                </a:rPr>
                <a:t>为读命令，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en-US" altLang="zh-CN" sz="2800">
                  <a:latin typeface="Times New Roman" panose="02020603050405020304" pitchFamily="18" charset="0"/>
                </a:rPr>
                <a:t>      WR </a:t>
              </a:r>
              <a:r>
                <a:rPr lang="zh-CN" altLang="en-US" sz="2800">
                  <a:latin typeface="Times New Roman" panose="02020603050405020304" pitchFamily="18" charset="0"/>
                </a:rPr>
                <a:t>为写命令。现有  2764 </a:t>
              </a:r>
              <a:r>
                <a:rPr lang="en-US" altLang="zh-CN" sz="2800">
                  <a:latin typeface="Times New Roman" panose="02020603050405020304" pitchFamily="18" charset="0"/>
                </a:rPr>
                <a:t>EPROM ( 8K </a:t>
              </a:r>
              <a:r>
                <a:rPr lang="en-US" altLang="zh-CN" sz="2800">
                  <a:latin typeface="Times New Roman" panose="02020603050405020304" pitchFamily="18" charset="0"/>
                  <a:cs typeface="Times New Roman" panose="02020603050405020304" pitchFamily="18" charset="0"/>
                </a:rPr>
                <a:t>×</a:t>
              </a:r>
              <a:r>
                <a:rPr lang="en-US" altLang="zh-CN" sz="2800">
                  <a:latin typeface="Times New Roman" panose="02020603050405020304" pitchFamily="18" charset="0"/>
                </a:rPr>
                <a:t> 8</a:t>
              </a:r>
              <a:r>
                <a:rPr lang="zh-CN" altLang="en-US" sz="2800">
                  <a:latin typeface="Times New Roman" panose="02020603050405020304" pitchFamily="18" charset="0"/>
                </a:rPr>
                <a:t>位 ), 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      外特性如下：</a:t>
              </a:r>
            </a:p>
          </p:txBody>
        </p:sp>
        <p:sp>
          <p:nvSpPr>
            <p:cNvPr id="176169" name="Line 4"/>
            <p:cNvSpPr>
              <a:spLocks noChangeShapeType="1"/>
            </p:cNvSpPr>
            <p:nvPr/>
          </p:nvSpPr>
          <p:spPr bwMode="auto">
            <a:xfrm>
              <a:off x="1296" y="563"/>
              <a:ext cx="24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6170" name="Line 5"/>
            <p:cNvSpPr>
              <a:spLocks noChangeShapeType="1"/>
            </p:cNvSpPr>
            <p:nvPr/>
          </p:nvSpPr>
          <p:spPr bwMode="auto">
            <a:xfrm>
              <a:off x="3377" y="555"/>
              <a:ext cx="3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76171" name="Line 6"/>
            <p:cNvSpPr>
              <a:spLocks noChangeShapeType="1"/>
            </p:cNvSpPr>
            <p:nvPr/>
          </p:nvSpPr>
          <p:spPr bwMode="auto">
            <a:xfrm>
              <a:off x="432" y="829"/>
              <a:ext cx="38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65223" name="Text Box 7"/>
          <p:cNvSpPr txBox="1">
            <a:spLocks noChangeArrowheads="1"/>
          </p:cNvSpPr>
          <p:nvPr/>
        </p:nvSpPr>
        <p:spPr bwMode="auto">
          <a:xfrm>
            <a:off x="530225" y="5257800"/>
            <a:ext cx="8689975" cy="150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用 138 译码器及其他门电路（门电路自定）画出 </a:t>
            </a:r>
            <a:r>
              <a:rPr lang="en-US" altLang="zh-CN" sz="2800">
                <a:latin typeface="Times New Roman" panose="02020603050405020304" pitchFamily="18" charset="0"/>
              </a:rPr>
              <a:t>CPU</a:t>
            </a:r>
            <a:r>
              <a:rPr lang="zh-CN" altLang="en-US" sz="2800">
                <a:latin typeface="Times New Roman" panose="02020603050405020304" pitchFamily="18" charset="0"/>
              </a:rPr>
              <a:t>和 2764 的连接图。要求地址为 </a:t>
            </a:r>
            <a:r>
              <a:rPr lang="en-US" altLang="zh-CN" sz="2800">
                <a:latin typeface="Times New Roman" panose="02020603050405020304" pitchFamily="18" charset="0"/>
              </a:rPr>
              <a:t>F0000H~FFFFFH , </a:t>
            </a:r>
            <a:r>
              <a:rPr lang="en-US" altLang="zh-CN" sz="1200">
                <a:latin typeface="Times New Roman" panose="02020603050405020304" pitchFamily="18" charset="0"/>
              </a:rPr>
              <a:t> </a:t>
            </a:r>
            <a:r>
              <a:rPr lang="zh-CN" altLang="en-US" sz="2800">
                <a:latin typeface="Times New Roman" panose="02020603050405020304" pitchFamily="18" charset="0"/>
              </a:rPr>
              <a:t>并</a:t>
            </a:r>
          </a:p>
          <a:p>
            <a:pPr eaLnBrk="1" hangingPunct="1">
              <a:lnSpc>
                <a:spcPct val="110000"/>
              </a:lnSpc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写出每片 2764 的地址范围。</a:t>
            </a:r>
          </a:p>
        </p:txBody>
      </p:sp>
      <p:sp>
        <p:nvSpPr>
          <p:cNvPr id="265224" name="Rectangle 8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grpSp>
        <p:nvGrpSpPr>
          <p:cNvPr id="3" name="Group 9"/>
          <p:cNvGrpSpPr/>
          <p:nvPr/>
        </p:nvGrpSpPr>
        <p:grpSpPr bwMode="auto">
          <a:xfrm>
            <a:off x="1216025" y="2247900"/>
            <a:ext cx="6496050" cy="2781300"/>
            <a:chOff x="766" y="1416"/>
            <a:chExt cx="4092" cy="1752"/>
          </a:xfrm>
        </p:grpSpPr>
        <p:grpSp>
          <p:nvGrpSpPr>
            <p:cNvPr id="176135" name="Group 10"/>
            <p:cNvGrpSpPr/>
            <p:nvPr/>
          </p:nvGrpSpPr>
          <p:grpSpPr bwMode="auto">
            <a:xfrm>
              <a:off x="766" y="1416"/>
              <a:ext cx="4092" cy="1752"/>
              <a:chOff x="766" y="1416"/>
              <a:chExt cx="4092" cy="1752"/>
            </a:xfrm>
          </p:grpSpPr>
          <p:sp>
            <p:nvSpPr>
              <p:cNvPr id="176139" name="Text Box 11"/>
              <p:cNvSpPr txBox="1">
                <a:spLocks noChangeArrowheads="1"/>
              </p:cNvSpPr>
              <p:nvPr/>
            </p:nvSpPr>
            <p:spPr bwMode="auto">
              <a:xfrm>
                <a:off x="1647" y="1467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76140" name="Rectangle 12"/>
              <p:cNvSpPr>
                <a:spLocks noChangeArrowheads="1"/>
              </p:cNvSpPr>
              <p:nvPr/>
            </p:nvSpPr>
            <p:spPr bwMode="auto">
              <a:xfrm>
                <a:off x="1144" y="1827"/>
                <a:ext cx="1352" cy="96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76141" name="Line 13"/>
              <p:cNvSpPr>
                <a:spLocks noChangeShapeType="1"/>
              </p:cNvSpPr>
              <p:nvPr/>
            </p:nvSpPr>
            <p:spPr bwMode="auto">
              <a:xfrm>
                <a:off x="1513" y="1679"/>
                <a:ext cx="0" cy="14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6142" name="Line 14"/>
              <p:cNvSpPr>
                <a:spLocks noChangeShapeType="1"/>
              </p:cNvSpPr>
              <p:nvPr/>
            </p:nvSpPr>
            <p:spPr bwMode="auto">
              <a:xfrm>
                <a:off x="2153" y="1679"/>
                <a:ext cx="0" cy="14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6143" name="Line 15"/>
              <p:cNvSpPr>
                <a:spLocks noChangeShapeType="1"/>
              </p:cNvSpPr>
              <p:nvPr/>
            </p:nvSpPr>
            <p:spPr bwMode="auto">
              <a:xfrm>
                <a:off x="2153" y="2787"/>
                <a:ext cx="0" cy="14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6144" name="Line 16"/>
              <p:cNvSpPr>
                <a:spLocks noChangeShapeType="1"/>
              </p:cNvSpPr>
              <p:nvPr/>
            </p:nvSpPr>
            <p:spPr bwMode="auto">
              <a:xfrm>
                <a:off x="1513" y="2787"/>
                <a:ext cx="0" cy="14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6145" name="Line 17"/>
              <p:cNvSpPr>
                <a:spLocks noChangeShapeType="1"/>
              </p:cNvSpPr>
              <p:nvPr/>
            </p:nvSpPr>
            <p:spPr bwMode="auto">
              <a:xfrm>
                <a:off x="766" y="2067"/>
                <a:ext cx="3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6146" name="Line 18"/>
              <p:cNvSpPr>
                <a:spLocks noChangeShapeType="1"/>
              </p:cNvSpPr>
              <p:nvPr/>
            </p:nvSpPr>
            <p:spPr bwMode="auto">
              <a:xfrm>
                <a:off x="766" y="2467"/>
                <a:ext cx="3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6147" name="Text Box 19"/>
              <p:cNvSpPr txBox="1">
                <a:spLocks noChangeArrowheads="1"/>
              </p:cNvSpPr>
              <p:nvPr/>
            </p:nvSpPr>
            <p:spPr bwMode="auto">
              <a:xfrm>
                <a:off x="1374" y="2880"/>
                <a:ext cx="319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  <a:r>
                  <a:rPr lang="en-US" altLang="zh-CN" sz="2400" baseline="-25000">
                    <a:latin typeface="Times New Roman" panose="02020603050405020304" pitchFamily="18" charset="0"/>
                  </a:rPr>
                  <a:t>7</a:t>
                </a:r>
              </a:p>
            </p:txBody>
          </p:sp>
          <p:sp>
            <p:nvSpPr>
              <p:cNvPr id="176148" name="Text Box 20"/>
              <p:cNvSpPr txBox="1">
                <a:spLocks noChangeArrowheads="1"/>
              </p:cNvSpPr>
              <p:nvPr/>
            </p:nvSpPr>
            <p:spPr bwMode="auto">
              <a:xfrm>
                <a:off x="2040" y="2880"/>
                <a:ext cx="319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D</a:t>
                </a:r>
                <a:r>
                  <a:rPr lang="en-US" altLang="zh-CN" sz="2400" baseline="-25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76149" name="Text Box 21"/>
              <p:cNvSpPr txBox="1">
                <a:spLocks noChangeArrowheads="1"/>
              </p:cNvSpPr>
              <p:nvPr/>
            </p:nvSpPr>
            <p:spPr bwMode="auto">
              <a:xfrm>
                <a:off x="1151" y="2020"/>
                <a:ext cx="38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CE</a:t>
                </a:r>
              </a:p>
            </p:txBody>
          </p:sp>
          <p:sp>
            <p:nvSpPr>
              <p:cNvPr id="176150" name="Line 22"/>
              <p:cNvSpPr>
                <a:spLocks noChangeShapeType="1"/>
              </p:cNvSpPr>
              <p:nvPr/>
            </p:nvSpPr>
            <p:spPr bwMode="auto">
              <a:xfrm>
                <a:off x="1200" y="2064"/>
                <a:ext cx="287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6151" name="Text Box 23"/>
              <p:cNvSpPr txBox="1">
                <a:spLocks noChangeArrowheads="1"/>
              </p:cNvSpPr>
              <p:nvPr/>
            </p:nvSpPr>
            <p:spPr bwMode="auto">
              <a:xfrm>
                <a:off x="1176" y="2425"/>
                <a:ext cx="39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OE</a:t>
                </a:r>
              </a:p>
            </p:txBody>
          </p:sp>
          <p:sp>
            <p:nvSpPr>
              <p:cNvPr id="176152" name="Line 24"/>
              <p:cNvSpPr>
                <a:spLocks noChangeShapeType="1"/>
              </p:cNvSpPr>
              <p:nvPr/>
            </p:nvSpPr>
            <p:spPr bwMode="auto">
              <a:xfrm>
                <a:off x="1200" y="2463"/>
                <a:ext cx="287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6153" name="Text Box 25"/>
              <p:cNvSpPr txBox="1">
                <a:spLocks noChangeArrowheads="1"/>
              </p:cNvSpPr>
              <p:nvPr/>
            </p:nvSpPr>
            <p:spPr bwMode="auto">
              <a:xfrm>
                <a:off x="3254" y="1750"/>
                <a:ext cx="38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CE</a:t>
                </a:r>
              </a:p>
            </p:txBody>
          </p:sp>
          <p:sp>
            <p:nvSpPr>
              <p:cNvPr id="176154" name="Line 26"/>
              <p:cNvSpPr>
                <a:spLocks noChangeShapeType="1"/>
              </p:cNvSpPr>
              <p:nvPr/>
            </p:nvSpPr>
            <p:spPr bwMode="auto">
              <a:xfrm>
                <a:off x="3293" y="1776"/>
                <a:ext cx="287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6155" name="Text Box 27"/>
              <p:cNvSpPr txBox="1">
                <a:spLocks noChangeArrowheads="1"/>
              </p:cNvSpPr>
              <p:nvPr/>
            </p:nvSpPr>
            <p:spPr bwMode="auto">
              <a:xfrm>
                <a:off x="3974" y="1738"/>
                <a:ext cx="88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片选信号</a:t>
                </a:r>
              </a:p>
            </p:txBody>
          </p:sp>
          <p:sp>
            <p:nvSpPr>
              <p:cNvPr id="176156" name="Text Box 28"/>
              <p:cNvSpPr txBox="1">
                <a:spLocks noChangeArrowheads="1"/>
              </p:cNvSpPr>
              <p:nvPr/>
            </p:nvSpPr>
            <p:spPr bwMode="auto">
              <a:xfrm>
                <a:off x="3254" y="2139"/>
                <a:ext cx="39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OE</a:t>
                </a:r>
              </a:p>
            </p:txBody>
          </p:sp>
          <p:sp>
            <p:nvSpPr>
              <p:cNvPr id="176157" name="Line 29"/>
              <p:cNvSpPr>
                <a:spLocks noChangeShapeType="1"/>
              </p:cNvSpPr>
              <p:nvPr/>
            </p:nvSpPr>
            <p:spPr bwMode="auto">
              <a:xfrm>
                <a:off x="3293" y="2160"/>
                <a:ext cx="311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6158" name="Text Box 30"/>
              <p:cNvSpPr txBox="1">
                <a:spLocks noChangeArrowheads="1"/>
              </p:cNvSpPr>
              <p:nvPr/>
            </p:nvSpPr>
            <p:spPr bwMode="auto">
              <a:xfrm>
                <a:off x="3974" y="2127"/>
                <a:ext cx="88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允许输出</a:t>
                </a:r>
              </a:p>
            </p:txBody>
          </p:sp>
          <p:sp>
            <p:nvSpPr>
              <p:cNvPr id="176159" name="Text Box 31"/>
              <p:cNvSpPr txBox="1">
                <a:spLocks noChangeArrowheads="1"/>
              </p:cNvSpPr>
              <p:nvPr/>
            </p:nvSpPr>
            <p:spPr bwMode="auto">
              <a:xfrm>
                <a:off x="3254" y="2559"/>
                <a:ext cx="56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PGM</a:t>
                </a:r>
              </a:p>
            </p:txBody>
          </p:sp>
          <p:sp>
            <p:nvSpPr>
              <p:cNvPr id="176160" name="Line 32"/>
              <p:cNvSpPr>
                <a:spLocks noChangeShapeType="1"/>
              </p:cNvSpPr>
              <p:nvPr/>
            </p:nvSpPr>
            <p:spPr bwMode="auto">
              <a:xfrm>
                <a:off x="3264" y="2592"/>
                <a:ext cx="503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6161" name="Text Box 33"/>
              <p:cNvSpPr txBox="1">
                <a:spLocks noChangeArrowheads="1"/>
              </p:cNvSpPr>
              <p:nvPr/>
            </p:nvSpPr>
            <p:spPr bwMode="auto">
              <a:xfrm>
                <a:off x="3974" y="2547"/>
                <a:ext cx="88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可编程端</a:t>
                </a:r>
              </a:p>
            </p:txBody>
          </p:sp>
          <p:sp>
            <p:nvSpPr>
              <p:cNvPr id="176162" name="Line 34"/>
              <p:cNvSpPr>
                <a:spLocks noChangeShapeType="1"/>
              </p:cNvSpPr>
              <p:nvPr/>
            </p:nvSpPr>
            <p:spPr bwMode="auto">
              <a:xfrm>
                <a:off x="2552" y="2307"/>
                <a:ext cx="3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6163" name="Text Box 35"/>
              <p:cNvSpPr txBox="1">
                <a:spLocks noChangeArrowheads="1"/>
              </p:cNvSpPr>
              <p:nvPr/>
            </p:nvSpPr>
            <p:spPr bwMode="auto">
              <a:xfrm>
                <a:off x="1872" y="2195"/>
                <a:ext cx="56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PGM</a:t>
                </a:r>
              </a:p>
            </p:txBody>
          </p:sp>
          <p:sp>
            <p:nvSpPr>
              <p:cNvPr id="176164" name="Line 36"/>
              <p:cNvSpPr>
                <a:spLocks noChangeShapeType="1"/>
              </p:cNvSpPr>
              <p:nvPr/>
            </p:nvSpPr>
            <p:spPr bwMode="auto">
              <a:xfrm>
                <a:off x="1920" y="2232"/>
                <a:ext cx="503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76165" name="Text Box 37"/>
              <p:cNvSpPr txBox="1">
                <a:spLocks noChangeArrowheads="1"/>
              </p:cNvSpPr>
              <p:nvPr/>
            </p:nvSpPr>
            <p:spPr bwMode="auto">
              <a:xfrm>
                <a:off x="1647" y="2640"/>
                <a:ext cx="3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76166" name="Text Box 38"/>
              <p:cNvSpPr txBox="1">
                <a:spLocks noChangeArrowheads="1"/>
              </p:cNvSpPr>
              <p:nvPr/>
            </p:nvSpPr>
            <p:spPr bwMode="auto">
              <a:xfrm>
                <a:off x="2040" y="1416"/>
                <a:ext cx="319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400" baseline="-250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76167" name="Text Box 39"/>
              <p:cNvSpPr txBox="1">
                <a:spLocks noChangeArrowheads="1"/>
              </p:cNvSpPr>
              <p:nvPr/>
            </p:nvSpPr>
            <p:spPr bwMode="auto">
              <a:xfrm>
                <a:off x="1393" y="1416"/>
                <a:ext cx="38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A</a:t>
                </a:r>
                <a:r>
                  <a:rPr lang="en-US" altLang="zh-CN" sz="2400" baseline="-25000">
                    <a:latin typeface="Times New Roman" panose="02020603050405020304" pitchFamily="18" charset="0"/>
                  </a:rPr>
                  <a:t>12</a:t>
                </a:r>
              </a:p>
            </p:txBody>
          </p:sp>
        </p:grpSp>
        <p:sp>
          <p:nvSpPr>
            <p:cNvPr id="176136" name="Oval 40"/>
            <p:cNvSpPr>
              <a:spLocks noChangeArrowheads="1"/>
            </p:cNvSpPr>
            <p:nvPr/>
          </p:nvSpPr>
          <p:spPr bwMode="auto">
            <a:xfrm>
              <a:off x="2508" y="2288"/>
              <a:ext cx="45" cy="45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76137" name="Oval 41"/>
            <p:cNvSpPr>
              <a:spLocks noChangeArrowheads="1"/>
            </p:cNvSpPr>
            <p:nvPr/>
          </p:nvSpPr>
          <p:spPr bwMode="auto">
            <a:xfrm>
              <a:off x="1093" y="2442"/>
              <a:ext cx="45" cy="45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76138" name="Oval 42"/>
            <p:cNvSpPr>
              <a:spLocks noChangeArrowheads="1"/>
            </p:cNvSpPr>
            <p:nvPr/>
          </p:nvSpPr>
          <p:spPr bwMode="auto">
            <a:xfrm>
              <a:off x="1093" y="2042"/>
              <a:ext cx="45" cy="45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sp>
        <p:nvSpPr>
          <p:cNvPr id="176134" name="AutoShape 43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65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5223" grpId="0" autoUpdateAnimBg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Text Box 2"/>
          <p:cNvSpPr txBox="1">
            <a:spLocks noChangeArrowheads="1"/>
          </p:cNvSpPr>
          <p:nvPr/>
        </p:nvSpPr>
        <p:spPr bwMode="auto">
          <a:xfrm>
            <a:off x="212725" y="152400"/>
            <a:ext cx="44354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六、存储器的校验</a:t>
            </a:r>
          </a:p>
        </p:txBody>
      </p:sp>
      <p:sp>
        <p:nvSpPr>
          <p:cNvPr id="266243" name="Text Box 3"/>
          <p:cNvSpPr txBox="1">
            <a:spLocks noChangeArrowheads="1"/>
          </p:cNvSpPr>
          <p:nvPr/>
        </p:nvSpPr>
        <p:spPr bwMode="auto">
          <a:xfrm>
            <a:off x="1041400" y="2286000"/>
            <a:ext cx="8102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编码的纠错 </a:t>
            </a:r>
            <a:r>
              <a:rPr lang="zh-CN" altLang="en-US" sz="2800">
                <a:latin typeface="Times New Roman" panose="02020603050405020304" pitchFamily="18" charset="0"/>
              </a:rPr>
              <a:t>、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检错能力与编码的最小距离有关</a:t>
            </a:r>
          </a:p>
        </p:txBody>
      </p:sp>
      <p:sp>
        <p:nvSpPr>
          <p:cNvPr id="266244" name="Text Box 4"/>
          <p:cNvSpPr txBox="1">
            <a:spLocks noChangeArrowheads="1"/>
          </p:cNvSpPr>
          <p:nvPr/>
        </p:nvSpPr>
        <p:spPr bwMode="auto">
          <a:xfrm>
            <a:off x="1689100" y="3810000"/>
            <a:ext cx="54737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2800" i="1">
                <a:latin typeface="Times New Roman" panose="02020603050405020304" pitchFamily="18" charset="0"/>
              </a:rPr>
              <a:t>L</a:t>
            </a:r>
            <a:r>
              <a:rPr lang="en-US" altLang="zh-CN" sz="2800">
                <a:latin typeface="Times New Roman" panose="02020603050405020304" pitchFamily="18" charset="0"/>
              </a:rPr>
              <a:t> ——   </a:t>
            </a:r>
            <a:r>
              <a:rPr lang="zh-CN" altLang="en-US" sz="2800">
                <a:latin typeface="Times New Roman" panose="02020603050405020304" pitchFamily="18" charset="0"/>
              </a:rPr>
              <a:t>编码的最小距离</a:t>
            </a:r>
          </a:p>
        </p:txBody>
      </p:sp>
      <p:sp>
        <p:nvSpPr>
          <p:cNvPr id="266245" name="Text Box 5"/>
          <p:cNvSpPr txBox="1">
            <a:spLocks noChangeArrowheads="1"/>
          </p:cNvSpPr>
          <p:nvPr/>
        </p:nvSpPr>
        <p:spPr bwMode="auto">
          <a:xfrm>
            <a:off x="1689100" y="4572000"/>
            <a:ext cx="400843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2800" i="1">
                <a:latin typeface="Times New Roman" panose="02020603050405020304" pitchFamily="18" charset="0"/>
              </a:rPr>
              <a:t>D</a:t>
            </a:r>
            <a:r>
              <a:rPr lang="en-US" altLang="zh-CN" sz="2800">
                <a:latin typeface="Times New Roman" panose="02020603050405020304" pitchFamily="18" charset="0"/>
              </a:rPr>
              <a:t> ——   </a:t>
            </a:r>
            <a:r>
              <a:rPr lang="zh-CN" altLang="en-US" sz="2800">
                <a:latin typeface="Times New Roman" panose="02020603050405020304" pitchFamily="18" charset="0"/>
              </a:rPr>
              <a:t>检测错误的位数</a:t>
            </a:r>
          </a:p>
        </p:txBody>
      </p:sp>
      <p:sp>
        <p:nvSpPr>
          <p:cNvPr id="266246" name="Text Box 6"/>
          <p:cNvSpPr txBox="1">
            <a:spLocks noChangeArrowheads="1"/>
          </p:cNvSpPr>
          <p:nvPr/>
        </p:nvSpPr>
        <p:spPr bwMode="auto">
          <a:xfrm>
            <a:off x="1689100" y="5334000"/>
            <a:ext cx="41783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2800" i="1">
                <a:latin typeface="Times New Roman" panose="02020603050405020304" pitchFamily="18" charset="0"/>
              </a:rPr>
              <a:t>C</a:t>
            </a:r>
            <a:r>
              <a:rPr lang="en-US" altLang="zh-CN" sz="2800">
                <a:latin typeface="Times New Roman" panose="02020603050405020304" pitchFamily="18" charset="0"/>
              </a:rPr>
              <a:t> ——   </a:t>
            </a:r>
            <a:r>
              <a:rPr lang="zh-CN" altLang="en-US" sz="2800">
                <a:latin typeface="Times New Roman" panose="02020603050405020304" pitchFamily="18" charset="0"/>
              </a:rPr>
              <a:t>纠正错误的位数</a:t>
            </a:r>
          </a:p>
        </p:txBody>
      </p:sp>
      <p:sp>
        <p:nvSpPr>
          <p:cNvPr id="266247" name="Text Box 7"/>
          <p:cNvSpPr txBox="1">
            <a:spLocks noChangeArrowheads="1"/>
          </p:cNvSpPr>
          <p:nvPr/>
        </p:nvSpPr>
        <p:spPr bwMode="auto">
          <a:xfrm>
            <a:off x="1041400" y="5957888"/>
            <a:ext cx="65024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汉明码是具有一位纠错能力的编码</a:t>
            </a:r>
          </a:p>
        </p:txBody>
      </p:sp>
      <p:sp>
        <p:nvSpPr>
          <p:cNvPr id="266248" name="Rectangle 8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grpSp>
        <p:nvGrpSpPr>
          <p:cNvPr id="2" name="Group 9"/>
          <p:cNvGrpSpPr/>
          <p:nvPr/>
        </p:nvGrpSpPr>
        <p:grpSpPr bwMode="auto">
          <a:xfrm>
            <a:off x="1689100" y="3048000"/>
            <a:ext cx="4559300" cy="519113"/>
            <a:chOff x="1256" y="1578"/>
            <a:chExt cx="2872" cy="327"/>
          </a:xfrm>
        </p:grpSpPr>
        <p:sp>
          <p:nvSpPr>
            <p:cNvPr id="177168" name="Text Box 10"/>
            <p:cNvSpPr txBox="1">
              <a:spLocks noChangeArrowheads="1"/>
            </p:cNvSpPr>
            <p:nvPr/>
          </p:nvSpPr>
          <p:spPr bwMode="auto">
            <a:xfrm>
              <a:off x="1256" y="1578"/>
              <a:ext cx="287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800" i="1">
                  <a:latin typeface="Times New Roman" panose="02020603050405020304" pitchFamily="18" charset="0"/>
                </a:rPr>
                <a:t>L</a:t>
              </a:r>
              <a:r>
                <a:rPr lang="en-US" altLang="zh-CN" sz="2800">
                  <a:latin typeface="Times New Roman" panose="02020603050405020304" pitchFamily="18" charset="0"/>
                </a:rPr>
                <a:t>    1 = </a:t>
              </a:r>
              <a:r>
                <a:rPr lang="en-US" altLang="zh-CN" sz="2800" i="1">
                  <a:latin typeface="Times New Roman" panose="02020603050405020304" pitchFamily="18" charset="0"/>
                </a:rPr>
                <a:t>D</a:t>
              </a:r>
              <a:r>
                <a:rPr lang="en-US" altLang="zh-CN" sz="2800">
                  <a:latin typeface="Times New Roman" panose="02020603050405020304" pitchFamily="18" charset="0"/>
                </a:rPr>
                <a:t> + </a:t>
              </a:r>
              <a:r>
                <a:rPr lang="en-US" altLang="zh-CN" sz="2800" i="1">
                  <a:latin typeface="Times New Roman" panose="02020603050405020304" pitchFamily="18" charset="0"/>
                </a:rPr>
                <a:t>C</a:t>
              </a:r>
              <a:r>
                <a:rPr lang="en-US" altLang="zh-CN" sz="2800">
                  <a:latin typeface="Times New Roman" panose="02020603050405020304" pitchFamily="18" charset="0"/>
                </a:rPr>
                <a:t> ( </a:t>
              </a:r>
              <a:r>
                <a:rPr lang="en-US" altLang="zh-CN" sz="2800" i="1">
                  <a:latin typeface="Times New Roman" panose="02020603050405020304" pitchFamily="18" charset="0"/>
                </a:rPr>
                <a:t>D</a:t>
              </a:r>
              <a:r>
                <a:rPr lang="en-US" altLang="zh-CN" sz="2800">
                  <a:latin typeface="Times New Roman" panose="02020603050405020304" pitchFamily="18" charset="0"/>
                </a:rPr>
                <a:t>≥</a:t>
              </a:r>
              <a:r>
                <a:rPr lang="en-US" altLang="zh-CN" sz="2800" i="1">
                  <a:latin typeface="Times New Roman" panose="02020603050405020304" pitchFamily="18" charset="0"/>
                </a:rPr>
                <a:t>C</a:t>
              </a:r>
              <a:r>
                <a:rPr lang="en-US" altLang="zh-CN" sz="2800">
                  <a:latin typeface="Times New Roman" panose="02020603050405020304" pitchFamily="18" charset="0"/>
                </a:rPr>
                <a:t> )</a:t>
              </a:r>
            </a:p>
          </p:txBody>
        </p:sp>
        <p:sp>
          <p:nvSpPr>
            <p:cNvPr id="177169" name="Line 11"/>
            <p:cNvSpPr>
              <a:spLocks noChangeShapeType="1"/>
            </p:cNvSpPr>
            <p:nvPr/>
          </p:nvSpPr>
          <p:spPr bwMode="auto">
            <a:xfrm>
              <a:off x="1507" y="1759"/>
              <a:ext cx="125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66252" name="Text Box 12"/>
          <p:cNvSpPr txBox="1">
            <a:spLocks noChangeArrowheads="1"/>
          </p:cNvSpPr>
          <p:nvPr/>
        </p:nvSpPr>
        <p:spPr bwMode="auto">
          <a:xfrm>
            <a:off x="625475" y="838200"/>
            <a:ext cx="6477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1 . 编码的最小距离</a:t>
            </a:r>
          </a:p>
        </p:txBody>
      </p:sp>
      <p:sp>
        <p:nvSpPr>
          <p:cNvPr id="266253" name="Text Box 13"/>
          <p:cNvSpPr txBox="1">
            <a:spLocks noChangeArrowheads="1"/>
          </p:cNvSpPr>
          <p:nvPr/>
        </p:nvSpPr>
        <p:spPr bwMode="auto">
          <a:xfrm>
            <a:off x="1041400" y="1614488"/>
            <a:ext cx="83820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任意两组合法代码之间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二进制位数 </a:t>
            </a:r>
            <a:r>
              <a:rPr lang="zh-CN" altLang="en-US" sz="2800">
                <a:latin typeface="Times New Roman" panose="02020603050405020304" pitchFamily="18" charset="0"/>
              </a:rPr>
              <a:t>的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最少差异</a:t>
            </a:r>
          </a:p>
        </p:txBody>
      </p:sp>
      <p:grpSp>
        <p:nvGrpSpPr>
          <p:cNvPr id="3" name="Group 14"/>
          <p:cNvGrpSpPr/>
          <p:nvPr/>
        </p:nvGrpSpPr>
        <p:grpSpPr bwMode="auto">
          <a:xfrm>
            <a:off x="5791200" y="3810000"/>
            <a:ext cx="3657600" cy="1281113"/>
            <a:chOff x="3648" y="2400"/>
            <a:chExt cx="2304" cy="807"/>
          </a:xfrm>
        </p:grpSpPr>
        <p:sp>
          <p:nvSpPr>
            <p:cNvPr id="177166" name="Text Box 15"/>
            <p:cNvSpPr txBox="1">
              <a:spLocks noChangeArrowheads="1"/>
            </p:cNvSpPr>
            <p:nvPr/>
          </p:nvSpPr>
          <p:spPr bwMode="auto">
            <a:xfrm>
              <a:off x="3648" y="2400"/>
              <a:ext cx="230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2800" i="1">
                  <a:latin typeface="Times New Roman" panose="02020603050405020304" pitchFamily="18" charset="0"/>
                </a:rPr>
                <a:t>L</a:t>
              </a:r>
              <a:r>
                <a:rPr lang="en-US" altLang="zh-CN" sz="2800">
                  <a:latin typeface="Times New Roman" panose="02020603050405020304" pitchFamily="18" charset="0"/>
                </a:rPr>
                <a:t> = 3   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  <p:sp>
          <p:nvSpPr>
            <p:cNvPr id="177167" name="Text Box 16"/>
            <p:cNvSpPr txBox="1">
              <a:spLocks noChangeArrowheads="1"/>
            </p:cNvSpPr>
            <p:nvPr/>
          </p:nvSpPr>
          <p:spPr bwMode="auto">
            <a:xfrm>
              <a:off x="3648" y="2880"/>
              <a:ext cx="225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具有 </a:t>
              </a: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一位 </a:t>
              </a:r>
              <a:r>
                <a:rPr lang="zh-CN" altLang="en-US" sz="2800">
                  <a:latin typeface="Times New Roman" panose="02020603050405020304" pitchFamily="18" charset="0"/>
                </a:rPr>
                <a:t>纠错能力</a:t>
              </a:r>
            </a:p>
          </p:txBody>
        </p:sp>
      </p:grpSp>
      <p:sp>
        <p:nvSpPr>
          <p:cNvPr id="177165" name="AutoShape 17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66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66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66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66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66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66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" dur="500"/>
                                        <p:tgtEl>
                                          <p:spTgt spid="266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6243" grpId="0" autoUpdateAnimBg="0"/>
      <p:bldP spid="266244" grpId="0" autoUpdateAnimBg="0"/>
      <p:bldP spid="266245" grpId="0" autoUpdateAnimBg="0"/>
      <p:bldP spid="266246" grpId="0" autoUpdateAnimBg="0"/>
      <p:bldP spid="266247" grpId="0" autoUpdateAnimBg="0"/>
      <p:bldP spid="266252" grpId="0" autoUpdateAnimBg="0"/>
      <p:bldP spid="266253" grpId="0" autoUpdateAnimBg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266" name="Text Box 2"/>
          <p:cNvSpPr txBox="1">
            <a:spLocks noChangeArrowheads="1"/>
          </p:cNvSpPr>
          <p:nvPr/>
        </p:nvSpPr>
        <p:spPr bwMode="auto">
          <a:xfrm>
            <a:off x="995363" y="1828800"/>
            <a:ext cx="680878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汉明码的组成需增添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？</a:t>
            </a:r>
            <a:r>
              <a:rPr lang="zh-CN" altLang="en-US" sz="2800">
                <a:latin typeface="Times New Roman" panose="02020603050405020304" pitchFamily="18" charset="0"/>
              </a:rPr>
              <a:t>位检测位</a:t>
            </a:r>
          </a:p>
        </p:txBody>
      </p:sp>
      <p:sp>
        <p:nvSpPr>
          <p:cNvPr id="267267" name="Text Box 3"/>
          <p:cNvSpPr txBox="1">
            <a:spLocks noChangeArrowheads="1"/>
          </p:cNvSpPr>
          <p:nvPr/>
        </p:nvSpPr>
        <p:spPr bwMode="auto">
          <a:xfrm>
            <a:off x="995363" y="3238500"/>
            <a:ext cx="68087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检测位</a:t>
            </a:r>
            <a:r>
              <a: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rPr>
              <a:t>C</a:t>
            </a:r>
            <a:r>
              <a:rPr lang="en-US" altLang="zh-CN" sz="2800" i="1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i</a:t>
            </a:r>
            <a:r>
              <a:rPr lang="zh-CN" altLang="en-US" sz="2800">
                <a:latin typeface="Times New Roman" panose="02020603050405020304" pitchFamily="18" charset="0"/>
              </a:rPr>
              <a:t>的位置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？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67268" name="Text Box 4"/>
          <p:cNvSpPr txBox="1">
            <a:spLocks noChangeArrowheads="1"/>
          </p:cNvSpPr>
          <p:nvPr/>
        </p:nvSpPr>
        <p:spPr bwMode="auto">
          <a:xfrm>
            <a:off x="995363" y="4648200"/>
            <a:ext cx="680878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检测位的取值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？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67269" name="Text Box 5"/>
          <p:cNvSpPr txBox="1">
            <a:spLocks noChangeArrowheads="1"/>
          </p:cNvSpPr>
          <p:nvPr/>
        </p:nvSpPr>
        <p:spPr bwMode="auto">
          <a:xfrm>
            <a:off x="1835150" y="2438400"/>
            <a:ext cx="5797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lang="en-US" altLang="zh-CN" sz="3200" i="1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k</a:t>
            </a:r>
            <a:r>
              <a:rPr lang="en-US" altLang="zh-CN" sz="3200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en-US" altLang="zh-CN" sz="3200">
                <a:solidFill>
                  <a:schemeClr val="folHlink"/>
                </a:solidFill>
              </a:rPr>
              <a:t>≥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en-US" altLang="zh-CN" sz="3200" i="1">
                <a:solidFill>
                  <a:schemeClr val="folHlink"/>
                </a:solidFill>
                <a:latin typeface="Times New Roman" panose="02020603050405020304" pitchFamily="18" charset="0"/>
              </a:rPr>
              <a:t>n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 + </a:t>
            </a:r>
            <a:r>
              <a:rPr lang="en-US" altLang="zh-CN" sz="3200" i="1">
                <a:solidFill>
                  <a:schemeClr val="folHlink"/>
                </a:solidFill>
                <a:latin typeface="Times New Roman" panose="02020603050405020304" pitchFamily="18" charset="0"/>
              </a:rPr>
              <a:t>k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 + 1</a:t>
            </a:r>
          </a:p>
        </p:txBody>
      </p:sp>
      <p:sp>
        <p:nvSpPr>
          <p:cNvPr id="267271" name="Text Box 7"/>
          <p:cNvSpPr txBox="1">
            <a:spLocks noChangeArrowheads="1"/>
          </p:cNvSpPr>
          <p:nvPr/>
        </p:nvSpPr>
        <p:spPr bwMode="auto">
          <a:xfrm>
            <a:off x="1752600" y="5337175"/>
            <a:ext cx="7308850" cy="94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检测位的取值与该位所在的检测“小组” 中</a:t>
            </a:r>
          </a:p>
          <a:p>
            <a:pPr eaLnBrk="1" hangingPunct="1">
              <a:spcBef>
                <a:spcPct val="0"/>
              </a:spcBef>
            </a:pP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承担的奇偶校验任务有关</a:t>
            </a:r>
          </a:p>
        </p:txBody>
      </p:sp>
      <p:sp>
        <p:nvSpPr>
          <p:cNvPr id="267272" name="Text Box 8"/>
          <p:cNvSpPr txBox="1">
            <a:spLocks noChangeArrowheads="1"/>
          </p:cNvSpPr>
          <p:nvPr/>
        </p:nvSpPr>
        <p:spPr bwMode="auto">
          <a:xfrm>
            <a:off x="995363" y="990600"/>
            <a:ext cx="5308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组成汉明码的三要素</a:t>
            </a:r>
          </a:p>
        </p:txBody>
      </p:sp>
      <p:sp>
        <p:nvSpPr>
          <p:cNvPr id="267273" name="Rectangle 9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78185" name="Text Box 10"/>
          <p:cNvSpPr txBox="1">
            <a:spLocks noChangeArrowheads="1"/>
          </p:cNvSpPr>
          <p:nvPr/>
        </p:nvSpPr>
        <p:spPr bwMode="auto">
          <a:xfrm>
            <a:off x="457200" y="304800"/>
            <a:ext cx="5410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2 . 汉明码的组成</a:t>
            </a:r>
          </a:p>
        </p:txBody>
      </p:sp>
      <p:sp>
        <p:nvSpPr>
          <p:cNvPr id="178186" name="AutoShape 11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grpSp>
        <p:nvGrpSpPr>
          <p:cNvPr id="2" name="Group 14"/>
          <p:cNvGrpSpPr/>
          <p:nvPr/>
        </p:nvGrpSpPr>
        <p:grpSpPr bwMode="auto">
          <a:xfrm>
            <a:off x="1835150" y="3786188"/>
            <a:ext cx="5797550" cy="681037"/>
            <a:chOff x="1156" y="2385"/>
            <a:chExt cx="3652" cy="429"/>
          </a:xfrm>
        </p:grpSpPr>
        <p:sp>
          <p:nvSpPr>
            <p:cNvPr id="178188" name="Text Box 6"/>
            <p:cNvSpPr txBox="1">
              <a:spLocks noChangeArrowheads="1"/>
            </p:cNvSpPr>
            <p:nvPr/>
          </p:nvSpPr>
          <p:spPr bwMode="auto">
            <a:xfrm>
              <a:off x="1156" y="2449"/>
              <a:ext cx="365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fontAlgn="ctr" hangingPunct="1">
                <a:spcBef>
                  <a:spcPct val="5000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2</a:t>
              </a:r>
              <a:r>
                <a:rPr lang="en-US" altLang="zh-CN" sz="3200" i="1" baseline="30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i-1</a:t>
              </a:r>
              <a:r>
                <a:rPr lang="en-US" altLang="zh-CN" sz="3200" baseline="30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altLang="zh-CN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( </a:t>
              </a:r>
              <a:r>
                <a:rPr lang="en-US" altLang="zh-CN" sz="3200" i="1">
                  <a:solidFill>
                    <a:schemeClr val="folHlink"/>
                  </a:solidFill>
                  <a:latin typeface="Times New Roman" panose="02020603050405020304" pitchFamily="18" charset="0"/>
                </a:rPr>
                <a:t>i</a:t>
              </a:r>
              <a:r>
                <a:rPr lang="en-US" altLang="zh-CN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= 1</a:t>
              </a: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，</a:t>
              </a:r>
              <a:r>
                <a:rPr lang="en-US" altLang="zh-CN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2 </a:t>
              </a: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，</a:t>
              </a:r>
              <a:r>
                <a:rPr lang="en-US" altLang="zh-CN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3 </a:t>
              </a: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，    </a:t>
              </a:r>
              <a:r>
                <a:rPr lang="en-US" altLang="zh-CN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)</a:t>
              </a:r>
            </a:p>
          </p:txBody>
        </p:sp>
        <p:sp>
          <p:nvSpPr>
            <p:cNvPr id="178189" name="Text Box 13"/>
            <p:cNvSpPr txBox="1">
              <a:spLocks noChangeArrowheads="1"/>
            </p:cNvSpPr>
            <p:nvPr/>
          </p:nvSpPr>
          <p:spPr bwMode="auto">
            <a:xfrm>
              <a:off x="3515" y="2385"/>
              <a:ext cx="63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zh-CN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…</a:t>
              </a:r>
              <a:endParaRPr lang="zh-CN" altLang="en-US" sz="3200">
                <a:solidFill>
                  <a:schemeClr val="folHlink"/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67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67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67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67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672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672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39" dur="500"/>
                                        <p:tgtEl>
                                          <p:spTgt spid="267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7266" grpId="0" autoUpdateAnimBg="0"/>
      <p:bldP spid="267267" grpId="0" autoUpdateAnimBg="0"/>
      <p:bldP spid="267268" grpId="0" autoUpdateAnimBg="0"/>
      <p:bldP spid="267269" grpId="0" autoUpdateAnimBg="0"/>
      <p:bldP spid="267271" grpId="0" autoUpdateAnimBg="0"/>
      <p:bldP spid="267272" grpId="0" autoUpdateAnimBg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2" name="Text Box 2"/>
          <p:cNvSpPr txBox="1">
            <a:spLocks noChangeArrowheads="1"/>
          </p:cNvSpPr>
          <p:nvPr/>
        </p:nvSpPr>
        <p:spPr bwMode="auto">
          <a:xfrm>
            <a:off x="457200" y="381000"/>
            <a:ext cx="7391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各检测位 </a:t>
            </a:r>
            <a:r>
              <a:rPr lang="en-US" altLang="zh-CN" sz="3200">
                <a:latin typeface="Times New Roman" panose="02020603050405020304" pitchFamily="18" charset="0"/>
              </a:rPr>
              <a:t>C</a:t>
            </a:r>
            <a:r>
              <a:rPr lang="en-US" altLang="zh-CN" sz="3200" i="1" baseline="-25000">
                <a:latin typeface="Times New Roman" panose="02020603050405020304" pitchFamily="18" charset="0"/>
              </a:rPr>
              <a:t>i</a:t>
            </a:r>
            <a:r>
              <a:rPr lang="en-US" altLang="zh-CN" sz="3200" baseline="-25000"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latin typeface="Times New Roman" panose="02020603050405020304" pitchFamily="18" charset="0"/>
              </a:rPr>
              <a:t>所承担的检测小组为</a:t>
            </a:r>
            <a:endParaRPr lang="zh-CN" altLang="en-US" sz="3200" baseline="-25000">
              <a:latin typeface="Times New Roman" panose="02020603050405020304" pitchFamily="18" charset="0"/>
            </a:endParaRPr>
          </a:p>
        </p:txBody>
      </p:sp>
      <p:sp>
        <p:nvSpPr>
          <p:cNvPr id="268291" name="Text Box 3"/>
          <p:cNvSpPr txBox="1">
            <a:spLocks noChangeArrowheads="1"/>
          </p:cNvSpPr>
          <p:nvPr/>
        </p:nvSpPr>
        <p:spPr bwMode="auto">
          <a:xfrm>
            <a:off x="755650" y="4378325"/>
            <a:ext cx="29257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g</a:t>
            </a:r>
            <a:r>
              <a:rPr lang="en-US" altLang="zh-CN" sz="2400" i="1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i</a:t>
            </a:r>
            <a:r>
              <a:rPr lang="en-US" altLang="zh-CN" sz="2400" baseline="-25000">
                <a:latin typeface="Times New Roman" panose="02020603050405020304" pitchFamily="18" charset="0"/>
              </a:rPr>
              <a:t> </a:t>
            </a:r>
            <a:r>
              <a:rPr lang="zh-CN" altLang="en-US" sz="2400">
                <a:latin typeface="Times New Roman" panose="02020603050405020304" pitchFamily="18" charset="0"/>
              </a:rPr>
              <a:t>小组独占第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lang="en-US" altLang="zh-CN" sz="2400" i="1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i</a:t>
            </a:r>
            <a:r>
              <a:rPr lang="en-US" altLang="zh-CN" sz="2400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－1</a:t>
            </a:r>
            <a:r>
              <a:rPr lang="en-US" altLang="zh-CN" sz="2400" baseline="30000">
                <a:latin typeface="Times New Roman" panose="02020603050405020304" pitchFamily="18" charset="0"/>
              </a:rPr>
              <a:t> </a:t>
            </a:r>
            <a:r>
              <a:rPr lang="zh-CN" altLang="en-US" sz="2400">
                <a:latin typeface="Times New Roman" panose="02020603050405020304" pitchFamily="18" charset="0"/>
              </a:rPr>
              <a:t>位</a:t>
            </a:r>
          </a:p>
        </p:txBody>
      </p:sp>
      <p:sp>
        <p:nvSpPr>
          <p:cNvPr id="268292" name="Text Box 4"/>
          <p:cNvSpPr txBox="1">
            <a:spLocks noChangeArrowheads="1"/>
          </p:cNvSpPr>
          <p:nvPr/>
        </p:nvSpPr>
        <p:spPr bwMode="auto">
          <a:xfrm>
            <a:off x="755650" y="5086350"/>
            <a:ext cx="47418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g</a:t>
            </a:r>
            <a:r>
              <a:rPr lang="en-US" altLang="zh-CN" sz="2400" i="1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i</a:t>
            </a:r>
            <a:r>
              <a:rPr lang="en-US" altLang="zh-CN" sz="2400">
                <a:latin typeface="Times New Roman" panose="02020603050405020304" pitchFamily="18" charset="0"/>
              </a:rPr>
              <a:t> </a:t>
            </a:r>
            <a:r>
              <a:rPr lang="zh-CN" altLang="en-US" sz="2400">
                <a:latin typeface="Times New Roman" panose="02020603050405020304" pitchFamily="18" charset="0"/>
              </a:rPr>
              <a:t>和 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g</a:t>
            </a:r>
            <a:r>
              <a:rPr lang="en-US" altLang="zh-CN" sz="2400" i="1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j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zh-CN" altLang="en-US" sz="2400">
                <a:latin typeface="Times New Roman" panose="02020603050405020304" pitchFamily="18" charset="0"/>
              </a:rPr>
              <a:t>小组共同占第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lang="en-US" altLang="zh-CN" sz="2400" i="1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i</a:t>
            </a:r>
            <a:r>
              <a:rPr lang="en-US" altLang="zh-CN" sz="2400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－1 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+ 2</a:t>
            </a:r>
            <a:r>
              <a:rPr lang="en-US" altLang="zh-CN" sz="2400" i="1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j</a:t>
            </a:r>
            <a:r>
              <a:rPr lang="en-US" altLang="zh-CN" sz="2400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－1</a:t>
            </a:r>
            <a:r>
              <a:rPr lang="en-US" altLang="zh-CN" sz="2400" baseline="30000">
                <a:latin typeface="Times New Roman" panose="02020603050405020304" pitchFamily="18" charset="0"/>
              </a:rPr>
              <a:t> </a:t>
            </a:r>
            <a:r>
              <a:rPr lang="zh-CN" altLang="en-US" sz="2400">
                <a:latin typeface="Times New Roman" panose="02020603050405020304" pitchFamily="18" charset="0"/>
              </a:rPr>
              <a:t>位</a:t>
            </a:r>
          </a:p>
        </p:txBody>
      </p:sp>
      <p:sp>
        <p:nvSpPr>
          <p:cNvPr id="268293" name="Text Box 5"/>
          <p:cNvSpPr txBox="1">
            <a:spLocks noChangeArrowheads="1"/>
          </p:cNvSpPr>
          <p:nvPr/>
        </p:nvSpPr>
        <p:spPr bwMode="auto">
          <a:xfrm>
            <a:off x="755650" y="5795963"/>
            <a:ext cx="60229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g</a:t>
            </a:r>
            <a:r>
              <a:rPr lang="en-US" altLang="zh-CN" sz="2400" i="1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i</a:t>
            </a:r>
            <a:r>
              <a:rPr lang="en-US" altLang="zh-CN" sz="24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、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g</a:t>
            </a:r>
            <a:r>
              <a:rPr lang="en-US" altLang="zh-CN" sz="2400" i="1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j</a:t>
            </a:r>
            <a:r>
              <a:rPr lang="en-US" altLang="zh-CN" sz="2400">
                <a:latin typeface="Times New Roman" panose="02020603050405020304" pitchFamily="18" charset="0"/>
              </a:rPr>
              <a:t> </a:t>
            </a:r>
            <a:r>
              <a:rPr lang="zh-CN" altLang="en-US" sz="2400">
                <a:latin typeface="Times New Roman" panose="02020603050405020304" pitchFamily="18" charset="0"/>
              </a:rPr>
              <a:t>和 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g</a:t>
            </a:r>
            <a:r>
              <a:rPr lang="en-US" altLang="zh-CN" sz="2400" i="1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l</a:t>
            </a:r>
            <a:r>
              <a:rPr lang="en-US" altLang="zh-CN" sz="2400" baseline="-25000">
                <a:latin typeface="Times New Roman" panose="02020603050405020304" pitchFamily="18" charset="0"/>
              </a:rPr>
              <a:t> </a:t>
            </a:r>
            <a:r>
              <a:rPr lang="zh-CN" altLang="en-US" sz="2400">
                <a:latin typeface="Times New Roman" panose="02020603050405020304" pitchFamily="18" charset="0"/>
              </a:rPr>
              <a:t>小组共同占第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lang="en-US" altLang="zh-CN" sz="2400" i="1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i</a:t>
            </a:r>
            <a:r>
              <a:rPr lang="en-US" altLang="zh-CN" sz="2400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－1 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+ 2</a:t>
            </a:r>
            <a:r>
              <a:rPr lang="en-US" altLang="zh-CN" sz="2400" i="1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j</a:t>
            </a:r>
            <a:r>
              <a:rPr lang="en-US" altLang="zh-CN" sz="2400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－1 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+ 2</a:t>
            </a:r>
            <a:r>
              <a:rPr lang="en-US" altLang="zh-CN" sz="2400" i="1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l</a:t>
            </a:r>
            <a:r>
              <a:rPr lang="en-US" altLang="zh-CN" sz="2400" baseline="30000">
                <a:solidFill>
                  <a:schemeClr val="folHlink"/>
                </a:solidFill>
                <a:latin typeface="Times New Roman" panose="02020603050405020304" pitchFamily="18" charset="0"/>
              </a:rPr>
              <a:t>－1</a:t>
            </a:r>
            <a:r>
              <a:rPr lang="en-US" altLang="zh-CN" sz="2400" baseline="30000">
                <a:latin typeface="Times New Roman" panose="02020603050405020304" pitchFamily="18" charset="0"/>
              </a:rPr>
              <a:t> </a:t>
            </a:r>
            <a:r>
              <a:rPr lang="zh-CN" altLang="en-US" sz="2400">
                <a:latin typeface="Times New Roman" panose="02020603050405020304" pitchFamily="18" charset="0"/>
              </a:rPr>
              <a:t>位 </a:t>
            </a:r>
          </a:p>
        </p:txBody>
      </p:sp>
      <p:grpSp>
        <p:nvGrpSpPr>
          <p:cNvPr id="2" name="Group 6"/>
          <p:cNvGrpSpPr/>
          <p:nvPr/>
        </p:nvGrpSpPr>
        <p:grpSpPr bwMode="auto">
          <a:xfrm>
            <a:off x="228600" y="1157288"/>
            <a:ext cx="6788150" cy="582612"/>
            <a:chOff x="240" y="729"/>
            <a:chExt cx="4276" cy="367"/>
          </a:xfrm>
        </p:grpSpPr>
        <p:sp>
          <p:nvSpPr>
            <p:cNvPr id="179218" name="Text Box 7"/>
            <p:cNvSpPr txBox="1">
              <a:spLocks noChangeArrowheads="1"/>
            </p:cNvSpPr>
            <p:nvPr/>
          </p:nvSpPr>
          <p:spPr bwMode="auto">
            <a:xfrm>
              <a:off x="240" y="808"/>
              <a:ext cx="401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zh-CN" sz="2400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r>
                <a:rPr lang="en-US" altLang="zh-CN" sz="2400">
                  <a:latin typeface="Times New Roman" panose="02020603050405020304" pitchFamily="18" charset="0"/>
                </a:rPr>
                <a:t> </a:t>
              </a:r>
              <a:r>
                <a:rPr lang="zh-CN" altLang="en-US" sz="2400">
                  <a:latin typeface="Times New Roman" panose="02020603050405020304" pitchFamily="18" charset="0"/>
                </a:rPr>
                <a:t>检测的 </a:t>
              </a:r>
              <a:r>
                <a:rPr lang="en-US" altLang="zh-CN" sz="2400">
                  <a:latin typeface="Times New Roman" panose="02020603050405020304" pitchFamily="18" charset="0"/>
                </a:rPr>
                <a:t>g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1 </a:t>
              </a:r>
              <a:r>
                <a:rPr lang="zh-CN" altLang="en-US" sz="2400">
                  <a:latin typeface="Times New Roman" panose="02020603050405020304" pitchFamily="18" charset="0"/>
                </a:rPr>
                <a:t>小组包含第 1，3，5，7，9，11，</a:t>
              </a:r>
            </a:p>
          </p:txBody>
        </p:sp>
        <p:sp>
          <p:nvSpPr>
            <p:cNvPr id="179219" name="Text Box 8"/>
            <p:cNvSpPr txBox="1">
              <a:spLocks noChangeArrowheads="1"/>
            </p:cNvSpPr>
            <p:nvPr/>
          </p:nvSpPr>
          <p:spPr bwMode="auto">
            <a:xfrm>
              <a:off x="4176" y="729"/>
              <a:ext cx="3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3" name="Group 9"/>
          <p:cNvGrpSpPr/>
          <p:nvPr/>
        </p:nvGrpSpPr>
        <p:grpSpPr bwMode="auto">
          <a:xfrm>
            <a:off x="228600" y="1873250"/>
            <a:ext cx="6788150" cy="576263"/>
            <a:chOff x="240" y="1152"/>
            <a:chExt cx="4276" cy="363"/>
          </a:xfrm>
        </p:grpSpPr>
        <p:sp>
          <p:nvSpPr>
            <p:cNvPr id="179216" name="Text Box 10"/>
            <p:cNvSpPr txBox="1">
              <a:spLocks noChangeArrowheads="1"/>
            </p:cNvSpPr>
            <p:nvPr/>
          </p:nvSpPr>
          <p:spPr bwMode="auto">
            <a:xfrm>
              <a:off x="240" y="1227"/>
              <a:ext cx="412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zh-CN" sz="2400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2</a:t>
              </a:r>
              <a:r>
                <a:rPr lang="en-US" altLang="zh-CN" sz="2400">
                  <a:latin typeface="Times New Roman" panose="02020603050405020304" pitchFamily="18" charset="0"/>
                </a:rPr>
                <a:t> </a:t>
              </a:r>
              <a:r>
                <a:rPr lang="zh-CN" altLang="en-US" sz="2400">
                  <a:latin typeface="Times New Roman" panose="02020603050405020304" pitchFamily="18" charset="0"/>
                </a:rPr>
                <a:t>检测的 </a:t>
              </a:r>
              <a:r>
                <a:rPr lang="en-US" altLang="zh-CN" sz="2400">
                  <a:latin typeface="Times New Roman" panose="02020603050405020304" pitchFamily="18" charset="0"/>
                </a:rPr>
                <a:t>g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2</a:t>
              </a:r>
              <a:r>
                <a:rPr lang="en-US" altLang="zh-CN" sz="2400">
                  <a:latin typeface="Times New Roman" panose="02020603050405020304" pitchFamily="18" charset="0"/>
                </a:rPr>
                <a:t> </a:t>
              </a:r>
              <a:r>
                <a:rPr lang="zh-CN" altLang="en-US" sz="2400">
                  <a:latin typeface="Times New Roman" panose="02020603050405020304" pitchFamily="18" charset="0"/>
                </a:rPr>
                <a:t>小组包含第 2，3，6，7，10，11，</a:t>
              </a:r>
            </a:p>
          </p:txBody>
        </p:sp>
        <p:sp>
          <p:nvSpPr>
            <p:cNvPr id="179217" name="Text Box 11"/>
            <p:cNvSpPr txBox="1">
              <a:spLocks noChangeArrowheads="1"/>
            </p:cNvSpPr>
            <p:nvPr/>
          </p:nvSpPr>
          <p:spPr bwMode="auto">
            <a:xfrm>
              <a:off x="4176" y="1152"/>
              <a:ext cx="3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4" name="Group 12"/>
          <p:cNvGrpSpPr/>
          <p:nvPr/>
        </p:nvGrpSpPr>
        <p:grpSpPr bwMode="auto">
          <a:xfrm>
            <a:off x="228600" y="2584450"/>
            <a:ext cx="6788150" cy="609600"/>
            <a:chOff x="240" y="1536"/>
            <a:chExt cx="4276" cy="384"/>
          </a:xfrm>
        </p:grpSpPr>
        <p:sp>
          <p:nvSpPr>
            <p:cNvPr id="179214" name="Text Box 13"/>
            <p:cNvSpPr txBox="1">
              <a:spLocks noChangeArrowheads="1"/>
            </p:cNvSpPr>
            <p:nvPr/>
          </p:nvSpPr>
          <p:spPr bwMode="auto">
            <a:xfrm>
              <a:off x="240" y="1632"/>
              <a:ext cx="412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zh-CN" sz="2400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4</a:t>
              </a:r>
              <a:r>
                <a:rPr lang="en-US" altLang="zh-CN" sz="2400">
                  <a:latin typeface="Times New Roman" panose="02020603050405020304" pitchFamily="18" charset="0"/>
                </a:rPr>
                <a:t> </a:t>
              </a:r>
              <a:r>
                <a:rPr lang="zh-CN" altLang="en-US" sz="2400">
                  <a:latin typeface="Times New Roman" panose="02020603050405020304" pitchFamily="18" charset="0"/>
                </a:rPr>
                <a:t>检测的 </a:t>
              </a:r>
              <a:r>
                <a:rPr lang="en-US" altLang="zh-CN" sz="2400">
                  <a:latin typeface="Times New Roman" panose="02020603050405020304" pitchFamily="18" charset="0"/>
                </a:rPr>
                <a:t>g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3</a:t>
              </a:r>
              <a:r>
                <a:rPr lang="en-US" altLang="zh-CN" sz="2400">
                  <a:latin typeface="Times New Roman" panose="02020603050405020304" pitchFamily="18" charset="0"/>
                </a:rPr>
                <a:t> </a:t>
              </a:r>
              <a:r>
                <a:rPr lang="zh-CN" altLang="en-US" sz="2400">
                  <a:latin typeface="Times New Roman" panose="02020603050405020304" pitchFamily="18" charset="0"/>
                </a:rPr>
                <a:t>小组包含第 4，5，6，7，12，13，</a:t>
              </a:r>
            </a:p>
          </p:txBody>
        </p:sp>
        <p:sp>
          <p:nvSpPr>
            <p:cNvPr id="179215" name="Text Box 14"/>
            <p:cNvSpPr txBox="1">
              <a:spLocks noChangeArrowheads="1"/>
            </p:cNvSpPr>
            <p:nvPr/>
          </p:nvSpPr>
          <p:spPr bwMode="auto">
            <a:xfrm>
              <a:off x="4176" y="1536"/>
              <a:ext cx="3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…</a:t>
              </a:r>
            </a:p>
          </p:txBody>
        </p:sp>
      </p:grpSp>
      <p:grpSp>
        <p:nvGrpSpPr>
          <p:cNvPr id="5" name="Group 15"/>
          <p:cNvGrpSpPr/>
          <p:nvPr/>
        </p:nvGrpSpPr>
        <p:grpSpPr bwMode="auto">
          <a:xfrm>
            <a:off x="228600" y="3328988"/>
            <a:ext cx="8915400" cy="590550"/>
            <a:chOff x="144" y="2097"/>
            <a:chExt cx="5616" cy="372"/>
          </a:xfrm>
        </p:grpSpPr>
        <p:sp>
          <p:nvSpPr>
            <p:cNvPr id="179212" name="Text Box 16"/>
            <p:cNvSpPr txBox="1">
              <a:spLocks noChangeArrowheads="1"/>
            </p:cNvSpPr>
            <p:nvPr/>
          </p:nvSpPr>
          <p:spPr bwMode="auto">
            <a:xfrm>
              <a:off x="144" y="2181"/>
              <a:ext cx="547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zh-CN" sz="2400" baseline="-25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8</a:t>
              </a:r>
              <a:r>
                <a:rPr lang="en-US" altLang="zh-CN" sz="2400">
                  <a:latin typeface="Times New Roman" panose="02020603050405020304" pitchFamily="18" charset="0"/>
                </a:rPr>
                <a:t> </a:t>
              </a:r>
              <a:r>
                <a:rPr lang="zh-CN" altLang="en-US" sz="2400">
                  <a:latin typeface="Times New Roman" panose="02020603050405020304" pitchFamily="18" charset="0"/>
                </a:rPr>
                <a:t>检测的 </a:t>
              </a:r>
              <a:r>
                <a:rPr lang="en-US" altLang="zh-CN" sz="2400">
                  <a:latin typeface="Times New Roman" panose="02020603050405020304" pitchFamily="18" charset="0"/>
                </a:rPr>
                <a:t>g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4</a:t>
              </a:r>
              <a:r>
                <a:rPr lang="en-US" altLang="zh-CN" sz="2400">
                  <a:latin typeface="Times New Roman" panose="02020603050405020304" pitchFamily="18" charset="0"/>
                </a:rPr>
                <a:t> </a:t>
              </a:r>
              <a:r>
                <a:rPr lang="zh-CN" altLang="en-US" sz="2400">
                  <a:latin typeface="Times New Roman" panose="02020603050405020304" pitchFamily="18" charset="0"/>
                </a:rPr>
                <a:t>小组包含第 8，9，10，11，12，13，14，15，24，</a:t>
              </a:r>
            </a:p>
          </p:txBody>
        </p:sp>
        <p:sp>
          <p:nvSpPr>
            <p:cNvPr id="179213" name="Text Box 17"/>
            <p:cNvSpPr txBox="1">
              <a:spLocks noChangeArrowheads="1"/>
            </p:cNvSpPr>
            <p:nvPr/>
          </p:nvSpPr>
          <p:spPr bwMode="auto">
            <a:xfrm>
              <a:off x="5420" y="2097"/>
              <a:ext cx="3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…</a:t>
              </a:r>
            </a:p>
          </p:txBody>
        </p:sp>
      </p:grpSp>
      <p:sp>
        <p:nvSpPr>
          <p:cNvPr id="268306" name="Rectangle 18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79211" name="AutoShape 19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68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68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68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8291" grpId="0" autoUpdateAnimBg="0"/>
      <p:bldP spid="268292" grpId="0" autoUpdateAnimBg="0"/>
      <p:bldP spid="268293" grpId="0" autoUpdateAnimBg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6" name="Text Box 2"/>
          <p:cNvSpPr txBox="1">
            <a:spLocks noChangeArrowheads="1"/>
          </p:cNvSpPr>
          <p:nvPr/>
        </p:nvSpPr>
        <p:spPr bwMode="auto">
          <a:xfrm>
            <a:off x="255588" y="533400"/>
            <a:ext cx="1328737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例4.4 </a:t>
            </a:r>
          </a:p>
        </p:txBody>
      </p:sp>
      <p:sp>
        <p:nvSpPr>
          <p:cNvPr id="800771" name="Text Box 3"/>
          <p:cNvSpPr txBox="1">
            <a:spLocks noChangeArrowheads="1"/>
          </p:cNvSpPr>
          <p:nvPr/>
        </p:nvSpPr>
        <p:spPr bwMode="auto">
          <a:xfrm>
            <a:off x="1474788" y="595313"/>
            <a:ext cx="629761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求 0101 按 “偶校验” 配置的汉明码</a:t>
            </a:r>
          </a:p>
        </p:txBody>
      </p:sp>
      <p:sp>
        <p:nvSpPr>
          <p:cNvPr id="800772" name="Text Box 4"/>
          <p:cNvSpPr txBox="1">
            <a:spLocks noChangeArrowheads="1"/>
          </p:cNvSpPr>
          <p:nvPr/>
        </p:nvSpPr>
        <p:spPr bwMode="auto">
          <a:xfrm>
            <a:off x="1050925" y="1295400"/>
            <a:ext cx="10001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解：</a:t>
            </a:r>
          </a:p>
        </p:txBody>
      </p:sp>
      <p:sp>
        <p:nvSpPr>
          <p:cNvPr id="800773" name="Text Box 5"/>
          <p:cNvSpPr txBox="1">
            <a:spLocks noChangeArrowheads="1"/>
          </p:cNvSpPr>
          <p:nvPr/>
        </p:nvSpPr>
        <p:spPr bwMode="auto">
          <a:xfrm>
            <a:off x="1828800" y="1295400"/>
            <a:ext cx="165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∵  </a:t>
            </a:r>
            <a:r>
              <a:rPr lang="en-US" altLang="zh-CN" sz="3200" i="1">
                <a:latin typeface="Times New Roman" panose="02020603050405020304" pitchFamily="18" charset="0"/>
              </a:rPr>
              <a:t>n</a:t>
            </a:r>
            <a:r>
              <a:rPr lang="en-US" altLang="zh-CN" sz="3200">
                <a:latin typeface="Times New Roman" panose="02020603050405020304" pitchFamily="18" charset="0"/>
              </a:rPr>
              <a:t> = 4</a:t>
            </a:r>
          </a:p>
        </p:txBody>
      </p:sp>
      <p:sp>
        <p:nvSpPr>
          <p:cNvPr id="800774" name="Text Box 6"/>
          <p:cNvSpPr txBox="1">
            <a:spLocks noChangeArrowheads="1"/>
          </p:cNvSpPr>
          <p:nvPr/>
        </p:nvSpPr>
        <p:spPr bwMode="auto">
          <a:xfrm>
            <a:off x="2422525" y="1981200"/>
            <a:ext cx="3511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根据 2</a:t>
            </a:r>
            <a:r>
              <a:rPr lang="en-US" altLang="zh-CN" sz="3200" i="1" baseline="30000">
                <a:latin typeface="Times New Roman" panose="02020603050405020304" pitchFamily="18" charset="0"/>
              </a:rPr>
              <a:t>k</a:t>
            </a:r>
            <a:r>
              <a:rPr lang="en-US" altLang="zh-CN" sz="3200" baseline="30000">
                <a:latin typeface="Times New Roman" panose="02020603050405020304" pitchFamily="18" charset="0"/>
              </a:rPr>
              <a:t> </a:t>
            </a:r>
            <a:r>
              <a:rPr lang="en-US" altLang="zh-CN" sz="3200">
                <a:latin typeface="Times New Roman" panose="02020603050405020304" pitchFamily="18" charset="0"/>
              </a:rPr>
              <a:t>≥ </a:t>
            </a:r>
            <a:r>
              <a:rPr lang="en-US" altLang="zh-CN" sz="3200" i="1">
                <a:latin typeface="Times New Roman" panose="02020603050405020304" pitchFamily="18" charset="0"/>
              </a:rPr>
              <a:t>n</a:t>
            </a:r>
            <a:r>
              <a:rPr lang="en-US" altLang="zh-CN" sz="3200">
                <a:latin typeface="Times New Roman" panose="02020603050405020304" pitchFamily="18" charset="0"/>
              </a:rPr>
              <a:t> + </a:t>
            </a:r>
            <a:r>
              <a:rPr lang="en-US" altLang="zh-CN" sz="3200" i="1">
                <a:latin typeface="Times New Roman" panose="02020603050405020304" pitchFamily="18" charset="0"/>
              </a:rPr>
              <a:t>k</a:t>
            </a:r>
            <a:r>
              <a:rPr lang="en-US" altLang="zh-CN" sz="3200">
                <a:latin typeface="Times New Roman" panose="02020603050405020304" pitchFamily="18" charset="0"/>
              </a:rPr>
              <a:t> + 1</a:t>
            </a:r>
          </a:p>
        </p:txBody>
      </p:sp>
      <p:sp>
        <p:nvSpPr>
          <p:cNvPr id="800775" name="Text Box 7"/>
          <p:cNvSpPr txBox="1">
            <a:spLocks noChangeArrowheads="1"/>
          </p:cNvSpPr>
          <p:nvPr/>
        </p:nvSpPr>
        <p:spPr bwMode="auto">
          <a:xfrm>
            <a:off x="2422525" y="2590800"/>
            <a:ext cx="19970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得 </a:t>
            </a:r>
            <a:r>
              <a:rPr lang="en-US" altLang="zh-CN" sz="3200" i="1">
                <a:latin typeface="Times New Roman" panose="02020603050405020304" pitchFamily="18" charset="0"/>
              </a:rPr>
              <a:t>k</a:t>
            </a:r>
            <a:r>
              <a:rPr lang="en-US" altLang="zh-CN" sz="3200">
                <a:latin typeface="Times New Roman" panose="02020603050405020304" pitchFamily="18" charset="0"/>
              </a:rPr>
              <a:t> = 3</a:t>
            </a:r>
          </a:p>
        </p:txBody>
      </p:sp>
      <p:sp>
        <p:nvSpPr>
          <p:cNvPr id="800776" name="Text Box 8"/>
          <p:cNvSpPr txBox="1">
            <a:spLocks noChangeArrowheads="1"/>
          </p:cNvSpPr>
          <p:nvPr/>
        </p:nvSpPr>
        <p:spPr bwMode="auto">
          <a:xfrm>
            <a:off x="693738" y="3276600"/>
            <a:ext cx="3175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汉明码排序如下:</a:t>
            </a:r>
          </a:p>
        </p:txBody>
      </p:sp>
      <p:grpSp>
        <p:nvGrpSpPr>
          <p:cNvPr id="2" name="Group 9"/>
          <p:cNvGrpSpPr/>
          <p:nvPr/>
        </p:nvGrpSpPr>
        <p:grpSpPr bwMode="auto">
          <a:xfrm>
            <a:off x="609600" y="3962400"/>
            <a:ext cx="8153400" cy="1908175"/>
            <a:chOff x="384" y="2496"/>
            <a:chExt cx="5136" cy="1202"/>
          </a:xfrm>
        </p:grpSpPr>
        <p:sp>
          <p:nvSpPr>
            <p:cNvPr id="180244" name="Line 10"/>
            <p:cNvSpPr>
              <a:spLocks noChangeShapeType="1"/>
            </p:cNvSpPr>
            <p:nvPr/>
          </p:nvSpPr>
          <p:spPr bwMode="auto">
            <a:xfrm>
              <a:off x="384" y="2976"/>
              <a:ext cx="513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0245" name="Line 11"/>
            <p:cNvSpPr>
              <a:spLocks noChangeShapeType="1"/>
            </p:cNvSpPr>
            <p:nvPr/>
          </p:nvSpPr>
          <p:spPr bwMode="auto">
            <a:xfrm>
              <a:off x="1920" y="2496"/>
              <a:ext cx="0" cy="120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0246" name="Text Box 12"/>
            <p:cNvSpPr txBox="1">
              <a:spLocks noChangeArrowheads="1"/>
            </p:cNvSpPr>
            <p:nvPr/>
          </p:nvSpPr>
          <p:spPr bwMode="auto">
            <a:xfrm>
              <a:off x="535" y="2556"/>
              <a:ext cx="124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二进制序号</a:t>
              </a:r>
            </a:p>
          </p:txBody>
        </p:sp>
        <p:sp>
          <p:nvSpPr>
            <p:cNvPr id="180247" name="Text Box 13"/>
            <p:cNvSpPr txBox="1">
              <a:spLocks noChangeArrowheads="1"/>
            </p:cNvSpPr>
            <p:nvPr/>
          </p:nvSpPr>
          <p:spPr bwMode="auto">
            <a:xfrm>
              <a:off x="960" y="3024"/>
              <a:ext cx="56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名称</a:t>
              </a:r>
            </a:p>
          </p:txBody>
        </p:sp>
        <p:sp>
          <p:nvSpPr>
            <p:cNvPr id="180248" name="Text Box 14"/>
            <p:cNvSpPr txBox="1">
              <a:spLocks noChangeArrowheads="1"/>
            </p:cNvSpPr>
            <p:nvPr/>
          </p:nvSpPr>
          <p:spPr bwMode="auto">
            <a:xfrm>
              <a:off x="2101" y="2556"/>
              <a:ext cx="331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1      2      3      4      5      6      7</a:t>
              </a:r>
            </a:p>
          </p:txBody>
        </p:sp>
      </p:grpSp>
      <p:sp>
        <p:nvSpPr>
          <p:cNvPr id="800783" name="Text Box 15"/>
          <p:cNvSpPr txBox="1">
            <a:spLocks noChangeArrowheads="1"/>
          </p:cNvSpPr>
          <p:nvPr/>
        </p:nvSpPr>
        <p:spPr bwMode="auto">
          <a:xfrm>
            <a:off x="3335338" y="4800600"/>
            <a:ext cx="28876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C</a:t>
            </a:r>
            <a:r>
              <a:rPr lang="en-US" altLang="zh-CN" sz="32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1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   C</a:t>
            </a:r>
            <a:r>
              <a:rPr lang="en-US" altLang="zh-CN" sz="32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           C</a:t>
            </a:r>
            <a:r>
              <a:rPr lang="en-US" altLang="zh-CN" sz="32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4</a:t>
            </a:r>
            <a:endParaRPr lang="en-US" altLang="zh-CN" sz="32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800784" name="Text Box 16"/>
          <p:cNvSpPr txBox="1">
            <a:spLocks noChangeArrowheads="1"/>
          </p:cNvSpPr>
          <p:nvPr/>
        </p:nvSpPr>
        <p:spPr bwMode="auto">
          <a:xfrm>
            <a:off x="3411538" y="5353050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800785" name="Text Box 17"/>
          <p:cNvSpPr txBox="1">
            <a:spLocks noChangeArrowheads="1"/>
          </p:cNvSpPr>
          <p:nvPr/>
        </p:nvSpPr>
        <p:spPr bwMode="auto">
          <a:xfrm>
            <a:off x="1660525" y="5892800"/>
            <a:ext cx="54514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∴ 0101 的汉明码为</a:t>
            </a: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 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0100101</a:t>
            </a:r>
          </a:p>
        </p:txBody>
      </p:sp>
      <p:grpSp>
        <p:nvGrpSpPr>
          <p:cNvPr id="3" name="Group 18"/>
          <p:cNvGrpSpPr/>
          <p:nvPr/>
        </p:nvGrpSpPr>
        <p:grpSpPr bwMode="auto">
          <a:xfrm>
            <a:off x="4946650" y="4819650"/>
            <a:ext cx="3587750" cy="579438"/>
            <a:chOff x="3116" y="3036"/>
            <a:chExt cx="2260" cy="365"/>
          </a:xfrm>
        </p:grpSpPr>
        <p:sp>
          <p:nvSpPr>
            <p:cNvPr id="180242" name="Text Box 19"/>
            <p:cNvSpPr txBox="1">
              <a:spLocks noChangeArrowheads="1"/>
            </p:cNvSpPr>
            <p:nvPr/>
          </p:nvSpPr>
          <p:spPr bwMode="auto">
            <a:xfrm>
              <a:off x="3116" y="3036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80243" name="Text Box 20"/>
            <p:cNvSpPr txBox="1">
              <a:spLocks noChangeArrowheads="1"/>
            </p:cNvSpPr>
            <p:nvPr/>
          </p:nvSpPr>
          <p:spPr bwMode="auto">
            <a:xfrm>
              <a:off x="4172" y="3036"/>
              <a:ext cx="120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1     0      1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sp>
        <p:nvSpPr>
          <p:cNvPr id="800789" name="Rectangle 21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800790" name="Text Box 22"/>
          <p:cNvSpPr txBox="1">
            <a:spLocks noChangeArrowheads="1"/>
          </p:cNvSpPr>
          <p:nvPr/>
        </p:nvSpPr>
        <p:spPr bwMode="auto">
          <a:xfrm>
            <a:off x="4114800" y="5353050"/>
            <a:ext cx="838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1</a:t>
            </a:r>
          </a:p>
        </p:txBody>
      </p:sp>
      <p:sp>
        <p:nvSpPr>
          <p:cNvPr id="800791" name="Text Box 23"/>
          <p:cNvSpPr txBox="1">
            <a:spLocks noChangeArrowheads="1"/>
          </p:cNvSpPr>
          <p:nvPr/>
        </p:nvSpPr>
        <p:spPr bwMode="auto">
          <a:xfrm>
            <a:off x="5715000" y="5353050"/>
            <a:ext cx="838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180241" name="AutoShape 24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8007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8007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8007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8007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800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800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8007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8007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7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8007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800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800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0771" grpId="0" autoUpdateAnimBg="0"/>
      <p:bldP spid="800772" grpId="0" autoUpdateAnimBg="0"/>
      <p:bldP spid="800773" grpId="0" autoUpdateAnimBg="0"/>
      <p:bldP spid="800774" grpId="0" autoUpdateAnimBg="0"/>
      <p:bldP spid="800775" grpId="0" autoUpdateAnimBg="0"/>
      <p:bldP spid="800776" grpId="0" autoUpdateAnimBg="0"/>
      <p:bldP spid="800783" grpId="0" autoUpdateAnimBg="0"/>
      <p:bldP spid="800784" grpId="0" autoUpdateAnimBg="0"/>
      <p:bldP spid="800785" grpId="0" autoUpdateAnimBg="0"/>
      <p:bldP spid="800790" grpId="0" autoUpdateAnimBg="0"/>
      <p:bldP spid="800791" grpId="0" autoUpdateAnimBg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1794" name="Text Box 2"/>
          <p:cNvSpPr txBox="1">
            <a:spLocks noChangeArrowheads="1"/>
          </p:cNvSpPr>
          <p:nvPr/>
        </p:nvSpPr>
        <p:spPr bwMode="auto">
          <a:xfrm>
            <a:off x="2057400" y="290513"/>
            <a:ext cx="5791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按配偶原则配置 0011 的汉明码</a:t>
            </a:r>
          </a:p>
        </p:txBody>
      </p:sp>
      <p:grpSp>
        <p:nvGrpSpPr>
          <p:cNvPr id="2" name="Group 3"/>
          <p:cNvGrpSpPr/>
          <p:nvPr/>
        </p:nvGrpSpPr>
        <p:grpSpPr bwMode="auto">
          <a:xfrm>
            <a:off x="595313" y="2286000"/>
            <a:ext cx="8167687" cy="1733550"/>
            <a:chOff x="375" y="1440"/>
            <a:chExt cx="5145" cy="1092"/>
          </a:xfrm>
        </p:grpSpPr>
        <p:sp>
          <p:nvSpPr>
            <p:cNvPr id="181276" name="Line 4"/>
            <p:cNvSpPr>
              <a:spLocks noChangeShapeType="1"/>
            </p:cNvSpPr>
            <p:nvPr/>
          </p:nvSpPr>
          <p:spPr bwMode="auto">
            <a:xfrm>
              <a:off x="384" y="1860"/>
              <a:ext cx="513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1277" name="Freeform 5"/>
            <p:cNvSpPr/>
            <p:nvPr/>
          </p:nvSpPr>
          <p:spPr bwMode="auto">
            <a:xfrm>
              <a:off x="1920" y="1476"/>
              <a:ext cx="1" cy="1056"/>
            </a:xfrm>
            <a:custGeom>
              <a:avLst/>
              <a:gdLst>
                <a:gd name="T0" fmla="*/ 0 w 1"/>
                <a:gd name="T1" fmla="*/ 0 h 1056"/>
                <a:gd name="T2" fmla="*/ 0 w 1"/>
                <a:gd name="T3" fmla="*/ 1056 h 1056"/>
                <a:gd name="T4" fmla="*/ 0 60000 65536"/>
                <a:gd name="T5" fmla="*/ 0 60000 65536"/>
                <a:gd name="T6" fmla="*/ 0 w 1"/>
                <a:gd name="T7" fmla="*/ 0 h 1056"/>
                <a:gd name="T8" fmla="*/ 1 w 1"/>
                <a:gd name="T9" fmla="*/ 1056 h 105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056">
                  <a:moveTo>
                    <a:pt x="0" y="0"/>
                  </a:moveTo>
                  <a:lnTo>
                    <a:pt x="0" y="1056"/>
                  </a:lnTo>
                </a:path>
              </a:pathLst>
            </a:custGeom>
            <a:noFill/>
            <a:ln w="28575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1278" name="Text Box 6"/>
            <p:cNvSpPr txBox="1">
              <a:spLocks noChangeArrowheads="1"/>
            </p:cNvSpPr>
            <p:nvPr/>
          </p:nvSpPr>
          <p:spPr bwMode="auto">
            <a:xfrm>
              <a:off x="375" y="1449"/>
              <a:ext cx="1409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   二进制序号</a:t>
              </a:r>
            </a:p>
          </p:txBody>
        </p:sp>
        <p:sp>
          <p:nvSpPr>
            <p:cNvPr id="181279" name="Text Box 7"/>
            <p:cNvSpPr txBox="1">
              <a:spLocks noChangeArrowheads="1"/>
            </p:cNvSpPr>
            <p:nvPr/>
          </p:nvSpPr>
          <p:spPr bwMode="auto">
            <a:xfrm>
              <a:off x="714" y="1929"/>
              <a:ext cx="73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   名称</a:t>
              </a:r>
            </a:p>
          </p:txBody>
        </p:sp>
        <p:sp>
          <p:nvSpPr>
            <p:cNvPr id="181280" name="Text Box 8"/>
            <p:cNvSpPr txBox="1">
              <a:spLocks noChangeArrowheads="1"/>
            </p:cNvSpPr>
            <p:nvPr/>
          </p:nvSpPr>
          <p:spPr bwMode="auto">
            <a:xfrm>
              <a:off x="2101" y="1440"/>
              <a:ext cx="331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1      2      3      4      5      6      7</a:t>
              </a:r>
            </a:p>
          </p:txBody>
        </p:sp>
      </p:grpSp>
      <p:sp>
        <p:nvSpPr>
          <p:cNvPr id="801801" name="Text Box 9"/>
          <p:cNvSpPr txBox="1">
            <a:spLocks noChangeArrowheads="1"/>
          </p:cNvSpPr>
          <p:nvPr/>
        </p:nvSpPr>
        <p:spPr bwMode="auto">
          <a:xfrm>
            <a:off x="3335338" y="3048000"/>
            <a:ext cx="32178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C</a:t>
            </a:r>
            <a:r>
              <a:rPr lang="en-US" altLang="zh-CN" sz="32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1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   C</a:t>
            </a:r>
            <a:r>
              <a:rPr lang="en-US" altLang="zh-CN" sz="32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            C</a:t>
            </a:r>
            <a:r>
              <a:rPr lang="en-US" altLang="zh-CN" sz="32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4</a:t>
            </a:r>
            <a:endParaRPr lang="en-US" altLang="zh-CN" sz="32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801802" name="Text Box 10"/>
          <p:cNvSpPr txBox="1">
            <a:spLocks noChangeArrowheads="1"/>
          </p:cNvSpPr>
          <p:nvPr/>
        </p:nvSpPr>
        <p:spPr bwMode="auto">
          <a:xfrm>
            <a:off x="3411538" y="3581400"/>
            <a:ext cx="30654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1     0              0</a:t>
            </a:r>
          </a:p>
        </p:txBody>
      </p:sp>
      <p:grpSp>
        <p:nvGrpSpPr>
          <p:cNvPr id="3" name="Group 11"/>
          <p:cNvGrpSpPr/>
          <p:nvPr/>
        </p:nvGrpSpPr>
        <p:grpSpPr bwMode="auto">
          <a:xfrm>
            <a:off x="4876800" y="3048000"/>
            <a:ext cx="3657600" cy="579438"/>
            <a:chOff x="3072" y="2947"/>
            <a:chExt cx="2304" cy="365"/>
          </a:xfrm>
        </p:grpSpPr>
        <p:sp>
          <p:nvSpPr>
            <p:cNvPr id="181274" name="Text Box 12"/>
            <p:cNvSpPr txBox="1">
              <a:spLocks noChangeArrowheads="1"/>
            </p:cNvSpPr>
            <p:nvPr/>
          </p:nvSpPr>
          <p:spPr bwMode="auto">
            <a:xfrm>
              <a:off x="3072" y="2947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81275" name="Text Box 13"/>
            <p:cNvSpPr txBox="1">
              <a:spLocks noChangeArrowheads="1"/>
            </p:cNvSpPr>
            <p:nvPr/>
          </p:nvSpPr>
          <p:spPr bwMode="auto">
            <a:xfrm>
              <a:off x="4172" y="2947"/>
              <a:ext cx="120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0     1      1</a:t>
              </a: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sp>
        <p:nvSpPr>
          <p:cNvPr id="801806" name="Text Box 14"/>
          <p:cNvSpPr txBox="1">
            <a:spLocks noChangeArrowheads="1"/>
          </p:cNvSpPr>
          <p:nvPr/>
        </p:nvSpPr>
        <p:spPr bwMode="auto">
          <a:xfrm>
            <a:off x="1279525" y="990600"/>
            <a:ext cx="10001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解：</a:t>
            </a:r>
          </a:p>
        </p:txBody>
      </p:sp>
      <p:sp>
        <p:nvSpPr>
          <p:cNvPr id="801807" name="Text Box 15"/>
          <p:cNvSpPr txBox="1">
            <a:spLocks noChangeArrowheads="1"/>
          </p:cNvSpPr>
          <p:nvPr/>
        </p:nvSpPr>
        <p:spPr bwMode="auto">
          <a:xfrm>
            <a:off x="2438400" y="990600"/>
            <a:ext cx="54927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∵ </a:t>
            </a:r>
            <a:r>
              <a:rPr lang="en-US" altLang="zh-CN" sz="3200" i="1">
                <a:latin typeface="Times New Roman" panose="02020603050405020304" pitchFamily="18" charset="0"/>
              </a:rPr>
              <a:t>n</a:t>
            </a:r>
            <a:r>
              <a:rPr lang="en-US" altLang="zh-CN" sz="3200">
                <a:latin typeface="Times New Roman" panose="02020603050405020304" pitchFamily="18" charset="0"/>
              </a:rPr>
              <a:t> = 4      </a:t>
            </a:r>
            <a:r>
              <a:rPr lang="zh-CN" altLang="en-US" sz="3200">
                <a:latin typeface="Times New Roman" panose="02020603050405020304" pitchFamily="18" charset="0"/>
              </a:rPr>
              <a:t>根据 2</a:t>
            </a:r>
            <a:r>
              <a:rPr lang="en-US" altLang="zh-CN" sz="3200" i="1" baseline="30000">
                <a:latin typeface="Times New Roman" panose="02020603050405020304" pitchFamily="18" charset="0"/>
              </a:rPr>
              <a:t>k</a:t>
            </a:r>
            <a:r>
              <a:rPr lang="en-US" altLang="zh-CN" sz="3200" baseline="30000">
                <a:latin typeface="Times New Roman" panose="02020603050405020304" pitchFamily="18" charset="0"/>
              </a:rPr>
              <a:t> </a:t>
            </a:r>
            <a:r>
              <a:rPr lang="en-US" altLang="zh-CN" sz="3200">
                <a:latin typeface="Times New Roman" panose="02020603050405020304" pitchFamily="18" charset="0"/>
              </a:rPr>
              <a:t>≥ </a:t>
            </a:r>
            <a:r>
              <a:rPr lang="en-US" altLang="zh-CN" sz="3200" i="1">
                <a:latin typeface="Times New Roman" panose="02020603050405020304" pitchFamily="18" charset="0"/>
              </a:rPr>
              <a:t>n</a:t>
            </a:r>
            <a:r>
              <a:rPr lang="en-US" altLang="zh-CN" sz="3200">
                <a:latin typeface="Times New Roman" panose="02020603050405020304" pitchFamily="18" charset="0"/>
              </a:rPr>
              <a:t> + </a:t>
            </a:r>
            <a:r>
              <a:rPr lang="en-US" altLang="zh-CN" sz="3200" i="1">
                <a:latin typeface="Times New Roman" panose="02020603050405020304" pitchFamily="18" charset="0"/>
              </a:rPr>
              <a:t>k</a:t>
            </a:r>
            <a:r>
              <a:rPr lang="en-US" altLang="zh-CN" sz="3200">
                <a:latin typeface="Times New Roman" panose="02020603050405020304" pitchFamily="18" charset="0"/>
              </a:rPr>
              <a:t> + 1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801808" name="Text Box 16"/>
          <p:cNvSpPr txBox="1">
            <a:spLocks noChangeArrowheads="1"/>
          </p:cNvSpPr>
          <p:nvPr/>
        </p:nvSpPr>
        <p:spPr bwMode="auto">
          <a:xfrm>
            <a:off x="2938463" y="1600200"/>
            <a:ext cx="15335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取 </a:t>
            </a:r>
            <a:r>
              <a:rPr lang="en-US" altLang="zh-CN" sz="3200" i="1">
                <a:latin typeface="Times New Roman" panose="02020603050405020304" pitchFamily="18" charset="0"/>
              </a:rPr>
              <a:t>k</a:t>
            </a:r>
            <a:r>
              <a:rPr lang="en-US" altLang="zh-CN" sz="3200">
                <a:latin typeface="Times New Roman" panose="02020603050405020304" pitchFamily="18" charset="0"/>
              </a:rPr>
              <a:t> = 3</a:t>
            </a:r>
          </a:p>
        </p:txBody>
      </p:sp>
      <p:grpSp>
        <p:nvGrpSpPr>
          <p:cNvPr id="4" name="Group 17"/>
          <p:cNvGrpSpPr/>
          <p:nvPr/>
        </p:nvGrpSpPr>
        <p:grpSpPr bwMode="auto">
          <a:xfrm>
            <a:off x="1371600" y="4068763"/>
            <a:ext cx="3208338" cy="579437"/>
            <a:chOff x="864" y="2784"/>
            <a:chExt cx="2021" cy="365"/>
          </a:xfrm>
        </p:grpSpPr>
        <p:sp>
          <p:nvSpPr>
            <p:cNvPr id="181271" name="Text Box 18"/>
            <p:cNvSpPr txBox="1">
              <a:spLocks noChangeArrowheads="1"/>
            </p:cNvSpPr>
            <p:nvPr/>
          </p:nvSpPr>
          <p:spPr bwMode="auto">
            <a:xfrm>
              <a:off x="864" y="2784"/>
              <a:ext cx="202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C</a:t>
              </a:r>
              <a:r>
                <a:rPr lang="en-US" altLang="zh-CN" sz="3200" baseline="-25000">
                  <a:latin typeface="Times New Roman" panose="02020603050405020304" pitchFamily="18" charset="0"/>
                </a:rPr>
                <a:t>1</a:t>
              </a:r>
              <a:r>
                <a:rPr lang="en-US" altLang="zh-CN" sz="3200">
                  <a:latin typeface="Times New Roman" panose="02020603050405020304" pitchFamily="18" charset="0"/>
                </a:rPr>
                <a:t>= 3     5     7 = 1</a:t>
              </a:r>
            </a:p>
          </p:txBody>
        </p:sp>
        <p:sp>
          <p:nvSpPr>
            <p:cNvPr id="181272" name="AutoShape 19"/>
            <p:cNvSpPr>
              <a:spLocks noChangeArrowheads="1"/>
            </p:cNvSpPr>
            <p:nvPr/>
          </p:nvSpPr>
          <p:spPr bwMode="auto">
            <a:xfrm>
              <a:off x="1584" y="2868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1273" name="AutoShape 20"/>
            <p:cNvSpPr>
              <a:spLocks noChangeArrowheads="1"/>
            </p:cNvSpPr>
            <p:nvPr/>
          </p:nvSpPr>
          <p:spPr bwMode="auto">
            <a:xfrm>
              <a:off x="2064" y="2868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grpSp>
        <p:nvGrpSpPr>
          <p:cNvPr id="5" name="Group 21"/>
          <p:cNvGrpSpPr/>
          <p:nvPr/>
        </p:nvGrpSpPr>
        <p:grpSpPr bwMode="auto">
          <a:xfrm>
            <a:off x="1371600" y="4738688"/>
            <a:ext cx="3208338" cy="579437"/>
            <a:chOff x="864" y="3216"/>
            <a:chExt cx="2021" cy="365"/>
          </a:xfrm>
        </p:grpSpPr>
        <p:sp>
          <p:nvSpPr>
            <p:cNvPr id="181268" name="Text Box 22"/>
            <p:cNvSpPr txBox="1">
              <a:spLocks noChangeArrowheads="1"/>
            </p:cNvSpPr>
            <p:nvPr/>
          </p:nvSpPr>
          <p:spPr bwMode="auto">
            <a:xfrm>
              <a:off x="864" y="3216"/>
              <a:ext cx="202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C</a:t>
              </a:r>
              <a:r>
                <a:rPr lang="en-US" altLang="zh-CN" sz="3200" baseline="-25000">
                  <a:latin typeface="Times New Roman" panose="02020603050405020304" pitchFamily="18" charset="0"/>
                </a:rPr>
                <a:t>2</a:t>
              </a:r>
              <a:r>
                <a:rPr lang="en-US" altLang="zh-CN" sz="3200">
                  <a:latin typeface="Times New Roman" panose="02020603050405020304" pitchFamily="18" charset="0"/>
                </a:rPr>
                <a:t>= 3     6     7 = 0</a:t>
              </a:r>
            </a:p>
          </p:txBody>
        </p:sp>
        <p:sp>
          <p:nvSpPr>
            <p:cNvPr id="181269" name="AutoShape 23"/>
            <p:cNvSpPr>
              <a:spLocks noChangeArrowheads="1"/>
            </p:cNvSpPr>
            <p:nvPr/>
          </p:nvSpPr>
          <p:spPr bwMode="auto">
            <a:xfrm>
              <a:off x="1584" y="3300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1270" name="AutoShape 24"/>
            <p:cNvSpPr>
              <a:spLocks noChangeArrowheads="1"/>
            </p:cNvSpPr>
            <p:nvPr/>
          </p:nvSpPr>
          <p:spPr bwMode="auto">
            <a:xfrm>
              <a:off x="2064" y="3300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grpSp>
        <p:nvGrpSpPr>
          <p:cNvPr id="6" name="Group 25"/>
          <p:cNvGrpSpPr/>
          <p:nvPr/>
        </p:nvGrpSpPr>
        <p:grpSpPr bwMode="auto">
          <a:xfrm>
            <a:off x="1371600" y="5364163"/>
            <a:ext cx="3208338" cy="579437"/>
            <a:chOff x="864" y="3648"/>
            <a:chExt cx="2021" cy="365"/>
          </a:xfrm>
        </p:grpSpPr>
        <p:sp>
          <p:nvSpPr>
            <p:cNvPr id="181265" name="Text Box 26"/>
            <p:cNvSpPr txBox="1">
              <a:spLocks noChangeArrowheads="1"/>
            </p:cNvSpPr>
            <p:nvPr/>
          </p:nvSpPr>
          <p:spPr bwMode="auto">
            <a:xfrm>
              <a:off x="864" y="3648"/>
              <a:ext cx="202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C</a:t>
              </a:r>
              <a:r>
                <a:rPr lang="en-US" altLang="zh-CN" sz="3200" baseline="-25000">
                  <a:latin typeface="Times New Roman" panose="02020603050405020304" pitchFamily="18" charset="0"/>
                </a:rPr>
                <a:t>4</a:t>
              </a:r>
              <a:r>
                <a:rPr lang="en-US" altLang="zh-CN" sz="3200">
                  <a:latin typeface="Times New Roman" panose="02020603050405020304" pitchFamily="18" charset="0"/>
                </a:rPr>
                <a:t>= 5     6     7 = 0</a:t>
              </a:r>
            </a:p>
          </p:txBody>
        </p:sp>
        <p:sp>
          <p:nvSpPr>
            <p:cNvPr id="181266" name="AutoShape 27"/>
            <p:cNvSpPr>
              <a:spLocks noChangeArrowheads="1"/>
            </p:cNvSpPr>
            <p:nvPr/>
          </p:nvSpPr>
          <p:spPr bwMode="auto">
            <a:xfrm>
              <a:off x="1584" y="3732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1267" name="AutoShape 28"/>
            <p:cNvSpPr>
              <a:spLocks noChangeArrowheads="1"/>
            </p:cNvSpPr>
            <p:nvPr/>
          </p:nvSpPr>
          <p:spPr bwMode="auto">
            <a:xfrm>
              <a:off x="2064" y="3732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sp>
        <p:nvSpPr>
          <p:cNvPr id="801821" name="Text Box 29"/>
          <p:cNvSpPr txBox="1">
            <a:spLocks noChangeArrowheads="1"/>
          </p:cNvSpPr>
          <p:nvPr/>
        </p:nvSpPr>
        <p:spPr bwMode="auto">
          <a:xfrm>
            <a:off x="762000" y="6019800"/>
            <a:ext cx="55530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∴  0011 的汉明码为</a:t>
            </a: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 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1000011</a:t>
            </a:r>
            <a:endParaRPr lang="zh-CN" altLang="en-US" sz="3200">
              <a:latin typeface="Times New Roman" panose="02020603050405020304" pitchFamily="18" charset="0"/>
            </a:endParaRPr>
          </a:p>
        </p:txBody>
      </p:sp>
      <p:sp>
        <p:nvSpPr>
          <p:cNvPr id="181262" name="Text Box 30"/>
          <p:cNvSpPr txBox="1">
            <a:spLocks noChangeArrowheads="1"/>
          </p:cNvSpPr>
          <p:nvPr/>
        </p:nvSpPr>
        <p:spPr bwMode="auto">
          <a:xfrm>
            <a:off x="533400" y="228600"/>
            <a:ext cx="133032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练习1</a:t>
            </a:r>
          </a:p>
        </p:txBody>
      </p:sp>
      <p:sp>
        <p:nvSpPr>
          <p:cNvPr id="801823" name="Rectangle 31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81264" name="AutoShape 32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801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801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801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8018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801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8018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80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1794" grpId="0" autoUpdateAnimBg="0"/>
      <p:bldP spid="801801" grpId="0" autoUpdateAnimBg="0"/>
      <p:bldP spid="801802" grpId="0" autoUpdateAnimBg="0"/>
      <p:bldP spid="801806" grpId="0" autoUpdateAnimBg="0"/>
      <p:bldP spid="801807" grpId="0" autoUpdateAnimBg="0"/>
      <p:bldP spid="801808" grpId="0" autoUpdateAnimBg="0"/>
      <p:bldP spid="801821" grpId="0" autoUpdateAnimBg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4" name="Text Box 2"/>
          <p:cNvSpPr txBox="1">
            <a:spLocks noChangeArrowheads="1"/>
          </p:cNvSpPr>
          <p:nvPr/>
        </p:nvSpPr>
        <p:spPr bwMode="auto">
          <a:xfrm>
            <a:off x="533400" y="304800"/>
            <a:ext cx="60960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3. 汉明码的纠错过程</a:t>
            </a:r>
          </a:p>
        </p:txBody>
      </p:sp>
      <p:sp>
        <p:nvSpPr>
          <p:cNvPr id="271363" name="Text Box 3"/>
          <p:cNvSpPr txBox="1">
            <a:spLocks noChangeArrowheads="1"/>
          </p:cNvSpPr>
          <p:nvPr/>
        </p:nvSpPr>
        <p:spPr bwMode="auto">
          <a:xfrm>
            <a:off x="296863" y="1143000"/>
            <a:ext cx="45323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形成新的检测位 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P</a:t>
            </a:r>
            <a:r>
              <a:rPr lang="en-US" altLang="zh-CN" sz="3200" i="1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i</a:t>
            </a:r>
            <a:r>
              <a:rPr lang="en-US" altLang="zh-CN" sz="1000" i="1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     </a:t>
            </a:r>
            <a:r>
              <a:rPr lang="zh-CN" altLang="en-US" sz="3200">
                <a:latin typeface="Times New Roman" panose="02020603050405020304" pitchFamily="18" charset="0"/>
              </a:rPr>
              <a:t>，</a:t>
            </a:r>
          </a:p>
        </p:txBody>
      </p:sp>
      <p:sp>
        <p:nvSpPr>
          <p:cNvPr id="271364" name="Text Box 4"/>
          <p:cNvSpPr txBox="1">
            <a:spLocks noChangeArrowheads="1"/>
          </p:cNvSpPr>
          <p:nvPr/>
        </p:nvSpPr>
        <p:spPr bwMode="auto">
          <a:xfrm>
            <a:off x="304800" y="1790700"/>
            <a:ext cx="49879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如增添 3 位 （</a:t>
            </a:r>
            <a:r>
              <a:rPr lang="en-US" altLang="zh-CN" sz="3200" i="1">
                <a:latin typeface="Times New Roman" panose="02020603050405020304" pitchFamily="18" charset="0"/>
              </a:rPr>
              <a:t>k</a:t>
            </a:r>
            <a:r>
              <a:rPr lang="en-US" altLang="zh-CN" sz="3200">
                <a:latin typeface="Times New Roman" panose="02020603050405020304" pitchFamily="18" charset="0"/>
              </a:rPr>
              <a:t> = 3）</a:t>
            </a:r>
            <a:r>
              <a:rPr lang="zh-CN" altLang="en-US" sz="3200">
                <a:latin typeface="Times New Roman" panose="02020603050405020304" pitchFamily="18" charset="0"/>
              </a:rPr>
              <a:t>，</a:t>
            </a:r>
          </a:p>
        </p:txBody>
      </p:sp>
      <p:sp>
        <p:nvSpPr>
          <p:cNvPr id="271365" name="Text Box 5"/>
          <p:cNvSpPr txBox="1">
            <a:spLocks noChangeArrowheads="1"/>
          </p:cNvSpPr>
          <p:nvPr/>
        </p:nvSpPr>
        <p:spPr bwMode="auto">
          <a:xfrm>
            <a:off x="4359275" y="1790700"/>
            <a:ext cx="47847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新的检测位为 </a:t>
            </a:r>
            <a:r>
              <a:rPr lang="en-US" altLang="zh-CN" sz="3200">
                <a:latin typeface="Times New Roman" panose="02020603050405020304" pitchFamily="18" charset="0"/>
              </a:rPr>
              <a:t>P</a:t>
            </a:r>
            <a:r>
              <a:rPr lang="en-US" altLang="zh-CN" sz="3200" baseline="-25000">
                <a:latin typeface="Times New Roman" panose="02020603050405020304" pitchFamily="18" charset="0"/>
              </a:rPr>
              <a:t>4</a:t>
            </a:r>
            <a:r>
              <a:rPr lang="en-US" altLang="zh-CN" sz="3200">
                <a:latin typeface="Times New Roman" panose="02020603050405020304" pitchFamily="18" charset="0"/>
              </a:rPr>
              <a:t> P</a:t>
            </a:r>
            <a:r>
              <a:rPr lang="en-US" altLang="zh-CN" sz="3200" baseline="-25000">
                <a:latin typeface="Times New Roman" panose="02020603050405020304" pitchFamily="18" charset="0"/>
              </a:rPr>
              <a:t>2 </a:t>
            </a:r>
            <a:r>
              <a:rPr lang="en-US" altLang="zh-CN" sz="3200">
                <a:latin typeface="Times New Roman" panose="02020603050405020304" pitchFamily="18" charset="0"/>
              </a:rPr>
              <a:t>P</a:t>
            </a:r>
            <a:r>
              <a:rPr lang="en-US" altLang="zh-CN" sz="3200" baseline="-25000">
                <a:latin typeface="Times New Roman" panose="02020603050405020304" pitchFamily="18" charset="0"/>
              </a:rPr>
              <a:t>1</a:t>
            </a:r>
            <a:r>
              <a:rPr lang="en-US" altLang="zh-CN" sz="1000" baseline="-25000">
                <a:latin typeface="Times New Roman" panose="02020603050405020304" pitchFamily="18" charset="0"/>
              </a:rPr>
              <a:t>  </a:t>
            </a:r>
            <a:r>
              <a:rPr lang="zh-CN" altLang="en-US" sz="3200" baseline="-25000">
                <a:latin typeface="Times New Roman" panose="02020603050405020304" pitchFamily="18" charset="0"/>
              </a:rPr>
              <a:t>。</a:t>
            </a:r>
          </a:p>
        </p:txBody>
      </p:sp>
      <p:sp>
        <p:nvSpPr>
          <p:cNvPr id="271366" name="Text Box 6"/>
          <p:cNvSpPr txBox="1">
            <a:spLocks noChangeArrowheads="1"/>
          </p:cNvSpPr>
          <p:nvPr/>
        </p:nvSpPr>
        <p:spPr bwMode="auto">
          <a:xfrm>
            <a:off x="304800" y="2438400"/>
            <a:ext cx="5410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以 </a:t>
            </a:r>
            <a:r>
              <a:rPr lang="en-US" altLang="zh-CN" sz="3200" i="1">
                <a:latin typeface="Times New Roman" panose="02020603050405020304" pitchFamily="18" charset="0"/>
              </a:rPr>
              <a:t>k</a:t>
            </a:r>
            <a:r>
              <a:rPr lang="en-US" altLang="zh-CN" sz="3200">
                <a:latin typeface="Times New Roman" panose="02020603050405020304" pitchFamily="18" charset="0"/>
              </a:rPr>
              <a:t> = 3 </a:t>
            </a:r>
            <a:r>
              <a:rPr lang="zh-CN" altLang="en-US" sz="3200">
                <a:latin typeface="Times New Roman" panose="02020603050405020304" pitchFamily="18" charset="0"/>
              </a:rPr>
              <a:t>为例，</a:t>
            </a:r>
            <a:r>
              <a:rPr lang="en-US" altLang="zh-CN" sz="3200">
                <a:latin typeface="Times New Roman" panose="02020603050405020304" pitchFamily="18" charset="0"/>
              </a:rPr>
              <a:t>P</a:t>
            </a:r>
            <a:r>
              <a:rPr lang="en-US" altLang="zh-CN" sz="3200" i="1" baseline="-25000">
                <a:latin typeface="Times New Roman" panose="02020603050405020304" pitchFamily="18" charset="0"/>
              </a:rPr>
              <a:t>i</a:t>
            </a:r>
            <a:r>
              <a:rPr lang="en-US" altLang="zh-CN" sz="3200" baseline="-25000">
                <a:latin typeface="Times New Roman" panose="02020603050405020304" pitchFamily="18" charset="0"/>
              </a:rPr>
              <a:t> </a:t>
            </a:r>
            <a:r>
              <a:rPr lang="zh-CN" altLang="en-US" sz="3200">
                <a:latin typeface="Times New Roman" panose="02020603050405020304" pitchFamily="18" charset="0"/>
              </a:rPr>
              <a:t>的取值为</a:t>
            </a:r>
          </a:p>
        </p:txBody>
      </p:sp>
      <p:grpSp>
        <p:nvGrpSpPr>
          <p:cNvPr id="2" name="Group 7"/>
          <p:cNvGrpSpPr/>
          <p:nvPr/>
        </p:nvGrpSpPr>
        <p:grpSpPr bwMode="auto">
          <a:xfrm>
            <a:off x="1524000" y="3200400"/>
            <a:ext cx="5638800" cy="628650"/>
            <a:chOff x="960" y="2016"/>
            <a:chExt cx="3552" cy="396"/>
          </a:xfrm>
        </p:grpSpPr>
        <p:sp>
          <p:nvSpPr>
            <p:cNvPr id="182300" name="Text Box 8"/>
            <p:cNvSpPr txBox="1">
              <a:spLocks noChangeArrowheads="1"/>
            </p:cNvSpPr>
            <p:nvPr/>
          </p:nvSpPr>
          <p:spPr bwMode="auto">
            <a:xfrm>
              <a:off x="960" y="2016"/>
              <a:ext cx="355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P</a:t>
              </a:r>
              <a:r>
                <a:rPr lang="en-US" altLang="zh-CN" sz="3200" baseline="-25000">
                  <a:latin typeface="Times New Roman" panose="02020603050405020304" pitchFamily="18" charset="0"/>
                </a:rPr>
                <a:t>1 </a:t>
              </a:r>
              <a:r>
                <a:rPr lang="en-US" altLang="zh-CN" sz="3200">
                  <a:latin typeface="Times New Roman" panose="02020603050405020304" pitchFamily="18" charset="0"/>
                </a:rPr>
                <a:t>= 1      3     </a:t>
              </a:r>
              <a:r>
                <a:rPr lang="en-US" altLang="zh-CN" sz="1600">
                  <a:latin typeface="Times New Roman" panose="02020603050405020304" pitchFamily="18" charset="0"/>
                </a:rPr>
                <a:t> </a:t>
              </a:r>
              <a:r>
                <a:rPr lang="en-US" altLang="zh-CN" sz="3200">
                  <a:latin typeface="Times New Roman" panose="02020603050405020304" pitchFamily="18" charset="0"/>
                </a:rPr>
                <a:t>5      7</a:t>
              </a:r>
            </a:p>
          </p:txBody>
        </p:sp>
        <p:sp>
          <p:nvSpPr>
            <p:cNvPr id="182301" name="AutoShape 9"/>
            <p:cNvSpPr>
              <a:spLocks noChangeArrowheads="1"/>
            </p:cNvSpPr>
            <p:nvPr/>
          </p:nvSpPr>
          <p:spPr bwMode="auto">
            <a:xfrm>
              <a:off x="1728" y="2100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2302" name="AutoShape 10"/>
            <p:cNvSpPr>
              <a:spLocks noChangeArrowheads="1"/>
            </p:cNvSpPr>
            <p:nvPr/>
          </p:nvSpPr>
          <p:spPr bwMode="auto">
            <a:xfrm>
              <a:off x="2208" y="2100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2303" name="AutoShape 11"/>
            <p:cNvSpPr>
              <a:spLocks noChangeArrowheads="1"/>
            </p:cNvSpPr>
            <p:nvPr/>
          </p:nvSpPr>
          <p:spPr bwMode="auto">
            <a:xfrm>
              <a:off x="2736" y="2100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2304" name="Text Box 12"/>
            <p:cNvSpPr txBox="1">
              <a:spLocks noChangeArrowheads="1"/>
            </p:cNvSpPr>
            <p:nvPr/>
          </p:nvSpPr>
          <p:spPr bwMode="auto">
            <a:xfrm>
              <a:off x="3504" y="2047"/>
              <a:ext cx="11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3" name="Group 13"/>
          <p:cNvGrpSpPr/>
          <p:nvPr/>
        </p:nvGrpSpPr>
        <p:grpSpPr bwMode="auto">
          <a:xfrm>
            <a:off x="1539875" y="3944938"/>
            <a:ext cx="4708525" cy="617537"/>
            <a:chOff x="970" y="2485"/>
            <a:chExt cx="2966" cy="389"/>
          </a:xfrm>
        </p:grpSpPr>
        <p:sp>
          <p:nvSpPr>
            <p:cNvPr id="182295" name="Text Box 14"/>
            <p:cNvSpPr txBox="1">
              <a:spLocks noChangeArrowheads="1"/>
            </p:cNvSpPr>
            <p:nvPr/>
          </p:nvSpPr>
          <p:spPr bwMode="auto">
            <a:xfrm>
              <a:off x="970" y="2509"/>
              <a:ext cx="296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P</a:t>
              </a:r>
              <a:r>
                <a:rPr lang="en-US" altLang="zh-CN" sz="3200" baseline="-25000">
                  <a:latin typeface="Times New Roman" panose="02020603050405020304" pitchFamily="18" charset="0"/>
                </a:rPr>
                <a:t>2 </a:t>
              </a:r>
              <a:r>
                <a:rPr lang="en-US" altLang="zh-CN" sz="3200">
                  <a:latin typeface="Times New Roman" panose="02020603050405020304" pitchFamily="18" charset="0"/>
                </a:rPr>
                <a:t>= 2      3     </a:t>
              </a:r>
              <a:r>
                <a:rPr lang="en-US" altLang="zh-CN" sz="1600">
                  <a:latin typeface="Times New Roman" panose="02020603050405020304" pitchFamily="18" charset="0"/>
                </a:rPr>
                <a:t> </a:t>
              </a:r>
              <a:r>
                <a:rPr lang="en-US" altLang="zh-CN" sz="3200">
                  <a:latin typeface="Times New Roman" panose="02020603050405020304" pitchFamily="18" charset="0"/>
                </a:rPr>
                <a:t>6      7</a:t>
              </a:r>
            </a:p>
          </p:txBody>
        </p:sp>
        <p:sp>
          <p:nvSpPr>
            <p:cNvPr id="182296" name="AutoShape 15"/>
            <p:cNvSpPr>
              <a:spLocks noChangeArrowheads="1"/>
            </p:cNvSpPr>
            <p:nvPr/>
          </p:nvSpPr>
          <p:spPr bwMode="auto">
            <a:xfrm>
              <a:off x="1728" y="2593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2297" name="AutoShape 16"/>
            <p:cNvSpPr>
              <a:spLocks noChangeArrowheads="1"/>
            </p:cNvSpPr>
            <p:nvPr/>
          </p:nvSpPr>
          <p:spPr bwMode="auto">
            <a:xfrm>
              <a:off x="2208" y="2593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2298" name="AutoShape 17"/>
            <p:cNvSpPr>
              <a:spLocks noChangeArrowheads="1"/>
            </p:cNvSpPr>
            <p:nvPr/>
          </p:nvSpPr>
          <p:spPr bwMode="auto">
            <a:xfrm>
              <a:off x="2736" y="2593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2299" name="Text Box 18"/>
            <p:cNvSpPr txBox="1">
              <a:spLocks noChangeArrowheads="1"/>
            </p:cNvSpPr>
            <p:nvPr/>
          </p:nvSpPr>
          <p:spPr bwMode="auto">
            <a:xfrm>
              <a:off x="3504" y="2485"/>
              <a:ext cx="11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4" name="Group 19"/>
          <p:cNvGrpSpPr/>
          <p:nvPr/>
        </p:nvGrpSpPr>
        <p:grpSpPr bwMode="auto">
          <a:xfrm>
            <a:off x="1539875" y="4678363"/>
            <a:ext cx="4251325" cy="655637"/>
            <a:chOff x="970" y="2947"/>
            <a:chExt cx="2678" cy="413"/>
          </a:xfrm>
        </p:grpSpPr>
        <p:sp>
          <p:nvSpPr>
            <p:cNvPr id="182290" name="Text Box 20"/>
            <p:cNvSpPr txBox="1">
              <a:spLocks noChangeArrowheads="1"/>
            </p:cNvSpPr>
            <p:nvPr/>
          </p:nvSpPr>
          <p:spPr bwMode="auto">
            <a:xfrm>
              <a:off x="970" y="2995"/>
              <a:ext cx="267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P</a:t>
              </a:r>
              <a:r>
                <a:rPr lang="en-US" altLang="zh-CN" sz="3200" baseline="-25000">
                  <a:latin typeface="Times New Roman" panose="02020603050405020304" pitchFamily="18" charset="0"/>
                </a:rPr>
                <a:t>4 </a:t>
              </a:r>
              <a:r>
                <a:rPr lang="en-US" altLang="zh-CN" sz="3200">
                  <a:latin typeface="Times New Roman" panose="02020603050405020304" pitchFamily="18" charset="0"/>
                </a:rPr>
                <a:t>= 4      5     </a:t>
              </a:r>
              <a:r>
                <a:rPr lang="en-US" altLang="zh-CN" sz="1600">
                  <a:latin typeface="Times New Roman" panose="02020603050405020304" pitchFamily="18" charset="0"/>
                </a:rPr>
                <a:t> </a:t>
              </a:r>
              <a:r>
                <a:rPr lang="en-US" altLang="zh-CN" sz="3200">
                  <a:latin typeface="Times New Roman" panose="02020603050405020304" pitchFamily="18" charset="0"/>
                </a:rPr>
                <a:t>6      7</a:t>
              </a:r>
            </a:p>
          </p:txBody>
        </p:sp>
        <p:sp>
          <p:nvSpPr>
            <p:cNvPr id="182291" name="AutoShape 21"/>
            <p:cNvSpPr>
              <a:spLocks noChangeArrowheads="1"/>
            </p:cNvSpPr>
            <p:nvPr/>
          </p:nvSpPr>
          <p:spPr bwMode="auto">
            <a:xfrm>
              <a:off x="1728" y="3079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2292" name="AutoShape 22"/>
            <p:cNvSpPr>
              <a:spLocks noChangeArrowheads="1"/>
            </p:cNvSpPr>
            <p:nvPr/>
          </p:nvSpPr>
          <p:spPr bwMode="auto">
            <a:xfrm>
              <a:off x="2208" y="3079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2293" name="AutoShape 23"/>
            <p:cNvSpPr>
              <a:spLocks noChangeArrowheads="1"/>
            </p:cNvSpPr>
            <p:nvPr/>
          </p:nvSpPr>
          <p:spPr bwMode="auto">
            <a:xfrm>
              <a:off x="2736" y="3079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2294" name="Text Box 24"/>
            <p:cNvSpPr txBox="1">
              <a:spLocks noChangeArrowheads="1"/>
            </p:cNvSpPr>
            <p:nvPr/>
          </p:nvSpPr>
          <p:spPr bwMode="auto">
            <a:xfrm>
              <a:off x="3504" y="2947"/>
              <a:ext cx="11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zh-CN" altLang="en-US" sz="3200">
                <a:latin typeface="Times New Roman" panose="02020603050405020304" pitchFamily="18" charset="0"/>
              </a:endParaRPr>
            </a:p>
          </p:txBody>
        </p:sp>
      </p:grpSp>
      <p:sp>
        <p:nvSpPr>
          <p:cNvPr id="271385" name="Text Box 25"/>
          <p:cNvSpPr txBox="1">
            <a:spLocks noChangeArrowheads="1"/>
          </p:cNvSpPr>
          <p:nvPr/>
        </p:nvSpPr>
        <p:spPr bwMode="auto">
          <a:xfrm>
            <a:off x="898525" y="5429250"/>
            <a:ext cx="6299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对于按 “偶校验” 配置的汉明码      </a:t>
            </a:r>
          </a:p>
        </p:txBody>
      </p:sp>
      <p:sp>
        <p:nvSpPr>
          <p:cNvPr id="271386" name="Text Box 26"/>
          <p:cNvSpPr txBox="1">
            <a:spLocks noChangeArrowheads="1"/>
          </p:cNvSpPr>
          <p:nvPr/>
        </p:nvSpPr>
        <p:spPr bwMode="auto">
          <a:xfrm>
            <a:off x="898525" y="5962650"/>
            <a:ext cx="5892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不出错时   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P</a:t>
            </a:r>
            <a:r>
              <a:rPr lang="en-US" altLang="zh-CN" sz="32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1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= 0，P</a:t>
            </a:r>
            <a:r>
              <a:rPr lang="en-US" altLang="zh-CN" sz="32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 = 0，P</a:t>
            </a:r>
            <a:r>
              <a:rPr lang="en-US" altLang="zh-CN" sz="32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4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 = 0</a:t>
            </a:r>
          </a:p>
        </p:txBody>
      </p:sp>
      <p:sp>
        <p:nvSpPr>
          <p:cNvPr id="271387" name="Text Box 27"/>
          <p:cNvSpPr txBox="1">
            <a:spLocks noChangeArrowheads="1"/>
          </p:cNvSpPr>
          <p:nvPr/>
        </p:nvSpPr>
        <p:spPr bwMode="auto">
          <a:xfrm>
            <a:off x="2266950" y="2895600"/>
            <a:ext cx="7302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rPr>
              <a:t>C</a:t>
            </a:r>
            <a:r>
              <a:rPr lang="en-US" altLang="zh-CN" sz="28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1</a:t>
            </a:r>
          </a:p>
        </p:txBody>
      </p:sp>
      <p:sp>
        <p:nvSpPr>
          <p:cNvPr id="271388" name="Text Box 28"/>
          <p:cNvSpPr txBox="1">
            <a:spLocks noChangeArrowheads="1"/>
          </p:cNvSpPr>
          <p:nvPr/>
        </p:nvSpPr>
        <p:spPr bwMode="auto">
          <a:xfrm>
            <a:off x="2266950" y="3657600"/>
            <a:ext cx="5619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rPr>
              <a:t>C</a:t>
            </a:r>
            <a:r>
              <a:rPr lang="en-US" altLang="zh-CN" sz="28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</a:p>
        </p:txBody>
      </p:sp>
      <p:sp>
        <p:nvSpPr>
          <p:cNvPr id="271389" name="Text Box 29"/>
          <p:cNvSpPr txBox="1">
            <a:spLocks noChangeArrowheads="1"/>
          </p:cNvSpPr>
          <p:nvPr/>
        </p:nvSpPr>
        <p:spPr bwMode="auto">
          <a:xfrm>
            <a:off x="2266950" y="4495800"/>
            <a:ext cx="5619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rPr>
              <a:t>C</a:t>
            </a:r>
            <a:r>
              <a:rPr lang="en-US" altLang="zh-CN" sz="28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4</a:t>
            </a:r>
          </a:p>
        </p:txBody>
      </p:sp>
      <p:sp>
        <p:nvSpPr>
          <p:cNvPr id="271390" name="Text Box 30"/>
          <p:cNvSpPr txBox="1">
            <a:spLocks noChangeArrowheads="1"/>
          </p:cNvSpPr>
          <p:nvPr/>
        </p:nvSpPr>
        <p:spPr bwMode="auto">
          <a:xfrm>
            <a:off x="3933825" y="1143000"/>
            <a:ext cx="59372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其位数与增添的检测位有关，</a:t>
            </a:r>
          </a:p>
        </p:txBody>
      </p:sp>
      <p:sp>
        <p:nvSpPr>
          <p:cNvPr id="271391" name="Rectangle 31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82289" name="AutoShape 32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71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71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71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71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71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13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13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713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713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713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713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5" dur="500"/>
                                        <p:tgtEl>
                                          <p:spTgt spid="271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0" dur="500"/>
                                        <p:tgtEl>
                                          <p:spTgt spid="271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1363" grpId="0" autoUpdateAnimBg="0"/>
      <p:bldP spid="271364" grpId="0" autoUpdateAnimBg="0"/>
      <p:bldP spid="271365" grpId="0" autoUpdateAnimBg="0"/>
      <p:bldP spid="271366" grpId="0" autoUpdateAnimBg="0"/>
      <p:bldP spid="271385" grpId="0" autoUpdateAnimBg="0"/>
      <p:bldP spid="271386" grpId="0" autoUpdateAnimBg="0"/>
      <p:bldP spid="271387" grpId="0" autoUpdateAnimBg="0"/>
      <p:bldP spid="271388" grpId="0" autoUpdateAnimBg="0"/>
      <p:bldP spid="271389" grpId="0" autoUpdateAnimBg="0"/>
      <p:bldP spid="271390" grpId="0" autoUpdateAnimBg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1285875" y="2476500"/>
            <a:ext cx="5953125" cy="579438"/>
            <a:chOff x="810" y="1560"/>
            <a:chExt cx="3750" cy="365"/>
          </a:xfrm>
        </p:grpSpPr>
        <p:sp>
          <p:nvSpPr>
            <p:cNvPr id="183331" name="Text Box 3"/>
            <p:cNvSpPr txBox="1">
              <a:spLocks noChangeArrowheads="1"/>
            </p:cNvSpPr>
            <p:nvPr/>
          </p:nvSpPr>
          <p:spPr bwMode="auto">
            <a:xfrm>
              <a:off x="810" y="1560"/>
              <a:ext cx="375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P</a:t>
              </a:r>
              <a:r>
                <a:rPr lang="en-US" altLang="zh-CN" sz="3200" baseline="-25000">
                  <a:latin typeface="Times New Roman" panose="02020603050405020304" pitchFamily="18" charset="0"/>
                </a:rPr>
                <a:t>1</a:t>
              </a:r>
              <a:r>
                <a:rPr lang="en-US" altLang="zh-CN" sz="3200">
                  <a:latin typeface="Times New Roman" panose="02020603050405020304" pitchFamily="18" charset="0"/>
                </a:rPr>
                <a:t>= 1      3       5      7 = 0</a:t>
              </a:r>
            </a:p>
          </p:txBody>
        </p:sp>
        <p:sp>
          <p:nvSpPr>
            <p:cNvPr id="183332" name="AutoShape 4"/>
            <p:cNvSpPr>
              <a:spLocks noChangeArrowheads="1"/>
            </p:cNvSpPr>
            <p:nvPr/>
          </p:nvSpPr>
          <p:spPr bwMode="auto">
            <a:xfrm>
              <a:off x="1536" y="1644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3333" name="AutoShape 5"/>
            <p:cNvSpPr>
              <a:spLocks noChangeArrowheads="1"/>
            </p:cNvSpPr>
            <p:nvPr/>
          </p:nvSpPr>
          <p:spPr bwMode="auto">
            <a:xfrm>
              <a:off x="2064" y="1644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3334" name="AutoShape 6"/>
            <p:cNvSpPr>
              <a:spLocks noChangeArrowheads="1"/>
            </p:cNvSpPr>
            <p:nvPr/>
          </p:nvSpPr>
          <p:spPr bwMode="auto">
            <a:xfrm>
              <a:off x="2640" y="1644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sp>
        <p:nvSpPr>
          <p:cNvPr id="272391" name="Text Box 7"/>
          <p:cNvSpPr txBox="1">
            <a:spLocks noChangeArrowheads="1"/>
          </p:cNvSpPr>
          <p:nvPr/>
        </p:nvSpPr>
        <p:spPr bwMode="auto">
          <a:xfrm>
            <a:off x="5702300" y="2476500"/>
            <a:ext cx="10033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无错</a:t>
            </a:r>
          </a:p>
        </p:txBody>
      </p:sp>
      <p:grpSp>
        <p:nvGrpSpPr>
          <p:cNvPr id="3" name="Group 8"/>
          <p:cNvGrpSpPr/>
          <p:nvPr/>
        </p:nvGrpSpPr>
        <p:grpSpPr bwMode="auto">
          <a:xfrm>
            <a:off x="1301750" y="3249613"/>
            <a:ext cx="5556250" cy="579437"/>
            <a:chOff x="820" y="2047"/>
            <a:chExt cx="3500" cy="365"/>
          </a:xfrm>
        </p:grpSpPr>
        <p:sp>
          <p:nvSpPr>
            <p:cNvPr id="183327" name="Text Box 9"/>
            <p:cNvSpPr txBox="1">
              <a:spLocks noChangeArrowheads="1"/>
            </p:cNvSpPr>
            <p:nvPr/>
          </p:nvSpPr>
          <p:spPr bwMode="auto">
            <a:xfrm>
              <a:off x="820" y="2047"/>
              <a:ext cx="350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P</a:t>
              </a:r>
              <a:r>
                <a:rPr lang="en-US" altLang="zh-CN" sz="3200" baseline="-25000">
                  <a:latin typeface="Times New Roman" panose="02020603050405020304" pitchFamily="18" charset="0"/>
                </a:rPr>
                <a:t>2</a:t>
              </a:r>
              <a:r>
                <a:rPr lang="en-US" altLang="zh-CN" sz="3200">
                  <a:latin typeface="Times New Roman" panose="02020603050405020304" pitchFamily="18" charset="0"/>
                </a:rPr>
                <a:t>= 2      3       6      7 = 1</a:t>
              </a:r>
            </a:p>
          </p:txBody>
        </p:sp>
        <p:sp>
          <p:nvSpPr>
            <p:cNvPr id="183328" name="AutoShape 10"/>
            <p:cNvSpPr>
              <a:spLocks noChangeArrowheads="1"/>
            </p:cNvSpPr>
            <p:nvPr/>
          </p:nvSpPr>
          <p:spPr bwMode="auto">
            <a:xfrm>
              <a:off x="1536" y="2131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3329" name="AutoShape 11"/>
            <p:cNvSpPr>
              <a:spLocks noChangeArrowheads="1"/>
            </p:cNvSpPr>
            <p:nvPr/>
          </p:nvSpPr>
          <p:spPr bwMode="auto">
            <a:xfrm>
              <a:off x="2064" y="2131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3330" name="AutoShape 12"/>
            <p:cNvSpPr>
              <a:spLocks noChangeArrowheads="1"/>
            </p:cNvSpPr>
            <p:nvPr/>
          </p:nvSpPr>
          <p:spPr bwMode="auto">
            <a:xfrm>
              <a:off x="2640" y="2131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sp>
        <p:nvSpPr>
          <p:cNvPr id="272397" name="Text Box 13"/>
          <p:cNvSpPr txBox="1">
            <a:spLocks noChangeArrowheads="1"/>
          </p:cNvSpPr>
          <p:nvPr/>
        </p:nvSpPr>
        <p:spPr bwMode="auto">
          <a:xfrm>
            <a:off x="5702300" y="3249613"/>
            <a:ext cx="10033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有错</a:t>
            </a:r>
          </a:p>
        </p:txBody>
      </p:sp>
      <p:grpSp>
        <p:nvGrpSpPr>
          <p:cNvPr id="4" name="Group 14"/>
          <p:cNvGrpSpPr/>
          <p:nvPr/>
        </p:nvGrpSpPr>
        <p:grpSpPr bwMode="auto">
          <a:xfrm>
            <a:off x="1301750" y="4076700"/>
            <a:ext cx="5403850" cy="579438"/>
            <a:chOff x="820" y="2568"/>
            <a:chExt cx="3404" cy="365"/>
          </a:xfrm>
        </p:grpSpPr>
        <p:sp>
          <p:nvSpPr>
            <p:cNvPr id="183323" name="Text Box 15"/>
            <p:cNvSpPr txBox="1">
              <a:spLocks noChangeArrowheads="1"/>
            </p:cNvSpPr>
            <p:nvPr/>
          </p:nvSpPr>
          <p:spPr bwMode="auto">
            <a:xfrm>
              <a:off x="820" y="2568"/>
              <a:ext cx="340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P</a:t>
              </a:r>
              <a:r>
                <a:rPr lang="en-US" altLang="zh-CN" sz="3200" baseline="-25000">
                  <a:latin typeface="Times New Roman" panose="02020603050405020304" pitchFamily="18" charset="0"/>
                </a:rPr>
                <a:t>4</a:t>
              </a:r>
              <a:r>
                <a:rPr lang="en-US" altLang="zh-CN" sz="3200">
                  <a:latin typeface="Times New Roman" panose="02020603050405020304" pitchFamily="18" charset="0"/>
                </a:rPr>
                <a:t>= 4      5       6      7 = 1</a:t>
              </a:r>
            </a:p>
          </p:txBody>
        </p:sp>
        <p:sp>
          <p:nvSpPr>
            <p:cNvPr id="183324" name="AutoShape 16"/>
            <p:cNvSpPr>
              <a:spLocks noChangeArrowheads="1"/>
            </p:cNvSpPr>
            <p:nvPr/>
          </p:nvSpPr>
          <p:spPr bwMode="auto">
            <a:xfrm>
              <a:off x="1536" y="2652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3325" name="AutoShape 17"/>
            <p:cNvSpPr>
              <a:spLocks noChangeArrowheads="1"/>
            </p:cNvSpPr>
            <p:nvPr/>
          </p:nvSpPr>
          <p:spPr bwMode="auto">
            <a:xfrm>
              <a:off x="2064" y="2652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3326" name="AutoShape 18"/>
            <p:cNvSpPr>
              <a:spLocks noChangeArrowheads="1"/>
            </p:cNvSpPr>
            <p:nvPr/>
          </p:nvSpPr>
          <p:spPr bwMode="auto">
            <a:xfrm>
              <a:off x="2640" y="2652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sp>
        <p:nvSpPr>
          <p:cNvPr id="272403" name="Text Box 19"/>
          <p:cNvSpPr txBox="1">
            <a:spLocks noChangeArrowheads="1"/>
          </p:cNvSpPr>
          <p:nvPr/>
        </p:nvSpPr>
        <p:spPr bwMode="auto">
          <a:xfrm>
            <a:off x="5702300" y="4076700"/>
            <a:ext cx="10033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有错</a:t>
            </a:r>
          </a:p>
        </p:txBody>
      </p:sp>
      <p:sp>
        <p:nvSpPr>
          <p:cNvPr id="272404" name="Text Box 20"/>
          <p:cNvSpPr txBox="1">
            <a:spLocks noChangeArrowheads="1"/>
          </p:cNvSpPr>
          <p:nvPr/>
        </p:nvSpPr>
        <p:spPr bwMode="auto">
          <a:xfrm>
            <a:off x="1295400" y="4953000"/>
            <a:ext cx="4343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∴</a:t>
            </a: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　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P</a:t>
            </a:r>
            <a:r>
              <a:rPr lang="en-US" altLang="zh-CN" sz="32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4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P</a:t>
            </a:r>
            <a:r>
              <a:rPr lang="en-US" altLang="zh-CN" sz="32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2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P</a:t>
            </a:r>
            <a:r>
              <a:rPr lang="en-US" altLang="zh-CN" sz="3200" baseline="-25000">
                <a:solidFill>
                  <a:schemeClr val="folHlink"/>
                </a:solidFill>
                <a:latin typeface="Times New Roman" panose="02020603050405020304" pitchFamily="18" charset="0"/>
              </a:rPr>
              <a:t>1 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= 110</a:t>
            </a:r>
          </a:p>
        </p:txBody>
      </p:sp>
      <p:sp>
        <p:nvSpPr>
          <p:cNvPr id="272405" name="Text Box 21"/>
          <p:cNvSpPr txBox="1">
            <a:spLocks noChangeArrowheads="1"/>
          </p:cNvSpPr>
          <p:nvPr/>
        </p:nvSpPr>
        <p:spPr bwMode="auto">
          <a:xfrm>
            <a:off x="1066800" y="5638800"/>
            <a:ext cx="6194425" cy="1128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第 6 位出错，可纠正为 01001</a:t>
            </a: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0</a:t>
            </a:r>
            <a:r>
              <a:rPr lang="zh-CN" altLang="en-US" sz="3200">
                <a:latin typeface="Times New Roman" panose="02020603050405020304" pitchFamily="18" charset="0"/>
              </a:rPr>
              <a:t>1，</a:t>
            </a:r>
          </a:p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故要求传送的信息为</a:t>
            </a: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0101</a:t>
            </a: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。</a:t>
            </a:r>
          </a:p>
        </p:txBody>
      </p:sp>
      <p:sp>
        <p:nvSpPr>
          <p:cNvPr id="272406" name="Text Box 22"/>
          <p:cNvSpPr txBox="1">
            <a:spLocks noChangeArrowheads="1"/>
          </p:cNvSpPr>
          <p:nvPr/>
        </p:nvSpPr>
        <p:spPr bwMode="auto">
          <a:xfrm>
            <a:off x="1227138" y="1828800"/>
            <a:ext cx="31924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纠错过程如下</a:t>
            </a:r>
          </a:p>
        </p:txBody>
      </p:sp>
      <p:sp>
        <p:nvSpPr>
          <p:cNvPr id="183307" name="Text Box 23"/>
          <p:cNvSpPr txBox="1">
            <a:spLocks noChangeArrowheads="1"/>
          </p:cNvSpPr>
          <p:nvPr/>
        </p:nvSpPr>
        <p:spPr bwMode="auto">
          <a:xfrm>
            <a:off x="152400" y="457200"/>
            <a:ext cx="1214438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例4.5</a:t>
            </a:r>
          </a:p>
        </p:txBody>
      </p:sp>
      <p:sp>
        <p:nvSpPr>
          <p:cNvPr id="272408" name="Text Box 24"/>
          <p:cNvSpPr txBox="1">
            <a:spLocks noChangeArrowheads="1"/>
          </p:cNvSpPr>
          <p:nvPr/>
        </p:nvSpPr>
        <p:spPr bwMode="auto">
          <a:xfrm>
            <a:off x="441325" y="1828800"/>
            <a:ext cx="10001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解：</a:t>
            </a:r>
          </a:p>
        </p:txBody>
      </p:sp>
      <p:grpSp>
        <p:nvGrpSpPr>
          <p:cNvPr id="5" name="Group 25"/>
          <p:cNvGrpSpPr/>
          <p:nvPr/>
        </p:nvGrpSpPr>
        <p:grpSpPr bwMode="auto">
          <a:xfrm>
            <a:off x="-76200" y="457200"/>
            <a:ext cx="8955088" cy="1284288"/>
            <a:chOff x="-48" y="288"/>
            <a:chExt cx="5641" cy="809"/>
          </a:xfrm>
        </p:grpSpPr>
        <p:sp>
          <p:nvSpPr>
            <p:cNvPr id="183321" name="Text Box 26"/>
            <p:cNvSpPr txBox="1">
              <a:spLocks noChangeArrowheads="1"/>
            </p:cNvSpPr>
            <p:nvPr/>
          </p:nvSpPr>
          <p:spPr bwMode="auto">
            <a:xfrm>
              <a:off x="0" y="288"/>
              <a:ext cx="4582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600">
                  <a:latin typeface="Times New Roman" panose="02020603050405020304" pitchFamily="18" charset="0"/>
                </a:rPr>
                <a:t>             </a:t>
              </a:r>
              <a:r>
                <a:rPr lang="zh-CN" altLang="en-US" sz="3200">
                  <a:latin typeface="Times New Roman" panose="02020603050405020304" pitchFamily="18" charset="0"/>
                </a:rPr>
                <a:t>已知接收到的汉明码为 0100111</a:t>
              </a:r>
            </a:p>
          </p:txBody>
        </p:sp>
        <p:sp>
          <p:nvSpPr>
            <p:cNvPr id="183322" name="Text Box 27"/>
            <p:cNvSpPr txBox="1">
              <a:spLocks noChangeArrowheads="1"/>
            </p:cNvSpPr>
            <p:nvPr/>
          </p:nvSpPr>
          <p:spPr bwMode="auto">
            <a:xfrm>
              <a:off x="-48" y="732"/>
              <a:ext cx="564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（按配偶原则配置）试问要求传送的信息是什么?</a:t>
              </a:r>
            </a:p>
          </p:txBody>
        </p:sp>
      </p:grpSp>
      <p:sp>
        <p:nvSpPr>
          <p:cNvPr id="272412" name="Rectangle 28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grpSp>
        <p:nvGrpSpPr>
          <p:cNvPr id="6" name="Group 29"/>
          <p:cNvGrpSpPr/>
          <p:nvPr/>
        </p:nvGrpSpPr>
        <p:grpSpPr bwMode="auto">
          <a:xfrm>
            <a:off x="2800350" y="3657600"/>
            <a:ext cx="2305050" cy="519113"/>
            <a:chOff x="1764" y="2304"/>
            <a:chExt cx="1452" cy="327"/>
          </a:xfrm>
        </p:grpSpPr>
        <p:sp>
          <p:nvSpPr>
            <p:cNvPr id="183319" name="Text Box 30"/>
            <p:cNvSpPr txBox="1">
              <a:spLocks noChangeArrowheads="1"/>
            </p:cNvSpPr>
            <p:nvPr/>
          </p:nvSpPr>
          <p:spPr bwMode="auto">
            <a:xfrm>
              <a:off x="1764" y="2304"/>
              <a:ext cx="34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 typeface="Wingdings" panose="05000000000000000000" pitchFamily="2" charset="2"/>
                <a:buChar char="ü"/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183320" name="Text Box 31"/>
            <p:cNvSpPr txBox="1">
              <a:spLocks noChangeArrowheads="1"/>
            </p:cNvSpPr>
            <p:nvPr/>
          </p:nvSpPr>
          <p:spPr bwMode="auto">
            <a:xfrm>
              <a:off x="2868" y="2304"/>
              <a:ext cx="34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 typeface="Wingdings" panose="05000000000000000000" pitchFamily="2" charset="2"/>
                <a:buChar char="ü"/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</a:t>
              </a:r>
            </a:p>
          </p:txBody>
        </p:sp>
      </p:grpSp>
      <p:grpSp>
        <p:nvGrpSpPr>
          <p:cNvPr id="7" name="Group 32"/>
          <p:cNvGrpSpPr/>
          <p:nvPr/>
        </p:nvGrpSpPr>
        <p:grpSpPr bwMode="auto">
          <a:xfrm>
            <a:off x="2800350" y="4495800"/>
            <a:ext cx="2305050" cy="519113"/>
            <a:chOff x="1764" y="2832"/>
            <a:chExt cx="1452" cy="327"/>
          </a:xfrm>
        </p:grpSpPr>
        <p:sp>
          <p:nvSpPr>
            <p:cNvPr id="183317" name="Text Box 33"/>
            <p:cNvSpPr txBox="1">
              <a:spLocks noChangeArrowheads="1"/>
            </p:cNvSpPr>
            <p:nvPr/>
          </p:nvSpPr>
          <p:spPr bwMode="auto">
            <a:xfrm>
              <a:off x="1764" y="2832"/>
              <a:ext cx="34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 typeface="Wingdings" panose="05000000000000000000" pitchFamily="2" charset="2"/>
                <a:buChar char="ü"/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183318" name="Text Box 34"/>
            <p:cNvSpPr txBox="1">
              <a:spLocks noChangeArrowheads="1"/>
            </p:cNvSpPr>
            <p:nvPr/>
          </p:nvSpPr>
          <p:spPr bwMode="auto">
            <a:xfrm>
              <a:off x="2868" y="2832"/>
              <a:ext cx="34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 typeface="Wingdings" panose="05000000000000000000" pitchFamily="2" charset="2"/>
                <a:buChar char="ü"/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</a:t>
              </a:r>
            </a:p>
          </p:txBody>
        </p:sp>
      </p:grpSp>
      <p:grpSp>
        <p:nvGrpSpPr>
          <p:cNvPr id="8" name="Group 35"/>
          <p:cNvGrpSpPr/>
          <p:nvPr/>
        </p:nvGrpSpPr>
        <p:grpSpPr bwMode="auto">
          <a:xfrm>
            <a:off x="3781425" y="3338513"/>
            <a:ext cx="304800" cy="1263650"/>
            <a:chOff x="2256" y="2103"/>
            <a:chExt cx="192" cy="796"/>
          </a:xfrm>
        </p:grpSpPr>
        <p:sp>
          <p:nvSpPr>
            <p:cNvPr id="183315" name="AutoShape 36"/>
            <p:cNvSpPr>
              <a:spLocks noChangeArrowheads="1"/>
            </p:cNvSpPr>
            <p:nvPr/>
          </p:nvSpPr>
          <p:spPr bwMode="auto">
            <a:xfrm>
              <a:off x="2256" y="2103"/>
              <a:ext cx="192" cy="288"/>
            </a:xfrm>
            <a:prstGeom prst="flowChartAlternateProcess">
              <a:avLst/>
            </a:prstGeom>
            <a:noFill/>
            <a:ln w="38100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3316" name="AutoShape 37"/>
            <p:cNvSpPr>
              <a:spLocks noChangeArrowheads="1"/>
            </p:cNvSpPr>
            <p:nvPr/>
          </p:nvSpPr>
          <p:spPr bwMode="auto">
            <a:xfrm>
              <a:off x="2256" y="2611"/>
              <a:ext cx="192" cy="288"/>
            </a:xfrm>
            <a:prstGeom prst="flowChartAlternateProcess">
              <a:avLst/>
            </a:prstGeom>
            <a:noFill/>
            <a:ln w="38100">
              <a:solidFill>
                <a:schemeClr val="folHlink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sp>
        <p:nvSpPr>
          <p:cNvPr id="183314" name="AutoShape 38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72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72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72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272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272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272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272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2391" grpId="0" autoUpdateAnimBg="0"/>
      <p:bldP spid="272397" grpId="0" autoUpdateAnimBg="0"/>
      <p:bldP spid="272403" grpId="0" autoUpdateAnimBg="0"/>
      <p:bldP spid="272404" grpId="0" autoUpdateAnimBg="0"/>
      <p:bldP spid="272405" grpId="0" autoUpdateAnimBg="0"/>
      <p:bldP spid="272406" grpId="0" autoUpdateAnimBg="0"/>
      <p:bldP spid="272408" grpId="0" autoUpdateAnimBg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2" name="Text Box 2"/>
          <p:cNvSpPr txBox="1">
            <a:spLocks noChangeArrowheads="1"/>
          </p:cNvSpPr>
          <p:nvPr/>
        </p:nvSpPr>
        <p:spPr bwMode="auto">
          <a:xfrm>
            <a:off x="533400" y="454025"/>
            <a:ext cx="1327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练习2</a:t>
            </a:r>
          </a:p>
        </p:txBody>
      </p:sp>
      <p:grpSp>
        <p:nvGrpSpPr>
          <p:cNvPr id="2" name="Group 3"/>
          <p:cNvGrpSpPr/>
          <p:nvPr/>
        </p:nvGrpSpPr>
        <p:grpSpPr bwMode="auto">
          <a:xfrm>
            <a:off x="1524000" y="1858963"/>
            <a:ext cx="4041775" cy="579437"/>
            <a:chOff x="960" y="1104"/>
            <a:chExt cx="2546" cy="365"/>
          </a:xfrm>
        </p:grpSpPr>
        <p:sp>
          <p:nvSpPr>
            <p:cNvPr id="184345" name="Text Box 4"/>
            <p:cNvSpPr txBox="1">
              <a:spLocks noChangeArrowheads="1"/>
            </p:cNvSpPr>
            <p:nvPr/>
          </p:nvSpPr>
          <p:spPr bwMode="auto">
            <a:xfrm>
              <a:off x="960" y="1104"/>
              <a:ext cx="254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P</a:t>
              </a:r>
              <a:r>
                <a:rPr lang="en-US" altLang="zh-CN" sz="3200" baseline="-25000">
                  <a:latin typeface="Times New Roman" panose="02020603050405020304" pitchFamily="18" charset="0"/>
                </a:rPr>
                <a:t>4 </a:t>
              </a:r>
              <a:r>
                <a:rPr lang="en-US" altLang="zh-CN" sz="3200">
                  <a:latin typeface="Times New Roman" panose="02020603050405020304" pitchFamily="18" charset="0"/>
                </a:rPr>
                <a:t>= 4     5      6     7 = 1</a:t>
              </a:r>
            </a:p>
          </p:txBody>
        </p:sp>
        <p:sp>
          <p:nvSpPr>
            <p:cNvPr id="184346" name="AutoShape 5"/>
            <p:cNvSpPr>
              <a:spLocks noChangeArrowheads="1"/>
            </p:cNvSpPr>
            <p:nvPr/>
          </p:nvSpPr>
          <p:spPr bwMode="auto">
            <a:xfrm>
              <a:off x="1680" y="1188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4347" name="AutoShape 6"/>
            <p:cNvSpPr>
              <a:spLocks noChangeArrowheads="1"/>
            </p:cNvSpPr>
            <p:nvPr/>
          </p:nvSpPr>
          <p:spPr bwMode="auto">
            <a:xfrm>
              <a:off x="2160" y="1188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4348" name="AutoShape 7"/>
            <p:cNvSpPr>
              <a:spLocks noChangeArrowheads="1"/>
            </p:cNvSpPr>
            <p:nvPr/>
          </p:nvSpPr>
          <p:spPr bwMode="auto">
            <a:xfrm>
              <a:off x="2640" y="1188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grpSp>
        <p:nvGrpSpPr>
          <p:cNvPr id="3" name="Group 8"/>
          <p:cNvGrpSpPr/>
          <p:nvPr/>
        </p:nvGrpSpPr>
        <p:grpSpPr bwMode="auto">
          <a:xfrm>
            <a:off x="1524000" y="2544763"/>
            <a:ext cx="4041775" cy="579437"/>
            <a:chOff x="960" y="1536"/>
            <a:chExt cx="2546" cy="365"/>
          </a:xfrm>
        </p:grpSpPr>
        <p:sp>
          <p:nvSpPr>
            <p:cNvPr id="184341" name="Text Box 9"/>
            <p:cNvSpPr txBox="1">
              <a:spLocks noChangeArrowheads="1"/>
            </p:cNvSpPr>
            <p:nvPr/>
          </p:nvSpPr>
          <p:spPr bwMode="auto">
            <a:xfrm>
              <a:off x="960" y="1536"/>
              <a:ext cx="254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P</a:t>
              </a:r>
              <a:r>
                <a:rPr lang="en-US" altLang="zh-CN" sz="3200" baseline="-25000">
                  <a:latin typeface="Times New Roman" panose="02020603050405020304" pitchFamily="18" charset="0"/>
                </a:rPr>
                <a:t>2 </a:t>
              </a:r>
              <a:r>
                <a:rPr lang="en-US" altLang="zh-CN" sz="3200">
                  <a:latin typeface="Times New Roman" panose="02020603050405020304" pitchFamily="18" charset="0"/>
                </a:rPr>
                <a:t>= 2     3      6     7 = 0</a:t>
              </a:r>
            </a:p>
          </p:txBody>
        </p:sp>
        <p:sp>
          <p:nvSpPr>
            <p:cNvPr id="184342" name="AutoShape 10"/>
            <p:cNvSpPr>
              <a:spLocks noChangeArrowheads="1"/>
            </p:cNvSpPr>
            <p:nvPr/>
          </p:nvSpPr>
          <p:spPr bwMode="auto">
            <a:xfrm>
              <a:off x="1680" y="1620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4343" name="AutoShape 11"/>
            <p:cNvSpPr>
              <a:spLocks noChangeArrowheads="1"/>
            </p:cNvSpPr>
            <p:nvPr/>
          </p:nvSpPr>
          <p:spPr bwMode="auto">
            <a:xfrm>
              <a:off x="2160" y="1620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4344" name="AutoShape 12"/>
            <p:cNvSpPr>
              <a:spLocks noChangeArrowheads="1"/>
            </p:cNvSpPr>
            <p:nvPr/>
          </p:nvSpPr>
          <p:spPr bwMode="auto">
            <a:xfrm>
              <a:off x="2640" y="1620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grpSp>
        <p:nvGrpSpPr>
          <p:cNvPr id="4" name="Group 13"/>
          <p:cNvGrpSpPr/>
          <p:nvPr/>
        </p:nvGrpSpPr>
        <p:grpSpPr bwMode="auto">
          <a:xfrm>
            <a:off x="1524000" y="3230563"/>
            <a:ext cx="4041775" cy="579437"/>
            <a:chOff x="960" y="1968"/>
            <a:chExt cx="2546" cy="365"/>
          </a:xfrm>
        </p:grpSpPr>
        <p:sp>
          <p:nvSpPr>
            <p:cNvPr id="184337" name="Text Box 14"/>
            <p:cNvSpPr txBox="1">
              <a:spLocks noChangeArrowheads="1"/>
            </p:cNvSpPr>
            <p:nvPr/>
          </p:nvSpPr>
          <p:spPr bwMode="auto">
            <a:xfrm>
              <a:off x="960" y="1968"/>
              <a:ext cx="254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3200">
                  <a:latin typeface="Times New Roman" panose="02020603050405020304" pitchFamily="18" charset="0"/>
                </a:rPr>
                <a:t>P</a:t>
              </a:r>
              <a:r>
                <a:rPr lang="en-US" altLang="zh-CN" sz="3200" baseline="-25000">
                  <a:latin typeface="Times New Roman" panose="02020603050405020304" pitchFamily="18" charset="0"/>
                </a:rPr>
                <a:t>1 </a:t>
              </a:r>
              <a:r>
                <a:rPr lang="en-US" altLang="zh-CN" sz="3200">
                  <a:latin typeface="Times New Roman" panose="02020603050405020304" pitchFamily="18" charset="0"/>
                </a:rPr>
                <a:t>= 1     3      5     7 = 0</a:t>
              </a:r>
            </a:p>
          </p:txBody>
        </p:sp>
        <p:sp>
          <p:nvSpPr>
            <p:cNvPr id="184338" name="AutoShape 15"/>
            <p:cNvSpPr>
              <a:spLocks noChangeArrowheads="1"/>
            </p:cNvSpPr>
            <p:nvPr/>
          </p:nvSpPr>
          <p:spPr bwMode="auto">
            <a:xfrm>
              <a:off x="1680" y="2052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4339" name="AutoShape 16"/>
            <p:cNvSpPr>
              <a:spLocks noChangeArrowheads="1"/>
            </p:cNvSpPr>
            <p:nvPr/>
          </p:nvSpPr>
          <p:spPr bwMode="auto">
            <a:xfrm>
              <a:off x="2160" y="2052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4340" name="AutoShape 17"/>
            <p:cNvSpPr>
              <a:spLocks noChangeArrowheads="1"/>
            </p:cNvSpPr>
            <p:nvPr/>
          </p:nvSpPr>
          <p:spPr bwMode="auto">
            <a:xfrm>
              <a:off x="2640" y="2052"/>
              <a:ext cx="192" cy="192"/>
            </a:xfrm>
            <a:prstGeom prst="flowChartOr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sp>
        <p:nvSpPr>
          <p:cNvPr id="802834" name="Text Box 18"/>
          <p:cNvSpPr txBox="1">
            <a:spLocks noChangeArrowheads="1"/>
          </p:cNvSpPr>
          <p:nvPr/>
        </p:nvSpPr>
        <p:spPr bwMode="auto">
          <a:xfrm>
            <a:off x="914400" y="3886200"/>
            <a:ext cx="31162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∴  </a:t>
            </a:r>
            <a:r>
              <a:rPr lang="en-US" altLang="zh-CN" sz="3200">
                <a:latin typeface="Times New Roman" panose="02020603050405020304" pitchFamily="18" charset="0"/>
              </a:rPr>
              <a:t>P</a:t>
            </a:r>
            <a:r>
              <a:rPr lang="en-US" altLang="zh-CN" sz="3200" baseline="-25000">
                <a:latin typeface="Times New Roman" panose="02020603050405020304" pitchFamily="18" charset="0"/>
              </a:rPr>
              <a:t>4 </a:t>
            </a:r>
            <a:r>
              <a:rPr lang="en-US" altLang="zh-CN" sz="3200">
                <a:latin typeface="Times New Roman" panose="02020603050405020304" pitchFamily="18" charset="0"/>
              </a:rPr>
              <a:t>P</a:t>
            </a:r>
            <a:r>
              <a:rPr lang="en-US" altLang="zh-CN" sz="3200" baseline="-25000">
                <a:latin typeface="Times New Roman" panose="02020603050405020304" pitchFamily="18" charset="0"/>
              </a:rPr>
              <a:t>2 </a:t>
            </a:r>
            <a:r>
              <a:rPr lang="en-US" altLang="zh-CN" sz="3200">
                <a:latin typeface="Times New Roman" panose="02020603050405020304" pitchFamily="18" charset="0"/>
              </a:rPr>
              <a:t>P</a:t>
            </a:r>
            <a:r>
              <a:rPr lang="en-US" altLang="zh-CN" sz="3200" baseline="-25000">
                <a:latin typeface="Times New Roman" panose="02020603050405020304" pitchFamily="18" charset="0"/>
              </a:rPr>
              <a:t>1</a:t>
            </a:r>
            <a:r>
              <a:rPr lang="en-US" altLang="zh-CN" sz="3200">
                <a:latin typeface="Times New Roman" panose="02020603050405020304" pitchFamily="18" charset="0"/>
              </a:rPr>
              <a:t> = 100</a:t>
            </a:r>
          </a:p>
        </p:txBody>
      </p:sp>
      <p:sp>
        <p:nvSpPr>
          <p:cNvPr id="802835" name="Text Box 19"/>
          <p:cNvSpPr txBox="1">
            <a:spLocks noChangeArrowheads="1"/>
          </p:cNvSpPr>
          <p:nvPr/>
        </p:nvSpPr>
        <p:spPr bwMode="auto">
          <a:xfrm>
            <a:off x="4495800" y="3835400"/>
            <a:ext cx="3471863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第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4</a:t>
            </a: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 位错，可不纠</a:t>
            </a:r>
          </a:p>
        </p:txBody>
      </p:sp>
      <p:grpSp>
        <p:nvGrpSpPr>
          <p:cNvPr id="5" name="Group 20"/>
          <p:cNvGrpSpPr/>
          <p:nvPr/>
        </p:nvGrpSpPr>
        <p:grpSpPr bwMode="auto">
          <a:xfrm>
            <a:off x="1905000" y="509588"/>
            <a:ext cx="5080000" cy="1289050"/>
            <a:chOff x="1200" y="321"/>
            <a:chExt cx="3200" cy="812"/>
          </a:xfrm>
        </p:grpSpPr>
        <p:sp>
          <p:nvSpPr>
            <p:cNvPr id="184335" name="Text Box 21"/>
            <p:cNvSpPr txBox="1">
              <a:spLocks noChangeArrowheads="1"/>
            </p:cNvSpPr>
            <p:nvPr/>
          </p:nvSpPr>
          <p:spPr bwMode="auto">
            <a:xfrm>
              <a:off x="1200" y="321"/>
              <a:ext cx="320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写出按偶校验配置的汉明码</a:t>
              </a:r>
            </a:p>
          </p:txBody>
        </p:sp>
        <p:sp>
          <p:nvSpPr>
            <p:cNvPr id="184336" name="Text Box 22"/>
            <p:cNvSpPr txBox="1">
              <a:spLocks noChangeArrowheads="1"/>
            </p:cNvSpPr>
            <p:nvPr/>
          </p:nvSpPr>
          <p:spPr bwMode="auto">
            <a:xfrm>
              <a:off x="1287" y="768"/>
              <a:ext cx="236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0101101 的纠错过程</a:t>
              </a:r>
            </a:p>
          </p:txBody>
        </p:sp>
      </p:grpSp>
      <p:grpSp>
        <p:nvGrpSpPr>
          <p:cNvPr id="6" name="Group 23"/>
          <p:cNvGrpSpPr/>
          <p:nvPr/>
        </p:nvGrpSpPr>
        <p:grpSpPr bwMode="auto">
          <a:xfrm>
            <a:off x="533400" y="4900613"/>
            <a:ext cx="7059613" cy="661987"/>
            <a:chOff x="432" y="2895"/>
            <a:chExt cx="4447" cy="417"/>
          </a:xfrm>
        </p:grpSpPr>
        <p:sp>
          <p:nvSpPr>
            <p:cNvPr id="184333" name="Text Box 24"/>
            <p:cNvSpPr txBox="1">
              <a:spLocks noChangeArrowheads="1"/>
            </p:cNvSpPr>
            <p:nvPr/>
          </p:nvSpPr>
          <p:spPr bwMode="auto">
            <a:xfrm>
              <a:off x="432" y="2895"/>
              <a:ext cx="836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600">
                  <a:latin typeface="Times New Roman" panose="02020603050405020304" pitchFamily="18" charset="0"/>
                </a:rPr>
                <a:t>练习3</a:t>
              </a:r>
            </a:p>
          </p:txBody>
        </p:sp>
        <p:sp>
          <p:nvSpPr>
            <p:cNvPr id="184334" name="Text Box 25"/>
            <p:cNvSpPr txBox="1">
              <a:spLocks noChangeArrowheads="1"/>
            </p:cNvSpPr>
            <p:nvPr/>
          </p:nvSpPr>
          <p:spPr bwMode="auto">
            <a:xfrm>
              <a:off x="1296" y="2947"/>
              <a:ext cx="358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按配奇原则配置 0011 的汉明码</a:t>
              </a:r>
            </a:p>
          </p:txBody>
        </p:sp>
      </p:grpSp>
      <p:sp>
        <p:nvSpPr>
          <p:cNvPr id="802842" name="Text Box 26"/>
          <p:cNvSpPr txBox="1">
            <a:spLocks noChangeArrowheads="1"/>
          </p:cNvSpPr>
          <p:nvPr/>
        </p:nvSpPr>
        <p:spPr bwMode="auto">
          <a:xfrm>
            <a:off x="1905000" y="5683250"/>
            <a:ext cx="4741863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配奇的汉明码为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01</a:t>
            </a:r>
            <a:r>
              <a:rPr lang="zh-CN" altLang="en-US" sz="3600">
                <a:latin typeface="Times New Roman" panose="02020603050405020304" pitchFamily="18" charset="0"/>
              </a:rPr>
              <a:t>0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1</a:t>
            </a:r>
            <a:r>
              <a:rPr lang="zh-CN" altLang="en-US" sz="3600">
                <a:latin typeface="Times New Roman" panose="02020603050405020304" pitchFamily="18" charset="0"/>
              </a:rPr>
              <a:t>011</a:t>
            </a:r>
          </a:p>
        </p:txBody>
      </p:sp>
      <p:sp>
        <p:nvSpPr>
          <p:cNvPr id="802843" name="Rectangle 27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84332" name="AutoShape 28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2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802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2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8028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28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8028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2834" grpId="0" autoUpdateAnimBg="0"/>
      <p:bldP spid="802835" grpId="0" autoUpdateAnimBg="0"/>
      <p:bldP spid="802842" grpId="0" autoUpdateAnimBg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Text Box 2"/>
          <p:cNvSpPr txBox="1">
            <a:spLocks noChangeArrowheads="1"/>
          </p:cNvSpPr>
          <p:nvPr/>
        </p:nvSpPr>
        <p:spPr bwMode="auto">
          <a:xfrm>
            <a:off x="533400" y="244475"/>
            <a:ext cx="5410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七、提高访存速度的措施</a:t>
            </a:r>
          </a:p>
        </p:txBody>
      </p:sp>
      <p:sp>
        <p:nvSpPr>
          <p:cNvPr id="274435" name="Text Box 3"/>
          <p:cNvSpPr txBox="1">
            <a:spLocks noChangeArrowheads="1"/>
          </p:cNvSpPr>
          <p:nvPr/>
        </p:nvSpPr>
        <p:spPr bwMode="auto">
          <a:xfrm>
            <a:off x="1293813" y="927100"/>
            <a:ext cx="304958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Char char="•"/>
            </a:pPr>
            <a:r>
              <a:rPr lang="zh-CN" altLang="en-US" sz="2800">
                <a:latin typeface="Times New Roman" panose="02020603050405020304" pitchFamily="18" charset="0"/>
              </a:rPr>
              <a:t> 采用高速器件</a:t>
            </a:r>
          </a:p>
        </p:txBody>
      </p:sp>
      <p:sp>
        <p:nvSpPr>
          <p:cNvPr id="274436" name="Text Box 4"/>
          <p:cNvSpPr txBox="1">
            <a:spLocks noChangeArrowheads="1"/>
          </p:cNvSpPr>
          <p:nvPr/>
        </p:nvSpPr>
        <p:spPr bwMode="auto">
          <a:xfrm>
            <a:off x="1293813" y="2071688"/>
            <a:ext cx="2897187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Char char="•"/>
            </a:pPr>
            <a:r>
              <a:rPr lang="zh-CN" altLang="en-US" sz="2800">
                <a:latin typeface="Times New Roman" panose="02020603050405020304" pitchFamily="18" charset="0"/>
              </a:rPr>
              <a:t> 调整主存结构</a:t>
            </a:r>
          </a:p>
        </p:txBody>
      </p:sp>
      <p:sp>
        <p:nvSpPr>
          <p:cNvPr id="274437" name="Text Box 5"/>
          <p:cNvSpPr txBox="1">
            <a:spLocks noChangeArrowheads="1"/>
          </p:cNvSpPr>
          <p:nvPr/>
        </p:nvSpPr>
        <p:spPr bwMode="auto">
          <a:xfrm>
            <a:off x="1066800" y="2743200"/>
            <a:ext cx="3200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1. 单体多字系统  </a:t>
            </a:r>
          </a:p>
        </p:txBody>
      </p:sp>
      <p:grpSp>
        <p:nvGrpSpPr>
          <p:cNvPr id="2" name="Group 53"/>
          <p:cNvGrpSpPr/>
          <p:nvPr/>
        </p:nvGrpSpPr>
        <p:grpSpPr bwMode="auto">
          <a:xfrm>
            <a:off x="1271588" y="3365500"/>
            <a:ext cx="7110412" cy="3302000"/>
            <a:chOff x="801" y="2120"/>
            <a:chExt cx="4479" cy="2080"/>
          </a:xfrm>
        </p:grpSpPr>
        <p:sp>
          <p:nvSpPr>
            <p:cNvPr id="185355" name="Rectangle 7"/>
            <p:cNvSpPr>
              <a:spLocks noChangeArrowheads="1"/>
            </p:cNvSpPr>
            <p:nvPr/>
          </p:nvSpPr>
          <p:spPr bwMode="auto">
            <a:xfrm>
              <a:off x="822" y="2491"/>
              <a:ext cx="290" cy="1363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5356" name="Rectangle 8"/>
            <p:cNvSpPr>
              <a:spLocks noChangeArrowheads="1"/>
            </p:cNvSpPr>
            <p:nvPr/>
          </p:nvSpPr>
          <p:spPr bwMode="auto">
            <a:xfrm>
              <a:off x="1546" y="2780"/>
              <a:ext cx="627" cy="28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5357" name="Text Box 9"/>
            <p:cNvSpPr txBox="1">
              <a:spLocks noChangeArrowheads="1"/>
            </p:cNvSpPr>
            <p:nvPr/>
          </p:nvSpPr>
          <p:spPr bwMode="auto">
            <a:xfrm>
              <a:off x="1594" y="2774"/>
              <a:ext cx="48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 i="1">
                  <a:latin typeface="Times New Roman" panose="02020603050405020304" pitchFamily="18" charset="0"/>
                </a:rPr>
                <a:t>W</a:t>
              </a:r>
              <a:r>
                <a:rPr lang="zh-CN" altLang="en-US" sz="2400">
                  <a:latin typeface="Times New Roman" panose="02020603050405020304" pitchFamily="18" charset="0"/>
                </a:rPr>
                <a:t>位</a:t>
              </a:r>
              <a:endParaRPr lang="zh-CN" altLang="en-US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185358" name="Rectangle 10"/>
            <p:cNvSpPr>
              <a:spLocks noChangeArrowheads="1"/>
            </p:cNvSpPr>
            <p:nvPr/>
          </p:nvSpPr>
          <p:spPr bwMode="auto">
            <a:xfrm>
              <a:off x="2173" y="2780"/>
              <a:ext cx="628" cy="28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5359" name="Text Box 11"/>
            <p:cNvSpPr txBox="1">
              <a:spLocks noChangeArrowheads="1"/>
            </p:cNvSpPr>
            <p:nvPr/>
          </p:nvSpPr>
          <p:spPr bwMode="auto">
            <a:xfrm>
              <a:off x="2221" y="2774"/>
              <a:ext cx="48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 i="1">
                  <a:latin typeface="Times New Roman" panose="02020603050405020304" pitchFamily="18" charset="0"/>
                </a:rPr>
                <a:t>W</a:t>
              </a:r>
              <a:r>
                <a:rPr lang="zh-CN" altLang="en-US" sz="2400">
                  <a:latin typeface="Times New Roman" panose="02020603050405020304" pitchFamily="18" charset="0"/>
                </a:rPr>
                <a:t>位</a:t>
              </a:r>
              <a:endParaRPr lang="zh-CN" altLang="en-US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185360" name="Rectangle 12"/>
            <p:cNvSpPr>
              <a:spLocks noChangeArrowheads="1"/>
            </p:cNvSpPr>
            <p:nvPr/>
          </p:nvSpPr>
          <p:spPr bwMode="auto">
            <a:xfrm>
              <a:off x="2801" y="2780"/>
              <a:ext cx="627" cy="28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5361" name="Text Box 13"/>
            <p:cNvSpPr txBox="1">
              <a:spLocks noChangeArrowheads="1"/>
            </p:cNvSpPr>
            <p:nvPr/>
          </p:nvSpPr>
          <p:spPr bwMode="auto">
            <a:xfrm>
              <a:off x="2849" y="2774"/>
              <a:ext cx="48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 i="1">
                  <a:latin typeface="Times New Roman" panose="02020603050405020304" pitchFamily="18" charset="0"/>
                </a:rPr>
                <a:t>W</a:t>
              </a:r>
              <a:r>
                <a:rPr lang="zh-CN" altLang="en-US" sz="2400">
                  <a:latin typeface="Times New Roman" panose="02020603050405020304" pitchFamily="18" charset="0"/>
                </a:rPr>
                <a:t>位</a:t>
              </a:r>
              <a:endParaRPr lang="zh-CN" altLang="en-US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185362" name="Rectangle 14"/>
            <p:cNvSpPr>
              <a:spLocks noChangeArrowheads="1"/>
            </p:cNvSpPr>
            <p:nvPr/>
          </p:nvSpPr>
          <p:spPr bwMode="auto">
            <a:xfrm>
              <a:off x="3428" y="2780"/>
              <a:ext cx="627" cy="28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5363" name="Text Box 15"/>
            <p:cNvSpPr txBox="1">
              <a:spLocks noChangeArrowheads="1"/>
            </p:cNvSpPr>
            <p:nvPr/>
          </p:nvSpPr>
          <p:spPr bwMode="auto">
            <a:xfrm>
              <a:off x="3476" y="2774"/>
              <a:ext cx="48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 i="1">
                  <a:latin typeface="Times New Roman" panose="02020603050405020304" pitchFamily="18" charset="0"/>
                </a:rPr>
                <a:t>W</a:t>
              </a:r>
              <a:r>
                <a:rPr lang="zh-CN" altLang="en-US" sz="2400">
                  <a:latin typeface="Times New Roman" panose="02020603050405020304" pitchFamily="18" charset="0"/>
                </a:rPr>
                <a:t>位</a:t>
              </a:r>
            </a:p>
          </p:txBody>
        </p:sp>
        <p:sp>
          <p:nvSpPr>
            <p:cNvPr id="185364" name="Rectangle 16"/>
            <p:cNvSpPr>
              <a:spLocks noChangeArrowheads="1"/>
            </p:cNvSpPr>
            <p:nvPr/>
          </p:nvSpPr>
          <p:spPr bwMode="auto">
            <a:xfrm>
              <a:off x="2511" y="2120"/>
              <a:ext cx="627" cy="28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5365" name="Text Box 17"/>
            <p:cNvSpPr txBox="1">
              <a:spLocks noChangeArrowheads="1"/>
            </p:cNvSpPr>
            <p:nvPr/>
          </p:nvSpPr>
          <p:spPr bwMode="auto">
            <a:xfrm>
              <a:off x="2559" y="2137"/>
              <a:ext cx="48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 i="1">
                  <a:latin typeface="Times New Roman" panose="02020603050405020304" pitchFamily="18" charset="0"/>
                </a:rPr>
                <a:t>W</a:t>
              </a:r>
              <a:r>
                <a:rPr lang="zh-CN" altLang="en-US" sz="2400">
                  <a:latin typeface="Times New Roman" panose="02020603050405020304" pitchFamily="18" charset="0"/>
                </a:rPr>
                <a:t>位</a:t>
              </a:r>
              <a:endParaRPr lang="zh-CN" altLang="en-US" sz="2400" i="1">
                <a:latin typeface="Times New Roman" panose="02020603050405020304" pitchFamily="18" charset="0"/>
              </a:endParaRPr>
            </a:p>
          </p:txBody>
        </p:sp>
        <p:grpSp>
          <p:nvGrpSpPr>
            <p:cNvPr id="185366" name="Group 52"/>
            <p:cNvGrpSpPr/>
            <p:nvPr/>
          </p:nvGrpSpPr>
          <p:grpSpPr bwMode="auto">
            <a:xfrm>
              <a:off x="1546" y="3358"/>
              <a:ext cx="2509" cy="289"/>
              <a:chOff x="1546" y="3358"/>
              <a:chExt cx="2509" cy="289"/>
            </a:xfrm>
          </p:grpSpPr>
          <p:sp>
            <p:nvSpPr>
              <p:cNvPr id="185389" name="Rectangle 19"/>
              <p:cNvSpPr>
                <a:spLocks noChangeArrowheads="1"/>
              </p:cNvSpPr>
              <p:nvPr/>
            </p:nvSpPr>
            <p:spPr bwMode="auto">
              <a:xfrm>
                <a:off x="1546" y="3358"/>
                <a:ext cx="2509" cy="289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85390" name="Line 20"/>
              <p:cNvSpPr>
                <a:spLocks noChangeShapeType="1"/>
              </p:cNvSpPr>
              <p:nvPr/>
            </p:nvSpPr>
            <p:spPr bwMode="auto">
              <a:xfrm>
                <a:off x="2173" y="3358"/>
                <a:ext cx="0" cy="289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5391" name="Line 21"/>
              <p:cNvSpPr>
                <a:spLocks noChangeShapeType="1"/>
              </p:cNvSpPr>
              <p:nvPr/>
            </p:nvSpPr>
            <p:spPr bwMode="auto">
              <a:xfrm>
                <a:off x="2801" y="3358"/>
                <a:ext cx="0" cy="289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5392" name="Line 22"/>
              <p:cNvSpPr>
                <a:spLocks noChangeShapeType="1"/>
              </p:cNvSpPr>
              <p:nvPr/>
            </p:nvSpPr>
            <p:spPr bwMode="auto">
              <a:xfrm>
                <a:off x="3428" y="3358"/>
                <a:ext cx="0" cy="289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85367" name="AutoShape 23"/>
            <p:cNvSpPr/>
            <p:nvPr/>
          </p:nvSpPr>
          <p:spPr bwMode="auto">
            <a:xfrm rot="5400000">
              <a:off x="1777" y="2385"/>
              <a:ext cx="166" cy="626"/>
            </a:xfrm>
            <a:prstGeom prst="leftBrace">
              <a:avLst>
                <a:gd name="adj1" fmla="val 31426"/>
                <a:gd name="adj2" fmla="val 50157"/>
              </a:avLst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5368" name="AutoShape 24"/>
            <p:cNvSpPr/>
            <p:nvPr/>
          </p:nvSpPr>
          <p:spPr bwMode="auto">
            <a:xfrm rot="5400000">
              <a:off x="2404" y="2385"/>
              <a:ext cx="166" cy="626"/>
            </a:xfrm>
            <a:prstGeom prst="leftBrace">
              <a:avLst>
                <a:gd name="adj1" fmla="val 31426"/>
                <a:gd name="adj2" fmla="val 50157"/>
              </a:avLst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5369" name="AutoShape 25"/>
            <p:cNvSpPr/>
            <p:nvPr/>
          </p:nvSpPr>
          <p:spPr bwMode="auto">
            <a:xfrm rot="5400000">
              <a:off x="3032" y="2384"/>
              <a:ext cx="166" cy="627"/>
            </a:xfrm>
            <a:prstGeom prst="leftBrace">
              <a:avLst>
                <a:gd name="adj1" fmla="val 31476"/>
                <a:gd name="adj2" fmla="val 50157"/>
              </a:avLst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5370" name="AutoShape 26"/>
            <p:cNvSpPr/>
            <p:nvPr/>
          </p:nvSpPr>
          <p:spPr bwMode="auto">
            <a:xfrm rot="5400000">
              <a:off x="3659" y="2384"/>
              <a:ext cx="166" cy="626"/>
            </a:xfrm>
            <a:prstGeom prst="leftBrace">
              <a:avLst>
                <a:gd name="adj1" fmla="val 31426"/>
                <a:gd name="adj2" fmla="val 50157"/>
              </a:avLst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5371" name="Line 27"/>
            <p:cNvSpPr>
              <a:spLocks noChangeShapeType="1"/>
            </p:cNvSpPr>
            <p:nvPr/>
          </p:nvSpPr>
          <p:spPr bwMode="auto">
            <a:xfrm flipV="1">
              <a:off x="1835" y="2409"/>
              <a:ext cx="676" cy="20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5372" name="Line 28"/>
            <p:cNvSpPr>
              <a:spLocks noChangeShapeType="1"/>
            </p:cNvSpPr>
            <p:nvPr/>
          </p:nvSpPr>
          <p:spPr bwMode="auto">
            <a:xfrm flipH="1" flipV="1">
              <a:off x="3138" y="2409"/>
              <a:ext cx="627" cy="16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5373" name="Line 29"/>
            <p:cNvSpPr>
              <a:spLocks noChangeShapeType="1"/>
            </p:cNvSpPr>
            <p:nvPr/>
          </p:nvSpPr>
          <p:spPr bwMode="auto">
            <a:xfrm flipV="1">
              <a:off x="2463" y="2409"/>
              <a:ext cx="289" cy="20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5374" name="Line 30"/>
            <p:cNvSpPr>
              <a:spLocks noChangeShapeType="1"/>
            </p:cNvSpPr>
            <p:nvPr/>
          </p:nvSpPr>
          <p:spPr bwMode="auto">
            <a:xfrm flipH="1" flipV="1">
              <a:off x="2897" y="2409"/>
              <a:ext cx="193" cy="20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5375" name="Rectangle 31"/>
            <p:cNvSpPr>
              <a:spLocks noChangeArrowheads="1"/>
            </p:cNvSpPr>
            <p:nvPr/>
          </p:nvSpPr>
          <p:spPr bwMode="auto">
            <a:xfrm>
              <a:off x="2028" y="3936"/>
              <a:ext cx="1593" cy="24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5376" name="Text Box 32"/>
            <p:cNvSpPr txBox="1">
              <a:spLocks noChangeArrowheads="1"/>
            </p:cNvSpPr>
            <p:nvPr/>
          </p:nvSpPr>
          <p:spPr bwMode="auto">
            <a:xfrm>
              <a:off x="2268" y="3912"/>
              <a:ext cx="110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000">
                  <a:latin typeface="Times New Roman" panose="02020603050405020304" pitchFamily="18" charset="0"/>
                </a:rPr>
                <a:t> </a:t>
              </a:r>
              <a:r>
                <a:rPr lang="zh-CN" altLang="en-US" sz="2400">
                  <a:latin typeface="Times New Roman" panose="02020603050405020304" pitchFamily="18" charset="0"/>
                </a:rPr>
                <a:t>地址寄存器</a:t>
              </a:r>
            </a:p>
          </p:txBody>
        </p:sp>
        <p:sp>
          <p:nvSpPr>
            <p:cNvPr id="185377" name="Text Box 33"/>
            <p:cNvSpPr txBox="1">
              <a:spLocks noChangeArrowheads="1"/>
            </p:cNvSpPr>
            <p:nvPr/>
          </p:nvSpPr>
          <p:spPr bwMode="auto">
            <a:xfrm>
              <a:off x="801" y="2544"/>
              <a:ext cx="346" cy="1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  </a:t>
              </a:r>
              <a:r>
                <a:rPr lang="zh-CN" altLang="en-US">
                  <a:latin typeface="Times New Roman" panose="02020603050405020304" pitchFamily="18" charset="0"/>
                </a:rPr>
                <a:t> </a:t>
              </a:r>
              <a:r>
                <a:rPr lang="zh-CN" altLang="en-US" sz="2400">
                  <a:latin typeface="Times New Roman" panose="02020603050405020304" pitchFamily="18" charset="0"/>
                </a:rPr>
                <a:t>主存控制器</a:t>
              </a:r>
            </a:p>
          </p:txBody>
        </p:sp>
        <p:sp>
          <p:nvSpPr>
            <p:cNvPr id="185378" name="Line 34"/>
            <p:cNvSpPr>
              <a:spLocks noChangeShapeType="1"/>
            </p:cNvSpPr>
            <p:nvPr/>
          </p:nvSpPr>
          <p:spPr bwMode="auto">
            <a:xfrm>
              <a:off x="1112" y="2904"/>
              <a:ext cx="43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5379" name="Line 35"/>
            <p:cNvSpPr>
              <a:spLocks noChangeShapeType="1"/>
            </p:cNvSpPr>
            <p:nvPr/>
          </p:nvSpPr>
          <p:spPr bwMode="auto">
            <a:xfrm flipV="1">
              <a:off x="2270" y="3647"/>
              <a:ext cx="0" cy="2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5380" name="Line 36"/>
            <p:cNvSpPr>
              <a:spLocks noChangeShapeType="1"/>
            </p:cNvSpPr>
            <p:nvPr/>
          </p:nvSpPr>
          <p:spPr bwMode="auto">
            <a:xfrm flipV="1">
              <a:off x="1787" y="3069"/>
              <a:ext cx="0" cy="2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5381" name="Line 37"/>
            <p:cNvSpPr>
              <a:spLocks noChangeShapeType="1"/>
            </p:cNvSpPr>
            <p:nvPr/>
          </p:nvSpPr>
          <p:spPr bwMode="auto">
            <a:xfrm flipV="1">
              <a:off x="3717" y="3069"/>
              <a:ext cx="0" cy="2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5382" name="Line 38"/>
            <p:cNvSpPr>
              <a:spLocks noChangeShapeType="1"/>
            </p:cNvSpPr>
            <p:nvPr/>
          </p:nvSpPr>
          <p:spPr bwMode="auto">
            <a:xfrm flipV="1">
              <a:off x="3283" y="3647"/>
              <a:ext cx="0" cy="2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5383" name="Text Box 39"/>
            <p:cNvSpPr txBox="1">
              <a:spLocks noChangeArrowheads="1"/>
            </p:cNvSpPr>
            <p:nvPr/>
          </p:nvSpPr>
          <p:spPr bwMode="auto">
            <a:xfrm>
              <a:off x="2582" y="3554"/>
              <a:ext cx="50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. . . </a:t>
              </a:r>
            </a:p>
          </p:txBody>
        </p:sp>
        <p:sp>
          <p:nvSpPr>
            <p:cNvPr id="185384" name="Text Box 40"/>
            <p:cNvSpPr txBox="1">
              <a:spLocks noChangeArrowheads="1"/>
            </p:cNvSpPr>
            <p:nvPr/>
          </p:nvSpPr>
          <p:spPr bwMode="auto">
            <a:xfrm>
              <a:off x="2582" y="2976"/>
              <a:ext cx="50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. . . </a:t>
              </a:r>
            </a:p>
          </p:txBody>
        </p:sp>
        <p:sp>
          <p:nvSpPr>
            <p:cNvPr id="185385" name="Freeform 41"/>
            <p:cNvSpPr/>
            <p:nvPr/>
          </p:nvSpPr>
          <p:spPr bwMode="auto">
            <a:xfrm>
              <a:off x="967" y="3853"/>
              <a:ext cx="1061" cy="207"/>
            </a:xfrm>
            <a:custGeom>
              <a:avLst/>
              <a:gdLst>
                <a:gd name="T0" fmla="*/ 0 w 1056"/>
                <a:gd name="T1" fmla="*/ 0 h 240"/>
                <a:gd name="T2" fmla="*/ 0 w 1056"/>
                <a:gd name="T3" fmla="*/ 30 h 240"/>
                <a:gd name="T4" fmla="*/ 1126 w 1056"/>
                <a:gd name="T5" fmla="*/ 30 h 240"/>
                <a:gd name="T6" fmla="*/ 0 60000 65536"/>
                <a:gd name="T7" fmla="*/ 0 60000 65536"/>
                <a:gd name="T8" fmla="*/ 0 60000 65536"/>
                <a:gd name="T9" fmla="*/ 0 w 1056"/>
                <a:gd name="T10" fmla="*/ 0 h 240"/>
                <a:gd name="T11" fmla="*/ 1056 w 1056"/>
                <a:gd name="T12" fmla="*/ 240 h 2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56" h="240">
                  <a:moveTo>
                    <a:pt x="0" y="0"/>
                  </a:moveTo>
                  <a:lnTo>
                    <a:pt x="0" y="240"/>
                  </a:lnTo>
                  <a:lnTo>
                    <a:pt x="1056" y="24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5386" name="Text Box 42"/>
            <p:cNvSpPr txBox="1">
              <a:spLocks noChangeArrowheads="1"/>
            </p:cNvSpPr>
            <p:nvPr/>
          </p:nvSpPr>
          <p:spPr bwMode="auto">
            <a:xfrm>
              <a:off x="3504" y="2173"/>
              <a:ext cx="132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单字长寄存器 </a:t>
              </a:r>
            </a:p>
          </p:txBody>
        </p:sp>
        <p:sp>
          <p:nvSpPr>
            <p:cNvPr id="185387" name="Text Box 43"/>
            <p:cNvSpPr txBox="1">
              <a:spLocks noChangeArrowheads="1"/>
            </p:cNvSpPr>
            <p:nvPr/>
          </p:nvSpPr>
          <p:spPr bwMode="auto">
            <a:xfrm>
              <a:off x="4151" y="2792"/>
              <a:ext cx="112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数据寄存器 </a:t>
              </a:r>
            </a:p>
          </p:txBody>
        </p:sp>
        <p:sp>
          <p:nvSpPr>
            <p:cNvPr id="185388" name="Text Box 44"/>
            <p:cNvSpPr txBox="1">
              <a:spLocks noChangeArrowheads="1"/>
            </p:cNvSpPr>
            <p:nvPr/>
          </p:nvSpPr>
          <p:spPr bwMode="auto">
            <a:xfrm>
              <a:off x="4151" y="3412"/>
              <a:ext cx="74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存储体 </a:t>
              </a:r>
            </a:p>
          </p:txBody>
        </p:sp>
      </p:grpSp>
      <p:sp>
        <p:nvSpPr>
          <p:cNvPr id="274478" name="Text Box 46"/>
          <p:cNvSpPr txBox="1">
            <a:spLocks noChangeArrowheads="1"/>
          </p:cNvSpPr>
          <p:nvPr/>
        </p:nvSpPr>
        <p:spPr bwMode="auto">
          <a:xfrm>
            <a:off x="1293813" y="1524000"/>
            <a:ext cx="4913312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Char char="•"/>
            </a:pPr>
            <a:r>
              <a:rPr lang="zh-CN" altLang="en-US" sz="2800">
                <a:latin typeface="Times New Roman" panose="02020603050405020304" pitchFamily="18" charset="0"/>
              </a:rPr>
              <a:t> 采用层次结构  </a:t>
            </a:r>
            <a:r>
              <a:rPr lang="en-US" altLang="zh-CN" sz="2800">
                <a:latin typeface="Times New Roman" panose="02020603050405020304" pitchFamily="18" charset="0"/>
              </a:rPr>
              <a:t>Cache </a:t>
            </a:r>
            <a:r>
              <a:rPr lang="en-US" altLang="en-US" sz="2800">
                <a:latin typeface="Times New Roman" panose="02020603050405020304" pitchFamily="18" charset="0"/>
              </a:rPr>
              <a:t>–</a:t>
            </a:r>
            <a:r>
              <a:rPr lang="zh-CN" altLang="en-US" sz="2800">
                <a:latin typeface="Times New Roman" panose="02020603050405020304" pitchFamily="18" charset="0"/>
              </a:rPr>
              <a:t>主存   </a:t>
            </a:r>
          </a:p>
        </p:txBody>
      </p:sp>
      <p:sp>
        <p:nvSpPr>
          <p:cNvPr id="274480" name="AutoShape 48"/>
          <p:cNvSpPr>
            <a:spLocks noChangeArrowheads="1"/>
          </p:cNvSpPr>
          <p:nvPr/>
        </p:nvSpPr>
        <p:spPr bwMode="auto">
          <a:xfrm>
            <a:off x="5410200" y="2790825"/>
            <a:ext cx="3460750" cy="554038"/>
          </a:xfrm>
          <a:prstGeom prst="wedgeRoundRectCallout">
            <a:avLst>
              <a:gd name="adj1" fmla="val -89352"/>
              <a:gd name="adj2" fmla="val 33097"/>
              <a:gd name="adj3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增加存储器的带宽  </a:t>
            </a:r>
          </a:p>
        </p:txBody>
      </p:sp>
      <p:sp>
        <p:nvSpPr>
          <p:cNvPr id="274481" name="Rectangle 49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85354" name="AutoShape 50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74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744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74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74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744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744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4435" grpId="0" autoUpdateAnimBg="0"/>
      <p:bldP spid="274436" grpId="0" autoUpdateAnimBg="0"/>
      <p:bldP spid="274437" grpId="0" autoUpdateAnimBg="0"/>
      <p:bldP spid="274478" grpId="0"/>
      <p:bldP spid="274480" grpId="0" autoUpdateAnimBg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70" name="Text Box 2"/>
          <p:cNvSpPr txBox="1">
            <a:spLocks noChangeArrowheads="1"/>
          </p:cNvSpPr>
          <p:nvPr/>
        </p:nvSpPr>
        <p:spPr bwMode="auto">
          <a:xfrm>
            <a:off x="685800" y="152400"/>
            <a:ext cx="36576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2. 多体并行系统</a:t>
            </a:r>
          </a:p>
        </p:txBody>
      </p:sp>
      <p:sp>
        <p:nvSpPr>
          <p:cNvPr id="275459" name="Text Box 3"/>
          <p:cNvSpPr txBox="1">
            <a:spLocks noChangeArrowheads="1"/>
          </p:cNvSpPr>
          <p:nvPr/>
        </p:nvSpPr>
        <p:spPr bwMode="auto">
          <a:xfrm>
            <a:off x="898525" y="836613"/>
            <a:ext cx="54022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(1) 高位交叉 </a:t>
            </a:r>
          </a:p>
        </p:txBody>
      </p:sp>
      <p:grpSp>
        <p:nvGrpSpPr>
          <p:cNvPr id="2" name="Group 4"/>
          <p:cNvGrpSpPr/>
          <p:nvPr/>
        </p:nvGrpSpPr>
        <p:grpSpPr bwMode="auto">
          <a:xfrm>
            <a:off x="1447800" y="1603375"/>
            <a:ext cx="7227888" cy="3195638"/>
            <a:chOff x="912" y="1010"/>
            <a:chExt cx="4553" cy="2013"/>
          </a:xfrm>
        </p:grpSpPr>
        <p:sp>
          <p:nvSpPr>
            <p:cNvPr id="186415" name="Text Box 5"/>
            <p:cNvSpPr txBox="1">
              <a:spLocks noChangeArrowheads="1"/>
            </p:cNvSpPr>
            <p:nvPr/>
          </p:nvSpPr>
          <p:spPr bwMode="auto">
            <a:xfrm>
              <a:off x="1008" y="1010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0</a:t>
              </a:r>
            </a:p>
          </p:txBody>
        </p:sp>
        <p:grpSp>
          <p:nvGrpSpPr>
            <p:cNvPr id="186416" name="Group 6"/>
            <p:cNvGrpSpPr/>
            <p:nvPr/>
          </p:nvGrpSpPr>
          <p:grpSpPr bwMode="auto">
            <a:xfrm>
              <a:off x="912" y="1387"/>
              <a:ext cx="567" cy="1636"/>
              <a:chOff x="624" y="1104"/>
              <a:chExt cx="567" cy="1636"/>
            </a:xfrm>
          </p:grpSpPr>
          <p:sp>
            <p:nvSpPr>
              <p:cNvPr id="186474" name="Rectangle 7"/>
              <p:cNvSpPr>
                <a:spLocks noChangeArrowheads="1"/>
              </p:cNvSpPr>
              <p:nvPr/>
            </p:nvSpPr>
            <p:spPr bwMode="auto">
              <a:xfrm>
                <a:off x="624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6475" name="Rectangle 8"/>
              <p:cNvSpPr>
                <a:spLocks noChangeArrowheads="1"/>
              </p:cNvSpPr>
              <p:nvPr/>
            </p:nvSpPr>
            <p:spPr bwMode="auto">
              <a:xfrm>
                <a:off x="624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6476" name="Rectangle 9"/>
              <p:cNvSpPr>
                <a:spLocks noChangeArrowheads="1"/>
              </p:cNvSpPr>
              <p:nvPr/>
            </p:nvSpPr>
            <p:spPr bwMode="auto">
              <a:xfrm>
                <a:off x="624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6477" name="Rectangle 10"/>
              <p:cNvSpPr>
                <a:spLocks noChangeArrowheads="1"/>
              </p:cNvSpPr>
              <p:nvPr/>
            </p:nvSpPr>
            <p:spPr bwMode="auto">
              <a:xfrm>
                <a:off x="624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6478" name="Rectangle 11"/>
              <p:cNvSpPr>
                <a:spLocks noChangeArrowheads="1"/>
              </p:cNvSpPr>
              <p:nvPr/>
            </p:nvSpPr>
            <p:spPr bwMode="auto">
              <a:xfrm>
                <a:off x="624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6479" name="Rectangle 12"/>
              <p:cNvSpPr>
                <a:spLocks noChangeArrowheads="1"/>
              </p:cNvSpPr>
              <p:nvPr/>
            </p:nvSpPr>
            <p:spPr bwMode="auto">
              <a:xfrm>
                <a:off x="624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6480" name="Line 13"/>
              <p:cNvSpPr>
                <a:spLocks noChangeShapeType="1"/>
              </p:cNvSpPr>
              <p:nvPr/>
            </p:nvSpPr>
            <p:spPr bwMode="auto">
              <a:xfrm>
                <a:off x="624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81" name="Line 14"/>
              <p:cNvSpPr>
                <a:spLocks noChangeShapeType="1"/>
              </p:cNvSpPr>
              <p:nvPr/>
            </p:nvSpPr>
            <p:spPr bwMode="auto">
              <a:xfrm>
                <a:off x="624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82" name="Line 15"/>
              <p:cNvSpPr>
                <a:spLocks noChangeShapeType="1"/>
              </p:cNvSpPr>
              <p:nvPr/>
            </p:nvSpPr>
            <p:spPr bwMode="auto">
              <a:xfrm>
                <a:off x="624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83" name="Line 16"/>
              <p:cNvSpPr>
                <a:spLocks noChangeShapeType="1"/>
              </p:cNvSpPr>
              <p:nvPr/>
            </p:nvSpPr>
            <p:spPr bwMode="auto">
              <a:xfrm>
                <a:off x="624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84" name="Line 17"/>
              <p:cNvSpPr>
                <a:spLocks noChangeShapeType="1"/>
              </p:cNvSpPr>
              <p:nvPr/>
            </p:nvSpPr>
            <p:spPr bwMode="auto">
              <a:xfrm>
                <a:off x="624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85" name="Line 18"/>
              <p:cNvSpPr>
                <a:spLocks noChangeShapeType="1"/>
              </p:cNvSpPr>
              <p:nvPr/>
            </p:nvSpPr>
            <p:spPr bwMode="auto">
              <a:xfrm>
                <a:off x="624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86" name="Line 19"/>
              <p:cNvSpPr>
                <a:spLocks noChangeShapeType="1"/>
              </p:cNvSpPr>
              <p:nvPr/>
            </p:nvSpPr>
            <p:spPr bwMode="auto">
              <a:xfrm>
                <a:off x="624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87" name="Line 20"/>
              <p:cNvSpPr>
                <a:spLocks noChangeShapeType="1"/>
              </p:cNvSpPr>
              <p:nvPr/>
            </p:nvSpPr>
            <p:spPr bwMode="auto">
              <a:xfrm>
                <a:off x="624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88" name="Line 21"/>
              <p:cNvSpPr>
                <a:spLocks noChangeShapeType="1"/>
              </p:cNvSpPr>
              <p:nvPr/>
            </p:nvSpPr>
            <p:spPr bwMode="auto">
              <a:xfrm>
                <a:off x="1152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89" name="Text Box 22"/>
              <p:cNvSpPr txBox="1">
                <a:spLocks noChangeArrowheads="1"/>
              </p:cNvSpPr>
              <p:nvPr/>
            </p:nvSpPr>
            <p:spPr bwMode="auto">
              <a:xfrm>
                <a:off x="768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86490" name="Text Box 23"/>
              <p:cNvSpPr txBox="1">
                <a:spLocks noChangeArrowheads="1"/>
              </p:cNvSpPr>
              <p:nvPr/>
            </p:nvSpPr>
            <p:spPr bwMode="auto">
              <a:xfrm>
                <a:off x="768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  <p:sp>
          <p:nvSpPr>
            <p:cNvPr id="186417" name="Text Box 24"/>
            <p:cNvSpPr txBox="1">
              <a:spLocks noChangeArrowheads="1"/>
            </p:cNvSpPr>
            <p:nvPr/>
          </p:nvSpPr>
          <p:spPr bwMode="auto">
            <a:xfrm>
              <a:off x="2296" y="1010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1</a:t>
              </a:r>
            </a:p>
          </p:txBody>
        </p:sp>
        <p:grpSp>
          <p:nvGrpSpPr>
            <p:cNvPr id="186418" name="Group 25"/>
            <p:cNvGrpSpPr/>
            <p:nvPr/>
          </p:nvGrpSpPr>
          <p:grpSpPr bwMode="auto">
            <a:xfrm>
              <a:off x="2222" y="1387"/>
              <a:ext cx="567" cy="1636"/>
              <a:chOff x="1807" y="1104"/>
              <a:chExt cx="567" cy="1636"/>
            </a:xfrm>
          </p:grpSpPr>
          <p:sp>
            <p:nvSpPr>
              <p:cNvPr id="186457" name="Rectangle 26"/>
              <p:cNvSpPr>
                <a:spLocks noChangeArrowheads="1"/>
              </p:cNvSpPr>
              <p:nvPr/>
            </p:nvSpPr>
            <p:spPr bwMode="auto">
              <a:xfrm>
                <a:off x="1807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6458" name="Rectangle 27"/>
              <p:cNvSpPr>
                <a:spLocks noChangeArrowheads="1"/>
              </p:cNvSpPr>
              <p:nvPr/>
            </p:nvSpPr>
            <p:spPr bwMode="auto">
              <a:xfrm>
                <a:off x="1807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6459" name="Rectangle 28"/>
              <p:cNvSpPr>
                <a:spLocks noChangeArrowheads="1"/>
              </p:cNvSpPr>
              <p:nvPr/>
            </p:nvSpPr>
            <p:spPr bwMode="auto">
              <a:xfrm>
                <a:off x="1807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6460" name="Rectangle 29"/>
              <p:cNvSpPr>
                <a:spLocks noChangeArrowheads="1"/>
              </p:cNvSpPr>
              <p:nvPr/>
            </p:nvSpPr>
            <p:spPr bwMode="auto">
              <a:xfrm>
                <a:off x="1807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6461" name="Rectangle 30"/>
              <p:cNvSpPr>
                <a:spLocks noChangeArrowheads="1"/>
              </p:cNvSpPr>
              <p:nvPr/>
            </p:nvSpPr>
            <p:spPr bwMode="auto">
              <a:xfrm>
                <a:off x="1807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6462" name="Rectangle 31"/>
              <p:cNvSpPr>
                <a:spLocks noChangeArrowheads="1"/>
              </p:cNvSpPr>
              <p:nvPr/>
            </p:nvSpPr>
            <p:spPr bwMode="auto">
              <a:xfrm>
                <a:off x="1807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6463" name="Line 32"/>
              <p:cNvSpPr>
                <a:spLocks noChangeShapeType="1"/>
              </p:cNvSpPr>
              <p:nvPr/>
            </p:nvSpPr>
            <p:spPr bwMode="auto">
              <a:xfrm>
                <a:off x="1807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64" name="Line 33"/>
              <p:cNvSpPr>
                <a:spLocks noChangeShapeType="1"/>
              </p:cNvSpPr>
              <p:nvPr/>
            </p:nvSpPr>
            <p:spPr bwMode="auto">
              <a:xfrm>
                <a:off x="1807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65" name="Line 34"/>
              <p:cNvSpPr>
                <a:spLocks noChangeShapeType="1"/>
              </p:cNvSpPr>
              <p:nvPr/>
            </p:nvSpPr>
            <p:spPr bwMode="auto">
              <a:xfrm>
                <a:off x="1807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66" name="Line 35"/>
              <p:cNvSpPr>
                <a:spLocks noChangeShapeType="1"/>
              </p:cNvSpPr>
              <p:nvPr/>
            </p:nvSpPr>
            <p:spPr bwMode="auto">
              <a:xfrm>
                <a:off x="1807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67" name="Line 36"/>
              <p:cNvSpPr>
                <a:spLocks noChangeShapeType="1"/>
              </p:cNvSpPr>
              <p:nvPr/>
            </p:nvSpPr>
            <p:spPr bwMode="auto">
              <a:xfrm>
                <a:off x="1807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68" name="Line 37"/>
              <p:cNvSpPr>
                <a:spLocks noChangeShapeType="1"/>
              </p:cNvSpPr>
              <p:nvPr/>
            </p:nvSpPr>
            <p:spPr bwMode="auto">
              <a:xfrm>
                <a:off x="1807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69" name="Line 38"/>
              <p:cNvSpPr>
                <a:spLocks noChangeShapeType="1"/>
              </p:cNvSpPr>
              <p:nvPr/>
            </p:nvSpPr>
            <p:spPr bwMode="auto">
              <a:xfrm>
                <a:off x="1807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70" name="Line 39"/>
              <p:cNvSpPr>
                <a:spLocks noChangeShapeType="1"/>
              </p:cNvSpPr>
              <p:nvPr/>
            </p:nvSpPr>
            <p:spPr bwMode="auto">
              <a:xfrm>
                <a:off x="1807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71" name="Line 40"/>
              <p:cNvSpPr>
                <a:spLocks noChangeShapeType="1"/>
              </p:cNvSpPr>
              <p:nvPr/>
            </p:nvSpPr>
            <p:spPr bwMode="auto">
              <a:xfrm>
                <a:off x="2335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72" name="Text Box 41"/>
              <p:cNvSpPr txBox="1">
                <a:spLocks noChangeArrowheads="1"/>
              </p:cNvSpPr>
              <p:nvPr/>
            </p:nvSpPr>
            <p:spPr bwMode="auto">
              <a:xfrm>
                <a:off x="1951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86473" name="Text Box 42"/>
              <p:cNvSpPr txBox="1">
                <a:spLocks noChangeArrowheads="1"/>
              </p:cNvSpPr>
              <p:nvPr/>
            </p:nvSpPr>
            <p:spPr bwMode="auto">
              <a:xfrm>
                <a:off x="1920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  <p:sp>
          <p:nvSpPr>
            <p:cNvPr id="186419" name="Text Box 43"/>
            <p:cNvSpPr txBox="1">
              <a:spLocks noChangeArrowheads="1"/>
            </p:cNvSpPr>
            <p:nvPr/>
          </p:nvSpPr>
          <p:spPr bwMode="auto">
            <a:xfrm>
              <a:off x="3634" y="1010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186420" name="Text Box 44"/>
            <p:cNvSpPr txBox="1">
              <a:spLocks noChangeArrowheads="1"/>
            </p:cNvSpPr>
            <p:nvPr/>
          </p:nvSpPr>
          <p:spPr bwMode="auto">
            <a:xfrm>
              <a:off x="4984" y="1010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3</a:t>
              </a:r>
            </a:p>
          </p:txBody>
        </p:sp>
        <p:grpSp>
          <p:nvGrpSpPr>
            <p:cNvPr id="186421" name="Group 45"/>
            <p:cNvGrpSpPr/>
            <p:nvPr/>
          </p:nvGrpSpPr>
          <p:grpSpPr bwMode="auto">
            <a:xfrm>
              <a:off x="4888" y="1387"/>
              <a:ext cx="577" cy="1636"/>
              <a:chOff x="4271" y="1104"/>
              <a:chExt cx="577" cy="1636"/>
            </a:xfrm>
          </p:grpSpPr>
          <p:sp>
            <p:nvSpPr>
              <p:cNvPr id="186440" name="Rectangle 46"/>
              <p:cNvSpPr>
                <a:spLocks noChangeArrowheads="1"/>
              </p:cNvSpPr>
              <p:nvPr/>
            </p:nvSpPr>
            <p:spPr bwMode="auto">
              <a:xfrm>
                <a:off x="4271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6441" name="Rectangle 47"/>
              <p:cNvSpPr>
                <a:spLocks noChangeArrowheads="1"/>
              </p:cNvSpPr>
              <p:nvPr/>
            </p:nvSpPr>
            <p:spPr bwMode="auto">
              <a:xfrm>
                <a:off x="4271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6442" name="Rectangle 48"/>
              <p:cNvSpPr>
                <a:spLocks noChangeArrowheads="1"/>
              </p:cNvSpPr>
              <p:nvPr/>
            </p:nvSpPr>
            <p:spPr bwMode="auto">
              <a:xfrm>
                <a:off x="4271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6443" name="Rectangle 49"/>
              <p:cNvSpPr>
                <a:spLocks noChangeArrowheads="1"/>
              </p:cNvSpPr>
              <p:nvPr/>
            </p:nvSpPr>
            <p:spPr bwMode="auto">
              <a:xfrm>
                <a:off x="4271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6444" name="Rectangle 50"/>
              <p:cNvSpPr>
                <a:spLocks noChangeArrowheads="1"/>
              </p:cNvSpPr>
              <p:nvPr/>
            </p:nvSpPr>
            <p:spPr bwMode="auto">
              <a:xfrm>
                <a:off x="4271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6445" name="Rectangle 51"/>
              <p:cNvSpPr>
                <a:spLocks noChangeArrowheads="1"/>
              </p:cNvSpPr>
              <p:nvPr/>
            </p:nvSpPr>
            <p:spPr bwMode="auto">
              <a:xfrm>
                <a:off x="4271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6446" name="Line 52"/>
              <p:cNvSpPr>
                <a:spLocks noChangeShapeType="1"/>
              </p:cNvSpPr>
              <p:nvPr/>
            </p:nvSpPr>
            <p:spPr bwMode="auto">
              <a:xfrm>
                <a:off x="4271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47" name="Line 53"/>
              <p:cNvSpPr>
                <a:spLocks noChangeShapeType="1"/>
              </p:cNvSpPr>
              <p:nvPr/>
            </p:nvSpPr>
            <p:spPr bwMode="auto">
              <a:xfrm>
                <a:off x="4271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48" name="Line 54"/>
              <p:cNvSpPr>
                <a:spLocks noChangeShapeType="1"/>
              </p:cNvSpPr>
              <p:nvPr/>
            </p:nvSpPr>
            <p:spPr bwMode="auto">
              <a:xfrm>
                <a:off x="4271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49" name="Line 55"/>
              <p:cNvSpPr>
                <a:spLocks noChangeShapeType="1"/>
              </p:cNvSpPr>
              <p:nvPr/>
            </p:nvSpPr>
            <p:spPr bwMode="auto">
              <a:xfrm>
                <a:off x="4271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50" name="Line 56"/>
              <p:cNvSpPr>
                <a:spLocks noChangeShapeType="1"/>
              </p:cNvSpPr>
              <p:nvPr/>
            </p:nvSpPr>
            <p:spPr bwMode="auto">
              <a:xfrm>
                <a:off x="4271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51" name="Line 57"/>
              <p:cNvSpPr>
                <a:spLocks noChangeShapeType="1"/>
              </p:cNvSpPr>
              <p:nvPr/>
            </p:nvSpPr>
            <p:spPr bwMode="auto">
              <a:xfrm>
                <a:off x="4271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52" name="Line 58"/>
              <p:cNvSpPr>
                <a:spLocks noChangeShapeType="1"/>
              </p:cNvSpPr>
              <p:nvPr/>
            </p:nvSpPr>
            <p:spPr bwMode="auto">
              <a:xfrm>
                <a:off x="4271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53" name="Line 59"/>
              <p:cNvSpPr>
                <a:spLocks noChangeShapeType="1"/>
              </p:cNvSpPr>
              <p:nvPr/>
            </p:nvSpPr>
            <p:spPr bwMode="auto">
              <a:xfrm>
                <a:off x="4271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54" name="Line 60"/>
              <p:cNvSpPr>
                <a:spLocks noChangeShapeType="1"/>
              </p:cNvSpPr>
              <p:nvPr/>
            </p:nvSpPr>
            <p:spPr bwMode="auto">
              <a:xfrm>
                <a:off x="4799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55" name="Text Box 61"/>
              <p:cNvSpPr txBox="1">
                <a:spLocks noChangeArrowheads="1"/>
              </p:cNvSpPr>
              <p:nvPr/>
            </p:nvSpPr>
            <p:spPr bwMode="auto">
              <a:xfrm>
                <a:off x="4425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86456" name="Text Box 62"/>
              <p:cNvSpPr txBox="1">
                <a:spLocks noChangeArrowheads="1"/>
              </p:cNvSpPr>
              <p:nvPr/>
            </p:nvSpPr>
            <p:spPr bwMode="auto">
              <a:xfrm>
                <a:off x="4425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  <p:grpSp>
          <p:nvGrpSpPr>
            <p:cNvPr id="186422" name="Group 63"/>
            <p:cNvGrpSpPr/>
            <p:nvPr/>
          </p:nvGrpSpPr>
          <p:grpSpPr bwMode="auto">
            <a:xfrm>
              <a:off x="3563" y="1387"/>
              <a:ext cx="542" cy="1636"/>
              <a:chOff x="3049" y="1104"/>
              <a:chExt cx="542" cy="1636"/>
            </a:xfrm>
          </p:grpSpPr>
          <p:sp>
            <p:nvSpPr>
              <p:cNvPr id="186423" name="Rectangle 64"/>
              <p:cNvSpPr>
                <a:spLocks noChangeArrowheads="1"/>
              </p:cNvSpPr>
              <p:nvPr/>
            </p:nvSpPr>
            <p:spPr bwMode="auto">
              <a:xfrm>
                <a:off x="3049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6424" name="Rectangle 65"/>
              <p:cNvSpPr>
                <a:spLocks noChangeArrowheads="1"/>
              </p:cNvSpPr>
              <p:nvPr/>
            </p:nvSpPr>
            <p:spPr bwMode="auto">
              <a:xfrm>
                <a:off x="3049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6425" name="Rectangle 66"/>
              <p:cNvSpPr>
                <a:spLocks noChangeArrowheads="1"/>
              </p:cNvSpPr>
              <p:nvPr/>
            </p:nvSpPr>
            <p:spPr bwMode="auto">
              <a:xfrm>
                <a:off x="3049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6426" name="Rectangle 67"/>
              <p:cNvSpPr>
                <a:spLocks noChangeArrowheads="1"/>
              </p:cNvSpPr>
              <p:nvPr/>
            </p:nvSpPr>
            <p:spPr bwMode="auto">
              <a:xfrm>
                <a:off x="3049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6427" name="Rectangle 68"/>
              <p:cNvSpPr>
                <a:spLocks noChangeArrowheads="1"/>
              </p:cNvSpPr>
              <p:nvPr/>
            </p:nvSpPr>
            <p:spPr bwMode="auto">
              <a:xfrm>
                <a:off x="3049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6428" name="Rectangle 69"/>
              <p:cNvSpPr>
                <a:spLocks noChangeArrowheads="1"/>
              </p:cNvSpPr>
              <p:nvPr/>
            </p:nvSpPr>
            <p:spPr bwMode="auto">
              <a:xfrm>
                <a:off x="3049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6429" name="Line 70"/>
              <p:cNvSpPr>
                <a:spLocks noChangeShapeType="1"/>
              </p:cNvSpPr>
              <p:nvPr/>
            </p:nvSpPr>
            <p:spPr bwMode="auto">
              <a:xfrm>
                <a:off x="3049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30" name="Line 71"/>
              <p:cNvSpPr>
                <a:spLocks noChangeShapeType="1"/>
              </p:cNvSpPr>
              <p:nvPr/>
            </p:nvSpPr>
            <p:spPr bwMode="auto">
              <a:xfrm>
                <a:off x="3049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31" name="Line 72"/>
              <p:cNvSpPr>
                <a:spLocks noChangeShapeType="1"/>
              </p:cNvSpPr>
              <p:nvPr/>
            </p:nvSpPr>
            <p:spPr bwMode="auto">
              <a:xfrm>
                <a:off x="3049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32" name="Line 73"/>
              <p:cNvSpPr>
                <a:spLocks noChangeShapeType="1"/>
              </p:cNvSpPr>
              <p:nvPr/>
            </p:nvSpPr>
            <p:spPr bwMode="auto">
              <a:xfrm>
                <a:off x="3049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33" name="Line 74"/>
              <p:cNvSpPr>
                <a:spLocks noChangeShapeType="1"/>
              </p:cNvSpPr>
              <p:nvPr/>
            </p:nvSpPr>
            <p:spPr bwMode="auto">
              <a:xfrm>
                <a:off x="3049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34" name="Line 75"/>
              <p:cNvSpPr>
                <a:spLocks noChangeShapeType="1"/>
              </p:cNvSpPr>
              <p:nvPr/>
            </p:nvSpPr>
            <p:spPr bwMode="auto">
              <a:xfrm>
                <a:off x="3049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35" name="Line 76"/>
              <p:cNvSpPr>
                <a:spLocks noChangeShapeType="1"/>
              </p:cNvSpPr>
              <p:nvPr/>
            </p:nvSpPr>
            <p:spPr bwMode="auto">
              <a:xfrm>
                <a:off x="3049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36" name="Line 77"/>
              <p:cNvSpPr>
                <a:spLocks noChangeShapeType="1"/>
              </p:cNvSpPr>
              <p:nvPr/>
            </p:nvSpPr>
            <p:spPr bwMode="auto">
              <a:xfrm>
                <a:off x="3049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37" name="Line 78"/>
              <p:cNvSpPr>
                <a:spLocks noChangeShapeType="1"/>
              </p:cNvSpPr>
              <p:nvPr/>
            </p:nvSpPr>
            <p:spPr bwMode="auto">
              <a:xfrm>
                <a:off x="3577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6438" name="Text Box 79"/>
              <p:cNvSpPr txBox="1">
                <a:spLocks noChangeArrowheads="1"/>
              </p:cNvSpPr>
              <p:nvPr/>
            </p:nvSpPr>
            <p:spPr bwMode="auto">
              <a:xfrm>
                <a:off x="3154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86439" name="Text Box 80"/>
              <p:cNvSpPr txBox="1">
                <a:spLocks noChangeArrowheads="1"/>
              </p:cNvSpPr>
              <p:nvPr/>
            </p:nvSpPr>
            <p:spPr bwMode="auto">
              <a:xfrm>
                <a:off x="3168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</p:grpSp>
      <p:sp>
        <p:nvSpPr>
          <p:cNvPr id="275537" name="Rectangle 81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grpSp>
        <p:nvGrpSpPr>
          <p:cNvPr id="7" name="Group 82"/>
          <p:cNvGrpSpPr/>
          <p:nvPr/>
        </p:nvGrpSpPr>
        <p:grpSpPr bwMode="auto">
          <a:xfrm>
            <a:off x="3027363" y="6096000"/>
            <a:ext cx="3273425" cy="454025"/>
            <a:chOff x="1907" y="3840"/>
            <a:chExt cx="2062" cy="286"/>
          </a:xfrm>
        </p:grpSpPr>
        <p:grpSp>
          <p:nvGrpSpPr>
            <p:cNvPr id="186409" name="Group 83"/>
            <p:cNvGrpSpPr/>
            <p:nvPr/>
          </p:nvGrpSpPr>
          <p:grpSpPr bwMode="auto">
            <a:xfrm>
              <a:off x="1907" y="3840"/>
              <a:ext cx="2062" cy="286"/>
              <a:chOff x="1488" y="3840"/>
              <a:chExt cx="2062" cy="286"/>
            </a:xfrm>
          </p:grpSpPr>
          <p:sp>
            <p:nvSpPr>
              <p:cNvPr id="186411" name="Rectangle 84"/>
              <p:cNvSpPr>
                <a:spLocks noChangeArrowheads="1"/>
              </p:cNvSpPr>
              <p:nvPr/>
            </p:nvSpPr>
            <p:spPr bwMode="auto">
              <a:xfrm>
                <a:off x="2519" y="3840"/>
                <a:ext cx="1031" cy="28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86412" name="Text Box 85"/>
              <p:cNvSpPr txBox="1">
                <a:spLocks noChangeArrowheads="1"/>
              </p:cNvSpPr>
              <p:nvPr/>
            </p:nvSpPr>
            <p:spPr bwMode="auto">
              <a:xfrm>
                <a:off x="2648" y="3851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体内地址</a:t>
                </a:r>
              </a:p>
            </p:txBody>
          </p:sp>
          <p:sp>
            <p:nvSpPr>
              <p:cNvPr id="186413" name="Rectangle 86"/>
              <p:cNvSpPr>
                <a:spLocks noChangeArrowheads="1"/>
              </p:cNvSpPr>
              <p:nvPr/>
            </p:nvSpPr>
            <p:spPr bwMode="auto">
              <a:xfrm>
                <a:off x="1488" y="3840"/>
                <a:ext cx="1031" cy="28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86414" name="Text Box 87"/>
              <p:cNvSpPr txBox="1">
                <a:spLocks noChangeArrowheads="1"/>
              </p:cNvSpPr>
              <p:nvPr/>
            </p:nvSpPr>
            <p:spPr bwMode="auto">
              <a:xfrm>
                <a:off x="1770" y="3851"/>
                <a:ext cx="43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体号</a:t>
                </a:r>
              </a:p>
            </p:txBody>
          </p:sp>
        </p:grpSp>
        <p:sp>
          <p:nvSpPr>
            <p:cNvPr id="186410" name="Text Box 88"/>
            <p:cNvSpPr txBox="1">
              <a:spLocks noChangeArrowheads="1"/>
            </p:cNvSpPr>
            <p:nvPr/>
          </p:nvSpPr>
          <p:spPr bwMode="auto">
            <a:xfrm>
              <a:off x="2189" y="3851"/>
              <a:ext cx="43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体号</a:t>
              </a:r>
            </a:p>
          </p:txBody>
        </p:sp>
      </p:grpSp>
      <p:grpSp>
        <p:nvGrpSpPr>
          <p:cNvPr id="9" name="Group 89"/>
          <p:cNvGrpSpPr/>
          <p:nvPr/>
        </p:nvGrpSpPr>
        <p:grpSpPr bwMode="auto">
          <a:xfrm>
            <a:off x="250825" y="1603375"/>
            <a:ext cx="1127125" cy="3265488"/>
            <a:chOff x="158" y="1010"/>
            <a:chExt cx="710" cy="2057"/>
          </a:xfrm>
        </p:grpSpPr>
        <p:sp>
          <p:nvSpPr>
            <p:cNvPr id="186404" name="Text Box 90"/>
            <p:cNvSpPr txBox="1">
              <a:spLocks noChangeArrowheads="1"/>
            </p:cNvSpPr>
            <p:nvPr/>
          </p:nvSpPr>
          <p:spPr bwMode="auto">
            <a:xfrm>
              <a:off x="295" y="1010"/>
              <a:ext cx="50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地址</a:t>
              </a:r>
            </a:p>
          </p:txBody>
        </p:sp>
        <p:grpSp>
          <p:nvGrpSpPr>
            <p:cNvPr id="186405" name="Group 91"/>
            <p:cNvGrpSpPr/>
            <p:nvPr/>
          </p:nvGrpSpPr>
          <p:grpSpPr bwMode="auto">
            <a:xfrm>
              <a:off x="158" y="1339"/>
              <a:ext cx="710" cy="1728"/>
              <a:chOff x="158" y="1339"/>
              <a:chExt cx="710" cy="1728"/>
            </a:xfrm>
          </p:grpSpPr>
          <p:sp>
            <p:nvSpPr>
              <p:cNvPr id="186406" name="Text Box 92"/>
              <p:cNvSpPr txBox="1">
                <a:spLocks noChangeArrowheads="1"/>
              </p:cNvSpPr>
              <p:nvPr/>
            </p:nvSpPr>
            <p:spPr bwMode="auto">
              <a:xfrm>
                <a:off x="204" y="1339"/>
                <a:ext cx="66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r>
                  <a:rPr lang="en-US" altLang="zh-CN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</a:t>
                </a:r>
                <a:r>
                  <a:rPr lang="en-US" altLang="zh-CN" sz="2000">
                    <a:latin typeface="Times New Roman" panose="02020603050405020304" pitchFamily="18" charset="0"/>
                  </a:rPr>
                  <a:t> 0000</a:t>
                </a:r>
              </a:p>
            </p:txBody>
          </p:sp>
          <p:sp>
            <p:nvSpPr>
              <p:cNvPr id="186407" name="Text Box 93"/>
              <p:cNvSpPr txBox="1">
                <a:spLocks noChangeArrowheads="1"/>
              </p:cNvSpPr>
              <p:nvPr/>
            </p:nvSpPr>
            <p:spPr bwMode="auto">
              <a:xfrm>
                <a:off x="204" y="1548"/>
                <a:ext cx="66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00</a:t>
                </a:r>
                <a:r>
                  <a:rPr lang="en-US" altLang="zh-CN" sz="2000">
                    <a:latin typeface="Times New Roman" panose="02020603050405020304" pitchFamily="18" charset="0"/>
                  </a:rPr>
                  <a:t> 0001</a:t>
                </a:r>
              </a:p>
            </p:txBody>
          </p:sp>
          <p:sp>
            <p:nvSpPr>
              <p:cNvPr id="186408" name="Text Box 94"/>
              <p:cNvSpPr txBox="1">
                <a:spLocks noChangeArrowheads="1"/>
              </p:cNvSpPr>
              <p:nvPr/>
            </p:nvSpPr>
            <p:spPr bwMode="auto">
              <a:xfrm>
                <a:off x="158" y="2817"/>
                <a:ext cx="66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00</a:t>
                </a:r>
                <a:r>
                  <a:rPr lang="en-US" altLang="zh-CN" sz="2000">
                    <a:latin typeface="Times New Roman" panose="02020603050405020304" pitchFamily="18" charset="0"/>
                  </a:rPr>
                  <a:t> 1111</a:t>
                </a:r>
              </a:p>
            </p:txBody>
          </p:sp>
        </p:grpSp>
      </p:grpSp>
      <p:grpSp>
        <p:nvGrpSpPr>
          <p:cNvPr id="11" name="Group 95"/>
          <p:cNvGrpSpPr/>
          <p:nvPr/>
        </p:nvGrpSpPr>
        <p:grpSpPr bwMode="auto">
          <a:xfrm>
            <a:off x="2509838" y="2125663"/>
            <a:ext cx="1054100" cy="2743200"/>
            <a:chOff x="1581" y="1339"/>
            <a:chExt cx="664" cy="1728"/>
          </a:xfrm>
        </p:grpSpPr>
        <p:sp>
          <p:nvSpPr>
            <p:cNvPr id="186401" name="Text Box 96"/>
            <p:cNvSpPr txBox="1">
              <a:spLocks noChangeArrowheads="1"/>
            </p:cNvSpPr>
            <p:nvPr/>
          </p:nvSpPr>
          <p:spPr bwMode="auto">
            <a:xfrm>
              <a:off x="1581" y="1339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</a:t>
              </a: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</a:t>
              </a:r>
              <a:r>
                <a:rPr lang="en-US" altLang="zh-CN" sz="2000">
                  <a:latin typeface="Times New Roman" panose="02020603050405020304" pitchFamily="18" charset="0"/>
                </a:rPr>
                <a:t> 0000</a:t>
              </a:r>
            </a:p>
          </p:txBody>
        </p:sp>
        <p:sp>
          <p:nvSpPr>
            <p:cNvPr id="186402" name="Text Box 97"/>
            <p:cNvSpPr txBox="1">
              <a:spLocks noChangeArrowheads="1"/>
            </p:cNvSpPr>
            <p:nvPr/>
          </p:nvSpPr>
          <p:spPr bwMode="auto">
            <a:xfrm>
              <a:off x="1581" y="1548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01</a:t>
              </a:r>
              <a:r>
                <a:rPr lang="en-US" altLang="zh-CN" sz="2000">
                  <a:latin typeface="Times New Roman" panose="02020603050405020304" pitchFamily="18" charset="0"/>
                </a:rPr>
                <a:t> 0001</a:t>
              </a:r>
            </a:p>
          </p:txBody>
        </p:sp>
        <p:sp>
          <p:nvSpPr>
            <p:cNvPr id="186403" name="Text Box 98"/>
            <p:cNvSpPr txBox="1">
              <a:spLocks noChangeArrowheads="1"/>
            </p:cNvSpPr>
            <p:nvPr/>
          </p:nvSpPr>
          <p:spPr bwMode="auto">
            <a:xfrm>
              <a:off x="1581" y="2817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01</a:t>
              </a:r>
              <a:r>
                <a:rPr lang="en-US" altLang="zh-CN" sz="2000">
                  <a:latin typeface="Times New Roman" panose="02020603050405020304" pitchFamily="18" charset="0"/>
                </a:rPr>
                <a:t> 1111</a:t>
              </a:r>
            </a:p>
          </p:txBody>
        </p:sp>
      </p:grpSp>
      <p:grpSp>
        <p:nvGrpSpPr>
          <p:cNvPr id="12" name="Group 99"/>
          <p:cNvGrpSpPr/>
          <p:nvPr/>
        </p:nvGrpSpPr>
        <p:grpSpPr bwMode="auto">
          <a:xfrm>
            <a:off x="4597400" y="2125663"/>
            <a:ext cx="1054100" cy="2743200"/>
            <a:chOff x="2896" y="1339"/>
            <a:chExt cx="664" cy="1728"/>
          </a:xfrm>
        </p:grpSpPr>
        <p:sp>
          <p:nvSpPr>
            <p:cNvPr id="186398" name="Text Box 100"/>
            <p:cNvSpPr txBox="1">
              <a:spLocks noChangeArrowheads="1"/>
            </p:cNvSpPr>
            <p:nvPr/>
          </p:nvSpPr>
          <p:spPr bwMode="auto">
            <a:xfrm>
              <a:off x="2896" y="1339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10</a:t>
              </a:r>
              <a:r>
                <a:rPr lang="en-US" altLang="zh-CN" sz="2000">
                  <a:latin typeface="Times New Roman" panose="02020603050405020304" pitchFamily="18" charset="0"/>
                </a:rPr>
                <a:t> 0000</a:t>
              </a:r>
            </a:p>
          </p:txBody>
        </p:sp>
        <p:sp>
          <p:nvSpPr>
            <p:cNvPr id="186399" name="Text Box 101"/>
            <p:cNvSpPr txBox="1">
              <a:spLocks noChangeArrowheads="1"/>
            </p:cNvSpPr>
            <p:nvPr/>
          </p:nvSpPr>
          <p:spPr bwMode="auto">
            <a:xfrm>
              <a:off x="2896" y="1548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10</a:t>
              </a:r>
              <a:r>
                <a:rPr lang="en-US" altLang="zh-CN" sz="2000">
                  <a:latin typeface="Times New Roman" panose="02020603050405020304" pitchFamily="18" charset="0"/>
                </a:rPr>
                <a:t> 0001</a:t>
              </a:r>
            </a:p>
          </p:txBody>
        </p:sp>
        <p:sp>
          <p:nvSpPr>
            <p:cNvPr id="186400" name="Text Box 102"/>
            <p:cNvSpPr txBox="1">
              <a:spLocks noChangeArrowheads="1"/>
            </p:cNvSpPr>
            <p:nvPr/>
          </p:nvSpPr>
          <p:spPr bwMode="auto">
            <a:xfrm>
              <a:off x="2896" y="2817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10</a:t>
              </a:r>
              <a:r>
                <a:rPr lang="en-US" altLang="zh-CN" sz="2000">
                  <a:latin typeface="Times New Roman" panose="02020603050405020304" pitchFamily="18" charset="0"/>
                </a:rPr>
                <a:t> 1111</a:t>
              </a:r>
            </a:p>
          </p:txBody>
        </p:sp>
      </p:grpSp>
      <p:grpSp>
        <p:nvGrpSpPr>
          <p:cNvPr id="13" name="Group 103"/>
          <p:cNvGrpSpPr/>
          <p:nvPr/>
        </p:nvGrpSpPr>
        <p:grpSpPr bwMode="auto">
          <a:xfrm>
            <a:off x="6659563" y="2125663"/>
            <a:ext cx="1054100" cy="2743200"/>
            <a:chOff x="4195" y="1339"/>
            <a:chExt cx="664" cy="1728"/>
          </a:xfrm>
        </p:grpSpPr>
        <p:sp>
          <p:nvSpPr>
            <p:cNvPr id="186395" name="Text Box 104"/>
            <p:cNvSpPr txBox="1">
              <a:spLocks noChangeArrowheads="1"/>
            </p:cNvSpPr>
            <p:nvPr/>
          </p:nvSpPr>
          <p:spPr bwMode="auto">
            <a:xfrm>
              <a:off x="4195" y="1339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11</a:t>
              </a:r>
              <a:r>
                <a:rPr lang="en-US" altLang="zh-CN" sz="2000">
                  <a:latin typeface="Times New Roman" panose="02020603050405020304" pitchFamily="18" charset="0"/>
                </a:rPr>
                <a:t> 0000</a:t>
              </a:r>
            </a:p>
          </p:txBody>
        </p:sp>
        <p:sp>
          <p:nvSpPr>
            <p:cNvPr id="186396" name="Text Box 105"/>
            <p:cNvSpPr txBox="1">
              <a:spLocks noChangeArrowheads="1"/>
            </p:cNvSpPr>
            <p:nvPr/>
          </p:nvSpPr>
          <p:spPr bwMode="auto">
            <a:xfrm>
              <a:off x="4195" y="1548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11</a:t>
              </a:r>
              <a:r>
                <a:rPr lang="en-US" altLang="zh-CN" sz="2000">
                  <a:latin typeface="Times New Roman" panose="02020603050405020304" pitchFamily="18" charset="0"/>
                </a:rPr>
                <a:t> 0001</a:t>
              </a:r>
            </a:p>
          </p:txBody>
        </p:sp>
        <p:sp>
          <p:nvSpPr>
            <p:cNvPr id="186397" name="Text Box 106"/>
            <p:cNvSpPr txBox="1">
              <a:spLocks noChangeArrowheads="1"/>
            </p:cNvSpPr>
            <p:nvPr/>
          </p:nvSpPr>
          <p:spPr bwMode="auto">
            <a:xfrm>
              <a:off x="4195" y="2817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11</a:t>
              </a:r>
              <a:r>
                <a:rPr lang="en-US" altLang="zh-CN" sz="2000">
                  <a:latin typeface="Times New Roman" panose="02020603050405020304" pitchFamily="18" charset="0"/>
                </a:rPr>
                <a:t> 1111</a:t>
              </a:r>
            </a:p>
          </p:txBody>
        </p:sp>
      </p:grpSp>
      <p:grpSp>
        <p:nvGrpSpPr>
          <p:cNvPr id="14" name="Group 107"/>
          <p:cNvGrpSpPr/>
          <p:nvPr/>
        </p:nvGrpSpPr>
        <p:grpSpPr bwMode="auto">
          <a:xfrm>
            <a:off x="449263" y="4926013"/>
            <a:ext cx="6408737" cy="447675"/>
            <a:chOff x="283" y="3103"/>
            <a:chExt cx="4037" cy="282"/>
          </a:xfrm>
        </p:grpSpPr>
        <p:sp>
          <p:nvSpPr>
            <p:cNvPr id="186390" name="Line 108"/>
            <p:cNvSpPr>
              <a:spLocks noChangeShapeType="1"/>
            </p:cNvSpPr>
            <p:nvPr/>
          </p:nvSpPr>
          <p:spPr bwMode="auto">
            <a:xfrm>
              <a:off x="283" y="3385"/>
              <a:ext cx="4037" cy="0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6391" name="Line 109"/>
            <p:cNvSpPr>
              <a:spLocks noChangeShapeType="1"/>
            </p:cNvSpPr>
            <p:nvPr/>
          </p:nvSpPr>
          <p:spPr bwMode="auto">
            <a:xfrm>
              <a:off x="295" y="3113"/>
              <a:ext cx="0" cy="272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6392" name="Line 110"/>
            <p:cNvSpPr>
              <a:spLocks noChangeShapeType="1"/>
            </p:cNvSpPr>
            <p:nvPr/>
          </p:nvSpPr>
          <p:spPr bwMode="auto">
            <a:xfrm>
              <a:off x="1701" y="3103"/>
              <a:ext cx="0" cy="272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6393" name="Line 111"/>
            <p:cNvSpPr>
              <a:spLocks noChangeShapeType="1"/>
            </p:cNvSpPr>
            <p:nvPr/>
          </p:nvSpPr>
          <p:spPr bwMode="auto">
            <a:xfrm>
              <a:off x="3016" y="3113"/>
              <a:ext cx="0" cy="272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6394" name="Line 112"/>
            <p:cNvSpPr>
              <a:spLocks noChangeShapeType="1"/>
            </p:cNvSpPr>
            <p:nvPr/>
          </p:nvSpPr>
          <p:spPr bwMode="auto">
            <a:xfrm>
              <a:off x="4298" y="3113"/>
              <a:ext cx="0" cy="272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75569" name="Line 113"/>
          <p:cNvSpPr>
            <a:spLocks noChangeShapeType="1"/>
          </p:cNvSpPr>
          <p:nvPr/>
        </p:nvSpPr>
        <p:spPr bwMode="auto">
          <a:xfrm>
            <a:off x="3797300" y="5373688"/>
            <a:ext cx="0" cy="719137"/>
          </a:xfrm>
          <a:prstGeom prst="line">
            <a:avLst/>
          </a:prstGeom>
          <a:noFill/>
          <a:ln w="57150">
            <a:solidFill>
              <a:schemeClr val="folHlink"/>
            </a:solidFill>
            <a:round/>
            <a:head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5" name="Group 114"/>
          <p:cNvGrpSpPr/>
          <p:nvPr/>
        </p:nvGrpSpPr>
        <p:grpSpPr bwMode="auto">
          <a:xfrm>
            <a:off x="876300" y="4941888"/>
            <a:ext cx="6424613" cy="719137"/>
            <a:chOff x="552" y="3113"/>
            <a:chExt cx="4047" cy="453"/>
          </a:xfrm>
        </p:grpSpPr>
        <p:sp>
          <p:nvSpPr>
            <p:cNvPr id="186385" name="Line 115"/>
            <p:cNvSpPr>
              <a:spLocks noChangeShapeType="1"/>
            </p:cNvSpPr>
            <p:nvPr/>
          </p:nvSpPr>
          <p:spPr bwMode="auto">
            <a:xfrm>
              <a:off x="552" y="3566"/>
              <a:ext cx="4047" cy="0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6386" name="Line 116"/>
            <p:cNvSpPr>
              <a:spLocks noChangeShapeType="1"/>
            </p:cNvSpPr>
            <p:nvPr/>
          </p:nvSpPr>
          <p:spPr bwMode="auto">
            <a:xfrm>
              <a:off x="567" y="3113"/>
              <a:ext cx="0" cy="45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6387" name="Line 117"/>
            <p:cNvSpPr>
              <a:spLocks noChangeShapeType="1"/>
            </p:cNvSpPr>
            <p:nvPr/>
          </p:nvSpPr>
          <p:spPr bwMode="auto">
            <a:xfrm>
              <a:off x="1973" y="3113"/>
              <a:ext cx="0" cy="45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6388" name="Line 118"/>
            <p:cNvSpPr>
              <a:spLocks noChangeShapeType="1"/>
            </p:cNvSpPr>
            <p:nvPr/>
          </p:nvSpPr>
          <p:spPr bwMode="auto">
            <a:xfrm>
              <a:off x="3288" y="3113"/>
              <a:ext cx="0" cy="45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6389" name="Line 119"/>
            <p:cNvSpPr>
              <a:spLocks noChangeShapeType="1"/>
            </p:cNvSpPr>
            <p:nvPr/>
          </p:nvSpPr>
          <p:spPr bwMode="auto">
            <a:xfrm>
              <a:off x="4582" y="3113"/>
              <a:ext cx="0" cy="45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75576" name="Line 120"/>
          <p:cNvSpPr>
            <a:spLocks noChangeShapeType="1"/>
          </p:cNvSpPr>
          <p:nvPr/>
        </p:nvSpPr>
        <p:spPr bwMode="auto">
          <a:xfrm>
            <a:off x="5435600" y="5661025"/>
            <a:ext cx="0" cy="43180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75577" name="Text Box 121"/>
          <p:cNvSpPr txBox="1">
            <a:spLocks noChangeArrowheads="1"/>
          </p:cNvSpPr>
          <p:nvPr/>
        </p:nvSpPr>
        <p:spPr bwMode="auto">
          <a:xfrm>
            <a:off x="3924300" y="836613"/>
            <a:ext cx="54022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顺序编址 </a:t>
            </a:r>
          </a:p>
        </p:txBody>
      </p:sp>
      <p:sp>
        <p:nvSpPr>
          <p:cNvPr id="186384" name="AutoShape 122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75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755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47" dur="500"/>
                                        <p:tgtEl>
                                          <p:spTgt spid="2755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5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56" dur="500"/>
                                        <p:tgtEl>
                                          <p:spTgt spid="2755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00"/>
                            </p:stCondLst>
                            <p:childTnLst>
                              <p:par>
                                <p:cTn id="58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6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5459" grpId="0" autoUpdateAnimBg="0"/>
      <p:bldP spid="275569" grpId="0" animBg="1"/>
      <p:bldP spid="275576" grpId="0" animBg="1"/>
      <p:bldP spid="275577" grpId="0" autoUpdateAnimBg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82" name="Text Box 2"/>
          <p:cNvSpPr txBox="1">
            <a:spLocks noChangeArrowheads="1"/>
          </p:cNvSpPr>
          <p:nvPr/>
        </p:nvSpPr>
        <p:spPr bwMode="auto">
          <a:xfrm>
            <a:off x="3297238" y="260350"/>
            <a:ext cx="329088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各个体并行工作</a:t>
            </a:r>
          </a:p>
        </p:txBody>
      </p:sp>
      <p:sp>
        <p:nvSpPr>
          <p:cNvPr id="276483" name="Rectangle 3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grpSp>
        <p:nvGrpSpPr>
          <p:cNvPr id="2" name="Group 4"/>
          <p:cNvGrpSpPr/>
          <p:nvPr/>
        </p:nvGrpSpPr>
        <p:grpSpPr bwMode="auto">
          <a:xfrm>
            <a:off x="609600" y="1274763"/>
            <a:ext cx="7543800" cy="5178425"/>
            <a:chOff x="384" y="864"/>
            <a:chExt cx="4752" cy="3262"/>
          </a:xfrm>
        </p:grpSpPr>
        <p:sp>
          <p:nvSpPr>
            <p:cNvPr id="187407" name="Text Box 5"/>
            <p:cNvSpPr txBox="1">
              <a:spLocks noChangeArrowheads="1"/>
            </p:cNvSpPr>
            <p:nvPr/>
          </p:nvSpPr>
          <p:spPr bwMode="auto">
            <a:xfrm>
              <a:off x="1008" y="864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87408" name="Text Box 6"/>
            <p:cNvSpPr txBox="1">
              <a:spLocks noChangeArrowheads="1"/>
            </p:cNvSpPr>
            <p:nvPr/>
          </p:nvSpPr>
          <p:spPr bwMode="auto">
            <a:xfrm>
              <a:off x="432" y="864"/>
              <a:ext cx="50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地址</a:t>
              </a:r>
            </a:p>
          </p:txBody>
        </p:sp>
        <p:sp>
          <p:nvSpPr>
            <p:cNvPr id="187409" name="Text Box 7"/>
            <p:cNvSpPr txBox="1">
              <a:spLocks noChangeArrowheads="1"/>
            </p:cNvSpPr>
            <p:nvPr/>
          </p:nvSpPr>
          <p:spPr bwMode="auto">
            <a:xfrm>
              <a:off x="672" y="1135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87410" name="Text Box 8"/>
            <p:cNvSpPr txBox="1">
              <a:spLocks noChangeArrowheads="1"/>
            </p:cNvSpPr>
            <p:nvPr/>
          </p:nvSpPr>
          <p:spPr bwMode="auto">
            <a:xfrm>
              <a:off x="672" y="138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</a:t>
              </a:r>
            </a:p>
          </p:txBody>
        </p:sp>
        <p:grpSp>
          <p:nvGrpSpPr>
            <p:cNvPr id="187411" name="Group 9"/>
            <p:cNvGrpSpPr/>
            <p:nvPr/>
          </p:nvGrpSpPr>
          <p:grpSpPr bwMode="auto">
            <a:xfrm>
              <a:off x="912" y="1152"/>
              <a:ext cx="567" cy="1636"/>
              <a:chOff x="624" y="1104"/>
              <a:chExt cx="567" cy="1636"/>
            </a:xfrm>
          </p:grpSpPr>
          <p:sp>
            <p:nvSpPr>
              <p:cNvPr id="187499" name="Rectangle 10"/>
              <p:cNvSpPr>
                <a:spLocks noChangeArrowheads="1"/>
              </p:cNvSpPr>
              <p:nvPr/>
            </p:nvSpPr>
            <p:spPr bwMode="auto">
              <a:xfrm>
                <a:off x="624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7500" name="Rectangle 11"/>
              <p:cNvSpPr>
                <a:spLocks noChangeArrowheads="1"/>
              </p:cNvSpPr>
              <p:nvPr/>
            </p:nvSpPr>
            <p:spPr bwMode="auto">
              <a:xfrm>
                <a:off x="624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7501" name="Rectangle 12"/>
              <p:cNvSpPr>
                <a:spLocks noChangeArrowheads="1"/>
              </p:cNvSpPr>
              <p:nvPr/>
            </p:nvSpPr>
            <p:spPr bwMode="auto">
              <a:xfrm>
                <a:off x="624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7502" name="Rectangle 13"/>
              <p:cNvSpPr>
                <a:spLocks noChangeArrowheads="1"/>
              </p:cNvSpPr>
              <p:nvPr/>
            </p:nvSpPr>
            <p:spPr bwMode="auto">
              <a:xfrm>
                <a:off x="624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7503" name="Rectangle 14"/>
              <p:cNvSpPr>
                <a:spLocks noChangeArrowheads="1"/>
              </p:cNvSpPr>
              <p:nvPr/>
            </p:nvSpPr>
            <p:spPr bwMode="auto">
              <a:xfrm>
                <a:off x="624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7504" name="Rectangle 15"/>
              <p:cNvSpPr>
                <a:spLocks noChangeArrowheads="1"/>
              </p:cNvSpPr>
              <p:nvPr/>
            </p:nvSpPr>
            <p:spPr bwMode="auto">
              <a:xfrm>
                <a:off x="624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7505" name="Line 16"/>
              <p:cNvSpPr>
                <a:spLocks noChangeShapeType="1"/>
              </p:cNvSpPr>
              <p:nvPr/>
            </p:nvSpPr>
            <p:spPr bwMode="auto">
              <a:xfrm>
                <a:off x="624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506" name="Line 17"/>
              <p:cNvSpPr>
                <a:spLocks noChangeShapeType="1"/>
              </p:cNvSpPr>
              <p:nvPr/>
            </p:nvSpPr>
            <p:spPr bwMode="auto">
              <a:xfrm>
                <a:off x="624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507" name="Line 18"/>
              <p:cNvSpPr>
                <a:spLocks noChangeShapeType="1"/>
              </p:cNvSpPr>
              <p:nvPr/>
            </p:nvSpPr>
            <p:spPr bwMode="auto">
              <a:xfrm>
                <a:off x="624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508" name="Line 19"/>
              <p:cNvSpPr>
                <a:spLocks noChangeShapeType="1"/>
              </p:cNvSpPr>
              <p:nvPr/>
            </p:nvSpPr>
            <p:spPr bwMode="auto">
              <a:xfrm>
                <a:off x="624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509" name="Line 20"/>
              <p:cNvSpPr>
                <a:spLocks noChangeShapeType="1"/>
              </p:cNvSpPr>
              <p:nvPr/>
            </p:nvSpPr>
            <p:spPr bwMode="auto">
              <a:xfrm>
                <a:off x="624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510" name="Line 21"/>
              <p:cNvSpPr>
                <a:spLocks noChangeShapeType="1"/>
              </p:cNvSpPr>
              <p:nvPr/>
            </p:nvSpPr>
            <p:spPr bwMode="auto">
              <a:xfrm>
                <a:off x="624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511" name="Line 22"/>
              <p:cNvSpPr>
                <a:spLocks noChangeShapeType="1"/>
              </p:cNvSpPr>
              <p:nvPr/>
            </p:nvSpPr>
            <p:spPr bwMode="auto">
              <a:xfrm>
                <a:off x="624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512" name="Line 23"/>
              <p:cNvSpPr>
                <a:spLocks noChangeShapeType="1"/>
              </p:cNvSpPr>
              <p:nvPr/>
            </p:nvSpPr>
            <p:spPr bwMode="auto">
              <a:xfrm>
                <a:off x="624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513" name="Line 24"/>
              <p:cNvSpPr>
                <a:spLocks noChangeShapeType="1"/>
              </p:cNvSpPr>
              <p:nvPr/>
            </p:nvSpPr>
            <p:spPr bwMode="auto">
              <a:xfrm>
                <a:off x="1152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514" name="Text Box 25"/>
              <p:cNvSpPr txBox="1">
                <a:spLocks noChangeArrowheads="1"/>
              </p:cNvSpPr>
              <p:nvPr/>
            </p:nvSpPr>
            <p:spPr bwMode="auto">
              <a:xfrm>
                <a:off x="768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87515" name="Text Box 26"/>
              <p:cNvSpPr txBox="1">
                <a:spLocks noChangeArrowheads="1"/>
              </p:cNvSpPr>
              <p:nvPr/>
            </p:nvSpPr>
            <p:spPr bwMode="auto">
              <a:xfrm>
                <a:off x="768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  <p:sp>
          <p:nvSpPr>
            <p:cNvPr id="187412" name="Text Box 27"/>
            <p:cNvSpPr txBox="1">
              <a:spLocks noChangeArrowheads="1"/>
            </p:cNvSpPr>
            <p:nvPr/>
          </p:nvSpPr>
          <p:spPr bwMode="auto">
            <a:xfrm>
              <a:off x="432" y="2544"/>
              <a:ext cx="44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 i="1">
                  <a:latin typeface="Times New Roman" panose="02020603050405020304" pitchFamily="18" charset="0"/>
                </a:rPr>
                <a:t>n</a:t>
              </a:r>
              <a:r>
                <a:rPr lang="en-US" altLang="zh-CN" sz="1800">
                  <a:latin typeface="Times New Roman" panose="02020603050405020304" pitchFamily="18" charset="0"/>
                </a:rPr>
                <a:t>－</a:t>
              </a:r>
              <a:r>
                <a:rPr lang="en-US" altLang="zh-CN" sz="20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87413" name="Text Box 28"/>
            <p:cNvSpPr txBox="1">
              <a:spLocks noChangeArrowheads="1"/>
            </p:cNvSpPr>
            <p:nvPr/>
          </p:nvSpPr>
          <p:spPr bwMode="auto">
            <a:xfrm>
              <a:off x="2169" y="864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87414" name="Text Box 29"/>
            <p:cNvSpPr txBox="1">
              <a:spLocks noChangeArrowheads="1"/>
            </p:cNvSpPr>
            <p:nvPr/>
          </p:nvSpPr>
          <p:spPr bwMode="auto">
            <a:xfrm>
              <a:off x="1728" y="1104"/>
              <a:ext cx="22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 i="1">
                  <a:latin typeface="Times New Roman" panose="02020603050405020304" pitchFamily="18" charset="0"/>
                </a:rPr>
                <a:t>n</a:t>
              </a:r>
            </a:p>
          </p:txBody>
        </p:sp>
        <p:sp>
          <p:nvSpPr>
            <p:cNvPr id="187415" name="Text Box 30"/>
            <p:cNvSpPr txBox="1">
              <a:spLocks noChangeArrowheads="1"/>
            </p:cNvSpPr>
            <p:nvPr/>
          </p:nvSpPr>
          <p:spPr bwMode="auto">
            <a:xfrm>
              <a:off x="1728" y="1313"/>
              <a:ext cx="39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 i="1">
                  <a:latin typeface="Times New Roman" panose="02020603050405020304" pitchFamily="18" charset="0"/>
                </a:rPr>
                <a:t>n</a:t>
              </a:r>
              <a:r>
                <a:rPr lang="en-US" altLang="zh-CN" sz="2000">
                  <a:latin typeface="Times New Roman" panose="02020603050405020304" pitchFamily="18" charset="0"/>
                </a:rPr>
                <a:t>+1</a:t>
              </a:r>
            </a:p>
          </p:txBody>
        </p:sp>
        <p:grpSp>
          <p:nvGrpSpPr>
            <p:cNvPr id="187416" name="Group 31"/>
            <p:cNvGrpSpPr/>
            <p:nvPr/>
          </p:nvGrpSpPr>
          <p:grpSpPr bwMode="auto">
            <a:xfrm>
              <a:off x="2095" y="1152"/>
              <a:ext cx="567" cy="1636"/>
              <a:chOff x="1807" y="1104"/>
              <a:chExt cx="567" cy="1636"/>
            </a:xfrm>
          </p:grpSpPr>
          <p:sp>
            <p:nvSpPr>
              <p:cNvPr id="187482" name="Rectangle 32"/>
              <p:cNvSpPr>
                <a:spLocks noChangeArrowheads="1"/>
              </p:cNvSpPr>
              <p:nvPr/>
            </p:nvSpPr>
            <p:spPr bwMode="auto">
              <a:xfrm>
                <a:off x="1807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7483" name="Rectangle 33"/>
              <p:cNvSpPr>
                <a:spLocks noChangeArrowheads="1"/>
              </p:cNvSpPr>
              <p:nvPr/>
            </p:nvSpPr>
            <p:spPr bwMode="auto">
              <a:xfrm>
                <a:off x="1807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7484" name="Rectangle 34"/>
              <p:cNvSpPr>
                <a:spLocks noChangeArrowheads="1"/>
              </p:cNvSpPr>
              <p:nvPr/>
            </p:nvSpPr>
            <p:spPr bwMode="auto">
              <a:xfrm>
                <a:off x="1807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7485" name="Rectangle 35"/>
              <p:cNvSpPr>
                <a:spLocks noChangeArrowheads="1"/>
              </p:cNvSpPr>
              <p:nvPr/>
            </p:nvSpPr>
            <p:spPr bwMode="auto">
              <a:xfrm>
                <a:off x="1807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7486" name="Rectangle 36"/>
              <p:cNvSpPr>
                <a:spLocks noChangeArrowheads="1"/>
              </p:cNvSpPr>
              <p:nvPr/>
            </p:nvSpPr>
            <p:spPr bwMode="auto">
              <a:xfrm>
                <a:off x="1807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7487" name="Rectangle 37"/>
              <p:cNvSpPr>
                <a:spLocks noChangeArrowheads="1"/>
              </p:cNvSpPr>
              <p:nvPr/>
            </p:nvSpPr>
            <p:spPr bwMode="auto">
              <a:xfrm>
                <a:off x="1807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7488" name="Line 38"/>
              <p:cNvSpPr>
                <a:spLocks noChangeShapeType="1"/>
              </p:cNvSpPr>
              <p:nvPr/>
            </p:nvSpPr>
            <p:spPr bwMode="auto">
              <a:xfrm>
                <a:off x="1807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89" name="Line 39"/>
              <p:cNvSpPr>
                <a:spLocks noChangeShapeType="1"/>
              </p:cNvSpPr>
              <p:nvPr/>
            </p:nvSpPr>
            <p:spPr bwMode="auto">
              <a:xfrm>
                <a:off x="1807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90" name="Line 40"/>
              <p:cNvSpPr>
                <a:spLocks noChangeShapeType="1"/>
              </p:cNvSpPr>
              <p:nvPr/>
            </p:nvSpPr>
            <p:spPr bwMode="auto">
              <a:xfrm>
                <a:off x="1807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91" name="Line 41"/>
              <p:cNvSpPr>
                <a:spLocks noChangeShapeType="1"/>
              </p:cNvSpPr>
              <p:nvPr/>
            </p:nvSpPr>
            <p:spPr bwMode="auto">
              <a:xfrm>
                <a:off x="1807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92" name="Line 42"/>
              <p:cNvSpPr>
                <a:spLocks noChangeShapeType="1"/>
              </p:cNvSpPr>
              <p:nvPr/>
            </p:nvSpPr>
            <p:spPr bwMode="auto">
              <a:xfrm>
                <a:off x="1807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93" name="Line 43"/>
              <p:cNvSpPr>
                <a:spLocks noChangeShapeType="1"/>
              </p:cNvSpPr>
              <p:nvPr/>
            </p:nvSpPr>
            <p:spPr bwMode="auto">
              <a:xfrm>
                <a:off x="1807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94" name="Line 44"/>
              <p:cNvSpPr>
                <a:spLocks noChangeShapeType="1"/>
              </p:cNvSpPr>
              <p:nvPr/>
            </p:nvSpPr>
            <p:spPr bwMode="auto">
              <a:xfrm>
                <a:off x="1807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95" name="Line 45"/>
              <p:cNvSpPr>
                <a:spLocks noChangeShapeType="1"/>
              </p:cNvSpPr>
              <p:nvPr/>
            </p:nvSpPr>
            <p:spPr bwMode="auto">
              <a:xfrm>
                <a:off x="1807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96" name="Line 46"/>
              <p:cNvSpPr>
                <a:spLocks noChangeShapeType="1"/>
              </p:cNvSpPr>
              <p:nvPr/>
            </p:nvSpPr>
            <p:spPr bwMode="auto">
              <a:xfrm>
                <a:off x="2335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97" name="Text Box 47"/>
              <p:cNvSpPr txBox="1">
                <a:spLocks noChangeArrowheads="1"/>
              </p:cNvSpPr>
              <p:nvPr/>
            </p:nvSpPr>
            <p:spPr bwMode="auto">
              <a:xfrm>
                <a:off x="1951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87498" name="Text Box 48"/>
              <p:cNvSpPr txBox="1">
                <a:spLocks noChangeArrowheads="1"/>
              </p:cNvSpPr>
              <p:nvPr/>
            </p:nvSpPr>
            <p:spPr bwMode="auto">
              <a:xfrm>
                <a:off x="1920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  <p:sp>
          <p:nvSpPr>
            <p:cNvPr id="187417" name="Text Box 49"/>
            <p:cNvSpPr txBox="1">
              <a:spLocks noChangeArrowheads="1"/>
            </p:cNvSpPr>
            <p:nvPr/>
          </p:nvSpPr>
          <p:spPr bwMode="auto">
            <a:xfrm>
              <a:off x="1594" y="2544"/>
              <a:ext cx="5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2</a:t>
              </a:r>
              <a:r>
                <a:rPr lang="en-US" altLang="zh-CN" sz="2400" i="1">
                  <a:latin typeface="Times New Roman" panose="02020603050405020304" pitchFamily="18" charset="0"/>
                </a:rPr>
                <a:t>n</a:t>
              </a:r>
              <a:r>
                <a:rPr lang="en-US" altLang="zh-CN" sz="1800">
                  <a:latin typeface="Times New Roman" panose="02020603050405020304" pitchFamily="18" charset="0"/>
                </a:rPr>
                <a:t>－</a:t>
              </a:r>
              <a:r>
                <a:rPr lang="en-US" altLang="zh-CN" sz="20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87418" name="Text Box 50"/>
            <p:cNvSpPr txBox="1">
              <a:spLocks noChangeArrowheads="1"/>
            </p:cNvSpPr>
            <p:nvPr/>
          </p:nvSpPr>
          <p:spPr bwMode="auto">
            <a:xfrm>
              <a:off x="3408" y="864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187419" name="Text Box 51"/>
            <p:cNvSpPr txBox="1">
              <a:spLocks noChangeArrowheads="1"/>
            </p:cNvSpPr>
            <p:nvPr/>
          </p:nvSpPr>
          <p:spPr bwMode="auto">
            <a:xfrm>
              <a:off x="2886" y="1104"/>
              <a:ext cx="30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2</a:t>
              </a:r>
              <a:r>
                <a:rPr lang="en-US" altLang="zh-CN" sz="2400" i="1">
                  <a:latin typeface="Times New Roman" panose="02020603050405020304" pitchFamily="18" charset="0"/>
                </a:rPr>
                <a:t>n</a:t>
              </a:r>
            </a:p>
          </p:txBody>
        </p:sp>
        <p:sp>
          <p:nvSpPr>
            <p:cNvPr id="187420" name="Text Box 52"/>
            <p:cNvSpPr txBox="1">
              <a:spLocks noChangeArrowheads="1"/>
            </p:cNvSpPr>
            <p:nvPr/>
          </p:nvSpPr>
          <p:spPr bwMode="auto">
            <a:xfrm>
              <a:off x="2886" y="1313"/>
              <a:ext cx="47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2</a:t>
              </a:r>
              <a:r>
                <a:rPr lang="en-US" altLang="zh-CN" sz="2400" i="1">
                  <a:latin typeface="Times New Roman" panose="02020603050405020304" pitchFamily="18" charset="0"/>
                </a:rPr>
                <a:t>n</a:t>
              </a:r>
              <a:r>
                <a:rPr lang="en-US" altLang="zh-CN" sz="2000">
                  <a:latin typeface="Times New Roman" panose="02020603050405020304" pitchFamily="18" charset="0"/>
                </a:rPr>
                <a:t>+1</a:t>
              </a:r>
            </a:p>
          </p:txBody>
        </p:sp>
        <p:sp>
          <p:nvSpPr>
            <p:cNvPr id="187421" name="Text Box 53"/>
            <p:cNvSpPr txBox="1">
              <a:spLocks noChangeArrowheads="1"/>
            </p:cNvSpPr>
            <p:nvPr/>
          </p:nvSpPr>
          <p:spPr bwMode="auto">
            <a:xfrm>
              <a:off x="2833" y="2544"/>
              <a:ext cx="5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3</a:t>
              </a:r>
              <a:r>
                <a:rPr lang="en-US" altLang="zh-CN" sz="2400" i="1">
                  <a:latin typeface="Times New Roman" panose="02020603050405020304" pitchFamily="18" charset="0"/>
                </a:rPr>
                <a:t>n</a:t>
              </a:r>
              <a:r>
                <a:rPr lang="en-US" altLang="zh-CN" sz="1800">
                  <a:latin typeface="Times New Roman" panose="02020603050405020304" pitchFamily="18" charset="0"/>
                </a:rPr>
                <a:t>－</a:t>
              </a:r>
              <a:r>
                <a:rPr lang="en-US" altLang="zh-CN" sz="20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87422" name="Text Box 54"/>
            <p:cNvSpPr txBox="1">
              <a:spLocks noChangeArrowheads="1"/>
            </p:cNvSpPr>
            <p:nvPr/>
          </p:nvSpPr>
          <p:spPr bwMode="auto">
            <a:xfrm>
              <a:off x="4655" y="864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187423" name="Text Box 55"/>
            <p:cNvSpPr txBox="1">
              <a:spLocks noChangeArrowheads="1"/>
            </p:cNvSpPr>
            <p:nvPr/>
          </p:nvSpPr>
          <p:spPr bwMode="auto">
            <a:xfrm>
              <a:off x="4086" y="1104"/>
              <a:ext cx="30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3</a:t>
              </a:r>
              <a:r>
                <a:rPr lang="en-US" altLang="zh-CN" sz="2400" i="1">
                  <a:latin typeface="Times New Roman" panose="02020603050405020304" pitchFamily="18" charset="0"/>
                </a:rPr>
                <a:t>n</a:t>
              </a:r>
            </a:p>
          </p:txBody>
        </p:sp>
        <p:sp>
          <p:nvSpPr>
            <p:cNvPr id="187424" name="Text Box 56"/>
            <p:cNvSpPr txBox="1">
              <a:spLocks noChangeArrowheads="1"/>
            </p:cNvSpPr>
            <p:nvPr/>
          </p:nvSpPr>
          <p:spPr bwMode="auto">
            <a:xfrm>
              <a:off x="4086" y="1313"/>
              <a:ext cx="47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3</a:t>
              </a:r>
              <a:r>
                <a:rPr lang="en-US" altLang="zh-CN" sz="2400" i="1">
                  <a:latin typeface="Times New Roman" panose="02020603050405020304" pitchFamily="18" charset="0"/>
                </a:rPr>
                <a:t>n</a:t>
              </a:r>
              <a:r>
                <a:rPr lang="en-US" altLang="zh-CN" sz="2000">
                  <a:latin typeface="Times New Roman" panose="02020603050405020304" pitchFamily="18" charset="0"/>
                </a:rPr>
                <a:t>+1</a:t>
              </a:r>
            </a:p>
          </p:txBody>
        </p:sp>
        <p:sp>
          <p:nvSpPr>
            <p:cNvPr id="187425" name="Text Box 57"/>
            <p:cNvSpPr txBox="1">
              <a:spLocks noChangeArrowheads="1"/>
            </p:cNvSpPr>
            <p:nvPr/>
          </p:nvSpPr>
          <p:spPr bwMode="auto">
            <a:xfrm>
              <a:off x="4032" y="2544"/>
              <a:ext cx="5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4</a:t>
              </a:r>
              <a:r>
                <a:rPr lang="en-US" altLang="zh-CN" sz="2400" i="1">
                  <a:latin typeface="Times New Roman" panose="02020603050405020304" pitchFamily="18" charset="0"/>
                </a:rPr>
                <a:t>n</a:t>
              </a:r>
              <a:r>
                <a:rPr lang="en-US" altLang="zh-CN" sz="1800">
                  <a:latin typeface="Times New Roman" panose="02020603050405020304" pitchFamily="18" charset="0"/>
                </a:rPr>
                <a:t>－</a:t>
              </a:r>
              <a:r>
                <a:rPr lang="en-US" altLang="zh-CN" sz="2000">
                  <a:latin typeface="Times New Roman" panose="02020603050405020304" pitchFamily="18" charset="0"/>
                </a:rPr>
                <a:t>1</a:t>
              </a:r>
            </a:p>
          </p:txBody>
        </p:sp>
        <p:grpSp>
          <p:nvGrpSpPr>
            <p:cNvPr id="187426" name="Group 58"/>
            <p:cNvGrpSpPr/>
            <p:nvPr/>
          </p:nvGrpSpPr>
          <p:grpSpPr bwMode="auto">
            <a:xfrm>
              <a:off x="4559" y="1152"/>
              <a:ext cx="577" cy="1636"/>
              <a:chOff x="4271" y="1104"/>
              <a:chExt cx="577" cy="1636"/>
            </a:xfrm>
          </p:grpSpPr>
          <p:sp>
            <p:nvSpPr>
              <p:cNvPr id="187465" name="Rectangle 59"/>
              <p:cNvSpPr>
                <a:spLocks noChangeArrowheads="1"/>
              </p:cNvSpPr>
              <p:nvPr/>
            </p:nvSpPr>
            <p:spPr bwMode="auto">
              <a:xfrm>
                <a:off x="4271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7466" name="Rectangle 60"/>
              <p:cNvSpPr>
                <a:spLocks noChangeArrowheads="1"/>
              </p:cNvSpPr>
              <p:nvPr/>
            </p:nvSpPr>
            <p:spPr bwMode="auto">
              <a:xfrm>
                <a:off x="4271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7467" name="Rectangle 61"/>
              <p:cNvSpPr>
                <a:spLocks noChangeArrowheads="1"/>
              </p:cNvSpPr>
              <p:nvPr/>
            </p:nvSpPr>
            <p:spPr bwMode="auto">
              <a:xfrm>
                <a:off x="4271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7468" name="Rectangle 62"/>
              <p:cNvSpPr>
                <a:spLocks noChangeArrowheads="1"/>
              </p:cNvSpPr>
              <p:nvPr/>
            </p:nvSpPr>
            <p:spPr bwMode="auto">
              <a:xfrm>
                <a:off x="4271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7469" name="Rectangle 63"/>
              <p:cNvSpPr>
                <a:spLocks noChangeArrowheads="1"/>
              </p:cNvSpPr>
              <p:nvPr/>
            </p:nvSpPr>
            <p:spPr bwMode="auto">
              <a:xfrm>
                <a:off x="4271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7470" name="Rectangle 64"/>
              <p:cNvSpPr>
                <a:spLocks noChangeArrowheads="1"/>
              </p:cNvSpPr>
              <p:nvPr/>
            </p:nvSpPr>
            <p:spPr bwMode="auto">
              <a:xfrm>
                <a:off x="4271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7471" name="Line 65"/>
              <p:cNvSpPr>
                <a:spLocks noChangeShapeType="1"/>
              </p:cNvSpPr>
              <p:nvPr/>
            </p:nvSpPr>
            <p:spPr bwMode="auto">
              <a:xfrm>
                <a:off x="4271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72" name="Line 66"/>
              <p:cNvSpPr>
                <a:spLocks noChangeShapeType="1"/>
              </p:cNvSpPr>
              <p:nvPr/>
            </p:nvSpPr>
            <p:spPr bwMode="auto">
              <a:xfrm>
                <a:off x="4271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73" name="Line 67"/>
              <p:cNvSpPr>
                <a:spLocks noChangeShapeType="1"/>
              </p:cNvSpPr>
              <p:nvPr/>
            </p:nvSpPr>
            <p:spPr bwMode="auto">
              <a:xfrm>
                <a:off x="4271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74" name="Line 68"/>
              <p:cNvSpPr>
                <a:spLocks noChangeShapeType="1"/>
              </p:cNvSpPr>
              <p:nvPr/>
            </p:nvSpPr>
            <p:spPr bwMode="auto">
              <a:xfrm>
                <a:off x="4271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75" name="Line 69"/>
              <p:cNvSpPr>
                <a:spLocks noChangeShapeType="1"/>
              </p:cNvSpPr>
              <p:nvPr/>
            </p:nvSpPr>
            <p:spPr bwMode="auto">
              <a:xfrm>
                <a:off x="4271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76" name="Line 70"/>
              <p:cNvSpPr>
                <a:spLocks noChangeShapeType="1"/>
              </p:cNvSpPr>
              <p:nvPr/>
            </p:nvSpPr>
            <p:spPr bwMode="auto">
              <a:xfrm>
                <a:off x="4271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77" name="Line 71"/>
              <p:cNvSpPr>
                <a:spLocks noChangeShapeType="1"/>
              </p:cNvSpPr>
              <p:nvPr/>
            </p:nvSpPr>
            <p:spPr bwMode="auto">
              <a:xfrm>
                <a:off x="4271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78" name="Line 72"/>
              <p:cNvSpPr>
                <a:spLocks noChangeShapeType="1"/>
              </p:cNvSpPr>
              <p:nvPr/>
            </p:nvSpPr>
            <p:spPr bwMode="auto">
              <a:xfrm>
                <a:off x="4271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79" name="Line 73"/>
              <p:cNvSpPr>
                <a:spLocks noChangeShapeType="1"/>
              </p:cNvSpPr>
              <p:nvPr/>
            </p:nvSpPr>
            <p:spPr bwMode="auto">
              <a:xfrm>
                <a:off x="4799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80" name="Text Box 74"/>
              <p:cNvSpPr txBox="1">
                <a:spLocks noChangeArrowheads="1"/>
              </p:cNvSpPr>
              <p:nvPr/>
            </p:nvSpPr>
            <p:spPr bwMode="auto">
              <a:xfrm>
                <a:off x="4425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87481" name="Text Box 75"/>
              <p:cNvSpPr txBox="1">
                <a:spLocks noChangeArrowheads="1"/>
              </p:cNvSpPr>
              <p:nvPr/>
            </p:nvSpPr>
            <p:spPr bwMode="auto">
              <a:xfrm>
                <a:off x="4425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  <p:grpSp>
          <p:nvGrpSpPr>
            <p:cNvPr id="187427" name="Group 76"/>
            <p:cNvGrpSpPr/>
            <p:nvPr/>
          </p:nvGrpSpPr>
          <p:grpSpPr bwMode="auto">
            <a:xfrm>
              <a:off x="3337" y="1152"/>
              <a:ext cx="542" cy="1636"/>
              <a:chOff x="3049" y="1104"/>
              <a:chExt cx="542" cy="1636"/>
            </a:xfrm>
          </p:grpSpPr>
          <p:sp>
            <p:nvSpPr>
              <p:cNvPr id="187448" name="Rectangle 77"/>
              <p:cNvSpPr>
                <a:spLocks noChangeArrowheads="1"/>
              </p:cNvSpPr>
              <p:nvPr/>
            </p:nvSpPr>
            <p:spPr bwMode="auto">
              <a:xfrm>
                <a:off x="3049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7449" name="Rectangle 78"/>
              <p:cNvSpPr>
                <a:spLocks noChangeArrowheads="1"/>
              </p:cNvSpPr>
              <p:nvPr/>
            </p:nvSpPr>
            <p:spPr bwMode="auto">
              <a:xfrm>
                <a:off x="3049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7450" name="Rectangle 79"/>
              <p:cNvSpPr>
                <a:spLocks noChangeArrowheads="1"/>
              </p:cNvSpPr>
              <p:nvPr/>
            </p:nvSpPr>
            <p:spPr bwMode="auto">
              <a:xfrm>
                <a:off x="3049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7451" name="Rectangle 80"/>
              <p:cNvSpPr>
                <a:spLocks noChangeArrowheads="1"/>
              </p:cNvSpPr>
              <p:nvPr/>
            </p:nvSpPr>
            <p:spPr bwMode="auto">
              <a:xfrm>
                <a:off x="3049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7452" name="Rectangle 81"/>
              <p:cNvSpPr>
                <a:spLocks noChangeArrowheads="1"/>
              </p:cNvSpPr>
              <p:nvPr/>
            </p:nvSpPr>
            <p:spPr bwMode="auto">
              <a:xfrm>
                <a:off x="3049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7453" name="Rectangle 82"/>
              <p:cNvSpPr>
                <a:spLocks noChangeArrowheads="1"/>
              </p:cNvSpPr>
              <p:nvPr/>
            </p:nvSpPr>
            <p:spPr bwMode="auto">
              <a:xfrm>
                <a:off x="3049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7454" name="Line 83"/>
              <p:cNvSpPr>
                <a:spLocks noChangeShapeType="1"/>
              </p:cNvSpPr>
              <p:nvPr/>
            </p:nvSpPr>
            <p:spPr bwMode="auto">
              <a:xfrm>
                <a:off x="3049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55" name="Line 84"/>
              <p:cNvSpPr>
                <a:spLocks noChangeShapeType="1"/>
              </p:cNvSpPr>
              <p:nvPr/>
            </p:nvSpPr>
            <p:spPr bwMode="auto">
              <a:xfrm>
                <a:off x="3049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56" name="Line 85"/>
              <p:cNvSpPr>
                <a:spLocks noChangeShapeType="1"/>
              </p:cNvSpPr>
              <p:nvPr/>
            </p:nvSpPr>
            <p:spPr bwMode="auto">
              <a:xfrm>
                <a:off x="3049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57" name="Line 86"/>
              <p:cNvSpPr>
                <a:spLocks noChangeShapeType="1"/>
              </p:cNvSpPr>
              <p:nvPr/>
            </p:nvSpPr>
            <p:spPr bwMode="auto">
              <a:xfrm>
                <a:off x="3049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58" name="Line 87"/>
              <p:cNvSpPr>
                <a:spLocks noChangeShapeType="1"/>
              </p:cNvSpPr>
              <p:nvPr/>
            </p:nvSpPr>
            <p:spPr bwMode="auto">
              <a:xfrm>
                <a:off x="3049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59" name="Line 88"/>
              <p:cNvSpPr>
                <a:spLocks noChangeShapeType="1"/>
              </p:cNvSpPr>
              <p:nvPr/>
            </p:nvSpPr>
            <p:spPr bwMode="auto">
              <a:xfrm>
                <a:off x="3049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60" name="Line 89"/>
              <p:cNvSpPr>
                <a:spLocks noChangeShapeType="1"/>
              </p:cNvSpPr>
              <p:nvPr/>
            </p:nvSpPr>
            <p:spPr bwMode="auto">
              <a:xfrm>
                <a:off x="3049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61" name="Line 90"/>
              <p:cNvSpPr>
                <a:spLocks noChangeShapeType="1"/>
              </p:cNvSpPr>
              <p:nvPr/>
            </p:nvSpPr>
            <p:spPr bwMode="auto">
              <a:xfrm>
                <a:off x="3049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62" name="Line 91"/>
              <p:cNvSpPr>
                <a:spLocks noChangeShapeType="1"/>
              </p:cNvSpPr>
              <p:nvPr/>
            </p:nvSpPr>
            <p:spPr bwMode="auto">
              <a:xfrm>
                <a:off x="3577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63" name="Text Box 92"/>
              <p:cNvSpPr txBox="1">
                <a:spLocks noChangeArrowheads="1"/>
              </p:cNvSpPr>
              <p:nvPr/>
            </p:nvSpPr>
            <p:spPr bwMode="auto">
              <a:xfrm>
                <a:off x="3154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87464" name="Text Box 93"/>
              <p:cNvSpPr txBox="1">
                <a:spLocks noChangeArrowheads="1"/>
              </p:cNvSpPr>
              <p:nvPr/>
            </p:nvSpPr>
            <p:spPr bwMode="auto">
              <a:xfrm>
                <a:off x="3168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  <p:sp>
          <p:nvSpPr>
            <p:cNvPr id="187428" name="Freeform 94"/>
            <p:cNvSpPr/>
            <p:nvPr/>
          </p:nvSpPr>
          <p:spPr bwMode="auto">
            <a:xfrm>
              <a:off x="384" y="2064"/>
              <a:ext cx="4176" cy="960"/>
            </a:xfrm>
            <a:custGeom>
              <a:avLst/>
              <a:gdLst>
                <a:gd name="T0" fmla="*/ 528 w 4176"/>
                <a:gd name="T1" fmla="*/ 0 h 960"/>
                <a:gd name="T2" fmla="*/ 0 w 4176"/>
                <a:gd name="T3" fmla="*/ 0 h 960"/>
                <a:gd name="T4" fmla="*/ 0 w 4176"/>
                <a:gd name="T5" fmla="*/ 960 h 960"/>
                <a:gd name="T6" fmla="*/ 3648 w 4176"/>
                <a:gd name="T7" fmla="*/ 960 h 960"/>
                <a:gd name="T8" fmla="*/ 3648 w 4176"/>
                <a:gd name="T9" fmla="*/ 0 h 960"/>
                <a:gd name="T10" fmla="*/ 4176 w 4176"/>
                <a:gd name="T11" fmla="*/ 0 h 9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176"/>
                <a:gd name="T19" fmla="*/ 0 h 960"/>
                <a:gd name="T20" fmla="*/ 4176 w 4176"/>
                <a:gd name="T21" fmla="*/ 960 h 9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176" h="960">
                  <a:moveTo>
                    <a:pt x="528" y="0"/>
                  </a:moveTo>
                  <a:lnTo>
                    <a:pt x="0" y="0"/>
                  </a:lnTo>
                  <a:lnTo>
                    <a:pt x="0" y="960"/>
                  </a:lnTo>
                  <a:lnTo>
                    <a:pt x="3648" y="960"/>
                  </a:lnTo>
                  <a:lnTo>
                    <a:pt x="3648" y="0"/>
                  </a:lnTo>
                  <a:lnTo>
                    <a:pt x="4176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dash"/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7429" name="Freeform 95"/>
            <p:cNvSpPr/>
            <p:nvPr/>
          </p:nvSpPr>
          <p:spPr bwMode="auto">
            <a:xfrm>
              <a:off x="1557" y="2064"/>
              <a:ext cx="528" cy="954"/>
            </a:xfrm>
            <a:custGeom>
              <a:avLst/>
              <a:gdLst>
                <a:gd name="T0" fmla="*/ 0 w 528"/>
                <a:gd name="T1" fmla="*/ 876 h 960"/>
                <a:gd name="T2" fmla="*/ 0 w 528"/>
                <a:gd name="T3" fmla="*/ 0 h 960"/>
                <a:gd name="T4" fmla="*/ 528 w 528"/>
                <a:gd name="T5" fmla="*/ 0 h 960"/>
                <a:gd name="T6" fmla="*/ 0 60000 65536"/>
                <a:gd name="T7" fmla="*/ 0 60000 65536"/>
                <a:gd name="T8" fmla="*/ 0 60000 65536"/>
                <a:gd name="T9" fmla="*/ 0 w 528"/>
                <a:gd name="T10" fmla="*/ 0 h 960"/>
                <a:gd name="T11" fmla="*/ 528 w 528"/>
                <a:gd name="T12" fmla="*/ 960 h 96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960">
                  <a:moveTo>
                    <a:pt x="0" y="960"/>
                  </a:moveTo>
                  <a:lnTo>
                    <a:pt x="0" y="0"/>
                  </a:lnTo>
                  <a:lnTo>
                    <a:pt x="528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dash"/>
              <a:round/>
              <a:headEnd type="oval" w="sm" len="sm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7430" name="Freeform 96"/>
            <p:cNvSpPr/>
            <p:nvPr/>
          </p:nvSpPr>
          <p:spPr bwMode="auto">
            <a:xfrm>
              <a:off x="2808" y="2064"/>
              <a:ext cx="528" cy="954"/>
            </a:xfrm>
            <a:custGeom>
              <a:avLst/>
              <a:gdLst>
                <a:gd name="T0" fmla="*/ 0 w 528"/>
                <a:gd name="T1" fmla="*/ 876 h 960"/>
                <a:gd name="T2" fmla="*/ 0 w 528"/>
                <a:gd name="T3" fmla="*/ 0 h 960"/>
                <a:gd name="T4" fmla="*/ 528 w 528"/>
                <a:gd name="T5" fmla="*/ 0 h 960"/>
                <a:gd name="T6" fmla="*/ 0 60000 65536"/>
                <a:gd name="T7" fmla="*/ 0 60000 65536"/>
                <a:gd name="T8" fmla="*/ 0 60000 65536"/>
                <a:gd name="T9" fmla="*/ 0 w 528"/>
                <a:gd name="T10" fmla="*/ 0 h 960"/>
                <a:gd name="T11" fmla="*/ 528 w 528"/>
                <a:gd name="T12" fmla="*/ 960 h 96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960">
                  <a:moveTo>
                    <a:pt x="0" y="960"/>
                  </a:moveTo>
                  <a:lnTo>
                    <a:pt x="0" y="0"/>
                  </a:lnTo>
                  <a:lnTo>
                    <a:pt x="528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dash"/>
              <a:round/>
              <a:headEnd type="oval" w="sm" len="sm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87431" name="Group 97"/>
            <p:cNvGrpSpPr/>
            <p:nvPr/>
          </p:nvGrpSpPr>
          <p:grpSpPr bwMode="auto">
            <a:xfrm>
              <a:off x="2519" y="3360"/>
              <a:ext cx="1031" cy="286"/>
              <a:chOff x="2519" y="3360"/>
              <a:chExt cx="1031" cy="286"/>
            </a:xfrm>
          </p:grpSpPr>
          <p:sp>
            <p:nvSpPr>
              <p:cNvPr id="187446" name="Rectangle 98"/>
              <p:cNvSpPr>
                <a:spLocks noChangeArrowheads="1"/>
              </p:cNvSpPr>
              <p:nvPr/>
            </p:nvSpPr>
            <p:spPr bwMode="auto">
              <a:xfrm>
                <a:off x="2519" y="3360"/>
                <a:ext cx="1031" cy="28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87447" name="Text Box 99"/>
              <p:cNvSpPr txBox="1">
                <a:spLocks noChangeArrowheads="1"/>
              </p:cNvSpPr>
              <p:nvPr/>
            </p:nvSpPr>
            <p:spPr bwMode="auto">
              <a:xfrm>
                <a:off x="2648" y="3371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地址译码</a:t>
                </a:r>
              </a:p>
            </p:txBody>
          </p:sp>
        </p:grpSp>
        <p:grpSp>
          <p:nvGrpSpPr>
            <p:cNvPr id="187432" name="Group 100"/>
            <p:cNvGrpSpPr/>
            <p:nvPr/>
          </p:nvGrpSpPr>
          <p:grpSpPr bwMode="auto">
            <a:xfrm>
              <a:off x="1488" y="3840"/>
              <a:ext cx="2062" cy="286"/>
              <a:chOff x="1488" y="3840"/>
              <a:chExt cx="2062" cy="286"/>
            </a:xfrm>
          </p:grpSpPr>
          <p:sp>
            <p:nvSpPr>
              <p:cNvPr id="187442" name="Rectangle 101"/>
              <p:cNvSpPr>
                <a:spLocks noChangeArrowheads="1"/>
              </p:cNvSpPr>
              <p:nvPr/>
            </p:nvSpPr>
            <p:spPr bwMode="auto">
              <a:xfrm>
                <a:off x="2519" y="3840"/>
                <a:ext cx="1031" cy="28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87443" name="Text Box 102"/>
              <p:cNvSpPr txBox="1">
                <a:spLocks noChangeArrowheads="1"/>
              </p:cNvSpPr>
              <p:nvPr/>
            </p:nvSpPr>
            <p:spPr bwMode="auto">
              <a:xfrm>
                <a:off x="2648" y="3851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体内地址</a:t>
                </a:r>
              </a:p>
            </p:txBody>
          </p:sp>
          <p:sp>
            <p:nvSpPr>
              <p:cNvPr id="187444" name="Rectangle 103"/>
              <p:cNvSpPr>
                <a:spLocks noChangeArrowheads="1"/>
              </p:cNvSpPr>
              <p:nvPr/>
            </p:nvSpPr>
            <p:spPr bwMode="auto">
              <a:xfrm>
                <a:off x="1488" y="3840"/>
                <a:ext cx="1031" cy="28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87445" name="Text Box 104"/>
              <p:cNvSpPr txBox="1">
                <a:spLocks noChangeArrowheads="1"/>
              </p:cNvSpPr>
              <p:nvPr/>
            </p:nvSpPr>
            <p:spPr bwMode="auto">
              <a:xfrm>
                <a:off x="1770" y="3851"/>
                <a:ext cx="43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体号</a:t>
                </a:r>
              </a:p>
            </p:txBody>
          </p:sp>
        </p:grpSp>
        <p:sp>
          <p:nvSpPr>
            <p:cNvPr id="187433" name="Line 105"/>
            <p:cNvSpPr>
              <a:spLocks noChangeShapeType="1"/>
            </p:cNvSpPr>
            <p:nvPr/>
          </p:nvSpPr>
          <p:spPr bwMode="auto">
            <a:xfrm flipV="1">
              <a:off x="1975" y="3204"/>
              <a:ext cx="0" cy="63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7434" name="Line 106"/>
            <p:cNvSpPr>
              <a:spLocks noChangeShapeType="1"/>
            </p:cNvSpPr>
            <p:nvPr/>
          </p:nvSpPr>
          <p:spPr bwMode="auto">
            <a:xfrm flipV="1">
              <a:off x="3024" y="3648"/>
              <a:ext cx="0" cy="19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87435" name="Group 107"/>
            <p:cNvGrpSpPr/>
            <p:nvPr/>
          </p:nvGrpSpPr>
          <p:grpSpPr bwMode="auto">
            <a:xfrm>
              <a:off x="1190" y="2784"/>
              <a:ext cx="3640" cy="442"/>
              <a:chOff x="1190" y="2784"/>
              <a:chExt cx="3640" cy="442"/>
            </a:xfrm>
          </p:grpSpPr>
          <p:sp>
            <p:nvSpPr>
              <p:cNvPr id="187437" name="Freeform 108"/>
              <p:cNvSpPr/>
              <p:nvPr/>
            </p:nvSpPr>
            <p:spPr bwMode="auto">
              <a:xfrm>
                <a:off x="1200" y="2784"/>
                <a:ext cx="1" cy="442"/>
              </a:xfrm>
              <a:custGeom>
                <a:avLst/>
                <a:gdLst>
                  <a:gd name="T0" fmla="*/ 0 w 1"/>
                  <a:gd name="T1" fmla="*/ 442 h 442"/>
                  <a:gd name="T2" fmla="*/ 0 w 1"/>
                  <a:gd name="T3" fmla="*/ 0 h 442"/>
                  <a:gd name="T4" fmla="*/ 0 60000 65536"/>
                  <a:gd name="T5" fmla="*/ 0 60000 65536"/>
                  <a:gd name="T6" fmla="*/ 0 w 1"/>
                  <a:gd name="T7" fmla="*/ 0 h 442"/>
                  <a:gd name="T8" fmla="*/ 1 w 1"/>
                  <a:gd name="T9" fmla="*/ 442 h 44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42">
                    <a:moveTo>
                      <a:pt x="0" y="442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38" name="Line 109"/>
              <p:cNvSpPr>
                <a:spLocks noChangeShapeType="1"/>
              </p:cNvSpPr>
              <p:nvPr/>
            </p:nvSpPr>
            <p:spPr bwMode="auto">
              <a:xfrm>
                <a:off x="1190" y="3213"/>
                <a:ext cx="362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39" name="Freeform 110"/>
              <p:cNvSpPr/>
              <p:nvPr/>
            </p:nvSpPr>
            <p:spPr bwMode="auto">
              <a:xfrm>
                <a:off x="4829" y="2784"/>
                <a:ext cx="1" cy="442"/>
              </a:xfrm>
              <a:custGeom>
                <a:avLst/>
                <a:gdLst>
                  <a:gd name="T0" fmla="*/ 0 w 1"/>
                  <a:gd name="T1" fmla="*/ 442 h 442"/>
                  <a:gd name="T2" fmla="*/ 0 w 1"/>
                  <a:gd name="T3" fmla="*/ 0 h 442"/>
                  <a:gd name="T4" fmla="*/ 0 60000 65536"/>
                  <a:gd name="T5" fmla="*/ 0 60000 65536"/>
                  <a:gd name="T6" fmla="*/ 0 w 1"/>
                  <a:gd name="T7" fmla="*/ 0 h 442"/>
                  <a:gd name="T8" fmla="*/ 1 w 1"/>
                  <a:gd name="T9" fmla="*/ 442 h 44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42">
                    <a:moveTo>
                      <a:pt x="0" y="442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40" name="Freeform 111"/>
              <p:cNvSpPr/>
              <p:nvPr/>
            </p:nvSpPr>
            <p:spPr bwMode="auto">
              <a:xfrm>
                <a:off x="2381" y="2784"/>
                <a:ext cx="1" cy="438"/>
              </a:xfrm>
              <a:custGeom>
                <a:avLst/>
                <a:gdLst>
                  <a:gd name="T0" fmla="*/ 0 w 1"/>
                  <a:gd name="T1" fmla="*/ 386 h 442"/>
                  <a:gd name="T2" fmla="*/ 0 w 1"/>
                  <a:gd name="T3" fmla="*/ 0 h 442"/>
                  <a:gd name="T4" fmla="*/ 0 60000 65536"/>
                  <a:gd name="T5" fmla="*/ 0 60000 65536"/>
                  <a:gd name="T6" fmla="*/ 0 w 1"/>
                  <a:gd name="T7" fmla="*/ 0 h 442"/>
                  <a:gd name="T8" fmla="*/ 1 w 1"/>
                  <a:gd name="T9" fmla="*/ 442 h 44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42">
                    <a:moveTo>
                      <a:pt x="0" y="442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7441" name="Freeform 112"/>
              <p:cNvSpPr/>
              <p:nvPr/>
            </p:nvSpPr>
            <p:spPr bwMode="auto">
              <a:xfrm>
                <a:off x="3606" y="2784"/>
                <a:ext cx="1" cy="438"/>
              </a:xfrm>
              <a:custGeom>
                <a:avLst/>
                <a:gdLst>
                  <a:gd name="T0" fmla="*/ 0 w 1"/>
                  <a:gd name="T1" fmla="*/ 386 h 442"/>
                  <a:gd name="T2" fmla="*/ 0 w 1"/>
                  <a:gd name="T3" fmla="*/ 0 h 442"/>
                  <a:gd name="T4" fmla="*/ 0 60000 65536"/>
                  <a:gd name="T5" fmla="*/ 0 60000 65536"/>
                  <a:gd name="T6" fmla="*/ 0 w 1"/>
                  <a:gd name="T7" fmla="*/ 0 h 442"/>
                  <a:gd name="T8" fmla="*/ 1 w 1"/>
                  <a:gd name="T9" fmla="*/ 442 h 44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442">
                    <a:moveTo>
                      <a:pt x="0" y="442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solid"/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87436" name="Freeform 113"/>
            <p:cNvSpPr/>
            <p:nvPr/>
          </p:nvSpPr>
          <p:spPr bwMode="auto">
            <a:xfrm>
              <a:off x="3023" y="3022"/>
              <a:ext cx="1" cy="329"/>
            </a:xfrm>
            <a:custGeom>
              <a:avLst/>
              <a:gdLst>
                <a:gd name="T0" fmla="*/ 0 w 1"/>
                <a:gd name="T1" fmla="*/ 7 h 442"/>
                <a:gd name="T2" fmla="*/ 0 w 1"/>
                <a:gd name="T3" fmla="*/ 0 h 442"/>
                <a:gd name="T4" fmla="*/ 0 60000 65536"/>
                <a:gd name="T5" fmla="*/ 0 60000 65536"/>
                <a:gd name="T6" fmla="*/ 0 w 1"/>
                <a:gd name="T7" fmla="*/ 0 h 442"/>
                <a:gd name="T8" fmla="*/ 1 w 1"/>
                <a:gd name="T9" fmla="*/ 442 h 44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42">
                  <a:moveTo>
                    <a:pt x="0" y="442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dash"/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76594" name="Text Box 114"/>
          <p:cNvSpPr txBox="1">
            <a:spLocks noChangeArrowheads="1"/>
          </p:cNvSpPr>
          <p:nvPr/>
        </p:nvSpPr>
        <p:spPr bwMode="auto">
          <a:xfrm>
            <a:off x="2809875" y="6016625"/>
            <a:ext cx="692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rPr>
              <a:t>体号</a:t>
            </a:r>
          </a:p>
        </p:txBody>
      </p:sp>
      <p:sp>
        <p:nvSpPr>
          <p:cNvPr id="276595" name="Line 115"/>
          <p:cNvSpPr>
            <a:spLocks noChangeShapeType="1"/>
          </p:cNvSpPr>
          <p:nvPr/>
        </p:nvSpPr>
        <p:spPr bwMode="auto">
          <a:xfrm flipV="1">
            <a:off x="3135313" y="4989513"/>
            <a:ext cx="0" cy="1008062"/>
          </a:xfrm>
          <a:prstGeom prst="line">
            <a:avLst/>
          </a:prstGeom>
          <a:noFill/>
          <a:ln w="38100">
            <a:solidFill>
              <a:schemeClr val="folHlink"/>
            </a:solidFill>
            <a:rou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0" name="Group 116"/>
          <p:cNvGrpSpPr/>
          <p:nvPr/>
        </p:nvGrpSpPr>
        <p:grpSpPr bwMode="auto">
          <a:xfrm>
            <a:off x="1889125" y="4322763"/>
            <a:ext cx="5778500" cy="701675"/>
            <a:chOff x="1190" y="2784"/>
            <a:chExt cx="3640" cy="442"/>
          </a:xfrm>
        </p:grpSpPr>
        <p:sp>
          <p:nvSpPr>
            <p:cNvPr id="187402" name="Freeform 117"/>
            <p:cNvSpPr/>
            <p:nvPr/>
          </p:nvSpPr>
          <p:spPr bwMode="auto">
            <a:xfrm>
              <a:off x="1200" y="2784"/>
              <a:ext cx="1" cy="442"/>
            </a:xfrm>
            <a:custGeom>
              <a:avLst/>
              <a:gdLst>
                <a:gd name="T0" fmla="*/ 0 w 1"/>
                <a:gd name="T1" fmla="*/ 442 h 442"/>
                <a:gd name="T2" fmla="*/ 0 w 1"/>
                <a:gd name="T3" fmla="*/ 0 h 442"/>
                <a:gd name="T4" fmla="*/ 0 60000 65536"/>
                <a:gd name="T5" fmla="*/ 0 60000 65536"/>
                <a:gd name="T6" fmla="*/ 0 w 1"/>
                <a:gd name="T7" fmla="*/ 0 h 442"/>
                <a:gd name="T8" fmla="*/ 1 w 1"/>
                <a:gd name="T9" fmla="*/ 442 h 44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42">
                  <a:moveTo>
                    <a:pt x="0" y="442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folHlink"/>
              </a:solidFill>
              <a:prstDash val="solid"/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7403" name="Line 118"/>
            <p:cNvSpPr>
              <a:spLocks noChangeShapeType="1"/>
            </p:cNvSpPr>
            <p:nvPr/>
          </p:nvSpPr>
          <p:spPr bwMode="auto">
            <a:xfrm>
              <a:off x="1190" y="3213"/>
              <a:ext cx="3627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7404" name="Freeform 119"/>
            <p:cNvSpPr/>
            <p:nvPr/>
          </p:nvSpPr>
          <p:spPr bwMode="auto">
            <a:xfrm>
              <a:off x="4829" y="2784"/>
              <a:ext cx="1" cy="442"/>
            </a:xfrm>
            <a:custGeom>
              <a:avLst/>
              <a:gdLst>
                <a:gd name="T0" fmla="*/ 0 w 1"/>
                <a:gd name="T1" fmla="*/ 442 h 442"/>
                <a:gd name="T2" fmla="*/ 0 w 1"/>
                <a:gd name="T3" fmla="*/ 0 h 442"/>
                <a:gd name="T4" fmla="*/ 0 60000 65536"/>
                <a:gd name="T5" fmla="*/ 0 60000 65536"/>
                <a:gd name="T6" fmla="*/ 0 w 1"/>
                <a:gd name="T7" fmla="*/ 0 h 442"/>
                <a:gd name="T8" fmla="*/ 1 w 1"/>
                <a:gd name="T9" fmla="*/ 442 h 44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42">
                  <a:moveTo>
                    <a:pt x="0" y="442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folHlink"/>
              </a:solidFill>
              <a:prstDash val="solid"/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7405" name="Freeform 120"/>
            <p:cNvSpPr/>
            <p:nvPr/>
          </p:nvSpPr>
          <p:spPr bwMode="auto">
            <a:xfrm>
              <a:off x="2381" y="2784"/>
              <a:ext cx="1" cy="438"/>
            </a:xfrm>
            <a:custGeom>
              <a:avLst/>
              <a:gdLst>
                <a:gd name="T0" fmla="*/ 0 w 1"/>
                <a:gd name="T1" fmla="*/ 386 h 442"/>
                <a:gd name="T2" fmla="*/ 0 w 1"/>
                <a:gd name="T3" fmla="*/ 0 h 442"/>
                <a:gd name="T4" fmla="*/ 0 60000 65536"/>
                <a:gd name="T5" fmla="*/ 0 60000 65536"/>
                <a:gd name="T6" fmla="*/ 0 w 1"/>
                <a:gd name="T7" fmla="*/ 0 h 442"/>
                <a:gd name="T8" fmla="*/ 1 w 1"/>
                <a:gd name="T9" fmla="*/ 442 h 44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42">
                  <a:moveTo>
                    <a:pt x="0" y="442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folHlink"/>
              </a:solidFill>
              <a:prstDash val="solid"/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7406" name="Freeform 121"/>
            <p:cNvSpPr/>
            <p:nvPr/>
          </p:nvSpPr>
          <p:spPr bwMode="auto">
            <a:xfrm>
              <a:off x="3606" y="2784"/>
              <a:ext cx="1" cy="438"/>
            </a:xfrm>
            <a:custGeom>
              <a:avLst/>
              <a:gdLst>
                <a:gd name="T0" fmla="*/ 0 w 1"/>
                <a:gd name="T1" fmla="*/ 386 h 442"/>
                <a:gd name="T2" fmla="*/ 0 w 1"/>
                <a:gd name="T3" fmla="*/ 0 h 442"/>
                <a:gd name="T4" fmla="*/ 0 60000 65536"/>
                <a:gd name="T5" fmla="*/ 0 60000 65536"/>
                <a:gd name="T6" fmla="*/ 0 w 1"/>
                <a:gd name="T7" fmla="*/ 0 h 442"/>
                <a:gd name="T8" fmla="*/ 1 w 1"/>
                <a:gd name="T9" fmla="*/ 442 h 44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42">
                  <a:moveTo>
                    <a:pt x="0" y="442"/>
                  </a:moveTo>
                  <a:lnTo>
                    <a:pt x="0" y="0"/>
                  </a:lnTo>
                </a:path>
              </a:pathLst>
            </a:custGeom>
            <a:noFill/>
            <a:ln w="38100" cap="flat" cmpd="sng">
              <a:solidFill>
                <a:schemeClr val="folHlink"/>
              </a:solidFill>
              <a:prstDash val="solid"/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87400" name="Text Box 122"/>
          <p:cNvSpPr txBox="1">
            <a:spLocks noChangeArrowheads="1"/>
          </p:cNvSpPr>
          <p:nvPr/>
        </p:nvSpPr>
        <p:spPr bwMode="auto">
          <a:xfrm>
            <a:off x="415925" y="260350"/>
            <a:ext cx="43211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(1) 高位交叉 </a:t>
            </a:r>
          </a:p>
        </p:txBody>
      </p:sp>
      <p:sp>
        <p:nvSpPr>
          <p:cNvPr id="187401" name="AutoShape 123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76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7" dur="500"/>
                                        <p:tgtEl>
                                          <p:spTgt spid="276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" dur="500"/>
                                        <p:tgtEl>
                                          <p:spTgt spid="2764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6594" grpId="0"/>
      <p:bldP spid="276595" grpId="0" animBg="1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1447800" y="1268413"/>
            <a:ext cx="7227888" cy="3195637"/>
            <a:chOff x="912" y="1010"/>
            <a:chExt cx="4553" cy="2013"/>
          </a:xfrm>
        </p:grpSpPr>
        <p:sp>
          <p:nvSpPr>
            <p:cNvPr id="188461" name="Text Box 3"/>
            <p:cNvSpPr txBox="1">
              <a:spLocks noChangeArrowheads="1"/>
            </p:cNvSpPr>
            <p:nvPr/>
          </p:nvSpPr>
          <p:spPr bwMode="auto">
            <a:xfrm>
              <a:off x="1008" y="1010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0</a:t>
              </a:r>
            </a:p>
          </p:txBody>
        </p:sp>
        <p:grpSp>
          <p:nvGrpSpPr>
            <p:cNvPr id="188462" name="Group 4"/>
            <p:cNvGrpSpPr/>
            <p:nvPr/>
          </p:nvGrpSpPr>
          <p:grpSpPr bwMode="auto">
            <a:xfrm>
              <a:off x="912" y="1387"/>
              <a:ext cx="567" cy="1636"/>
              <a:chOff x="624" y="1104"/>
              <a:chExt cx="567" cy="1636"/>
            </a:xfrm>
          </p:grpSpPr>
          <p:sp>
            <p:nvSpPr>
              <p:cNvPr id="188520" name="Rectangle 5"/>
              <p:cNvSpPr>
                <a:spLocks noChangeArrowheads="1"/>
              </p:cNvSpPr>
              <p:nvPr/>
            </p:nvSpPr>
            <p:spPr bwMode="auto">
              <a:xfrm>
                <a:off x="624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8521" name="Rectangle 6"/>
              <p:cNvSpPr>
                <a:spLocks noChangeArrowheads="1"/>
              </p:cNvSpPr>
              <p:nvPr/>
            </p:nvSpPr>
            <p:spPr bwMode="auto">
              <a:xfrm>
                <a:off x="624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8522" name="Rectangle 7"/>
              <p:cNvSpPr>
                <a:spLocks noChangeArrowheads="1"/>
              </p:cNvSpPr>
              <p:nvPr/>
            </p:nvSpPr>
            <p:spPr bwMode="auto">
              <a:xfrm>
                <a:off x="624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8523" name="Rectangle 8"/>
              <p:cNvSpPr>
                <a:spLocks noChangeArrowheads="1"/>
              </p:cNvSpPr>
              <p:nvPr/>
            </p:nvSpPr>
            <p:spPr bwMode="auto">
              <a:xfrm>
                <a:off x="624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8524" name="Rectangle 9"/>
              <p:cNvSpPr>
                <a:spLocks noChangeArrowheads="1"/>
              </p:cNvSpPr>
              <p:nvPr/>
            </p:nvSpPr>
            <p:spPr bwMode="auto">
              <a:xfrm>
                <a:off x="624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8525" name="Rectangle 10"/>
              <p:cNvSpPr>
                <a:spLocks noChangeArrowheads="1"/>
              </p:cNvSpPr>
              <p:nvPr/>
            </p:nvSpPr>
            <p:spPr bwMode="auto">
              <a:xfrm>
                <a:off x="624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8526" name="Line 11"/>
              <p:cNvSpPr>
                <a:spLocks noChangeShapeType="1"/>
              </p:cNvSpPr>
              <p:nvPr/>
            </p:nvSpPr>
            <p:spPr bwMode="auto">
              <a:xfrm>
                <a:off x="624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527" name="Line 12"/>
              <p:cNvSpPr>
                <a:spLocks noChangeShapeType="1"/>
              </p:cNvSpPr>
              <p:nvPr/>
            </p:nvSpPr>
            <p:spPr bwMode="auto">
              <a:xfrm>
                <a:off x="624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528" name="Line 13"/>
              <p:cNvSpPr>
                <a:spLocks noChangeShapeType="1"/>
              </p:cNvSpPr>
              <p:nvPr/>
            </p:nvSpPr>
            <p:spPr bwMode="auto">
              <a:xfrm>
                <a:off x="624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529" name="Line 14"/>
              <p:cNvSpPr>
                <a:spLocks noChangeShapeType="1"/>
              </p:cNvSpPr>
              <p:nvPr/>
            </p:nvSpPr>
            <p:spPr bwMode="auto">
              <a:xfrm>
                <a:off x="624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530" name="Line 15"/>
              <p:cNvSpPr>
                <a:spLocks noChangeShapeType="1"/>
              </p:cNvSpPr>
              <p:nvPr/>
            </p:nvSpPr>
            <p:spPr bwMode="auto">
              <a:xfrm>
                <a:off x="624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531" name="Line 16"/>
              <p:cNvSpPr>
                <a:spLocks noChangeShapeType="1"/>
              </p:cNvSpPr>
              <p:nvPr/>
            </p:nvSpPr>
            <p:spPr bwMode="auto">
              <a:xfrm>
                <a:off x="624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532" name="Line 17"/>
              <p:cNvSpPr>
                <a:spLocks noChangeShapeType="1"/>
              </p:cNvSpPr>
              <p:nvPr/>
            </p:nvSpPr>
            <p:spPr bwMode="auto">
              <a:xfrm>
                <a:off x="624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533" name="Line 18"/>
              <p:cNvSpPr>
                <a:spLocks noChangeShapeType="1"/>
              </p:cNvSpPr>
              <p:nvPr/>
            </p:nvSpPr>
            <p:spPr bwMode="auto">
              <a:xfrm>
                <a:off x="624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534" name="Line 19"/>
              <p:cNvSpPr>
                <a:spLocks noChangeShapeType="1"/>
              </p:cNvSpPr>
              <p:nvPr/>
            </p:nvSpPr>
            <p:spPr bwMode="auto">
              <a:xfrm>
                <a:off x="1152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535" name="Text Box 20"/>
              <p:cNvSpPr txBox="1">
                <a:spLocks noChangeArrowheads="1"/>
              </p:cNvSpPr>
              <p:nvPr/>
            </p:nvSpPr>
            <p:spPr bwMode="auto">
              <a:xfrm>
                <a:off x="768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88536" name="Text Box 21"/>
              <p:cNvSpPr txBox="1">
                <a:spLocks noChangeArrowheads="1"/>
              </p:cNvSpPr>
              <p:nvPr/>
            </p:nvSpPr>
            <p:spPr bwMode="auto">
              <a:xfrm>
                <a:off x="768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  <p:sp>
          <p:nvSpPr>
            <p:cNvPr id="188463" name="Text Box 22"/>
            <p:cNvSpPr txBox="1">
              <a:spLocks noChangeArrowheads="1"/>
            </p:cNvSpPr>
            <p:nvPr/>
          </p:nvSpPr>
          <p:spPr bwMode="auto">
            <a:xfrm>
              <a:off x="2296" y="1010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1</a:t>
              </a:r>
            </a:p>
          </p:txBody>
        </p:sp>
        <p:grpSp>
          <p:nvGrpSpPr>
            <p:cNvPr id="188464" name="Group 23"/>
            <p:cNvGrpSpPr/>
            <p:nvPr/>
          </p:nvGrpSpPr>
          <p:grpSpPr bwMode="auto">
            <a:xfrm>
              <a:off x="2222" y="1387"/>
              <a:ext cx="567" cy="1636"/>
              <a:chOff x="1807" y="1104"/>
              <a:chExt cx="567" cy="1636"/>
            </a:xfrm>
          </p:grpSpPr>
          <p:sp>
            <p:nvSpPr>
              <p:cNvPr id="188503" name="Rectangle 24"/>
              <p:cNvSpPr>
                <a:spLocks noChangeArrowheads="1"/>
              </p:cNvSpPr>
              <p:nvPr/>
            </p:nvSpPr>
            <p:spPr bwMode="auto">
              <a:xfrm>
                <a:off x="1807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8504" name="Rectangle 25"/>
              <p:cNvSpPr>
                <a:spLocks noChangeArrowheads="1"/>
              </p:cNvSpPr>
              <p:nvPr/>
            </p:nvSpPr>
            <p:spPr bwMode="auto">
              <a:xfrm>
                <a:off x="1807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8505" name="Rectangle 26"/>
              <p:cNvSpPr>
                <a:spLocks noChangeArrowheads="1"/>
              </p:cNvSpPr>
              <p:nvPr/>
            </p:nvSpPr>
            <p:spPr bwMode="auto">
              <a:xfrm>
                <a:off x="1807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8506" name="Rectangle 27"/>
              <p:cNvSpPr>
                <a:spLocks noChangeArrowheads="1"/>
              </p:cNvSpPr>
              <p:nvPr/>
            </p:nvSpPr>
            <p:spPr bwMode="auto">
              <a:xfrm>
                <a:off x="1807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8507" name="Rectangle 28"/>
              <p:cNvSpPr>
                <a:spLocks noChangeArrowheads="1"/>
              </p:cNvSpPr>
              <p:nvPr/>
            </p:nvSpPr>
            <p:spPr bwMode="auto">
              <a:xfrm>
                <a:off x="1807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8508" name="Rectangle 29"/>
              <p:cNvSpPr>
                <a:spLocks noChangeArrowheads="1"/>
              </p:cNvSpPr>
              <p:nvPr/>
            </p:nvSpPr>
            <p:spPr bwMode="auto">
              <a:xfrm>
                <a:off x="1807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8509" name="Line 30"/>
              <p:cNvSpPr>
                <a:spLocks noChangeShapeType="1"/>
              </p:cNvSpPr>
              <p:nvPr/>
            </p:nvSpPr>
            <p:spPr bwMode="auto">
              <a:xfrm>
                <a:off x="1807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510" name="Line 31"/>
              <p:cNvSpPr>
                <a:spLocks noChangeShapeType="1"/>
              </p:cNvSpPr>
              <p:nvPr/>
            </p:nvSpPr>
            <p:spPr bwMode="auto">
              <a:xfrm>
                <a:off x="1807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511" name="Line 32"/>
              <p:cNvSpPr>
                <a:spLocks noChangeShapeType="1"/>
              </p:cNvSpPr>
              <p:nvPr/>
            </p:nvSpPr>
            <p:spPr bwMode="auto">
              <a:xfrm>
                <a:off x="1807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512" name="Line 33"/>
              <p:cNvSpPr>
                <a:spLocks noChangeShapeType="1"/>
              </p:cNvSpPr>
              <p:nvPr/>
            </p:nvSpPr>
            <p:spPr bwMode="auto">
              <a:xfrm>
                <a:off x="1807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513" name="Line 34"/>
              <p:cNvSpPr>
                <a:spLocks noChangeShapeType="1"/>
              </p:cNvSpPr>
              <p:nvPr/>
            </p:nvSpPr>
            <p:spPr bwMode="auto">
              <a:xfrm>
                <a:off x="1807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514" name="Line 35"/>
              <p:cNvSpPr>
                <a:spLocks noChangeShapeType="1"/>
              </p:cNvSpPr>
              <p:nvPr/>
            </p:nvSpPr>
            <p:spPr bwMode="auto">
              <a:xfrm>
                <a:off x="1807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515" name="Line 36"/>
              <p:cNvSpPr>
                <a:spLocks noChangeShapeType="1"/>
              </p:cNvSpPr>
              <p:nvPr/>
            </p:nvSpPr>
            <p:spPr bwMode="auto">
              <a:xfrm>
                <a:off x="1807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516" name="Line 37"/>
              <p:cNvSpPr>
                <a:spLocks noChangeShapeType="1"/>
              </p:cNvSpPr>
              <p:nvPr/>
            </p:nvSpPr>
            <p:spPr bwMode="auto">
              <a:xfrm>
                <a:off x="1807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517" name="Line 38"/>
              <p:cNvSpPr>
                <a:spLocks noChangeShapeType="1"/>
              </p:cNvSpPr>
              <p:nvPr/>
            </p:nvSpPr>
            <p:spPr bwMode="auto">
              <a:xfrm>
                <a:off x="2335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518" name="Text Box 39"/>
              <p:cNvSpPr txBox="1">
                <a:spLocks noChangeArrowheads="1"/>
              </p:cNvSpPr>
              <p:nvPr/>
            </p:nvSpPr>
            <p:spPr bwMode="auto">
              <a:xfrm>
                <a:off x="1951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88519" name="Text Box 40"/>
              <p:cNvSpPr txBox="1">
                <a:spLocks noChangeArrowheads="1"/>
              </p:cNvSpPr>
              <p:nvPr/>
            </p:nvSpPr>
            <p:spPr bwMode="auto">
              <a:xfrm>
                <a:off x="1920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  <p:sp>
          <p:nvSpPr>
            <p:cNvPr id="188465" name="Text Box 41"/>
            <p:cNvSpPr txBox="1">
              <a:spLocks noChangeArrowheads="1"/>
            </p:cNvSpPr>
            <p:nvPr/>
          </p:nvSpPr>
          <p:spPr bwMode="auto">
            <a:xfrm>
              <a:off x="3634" y="1010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188466" name="Text Box 42"/>
            <p:cNvSpPr txBox="1">
              <a:spLocks noChangeArrowheads="1"/>
            </p:cNvSpPr>
            <p:nvPr/>
          </p:nvSpPr>
          <p:spPr bwMode="auto">
            <a:xfrm>
              <a:off x="4984" y="1010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3</a:t>
              </a:r>
            </a:p>
          </p:txBody>
        </p:sp>
        <p:grpSp>
          <p:nvGrpSpPr>
            <p:cNvPr id="188467" name="Group 43"/>
            <p:cNvGrpSpPr/>
            <p:nvPr/>
          </p:nvGrpSpPr>
          <p:grpSpPr bwMode="auto">
            <a:xfrm>
              <a:off x="4888" y="1387"/>
              <a:ext cx="577" cy="1636"/>
              <a:chOff x="4271" y="1104"/>
              <a:chExt cx="577" cy="1636"/>
            </a:xfrm>
          </p:grpSpPr>
          <p:sp>
            <p:nvSpPr>
              <p:cNvPr id="188486" name="Rectangle 44"/>
              <p:cNvSpPr>
                <a:spLocks noChangeArrowheads="1"/>
              </p:cNvSpPr>
              <p:nvPr/>
            </p:nvSpPr>
            <p:spPr bwMode="auto">
              <a:xfrm>
                <a:off x="4271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8487" name="Rectangle 45"/>
              <p:cNvSpPr>
                <a:spLocks noChangeArrowheads="1"/>
              </p:cNvSpPr>
              <p:nvPr/>
            </p:nvSpPr>
            <p:spPr bwMode="auto">
              <a:xfrm>
                <a:off x="4271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8488" name="Rectangle 46"/>
              <p:cNvSpPr>
                <a:spLocks noChangeArrowheads="1"/>
              </p:cNvSpPr>
              <p:nvPr/>
            </p:nvSpPr>
            <p:spPr bwMode="auto">
              <a:xfrm>
                <a:off x="4271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8489" name="Rectangle 47"/>
              <p:cNvSpPr>
                <a:spLocks noChangeArrowheads="1"/>
              </p:cNvSpPr>
              <p:nvPr/>
            </p:nvSpPr>
            <p:spPr bwMode="auto">
              <a:xfrm>
                <a:off x="4271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8490" name="Rectangle 48"/>
              <p:cNvSpPr>
                <a:spLocks noChangeArrowheads="1"/>
              </p:cNvSpPr>
              <p:nvPr/>
            </p:nvSpPr>
            <p:spPr bwMode="auto">
              <a:xfrm>
                <a:off x="4271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8491" name="Rectangle 49"/>
              <p:cNvSpPr>
                <a:spLocks noChangeArrowheads="1"/>
              </p:cNvSpPr>
              <p:nvPr/>
            </p:nvSpPr>
            <p:spPr bwMode="auto">
              <a:xfrm>
                <a:off x="4271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8492" name="Line 50"/>
              <p:cNvSpPr>
                <a:spLocks noChangeShapeType="1"/>
              </p:cNvSpPr>
              <p:nvPr/>
            </p:nvSpPr>
            <p:spPr bwMode="auto">
              <a:xfrm>
                <a:off x="4271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493" name="Line 51"/>
              <p:cNvSpPr>
                <a:spLocks noChangeShapeType="1"/>
              </p:cNvSpPr>
              <p:nvPr/>
            </p:nvSpPr>
            <p:spPr bwMode="auto">
              <a:xfrm>
                <a:off x="4271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494" name="Line 52"/>
              <p:cNvSpPr>
                <a:spLocks noChangeShapeType="1"/>
              </p:cNvSpPr>
              <p:nvPr/>
            </p:nvSpPr>
            <p:spPr bwMode="auto">
              <a:xfrm>
                <a:off x="4271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495" name="Line 53"/>
              <p:cNvSpPr>
                <a:spLocks noChangeShapeType="1"/>
              </p:cNvSpPr>
              <p:nvPr/>
            </p:nvSpPr>
            <p:spPr bwMode="auto">
              <a:xfrm>
                <a:off x="4271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496" name="Line 54"/>
              <p:cNvSpPr>
                <a:spLocks noChangeShapeType="1"/>
              </p:cNvSpPr>
              <p:nvPr/>
            </p:nvSpPr>
            <p:spPr bwMode="auto">
              <a:xfrm>
                <a:off x="4271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497" name="Line 55"/>
              <p:cNvSpPr>
                <a:spLocks noChangeShapeType="1"/>
              </p:cNvSpPr>
              <p:nvPr/>
            </p:nvSpPr>
            <p:spPr bwMode="auto">
              <a:xfrm>
                <a:off x="4271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498" name="Line 56"/>
              <p:cNvSpPr>
                <a:spLocks noChangeShapeType="1"/>
              </p:cNvSpPr>
              <p:nvPr/>
            </p:nvSpPr>
            <p:spPr bwMode="auto">
              <a:xfrm>
                <a:off x="4271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499" name="Line 57"/>
              <p:cNvSpPr>
                <a:spLocks noChangeShapeType="1"/>
              </p:cNvSpPr>
              <p:nvPr/>
            </p:nvSpPr>
            <p:spPr bwMode="auto">
              <a:xfrm>
                <a:off x="4271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500" name="Line 58"/>
              <p:cNvSpPr>
                <a:spLocks noChangeShapeType="1"/>
              </p:cNvSpPr>
              <p:nvPr/>
            </p:nvSpPr>
            <p:spPr bwMode="auto">
              <a:xfrm>
                <a:off x="4799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501" name="Text Box 59"/>
              <p:cNvSpPr txBox="1">
                <a:spLocks noChangeArrowheads="1"/>
              </p:cNvSpPr>
              <p:nvPr/>
            </p:nvSpPr>
            <p:spPr bwMode="auto">
              <a:xfrm>
                <a:off x="4425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88502" name="Text Box 60"/>
              <p:cNvSpPr txBox="1">
                <a:spLocks noChangeArrowheads="1"/>
              </p:cNvSpPr>
              <p:nvPr/>
            </p:nvSpPr>
            <p:spPr bwMode="auto">
              <a:xfrm>
                <a:off x="4425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  <p:grpSp>
          <p:nvGrpSpPr>
            <p:cNvPr id="188468" name="Group 61"/>
            <p:cNvGrpSpPr/>
            <p:nvPr/>
          </p:nvGrpSpPr>
          <p:grpSpPr bwMode="auto">
            <a:xfrm>
              <a:off x="3563" y="1387"/>
              <a:ext cx="542" cy="1636"/>
              <a:chOff x="3049" y="1104"/>
              <a:chExt cx="542" cy="1636"/>
            </a:xfrm>
          </p:grpSpPr>
          <p:sp>
            <p:nvSpPr>
              <p:cNvPr id="188469" name="Rectangle 62"/>
              <p:cNvSpPr>
                <a:spLocks noChangeArrowheads="1"/>
              </p:cNvSpPr>
              <p:nvPr/>
            </p:nvSpPr>
            <p:spPr bwMode="auto">
              <a:xfrm>
                <a:off x="3049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8470" name="Rectangle 63"/>
              <p:cNvSpPr>
                <a:spLocks noChangeArrowheads="1"/>
              </p:cNvSpPr>
              <p:nvPr/>
            </p:nvSpPr>
            <p:spPr bwMode="auto">
              <a:xfrm>
                <a:off x="3049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8471" name="Rectangle 64"/>
              <p:cNvSpPr>
                <a:spLocks noChangeArrowheads="1"/>
              </p:cNvSpPr>
              <p:nvPr/>
            </p:nvSpPr>
            <p:spPr bwMode="auto">
              <a:xfrm>
                <a:off x="3049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8472" name="Rectangle 65"/>
              <p:cNvSpPr>
                <a:spLocks noChangeArrowheads="1"/>
              </p:cNvSpPr>
              <p:nvPr/>
            </p:nvSpPr>
            <p:spPr bwMode="auto">
              <a:xfrm>
                <a:off x="3049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8473" name="Rectangle 66"/>
              <p:cNvSpPr>
                <a:spLocks noChangeArrowheads="1"/>
              </p:cNvSpPr>
              <p:nvPr/>
            </p:nvSpPr>
            <p:spPr bwMode="auto">
              <a:xfrm>
                <a:off x="3049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8474" name="Rectangle 67"/>
              <p:cNvSpPr>
                <a:spLocks noChangeArrowheads="1"/>
              </p:cNvSpPr>
              <p:nvPr/>
            </p:nvSpPr>
            <p:spPr bwMode="auto">
              <a:xfrm>
                <a:off x="3049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8475" name="Line 68"/>
              <p:cNvSpPr>
                <a:spLocks noChangeShapeType="1"/>
              </p:cNvSpPr>
              <p:nvPr/>
            </p:nvSpPr>
            <p:spPr bwMode="auto">
              <a:xfrm>
                <a:off x="3049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476" name="Line 69"/>
              <p:cNvSpPr>
                <a:spLocks noChangeShapeType="1"/>
              </p:cNvSpPr>
              <p:nvPr/>
            </p:nvSpPr>
            <p:spPr bwMode="auto">
              <a:xfrm>
                <a:off x="3049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477" name="Line 70"/>
              <p:cNvSpPr>
                <a:spLocks noChangeShapeType="1"/>
              </p:cNvSpPr>
              <p:nvPr/>
            </p:nvSpPr>
            <p:spPr bwMode="auto">
              <a:xfrm>
                <a:off x="3049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478" name="Line 71"/>
              <p:cNvSpPr>
                <a:spLocks noChangeShapeType="1"/>
              </p:cNvSpPr>
              <p:nvPr/>
            </p:nvSpPr>
            <p:spPr bwMode="auto">
              <a:xfrm>
                <a:off x="3049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479" name="Line 72"/>
              <p:cNvSpPr>
                <a:spLocks noChangeShapeType="1"/>
              </p:cNvSpPr>
              <p:nvPr/>
            </p:nvSpPr>
            <p:spPr bwMode="auto">
              <a:xfrm>
                <a:off x="3049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480" name="Line 73"/>
              <p:cNvSpPr>
                <a:spLocks noChangeShapeType="1"/>
              </p:cNvSpPr>
              <p:nvPr/>
            </p:nvSpPr>
            <p:spPr bwMode="auto">
              <a:xfrm>
                <a:off x="3049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481" name="Line 74"/>
              <p:cNvSpPr>
                <a:spLocks noChangeShapeType="1"/>
              </p:cNvSpPr>
              <p:nvPr/>
            </p:nvSpPr>
            <p:spPr bwMode="auto">
              <a:xfrm>
                <a:off x="3049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482" name="Line 75"/>
              <p:cNvSpPr>
                <a:spLocks noChangeShapeType="1"/>
              </p:cNvSpPr>
              <p:nvPr/>
            </p:nvSpPr>
            <p:spPr bwMode="auto">
              <a:xfrm>
                <a:off x="3049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483" name="Line 76"/>
              <p:cNvSpPr>
                <a:spLocks noChangeShapeType="1"/>
              </p:cNvSpPr>
              <p:nvPr/>
            </p:nvSpPr>
            <p:spPr bwMode="auto">
              <a:xfrm>
                <a:off x="3577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8484" name="Text Box 77"/>
              <p:cNvSpPr txBox="1">
                <a:spLocks noChangeArrowheads="1"/>
              </p:cNvSpPr>
              <p:nvPr/>
            </p:nvSpPr>
            <p:spPr bwMode="auto">
              <a:xfrm>
                <a:off x="3154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88485" name="Text Box 78"/>
              <p:cNvSpPr txBox="1">
                <a:spLocks noChangeArrowheads="1"/>
              </p:cNvSpPr>
              <p:nvPr/>
            </p:nvSpPr>
            <p:spPr bwMode="auto">
              <a:xfrm>
                <a:off x="3168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</p:grpSp>
      <p:sp>
        <p:nvSpPr>
          <p:cNvPr id="277583" name="Rectangle 79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grpSp>
        <p:nvGrpSpPr>
          <p:cNvPr id="7" name="Group 80"/>
          <p:cNvGrpSpPr/>
          <p:nvPr/>
        </p:nvGrpSpPr>
        <p:grpSpPr bwMode="auto">
          <a:xfrm>
            <a:off x="3027363" y="5761038"/>
            <a:ext cx="3273425" cy="454025"/>
            <a:chOff x="1907" y="3840"/>
            <a:chExt cx="2062" cy="286"/>
          </a:xfrm>
        </p:grpSpPr>
        <p:grpSp>
          <p:nvGrpSpPr>
            <p:cNvPr id="188455" name="Group 81"/>
            <p:cNvGrpSpPr/>
            <p:nvPr/>
          </p:nvGrpSpPr>
          <p:grpSpPr bwMode="auto">
            <a:xfrm>
              <a:off x="1907" y="3840"/>
              <a:ext cx="2062" cy="286"/>
              <a:chOff x="1488" y="3840"/>
              <a:chExt cx="2062" cy="286"/>
            </a:xfrm>
          </p:grpSpPr>
          <p:sp>
            <p:nvSpPr>
              <p:cNvPr id="188457" name="Rectangle 82"/>
              <p:cNvSpPr>
                <a:spLocks noChangeArrowheads="1"/>
              </p:cNvSpPr>
              <p:nvPr/>
            </p:nvSpPr>
            <p:spPr bwMode="auto">
              <a:xfrm>
                <a:off x="2519" y="3840"/>
                <a:ext cx="1031" cy="28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88458" name="Text Box 83"/>
              <p:cNvSpPr txBox="1">
                <a:spLocks noChangeArrowheads="1"/>
              </p:cNvSpPr>
              <p:nvPr/>
            </p:nvSpPr>
            <p:spPr bwMode="auto">
              <a:xfrm>
                <a:off x="2648" y="3851"/>
                <a:ext cx="5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　</a:t>
                </a: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体号</a:t>
                </a:r>
              </a:p>
            </p:txBody>
          </p:sp>
          <p:sp>
            <p:nvSpPr>
              <p:cNvPr id="188459" name="Rectangle 84"/>
              <p:cNvSpPr>
                <a:spLocks noChangeArrowheads="1"/>
              </p:cNvSpPr>
              <p:nvPr/>
            </p:nvSpPr>
            <p:spPr bwMode="auto">
              <a:xfrm>
                <a:off x="1488" y="3840"/>
                <a:ext cx="1031" cy="28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88460" name="Text Box 85"/>
              <p:cNvSpPr txBox="1">
                <a:spLocks noChangeArrowheads="1"/>
              </p:cNvSpPr>
              <p:nvPr/>
            </p:nvSpPr>
            <p:spPr bwMode="auto">
              <a:xfrm>
                <a:off x="1770" y="3851"/>
                <a:ext cx="11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188456" name="Text Box 86"/>
            <p:cNvSpPr txBox="1">
              <a:spLocks noChangeArrowheads="1"/>
            </p:cNvSpPr>
            <p:nvPr/>
          </p:nvSpPr>
          <p:spPr bwMode="auto">
            <a:xfrm>
              <a:off x="2033" y="3851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体内地址</a:t>
              </a:r>
            </a:p>
          </p:txBody>
        </p:sp>
      </p:grpSp>
      <p:grpSp>
        <p:nvGrpSpPr>
          <p:cNvPr id="9" name="Group 87"/>
          <p:cNvGrpSpPr/>
          <p:nvPr/>
        </p:nvGrpSpPr>
        <p:grpSpPr bwMode="auto">
          <a:xfrm>
            <a:off x="323850" y="1268413"/>
            <a:ext cx="7389813" cy="919162"/>
            <a:chOff x="204" y="1010"/>
            <a:chExt cx="4655" cy="579"/>
          </a:xfrm>
        </p:grpSpPr>
        <p:sp>
          <p:nvSpPr>
            <p:cNvPr id="188449" name="Text Box 88"/>
            <p:cNvSpPr txBox="1">
              <a:spLocks noChangeArrowheads="1"/>
            </p:cNvSpPr>
            <p:nvPr/>
          </p:nvSpPr>
          <p:spPr bwMode="auto">
            <a:xfrm>
              <a:off x="295" y="1010"/>
              <a:ext cx="50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地址</a:t>
              </a:r>
            </a:p>
          </p:txBody>
        </p:sp>
        <p:grpSp>
          <p:nvGrpSpPr>
            <p:cNvPr id="188450" name="Group 89"/>
            <p:cNvGrpSpPr/>
            <p:nvPr/>
          </p:nvGrpSpPr>
          <p:grpSpPr bwMode="auto">
            <a:xfrm>
              <a:off x="204" y="1339"/>
              <a:ext cx="4655" cy="250"/>
              <a:chOff x="204" y="1339"/>
              <a:chExt cx="4655" cy="250"/>
            </a:xfrm>
          </p:grpSpPr>
          <p:sp>
            <p:nvSpPr>
              <p:cNvPr id="188451" name="Text Box 90"/>
              <p:cNvSpPr txBox="1">
                <a:spLocks noChangeArrowheads="1"/>
              </p:cNvSpPr>
              <p:nvPr/>
            </p:nvSpPr>
            <p:spPr bwMode="auto">
              <a:xfrm>
                <a:off x="204" y="1339"/>
                <a:ext cx="66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r>
                  <a:rPr lang="en-US" altLang="zh-CN" sz="2000">
                    <a:latin typeface="Times New Roman" panose="02020603050405020304" pitchFamily="18" charset="0"/>
                  </a:rPr>
                  <a:t>000 </a:t>
                </a:r>
                <a:r>
                  <a:rPr lang="en-US" altLang="zh-CN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00</a:t>
                </a:r>
              </a:p>
            </p:txBody>
          </p:sp>
          <p:sp>
            <p:nvSpPr>
              <p:cNvPr id="188452" name="Text Box 91"/>
              <p:cNvSpPr txBox="1">
                <a:spLocks noChangeArrowheads="1"/>
              </p:cNvSpPr>
              <p:nvPr/>
            </p:nvSpPr>
            <p:spPr bwMode="auto">
              <a:xfrm>
                <a:off x="1581" y="1339"/>
                <a:ext cx="66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r>
                  <a:rPr lang="en-US" altLang="zh-CN" sz="2000">
                    <a:latin typeface="Times New Roman" panose="02020603050405020304" pitchFamily="18" charset="0"/>
                  </a:rPr>
                  <a:t>000 </a:t>
                </a:r>
                <a:r>
                  <a:rPr lang="en-US" altLang="zh-CN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01</a:t>
                </a:r>
              </a:p>
            </p:txBody>
          </p:sp>
          <p:sp>
            <p:nvSpPr>
              <p:cNvPr id="188453" name="Text Box 92"/>
              <p:cNvSpPr txBox="1">
                <a:spLocks noChangeArrowheads="1"/>
              </p:cNvSpPr>
              <p:nvPr/>
            </p:nvSpPr>
            <p:spPr bwMode="auto">
              <a:xfrm>
                <a:off x="2896" y="1339"/>
                <a:ext cx="66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r>
                  <a:rPr lang="en-US" altLang="zh-CN" sz="2000">
                    <a:latin typeface="Times New Roman" panose="02020603050405020304" pitchFamily="18" charset="0"/>
                  </a:rPr>
                  <a:t>000 </a:t>
                </a:r>
                <a:r>
                  <a:rPr lang="en-US" altLang="zh-CN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10</a:t>
                </a:r>
              </a:p>
            </p:txBody>
          </p:sp>
          <p:sp>
            <p:nvSpPr>
              <p:cNvPr id="188454" name="Text Box 93"/>
              <p:cNvSpPr txBox="1">
                <a:spLocks noChangeArrowheads="1"/>
              </p:cNvSpPr>
              <p:nvPr/>
            </p:nvSpPr>
            <p:spPr bwMode="auto">
              <a:xfrm>
                <a:off x="4195" y="1339"/>
                <a:ext cx="66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0</a:t>
                </a:r>
                <a:r>
                  <a:rPr lang="en-US" altLang="zh-CN" sz="2000">
                    <a:latin typeface="Times New Roman" panose="02020603050405020304" pitchFamily="18" charset="0"/>
                  </a:rPr>
                  <a:t>000 </a:t>
                </a:r>
                <a:r>
                  <a:rPr lang="en-US" altLang="zh-CN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11</a:t>
                </a:r>
              </a:p>
            </p:txBody>
          </p:sp>
        </p:grpSp>
      </p:grpSp>
      <p:grpSp>
        <p:nvGrpSpPr>
          <p:cNvPr id="11" name="Group 94"/>
          <p:cNvGrpSpPr/>
          <p:nvPr/>
        </p:nvGrpSpPr>
        <p:grpSpPr bwMode="auto">
          <a:xfrm>
            <a:off x="323850" y="2122488"/>
            <a:ext cx="7389813" cy="396875"/>
            <a:chOff x="204" y="1548"/>
            <a:chExt cx="4655" cy="250"/>
          </a:xfrm>
        </p:grpSpPr>
        <p:sp>
          <p:nvSpPr>
            <p:cNvPr id="188445" name="Text Box 95"/>
            <p:cNvSpPr txBox="1">
              <a:spLocks noChangeArrowheads="1"/>
            </p:cNvSpPr>
            <p:nvPr/>
          </p:nvSpPr>
          <p:spPr bwMode="auto">
            <a:xfrm>
              <a:off x="204" y="1548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0001 </a:t>
              </a: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188446" name="Text Box 96"/>
            <p:cNvSpPr txBox="1">
              <a:spLocks noChangeArrowheads="1"/>
            </p:cNvSpPr>
            <p:nvPr/>
          </p:nvSpPr>
          <p:spPr bwMode="auto">
            <a:xfrm>
              <a:off x="1581" y="1548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0001 </a:t>
              </a: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188447" name="Text Box 97"/>
            <p:cNvSpPr txBox="1">
              <a:spLocks noChangeArrowheads="1"/>
            </p:cNvSpPr>
            <p:nvPr/>
          </p:nvSpPr>
          <p:spPr bwMode="auto">
            <a:xfrm>
              <a:off x="2896" y="1548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0001 </a:t>
              </a: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188448" name="Text Box 98"/>
            <p:cNvSpPr txBox="1">
              <a:spLocks noChangeArrowheads="1"/>
            </p:cNvSpPr>
            <p:nvPr/>
          </p:nvSpPr>
          <p:spPr bwMode="auto">
            <a:xfrm>
              <a:off x="4195" y="1548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0001 </a:t>
              </a: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11</a:t>
              </a:r>
            </a:p>
          </p:txBody>
        </p:sp>
      </p:grpSp>
      <p:grpSp>
        <p:nvGrpSpPr>
          <p:cNvPr id="12" name="Group 99"/>
          <p:cNvGrpSpPr/>
          <p:nvPr/>
        </p:nvGrpSpPr>
        <p:grpSpPr bwMode="auto">
          <a:xfrm>
            <a:off x="250825" y="4137025"/>
            <a:ext cx="7462838" cy="396875"/>
            <a:chOff x="158" y="2817"/>
            <a:chExt cx="4701" cy="250"/>
          </a:xfrm>
        </p:grpSpPr>
        <p:sp>
          <p:nvSpPr>
            <p:cNvPr id="188441" name="Text Box 100"/>
            <p:cNvSpPr txBox="1">
              <a:spLocks noChangeArrowheads="1"/>
            </p:cNvSpPr>
            <p:nvPr/>
          </p:nvSpPr>
          <p:spPr bwMode="auto">
            <a:xfrm>
              <a:off x="158" y="2817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1111 </a:t>
              </a: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188442" name="Text Box 101"/>
            <p:cNvSpPr txBox="1">
              <a:spLocks noChangeArrowheads="1"/>
            </p:cNvSpPr>
            <p:nvPr/>
          </p:nvSpPr>
          <p:spPr bwMode="auto">
            <a:xfrm>
              <a:off x="1581" y="2817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1111 </a:t>
              </a: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188443" name="Text Box 102"/>
            <p:cNvSpPr txBox="1">
              <a:spLocks noChangeArrowheads="1"/>
            </p:cNvSpPr>
            <p:nvPr/>
          </p:nvSpPr>
          <p:spPr bwMode="auto">
            <a:xfrm>
              <a:off x="2896" y="2817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1111 </a:t>
              </a: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188444" name="Text Box 103"/>
            <p:cNvSpPr txBox="1">
              <a:spLocks noChangeArrowheads="1"/>
            </p:cNvSpPr>
            <p:nvPr/>
          </p:nvSpPr>
          <p:spPr bwMode="auto">
            <a:xfrm>
              <a:off x="4195" y="2817"/>
              <a:ext cx="6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1111 </a:t>
              </a:r>
              <a:r>
                <a:rPr lang="en-US" altLang="zh-CN" sz="20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11</a:t>
              </a:r>
            </a:p>
          </p:txBody>
        </p:sp>
      </p:grpSp>
      <p:grpSp>
        <p:nvGrpSpPr>
          <p:cNvPr id="13" name="Group 104"/>
          <p:cNvGrpSpPr/>
          <p:nvPr/>
        </p:nvGrpSpPr>
        <p:grpSpPr bwMode="auto">
          <a:xfrm>
            <a:off x="1042988" y="4591050"/>
            <a:ext cx="6408737" cy="447675"/>
            <a:chOff x="283" y="3103"/>
            <a:chExt cx="4037" cy="282"/>
          </a:xfrm>
        </p:grpSpPr>
        <p:sp>
          <p:nvSpPr>
            <p:cNvPr id="188436" name="Line 105"/>
            <p:cNvSpPr>
              <a:spLocks noChangeShapeType="1"/>
            </p:cNvSpPr>
            <p:nvPr/>
          </p:nvSpPr>
          <p:spPr bwMode="auto">
            <a:xfrm>
              <a:off x="283" y="3385"/>
              <a:ext cx="4037" cy="0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8437" name="Line 106"/>
            <p:cNvSpPr>
              <a:spLocks noChangeShapeType="1"/>
            </p:cNvSpPr>
            <p:nvPr/>
          </p:nvSpPr>
          <p:spPr bwMode="auto">
            <a:xfrm>
              <a:off x="295" y="3113"/>
              <a:ext cx="0" cy="272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8438" name="Line 107"/>
            <p:cNvSpPr>
              <a:spLocks noChangeShapeType="1"/>
            </p:cNvSpPr>
            <p:nvPr/>
          </p:nvSpPr>
          <p:spPr bwMode="auto">
            <a:xfrm>
              <a:off x="1701" y="3103"/>
              <a:ext cx="0" cy="272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8439" name="Line 108"/>
            <p:cNvSpPr>
              <a:spLocks noChangeShapeType="1"/>
            </p:cNvSpPr>
            <p:nvPr/>
          </p:nvSpPr>
          <p:spPr bwMode="auto">
            <a:xfrm>
              <a:off x="3016" y="3113"/>
              <a:ext cx="0" cy="272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8440" name="Line 109"/>
            <p:cNvSpPr>
              <a:spLocks noChangeShapeType="1"/>
            </p:cNvSpPr>
            <p:nvPr/>
          </p:nvSpPr>
          <p:spPr bwMode="auto">
            <a:xfrm>
              <a:off x="4298" y="3113"/>
              <a:ext cx="0" cy="272"/>
            </a:xfrm>
            <a:prstGeom prst="line">
              <a:avLst/>
            </a:prstGeom>
            <a:noFill/>
            <a:ln w="57150">
              <a:solidFill>
                <a:schemeClr val="folHlink"/>
              </a:solidFill>
              <a:round/>
              <a:head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77614" name="Line 110"/>
          <p:cNvSpPr>
            <a:spLocks noChangeShapeType="1"/>
          </p:cNvSpPr>
          <p:nvPr/>
        </p:nvSpPr>
        <p:spPr bwMode="auto">
          <a:xfrm>
            <a:off x="5459413" y="5038725"/>
            <a:ext cx="0" cy="719138"/>
          </a:xfrm>
          <a:prstGeom prst="line">
            <a:avLst/>
          </a:prstGeom>
          <a:noFill/>
          <a:ln w="57150">
            <a:solidFill>
              <a:schemeClr val="folHlink"/>
            </a:solidFill>
            <a:round/>
            <a:head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4" name="Group 111"/>
          <p:cNvGrpSpPr/>
          <p:nvPr/>
        </p:nvGrpSpPr>
        <p:grpSpPr bwMode="auto">
          <a:xfrm>
            <a:off x="611188" y="4606925"/>
            <a:ext cx="6424612" cy="719138"/>
            <a:chOff x="552" y="3113"/>
            <a:chExt cx="4047" cy="453"/>
          </a:xfrm>
        </p:grpSpPr>
        <p:sp>
          <p:nvSpPr>
            <p:cNvPr id="188431" name="Line 112"/>
            <p:cNvSpPr>
              <a:spLocks noChangeShapeType="1"/>
            </p:cNvSpPr>
            <p:nvPr/>
          </p:nvSpPr>
          <p:spPr bwMode="auto">
            <a:xfrm>
              <a:off x="552" y="3566"/>
              <a:ext cx="4047" cy="0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8432" name="Line 113"/>
            <p:cNvSpPr>
              <a:spLocks noChangeShapeType="1"/>
            </p:cNvSpPr>
            <p:nvPr/>
          </p:nvSpPr>
          <p:spPr bwMode="auto">
            <a:xfrm>
              <a:off x="567" y="3113"/>
              <a:ext cx="0" cy="45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8433" name="Line 114"/>
            <p:cNvSpPr>
              <a:spLocks noChangeShapeType="1"/>
            </p:cNvSpPr>
            <p:nvPr/>
          </p:nvSpPr>
          <p:spPr bwMode="auto">
            <a:xfrm>
              <a:off x="1973" y="3113"/>
              <a:ext cx="0" cy="45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8434" name="Line 115"/>
            <p:cNvSpPr>
              <a:spLocks noChangeShapeType="1"/>
            </p:cNvSpPr>
            <p:nvPr/>
          </p:nvSpPr>
          <p:spPr bwMode="auto">
            <a:xfrm>
              <a:off x="3288" y="3113"/>
              <a:ext cx="0" cy="45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8435" name="Line 116"/>
            <p:cNvSpPr>
              <a:spLocks noChangeShapeType="1"/>
            </p:cNvSpPr>
            <p:nvPr/>
          </p:nvSpPr>
          <p:spPr bwMode="auto">
            <a:xfrm>
              <a:off x="4582" y="3113"/>
              <a:ext cx="0" cy="453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77621" name="Line 117"/>
          <p:cNvSpPr>
            <a:spLocks noChangeShapeType="1"/>
          </p:cNvSpPr>
          <p:nvPr/>
        </p:nvSpPr>
        <p:spPr bwMode="auto">
          <a:xfrm>
            <a:off x="3851275" y="5326063"/>
            <a:ext cx="0" cy="43180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188428" name="Text Box 118"/>
          <p:cNvSpPr txBox="1">
            <a:spLocks noChangeArrowheads="1"/>
          </p:cNvSpPr>
          <p:nvPr/>
        </p:nvSpPr>
        <p:spPr bwMode="auto">
          <a:xfrm>
            <a:off x="393700" y="260350"/>
            <a:ext cx="59055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</a:t>
            </a:r>
            <a:r>
              <a:rPr lang="en-US" altLang="zh-CN" sz="3200">
                <a:latin typeface="Times New Roman" panose="02020603050405020304" pitchFamily="18" charset="0"/>
              </a:rPr>
              <a:t>2) </a:t>
            </a:r>
            <a:r>
              <a:rPr lang="zh-CN" altLang="en-US" sz="3200">
                <a:latin typeface="Times New Roman" panose="02020603050405020304" pitchFamily="18" charset="0"/>
              </a:rPr>
              <a:t>低位交叉</a:t>
            </a:r>
          </a:p>
        </p:txBody>
      </p:sp>
      <p:sp>
        <p:nvSpPr>
          <p:cNvPr id="277623" name="Text Box 119"/>
          <p:cNvSpPr txBox="1">
            <a:spLocks noChangeArrowheads="1"/>
          </p:cNvSpPr>
          <p:nvPr/>
        </p:nvSpPr>
        <p:spPr bwMode="auto">
          <a:xfrm>
            <a:off x="3275013" y="260350"/>
            <a:ext cx="59055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各个体轮流编址</a:t>
            </a:r>
          </a:p>
        </p:txBody>
      </p:sp>
      <p:sp>
        <p:nvSpPr>
          <p:cNvPr id="188430" name="AutoShape 120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77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7" dur="500"/>
                                        <p:tgtEl>
                                          <p:spTgt spid="2776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4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46" dur="500"/>
                                        <p:tgtEl>
                                          <p:spTgt spid="2776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"/>
                            </p:stCondLst>
                            <p:childTnLst>
                              <p:par>
                                <p:cTn id="48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7614" grpId="0" animBg="1"/>
      <p:bldP spid="277621" grpId="0" animBg="1"/>
      <p:bldP spid="277623" grpId="0" autoUpdateAnimBg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530" name="Rectangle 2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grpSp>
        <p:nvGrpSpPr>
          <p:cNvPr id="2" name="Group 3"/>
          <p:cNvGrpSpPr/>
          <p:nvPr/>
        </p:nvGrpSpPr>
        <p:grpSpPr bwMode="auto">
          <a:xfrm>
            <a:off x="533400" y="1411288"/>
            <a:ext cx="7543800" cy="5330825"/>
            <a:chOff x="336" y="816"/>
            <a:chExt cx="4752" cy="3358"/>
          </a:xfrm>
        </p:grpSpPr>
        <p:sp>
          <p:nvSpPr>
            <p:cNvPr id="189454" name="Text Box 4"/>
            <p:cNvSpPr txBox="1">
              <a:spLocks noChangeArrowheads="1"/>
            </p:cNvSpPr>
            <p:nvPr/>
          </p:nvSpPr>
          <p:spPr bwMode="auto">
            <a:xfrm>
              <a:off x="960" y="816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89455" name="Text Box 5"/>
            <p:cNvSpPr txBox="1">
              <a:spLocks noChangeArrowheads="1"/>
            </p:cNvSpPr>
            <p:nvPr/>
          </p:nvSpPr>
          <p:spPr bwMode="auto">
            <a:xfrm>
              <a:off x="384" y="816"/>
              <a:ext cx="50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地址</a:t>
              </a:r>
            </a:p>
          </p:txBody>
        </p:sp>
        <p:sp>
          <p:nvSpPr>
            <p:cNvPr id="189456" name="Text Box 6"/>
            <p:cNvSpPr txBox="1">
              <a:spLocks noChangeArrowheads="1"/>
            </p:cNvSpPr>
            <p:nvPr/>
          </p:nvSpPr>
          <p:spPr bwMode="auto">
            <a:xfrm>
              <a:off x="624" y="1087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89457" name="Text Box 7"/>
            <p:cNvSpPr txBox="1">
              <a:spLocks noChangeArrowheads="1"/>
            </p:cNvSpPr>
            <p:nvPr/>
          </p:nvSpPr>
          <p:spPr bwMode="auto">
            <a:xfrm>
              <a:off x="624" y="133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4</a:t>
              </a:r>
            </a:p>
          </p:txBody>
        </p:sp>
        <p:grpSp>
          <p:nvGrpSpPr>
            <p:cNvPr id="189458" name="Group 8"/>
            <p:cNvGrpSpPr/>
            <p:nvPr/>
          </p:nvGrpSpPr>
          <p:grpSpPr bwMode="auto">
            <a:xfrm>
              <a:off x="864" y="1104"/>
              <a:ext cx="567" cy="1636"/>
              <a:chOff x="624" y="1104"/>
              <a:chExt cx="567" cy="1636"/>
            </a:xfrm>
          </p:grpSpPr>
          <p:sp>
            <p:nvSpPr>
              <p:cNvPr id="189545" name="Rectangle 9"/>
              <p:cNvSpPr>
                <a:spLocks noChangeArrowheads="1"/>
              </p:cNvSpPr>
              <p:nvPr/>
            </p:nvSpPr>
            <p:spPr bwMode="auto">
              <a:xfrm>
                <a:off x="624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9546" name="Rectangle 10"/>
              <p:cNvSpPr>
                <a:spLocks noChangeArrowheads="1"/>
              </p:cNvSpPr>
              <p:nvPr/>
            </p:nvSpPr>
            <p:spPr bwMode="auto">
              <a:xfrm>
                <a:off x="624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9547" name="Rectangle 11"/>
              <p:cNvSpPr>
                <a:spLocks noChangeArrowheads="1"/>
              </p:cNvSpPr>
              <p:nvPr/>
            </p:nvSpPr>
            <p:spPr bwMode="auto">
              <a:xfrm>
                <a:off x="624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9548" name="Rectangle 12"/>
              <p:cNvSpPr>
                <a:spLocks noChangeArrowheads="1"/>
              </p:cNvSpPr>
              <p:nvPr/>
            </p:nvSpPr>
            <p:spPr bwMode="auto">
              <a:xfrm>
                <a:off x="624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9549" name="Rectangle 13"/>
              <p:cNvSpPr>
                <a:spLocks noChangeArrowheads="1"/>
              </p:cNvSpPr>
              <p:nvPr/>
            </p:nvSpPr>
            <p:spPr bwMode="auto">
              <a:xfrm>
                <a:off x="624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9550" name="Rectangle 14"/>
              <p:cNvSpPr>
                <a:spLocks noChangeArrowheads="1"/>
              </p:cNvSpPr>
              <p:nvPr/>
            </p:nvSpPr>
            <p:spPr bwMode="auto">
              <a:xfrm>
                <a:off x="624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9551" name="Line 15"/>
              <p:cNvSpPr>
                <a:spLocks noChangeShapeType="1"/>
              </p:cNvSpPr>
              <p:nvPr/>
            </p:nvSpPr>
            <p:spPr bwMode="auto">
              <a:xfrm>
                <a:off x="624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52" name="Line 16"/>
              <p:cNvSpPr>
                <a:spLocks noChangeShapeType="1"/>
              </p:cNvSpPr>
              <p:nvPr/>
            </p:nvSpPr>
            <p:spPr bwMode="auto">
              <a:xfrm>
                <a:off x="624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53" name="Line 17"/>
              <p:cNvSpPr>
                <a:spLocks noChangeShapeType="1"/>
              </p:cNvSpPr>
              <p:nvPr/>
            </p:nvSpPr>
            <p:spPr bwMode="auto">
              <a:xfrm>
                <a:off x="624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54" name="Line 18"/>
              <p:cNvSpPr>
                <a:spLocks noChangeShapeType="1"/>
              </p:cNvSpPr>
              <p:nvPr/>
            </p:nvSpPr>
            <p:spPr bwMode="auto">
              <a:xfrm>
                <a:off x="624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55" name="Line 19"/>
              <p:cNvSpPr>
                <a:spLocks noChangeShapeType="1"/>
              </p:cNvSpPr>
              <p:nvPr/>
            </p:nvSpPr>
            <p:spPr bwMode="auto">
              <a:xfrm>
                <a:off x="624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56" name="Line 20"/>
              <p:cNvSpPr>
                <a:spLocks noChangeShapeType="1"/>
              </p:cNvSpPr>
              <p:nvPr/>
            </p:nvSpPr>
            <p:spPr bwMode="auto">
              <a:xfrm>
                <a:off x="624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57" name="Line 21"/>
              <p:cNvSpPr>
                <a:spLocks noChangeShapeType="1"/>
              </p:cNvSpPr>
              <p:nvPr/>
            </p:nvSpPr>
            <p:spPr bwMode="auto">
              <a:xfrm>
                <a:off x="624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58" name="Line 22"/>
              <p:cNvSpPr>
                <a:spLocks noChangeShapeType="1"/>
              </p:cNvSpPr>
              <p:nvPr/>
            </p:nvSpPr>
            <p:spPr bwMode="auto">
              <a:xfrm>
                <a:off x="624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59" name="Line 23"/>
              <p:cNvSpPr>
                <a:spLocks noChangeShapeType="1"/>
              </p:cNvSpPr>
              <p:nvPr/>
            </p:nvSpPr>
            <p:spPr bwMode="auto">
              <a:xfrm>
                <a:off x="1152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60" name="Text Box 24"/>
              <p:cNvSpPr txBox="1">
                <a:spLocks noChangeArrowheads="1"/>
              </p:cNvSpPr>
              <p:nvPr/>
            </p:nvSpPr>
            <p:spPr bwMode="auto">
              <a:xfrm>
                <a:off x="768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89561" name="Text Box 25"/>
              <p:cNvSpPr txBox="1">
                <a:spLocks noChangeArrowheads="1"/>
              </p:cNvSpPr>
              <p:nvPr/>
            </p:nvSpPr>
            <p:spPr bwMode="auto">
              <a:xfrm>
                <a:off x="768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  <p:sp>
          <p:nvSpPr>
            <p:cNvPr id="189459" name="Text Box 26"/>
            <p:cNvSpPr txBox="1">
              <a:spLocks noChangeArrowheads="1"/>
            </p:cNvSpPr>
            <p:nvPr/>
          </p:nvSpPr>
          <p:spPr bwMode="auto">
            <a:xfrm>
              <a:off x="372" y="2496"/>
              <a:ext cx="5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4</a:t>
              </a:r>
              <a:r>
                <a:rPr lang="en-US" altLang="zh-CN" sz="2400" i="1">
                  <a:latin typeface="Times New Roman" panose="02020603050405020304" pitchFamily="18" charset="0"/>
                </a:rPr>
                <a:t>n</a:t>
              </a:r>
              <a:r>
                <a:rPr lang="en-US" altLang="zh-CN" sz="1800">
                  <a:latin typeface="Times New Roman" panose="02020603050405020304" pitchFamily="18" charset="0"/>
                </a:rPr>
                <a:t>－</a:t>
              </a:r>
              <a:r>
                <a:rPr lang="en-US" altLang="zh-CN" sz="2000">
                  <a:latin typeface="Times New Roman" panose="02020603050405020304" pitchFamily="18" charset="0"/>
                </a:rPr>
                <a:t>4</a:t>
              </a:r>
            </a:p>
          </p:txBody>
        </p:sp>
        <p:sp>
          <p:nvSpPr>
            <p:cNvPr id="189460" name="Text Box 27"/>
            <p:cNvSpPr txBox="1">
              <a:spLocks noChangeArrowheads="1"/>
            </p:cNvSpPr>
            <p:nvPr/>
          </p:nvSpPr>
          <p:spPr bwMode="auto">
            <a:xfrm>
              <a:off x="2121" y="816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89461" name="Text Box 28"/>
            <p:cNvSpPr txBox="1">
              <a:spLocks noChangeArrowheads="1"/>
            </p:cNvSpPr>
            <p:nvPr/>
          </p:nvSpPr>
          <p:spPr bwMode="auto">
            <a:xfrm>
              <a:off x="1824" y="1087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89462" name="Text Box 29"/>
            <p:cNvSpPr txBox="1">
              <a:spLocks noChangeArrowheads="1"/>
            </p:cNvSpPr>
            <p:nvPr/>
          </p:nvSpPr>
          <p:spPr bwMode="auto">
            <a:xfrm>
              <a:off x="1824" y="1296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5</a:t>
              </a:r>
            </a:p>
          </p:txBody>
        </p:sp>
        <p:grpSp>
          <p:nvGrpSpPr>
            <p:cNvPr id="189463" name="Group 30"/>
            <p:cNvGrpSpPr/>
            <p:nvPr/>
          </p:nvGrpSpPr>
          <p:grpSpPr bwMode="auto">
            <a:xfrm>
              <a:off x="2047" y="1104"/>
              <a:ext cx="567" cy="1636"/>
              <a:chOff x="1807" y="1104"/>
              <a:chExt cx="567" cy="1636"/>
            </a:xfrm>
          </p:grpSpPr>
          <p:sp>
            <p:nvSpPr>
              <p:cNvPr id="189528" name="Rectangle 31"/>
              <p:cNvSpPr>
                <a:spLocks noChangeArrowheads="1"/>
              </p:cNvSpPr>
              <p:nvPr/>
            </p:nvSpPr>
            <p:spPr bwMode="auto">
              <a:xfrm>
                <a:off x="1807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9529" name="Rectangle 32"/>
              <p:cNvSpPr>
                <a:spLocks noChangeArrowheads="1"/>
              </p:cNvSpPr>
              <p:nvPr/>
            </p:nvSpPr>
            <p:spPr bwMode="auto">
              <a:xfrm>
                <a:off x="1807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9530" name="Rectangle 33"/>
              <p:cNvSpPr>
                <a:spLocks noChangeArrowheads="1"/>
              </p:cNvSpPr>
              <p:nvPr/>
            </p:nvSpPr>
            <p:spPr bwMode="auto">
              <a:xfrm>
                <a:off x="1807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9531" name="Rectangle 34"/>
              <p:cNvSpPr>
                <a:spLocks noChangeArrowheads="1"/>
              </p:cNvSpPr>
              <p:nvPr/>
            </p:nvSpPr>
            <p:spPr bwMode="auto">
              <a:xfrm>
                <a:off x="1807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9532" name="Rectangle 35"/>
              <p:cNvSpPr>
                <a:spLocks noChangeArrowheads="1"/>
              </p:cNvSpPr>
              <p:nvPr/>
            </p:nvSpPr>
            <p:spPr bwMode="auto">
              <a:xfrm>
                <a:off x="1807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9533" name="Rectangle 36"/>
              <p:cNvSpPr>
                <a:spLocks noChangeArrowheads="1"/>
              </p:cNvSpPr>
              <p:nvPr/>
            </p:nvSpPr>
            <p:spPr bwMode="auto">
              <a:xfrm>
                <a:off x="1807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9534" name="Line 37"/>
              <p:cNvSpPr>
                <a:spLocks noChangeShapeType="1"/>
              </p:cNvSpPr>
              <p:nvPr/>
            </p:nvSpPr>
            <p:spPr bwMode="auto">
              <a:xfrm>
                <a:off x="1807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35" name="Line 38"/>
              <p:cNvSpPr>
                <a:spLocks noChangeShapeType="1"/>
              </p:cNvSpPr>
              <p:nvPr/>
            </p:nvSpPr>
            <p:spPr bwMode="auto">
              <a:xfrm>
                <a:off x="1807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36" name="Line 39"/>
              <p:cNvSpPr>
                <a:spLocks noChangeShapeType="1"/>
              </p:cNvSpPr>
              <p:nvPr/>
            </p:nvSpPr>
            <p:spPr bwMode="auto">
              <a:xfrm>
                <a:off x="1807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37" name="Line 40"/>
              <p:cNvSpPr>
                <a:spLocks noChangeShapeType="1"/>
              </p:cNvSpPr>
              <p:nvPr/>
            </p:nvSpPr>
            <p:spPr bwMode="auto">
              <a:xfrm>
                <a:off x="1807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38" name="Line 41"/>
              <p:cNvSpPr>
                <a:spLocks noChangeShapeType="1"/>
              </p:cNvSpPr>
              <p:nvPr/>
            </p:nvSpPr>
            <p:spPr bwMode="auto">
              <a:xfrm>
                <a:off x="1807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39" name="Line 42"/>
              <p:cNvSpPr>
                <a:spLocks noChangeShapeType="1"/>
              </p:cNvSpPr>
              <p:nvPr/>
            </p:nvSpPr>
            <p:spPr bwMode="auto">
              <a:xfrm>
                <a:off x="1807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40" name="Line 43"/>
              <p:cNvSpPr>
                <a:spLocks noChangeShapeType="1"/>
              </p:cNvSpPr>
              <p:nvPr/>
            </p:nvSpPr>
            <p:spPr bwMode="auto">
              <a:xfrm>
                <a:off x="1807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41" name="Line 44"/>
              <p:cNvSpPr>
                <a:spLocks noChangeShapeType="1"/>
              </p:cNvSpPr>
              <p:nvPr/>
            </p:nvSpPr>
            <p:spPr bwMode="auto">
              <a:xfrm>
                <a:off x="1807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42" name="Line 45"/>
              <p:cNvSpPr>
                <a:spLocks noChangeShapeType="1"/>
              </p:cNvSpPr>
              <p:nvPr/>
            </p:nvSpPr>
            <p:spPr bwMode="auto">
              <a:xfrm>
                <a:off x="2335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43" name="Text Box 46"/>
              <p:cNvSpPr txBox="1">
                <a:spLocks noChangeArrowheads="1"/>
              </p:cNvSpPr>
              <p:nvPr/>
            </p:nvSpPr>
            <p:spPr bwMode="auto">
              <a:xfrm>
                <a:off x="1951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89544" name="Text Box 47"/>
              <p:cNvSpPr txBox="1">
                <a:spLocks noChangeArrowheads="1"/>
              </p:cNvSpPr>
              <p:nvPr/>
            </p:nvSpPr>
            <p:spPr bwMode="auto">
              <a:xfrm>
                <a:off x="1920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  <p:sp>
          <p:nvSpPr>
            <p:cNvPr id="189464" name="Text Box 48"/>
            <p:cNvSpPr txBox="1">
              <a:spLocks noChangeArrowheads="1"/>
            </p:cNvSpPr>
            <p:nvPr/>
          </p:nvSpPr>
          <p:spPr bwMode="auto">
            <a:xfrm>
              <a:off x="1546" y="2496"/>
              <a:ext cx="5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4</a:t>
              </a:r>
              <a:r>
                <a:rPr lang="en-US" altLang="zh-CN" sz="2400" i="1">
                  <a:latin typeface="Times New Roman" panose="02020603050405020304" pitchFamily="18" charset="0"/>
                </a:rPr>
                <a:t>n</a:t>
              </a:r>
              <a:r>
                <a:rPr lang="en-US" altLang="zh-CN" sz="1800">
                  <a:latin typeface="Times New Roman" panose="02020603050405020304" pitchFamily="18" charset="0"/>
                </a:rPr>
                <a:t>－</a:t>
              </a:r>
              <a:r>
                <a:rPr lang="en-US" altLang="zh-CN" sz="2000">
                  <a:latin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189465" name="Text Box 49"/>
            <p:cNvSpPr txBox="1">
              <a:spLocks noChangeArrowheads="1"/>
            </p:cNvSpPr>
            <p:nvPr/>
          </p:nvSpPr>
          <p:spPr bwMode="auto">
            <a:xfrm>
              <a:off x="3360" y="816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189466" name="Text Box 50"/>
            <p:cNvSpPr txBox="1">
              <a:spLocks noChangeArrowheads="1"/>
            </p:cNvSpPr>
            <p:nvPr/>
          </p:nvSpPr>
          <p:spPr bwMode="auto">
            <a:xfrm>
              <a:off x="3020" y="1087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2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189467" name="Text Box 51"/>
            <p:cNvSpPr txBox="1">
              <a:spLocks noChangeArrowheads="1"/>
            </p:cNvSpPr>
            <p:nvPr/>
          </p:nvSpPr>
          <p:spPr bwMode="auto">
            <a:xfrm>
              <a:off x="3020" y="1296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6</a:t>
              </a:r>
            </a:p>
          </p:txBody>
        </p:sp>
        <p:sp>
          <p:nvSpPr>
            <p:cNvPr id="189468" name="Text Box 52"/>
            <p:cNvSpPr txBox="1">
              <a:spLocks noChangeArrowheads="1"/>
            </p:cNvSpPr>
            <p:nvPr/>
          </p:nvSpPr>
          <p:spPr bwMode="auto">
            <a:xfrm>
              <a:off x="2785" y="2496"/>
              <a:ext cx="5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4</a:t>
              </a:r>
              <a:r>
                <a:rPr lang="en-US" altLang="zh-CN" sz="2400" i="1">
                  <a:latin typeface="Times New Roman" panose="02020603050405020304" pitchFamily="18" charset="0"/>
                </a:rPr>
                <a:t>n</a:t>
              </a:r>
              <a:r>
                <a:rPr lang="en-US" altLang="zh-CN" sz="1800">
                  <a:latin typeface="Times New Roman" panose="02020603050405020304" pitchFamily="18" charset="0"/>
                </a:rPr>
                <a:t>－</a:t>
              </a:r>
              <a:r>
                <a:rPr lang="en-US" altLang="zh-CN" sz="2000">
                  <a:latin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189469" name="Text Box 53"/>
            <p:cNvSpPr txBox="1">
              <a:spLocks noChangeArrowheads="1"/>
            </p:cNvSpPr>
            <p:nvPr/>
          </p:nvSpPr>
          <p:spPr bwMode="auto">
            <a:xfrm>
              <a:off x="4607" y="816"/>
              <a:ext cx="36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M</a:t>
              </a:r>
              <a:r>
                <a:rPr lang="en-US" altLang="zh-CN" sz="2400" baseline="-20000">
                  <a:latin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189470" name="Text Box 54"/>
            <p:cNvSpPr txBox="1">
              <a:spLocks noChangeArrowheads="1"/>
            </p:cNvSpPr>
            <p:nvPr/>
          </p:nvSpPr>
          <p:spPr bwMode="auto">
            <a:xfrm>
              <a:off x="4268" y="1087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3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189471" name="Text Box 55"/>
            <p:cNvSpPr txBox="1">
              <a:spLocks noChangeArrowheads="1"/>
            </p:cNvSpPr>
            <p:nvPr/>
          </p:nvSpPr>
          <p:spPr bwMode="auto">
            <a:xfrm>
              <a:off x="4268" y="1296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7</a:t>
              </a:r>
            </a:p>
          </p:txBody>
        </p:sp>
        <p:sp>
          <p:nvSpPr>
            <p:cNvPr id="189472" name="Text Box 56"/>
            <p:cNvSpPr txBox="1">
              <a:spLocks noChangeArrowheads="1"/>
            </p:cNvSpPr>
            <p:nvPr/>
          </p:nvSpPr>
          <p:spPr bwMode="auto">
            <a:xfrm>
              <a:off x="3984" y="2496"/>
              <a:ext cx="5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4</a:t>
              </a:r>
              <a:r>
                <a:rPr lang="en-US" altLang="zh-CN" sz="2400" i="1">
                  <a:latin typeface="Times New Roman" panose="02020603050405020304" pitchFamily="18" charset="0"/>
                </a:rPr>
                <a:t>n</a:t>
              </a:r>
              <a:r>
                <a:rPr lang="en-US" altLang="zh-CN" sz="1800">
                  <a:latin typeface="Times New Roman" panose="02020603050405020304" pitchFamily="18" charset="0"/>
                </a:rPr>
                <a:t>－</a:t>
              </a:r>
              <a:r>
                <a:rPr lang="en-US" altLang="zh-CN" sz="2000">
                  <a:latin typeface="Times New Roman" panose="02020603050405020304" pitchFamily="18" charset="0"/>
                </a:rPr>
                <a:t>1</a:t>
              </a:r>
            </a:p>
          </p:txBody>
        </p:sp>
        <p:grpSp>
          <p:nvGrpSpPr>
            <p:cNvPr id="189473" name="Group 57"/>
            <p:cNvGrpSpPr/>
            <p:nvPr/>
          </p:nvGrpSpPr>
          <p:grpSpPr bwMode="auto">
            <a:xfrm>
              <a:off x="4511" y="1104"/>
              <a:ext cx="577" cy="1636"/>
              <a:chOff x="4271" y="1104"/>
              <a:chExt cx="577" cy="1636"/>
            </a:xfrm>
          </p:grpSpPr>
          <p:sp>
            <p:nvSpPr>
              <p:cNvPr id="189511" name="Rectangle 58"/>
              <p:cNvSpPr>
                <a:spLocks noChangeArrowheads="1"/>
              </p:cNvSpPr>
              <p:nvPr/>
            </p:nvSpPr>
            <p:spPr bwMode="auto">
              <a:xfrm>
                <a:off x="4271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9512" name="Rectangle 59"/>
              <p:cNvSpPr>
                <a:spLocks noChangeArrowheads="1"/>
              </p:cNvSpPr>
              <p:nvPr/>
            </p:nvSpPr>
            <p:spPr bwMode="auto">
              <a:xfrm>
                <a:off x="4271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9513" name="Rectangle 60"/>
              <p:cNvSpPr>
                <a:spLocks noChangeArrowheads="1"/>
              </p:cNvSpPr>
              <p:nvPr/>
            </p:nvSpPr>
            <p:spPr bwMode="auto">
              <a:xfrm>
                <a:off x="4271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9514" name="Rectangle 61"/>
              <p:cNvSpPr>
                <a:spLocks noChangeArrowheads="1"/>
              </p:cNvSpPr>
              <p:nvPr/>
            </p:nvSpPr>
            <p:spPr bwMode="auto">
              <a:xfrm>
                <a:off x="4271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9515" name="Rectangle 62"/>
              <p:cNvSpPr>
                <a:spLocks noChangeArrowheads="1"/>
              </p:cNvSpPr>
              <p:nvPr/>
            </p:nvSpPr>
            <p:spPr bwMode="auto">
              <a:xfrm>
                <a:off x="4271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9516" name="Rectangle 63"/>
              <p:cNvSpPr>
                <a:spLocks noChangeArrowheads="1"/>
              </p:cNvSpPr>
              <p:nvPr/>
            </p:nvSpPr>
            <p:spPr bwMode="auto">
              <a:xfrm>
                <a:off x="4271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9517" name="Line 64"/>
              <p:cNvSpPr>
                <a:spLocks noChangeShapeType="1"/>
              </p:cNvSpPr>
              <p:nvPr/>
            </p:nvSpPr>
            <p:spPr bwMode="auto">
              <a:xfrm>
                <a:off x="4271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18" name="Line 65"/>
              <p:cNvSpPr>
                <a:spLocks noChangeShapeType="1"/>
              </p:cNvSpPr>
              <p:nvPr/>
            </p:nvSpPr>
            <p:spPr bwMode="auto">
              <a:xfrm>
                <a:off x="4271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19" name="Line 66"/>
              <p:cNvSpPr>
                <a:spLocks noChangeShapeType="1"/>
              </p:cNvSpPr>
              <p:nvPr/>
            </p:nvSpPr>
            <p:spPr bwMode="auto">
              <a:xfrm>
                <a:off x="4271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20" name="Line 67"/>
              <p:cNvSpPr>
                <a:spLocks noChangeShapeType="1"/>
              </p:cNvSpPr>
              <p:nvPr/>
            </p:nvSpPr>
            <p:spPr bwMode="auto">
              <a:xfrm>
                <a:off x="4271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21" name="Line 68"/>
              <p:cNvSpPr>
                <a:spLocks noChangeShapeType="1"/>
              </p:cNvSpPr>
              <p:nvPr/>
            </p:nvSpPr>
            <p:spPr bwMode="auto">
              <a:xfrm>
                <a:off x="4271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22" name="Line 69"/>
              <p:cNvSpPr>
                <a:spLocks noChangeShapeType="1"/>
              </p:cNvSpPr>
              <p:nvPr/>
            </p:nvSpPr>
            <p:spPr bwMode="auto">
              <a:xfrm>
                <a:off x="4271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23" name="Line 70"/>
              <p:cNvSpPr>
                <a:spLocks noChangeShapeType="1"/>
              </p:cNvSpPr>
              <p:nvPr/>
            </p:nvSpPr>
            <p:spPr bwMode="auto">
              <a:xfrm>
                <a:off x="4271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24" name="Line 71"/>
              <p:cNvSpPr>
                <a:spLocks noChangeShapeType="1"/>
              </p:cNvSpPr>
              <p:nvPr/>
            </p:nvSpPr>
            <p:spPr bwMode="auto">
              <a:xfrm>
                <a:off x="4271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25" name="Line 72"/>
              <p:cNvSpPr>
                <a:spLocks noChangeShapeType="1"/>
              </p:cNvSpPr>
              <p:nvPr/>
            </p:nvSpPr>
            <p:spPr bwMode="auto">
              <a:xfrm>
                <a:off x="4799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26" name="Text Box 73"/>
              <p:cNvSpPr txBox="1">
                <a:spLocks noChangeArrowheads="1"/>
              </p:cNvSpPr>
              <p:nvPr/>
            </p:nvSpPr>
            <p:spPr bwMode="auto">
              <a:xfrm>
                <a:off x="4425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89527" name="Text Box 74"/>
              <p:cNvSpPr txBox="1">
                <a:spLocks noChangeArrowheads="1"/>
              </p:cNvSpPr>
              <p:nvPr/>
            </p:nvSpPr>
            <p:spPr bwMode="auto">
              <a:xfrm>
                <a:off x="4425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  <p:grpSp>
          <p:nvGrpSpPr>
            <p:cNvPr id="189474" name="Group 75"/>
            <p:cNvGrpSpPr/>
            <p:nvPr/>
          </p:nvGrpSpPr>
          <p:grpSpPr bwMode="auto">
            <a:xfrm>
              <a:off x="3289" y="1104"/>
              <a:ext cx="542" cy="1636"/>
              <a:chOff x="3049" y="1104"/>
              <a:chExt cx="542" cy="1636"/>
            </a:xfrm>
          </p:grpSpPr>
          <p:sp>
            <p:nvSpPr>
              <p:cNvPr id="189494" name="Rectangle 76"/>
              <p:cNvSpPr>
                <a:spLocks noChangeArrowheads="1"/>
              </p:cNvSpPr>
              <p:nvPr/>
            </p:nvSpPr>
            <p:spPr bwMode="auto">
              <a:xfrm>
                <a:off x="3049" y="2529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9495" name="Rectangle 77"/>
              <p:cNvSpPr>
                <a:spLocks noChangeArrowheads="1"/>
              </p:cNvSpPr>
              <p:nvPr/>
            </p:nvSpPr>
            <p:spPr bwMode="auto">
              <a:xfrm>
                <a:off x="3049" y="2133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9496" name="Rectangle 78"/>
              <p:cNvSpPr>
                <a:spLocks noChangeArrowheads="1"/>
              </p:cNvSpPr>
              <p:nvPr/>
            </p:nvSpPr>
            <p:spPr bwMode="auto">
              <a:xfrm>
                <a:off x="3049" y="1922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9497" name="Rectangle 79"/>
              <p:cNvSpPr>
                <a:spLocks noChangeArrowheads="1"/>
              </p:cNvSpPr>
              <p:nvPr/>
            </p:nvSpPr>
            <p:spPr bwMode="auto">
              <a:xfrm>
                <a:off x="3049" y="1526"/>
                <a:ext cx="528" cy="39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9498" name="Rectangle 80"/>
              <p:cNvSpPr>
                <a:spLocks noChangeArrowheads="1"/>
              </p:cNvSpPr>
              <p:nvPr/>
            </p:nvSpPr>
            <p:spPr bwMode="auto">
              <a:xfrm>
                <a:off x="3049" y="1315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9499" name="Rectangle 81"/>
              <p:cNvSpPr>
                <a:spLocks noChangeArrowheads="1"/>
              </p:cNvSpPr>
              <p:nvPr/>
            </p:nvSpPr>
            <p:spPr bwMode="auto">
              <a:xfrm>
                <a:off x="3049" y="1104"/>
                <a:ext cx="528" cy="21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9500" name="Line 82"/>
              <p:cNvSpPr>
                <a:spLocks noChangeShapeType="1"/>
              </p:cNvSpPr>
              <p:nvPr/>
            </p:nvSpPr>
            <p:spPr bwMode="auto">
              <a:xfrm>
                <a:off x="3049" y="1104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01" name="Line 83"/>
              <p:cNvSpPr>
                <a:spLocks noChangeShapeType="1"/>
              </p:cNvSpPr>
              <p:nvPr/>
            </p:nvSpPr>
            <p:spPr bwMode="auto">
              <a:xfrm>
                <a:off x="3049" y="1315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02" name="Line 84"/>
              <p:cNvSpPr>
                <a:spLocks noChangeShapeType="1"/>
              </p:cNvSpPr>
              <p:nvPr/>
            </p:nvSpPr>
            <p:spPr bwMode="auto">
              <a:xfrm>
                <a:off x="3049" y="1526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03" name="Line 85"/>
              <p:cNvSpPr>
                <a:spLocks noChangeShapeType="1"/>
              </p:cNvSpPr>
              <p:nvPr/>
            </p:nvSpPr>
            <p:spPr bwMode="auto">
              <a:xfrm>
                <a:off x="3049" y="1922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04" name="Line 86"/>
              <p:cNvSpPr>
                <a:spLocks noChangeShapeType="1"/>
              </p:cNvSpPr>
              <p:nvPr/>
            </p:nvSpPr>
            <p:spPr bwMode="auto">
              <a:xfrm>
                <a:off x="3049" y="2133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05" name="Line 87"/>
              <p:cNvSpPr>
                <a:spLocks noChangeShapeType="1"/>
              </p:cNvSpPr>
              <p:nvPr/>
            </p:nvSpPr>
            <p:spPr bwMode="auto">
              <a:xfrm>
                <a:off x="3049" y="2529"/>
                <a:ext cx="52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06" name="Line 88"/>
              <p:cNvSpPr>
                <a:spLocks noChangeShapeType="1"/>
              </p:cNvSpPr>
              <p:nvPr/>
            </p:nvSpPr>
            <p:spPr bwMode="auto">
              <a:xfrm>
                <a:off x="3049" y="2740"/>
                <a:ext cx="528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07" name="Line 89"/>
              <p:cNvSpPr>
                <a:spLocks noChangeShapeType="1"/>
              </p:cNvSpPr>
              <p:nvPr/>
            </p:nvSpPr>
            <p:spPr bwMode="auto">
              <a:xfrm>
                <a:off x="3049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08" name="Line 90"/>
              <p:cNvSpPr>
                <a:spLocks noChangeShapeType="1"/>
              </p:cNvSpPr>
              <p:nvPr/>
            </p:nvSpPr>
            <p:spPr bwMode="auto">
              <a:xfrm>
                <a:off x="3577" y="1104"/>
                <a:ext cx="0" cy="1636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509" name="Text Box 91"/>
              <p:cNvSpPr txBox="1">
                <a:spLocks noChangeArrowheads="1"/>
              </p:cNvSpPr>
              <p:nvPr/>
            </p:nvSpPr>
            <p:spPr bwMode="auto">
              <a:xfrm>
                <a:off x="3154" y="1584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89510" name="Text Box 92"/>
              <p:cNvSpPr txBox="1">
                <a:spLocks noChangeArrowheads="1"/>
              </p:cNvSpPr>
              <p:nvPr/>
            </p:nvSpPr>
            <p:spPr bwMode="auto">
              <a:xfrm>
                <a:off x="3168" y="2182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</p:grpSp>
        <p:sp>
          <p:nvSpPr>
            <p:cNvPr id="189475" name="Freeform 93"/>
            <p:cNvSpPr/>
            <p:nvPr/>
          </p:nvSpPr>
          <p:spPr bwMode="auto">
            <a:xfrm>
              <a:off x="336" y="2016"/>
              <a:ext cx="4176" cy="960"/>
            </a:xfrm>
            <a:custGeom>
              <a:avLst/>
              <a:gdLst>
                <a:gd name="T0" fmla="*/ 528 w 4176"/>
                <a:gd name="T1" fmla="*/ 0 h 960"/>
                <a:gd name="T2" fmla="*/ 0 w 4176"/>
                <a:gd name="T3" fmla="*/ 0 h 960"/>
                <a:gd name="T4" fmla="*/ 0 w 4176"/>
                <a:gd name="T5" fmla="*/ 960 h 960"/>
                <a:gd name="T6" fmla="*/ 3648 w 4176"/>
                <a:gd name="T7" fmla="*/ 960 h 960"/>
                <a:gd name="T8" fmla="*/ 3648 w 4176"/>
                <a:gd name="T9" fmla="*/ 0 h 960"/>
                <a:gd name="T10" fmla="*/ 4176 w 4176"/>
                <a:gd name="T11" fmla="*/ 0 h 9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176"/>
                <a:gd name="T19" fmla="*/ 0 h 960"/>
                <a:gd name="T20" fmla="*/ 4176 w 4176"/>
                <a:gd name="T21" fmla="*/ 960 h 9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176" h="960">
                  <a:moveTo>
                    <a:pt x="528" y="0"/>
                  </a:moveTo>
                  <a:lnTo>
                    <a:pt x="0" y="0"/>
                  </a:lnTo>
                  <a:lnTo>
                    <a:pt x="0" y="960"/>
                  </a:lnTo>
                  <a:lnTo>
                    <a:pt x="3648" y="960"/>
                  </a:lnTo>
                  <a:lnTo>
                    <a:pt x="3648" y="0"/>
                  </a:lnTo>
                  <a:lnTo>
                    <a:pt x="4176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dash"/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9476" name="Freeform 94"/>
            <p:cNvSpPr/>
            <p:nvPr/>
          </p:nvSpPr>
          <p:spPr bwMode="auto">
            <a:xfrm>
              <a:off x="1509" y="2016"/>
              <a:ext cx="528" cy="960"/>
            </a:xfrm>
            <a:custGeom>
              <a:avLst/>
              <a:gdLst>
                <a:gd name="T0" fmla="*/ 0 w 528"/>
                <a:gd name="T1" fmla="*/ 960 h 960"/>
                <a:gd name="T2" fmla="*/ 0 w 528"/>
                <a:gd name="T3" fmla="*/ 0 h 960"/>
                <a:gd name="T4" fmla="*/ 528 w 528"/>
                <a:gd name="T5" fmla="*/ 0 h 960"/>
                <a:gd name="T6" fmla="*/ 0 60000 65536"/>
                <a:gd name="T7" fmla="*/ 0 60000 65536"/>
                <a:gd name="T8" fmla="*/ 0 60000 65536"/>
                <a:gd name="T9" fmla="*/ 0 w 528"/>
                <a:gd name="T10" fmla="*/ 0 h 960"/>
                <a:gd name="T11" fmla="*/ 528 w 528"/>
                <a:gd name="T12" fmla="*/ 960 h 96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960">
                  <a:moveTo>
                    <a:pt x="0" y="960"/>
                  </a:moveTo>
                  <a:lnTo>
                    <a:pt x="0" y="0"/>
                  </a:lnTo>
                  <a:lnTo>
                    <a:pt x="528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dash"/>
              <a:round/>
              <a:headEnd type="oval" w="sm" len="sm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9477" name="Freeform 95"/>
            <p:cNvSpPr/>
            <p:nvPr/>
          </p:nvSpPr>
          <p:spPr bwMode="auto">
            <a:xfrm>
              <a:off x="2760" y="2016"/>
              <a:ext cx="528" cy="960"/>
            </a:xfrm>
            <a:custGeom>
              <a:avLst/>
              <a:gdLst>
                <a:gd name="T0" fmla="*/ 0 w 528"/>
                <a:gd name="T1" fmla="*/ 960 h 960"/>
                <a:gd name="T2" fmla="*/ 0 w 528"/>
                <a:gd name="T3" fmla="*/ 0 h 960"/>
                <a:gd name="T4" fmla="*/ 528 w 528"/>
                <a:gd name="T5" fmla="*/ 0 h 960"/>
                <a:gd name="T6" fmla="*/ 0 60000 65536"/>
                <a:gd name="T7" fmla="*/ 0 60000 65536"/>
                <a:gd name="T8" fmla="*/ 0 60000 65536"/>
                <a:gd name="T9" fmla="*/ 0 w 528"/>
                <a:gd name="T10" fmla="*/ 0 h 960"/>
                <a:gd name="T11" fmla="*/ 528 w 528"/>
                <a:gd name="T12" fmla="*/ 960 h 96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960">
                  <a:moveTo>
                    <a:pt x="0" y="960"/>
                  </a:moveTo>
                  <a:lnTo>
                    <a:pt x="0" y="0"/>
                  </a:lnTo>
                  <a:lnTo>
                    <a:pt x="528" y="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dash"/>
              <a:round/>
              <a:headEnd type="oval" w="sm" len="sm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89478" name="Group 96"/>
            <p:cNvGrpSpPr/>
            <p:nvPr/>
          </p:nvGrpSpPr>
          <p:grpSpPr bwMode="auto">
            <a:xfrm>
              <a:off x="2471" y="3312"/>
              <a:ext cx="1031" cy="286"/>
              <a:chOff x="2471" y="3312"/>
              <a:chExt cx="1031" cy="286"/>
            </a:xfrm>
          </p:grpSpPr>
          <p:sp>
            <p:nvSpPr>
              <p:cNvPr id="189492" name="Rectangle 97"/>
              <p:cNvSpPr>
                <a:spLocks noChangeArrowheads="1"/>
              </p:cNvSpPr>
              <p:nvPr/>
            </p:nvSpPr>
            <p:spPr bwMode="auto">
              <a:xfrm>
                <a:off x="2471" y="3312"/>
                <a:ext cx="1031" cy="286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89493" name="Text Box 98"/>
              <p:cNvSpPr txBox="1">
                <a:spLocks noChangeArrowheads="1"/>
              </p:cNvSpPr>
              <p:nvPr/>
            </p:nvSpPr>
            <p:spPr bwMode="auto">
              <a:xfrm>
                <a:off x="2607" y="3321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地址译码</a:t>
                </a:r>
              </a:p>
            </p:txBody>
          </p:sp>
        </p:grpSp>
        <p:sp>
          <p:nvSpPr>
            <p:cNvPr id="189479" name="Rectangle 99"/>
            <p:cNvSpPr>
              <a:spLocks noChangeArrowheads="1"/>
            </p:cNvSpPr>
            <p:nvPr/>
          </p:nvSpPr>
          <p:spPr bwMode="auto">
            <a:xfrm>
              <a:off x="3529" y="3888"/>
              <a:ext cx="1031" cy="28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9480" name="Text Box 100"/>
            <p:cNvSpPr txBox="1">
              <a:spLocks noChangeArrowheads="1"/>
            </p:cNvSpPr>
            <p:nvPr/>
          </p:nvSpPr>
          <p:spPr bwMode="auto">
            <a:xfrm>
              <a:off x="3648" y="3883"/>
              <a:ext cx="88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    </a:t>
              </a:r>
              <a:r>
                <a:rPr lang="zh-CN" altLang="en-US" sz="2000">
                  <a:latin typeface="Times New Roman" panose="02020603050405020304" pitchFamily="18" charset="0"/>
                </a:rPr>
                <a:t>体号</a:t>
              </a:r>
            </a:p>
          </p:txBody>
        </p:sp>
        <p:sp>
          <p:nvSpPr>
            <p:cNvPr id="189481" name="Rectangle 101"/>
            <p:cNvSpPr>
              <a:spLocks noChangeArrowheads="1"/>
            </p:cNvSpPr>
            <p:nvPr/>
          </p:nvSpPr>
          <p:spPr bwMode="auto">
            <a:xfrm>
              <a:off x="2498" y="3888"/>
              <a:ext cx="1031" cy="286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89482" name="Text Box 102"/>
            <p:cNvSpPr txBox="1">
              <a:spLocks noChangeArrowheads="1"/>
            </p:cNvSpPr>
            <p:nvPr/>
          </p:nvSpPr>
          <p:spPr bwMode="auto">
            <a:xfrm>
              <a:off x="2606" y="3899"/>
              <a:ext cx="75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体内地址</a:t>
              </a:r>
            </a:p>
          </p:txBody>
        </p:sp>
        <p:sp>
          <p:nvSpPr>
            <p:cNvPr id="189483" name="Line 103"/>
            <p:cNvSpPr>
              <a:spLocks noChangeShapeType="1"/>
            </p:cNvSpPr>
            <p:nvPr/>
          </p:nvSpPr>
          <p:spPr bwMode="auto">
            <a:xfrm flipV="1">
              <a:off x="4046" y="3175"/>
              <a:ext cx="0" cy="72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9484" name="Line 104"/>
            <p:cNvSpPr>
              <a:spLocks noChangeShapeType="1"/>
            </p:cNvSpPr>
            <p:nvPr/>
          </p:nvSpPr>
          <p:spPr bwMode="auto">
            <a:xfrm flipV="1">
              <a:off x="2976" y="3600"/>
              <a:ext cx="0" cy="2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9485" name="Line 105"/>
            <p:cNvSpPr>
              <a:spLocks noChangeShapeType="1"/>
            </p:cNvSpPr>
            <p:nvPr/>
          </p:nvSpPr>
          <p:spPr bwMode="auto">
            <a:xfrm>
              <a:off x="1111" y="3179"/>
              <a:ext cx="368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189486" name="Group 106"/>
            <p:cNvGrpSpPr/>
            <p:nvPr/>
          </p:nvGrpSpPr>
          <p:grpSpPr bwMode="auto">
            <a:xfrm>
              <a:off x="1123" y="2750"/>
              <a:ext cx="3662" cy="424"/>
              <a:chOff x="1123" y="2750"/>
              <a:chExt cx="3662" cy="424"/>
            </a:xfrm>
          </p:grpSpPr>
          <p:sp>
            <p:nvSpPr>
              <p:cNvPr id="189488" name="Line 107"/>
              <p:cNvSpPr>
                <a:spLocks noChangeShapeType="1"/>
              </p:cNvSpPr>
              <p:nvPr/>
            </p:nvSpPr>
            <p:spPr bwMode="auto">
              <a:xfrm flipV="1">
                <a:off x="1123" y="2750"/>
                <a:ext cx="0" cy="42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489" name="Line 108"/>
              <p:cNvSpPr>
                <a:spLocks noChangeShapeType="1"/>
              </p:cNvSpPr>
              <p:nvPr/>
            </p:nvSpPr>
            <p:spPr bwMode="auto">
              <a:xfrm flipV="1">
                <a:off x="2314" y="2750"/>
                <a:ext cx="0" cy="42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490" name="Line 109"/>
              <p:cNvSpPr>
                <a:spLocks noChangeShapeType="1"/>
              </p:cNvSpPr>
              <p:nvPr/>
            </p:nvSpPr>
            <p:spPr bwMode="auto">
              <a:xfrm flipV="1">
                <a:off x="3560" y="2750"/>
                <a:ext cx="0" cy="42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89491" name="Line 110"/>
              <p:cNvSpPr>
                <a:spLocks noChangeShapeType="1"/>
              </p:cNvSpPr>
              <p:nvPr/>
            </p:nvSpPr>
            <p:spPr bwMode="auto">
              <a:xfrm flipV="1">
                <a:off x="4785" y="2750"/>
                <a:ext cx="0" cy="42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89487" name="Line 111"/>
            <p:cNvSpPr>
              <a:spLocks noChangeShapeType="1"/>
            </p:cNvSpPr>
            <p:nvPr/>
          </p:nvSpPr>
          <p:spPr bwMode="auto">
            <a:xfrm flipV="1">
              <a:off x="2976" y="2985"/>
              <a:ext cx="0" cy="32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dash"/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78640" name="Line 112"/>
          <p:cNvSpPr>
            <a:spLocks noChangeShapeType="1"/>
          </p:cNvSpPr>
          <p:nvPr/>
        </p:nvSpPr>
        <p:spPr bwMode="auto">
          <a:xfrm flipV="1">
            <a:off x="6423025" y="5156200"/>
            <a:ext cx="0" cy="1144588"/>
          </a:xfrm>
          <a:prstGeom prst="line">
            <a:avLst/>
          </a:prstGeom>
          <a:noFill/>
          <a:ln w="38100">
            <a:solidFill>
              <a:schemeClr val="folHlink"/>
            </a:solidFill>
            <a:rou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9" name="Group 113"/>
          <p:cNvGrpSpPr/>
          <p:nvPr/>
        </p:nvGrpSpPr>
        <p:grpSpPr bwMode="auto">
          <a:xfrm>
            <a:off x="1782763" y="4481513"/>
            <a:ext cx="5813425" cy="673100"/>
            <a:chOff x="1123" y="2750"/>
            <a:chExt cx="3662" cy="424"/>
          </a:xfrm>
        </p:grpSpPr>
        <p:sp>
          <p:nvSpPr>
            <p:cNvPr id="189450" name="Line 114"/>
            <p:cNvSpPr>
              <a:spLocks noChangeShapeType="1"/>
            </p:cNvSpPr>
            <p:nvPr/>
          </p:nvSpPr>
          <p:spPr bwMode="auto">
            <a:xfrm flipV="1">
              <a:off x="1123" y="2750"/>
              <a:ext cx="0" cy="42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9451" name="Line 115"/>
            <p:cNvSpPr>
              <a:spLocks noChangeShapeType="1"/>
            </p:cNvSpPr>
            <p:nvPr/>
          </p:nvSpPr>
          <p:spPr bwMode="auto">
            <a:xfrm flipV="1">
              <a:off x="2314" y="2750"/>
              <a:ext cx="0" cy="42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9452" name="Line 116"/>
            <p:cNvSpPr>
              <a:spLocks noChangeShapeType="1"/>
            </p:cNvSpPr>
            <p:nvPr/>
          </p:nvSpPr>
          <p:spPr bwMode="auto">
            <a:xfrm flipV="1">
              <a:off x="3560" y="2750"/>
              <a:ext cx="0" cy="42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89453" name="Line 117"/>
            <p:cNvSpPr>
              <a:spLocks noChangeShapeType="1"/>
            </p:cNvSpPr>
            <p:nvPr/>
          </p:nvSpPr>
          <p:spPr bwMode="auto">
            <a:xfrm flipV="1">
              <a:off x="4785" y="2750"/>
              <a:ext cx="0" cy="42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78646" name="Line 118"/>
          <p:cNvSpPr>
            <a:spLocks noChangeShapeType="1"/>
          </p:cNvSpPr>
          <p:nvPr/>
        </p:nvSpPr>
        <p:spPr bwMode="auto">
          <a:xfrm>
            <a:off x="1763713" y="5162550"/>
            <a:ext cx="5854700" cy="0"/>
          </a:xfrm>
          <a:prstGeom prst="line">
            <a:avLst/>
          </a:prstGeom>
          <a:noFill/>
          <a:ln w="38100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78647" name="Text Box 119"/>
          <p:cNvSpPr txBox="1">
            <a:spLocks noChangeArrowheads="1"/>
          </p:cNvSpPr>
          <p:nvPr/>
        </p:nvSpPr>
        <p:spPr bwMode="auto">
          <a:xfrm>
            <a:off x="5791200" y="6280150"/>
            <a:ext cx="14081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    </a:t>
            </a:r>
            <a:r>
              <a: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rPr>
              <a:t>体号</a:t>
            </a:r>
          </a:p>
        </p:txBody>
      </p:sp>
      <p:sp>
        <p:nvSpPr>
          <p:cNvPr id="189448" name="Text Box 120"/>
          <p:cNvSpPr txBox="1">
            <a:spLocks noChangeArrowheads="1"/>
          </p:cNvSpPr>
          <p:nvPr/>
        </p:nvSpPr>
        <p:spPr bwMode="auto">
          <a:xfrm>
            <a:off x="395288" y="260350"/>
            <a:ext cx="59055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</a:t>
            </a:r>
            <a:r>
              <a:rPr lang="en-US" altLang="zh-CN" sz="3200">
                <a:latin typeface="Times New Roman" panose="02020603050405020304" pitchFamily="18" charset="0"/>
              </a:rPr>
              <a:t>2) </a:t>
            </a:r>
            <a:r>
              <a:rPr lang="zh-CN" altLang="en-US" sz="3200">
                <a:latin typeface="Times New Roman" panose="02020603050405020304" pitchFamily="18" charset="0"/>
              </a:rPr>
              <a:t>低位交叉    </a:t>
            </a: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各个体轮流编址</a:t>
            </a:r>
          </a:p>
        </p:txBody>
      </p:sp>
      <p:sp>
        <p:nvSpPr>
          <p:cNvPr id="189449" name="AutoShape 121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78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7" dur="500"/>
                                        <p:tgtEl>
                                          <p:spTgt spid="2786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1" dur="500"/>
                                        <p:tgtEl>
                                          <p:spTgt spid="2786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8640" grpId="0" animBg="1"/>
      <p:bldP spid="278646" grpId="0" animBg="1"/>
      <p:bldP spid="278647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3390900" y="2895600"/>
            <a:ext cx="2590800" cy="3505200"/>
            <a:chOff x="2136" y="1824"/>
            <a:chExt cx="1632" cy="2208"/>
          </a:xfrm>
        </p:grpSpPr>
        <p:sp>
          <p:nvSpPr>
            <p:cNvPr id="190504" name="Line 3"/>
            <p:cNvSpPr>
              <a:spLocks noChangeShapeType="1"/>
            </p:cNvSpPr>
            <p:nvPr/>
          </p:nvSpPr>
          <p:spPr bwMode="auto">
            <a:xfrm>
              <a:off x="2136" y="1824"/>
              <a:ext cx="0" cy="220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0505" name="Line 4"/>
            <p:cNvSpPr>
              <a:spLocks noChangeShapeType="1"/>
            </p:cNvSpPr>
            <p:nvPr/>
          </p:nvSpPr>
          <p:spPr bwMode="auto">
            <a:xfrm>
              <a:off x="3768" y="1824"/>
              <a:ext cx="0" cy="220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3" name="Group 5"/>
          <p:cNvGrpSpPr/>
          <p:nvPr/>
        </p:nvGrpSpPr>
        <p:grpSpPr bwMode="auto">
          <a:xfrm>
            <a:off x="4038600" y="2895600"/>
            <a:ext cx="2590800" cy="3505200"/>
            <a:chOff x="2544" y="1824"/>
            <a:chExt cx="1632" cy="2208"/>
          </a:xfrm>
        </p:grpSpPr>
        <p:sp>
          <p:nvSpPr>
            <p:cNvPr id="190502" name="Line 6"/>
            <p:cNvSpPr>
              <a:spLocks noChangeShapeType="1"/>
            </p:cNvSpPr>
            <p:nvPr/>
          </p:nvSpPr>
          <p:spPr bwMode="auto">
            <a:xfrm>
              <a:off x="2544" y="1824"/>
              <a:ext cx="0" cy="220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0503" name="Line 7"/>
            <p:cNvSpPr>
              <a:spLocks noChangeShapeType="1"/>
            </p:cNvSpPr>
            <p:nvPr/>
          </p:nvSpPr>
          <p:spPr bwMode="auto">
            <a:xfrm>
              <a:off x="4176" y="1824"/>
              <a:ext cx="0" cy="220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4" name="Group 8"/>
          <p:cNvGrpSpPr/>
          <p:nvPr/>
        </p:nvGrpSpPr>
        <p:grpSpPr bwMode="auto">
          <a:xfrm>
            <a:off x="4686300" y="2895600"/>
            <a:ext cx="2590800" cy="3505200"/>
            <a:chOff x="2952" y="1824"/>
            <a:chExt cx="1632" cy="2208"/>
          </a:xfrm>
        </p:grpSpPr>
        <p:sp>
          <p:nvSpPr>
            <p:cNvPr id="190500" name="Line 9"/>
            <p:cNvSpPr>
              <a:spLocks noChangeShapeType="1"/>
            </p:cNvSpPr>
            <p:nvPr/>
          </p:nvSpPr>
          <p:spPr bwMode="auto">
            <a:xfrm>
              <a:off x="2952" y="1824"/>
              <a:ext cx="0" cy="220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0501" name="Line 10"/>
            <p:cNvSpPr>
              <a:spLocks noChangeShapeType="1"/>
            </p:cNvSpPr>
            <p:nvPr/>
          </p:nvSpPr>
          <p:spPr bwMode="auto">
            <a:xfrm>
              <a:off x="4584" y="1824"/>
              <a:ext cx="0" cy="220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5" name="Group 11"/>
          <p:cNvGrpSpPr/>
          <p:nvPr/>
        </p:nvGrpSpPr>
        <p:grpSpPr bwMode="auto">
          <a:xfrm>
            <a:off x="2743200" y="3124200"/>
            <a:ext cx="5181600" cy="3271838"/>
            <a:chOff x="1728" y="1971"/>
            <a:chExt cx="3264" cy="2301"/>
          </a:xfrm>
        </p:grpSpPr>
        <p:sp>
          <p:nvSpPr>
            <p:cNvPr id="190497" name="Line 12"/>
            <p:cNvSpPr>
              <a:spLocks noChangeShapeType="1"/>
            </p:cNvSpPr>
            <p:nvPr/>
          </p:nvSpPr>
          <p:spPr bwMode="auto">
            <a:xfrm>
              <a:off x="1728" y="1971"/>
              <a:ext cx="0" cy="2301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0498" name="Line 13"/>
            <p:cNvSpPr>
              <a:spLocks noChangeShapeType="1"/>
            </p:cNvSpPr>
            <p:nvPr/>
          </p:nvSpPr>
          <p:spPr bwMode="auto">
            <a:xfrm>
              <a:off x="3360" y="1971"/>
              <a:ext cx="0" cy="2301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0499" name="Line 14"/>
            <p:cNvSpPr>
              <a:spLocks noChangeShapeType="1"/>
            </p:cNvSpPr>
            <p:nvPr/>
          </p:nvSpPr>
          <p:spPr bwMode="auto">
            <a:xfrm>
              <a:off x="4992" y="1971"/>
              <a:ext cx="0" cy="2301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90470" name="Text Box 15"/>
          <p:cNvSpPr txBox="1">
            <a:spLocks noChangeArrowheads="1"/>
          </p:cNvSpPr>
          <p:nvPr/>
        </p:nvSpPr>
        <p:spPr bwMode="auto">
          <a:xfrm>
            <a:off x="381000" y="320675"/>
            <a:ext cx="3395663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低位交叉的特点</a:t>
            </a:r>
          </a:p>
        </p:txBody>
      </p:sp>
      <p:sp>
        <p:nvSpPr>
          <p:cNvPr id="279568" name="Text Box 16"/>
          <p:cNvSpPr txBox="1">
            <a:spLocks noChangeArrowheads="1"/>
          </p:cNvSpPr>
          <p:nvPr/>
        </p:nvSpPr>
        <p:spPr bwMode="auto">
          <a:xfrm>
            <a:off x="392113" y="1173163"/>
            <a:ext cx="875188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在不改变存取周期的前提下，增加存储器的带宽</a:t>
            </a:r>
          </a:p>
        </p:txBody>
      </p:sp>
      <p:grpSp>
        <p:nvGrpSpPr>
          <p:cNvPr id="6" name="Group 17"/>
          <p:cNvGrpSpPr/>
          <p:nvPr/>
        </p:nvGrpSpPr>
        <p:grpSpPr bwMode="auto">
          <a:xfrm>
            <a:off x="762000" y="2763838"/>
            <a:ext cx="7772400" cy="457200"/>
            <a:chOff x="480" y="1741"/>
            <a:chExt cx="4896" cy="288"/>
          </a:xfrm>
        </p:grpSpPr>
        <p:sp>
          <p:nvSpPr>
            <p:cNvPr id="190495" name="Text Box 18"/>
            <p:cNvSpPr txBox="1">
              <a:spLocks noChangeArrowheads="1"/>
            </p:cNvSpPr>
            <p:nvPr/>
          </p:nvSpPr>
          <p:spPr bwMode="auto">
            <a:xfrm>
              <a:off x="480" y="1741"/>
              <a:ext cx="50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时间</a:t>
              </a:r>
            </a:p>
          </p:txBody>
        </p:sp>
        <p:sp>
          <p:nvSpPr>
            <p:cNvPr id="190496" name="Line 19"/>
            <p:cNvSpPr>
              <a:spLocks noChangeShapeType="1"/>
            </p:cNvSpPr>
            <p:nvPr/>
          </p:nvSpPr>
          <p:spPr bwMode="auto">
            <a:xfrm>
              <a:off x="1536" y="1968"/>
              <a:ext cx="384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79572" name="Freeform 20"/>
          <p:cNvSpPr/>
          <p:nvPr/>
        </p:nvSpPr>
        <p:spPr bwMode="auto">
          <a:xfrm>
            <a:off x="2438400" y="4275138"/>
            <a:ext cx="6091238" cy="492125"/>
          </a:xfrm>
          <a:custGeom>
            <a:avLst/>
            <a:gdLst>
              <a:gd name="T0" fmla="*/ 0 w 3837"/>
              <a:gd name="T1" fmla="*/ 2147483647 h 310"/>
              <a:gd name="T2" fmla="*/ 2147483647 w 3837"/>
              <a:gd name="T3" fmla="*/ 2147483647 h 310"/>
              <a:gd name="T4" fmla="*/ 2147483647 w 3837"/>
              <a:gd name="T5" fmla="*/ 2147483647 h 310"/>
              <a:gd name="T6" fmla="*/ 2147483647 w 3837"/>
              <a:gd name="T7" fmla="*/ 2147483647 h 310"/>
              <a:gd name="T8" fmla="*/ 2147483647 w 3837"/>
              <a:gd name="T9" fmla="*/ 2147483647 h 310"/>
              <a:gd name="T10" fmla="*/ 2147483647 w 3837"/>
              <a:gd name="T11" fmla="*/ 2147483647 h 310"/>
              <a:gd name="T12" fmla="*/ 2147483647 w 3837"/>
              <a:gd name="T13" fmla="*/ 2147483647 h 310"/>
              <a:gd name="T14" fmla="*/ 2147483647 w 3837"/>
              <a:gd name="T15" fmla="*/ 2147483647 h 310"/>
              <a:gd name="T16" fmla="*/ 2147483647 w 3837"/>
              <a:gd name="T17" fmla="*/ 2147483647 h 310"/>
              <a:gd name="T18" fmla="*/ 2147483647 w 3837"/>
              <a:gd name="T19" fmla="*/ 0 h 310"/>
              <a:gd name="T20" fmla="*/ 2147483647 w 3837"/>
              <a:gd name="T21" fmla="*/ 2147483647 h 310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837"/>
              <a:gd name="T34" fmla="*/ 0 h 310"/>
              <a:gd name="T35" fmla="*/ 3837 w 3837"/>
              <a:gd name="T36" fmla="*/ 310 h 310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837" h="310">
                <a:moveTo>
                  <a:pt x="0" y="1"/>
                </a:moveTo>
                <a:lnTo>
                  <a:pt x="599" y="1"/>
                </a:lnTo>
                <a:lnTo>
                  <a:pt x="600" y="310"/>
                </a:lnTo>
                <a:lnTo>
                  <a:pt x="750" y="310"/>
                </a:lnTo>
                <a:lnTo>
                  <a:pt x="750" y="6"/>
                </a:lnTo>
                <a:lnTo>
                  <a:pt x="2231" y="4"/>
                </a:lnTo>
                <a:lnTo>
                  <a:pt x="2231" y="310"/>
                </a:lnTo>
                <a:lnTo>
                  <a:pt x="2385" y="310"/>
                </a:lnTo>
                <a:lnTo>
                  <a:pt x="2385" y="21"/>
                </a:lnTo>
                <a:lnTo>
                  <a:pt x="2385" y="0"/>
                </a:lnTo>
                <a:lnTo>
                  <a:pt x="3837" y="1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79573" name="Freeform 21"/>
          <p:cNvSpPr/>
          <p:nvPr/>
        </p:nvSpPr>
        <p:spPr bwMode="auto">
          <a:xfrm>
            <a:off x="2438400" y="4978400"/>
            <a:ext cx="6086475" cy="485775"/>
          </a:xfrm>
          <a:custGeom>
            <a:avLst/>
            <a:gdLst>
              <a:gd name="T0" fmla="*/ 0 w 3834"/>
              <a:gd name="T1" fmla="*/ 2147483647 h 306"/>
              <a:gd name="T2" fmla="*/ 2147483647 w 3834"/>
              <a:gd name="T3" fmla="*/ 2147483647 h 306"/>
              <a:gd name="T4" fmla="*/ 2147483647 w 3834"/>
              <a:gd name="T5" fmla="*/ 2147483647 h 306"/>
              <a:gd name="T6" fmla="*/ 2147483647 w 3834"/>
              <a:gd name="T7" fmla="*/ 2147483647 h 306"/>
              <a:gd name="T8" fmla="*/ 2147483647 w 3834"/>
              <a:gd name="T9" fmla="*/ 2147483647 h 306"/>
              <a:gd name="T10" fmla="*/ 2147483647 w 3834"/>
              <a:gd name="T11" fmla="*/ 2147483647 h 306"/>
              <a:gd name="T12" fmla="*/ 2147483647 w 3834"/>
              <a:gd name="T13" fmla="*/ 2147483647 h 306"/>
              <a:gd name="T14" fmla="*/ 2147483647 w 3834"/>
              <a:gd name="T15" fmla="*/ 2147483647 h 306"/>
              <a:gd name="T16" fmla="*/ 2147483647 w 3834"/>
              <a:gd name="T17" fmla="*/ 2147483647 h 306"/>
              <a:gd name="T18" fmla="*/ 2147483647 w 3834"/>
              <a:gd name="T19" fmla="*/ 0 h 306"/>
              <a:gd name="T20" fmla="*/ 2147483647 w 3834"/>
              <a:gd name="T21" fmla="*/ 2147483647 h 30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834"/>
              <a:gd name="T34" fmla="*/ 0 h 306"/>
              <a:gd name="T35" fmla="*/ 3834 w 3834"/>
              <a:gd name="T36" fmla="*/ 306 h 30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834" h="306">
                <a:moveTo>
                  <a:pt x="0" y="5"/>
                </a:moveTo>
                <a:lnTo>
                  <a:pt x="1008" y="5"/>
                </a:lnTo>
                <a:lnTo>
                  <a:pt x="1008" y="305"/>
                </a:lnTo>
                <a:lnTo>
                  <a:pt x="1158" y="306"/>
                </a:lnTo>
                <a:lnTo>
                  <a:pt x="1158" y="6"/>
                </a:lnTo>
                <a:lnTo>
                  <a:pt x="2637" y="5"/>
                </a:lnTo>
                <a:lnTo>
                  <a:pt x="2640" y="305"/>
                </a:lnTo>
                <a:lnTo>
                  <a:pt x="2790" y="306"/>
                </a:lnTo>
                <a:lnTo>
                  <a:pt x="2790" y="23"/>
                </a:lnTo>
                <a:lnTo>
                  <a:pt x="2793" y="0"/>
                </a:lnTo>
                <a:lnTo>
                  <a:pt x="3834" y="5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79574" name="Freeform 22"/>
          <p:cNvSpPr/>
          <p:nvPr/>
        </p:nvSpPr>
        <p:spPr bwMode="auto">
          <a:xfrm>
            <a:off x="2428875" y="5676900"/>
            <a:ext cx="6105525" cy="500063"/>
          </a:xfrm>
          <a:custGeom>
            <a:avLst/>
            <a:gdLst>
              <a:gd name="T0" fmla="*/ 0 w 3846"/>
              <a:gd name="T1" fmla="*/ 2147483647 h 315"/>
              <a:gd name="T2" fmla="*/ 2147483647 w 3846"/>
              <a:gd name="T3" fmla="*/ 2147483647 h 315"/>
              <a:gd name="T4" fmla="*/ 2147483647 w 3846"/>
              <a:gd name="T5" fmla="*/ 2147483647 h 315"/>
              <a:gd name="T6" fmla="*/ 2147483647 w 3846"/>
              <a:gd name="T7" fmla="*/ 2147483647 h 315"/>
              <a:gd name="T8" fmla="*/ 2147483647 w 3846"/>
              <a:gd name="T9" fmla="*/ 2147483647 h 315"/>
              <a:gd name="T10" fmla="*/ 2147483647 w 3846"/>
              <a:gd name="T11" fmla="*/ 2147483647 h 315"/>
              <a:gd name="T12" fmla="*/ 2147483647 w 3846"/>
              <a:gd name="T13" fmla="*/ 2147483647 h 315"/>
              <a:gd name="T14" fmla="*/ 2147483647 w 3846"/>
              <a:gd name="T15" fmla="*/ 2147483647 h 315"/>
              <a:gd name="T16" fmla="*/ 2147483647 w 3846"/>
              <a:gd name="T17" fmla="*/ 0 h 315"/>
              <a:gd name="T18" fmla="*/ 2147483647 w 3846"/>
              <a:gd name="T19" fmla="*/ 2147483647 h 315"/>
              <a:gd name="T20" fmla="*/ 2147483647 w 3846"/>
              <a:gd name="T21" fmla="*/ 2147483647 h 31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846"/>
              <a:gd name="T34" fmla="*/ 0 h 315"/>
              <a:gd name="T35" fmla="*/ 3846 w 3846"/>
              <a:gd name="T36" fmla="*/ 315 h 315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846" h="315">
                <a:moveTo>
                  <a:pt x="0" y="3"/>
                </a:moveTo>
                <a:lnTo>
                  <a:pt x="1422" y="3"/>
                </a:lnTo>
                <a:lnTo>
                  <a:pt x="1422" y="315"/>
                </a:lnTo>
                <a:lnTo>
                  <a:pt x="1563" y="315"/>
                </a:lnTo>
                <a:lnTo>
                  <a:pt x="1563" y="6"/>
                </a:lnTo>
                <a:lnTo>
                  <a:pt x="3054" y="3"/>
                </a:lnTo>
                <a:lnTo>
                  <a:pt x="3054" y="306"/>
                </a:lnTo>
                <a:lnTo>
                  <a:pt x="3198" y="308"/>
                </a:lnTo>
                <a:lnTo>
                  <a:pt x="3198" y="0"/>
                </a:lnTo>
                <a:lnTo>
                  <a:pt x="3195" y="3"/>
                </a:lnTo>
                <a:lnTo>
                  <a:pt x="3846" y="3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7" name="Group 23"/>
          <p:cNvGrpSpPr/>
          <p:nvPr/>
        </p:nvGrpSpPr>
        <p:grpSpPr bwMode="auto">
          <a:xfrm>
            <a:off x="2438400" y="3562350"/>
            <a:ext cx="6096000" cy="500063"/>
            <a:chOff x="1536" y="2244"/>
            <a:chExt cx="3840" cy="315"/>
          </a:xfrm>
        </p:grpSpPr>
        <p:sp>
          <p:nvSpPr>
            <p:cNvPr id="190493" name="Freeform 24"/>
            <p:cNvSpPr/>
            <p:nvPr/>
          </p:nvSpPr>
          <p:spPr bwMode="auto">
            <a:xfrm>
              <a:off x="1536" y="2247"/>
              <a:ext cx="3456" cy="312"/>
            </a:xfrm>
            <a:custGeom>
              <a:avLst/>
              <a:gdLst>
                <a:gd name="T0" fmla="*/ 0 w 3456"/>
                <a:gd name="T1" fmla="*/ 6 h 312"/>
                <a:gd name="T2" fmla="*/ 192 w 3456"/>
                <a:gd name="T3" fmla="*/ 6 h 312"/>
                <a:gd name="T4" fmla="*/ 192 w 3456"/>
                <a:gd name="T5" fmla="*/ 306 h 312"/>
                <a:gd name="T6" fmla="*/ 336 w 3456"/>
                <a:gd name="T7" fmla="*/ 309 h 312"/>
                <a:gd name="T8" fmla="*/ 336 w 3456"/>
                <a:gd name="T9" fmla="*/ 9 h 312"/>
                <a:gd name="T10" fmla="*/ 1824 w 3456"/>
                <a:gd name="T11" fmla="*/ 9 h 312"/>
                <a:gd name="T12" fmla="*/ 1824 w 3456"/>
                <a:gd name="T13" fmla="*/ 312 h 312"/>
                <a:gd name="T14" fmla="*/ 1968 w 3456"/>
                <a:gd name="T15" fmla="*/ 309 h 312"/>
                <a:gd name="T16" fmla="*/ 1971 w 3456"/>
                <a:gd name="T17" fmla="*/ 24 h 312"/>
                <a:gd name="T18" fmla="*/ 1971 w 3456"/>
                <a:gd name="T19" fmla="*/ 3 h 312"/>
                <a:gd name="T20" fmla="*/ 3456 w 3456"/>
                <a:gd name="T21" fmla="*/ 0 h 3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456"/>
                <a:gd name="T34" fmla="*/ 0 h 312"/>
                <a:gd name="T35" fmla="*/ 3456 w 3456"/>
                <a:gd name="T36" fmla="*/ 312 h 31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456" h="312">
                  <a:moveTo>
                    <a:pt x="0" y="6"/>
                  </a:moveTo>
                  <a:lnTo>
                    <a:pt x="192" y="6"/>
                  </a:lnTo>
                  <a:lnTo>
                    <a:pt x="192" y="306"/>
                  </a:lnTo>
                  <a:lnTo>
                    <a:pt x="336" y="309"/>
                  </a:lnTo>
                  <a:lnTo>
                    <a:pt x="336" y="9"/>
                  </a:lnTo>
                  <a:lnTo>
                    <a:pt x="1824" y="9"/>
                  </a:lnTo>
                  <a:lnTo>
                    <a:pt x="1824" y="312"/>
                  </a:lnTo>
                  <a:lnTo>
                    <a:pt x="1968" y="309"/>
                  </a:lnTo>
                  <a:lnTo>
                    <a:pt x="1971" y="24"/>
                  </a:lnTo>
                  <a:lnTo>
                    <a:pt x="1971" y="3"/>
                  </a:lnTo>
                  <a:lnTo>
                    <a:pt x="345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0494" name="Freeform 25"/>
            <p:cNvSpPr/>
            <p:nvPr/>
          </p:nvSpPr>
          <p:spPr bwMode="auto">
            <a:xfrm>
              <a:off x="4992" y="2244"/>
              <a:ext cx="384" cy="306"/>
            </a:xfrm>
            <a:custGeom>
              <a:avLst/>
              <a:gdLst>
                <a:gd name="T0" fmla="*/ 0 w 384"/>
                <a:gd name="T1" fmla="*/ 0 h 306"/>
                <a:gd name="T2" fmla="*/ 0 w 384"/>
                <a:gd name="T3" fmla="*/ 306 h 306"/>
                <a:gd name="T4" fmla="*/ 144 w 384"/>
                <a:gd name="T5" fmla="*/ 306 h 306"/>
                <a:gd name="T6" fmla="*/ 144 w 384"/>
                <a:gd name="T7" fmla="*/ 6 h 306"/>
                <a:gd name="T8" fmla="*/ 384 w 384"/>
                <a:gd name="T9" fmla="*/ 6 h 3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84"/>
                <a:gd name="T16" fmla="*/ 0 h 306"/>
                <a:gd name="T17" fmla="*/ 384 w 384"/>
                <a:gd name="T18" fmla="*/ 306 h 3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84" h="306">
                  <a:moveTo>
                    <a:pt x="0" y="0"/>
                  </a:moveTo>
                  <a:lnTo>
                    <a:pt x="0" y="306"/>
                  </a:lnTo>
                  <a:lnTo>
                    <a:pt x="144" y="306"/>
                  </a:lnTo>
                  <a:lnTo>
                    <a:pt x="144" y="6"/>
                  </a:lnTo>
                  <a:lnTo>
                    <a:pt x="384" y="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8" name="Group 26"/>
          <p:cNvGrpSpPr/>
          <p:nvPr/>
        </p:nvGrpSpPr>
        <p:grpSpPr bwMode="auto">
          <a:xfrm>
            <a:off x="2743200" y="1981200"/>
            <a:ext cx="5181600" cy="1219200"/>
            <a:chOff x="1728" y="1248"/>
            <a:chExt cx="3264" cy="768"/>
          </a:xfrm>
        </p:grpSpPr>
        <p:sp>
          <p:nvSpPr>
            <p:cNvPr id="190484" name="Text Box 27"/>
            <p:cNvSpPr txBox="1">
              <a:spLocks noChangeArrowheads="1"/>
            </p:cNvSpPr>
            <p:nvPr/>
          </p:nvSpPr>
          <p:spPr bwMode="auto">
            <a:xfrm>
              <a:off x="2112" y="1248"/>
              <a:ext cx="892" cy="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    单体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访存周期</a:t>
              </a:r>
            </a:p>
          </p:txBody>
        </p:sp>
        <p:sp>
          <p:nvSpPr>
            <p:cNvPr id="190485" name="Text Box 28"/>
            <p:cNvSpPr txBox="1">
              <a:spLocks noChangeArrowheads="1"/>
            </p:cNvSpPr>
            <p:nvPr/>
          </p:nvSpPr>
          <p:spPr bwMode="auto">
            <a:xfrm>
              <a:off x="3744" y="1248"/>
              <a:ext cx="892" cy="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    单体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访存周期</a:t>
              </a:r>
            </a:p>
          </p:txBody>
        </p:sp>
        <p:sp>
          <p:nvSpPr>
            <p:cNvPr id="190486" name="Line 29"/>
            <p:cNvSpPr>
              <a:spLocks noChangeShapeType="1"/>
            </p:cNvSpPr>
            <p:nvPr/>
          </p:nvSpPr>
          <p:spPr bwMode="auto">
            <a:xfrm>
              <a:off x="2976" y="1536"/>
              <a:ext cx="379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0487" name="Line 30"/>
            <p:cNvSpPr>
              <a:spLocks noChangeShapeType="1"/>
            </p:cNvSpPr>
            <p:nvPr/>
          </p:nvSpPr>
          <p:spPr bwMode="auto">
            <a:xfrm>
              <a:off x="4613" y="1536"/>
              <a:ext cx="379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0488" name="Line 31"/>
            <p:cNvSpPr>
              <a:spLocks noChangeShapeType="1"/>
            </p:cNvSpPr>
            <p:nvPr/>
          </p:nvSpPr>
          <p:spPr bwMode="auto">
            <a:xfrm rot="10800000">
              <a:off x="3360" y="1536"/>
              <a:ext cx="379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0489" name="Line 32"/>
            <p:cNvSpPr>
              <a:spLocks noChangeShapeType="1"/>
            </p:cNvSpPr>
            <p:nvPr/>
          </p:nvSpPr>
          <p:spPr bwMode="auto">
            <a:xfrm rot="10800000">
              <a:off x="1733" y="1536"/>
              <a:ext cx="379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0490" name="Line 33"/>
            <p:cNvSpPr>
              <a:spLocks noChangeShapeType="1"/>
            </p:cNvSpPr>
            <p:nvPr/>
          </p:nvSpPr>
          <p:spPr bwMode="auto">
            <a:xfrm>
              <a:off x="1728" y="1392"/>
              <a:ext cx="0" cy="62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0491" name="Line 34"/>
            <p:cNvSpPr>
              <a:spLocks noChangeShapeType="1"/>
            </p:cNvSpPr>
            <p:nvPr/>
          </p:nvSpPr>
          <p:spPr bwMode="auto">
            <a:xfrm>
              <a:off x="3360" y="1392"/>
              <a:ext cx="0" cy="62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0492" name="Line 35"/>
            <p:cNvSpPr>
              <a:spLocks noChangeShapeType="1"/>
            </p:cNvSpPr>
            <p:nvPr/>
          </p:nvSpPr>
          <p:spPr bwMode="auto">
            <a:xfrm>
              <a:off x="4992" y="1392"/>
              <a:ext cx="0" cy="62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79588" name="Rectangle 36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279589" name="Text Box 37"/>
          <p:cNvSpPr txBox="1">
            <a:spLocks noChangeArrowheads="1"/>
          </p:cNvSpPr>
          <p:nvPr/>
        </p:nvSpPr>
        <p:spPr bwMode="auto">
          <a:xfrm>
            <a:off x="265113" y="3505200"/>
            <a:ext cx="1952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启动存储体 0</a:t>
            </a:r>
          </a:p>
        </p:txBody>
      </p:sp>
      <p:sp>
        <p:nvSpPr>
          <p:cNvPr id="279590" name="Text Box 38"/>
          <p:cNvSpPr txBox="1">
            <a:spLocks noChangeArrowheads="1"/>
          </p:cNvSpPr>
          <p:nvPr/>
        </p:nvSpPr>
        <p:spPr bwMode="auto">
          <a:xfrm>
            <a:off x="265113" y="4241800"/>
            <a:ext cx="1952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启动存储体 1</a:t>
            </a:r>
          </a:p>
        </p:txBody>
      </p:sp>
      <p:sp>
        <p:nvSpPr>
          <p:cNvPr id="279591" name="Text Box 39"/>
          <p:cNvSpPr txBox="1">
            <a:spLocks noChangeArrowheads="1"/>
          </p:cNvSpPr>
          <p:nvPr/>
        </p:nvSpPr>
        <p:spPr bwMode="auto">
          <a:xfrm>
            <a:off x="265113" y="4978400"/>
            <a:ext cx="1952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启动存储体 2</a:t>
            </a:r>
          </a:p>
        </p:txBody>
      </p:sp>
      <p:sp>
        <p:nvSpPr>
          <p:cNvPr id="279592" name="Text Box 40"/>
          <p:cNvSpPr txBox="1">
            <a:spLocks noChangeArrowheads="1"/>
          </p:cNvSpPr>
          <p:nvPr/>
        </p:nvSpPr>
        <p:spPr bwMode="auto">
          <a:xfrm>
            <a:off x="265113" y="5715000"/>
            <a:ext cx="1952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启动存储体 3</a:t>
            </a:r>
          </a:p>
        </p:txBody>
      </p:sp>
      <p:sp>
        <p:nvSpPr>
          <p:cNvPr id="190483" name="AutoShape 41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79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79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79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2" dur="500"/>
                                        <p:tgtEl>
                                          <p:spTgt spid="279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4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279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7" dur="500"/>
                                        <p:tgtEl>
                                          <p:spTgt spid="279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6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2795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2" dur="500"/>
                                        <p:tgtEl>
                                          <p:spTgt spid="279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7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9568" grpId="0" autoUpdateAnimBg="0"/>
      <p:bldP spid="279572" grpId="0" animBg="1"/>
      <p:bldP spid="279573" grpId="0" animBg="1"/>
      <p:bldP spid="279574" grpId="0" animBg="1"/>
      <p:bldP spid="279589" grpId="0" autoUpdateAnimBg="0"/>
      <p:bldP spid="279590" grpId="0" autoUpdateAnimBg="0"/>
      <p:bldP spid="279591" grpId="0" autoUpdateAnimBg="0"/>
      <p:bldP spid="279592" grpId="0" autoUpdateAnimBg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Text Box 2"/>
          <p:cNvSpPr txBox="1">
            <a:spLocks noChangeArrowheads="1"/>
          </p:cNvSpPr>
          <p:nvPr/>
        </p:nvSpPr>
        <p:spPr bwMode="auto">
          <a:xfrm>
            <a:off x="434975" y="1243013"/>
            <a:ext cx="260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 b="0"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280579" name="Rectangle 3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2053" name="Rectangle 4"/>
          <p:cNvSpPr>
            <a:spLocks noChangeArrowheads="1"/>
          </p:cNvSpPr>
          <p:nvPr/>
        </p:nvSpPr>
        <p:spPr bwMode="auto">
          <a:xfrm>
            <a:off x="0" y="2543175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graphicFrame>
        <p:nvGraphicFramePr>
          <p:cNvPr id="280581" name="Object 5"/>
          <p:cNvGraphicFramePr>
            <a:graphicFrameLocks noChangeAspect="1"/>
          </p:cNvGraphicFramePr>
          <p:nvPr/>
        </p:nvGraphicFramePr>
        <p:xfrm>
          <a:off x="1547813" y="1587500"/>
          <a:ext cx="6948487" cy="39290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Visio" r:id="rId2" imgW="3836035" imgH="2291080" progId="Visio.Drawing.11">
                  <p:embed/>
                </p:oleObj>
              </mc:Choice>
              <mc:Fallback>
                <p:oleObj name="Visio" r:id="rId2" imgW="3836035" imgH="2291080" progId="Visio.Drawing.11">
                  <p:embed/>
                  <p:pic>
                    <p:nvPicPr>
                      <p:cNvPr id="0" name="图片 206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 b="5232"/>
                      <a:stretch>
                        <a:fillRect/>
                      </a:stretch>
                    </p:blipFill>
                    <p:spPr bwMode="auto">
                      <a:xfrm>
                        <a:off x="1547813" y="1587500"/>
                        <a:ext cx="6948487" cy="39290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folHlink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54" name="Text Box 6"/>
          <p:cNvSpPr txBox="1">
            <a:spLocks noChangeArrowheads="1"/>
          </p:cNvSpPr>
          <p:nvPr/>
        </p:nvSpPr>
        <p:spPr bwMode="auto">
          <a:xfrm>
            <a:off x="611188" y="404813"/>
            <a:ext cx="7489825" cy="1235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50000"/>
              </a:lnSpc>
              <a:spcBef>
                <a:spcPct val="5000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设四体低位交叉存储器，存取周期为</a:t>
            </a:r>
            <a:r>
              <a:rPr lang="en-US" altLang="zh-CN" sz="2400" i="1">
                <a:latin typeface="Times New Roman" panose="02020603050405020304" pitchFamily="18" charset="0"/>
              </a:rPr>
              <a:t>T</a:t>
            </a:r>
            <a:r>
              <a:rPr lang="zh-CN" altLang="en-US" sz="2400">
                <a:latin typeface="Times New Roman" panose="02020603050405020304" pitchFamily="18" charset="0"/>
              </a:rPr>
              <a:t>，总线传输周期为</a:t>
            </a:r>
            <a:r>
              <a:rPr lang="en-US" altLang="zh-CN" sz="2600" i="1">
                <a:latin typeface="Times New Roman" panose="02020603050405020304" pitchFamily="18" charset="0"/>
                <a:ea typeface="MS Mincho" pitchFamily="49" charset="-128"/>
              </a:rPr>
              <a:t>τ</a:t>
            </a:r>
            <a:r>
              <a:rPr lang="zh-CN" altLang="en-US" sz="2400">
                <a:latin typeface="Times New Roman" panose="02020603050405020304" pitchFamily="18" charset="0"/>
              </a:rPr>
              <a:t>，为实现流水线方式存取，应满足 </a:t>
            </a:r>
            <a:r>
              <a:rPr lang="en-US" altLang="zh-CN" sz="2400" i="1">
                <a:solidFill>
                  <a:schemeClr val="folHlink"/>
                </a:solidFill>
                <a:latin typeface="Times New Roman" panose="02020603050405020304" pitchFamily="18" charset="0"/>
              </a:rPr>
              <a:t>T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＝ 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4</a:t>
            </a:r>
            <a:r>
              <a:rPr lang="en-US" altLang="zh-CN" sz="2600" i="1">
                <a:solidFill>
                  <a:schemeClr val="folHlink"/>
                </a:solidFill>
                <a:latin typeface="Times New Roman" panose="02020603050405020304" pitchFamily="18" charset="0"/>
                <a:ea typeface="MS Mincho" pitchFamily="49" charset="-128"/>
              </a:rPr>
              <a:t>τ</a:t>
            </a:r>
            <a:r>
              <a:rPr lang="zh-CN" altLang="en-US" sz="2400">
                <a:latin typeface="Times New Roman" panose="02020603050405020304" pitchFamily="18" charset="0"/>
              </a:rPr>
              <a:t>。</a:t>
            </a:r>
          </a:p>
        </p:txBody>
      </p:sp>
      <p:sp>
        <p:nvSpPr>
          <p:cNvPr id="280583" name="Text Box 7"/>
          <p:cNvSpPr txBox="1">
            <a:spLocks noChangeArrowheads="1"/>
          </p:cNvSpPr>
          <p:nvPr/>
        </p:nvSpPr>
        <p:spPr bwMode="auto">
          <a:xfrm>
            <a:off x="1762125" y="5876925"/>
            <a:ext cx="8497888" cy="488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连续读取 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4 </a:t>
            </a:r>
            <a:r>
              <a:rPr lang="zh-CN" altLang="en-US" sz="2400">
                <a:latin typeface="Times New Roman" panose="02020603050405020304" pitchFamily="18" charset="0"/>
              </a:rPr>
              <a:t>个字所需的时间为  </a:t>
            </a:r>
            <a:r>
              <a:rPr lang="en-US" altLang="zh-CN" sz="2400">
                <a:latin typeface="Times New Roman" panose="02020603050405020304" pitchFamily="18" charset="0"/>
              </a:rPr>
              <a:t> </a:t>
            </a:r>
            <a:r>
              <a:rPr lang="en-US" altLang="zh-CN" sz="2400" i="1">
                <a:solidFill>
                  <a:schemeClr val="folHlink"/>
                </a:solidFill>
                <a:latin typeface="Times New Roman" panose="02020603050405020304" pitchFamily="18" charset="0"/>
              </a:rPr>
              <a:t>T</a:t>
            </a:r>
            <a:r>
              <a:rPr lang="zh-CN" altLang="en-US" sz="2000">
                <a:solidFill>
                  <a:schemeClr val="folHlink"/>
                </a:solidFill>
                <a:latin typeface="Times New Roman" panose="02020603050405020304" pitchFamily="18" charset="0"/>
              </a:rPr>
              <a:t>＋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(4</a:t>
            </a:r>
            <a:r>
              <a:rPr lang="en-US" altLang="zh-CN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zh-CN" altLang="en-US" sz="1900">
                <a:solidFill>
                  <a:schemeClr val="folHlink"/>
                </a:solidFill>
                <a:latin typeface="Times New Roman" panose="02020603050405020304" pitchFamily="18" charset="0"/>
              </a:rPr>
              <a:t>－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1)</a:t>
            </a:r>
            <a:r>
              <a:rPr lang="en-US" altLang="zh-CN" sz="2600" i="1">
                <a:solidFill>
                  <a:schemeClr val="folHlink"/>
                </a:solidFill>
                <a:latin typeface="Times New Roman" panose="02020603050405020304" pitchFamily="18" charset="0"/>
                <a:ea typeface="MS Mincho" pitchFamily="49" charset="-128"/>
              </a:rPr>
              <a:t>τ</a:t>
            </a:r>
            <a:endParaRPr lang="zh-CN" altLang="en-US" sz="2600" i="1">
              <a:solidFill>
                <a:schemeClr val="folHlink"/>
              </a:solidFill>
              <a:latin typeface="Times New Roman" panose="02020603050405020304" pitchFamily="18" charset="0"/>
              <a:ea typeface="MS Mincho" pitchFamily="49" charset="-128"/>
            </a:endParaRPr>
          </a:p>
        </p:txBody>
      </p:sp>
      <p:sp>
        <p:nvSpPr>
          <p:cNvPr id="2056" name="AutoShape 8">
            <a:hlinkClick r:id="rId4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80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805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0583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90" name="Text Box 2"/>
          <p:cNvSpPr txBox="1">
            <a:spLocks noChangeArrowheads="1"/>
          </p:cNvSpPr>
          <p:nvPr/>
        </p:nvSpPr>
        <p:spPr bwMode="auto">
          <a:xfrm>
            <a:off x="381000" y="501650"/>
            <a:ext cx="75438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(3) 存储器控制部件（简称存控）</a:t>
            </a:r>
          </a:p>
        </p:txBody>
      </p:sp>
      <p:sp>
        <p:nvSpPr>
          <p:cNvPr id="281603" name="AutoShape 3"/>
          <p:cNvSpPr>
            <a:spLocks noChangeArrowheads="1"/>
          </p:cNvSpPr>
          <p:nvPr/>
        </p:nvSpPr>
        <p:spPr bwMode="auto">
          <a:xfrm>
            <a:off x="827088" y="2343150"/>
            <a:ext cx="2144712" cy="1698625"/>
          </a:xfrm>
          <a:prstGeom prst="wedgeRoundRectCallout">
            <a:avLst>
              <a:gd name="adj1" fmla="val 80866"/>
              <a:gd name="adj2" fmla="val 53736"/>
              <a:gd name="adj3" fmla="val 16667"/>
            </a:avLst>
          </a:prstGeom>
          <a:noFill/>
          <a:ln w="28575">
            <a:solidFill>
              <a:schemeClr val="folHlink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易发生代码</a:t>
            </a:r>
          </a:p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丢失的请求源，优先级</a:t>
            </a:r>
          </a:p>
          <a:p>
            <a:pPr eaLnBrk="1" hangingPunct="1">
              <a:spcBef>
                <a:spcPct val="0"/>
              </a:spcBef>
            </a:pP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最高</a:t>
            </a:r>
          </a:p>
        </p:txBody>
      </p:sp>
      <p:sp>
        <p:nvSpPr>
          <p:cNvPr id="281604" name="AutoShape 4"/>
          <p:cNvSpPr>
            <a:spLocks noChangeArrowheads="1"/>
          </p:cNvSpPr>
          <p:nvPr/>
        </p:nvSpPr>
        <p:spPr bwMode="auto">
          <a:xfrm>
            <a:off x="388938" y="4319588"/>
            <a:ext cx="2705100" cy="1304925"/>
          </a:xfrm>
          <a:prstGeom prst="wedgeRoundRectCallout">
            <a:avLst>
              <a:gd name="adj1" fmla="val 72708"/>
              <a:gd name="adj2" fmla="val -59625"/>
              <a:gd name="adj3" fmla="val 16667"/>
            </a:avLst>
          </a:prstGeom>
          <a:noFill/>
          <a:ln w="28575">
            <a:solidFill>
              <a:schemeClr val="folHlink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严重影响 </a:t>
            </a:r>
            <a:r>
              <a:rPr lang="en-US" altLang="zh-CN" sz="2400">
                <a:latin typeface="Times New Roman" panose="02020603050405020304" pitchFamily="18" charset="0"/>
              </a:rPr>
              <a:t>CPU</a:t>
            </a:r>
          </a:p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工作的请求源，</a:t>
            </a:r>
          </a:p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给予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次高 </a:t>
            </a:r>
            <a:r>
              <a:rPr lang="zh-CN" altLang="en-US" sz="2400">
                <a:latin typeface="Times New Roman" panose="02020603050405020304" pitchFamily="18" charset="0"/>
              </a:rPr>
              <a:t>优先级</a:t>
            </a:r>
          </a:p>
        </p:txBody>
      </p:sp>
      <p:sp>
        <p:nvSpPr>
          <p:cNvPr id="281605" name="Rectangle 5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grpSp>
        <p:nvGrpSpPr>
          <p:cNvPr id="2" name="Group 6"/>
          <p:cNvGrpSpPr/>
          <p:nvPr/>
        </p:nvGrpSpPr>
        <p:grpSpPr bwMode="auto">
          <a:xfrm>
            <a:off x="3200400" y="1790700"/>
            <a:ext cx="6477000" cy="3771900"/>
            <a:chOff x="2016" y="1128"/>
            <a:chExt cx="4080" cy="2376"/>
          </a:xfrm>
        </p:grpSpPr>
        <p:grpSp>
          <p:nvGrpSpPr>
            <p:cNvPr id="191496" name="Group 7"/>
            <p:cNvGrpSpPr/>
            <p:nvPr/>
          </p:nvGrpSpPr>
          <p:grpSpPr bwMode="auto">
            <a:xfrm>
              <a:off x="2016" y="1128"/>
              <a:ext cx="4080" cy="2376"/>
              <a:chOff x="2016" y="1128"/>
              <a:chExt cx="4080" cy="2376"/>
            </a:xfrm>
          </p:grpSpPr>
          <p:sp>
            <p:nvSpPr>
              <p:cNvPr id="191498" name="Rectangle 8"/>
              <p:cNvSpPr>
                <a:spLocks noChangeArrowheads="1"/>
              </p:cNvSpPr>
              <p:nvPr/>
            </p:nvSpPr>
            <p:spPr bwMode="auto">
              <a:xfrm>
                <a:off x="2256" y="1442"/>
                <a:ext cx="1056" cy="29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91499" name="Text Box 9"/>
              <p:cNvSpPr txBox="1">
                <a:spLocks noChangeArrowheads="1"/>
              </p:cNvSpPr>
              <p:nvPr/>
            </p:nvSpPr>
            <p:spPr bwMode="auto">
              <a:xfrm>
                <a:off x="2352" y="1442"/>
                <a:ext cx="89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控制线路</a:t>
                </a:r>
              </a:p>
            </p:txBody>
          </p:sp>
          <p:sp>
            <p:nvSpPr>
              <p:cNvPr id="191500" name="Rectangle 10"/>
              <p:cNvSpPr>
                <a:spLocks noChangeArrowheads="1"/>
              </p:cNvSpPr>
              <p:nvPr/>
            </p:nvSpPr>
            <p:spPr bwMode="auto">
              <a:xfrm>
                <a:off x="2256" y="2450"/>
                <a:ext cx="1056" cy="29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91501" name="Text Box 11"/>
              <p:cNvSpPr txBox="1">
                <a:spLocks noChangeArrowheads="1"/>
              </p:cNvSpPr>
              <p:nvPr/>
            </p:nvSpPr>
            <p:spPr bwMode="auto">
              <a:xfrm>
                <a:off x="2425" y="2450"/>
                <a:ext cx="69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排队器</a:t>
                </a:r>
              </a:p>
            </p:txBody>
          </p:sp>
          <p:sp>
            <p:nvSpPr>
              <p:cNvPr id="191502" name="Rectangle 12"/>
              <p:cNvSpPr>
                <a:spLocks noChangeArrowheads="1"/>
              </p:cNvSpPr>
              <p:nvPr/>
            </p:nvSpPr>
            <p:spPr bwMode="auto">
              <a:xfrm>
                <a:off x="3792" y="1248"/>
                <a:ext cx="791" cy="53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91503" name="Text Box 13"/>
              <p:cNvSpPr txBox="1">
                <a:spLocks noChangeArrowheads="1"/>
              </p:cNvSpPr>
              <p:nvPr/>
            </p:nvSpPr>
            <p:spPr bwMode="auto">
              <a:xfrm>
                <a:off x="3840" y="1260"/>
                <a:ext cx="698" cy="5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  节拍</a:t>
                </a:r>
              </a:p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发生器</a:t>
                </a:r>
              </a:p>
            </p:txBody>
          </p:sp>
          <p:sp>
            <p:nvSpPr>
              <p:cNvPr id="191504" name="Rectangle 14"/>
              <p:cNvSpPr>
                <a:spLocks noChangeArrowheads="1"/>
              </p:cNvSpPr>
              <p:nvPr/>
            </p:nvSpPr>
            <p:spPr bwMode="auto">
              <a:xfrm>
                <a:off x="3792" y="2304"/>
                <a:ext cx="791" cy="53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91505" name="Text Box 15"/>
              <p:cNvSpPr txBox="1">
                <a:spLocks noChangeArrowheads="1"/>
              </p:cNvSpPr>
              <p:nvPr/>
            </p:nvSpPr>
            <p:spPr bwMode="auto">
              <a:xfrm>
                <a:off x="3815" y="2304"/>
                <a:ext cx="265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Q</a:t>
                </a:r>
              </a:p>
            </p:txBody>
          </p:sp>
          <p:sp>
            <p:nvSpPr>
              <p:cNvPr id="191506" name="Text Box 16"/>
              <p:cNvSpPr txBox="1">
                <a:spLocks noChangeArrowheads="1"/>
              </p:cNvSpPr>
              <p:nvPr/>
            </p:nvSpPr>
            <p:spPr bwMode="auto">
              <a:xfrm>
                <a:off x="4272" y="2304"/>
                <a:ext cx="265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Q</a:t>
                </a:r>
              </a:p>
            </p:txBody>
          </p:sp>
          <p:sp>
            <p:nvSpPr>
              <p:cNvPr id="191507" name="Line 17"/>
              <p:cNvSpPr>
                <a:spLocks noChangeShapeType="1"/>
              </p:cNvSpPr>
              <p:nvPr/>
            </p:nvSpPr>
            <p:spPr bwMode="auto">
              <a:xfrm>
                <a:off x="4309" y="2352"/>
                <a:ext cx="192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1508" name="Text Box 18"/>
              <p:cNvSpPr txBox="1">
                <a:spLocks noChangeArrowheads="1"/>
              </p:cNvSpPr>
              <p:nvPr/>
            </p:nvSpPr>
            <p:spPr bwMode="auto">
              <a:xfrm>
                <a:off x="4032" y="2544"/>
                <a:ext cx="376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C</a:t>
                </a:r>
                <a:r>
                  <a:rPr lang="en-US" altLang="zh-CN" sz="2400" baseline="-20000">
                    <a:latin typeface="Times New Roman" panose="02020603050405020304" pitchFamily="18" charset="0"/>
                  </a:rPr>
                  <a:t>M</a:t>
                </a:r>
              </a:p>
            </p:txBody>
          </p:sp>
          <p:sp>
            <p:nvSpPr>
              <p:cNvPr id="191509" name="Line 19"/>
              <p:cNvSpPr>
                <a:spLocks noChangeShapeType="1"/>
              </p:cNvSpPr>
              <p:nvPr/>
            </p:nvSpPr>
            <p:spPr bwMode="auto">
              <a:xfrm flipV="1">
                <a:off x="3936" y="1778"/>
                <a:ext cx="0" cy="52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1510" name="Freeform 20"/>
              <p:cNvSpPr/>
              <p:nvPr/>
            </p:nvSpPr>
            <p:spPr bwMode="auto">
              <a:xfrm>
                <a:off x="4416" y="1778"/>
                <a:ext cx="624" cy="240"/>
              </a:xfrm>
              <a:custGeom>
                <a:avLst/>
                <a:gdLst>
                  <a:gd name="T0" fmla="*/ 624 w 624"/>
                  <a:gd name="T1" fmla="*/ 240 h 240"/>
                  <a:gd name="T2" fmla="*/ 0 w 624"/>
                  <a:gd name="T3" fmla="*/ 240 h 240"/>
                  <a:gd name="T4" fmla="*/ 0 w 624"/>
                  <a:gd name="T5" fmla="*/ 0 h 240"/>
                  <a:gd name="T6" fmla="*/ 0 60000 65536"/>
                  <a:gd name="T7" fmla="*/ 0 60000 65536"/>
                  <a:gd name="T8" fmla="*/ 0 60000 65536"/>
                  <a:gd name="T9" fmla="*/ 0 w 624"/>
                  <a:gd name="T10" fmla="*/ 0 h 240"/>
                  <a:gd name="T11" fmla="*/ 624 w 624"/>
                  <a:gd name="T12" fmla="*/ 240 h 24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24" h="240">
                    <a:moveTo>
                      <a:pt x="624" y="240"/>
                    </a:moveTo>
                    <a:lnTo>
                      <a:pt x="0" y="24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1511" name="Line 21"/>
              <p:cNvSpPr>
                <a:spLocks noChangeShapeType="1"/>
              </p:cNvSpPr>
              <p:nvPr/>
            </p:nvSpPr>
            <p:spPr bwMode="auto">
              <a:xfrm flipV="1">
                <a:off x="2448" y="2738"/>
                <a:ext cx="0" cy="32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1512" name="Line 22"/>
              <p:cNvSpPr>
                <a:spLocks noChangeShapeType="1"/>
              </p:cNvSpPr>
              <p:nvPr/>
            </p:nvSpPr>
            <p:spPr bwMode="auto">
              <a:xfrm flipV="1">
                <a:off x="2656" y="2738"/>
                <a:ext cx="0" cy="32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1513" name="Line 23"/>
              <p:cNvSpPr>
                <a:spLocks noChangeShapeType="1"/>
              </p:cNvSpPr>
              <p:nvPr/>
            </p:nvSpPr>
            <p:spPr bwMode="auto">
              <a:xfrm flipV="1">
                <a:off x="2864" y="2738"/>
                <a:ext cx="0" cy="32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1514" name="Line 24"/>
              <p:cNvSpPr>
                <a:spLocks noChangeShapeType="1"/>
              </p:cNvSpPr>
              <p:nvPr/>
            </p:nvSpPr>
            <p:spPr bwMode="auto">
              <a:xfrm flipV="1">
                <a:off x="3072" y="2738"/>
                <a:ext cx="0" cy="32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1515" name="AutoShape 25"/>
              <p:cNvSpPr/>
              <p:nvPr/>
            </p:nvSpPr>
            <p:spPr bwMode="auto">
              <a:xfrm rot="-5400000">
                <a:off x="2688" y="2784"/>
                <a:ext cx="144" cy="720"/>
              </a:xfrm>
              <a:prstGeom prst="leftBrace">
                <a:avLst>
                  <a:gd name="adj1" fmla="val 41667"/>
                  <a:gd name="adj2" fmla="val 50000"/>
                </a:avLst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91516" name="Text Box 26"/>
              <p:cNvSpPr txBox="1">
                <a:spLocks noChangeArrowheads="1"/>
              </p:cNvSpPr>
              <p:nvPr/>
            </p:nvSpPr>
            <p:spPr bwMode="auto">
              <a:xfrm>
                <a:off x="2016" y="3216"/>
                <a:ext cx="147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来自各个请求源</a:t>
                </a:r>
              </a:p>
            </p:txBody>
          </p:sp>
          <p:sp>
            <p:nvSpPr>
              <p:cNvPr id="191517" name="Line 27"/>
              <p:cNvSpPr>
                <a:spLocks noChangeShapeType="1"/>
              </p:cNvSpPr>
              <p:nvPr/>
            </p:nvSpPr>
            <p:spPr bwMode="auto">
              <a:xfrm flipV="1">
                <a:off x="2448" y="1128"/>
                <a:ext cx="0" cy="32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1518" name="Line 28"/>
              <p:cNvSpPr>
                <a:spLocks noChangeShapeType="1"/>
              </p:cNvSpPr>
              <p:nvPr/>
            </p:nvSpPr>
            <p:spPr bwMode="auto">
              <a:xfrm flipV="1">
                <a:off x="2640" y="1128"/>
                <a:ext cx="0" cy="32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1519" name="Line 29"/>
              <p:cNvSpPr>
                <a:spLocks noChangeShapeType="1"/>
              </p:cNvSpPr>
              <p:nvPr/>
            </p:nvSpPr>
            <p:spPr bwMode="auto">
              <a:xfrm flipV="1">
                <a:off x="3120" y="1128"/>
                <a:ext cx="0" cy="32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1520" name="Text Box 30"/>
              <p:cNvSpPr txBox="1">
                <a:spLocks noChangeArrowheads="1"/>
              </p:cNvSpPr>
              <p:nvPr/>
            </p:nvSpPr>
            <p:spPr bwMode="auto">
              <a:xfrm>
                <a:off x="2620" y="1140"/>
                <a:ext cx="42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  </a:t>
                </a:r>
                <a:r>
                  <a:rPr lang="zh-CN" altLang="en-US">
                    <a:latin typeface="Times New Roman" panose="02020603050405020304" pitchFamily="18" charset="0"/>
                  </a:rPr>
                  <a:t> </a:t>
                </a:r>
                <a:r>
                  <a:rPr lang="zh-CN" altLang="en-US" sz="24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91521" name="Freeform 31"/>
              <p:cNvSpPr/>
              <p:nvPr/>
            </p:nvSpPr>
            <p:spPr bwMode="auto">
              <a:xfrm>
                <a:off x="2784" y="1725"/>
                <a:ext cx="1" cy="723"/>
              </a:xfrm>
              <a:custGeom>
                <a:avLst/>
                <a:gdLst>
                  <a:gd name="T0" fmla="*/ 0 w 1"/>
                  <a:gd name="T1" fmla="*/ 723 h 723"/>
                  <a:gd name="T2" fmla="*/ 1 w 1"/>
                  <a:gd name="T3" fmla="*/ 0 h 723"/>
                  <a:gd name="T4" fmla="*/ 0 60000 65536"/>
                  <a:gd name="T5" fmla="*/ 0 60000 65536"/>
                  <a:gd name="T6" fmla="*/ 0 w 1"/>
                  <a:gd name="T7" fmla="*/ 0 h 723"/>
                  <a:gd name="T8" fmla="*/ 1 w 1"/>
                  <a:gd name="T9" fmla="*/ 723 h 72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723">
                    <a:moveTo>
                      <a:pt x="0" y="723"/>
                    </a:moveTo>
                    <a:lnTo>
                      <a:pt x="1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1522" name="Text Box 32"/>
              <p:cNvSpPr txBox="1">
                <a:spLocks noChangeArrowheads="1"/>
              </p:cNvSpPr>
              <p:nvPr/>
            </p:nvSpPr>
            <p:spPr bwMode="auto">
              <a:xfrm>
                <a:off x="4656" y="1713"/>
                <a:ext cx="5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主脉冲</a:t>
                </a:r>
              </a:p>
            </p:txBody>
          </p:sp>
          <p:sp>
            <p:nvSpPr>
              <p:cNvPr id="191523" name="Text Box 33"/>
              <p:cNvSpPr txBox="1">
                <a:spLocks noChangeArrowheads="1"/>
              </p:cNvSpPr>
              <p:nvPr/>
            </p:nvSpPr>
            <p:spPr bwMode="auto">
              <a:xfrm>
                <a:off x="4656" y="2352"/>
                <a:ext cx="1440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存控标记</a:t>
                </a:r>
              </a:p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 触发器</a:t>
                </a:r>
              </a:p>
            </p:txBody>
          </p:sp>
          <p:sp>
            <p:nvSpPr>
              <p:cNvPr id="191524" name="Line 34"/>
              <p:cNvSpPr>
                <a:spLocks noChangeShapeType="1"/>
              </p:cNvSpPr>
              <p:nvPr/>
            </p:nvSpPr>
            <p:spPr bwMode="auto">
              <a:xfrm flipH="1">
                <a:off x="3322" y="1584"/>
                <a:ext cx="48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191497" name="Freeform 35"/>
            <p:cNvSpPr/>
            <p:nvPr/>
          </p:nvSpPr>
          <p:spPr bwMode="auto">
            <a:xfrm>
              <a:off x="2784" y="2064"/>
              <a:ext cx="1152" cy="1008"/>
            </a:xfrm>
            <a:custGeom>
              <a:avLst/>
              <a:gdLst>
                <a:gd name="T0" fmla="*/ 1152 w 1152"/>
                <a:gd name="T1" fmla="*/ 768 h 1008"/>
                <a:gd name="T2" fmla="*/ 1152 w 1152"/>
                <a:gd name="T3" fmla="*/ 1008 h 1008"/>
                <a:gd name="T4" fmla="*/ 768 w 1152"/>
                <a:gd name="T5" fmla="*/ 1008 h 1008"/>
                <a:gd name="T6" fmla="*/ 768 w 1152"/>
                <a:gd name="T7" fmla="*/ 0 h 1008"/>
                <a:gd name="T8" fmla="*/ 0 w 1152"/>
                <a:gd name="T9" fmla="*/ 0 h 10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52"/>
                <a:gd name="T16" fmla="*/ 0 h 1008"/>
                <a:gd name="T17" fmla="*/ 1152 w 1152"/>
                <a:gd name="T18" fmla="*/ 1008 h 10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52" h="1008">
                  <a:moveTo>
                    <a:pt x="1152" y="768"/>
                  </a:moveTo>
                  <a:lnTo>
                    <a:pt x="1152" y="1008"/>
                  </a:lnTo>
                  <a:lnTo>
                    <a:pt x="768" y="1008"/>
                  </a:lnTo>
                  <a:lnTo>
                    <a:pt x="768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stealth" w="med" len="med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91495" name="AutoShape 36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81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81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603" grpId="0" animBg="1" autoUpdateAnimBg="0"/>
      <p:bldP spid="281604" grpId="0" animBg="1" autoUpdateAnimBg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626" name="Rectangle 2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4.2</a:t>
            </a:r>
          </a:p>
        </p:txBody>
      </p:sp>
      <p:sp>
        <p:nvSpPr>
          <p:cNvPr id="192515" name="Text Box 3"/>
          <p:cNvSpPr txBox="1">
            <a:spLocks noChangeArrowheads="1"/>
          </p:cNvSpPr>
          <p:nvPr/>
        </p:nvSpPr>
        <p:spPr bwMode="auto">
          <a:xfrm>
            <a:off x="685800" y="266700"/>
            <a:ext cx="47498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3600">
                <a:latin typeface="Times New Roman" panose="02020603050405020304" pitchFamily="18" charset="0"/>
              </a:rPr>
              <a:t>3.</a:t>
            </a:r>
            <a:r>
              <a:rPr lang="zh-CN" altLang="en-US" sz="3600">
                <a:latin typeface="Times New Roman" panose="02020603050405020304" pitchFamily="18" charset="0"/>
              </a:rPr>
              <a:t>高性能存储芯片</a:t>
            </a:r>
          </a:p>
        </p:txBody>
      </p:sp>
      <p:sp>
        <p:nvSpPr>
          <p:cNvPr id="282628" name="Text Box 4"/>
          <p:cNvSpPr txBox="1">
            <a:spLocks noChangeArrowheads="1"/>
          </p:cNvSpPr>
          <p:nvPr/>
        </p:nvSpPr>
        <p:spPr bwMode="auto">
          <a:xfrm>
            <a:off x="898525" y="1120775"/>
            <a:ext cx="54022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(1) </a:t>
            </a:r>
            <a:r>
              <a:rPr lang="en-US" altLang="zh-CN" sz="2800">
                <a:latin typeface="Times New Roman" panose="02020603050405020304" pitchFamily="18" charset="0"/>
              </a:rPr>
              <a:t>SDRAM (</a:t>
            </a:r>
            <a:r>
              <a:rPr lang="zh-CN" altLang="en-US" sz="2800">
                <a:latin typeface="Times New Roman" panose="02020603050405020304" pitchFamily="18" charset="0"/>
              </a:rPr>
              <a:t>同步 </a:t>
            </a:r>
            <a:r>
              <a:rPr lang="en-US" altLang="zh-CN" sz="2800">
                <a:latin typeface="Times New Roman" panose="02020603050405020304" pitchFamily="18" charset="0"/>
              </a:rPr>
              <a:t>DRAM)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82629" name="Text Box 5"/>
          <p:cNvSpPr txBox="1">
            <a:spLocks noChangeArrowheads="1"/>
          </p:cNvSpPr>
          <p:nvPr/>
        </p:nvSpPr>
        <p:spPr bwMode="auto">
          <a:xfrm>
            <a:off x="1473200" y="1700213"/>
            <a:ext cx="7273925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50000"/>
              </a:lnSpc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在系统时钟的控制下进行读出和写入</a:t>
            </a:r>
          </a:p>
          <a:p>
            <a:pPr eaLnBrk="1" hangingPunct="1">
              <a:lnSpc>
                <a:spcPct val="150000"/>
              </a:lnSpc>
              <a:spcBef>
                <a:spcPct val="0"/>
              </a:spcBef>
            </a:pP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CPU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无须等待</a:t>
            </a:r>
          </a:p>
        </p:txBody>
      </p:sp>
      <p:sp>
        <p:nvSpPr>
          <p:cNvPr id="282630" name="Text Box 6"/>
          <p:cNvSpPr txBox="1">
            <a:spLocks noChangeArrowheads="1"/>
          </p:cNvSpPr>
          <p:nvPr/>
        </p:nvSpPr>
        <p:spPr bwMode="auto">
          <a:xfrm>
            <a:off x="971550" y="3197225"/>
            <a:ext cx="54022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(</a:t>
            </a:r>
            <a:r>
              <a:rPr lang="en-US" altLang="zh-CN" sz="2800">
                <a:latin typeface="Times New Roman" panose="02020603050405020304" pitchFamily="18" charset="0"/>
              </a:rPr>
              <a:t>2) </a:t>
            </a:r>
            <a:r>
              <a:rPr lang="en-US" altLang="en-US" sz="2800">
                <a:latin typeface="Times New Roman" panose="02020603050405020304" pitchFamily="18" charset="0"/>
              </a:rPr>
              <a:t>RDRAM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82631" name="Text Box 7"/>
          <p:cNvSpPr txBox="1">
            <a:spLocks noChangeArrowheads="1"/>
          </p:cNvSpPr>
          <p:nvPr/>
        </p:nvSpPr>
        <p:spPr bwMode="auto">
          <a:xfrm>
            <a:off x="1546225" y="4051300"/>
            <a:ext cx="72739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由 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Rambus </a:t>
            </a:r>
            <a:r>
              <a:rPr lang="zh-CN" altLang="en-US" sz="2400">
                <a:latin typeface="Times New Roman" panose="02020603050405020304" pitchFamily="18" charset="0"/>
              </a:rPr>
              <a:t>开发，主要解决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存储器带宽 </a:t>
            </a:r>
            <a:r>
              <a:rPr lang="zh-CN" altLang="en-US" sz="2400">
                <a:latin typeface="Times New Roman" panose="02020603050405020304" pitchFamily="18" charset="0"/>
              </a:rPr>
              <a:t>问题 </a:t>
            </a:r>
          </a:p>
        </p:txBody>
      </p:sp>
      <p:sp>
        <p:nvSpPr>
          <p:cNvPr id="282632" name="Text Box 8"/>
          <p:cNvSpPr txBox="1">
            <a:spLocks noChangeArrowheads="1"/>
          </p:cNvSpPr>
          <p:nvPr/>
        </p:nvSpPr>
        <p:spPr bwMode="auto">
          <a:xfrm>
            <a:off x="1042988" y="4797425"/>
            <a:ext cx="5402262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(</a:t>
            </a:r>
            <a:r>
              <a:rPr lang="en-US" altLang="zh-CN" sz="2800">
                <a:latin typeface="Times New Roman" panose="02020603050405020304" pitchFamily="18" charset="0"/>
              </a:rPr>
              <a:t>3) </a:t>
            </a:r>
            <a:r>
              <a:rPr lang="en-US" altLang="en-US" sz="2800">
                <a:latin typeface="Times New Roman" panose="02020603050405020304" pitchFamily="18" charset="0"/>
              </a:rPr>
              <a:t>带</a:t>
            </a:r>
            <a:r>
              <a:rPr lang="en-US" altLang="zh-CN" sz="2800">
                <a:latin typeface="Times New Roman" panose="02020603050405020304" pitchFamily="18" charset="0"/>
              </a:rPr>
              <a:t> </a:t>
            </a:r>
            <a:r>
              <a:rPr lang="en-US" altLang="en-US" sz="2800">
                <a:latin typeface="Times New Roman" panose="02020603050405020304" pitchFamily="18" charset="0"/>
              </a:rPr>
              <a:t>Cache</a:t>
            </a:r>
            <a:r>
              <a:rPr lang="en-US" altLang="zh-CN" sz="2800">
                <a:latin typeface="Times New Roman" panose="02020603050405020304" pitchFamily="18" charset="0"/>
              </a:rPr>
              <a:t> </a:t>
            </a:r>
            <a:r>
              <a:rPr lang="en-US" altLang="en-US" sz="2800">
                <a:latin typeface="Times New Roman" panose="02020603050405020304" pitchFamily="18" charset="0"/>
              </a:rPr>
              <a:t>的</a:t>
            </a:r>
            <a:r>
              <a:rPr lang="en-US" altLang="zh-CN" sz="2800">
                <a:latin typeface="Times New Roman" panose="02020603050405020304" pitchFamily="18" charset="0"/>
              </a:rPr>
              <a:t> </a:t>
            </a:r>
            <a:r>
              <a:rPr lang="en-US" altLang="en-US" sz="2800">
                <a:latin typeface="Times New Roman" panose="02020603050405020304" pitchFamily="18" charset="0"/>
              </a:rPr>
              <a:t>DRAM 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82633" name="Text Box 9"/>
          <p:cNvSpPr txBox="1">
            <a:spLocks noChangeArrowheads="1"/>
          </p:cNvSpPr>
          <p:nvPr/>
        </p:nvSpPr>
        <p:spPr bwMode="auto">
          <a:xfrm>
            <a:off x="1546225" y="5373688"/>
            <a:ext cx="7273925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50000"/>
              </a:lnSpc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在 </a:t>
            </a:r>
            <a:r>
              <a:rPr lang="en-US" altLang="zh-CN" sz="2400">
                <a:latin typeface="Times New Roman" panose="02020603050405020304" pitchFamily="18" charset="0"/>
              </a:rPr>
              <a:t>DRAM </a:t>
            </a:r>
            <a:r>
              <a:rPr lang="zh-CN" altLang="en-US" sz="2400">
                <a:latin typeface="Times New Roman" panose="02020603050405020304" pitchFamily="18" charset="0"/>
              </a:rPr>
              <a:t>的芯片内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集成</a:t>
            </a:r>
            <a:r>
              <a:rPr lang="zh-CN" altLang="en-US" sz="2400">
                <a:latin typeface="Times New Roman" panose="02020603050405020304" pitchFamily="18" charset="0"/>
              </a:rPr>
              <a:t> 了一个由 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SRAM</a:t>
            </a:r>
            <a:r>
              <a:rPr lang="en-US" altLang="zh-CN" sz="2400">
                <a:latin typeface="Times New Roman" panose="02020603050405020304" pitchFamily="18" charset="0"/>
              </a:rPr>
              <a:t> </a:t>
            </a:r>
            <a:r>
              <a:rPr lang="zh-CN" altLang="en-US" sz="2400">
                <a:latin typeface="Times New Roman" panose="02020603050405020304" pitchFamily="18" charset="0"/>
              </a:rPr>
              <a:t>组成的 </a:t>
            </a:r>
            <a:r>
              <a:rPr lang="en-US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Cache</a:t>
            </a:r>
            <a:r>
              <a:rPr lang="en-US" altLang="zh-CN" sz="2400">
                <a:latin typeface="Times New Roman" panose="02020603050405020304" pitchFamily="18" charset="0"/>
              </a:rPr>
              <a:t> </a:t>
            </a:r>
            <a:r>
              <a:rPr lang="zh-CN" altLang="en-US" sz="2400">
                <a:latin typeface="Times New Roman" panose="02020603050405020304" pitchFamily="18" charset="0"/>
              </a:rPr>
              <a:t>，有利于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猝发式读取</a:t>
            </a:r>
            <a:r>
              <a:rPr lang="zh-CN" altLang="en-US" sz="2400">
                <a:latin typeface="Times New Roman" panose="02020603050405020304" pitchFamily="18" charset="0"/>
              </a:rPr>
              <a:t> </a:t>
            </a:r>
          </a:p>
          <a:p>
            <a:pPr eaLnBrk="1" hangingPunct="1">
              <a:spcBef>
                <a:spcPct val="0"/>
              </a:spcBef>
            </a:pPr>
            <a:endParaRPr lang="zh-CN" altLang="en-US" sz="2400">
              <a:latin typeface="Times New Roman" panose="02020603050405020304" pitchFamily="18" charset="0"/>
            </a:endParaRPr>
          </a:p>
        </p:txBody>
      </p:sp>
      <p:sp>
        <p:nvSpPr>
          <p:cNvPr id="192522" name="AutoShape 12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826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82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826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826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82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6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826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2628" grpId="0" autoUpdateAnimBg="0"/>
      <p:bldP spid="282629" grpId="0" autoUpdateAnimBg="0"/>
      <p:bldP spid="282630" grpId="0" autoUpdateAnimBg="0"/>
      <p:bldP spid="282631" grpId="0" autoUpdateAnimBg="0"/>
      <p:bldP spid="282632" grpId="0" autoUpdateAnimBg="0"/>
      <p:bldP spid="282633" grpId="0" autoUpdateAnimBg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65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</p:spPr>
        <p:txBody>
          <a:bodyPr/>
          <a:lstStyle/>
          <a:p>
            <a:pPr eaLnBrk="1" hangingPunct="1">
              <a:defRPr/>
            </a:pPr>
            <a:r>
              <a:rPr lang="zh-CN" altLang="en-US" b="1"/>
              <a:t>4.3   高速缓冲存储器</a:t>
            </a:r>
          </a:p>
        </p:txBody>
      </p:sp>
      <p:sp>
        <p:nvSpPr>
          <p:cNvPr id="283651" name="Text Box 3"/>
          <p:cNvSpPr txBox="1">
            <a:spLocks noChangeArrowheads="1"/>
          </p:cNvSpPr>
          <p:nvPr/>
        </p:nvSpPr>
        <p:spPr bwMode="auto">
          <a:xfrm>
            <a:off x="914400" y="938213"/>
            <a:ext cx="31527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一、概述</a:t>
            </a:r>
          </a:p>
        </p:txBody>
      </p:sp>
      <p:sp>
        <p:nvSpPr>
          <p:cNvPr id="283652" name="Text Box 4"/>
          <p:cNvSpPr txBox="1">
            <a:spLocks noChangeArrowheads="1"/>
          </p:cNvSpPr>
          <p:nvPr/>
        </p:nvSpPr>
        <p:spPr bwMode="auto">
          <a:xfrm>
            <a:off x="1431925" y="1771650"/>
            <a:ext cx="26304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1. 问题的提出</a:t>
            </a:r>
          </a:p>
        </p:txBody>
      </p:sp>
      <p:sp>
        <p:nvSpPr>
          <p:cNvPr id="283653" name="Text Box 5"/>
          <p:cNvSpPr txBox="1">
            <a:spLocks noChangeArrowheads="1"/>
          </p:cNvSpPr>
          <p:nvPr/>
        </p:nvSpPr>
        <p:spPr bwMode="auto">
          <a:xfrm>
            <a:off x="1797050" y="2409825"/>
            <a:ext cx="47561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避免 </a:t>
            </a:r>
            <a:r>
              <a:rPr lang="en-US" altLang="zh-CN" sz="2800">
                <a:latin typeface="Times New Roman" panose="02020603050405020304" pitchFamily="18" charset="0"/>
              </a:rPr>
              <a:t>CPU “</a:t>
            </a:r>
            <a:r>
              <a:rPr lang="zh-CN" altLang="en-US" sz="2800">
                <a:latin typeface="Times New Roman" panose="02020603050405020304" pitchFamily="18" charset="0"/>
              </a:rPr>
              <a:t>空等” 现象</a:t>
            </a:r>
          </a:p>
        </p:txBody>
      </p:sp>
      <p:sp>
        <p:nvSpPr>
          <p:cNvPr id="283654" name="Text Box 6"/>
          <p:cNvSpPr txBox="1">
            <a:spLocks noChangeArrowheads="1"/>
          </p:cNvSpPr>
          <p:nvPr/>
        </p:nvSpPr>
        <p:spPr bwMode="auto">
          <a:xfrm>
            <a:off x="1797050" y="2971800"/>
            <a:ext cx="56832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2800">
                <a:latin typeface="Times New Roman" panose="02020603050405020304" pitchFamily="18" charset="0"/>
              </a:rPr>
              <a:t>CPU </a:t>
            </a:r>
            <a:r>
              <a:rPr lang="zh-CN" altLang="en-US" sz="2800">
                <a:latin typeface="Times New Roman" panose="02020603050405020304" pitchFamily="18" charset="0"/>
              </a:rPr>
              <a:t>和主存（</a:t>
            </a:r>
            <a:r>
              <a:rPr lang="en-US" altLang="zh-CN" sz="2800">
                <a:latin typeface="Times New Roman" panose="02020603050405020304" pitchFamily="18" charset="0"/>
              </a:rPr>
              <a:t>DRAM）</a:t>
            </a:r>
            <a:r>
              <a:rPr lang="zh-CN" altLang="en-US" sz="2800">
                <a:latin typeface="Times New Roman" panose="02020603050405020304" pitchFamily="18" charset="0"/>
              </a:rPr>
              <a:t>的速度差异</a:t>
            </a:r>
          </a:p>
        </p:txBody>
      </p:sp>
      <p:grpSp>
        <p:nvGrpSpPr>
          <p:cNvPr id="2" name="Group 7"/>
          <p:cNvGrpSpPr/>
          <p:nvPr/>
        </p:nvGrpSpPr>
        <p:grpSpPr bwMode="auto">
          <a:xfrm>
            <a:off x="1884363" y="3657600"/>
            <a:ext cx="5278437" cy="990600"/>
            <a:chOff x="1187" y="2304"/>
            <a:chExt cx="3325" cy="624"/>
          </a:xfrm>
        </p:grpSpPr>
        <p:sp>
          <p:nvSpPr>
            <p:cNvPr id="193548" name="Text Box 8"/>
            <p:cNvSpPr txBox="1">
              <a:spLocks noChangeArrowheads="1"/>
            </p:cNvSpPr>
            <p:nvPr/>
          </p:nvSpPr>
          <p:spPr bwMode="auto">
            <a:xfrm>
              <a:off x="2544" y="2573"/>
              <a:ext cx="75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缓存</a:t>
              </a:r>
            </a:p>
          </p:txBody>
        </p:sp>
        <p:sp>
          <p:nvSpPr>
            <p:cNvPr id="193549" name="Rectangle 9"/>
            <p:cNvSpPr>
              <a:spLocks noChangeArrowheads="1"/>
            </p:cNvSpPr>
            <p:nvPr/>
          </p:nvSpPr>
          <p:spPr bwMode="auto">
            <a:xfrm>
              <a:off x="2451" y="2565"/>
              <a:ext cx="765" cy="363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93550" name="Text Box 10"/>
            <p:cNvSpPr txBox="1">
              <a:spLocks noChangeArrowheads="1"/>
            </p:cNvSpPr>
            <p:nvPr/>
          </p:nvSpPr>
          <p:spPr bwMode="auto">
            <a:xfrm>
              <a:off x="1296" y="2573"/>
              <a:ext cx="77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800">
                  <a:latin typeface="Times New Roman" panose="02020603050405020304" pitchFamily="18" charset="0"/>
                </a:rPr>
                <a:t>CPU</a:t>
              </a:r>
            </a:p>
          </p:txBody>
        </p:sp>
        <p:sp>
          <p:nvSpPr>
            <p:cNvPr id="193551" name="Rectangle 11"/>
            <p:cNvSpPr>
              <a:spLocks noChangeArrowheads="1"/>
            </p:cNvSpPr>
            <p:nvPr/>
          </p:nvSpPr>
          <p:spPr bwMode="auto">
            <a:xfrm>
              <a:off x="1187" y="2565"/>
              <a:ext cx="764" cy="363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93552" name="Text Box 12"/>
            <p:cNvSpPr txBox="1">
              <a:spLocks noChangeArrowheads="1"/>
            </p:cNvSpPr>
            <p:nvPr/>
          </p:nvSpPr>
          <p:spPr bwMode="auto">
            <a:xfrm>
              <a:off x="3852" y="2573"/>
              <a:ext cx="66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主存</a:t>
              </a:r>
            </a:p>
          </p:txBody>
        </p:sp>
        <p:sp>
          <p:nvSpPr>
            <p:cNvPr id="193553" name="Rectangle 13"/>
            <p:cNvSpPr>
              <a:spLocks noChangeArrowheads="1"/>
            </p:cNvSpPr>
            <p:nvPr/>
          </p:nvSpPr>
          <p:spPr bwMode="auto">
            <a:xfrm>
              <a:off x="3748" y="2565"/>
              <a:ext cx="764" cy="363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93554" name="Freeform 14"/>
            <p:cNvSpPr/>
            <p:nvPr/>
          </p:nvSpPr>
          <p:spPr bwMode="auto">
            <a:xfrm rot="10800000">
              <a:off x="1619" y="2304"/>
              <a:ext cx="2461" cy="248"/>
            </a:xfrm>
            <a:custGeom>
              <a:avLst/>
              <a:gdLst>
                <a:gd name="T0" fmla="*/ 0 w 2610"/>
                <a:gd name="T1" fmla="*/ 0 h 282"/>
                <a:gd name="T2" fmla="*/ 0 w 2610"/>
                <a:gd name="T3" fmla="*/ 47 h 282"/>
                <a:gd name="T4" fmla="*/ 1145 w 2610"/>
                <a:gd name="T5" fmla="*/ 47 h 282"/>
                <a:gd name="T6" fmla="*/ 1145 w 2610"/>
                <a:gd name="T7" fmla="*/ 0 h 28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10"/>
                <a:gd name="T13" fmla="*/ 0 h 282"/>
                <a:gd name="T14" fmla="*/ 2610 w 2610"/>
                <a:gd name="T15" fmla="*/ 282 h 28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10" h="282">
                  <a:moveTo>
                    <a:pt x="0" y="0"/>
                  </a:moveTo>
                  <a:lnTo>
                    <a:pt x="0" y="282"/>
                  </a:lnTo>
                  <a:lnTo>
                    <a:pt x="2610" y="282"/>
                  </a:lnTo>
                  <a:lnTo>
                    <a:pt x="261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3555" name="Line 15"/>
            <p:cNvSpPr>
              <a:spLocks noChangeShapeType="1"/>
            </p:cNvSpPr>
            <p:nvPr/>
          </p:nvSpPr>
          <p:spPr bwMode="auto">
            <a:xfrm>
              <a:off x="3216" y="2736"/>
              <a:ext cx="51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3556" name="Line 16"/>
            <p:cNvSpPr>
              <a:spLocks noChangeShapeType="1"/>
            </p:cNvSpPr>
            <p:nvPr/>
          </p:nvSpPr>
          <p:spPr bwMode="auto">
            <a:xfrm>
              <a:off x="1933" y="2736"/>
              <a:ext cx="51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83665" name="Text Box 17"/>
          <p:cNvSpPr txBox="1">
            <a:spLocks noChangeArrowheads="1"/>
          </p:cNvSpPr>
          <p:nvPr/>
        </p:nvSpPr>
        <p:spPr bwMode="auto">
          <a:xfrm>
            <a:off x="3962400" y="4664075"/>
            <a:ext cx="1103313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容量小</a:t>
            </a:r>
          </a:p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速度高</a:t>
            </a:r>
          </a:p>
        </p:txBody>
      </p:sp>
      <p:sp>
        <p:nvSpPr>
          <p:cNvPr id="283666" name="Text Box 18"/>
          <p:cNvSpPr txBox="1">
            <a:spLocks noChangeArrowheads="1"/>
          </p:cNvSpPr>
          <p:nvPr/>
        </p:nvSpPr>
        <p:spPr bwMode="auto">
          <a:xfrm>
            <a:off x="6059488" y="4668838"/>
            <a:ext cx="1103312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容量大</a:t>
            </a:r>
          </a:p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速度低</a:t>
            </a:r>
          </a:p>
        </p:txBody>
      </p:sp>
      <p:sp>
        <p:nvSpPr>
          <p:cNvPr id="283667" name="Text Box 19"/>
          <p:cNvSpPr txBox="1">
            <a:spLocks noChangeArrowheads="1"/>
          </p:cNvSpPr>
          <p:nvPr/>
        </p:nvSpPr>
        <p:spPr bwMode="auto">
          <a:xfrm>
            <a:off x="1797050" y="5835650"/>
            <a:ext cx="37560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程序访问的局部性原理</a:t>
            </a:r>
          </a:p>
        </p:txBody>
      </p:sp>
      <p:sp>
        <p:nvSpPr>
          <p:cNvPr id="193547" name="AutoShape 20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83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83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83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83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836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836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2836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3651" grpId="0" autoUpdateAnimBg="0"/>
      <p:bldP spid="283652" grpId="0" autoUpdateAnimBg="0"/>
      <p:bldP spid="283653" grpId="0" autoUpdateAnimBg="0"/>
      <p:bldP spid="283654" grpId="0" autoUpdateAnimBg="0"/>
      <p:bldP spid="283665" grpId="0" autoUpdateAnimBg="0"/>
      <p:bldP spid="283666" grpId="0" autoUpdateAnimBg="0"/>
      <p:bldP spid="283667" grpId="0" autoUpdateAnimBg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62" name="Text Box 2"/>
          <p:cNvSpPr txBox="1">
            <a:spLocks noChangeArrowheads="1"/>
          </p:cNvSpPr>
          <p:nvPr/>
        </p:nvSpPr>
        <p:spPr bwMode="auto">
          <a:xfrm>
            <a:off x="152400" y="131763"/>
            <a:ext cx="48768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2. </a:t>
            </a:r>
            <a:r>
              <a:rPr lang="en-US" altLang="zh-CN" sz="3600">
                <a:latin typeface="Times New Roman" panose="02020603050405020304" pitchFamily="18" charset="0"/>
              </a:rPr>
              <a:t>Cache </a:t>
            </a:r>
            <a:r>
              <a:rPr lang="zh-CN" altLang="en-US" sz="3600">
                <a:latin typeface="Times New Roman" panose="02020603050405020304" pitchFamily="18" charset="0"/>
              </a:rPr>
              <a:t>的工作原理</a:t>
            </a:r>
          </a:p>
        </p:txBody>
      </p:sp>
      <p:sp>
        <p:nvSpPr>
          <p:cNvPr id="284675" name="Text Box 3"/>
          <p:cNvSpPr txBox="1">
            <a:spLocks noChangeArrowheads="1"/>
          </p:cNvSpPr>
          <p:nvPr/>
        </p:nvSpPr>
        <p:spPr bwMode="auto">
          <a:xfrm>
            <a:off x="533400" y="714375"/>
            <a:ext cx="4343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(1)  主存和缓存的编址</a:t>
            </a:r>
          </a:p>
        </p:txBody>
      </p:sp>
      <p:sp>
        <p:nvSpPr>
          <p:cNvPr id="284676" name="Text Box 4"/>
          <p:cNvSpPr txBox="1">
            <a:spLocks noChangeArrowheads="1"/>
          </p:cNvSpPr>
          <p:nvPr/>
        </p:nvSpPr>
        <p:spPr bwMode="auto">
          <a:xfrm>
            <a:off x="685800" y="6248400"/>
            <a:ext cx="60515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主存和缓存按块存储      块的大小相同</a:t>
            </a:r>
          </a:p>
        </p:txBody>
      </p:sp>
      <p:sp>
        <p:nvSpPr>
          <p:cNvPr id="284677" name="Text Box 5"/>
          <p:cNvSpPr txBox="1">
            <a:spLocks noChangeArrowheads="1"/>
          </p:cNvSpPr>
          <p:nvPr/>
        </p:nvSpPr>
        <p:spPr bwMode="auto">
          <a:xfrm>
            <a:off x="7010400" y="6248400"/>
            <a:ext cx="15763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2800" i="1">
                <a:solidFill>
                  <a:schemeClr val="folHlink"/>
                </a:solidFill>
                <a:latin typeface="Times New Roman" panose="02020603050405020304" pitchFamily="18" charset="0"/>
              </a:rPr>
              <a:t>B</a:t>
            </a:r>
            <a:r>
              <a: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为块长</a:t>
            </a:r>
          </a:p>
        </p:txBody>
      </p:sp>
      <p:grpSp>
        <p:nvGrpSpPr>
          <p:cNvPr id="2" name="Group 6"/>
          <p:cNvGrpSpPr/>
          <p:nvPr/>
        </p:nvGrpSpPr>
        <p:grpSpPr bwMode="auto">
          <a:xfrm>
            <a:off x="558800" y="1255713"/>
            <a:ext cx="8355013" cy="4932362"/>
            <a:chOff x="352" y="791"/>
            <a:chExt cx="5263" cy="3107"/>
          </a:xfrm>
        </p:grpSpPr>
        <p:grpSp>
          <p:nvGrpSpPr>
            <p:cNvPr id="194569" name="Group 7"/>
            <p:cNvGrpSpPr/>
            <p:nvPr/>
          </p:nvGrpSpPr>
          <p:grpSpPr bwMode="auto">
            <a:xfrm>
              <a:off x="352" y="791"/>
              <a:ext cx="2768" cy="3107"/>
              <a:chOff x="352" y="791"/>
              <a:chExt cx="2768" cy="3107"/>
            </a:xfrm>
          </p:grpSpPr>
          <p:sp>
            <p:nvSpPr>
              <p:cNvPr id="194620" name="Rectangle 8"/>
              <p:cNvSpPr>
                <a:spLocks noChangeArrowheads="1"/>
              </p:cNvSpPr>
              <p:nvPr/>
            </p:nvSpPr>
            <p:spPr bwMode="auto">
              <a:xfrm>
                <a:off x="960" y="2089"/>
                <a:ext cx="816" cy="4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4621" name="Rectangle 9"/>
              <p:cNvSpPr>
                <a:spLocks noChangeArrowheads="1"/>
              </p:cNvSpPr>
              <p:nvPr/>
            </p:nvSpPr>
            <p:spPr bwMode="auto">
              <a:xfrm>
                <a:off x="960" y="1805"/>
                <a:ext cx="816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4622" name="Rectangle 10"/>
              <p:cNvSpPr>
                <a:spLocks noChangeArrowheads="1"/>
              </p:cNvSpPr>
              <p:nvPr/>
            </p:nvSpPr>
            <p:spPr bwMode="auto">
              <a:xfrm>
                <a:off x="960" y="1362"/>
                <a:ext cx="816" cy="325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4623" name="Rectangle 11"/>
              <p:cNvSpPr>
                <a:spLocks noChangeArrowheads="1"/>
              </p:cNvSpPr>
              <p:nvPr/>
            </p:nvSpPr>
            <p:spPr bwMode="auto">
              <a:xfrm>
                <a:off x="960" y="1202"/>
                <a:ext cx="816" cy="16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4624" name="Rectangle 12"/>
              <p:cNvSpPr>
                <a:spLocks noChangeArrowheads="1"/>
              </p:cNvSpPr>
              <p:nvPr/>
            </p:nvSpPr>
            <p:spPr bwMode="auto">
              <a:xfrm>
                <a:off x="960" y="1041"/>
                <a:ext cx="816" cy="16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4625" name="Line 13"/>
              <p:cNvSpPr>
                <a:spLocks noChangeShapeType="1"/>
              </p:cNvSpPr>
              <p:nvPr/>
            </p:nvSpPr>
            <p:spPr bwMode="auto">
              <a:xfrm>
                <a:off x="960" y="1041"/>
                <a:ext cx="816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4626" name="Line 14"/>
              <p:cNvSpPr>
                <a:spLocks noChangeShapeType="1"/>
              </p:cNvSpPr>
              <p:nvPr/>
            </p:nvSpPr>
            <p:spPr bwMode="auto">
              <a:xfrm>
                <a:off x="960" y="1202"/>
                <a:ext cx="8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4627" name="Line 15"/>
              <p:cNvSpPr>
                <a:spLocks noChangeShapeType="1"/>
              </p:cNvSpPr>
              <p:nvPr/>
            </p:nvSpPr>
            <p:spPr bwMode="auto">
              <a:xfrm>
                <a:off x="960" y="1362"/>
                <a:ext cx="8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4628" name="Line 16"/>
              <p:cNvSpPr>
                <a:spLocks noChangeShapeType="1"/>
              </p:cNvSpPr>
              <p:nvPr/>
            </p:nvSpPr>
            <p:spPr bwMode="auto">
              <a:xfrm>
                <a:off x="960" y="2016"/>
                <a:ext cx="8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4629" name="Line 17"/>
              <p:cNvSpPr>
                <a:spLocks noChangeShapeType="1"/>
              </p:cNvSpPr>
              <p:nvPr/>
            </p:nvSpPr>
            <p:spPr bwMode="auto">
              <a:xfrm>
                <a:off x="960" y="1041"/>
                <a:ext cx="0" cy="1189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4630" name="Line 18"/>
              <p:cNvSpPr>
                <a:spLocks noChangeShapeType="1"/>
              </p:cNvSpPr>
              <p:nvPr/>
            </p:nvSpPr>
            <p:spPr bwMode="auto">
              <a:xfrm>
                <a:off x="1776" y="1041"/>
                <a:ext cx="0" cy="1189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94631" name="Group 19"/>
              <p:cNvGrpSpPr/>
              <p:nvPr/>
            </p:nvGrpSpPr>
            <p:grpSpPr bwMode="auto">
              <a:xfrm>
                <a:off x="1654" y="2064"/>
                <a:ext cx="266" cy="461"/>
                <a:chOff x="1654" y="2594"/>
                <a:chExt cx="266" cy="605"/>
              </a:xfrm>
            </p:grpSpPr>
            <p:sp>
              <p:nvSpPr>
                <p:cNvPr id="194667" name="Text Box 20"/>
                <p:cNvSpPr txBox="1">
                  <a:spLocks noChangeArrowheads="1"/>
                </p:cNvSpPr>
                <p:nvPr/>
              </p:nvSpPr>
              <p:spPr bwMode="auto">
                <a:xfrm>
                  <a:off x="1654" y="2594"/>
                  <a:ext cx="266" cy="5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600">
                      <a:latin typeface="Times New Roman" panose="02020603050405020304" pitchFamily="18" charset="0"/>
                    </a:rPr>
                    <a:t>~</a:t>
                  </a:r>
                </a:p>
              </p:txBody>
            </p:sp>
            <p:sp>
              <p:nvSpPr>
                <p:cNvPr id="194668" name="Text Box 21"/>
                <p:cNvSpPr txBox="1">
                  <a:spLocks noChangeArrowheads="1"/>
                </p:cNvSpPr>
                <p:nvPr/>
              </p:nvSpPr>
              <p:spPr bwMode="auto">
                <a:xfrm>
                  <a:off x="1654" y="2669"/>
                  <a:ext cx="266" cy="5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600">
                      <a:latin typeface="Times New Roman" panose="02020603050405020304" pitchFamily="18" charset="0"/>
                    </a:rPr>
                    <a:t>~</a:t>
                  </a:r>
                </a:p>
              </p:txBody>
            </p:sp>
          </p:grpSp>
          <p:grpSp>
            <p:nvGrpSpPr>
              <p:cNvPr id="194632" name="Group 22"/>
              <p:cNvGrpSpPr/>
              <p:nvPr/>
            </p:nvGrpSpPr>
            <p:grpSpPr bwMode="auto">
              <a:xfrm>
                <a:off x="816" y="2064"/>
                <a:ext cx="266" cy="461"/>
                <a:chOff x="1654" y="2594"/>
                <a:chExt cx="266" cy="605"/>
              </a:xfrm>
            </p:grpSpPr>
            <p:sp>
              <p:nvSpPr>
                <p:cNvPr id="194665" name="Text Box 23"/>
                <p:cNvSpPr txBox="1">
                  <a:spLocks noChangeArrowheads="1"/>
                </p:cNvSpPr>
                <p:nvPr/>
              </p:nvSpPr>
              <p:spPr bwMode="auto">
                <a:xfrm>
                  <a:off x="1654" y="2594"/>
                  <a:ext cx="266" cy="5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600">
                      <a:latin typeface="Times New Roman" panose="02020603050405020304" pitchFamily="18" charset="0"/>
                    </a:rPr>
                    <a:t>~</a:t>
                  </a:r>
                </a:p>
              </p:txBody>
            </p:sp>
            <p:sp>
              <p:nvSpPr>
                <p:cNvPr id="194666" name="Text Box 24"/>
                <p:cNvSpPr txBox="1">
                  <a:spLocks noChangeArrowheads="1"/>
                </p:cNvSpPr>
                <p:nvPr/>
              </p:nvSpPr>
              <p:spPr bwMode="auto">
                <a:xfrm>
                  <a:off x="1654" y="2669"/>
                  <a:ext cx="266" cy="5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600">
                      <a:latin typeface="Times New Roman" panose="02020603050405020304" pitchFamily="18" charset="0"/>
                    </a:rPr>
                    <a:t>~</a:t>
                  </a:r>
                </a:p>
              </p:txBody>
            </p:sp>
          </p:grpSp>
          <p:sp>
            <p:nvSpPr>
              <p:cNvPr id="194633" name="Rectangle 25"/>
              <p:cNvSpPr>
                <a:spLocks noChangeArrowheads="1"/>
              </p:cNvSpPr>
              <p:nvPr/>
            </p:nvSpPr>
            <p:spPr bwMode="auto">
              <a:xfrm>
                <a:off x="960" y="2491"/>
                <a:ext cx="816" cy="34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28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4634" name="Rectangle 26"/>
              <p:cNvSpPr>
                <a:spLocks noChangeArrowheads="1"/>
              </p:cNvSpPr>
              <p:nvPr/>
            </p:nvSpPr>
            <p:spPr bwMode="auto">
              <a:xfrm>
                <a:off x="960" y="2345"/>
                <a:ext cx="816" cy="2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4635" name="Freeform 27"/>
              <p:cNvSpPr/>
              <p:nvPr/>
            </p:nvSpPr>
            <p:spPr bwMode="auto">
              <a:xfrm>
                <a:off x="960" y="2418"/>
                <a:ext cx="1" cy="303"/>
              </a:xfrm>
              <a:custGeom>
                <a:avLst/>
                <a:gdLst>
                  <a:gd name="T0" fmla="*/ 0 w 1"/>
                  <a:gd name="T1" fmla="*/ 0 h 303"/>
                  <a:gd name="T2" fmla="*/ 1 w 1"/>
                  <a:gd name="T3" fmla="*/ 303 h 303"/>
                  <a:gd name="T4" fmla="*/ 0 60000 65536"/>
                  <a:gd name="T5" fmla="*/ 0 60000 65536"/>
                  <a:gd name="T6" fmla="*/ 0 w 1"/>
                  <a:gd name="T7" fmla="*/ 0 h 303"/>
                  <a:gd name="T8" fmla="*/ 1 w 1"/>
                  <a:gd name="T9" fmla="*/ 303 h 30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303">
                    <a:moveTo>
                      <a:pt x="0" y="0"/>
                    </a:moveTo>
                    <a:lnTo>
                      <a:pt x="1" y="303"/>
                    </a:lnTo>
                  </a:path>
                </a:pathLst>
              </a:cu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4636" name="Freeform 28"/>
              <p:cNvSpPr/>
              <p:nvPr/>
            </p:nvSpPr>
            <p:spPr bwMode="auto">
              <a:xfrm>
                <a:off x="1777" y="2409"/>
                <a:ext cx="2" cy="312"/>
              </a:xfrm>
              <a:custGeom>
                <a:avLst/>
                <a:gdLst>
                  <a:gd name="T0" fmla="*/ 2 w 2"/>
                  <a:gd name="T1" fmla="*/ 0 h 312"/>
                  <a:gd name="T2" fmla="*/ 0 w 2"/>
                  <a:gd name="T3" fmla="*/ 312 h 312"/>
                  <a:gd name="T4" fmla="*/ 0 60000 65536"/>
                  <a:gd name="T5" fmla="*/ 0 60000 65536"/>
                  <a:gd name="T6" fmla="*/ 0 w 2"/>
                  <a:gd name="T7" fmla="*/ 0 h 312"/>
                  <a:gd name="T8" fmla="*/ 2 w 2"/>
                  <a:gd name="T9" fmla="*/ 312 h 31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312">
                    <a:moveTo>
                      <a:pt x="2" y="0"/>
                    </a:moveTo>
                    <a:lnTo>
                      <a:pt x="0" y="312"/>
                    </a:lnTo>
                  </a:path>
                </a:pathLst>
              </a:cu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4637" name="Text Box 29"/>
              <p:cNvSpPr txBox="1">
                <a:spLocks noChangeArrowheads="1"/>
              </p:cNvSpPr>
              <p:nvPr/>
            </p:nvSpPr>
            <p:spPr bwMode="auto">
              <a:xfrm>
                <a:off x="1248" y="1411"/>
                <a:ext cx="423" cy="3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94638" name="Text Box 30"/>
              <p:cNvSpPr txBox="1">
                <a:spLocks noChangeArrowheads="1"/>
              </p:cNvSpPr>
              <p:nvPr/>
            </p:nvSpPr>
            <p:spPr bwMode="auto">
              <a:xfrm>
                <a:off x="1248" y="1723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94639" name="Text Box 31"/>
              <p:cNvSpPr txBox="1">
                <a:spLocks noChangeArrowheads="1"/>
              </p:cNvSpPr>
              <p:nvPr/>
            </p:nvSpPr>
            <p:spPr bwMode="auto">
              <a:xfrm>
                <a:off x="1920" y="791"/>
                <a:ext cx="120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主存块号</a:t>
                </a:r>
              </a:p>
            </p:txBody>
          </p:sp>
          <p:sp>
            <p:nvSpPr>
              <p:cNvPr id="194640" name="Text Box 32"/>
              <p:cNvSpPr txBox="1">
                <a:spLocks noChangeArrowheads="1"/>
              </p:cNvSpPr>
              <p:nvPr/>
            </p:nvSpPr>
            <p:spPr bwMode="auto">
              <a:xfrm>
                <a:off x="950" y="791"/>
                <a:ext cx="751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主存储器</a:t>
                </a:r>
              </a:p>
            </p:txBody>
          </p:sp>
          <p:sp>
            <p:nvSpPr>
              <p:cNvPr id="194641" name="Text Box 33"/>
              <p:cNvSpPr txBox="1">
                <a:spLocks noChangeArrowheads="1"/>
              </p:cNvSpPr>
              <p:nvPr/>
            </p:nvSpPr>
            <p:spPr bwMode="auto">
              <a:xfrm>
                <a:off x="748" y="1203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94642" name="Text Box 34"/>
              <p:cNvSpPr txBox="1">
                <a:spLocks noChangeArrowheads="1"/>
              </p:cNvSpPr>
              <p:nvPr/>
            </p:nvSpPr>
            <p:spPr bwMode="auto">
              <a:xfrm>
                <a:off x="748" y="1709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94643" name="Text Box 35"/>
              <p:cNvSpPr txBox="1">
                <a:spLocks noChangeArrowheads="1"/>
              </p:cNvSpPr>
              <p:nvPr/>
            </p:nvSpPr>
            <p:spPr bwMode="auto">
              <a:xfrm>
                <a:off x="352" y="2486"/>
                <a:ext cx="60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2</a:t>
                </a:r>
                <a:r>
                  <a:rPr lang="en-US" altLang="zh-CN" sz="2400" i="1" baseline="50000">
                    <a:latin typeface="Times New Roman" panose="02020603050405020304" pitchFamily="18" charset="0"/>
                  </a:rPr>
                  <a:t>m</a:t>
                </a:r>
                <a:r>
                  <a:rPr lang="en-US" altLang="zh-CN" sz="2400">
                    <a:latin typeface="Times New Roman" panose="02020603050405020304" pitchFamily="18" charset="0"/>
                  </a:rPr>
                  <a:t>－1</a:t>
                </a:r>
              </a:p>
            </p:txBody>
          </p:sp>
          <p:sp>
            <p:nvSpPr>
              <p:cNvPr id="194644" name="AutoShape 36"/>
              <p:cNvSpPr/>
              <p:nvPr/>
            </p:nvSpPr>
            <p:spPr bwMode="auto">
              <a:xfrm>
                <a:off x="1824" y="1041"/>
                <a:ext cx="96" cy="639"/>
              </a:xfrm>
              <a:prstGeom prst="rightBrace">
                <a:avLst>
                  <a:gd name="adj1" fmla="val 55469"/>
                  <a:gd name="adj2" fmla="val 50000"/>
                </a:avLst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94645" name="AutoShape 37"/>
              <p:cNvSpPr/>
              <p:nvPr/>
            </p:nvSpPr>
            <p:spPr bwMode="auto">
              <a:xfrm>
                <a:off x="1824" y="1699"/>
                <a:ext cx="100" cy="329"/>
              </a:xfrm>
              <a:prstGeom prst="rightBrace">
                <a:avLst>
                  <a:gd name="adj1" fmla="val 27417"/>
                  <a:gd name="adj2" fmla="val 50000"/>
                </a:avLst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94646" name="AutoShape 38"/>
              <p:cNvSpPr/>
              <p:nvPr/>
            </p:nvSpPr>
            <p:spPr bwMode="auto">
              <a:xfrm>
                <a:off x="1824" y="2501"/>
                <a:ext cx="100" cy="331"/>
              </a:xfrm>
              <a:prstGeom prst="rightBrace">
                <a:avLst>
                  <a:gd name="adj1" fmla="val 27583"/>
                  <a:gd name="adj2" fmla="val 50000"/>
                </a:avLst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94647" name="Text Box 39"/>
              <p:cNvSpPr txBox="1">
                <a:spLocks noChangeArrowheads="1"/>
              </p:cNvSpPr>
              <p:nvPr/>
            </p:nvSpPr>
            <p:spPr bwMode="auto">
              <a:xfrm>
                <a:off x="1920" y="1284"/>
                <a:ext cx="912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字块 0</a:t>
                </a:r>
              </a:p>
            </p:txBody>
          </p:sp>
          <p:sp>
            <p:nvSpPr>
              <p:cNvPr id="194648" name="Text Box 40"/>
              <p:cNvSpPr txBox="1">
                <a:spLocks noChangeArrowheads="1"/>
              </p:cNvSpPr>
              <p:nvPr/>
            </p:nvSpPr>
            <p:spPr bwMode="auto">
              <a:xfrm>
                <a:off x="1920" y="1728"/>
                <a:ext cx="55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字块 1</a:t>
                </a:r>
              </a:p>
            </p:txBody>
          </p:sp>
          <p:sp>
            <p:nvSpPr>
              <p:cNvPr id="194649" name="Text Box 41"/>
              <p:cNvSpPr txBox="1">
                <a:spLocks noChangeArrowheads="1"/>
              </p:cNvSpPr>
              <p:nvPr/>
            </p:nvSpPr>
            <p:spPr bwMode="auto">
              <a:xfrm>
                <a:off x="1920" y="2568"/>
                <a:ext cx="89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字块  </a:t>
                </a:r>
                <a:r>
                  <a:rPr lang="en-US" altLang="zh-CN" sz="2000" i="1">
                    <a:latin typeface="Times New Roman" panose="02020603050405020304" pitchFamily="18" charset="0"/>
                  </a:rPr>
                  <a:t>M</a:t>
                </a:r>
                <a:r>
                  <a:rPr lang="en-US" altLang="zh-CN" sz="2000">
                    <a:latin typeface="Times New Roman" panose="02020603050405020304" pitchFamily="18" charset="0"/>
                  </a:rPr>
                  <a:t>－1</a:t>
                </a:r>
              </a:p>
            </p:txBody>
          </p:sp>
          <p:sp>
            <p:nvSpPr>
              <p:cNvPr id="194650" name="Rectangle 42"/>
              <p:cNvSpPr>
                <a:spLocks noChangeArrowheads="1"/>
              </p:cNvSpPr>
              <p:nvPr/>
            </p:nvSpPr>
            <p:spPr bwMode="auto">
              <a:xfrm>
                <a:off x="500" y="3372"/>
                <a:ext cx="864" cy="28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94651" name="Text Box 43"/>
              <p:cNvSpPr txBox="1">
                <a:spLocks noChangeArrowheads="1"/>
              </p:cNvSpPr>
              <p:nvPr/>
            </p:nvSpPr>
            <p:spPr bwMode="auto">
              <a:xfrm>
                <a:off x="540" y="3377"/>
                <a:ext cx="7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kumimoji="0" lang="zh-CN" altLang="en-US" sz="2000">
                    <a:latin typeface="Times New Roman" panose="02020603050405020304" pitchFamily="18" charset="0"/>
                  </a:rPr>
                  <a:t>主存块号</a:t>
                </a:r>
              </a:p>
            </p:txBody>
          </p:sp>
          <p:sp>
            <p:nvSpPr>
              <p:cNvPr id="194652" name="Text Box 44"/>
              <p:cNvSpPr txBox="1">
                <a:spLocks noChangeArrowheads="1"/>
              </p:cNvSpPr>
              <p:nvPr/>
            </p:nvSpPr>
            <p:spPr bwMode="auto">
              <a:xfrm>
                <a:off x="1404" y="3377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kumimoji="0" lang="zh-CN" altLang="en-US" sz="2000">
                    <a:latin typeface="Times New Roman" panose="02020603050405020304" pitchFamily="18" charset="0"/>
                  </a:rPr>
                  <a:t>块内地址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4653" name="Rectangle 45"/>
              <p:cNvSpPr>
                <a:spLocks noChangeArrowheads="1"/>
              </p:cNvSpPr>
              <p:nvPr/>
            </p:nvSpPr>
            <p:spPr bwMode="auto">
              <a:xfrm>
                <a:off x="1364" y="3372"/>
                <a:ext cx="864" cy="28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94654" name="Freeform 46"/>
              <p:cNvSpPr/>
              <p:nvPr/>
            </p:nvSpPr>
            <p:spPr bwMode="auto">
              <a:xfrm>
                <a:off x="495" y="2832"/>
                <a:ext cx="1" cy="540"/>
              </a:xfrm>
              <a:custGeom>
                <a:avLst/>
                <a:gdLst>
                  <a:gd name="T0" fmla="*/ 0 w 1"/>
                  <a:gd name="T1" fmla="*/ 0 h 540"/>
                  <a:gd name="T2" fmla="*/ 0 w 1"/>
                  <a:gd name="T3" fmla="*/ 540 h 540"/>
                  <a:gd name="T4" fmla="*/ 0 60000 65536"/>
                  <a:gd name="T5" fmla="*/ 0 60000 65536"/>
                  <a:gd name="T6" fmla="*/ 0 w 1"/>
                  <a:gd name="T7" fmla="*/ 0 h 540"/>
                  <a:gd name="T8" fmla="*/ 1 w 1"/>
                  <a:gd name="T9" fmla="*/ 540 h 54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540">
                    <a:moveTo>
                      <a:pt x="0" y="0"/>
                    </a:moveTo>
                    <a:lnTo>
                      <a:pt x="0" y="54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4655" name="Freeform 47"/>
              <p:cNvSpPr/>
              <p:nvPr/>
            </p:nvSpPr>
            <p:spPr bwMode="auto">
              <a:xfrm>
                <a:off x="2223" y="2832"/>
                <a:ext cx="1" cy="543"/>
              </a:xfrm>
              <a:custGeom>
                <a:avLst/>
                <a:gdLst>
                  <a:gd name="T0" fmla="*/ 0 w 1"/>
                  <a:gd name="T1" fmla="*/ 0 h 543"/>
                  <a:gd name="T2" fmla="*/ 0 w 1"/>
                  <a:gd name="T3" fmla="*/ 543 h 543"/>
                  <a:gd name="T4" fmla="*/ 0 60000 65536"/>
                  <a:gd name="T5" fmla="*/ 0 60000 65536"/>
                  <a:gd name="T6" fmla="*/ 0 w 1"/>
                  <a:gd name="T7" fmla="*/ 0 h 543"/>
                  <a:gd name="T8" fmla="*/ 1 w 1"/>
                  <a:gd name="T9" fmla="*/ 543 h 5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543">
                    <a:moveTo>
                      <a:pt x="0" y="0"/>
                    </a:moveTo>
                    <a:lnTo>
                      <a:pt x="0" y="54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4656" name="Freeform 48"/>
              <p:cNvSpPr/>
              <p:nvPr/>
            </p:nvSpPr>
            <p:spPr bwMode="auto">
              <a:xfrm>
                <a:off x="1360" y="3088"/>
                <a:ext cx="1" cy="272"/>
              </a:xfrm>
              <a:custGeom>
                <a:avLst/>
                <a:gdLst>
                  <a:gd name="T0" fmla="*/ 0 w 1"/>
                  <a:gd name="T1" fmla="*/ 0 h 306"/>
                  <a:gd name="T2" fmla="*/ 0 w 1"/>
                  <a:gd name="T3" fmla="*/ 60 h 306"/>
                  <a:gd name="T4" fmla="*/ 0 60000 65536"/>
                  <a:gd name="T5" fmla="*/ 0 60000 65536"/>
                  <a:gd name="T6" fmla="*/ 0 w 1"/>
                  <a:gd name="T7" fmla="*/ 0 h 306"/>
                  <a:gd name="T8" fmla="*/ 1 w 1"/>
                  <a:gd name="T9" fmla="*/ 306 h 3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306">
                    <a:moveTo>
                      <a:pt x="0" y="0"/>
                    </a:moveTo>
                    <a:lnTo>
                      <a:pt x="0" y="30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4657" name="Freeform 49"/>
              <p:cNvSpPr/>
              <p:nvPr/>
            </p:nvSpPr>
            <p:spPr bwMode="auto">
              <a:xfrm>
                <a:off x="504" y="3269"/>
                <a:ext cx="852" cy="1"/>
              </a:xfrm>
              <a:custGeom>
                <a:avLst/>
                <a:gdLst>
                  <a:gd name="T0" fmla="*/ 0 w 852"/>
                  <a:gd name="T1" fmla="*/ 0 h 1"/>
                  <a:gd name="T2" fmla="*/ 852 w 852"/>
                  <a:gd name="T3" fmla="*/ 0 h 1"/>
                  <a:gd name="T4" fmla="*/ 0 60000 65536"/>
                  <a:gd name="T5" fmla="*/ 0 60000 65536"/>
                  <a:gd name="T6" fmla="*/ 0 w 852"/>
                  <a:gd name="T7" fmla="*/ 0 h 1"/>
                  <a:gd name="T8" fmla="*/ 852 w 85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52" h="1">
                    <a:moveTo>
                      <a:pt x="0" y="0"/>
                    </a:moveTo>
                    <a:lnTo>
                      <a:pt x="85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4658" name="Text Box 50"/>
              <p:cNvSpPr txBox="1">
                <a:spLocks noChangeArrowheads="1"/>
              </p:cNvSpPr>
              <p:nvPr/>
            </p:nvSpPr>
            <p:spPr bwMode="auto">
              <a:xfrm>
                <a:off x="742" y="3045"/>
                <a:ext cx="40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 i="1">
                    <a:latin typeface="Times New Roman" panose="02020603050405020304" pitchFamily="18" charset="0"/>
                  </a:rPr>
                  <a:t>m</a:t>
                </a:r>
                <a:r>
                  <a:rPr lang="zh-CN" altLang="en-US" sz="2000">
                    <a:latin typeface="Times New Roman" panose="02020603050405020304" pitchFamily="18" charset="0"/>
                  </a:rPr>
                  <a:t>位</a:t>
                </a:r>
              </a:p>
            </p:txBody>
          </p:sp>
          <p:sp>
            <p:nvSpPr>
              <p:cNvPr id="194659" name="Freeform 51"/>
              <p:cNvSpPr/>
              <p:nvPr/>
            </p:nvSpPr>
            <p:spPr bwMode="auto">
              <a:xfrm>
                <a:off x="1362" y="3267"/>
                <a:ext cx="870" cy="3"/>
              </a:xfrm>
              <a:custGeom>
                <a:avLst/>
                <a:gdLst>
                  <a:gd name="T0" fmla="*/ 0 w 870"/>
                  <a:gd name="T1" fmla="*/ 3 h 3"/>
                  <a:gd name="T2" fmla="*/ 870 w 870"/>
                  <a:gd name="T3" fmla="*/ 0 h 3"/>
                  <a:gd name="T4" fmla="*/ 0 60000 65536"/>
                  <a:gd name="T5" fmla="*/ 0 60000 65536"/>
                  <a:gd name="T6" fmla="*/ 0 w 870"/>
                  <a:gd name="T7" fmla="*/ 0 h 3"/>
                  <a:gd name="T8" fmla="*/ 870 w 870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70" h="3">
                    <a:moveTo>
                      <a:pt x="0" y="3"/>
                    </a:moveTo>
                    <a:lnTo>
                      <a:pt x="87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4660" name="Text Box 52"/>
              <p:cNvSpPr txBox="1">
                <a:spLocks noChangeArrowheads="1"/>
              </p:cNvSpPr>
              <p:nvPr/>
            </p:nvSpPr>
            <p:spPr bwMode="auto">
              <a:xfrm>
                <a:off x="1632" y="3045"/>
                <a:ext cx="3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 i="1">
                    <a:latin typeface="Times New Roman" panose="02020603050405020304" pitchFamily="18" charset="0"/>
                  </a:rPr>
                  <a:t>b</a:t>
                </a:r>
                <a:r>
                  <a:rPr lang="zh-CN" altLang="en-US" sz="2000">
                    <a:latin typeface="Times New Roman" panose="02020603050405020304" pitchFamily="18" charset="0"/>
                  </a:rPr>
                  <a:t>位</a:t>
                </a:r>
              </a:p>
            </p:txBody>
          </p:sp>
          <p:sp>
            <p:nvSpPr>
              <p:cNvPr id="194661" name="Freeform 53"/>
              <p:cNvSpPr/>
              <p:nvPr/>
            </p:nvSpPr>
            <p:spPr bwMode="auto">
              <a:xfrm>
                <a:off x="501" y="3036"/>
                <a:ext cx="1707" cy="1"/>
              </a:xfrm>
              <a:custGeom>
                <a:avLst/>
                <a:gdLst>
                  <a:gd name="T0" fmla="*/ 0 w 1707"/>
                  <a:gd name="T1" fmla="*/ 0 h 1"/>
                  <a:gd name="T2" fmla="*/ 1707 w 1707"/>
                  <a:gd name="T3" fmla="*/ 1 h 1"/>
                  <a:gd name="T4" fmla="*/ 0 60000 65536"/>
                  <a:gd name="T5" fmla="*/ 0 60000 65536"/>
                  <a:gd name="T6" fmla="*/ 0 w 1707"/>
                  <a:gd name="T7" fmla="*/ 0 h 1"/>
                  <a:gd name="T8" fmla="*/ 1707 w 1707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707" h="1">
                    <a:moveTo>
                      <a:pt x="0" y="0"/>
                    </a:moveTo>
                    <a:lnTo>
                      <a:pt x="1707" y="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4662" name="Text Box 54"/>
              <p:cNvSpPr txBox="1">
                <a:spLocks noChangeArrowheads="1"/>
              </p:cNvSpPr>
              <p:nvPr/>
            </p:nvSpPr>
            <p:spPr bwMode="auto">
              <a:xfrm>
                <a:off x="1152" y="2834"/>
                <a:ext cx="36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 i="1">
                    <a:latin typeface="Times New Roman" panose="02020603050405020304" pitchFamily="18" charset="0"/>
                  </a:rPr>
                  <a:t>n</a:t>
                </a:r>
                <a:r>
                  <a:rPr lang="zh-CN" altLang="en-US" sz="2000">
                    <a:latin typeface="Times New Roman" panose="02020603050405020304" pitchFamily="18" charset="0"/>
                  </a:rPr>
                  <a:t>位</a:t>
                </a:r>
              </a:p>
            </p:txBody>
          </p:sp>
          <p:sp>
            <p:nvSpPr>
              <p:cNvPr id="194663" name="Text Box 55"/>
              <p:cNvSpPr txBox="1">
                <a:spLocks noChangeArrowheads="1"/>
              </p:cNvSpPr>
              <p:nvPr/>
            </p:nvSpPr>
            <p:spPr bwMode="auto">
              <a:xfrm>
                <a:off x="768" y="3638"/>
                <a:ext cx="41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 i="1">
                    <a:latin typeface="Times New Roman" panose="02020603050405020304" pitchFamily="18" charset="0"/>
                  </a:rPr>
                  <a:t>M</a:t>
                </a:r>
                <a:r>
                  <a:rPr lang="zh-CN" altLang="en-US" sz="2000">
                    <a:latin typeface="Times New Roman" panose="02020603050405020304" pitchFamily="18" charset="0"/>
                  </a:rPr>
                  <a:t>块</a:t>
                </a:r>
              </a:p>
            </p:txBody>
          </p:sp>
          <p:sp>
            <p:nvSpPr>
              <p:cNvPr id="194664" name="Text Box 56"/>
              <p:cNvSpPr txBox="1">
                <a:spLocks noChangeArrowheads="1"/>
              </p:cNvSpPr>
              <p:nvPr/>
            </p:nvSpPr>
            <p:spPr bwMode="auto">
              <a:xfrm>
                <a:off x="1584" y="3648"/>
                <a:ext cx="54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 i="1">
                    <a:latin typeface="Times New Roman" panose="02020603050405020304" pitchFamily="18" charset="0"/>
                  </a:rPr>
                  <a:t>B</a:t>
                </a:r>
                <a:r>
                  <a:rPr lang="zh-CN" altLang="en-US" sz="2000">
                    <a:latin typeface="Times New Roman" panose="02020603050405020304" pitchFamily="18" charset="0"/>
                  </a:rPr>
                  <a:t>个字</a:t>
                </a:r>
              </a:p>
            </p:txBody>
          </p:sp>
        </p:grpSp>
        <p:grpSp>
          <p:nvGrpSpPr>
            <p:cNvPr id="194570" name="Group 57"/>
            <p:cNvGrpSpPr/>
            <p:nvPr/>
          </p:nvGrpSpPr>
          <p:grpSpPr bwMode="auto">
            <a:xfrm>
              <a:off x="2850" y="806"/>
              <a:ext cx="2765" cy="3092"/>
              <a:chOff x="2850" y="806"/>
              <a:chExt cx="2765" cy="3092"/>
            </a:xfrm>
          </p:grpSpPr>
          <p:sp>
            <p:nvSpPr>
              <p:cNvPr id="194571" name="Rectangle 58"/>
              <p:cNvSpPr>
                <a:spLocks noChangeArrowheads="1"/>
              </p:cNvSpPr>
              <p:nvPr/>
            </p:nvSpPr>
            <p:spPr bwMode="auto">
              <a:xfrm>
                <a:off x="3456" y="3372"/>
                <a:ext cx="716" cy="28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94572" name="Text Box 59"/>
              <p:cNvSpPr txBox="1">
                <a:spLocks noChangeArrowheads="1"/>
              </p:cNvSpPr>
              <p:nvPr/>
            </p:nvSpPr>
            <p:spPr bwMode="auto">
              <a:xfrm>
                <a:off x="3436" y="3377"/>
                <a:ext cx="75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kumimoji="0" lang="zh-CN" altLang="en-US" sz="2000">
                    <a:latin typeface="Times New Roman" panose="02020603050405020304" pitchFamily="18" charset="0"/>
                  </a:rPr>
                  <a:t>缓存块号</a:t>
                </a:r>
              </a:p>
            </p:txBody>
          </p:sp>
          <p:sp>
            <p:nvSpPr>
              <p:cNvPr id="194573" name="Text Box 60"/>
              <p:cNvSpPr txBox="1">
                <a:spLocks noChangeArrowheads="1"/>
              </p:cNvSpPr>
              <p:nvPr/>
            </p:nvSpPr>
            <p:spPr bwMode="auto">
              <a:xfrm>
                <a:off x="4232" y="3377"/>
                <a:ext cx="76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kumimoji="0" lang="zh-CN" altLang="en-US" sz="2000">
                    <a:latin typeface="Times New Roman" panose="02020603050405020304" pitchFamily="18" charset="0"/>
                  </a:rPr>
                  <a:t>块内地址</a:t>
                </a:r>
                <a:endParaRPr lang="zh-CN" altLang="en-US" sz="2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4574" name="Rectangle 61"/>
              <p:cNvSpPr>
                <a:spLocks noChangeArrowheads="1"/>
              </p:cNvSpPr>
              <p:nvPr/>
            </p:nvSpPr>
            <p:spPr bwMode="auto">
              <a:xfrm>
                <a:off x="4172" y="3372"/>
                <a:ext cx="864" cy="288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94575" name="Freeform 62"/>
              <p:cNvSpPr/>
              <p:nvPr/>
            </p:nvSpPr>
            <p:spPr bwMode="auto">
              <a:xfrm>
                <a:off x="3455" y="3168"/>
                <a:ext cx="1" cy="227"/>
              </a:xfrm>
              <a:custGeom>
                <a:avLst/>
                <a:gdLst>
                  <a:gd name="T0" fmla="*/ 0 w 1"/>
                  <a:gd name="T1" fmla="*/ 0 h 540"/>
                  <a:gd name="T2" fmla="*/ 0 w 1"/>
                  <a:gd name="T3" fmla="*/ 0 h 540"/>
                  <a:gd name="T4" fmla="*/ 0 60000 65536"/>
                  <a:gd name="T5" fmla="*/ 0 60000 65536"/>
                  <a:gd name="T6" fmla="*/ 0 w 1"/>
                  <a:gd name="T7" fmla="*/ 0 h 540"/>
                  <a:gd name="T8" fmla="*/ 1 w 1"/>
                  <a:gd name="T9" fmla="*/ 540 h 54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540">
                    <a:moveTo>
                      <a:pt x="0" y="0"/>
                    </a:moveTo>
                    <a:lnTo>
                      <a:pt x="0" y="54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4576" name="Freeform 63"/>
              <p:cNvSpPr/>
              <p:nvPr/>
            </p:nvSpPr>
            <p:spPr bwMode="auto">
              <a:xfrm>
                <a:off x="5031" y="3168"/>
                <a:ext cx="1" cy="227"/>
              </a:xfrm>
              <a:custGeom>
                <a:avLst/>
                <a:gdLst>
                  <a:gd name="T0" fmla="*/ 0 w 1"/>
                  <a:gd name="T1" fmla="*/ 0 h 543"/>
                  <a:gd name="T2" fmla="*/ 0 w 1"/>
                  <a:gd name="T3" fmla="*/ 0 h 543"/>
                  <a:gd name="T4" fmla="*/ 0 60000 65536"/>
                  <a:gd name="T5" fmla="*/ 0 60000 65536"/>
                  <a:gd name="T6" fmla="*/ 0 w 1"/>
                  <a:gd name="T7" fmla="*/ 0 h 543"/>
                  <a:gd name="T8" fmla="*/ 1 w 1"/>
                  <a:gd name="T9" fmla="*/ 543 h 54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543">
                    <a:moveTo>
                      <a:pt x="0" y="0"/>
                    </a:moveTo>
                    <a:lnTo>
                      <a:pt x="0" y="54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4577" name="Freeform 64"/>
              <p:cNvSpPr/>
              <p:nvPr/>
            </p:nvSpPr>
            <p:spPr bwMode="auto">
              <a:xfrm>
                <a:off x="4169" y="3150"/>
                <a:ext cx="1" cy="227"/>
              </a:xfrm>
              <a:custGeom>
                <a:avLst/>
                <a:gdLst>
                  <a:gd name="T0" fmla="*/ 0 w 1"/>
                  <a:gd name="T1" fmla="*/ 0 h 306"/>
                  <a:gd name="T2" fmla="*/ 0 w 1"/>
                  <a:gd name="T3" fmla="*/ 5 h 306"/>
                  <a:gd name="T4" fmla="*/ 0 60000 65536"/>
                  <a:gd name="T5" fmla="*/ 0 60000 65536"/>
                  <a:gd name="T6" fmla="*/ 0 w 1"/>
                  <a:gd name="T7" fmla="*/ 0 h 306"/>
                  <a:gd name="T8" fmla="*/ 1 w 1"/>
                  <a:gd name="T9" fmla="*/ 306 h 30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306">
                    <a:moveTo>
                      <a:pt x="0" y="0"/>
                    </a:moveTo>
                    <a:lnTo>
                      <a:pt x="0" y="30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4578" name="Freeform 65"/>
              <p:cNvSpPr/>
              <p:nvPr/>
            </p:nvSpPr>
            <p:spPr bwMode="auto">
              <a:xfrm>
                <a:off x="3451" y="3269"/>
                <a:ext cx="725" cy="1"/>
              </a:xfrm>
              <a:custGeom>
                <a:avLst/>
                <a:gdLst>
                  <a:gd name="T0" fmla="*/ 0 w 852"/>
                  <a:gd name="T1" fmla="*/ 0 h 1"/>
                  <a:gd name="T2" fmla="*/ 89 w 852"/>
                  <a:gd name="T3" fmla="*/ 0 h 1"/>
                  <a:gd name="T4" fmla="*/ 0 60000 65536"/>
                  <a:gd name="T5" fmla="*/ 0 60000 65536"/>
                  <a:gd name="T6" fmla="*/ 0 w 852"/>
                  <a:gd name="T7" fmla="*/ 0 h 1"/>
                  <a:gd name="T8" fmla="*/ 852 w 852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52" h="1">
                    <a:moveTo>
                      <a:pt x="0" y="0"/>
                    </a:moveTo>
                    <a:lnTo>
                      <a:pt x="85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4579" name="Text Box 66"/>
              <p:cNvSpPr txBox="1">
                <a:spLocks noChangeArrowheads="1"/>
              </p:cNvSpPr>
              <p:nvPr/>
            </p:nvSpPr>
            <p:spPr bwMode="auto">
              <a:xfrm>
                <a:off x="3648" y="3045"/>
                <a:ext cx="34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 i="1">
                    <a:latin typeface="Times New Roman" panose="02020603050405020304" pitchFamily="18" charset="0"/>
                  </a:rPr>
                  <a:t>c</a:t>
                </a:r>
                <a:r>
                  <a:rPr lang="zh-CN" altLang="en-US" sz="2000">
                    <a:latin typeface="Times New Roman" panose="02020603050405020304" pitchFamily="18" charset="0"/>
                  </a:rPr>
                  <a:t>位</a:t>
                </a:r>
              </a:p>
            </p:txBody>
          </p:sp>
          <p:sp>
            <p:nvSpPr>
              <p:cNvPr id="194580" name="Freeform 67"/>
              <p:cNvSpPr/>
              <p:nvPr/>
            </p:nvSpPr>
            <p:spPr bwMode="auto">
              <a:xfrm>
                <a:off x="4170" y="3267"/>
                <a:ext cx="870" cy="3"/>
              </a:xfrm>
              <a:custGeom>
                <a:avLst/>
                <a:gdLst>
                  <a:gd name="T0" fmla="*/ 0 w 870"/>
                  <a:gd name="T1" fmla="*/ 3 h 3"/>
                  <a:gd name="T2" fmla="*/ 870 w 870"/>
                  <a:gd name="T3" fmla="*/ 0 h 3"/>
                  <a:gd name="T4" fmla="*/ 0 60000 65536"/>
                  <a:gd name="T5" fmla="*/ 0 60000 65536"/>
                  <a:gd name="T6" fmla="*/ 0 w 870"/>
                  <a:gd name="T7" fmla="*/ 0 h 3"/>
                  <a:gd name="T8" fmla="*/ 870 w 870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70" h="3">
                    <a:moveTo>
                      <a:pt x="0" y="3"/>
                    </a:moveTo>
                    <a:lnTo>
                      <a:pt x="87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stealth" w="med" len="med"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4581" name="Text Box 68"/>
              <p:cNvSpPr txBox="1">
                <a:spLocks noChangeArrowheads="1"/>
              </p:cNvSpPr>
              <p:nvPr/>
            </p:nvSpPr>
            <p:spPr bwMode="auto">
              <a:xfrm>
                <a:off x="4434" y="3045"/>
                <a:ext cx="35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 i="1">
                    <a:latin typeface="Times New Roman" panose="02020603050405020304" pitchFamily="18" charset="0"/>
                  </a:rPr>
                  <a:t>b</a:t>
                </a:r>
                <a:r>
                  <a:rPr lang="zh-CN" altLang="en-US" sz="2000">
                    <a:latin typeface="Times New Roman" panose="02020603050405020304" pitchFamily="18" charset="0"/>
                  </a:rPr>
                  <a:t>位</a:t>
                </a:r>
              </a:p>
            </p:txBody>
          </p:sp>
          <p:sp>
            <p:nvSpPr>
              <p:cNvPr id="194582" name="Text Box 69"/>
              <p:cNvSpPr txBox="1">
                <a:spLocks noChangeArrowheads="1"/>
              </p:cNvSpPr>
              <p:nvPr/>
            </p:nvSpPr>
            <p:spPr bwMode="auto">
              <a:xfrm>
                <a:off x="3576" y="3638"/>
                <a:ext cx="38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 i="1">
                    <a:latin typeface="Times New Roman" panose="02020603050405020304" pitchFamily="18" charset="0"/>
                  </a:rPr>
                  <a:t>C</a:t>
                </a:r>
                <a:r>
                  <a:rPr lang="zh-CN" altLang="en-US" sz="2000">
                    <a:latin typeface="Times New Roman" panose="02020603050405020304" pitchFamily="18" charset="0"/>
                  </a:rPr>
                  <a:t>块</a:t>
                </a:r>
              </a:p>
            </p:txBody>
          </p:sp>
          <p:sp>
            <p:nvSpPr>
              <p:cNvPr id="194583" name="Text Box 70"/>
              <p:cNvSpPr txBox="1">
                <a:spLocks noChangeArrowheads="1"/>
              </p:cNvSpPr>
              <p:nvPr/>
            </p:nvSpPr>
            <p:spPr bwMode="auto">
              <a:xfrm>
                <a:off x="4392" y="3648"/>
                <a:ext cx="54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 i="1">
                    <a:latin typeface="Times New Roman" panose="02020603050405020304" pitchFamily="18" charset="0"/>
                  </a:rPr>
                  <a:t>B</a:t>
                </a:r>
                <a:r>
                  <a:rPr lang="zh-CN" altLang="en-US" sz="2000">
                    <a:latin typeface="Times New Roman" panose="02020603050405020304" pitchFamily="18" charset="0"/>
                  </a:rPr>
                  <a:t>个字</a:t>
                </a:r>
              </a:p>
            </p:txBody>
          </p:sp>
          <p:sp>
            <p:nvSpPr>
              <p:cNvPr id="194584" name="Rectangle 71"/>
              <p:cNvSpPr>
                <a:spLocks noChangeArrowheads="1"/>
              </p:cNvSpPr>
              <p:nvPr/>
            </p:nvSpPr>
            <p:spPr bwMode="auto">
              <a:xfrm>
                <a:off x="3819" y="2092"/>
                <a:ext cx="816" cy="46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4585" name="Rectangle 72"/>
              <p:cNvSpPr>
                <a:spLocks noChangeArrowheads="1"/>
              </p:cNvSpPr>
              <p:nvPr/>
            </p:nvSpPr>
            <p:spPr bwMode="auto">
              <a:xfrm>
                <a:off x="3819" y="1368"/>
                <a:ext cx="816" cy="323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4586" name="Rectangle 73"/>
              <p:cNvSpPr>
                <a:spLocks noChangeArrowheads="1"/>
              </p:cNvSpPr>
              <p:nvPr/>
            </p:nvSpPr>
            <p:spPr bwMode="auto">
              <a:xfrm>
                <a:off x="3819" y="1208"/>
                <a:ext cx="816" cy="16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4587" name="Rectangle 74"/>
              <p:cNvSpPr>
                <a:spLocks noChangeArrowheads="1"/>
              </p:cNvSpPr>
              <p:nvPr/>
            </p:nvSpPr>
            <p:spPr bwMode="auto">
              <a:xfrm>
                <a:off x="3819" y="1048"/>
                <a:ext cx="816" cy="16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16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4588" name="Line 75"/>
              <p:cNvSpPr>
                <a:spLocks noChangeShapeType="1"/>
              </p:cNvSpPr>
              <p:nvPr/>
            </p:nvSpPr>
            <p:spPr bwMode="auto">
              <a:xfrm>
                <a:off x="3819" y="1048"/>
                <a:ext cx="816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4589" name="Line 76"/>
              <p:cNvSpPr>
                <a:spLocks noChangeShapeType="1"/>
              </p:cNvSpPr>
              <p:nvPr/>
            </p:nvSpPr>
            <p:spPr bwMode="auto">
              <a:xfrm>
                <a:off x="3819" y="1208"/>
                <a:ext cx="8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4590" name="Line 77"/>
              <p:cNvSpPr>
                <a:spLocks noChangeShapeType="1"/>
              </p:cNvSpPr>
              <p:nvPr/>
            </p:nvSpPr>
            <p:spPr bwMode="auto">
              <a:xfrm>
                <a:off x="3819" y="1368"/>
                <a:ext cx="8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4591" name="Line 78"/>
              <p:cNvSpPr>
                <a:spLocks noChangeShapeType="1"/>
              </p:cNvSpPr>
              <p:nvPr/>
            </p:nvSpPr>
            <p:spPr bwMode="auto">
              <a:xfrm>
                <a:off x="3819" y="2019"/>
                <a:ext cx="8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4592" name="Line 79"/>
              <p:cNvSpPr>
                <a:spLocks noChangeShapeType="1"/>
              </p:cNvSpPr>
              <p:nvPr/>
            </p:nvSpPr>
            <p:spPr bwMode="auto">
              <a:xfrm>
                <a:off x="3819" y="1048"/>
                <a:ext cx="0" cy="1185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4593" name="Line 80"/>
              <p:cNvSpPr>
                <a:spLocks noChangeShapeType="1"/>
              </p:cNvSpPr>
              <p:nvPr/>
            </p:nvSpPr>
            <p:spPr bwMode="auto">
              <a:xfrm>
                <a:off x="4635" y="1048"/>
                <a:ext cx="0" cy="1185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194594" name="Group 81"/>
              <p:cNvGrpSpPr/>
              <p:nvPr/>
            </p:nvGrpSpPr>
            <p:grpSpPr bwMode="auto">
              <a:xfrm>
                <a:off x="4513" y="2064"/>
                <a:ext cx="266" cy="462"/>
                <a:chOff x="1654" y="2592"/>
                <a:chExt cx="266" cy="610"/>
              </a:xfrm>
            </p:grpSpPr>
            <p:sp>
              <p:nvSpPr>
                <p:cNvPr id="194618" name="Text Box 82"/>
                <p:cNvSpPr txBox="1">
                  <a:spLocks noChangeArrowheads="1"/>
                </p:cNvSpPr>
                <p:nvPr/>
              </p:nvSpPr>
              <p:spPr bwMode="auto">
                <a:xfrm>
                  <a:off x="1654" y="2592"/>
                  <a:ext cx="266" cy="53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600">
                      <a:latin typeface="Times New Roman" panose="02020603050405020304" pitchFamily="18" charset="0"/>
                    </a:rPr>
                    <a:t>~</a:t>
                  </a:r>
                </a:p>
              </p:txBody>
            </p:sp>
            <p:sp>
              <p:nvSpPr>
                <p:cNvPr id="194619" name="Text Box 83"/>
                <p:cNvSpPr txBox="1">
                  <a:spLocks noChangeArrowheads="1"/>
                </p:cNvSpPr>
                <p:nvPr/>
              </p:nvSpPr>
              <p:spPr bwMode="auto">
                <a:xfrm>
                  <a:off x="1654" y="2669"/>
                  <a:ext cx="266" cy="53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600">
                      <a:latin typeface="Times New Roman" panose="02020603050405020304" pitchFamily="18" charset="0"/>
                    </a:rPr>
                    <a:t>~</a:t>
                  </a:r>
                </a:p>
              </p:txBody>
            </p:sp>
          </p:grpSp>
          <p:grpSp>
            <p:nvGrpSpPr>
              <p:cNvPr id="194595" name="Group 84"/>
              <p:cNvGrpSpPr/>
              <p:nvPr/>
            </p:nvGrpSpPr>
            <p:grpSpPr bwMode="auto">
              <a:xfrm>
                <a:off x="3675" y="2064"/>
                <a:ext cx="266" cy="462"/>
                <a:chOff x="1654" y="2592"/>
                <a:chExt cx="266" cy="610"/>
              </a:xfrm>
            </p:grpSpPr>
            <p:sp>
              <p:nvSpPr>
                <p:cNvPr id="194616" name="Text Box 85"/>
                <p:cNvSpPr txBox="1">
                  <a:spLocks noChangeArrowheads="1"/>
                </p:cNvSpPr>
                <p:nvPr/>
              </p:nvSpPr>
              <p:spPr bwMode="auto">
                <a:xfrm>
                  <a:off x="1654" y="2592"/>
                  <a:ext cx="266" cy="53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600">
                      <a:latin typeface="Times New Roman" panose="02020603050405020304" pitchFamily="18" charset="0"/>
                    </a:rPr>
                    <a:t>~</a:t>
                  </a:r>
                </a:p>
              </p:txBody>
            </p:sp>
            <p:sp>
              <p:nvSpPr>
                <p:cNvPr id="194617" name="Text Box 86"/>
                <p:cNvSpPr txBox="1">
                  <a:spLocks noChangeArrowheads="1"/>
                </p:cNvSpPr>
                <p:nvPr/>
              </p:nvSpPr>
              <p:spPr bwMode="auto">
                <a:xfrm>
                  <a:off x="1654" y="2669"/>
                  <a:ext cx="266" cy="53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3600">
                      <a:latin typeface="Times New Roman" panose="02020603050405020304" pitchFamily="18" charset="0"/>
                    </a:rPr>
                    <a:t>~</a:t>
                  </a:r>
                </a:p>
              </p:txBody>
            </p:sp>
          </p:grpSp>
          <p:sp>
            <p:nvSpPr>
              <p:cNvPr id="194596" name="Text Box 87"/>
              <p:cNvSpPr txBox="1">
                <a:spLocks noChangeArrowheads="1"/>
              </p:cNvSpPr>
              <p:nvPr/>
            </p:nvSpPr>
            <p:spPr bwMode="auto">
              <a:xfrm>
                <a:off x="4107" y="1418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94597" name="Text Box 88"/>
              <p:cNvSpPr txBox="1">
                <a:spLocks noChangeArrowheads="1"/>
              </p:cNvSpPr>
              <p:nvPr/>
            </p:nvSpPr>
            <p:spPr bwMode="auto">
              <a:xfrm>
                <a:off x="4107" y="1728"/>
                <a:ext cx="423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3200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194598" name="AutoShape 89"/>
              <p:cNvSpPr/>
              <p:nvPr/>
            </p:nvSpPr>
            <p:spPr bwMode="auto">
              <a:xfrm>
                <a:off x="4683" y="1048"/>
                <a:ext cx="95" cy="636"/>
              </a:xfrm>
              <a:prstGeom prst="rightBrace">
                <a:avLst>
                  <a:gd name="adj1" fmla="val 55789"/>
                  <a:gd name="adj2" fmla="val 50000"/>
                </a:avLst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94599" name="AutoShape 90"/>
              <p:cNvSpPr/>
              <p:nvPr/>
            </p:nvSpPr>
            <p:spPr bwMode="auto">
              <a:xfrm>
                <a:off x="4683" y="1703"/>
                <a:ext cx="100" cy="328"/>
              </a:xfrm>
              <a:prstGeom prst="rightBrace">
                <a:avLst>
                  <a:gd name="adj1" fmla="val 27333"/>
                  <a:gd name="adj2" fmla="val 50000"/>
                </a:avLst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94600" name="AutoShape 91"/>
              <p:cNvSpPr/>
              <p:nvPr/>
            </p:nvSpPr>
            <p:spPr bwMode="auto">
              <a:xfrm>
                <a:off x="4683" y="2502"/>
                <a:ext cx="100" cy="330"/>
              </a:xfrm>
              <a:prstGeom prst="rightBrace">
                <a:avLst>
                  <a:gd name="adj1" fmla="val 27500"/>
                  <a:gd name="adj2" fmla="val 50000"/>
                </a:avLst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94601" name="Text Box 92"/>
              <p:cNvSpPr txBox="1">
                <a:spLocks noChangeArrowheads="1"/>
              </p:cNvSpPr>
              <p:nvPr/>
            </p:nvSpPr>
            <p:spPr bwMode="auto">
              <a:xfrm>
                <a:off x="4752" y="1290"/>
                <a:ext cx="55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字块 0</a:t>
                </a:r>
              </a:p>
            </p:txBody>
          </p:sp>
          <p:sp>
            <p:nvSpPr>
              <p:cNvPr id="194602" name="Text Box 93"/>
              <p:cNvSpPr txBox="1">
                <a:spLocks noChangeArrowheads="1"/>
              </p:cNvSpPr>
              <p:nvPr/>
            </p:nvSpPr>
            <p:spPr bwMode="auto">
              <a:xfrm>
                <a:off x="4752" y="1776"/>
                <a:ext cx="55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字块 1</a:t>
                </a:r>
              </a:p>
            </p:txBody>
          </p:sp>
          <p:sp>
            <p:nvSpPr>
              <p:cNvPr id="194603" name="Text Box 94"/>
              <p:cNvSpPr txBox="1">
                <a:spLocks noChangeArrowheads="1"/>
              </p:cNvSpPr>
              <p:nvPr/>
            </p:nvSpPr>
            <p:spPr bwMode="auto">
              <a:xfrm>
                <a:off x="4752" y="2570"/>
                <a:ext cx="86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字块  </a:t>
                </a:r>
                <a:r>
                  <a:rPr lang="en-US" altLang="zh-CN" sz="2000" i="1">
                    <a:latin typeface="Times New Roman" panose="02020603050405020304" pitchFamily="18" charset="0"/>
                  </a:rPr>
                  <a:t>C</a:t>
                </a:r>
                <a:r>
                  <a:rPr lang="en-US" altLang="zh-CN" sz="2000">
                    <a:latin typeface="Times New Roman" panose="02020603050405020304" pitchFamily="18" charset="0"/>
                  </a:rPr>
                  <a:t>－1</a:t>
                </a:r>
              </a:p>
            </p:txBody>
          </p:sp>
          <p:sp>
            <p:nvSpPr>
              <p:cNvPr id="194604" name="Rectangle 95"/>
              <p:cNvSpPr>
                <a:spLocks noChangeArrowheads="1"/>
              </p:cNvSpPr>
              <p:nvPr/>
            </p:nvSpPr>
            <p:spPr bwMode="auto">
              <a:xfrm>
                <a:off x="3387" y="1048"/>
                <a:ext cx="432" cy="16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94605" name="Rectangle 96"/>
              <p:cNvSpPr>
                <a:spLocks noChangeArrowheads="1"/>
              </p:cNvSpPr>
              <p:nvPr/>
            </p:nvSpPr>
            <p:spPr bwMode="auto">
              <a:xfrm>
                <a:off x="3387" y="1694"/>
                <a:ext cx="432" cy="16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94606" name="Rectangle 97"/>
              <p:cNvSpPr>
                <a:spLocks noChangeArrowheads="1"/>
              </p:cNvSpPr>
              <p:nvPr/>
            </p:nvSpPr>
            <p:spPr bwMode="auto">
              <a:xfrm>
                <a:off x="3408" y="2487"/>
                <a:ext cx="432" cy="160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194607" name="Text Box 98"/>
              <p:cNvSpPr txBox="1">
                <a:spLocks noChangeArrowheads="1"/>
              </p:cNvSpPr>
              <p:nvPr/>
            </p:nvSpPr>
            <p:spPr bwMode="auto">
              <a:xfrm>
                <a:off x="3196" y="995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194608" name="Text Box 99"/>
              <p:cNvSpPr txBox="1">
                <a:spLocks noChangeArrowheads="1"/>
              </p:cNvSpPr>
              <p:nvPr/>
            </p:nvSpPr>
            <p:spPr bwMode="auto">
              <a:xfrm>
                <a:off x="3196" y="1650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194609" name="Text Box 100"/>
              <p:cNvSpPr txBox="1">
                <a:spLocks noChangeArrowheads="1"/>
              </p:cNvSpPr>
              <p:nvPr/>
            </p:nvSpPr>
            <p:spPr bwMode="auto">
              <a:xfrm>
                <a:off x="2850" y="2400"/>
                <a:ext cx="55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400">
                    <a:latin typeface="Times New Roman" panose="02020603050405020304" pitchFamily="18" charset="0"/>
                  </a:rPr>
                  <a:t>2</a:t>
                </a:r>
                <a:r>
                  <a:rPr lang="en-US" altLang="zh-CN" sz="2400" i="1" baseline="48000">
                    <a:latin typeface="Times New Roman" panose="02020603050405020304" pitchFamily="18" charset="0"/>
                  </a:rPr>
                  <a:t>c</a:t>
                </a:r>
                <a:r>
                  <a:rPr lang="en-US" altLang="zh-CN" sz="2400">
                    <a:latin typeface="Times New Roman" panose="02020603050405020304" pitchFamily="18" charset="0"/>
                  </a:rPr>
                  <a:t>－1</a:t>
                </a:r>
                <a:endParaRPr lang="zh-CN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4610" name="Text Box 101"/>
              <p:cNvSpPr txBox="1">
                <a:spLocks noChangeArrowheads="1"/>
              </p:cNvSpPr>
              <p:nvPr/>
            </p:nvSpPr>
            <p:spPr bwMode="auto">
              <a:xfrm>
                <a:off x="3354" y="806"/>
                <a:ext cx="43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标记</a:t>
                </a:r>
              </a:p>
            </p:txBody>
          </p:sp>
          <p:sp>
            <p:nvSpPr>
              <p:cNvPr id="194611" name="Text Box 102"/>
              <p:cNvSpPr txBox="1">
                <a:spLocks noChangeArrowheads="1"/>
              </p:cNvSpPr>
              <p:nvPr/>
            </p:nvSpPr>
            <p:spPr bwMode="auto">
              <a:xfrm>
                <a:off x="3884" y="806"/>
                <a:ext cx="54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000">
                    <a:latin typeface="Times New Roman" panose="02020603050405020304" pitchFamily="18" charset="0"/>
                  </a:rPr>
                  <a:t>Cache</a:t>
                </a:r>
              </a:p>
            </p:txBody>
          </p:sp>
          <p:sp>
            <p:nvSpPr>
              <p:cNvPr id="194612" name="Text Box 103"/>
              <p:cNvSpPr txBox="1">
                <a:spLocks noChangeArrowheads="1"/>
              </p:cNvSpPr>
              <p:nvPr/>
            </p:nvSpPr>
            <p:spPr bwMode="auto">
              <a:xfrm>
                <a:off x="4752" y="806"/>
                <a:ext cx="75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缓存块号</a:t>
                </a:r>
              </a:p>
            </p:txBody>
          </p:sp>
          <p:sp>
            <p:nvSpPr>
              <p:cNvPr id="194613" name="Rectangle 104"/>
              <p:cNvSpPr>
                <a:spLocks noChangeArrowheads="1"/>
              </p:cNvSpPr>
              <p:nvPr/>
            </p:nvSpPr>
            <p:spPr bwMode="auto">
              <a:xfrm>
                <a:off x="3837" y="2482"/>
                <a:ext cx="816" cy="341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endParaRPr lang="zh-CN" altLang="en-US" sz="28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4614" name="Freeform 105"/>
              <p:cNvSpPr/>
              <p:nvPr/>
            </p:nvSpPr>
            <p:spPr bwMode="auto">
              <a:xfrm>
                <a:off x="3837" y="2409"/>
                <a:ext cx="1" cy="303"/>
              </a:xfrm>
              <a:custGeom>
                <a:avLst/>
                <a:gdLst>
                  <a:gd name="T0" fmla="*/ 0 w 1"/>
                  <a:gd name="T1" fmla="*/ 0 h 303"/>
                  <a:gd name="T2" fmla="*/ 1 w 1"/>
                  <a:gd name="T3" fmla="*/ 303 h 303"/>
                  <a:gd name="T4" fmla="*/ 0 60000 65536"/>
                  <a:gd name="T5" fmla="*/ 0 60000 65536"/>
                  <a:gd name="T6" fmla="*/ 0 w 1"/>
                  <a:gd name="T7" fmla="*/ 0 h 303"/>
                  <a:gd name="T8" fmla="*/ 1 w 1"/>
                  <a:gd name="T9" fmla="*/ 303 h 30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303">
                    <a:moveTo>
                      <a:pt x="0" y="0"/>
                    </a:moveTo>
                    <a:lnTo>
                      <a:pt x="1" y="303"/>
                    </a:lnTo>
                  </a:path>
                </a:pathLst>
              </a:cu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194615" name="Freeform 106"/>
              <p:cNvSpPr/>
              <p:nvPr/>
            </p:nvSpPr>
            <p:spPr bwMode="auto">
              <a:xfrm>
                <a:off x="4653" y="2400"/>
                <a:ext cx="1" cy="317"/>
              </a:xfrm>
              <a:custGeom>
                <a:avLst/>
                <a:gdLst>
                  <a:gd name="T0" fmla="*/ 0 w 1"/>
                  <a:gd name="T1" fmla="*/ 0 h 317"/>
                  <a:gd name="T2" fmla="*/ 0 w 1"/>
                  <a:gd name="T3" fmla="*/ 317 h 317"/>
                  <a:gd name="T4" fmla="*/ 0 60000 65536"/>
                  <a:gd name="T5" fmla="*/ 0 60000 65536"/>
                  <a:gd name="T6" fmla="*/ 0 w 1"/>
                  <a:gd name="T7" fmla="*/ 0 h 317"/>
                  <a:gd name="T8" fmla="*/ 1 w 1"/>
                  <a:gd name="T9" fmla="*/ 317 h 31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317">
                    <a:moveTo>
                      <a:pt x="0" y="0"/>
                    </a:moveTo>
                    <a:lnTo>
                      <a:pt x="0" y="317"/>
                    </a:lnTo>
                  </a:path>
                </a:pathLst>
              </a:cu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sp>
        <p:nvSpPr>
          <p:cNvPr id="284779" name="Rectangle 107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4.3</a:t>
            </a:r>
          </a:p>
        </p:txBody>
      </p:sp>
      <p:sp>
        <p:nvSpPr>
          <p:cNvPr id="194568" name="AutoShape 108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84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846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846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846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4675" grpId="0" autoUpdateAnimBg="0"/>
      <p:bldP spid="284676" grpId="0" autoUpdateAnimBg="0"/>
      <p:bldP spid="284677" grpId="0" autoUpdateAnimBg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6" name="Text Box 2"/>
          <p:cNvSpPr txBox="1">
            <a:spLocks noChangeArrowheads="1"/>
          </p:cNvSpPr>
          <p:nvPr/>
        </p:nvSpPr>
        <p:spPr bwMode="auto">
          <a:xfrm>
            <a:off x="762000" y="349250"/>
            <a:ext cx="47244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(2) 命中与未命中</a:t>
            </a:r>
          </a:p>
        </p:txBody>
      </p:sp>
      <p:grpSp>
        <p:nvGrpSpPr>
          <p:cNvPr id="2" name="Group 3"/>
          <p:cNvGrpSpPr/>
          <p:nvPr/>
        </p:nvGrpSpPr>
        <p:grpSpPr bwMode="auto">
          <a:xfrm>
            <a:off x="1584325" y="1190625"/>
            <a:ext cx="2463800" cy="1063625"/>
            <a:chOff x="998" y="750"/>
            <a:chExt cx="1552" cy="670"/>
          </a:xfrm>
        </p:grpSpPr>
        <p:sp>
          <p:nvSpPr>
            <p:cNvPr id="195599" name="Text Box 4"/>
            <p:cNvSpPr txBox="1">
              <a:spLocks noChangeArrowheads="1"/>
            </p:cNvSpPr>
            <p:nvPr/>
          </p:nvSpPr>
          <p:spPr bwMode="auto">
            <a:xfrm>
              <a:off x="998" y="750"/>
              <a:ext cx="150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缓存共有 </a:t>
              </a:r>
              <a:r>
                <a:rPr lang="en-US" altLang="zh-CN" sz="2800" i="1">
                  <a:latin typeface="Times New Roman" panose="02020603050405020304" pitchFamily="18" charset="0"/>
                </a:rPr>
                <a:t>C</a:t>
              </a:r>
              <a:r>
                <a:rPr lang="en-US" altLang="zh-CN" sz="2800">
                  <a:latin typeface="Times New Roman" panose="02020603050405020304" pitchFamily="18" charset="0"/>
                </a:rPr>
                <a:t> </a:t>
              </a:r>
              <a:r>
                <a:rPr lang="zh-CN" altLang="en-US" sz="2800">
                  <a:latin typeface="Times New Roman" panose="02020603050405020304" pitchFamily="18" charset="0"/>
                </a:rPr>
                <a:t>块</a:t>
              </a:r>
            </a:p>
          </p:txBody>
        </p:sp>
        <p:sp>
          <p:nvSpPr>
            <p:cNvPr id="195600" name="Text Box 5"/>
            <p:cNvSpPr txBox="1">
              <a:spLocks noChangeArrowheads="1"/>
            </p:cNvSpPr>
            <p:nvPr/>
          </p:nvSpPr>
          <p:spPr bwMode="auto">
            <a:xfrm>
              <a:off x="998" y="1093"/>
              <a:ext cx="155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主存共有 </a:t>
              </a:r>
              <a:r>
                <a:rPr lang="en-US" altLang="zh-CN" sz="2800" i="1">
                  <a:latin typeface="Times New Roman" panose="02020603050405020304" pitchFamily="18" charset="0"/>
                </a:rPr>
                <a:t>M</a:t>
              </a:r>
              <a:r>
                <a:rPr lang="en-US" altLang="zh-CN" sz="2800">
                  <a:latin typeface="Times New Roman" panose="02020603050405020304" pitchFamily="18" charset="0"/>
                </a:rPr>
                <a:t> </a:t>
              </a:r>
              <a:r>
                <a:rPr lang="zh-CN" altLang="en-US" sz="2800">
                  <a:latin typeface="Times New Roman" panose="02020603050405020304" pitchFamily="18" charset="0"/>
                </a:rPr>
                <a:t>块</a:t>
              </a:r>
            </a:p>
          </p:txBody>
        </p:sp>
      </p:grpSp>
      <p:sp>
        <p:nvSpPr>
          <p:cNvPr id="285702" name="Text Box 6"/>
          <p:cNvSpPr txBox="1">
            <a:spLocks noChangeArrowheads="1"/>
          </p:cNvSpPr>
          <p:nvPr/>
        </p:nvSpPr>
        <p:spPr bwMode="auto">
          <a:xfrm>
            <a:off x="4191000" y="1766888"/>
            <a:ext cx="13208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2800" i="1">
                <a:latin typeface="Times New Roman" panose="02020603050405020304" pitchFamily="18" charset="0"/>
              </a:rPr>
              <a:t>M</a:t>
            </a:r>
            <a:r>
              <a:rPr lang="en-US" altLang="zh-CN" sz="2800">
                <a:latin typeface="Times New Roman" panose="02020603050405020304" pitchFamily="18" charset="0"/>
              </a:rPr>
              <a:t> &gt;&gt; </a:t>
            </a:r>
            <a:r>
              <a:rPr lang="en-US" altLang="zh-CN" sz="2800" i="1">
                <a:latin typeface="Times New Roman" panose="02020603050405020304" pitchFamily="18" charset="0"/>
              </a:rPr>
              <a:t>C</a:t>
            </a:r>
          </a:p>
        </p:txBody>
      </p:sp>
      <p:sp>
        <p:nvSpPr>
          <p:cNvPr id="285703" name="Text Box 7"/>
          <p:cNvSpPr txBox="1">
            <a:spLocks noChangeArrowheads="1"/>
          </p:cNvSpPr>
          <p:nvPr/>
        </p:nvSpPr>
        <p:spPr bwMode="auto">
          <a:xfrm>
            <a:off x="2362200" y="2581275"/>
            <a:ext cx="3505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主存块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调入 </a:t>
            </a:r>
            <a:r>
              <a:rPr lang="zh-CN" altLang="en-US" sz="2800">
                <a:latin typeface="Times New Roman" panose="02020603050405020304" pitchFamily="18" charset="0"/>
              </a:rPr>
              <a:t>缓存</a:t>
            </a:r>
          </a:p>
        </p:txBody>
      </p:sp>
      <p:sp>
        <p:nvSpPr>
          <p:cNvPr id="285704" name="Text Box 8"/>
          <p:cNvSpPr txBox="1">
            <a:spLocks noChangeArrowheads="1"/>
          </p:cNvSpPr>
          <p:nvPr/>
        </p:nvSpPr>
        <p:spPr bwMode="auto">
          <a:xfrm>
            <a:off x="2362200" y="3297238"/>
            <a:ext cx="58674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主存块与缓存块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建立 </a:t>
            </a:r>
            <a:r>
              <a:rPr lang="zh-CN" altLang="en-US" sz="2800">
                <a:latin typeface="Times New Roman" panose="02020603050405020304" pitchFamily="18" charset="0"/>
              </a:rPr>
              <a:t>了对应关系</a:t>
            </a:r>
          </a:p>
        </p:txBody>
      </p:sp>
      <p:sp>
        <p:nvSpPr>
          <p:cNvPr id="285705" name="Text Box 9"/>
          <p:cNvSpPr txBox="1">
            <a:spLocks noChangeArrowheads="1"/>
          </p:cNvSpPr>
          <p:nvPr/>
        </p:nvSpPr>
        <p:spPr bwMode="auto">
          <a:xfrm>
            <a:off x="304800" y="4081463"/>
            <a:ext cx="88392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用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标记记录 </a:t>
            </a:r>
            <a:r>
              <a:rPr lang="zh-CN" altLang="en-US" sz="2800">
                <a:latin typeface="Times New Roman" panose="02020603050405020304" pitchFamily="18" charset="0"/>
              </a:rPr>
              <a:t>与某缓存块建立了对应关系的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主存块号</a:t>
            </a:r>
          </a:p>
        </p:txBody>
      </p:sp>
      <p:grpSp>
        <p:nvGrpSpPr>
          <p:cNvPr id="3" name="Group 10"/>
          <p:cNvGrpSpPr/>
          <p:nvPr/>
        </p:nvGrpSpPr>
        <p:grpSpPr bwMode="auto">
          <a:xfrm>
            <a:off x="822325" y="2506663"/>
            <a:ext cx="1271588" cy="2879725"/>
            <a:chOff x="518" y="1579"/>
            <a:chExt cx="801" cy="1814"/>
          </a:xfrm>
        </p:grpSpPr>
        <p:sp>
          <p:nvSpPr>
            <p:cNvPr id="195597" name="Text Box 11"/>
            <p:cNvSpPr txBox="1">
              <a:spLocks noChangeArrowheads="1"/>
            </p:cNvSpPr>
            <p:nvPr/>
          </p:nvSpPr>
          <p:spPr bwMode="auto">
            <a:xfrm>
              <a:off x="518" y="1579"/>
              <a:ext cx="73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命中</a:t>
              </a:r>
            </a:p>
          </p:txBody>
        </p:sp>
        <p:sp>
          <p:nvSpPr>
            <p:cNvPr id="195598" name="Text Box 12"/>
            <p:cNvSpPr txBox="1">
              <a:spLocks noChangeArrowheads="1"/>
            </p:cNvSpPr>
            <p:nvPr/>
          </p:nvSpPr>
          <p:spPr bwMode="auto">
            <a:xfrm>
              <a:off x="528" y="3066"/>
              <a:ext cx="7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未命中</a:t>
              </a:r>
            </a:p>
          </p:txBody>
        </p:sp>
      </p:grpSp>
      <p:sp>
        <p:nvSpPr>
          <p:cNvPr id="285709" name="Text Box 13"/>
          <p:cNvSpPr txBox="1">
            <a:spLocks noChangeArrowheads="1"/>
          </p:cNvSpPr>
          <p:nvPr/>
        </p:nvSpPr>
        <p:spPr bwMode="auto">
          <a:xfrm>
            <a:off x="2378075" y="5584825"/>
            <a:ext cx="60801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主存块与缓存块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未建立 </a:t>
            </a:r>
            <a:r>
              <a:rPr lang="zh-CN" altLang="en-US" sz="2800">
                <a:latin typeface="Times New Roman" panose="02020603050405020304" pitchFamily="18" charset="0"/>
              </a:rPr>
              <a:t>对应关系</a:t>
            </a:r>
          </a:p>
        </p:txBody>
      </p:sp>
      <p:sp>
        <p:nvSpPr>
          <p:cNvPr id="285710" name="Text Box 14"/>
          <p:cNvSpPr txBox="1">
            <a:spLocks noChangeArrowheads="1"/>
          </p:cNvSpPr>
          <p:nvPr/>
        </p:nvSpPr>
        <p:spPr bwMode="auto">
          <a:xfrm>
            <a:off x="2378075" y="4889500"/>
            <a:ext cx="40227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主存块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未调入 </a:t>
            </a:r>
            <a:r>
              <a:rPr lang="zh-CN" altLang="en-US" sz="2800">
                <a:latin typeface="Times New Roman" panose="02020603050405020304" pitchFamily="18" charset="0"/>
              </a:rPr>
              <a:t>缓存</a:t>
            </a:r>
          </a:p>
        </p:txBody>
      </p:sp>
      <p:sp>
        <p:nvSpPr>
          <p:cNvPr id="285711" name="Rectangle 15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4.3</a:t>
            </a:r>
          </a:p>
        </p:txBody>
      </p:sp>
      <p:sp>
        <p:nvSpPr>
          <p:cNvPr id="195596" name="AutoShape 16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857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857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85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857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857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857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857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5702" grpId="0" autoUpdateAnimBg="0"/>
      <p:bldP spid="285703" grpId="0" autoUpdateAnimBg="0"/>
      <p:bldP spid="285704" grpId="0" autoUpdateAnimBg="0"/>
      <p:bldP spid="285705" grpId="0" autoUpdateAnimBg="0"/>
      <p:bldP spid="285709" grpId="0" autoUpdateAnimBg="0"/>
      <p:bldP spid="285710" grpId="0" autoUpdateAnimBg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10" name="Text Box 2"/>
          <p:cNvSpPr txBox="1">
            <a:spLocks noChangeArrowheads="1"/>
          </p:cNvSpPr>
          <p:nvPr/>
        </p:nvSpPr>
        <p:spPr bwMode="auto">
          <a:xfrm>
            <a:off x="609600" y="381000"/>
            <a:ext cx="48006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(3) </a:t>
            </a:r>
            <a:r>
              <a:rPr lang="en-US" altLang="zh-CN" sz="3600">
                <a:latin typeface="Times New Roman" panose="02020603050405020304" pitchFamily="18" charset="0"/>
              </a:rPr>
              <a:t>Cache </a:t>
            </a:r>
            <a:r>
              <a:rPr lang="zh-CN" altLang="en-US" sz="3600">
                <a:latin typeface="Times New Roman" panose="02020603050405020304" pitchFamily="18" charset="0"/>
              </a:rPr>
              <a:t>的命中率</a:t>
            </a:r>
          </a:p>
        </p:txBody>
      </p:sp>
      <p:sp>
        <p:nvSpPr>
          <p:cNvPr id="286723" name="Text Box 3"/>
          <p:cNvSpPr txBox="1">
            <a:spLocks noChangeArrowheads="1"/>
          </p:cNvSpPr>
          <p:nvPr/>
        </p:nvSpPr>
        <p:spPr bwMode="auto">
          <a:xfrm>
            <a:off x="1447800" y="1308100"/>
            <a:ext cx="67976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2800">
                <a:latin typeface="Times New Roman" panose="02020603050405020304" pitchFamily="18" charset="0"/>
              </a:rPr>
              <a:t>CPU </a:t>
            </a:r>
            <a:r>
              <a:rPr lang="zh-CN" altLang="en-US" sz="2800">
                <a:latin typeface="Times New Roman" panose="02020603050405020304" pitchFamily="18" charset="0"/>
              </a:rPr>
              <a:t>欲访问的信息在 </a:t>
            </a:r>
            <a:r>
              <a:rPr lang="en-US" altLang="zh-CN" sz="2800">
                <a:latin typeface="Times New Roman" panose="02020603050405020304" pitchFamily="18" charset="0"/>
              </a:rPr>
              <a:t>Cache </a:t>
            </a:r>
            <a:r>
              <a:rPr lang="zh-CN" altLang="en-US" sz="2800">
                <a:latin typeface="Times New Roman" panose="02020603050405020304" pitchFamily="18" charset="0"/>
              </a:rPr>
              <a:t>中的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比率</a:t>
            </a:r>
          </a:p>
        </p:txBody>
      </p:sp>
      <p:sp>
        <p:nvSpPr>
          <p:cNvPr id="286724" name="Text Box 4"/>
          <p:cNvSpPr txBox="1">
            <a:spLocks noChangeArrowheads="1"/>
          </p:cNvSpPr>
          <p:nvPr/>
        </p:nvSpPr>
        <p:spPr bwMode="auto">
          <a:xfrm>
            <a:off x="1447800" y="2143125"/>
            <a:ext cx="7086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命中率 </a:t>
            </a:r>
            <a:r>
              <a:rPr lang="zh-CN" altLang="en-US" sz="2800">
                <a:latin typeface="Times New Roman" panose="02020603050405020304" pitchFamily="18" charset="0"/>
              </a:rPr>
              <a:t>与 </a:t>
            </a:r>
            <a:r>
              <a:rPr lang="en-US" altLang="zh-CN" sz="2800">
                <a:latin typeface="Times New Roman" panose="02020603050405020304" pitchFamily="18" charset="0"/>
              </a:rPr>
              <a:t>Cache </a:t>
            </a:r>
            <a:r>
              <a:rPr lang="zh-CN" altLang="en-US" sz="2800">
                <a:latin typeface="Times New Roman" panose="02020603050405020304" pitchFamily="18" charset="0"/>
              </a:rPr>
              <a:t>的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容量 </a:t>
            </a:r>
            <a:r>
              <a:rPr lang="zh-CN" altLang="en-US" sz="2800">
                <a:latin typeface="Times New Roman" panose="02020603050405020304" pitchFamily="18" charset="0"/>
              </a:rPr>
              <a:t>与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块长 </a:t>
            </a:r>
            <a:r>
              <a:rPr lang="zh-CN" altLang="en-US" sz="2800">
                <a:latin typeface="Times New Roman" panose="02020603050405020304" pitchFamily="18" charset="0"/>
              </a:rPr>
              <a:t>有关 </a:t>
            </a:r>
          </a:p>
        </p:txBody>
      </p:sp>
      <p:sp>
        <p:nvSpPr>
          <p:cNvPr id="286725" name="Text Box 5"/>
          <p:cNvSpPr txBox="1">
            <a:spLocks noChangeArrowheads="1"/>
          </p:cNvSpPr>
          <p:nvPr/>
        </p:nvSpPr>
        <p:spPr bwMode="auto">
          <a:xfrm>
            <a:off x="1447800" y="3025775"/>
            <a:ext cx="3937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一般每块可取 4 </a:t>
            </a:r>
            <a:r>
              <a:rPr lang="en-US" altLang="zh-CN" sz="2800">
                <a:latin typeface="Times New Roman" panose="02020603050405020304" pitchFamily="18" charset="0"/>
              </a:rPr>
              <a:t>~ 8 </a:t>
            </a:r>
            <a:r>
              <a:rPr lang="zh-CN" altLang="en-US" sz="2800">
                <a:latin typeface="Times New Roman" panose="02020603050405020304" pitchFamily="18" charset="0"/>
              </a:rPr>
              <a:t>个字</a:t>
            </a:r>
          </a:p>
        </p:txBody>
      </p:sp>
      <p:sp>
        <p:nvSpPr>
          <p:cNvPr id="286726" name="Text Box 6"/>
          <p:cNvSpPr txBox="1">
            <a:spLocks noChangeArrowheads="1"/>
          </p:cNvSpPr>
          <p:nvPr/>
        </p:nvSpPr>
        <p:spPr bwMode="auto">
          <a:xfrm>
            <a:off x="1331913" y="3867150"/>
            <a:ext cx="781208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块长取一个存取周期内从主存调出的信息长度</a:t>
            </a:r>
          </a:p>
        </p:txBody>
      </p:sp>
      <p:sp>
        <p:nvSpPr>
          <p:cNvPr id="286727" name="Text Box 7"/>
          <p:cNvSpPr txBox="1">
            <a:spLocks noChangeArrowheads="1"/>
          </p:cNvSpPr>
          <p:nvPr/>
        </p:nvSpPr>
        <p:spPr bwMode="auto">
          <a:xfrm>
            <a:off x="1592263" y="4662488"/>
            <a:ext cx="7551737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2800">
                <a:latin typeface="Times New Roman" panose="02020603050405020304" pitchFamily="18" charset="0"/>
              </a:rPr>
              <a:t>  CRAY_1     16</a:t>
            </a:r>
            <a:r>
              <a:rPr lang="zh-CN" altLang="en-US" sz="2800">
                <a:latin typeface="Times New Roman" panose="02020603050405020304" pitchFamily="18" charset="0"/>
              </a:rPr>
              <a:t>体交叉      块长取 16 个存储字</a:t>
            </a:r>
          </a:p>
        </p:txBody>
      </p:sp>
      <p:sp>
        <p:nvSpPr>
          <p:cNvPr id="286728" name="Text Box 8"/>
          <p:cNvSpPr txBox="1">
            <a:spLocks noChangeArrowheads="1"/>
          </p:cNvSpPr>
          <p:nvPr/>
        </p:nvSpPr>
        <p:spPr bwMode="auto">
          <a:xfrm>
            <a:off x="1027113" y="5283200"/>
            <a:ext cx="811688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2800">
                <a:latin typeface="Times New Roman" panose="02020603050405020304" pitchFamily="18" charset="0"/>
              </a:rPr>
              <a:t> </a:t>
            </a:r>
            <a:r>
              <a:rPr lang="en-US" altLang="zh-CN" sz="900">
                <a:latin typeface="Times New Roman" panose="02020603050405020304" pitchFamily="18" charset="0"/>
              </a:rPr>
              <a:t>  </a:t>
            </a:r>
            <a:r>
              <a:rPr lang="en-US" altLang="zh-CN" sz="2800">
                <a:latin typeface="Times New Roman" panose="02020603050405020304" pitchFamily="18" charset="0"/>
              </a:rPr>
              <a:t>IBM 370/168       4</a:t>
            </a:r>
            <a:r>
              <a:rPr lang="zh-CN" altLang="en-US" sz="2800">
                <a:latin typeface="Times New Roman" panose="02020603050405020304" pitchFamily="18" charset="0"/>
              </a:rPr>
              <a:t>体交叉     </a:t>
            </a:r>
            <a:r>
              <a:rPr lang="zh-CN" altLang="en-US" sz="1400">
                <a:latin typeface="Times New Roman" panose="02020603050405020304" pitchFamily="18" charset="0"/>
              </a:rPr>
              <a:t> </a:t>
            </a:r>
            <a:r>
              <a:rPr lang="zh-CN" altLang="en-US">
                <a:latin typeface="Times New Roman" panose="02020603050405020304" pitchFamily="18" charset="0"/>
              </a:rPr>
              <a:t> </a:t>
            </a:r>
            <a:r>
              <a:rPr lang="zh-CN" altLang="en-US" sz="2800">
                <a:latin typeface="Times New Roman" panose="02020603050405020304" pitchFamily="18" charset="0"/>
              </a:rPr>
              <a:t>块长取   4 个存储字</a:t>
            </a:r>
          </a:p>
        </p:txBody>
      </p:sp>
      <p:sp>
        <p:nvSpPr>
          <p:cNvPr id="286729" name="Text Box 9"/>
          <p:cNvSpPr txBox="1">
            <a:spLocks noChangeArrowheads="1"/>
          </p:cNvSpPr>
          <p:nvPr/>
        </p:nvSpPr>
        <p:spPr bwMode="auto">
          <a:xfrm>
            <a:off x="5759450" y="5881688"/>
            <a:ext cx="33797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（64位</a:t>
            </a:r>
            <a:r>
              <a:rPr lang="en-US" altLang="zh-CN" sz="28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zh-CN" altLang="en-US" sz="2800">
                <a:latin typeface="Times New Roman" panose="02020603050405020304" pitchFamily="18" charset="0"/>
              </a:rPr>
              <a:t>4</a:t>
            </a:r>
            <a:r>
              <a:rPr lang="zh-CN" altLang="en-US" sz="1400">
                <a:latin typeface="Times New Roman" panose="02020603050405020304" pitchFamily="18" charset="0"/>
              </a:rPr>
              <a:t> </a:t>
            </a:r>
            <a:r>
              <a:rPr lang="zh-CN" altLang="en-US">
                <a:latin typeface="Times New Roman" panose="02020603050405020304" pitchFamily="18" charset="0"/>
              </a:rPr>
              <a:t> </a:t>
            </a:r>
            <a:r>
              <a:rPr lang="zh-CN" altLang="en-US" sz="2800">
                <a:latin typeface="Times New Roman" panose="02020603050405020304" pitchFamily="18" charset="0"/>
              </a:rPr>
              <a:t>=</a:t>
            </a:r>
            <a:r>
              <a:rPr lang="zh-CN" altLang="en-US">
                <a:latin typeface="Times New Roman" panose="02020603050405020304" pitchFamily="18" charset="0"/>
              </a:rPr>
              <a:t> </a:t>
            </a:r>
            <a:r>
              <a:rPr lang="zh-CN" altLang="en-US" sz="1400">
                <a:latin typeface="Times New Roman" panose="02020603050405020304" pitchFamily="18" charset="0"/>
              </a:rPr>
              <a:t> </a:t>
            </a:r>
            <a:r>
              <a:rPr lang="zh-CN" altLang="en-US" sz="2800">
                <a:latin typeface="Times New Roman" panose="02020603050405020304" pitchFamily="18" charset="0"/>
              </a:rPr>
              <a:t>256位）</a:t>
            </a:r>
          </a:p>
        </p:txBody>
      </p:sp>
      <p:sp>
        <p:nvSpPr>
          <p:cNvPr id="286730" name="Rectangle 10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4.3</a:t>
            </a:r>
          </a:p>
        </p:txBody>
      </p:sp>
      <p:sp>
        <p:nvSpPr>
          <p:cNvPr id="196619" name="AutoShape 11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867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867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86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867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867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86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867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6723" grpId="0" autoUpdateAnimBg="0"/>
      <p:bldP spid="286724" grpId="0" autoUpdateAnimBg="0"/>
      <p:bldP spid="286725" grpId="0" autoUpdateAnimBg="0"/>
      <p:bldP spid="286726" grpId="0" autoUpdateAnimBg="0"/>
      <p:bldP spid="286727" grpId="0" autoUpdateAnimBg="0"/>
      <p:bldP spid="286728" grpId="0" autoUpdateAnimBg="0"/>
      <p:bldP spid="286729" grpId="0" autoUpdateAnimBg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Text Box 2"/>
          <p:cNvSpPr txBox="1">
            <a:spLocks noChangeArrowheads="1"/>
          </p:cNvSpPr>
          <p:nvPr/>
        </p:nvSpPr>
        <p:spPr bwMode="auto">
          <a:xfrm>
            <a:off x="609600" y="381000"/>
            <a:ext cx="6554788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(</a:t>
            </a:r>
            <a:r>
              <a:rPr lang="en-US" altLang="zh-CN" sz="3600">
                <a:latin typeface="Times New Roman" panose="02020603050405020304" pitchFamily="18" charset="0"/>
              </a:rPr>
              <a:t>4) Cache </a:t>
            </a:r>
            <a:r>
              <a:rPr lang="en-US" altLang="zh-CN" sz="3600">
                <a:latin typeface="Times New Roman" panose="02020603050405020304" pitchFamily="18" charset="0"/>
                <a:cs typeface="Times New Roman" panose="02020603050405020304" pitchFamily="18" charset="0"/>
              </a:rPr>
              <a:t>–</a:t>
            </a:r>
            <a:r>
              <a:rPr lang="zh-CN" altLang="en-US" sz="3600">
                <a:latin typeface="Times New Roman" panose="02020603050405020304" pitchFamily="18" charset="0"/>
              </a:rPr>
              <a:t>主存系统的效率</a:t>
            </a:r>
          </a:p>
        </p:txBody>
      </p:sp>
      <p:sp>
        <p:nvSpPr>
          <p:cNvPr id="287747" name="Text Box 3"/>
          <p:cNvSpPr txBox="1">
            <a:spLocks noChangeArrowheads="1"/>
          </p:cNvSpPr>
          <p:nvPr/>
        </p:nvSpPr>
        <p:spPr bwMode="auto">
          <a:xfrm>
            <a:off x="1230313" y="1308100"/>
            <a:ext cx="67976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效率 </a:t>
            </a:r>
            <a:r>
              <a:rPr lang="en-US" altLang="zh-CN" sz="3200" i="1">
                <a:solidFill>
                  <a:schemeClr val="folHlink"/>
                </a:solidFill>
                <a:latin typeface="Times New Roman" panose="02020603050405020304" pitchFamily="18" charset="0"/>
              </a:rPr>
              <a:t>e</a:t>
            </a:r>
            <a:r>
              <a:rPr lang="en-US" altLang="zh-CN" sz="32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zh-CN" altLang="en-US" sz="2800">
                <a:latin typeface="Times New Roman" panose="02020603050405020304" pitchFamily="18" charset="0"/>
              </a:rPr>
              <a:t>与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命中率</a:t>
            </a:r>
            <a:r>
              <a:rPr lang="zh-CN" altLang="en-US" sz="2800">
                <a:latin typeface="Times New Roman" panose="02020603050405020304" pitchFamily="18" charset="0"/>
              </a:rPr>
              <a:t> 有关</a:t>
            </a:r>
            <a:endParaRPr lang="zh-CN" altLang="en-US" sz="2800">
              <a:solidFill>
                <a:schemeClr val="folHlink"/>
              </a:solidFill>
              <a:latin typeface="Times New Roman" panose="02020603050405020304" pitchFamily="18" charset="0"/>
            </a:endParaRPr>
          </a:p>
        </p:txBody>
      </p:sp>
      <p:sp>
        <p:nvSpPr>
          <p:cNvPr id="287748" name="Text Box 4"/>
          <p:cNvSpPr txBox="1">
            <a:spLocks noChangeArrowheads="1"/>
          </p:cNvSpPr>
          <p:nvPr/>
        </p:nvSpPr>
        <p:spPr bwMode="auto">
          <a:xfrm>
            <a:off x="1063625" y="3573463"/>
            <a:ext cx="8116888" cy="177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</a:pPr>
            <a:r>
              <a:rPr lang="en-US" altLang="zh-CN" sz="2800">
                <a:latin typeface="Times New Roman" panose="02020603050405020304" pitchFamily="18" charset="0"/>
              </a:rPr>
              <a:t> </a:t>
            </a:r>
            <a:r>
              <a:rPr lang="en-US" altLang="zh-CN" sz="900">
                <a:latin typeface="Times New Roman" panose="02020603050405020304" pitchFamily="18" charset="0"/>
              </a:rPr>
              <a:t>  </a:t>
            </a:r>
            <a:r>
              <a:rPr lang="zh-CN" altLang="en-US" sz="2800">
                <a:latin typeface="Times New Roman" panose="02020603050405020304" pitchFamily="18" charset="0"/>
              </a:rPr>
              <a:t>设 </a:t>
            </a:r>
            <a:r>
              <a:rPr lang="en-US" altLang="zh-CN" sz="2800">
                <a:latin typeface="Times New Roman" panose="02020603050405020304" pitchFamily="18" charset="0"/>
              </a:rPr>
              <a:t>Cache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命中率 </a:t>
            </a:r>
            <a:r>
              <a:rPr lang="zh-CN" altLang="en-US" sz="2800">
                <a:latin typeface="Times New Roman" panose="02020603050405020304" pitchFamily="18" charset="0"/>
              </a:rPr>
              <a:t>为 </a:t>
            </a:r>
            <a:r>
              <a:rPr lang="en-US" altLang="zh-CN" sz="2800" i="1">
                <a:latin typeface="Times New Roman" panose="02020603050405020304" pitchFamily="18" charset="0"/>
              </a:rPr>
              <a:t>h</a:t>
            </a:r>
            <a:r>
              <a:rPr lang="zh-CN" altLang="en-US" sz="2800" i="1">
                <a:latin typeface="Times New Roman" panose="02020603050405020304" pitchFamily="18" charset="0"/>
              </a:rPr>
              <a:t>，</a:t>
            </a:r>
            <a:r>
              <a:rPr lang="zh-CN" altLang="en-US" sz="2800">
                <a:latin typeface="Times New Roman" panose="02020603050405020304" pitchFamily="18" charset="0"/>
              </a:rPr>
              <a:t>访问 </a:t>
            </a:r>
            <a:r>
              <a:rPr lang="en-US" altLang="en-US" sz="2800">
                <a:latin typeface="Times New Roman" panose="02020603050405020304" pitchFamily="18" charset="0"/>
              </a:rPr>
              <a:t>Cache</a:t>
            </a:r>
            <a:r>
              <a:rPr lang="en-US" altLang="zh-CN" sz="2800">
                <a:latin typeface="Times New Roman" panose="02020603050405020304" pitchFamily="18" charset="0"/>
              </a:rPr>
              <a:t> </a:t>
            </a:r>
            <a:r>
              <a:rPr lang="zh-CN" altLang="en-US" sz="2800">
                <a:latin typeface="Times New Roman" panose="02020603050405020304" pitchFamily="18" charset="0"/>
              </a:rPr>
              <a:t>的时间为 </a:t>
            </a:r>
            <a:r>
              <a:rPr lang="en-US" altLang="zh-CN" sz="2800" i="1">
                <a:latin typeface="Times New Roman" panose="02020603050405020304" pitchFamily="18" charset="0"/>
              </a:rPr>
              <a:t>t</a:t>
            </a:r>
            <a:r>
              <a:rPr lang="en-US" altLang="zh-CN" sz="2800" i="1" baseline="-25000">
                <a:latin typeface="Times New Roman" panose="02020603050405020304" pitchFamily="18" charset="0"/>
              </a:rPr>
              <a:t>c</a:t>
            </a:r>
            <a:r>
              <a:rPr lang="en-US" altLang="zh-CN" sz="900" i="1" baseline="-25000">
                <a:latin typeface="Times New Roman" panose="02020603050405020304" pitchFamily="18" charset="0"/>
              </a:rPr>
              <a:t>  </a:t>
            </a:r>
            <a:r>
              <a:rPr lang="zh-CN" altLang="en-US" sz="2800" i="1">
                <a:latin typeface="Times New Roman" panose="02020603050405020304" pitchFamily="18" charset="0"/>
              </a:rPr>
              <a:t>，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</a:pPr>
            <a:r>
              <a:rPr lang="en-US" altLang="zh-CN" sz="2800" i="1" baseline="-25000">
                <a:latin typeface="Times New Roman" panose="02020603050405020304" pitchFamily="18" charset="0"/>
              </a:rPr>
              <a:t>          </a:t>
            </a:r>
            <a:r>
              <a:rPr lang="en-US" altLang="zh-CN" sz="2800">
                <a:latin typeface="Times New Roman" panose="02020603050405020304" pitchFamily="18" charset="0"/>
              </a:rPr>
              <a:t>访问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主存</a:t>
            </a:r>
            <a:r>
              <a:rPr lang="zh-CN" altLang="en-US" sz="2800">
                <a:latin typeface="Times New Roman" panose="02020603050405020304" pitchFamily="18" charset="0"/>
              </a:rPr>
              <a:t> 的时间为 </a:t>
            </a:r>
            <a:r>
              <a:rPr lang="en-US" altLang="zh-CN" sz="2800" i="1">
                <a:latin typeface="Times New Roman" panose="02020603050405020304" pitchFamily="18" charset="0"/>
              </a:rPr>
              <a:t>t</a:t>
            </a:r>
            <a:r>
              <a:rPr lang="en-US" altLang="zh-CN" sz="2800" i="1" baseline="-25000">
                <a:latin typeface="Times New Roman" panose="02020603050405020304" pitchFamily="18" charset="0"/>
              </a:rPr>
              <a:t>m</a:t>
            </a:r>
          </a:p>
          <a:p>
            <a:pPr eaLnBrk="1" hangingPunct="1">
              <a:spcBef>
                <a:spcPct val="0"/>
              </a:spcBef>
            </a:pPr>
            <a:r>
              <a:rPr lang="en-US" altLang="zh-CN" sz="2400" i="1">
                <a:latin typeface="Times New Roman" panose="02020603050405020304" pitchFamily="18" charset="0"/>
              </a:rPr>
              <a:t>   </a:t>
            </a:r>
          </a:p>
          <a:p>
            <a:pPr eaLnBrk="1" hangingPunct="1">
              <a:spcBef>
                <a:spcPct val="0"/>
              </a:spcBef>
            </a:pPr>
            <a:endParaRPr lang="en-US" altLang="zh-CN" sz="2800" i="1" baseline="-25000">
              <a:latin typeface="Times New Roman" panose="02020603050405020304" pitchFamily="18" charset="0"/>
            </a:endParaRPr>
          </a:p>
        </p:txBody>
      </p:sp>
      <p:sp>
        <p:nvSpPr>
          <p:cNvPr id="287749" name="Rectangle 5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4.3</a:t>
            </a:r>
          </a:p>
        </p:txBody>
      </p:sp>
      <p:grpSp>
        <p:nvGrpSpPr>
          <p:cNvPr id="2" name="Group 6"/>
          <p:cNvGrpSpPr/>
          <p:nvPr/>
        </p:nvGrpSpPr>
        <p:grpSpPr bwMode="auto">
          <a:xfrm>
            <a:off x="1216025" y="4076700"/>
            <a:ext cx="8035925" cy="1673225"/>
            <a:chOff x="766" y="2568"/>
            <a:chExt cx="5062" cy="1054"/>
          </a:xfrm>
        </p:grpSpPr>
        <p:sp>
          <p:nvSpPr>
            <p:cNvPr id="197646" name="Text Box 7"/>
            <p:cNvSpPr txBox="1">
              <a:spLocks noChangeArrowheads="1"/>
            </p:cNvSpPr>
            <p:nvPr/>
          </p:nvSpPr>
          <p:spPr bwMode="auto">
            <a:xfrm>
              <a:off x="766" y="3158"/>
              <a:ext cx="39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则 </a:t>
              </a:r>
            </a:p>
          </p:txBody>
        </p:sp>
        <p:grpSp>
          <p:nvGrpSpPr>
            <p:cNvPr id="197647" name="Group 8"/>
            <p:cNvGrpSpPr/>
            <p:nvPr/>
          </p:nvGrpSpPr>
          <p:grpSpPr bwMode="auto">
            <a:xfrm>
              <a:off x="929" y="2568"/>
              <a:ext cx="4899" cy="1054"/>
              <a:chOff x="929" y="2568"/>
              <a:chExt cx="4899" cy="1054"/>
            </a:xfrm>
          </p:grpSpPr>
          <p:sp>
            <p:nvSpPr>
              <p:cNvPr id="197648" name="Text Box 9"/>
              <p:cNvSpPr txBox="1">
                <a:spLocks noChangeArrowheads="1"/>
              </p:cNvSpPr>
              <p:nvPr/>
            </p:nvSpPr>
            <p:spPr bwMode="auto">
              <a:xfrm>
                <a:off x="1020" y="3112"/>
                <a:ext cx="4757" cy="3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800">
                    <a:latin typeface="Times New Roman" panose="02020603050405020304" pitchFamily="18" charset="0"/>
                  </a:rPr>
                  <a:t>  </a:t>
                </a:r>
                <a:r>
                  <a:rPr lang="en-US" altLang="zh-CN" sz="3000" i="1">
                    <a:latin typeface="Times New Roman" panose="02020603050405020304" pitchFamily="18" charset="0"/>
                  </a:rPr>
                  <a:t>e</a:t>
                </a:r>
                <a:r>
                  <a:rPr lang="en-US" altLang="zh-CN" sz="2800">
                    <a:latin typeface="Times New Roman" panose="02020603050405020304" pitchFamily="18" charset="0"/>
                  </a:rPr>
                  <a:t> =                                     </a:t>
                </a:r>
                <a:r>
                  <a:rPr lang="en-US" altLang="zh-CN" sz="2400">
                    <a:latin typeface="Times New Roman" panose="02020603050405020304" pitchFamily="18" charset="0"/>
                  </a:rPr>
                  <a:t>×</a:t>
                </a:r>
                <a:r>
                  <a:rPr lang="en-US" altLang="zh-CN" sz="2800">
                    <a:latin typeface="Times New Roman" panose="02020603050405020304" pitchFamily="18" charset="0"/>
                  </a:rPr>
                  <a:t> 100%</a:t>
                </a:r>
                <a:endParaRPr lang="zh-CN" altLang="en-US" sz="2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649" name="Text Box 10"/>
              <p:cNvSpPr txBox="1">
                <a:spLocks noChangeArrowheads="1"/>
              </p:cNvSpPr>
              <p:nvPr/>
            </p:nvSpPr>
            <p:spPr bwMode="auto">
              <a:xfrm>
                <a:off x="929" y="2568"/>
                <a:ext cx="3811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endParaRPr lang="zh-CN" altLang="en-US" sz="2400" b="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650" name="Text Box 11"/>
              <p:cNvSpPr txBox="1">
                <a:spLocks noChangeArrowheads="1"/>
              </p:cNvSpPr>
              <p:nvPr/>
            </p:nvSpPr>
            <p:spPr bwMode="auto">
              <a:xfrm>
                <a:off x="1071" y="2976"/>
                <a:ext cx="4757" cy="59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800" i="1">
                    <a:latin typeface="Times New Roman" panose="02020603050405020304" pitchFamily="18" charset="0"/>
                  </a:rPr>
                  <a:t>                         t</a:t>
                </a:r>
                <a:r>
                  <a:rPr lang="en-US" altLang="zh-CN" sz="2800" i="1" baseline="-25000">
                    <a:latin typeface="Times New Roman" panose="02020603050405020304" pitchFamily="18" charset="0"/>
                  </a:rPr>
                  <a:t>c</a:t>
                </a:r>
              </a:p>
              <a:p>
                <a:pPr eaLnBrk="1" hangingPunct="1">
                  <a:spcBef>
                    <a:spcPct val="0"/>
                  </a:spcBef>
                </a:pPr>
                <a:endParaRPr lang="zh-CN" altLang="en-US" sz="2800" i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651" name="Text Box 12"/>
              <p:cNvSpPr txBox="1">
                <a:spLocks noChangeArrowheads="1"/>
              </p:cNvSpPr>
              <p:nvPr/>
            </p:nvSpPr>
            <p:spPr bwMode="auto">
              <a:xfrm>
                <a:off x="1071" y="3276"/>
                <a:ext cx="4757" cy="3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zh-CN" sz="2800">
                    <a:latin typeface="Times New Roman" panose="02020603050405020304" pitchFamily="18" charset="0"/>
                  </a:rPr>
                  <a:t>          </a:t>
                </a:r>
                <a:r>
                  <a:rPr lang="en-US" altLang="zh-CN" sz="2800" i="1">
                    <a:latin typeface="Times New Roman" panose="02020603050405020304" pitchFamily="18" charset="0"/>
                  </a:rPr>
                  <a:t>h</a:t>
                </a:r>
                <a:r>
                  <a:rPr lang="en-US" altLang="zh-CN" sz="2800">
                    <a:latin typeface="Times New Roman" panose="02020603050405020304" pitchFamily="18" charset="0"/>
                  </a:rPr>
                  <a:t> </a:t>
                </a:r>
                <a:r>
                  <a:rPr lang="en-US" altLang="zh-CN" sz="2400">
                    <a:latin typeface="Times New Roman" panose="02020603050405020304" pitchFamily="18" charset="0"/>
                  </a:rPr>
                  <a:t>×</a:t>
                </a:r>
                <a:r>
                  <a:rPr lang="en-US" altLang="zh-CN" sz="2400" b="0">
                    <a:latin typeface="Times New Roman" panose="02020603050405020304" pitchFamily="18" charset="0"/>
                  </a:rPr>
                  <a:t> </a:t>
                </a:r>
                <a:r>
                  <a:rPr lang="en-US" altLang="zh-CN" sz="2800" i="1">
                    <a:latin typeface="Times New Roman" panose="02020603050405020304" pitchFamily="18" charset="0"/>
                  </a:rPr>
                  <a:t>t</a:t>
                </a:r>
                <a:r>
                  <a:rPr lang="en-US" altLang="zh-CN" sz="2800" i="1" baseline="-25000">
                    <a:latin typeface="Times New Roman" panose="02020603050405020304" pitchFamily="18" charset="0"/>
                  </a:rPr>
                  <a:t>c</a:t>
                </a:r>
                <a:r>
                  <a:rPr lang="en-US" altLang="zh-CN" sz="2800" i="1">
                    <a:latin typeface="Times New Roman" panose="02020603050405020304" pitchFamily="18" charset="0"/>
                  </a:rPr>
                  <a:t>+ </a:t>
                </a:r>
                <a:r>
                  <a:rPr lang="en-US" altLang="zh-CN" sz="2800">
                    <a:latin typeface="Times New Roman" panose="02020603050405020304" pitchFamily="18" charset="0"/>
                  </a:rPr>
                  <a:t>(1</a:t>
                </a:r>
                <a:r>
                  <a:rPr lang="zh-CN" altLang="en-US" sz="2400">
                    <a:latin typeface="Times New Roman" panose="02020603050405020304" pitchFamily="18" charset="0"/>
                  </a:rPr>
                  <a:t>－</a:t>
                </a:r>
                <a:r>
                  <a:rPr lang="en-US" altLang="zh-CN" sz="3000" i="1">
                    <a:latin typeface="Times New Roman" panose="02020603050405020304" pitchFamily="18" charset="0"/>
                  </a:rPr>
                  <a:t>h</a:t>
                </a:r>
                <a:r>
                  <a:rPr lang="en-US" altLang="zh-CN" sz="2400">
                    <a:latin typeface="Times New Roman" panose="02020603050405020304" pitchFamily="18" charset="0"/>
                  </a:rPr>
                  <a:t>)× </a:t>
                </a:r>
                <a:r>
                  <a:rPr lang="en-US" altLang="zh-CN" sz="3000" i="1">
                    <a:latin typeface="Times New Roman" panose="02020603050405020304" pitchFamily="18" charset="0"/>
                  </a:rPr>
                  <a:t>t</a:t>
                </a:r>
                <a:r>
                  <a:rPr lang="en-US" altLang="zh-CN" sz="3000" i="1" baseline="-25000">
                    <a:latin typeface="Times New Roman" panose="02020603050405020304" pitchFamily="18" charset="0"/>
                  </a:rPr>
                  <a:t>m</a:t>
                </a:r>
                <a:endParaRPr lang="zh-CN" altLang="en-US" sz="3000" i="1" baseline="-250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652" name="Line 13"/>
              <p:cNvSpPr>
                <a:spLocks noChangeShapeType="1"/>
              </p:cNvSpPr>
              <p:nvPr/>
            </p:nvSpPr>
            <p:spPr bwMode="auto">
              <a:xfrm>
                <a:off x="1543" y="3303"/>
                <a:ext cx="1972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</p:grpSp>
      <p:grpSp>
        <p:nvGrpSpPr>
          <p:cNvPr id="4" name="Group 14"/>
          <p:cNvGrpSpPr/>
          <p:nvPr/>
        </p:nvGrpSpPr>
        <p:grpSpPr bwMode="auto">
          <a:xfrm>
            <a:off x="1476375" y="1557338"/>
            <a:ext cx="7777163" cy="1643062"/>
            <a:chOff x="930" y="981"/>
            <a:chExt cx="4899" cy="1035"/>
          </a:xfrm>
        </p:grpSpPr>
        <p:sp>
          <p:nvSpPr>
            <p:cNvPr id="197641" name="Text Box 15"/>
            <p:cNvSpPr txBox="1">
              <a:spLocks noChangeArrowheads="1"/>
            </p:cNvSpPr>
            <p:nvPr/>
          </p:nvSpPr>
          <p:spPr bwMode="auto">
            <a:xfrm>
              <a:off x="930" y="981"/>
              <a:ext cx="381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endParaRPr lang="zh-CN" altLang="en-US" sz="2400" b="0">
                <a:latin typeface="Times New Roman" panose="02020603050405020304" pitchFamily="18" charset="0"/>
              </a:endParaRPr>
            </a:p>
          </p:txBody>
        </p:sp>
        <p:sp>
          <p:nvSpPr>
            <p:cNvPr id="197642" name="Text Box 16"/>
            <p:cNvSpPr txBox="1">
              <a:spLocks noChangeArrowheads="1"/>
            </p:cNvSpPr>
            <p:nvPr/>
          </p:nvSpPr>
          <p:spPr bwMode="auto">
            <a:xfrm>
              <a:off x="1072" y="1389"/>
              <a:ext cx="475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800">
                  <a:latin typeface="Times New Roman" panose="02020603050405020304" pitchFamily="18" charset="0"/>
                </a:rPr>
                <a:t>         </a:t>
              </a:r>
              <a:r>
                <a:rPr lang="zh-CN" altLang="en-US" sz="2800">
                  <a:latin typeface="Times New Roman" panose="02020603050405020304" pitchFamily="18" charset="0"/>
                </a:rPr>
                <a:t>访问 </a:t>
              </a:r>
              <a:r>
                <a:rPr lang="en-US" altLang="zh-CN" sz="2800">
                  <a:latin typeface="Times New Roman" panose="02020603050405020304" pitchFamily="18" charset="0"/>
                </a:rPr>
                <a:t>Cache </a:t>
              </a:r>
              <a:r>
                <a:rPr lang="zh-CN" altLang="en-US" sz="2800">
                  <a:latin typeface="Times New Roman" panose="02020603050405020304" pitchFamily="18" charset="0"/>
                </a:rPr>
                <a:t>的时间</a:t>
              </a:r>
            </a:p>
          </p:txBody>
        </p:sp>
        <p:sp>
          <p:nvSpPr>
            <p:cNvPr id="197643" name="Text Box 17"/>
            <p:cNvSpPr txBox="1">
              <a:spLocks noChangeArrowheads="1"/>
            </p:cNvSpPr>
            <p:nvPr/>
          </p:nvSpPr>
          <p:spPr bwMode="auto">
            <a:xfrm>
              <a:off x="1072" y="1689"/>
              <a:ext cx="475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800">
                  <a:latin typeface="Times New Roman" panose="02020603050405020304" pitchFamily="18" charset="0"/>
                </a:rPr>
                <a:t>            </a:t>
              </a:r>
              <a:r>
                <a:rPr lang="zh-CN" altLang="en-US" sz="2800">
                  <a:latin typeface="Times New Roman" panose="02020603050405020304" pitchFamily="18" charset="0"/>
                </a:rPr>
                <a:t>平均访问时间</a:t>
              </a:r>
            </a:p>
          </p:txBody>
        </p:sp>
        <p:sp>
          <p:nvSpPr>
            <p:cNvPr id="197644" name="Line 18"/>
            <p:cNvSpPr>
              <a:spLocks noChangeShapeType="1"/>
            </p:cNvSpPr>
            <p:nvPr/>
          </p:nvSpPr>
          <p:spPr bwMode="auto">
            <a:xfrm>
              <a:off x="1543" y="1716"/>
              <a:ext cx="197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7645" name="Text Box 19"/>
            <p:cNvSpPr txBox="1">
              <a:spLocks noChangeArrowheads="1"/>
            </p:cNvSpPr>
            <p:nvPr/>
          </p:nvSpPr>
          <p:spPr bwMode="auto">
            <a:xfrm>
              <a:off x="1021" y="1525"/>
              <a:ext cx="4757" cy="3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800">
                  <a:latin typeface="Times New Roman" panose="02020603050405020304" pitchFamily="18" charset="0"/>
                </a:rPr>
                <a:t>  </a:t>
              </a:r>
              <a:r>
                <a:rPr lang="en-US" altLang="zh-CN" sz="3000" i="1">
                  <a:latin typeface="Times New Roman" panose="02020603050405020304" pitchFamily="18" charset="0"/>
                </a:rPr>
                <a:t>e</a:t>
              </a:r>
              <a:r>
                <a:rPr lang="en-US" altLang="zh-CN" sz="2800">
                  <a:latin typeface="Times New Roman" panose="02020603050405020304" pitchFamily="18" charset="0"/>
                </a:rPr>
                <a:t> =                                     </a:t>
              </a:r>
              <a:r>
                <a:rPr lang="en-US" altLang="zh-CN" sz="2400">
                  <a:latin typeface="Times New Roman" panose="02020603050405020304" pitchFamily="18" charset="0"/>
                </a:rPr>
                <a:t>×</a:t>
              </a:r>
              <a:r>
                <a:rPr lang="en-US" altLang="zh-CN" sz="2800">
                  <a:latin typeface="Times New Roman" panose="02020603050405020304" pitchFamily="18" charset="0"/>
                </a:rPr>
                <a:t> 100%</a:t>
              </a:r>
              <a:endParaRPr lang="zh-CN" altLang="en-US" sz="2800">
                <a:latin typeface="Times New Roman" panose="02020603050405020304" pitchFamily="18" charset="0"/>
              </a:endParaRPr>
            </a:p>
          </p:txBody>
        </p:sp>
      </p:grpSp>
      <p:sp>
        <p:nvSpPr>
          <p:cNvPr id="197640" name="AutoShape 20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87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87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7747" grpId="0" autoUpdateAnimBg="0"/>
      <p:bldP spid="287748" grpId="0" autoUpdateAnimBg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5" name="Rectangle 2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endParaRPr lang="zh-CN" altLang="en-US" sz="2400" b="0">
              <a:latin typeface="Times New Roman" panose="02020603050405020304" pitchFamily="18" charset="0"/>
            </a:endParaRPr>
          </a:p>
        </p:txBody>
      </p:sp>
      <p:graphicFrame>
        <p:nvGraphicFramePr>
          <p:cNvPr id="672771" name="Object 1"/>
          <p:cNvGraphicFramePr>
            <a:graphicFrameLocks noChangeAspect="1"/>
          </p:cNvGraphicFramePr>
          <p:nvPr/>
        </p:nvGraphicFramePr>
        <p:xfrm>
          <a:off x="539750" y="1422400"/>
          <a:ext cx="8135938" cy="49355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Visio" r:id="rId2" imgW="5902325" imgH="3562350" progId="Visio.Drawing.11">
                  <p:embed/>
                </p:oleObj>
              </mc:Choice>
              <mc:Fallback>
                <p:oleObj name="Visio" r:id="rId2" imgW="5902325" imgH="3562350" progId="Visio.Drawing.11">
                  <p:embed/>
                  <p:pic>
                    <p:nvPicPr>
                      <p:cNvPr id="0" name="图片 309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39750" y="1422400"/>
                        <a:ext cx="8135938" cy="49355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B7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076" name="Text Box 64"/>
          <p:cNvSpPr txBox="1">
            <a:spLocks noChangeArrowheads="1"/>
          </p:cNvSpPr>
          <p:nvPr/>
        </p:nvSpPr>
        <p:spPr bwMode="auto">
          <a:xfrm>
            <a:off x="533400" y="273050"/>
            <a:ext cx="49688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3. </a:t>
            </a:r>
            <a:r>
              <a:rPr lang="en-US" altLang="zh-CN" sz="3600">
                <a:latin typeface="Times New Roman" panose="02020603050405020304" pitchFamily="18" charset="0"/>
              </a:rPr>
              <a:t>Cache </a:t>
            </a:r>
            <a:r>
              <a:rPr lang="zh-CN" altLang="en-US" sz="3600">
                <a:latin typeface="Times New Roman" panose="02020603050405020304" pitchFamily="18" charset="0"/>
              </a:rPr>
              <a:t>的基本结构</a:t>
            </a:r>
          </a:p>
        </p:txBody>
      </p:sp>
      <p:sp>
        <p:nvSpPr>
          <p:cNvPr id="5" name="Rectangle 76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4.3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2116138" y="2987675"/>
            <a:ext cx="973137" cy="755650"/>
          </a:xfrm>
          <a:prstGeom prst="rect">
            <a:avLst/>
          </a:prstGeom>
          <a:solidFill>
            <a:srgbClr val="FFFF00"/>
          </a:solidFill>
          <a:ln w="9525" algn="ctr">
            <a:solidFill>
              <a:schemeClr val="folHlink"/>
            </a:solidFill>
            <a:round/>
          </a:ln>
        </p:spPr>
        <p:txBody>
          <a:bodyPr wrap="none"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en-US" altLang="zh-CN" sz="400">
              <a:solidFill>
                <a:schemeClr val="bg2"/>
              </a:solidFill>
              <a:latin typeface="Times New Roman" panose="02020603050405020304" pitchFamily="18" charset="0"/>
            </a:endParaRPr>
          </a:p>
          <a:p>
            <a:pPr algn="ctr" eaLnBrk="1" hangingPunct="1">
              <a:spcBef>
                <a:spcPct val="0"/>
              </a:spcBef>
            </a:pPr>
            <a:r>
              <a:rPr lang="en-US" altLang="zh-CN" sz="1400">
                <a:solidFill>
                  <a:schemeClr val="bg2"/>
                </a:solidFill>
                <a:latin typeface="Times New Roman" panose="02020603050405020304" pitchFamily="18" charset="0"/>
              </a:rPr>
              <a:t>Cache</a:t>
            </a:r>
          </a:p>
          <a:p>
            <a:pPr algn="ctr" eaLnBrk="1" hangingPunct="1">
              <a:spcBef>
                <a:spcPct val="0"/>
              </a:spcBef>
            </a:pPr>
            <a:r>
              <a:rPr lang="zh-CN" altLang="en-US" sz="1400">
                <a:solidFill>
                  <a:schemeClr val="bg2"/>
                </a:solidFill>
                <a:latin typeface="Times New Roman" panose="02020603050405020304" pitchFamily="18" charset="0"/>
              </a:rPr>
              <a:t>替换机构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4049713" y="4787900"/>
            <a:ext cx="1260475" cy="571500"/>
          </a:xfrm>
          <a:prstGeom prst="rect">
            <a:avLst/>
          </a:prstGeom>
          <a:solidFill>
            <a:srgbClr val="FFFF00"/>
          </a:solidFill>
          <a:ln w="9525" algn="ctr">
            <a:solidFill>
              <a:schemeClr val="folHlink"/>
            </a:solidFill>
            <a:round/>
          </a:ln>
        </p:spPr>
        <p:txBody>
          <a:bodyPr wrap="none"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CN" sz="1600">
                <a:solidFill>
                  <a:schemeClr val="bg2"/>
                </a:solidFill>
                <a:latin typeface="Times New Roman" panose="02020603050405020304" pitchFamily="18" charset="0"/>
              </a:rPr>
              <a:t>Cache</a:t>
            </a:r>
          </a:p>
          <a:p>
            <a:pPr algn="ctr" eaLnBrk="1" hangingPunct="1">
              <a:spcBef>
                <a:spcPct val="0"/>
              </a:spcBef>
            </a:pPr>
            <a:r>
              <a:rPr lang="zh-CN" altLang="en-US" sz="1600">
                <a:solidFill>
                  <a:schemeClr val="bg2"/>
                </a:solidFill>
                <a:latin typeface="Times New Roman" panose="02020603050405020304" pitchFamily="18" charset="0"/>
              </a:rPr>
              <a:t>存储体</a:t>
            </a:r>
          </a:p>
        </p:txBody>
      </p:sp>
      <p:sp>
        <p:nvSpPr>
          <p:cNvPr id="8" name="矩形 7"/>
          <p:cNvSpPr>
            <a:spLocks noChangeArrowheads="1"/>
          </p:cNvSpPr>
          <p:nvPr/>
        </p:nvSpPr>
        <p:spPr bwMode="auto">
          <a:xfrm>
            <a:off x="5826125" y="2973388"/>
            <a:ext cx="1143000" cy="785812"/>
          </a:xfrm>
          <a:prstGeom prst="rect">
            <a:avLst/>
          </a:prstGeom>
          <a:solidFill>
            <a:srgbClr val="FFFF00"/>
          </a:solidFill>
          <a:ln w="9525" algn="ctr">
            <a:solidFill>
              <a:schemeClr val="folHlink"/>
            </a:solidFill>
            <a:round/>
          </a:ln>
        </p:spPr>
        <p:txBody>
          <a:bodyPr wrap="none"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zh-CN" altLang="en-US" sz="1400">
                <a:solidFill>
                  <a:schemeClr val="bg2"/>
                </a:solidFill>
                <a:latin typeface="Times New Roman" panose="02020603050405020304" pitchFamily="18" charset="0"/>
              </a:rPr>
              <a:t>主存</a:t>
            </a:r>
            <a:r>
              <a:rPr lang="en-US" altLang="zh-CN" sz="1400">
                <a:solidFill>
                  <a:schemeClr val="bg2"/>
                </a:solidFill>
                <a:latin typeface="Times New Roman" panose="02020603050405020304" pitchFamily="18" charset="0"/>
              </a:rPr>
              <a:t>Cache</a:t>
            </a:r>
          </a:p>
          <a:p>
            <a:pPr algn="ctr" eaLnBrk="1" hangingPunct="1">
              <a:spcBef>
                <a:spcPct val="0"/>
              </a:spcBef>
            </a:pPr>
            <a:r>
              <a:rPr lang="zh-CN" altLang="en-US" sz="1400">
                <a:solidFill>
                  <a:schemeClr val="bg2"/>
                </a:solidFill>
                <a:latin typeface="Times New Roman" panose="02020603050405020304" pitchFamily="18" charset="0"/>
              </a:rPr>
              <a:t>地址映射</a:t>
            </a:r>
            <a:endParaRPr lang="en-US" altLang="zh-CN" sz="1400">
              <a:solidFill>
                <a:schemeClr val="bg2"/>
              </a:solidFill>
              <a:latin typeface="Times New Roman" panose="02020603050405020304" pitchFamily="18" charset="0"/>
            </a:endParaRPr>
          </a:p>
          <a:p>
            <a:pPr algn="ctr" eaLnBrk="1" hangingPunct="1">
              <a:spcBef>
                <a:spcPct val="0"/>
              </a:spcBef>
            </a:pPr>
            <a:r>
              <a:rPr lang="zh-CN" altLang="en-US" sz="1400">
                <a:solidFill>
                  <a:schemeClr val="bg2"/>
                </a:solidFill>
                <a:latin typeface="Times New Roman" panose="02020603050405020304" pitchFamily="18" charset="0"/>
              </a:rPr>
              <a:t>变换机构</a:t>
            </a:r>
          </a:p>
        </p:txBody>
      </p:sp>
      <p:sp>
        <p:nvSpPr>
          <p:cNvPr id="9" name="矩形 8"/>
          <p:cNvSpPr>
            <a:spLocks noChangeArrowheads="1"/>
          </p:cNvSpPr>
          <p:nvPr/>
        </p:nvSpPr>
        <p:spPr bwMode="auto">
          <a:xfrm>
            <a:off x="2928938" y="2071688"/>
            <a:ext cx="1857375" cy="57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solidFill>
                  <a:srgbClr val="FFFF00"/>
                </a:solidFill>
                <a:latin typeface="Times New Roman" panose="02020603050405020304" pitchFamily="18" charset="0"/>
              </a:rPr>
              <a:t>由</a:t>
            </a:r>
            <a:r>
              <a:rPr lang="en-US" altLang="zh-CN" sz="2400">
                <a:solidFill>
                  <a:srgbClr val="FFFF00"/>
                </a:solidFill>
                <a:latin typeface="Times New Roman" panose="02020603050405020304" pitchFamily="18" charset="0"/>
              </a:rPr>
              <a:t>CPU</a:t>
            </a:r>
            <a:r>
              <a:rPr lang="zh-CN" altLang="en-US" sz="2400">
                <a:solidFill>
                  <a:srgbClr val="FFFF00"/>
                </a:solidFill>
                <a:latin typeface="Times New Roman" panose="02020603050405020304" pitchFamily="18" charset="0"/>
              </a:rPr>
              <a:t>完成</a:t>
            </a:r>
          </a:p>
        </p:txBody>
      </p:sp>
      <p:sp>
        <p:nvSpPr>
          <p:cNvPr id="3082" name="Rectangle 10"/>
          <p:cNvSpPr>
            <a:spLocks noChangeArrowheads="1"/>
          </p:cNvSpPr>
          <p:nvPr/>
        </p:nvSpPr>
        <p:spPr bwMode="auto">
          <a:xfrm>
            <a:off x="6791325" y="1801813"/>
            <a:ext cx="73025" cy="92075"/>
          </a:xfrm>
          <a:prstGeom prst="rect">
            <a:avLst/>
          </a:prstGeom>
          <a:solidFill>
            <a:srgbClr val="0000B7"/>
          </a:solidFill>
          <a:ln w="9525">
            <a:solidFill>
              <a:srgbClr val="0000B7"/>
            </a:solidFill>
            <a:miter lim="800000"/>
          </a:ln>
        </p:spPr>
        <p:txBody>
          <a:bodyPr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3083" name="AutoShape 11">
            <a:hlinkClick r:id="rId4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2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727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9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8" name="Text Box 2"/>
          <p:cNvSpPr txBox="1">
            <a:spLocks noChangeArrowheads="1"/>
          </p:cNvSpPr>
          <p:nvPr/>
        </p:nvSpPr>
        <p:spPr bwMode="auto">
          <a:xfrm>
            <a:off x="609600" y="304800"/>
            <a:ext cx="4489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3600">
                <a:latin typeface="Times New Roman" panose="02020603050405020304" pitchFamily="18" charset="0"/>
              </a:rPr>
              <a:t>4. Cache </a:t>
            </a:r>
            <a:r>
              <a:rPr lang="zh-CN" altLang="en-US" sz="3600">
                <a:latin typeface="Times New Roman" panose="02020603050405020304" pitchFamily="18" charset="0"/>
              </a:rPr>
              <a:t>的 </a:t>
            </a:r>
            <a:r>
              <a:rPr lang="zh-CN" altLang="en-US" sz="3600">
                <a:solidFill>
                  <a:schemeClr val="folHlink"/>
                </a:solidFill>
                <a:latin typeface="Times New Roman" panose="02020603050405020304" pitchFamily="18" charset="0"/>
              </a:rPr>
              <a:t>读写 </a:t>
            </a:r>
            <a:r>
              <a:rPr lang="zh-CN" altLang="en-US" sz="3600">
                <a:latin typeface="Times New Roman" panose="02020603050405020304" pitchFamily="18" charset="0"/>
              </a:rPr>
              <a:t>操作</a:t>
            </a:r>
          </a:p>
        </p:txBody>
      </p:sp>
      <p:grpSp>
        <p:nvGrpSpPr>
          <p:cNvPr id="2" name="Group 3"/>
          <p:cNvGrpSpPr/>
          <p:nvPr/>
        </p:nvGrpSpPr>
        <p:grpSpPr bwMode="auto">
          <a:xfrm>
            <a:off x="503238" y="1592263"/>
            <a:ext cx="8335962" cy="4645025"/>
            <a:chOff x="317" y="777"/>
            <a:chExt cx="5251" cy="2926"/>
          </a:xfrm>
        </p:grpSpPr>
        <p:sp>
          <p:nvSpPr>
            <p:cNvPr id="198663" name="Text Box 4"/>
            <p:cNvSpPr txBox="1">
              <a:spLocks noChangeArrowheads="1"/>
            </p:cNvSpPr>
            <p:nvPr/>
          </p:nvSpPr>
          <p:spPr bwMode="auto">
            <a:xfrm>
              <a:off x="317" y="2538"/>
              <a:ext cx="1245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    </a:t>
              </a:r>
              <a:r>
                <a:rPr lang="zh-CN" altLang="en-US" sz="2000">
                  <a:latin typeface="Times New Roman" panose="02020603050405020304" pitchFamily="18" charset="0"/>
                </a:rPr>
                <a:t>访问</a:t>
              </a:r>
              <a:r>
                <a:rPr lang="en-US" altLang="zh-CN" sz="2000">
                  <a:latin typeface="Times New Roman" panose="02020603050405020304" pitchFamily="18" charset="0"/>
                </a:rPr>
                <a:t>Cache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取出信息送</a:t>
              </a:r>
              <a:r>
                <a:rPr lang="en-US" altLang="zh-CN" sz="2000">
                  <a:latin typeface="Times New Roman" panose="02020603050405020304" pitchFamily="18" charset="0"/>
                </a:rPr>
                <a:t>CPU</a:t>
              </a:r>
            </a:p>
          </p:txBody>
        </p:sp>
        <p:sp>
          <p:nvSpPr>
            <p:cNvPr id="198664" name="Rectangle 5"/>
            <p:cNvSpPr>
              <a:spLocks noChangeArrowheads="1"/>
            </p:cNvSpPr>
            <p:nvPr/>
          </p:nvSpPr>
          <p:spPr bwMode="auto">
            <a:xfrm>
              <a:off x="345" y="2555"/>
              <a:ext cx="1191" cy="46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98665" name="Text Box 6"/>
            <p:cNvSpPr txBox="1">
              <a:spLocks noChangeArrowheads="1"/>
            </p:cNvSpPr>
            <p:nvPr/>
          </p:nvSpPr>
          <p:spPr bwMode="auto">
            <a:xfrm>
              <a:off x="1666" y="2538"/>
              <a:ext cx="1245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    </a:t>
              </a:r>
              <a:r>
                <a:rPr lang="zh-CN" altLang="en-US" sz="2000">
                  <a:latin typeface="Times New Roman" panose="02020603050405020304" pitchFamily="18" charset="0"/>
                </a:rPr>
                <a:t>访问主存</a:t>
              </a:r>
              <a:endParaRPr lang="en-US" altLang="zh-CN" sz="2000">
                <a:latin typeface="Times New Roman" panose="02020603050405020304" pitchFamily="18" charset="0"/>
              </a:endParaRPr>
            </a:p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取出信息送</a:t>
              </a:r>
              <a:r>
                <a:rPr lang="en-US" altLang="zh-CN" sz="2000">
                  <a:latin typeface="Times New Roman" panose="02020603050405020304" pitchFamily="18" charset="0"/>
                </a:rPr>
                <a:t>CPU</a:t>
              </a:r>
            </a:p>
          </p:txBody>
        </p:sp>
        <p:sp>
          <p:nvSpPr>
            <p:cNvPr id="198666" name="Rectangle 7"/>
            <p:cNvSpPr>
              <a:spLocks noChangeArrowheads="1"/>
            </p:cNvSpPr>
            <p:nvPr/>
          </p:nvSpPr>
          <p:spPr bwMode="auto">
            <a:xfrm>
              <a:off x="1689" y="2555"/>
              <a:ext cx="1191" cy="46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98667" name="Text Box 8"/>
            <p:cNvSpPr txBox="1">
              <a:spLocks noChangeArrowheads="1"/>
            </p:cNvSpPr>
            <p:nvPr/>
          </p:nvSpPr>
          <p:spPr bwMode="auto">
            <a:xfrm>
              <a:off x="3072" y="2567"/>
              <a:ext cx="1076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将新的主存块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调入</a:t>
              </a:r>
              <a:r>
                <a:rPr lang="en-US" altLang="zh-CN" sz="2000">
                  <a:latin typeface="Times New Roman" panose="02020603050405020304" pitchFamily="18" charset="0"/>
                </a:rPr>
                <a:t>Cache</a:t>
              </a:r>
              <a:r>
                <a:rPr lang="zh-CN" altLang="en-US" sz="2000">
                  <a:latin typeface="Times New Roman" panose="02020603050405020304" pitchFamily="18" charset="0"/>
                </a:rPr>
                <a:t>中</a:t>
              </a:r>
            </a:p>
          </p:txBody>
        </p:sp>
        <p:sp>
          <p:nvSpPr>
            <p:cNvPr id="198668" name="Rectangle 9"/>
            <p:cNvSpPr>
              <a:spLocks noChangeArrowheads="1"/>
            </p:cNvSpPr>
            <p:nvPr/>
          </p:nvSpPr>
          <p:spPr bwMode="auto">
            <a:xfrm>
              <a:off x="3023" y="2555"/>
              <a:ext cx="1165" cy="46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98669" name="Text Box 10"/>
            <p:cNvSpPr txBox="1">
              <a:spLocks noChangeArrowheads="1"/>
            </p:cNvSpPr>
            <p:nvPr/>
          </p:nvSpPr>
          <p:spPr bwMode="auto">
            <a:xfrm>
              <a:off x="4457" y="2566"/>
              <a:ext cx="1076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执行替换算法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    腾出空位</a:t>
              </a:r>
            </a:p>
          </p:txBody>
        </p:sp>
        <p:sp>
          <p:nvSpPr>
            <p:cNvPr id="198670" name="Rectangle 11"/>
            <p:cNvSpPr>
              <a:spLocks noChangeArrowheads="1"/>
            </p:cNvSpPr>
            <p:nvPr/>
          </p:nvSpPr>
          <p:spPr bwMode="auto">
            <a:xfrm>
              <a:off x="4403" y="2544"/>
              <a:ext cx="1165" cy="469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98671" name="Text Box 12"/>
            <p:cNvSpPr txBox="1">
              <a:spLocks noChangeArrowheads="1"/>
            </p:cNvSpPr>
            <p:nvPr/>
          </p:nvSpPr>
          <p:spPr bwMode="auto">
            <a:xfrm>
              <a:off x="1385" y="3429"/>
              <a:ext cx="4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200">
                  <a:latin typeface="Times New Roman" panose="02020603050405020304" pitchFamily="18" charset="0"/>
                </a:rPr>
                <a:t> </a:t>
              </a:r>
              <a:r>
                <a:rPr lang="zh-CN" altLang="en-US" sz="2000">
                  <a:latin typeface="Times New Roman" panose="02020603050405020304" pitchFamily="18" charset="0"/>
                </a:rPr>
                <a:t>结束</a:t>
              </a:r>
            </a:p>
          </p:txBody>
        </p:sp>
        <p:sp>
          <p:nvSpPr>
            <p:cNvPr id="198672" name="Rectangle 13"/>
            <p:cNvSpPr>
              <a:spLocks noChangeArrowheads="1"/>
            </p:cNvSpPr>
            <p:nvPr/>
          </p:nvSpPr>
          <p:spPr bwMode="auto">
            <a:xfrm>
              <a:off x="1375" y="3441"/>
              <a:ext cx="497" cy="262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98673" name="AutoShape 14"/>
            <p:cNvSpPr>
              <a:spLocks noChangeArrowheads="1"/>
            </p:cNvSpPr>
            <p:nvPr/>
          </p:nvSpPr>
          <p:spPr bwMode="auto">
            <a:xfrm>
              <a:off x="1239" y="1539"/>
              <a:ext cx="858" cy="399"/>
            </a:xfrm>
            <a:prstGeom prst="diamond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98674" name="Text Box 15"/>
            <p:cNvSpPr txBox="1">
              <a:spLocks noChangeArrowheads="1"/>
            </p:cNvSpPr>
            <p:nvPr/>
          </p:nvSpPr>
          <p:spPr bwMode="auto">
            <a:xfrm>
              <a:off x="1398" y="1622"/>
              <a:ext cx="5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命中？</a:t>
              </a:r>
            </a:p>
          </p:txBody>
        </p:sp>
        <p:sp>
          <p:nvSpPr>
            <p:cNvPr id="198675" name="AutoShape 16"/>
            <p:cNvSpPr>
              <a:spLocks noChangeArrowheads="1"/>
            </p:cNvSpPr>
            <p:nvPr/>
          </p:nvSpPr>
          <p:spPr bwMode="auto">
            <a:xfrm>
              <a:off x="3046" y="1938"/>
              <a:ext cx="1128" cy="399"/>
            </a:xfrm>
            <a:prstGeom prst="diamond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98676" name="Text Box 17"/>
            <p:cNvSpPr txBox="1">
              <a:spLocks noChangeArrowheads="1"/>
            </p:cNvSpPr>
            <p:nvPr/>
          </p:nvSpPr>
          <p:spPr bwMode="auto">
            <a:xfrm>
              <a:off x="3215" y="2016"/>
              <a:ext cx="86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Cache</a:t>
              </a:r>
              <a:r>
                <a:rPr lang="zh-CN" altLang="en-US" sz="2000">
                  <a:latin typeface="Times New Roman" panose="02020603050405020304" pitchFamily="18" charset="0"/>
                </a:rPr>
                <a:t>满？</a:t>
              </a:r>
            </a:p>
          </p:txBody>
        </p:sp>
        <p:sp>
          <p:nvSpPr>
            <p:cNvPr id="198677" name="Freeform 18"/>
            <p:cNvSpPr/>
            <p:nvPr/>
          </p:nvSpPr>
          <p:spPr bwMode="auto">
            <a:xfrm>
              <a:off x="3613" y="2335"/>
              <a:ext cx="1" cy="218"/>
            </a:xfrm>
            <a:custGeom>
              <a:avLst/>
              <a:gdLst>
                <a:gd name="T0" fmla="*/ 0 w 1"/>
                <a:gd name="T1" fmla="*/ 0 h 288"/>
                <a:gd name="T2" fmla="*/ 0 w 1"/>
                <a:gd name="T3" fmla="*/ 6 h 288"/>
                <a:gd name="T4" fmla="*/ 0 60000 65536"/>
                <a:gd name="T5" fmla="*/ 0 60000 65536"/>
                <a:gd name="T6" fmla="*/ 0 w 1"/>
                <a:gd name="T7" fmla="*/ 0 h 288"/>
                <a:gd name="T8" fmla="*/ 1 w 1"/>
                <a:gd name="T9" fmla="*/ 288 h 28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88">
                  <a:moveTo>
                    <a:pt x="0" y="0"/>
                  </a:moveTo>
                  <a:lnTo>
                    <a:pt x="0" y="28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8678" name="Freeform 19"/>
            <p:cNvSpPr/>
            <p:nvPr/>
          </p:nvSpPr>
          <p:spPr bwMode="auto">
            <a:xfrm>
              <a:off x="2092" y="1738"/>
              <a:ext cx="1518" cy="200"/>
            </a:xfrm>
            <a:custGeom>
              <a:avLst/>
              <a:gdLst>
                <a:gd name="T0" fmla="*/ 0 w 1614"/>
                <a:gd name="T1" fmla="*/ 0 h 264"/>
                <a:gd name="T2" fmla="*/ 683 w 1614"/>
                <a:gd name="T3" fmla="*/ 0 h 264"/>
                <a:gd name="T4" fmla="*/ 684 w 1614"/>
                <a:gd name="T5" fmla="*/ 6 h 264"/>
                <a:gd name="T6" fmla="*/ 0 60000 65536"/>
                <a:gd name="T7" fmla="*/ 0 60000 65536"/>
                <a:gd name="T8" fmla="*/ 0 60000 65536"/>
                <a:gd name="T9" fmla="*/ 0 w 1614"/>
                <a:gd name="T10" fmla="*/ 0 h 264"/>
                <a:gd name="T11" fmla="*/ 1614 w 1614"/>
                <a:gd name="T12" fmla="*/ 264 h 2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14" h="264">
                  <a:moveTo>
                    <a:pt x="0" y="0"/>
                  </a:moveTo>
                  <a:lnTo>
                    <a:pt x="1611" y="0"/>
                  </a:lnTo>
                  <a:lnTo>
                    <a:pt x="1614" y="26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8679" name="Freeform 20"/>
            <p:cNvSpPr/>
            <p:nvPr/>
          </p:nvSpPr>
          <p:spPr bwMode="auto">
            <a:xfrm>
              <a:off x="923" y="1736"/>
              <a:ext cx="330" cy="819"/>
            </a:xfrm>
            <a:custGeom>
              <a:avLst/>
              <a:gdLst>
                <a:gd name="T0" fmla="*/ 148 w 351"/>
                <a:gd name="T1" fmla="*/ 2 h 1083"/>
                <a:gd name="T2" fmla="*/ 0 w 351"/>
                <a:gd name="T3" fmla="*/ 0 h 1083"/>
                <a:gd name="T4" fmla="*/ 0 w 351"/>
                <a:gd name="T5" fmla="*/ 22 h 1083"/>
                <a:gd name="T6" fmla="*/ 0 60000 65536"/>
                <a:gd name="T7" fmla="*/ 0 60000 65536"/>
                <a:gd name="T8" fmla="*/ 0 60000 65536"/>
                <a:gd name="T9" fmla="*/ 0 w 351"/>
                <a:gd name="T10" fmla="*/ 0 h 1083"/>
                <a:gd name="T11" fmla="*/ 351 w 351"/>
                <a:gd name="T12" fmla="*/ 1083 h 108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51" h="1083">
                  <a:moveTo>
                    <a:pt x="351" y="3"/>
                  </a:moveTo>
                  <a:lnTo>
                    <a:pt x="0" y="0"/>
                  </a:lnTo>
                  <a:lnTo>
                    <a:pt x="0" y="108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8680" name="Line 21"/>
            <p:cNvSpPr>
              <a:spLocks noChangeShapeType="1"/>
            </p:cNvSpPr>
            <p:nvPr/>
          </p:nvSpPr>
          <p:spPr bwMode="auto">
            <a:xfrm>
              <a:off x="2278" y="1747"/>
              <a:ext cx="0" cy="81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8681" name="Freeform 22"/>
            <p:cNvSpPr/>
            <p:nvPr/>
          </p:nvSpPr>
          <p:spPr bwMode="auto">
            <a:xfrm>
              <a:off x="4172" y="2137"/>
              <a:ext cx="820" cy="407"/>
            </a:xfrm>
            <a:custGeom>
              <a:avLst/>
              <a:gdLst>
                <a:gd name="T0" fmla="*/ 0 w 771"/>
                <a:gd name="T1" fmla="*/ 0 h 552"/>
                <a:gd name="T2" fmla="*/ 1819 w 771"/>
                <a:gd name="T3" fmla="*/ 0 h 552"/>
                <a:gd name="T4" fmla="*/ 1826 w 771"/>
                <a:gd name="T5" fmla="*/ 7 h 552"/>
                <a:gd name="T6" fmla="*/ 0 60000 65536"/>
                <a:gd name="T7" fmla="*/ 0 60000 65536"/>
                <a:gd name="T8" fmla="*/ 0 60000 65536"/>
                <a:gd name="T9" fmla="*/ 0 w 771"/>
                <a:gd name="T10" fmla="*/ 0 h 552"/>
                <a:gd name="T11" fmla="*/ 771 w 771"/>
                <a:gd name="T12" fmla="*/ 552 h 5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71" h="552">
                  <a:moveTo>
                    <a:pt x="0" y="0"/>
                  </a:moveTo>
                  <a:lnTo>
                    <a:pt x="768" y="0"/>
                  </a:lnTo>
                  <a:lnTo>
                    <a:pt x="771" y="55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8682" name="Freeform 23"/>
            <p:cNvSpPr/>
            <p:nvPr/>
          </p:nvSpPr>
          <p:spPr bwMode="auto">
            <a:xfrm>
              <a:off x="4182" y="2890"/>
              <a:ext cx="810" cy="242"/>
            </a:xfrm>
            <a:custGeom>
              <a:avLst/>
              <a:gdLst>
                <a:gd name="T0" fmla="*/ 1614 w 768"/>
                <a:gd name="T1" fmla="*/ 1 h 384"/>
                <a:gd name="T2" fmla="*/ 1619 w 768"/>
                <a:gd name="T3" fmla="*/ 1 h 384"/>
                <a:gd name="T4" fmla="*/ 303 w 768"/>
                <a:gd name="T5" fmla="*/ 1 h 384"/>
                <a:gd name="T6" fmla="*/ 303 w 768"/>
                <a:gd name="T7" fmla="*/ 0 h 384"/>
                <a:gd name="T8" fmla="*/ 0 w 768"/>
                <a:gd name="T9" fmla="*/ 0 h 3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68"/>
                <a:gd name="T16" fmla="*/ 0 h 384"/>
                <a:gd name="T17" fmla="*/ 768 w 768"/>
                <a:gd name="T18" fmla="*/ 384 h 3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68" h="384">
                  <a:moveTo>
                    <a:pt x="765" y="186"/>
                  </a:moveTo>
                  <a:lnTo>
                    <a:pt x="768" y="384"/>
                  </a:lnTo>
                  <a:lnTo>
                    <a:pt x="144" y="384"/>
                  </a:lnTo>
                  <a:lnTo>
                    <a:pt x="144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8683" name="Line 24"/>
            <p:cNvSpPr>
              <a:spLocks noChangeShapeType="1"/>
            </p:cNvSpPr>
            <p:nvPr/>
          </p:nvSpPr>
          <p:spPr bwMode="auto">
            <a:xfrm>
              <a:off x="923" y="3015"/>
              <a:ext cx="0" cy="21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8684" name="Line 25"/>
            <p:cNvSpPr>
              <a:spLocks noChangeShapeType="1"/>
            </p:cNvSpPr>
            <p:nvPr/>
          </p:nvSpPr>
          <p:spPr bwMode="auto">
            <a:xfrm>
              <a:off x="2278" y="3015"/>
              <a:ext cx="0" cy="21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8685" name="Line 26"/>
            <p:cNvSpPr>
              <a:spLocks noChangeShapeType="1"/>
            </p:cNvSpPr>
            <p:nvPr/>
          </p:nvSpPr>
          <p:spPr bwMode="auto">
            <a:xfrm>
              <a:off x="3633" y="3015"/>
              <a:ext cx="0" cy="21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8686" name="Line 27"/>
            <p:cNvSpPr>
              <a:spLocks noChangeShapeType="1"/>
            </p:cNvSpPr>
            <p:nvPr/>
          </p:nvSpPr>
          <p:spPr bwMode="auto">
            <a:xfrm>
              <a:off x="923" y="3232"/>
              <a:ext cx="271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8687" name="Line 28"/>
            <p:cNvSpPr>
              <a:spLocks noChangeShapeType="1"/>
            </p:cNvSpPr>
            <p:nvPr/>
          </p:nvSpPr>
          <p:spPr bwMode="auto">
            <a:xfrm>
              <a:off x="1620" y="3226"/>
              <a:ext cx="0" cy="21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8688" name="Text Box 29"/>
            <p:cNvSpPr txBox="1">
              <a:spLocks noChangeArrowheads="1"/>
            </p:cNvSpPr>
            <p:nvPr/>
          </p:nvSpPr>
          <p:spPr bwMode="auto">
            <a:xfrm>
              <a:off x="988" y="1152"/>
              <a:ext cx="140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CPU</a:t>
              </a:r>
              <a:r>
                <a:rPr lang="zh-CN" altLang="en-US" sz="2000">
                  <a:latin typeface="Times New Roman" panose="02020603050405020304" pitchFamily="18" charset="0"/>
                </a:rPr>
                <a:t>发出访问地址</a:t>
              </a:r>
            </a:p>
          </p:txBody>
        </p:sp>
        <p:sp>
          <p:nvSpPr>
            <p:cNvPr id="198689" name="Rectangle 30"/>
            <p:cNvSpPr>
              <a:spLocks noChangeArrowheads="1"/>
            </p:cNvSpPr>
            <p:nvPr/>
          </p:nvSpPr>
          <p:spPr bwMode="auto">
            <a:xfrm>
              <a:off x="923" y="1167"/>
              <a:ext cx="1581" cy="21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98690" name="Text Box 31"/>
            <p:cNvSpPr txBox="1">
              <a:spLocks noChangeArrowheads="1"/>
            </p:cNvSpPr>
            <p:nvPr/>
          </p:nvSpPr>
          <p:spPr bwMode="auto">
            <a:xfrm>
              <a:off x="1444" y="777"/>
              <a:ext cx="45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900">
                  <a:latin typeface="Times New Roman" panose="02020603050405020304" pitchFamily="18" charset="0"/>
                </a:rPr>
                <a:t> </a:t>
              </a:r>
              <a:r>
                <a:rPr lang="zh-CN" altLang="en-US" sz="2000">
                  <a:latin typeface="Times New Roman" panose="02020603050405020304" pitchFamily="18" charset="0"/>
                </a:rPr>
                <a:t>开始</a:t>
              </a:r>
            </a:p>
          </p:txBody>
        </p:sp>
        <p:sp>
          <p:nvSpPr>
            <p:cNvPr id="198691" name="Rectangle 32"/>
            <p:cNvSpPr>
              <a:spLocks noChangeArrowheads="1"/>
            </p:cNvSpPr>
            <p:nvPr/>
          </p:nvSpPr>
          <p:spPr bwMode="auto">
            <a:xfrm>
              <a:off x="1453" y="803"/>
              <a:ext cx="453" cy="21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198692" name="Line 33"/>
            <p:cNvSpPr>
              <a:spLocks noChangeShapeType="1"/>
            </p:cNvSpPr>
            <p:nvPr/>
          </p:nvSpPr>
          <p:spPr bwMode="auto">
            <a:xfrm>
              <a:off x="1669" y="1393"/>
              <a:ext cx="0" cy="14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8693" name="Line 34"/>
            <p:cNvSpPr>
              <a:spLocks noChangeShapeType="1"/>
            </p:cNvSpPr>
            <p:nvPr/>
          </p:nvSpPr>
          <p:spPr bwMode="auto">
            <a:xfrm>
              <a:off x="1669" y="1031"/>
              <a:ext cx="0" cy="14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198694" name="Text Box 35"/>
            <p:cNvSpPr txBox="1">
              <a:spLocks noChangeArrowheads="1"/>
            </p:cNvSpPr>
            <p:nvPr/>
          </p:nvSpPr>
          <p:spPr bwMode="auto">
            <a:xfrm>
              <a:off x="1013" y="1508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是</a:t>
              </a:r>
            </a:p>
          </p:txBody>
        </p:sp>
        <p:sp>
          <p:nvSpPr>
            <p:cNvPr id="198695" name="Text Box 36"/>
            <p:cNvSpPr txBox="1">
              <a:spLocks noChangeArrowheads="1"/>
            </p:cNvSpPr>
            <p:nvPr/>
          </p:nvSpPr>
          <p:spPr bwMode="auto">
            <a:xfrm>
              <a:off x="2097" y="1508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否</a:t>
              </a:r>
            </a:p>
          </p:txBody>
        </p:sp>
        <p:sp>
          <p:nvSpPr>
            <p:cNvPr id="198696" name="Text Box 37"/>
            <p:cNvSpPr txBox="1">
              <a:spLocks noChangeArrowheads="1"/>
            </p:cNvSpPr>
            <p:nvPr/>
          </p:nvSpPr>
          <p:spPr bwMode="auto">
            <a:xfrm>
              <a:off x="4130" y="1892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是</a:t>
              </a:r>
            </a:p>
          </p:txBody>
        </p:sp>
        <p:sp>
          <p:nvSpPr>
            <p:cNvPr id="198697" name="Text Box 38"/>
            <p:cNvSpPr txBox="1">
              <a:spLocks noChangeArrowheads="1"/>
            </p:cNvSpPr>
            <p:nvPr/>
          </p:nvSpPr>
          <p:spPr bwMode="auto">
            <a:xfrm>
              <a:off x="3360" y="2321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否</a:t>
              </a:r>
            </a:p>
          </p:txBody>
        </p:sp>
      </p:grpSp>
      <p:sp>
        <p:nvSpPr>
          <p:cNvPr id="289831" name="Text Box 39"/>
          <p:cNvSpPr txBox="1">
            <a:spLocks noChangeArrowheads="1"/>
          </p:cNvSpPr>
          <p:nvPr/>
        </p:nvSpPr>
        <p:spPr bwMode="auto">
          <a:xfrm>
            <a:off x="881063" y="966788"/>
            <a:ext cx="59213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</a:p>
        </p:txBody>
      </p:sp>
      <p:sp>
        <p:nvSpPr>
          <p:cNvPr id="289832" name="Rectangle 40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4.3</a:t>
            </a:r>
          </a:p>
        </p:txBody>
      </p:sp>
      <p:sp>
        <p:nvSpPr>
          <p:cNvPr id="198662" name="AutoShape 41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89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9831" grpId="0" autoUpdateAnimBg="0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818" name="Text Box 2"/>
          <p:cNvSpPr txBox="1">
            <a:spLocks noChangeArrowheads="1"/>
          </p:cNvSpPr>
          <p:nvPr/>
        </p:nvSpPr>
        <p:spPr bwMode="auto">
          <a:xfrm>
            <a:off x="1763713" y="1109663"/>
            <a:ext cx="38989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2800">
                <a:latin typeface="Times New Roman" panose="02020603050405020304" pitchFamily="18" charset="0"/>
              </a:rPr>
              <a:t>Cache </a:t>
            </a:r>
            <a:r>
              <a:rPr lang="zh-CN" altLang="en-US" sz="2800">
                <a:latin typeface="Times New Roman" panose="02020603050405020304" pitchFamily="18" charset="0"/>
              </a:rPr>
              <a:t>和主存的一致性  </a:t>
            </a:r>
          </a:p>
        </p:txBody>
      </p:sp>
      <p:grpSp>
        <p:nvGrpSpPr>
          <p:cNvPr id="199683" name="Group 3"/>
          <p:cNvGrpSpPr/>
          <p:nvPr/>
        </p:nvGrpSpPr>
        <p:grpSpPr bwMode="auto">
          <a:xfrm>
            <a:off x="669925" y="304800"/>
            <a:ext cx="4497388" cy="1323975"/>
            <a:chOff x="422" y="192"/>
            <a:chExt cx="2833" cy="834"/>
          </a:xfrm>
        </p:grpSpPr>
        <p:sp>
          <p:nvSpPr>
            <p:cNvPr id="199692" name="Text Box 4"/>
            <p:cNvSpPr txBox="1">
              <a:spLocks noChangeArrowheads="1"/>
            </p:cNvSpPr>
            <p:nvPr/>
          </p:nvSpPr>
          <p:spPr bwMode="auto">
            <a:xfrm>
              <a:off x="422" y="192"/>
              <a:ext cx="2833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3600">
                  <a:latin typeface="Times New Roman" panose="02020603050405020304" pitchFamily="18" charset="0"/>
                </a:rPr>
                <a:t>4. Cache </a:t>
              </a:r>
              <a:r>
                <a:rPr lang="zh-CN" altLang="en-US" sz="3600">
                  <a:latin typeface="Times New Roman" panose="02020603050405020304" pitchFamily="18" charset="0"/>
                </a:rPr>
                <a:t>的 </a:t>
              </a:r>
              <a:r>
                <a:rPr lang="zh-CN" altLang="en-US" sz="36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读写 </a:t>
              </a:r>
              <a:r>
                <a:rPr lang="zh-CN" altLang="en-US" sz="3600">
                  <a:latin typeface="Times New Roman" panose="02020603050405020304" pitchFamily="18" charset="0"/>
                </a:rPr>
                <a:t>操作</a:t>
              </a:r>
            </a:p>
          </p:txBody>
        </p:sp>
        <p:sp>
          <p:nvSpPr>
            <p:cNvPr id="199693" name="Text Box 5"/>
            <p:cNvSpPr txBox="1">
              <a:spLocks noChangeArrowheads="1"/>
            </p:cNvSpPr>
            <p:nvPr/>
          </p:nvSpPr>
          <p:spPr bwMode="auto">
            <a:xfrm>
              <a:off x="593" y="661"/>
              <a:ext cx="37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写</a:t>
              </a:r>
            </a:p>
          </p:txBody>
        </p:sp>
      </p:grpSp>
      <p:sp>
        <p:nvSpPr>
          <p:cNvPr id="290822" name="Rectangle 6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4.3</a:t>
            </a:r>
          </a:p>
        </p:txBody>
      </p:sp>
      <p:sp>
        <p:nvSpPr>
          <p:cNvPr id="290823" name="Text Box 7"/>
          <p:cNvSpPr txBox="1">
            <a:spLocks noChangeArrowheads="1"/>
          </p:cNvSpPr>
          <p:nvPr/>
        </p:nvSpPr>
        <p:spPr bwMode="auto">
          <a:xfrm>
            <a:off x="1582738" y="1700213"/>
            <a:ext cx="51498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Char char="•"/>
            </a:pP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 写直达法</a:t>
            </a:r>
            <a:r>
              <a:rPr lang="zh-CN" altLang="en-US" sz="2800">
                <a:latin typeface="Times New Roman" panose="02020603050405020304" pitchFamily="18" charset="0"/>
              </a:rPr>
              <a:t>（</a:t>
            </a:r>
            <a:r>
              <a:rPr lang="en-US" altLang="zh-CN" sz="2800">
                <a:latin typeface="Times New Roman" panose="02020603050405020304" pitchFamily="18" charset="0"/>
              </a:rPr>
              <a:t>Write </a:t>
            </a:r>
            <a:r>
              <a:rPr lang="en-US" altLang="en-US" sz="2400">
                <a:latin typeface="Times New Roman" panose="02020603050405020304" pitchFamily="18" charset="0"/>
              </a:rPr>
              <a:t>–</a:t>
            </a:r>
            <a:r>
              <a:rPr lang="en-US" altLang="zh-CN" sz="2400">
                <a:latin typeface="Times New Roman" panose="02020603050405020304" pitchFamily="18" charset="0"/>
              </a:rPr>
              <a:t> </a:t>
            </a:r>
            <a:r>
              <a:rPr lang="en-US" altLang="zh-CN" sz="2800">
                <a:latin typeface="Times New Roman" panose="02020603050405020304" pitchFamily="18" charset="0"/>
              </a:rPr>
              <a:t>through</a:t>
            </a:r>
            <a:r>
              <a:rPr lang="zh-CN" altLang="en-US" sz="2800">
                <a:latin typeface="Times New Roman" panose="02020603050405020304" pitchFamily="18" charset="0"/>
              </a:rPr>
              <a:t>）  </a:t>
            </a:r>
          </a:p>
        </p:txBody>
      </p:sp>
      <p:sp>
        <p:nvSpPr>
          <p:cNvPr id="290824" name="Text Box 8"/>
          <p:cNvSpPr txBox="1">
            <a:spLocks noChangeArrowheads="1"/>
          </p:cNvSpPr>
          <p:nvPr/>
        </p:nvSpPr>
        <p:spPr bwMode="auto">
          <a:xfrm>
            <a:off x="1582738" y="3789363"/>
            <a:ext cx="429736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Char char="•"/>
            </a:pP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 写回法</a:t>
            </a:r>
            <a:r>
              <a:rPr lang="zh-CN" altLang="en-US" sz="2800">
                <a:latin typeface="Times New Roman" panose="02020603050405020304" pitchFamily="18" charset="0"/>
              </a:rPr>
              <a:t>（</a:t>
            </a:r>
            <a:r>
              <a:rPr lang="en-US" altLang="zh-CN" sz="2800">
                <a:latin typeface="Times New Roman" panose="02020603050405020304" pitchFamily="18" charset="0"/>
              </a:rPr>
              <a:t>Write </a:t>
            </a:r>
            <a:r>
              <a:rPr lang="en-US" altLang="en-US" sz="2400">
                <a:latin typeface="Times New Roman" panose="02020603050405020304" pitchFamily="18" charset="0"/>
              </a:rPr>
              <a:t>–</a:t>
            </a:r>
            <a:r>
              <a:rPr lang="en-US" altLang="zh-CN" sz="2400">
                <a:latin typeface="Times New Roman" panose="02020603050405020304" pitchFamily="18" charset="0"/>
              </a:rPr>
              <a:t> </a:t>
            </a:r>
            <a:r>
              <a:rPr lang="en-US" altLang="zh-CN" sz="2800">
                <a:latin typeface="Times New Roman" panose="02020603050405020304" pitchFamily="18" charset="0"/>
              </a:rPr>
              <a:t>back</a:t>
            </a:r>
            <a:r>
              <a:rPr lang="zh-CN" altLang="en-US" sz="2800">
                <a:latin typeface="Times New Roman" panose="02020603050405020304" pitchFamily="18" charset="0"/>
              </a:rPr>
              <a:t>）  </a:t>
            </a:r>
          </a:p>
        </p:txBody>
      </p:sp>
      <p:sp>
        <p:nvSpPr>
          <p:cNvPr id="290825" name="Text Box 9"/>
          <p:cNvSpPr txBox="1">
            <a:spLocks noChangeArrowheads="1"/>
          </p:cNvSpPr>
          <p:nvPr/>
        </p:nvSpPr>
        <p:spPr bwMode="auto">
          <a:xfrm>
            <a:off x="1835150" y="2266950"/>
            <a:ext cx="5340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写操作时数据既写入</a:t>
            </a:r>
            <a:r>
              <a:rPr lang="en-US" altLang="zh-CN" sz="2400">
                <a:latin typeface="Times New Roman" panose="02020603050405020304" pitchFamily="18" charset="0"/>
              </a:rPr>
              <a:t>Cache</a:t>
            </a:r>
            <a:r>
              <a:rPr lang="zh-CN" altLang="en-US" sz="2400">
                <a:latin typeface="Times New Roman" panose="02020603050405020304" pitchFamily="18" charset="0"/>
              </a:rPr>
              <a:t>又写入主存</a:t>
            </a:r>
            <a:r>
              <a:rPr lang="zh-CN" altLang="en-US" sz="2400" b="0"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290826" name="Text Box 10"/>
          <p:cNvSpPr txBox="1">
            <a:spLocks noChangeArrowheads="1"/>
          </p:cNvSpPr>
          <p:nvPr/>
        </p:nvSpPr>
        <p:spPr bwMode="auto">
          <a:xfrm>
            <a:off x="1835150" y="4356100"/>
            <a:ext cx="6026150" cy="968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写操作时只把数据写入 </a:t>
            </a:r>
            <a:r>
              <a:rPr lang="en-US" altLang="zh-CN" sz="2400">
                <a:latin typeface="Times New Roman" panose="02020603050405020304" pitchFamily="18" charset="0"/>
              </a:rPr>
              <a:t>Cache </a:t>
            </a:r>
            <a:r>
              <a:rPr lang="zh-CN" altLang="en-US" sz="2400">
                <a:latin typeface="Times New Roman" panose="02020603050405020304" pitchFamily="18" charset="0"/>
              </a:rPr>
              <a:t>而不写入主存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当 </a:t>
            </a:r>
            <a:r>
              <a:rPr lang="en-US" altLang="zh-CN" sz="2400">
                <a:latin typeface="Times New Roman" panose="02020603050405020304" pitchFamily="18" charset="0"/>
              </a:rPr>
              <a:t>Cache </a:t>
            </a:r>
            <a:r>
              <a:rPr lang="zh-CN" altLang="en-US" sz="2400">
                <a:latin typeface="Times New Roman" panose="02020603050405020304" pitchFamily="18" charset="0"/>
              </a:rPr>
              <a:t>数据被替换出去时才写回主存</a:t>
            </a:r>
            <a:r>
              <a:rPr lang="zh-CN" altLang="en-US" sz="2400" b="0"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290827" name="Text Box 11"/>
          <p:cNvSpPr txBox="1">
            <a:spLocks noChangeArrowheads="1"/>
          </p:cNvSpPr>
          <p:nvPr/>
        </p:nvSpPr>
        <p:spPr bwMode="auto">
          <a:xfrm>
            <a:off x="1835150" y="2708275"/>
            <a:ext cx="7308850" cy="968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</a:pP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写操作时间就是访问主存的时间</a:t>
            </a:r>
            <a:r>
              <a:rPr lang="zh-CN" altLang="en-US" sz="2400">
                <a:latin typeface="Times New Roman" panose="02020603050405020304" pitchFamily="18" charset="0"/>
              </a:rPr>
              <a:t>，读操作时不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涉及对主存的写操作，更新策略比较容易实现</a:t>
            </a:r>
          </a:p>
        </p:txBody>
      </p:sp>
      <p:sp>
        <p:nvSpPr>
          <p:cNvPr id="290828" name="Text Box 12"/>
          <p:cNvSpPr txBox="1">
            <a:spLocks noChangeArrowheads="1"/>
          </p:cNvSpPr>
          <p:nvPr/>
        </p:nvSpPr>
        <p:spPr bwMode="auto">
          <a:xfrm>
            <a:off x="1835150" y="5300663"/>
            <a:ext cx="6985000" cy="140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</a:pP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写操作时间就是访问 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Cache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的时间</a:t>
            </a:r>
            <a:r>
              <a:rPr lang="zh-CN" altLang="en-US" sz="2400">
                <a:latin typeface="Times New Roman" panose="02020603050405020304" pitchFamily="18" charset="0"/>
              </a:rPr>
              <a:t>，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读操作 </a:t>
            </a:r>
            <a:r>
              <a:rPr lang="en-US" altLang="zh-CN" sz="2400">
                <a:latin typeface="Times New Roman" panose="02020603050405020304" pitchFamily="18" charset="0"/>
              </a:rPr>
              <a:t>Cache </a:t>
            </a:r>
            <a:r>
              <a:rPr lang="zh-CN" altLang="en-US" sz="2400">
                <a:latin typeface="Times New Roman" panose="02020603050405020304" pitchFamily="18" charset="0"/>
              </a:rPr>
              <a:t>失效发生数据替换时，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被替换的块需写回主存，增加了 </a:t>
            </a:r>
            <a:r>
              <a:rPr lang="en-US" altLang="zh-CN" sz="2400">
                <a:latin typeface="Times New Roman" panose="02020603050405020304" pitchFamily="18" charset="0"/>
              </a:rPr>
              <a:t>Cache </a:t>
            </a:r>
            <a:r>
              <a:rPr lang="zh-CN" altLang="en-US" sz="2400">
                <a:latin typeface="Times New Roman" panose="02020603050405020304" pitchFamily="18" charset="0"/>
              </a:rPr>
              <a:t>的复杂性</a:t>
            </a:r>
          </a:p>
        </p:txBody>
      </p:sp>
      <p:sp>
        <p:nvSpPr>
          <p:cNvPr id="199691" name="AutoShape 13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90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908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908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908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908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90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90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0818" grpId="0" autoUpdateAnimBg="0"/>
      <p:bldP spid="290823" grpId="0" autoUpdateAnimBg="0"/>
      <p:bldP spid="290824" grpId="0" autoUpdateAnimBg="0"/>
      <p:bldP spid="290825" grpId="0" autoUpdateAnimBg="0"/>
      <p:bldP spid="290826" grpId="0" autoUpdateAnimBg="0"/>
      <p:bldP spid="290827" grpId="0" autoUpdateAnimBg="0"/>
      <p:bldP spid="290828" grpId="0" autoUpdateAnimBg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706" name="Text Box 2"/>
          <p:cNvSpPr txBox="1">
            <a:spLocks noChangeArrowheads="1"/>
          </p:cNvSpPr>
          <p:nvPr/>
        </p:nvSpPr>
        <p:spPr bwMode="auto">
          <a:xfrm>
            <a:off x="609600" y="196850"/>
            <a:ext cx="3465513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5.  </a:t>
            </a:r>
            <a:r>
              <a:rPr lang="en-US" altLang="zh-CN" sz="3600">
                <a:latin typeface="Times New Roman" panose="02020603050405020304" pitchFamily="18" charset="0"/>
              </a:rPr>
              <a:t>Cache </a:t>
            </a:r>
            <a:r>
              <a:rPr lang="zh-CN" altLang="en-US" sz="3600">
                <a:latin typeface="Times New Roman" panose="02020603050405020304" pitchFamily="18" charset="0"/>
              </a:rPr>
              <a:t>的改进</a:t>
            </a:r>
          </a:p>
        </p:txBody>
      </p:sp>
      <p:sp>
        <p:nvSpPr>
          <p:cNvPr id="291843" name="Text Box 3"/>
          <p:cNvSpPr txBox="1">
            <a:spLocks noChangeArrowheads="1"/>
          </p:cNvSpPr>
          <p:nvPr/>
        </p:nvSpPr>
        <p:spPr bwMode="auto">
          <a:xfrm>
            <a:off x="1203325" y="914400"/>
            <a:ext cx="48164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(1) 增加 </a:t>
            </a:r>
            <a:r>
              <a:rPr lang="en-US" altLang="zh-CN" sz="3200">
                <a:latin typeface="Times New Roman" panose="02020603050405020304" pitchFamily="18" charset="0"/>
              </a:rPr>
              <a:t>Cache </a:t>
            </a:r>
            <a:r>
              <a:rPr lang="zh-CN" altLang="en-US" sz="3200">
                <a:latin typeface="Times New Roman" panose="02020603050405020304" pitchFamily="18" charset="0"/>
              </a:rPr>
              <a:t>的级数</a:t>
            </a:r>
          </a:p>
        </p:txBody>
      </p:sp>
      <p:sp>
        <p:nvSpPr>
          <p:cNvPr id="291844" name="Text Box 4"/>
          <p:cNvSpPr txBox="1">
            <a:spLocks noChangeArrowheads="1"/>
          </p:cNvSpPr>
          <p:nvPr/>
        </p:nvSpPr>
        <p:spPr bwMode="auto">
          <a:xfrm>
            <a:off x="1701800" y="1606550"/>
            <a:ext cx="327501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片载（片内）</a:t>
            </a:r>
            <a:r>
              <a:rPr lang="en-US" altLang="zh-CN" sz="2800">
                <a:latin typeface="Times New Roman" panose="02020603050405020304" pitchFamily="18" charset="0"/>
              </a:rPr>
              <a:t>Cache</a:t>
            </a:r>
          </a:p>
        </p:txBody>
      </p:sp>
      <p:sp>
        <p:nvSpPr>
          <p:cNvPr id="291845" name="Text Box 5"/>
          <p:cNvSpPr txBox="1">
            <a:spLocks noChangeArrowheads="1"/>
          </p:cNvSpPr>
          <p:nvPr/>
        </p:nvSpPr>
        <p:spPr bwMode="auto">
          <a:xfrm>
            <a:off x="1701800" y="2251075"/>
            <a:ext cx="19351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片外 </a:t>
            </a:r>
            <a:r>
              <a:rPr lang="en-US" altLang="zh-CN" sz="2800">
                <a:latin typeface="Times New Roman" panose="02020603050405020304" pitchFamily="18" charset="0"/>
              </a:rPr>
              <a:t>Cache</a:t>
            </a:r>
            <a:endParaRPr lang="zh-CN" altLang="en-US" sz="2800">
              <a:latin typeface="Times New Roman" panose="02020603050405020304" pitchFamily="18" charset="0"/>
            </a:endParaRPr>
          </a:p>
        </p:txBody>
      </p:sp>
      <p:sp>
        <p:nvSpPr>
          <p:cNvPr id="291846" name="Text Box 6"/>
          <p:cNvSpPr txBox="1">
            <a:spLocks noChangeArrowheads="1"/>
          </p:cNvSpPr>
          <p:nvPr/>
        </p:nvSpPr>
        <p:spPr bwMode="auto">
          <a:xfrm>
            <a:off x="1203325" y="2847975"/>
            <a:ext cx="51212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(2) 统一缓存和分立缓存</a:t>
            </a:r>
          </a:p>
        </p:txBody>
      </p:sp>
      <p:sp>
        <p:nvSpPr>
          <p:cNvPr id="291847" name="Text Box 7"/>
          <p:cNvSpPr txBox="1">
            <a:spLocks noChangeArrowheads="1"/>
          </p:cNvSpPr>
          <p:nvPr/>
        </p:nvSpPr>
        <p:spPr bwMode="auto">
          <a:xfrm>
            <a:off x="1701800" y="3540125"/>
            <a:ext cx="19351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指令 </a:t>
            </a:r>
            <a:r>
              <a:rPr lang="en-US" altLang="zh-CN" sz="2800">
                <a:latin typeface="Times New Roman" panose="02020603050405020304" pitchFamily="18" charset="0"/>
              </a:rPr>
              <a:t>Cache</a:t>
            </a:r>
          </a:p>
        </p:txBody>
      </p:sp>
      <p:sp>
        <p:nvSpPr>
          <p:cNvPr id="291848" name="Text Box 8"/>
          <p:cNvSpPr txBox="1">
            <a:spLocks noChangeArrowheads="1"/>
          </p:cNvSpPr>
          <p:nvPr/>
        </p:nvSpPr>
        <p:spPr bwMode="auto">
          <a:xfrm>
            <a:off x="4090988" y="3540125"/>
            <a:ext cx="1935162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数据 </a:t>
            </a:r>
            <a:r>
              <a:rPr lang="en-US" altLang="zh-CN" sz="2800">
                <a:latin typeface="Times New Roman" panose="02020603050405020304" pitchFamily="18" charset="0"/>
              </a:rPr>
              <a:t>Cache</a:t>
            </a:r>
          </a:p>
        </p:txBody>
      </p:sp>
      <p:sp>
        <p:nvSpPr>
          <p:cNvPr id="291849" name="Text Box 9"/>
          <p:cNvSpPr txBox="1">
            <a:spLocks noChangeArrowheads="1"/>
          </p:cNvSpPr>
          <p:nvPr/>
        </p:nvSpPr>
        <p:spPr bwMode="auto">
          <a:xfrm>
            <a:off x="1701800" y="4189413"/>
            <a:ext cx="268446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与主存结构有关</a:t>
            </a:r>
          </a:p>
        </p:txBody>
      </p:sp>
      <p:sp>
        <p:nvSpPr>
          <p:cNvPr id="291850" name="Text Box 10"/>
          <p:cNvSpPr txBox="1">
            <a:spLocks noChangeArrowheads="1"/>
          </p:cNvSpPr>
          <p:nvPr/>
        </p:nvSpPr>
        <p:spPr bwMode="auto">
          <a:xfrm>
            <a:off x="1701800" y="4833938"/>
            <a:ext cx="44704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与指令执行的控制方式有关</a:t>
            </a:r>
          </a:p>
        </p:txBody>
      </p:sp>
      <p:sp>
        <p:nvSpPr>
          <p:cNvPr id="291851" name="Text Box 11"/>
          <p:cNvSpPr txBox="1">
            <a:spLocks noChangeArrowheads="1"/>
          </p:cNvSpPr>
          <p:nvPr/>
        </p:nvSpPr>
        <p:spPr bwMode="auto">
          <a:xfrm>
            <a:off x="6621463" y="4833938"/>
            <a:ext cx="1855787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是否流水</a:t>
            </a:r>
          </a:p>
        </p:txBody>
      </p:sp>
      <p:sp>
        <p:nvSpPr>
          <p:cNvPr id="291852" name="Text Box 12"/>
          <p:cNvSpPr txBox="1">
            <a:spLocks noChangeArrowheads="1"/>
          </p:cNvSpPr>
          <p:nvPr/>
        </p:nvSpPr>
        <p:spPr bwMode="auto">
          <a:xfrm>
            <a:off x="1182688" y="5537200"/>
            <a:ext cx="75803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2400">
                <a:latin typeface="Times New Roman" panose="02020603050405020304" pitchFamily="18" charset="0"/>
              </a:rPr>
              <a:t>Pentium                8K </a:t>
            </a:r>
            <a:r>
              <a:rPr lang="zh-CN" altLang="en-US" sz="2400">
                <a:latin typeface="Times New Roman" panose="02020603050405020304" pitchFamily="18" charset="0"/>
              </a:rPr>
              <a:t>指令 </a:t>
            </a:r>
            <a:r>
              <a:rPr lang="en-US" altLang="zh-CN" sz="2400">
                <a:latin typeface="Times New Roman" panose="02020603050405020304" pitchFamily="18" charset="0"/>
              </a:rPr>
              <a:t>Cache        8K </a:t>
            </a:r>
            <a:r>
              <a:rPr lang="zh-CN" altLang="en-US" sz="2400">
                <a:latin typeface="Times New Roman" panose="02020603050405020304" pitchFamily="18" charset="0"/>
              </a:rPr>
              <a:t>数据 </a:t>
            </a:r>
            <a:r>
              <a:rPr lang="en-US" altLang="zh-CN" sz="2400">
                <a:latin typeface="Times New Roman" panose="02020603050405020304" pitchFamily="18" charset="0"/>
              </a:rPr>
              <a:t>Cache</a:t>
            </a:r>
          </a:p>
        </p:txBody>
      </p:sp>
      <p:sp>
        <p:nvSpPr>
          <p:cNvPr id="291853" name="Text Box 13"/>
          <p:cNvSpPr txBox="1">
            <a:spLocks noChangeArrowheads="1"/>
          </p:cNvSpPr>
          <p:nvPr/>
        </p:nvSpPr>
        <p:spPr bwMode="auto">
          <a:xfrm>
            <a:off x="1182688" y="6094413"/>
            <a:ext cx="73517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2400">
                <a:latin typeface="Times New Roman" panose="02020603050405020304" pitchFamily="18" charset="0"/>
              </a:rPr>
              <a:t>PowerPC620      32K </a:t>
            </a:r>
            <a:r>
              <a:rPr lang="zh-CN" altLang="en-US" sz="2400">
                <a:latin typeface="Times New Roman" panose="02020603050405020304" pitchFamily="18" charset="0"/>
              </a:rPr>
              <a:t>指令 </a:t>
            </a:r>
            <a:r>
              <a:rPr lang="en-US" altLang="zh-CN" sz="2400">
                <a:latin typeface="Times New Roman" panose="02020603050405020304" pitchFamily="18" charset="0"/>
              </a:rPr>
              <a:t>Cache      </a:t>
            </a:r>
            <a:r>
              <a:rPr lang="en-US" altLang="zh-CN">
                <a:latin typeface="Times New Roman" panose="02020603050405020304" pitchFamily="18" charset="0"/>
              </a:rPr>
              <a:t> </a:t>
            </a:r>
            <a:r>
              <a:rPr lang="en-US" altLang="zh-CN" sz="2400">
                <a:latin typeface="Times New Roman" panose="02020603050405020304" pitchFamily="18" charset="0"/>
              </a:rPr>
              <a:t>32K </a:t>
            </a:r>
            <a:r>
              <a:rPr lang="zh-CN" altLang="en-US" sz="2400">
                <a:latin typeface="Times New Roman" panose="02020603050405020304" pitchFamily="18" charset="0"/>
              </a:rPr>
              <a:t>数据 </a:t>
            </a:r>
            <a:r>
              <a:rPr lang="en-US" altLang="zh-CN" sz="2400">
                <a:latin typeface="Times New Roman" panose="02020603050405020304" pitchFamily="18" charset="0"/>
              </a:rPr>
              <a:t>Cache</a:t>
            </a:r>
          </a:p>
        </p:txBody>
      </p:sp>
      <p:sp>
        <p:nvSpPr>
          <p:cNvPr id="291854" name="Rectangle 14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4.3</a:t>
            </a:r>
          </a:p>
        </p:txBody>
      </p:sp>
      <p:sp>
        <p:nvSpPr>
          <p:cNvPr id="200719" name="AutoShape 15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918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918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9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9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8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918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8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918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8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918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2918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918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918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" dur="500"/>
                                        <p:tgtEl>
                                          <p:spTgt spid="29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8" dur="500"/>
                                        <p:tgtEl>
                                          <p:spTgt spid="2918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1843" grpId="0" autoUpdateAnimBg="0"/>
      <p:bldP spid="291844" grpId="0" autoUpdateAnimBg="0"/>
      <p:bldP spid="291845" grpId="0" autoUpdateAnimBg="0"/>
      <p:bldP spid="291846" grpId="0" autoUpdateAnimBg="0"/>
      <p:bldP spid="291847" grpId="0" autoUpdateAnimBg="0"/>
      <p:bldP spid="291848" grpId="0" autoUpdateAnimBg="0"/>
      <p:bldP spid="291849" grpId="0" autoUpdateAnimBg="0"/>
      <p:bldP spid="291850" grpId="0" autoUpdateAnimBg="0"/>
      <p:bldP spid="291851" grpId="0" autoUpdateAnimBg="0"/>
      <p:bldP spid="291852" grpId="0" autoUpdateAnimBg="0"/>
      <p:bldP spid="291853" grpId="0" autoUpdateAnimBg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20"/>
          <p:cNvGrpSpPr/>
          <p:nvPr/>
        </p:nvGrpSpPr>
        <p:grpSpPr bwMode="auto">
          <a:xfrm>
            <a:off x="152400" y="1066800"/>
            <a:ext cx="8915400" cy="4660900"/>
            <a:chOff x="96" y="672"/>
            <a:chExt cx="5616" cy="2936"/>
          </a:xfrm>
        </p:grpSpPr>
        <p:sp>
          <p:nvSpPr>
            <p:cNvPr id="201746" name="Rectangle 3"/>
            <p:cNvSpPr>
              <a:spLocks noChangeArrowheads="1"/>
            </p:cNvSpPr>
            <p:nvPr/>
          </p:nvSpPr>
          <p:spPr bwMode="auto">
            <a:xfrm>
              <a:off x="4727" y="3096"/>
              <a:ext cx="889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 b="0">
                  <a:latin typeface="Times New Roman" panose="02020603050405020304" pitchFamily="18" charset="0"/>
                </a:rPr>
                <a:t> </a:t>
              </a:r>
              <a:r>
                <a:rPr lang="zh-CN" altLang="en-US" sz="2000">
                  <a:latin typeface="Times New Roman" panose="02020603050405020304" pitchFamily="18" charset="0"/>
                </a:rPr>
                <a:t>字块2</a:t>
              </a:r>
              <a:r>
                <a:rPr lang="en-US" altLang="zh-CN" sz="2000" i="1" baseline="30000">
                  <a:latin typeface="Times New Roman" panose="02020603050405020304" pitchFamily="18" charset="0"/>
                </a:rPr>
                <a:t>m</a:t>
              </a:r>
              <a:r>
                <a:rPr lang="en-US" altLang="zh-CN" sz="2000">
                  <a:latin typeface="Times New Roman" panose="02020603050405020304" pitchFamily="18" charset="0"/>
                </a:rPr>
                <a:t>－1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01747" name="Rectangle 4"/>
            <p:cNvSpPr>
              <a:spLocks noChangeArrowheads="1"/>
            </p:cNvSpPr>
            <p:nvPr/>
          </p:nvSpPr>
          <p:spPr bwMode="auto">
            <a:xfrm>
              <a:off x="4727" y="2908"/>
              <a:ext cx="889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endParaRPr lang="zh-CN" altLang="en-US" sz="1800" b="0">
                <a:latin typeface="Times New Roman" panose="02020603050405020304" pitchFamily="18" charset="0"/>
              </a:endParaRPr>
            </a:p>
          </p:txBody>
        </p:sp>
        <p:sp>
          <p:nvSpPr>
            <p:cNvPr id="201748" name="Rectangle 5"/>
            <p:cNvSpPr>
              <a:spLocks noChangeArrowheads="1"/>
            </p:cNvSpPr>
            <p:nvPr/>
          </p:nvSpPr>
          <p:spPr bwMode="auto">
            <a:xfrm>
              <a:off x="4727" y="2677"/>
              <a:ext cx="889" cy="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 b="0">
                  <a:latin typeface="Times New Roman" panose="02020603050405020304" pitchFamily="18" charset="0"/>
                </a:rPr>
                <a:t>   </a:t>
              </a:r>
              <a:r>
                <a:rPr lang="zh-CN" altLang="en-US" sz="2000">
                  <a:latin typeface="Times New Roman" panose="02020603050405020304" pitchFamily="18" charset="0"/>
                </a:rPr>
                <a:t>字块2</a:t>
              </a:r>
              <a:r>
                <a:rPr lang="en-US" altLang="zh-CN" sz="2000" i="1" baseline="30000">
                  <a:latin typeface="Times New Roman" panose="02020603050405020304" pitchFamily="18" charset="0"/>
                </a:rPr>
                <a:t>c</a:t>
              </a:r>
              <a:r>
                <a:rPr lang="en-US" altLang="zh-CN" sz="2000" baseline="30000">
                  <a:latin typeface="Times New Roman" panose="02020603050405020304" pitchFamily="18" charset="0"/>
                </a:rPr>
                <a:t>+1</a:t>
              </a:r>
              <a:endParaRPr lang="zh-CN" altLang="en-US" sz="2000" baseline="30000">
                <a:latin typeface="Times New Roman" panose="02020603050405020304" pitchFamily="18" charset="0"/>
              </a:endParaRPr>
            </a:p>
          </p:txBody>
        </p:sp>
        <p:sp>
          <p:nvSpPr>
            <p:cNvPr id="201749" name="Rectangle 6"/>
            <p:cNvSpPr>
              <a:spLocks noChangeArrowheads="1"/>
            </p:cNvSpPr>
            <p:nvPr/>
          </p:nvSpPr>
          <p:spPr bwMode="auto">
            <a:xfrm>
              <a:off x="4679" y="2459"/>
              <a:ext cx="1033" cy="2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 b="0">
                  <a:latin typeface="Times New Roman" panose="02020603050405020304" pitchFamily="18" charset="0"/>
                </a:rPr>
                <a:t> </a:t>
              </a:r>
              <a:r>
                <a:rPr lang="zh-CN" altLang="en-US" sz="2000">
                  <a:latin typeface="Times New Roman" panose="02020603050405020304" pitchFamily="18" charset="0"/>
                </a:rPr>
                <a:t>字块2</a:t>
              </a:r>
              <a:r>
                <a:rPr lang="en-US" altLang="zh-CN" sz="2000" i="1" baseline="30000">
                  <a:latin typeface="Times New Roman" panose="02020603050405020304" pitchFamily="18" charset="0"/>
                </a:rPr>
                <a:t>c</a:t>
              </a:r>
              <a:r>
                <a:rPr lang="en-US" altLang="zh-CN" sz="2000" baseline="30000">
                  <a:latin typeface="Times New Roman" panose="02020603050405020304" pitchFamily="18" charset="0"/>
                </a:rPr>
                <a:t>+1</a:t>
              </a:r>
              <a:r>
                <a:rPr lang="en-US" altLang="zh-CN" sz="2000">
                  <a:latin typeface="Times New Roman" panose="02020603050405020304" pitchFamily="18" charset="0"/>
                </a:rPr>
                <a:t>－1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01750" name="Rectangle 7"/>
            <p:cNvSpPr>
              <a:spLocks noChangeArrowheads="1"/>
            </p:cNvSpPr>
            <p:nvPr/>
          </p:nvSpPr>
          <p:spPr bwMode="auto">
            <a:xfrm>
              <a:off x="4727" y="2255"/>
              <a:ext cx="889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endParaRPr lang="zh-CN" altLang="en-US" sz="2000" b="0">
                <a:latin typeface="Times New Roman" panose="02020603050405020304" pitchFamily="18" charset="0"/>
              </a:endParaRPr>
            </a:p>
          </p:txBody>
        </p:sp>
        <p:sp>
          <p:nvSpPr>
            <p:cNvPr id="201751" name="Rectangle 8"/>
            <p:cNvSpPr>
              <a:spLocks noChangeArrowheads="1"/>
            </p:cNvSpPr>
            <p:nvPr/>
          </p:nvSpPr>
          <p:spPr bwMode="auto">
            <a:xfrm>
              <a:off x="4727" y="2026"/>
              <a:ext cx="889" cy="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 b="0">
                  <a:latin typeface="Times New Roman" panose="02020603050405020304" pitchFamily="18" charset="0"/>
                </a:rPr>
                <a:t>   </a:t>
              </a:r>
              <a:r>
                <a:rPr lang="zh-CN" altLang="en-US" sz="2000">
                  <a:latin typeface="Times New Roman" panose="02020603050405020304" pitchFamily="18" charset="0"/>
                </a:rPr>
                <a:t>字块2</a:t>
              </a:r>
              <a:r>
                <a:rPr lang="en-US" altLang="zh-CN" sz="2000" i="1" baseline="30000">
                  <a:latin typeface="Times New Roman" panose="02020603050405020304" pitchFamily="18" charset="0"/>
                </a:rPr>
                <a:t>c</a:t>
              </a:r>
              <a:r>
                <a:rPr lang="en-US" altLang="zh-CN" sz="2000" baseline="30000">
                  <a:latin typeface="Times New Roman" panose="02020603050405020304" pitchFamily="18" charset="0"/>
                </a:rPr>
                <a:t> </a:t>
              </a:r>
              <a:r>
                <a:rPr lang="en-US" altLang="zh-CN" sz="2000">
                  <a:latin typeface="Times New Roman" panose="02020603050405020304" pitchFamily="18" charset="0"/>
                </a:rPr>
                <a:t>+1</a:t>
              </a:r>
              <a:endParaRPr lang="zh-CN" altLang="en-US" sz="2000" baseline="30000">
                <a:latin typeface="Times New Roman" panose="02020603050405020304" pitchFamily="18" charset="0"/>
              </a:endParaRPr>
            </a:p>
          </p:txBody>
        </p:sp>
        <p:sp>
          <p:nvSpPr>
            <p:cNvPr id="201752" name="Rectangle 9"/>
            <p:cNvSpPr>
              <a:spLocks noChangeArrowheads="1"/>
            </p:cNvSpPr>
            <p:nvPr/>
          </p:nvSpPr>
          <p:spPr bwMode="auto">
            <a:xfrm>
              <a:off x="4727" y="1806"/>
              <a:ext cx="889" cy="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 b="0">
                  <a:latin typeface="Times New Roman" panose="02020603050405020304" pitchFamily="18" charset="0"/>
                </a:rPr>
                <a:t>     </a:t>
              </a:r>
              <a:r>
                <a:rPr lang="zh-CN" altLang="en-US" sz="2000">
                  <a:latin typeface="Times New Roman" panose="02020603050405020304" pitchFamily="18" charset="0"/>
                </a:rPr>
                <a:t>字块2</a:t>
              </a:r>
              <a:r>
                <a:rPr lang="en-US" altLang="zh-CN" sz="2000" i="1" baseline="30000">
                  <a:latin typeface="Times New Roman" panose="02020603050405020304" pitchFamily="18" charset="0"/>
                </a:rPr>
                <a:t>c</a:t>
              </a:r>
              <a:endParaRPr lang="zh-CN" altLang="en-US" sz="2000" i="1" baseline="30000">
                <a:latin typeface="Times New Roman" panose="02020603050405020304" pitchFamily="18" charset="0"/>
              </a:endParaRPr>
            </a:p>
          </p:txBody>
        </p:sp>
        <p:sp>
          <p:nvSpPr>
            <p:cNvPr id="201753" name="Rectangle 10"/>
            <p:cNvSpPr>
              <a:spLocks noChangeArrowheads="1"/>
            </p:cNvSpPr>
            <p:nvPr/>
          </p:nvSpPr>
          <p:spPr bwMode="auto">
            <a:xfrm>
              <a:off x="4727" y="1591"/>
              <a:ext cx="889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 b="0">
                  <a:latin typeface="Times New Roman" panose="02020603050405020304" pitchFamily="18" charset="0"/>
                </a:rPr>
                <a:t>  </a:t>
              </a:r>
              <a:r>
                <a:rPr lang="zh-CN" altLang="en-US" sz="2000">
                  <a:latin typeface="Times New Roman" panose="02020603050405020304" pitchFamily="18" charset="0"/>
                </a:rPr>
                <a:t>字块2</a:t>
              </a:r>
              <a:r>
                <a:rPr lang="en-US" altLang="zh-CN" sz="2000" i="1" baseline="30000">
                  <a:latin typeface="Times New Roman" panose="02020603050405020304" pitchFamily="18" charset="0"/>
                </a:rPr>
                <a:t>c</a:t>
              </a:r>
              <a:r>
                <a:rPr lang="en-US" altLang="zh-CN" sz="2000">
                  <a:latin typeface="Times New Roman" panose="02020603050405020304" pitchFamily="18" charset="0"/>
                </a:rPr>
                <a:t>－1</a:t>
              </a:r>
            </a:p>
          </p:txBody>
        </p:sp>
        <p:sp>
          <p:nvSpPr>
            <p:cNvPr id="201754" name="Rectangle 11"/>
            <p:cNvSpPr>
              <a:spLocks noChangeArrowheads="1"/>
            </p:cNvSpPr>
            <p:nvPr/>
          </p:nvSpPr>
          <p:spPr bwMode="auto">
            <a:xfrm>
              <a:off x="4727" y="1401"/>
              <a:ext cx="889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endParaRPr lang="zh-CN" altLang="en-US" sz="1800" b="0">
                <a:latin typeface="Times New Roman" panose="02020603050405020304" pitchFamily="18" charset="0"/>
              </a:endParaRPr>
            </a:p>
          </p:txBody>
        </p:sp>
        <p:sp>
          <p:nvSpPr>
            <p:cNvPr id="201755" name="Rectangle 12"/>
            <p:cNvSpPr>
              <a:spLocks noChangeArrowheads="1"/>
            </p:cNvSpPr>
            <p:nvPr/>
          </p:nvSpPr>
          <p:spPr bwMode="auto">
            <a:xfrm>
              <a:off x="4727" y="1172"/>
              <a:ext cx="889" cy="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 b="0">
                  <a:latin typeface="Times New Roman" panose="02020603050405020304" pitchFamily="18" charset="0"/>
                </a:rPr>
                <a:t>    </a:t>
              </a:r>
              <a:r>
                <a:rPr lang="zh-CN" altLang="en-US" sz="2000">
                  <a:latin typeface="Times New Roman" panose="02020603050405020304" pitchFamily="18" charset="0"/>
                </a:rPr>
                <a:t>字块</a:t>
              </a:r>
              <a:r>
                <a:rPr lang="zh-CN" altLang="en-US" sz="2000" b="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201756" name="Rectangle 13"/>
            <p:cNvSpPr>
              <a:spLocks noChangeArrowheads="1"/>
            </p:cNvSpPr>
            <p:nvPr/>
          </p:nvSpPr>
          <p:spPr bwMode="auto">
            <a:xfrm>
              <a:off x="4727" y="954"/>
              <a:ext cx="889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    字块0</a:t>
              </a:r>
            </a:p>
          </p:txBody>
        </p:sp>
        <p:sp>
          <p:nvSpPr>
            <p:cNvPr id="201757" name="Line 14"/>
            <p:cNvSpPr>
              <a:spLocks noChangeShapeType="1"/>
            </p:cNvSpPr>
            <p:nvPr/>
          </p:nvSpPr>
          <p:spPr bwMode="auto">
            <a:xfrm>
              <a:off x="4727" y="966"/>
              <a:ext cx="889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758" name="Line 15"/>
            <p:cNvSpPr>
              <a:spLocks noChangeShapeType="1"/>
            </p:cNvSpPr>
            <p:nvPr/>
          </p:nvSpPr>
          <p:spPr bwMode="auto">
            <a:xfrm>
              <a:off x="4727" y="1183"/>
              <a:ext cx="889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759" name="Line 16"/>
            <p:cNvSpPr>
              <a:spLocks noChangeShapeType="1"/>
            </p:cNvSpPr>
            <p:nvPr/>
          </p:nvSpPr>
          <p:spPr bwMode="auto">
            <a:xfrm>
              <a:off x="4727" y="1401"/>
              <a:ext cx="889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760" name="Line 17"/>
            <p:cNvSpPr>
              <a:spLocks noChangeShapeType="1"/>
            </p:cNvSpPr>
            <p:nvPr/>
          </p:nvSpPr>
          <p:spPr bwMode="auto">
            <a:xfrm>
              <a:off x="4727" y="1602"/>
              <a:ext cx="889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761" name="Line 18"/>
            <p:cNvSpPr>
              <a:spLocks noChangeShapeType="1"/>
            </p:cNvSpPr>
            <p:nvPr/>
          </p:nvSpPr>
          <p:spPr bwMode="auto">
            <a:xfrm>
              <a:off x="4727" y="1819"/>
              <a:ext cx="889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762" name="Line 19"/>
            <p:cNvSpPr>
              <a:spLocks noChangeShapeType="1"/>
            </p:cNvSpPr>
            <p:nvPr/>
          </p:nvSpPr>
          <p:spPr bwMode="auto">
            <a:xfrm>
              <a:off x="4727" y="2037"/>
              <a:ext cx="889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763" name="Line 20"/>
            <p:cNvSpPr>
              <a:spLocks noChangeShapeType="1"/>
            </p:cNvSpPr>
            <p:nvPr/>
          </p:nvSpPr>
          <p:spPr bwMode="auto">
            <a:xfrm>
              <a:off x="4727" y="2255"/>
              <a:ext cx="889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764" name="Line 21"/>
            <p:cNvSpPr>
              <a:spLocks noChangeShapeType="1"/>
            </p:cNvSpPr>
            <p:nvPr/>
          </p:nvSpPr>
          <p:spPr bwMode="auto">
            <a:xfrm>
              <a:off x="4727" y="2472"/>
              <a:ext cx="889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765" name="Line 22"/>
            <p:cNvSpPr>
              <a:spLocks noChangeShapeType="1"/>
            </p:cNvSpPr>
            <p:nvPr/>
          </p:nvSpPr>
          <p:spPr bwMode="auto">
            <a:xfrm>
              <a:off x="4727" y="2690"/>
              <a:ext cx="889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766" name="Line 23"/>
            <p:cNvSpPr>
              <a:spLocks noChangeShapeType="1"/>
            </p:cNvSpPr>
            <p:nvPr/>
          </p:nvSpPr>
          <p:spPr bwMode="auto">
            <a:xfrm>
              <a:off x="4727" y="2908"/>
              <a:ext cx="889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767" name="Line 24"/>
            <p:cNvSpPr>
              <a:spLocks noChangeShapeType="1"/>
            </p:cNvSpPr>
            <p:nvPr/>
          </p:nvSpPr>
          <p:spPr bwMode="auto">
            <a:xfrm>
              <a:off x="4727" y="3109"/>
              <a:ext cx="889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768" name="Line 25"/>
            <p:cNvSpPr>
              <a:spLocks noChangeShapeType="1"/>
            </p:cNvSpPr>
            <p:nvPr/>
          </p:nvSpPr>
          <p:spPr bwMode="auto">
            <a:xfrm>
              <a:off x="4727" y="3326"/>
              <a:ext cx="889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769" name="Line 26"/>
            <p:cNvSpPr>
              <a:spLocks noChangeShapeType="1"/>
            </p:cNvSpPr>
            <p:nvPr/>
          </p:nvSpPr>
          <p:spPr bwMode="auto">
            <a:xfrm>
              <a:off x="4727" y="966"/>
              <a:ext cx="0" cy="236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770" name="Line 27"/>
            <p:cNvSpPr>
              <a:spLocks noChangeShapeType="1"/>
            </p:cNvSpPr>
            <p:nvPr/>
          </p:nvSpPr>
          <p:spPr bwMode="auto">
            <a:xfrm>
              <a:off x="5616" y="966"/>
              <a:ext cx="0" cy="236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771" name="Text Box 28"/>
            <p:cNvSpPr txBox="1">
              <a:spLocks noChangeArrowheads="1"/>
            </p:cNvSpPr>
            <p:nvPr/>
          </p:nvSpPr>
          <p:spPr bwMode="auto">
            <a:xfrm>
              <a:off x="5026" y="1380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201772" name="Text Box 29"/>
            <p:cNvSpPr txBox="1">
              <a:spLocks noChangeArrowheads="1"/>
            </p:cNvSpPr>
            <p:nvPr/>
          </p:nvSpPr>
          <p:spPr bwMode="auto">
            <a:xfrm>
              <a:off x="5026" y="2246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201773" name="Text Box 30"/>
            <p:cNvSpPr txBox="1">
              <a:spLocks noChangeArrowheads="1"/>
            </p:cNvSpPr>
            <p:nvPr/>
          </p:nvSpPr>
          <p:spPr bwMode="auto">
            <a:xfrm>
              <a:off x="5036" y="2890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201774" name="Text Box 31"/>
            <p:cNvSpPr txBox="1">
              <a:spLocks noChangeArrowheads="1"/>
            </p:cNvSpPr>
            <p:nvPr/>
          </p:nvSpPr>
          <p:spPr bwMode="auto">
            <a:xfrm>
              <a:off x="4829" y="694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主存储体</a:t>
              </a:r>
            </a:p>
          </p:txBody>
        </p:sp>
        <p:sp>
          <p:nvSpPr>
            <p:cNvPr id="201775" name="Rectangle 32"/>
            <p:cNvSpPr>
              <a:spLocks noChangeArrowheads="1"/>
            </p:cNvSpPr>
            <p:nvPr/>
          </p:nvSpPr>
          <p:spPr bwMode="auto">
            <a:xfrm>
              <a:off x="3230" y="1296"/>
              <a:ext cx="842" cy="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    字块 1</a:t>
              </a:r>
              <a:endParaRPr lang="zh-CN" altLang="en-US" sz="2000" b="0">
                <a:latin typeface="Times New Roman" panose="02020603050405020304" pitchFamily="18" charset="0"/>
              </a:endParaRPr>
            </a:p>
          </p:txBody>
        </p:sp>
        <p:sp>
          <p:nvSpPr>
            <p:cNvPr id="201776" name="Rectangle 33"/>
            <p:cNvSpPr>
              <a:spLocks noChangeArrowheads="1"/>
            </p:cNvSpPr>
            <p:nvPr/>
          </p:nvSpPr>
          <p:spPr bwMode="auto">
            <a:xfrm>
              <a:off x="2762" y="1296"/>
              <a:ext cx="468" cy="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900">
                  <a:latin typeface="Times New Roman" panose="02020603050405020304" pitchFamily="18" charset="0"/>
                </a:rPr>
                <a:t> </a:t>
              </a:r>
              <a:r>
                <a:rPr lang="zh-CN" altLang="en-US" sz="2000">
                  <a:latin typeface="Times New Roman" panose="02020603050405020304" pitchFamily="18" charset="0"/>
                </a:rPr>
                <a:t>标记</a:t>
              </a:r>
            </a:p>
          </p:txBody>
        </p:sp>
        <p:sp>
          <p:nvSpPr>
            <p:cNvPr id="201777" name="Rectangle 34"/>
            <p:cNvSpPr>
              <a:spLocks noChangeArrowheads="1"/>
            </p:cNvSpPr>
            <p:nvPr/>
          </p:nvSpPr>
          <p:spPr bwMode="auto">
            <a:xfrm>
              <a:off x="3230" y="1078"/>
              <a:ext cx="842" cy="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    字块 0</a:t>
              </a:r>
            </a:p>
          </p:txBody>
        </p:sp>
        <p:sp>
          <p:nvSpPr>
            <p:cNvPr id="201778" name="Rectangle 35"/>
            <p:cNvSpPr>
              <a:spLocks noChangeArrowheads="1"/>
            </p:cNvSpPr>
            <p:nvPr/>
          </p:nvSpPr>
          <p:spPr bwMode="auto">
            <a:xfrm>
              <a:off x="2762" y="1078"/>
              <a:ext cx="468" cy="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900">
                  <a:latin typeface="Times New Roman" panose="02020603050405020304" pitchFamily="18" charset="0"/>
                </a:rPr>
                <a:t> </a:t>
              </a:r>
              <a:r>
                <a:rPr lang="zh-CN" altLang="en-US" sz="2000">
                  <a:latin typeface="Times New Roman" panose="02020603050405020304" pitchFamily="18" charset="0"/>
                </a:rPr>
                <a:t>标记</a:t>
              </a:r>
            </a:p>
          </p:txBody>
        </p:sp>
        <p:sp>
          <p:nvSpPr>
            <p:cNvPr id="201779" name="Line 36"/>
            <p:cNvSpPr>
              <a:spLocks noChangeShapeType="1"/>
            </p:cNvSpPr>
            <p:nvPr/>
          </p:nvSpPr>
          <p:spPr bwMode="auto">
            <a:xfrm>
              <a:off x="2762" y="1091"/>
              <a:ext cx="1310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780" name="Line 37"/>
            <p:cNvSpPr>
              <a:spLocks noChangeShapeType="1"/>
            </p:cNvSpPr>
            <p:nvPr/>
          </p:nvSpPr>
          <p:spPr bwMode="auto">
            <a:xfrm>
              <a:off x="2762" y="1309"/>
              <a:ext cx="131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781" name="Line 38"/>
            <p:cNvSpPr>
              <a:spLocks noChangeShapeType="1"/>
            </p:cNvSpPr>
            <p:nvPr/>
          </p:nvSpPr>
          <p:spPr bwMode="auto">
            <a:xfrm>
              <a:off x="2762" y="1527"/>
              <a:ext cx="1310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782" name="Line 39"/>
            <p:cNvSpPr>
              <a:spLocks noChangeShapeType="1"/>
            </p:cNvSpPr>
            <p:nvPr/>
          </p:nvSpPr>
          <p:spPr bwMode="auto">
            <a:xfrm>
              <a:off x="2762" y="1091"/>
              <a:ext cx="0" cy="436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783" name="Line 40"/>
            <p:cNvSpPr>
              <a:spLocks noChangeShapeType="1"/>
            </p:cNvSpPr>
            <p:nvPr/>
          </p:nvSpPr>
          <p:spPr bwMode="auto">
            <a:xfrm>
              <a:off x="3230" y="1091"/>
              <a:ext cx="0" cy="43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784" name="Line 41"/>
            <p:cNvSpPr>
              <a:spLocks noChangeShapeType="1"/>
            </p:cNvSpPr>
            <p:nvPr/>
          </p:nvSpPr>
          <p:spPr bwMode="auto">
            <a:xfrm>
              <a:off x="4072" y="1091"/>
              <a:ext cx="0" cy="436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785" name="Rectangle 42"/>
            <p:cNvSpPr>
              <a:spLocks noChangeArrowheads="1"/>
            </p:cNvSpPr>
            <p:nvPr/>
          </p:nvSpPr>
          <p:spPr bwMode="auto">
            <a:xfrm>
              <a:off x="3227" y="1922"/>
              <a:ext cx="845" cy="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字块 2</a:t>
              </a:r>
              <a:r>
                <a:rPr lang="en-US" altLang="zh-CN" sz="2000" i="1" baseline="30000">
                  <a:latin typeface="Times New Roman" panose="02020603050405020304" pitchFamily="18" charset="0"/>
                </a:rPr>
                <a:t>c</a:t>
              </a:r>
              <a:r>
                <a:rPr lang="en-US" altLang="zh-CN" sz="2000">
                  <a:latin typeface="Times New Roman" panose="02020603050405020304" pitchFamily="18" charset="0"/>
                </a:rPr>
                <a:t>－1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01786" name="Rectangle 43"/>
            <p:cNvSpPr>
              <a:spLocks noChangeArrowheads="1"/>
            </p:cNvSpPr>
            <p:nvPr/>
          </p:nvSpPr>
          <p:spPr bwMode="auto">
            <a:xfrm>
              <a:off x="2762" y="1894"/>
              <a:ext cx="465" cy="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标记</a:t>
              </a:r>
            </a:p>
          </p:txBody>
        </p:sp>
        <p:sp>
          <p:nvSpPr>
            <p:cNvPr id="201787" name="Line 44"/>
            <p:cNvSpPr>
              <a:spLocks noChangeShapeType="1"/>
            </p:cNvSpPr>
            <p:nvPr/>
          </p:nvSpPr>
          <p:spPr bwMode="auto">
            <a:xfrm>
              <a:off x="2762" y="1930"/>
              <a:ext cx="1310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788" name="Line 45"/>
            <p:cNvSpPr>
              <a:spLocks noChangeShapeType="1"/>
            </p:cNvSpPr>
            <p:nvPr/>
          </p:nvSpPr>
          <p:spPr bwMode="auto">
            <a:xfrm>
              <a:off x="2762" y="2148"/>
              <a:ext cx="1310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789" name="Line 46"/>
            <p:cNvSpPr>
              <a:spLocks noChangeShapeType="1"/>
            </p:cNvSpPr>
            <p:nvPr/>
          </p:nvSpPr>
          <p:spPr bwMode="auto">
            <a:xfrm>
              <a:off x="2762" y="1930"/>
              <a:ext cx="0" cy="21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790" name="Line 47"/>
            <p:cNvSpPr>
              <a:spLocks noChangeShapeType="1"/>
            </p:cNvSpPr>
            <p:nvPr/>
          </p:nvSpPr>
          <p:spPr bwMode="auto">
            <a:xfrm>
              <a:off x="4072" y="1930"/>
              <a:ext cx="0" cy="21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791" name="Line 48"/>
            <p:cNvSpPr>
              <a:spLocks noChangeShapeType="1"/>
            </p:cNvSpPr>
            <p:nvPr/>
          </p:nvSpPr>
          <p:spPr bwMode="auto">
            <a:xfrm>
              <a:off x="3227" y="1930"/>
              <a:ext cx="0" cy="21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792" name="Text Box 49"/>
            <p:cNvSpPr txBox="1">
              <a:spLocks noChangeArrowheads="1"/>
            </p:cNvSpPr>
            <p:nvPr/>
          </p:nvSpPr>
          <p:spPr bwMode="auto">
            <a:xfrm>
              <a:off x="3043" y="672"/>
              <a:ext cx="111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Cache</a:t>
              </a:r>
              <a:r>
                <a:rPr lang="zh-CN" altLang="en-US" sz="2000">
                  <a:latin typeface="Times New Roman" panose="02020603050405020304" pitchFamily="18" charset="0"/>
                </a:rPr>
                <a:t>存储体</a:t>
              </a:r>
            </a:p>
          </p:txBody>
        </p:sp>
        <p:sp>
          <p:nvSpPr>
            <p:cNvPr id="201793" name="AutoShape 50"/>
            <p:cNvSpPr/>
            <p:nvPr/>
          </p:nvSpPr>
          <p:spPr bwMode="auto">
            <a:xfrm rot="-5400000">
              <a:off x="2954" y="774"/>
              <a:ext cx="84" cy="468"/>
            </a:xfrm>
            <a:prstGeom prst="rightBrace">
              <a:avLst>
                <a:gd name="adj1" fmla="val 46429"/>
                <a:gd name="adj2" fmla="val 50000"/>
              </a:avLst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1794" name="Text Box 51"/>
            <p:cNvSpPr txBox="1">
              <a:spLocks noChangeArrowheads="1"/>
            </p:cNvSpPr>
            <p:nvPr/>
          </p:nvSpPr>
          <p:spPr bwMode="auto">
            <a:xfrm>
              <a:off x="2711" y="672"/>
              <a:ext cx="33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 i="1">
                  <a:latin typeface="Times New Roman" panose="02020603050405020304" pitchFamily="18" charset="0"/>
                </a:rPr>
                <a:t>t</a:t>
              </a:r>
              <a:r>
                <a:rPr lang="zh-CN" altLang="en-US" sz="2000">
                  <a:latin typeface="Times New Roman" panose="02020603050405020304" pitchFamily="18" charset="0"/>
                </a:rPr>
                <a:t>位</a:t>
              </a:r>
            </a:p>
          </p:txBody>
        </p:sp>
        <p:sp>
          <p:nvSpPr>
            <p:cNvPr id="201795" name="Text Box 52"/>
            <p:cNvSpPr txBox="1">
              <a:spLocks noChangeArrowheads="1"/>
            </p:cNvSpPr>
            <p:nvPr/>
          </p:nvSpPr>
          <p:spPr bwMode="auto">
            <a:xfrm>
              <a:off x="2556" y="1072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201796" name="Text Box 53"/>
            <p:cNvSpPr txBox="1">
              <a:spLocks noChangeArrowheads="1"/>
            </p:cNvSpPr>
            <p:nvPr/>
          </p:nvSpPr>
          <p:spPr bwMode="auto">
            <a:xfrm>
              <a:off x="2556" y="1301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201797" name="Text Box 54"/>
            <p:cNvSpPr txBox="1">
              <a:spLocks noChangeArrowheads="1"/>
            </p:cNvSpPr>
            <p:nvPr/>
          </p:nvSpPr>
          <p:spPr bwMode="auto">
            <a:xfrm>
              <a:off x="2219" y="1872"/>
              <a:ext cx="59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 i="1">
                  <a:latin typeface="Times New Roman" panose="02020603050405020304" pitchFamily="18" charset="0"/>
                </a:rPr>
                <a:t>2</a:t>
              </a:r>
              <a:r>
                <a:rPr lang="en-US" altLang="zh-CN" sz="2400" i="1" baseline="30000">
                  <a:latin typeface="Times New Roman" panose="02020603050405020304" pitchFamily="18" charset="0"/>
                </a:rPr>
                <a:t>c</a:t>
              </a:r>
              <a:r>
                <a:rPr lang="en-US" altLang="zh-CN" sz="2400">
                  <a:latin typeface="Times New Roman" panose="02020603050405020304" pitchFamily="18" charset="0"/>
                </a:rPr>
                <a:t>－1</a:t>
              </a:r>
            </a:p>
          </p:txBody>
        </p:sp>
        <p:sp>
          <p:nvSpPr>
            <p:cNvPr id="201798" name="Line 55"/>
            <p:cNvSpPr>
              <a:spLocks noChangeShapeType="1"/>
            </p:cNvSpPr>
            <p:nvPr/>
          </p:nvSpPr>
          <p:spPr bwMode="auto">
            <a:xfrm>
              <a:off x="3230" y="1511"/>
              <a:ext cx="0" cy="41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799" name="Line 56"/>
            <p:cNvSpPr>
              <a:spLocks noChangeShapeType="1"/>
            </p:cNvSpPr>
            <p:nvPr/>
          </p:nvSpPr>
          <p:spPr bwMode="auto">
            <a:xfrm>
              <a:off x="4072" y="1511"/>
              <a:ext cx="0" cy="41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800" name="Text Box 57"/>
            <p:cNvSpPr txBox="1">
              <a:spLocks noChangeArrowheads="1"/>
            </p:cNvSpPr>
            <p:nvPr/>
          </p:nvSpPr>
          <p:spPr bwMode="auto">
            <a:xfrm>
              <a:off x="3513" y="1595"/>
              <a:ext cx="423" cy="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32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201801" name="Rectangle 58"/>
            <p:cNvSpPr>
              <a:spLocks noChangeArrowheads="1"/>
            </p:cNvSpPr>
            <p:nvPr/>
          </p:nvSpPr>
          <p:spPr bwMode="auto">
            <a:xfrm>
              <a:off x="3745" y="2561"/>
              <a:ext cx="608" cy="4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  字块</a:t>
              </a:r>
            </a:p>
          </p:txBody>
        </p:sp>
        <p:sp>
          <p:nvSpPr>
            <p:cNvPr id="201802" name="Rectangle 59"/>
            <p:cNvSpPr>
              <a:spLocks noChangeArrowheads="1"/>
            </p:cNvSpPr>
            <p:nvPr/>
          </p:nvSpPr>
          <p:spPr bwMode="auto">
            <a:xfrm>
              <a:off x="2976" y="2736"/>
              <a:ext cx="844" cy="2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字块地址</a:t>
              </a:r>
            </a:p>
          </p:txBody>
        </p:sp>
        <p:sp>
          <p:nvSpPr>
            <p:cNvPr id="201803" name="Rectangle 60"/>
            <p:cNvSpPr>
              <a:spLocks noChangeArrowheads="1"/>
            </p:cNvSpPr>
            <p:nvPr/>
          </p:nvSpPr>
          <p:spPr bwMode="auto">
            <a:xfrm>
              <a:off x="2248" y="2561"/>
              <a:ext cx="1448" cy="4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  主存字 </a:t>
              </a:r>
            </a:p>
            <a:p>
              <a:pPr eaLnBrk="1" hangingPunct="1">
                <a:spcBef>
                  <a:spcPct val="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  块标记</a:t>
              </a:r>
            </a:p>
          </p:txBody>
        </p:sp>
        <p:sp>
          <p:nvSpPr>
            <p:cNvPr id="201804" name="Line 61"/>
            <p:cNvSpPr>
              <a:spLocks noChangeShapeType="1"/>
            </p:cNvSpPr>
            <p:nvPr/>
          </p:nvSpPr>
          <p:spPr bwMode="auto">
            <a:xfrm>
              <a:off x="2248" y="2561"/>
              <a:ext cx="2105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805" name="Line 62"/>
            <p:cNvSpPr>
              <a:spLocks noChangeShapeType="1"/>
            </p:cNvSpPr>
            <p:nvPr/>
          </p:nvSpPr>
          <p:spPr bwMode="auto">
            <a:xfrm>
              <a:off x="2248" y="2979"/>
              <a:ext cx="2105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806" name="Line 63"/>
            <p:cNvSpPr>
              <a:spLocks noChangeShapeType="1"/>
            </p:cNvSpPr>
            <p:nvPr/>
          </p:nvSpPr>
          <p:spPr bwMode="auto">
            <a:xfrm>
              <a:off x="2248" y="2561"/>
              <a:ext cx="0" cy="41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807" name="Line 64"/>
            <p:cNvSpPr>
              <a:spLocks noChangeShapeType="1"/>
            </p:cNvSpPr>
            <p:nvPr/>
          </p:nvSpPr>
          <p:spPr bwMode="auto">
            <a:xfrm>
              <a:off x="2996" y="2561"/>
              <a:ext cx="0" cy="41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808" name="Line 65"/>
            <p:cNvSpPr>
              <a:spLocks noChangeShapeType="1"/>
            </p:cNvSpPr>
            <p:nvPr/>
          </p:nvSpPr>
          <p:spPr bwMode="auto">
            <a:xfrm>
              <a:off x="3745" y="2561"/>
              <a:ext cx="0" cy="41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809" name="Line 66"/>
            <p:cNvSpPr>
              <a:spLocks noChangeShapeType="1"/>
            </p:cNvSpPr>
            <p:nvPr/>
          </p:nvSpPr>
          <p:spPr bwMode="auto">
            <a:xfrm>
              <a:off x="4353" y="2561"/>
              <a:ext cx="0" cy="41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810" name="Text Box 67"/>
            <p:cNvSpPr txBox="1">
              <a:spLocks noChangeArrowheads="1"/>
            </p:cNvSpPr>
            <p:nvPr/>
          </p:nvSpPr>
          <p:spPr bwMode="auto">
            <a:xfrm>
              <a:off x="2488" y="3014"/>
              <a:ext cx="36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 i="1">
                  <a:latin typeface="Times New Roman" panose="02020603050405020304" pitchFamily="18" charset="0"/>
                </a:rPr>
                <a:t>t</a:t>
              </a:r>
              <a:r>
                <a:rPr lang="en-US" altLang="zh-CN" sz="2000">
                  <a:latin typeface="Times New Roman" panose="02020603050405020304" pitchFamily="18" charset="0"/>
                </a:rPr>
                <a:t> </a:t>
              </a:r>
              <a:r>
                <a:rPr lang="zh-CN" altLang="en-US" sz="2000">
                  <a:latin typeface="Times New Roman" panose="02020603050405020304" pitchFamily="18" charset="0"/>
                </a:rPr>
                <a:t>位</a:t>
              </a:r>
            </a:p>
          </p:txBody>
        </p:sp>
        <p:sp>
          <p:nvSpPr>
            <p:cNvPr id="201811" name="Text Box 68"/>
            <p:cNvSpPr txBox="1">
              <a:spLocks noChangeArrowheads="1"/>
            </p:cNvSpPr>
            <p:nvPr/>
          </p:nvSpPr>
          <p:spPr bwMode="auto">
            <a:xfrm>
              <a:off x="3252" y="2987"/>
              <a:ext cx="39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 i="1">
                  <a:latin typeface="Times New Roman" panose="02020603050405020304" pitchFamily="18" charset="0"/>
                </a:rPr>
                <a:t>c</a:t>
              </a:r>
              <a:r>
                <a:rPr lang="en-US" altLang="zh-CN" sz="2400">
                  <a:latin typeface="Times New Roman" panose="02020603050405020304" pitchFamily="18" charset="0"/>
                </a:rPr>
                <a:t> </a:t>
              </a:r>
              <a:r>
                <a:rPr lang="zh-CN" altLang="en-US" sz="2000">
                  <a:latin typeface="Times New Roman" panose="02020603050405020304" pitchFamily="18" charset="0"/>
                </a:rPr>
                <a:t>位</a:t>
              </a:r>
            </a:p>
          </p:txBody>
        </p:sp>
        <p:sp>
          <p:nvSpPr>
            <p:cNvPr id="201812" name="Text Box 69"/>
            <p:cNvSpPr txBox="1">
              <a:spLocks noChangeArrowheads="1"/>
            </p:cNvSpPr>
            <p:nvPr/>
          </p:nvSpPr>
          <p:spPr bwMode="auto">
            <a:xfrm>
              <a:off x="3885" y="2987"/>
              <a:ext cx="40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 i="1">
                  <a:latin typeface="Times New Roman" panose="02020603050405020304" pitchFamily="18" charset="0"/>
                </a:rPr>
                <a:t>b</a:t>
              </a:r>
              <a:r>
                <a:rPr lang="en-US" altLang="zh-CN" sz="2400">
                  <a:latin typeface="Times New Roman" panose="02020603050405020304" pitchFamily="18" charset="0"/>
                </a:rPr>
                <a:t> </a:t>
              </a:r>
              <a:r>
                <a:rPr lang="zh-CN" altLang="en-US" sz="2000">
                  <a:latin typeface="Times New Roman" panose="02020603050405020304" pitchFamily="18" charset="0"/>
                </a:rPr>
                <a:t>位</a:t>
              </a:r>
            </a:p>
          </p:txBody>
        </p:sp>
        <p:sp>
          <p:nvSpPr>
            <p:cNvPr id="201813" name="Text Box 70"/>
            <p:cNvSpPr txBox="1">
              <a:spLocks noChangeArrowheads="1"/>
            </p:cNvSpPr>
            <p:nvPr/>
          </p:nvSpPr>
          <p:spPr bwMode="auto">
            <a:xfrm>
              <a:off x="1499" y="2642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主存地址</a:t>
              </a:r>
            </a:p>
          </p:txBody>
        </p:sp>
        <p:sp>
          <p:nvSpPr>
            <p:cNvPr id="201814" name="AutoShape 71"/>
            <p:cNvSpPr/>
            <p:nvPr/>
          </p:nvSpPr>
          <p:spPr bwMode="auto">
            <a:xfrm rot="-5400000">
              <a:off x="2559" y="2123"/>
              <a:ext cx="126" cy="748"/>
            </a:xfrm>
            <a:prstGeom prst="rightBrace">
              <a:avLst>
                <a:gd name="adj1" fmla="val 49471"/>
                <a:gd name="adj2" fmla="val 50000"/>
              </a:avLst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1815" name="AutoShape 72"/>
            <p:cNvSpPr/>
            <p:nvPr/>
          </p:nvSpPr>
          <p:spPr bwMode="auto">
            <a:xfrm rot="-5400000">
              <a:off x="3308" y="2122"/>
              <a:ext cx="126" cy="749"/>
            </a:xfrm>
            <a:prstGeom prst="rightBrace">
              <a:avLst>
                <a:gd name="adj1" fmla="val 49537"/>
                <a:gd name="adj2" fmla="val 50000"/>
              </a:avLst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1816" name="Rectangle 73"/>
            <p:cNvSpPr>
              <a:spLocks noChangeArrowheads="1"/>
            </p:cNvSpPr>
            <p:nvPr/>
          </p:nvSpPr>
          <p:spPr bwMode="auto">
            <a:xfrm>
              <a:off x="423" y="1964"/>
              <a:ext cx="1170" cy="503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1817" name="Text Box 74"/>
            <p:cNvSpPr txBox="1">
              <a:spLocks noChangeArrowheads="1"/>
            </p:cNvSpPr>
            <p:nvPr/>
          </p:nvSpPr>
          <p:spPr bwMode="auto">
            <a:xfrm>
              <a:off x="470" y="1972"/>
              <a:ext cx="116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 比较器（</a:t>
              </a:r>
              <a:r>
                <a:rPr lang="en-US" altLang="zh-CN" sz="2000" i="1">
                  <a:latin typeface="Times New Roman" panose="02020603050405020304" pitchFamily="18" charset="0"/>
                </a:rPr>
                <a:t>t</a:t>
              </a:r>
              <a:r>
                <a:rPr lang="zh-CN" altLang="en-US" sz="2000">
                  <a:latin typeface="Times New Roman" panose="02020603050405020304" pitchFamily="18" charset="0"/>
                </a:rPr>
                <a:t>位）</a:t>
              </a:r>
            </a:p>
          </p:txBody>
        </p:sp>
        <p:sp>
          <p:nvSpPr>
            <p:cNvPr id="201818" name="Text Box 75"/>
            <p:cNvSpPr txBox="1">
              <a:spLocks noChangeArrowheads="1"/>
            </p:cNvSpPr>
            <p:nvPr/>
          </p:nvSpPr>
          <p:spPr bwMode="auto">
            <a:xfrm>
              <a:off x="517" y="2215"/>
              <a:ext cx="22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=</a:t>
              </a:r>
            </a:p>
          </p:txBody>
        </p:sp>
        <p:sp>
          <p:nvSpPr>
            <p:cNvPr id="201819" name="Text Box 76"/>
            <p:cNvSpPr txBox="1">
              <a:spLocks noChangeArrowheads="1"/>
            </p:cNvSpPr>
            <p:nvPr/>
          </p:nvSpPr>
          <p:spPr bwMode="auto">
            <a:xfrm>
              <a:off x="1190" y="2225"/>
              <a:ext cx="31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 ≠</a:t>
              </a:r>
            </a:p>
          </p:txBody>
        </p:sp>
        <p:sp>
          <p:nvSpPr>
            <p:cNvPr id="201820" name="Line 77"/>
            <p:cNvSpPr>
              <a:spLocks noChangeShapeType="1"/>
            </p:cNvSpPr>
            <p:nvPr/>
          </p:nvSpPr>
          <p:spPr bwMode="auto">
            <a:xfrm>
              <a:off x="1359" y="2467"/>
              <a:ext cx="0" cy="76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821" name="Text Box 78"/>
            <p:cNvSpPr txBox="1">
              <a:spLocks noChangeArrowheads="1"/>
            </p:cNvSpPr>
            <p:nvPr/>
          </p:nvSpPr>
          <p:spPr bwMode="auto">
            <a:xfrm>
              <a:off x="985" y="3264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不命中</a:t>
              </a:r>
            </a:p>
          </p:txBody>
        </p:sp>
        <p:sp>
          <p:nvSpPr>
            <p:cNvPr id="201822" name="Text Box 79"/>
            <p:cNvSpPr txBox="1">
              <a:spLocks noChangeArrowheads="1"/>
            </p:cNvSpPr>
            <p:nvPr/>
          </p:nvSpPr>
          <p:spPr bwMode="auto">
            <a:xfrm>
              <a:off x="180" y="2784"/>
              <a:ext cx="93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有效位=1？</a:t>
              </a:r>
            </a:p>
          </p:txBody>
        </p:sp>
        <p:sp>
          <p:nvSpPr>
            <p:cNvPr id="201823" name="AutoShape 80"/>
            <p:cNvSpPr>
              <a:spLocks noChangeArrowheads="1"/>
            </p:cNvSpPr>
            <p:nvPr/>
          </p:nvSpPr>
          <p:spPr bwMode="auto">
            <a:xfrm>
              <a:off x="96" y="2677"/>
              <a:ext cx="1029" cy="461"/>
            </a:xfrm>
            <a:prstGeom prst="diamond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1824" name="Freeform 81"/>
            <p:cNvSpPr/>
            <p:nvPr/>
          </p:nvSpPr>
          <p:spPr bwMode="auto">
            <a:xfrm>
              <a:off x="1122" y="2908"/>
              <a:ext cx="231" cy="0"/>
            </a:xfrm>
            <a:custGeom>
              <a:avLst/>
              <a:gdLst>
                <a:gd name="T0" fmla="*/ 0 w 237"/>
                <a:gd name="T1" fmla="*/ 0 h 1"/>
                <a:gd name="T2" fmla="*/ 165 w 237"/>
                <a:gd name="T3" fmla="*/ 0 h 1"/>
                <a:gd name="T4" fmla="*/ 0 60000 65536"/>
                <a:gd name="T5" fmla="*/ 0 60000 65536"/>
                <a:gd name="T6" fmla="*/ 0 w 237"/>
                <a:gd name="T7" fmla="*/ 0 h 1"/>
                <a:gd name="T8" fmla="*/ 237 w 237"/>
                <a:gd name="T9" fmla="*/ 0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37" h="1">
                  <a:moveTo>
                    <a:pt x="0" y="0"/>
                  </a:moveTo>
                  <a:lnTo>
                    <a:pt x="237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none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825" name="Line 82"/>
            <p:cNvSpPr>
              <a:spLocks noChangeShapeType="1"/>
            </p:cNvSpPr>
            <p:nvPr/>
          </p:nvSpPr>
          <p:spPr bwMode="auto">
            <a:xfrm>
              <a:off x="611" y="2467"/>
              <a:ext cx="0" cy="21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826" name="AutoShape 83"/>
            <p:cNvSpPr/>
            <p:nvPr/>
          </p:nvSpPr>
          <p:spPr bwMode="auto">
            <a:xfrm rot="5400000">
              <a:off x="2954" y="1341"/>
              <a:ext cx="84" cy="468"/>
            </a:xfrm>
            <a:prstGeom prst="rightBrace">
              <a:avLst>
                <a:gd name="adj1" fmla="val 46429"/>
                <a:gd name="adj2" fmla="val 50000"/>
              </a:avLst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1827" name="Freeform 84"/>
            <p:cNvSpPr/>
            <p:nvPr/>
          </p:nvSpPr>
          <p:spPr bwMode="auto">
            <a:xfrm>
              <a:off x="704" y="1595"/>
              <a:ext cx="2292" cy="377"/>
            </a:xfrm>
            <a:custGeom>
              <a:avLst/>
              <a:gdLst>
                <a:gd name="T0" fmla="*/ 1638 w 2352"/>
                <a:gd name="T1" fmla="*/ 0 h 432"/>
                <a:gd name="T2" fmla="*/ 1638 w 2352"/>
                <a:gd name="T3" fmla="*/ 22 h 432"/>
                <a:gd name="T4" fmla="*/ 0 w 2352"/>
                <a:gd name="T5" fmla="*/ 22 h 432"/>
                <a:gd name="T6" fmla="*/ 0 w 2352"/>
                <a:gd name="T7" fmla="*/ 65 h 43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352"/>
                <a:gd name="T13" fmla="*/ 0 h 432"/>
                <a:gd name="T14" fmla="*/ 2352 w 2352"/>
                <a:gd name="T15" fmla="*/ 432 h 43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352" h="432">
                  <a:moveTo>
                    <a:pt x="2352" y="0"/>
                  </a:moveTo>
                  <a:lnTo>
                    <a:pt x="2352" y="144"/>
                  </a:lnTo>
                  <a:lnTo>
                    <a:pt x="0" y="144"/>
                  </a:lnTo>
                  <a:lnTo>
                    <a:pt x="0" y="43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828" name="Freeform 85"/>
            <p:cNvSpPr/>
            <p:nvPr/>
          </p:nvSpPr>
          <p:spPr bwMode="auto">
            <a:xfrm>
              <a:off x="1306" y="1820"/>
              <a:ext cx="1316" cy="614"/>
            </a:xfrm>
            <a:custGeom>
              <a:avLst/>
              <a:gdLst>
                <a:gd name="T0" fmla="*/ 0 w 1350"/>
                <a:gd name="T1" fmla="*/ 24 h 702"/>
                <a:gd name="T2" fmla="*/ 0 w 1350"/>
                <a:gd name="T3" fmla="*/ 0 h 702"/>
                <a:gd name="T4" fmla="*/ 338 w 1350"/>
                <a:gd name="T5" fmla="*/ 0 h 702"/>
                <a:gd name="T6" fmla="*/ 340 w 1350"/>
                <a:gd name="T7" fmla="*/ 93 h 702"/>
                <a:gd name="T8" fmla="*/ 945 w 1350"/>
                <a:gd name="T9" fmla="*/ 93 h 702"/>
                <a:gd name="T10" fmla="*/ 945 w 1350"/>
                <a:gd name="T11" fmla="*/ 108 h 7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50"/>
                <a:gd name="T19" fmla="*/ 0 h 702"/>
                <a:gd name="T20" fmla="*/ 1350 w 1350"/>
                <a:gd name="T21" fmla="*/ 702 h 70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50" h="702">
                  <a:moveTo>
                    <a:pt x="0" y="159"/>
                  </a:moveTo>
                  <a:lnTo>
                    <a:pt x="0" y="0"/>
                  </a:lnTo>
                  <a:lnTo>
                    <a:pt x="483" y="0"/>
                  </a:lnTo>
                  <a:lnTo>
                    <a:pt x="486" y="606"/>
                  </a:lnTo>
                  <a:lnTo>
                    <a:pt x="1350" y="606"/>
                  </a:lnTo>
                  <a:lnTo>
                    <a:pt x="1350" y="70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829" name="Freeform 86"/>
            <p:cNvSpPr/>
            <p:nvPr/>
          </p:nvSpPr>
          <p:spPr bwMode="auto">
            <a:xfrm>
              <a:off x="1967" y="1427"/>
              <a:ext cx="1404" cy="1007"/>
            </a:xfrm>
            <a:custGeom>
              <a:avLst/>
              <a:gdLst>
                <a:gd name="T0" fmla="*/ 438 w 1440"/>
                <a:gd name="T1" fmla="*/ 0 h 1152"/>
                <a:gd name="T2" fmla="*/ 0 w 1440"/>
                <a:gd name="T3" fmla="*/ 0 h 1152"/>
                <a:gd name="T4" fmla="*/ 0 w 1440"/>
                <a:gd name="T5" fmla="*/ 146 h 1152"/>
                <a:gd name="T6" fmla="*/ 1010 w 1440"/>
                <a:gd name="T7" fmla="*/ 146 h 1152"/>
                <a:gd name="T8" fmla="*/ 1010 w 1440"/>
                <a:gd name="T9" fmla="*/ 175 h 1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0"/>
                <a:gd name="T16" fmla="*/ 0 h 1152"/>
                <a:gd name="T17" fmla="*/ 1440 w 1440"/>
                <a:gd name="T18" fmla="*/ 1152 h 1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0" h="1152">
                  <a:moveTo>
                    <a:pt x="624" y="0"/>
                  </a:moveTo>
                  <a:lnTo>
                    <a:pt x="0" y="0"/>
                  </a:lnTo>
                  <a:lnTo>
                    <a:pt x="0" y="960"/>
                  </a:lnTo>
                  <a:lnTo>
                    <a:pt x="1440" y="960"/>
                  </a:lnTo>
                  <a:lnTo>
                    <a:pt x="1440" y="115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830" name="Text Box 87"/>
            <p:cNvSpPr txBox="1">
              <a:spLocks noChangeArrowheads="1"/>
            </p:cNvSpPr>
            <p:nvPr/>
          </p:nvSpPr>
          <p:spPr bwMode="auto">
            <a:xfrm>
              <a:off x="2306" y="1216"/>
              <a:ext cx="22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*</a:t>
              </a:r>
            </a:p>
          </p:txBody>
        </p:sp>
        <p:sp>
          <p:nvSpPr>
            <p:cNvPr id="201831" name="AutoShape 88"/>
            <p:cNvSpPr/>
            <p:nvPr/>
          </p:nvSpPr>
          <p:spPr bwMode="auto">
            <a:xfrm rot="5400000">
              <a:off x="2913" y="2482"/>
              <a:ext cx="168" cy="1497"/>
            </a:xfrm>
            <a:prstGeom prst="rightBrace">
              <a:avLst>
                <a:gd name="adj1" fmla="val 74256"/>
                <a:gd name="adj2" fmla="val 50000"/>
              </a:avLst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1832" name="Text Box 89"/>
            <p:cNvSpPr txBox="1">
              <a:spLocks noChangeArrowheads="1"/>
            </p:cNvSpPr>
            <p:nvPr/>
          </p:nvSpPr>
          <p:spPr bwMode="auto">
            <a:xfrm>
              <a:off x="2856" y="3306"/>
              <a:ext cx="40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 i="1">
                  <a:latin typeface="Times New Roman" panose="02020603050405020304" pitchFamily="18" charset="0"/>
                </a:rPr>
                <a:t>m</a:t>
              </a:r>
              <a:r>
                <a:rPr lang="zh-CN" altLang="en-US" sz="2000">
                  <a:latin typeface="Times New Roman" panose="02020603050405020304" pitchFamily="18" charset="0"/>
                </a:rPr>
                <a:t>位</a:t>
              </a:r>
            </a:p>
          </p:txBody>
        </p:sp>
        <p:sp>
          <p:nvSpPr>
            <p:cNvPr id="201833" name="Line 90"/>
            <p:cNvSpPr>
              <a:spLocks noChangeShapeType="1"/>
            </p:cNvSpPr>
            <p:nvPr/>
          </p:nvSpPr>
          <p:spPr bwMode="auto">
            <a:xfrm>
              <a:off x="4072" y="2056"/>
              <a:ext cx="655" cy="109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834" name="Line 91"/>
            <p:cNvSpPr>
              <a:spLocks noChangeShapeType="1"/>
            </p:cNvSpPr>
            <p:nvPr/>
          </p:nvSpPr>
          <p:spPr bwMode="auto">
            <a:xfrm flipV="1">
              <a:off x="4072" y="1050"/>
              <a:ext cx="655" cy="12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835" name="Line 92"/>
            <p:cNvSpPr>
              <a:spLocks noChangeShapeType="1"/>
            </p:cNvSpPr>
            <p:nvPr/>
          </p:nvSpPr>
          <p:spPr bwMode="auto">
            <a:xfrm flipV="1">
              <a:off x="4072" y="1301"/>
              <a:ext cx="655" cy="12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836" name="Line 93"/>
            <p:cNvSpPr>
              <a:spLocks noChangeShapeType="1"/>
            </p:cNvSpPr>
            <p:nvPr/>
          </p:nvSpPr>
          <p:spPr bwMode="auto">
            <a:xfrm>
              <a:off x="4072" y="1175"/>
              <a:ext cx="655" cy="75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837" name="Line 94"/>
            <p:cNvSpPr>
              <a:spLocks noChangeShapeType="1"/>
            </p:cNvSpPr>
            <p:nvPr/>
          </p:nvSpPr>
          <p:spPr bwMode="auto">
            <a:xfrm>
              <a:off x="4072" y="1427"/>
              <a:ext cx="655" cy="75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838" name="Line 95"/>
            <p:cNvSpPr>
              <a:spLocks noChangeShapeType="1"/>
            </p:cNvSpPr>
            <p:nvPr/>
          </p:nvSpPr>
          <p:spPr bwMode="auto">
            <a:xfrm>
              <a:off x="4072" y="1175"/>
              <a:ext cx="655" cy="159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839" name="Line 96"/>
            <p:cNvSpPr>
              <a:spLocks noChangeShapeType="1"/>
            </p:cNvSpPr>
            <p:nvPr/>
          </p:nvSpPr>
          <p:spPr bwMode="auto">
            <a:xfrm flipV="1">
              <a:off x="4072" y="1679"/>
              <a:ext cx="655" cy="37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840" name="Line 97"/>
            <p:cNvSpPr>
              <a:spLocks noChangeShapeType="1"/>
            </p:cNvSpPr>
            <p:nvPr/>
          </p:nvSpPr>
          <p:spPr bwMode="auto">
            <a:xfrm>
              <a:off x="4072" y="2056"/>
              <a:ext cx="655" cy="54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841" name="Text Box 98"/>
            <p:cNvSpPr txBox="1">
              <a:spLocks noChangeArrowheads="1"/>
            </p:cNvSpPr>
            <p:nvPr/>
          </p:nvSpPr>
          <p:spPr bwMode="auto">
            <a:xfrm>
              <a:off x="3057" y="2561"/>
              <a:ext cx="58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 Cache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01842" name="Text Box 99"/>
            <p:cNvSpPr txBox="1">
              <a:spLocks noChangeArrowheads="1"/>
            </p:cNvSpPr>
            <p:nvPr/>
          </p:nvSpPr>
          <p:spPr bwMode="auto">
            <a:xfrm>
              <a:off x="3744" y="2736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内地址</a:t>
              </a:r>
            </a:p>
          </p:txBody>
        </p:sp>
        <p:sp>
          <p:nvSpPr>
            <p:cNvPr id="201843" name="Text Box 100"/>
            <p:cNvSpPr txBox="1">
              <a:spLocks noChangeArrowheads="1"/>
            </p:cNvSpPr>
            <p:nvPr/>
          </p:nvSpPr>
          <p:spPr bwMode="auto">
            <a:xfrm>
              <a:off x="1056" y="2640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否</a:t>
              </a:r>
            </a:p>
          </p:txBody>
        </p:sp>
        <p:sp>
          <p:nvSpPr>
            <p:cNvPr id="201844" name="Line 101"/>
            <p:cNvSpPr>
              <a:spLocks noChangeShapeType="1"/>
            </p:cNvSpPr>
            <p:nvPr/>
          </p:nvSpPr>
          <p:spPr bwMode="auto">
            <a:xfrm>
              <a:off x="624" y="3120"/>
              <a:ext cx="0" cy="2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845" name="Text Box 102"/>
            <p:cNvSpPr txBox="1">
              <a:spLocks noChangeArrowheads="1"/>
            </p:cNvSpPr>
            <p:nvPr/>
          </p:nvSpPr>
          <p:spPr bwMode="auto">
            <a:xfrm>
              <a:off x="326" y="3118"/>
              <a:ext cx="2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是</a:t>
              </a:r>
            </a:p>
          </p:txBody>
        </p:sp>
        <p:sp>
          <p:nvSpPr>
            <p:cNvPr id="201846" name="Text Box 103"/>
            <p:cNvSpPr txBox="1">
              <a:spLocks noChangeArrowheads="1"/>
            </p:cNvSpPr>
            <p:nvPr/>
          </p:nvSpPr>
          <p:spPr bwMode="auto">
            <a:xfrm>
              <a:off x="422" y="3358"/>
              <a:ext cx="43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命中</a:t>
              </a:r>
            </a:p>
          </p:txBody>
        </p:sp>
      </p:grpSp>
      <p:sp>
        <p:nvSpPr>
          <p:cNvPr id="201731" name="Text Box 104"/>
          <p:cNvSpPr txBox="1">
            <a:spLocks noChangeArrowheads="1"/>
          </p:cNvSpPr>
          <p:nvPr/>
        </p:nvSpPr>
        <p:spPr bwMode="auto">
          <a:xfrm>
            <a:off x="228600" y="228600"/>
            <a:ext cx="5932488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二、</a:t>
            </a:r>
            <a:r>
              <a:rPr lang="en-US" altLang="zh-CN" sz="3600">
                <a:latin typeface="Times New Roman" panose="02020603050405020304" pitchFamily="18" charset="0"/>
              </a:rPr>
              <a:t>Cache –</a:t>
            </a:r>
            <a:r>
              <a:rPr lang="en-US" altLang="zh-CN" sz="900">
                <a:latin typeface="Times New Roman" panose="02020603050405020304" pitchFamily="18" charset="0"/>
              </a:rPr>
              <a:t>  </a:t>
            </a:r>
            <a:r>
              <a:rPr lang="zh-CN" altLang="en-US" sz="3600">
                <a:latin typeface="Times New Roman" panose="02020603050405020304" pitchFamily="18" charset="0"/>
              </a:rPr>
              <a:t>主存的地址映射</a:t>
            </a:r>
            <a:endParaRPr lang="en-US" altLang="zh-CN" sz="3600">
              <a:latin typeface="Times New Roman" panose="02020603050405020304" pitchFamily="18" charset="0"/>
            </a:endParaRPr>
          </a:p>
        </p:txBody>
      </p:sp>
      <p:sp>
        <p:nvSpPr>
          <p:cNvPr id="292970" name="Text Box 106"/>
          <p:cNvSpPr txBox="1">
            <a:spLocks noChangeArrowheads="1"/>
          </p:cNvSpPr>
          <p:nvPr/>
        </p:nvSpPr>
        <p:spPr bwMode="auto">
          <a:xfrm>
            <a:off x="609600" y="868363"/>
            <a:ext cx="23241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1.  直接映射</a:t>
            </a:r>
          </a:p>
        </p:txBody>
      </p:sp>
      <p:sp>
        <p:nvSpPr>
          <p:cNvPr id="292971" name="Text Box 107"/>
          <p:cNvSpPr txBox="1">
            <a:spLocks noChangeArrowheads="1"/>
          </p:cNvSpPr>
          <p:nvPr/>
        </p:nvSpPr>
        <p:spPr bwMode="auto">
          <a:xfrm>
            <a:off x="1839913" y="5689600"/>
            <a:ext cx="65420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每个缓存块</a:t>
            </a:r>
            <a:r>
              <a:rPr lang="zh-CN" altLang="en-US" sz="2400">
                <a:latin typeface="Times New Roman" panose="02020603050405020304" pitchFamily="18" charset="0"/>
              </a:rPr>
              <a:t>  </a:t>
            </a:r>
            <a:r>
              <a:rPr lang="en-US" altLang="zh-CN" sz="2400" i="1">
                <a:solidFill>
                  <a:schemeClr val="folHlink"/>
                </a:solidFill>
                <a:latin typeface="Times New Roman" panose="02020603050405020304" pitchFamily="18" charset="0"/>
              </a:rPr>
              <a:t>i </a:t>
            </a:r>
            <a:r>
              <a:rPr lang="en-US" altLang="zh-CN" sz="2400">
                <a:latin typeface="Times New Roman" panose="02020603050405020304" pitchFamily="18" charset="0"/>
              </a:rPr>
              <a:t> </a:t>
            </a:r>
            <a:r>
              <a:rPr lang="zh-CN" altLang="en-US" sz="2400">
                <a:latin typeface="Times New Roman" panose="02020603050405020304" pitchFamily="18" charset="0"/>
              </a:rPr>
              <a:t>可以和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若干 </a:t>
            </a:r>
            <a:r>
              <a:rPr lang="zh-CN" altLang="en-US" sz="2400">
                <a:latin typeface="Times New Roman" panose="02020603050405020304" pitchFamily="18" charset="0"/>
              </a:rPr>
              <a:t>个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主存块 </a:t>
            </a:r>
            <a:r>
              <a:rPr lang="zh-CN" altLang="en-US" sz="2400">
                <a:latin typeface="Times New Roman" panose="02020603050405020304" pitchFamily="18" charset="0"/>
              </a:rPr>
              <a:t>对应</a:t>
            </a:r>
          </a:p>
        </p:txBody>
      </p:sp>
      <p:sp>
        <p:nvSpPr>
          <p:cNvPr id="292972" name="Text Box 108"/>
          <p:cNvSpPr txBox="1">
            <a:spLocks noChangeArrowheads="1"/>
          </p:cNvSpPr>
          <p:nvPr/>
        </p:nvSpPr>
        <p:spPr bwMode="auto">
          <a:xfrm>
            <a:off x="1855788" y="6232525"/>
            <a:ext cx="60690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每个主存块</a:t>
            </a:r>
            <a:r>
              <a:rPr lang="zh-CN" altLang="en-US" sz="2400">
                <a:latin typeface="Times New Roman" panose="02020603050405020304" pitchFamily="18" charset="0"/>
              </a:rPr>
              <a:t>  </a:t>
            </a:r>
            <a:r>
              <a:rPr lang="en-US" altLang="zh-CN" sz="2400" i="1">
                <a:solidFill>
                  <a:schemeClr val="folHlink"/>
                </a:solidFill>
                <a:latin typeface="Times New Roman" panose="02020603050405020304" pitchFamily="18" charset="0"/>
              </a:rPr>
              <a:t>j</a:t>
            </a:r>
            <a:r>
              <a:rPr lang="en-US" altLang="zh-CN" sz="2400">
                <a:latin typeface="Times New Roman" panose="02020603050405020304" pitchFamily="18" charset="0"/>
              </a:rPr>
              <a:t>  </a:t>
            </a:r>
            <a:r>
              <a:rPr lang="zh-CN" altLang="en-US" sz="2400">
                <a:latin typeface="Times New Roman" panose="02020603050405020304" pitchFamily="18" charset="0"/>
              </a:rPr>
              <a:t>只能和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一 </a:t>
            </a:r>
            <a:r>
              <a:rPr lang="zh-CN" altLang="en-US" sz="2400">
                <a:latin typeface="Times New Roman" panose="02020603050405020304" pitchFamily="18" charset="0"/>
              </a:rPr>
              <a:t>个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缓存块 </a:t>
            </a:r>
            <a:r>
              <a:rPr lang="zh-CN" altLang="en-US" sz="2400">
                <a:latin typeface="Times New Roman" panose="02020603050405020304" pitchFamily="18" charset="0"/>
              </a:rPr>
              <a:t>对应</a:t>
            </a:r>
          </a:p>
        </p:txBody>
      </p:sp>
      <p:sp>
        <p:nvSpPr>
          <p:cNvPr id="292973" name="Text Box 109"/>
          <p:cNvSpPr txBox="1">
            <a:spLocks noChangeArrowheads="1"/>
          </p:cNvSpPr>
          <p:nvPr/>
        </p:nvSpPr>
        <p:spPr bwMode="auto">
          <a:xfrm>
            <a:off x="1143000" y="1819275"/>
            <a:ext cx="1752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2800" i="1">
                <a:solidFill>
                  <a:schemeClr val="folHlink"/>
                </a:solidFill>
                <a:latin typeface="Times New Roman" panose="02020603050405020304" pitchFamily="18" charset="0"/>
              </a:rPr>
              <a:t>i</a:t>
            </a:r>
            <a:r>
              <a: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rPr>
              <a:t> = </a:t>
            </a:r>
            <a:r>
              <a:rPr lang="en-US" altLang="zh-CN" sz="2800" i="1">
                <a:solidFill>
                  <a:schemeClr val="folHlink"/>
                </a:solidFill>
                <a:latin typeface="Times New Roman" panose="02020603050405020304" pitchFamily="18" charset="0"/>
              </a:rPr>
              <a:t>j</a:t>
            </a:r>
            <a:r>
              <a: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mod</a:t>
            </a:r>
            <a:r>
              <a: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en-US" altLang="zh-CN" sz="2800" i="1">
                <a:solidFill>
                  <a:schemeClr val="folHlink"/>
                </a:solidFill>
                <a:latin typeface="Times New Roman" panose="02020603050405020304" pitchFamily="18" charset="0"/>
              </a:rPr>
              <a:t>C</a:t>
            </a:r>
          </a:p>
        </p:txBody>
      </p:sp>
      <p:sp>
        <p:nvSpPr>
          <p:cNvPr id="292974" name="Rectangle 110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4.3</a:t>
            </a:r>
          </a:p>
        </p:txBody>
      </p:sp>
      <p:grpSp>
        <p:nvGrpSpPr>
          <p:cNvPr id="3" name="Group 111"/>
          <p:cNvGrpSpPr/>
          <p:nvPr/>
        </p:nvGrpSpPr>
        <p:grpSpPr bwMode="auto">
          <a:xfrm>
            <a:off x="5127625" y="1533525"/>
            <a:ext cx="3787775" cy="3082925"/>
            <a:chOff x="3230" y="966"/>
            <a:chExt cx="2386" cy="1942"/>
          </a:xfrm>
        </p:grpSpPr>
        <p:sp>
          <p:nvSpPr>
            <p:cNvPr id="201739" name="Rectangle 112"/>
            <p:cNvSpPr>
              <a:spLocks noChangeArrowheads="1"/>
            </p:cNvSpPr>
            <p:nvPr/>
          </p:nvSpPr>
          <p:spPr bwMode="auto">
            <a:xfrm>
              <a:off x="4727" y="2690"/>
              <a:ext cx="889" cy="218"/>
            </a:xfrm>
            <a:prstGeom prst="rect">
              <a:avLst/>
            </a:prstGeom>
            <a:solidFill>
              <a:schemeClr val="folHlink"/>
            </a:solidFill>
            <a:ln w="9525">
              <a:solidFill>
                <a:schemeClr val="folHlink"/>
              </a:solidFill>
              <a:miter lim="800000"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 b="0">
                  <a:solidFill>
                    <a:schemeClr val="bg2"/>
                  </a:solidFill>
                  <a:latin typeface="Times New Roman" panose="02020603050405020304" pitchFamily="18" charset="0"/>
                </a:rPr>
                <a:t>   </a:t>
              </a: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字块2</a:t>
              </a:r>
              <a:r>
                <a:rPr lang="en-US" altLang="zh-CN" sz="2000" i="1" baseline="30000">
                  <a:solidFill>
                    <a:schemeClr val="bg2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zh-CN" sz="2000" baseline="30000">
                  <a:solidFill>
                    <a:schemeClr val="bg2"/>
                  </a:solidFill>
                  <a:latin typeface="Times New Roman" panose="02020603050405020304" pitchFamily="18" charset="0"/>
                </a:rPr>
                <a:t>+1</a:t>
              </a:r>
              <a:endParaRPr lang="zh-CN" altLang="en-US" sz="2000" baseline="30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01740" name="Rectangle 113"/>
            <p:cNvSpPr>
              <a:spLocks noChangeArrowheads="1"/>
            </p:cNvSpPr>
            <p:nvPr/>
          </p:nvSpPr>
          <p:spPr bwMode="auto">
            <a:xfrm>
              <a:off x="4727" y="1819"/>
              <a:ext cx="889" cy="218"/>
            </a:xfrm>
            <a:prstGeom prst="rect">
              <a:avLst/>
            </a:prstGeom>
            <a:solidFill>
              <a:schemeClr val="folHlink"/>
            </a:solidFill>
            <a:ln w="9525">
              <a:solidFill>
                <a:schemeClr val="folHlink"/>
              </a:solidFill>
              <a:miter lim="800000"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 b="0">
                  <a:solidFill>
                    <a:schemeClr val="bg2"/>
                  </a:solidFill>
                  <a:latin typeface="Times New Roman" panose="02020603050405020304" pitchFamily="18" charset="0"/>
                </a:rPr>
                <a:t>     </a:t>
              </a: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字块2</a:t>
              </a:r>
              <a:r>
                <a:rPr lang="en-US" altLang="zh-CN" sz="2000" i="1" baseline="30000">
                  <a:solidFill>
                    <a:schemeClr val="bg2"/>
                  </a:solidFill>
                  <a:latin typeface="Times New Roman" panose="02020603050405020304" pitchFamily="18" charset="0"/>
                </a:rPr>
                <a:t>c</a:t>
              </a:r>
              <a:endParaRPr lang="zh-CN" altLang="en-US" sz="2000" i="1" baseline="30000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01741" name="Rectangle 114"/>
            <p:cNvSpPr>
              <a:spLocks noChangeArrowheads="1"/>
            </p:cNvSpPr>
            <p:nvPr/>
          </p:nvSpPr>
          <p:spPr bwMode="auto">
            <a:xfrm>
              <a:off x="4727" y="966"/>
              <a:ext cx="889" cy="217"/>
            </a:xfrm>
            <a:prstGeom prst="rect">
              <a:avLst/>
            </a:prstGeom>
            <a:solidFill>
              <a:schemeClr val="folHlink"/>
            </a:solidFill>
            <a:ln w="9525">
              <a:solidFill>
                <a:schemeClr val="folHlink"/>
              </a:solidFill>
              <a:miter lim="800000"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    字块0</a:t>
              </a:r>
            </a:p>
          </p:txBody>
        </p:sp>
        <p:sp>
          <p:nvSpPr>
            <p:cNvPr id="201742" name="Line 115"/>
            <p:cNvSpPr>
              <a:spLocks noChangeShapeType="1"/>
            </p:cNvSpPr>
            <p:nvPr/>
          </p:nvSpPr>
          <p:spPr bwMode="auto">
            <a:xfrm flipV="1">
              <a:off x="4072" y="1050"/>
              <a:ext cx="655" cy="125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743" name="Line 116"/>
            <p:cNvSpPr>
              <a:spLocks noChangeShapeType="1"/>
            </p:cNvSpPr>
            <p:nvPr/>
          </p:nvSpPr>
          <p:spPr bwMode="auto">
            <a:xfrm>
              <a:off x="4072" y="1175"/>
              <a:ext cx="655" cy="755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744" name="Line 117"/>
            <p:cNvSpPr>
              <a:spLocks noChangeShapeType="1"/>
            </p:cNvSpPr>
            <p:nvPr/>
          </p:nvSpPr>
          <p:spPr bwMode="auto">
            <a:xfrm>
              <a:off x="4072" y="1175"/>
              <a:ext cx="655" cy="159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1745" name="Rectangle 118"/>
            <p:cNvSpPr>
              <a:spLocks noChangeArrowheads="1"/>
            </p:cNvSpPr>
            <p:nvPr/>
          </p:nvSpPr>
          <p:spPr bwMode="auto">
            <a:xfrm>
              <a:off x="3230" y="1078"/>
              <a:ext cx="842" cy="218"/>
            </a:xfrm>
            <a:prstGeom prst="rect">
              <a:avLst/>
            </a:prstGeom>
            <a:solidFill>
              <a:schemeClr val="folHlink"/>
            </a:solidFill>
            <a:ln w="9525">
              <a:solidFill>
                <a:schemeClr val="folHlink"/>
              </a:solidFill>
              <a:miter lim="800000"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solidFill>
                    <a:schemeClr val="bg2"/>
                  </a:solidFill>
                  <a:latin typeface="Times New Roman" panose="02020603050405020304" pitchFamily="18" charset="0"/>
                </a:rPr>
                <a:t>    字块 0</a:t>
              </a:r>
            </a:p>
          </p:txBody>
        </p:sp>
      </p:grpSp>
      <p:sp>
        <p:nvSpPr>
          <p:cNvPr id="201738" name="AutoShape 119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929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929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929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929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2970" grpId="0" autoUpdateAnimBg="0"/>
      <p:bldP spid="292971" grpId="0" autoUpdateAnimBg="0"/>
      <p:bldP spid="292972" grpId="0" autoUpdateAnimBg="0"/>
      <p:bldP spid="292973" grpId="0" autoUpdateAnimBg="0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4" name="Text Box 2"/>
          <p:cNvSpPr txBox="1">
            <a:spLocks noChangeArrowheads="1"/>
          </p:cNvSpPr>
          <p:nvPr/>
        </p:nvSpPr>
        <p:spPr bwMode="auto">
          <a:xfrm>
            <a:off x="533400" y="330200"/>
            <a:ext cx="3894138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2. 全相联映射</a:t>
            </a:r>
            <a:endParaRPr lang="en-US" altLang="zh-CN" sz="3600">
              <a:latin typeface="Times New Roman" panose="02020603050405020304" pitchFamily="18" charset="0"/>
            </a:endParaRPr>
          </a:p>
        </p:txBody>
      </p:sp>
      <p:sp>
        <p:nvSpPr>
          <p:cNvPr id="293891" name="Text Box 3"/>
          <p:cNvSpPr txBox="1">
            <a:spLocks noChangeArrowheads="1"/>
          </p:cNvSpPr>
          <p:nvPr/>
        </p:nvSpPr>
        <p:spPr bwMode="auto">
          <a:xfrm>
            <a:off x="1309688" y="6016625"/>
            <a:ext cx="73771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主存 </a:t>
            </a:r>
            <a:r>
              <a:rPr lang="zh-CN" altLang="en-US" sz="2400">
                <a:latin typeface="Times New Roman" panose="02020603050405020304" pitchFamily="18" charset="0"/>
              </a:rPr>
              <a:t>中的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任一块 </a:t>
            </a:r>
            <a:r>
              <a:rPr lang="zh-CN" altLang="en-US" sz="2400">
                <a:latin typeface="Times New Roman" panose="02020603050405020304" pitchFamily="18" charset="0"/>
              </a:rPr>
              <a:t>可以映射到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缓存 </a:t>
            </a:r>
            <a:r>
              <a:rPr lang="zh-CN" altLang="en-US" sz="2400">
                <a:latin typeface="Times New Roman" panose="02020603050405020304" pitchFamily="18" charset="0"/>
              </a:rPr>
              <a:t>中的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任一块</a:t>
            </a:r>
          </a:p>
        </p:txBody>
      </p:sp>
      <p:grpSp>
        <p:nvGrpSpPr>
          <p:cNvPr id="2" name="Group 4"/>
          <p:cNvGrpSpPr/>
          <p:nvPr/>
        </p:nvGrpSpPr>
        <p:grpSpPr bwMode="auto">
          <a:xfrm>
            <a:off x="1155700" y="1143000"/>
            <a:ext cx="5854700" cy="4683125"/>
            <a:chOff x="728" y="720"/>
            <a:chExt cx="3688" cy="2950"/>
          </a:xfrm>
        </p:grpSpPr>
        <p:sp>
          <p:nvSpPr>
            <p:cNvPr id="202780" name="Rectangle 5"/>
            <p:cNvSpPr>
              <a:spLocks noChangeArrowheads="1"/>
            </p:cNvSpPr>
            <p:nvPr/>
          </p:nvSpPr>
          <p:spPr bwMode="auto">
            <a:xfrm>
              <a:off x="3552" y="2876"/>
              <a:ext cx="864" cy="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0" bIns="0" anchor="ctr" anchorCtr="1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字块2</a:t>
              </a:r>
              <a:r>
                <a:rPr lang="en-US" altLang="zh-CN" sz="2000" i="1" baseline="30000">
                  <a:latin typeface="Times New Roman" panose="02020603050405020304" pitchFamily="18" charset="0"/>
                </a:rPr>
                <a:t>m</a:t>
              </a:r>
              <a:r>
                <a:rPr lang="en-US" altLang="zh-CN" sz="2000">
                  <a:latin typeface="Times New Roman" panose="02020603050405020304" pitchFamily="18" charset="0"/>
                </a:rPr>
                <a:t>－1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02781" name="Rectangle 6"/>
            <p:cNvSpPr>
              <a:spLocks noChangeArrowheads="1"/>
            </p:cNvSpPr>
            <p:nvPr/>
          </p:nvSpPr>
          <p:spPr bwMode="auto">
            <a:xfrm>
              <a:off x="3552" y="2521"/>
              <a:ext cx="864" cy="3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0" bIns="0" anchor="ctr" anchorCtr="1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endParaRPr lang="zh-CN" altLang="en-US" sz="2000" b="0">
                <a:latin typeface="Times New Roman" panose="02020603050405020304" pitchFamily="18" charset="0"/>
              </a:endParaRPr>
            </a:p>
          </p:txBody>
        </p:sp>
        <p:sp>
          <p:nvSpPr>
            <p:cNvPr id="202782" name="Rectangle 7"/>
            <p:cNvSpPr>
              <a:spLocks noChangeArrowheads="1"/>
            </p:cNvSpPr>
            <p:nvPr/>
          </p:nvSpPr>
          <p:spPr bwMode="auto">
            <a:xfrm>
              <a:off x="3552" y="2164"/>
              <a:ext cx="864" cy="3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0" bIns="0" anchor="ctr" anchorCtr="1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字块2</a:t>
              </a:r>
              <a:r>
                <a:rPr lang="en-US" altLang="zh-CN" sz="2000" i="1" baseline="30000">
                  <a:latin typeface="Times New Roman" panose="02020603050405020304" pitchFamily="18" charset="0"/>
                </a:rPr>
                <a:t>c</a:t>
              </a:r>
              <a:r>
                <a:rPr lang="en-US" altLang="zh-CN" sz="2000">
                  <a:latin typeface="Times New Roman" panose="02020603050405020304" pitchFamily="18" charset="0"/>
                </a:rPr>
                <a:t>－1</a:t>
              </a:r>
            </a:p>
          </p:txBody>
        </p:sp>
        <p:sp>
          <p:nvSpPr>
            <p:cNvPr id="202783" name="Rectangle 8"/>
            <p:cNvSpPr>
              <a:spLocks noChangeArrowheads="1"/>
            </p:cNvSpPr>
            <p:nvPr/>
          </p:nvSpPr>
          <p:spPr bwMode="auto">
            <a:xfrm>
              <a:off x="3552" y="1806"/>
              <a:ext cx="864" cy="3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0" bIns="0" anchor="ctr" anchorCtr="1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endParaRPr lang="zh-CN" altLang="en-US" sz="2000" b="0">
                <a:latin typeface="Times New Roman" panose="02020603050405020304" pitchFamily="18" charset="0"/>
              </a:endParaRPr>
            </a:p>
          </p:txBody>
        </p:sp>
        <p:sp>
          <p:nvSpPr>
            <p:cNvPr id="202784" name="Rectangle 9"/>
            <p:cNvSpPr>
              <a:spLocks noChangeArrowheads="1"/>
            </p:cNvSpPr>
            <p:nvPr/>
          </p:nvSpPr>
          <p:spPr bwMode="auto">
            <a:xfrm>
              <a:off x="3552" y="1451"/>
              <a:ext cx="864" cy="3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0" bIns="0" anchor="ctr" anchorCtr="1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字块1</a:t>
              </a:r>
            </a:p>
          </p:txBody>
        </p:sp>
        <p:sp>
          <p:nvSpPr>
            <p:cNvPr id="202785" name="Rectangle 10"/>
            <p:cNvSpPr>
              <a:spLocks noChangeArrowheads="1"/>
            </p:cNvSpPr>
            <p:nvPr/>
          </p:nvSpPr>
          <p:spPr bwMode="auto">
            <a:xfrm>
              <a:off x="3552" y="1094"/>
              <a:ext cx="864" cy="3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tIns="0" bIns="0" anchor="ctr" anchorCtr="1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 b="0">
                  <a:latin typeface="Times New Roman" panose="02020603050405020304" pitchFamily="18" charset="0"/>
                </a:rPr>
                <a:t> </a:t>
              </a:r>
              <a:r>
                <a:rPr lang="zh-CN" altLang="en-US" sz="2000">
                  <a:latin typeface="Times New Roman" panose="02020603050405020304" pitchFamily="18" charset="0"/>
                </a:rPr>
                <a:t>字块0</a:t>
              </a:r>
            </a:p>
          </p:txBody>
        </p:sp>
        <p:sp>
          <p:nvSpPr>
            <p:cNvPr id="202786" name="Line 11"/>
            <p:cNvSpPr>
              <a:spLocks noChangeShapeType="1"/>
            </p:cNvSpPr>
            <p:nvPr/>
          </p:nvSpPr>
          <p:spPr bwMode="auto">
            <a:xfrm>
              <a:off x="3552" y="1094"/>
              <a:ext cx="864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tIns="0" bIns="0" anchor="ctr" anchorCtr="1"/>
            <a:lstStyle/>
            <a:p>
              <a:endParaRPr lang="zh-CN" altLang="en-US"/>
            </a:p>
          </p:txBody>
        </p:sp>
        <p:sp>
          <p:nvSpPr>
            <p:cNvPr id="202787" name="Line 12"/>
            <p:cNvSpPr>
              <a:spLocks noChangeShapeType="1"/>
            </p:cNvSpPr>
            <p:nvPr/>
          </p:nvSpPr>
          <p:spPr bwMode="auto">
            <a:xfrm>
              <a:off x="3552" y="1451"/>
              <a:ext cx="86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tIns="0" bIns="0" anchor="ctr" anchorCtr="1"/>
            <a:lstStyle/>
            <a:p>
              <a:endParaRPr lang="zh-CN" altLang="en-US"/>
            </a:p>
          </p:txBody>
        </p:sp>
        <p:sp>
          <p:nvSpPr>
            <p:cNvPr id="202788" name="Line 13"/>
            <p:cNvSpPr>
              <a:spLocks noChangeShapeType="1"/>
            </p:cNvSpPr>
            <p:nvPr/>
          </p:nvSpPr>
          <p:spPr bwMode="auto">
            <a:xfrm>
              <a:off x="3552" y="1806"/>
              <a:ext cx="86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tIns="0" bIns="0" anchor="ctr" anchorCtr="1"/>
            <a:lstStyle/>
            <a:p>
              <a:endParaRPr lang="zh-CN" altLang="en-US"/>
            </a:p>
          </p:txBody>
        </p:sp>
        <p:sp>
          <p:nvSpPr>
            <p:cNvPr id="202789" name="Line 14"/>
            <p:cNvSpPr>
              <a:spLocks noChangeShapeType="1"/>
            </p:cNvSpPr>
            <p:nvPr/>
          </p:nvSpPr>
          <p:spPr bwMode="auto">
            <a:xfrm>
              <a:off x="3552" y="2164"/>
              <a:ext cx="86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tIns="0" bIns="0" anchor="ctr" anchorCtr="1"/>
            <a:lstStyle/>
            <a:p>
              <a:endParaRPr lang="zh-CN" altLang="en-US"/>
            </a:p>
          </p:txBody>
        </p:sp>
        <p:sp>
          <p:nvSpPr>
            <p:cNvPr id="202790" name="Line 15"/>
            <p:cNvSpPr>
              <a:spLocks noChangeShapeType="1"/>
            </p:cNvSpPr>
            <p:nvPr/>
          </p:nvSpPr>
          <p:spPr bwMode="auto">
            <a:xfrm>
              <a:off x="3552" y="2521"/>
              <a:ext cx="86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tIns="0" bIns="0" anchor="ctr" anchorCtr="1"/>
            <a:lstStyle/>
            <a:p>
              <a:endParaRPr lang="zh-CN" altLang="en-US"/>
            </a:p>
          </p:txBody>
        </p:sp>
        <p:sp>
          <p:nvSpPr>
            <p:cNvPr id="202791" name="Line 16"/>
            <p:cNvSpPr>
              <a:spLocks noChangeShapeType="1"/>
            </p:cNvSpPr>
            <p:nvPr/>
          </p:nvSpPr>
          <p:spPr bwMode="auto">
            <a:xfrm>
              <a:off x="3552" y="2876"/>
              <a:ext cx="86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tIns="0" bIns="0" anchor="ctr" anchorCtr="1"/>
            <a:lstStyle/>
            <a:p>
              <a:endParaRPr lang="zh-CN" altLang="en-US"/>
            </a:p>
          </p:txBody>
        </p:sp>
        <p:sp>
          <p:nvSpPr>
            <p:cNvPr id="202792" name="Line 17"/>
            <p:cNvSpPr>
              <a:spLocks noChangeShapeType="1"/>
            </p:cNvSpPr>
            <p:nvPr/>
          </p:nvSpPr>
          <p:spPr bwMode="auto">
            <a:xfrm>
              <a:off x="3552" y="3190"/>
              <a:ext cx="864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tIns="0" bIns="0" anchor="ctr" anchorCtr="1"/>
            <a:lstStyle/>
            <a:p>
              <a:endParaRPr lang="zh-CN" altLang="en-US"/>
            </a:p>
          </p:txBody>
        </p:sp>
        <p:sp>
          <p:nvSpPr>
            <p:cNvPr id="202793" name="Line 18"/>
            <p:cNvSpPr>
              <a:spLocks noChangeShapeType="1"/>
            </p:cNvSpPr>
            <p:nvPr/>
          </p:nvSpPr>
          <p:spPr bwMode="auto">
            <a:xfrm>
              <a:off x="3552" y="2164"/>
              <a:ext cx="0" cy="35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tIns="0" bIns="0" anchor="ctr" anchorCtr="1"/>
            <a:lstStyle/>
            <a:p>
              <a:endParaRPr lang="zh-CN" altLang="en-US"/>
            </a:p>
          </p:txBody>
        </p:sp>
        <p:sp>
          <p:nvSpPr>
            <p:cNvPr id="202794" name="Line 19"/>
            <p:cNvSpPr>
              <a:spLocks noChangeShapeType="1"/>
            </p:cNvSpPr>
            <p:nvPr/>
          </p:nvSpPr>
          <p:spPr bwMode="auto">
            <a:xfrm>
              <a:off x="3552" y="1094"/>
              <a:ext cx="0" cy="107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tIns="0" bIns="0" anchor="ctr" anchorCtr="1"/>
            <a:lstStyle/>
            <a:p>
              <a:endParaRPr lang="zh-CN" altLang="en-US"/>
            </a:p>
          </p:txBody>
        </p:sp>
        <p:sp>
          <p:nvSpPr>
            <p:cNvPr id="202795" name="Line 20"/>
            <p:cNvSpPr>
              <a:spLocks noChangeShapeType="1"/>
            </p:cNvSpPr>
            <p:nvPr/>
          </p:nvSpPr>
          <p:spPr bwMode="auto">
            <a:xfrm>
              <a:off x="3552" y="2521"/>
              <a:ext cx="0" cy="669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tIns="0" bIns="0" anchor="ctr" anchorCtr="1"/>
            <a:lstStyle/>
            <a:p>
              <a:endParaRPr lang="zh-CN" altLang="en-US"/>
            </a:p>
          </p:txBody>
        </p:sp>
        <p:sp>
          <p:nvSpPr>
            <p:cNvPr id="202796" name="Line 21"/>
            <p:cNvSpPr>
              <a:spLocks noChangeShapeType="1"/>
            </p:cNvSpPr>
            <p:nvPr/>
          </p:nvSpPr>
          <p:spPr bwMode="auto">
            <a:xfrm>
              <a:off x="4416" y="2164"/>
              <a:ext cx="0" cy="35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tIns="0" bIns="0" anchor="ctr" anchorCtr="1"/>
            <a:lstStyle/>
            <a:p>
              <a:endParaRPr lang="zh-CN" altLang="en-US"/>
            </a:p>
          </p:txBody>
        </p:sp>
        <p:sp>
          <p:nvSpPr>
            <p:cNvPr id="202797" name="Line 22"/>
            <p:cNvSpPr>
              <a:spLocks noChangeShapeType="1"/>
            </p:cNvSpPr>
            <p:nvPr/>
          </p:nvSpPr>
          <p:spPr bwMode="auto">
            <a:xfrm>
              <a:off x="4416" y="1094"/>
              <a:ext cx="0" cy="107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tIns="0" bIns="0" anchor="ctr" anchorCtr="1"/>
            <a:lstStyle/>
            <a:p>
              <a:endParaRPr lang="zh-CN" altLang="en-US"/>
            </a:p>
          </p:txBody>
        </p:sp>
        <p:sp>
          <p:nvSpPr>
            <p:cNvPr id="202798" name="Line 23"/>
            <p:cNvSpPr>
              <a:spLocks noChangeShapeType="1"/>
            </p:cNvSpPr>
            <p:nvPr/>
          </p:nvSpPr>
          <p:spPr bwMode="auto">
            <a:xfrm>
              <a:off x="4416" y="2521"/>
              <a:ext cx="0" cy="669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tIns="0" bIns="0" anchor="ctr" anchorCtr="1"/>
            <a:lstStyle/>
            <a:p>
              <a:endParaRPr lang="zh-CN" altLang="en-US"/>
            </a:p>
          </p:txBody>
        </p:sp>
        <p:sp>
          <p:nvSpPr>
            <p:cNvPr id="202799" name="Text Box 24"/>
            <p:cNvSpPr txBox="1">
              <a:spLocks noChangeArrowheads="1"/>
            </p:cNvSpPr>
            <p:nvPr/>
          </p:nvSpPr>
          <p:spPr bwMode="auto">
            <a:xfrm>
              <a:off x="3840" y="1894"/>
              <a:ext cx="308" cy="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202800" name="Text Box 25"/>
            <p:cNvSpPr txBox="1">
              <a:spLocks noChangeArrowheads="1"/>
            </p:cNvSpPr>
            <p:nvPr/>
          </p:nvSpPr>
          <p:spPr bwMode="auto">
            <a:xfrm>
              <a:off x="3820" y="2566"/>
              <a:ext cx="308" cy="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202801" name="Rectangle 26"/>
            <p:cNvSpPr>
              <a:spLocks noChangeArrowheads="1"/>
            </p:cNvSpPr>
            <p:nvPr/>
          </p:nvSpPr>
          <p:spPr bwMode="auto">
            <a:xfrm>
              <a:off x="1488" y="2337"/>
              <a:ext cx="1056" cy="3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字块2</a:t>
              </a:r>
              <a:r>
                <a:rPr lang="en-US" altLang="zh-CN" sz="2000" i="1" baseline="30000">
                  <a:latin typeface="Times New Roman" panose="02020603050405020304" pitchFamily="18" charset="0"/>
                </a:rPr>
                <a:t>c</a:t>
              </a:r>
              <a:r>
                <a:rPr lang="en-US" altLang="zh-CN" sz="2000">
                  <a:latin typeface="Times New Roman" panose="02020603050405020304" pitchFamily="18" charset="0"/>
                </a:rPr>
                <a:t>－1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02802" name="Rectangle 27"/>
            <p:cNvSpPr>
              <a:spLocks noChangeArrowheads="1"/>
            </p:cNvSpPr>
            <p:nvPr/>
          </p:nvSpPr>
          <p:spPr bwMode="auto">
            <a:xfrm>
              <a:off x="1488" y="1964"/>
              <a:ext cx="1056" cy="3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endParaRPr lang="zh-CN" altLang="en-US" sz="2400" b="0">
                <a:latin typeface="Times New Roman" panose="02020603050405020304" pitchFamily="18" charset="0"/>
              </a:endParaRPr>
            </a:p>
          </p:txBody>
        </p:sp>
        <p:sp>
          <p:nvSpPr>
            <p:cNvPr id="202803" name="Rectangle 28"/>
            <p:cNvSpPr>
              <a:spLocks noChangeArrowheads="1"/>
            </p:cNvSpPr>
            <p:nvPr/>
          </p:nvSpPr>
          <p:spPr bwMode="auto">
            <a:xfrm>
              <a:off x="1488" y="1591"/>
              <a:ext cx="1056" cy="3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字块1</a:t>
              </a:r>
              <a:endParaRPr lang="zh-CN" altLang="en-US" sz="2400" b="0">
                <a:latin typeface="Times New Roman" panose="02020603050405020304" pitchFamily="18" charset="0"/>
              </a:endParaRPr>
            </a:p>
          </p:txBody>
        </p:sp>
        <p:sp>
          <p:nvSpPr>
            <p:cNvPr id="202804" name="Rectangle 29"/>
            <p:cNvSpPr>
              <a:spLocks noChangeArrowheads="1"/>
            </p:cNvSpPr>
            <p:nvPr/>
          </p:nvSpPr>
          <p:spPr bwMode="auto">
            <a:xfrm>
              <a:off x="1488" y="1270"/>
              <a:ext cx="1056" cy="3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chemeClr val="accent2"/>
                </a:buClr>
                <a:buSzPct val="80000"/>
                <a:buFont typeface="Wingdings" panose="05000000000000000000" pitchFamily="2" charset="2"/>
                <a:buNone/>
              </a:pPr>
              <a:r>
                <a:rPr lang="zh-CN" altLang="en-US" sz="2000">
                  <a:latin typeface="Times New Roman" panose="02020603050405020304" pitchFamily="18" charset="0"/>
                </a:rPr>
                <a:t>字块0</a:t>
              </a:r>
              <a:endParaRPr lang="zh-CN" altLang="en-US" sz="2400" b="0">
                <a:latin typeface="Times New Roman" panose="02020603050405020304" pitchFamily="18" charset="0"/>
              </a:endParaRPr>
            </a:p>
          </p:txBody>
        </p:sp>
        <p:sp>
          <p:nvSpPr>
            <p:cNvPr id="202805" name="Line 30"/>
            <p:cNvSpPr>
              <a:spLocks noChangeShapeType="1"/>
            </p:cNvSpPr>
            <p:nvPr/>
          </p:nvSpPr>
          <p:spPr bwMode="auto">
            <a:xfrm>
              <a:off x="1488" y="1270"/>
              <a:ext cx="105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 anchorCtr="1"/>
            <a:lstStyle/>
            <a:p>
              <a:endParaRPr lang="zh-CN" altLang="en-US"/>
            </a:p>
          </p:txBody>
        </p:sp>
        <p:sp>
          <p:nvSpPr>
            <p:cNvPr id="202806" name="Line 31"/>
            <p:cNvSpPr>
              <a:spLocks noChangeShapeType="1"/>
            </p:cNvSpPr>
            <p:nvPr/>
          </p:nvSpPr>
          <p:spPr bwMode="auto">
            <a:xfrm>
              <a:off x="1488" y="1591"/>
              <a:ext cx="105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 anchorCtr="1"/>
            <a:lstStyle/>
            <a:p>
              <a:endParaRPr lang="zh-CN" altLang="en-US"/>
            </a:p>
          </p:txBody>
        </p:sp>
        <p:sp>
          <p:nvSpPr>
            <p:cNvPr id="202807" name="Line 32"/>
            <p:cNvSpPr>
              <a:spLocks noChangeShapeType="1"/>
            </p:cNvSpPr>
            <p:nvPr/>
          </p:nvSpPr>
          <p:spPr bwMode="auto">
            <a:xfrm>
              <a:off x="1488" y="1964"/>
              <a:ext cx="105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 anchorCtr="1"/>
            <a:lstStyle/>
            <a:p>
              <a:endParaRPr lang="zh-CN" altLang="en-US"/>
            </a:p>
          </p:txBody>
        </p:sp>
        <p:sp>
          <p:nvSpPr>
            <p:cNvPr id="202808" name="Line 33"/>
            <p:cNvSpPr>
              <a:spLocks noChangeShapeType="1"/>
            </p:cNvSpPr>
            <p:nvPr/>
          </p:nvSpPr>
          <p:spPr bwMode="auto">
            <a:xfrm>
              <a:off x="1488" y="2337"/>
              <a:ext cx="105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 anchorCtr="1"/>
            <a:lstStyle/>
            <a:p>
              <a:endParaRPr lang="zh-CN" altLang="en-US"/>
            </a:p>
          </p:txBody>
        </p:sp>
        <p:sp>
          <p:nvSpPr>
            <p:cNvPr id="202809" name="Line 34"/>
            <p:cNvSpPr>
              <a:spLocks noChangeShapeType="1"/>
            </p:cNvSpPr>
            <p:nvPr/>
          </p:nvSpPr>
          <p:spPr bwMode="auto">
            <a:xfrm>
              <a:off x="1488" y="2710"/>
              <a:ext cx="1056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 anchorCtr="1"/>
            <a:lstStyle/>
            <a:p>
              <a:endParaRPr lang="zh-CN" altLang="en-US"/>
            </a:p>
          </p:txBody>
        </p:sp>
        <p:sp>
          <p:nvSpPr>
            <p:cNvPr id="202810" name="Line 35"/>
            <p:cNvSpPr>
              <a:spLocks noChangeShapeType="1"/>
            </p:cNvSpPr>
            <p:nvPr/>
          </p:nvSpPr>
          <p:spPr bwMode="auto">
            <a:xfrm>
              <a:off x="1488" y="1270"/>
              <a:ext cx="0" cy="144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 anchorCtr="1"/>
            <a:lstStyle/>
            <a:p>
              <a:endParaRPr lang="zh-CN" altLang="en-US"/>
            </a:p>
          </p:txBody>
        </p:sp>
        <p:sp>
          <p:nvSpPr>
            <p:cNvPr id="202811" name="Line 36"/>
            <p:cNvSpPr>
              <a:spLocks noChangeShapeType="1"/>
            </p:cNvSpPr>
            <p:nvPr/>
          </p:nvSpPr>
          <p:spPr bwMode="auto">
            <a:xfrm>
              <a:off x="2544" y="1270"/>
              <a:ext cx="0" cy="144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 anchorCtr="1"/>
            <a:lstStyle/>
            <a:p>
              <a:endParaRPr lang="zh-CN" altLang="en-US"/>
            </a:p>
          </p:txBody>
        </p:sp>
        <p:sp>
          <p:nvSpPr>
            <p:cNvPr id="202812" name="Text Box 37"/>
            <p:cNvSpPr txBox="1">
              <a:spLocks noChangeArrowheads="1"/>
            </p:cNvSpPr>
            <p:nvPr/>
          </p:nvSpPr>
          <p:spPr bwMode="auto">
            <a:xfrm>
              <a:off x="1872" y="2038"/>
              <a:ext cx="308" cy="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…</a:t>
              </a:r>
            </a:p>
          </p:txBody>
        </p:sp>
        <p:sp>
          <p:nvSpPr>
            <p:cNvPr id="202813" name="Line 38"/>
            <p:cNvSpPr>
              <a:spLocks noChangeShapeType="1"/>
            </p:cNvSpPr>
            <p:nvPr/>
          </p:nvSpPr>
          <p:spPr bwMode="auto">
            <a:xfrm flipV="1">
              <a:off x="2544" y="1270"/>
              <a:ext cx="1008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2814" name="Line 39"/>
            <p:cNvSpPr>
              <a:spLocks noChangeShapeType="1"/>
            </p:cNvSpPr>
            <p:nvPr/>
          </p:nvSpPr>
          <p:spPr bwMode="auto">
            <a:xfrm>
              <a:off x="2544" y="1414"/>
              <a:ext cx="1008" cy="2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2815" name="Line 40"/>
            <p:cNvSpPr>
              <a:spLocks noChangeShapeType="1"/>
            </p:cNvSpPr>
            <p:nvPr/>
          </p:nvSpPr>
          <p:spPr bwMode="auto">
            <a:xfrm>
              <a:off x="2544" y="1414"/>
              <a:ext cx="1008" cy="9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2816" name="Line 41"/>
            <p:cNvSpPr>
              <a:spLocks noChangeShapeType="1"/>
            </p:cNvSpPr>
            <p:nvPr/>
          </p:nvSpPr>
          <p:spPr bwMode="auto">
            <a:xfrm>
              <a:off x="2544" y="1414"/>
              <a:ext cx="1008" cy="16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2817" name="Line 42"/>
            <p:cNvSpPr>
              <a:spLocks noChangeShapeType="1"/>
            </p:cNvSpPr>
            <p:nvPr/>
          </p:nvSpPr>
          <p:spPr bwMode="auto">
            <a:xfrm flipV="1">
              <a:off x="2544" y="1270"/>
              <a:ext cx="1008" cy="52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2818" name="Line 43"/>
            <p:cNvSpPr>
              <a:spLocks noChangeShapeType="1"/>
            </p:cNvSpPr>
            <p:nvPr/>
          </p:nvSpPr>
          <p:spPr bwMode="auto">
            <a:xfrm flipV="1">
              <a:off x="2544" y="1654"/>
              <a:ext cx="1008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2819" name="Line 44"/>
            <p:cNvSpPr>
              <a:spLocks noChangeShapeType="1"/>
            </p:cNvSpPr>
            <p:nvPr/>
          </p:nvSpPr>
          <p:spPr bwMode="auto">
            <a:xfrm>
              <a:off x="2544" y="1798"/>
              <a:ext cx="1008" cy="52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2820" name="Line 45"/>
            <p:cNvSpPr>
              <a:spLocks noChangeShapeType="1"/>
            </p:cNvSpPr>
            <p:nvPr/>
          </p:nvSpPr>
          <p:spPr bwMode="auto">
            <a:xfrm>
              <a:off x="2544" y="1798"/>
              <a:ext cx="1008" cy="124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2821" name="Line 46"/>
            <p:cNvSpPr>
              <a:spLocks noChangeShapeType="1"/>
            </p:cNvSpPr>
            <p:nvPr/>
          </p:nvSpPr>
          <p:spPr bwMode="auto">
            <a:xfrm flipV="1">
              <a:off x="2544" y="1270"/>
              <a:ext cx="1008" cy="124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2822" name="Line 47"/>
            <p:cNvSpPr>
              <a:spLocks noChangeShapeType="1"/>
            </p:cNvSpPr>
            <p:nvPr/>
          </p:nvSpPr>
          <p:spPr bwMode="auto">
            <a:xfrm flipV="1">
              <a:off x="2544" y="1654"/>
              <a:ext cx="1008" cy="86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2823" name="Line 48"/>
            <p:cNvSpPr>
              <a:spLocks noChangeShapeType="1"/>
            </p:cNvSpPr>
            <p:nvPr/>
          </p:nvSpPr>
          <p:spPr bwMode="auto">
            <a:xfrm flipV="1">
              <a:off x="2544" y="2326"/>
              <a:ext cx="1008" cy="19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2824" name="Line 49"/>
            <p:cNvSpPr>
              <a:spLocks noChangeShapeType="1"/>
            </p:cNvSpPr>
            <p:nvPr/>
          </p:nvSpPr>
          <p:spPr bwMode="auto">
            <a:xfrm>
              <a:off x="2544" y="2566"/>
              <a:ext cx="1008" cy="48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2825" name="Rectangle 50"/>
            <p:cNvSpPr>
              <a:spLocks noChangeArrowheads="1"/>
            </p:cNvSpPr>
            <p:nvPr/>
          </p:nvSpPr>
          <p:spPr bwMode="auto">
            <a:xfrm>
              <a:off x="912" y="1270"/>
              <a:ext cx="576" cy="240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2826" name="Rectangle 51"/>
            <p:cNvSpPr>
              <a:spLocks noChangeArrowheads="1"/>
            </p:cNvSpPr>
            <p:nvPr/>
          </p:nvSpPr>
          <p:spPr bwMode="auto">
            <a:xfrm>
              <a:off x="912" y="1595"/>
              <a:ext cx="576" cy="240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2827" name="Rectangle 52"/>
            <p:cNvSpPr>
              <a:spLocks noChangeArrowheads="1"/>
            </p:cNvSpPr>
            <p:nvPr/>
          </p:nvSpPr>
          <p:spPr bwMode="auto">
            <a:xfrm>
              <a:off x="912" y="2336"/>
              <a:ext cx="576" cy="240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2828" name="Text Box 53"/>
            <p:cNvSpPr txBox="1">
              <a:spLocks noChangeArrowheads="1"/>
            </p:cNvSpPr>
            <p:nvPr/>
          </p:nvSpPr>
          <p:spPr bwMode="auto">
            <a:xfrm>
              <a:off x="960" y="1270"/>
              <a:ext cx="43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标记</a:t>
              </a:r>
            </a:p>
          </p:txBody>
        </p:sp>
        <p:sp>
          <p:nvSpPr>
            <p:cNvPr id="202829" name="Text Box 54"/>
            <p:cNvSpPr txBox="1">
              <a:spLocks noChangeArrowheads="1"/>
            </p:cNvSpPr>
            <p:nvPr/>
          </p:nvSpPr>
          <p:spPr bwMode="auto">
            <a:xfrm>
              <a:off x="960" y="1596"/>
              <a:ext cx="43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标记</a:t>
              </a:r>
            </a:p>
          </p:txBody>
        </p:sp>
        <p:sp>
          <p:nvSpPr>
            <p:cNvPr id="202830" name="Text Box 55"/>
            <p:cNvSpPr txBox="1">
              <a:spLocks noChangeArrowheads="1"/>
            </p:cNvSpPr>
            <p:nvPr/>
          </p:nvSpPr>
          <p:spPr bwMode="auto">
            <a:xfrm>
              <a:off x="960" y="2326"/>
              <a:ext cx="43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标记</a:t>
              </a:r>
            </a:p>
          </p:txBody>
        </p:sp>
        <p:sp>
          <p:nvSpPr>
            <p:cNvPr id="202831" name="Text Box 56"/>
            <p:cNvSpPr txBox="1">
              <a:spLocks noChangeArrowheads="1"/>
            </p:cNvSpPr>
            <p:nvPr/>
          </p:nvSpPr>
          <p:spPr bwMode="auto">
            <a:xfrm>
              <a:off x="758" y="3110"/>
              <a:ext cx="108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主存字块标记</a:t>
              </a:r>
            </a:p>
          </p:txBody>
        </p:sp>
        <p:sp>
          <p:nvSpPr>
            <p:cNvPr id="202832" name="Rectangle 57"/>
            <p:cNvSpPr>
              <a:spLocks noChangeArrowheads="1"/>
            </p:cNvSpPr>
            <p:nvPr/>
          </p:nvSpPr>
          <p:spPr bwMode="auto">
            <a:xfrm>
              <a:off x="768" y="3104"/>
              <a:ext cx="1056" cy="28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2833" name="Rectangle 58"/>
            <p:cNvSpPr>
              <a:spLocks noChangeArrowheads="1"/>
            </p:cNvSpPr>
            <p:nvPr/>
          </p:nvSpPr>
          <p:spPr bwMode="auto">
            <a:xfrm>
              <a:off x="1824" y="3104"/>
              <a:ext cx="1056" cy="28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2834" name="Text Box 59"/>
            <p:cNvSpPr txBox="1">
              <a:spLocks noChangeArrowheads="1"/>
            </p:cNvSpPr>
            <p:nvPr/>
          </p:nvSpPr>
          <p:spPr bwMode="auto">
            <a:xfrm>
              <a:off x="1872" y="3110"/>
              <a:ext cx="93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900">
                  <a:latin typeface="Times New Roman" panose="02020603050405020304" pitchFamily="18" charset="0"/>
                </a:rPr>
                <a:t> </a:t>
              </a:r>
              <a:r>
                <a:rPr lang="zh-CN" altLang="en-US" sz="2000">
                  <a:latin typeface="Times New Roman" panose="02020603050405020304" pitchFamily="18" charset="0"/>
                </a:rPr>
                <a:t>字块内地址</a:t>
              </a:r>
            </a:p>
          </p:txBody>
        </p:sp>
        <p:sp>
          <p:nvSpPr>
            <p:cNvPr id="202835" name="Text Box 60"/>
            <p:cNvSpPr txBox="1">
              <a:spLocks noChangeArrowheads="1"/>
            </p:cNvSpPr>
            <p:nvPr/>
          </p:nvSpPr>
          <p:spPr bwMode="auto">
            <a:xfrm>
              <a:off x="728" y="2844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主存地址</a:t>
              </a:r>
            </a:p>
          </p:txBody>
        </p:sp>
        <p:sp>
          <p:nvSpPr>
            <p:cNvPr id="202836" name="Text Box 61"/>
            <p:cNvSpPr txBox="1">
              <a:spLocks noChangeArrowheads="1"/>
            </p:cNvSpPr>
            <p:nvPr/>
          </p:nvSpPr>
          <p:spPr bwMode="auto">
            <a:xfrm>
              <a:off x="768" y="3382"/>
              <a:ext cx="102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 i="1">
                  <a:latin typeface="Times New Roman" panose="02020603050405020304" pitchFamily="18" charset="0"/>
                </a:rPr>
                <a:t>m</a:t>
              </a:r>
              <a:r>
                <a:rPr lang="en-US" altLang="zh-CN" sz="2400">
                  <a:latin typeface="Times New Roman" panose="02020603050405020304" pitchFamily="18" charset="0"/>
                </a:rPr>
                <a:t> = </a:t>
              </a:r>
              <a:r>
                <a:rPr lang="en-US" altLang="zh-CN" sz="2400" i="1">
                  <a:latin typeface="Times New Roman" panose="02020603050405020304" pitchFamily="18" charset="0"/>
                </a:rPr>
                <a:t>t</a:t>
              </a:r>
              <a:r>
                <a:rPr lang="en-US" altLang="zh-CN" sz="2400">
                  <a:latin typeface="Times New Roman" panose="02020603050405020304" pitchFamily="18" charset="0"/>
                </a:rPr>
                <a:t> + </a:t>
              </a:r>
              <a:r>
                <a:rPr lang="en-US" altLang="zh-CN" sz="2400" i="1">
                  <a:latin typeface="Times New Roman" panose="02020603050405020304" pitchFamily="18" charset="0"/>
                </a:rPr>
                <a:t>c</a:t>
              </a:r>
              <a:r>
                <a:rPr lang="en-US" altLang="zh-CN" sz="2400">
                  <a:latin typeface="Times New Roman" panose="02020603050405020304" pitchFamily="18" charset="0"/>
                </a:rPr>
                <a:t> </a:t>
              </a:r>
              <a:r>
                <a:rPr lang="zh-CN" altLang="en-US" sz="2000">
                  <a:latin typeface="Times New Roman" panose="02020603050405020304" pitchFamily="18" charset="0"/>
                </a:rPr>
                <a:t>位</a:t>
              </a:r>
            </a:p>
          </p:txBody>
        </p:sp>
        <p:sp>
          <p:nvSpPr>
            <p:cNvPr id="202837" name="Text Box 62"/>
            <p:cNvSpPr txBox="1">
              <a:spLocks noChangeArrowheads="1"/>
            </p:cNvSpPr>
            <p:nvPr/>
          </p:nvSpPr>
          <p:spPr bwMode="auto">
            <a:xfrm>
              <a:off x="2160" y="3382"/>
              <a:ext cx="37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 i="1">
                  <a:latin typeface="Times New Roman" panose="02020603050405020304" pitchFamily="18" charset="0"/>
                </a:rPr>
                <a:t>b</a:t>
              </a:r>
              <a:r>
                <a:rPr lang="zh-CN" altLang="en-US" sz="2000">
                  <a:latin typeface="Times New Roman" panose="02020603050405020304" pitchFamily="18" charset="0"/>
                </a:rPr>
                <a:t>位</a:t>
              </a:r>
            </a:p>
          </p:txBody>
        </p:sp>
        <p:sp>
          <p:nvSpPr>
            <p:cNvPr id="202838" name="Text Box 63"/>
            <p:cNvSpPr txBox="1">
              <a:spLocks noChangeArrowheads="1"/>
            </p:cNvSpPr>
            <p:nvPr/>
          </p:nvSpPr>
          <p:spPr bwMode="auto">
            <a:xfrm>
              <a:off x="864" y="982"/>
              <a:ext cx="67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 i="1">
                  <a:latin typeface="Times New Roman" panose="02020603050405020304" pitchFamily="18" charset="0"/>
                </a:rPr>
                <a:t>m</a:t>
              </a:r>
              <a:r>
                <a:rPr lang="en-US" altLang="zh-CN" sz="1400">
                  <a:latin typeface="Times New Roman" panose="02020603050405020304" pitchFamily="18" charset="0"/>
                </a:rPr>
                <a:t> </a:t>
              </a:r>
              <a:r>
                <a:rPr lang="en-US" altLang="zh-CN" sz="2400">
                  <a:latin typeface="Times New Roman" panose="02020603050405020304" pitchFamily="18" charset="0"/>
                </a:rPr>
                <a:t>=</a:t>
              </a:r>
              <a:r>
                <a:rPr lang="en-US" altLang="zh-CN" sz="1400">
                  <a:latin typeface="Times New Roman" panose="02020603050405020304" pitchFamily="18" charset="0"/>
                </a:rPr>
                <a:t> </a:t>
              </a:r>
              <a:r>
                <a:rPr lang="en-US" altLang="zh-CN" sz="2400" i="1">
                  <a:latin typeface="Times New Roman" panose="02020603050405020304" pitchFamily="18" charset="0"/>
                </a:rPr>
                <a:t>t</a:t>
              </a:r>
              <a:r>
                <a:rPr lang="en-US" altLang="zh-CN" sz="2400">
                  <a:latin typeface="Times New Roman" panose="02020603050405020304" pitchFamily="18" charset="0"/>
                </a:rPr>
                <a:t>+</a:t>
              </a:r>
              <a:r>
                <a:rPr lang="en-US" altLang="zh-CN" sz="2400" i="1">
                  <a:latin typeface="Times New Roman" panose="02020603050405020304" pitchFamily="18" charset="0"/>
                </a:rPr>
                <a:t>c</a:t>
              </a:r>
              <a:endParaRPr lang="zh-CN" altLang="en-US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202839" name="Text Box 64"/>
            <p:cNvSpPr txBox="1">
              <a:spLocks noChangeArrowheads="1"/>
            </p:cNvSpPr>
            <p:nvPr/>
          </p:nvSpPr>
          <p:spPr bwMode="auto">
            <a:xfrm>
              <a:off x="905" y="720"/>
              <a:ext cx="12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Cache </a:t>
              </a:r>
              <a:r>
                <a:rPr lang="zh-CN" altLang="en-US" sz="2400">
                  <a:latin typeface="Times New Roman" panose="02020603050405020304" pitchFamily="18" charset="0"/>
                </a:rPr>
                <a:t>存储器</a:t>
              </a:r>
            </a:p>
          </p:txBody>
        </p:sp>
        <p:sp>
          <p:nvSpPr>
            <p:cNvPr id="202840" name="Text Box 65"/>
            <p:cNvSpPr txBox="1">
              <a:spLocks noChangeArrowheads="1"/>
            </p:cNvSpPr>
            <p:nvPr/>
          </p:nvSpPr>
          <p:spPr bwMode="auto">
            <a:xfrm>
              <a:off x="3494" y="720"/>
              <a:ext cx="88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主存储器</a:t>
              </a:r>
            </a:p>
          </p:txBody>
        </p:sp>
      </p:grpSp>
      <p:grpSp>
        <p:nvGrpSpPr>
          <p:cNvPr id="3" name="Group 66"/>
          <p:cNvGrpSpPr/>
          <p:nvPr/>
        </p:nvGrpSpPr>
        <p:grpSpPr bwMode="auto">
          <a:xfrm>
            <a:off x="2362200" y="1724025"/>
            <a:ext cx="4649788" cy="2578100"/>
            <a:chOff x="1488" y="1086"/>
            <a:chExt cx="2929" cy="1624"/>
          </a:xfrm>
        </p:grpSpPr>
        <p:grpSp>
          <p:nvGrpSpPr>
            <p:cNvPr id="202760" name="Group 67"/>
            <p:cNvGrpSpPr/>
            <p:nvPr/>
          </p:nvGrpSpPr>
          <p:grpSpPr bwMode="auto">
            <a:xfrm>
              <a:off x="1488" y="1270"/>
              <a:ext cx="1056" cy="1440"/>
              <a:chOff x="1488" y="1270"/>
              <a:chExt cx="1056" cy="1440"/>
            </a:xfrm>
          </p:grpSpPr>
          <p:sp>
            <p:nvSpPr>
              <p:cNvPr id="202773" name="Line 68"/>
              <p:cNvSpPr>
                <a:spLocks noChangeShapeType="1"/>
              </p:cNvSpPr>
              <p:nvPr/>
            </p:nvSpPr>
            <p:spPr bwMode="auto">
              <a:xfrm>
                <a:off x="1488" y="1270"/>
                <a:ext cx="1056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202774" name="Line 69"/>
              <p:cNvSpPr>
                <a:spLocks noChangeShapeType="1"/>
              </p:cNvSpPr>
              <p:nvPr/>
            </p:nvSpPr>
            <p:spPr bwMode="auto">
              <a:xfrm>
                <a:off x="1488" y="1591"/>
                <a:ext cx="1056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202775" name="Line 70"/>
              <p:cNvSpPr>
                <a:spLocks noChangeShapeType="1"/>
              </p:cNvSpPr>
              <p:nvPr/>
            </p:nvSpPr>
            <p:spPr bwMode="auto">
              <a:xfrm>
                <a:off x="1488" y="1964"/>
                <a:ext cx="1056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202776" name="Line 71"/>
              <p:cNvSpPr>
                <a:spLocks noChangeShapeType="1"/>
              </p:cNvSpPr>
              <p:nvPr/>
            </p:nvSpPr>
            <p:spPr bwMode="auto">
              <a:xfrm>
                <a:off x="1488" y="2337"/>
                <a:ext cx="1056" cy="0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202777" name="Line 72"/>
              <p:cNvSpPr>
                <a:spLocks noChangeShapeType="1"/>
              </p:cNvSpPr>
              <p:nvPr/>
            </p:nvSpPr>
            <p:spPr bwMode="auto">
              <a:xfrm>
                <a:off x="1488" y="2710"/>
                <a:ext cx="1056" cy="0"/>
              </a:xfrm>
              <a:prstGeom prst="line">
                <a:avLst/>
              </a:prstGeom>
              <a:noFill/>
              <a:ln w="38100" cap="sq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202778" name="Line 73"/>
              <p:cNvSpPr>
                <a:spLocks noChangeShapeType="1"/>
              </p:cNvSpPr>
              <p:nvPr/>
            </p:nvSpPr>
            <p:spPr bwMode="auto">
              <a:xfrm>
                <a:off x="1488" y="1270"/>
                <a:ext cx="0" cy="1440"/>
              </a:xfrm>
              <a:prstGeom prst="line">
                <a:avLst/>
              </a:prstGeom>
              <a:noFill/>
              <a:ln w="38100" cap="sq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  <p:sp>
            <p:nvSpPr>
              <p:cNvPr id="202779" name="Line 74"/>
              <p:cNvSpPr>
                <a:spLocks noChangeShapeType="1"/>
              </p:cNvSpPr>
              <p:nvPr/>
            </p:nvSpPr>
            <p:spPr bwMode="auto">
              <a:xfrm>
                <a:off x="2544" y="1270"/>
                <a:ext cx="0" cy="1440"/>
              </a:xfrm>
              <a:prstGeom prst="line">
                <a:avLst/>
              </a:prstGeom>
              <a:noFill/>
              <a:ln w="38100" cap="sq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 anchorCtr="1"/>
              <a:lstStyle/>
              <a:p>
                <a:endParaRPr lang="zh-CN" altLang="en-US"/>
              </a:p>
            </p:txBody>
          </p:sp>
        </p:grpSp>
        <p:grpSp>
          <p:nvGrpSpPr>
            <p:cNvPr id="202761" name="Group 75"/>
            <p:cNvGrpSpPr/>
            <p:nvPr/>
          </p:nvGrpSpPr>
          <p:grpSpPr bwMode="auto">
            <a:xfrm>
              <a:off x="2544" y="1086"/>
              <a:ext cx="1873" cy="1432"/>
              <a:chOff x="2544" y="1086"/>
              <a:chExt cx="1873" cy="1432"/>
            </a:xfrm>
          </p:grpSpPr>
          <p:sp>
            <p:nvSpPr>
              <p:cNvPr id="202762" name="Rectangle 76"/>
              <p:cNvSpPr>
                <a:spLocks noChangeArrowheads="1"/>
              </p:cNvSpPr>
              <p:nvPr/>
            </p:nvSpPr>
            <p:spPr bwMode="auto">
              <a:xfrm>
                <a:off x="3552" y="1094"/>
                <a:ext cx="864" cy="357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tIns="0" bIns="0" anchor="ctr" anchorCtr="1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 b="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字块0</a:t>
                </a:r>
              </a:p>
            </p:txBody>
          </p:sp>
          <p:sp>
            <p:nvSpPr>
              <p:cNvPr id="202763" name="Line 77"/>
              <p:cNvSpPr>
                <a:spLocks noChangeShapeType="1"/>
              </p:cNvSpPr>
              <p:nvPr/>
            </p:nvSpPr>
            <p:spPr bwMode="auto">
              <a:xfrm>
                <a:off x="3552" y="1094"/>
                <a:ext cx="864" cy="0"/>
              </a:xfrm>
              <a:prstGeom prst="line">
                <a:avLst/>
              </a:prstGeom>
              <a:noFill/>
              <a:ln w="28575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tIns="0" bIns="0" anchor="ctr" anchorCtr="1"/>
              <a:lstStyle/>
              <a:p>
                <a:endParaRPr lang="zh-CN" altLang="en-US"/>
              </a:p>
            </p:txBody>
          </p:sp>
          <p:sp>
            <p:nvSpPr>
              <p:cNvPr id="202764" name="Line 78"/>
              <p:cNvSpPr>
                <a:spLocks noChangeShapeType="1"/>
              </p:cNvSpPr>
              <p:nvPr/>
            </p:nvSpPr>
            <p:spPr bwMode="auto">
              <a:xfrm>
                <a:off x="3552" y="1451"/>
                <a:ext cx="86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tIns="0" bIns="0" anchor="ctr" anchorCtr="1"/>
              <a:lstStyle/>
              <a:p>
                <a:endParaRPr lang="zh-CN" altLang="en-US"/>
              </a:p>
            </p:txBody>
          </p:sp>
          <p:sp>
            <p:nvSpPr>
              <p:cNvPr id="202765" name="Line 79"/>
              <p:cNvSpPr>
                <a:spLocks noChangeShapeType="1"/>
              </p:cNvSpPr>
              <p:nvPr/>
            </p:nvSpPr>
            <p:spPr bwMode="auto">
              <a:xfrm flipV="1">
                <a:off x="2544" y="1270"/>
                <a:ext cx="1008" cy="144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02766" name="Line 80"/>
              <p:cNvSpPr>
                <a:spLocks noChangeShapeType="1"/>
              </p:cNvSpPr>
              <p:nvPr/>
            </p:nvSpPr>
            <p:spPr bwMode="auto">
              <a:xfrm flipV="1">
                <a:off x="2544" y="1270"/>
                <a:ext cx="1008" cy="528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02767" name="Line 81"/>
              <p:cNvSpPr>
                <a:spLocks noChangeShapeType="1"/>
              </p:cNvSpPr>
              <p:nvPr/>
            </p:nvSpPr>
            <p:spPr bwMode="auto">
              <a:xfrm flipV="1">
                <a:off x="2544" y="1270"/>
                <a:ext cx="1008" cy="1248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02768" name="Group 82"/>
              <p:cNvGrpSpPr/>
              <p:nvPr/>
            </p:nvGrpSpPr>
            <p:grpSpPr bwMode="auto">
              <a:xfrm>
                <a:off x="3552" y="1086"/>
                <a:ext cx="865" cy="372"/>
                <a:chOff x="3552" y="1086"/>
                <a:chExt cx="865" cy="372"/>
              </a:xfrm>
            </p:grpSpPr>
            <p:sp>
              <p:nvSpPr>
                <p:cNvPr id="202769" name="Line 83"/>
                <p:cNvSpPr>
                  <a:spLocks noChangeShapeType="1"/>
                </p:cNvSpPr>
                <p:nvPr/>
              </p:nvSpPr>
              <p:spPr bwMode="auto">
                <a:xfrm>
                  <a:off x="3552" y="1094"/>
                  <a:ext cx="864" cy="0"/>
                </a:xfrm>
                <a:prstGeom prst="line">
                  <a:avLst/>
                </a:prstGeom>
                <a:noFill/>
                <a:ln w="28575" cap="sq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tIns="0" bIns="0" anchor="ctr" anchorCtr="1"/>
                <a:lstStyle/>
                <a:p>
                  <a:endParaRPr lang="zh-CN" altLang="en-US"/>
                </a:p>
              </p:txBody>
            </p:sp>
            <p:sp>
              <p:nvSpPr>
                <p:cNvPr id="202770" name="Line 84"/>
                <p:cNvSpPr>
                  <a:spLocks noChangeShapeType="1"/>
                </p:cNvSpPr>
                <p:nvPr/>
              </p:nvSpPr>
              <p:spPr bwMode="auto">
                <a:xfrm>
                  <a:off x="3552" y="1451"/>
                  <a:ext cx="864" cy="0"/>
                </a:xfrm>
                <a:prstGeom prst="line">
                  <a:avLst/>
                </a:prstGeom>
                <a:noFill/>
                <a:ln w="28575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tIns="0" bIns="0" anchor="ctr" anchorCtr="1"/>
                <a:lstStyle/>
                <a:p>
                  <a:endParaRPr lang="zh-CN" altLang="en-US"/>
                </a:p>
              </p:txBody>
            </p:sp>
            <p:sp>
              <p:nvSpPr>
                <p:cNvPr id="202771" name="Freeform 85"/>
                <p:cNvSpPr/>
                <p:nvPr/>
              </p:nvSpPr>
              <p:spPr bwMode="auto">
                <a:xfrm>
                  <a:off x="3552" y="1089"/>
                  <a:ext cx="1" cy="366"/>
                </a:xfrm>
                <a:custGeom>
                  <a:avLst/>
                  <a:gdLst>
                    <a:gd name="T0" fmla="*/ 0 w 1"/>
                    <a:gd name="T1" fmla="*/ 0 h 366"/>
                    <a:gd name="T2" fmla="*/ 0 w 1"/>
                    <a:gd name="T3" fmla="*/ 366 h 366"/>
                    <a:gd name="T4" fmla="*/ 0 60000 65536"/>
                    <a:gd name="T5" fmla="*/ 0 60000 65536"/>
                    <a:gd name="T6" fmla="*/ 0 w 1"/>
                    <a:gd name="T7" fmla="*/ 0 h 366"/>
                    <a:gd name="T8" fmla="*/ 1 w 1"/>
                    <a:gd name="T9" fmla="*/ 366 h 3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366">
                      <a:moveTo>
                        <a:pt x="0" y="0"/>
                      </a:moveTo>
                      <a:lnTo>
                        <a:pt x="0" y="366"/>
                      </a:lnTo>
                    </a:path>
                  </a:pathLst>
                </a:custGeom>
                <a:noFill/>
                <a:ln w="28575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2772" name="Freeform 86"/>
                <p:cNvSpPr/>
                <p:nvPr/>
              </p:nvSpPr>
              <p:spPr bwMode="auto">
                <a:xfrm>
                  <a:off x="4416" y="1086"/>
                  <a:ext cx="1" cy="372"/>
                </a:xfrm>
                <a:custGeom>
                  <a:avLst/>
                  <a:gdLst>
                    <a:gd name="T0" fmla="*/ 0 w 1"/>
                    <a:gd name="T1" fmla="*/ 0 h 372"/>
                    <a:gd name="T2" fmla="*/ 0 w 1"/>
                    <a:gd name="T3" fmla="*/ 372 h 372"/>
                    <a:gd name="T4" fmla="*/ 0 60000 65536"/>
                    <a:gd name="T5" fmla="*/ 0 60000 65536"/>
                    <a:gd name="T6" fmla="*/ 0 w 1"/>
                    <a:gd name="T7" fmla="*/ 0 h 372"/>
                    <a:gd name="T8" fmla="*/ 1 w 1"/>
                    <a:gd name="T9" fmla="*/ 372 h 37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372">
                      <a:moveTo>
                        <a:pt x="0" y="0"/>
                      </a:moveTo>
                      <a:lnTo>
                        <a:pt x="0" y="372"/>
                      </a:lnTo>
                    </a:path>
                  </a:pathLst>
                </a:custGeom>
                <a:noFill/>
                <a:ln w="28575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293975" name="Rectangle 87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4.3</a:t>
            </a:r>
          </a:p>
        </p:txBody>
      </p:sp>
      <p:sp>
        <p:nvSpPr>
          <p:cNvPr id="202759" name="AutoShape 88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8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938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3891" grpId="0" autoUpdateAnimBg="0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695325" y="838200"/>
            <a:ext cx="8067675" cy="4876800"/>
            <a:chOff x="438" y="528"/>
            <a:chExt cx="5082" cy="3072"/>
          </a:xfrm>
        </p:grpSpPr>
        <p:grpSp>
          <p:nvGrpSpPr>
            <p:cNvPr id="203837" name="Group 3"/>
            <p:cNvGrpSpPr/>
            <p:nvPr/>
          </p:nvGrpSpPr>
          <p:grpSpPr bwMode="auto">
            <a:xfrm>
              <a:off x="438" y="528"/>
              <a:ext cx="5082" cy="3072"/>
              <a:chOff x="438" y="528"/>
              <a:chExt cx="5082" cy="3072"/>
            </a:xfrm>
          </p:grpSpPr>
          <p:grpSp>
            <p:nvGrpSpPr>
              <p:cNvPr id="203839" name="Group 4"/>
              <p:cNvGrpSpPr/>
              <p:nvPr/>
            </p:nvGrpSpPr>
            <p:grpSpPr bwMode="auto">
              <a:xfrm>
                <a:off x="438" y="528"/>
                <a:ext cx="5082" cy="3072"/>
                <a:chOff x="438" y="528"/>
                <a:chExt cx="5082" cy="3072"/>
              </a:xfrm>
            </p:grpSpPr>
            <p:grpSp>
              <p:nvGrpSpPr>
                <p:cNvPr id="203841" name="Group 5"/>
                <p:cNvGrpSpPr/>
                <p:nvPr/>
              </p:nvGrpSpPr>
              <p:grpSpPr bwMode="auto">
                <a:xfrm>
                  <a:off x="4512" y="899"/>
                  <a:ext cx="1008" cy="2701"/>
                  <a:chOff x="4512" y="899"/>
                  <a:chExt cx="1008" cy="2701"/>
                </a:xfrm>
              </p:grpSpPr>
              <p:sp>
                <p:nvSpPr>
                  <p:cNvPr id="203907" name="Rectangle 6"/>
                  <p:cNvSpPr>
                    <a:spLocks noChangeArrowheads="1"/>
                  </p:cNvSpPr>
                  <p:nvPr/>
                </p:nvSpPr>
                <p:spPr bwMode="auto">
                  <a:xfrm>
                    <a:off x="4579" y="3351"/>
                    <a:ext cx="912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字块2</a:t>
                    </a:r>
                    <a:r>
                      <a:rPr lang="en-US" altLang="zh-CN" sz="2000" i="1" baseline="30000">
                        <a:latin typeface="Times New Roman" panose="02020603050405020304" pitchFamily="18" charset="0"/>
                      </a:rPr>
                      <a:t>m</a:t>
                    </a:r>
                    <a:r>
                      <a:rPr lang="en-US" altLang="zh-CN" sz="1400">
                        <a:latin typeface="Times New Roman" panose="02020603050405020304" pitchFamily="18" charset="0"/>
                      </a:rPr>
                      <a:t>－</a:t>
                    </a:r>
                    <a:r>
                      <a:rPr lang="en-US" altLang="zh-CN" sz="2000">
                        <a:latin typeface="Times New Roman" panose="02020603050405020304" pitchFamily="18" charset="0"/>
                      </a:rPr>
                      <a:t>1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03908" name="Rectangle 7"/>
                  <p:cNvSpPr>
                    <a:spLocks noChangeArrowheads="1"/>
                  </p:cNvSpPr>
                  <p:nvPr/>
                </p:nvSpPr>
                <p:spPr bwMode="auto">
                  <a:xfrm>
                    <a:off x="4608" y="2872"/>
                    <a:ext cx="912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字块2</a:t>
                    </a:r>
                    <a:r>
                      <a:rPr lang="en-US" altLang="zh-CN" sz="2000" i="1" baseline="30000"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zh-CN" sz="2000" baseline="30000">
                        <a:latin typeface="Times New Roman" panose="02020603050405020304" pitchFamily="18" charset="0"/>
                      </a:rPr>
                      <a:t>-</a:t>
                    </a:r>
                    <a:r>
                      <a:rPr lang="en-US" altLang="zh-CN" sz="2000" i="1" baseline="30000">
                        <a:latin typeface="Times New Roman" panose="02020603050405020304" pitchFamily="18" charset="0"/>
                      </a:rPr>
                      <a:t>r</a:t>
                    </a:r>
                    <a:r>
                      <a:rPr lang="en-US" altLang="zh-CN" sz="2000" baseline="30000">
                        <a:latin typeface="Times New Roman" panose="02020603050405020304" pitchFamily="18" charset="0"/>
                      </a:rPr>
                      <a:t>+1</a:t>
                    </a:r>
                    <a:endParaRPr lang="zh-CN" altLang="en-US" sz="2000" baseline="30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03909" name="Rectangle 8"/>
                  <p:cNvSpPr>
                    <a:spLocks noChangeArrowheads="1"/>
                  </p:cNvSpPr>
                  <p:nvPr/>
                </p:nvSpPr>
                <p:spPr bwMode="auto">
                  <a:xfrm>
                    <a:off x="4512" y="2623"/>
                    <a:ext cx="912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 b="0">
                        <a:latin typeface="Times New Roman" panose="02020603050405020304" pitchFamily="18" charset="0"/>
                      </a:rPr>
                      <a:t> 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03910" name="Rectangle 9"/>
                  <p:cNvSpPr>
                    <a:spLocks noChangeArrowheads="1"/>
                  </p:cNvSpPr>
                  <p:nvPr/>
                </p:nvSpPr>
                <p:spPr bwMode="auto">
                  <a:xfrm>
                    <a:off x="4522" y="2125"/>
                    <a:ext cx="912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 b="0">
                        <a:latin typeface="Times New Roman" panose="02020603050405020304" pitchFamily="18" charset="0"/>
                      </a:rPr>
                      <a:t> </a:t>
                    </a:r>
                    <a:r>
                      <a:rPr lang="zh-CN" altLang="en-US" sz="2000">
                        <a:latin typeface="Times New Roman" panose="02020603050405020304" pitchFamily="18" charset="0"/>
                      </a:rPr>
                      <a:t>字块2</a:t>
                    </a:r>
                    <a:r>
                      <a:rPr lang="en-US" altLang="zh-CN" sz="2000" i="1" baseline="30000"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zh-CN" sz="2000" baseline="30000">
                        <a:latin typeface="Times New Roman" panose="02020603050405020304" pitchFamily="18" charset="0"/>
                      </a:rPr>
                      <a:t>-</a:t>
                    </a:r>
                    <a:r>
                      <a:rPr lang="en-US" altLang="zh-CN" sz="2000" i="1" baseline="30000">
                        <a:latin typeface="Times New Roman" panose="02020603050405020304" pitchFamily="18" charset="0"/>
                      </a:rPr>
                      <a:t>r </a:t>
                    </a:r>
                    <a:r>
                      <a:rPr lang="en-US" altLang="zh-CN" sz="2000">
                        <a:latin typeface="Times New Roman" panose="02020603050405020304" pitchFamily="18" charset="0"/>
                      </a:rPr>
                      <a:t>+</a:t>
                    </a:r>
                    <a:r>
                      <a:rPr lang="en-US" altLang="zh-CN" sz="1000">
                        <a:latin typeface="Times New Roman" panose="02020603050405020304" pitchFamily="18" charset="0"/>
                      </a:rPr>
                      <a:t> </a:t>
                    </a:r>
                    <a:r>
                      <a:rPr lang="en-US" altLang="zh-CN" sz="2000">
                        <a:latin typeface="Times New Roman" panose="02020603050405020304" pitchFamily="18" charset="0"/>
                      </a:rPr>
                      <a:t>1</a:t>
                    </a:r>
                    <a:endParaRPr lang="zh-CN" altLang="en-US" sz="2000" baseline="30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03911" name="Rectangle 10"/>
                  <p:cNvSpPr>
                    <a:spLocks noChangeArrowheads="1"/>
                  </p:cNvSpPr>
                  <p:nvPr/>
                </p:nvSpPr>
                <p:spPr bwMode="auto">
                  <a:xfrm>
                    <a:off x="4512" y="1876"/>
                    <a:ext cx="912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    字块2</a:t>
                    </a:r>
                    <a:r>
                      <a:rPr lang="en-US" altLang="zh-CN" sz="2000" i="1" baseline="30000"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zh-CN" sz="2000" baseline="30000">
                        <a:latin typeface="Times New Roman" panose="02020603050405020304" pitchFamily="18" charset="0"/>
                      </a:rPr>
                      <a:t>-</a:t>
                    </a:r>
                    <a:r>
                      <a:rPr lang="en-US" altLang="zh-CN" sz="2000" i="1" baseline="30000">
                        <a:latin typeface="Times New Roman" panose="02020603050405020304" pitchFamily="18" charset="0"/>
                      </a:rPr>
                      <a:t>r</a:t>
                    </a:r>
                    <a:endParaRPr lang="zh-CN" altLang="en-US" sz="2000" i="1" baseline="30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03912" name="Rectangle 11"/>
                  <p:cNvSpPr>
                    <a:spLocks noChangeArrowheads="1"/>
                  </p:cNvSpPr>
                  <p:nvPr/>
                </p:nvSpPr>
                <p:spPr bwMode="auto">
                  <a:xfrm>
                    <a:off x="4560" y="1627"/>
                    <a:ext cx="912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字块2</a:t>
                    </a:r>
                    <a:r>
                      <a:rPr lang="en-US" altLang="zh-CN" sz="2000" i="1" baseline="30000"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zh-CN" sz="2000" baseline="30000">
                        <a:latin typeface="Times New Roman" panose="02020603050405020304" pitchFamily="18" charset="0"/>
                      </a:rPr>
                      <a:t>-</a:t>
                    </a:r>
                    <a:r>
                      <a:rPr lang="en-US" altLang="zh-CN" sz="2000" i="1" baseline="30000">
                        <a:latin typeface="Times New Roman" panose="02020603050405020304" pitchFamily="18" charset="0"/>
                      </a:rPr>
                      <a:t>r</a:t>
                    </a:r>
                    <a:r>
                      <a:rPr lang="en-US" altLang="zh-CN" sz="2000" baseline="30000">
                        <a:latin typeface="Times New Roman" panose="02020603050405020304" pitchFamily="18" charset="0"/>
                      </a:rPr>
                      <a:t> </a:t>
                    </a:r>
                    <a:r>
                      <a:rPr lang="en-US" altLang="zh-CN" sz="1400">
                        <a:latin typeface="Times New Roman" panose="02020603050405020304" pitchFamily="18" charset="0"/>
                      </a:rPr>
                      <a:t>－</a:t>
                    </a:r>
                  </a:p>
                </p:txBody>
              </p:sp>
              <p:sp>
                <p:nvSpPr>
                  <p:cNvPr id="203913" name="Rectangle 12"/>
                  <p:cNvSpPr>
                    <a:spLocks noChangeArrowheads="1"/>
                  </p:cNvSpPr>
                  <p:nvPr/>
                </p:nvSpPr>
                <p:spPr bwMode="auto">
                  <a:xfrm>
                    <a:off x="4512" y="1397"/>
                    <a:ext cx="912" cy="23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endParaRPr lang="zh-CN" altLang="en-US" sz="1800" b="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03914" name="Rectangle 13"/>
                  <p:cNvSpPr>
                    <a:spLocks noChangeArrowheads="1"/>
                  </p:cNvSpPr>
                  <p:nvPr/>
                </p:nvSpPr>
                <p:spPr bwMode="auto">
                  <a:xfrm>
                    <a:off x="4560" y="1148"/>
                    <a:ext cx="912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 b="0">
                        <a:latin typeface="Times New Roman" panose="02020603050405020304" pitchFamily="18" charset="0"/>
                      </a:rPr>
                      <a:t>    </a:t>
                    </a:r>
                    <a:r>
                      <a:rPr lang="zh-CN" altLang="en-US" sz="2000">
                        <a:latin typeface="Times New Roman" panose="02020603050405020304" pitchFamily="18" charset="0"/>
                      </a:rPr>
                      <a:t>字块1</a:t>
                    </a:r>
                  </a:p>
                </p:txBody>
              </p:sp>
              <p:sp>
                <p:nvSpPr>
                  <p:cNvPr id="203915" name="Rectangle 14"/>
                  <p:cNvSpPr>
                    <a:spLocks noChangeArrowheads="1"/>
                  </p:cNvSpPr>
                  <p:nvPr/>
                </p:nvSpPr>
                <p:spPr bwMode="auto">
                  <a:xfrm>
                    <a:off x="4560" y="899"/>
                    <a:ext cx="912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    字块0</a:t>
                    </a:r>
                  </a:p>
                </p:txBody>
              </p:sp>
              <p:sp>
                <p:nvSpPr>
                  <p:cNvPr id="203916" name="Line 15"/>
                  <p:cNvSpPr>
                    <a:spLocks noChangeShapeType="1"/>
                  </p:cNvSpPr>
                  <p:nvPr/>
                </p:nvSpPr>
                <p:spPr bwMode="auto">
                  <a:xfrm>
                    <a:off x="4512" y="899"/>
                    <a:ext cx="912" cy="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917" name="Line 16"/>
                  <p:cNvSpPr>
                    <a:spLocks noChangeShapeType="1"/>
                  </p:cNvSpPr>
                  <p:nvPr/>
                </p:nvSpPr>
                <p:spPr bwMode="auto">
                  <a:xfrm>
                    <a:off x="4512" y="1148"/>
                    <a:ext cx="91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918" name="Line 17"/>
                  <p:cNvSpPr>
                    <a:spLocks noChangeShapeType="1"/>
                  </p:cNvSpPr>
                  <p:nvPr/>
                </p:nvSpPr>
                <p:spPr bwMode="auto">
                  <a:xfrm>
                    <a:off x="4512" y="1397"/>
                    <a:ext cx="91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919" name="Line 18"/>
                  <p:cNvSpPr>
                    <a:spLocks noChangeShapeType="1"/>
                  </p:cNvSpPr>
                  <p:nvPr/>
                </p:nvSpPr>
                <p:spPr bwMode="auto">
                  <a:xfrm>
                    <a:off x="4512" y="1627"/>
                    <a:ext cx="91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920" name="Line 19"/>
                  <p:cNvSpPr>
                    <a:spLocks noChangeShapeType="1"/>
                  </p:cNvSpPr>
                  <p:nvPr/>
                </p:nvSpPr>
                <p:spPr bwMode="auto">
                  <a:xfrm>
                    <a:off x="4512" y="1876"/>
                    <a:ext cx="91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921" name="Line 20"/>
                  <p:cNvSpPr>
                    <a:spLocks noChangeShapeType="1"/>
                  </p:cNvSpPr>
                  <p:nvPr/>
                </p:nvSpPr>
                <p:spPr bwMode="auto">
                  <a:xfrm>
                    <a:off x="4512" y="2125"/>
                    <a:ext cx="91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922" name="Line 21"/>
                  <p:cNvSpPr>
                    <a:spLocks noChangeShapeType="1"/>
                  </p:cNvSpPr>
                  <p:nvPr/>
                </p:nvSpPr>
                <p:spPr bwMode="auto">
                  <a:xfrm>
                    <a:off x="4512" y="2374"/>
                    <a:ext cx="91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923" name="Line 22"/>
                  <p:cNvSpPr>
                    <a:spLocks noChangeShapeType="1"/>
                  </p:cNvSpPr>
                  <p:nvPr/>
                </p:nvSpPr>
                <p:spPr bwMode="auto">
                  <a:xfrm>
                    <a:off x="4512" y="2623"/>
                    <a:ext cx="91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924" name="Line 23"/>
                  <p:cNvSpPr>
                    <a:spLocks noChangeShapeType="1"/>
                  </p:cNvSpPr>
                  <p:nvPr/>
                </p:nvSpPr>
                <p:spPr bwMode="auto">
                  <a:xfrm>
                    <a:off x="4512" y="2872"/>
                    <a:ext cx="91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925" name="Line 24"/>
                  <p:cNvSpPr>
                    <a:spLocks noChangeShapeType="1"/>
                  </p:cNvSpPr>
                  <p:nvPr/>
                </p:nvSpPr>
                <p:spPr bwMode="auto">
                  <a:xfrm>
                    <a:off x="4512" y="3121"/>
                    <a:ext cx="91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926" name="Line 25"/>
                  <p:cNvSpPr>
                    <a:spLocks noChangeShapeType="1"/>
                  </p:cNvSpPr>
                  <p:nvPr/>
                </p:nvSpPr>
                <p:spPr bwMode="auto">
                  <a:xfrm>
                    <a:off x="4512" y="3351"/>
                    <a:ext cx="91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927" name="Line 26"/>
                  <p:cNvSpPr>
                    <a:spLocks noChangeShapeType="1"/>
                  </p:cNvSpPr>
                  <p:nvPr/>
                </p:nvSpPr>
                <p:spPr bwMode="auto">
                  <a:xfrm>
                    <a:off x="4512" y="3600"/>
                    <a:ext cx="912" cy="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928" name="Line 27"/>
                  <p:cNvSpPr>
                    <a:spLocks noChangeShapeType="1"/>
                  </p:cNvSpPr>
                  <p:nvPr/>
                </p:nvSpPr>
                <p:spPr bwMode="auto">
                  <a:xfrm>
                    <a:off x="4512" y="899"/>
                    <a:ext cx="0" cy="2701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929" name="Line 28"/>
                  <p:cNvSpPr>
                    <a:spLocks noChangeShapeType="1"/>
                  </p:cNvSpPr>
                  <p:nvPr/>
                </p:nvSpPr>
                <p:spPr bwMode="auto">
                  <a:xfrm>
                    <a:off x="5424" y="899"/>
                    <a:ext cx="0" cy="2701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930" name="Text Box 2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886" y="1405"/>
                    <a:ext cx="34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eaVert"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</a:pPr>
                    <a:r>
                      <a:rPr lang="zh-CN" altLang="en-US" sz="24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203931" name="Text Box 3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886" y="2398"/>
                    <a:ext cx="34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eaVert"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</a:pPr>
                    <a:r>
                      <a:rPr lang="zh-CN" altLang="en-US" sz="24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203932" name="Text Box 31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886" y="3119"/>
                    <a:ext cx="34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eaVert"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</a:pPr>
                    <a:r>
                      <a:rPr lang="zh-CN" altLang="en-US" sz="24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</p:grpSp>
            <p:grpSp>
              <p:nvGrpSpPr>
                <p:cNvPr id="203842" name="Group 32"/>
                <p:cNvGrpSpPr/>
                <p:nvPr/>
              </p:nvGrpSpPr>
              <p:grpSpPr bwMode="auto">
                <a:xfrm>
                  <a:off x="1152" y="1043"/>
                  <a:ext cx="2705" cy="1209"/>
                  <a:chOff x="1152" y="1043"/>
                  <a:chExt cx="2705" cy="1209"/>
                </a:xfrm>
              </p:grpSpPr>
              <p:sp>
                <p:nvSpPr>
                  <p:cNvPr id="203875" name="Rectangle 33"/>
                  <p:cNvSpPr>
                    <a:spLocks noChangeArrowheads="1"/>
                  </p:cNvSpPr>
                  <p:nvPr/>
                </p:nvSpPr>
                <p:spPr bwMode="auto">
                  <a:xfrm>
                    <a:off x="2976" y="1292"/>
                    <a:ext cx="864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    字块 3</a:t>
                    </a:r>
                    <a:endParaRPr lang="zh-CN" altLang="en-US" sz="2000" b="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03876" name="Rectangle 34"/>
                  <p:cNvSpPr>
                    <a:spLocks noChangeArrowheads="1"/>
                  </p:cNvSpPr>
                  <p:nvPr/>
                </p:nvSpPr>
                <p:spPr bwMode="auto">
                  <a:xfrm>
                    <a:off x="2511" y="1292"/>
                    <a:ext cx="480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标记</a:t>
                    </a:r>
                  </a:p>
                </p:txBody>
              </p:sp>
              <p:sp>
                <p:nvSpPr>
                  <p:cNvPr id="203877" name="Rectangle 35"/>
                  <p:cNvSpPr>
                    <a:spLocks noChangeArrowheads="1"/>
                  </p:cNvSpPr>
                  <p:nvPr/>
                </p:nvSpPr>
                <p:spPr bwMode="auto">
                  <a:xfrm>
                    <a:off x="2976" y="1043"/>
                    <a:ext cx="864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    字块 1</a:t>
                    </a:r>
                  </a:p>
                </p:txBody>
              </p:sp>
              <p:sp>
                <p:nvSpPr>
                  <p:cNvPr id="203878" name="Rectangle 36"/>
                  <p:cNvSpPr>
                    <a:spLocks noChangeArrowheads="1"/>
                  </p:cNvSpPr>
                  <p:nvPr/>
                </p:nvSpPr>
                <p:spPr bwMode="auto">
                  <a:xfrm>
                    <a:off x="2511" y="1043"/>
                    <a:ext cx="480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标记</a:t>
                    </a:r>
                  </a:p>
                </p:txBody>
              </p:sp>
              <p:sp>
                <p:nvSpPr>
                  <p:cNvPr id="203879" name="Line 37"/>
                  <p:cNvSpPr>
                    <a:spLocks noChangeShapeType="1"/>
                  </p:cNvSpPr>
                  <p:nvPr/>
                </p:nvSpPr>
                <p:spPr bwMode="auto">
                  <a:xfrm>
                    <a:off x="2496" y="1043"/>
                    <a:ext cx="1344" cy="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880" name="Line 38"/>
                  <p:cNvSpPr>
                    <a:spLocks noChangeShapeType="1"/>
                  </p:cNvSpPr>
                  <p:nvPr/>
                </p:nvSpPr>
                <p:spPr bwMode="auto">
                  <a:xfrm>
                    <a:off x="2496" y="1292"/>
                    <a:ext cx="1344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881" name="Line 39"/>
                  <p:cNvSpPr>
                    <a:spLocks noChangeShapeType="1"/>
                  </p:cNvSpPr>
                  <p:nvPr/>
                </p:nvSpPr>
                <p:spPr bwMode="auto">
                  <a:xfrm>
                    <a:off x="2496" y="1541"/>
                    <a:ext cx="1344" cy="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882" name="Line 40"/>
                  <p:cNvSpPr>
                    <a:spLocks noChangeShapeType="1"/>
                  </p:cNvSpPr>
                  <p:nvPr/>
                </p:nvSpPr>
                <p:spPr bwMode="auto">
                  <a:xfrm>
                    <a:off x="2496" y="1043"/>
                    <a:ext cx="0" cy="120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883" name="Line 41"/>
                  <p:cNvSpPr>
                    <a:spLocks noChangeShapeType="1"/>
                  </p:cNvSpPr>
                  <p:nvPr/>
                </p:nvSpPr>
                <p:spPr bwMode="auto">
                  <a:xfrm>
                    <a:off x="2976" y="1043"/>
                    <a:ext cx="0" cy="120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884" name="Line 42"/>
                  <p:cNvSpPr>
                    <a:spLocks noChangeShapeType="1"/>
                  </p:cNvSpPr>
                  <p:nvPr/>
                </p:nvSpPr>
                <p:spPr bwMode="auto">
                  <a:xfrm>
                    <a:off x="3840" y="1043"/>
                    <a:ext cx="0" cy="120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885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2990" y="2003"/>
                    <a:ext cx="867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字块 2</a:t>
                    </a:r>
                    <a:r>
                      <a:rPr lang="en-US" altLang="zh-CN" sz="2000" i="1" baseline="30000"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zh-CN" sz="2000">
                        <a:latin typeface="Times New Roman" panose="02020603050405020304" pitchFamily="18" charset="0"/>
                      </a:rPr>
                      <a:t>－1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03886" name="Rectangle 44"/>
                  <p:cNvSpPr>
                    <a:spLocks noChangeArrowheads="1"/>
                  </p:cNvSpPr>
                  <p:nvPr/>
                </p:nvSpPr>
                <p:spPr bwMode="auto">
                  <a:xfrm>
                    <a:off x="2511" y="2003"/>
                    <a:ext cx="477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标记</a:t>
                    </a:r>
                  </a:p>
                </p:txBody>
              </p:sp>
              <p:sp>
                <p:nvSpPr>
                  <p:cNvPr id="203887" name="Line 45"/>
                  <p:cNvSpPr>
                    <a:spLocks noChangeShapeType="1"/>
                  </p:cNvSpPr>
                  <p:nvPr/>
                </p:nvSpPr>
                <p:spPr bwMode="auto">
                  <a:xfrm>
                    <a:off x="2496" y="2003"/>
                    <a:ext cx="1344" cy="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888" name="Line 46"/>
                  <p:cNvSpPr>
                    <a:spLocks noChangeShapeType="1"/>
                  </p:cNvSpPr>
                  <p:nvPr/>
                </p:nvSpPr>
                <p:spPr bwMode="auto">
                  <a:xfrm>
                    <a:off x="2496" y="2252"/>
                    <a:ext cx="1344" cy="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889" name="Rectangle 47"/>
                  <p:cNvSpPr>
                    <a:spLocks noChangeArrowheads="1"/>
                  </p:cNvSpPr>
                  <p:nvPr/>
                </p:nvSpPr>
                <p:spPr bwMode="auto">
                  <a:xfrm>
                    <a:off x="1632" y="1292"/>
                    <a:ext cx="864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    字块 2</a:t>
                    </a:r>
                    <a:endParaRPr lang="zh-CN" altLang="en-US" sz="2000" b="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03890" name="Rectangle 48"/>
                  <p:cNvSpPr>
                    <a:spLocks noChangeArrowheads="1"/>
                  </p:cNvSpPr>
                  <p:nvPr/>
                </p:nvSpPr>
                <p:spPr bwMode="auto">
                  <a:xfrm>
                    <a:off x="1169" y="1292"/>
                    <a:ext cx="480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标记</a:t>
                    </a:r>
                  </a:p>
                </p:txBody>
              </p:sp>
              <p:sp>
                <p:nvSpPr>
                  <p:cNvPr id="203891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1632" y="1043"/>
                    <a:ext cx="864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    字块 0</a:t>
                    </a:r>
                  </a:p>
                </p:txBody>
              </p:sp>
              <p:sp>
                <p:nvSpPr>
                  <p:cNvPr id="203892" name="Rectangle 50"/>
                  <p:cNvSpPr>
                    <a:spLocks noChangeArrowheads="1"/>
                  </p:cNvSpPr>
                  <p:nvPr/>
                </p:nvSpPr>
                <p:spPr bwMode="auto">
                  <a:xfrm>
                    <a:off x="1169" y="1043"/>
                    <a:ext cx="480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标记</a:t>
                    </a:r>
                  </a:p>
                </p:txBody>
              </p:sp>
              <p:sp>
                <p:nvSpPr>
                  <p:cNvPr id="203893" name="Line 51"/>
                  <p:cNvSpPr>
                    <a:spLocks noChangeShapeType="1"/>
                  </p:cNvSpPr>
                  <p:nvPr/>
                </p:nvSpPr>
                <p:spPr bwMode="auto">
                  <a:xfrm>
                    <a:off x="1152" y="1043"/>
                    <a:ext cx="1344" cy="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894" name="Line 52"/>
                  <p:cNvSpPr>
                    <a:spLocks noChangeShapeType="1"/>
                  </p:cNvSpPr>
                  <p:nvPr/>
                </p:nvSpPr>
                <p:spPr bwMode="auto">
                  <a:xfrm>
                    <a:off x="1152" y="1292"/>
                    <a:ext cx="1344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895" name="Line 53"/>
                  <p:cNvSpPr>
                    <a:spLocks noChangeShapeType="1"/>
                  </p:cNvSpPr>
                  <p:nvPr/>
                </p:nvSpPr>
                <p:spPr bwMode="auto">
                  <a:xfrm>
                    <a:off x="1152" y="1541"/>
                    <a:ext cx="1344" cy="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896" name="Line 54"/>
                  <p:cNvSpPr>
                    <a:spLocks noChangeShapeType="1"/>
                  </p:cNvSpPr>
                  <p:nvPr/>
                </p:nvSpPr>
                <p:spPr bwMode="auto">
                  <a:xfrm>
                    <a:off x="1152" y="1043"/>
                    <a:ext cx="0" cy="120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897" name="Line 55"/>
                  <p:cNvSpPr>
                    <a:spLocks noChangeShapeType="1"/>
                  </p:cNvSpPr>
                  <p:nvPr/>
                </p:nvSpPr>
                <p:spPr bwMode="auto">
                  <a:xfrm>
                    <a:off x="1632" y="1043"/>
                    <a:ext cx="0" cy="120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898" name="Rectangle 56"/>
                  <p:cNvSpPr>
                    <a:spLocks noChangeArrowheads="1"/>
                  </p:cNvSpPr>
                  <p:nvPr/>
                </p:nvSpPr>
                <p:spPr bwMode="auto">
                  <a:xfrm>
                    <a:off x="1629" y="2003"/>
                    <a:ext cx="867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字块 2</a:t>
                    </a:r>
                    <a:r>
                      <a:rPr lang="en-US" altLang="zh-CN" sz="2000" i="1" baseline="30000"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zh-CN" sz="2000">
                        <a:latin typeface="Times New Roman" panose="02020603050405020304" pitchFamily="18" charset="0"/>
                      </a:rPr>
                      <a:t>－2</a:t>
                    </a:r>
                    <a:endParaRPr lang="zh-CN" altLang="en-US" sz="2000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03899" name="Rectangle 57"/>
                  <p:cNvSpPr>
                    <a:spLocks noChangeArrowheads="1"/>
                  </p:cNvSpPr>
                  <p:nvPr/>
                </p:nvSpPr>
                <p:spPr bwMode="auto">
                  <a:xfrm>
                    <a:off x="1169" y="2003"/>
                    <a:ext cx="477" cy="24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buClr>
                        <a:schemeClr val="accent2"/>
                      </a:buClr>
                      <a:buSzPct val="80000"/>
                      <a:buFont typeface="Wingdings" panose="05000000000000000000" pitchFamily="2" charset="2"/>
                      <a:buNone/>
                    </a:pPr>
                    <a:r>
                      <a:rPr lang="zh-CN" altLang="en-US" sz="2000">
                        <a:latin typeface="Times New Roman" panose="02020603050405020304" pitchFamily="18" charset="0"/>
                      </a:rPr>
                      <a:t>标记</a:t>
                    </a:r>
                  </a:p>
                </p:txBody>
              </p:sp>
              <p:sp>
                <p:nvSpPr>
                  <p:cNvPr id="203900" name="Line 58"/>
                  <p:cNvSpPr>
                    <a:spLocks noChangeShapeType="1"/>
                  </p:cNvSpPr>
                  <p:nvPr/>
                </p:nvSpPr>
                <p:spPr bwMode="auto">
                  <a:xfrm>
                    <a:off x="1152" y="2003"/>
                    <a:ext cx="1344" cy="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901" name="Line 59"/>
                  <p:cNvSpPr>
                    <a:spLocks noChangeShapeType="1"/>
                  </p:cNvSpPr>
                  <p:nvPr/>
                </p:nvSpPr>
                <p:spPr bwMode="auto">
                  <a:xfrm>
                    <a:off x="1152" y="2252"/>
                    <a:ext cx="1344" cy="0"/>
                  </a:xfrm>
                  <a:prstGeom prst="line">
                    <a:avLst/>
                  </a:prstGeom>
                  <a:noFill/>
                  <a:ln w="38100" cap="sq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902" name="Text Box 6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02" y="1670"/>
                    <a:ext cx="34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eaVert"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</a:pPr>
                    <a:r>
                      <a:rPr lang="zh-CN" altLang="en-US" sz="24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203903" name="Text Box 61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630" y="1670"/>
                    <a:ext cx="34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eaVert"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</a:pPr>
                    <a:r>
                      <a:rPr lang="zh-CN" altLang="en-US" sz="24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203904" name="Text Box 62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958" y="1670"/>
                    <a:ext cx="34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eaVert"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</a:pPr>
                    <a:r>
                      <a:rPr lang="zh-CN" altLang="en-US" sz="24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203905" name="Text Box 6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286" y="1670"/>
                    <a:ext cx="346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eaVert" wrap="none">
                    <a:spAutoFit/>
                  </a:bodyPr>
                  <a:lstStyle>
                    <a:lvl1pPr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defRPr kumimoji="1" sz="800" b="1">
                        <a:solidFill>
                          <a:schemeClr val="tx1"/>
                        </a:solidFill>
                        <a:latin typeface="宋体" panose="02010600030101010101" pitchFamily="2" charset="-122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</a:pPr>
                    <a:r>
                      <a:rPr lang="zh-CN" altLang="en-US" sz="2400">
                        <a:latin typeface="Times New Roman" panose="02020603050405020304" pitchFamily="18" charset="0"/>
                      </a:rPr>
                      <a:t>…</a:t>
                    </a:r>
                  </a:p>
                </p:txBody>
              </p:sp>
              <p:sp>
                <p:nvSpPr>
                  <p:cNvPr id="203906" name="Line 64"/>
                  <p:cNvSpPr>
                    <a:spLocks noChangeShapeType="1"/>
                  </p:cNvSpPr>
                  <p:nvPr/>
                </p:nvSpPr>
                <p:spPr bwMode="auto">
                  <a:xfrm>
                    <a:off x="3840" y="1523"/>
                    <a:ext cx="0" cy="48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prstDash val="dash"/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03843" name="Line 65"/>
                <p:cNvSpPr>
                  <a:spLocks noChangeShapeType="1"/>
                </p:cNvSpPr>
                <p:nvPr/>
              </p:nvSpPr>
              <p:spPr bwMode="auto">
                <a:xfrm>
                  <a:off x="3840" y="2147"/>
                  <a:ext cx="672" cy="1248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44" name="Line 66"/>
                <p:cNvSpPr>
                  <a:spLocks noChangeShapeType="1"/>
                </p:cNvSpPr>
                <p:nvPr/>
              </p:nvSpPr>
              <p:spPr bwMode="auto">
                <a:xfrm flipV="1">
                  <a:off x="3840" y="995"/>
                  <a:ext cx="672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45" name="Line 67"/>
                <p:cNvSpPr>
                  <a:spLocks noChangeShapeType="1"/>
                </p:cNvSpPr>
                <p:nvPr/>
              </p:nvSpPr>
              <p:spPr bwMode="auto">
                <a:xfrm flipV="1">
                  <a:off x="3840" y="1283"/>
                  <a:ext cx="672" cy="14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46" name="Line 68"/>
                <p:cNvSpPr>
                  <a:spLocks noChangeShapeType="1"/>
                </p:cNvSpPr>
                <p:nvPr/>
              </p:nvSpPr>
              <p:spPr bwMode="auto">
                <a:xfrm>
                  <a:off x="3840" y="1139"/>
                  <a:ext cx="672" cy="86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47" name="Line 69"/>
                <p:cNvSpPr>
                  <a:spLocks noChangeShapeType="1"/>
                </p:cNvSpPr>
                <p:nvPr/>
              </p:nvSpPr>
              <p:spPr bwMode="auto">
                <a:xfrm>
                  <a:off x="3840" y="1427"/>
                  <a:ext cx="672" cy="86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48" name="Line 70"/>
                <p:cNvSpPr>
                  <a:spLocks noChangeShapeType="1"/>
                </p:cNvSpPr>
                <p:nvPr/>
              </p:nvSpPr>
              <p:spPr bwMode="auto">
                <a:xfrm>
                  <a:off x="3840" y="1139"/>
                  <a:ext cx="672" cy="182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49" name="Line 71"/>
                <p:cNvSpPr>
                  <a:spLocks noChangeShapeType="1"/>
                </p:cNvSpPr>
                <p:nvPr/>
              </p:nvSpPr>
              <p:spPr bwMode="auto">
                <a:xfrm flipV="1">
                  <a:off x="3840" y="1715"/>
                  <a:ext cx="672" cy="432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50" name="Line 72"/>
                <p:cNvSpPr>
                  <a:spLocks noChangeShapeType="1"/>
                </p:cNvSpPr>
                <p:nvPr/>
              </p:nvSpPr>
              <p:spPr bwMode="auto">
                <a:xfrm>
                  <a:off x="3840" y="2147"/>
                  <a:ext cx="672" cy="62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51" name="Rectangle 73"/>
                <p:cNvSpPr>
                  <a:spLocks noChangeArrowheads="1"/>
                </p:cNvSpPr>
                <p:nvPr/>
              </p:nvSpPr>
              <p:spPr bwMode="auto">
                <a:xfrm>
                  <a:off x="2832" y="2541"/>
                  <a:ext cx="1008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None/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 字块内地址</a:t>
                  </a:r>
                </a:p>
              </p:txBody>
            </p:sp>
            <p:sp>
              <p:nvSpPr>
                <p:cNvPr id="203852" name="Rectangle 74"/>
                <p:cNvSpPr>
                  <a:spLocks noChangeArrowheads="1"/>
                </p:cNvSpPr>
                <p:nvPr/>
              </p:nvSpPr>
              <p:spPr bwMode="auto">
                <a:xfrm>
                  <a:off x="2086" y="2541"/>
                  <a:ext cx="60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None/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组地址</a:t>
                  </a:r>
                </a:p>
              </p:txBody>
            </p:sp>
            <p:sp>
              <p:nvSpPr>
                <p:cNvPr id="203853" name="Rectangle 75"/>
                <p:cNvSpPr>
                  <a:spLocks noChangeArrowheads="1"/>
                </p:cNvSpPr>
                <p:nvPr/>
              </p:nvSpPr>
              <p:spPr bwMode="auto">
                <a:xfrm>
                  <a:off x="816" y="2541"/>
                  <a:ext cx="1126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None/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主存字块标记</a:t>
                  </a:r>
                </a:p>
              </p:txBody>
            </p:sp>
            <p:sp>
              <p:nvSpPr>
                <p:cNvPr id="203854" name="Freeform 76"/>
                <p:cNvSpPr/>
                <p:nvPr/>
              </p:nvSpPr>
              <p:spPr bwMode="auto">
                <a:xfrm>
                  <a:off x="816" y="2531"/>
                  <a:ext cx="3027" cy="3"/>
                </a:xfrm>
                <a:custGeom>
                  <a:avLst/>
                  <a:gdLst>
                    <a:gd name="T0" fmla="*/ 0 w 3027"/>
                    <a:gd name="T1" fmla="*/ 0 h 3"/>
                    <a:gd name="T2" fmla="*/ 3027 w 3027"/>
                    <a:gd name="T3" fmla="*/ 3 h 3"/>
                    <a:gd name="T4" fmla="*/ 0 60000 65536"/>
                    <a:gd name="T5" fmla="*/ 0 60000 65536"/>
                    <a:gd name="T6" fmla="*/ 0 w 3027"/>
                    <a:gd name="T7" fmla="*/ 0 h 3"/>
                    <a:gd name="T8" fmla="*/ 3027 w 3027"/>
                    <a:gd name="T9" fmla="*/ 3 h 3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027" h="3">
                      <a:moveTo>
                        <a:pt x="0" y="0"/>
                      </a:moveTo>
                      <a:lnTo>
                        <a:pt x="3027" y="3"/>
                      </a:lnTo>
                    </a:path>
                  </a:pathLst>
                </a:custGeom>
                <a:noFill/>
                <a:ln w="38100" cap="sq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55" name="Freeform 77"/>
                <p:cNvSpPr/>
                <p:nvPr/>
              </p:nvSpPr>
              <p:spPr bwMode="auto">
                <a:xfrm>
                  <a:off x="816" y="2819"/>
                  <a:ext cx="3021" cy="1"/>
                </a:xfrm>
                <a:custGeom>
                  <a:avLst/>
                  <a:gdLst>
                    <a:gd name="T0" fmla="*/ 0 w 3021"/>
                    <a:gd name="T1" fmla="*/ 0 h 1"/>
                    <a:gd name="T2" fmla="*/ 3021 w 3021"/>
                    <a:gd name="T3" fmla="*/ 0 h 1"/>
                    <a:gd name="T4" fmla="*/ 0 60000 65536"/>
                    <a:gd name="T5" fmla="*/ 0 60000 65536"/>
                    <a:gd name="T6" fmla="*/ 0 w 3021"/>
                    <a:gd name="T7" fmla="*/ 0 h 1"/>
                    <a:gd name="T8" fmla="*/ 3021 w 3021"/>
                    <a:gd name="T9" fmla="*/ 1 h 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021" h="1">
                      <a:moveTo>
                        <a:pt x="0" y="0"/>
                      </a:moveTo>
                      <a:lnTo>
                        <a:pt x="3021" y="0"/>
                      </a:lnTo>
                    </a:path>
                  </a:pathLst>
                </a:custGeom>
                <a:noFill/>
                <a:ln w="38100" cap="sq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56" name="Freeform 78"/>
                <p:cNvSpPr/>
                <p:nvPr/>
              </p:nvSpPr>
              <p:spPr bwMode="auto">
                <a:xfrm>
                  <a:off x="816" y="2541"/>
                  <a:ext cx="1" cy="275"/>
                </a:xfrm>
                <a:custGeom>
                  <a:avLst/>
                  <a:gdLst>
                    <a:gd name="T0" fmla="*/ 0 w 1"/>
                    <a:gd name="T1" fmla="*/ 0 h 275"/>
                    <a:gd name="T2" fmla="*/ 0 w 1"/>
                    <a:gd name="T3" fmla="*/ 275 h 275"/>
                    <a:gd name="T4" fmla="*/ 0 60000 65536"/>
                    <a:gd name="T5" fmla="*/ 0 60000 65536"/>
                    <a:gd name="T6" fmla="*/ 0 w 1"/>
                    <a:gd name="T7" fmla="*/ 0 h 275"/>
                    <a:gd name="T8" fmla="*/ 1 w 1"/>
                    <a:gd name="T9" fmla="*/ 275 h 275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75">
                      <a:moveTo>
                        <a:pt x="0" y="0"/>
                      </a:moveTo>
                      <a:lnTo>
                        <a:pt x="0" y="275"/>
                      </a:lnTo>
                    </a:path>
                  </a:pathLst>
                </a:custGeom>
                <a:noFill/>
                <a:ln w="38100" cap="sq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57" name="Line 79"/>
                <p:cNvSpPr>
                  <a:spLocks noChangeShapeType="1"/>
                </p:cNvSpPr>
                <p:nvPr/>
              </p:nvSpPr>
              <p:spPr bwMode="auto">
                <a:xfrm>
                  <a:off x="1942" y="2541"/>
                  <a:ext cx="0" cy="288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58" name="Line 80"/>
                <p:cNvSpPr>
                  <a:spLocks noChangeShapeType="1"/>
                </p:cNvSpPr>
                <p:nvPr/>
              </p:nvSpPr>
              <p:spPr bwMode="auto">
                <a:xfrm>
                  <a:off x="2832" y="2541"/>
                  <a:ext cx="0" cy="288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59" name="Freeform 81"/>
                <p:cNvSpPr/>
                <p:nvPr/>
              </p:nvSpPr>
              <p:spPr bwMode="auto">
                <a:xfrm>
                  <a:off x="3837" y="2540"/>
                  <a:ext cx="4" cy="279"/>
                </a:xfrm>
                <a:custGeom>
                  <a:avLst/>
                  <a:gdLst>
                    <a:gd name="T0" fmla="*/ 0 w 4"/>
                    <a:gd name="T1" fmla="*/ 0 h 279"/>
                    <a:gd name="T2" fmla="*/ 4 w 4"/>
                    <a:gd name="T3" fmla="*/ 279 h 279"/>
                    <a:gd name="T4" fmla="*/ 0 60000 65536"/>
                    <a:gd name="T5" fmla="*/ 0 60000 65536"/>
                    <a:gd name="T6" fmla="*/ 0 w 4"/>
                    <a:gd name="T7" fmla="*/ 0 h 279"/>
                    <a:gd name="T8" fmla="*/ 4 w 4"/>
                    <a:gd name="T9" fmla="*/ 279 h 279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" h="279">
                      <a:moveTo>
                        <a:pt x="0" y="0"/>
                      </a:moveTo>
                      <a:lnTo>
                        <a:pt x="4" y="279"/>
                      </a:lnTo>
                    </a:path>
                  </a:pathLst>
                </a:custGeom>
                <a:noFill/>
                <a:ln w="38100" cap="sq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60" name="Text Box 82"/>
                <p:cNvSpPr txBox="1">
                  <a:spLocks noChangeArrowheads="1"/>
                </p:cNvSpPr>
                <p:nvPr/>
              </p:nvSpPr>
              <p:spPr bwMode="auto">
                <a:xfrm>
                  <a:off x="912" y="2857"/>
                  <a:ext cx="86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 i="1">
                      <a:latin typeface="Times New Roman" panose="02020603050405020304" pitchFamily="18" charset="0"/>
                    </a:rPr>
                    <a:t>s</a:t>
                  </a:r>
                  <a:r>
                    <a:rPr lang="en-US" altLang="zh-CN" sz="2000">
                      <a:latin typeface="Times New Roman" panose="02020603050405020304" pitchFamily="18" charset="0"/>
                    </a:rPr>
                    <a:t> = </a:t>
                  </a:r>
                  <a:r>
                    <a:rPr lang="en-US" altLang="zh-CN" sz="2000" i="1">
                      <a:latin typeface="Times New Roman" panose="02020603050405020304" pitchFamily="18" charset="0"/>
                    </a:rPr>
                    <a:t>t</a:t>
                  </a:r>
                  <a:r>
                    <a:rPr lang="en-US" altLang="zh-CN" sz="2000">
                      <a:latin typeface="Times New Roman" panose="02020603050405020304" pitchFamily="18" charset="0"/>
                    </a:rPr>
                    <a:t> +</a:t>
                  </a:r>
                  <a:r>
                    <a:rPr lang="en-US" altLang="zh-CN" sz="2000" i="1">
                      <a:latin typeface="Times New Roman" panose="02020603050405020304" pitchFamily="18" charset="0"/>
                    </a:rPr>
                    <a:t> r</a:t>
                  </a:r>
                  <a:r>
                    <a:rPr lang="en-US" altLang="zh-CN" sz="2000">
                      <a:latin typeface="Times New Roman" panose="02020603050405020304" pitchFamily="18" charset="0"/>
                    </a:rPr>
                    <a:t>  </a:t>
                  </a:r>
                  <a:r>
                    <a:rPr lang="zh-CN" altLang="en-US" sz="2000">
                      <a:latin typeface="Times New Roman" panose="02020603050405020304" pitchFamily="18" charset="0"/>
                    </a:rPr>
                    <a:t>位</a:t>
                  </a:r>
                </a:p>
              </p:txBody>
            </p:sp>
            <p:sp>
              <p:nvSpPr>
                <p:cNvPr id="203861" name="Text Box 83"/>
                <p:cNvSpPr txBox="1">
                  <a:spLocks noChangeArrowheads="1"/>
                </p:cNvSpPr>
                <p:nvPr/>
              </p:nvSpPr>
              <p:spPr bwMode="auto">
                <a:xfrm>
                  <a:off x="1920" y="2819"/>
                  <a:ext cx="856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 i="1">
                      <a:latin typeface="Times New Roman" panose="02020603050405020304" pitchFamily="18" charset="0"/>
                    </a:rPr>
                    <a:t>q</a:t>
                  </a:r>
                  <a:r>
                    <a:rPr lang="en-US" altLang="zh-CN" sz="2400">
                      <a:latin typeface="Times New Roman" panose="02020603050405020304" pitchFamily="18" charset="0"/>
                    </a:rPr>
                    <a:t> =</a:t>
                  </a:r>
                  <a:r>
                    <a:rPr lang="en-US" altLang="zh-CN" sz="2000">
                      <a:latin typeface="Times New Roman" panose="02020603050405020304" pitchFamily="18" charset="0"/>
                    </a:rPr>
                    <a:t> </a:t>
                  </a:r>
                  <a:r>
                    <a:rPr lang="en-US" altLang="zh-CN" sz="2000" i="1"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zh-CN" sz="1600">
                      <a:latin typeface="Times New Roman" panose="02020603050405020304" pitchFamily="18" charset="0"/>
                    </a:rPr>
                    <a:t>－</a:t>
                  </a:r>
                  <a:r>
                    <a:rPr lang="en-US" altLang="zh-CN" sz="2000" i="1">
                      <a:latin typeface="Times New Roman" panose="02020603050405020304" pitchFamily="18" charset="0"/>
                    </a:rPr>
                    <a:t>r</a:t>
                  </a:r>
                  <a:r>
                    <a:rPr lang="en-US" altLang="zh-CN" sz="2000">
                      <a:latin typeface="Times New Roman" panose="02020603050405020304" pitchFamily="18" charset="0"/>
                    </a:rPr>
                    <a:t> </a:t>
                  </a:r>
                  <a:r>
                    <a:rPr lang="zh-CN" altLang="en-US" sz="2000">
                      <a:latin typeface="Times New Roman" panose="02020603050405020304" pitchFamily="18" charset="0"/>
                    </a:rPr>
                    <a:t>位</a:t>
                  </a:r>
                </a:p>
              </p:txBody>
            </p:sp>
            <p:sp>
              <p:nvSpPr>
                <p:cNvPr id="203862" name="Text Box 84"/>
                <p:cNvSpPr txBox="1">
                  <a:spLocks noChangeArrowheads="1"/>
                </p:cNvSpPr>
                <p:nvPr/>
              </p:nvSpPr>
              <p:spPr bwMode="auto">
                <a:xfrm>
                  <a:off x="3120" y="2850"/>
                  <a:ext cx="39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 i="1">
                      <a:latin typeface="Times New Roman" panose="02020603050405020304" pitchFamily="18" charset="0"/>
                    </a:rPr>
                    <a:t>b</a:t>
                  </a:r>
                  <a:r>
                    <a:rPr lang="en-US" altLang="zh-CN" sz="2000">
                      <a:latin typeface="Times New Roman" panose="02020603050405020304" pitchFamily="18" charset="0"/>
                    </a:rPr>
                    <a:t> </a:t>
                  </a:r>
                  <a:r>
                    <a:rPr lang="zh-CN" altLang="en-US" sz="2000">
                      <a:latin typeface="Times New Roman" panose="02020603050405020304" pitchFamily="18" charset="0"/>
                    </a:rPr>
                    <a:t>位</a:t>
                  </a:r>
                </a:p>
              </p:txBody>
            </p:sp>
            <p:sp>
              <p:nvSpPr>
                <p:cNvPr id="203863" name="Text Box 85"/>
                <p:cNvSpPr txBox="1">
                  <a:spLocks noChangeArrowheads="1"/>
                </p:cNvSpPr>
                <p:nvPr/>
              </p:nvSpPr>
              <p:spPr bwMode="auto">
                <a:xfrm>
                  <a:off x="758" y="702"/>
                  <a:ext cx="27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组</a:t>
                  </a:r>
                </a:p>
              </p:txBody>
            </p:sp>
            <p:sp>
              <p:nvSpPr>
                <p:cNvPr id="203864" name="Text Box 86"/>
                <p:cNvSpPr txBox="1">
                  <a:spLocks noChangeArrowheads="1"/>
                </p:cNvSpPr>
                <p:nvPr/>
              </p:nvSpPr>
              <p:spPr bwMode="auto">
                <a:xfrm>
                  <a:off x="806" y="1008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0</a:t>
                  </a:r>
                </a:p>
              </p:txBody>
            </p:sp>
            <p:sp>
              <p:nvSpPr>
                <p:cNvPr id="203865" name="Text Box 87"/>
                <p:cNvSpPr txBox="1">
                  <a:spLocks noChangeArrowheads="1"/>
                </p:cNvSpPr>
                <p:nvPr/>
              </p:nvSpPr>
              <p:spPr bwMode="auto">
                <a:xfrm>
                  <a:off x="806" y="1296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sp>
              <p:nvSpPr>
                <p:cNvPr id="203866" name="Text Box 88"/>
                <p:cNvSpPr txBox="1">
                  <a:spLocks noChangeArrowheads="1"/>
                </p:cNvSpPr>
                <p:nvPr/>
              </p:nvSpPr>
              <p:spPr bwMode="auto">
                <a:xfrm>
                  <a:off x="438" y="2003"/>
                  <a:ext cx="558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buClr>
                      <a:schemeClr val="accent2"/>
                    </a:buClr>
                    <a:buSzPct val="80000"/>
                    <a:buFont typeface="Wingdings" panose="05000000000000000000" pitchFamily="2" charset="2"/>
                    <a:buNone/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2</a:t>
                  </a:r>
                  <a:r>
                    <a:rPr lang="en-US" altLang="zh-CN" sz="2000" i="1" baseline="50000"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zh-CN" sz="2000" baseline="50000">
                      <a:latin typeface="Times New Roman" panose="02020603050405020304" pitchFamily="18" charset="0"/>
                    </a:rPr>
                    <a:t>-</a:t>
                  </a:r>
                  <a:r>
                    <a:rPr lang="en-US" altLang="zh-CN" sz="2000" i="1" baseline="50000">
                      <a:latin typeface="Times New Roman" panose="02020603050405020304" pitchFamily="18" charset="0"/>
                    </a:rPr>
                    <a:t>r</a:t>
                  </a:r>
                  <a:r>
                    <a:rPr lang="en-US" altLang="zh-CN" sz="2000">
                      <a:latin typeface="Times New Roman" panose="02020603050405020304" pitchFamily="18" charset="0"/>
                    </a:rPr>
                    <a:t>－1</a:t>
                  </a:r>
                  <a:endParaRPr lang="zh-CN" altLang="en-US" sz="2400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03867" name="Text Box 89"/>
                <p:cNvSpPr txBox="1">
                  <a:spLocks noChangeArrowheads="1"/>
                </p:cNvSpPr>
                <p:nvPr/>
              </p:nvSpPr>
              <p:spPr bwMode="auto">
                <a:xfrm>
                  <a:off x="1344" y="2291"/>
                  <a:ext cx="750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2000">
                      <a:latin typeface="Times New Roman" panose="02020603050405020304" pitchFamily="18" charset="0"/>
                    </a:rPr>
                    <a:t>主存地址</a:t>
                  </a:r>
                </a:p>
              </p:txBody>
            </p:sp>
            <p:sp>
              <p:nvSpPr>
                <p:cNvPr id="203868" name="Text Box 90"/>
                <p:cNvSpPr txBox="1">
                  <a:spLocks noChangeArrowheads="1"/>
                </p:cNvSpPr>
                <p:nvPr/>
              </p:nvSpPr>
              <p:spPr bwMode="auto">
                <a:xfrm>
                  <a:off x="1088" y="689"/>
                  <a:ext cx="628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400">
                      <a:latin typeface="Times New Roman" panose="02020603050405020304" pitchFamily="18" charset="0"/>
                    </a:rPr>
                    <a:t>Cache</a:t>
                  </a:r>
                </a:p>
              </p:txBody>
            </p:sp>
            <p:sp>
              <p:nvSpPr>
                <p:cNvPr id="203869" name="Text Box 91"/>
                <p:cNvSpPr txBox="1">
                  <a:spLocks noChangeArrowheads="1"/>
                </p:cNvSpPr>
                <p:nvPr/>
              </p:nvSpPr>
              <p:spPr bwMode="auto">
                <a:xfrm>
                  <a:off x="4550" y="528"/>
                  <a:ext cx="884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2400">
                      <a:latin typeface="Times New Roman" panose="02020603050405020304" pitchFamily="18" charset="0"/>
                    </a:rPr>
                    <a:t>主存储器</a:t>
                  </a:r>
                </a:p>
              </p:txBody>
            </p:sp>
            <p:sp>
              <p:nvSpPr>
                <p:cNvPr id="203870" name="Freeform 92"/>
                <p:cNvSpPr/>
                <p:nvPr/>
              </p:nvSpPr>
              <p:spPr bwMode="auto">
                <a:xfrm>
                  <a:off x="813" y="2813"/>
                  <a:ext cx="1" cy="490"/>
                </a:xfrm>
                <a:custGeom>
                  <a:avLst/>
                  <a:gdLst>
                    <a:gd name="T0" fmla="*/ 0 w 1"/>
                    <a:gd name="T1" fmla="*/ 0 h 490"/>
                    <a:gd name="T2" fmla="*/ 0 w 1"/>
                    <a:gd name="T3" fmla="*/ 490 h 490"/>
                    <a:gd name="T4" fmla="*/ 0 60000 65536"/>
                    <a:gd name="T5" fmla="*/ 0 60000 65536"/>
                    <a:gd name="T6" fmla="*/ 0 w 1"/>
                    <a:gd name="T7" fmla="*/ 0 h 490"/>
                    <a:gd name="T8" fmla="*/ 1 w 1"/>
                    <a:gd name="T9" fmla="*/ 490 h 49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490">
                      <a:moveTo>
                        <a:pt x="0" y="0"/>
                      </a:moveTo>
                      <a:lnTo>
                        <a:pt x="0" y="49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71" name="Freeform 93"/>
                <p:cNvSpPr/>
                <p:nvPr/>
              </p:nvSpPr>
              <p:spPr bwMode="auto">
                <a:xfrm>
                  <a:off x="2832" y="2825"/>
                  <a:ext cx="1" cy="474"/>
                </a:xfrm>
                <a:custGeom>
                  <a:avLst/>
                  <a:gdLst>
                    <a:gd name="T0" fmla="*/ 0 w 1"/>
                    <a:gd name="T1" fmla="*/ 0 h 474"/>
                    <a:gd name="T2" fmla="*/ 1 w 1"/>
                    <a:gd name="T3" fmla="*/ 474 h 474"/>
                    <a:gd name="T4" fmla="*/ 0 60000 65536"/>
                    <a:gd name="T5" fmla="*/ 0 60000 65536"/>
                    <a:gd name="T6" fmla="*/ 0 w 1"/>
                    <a:gd name="T7" fmla="*/ 0 h 474"/>
                    <a:gd name="T8" fmla="*/ 1 w 1"/>
                    <a:gd name="T9" fmla="*/ 474 h 474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474">
                      <a:moveTo>
                        <a:pt x="0" y="0"/>
                      </a:moveTo>
                      <a:lnTo>
                        <a:pt x="1" y="474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72" name="Line 94"/>
                <p:cNvSpPr>
                  <a:spLocks noChangeShapeType="1"/>
                </p:cNvSpPr>
                <p:nvPr/>
              </p:nvSpPr>
              <p:spPr bwMode="auto">
                <a:xfrm>
                  <a:off x="2208" y="3203"/>
                  <a:ext cx="62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73" name="Line 95"/>
                <p:cNvSpPr>
                  <a:spLocks noChangeShapeType="1"/>
                </p:cNvSpPr>
                <p:nvPr/>
              </p:nvSpPr>
              <p:spPr bwMode="auto">
                <a:xfrm rot="10800000">
                  <a:off x="816" y="3203"/>
                  <a:ext cx="62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tailEnd type="stealth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74" name="Text Box 96"/>
                <p:cNvSpPr txBox="1">
                  <a:spLocks noChangeArrowheads="1"/>
                </p:cNvSpPr>
                <p:nvPr/>
              </p:nvSpPr>
              <p:spPr bwMode="auto">
                <a:xfrm>
                  <a:off x="1614" y="3059"/>
                  <a:ext cx="441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en-US" altLang="zh-CN" sz="2000" i="1">
                      <a:latin typeface="Times New Roman" panose="02020603050405020304" pitchFamily="18" charset="0"/>
                    </a:rPr>
                    <a:t>m</a:t>
                  </a:r>
                  <a:r>
                    <a:rPr lang="en-US" altLang="zh-CN" sz="2000">
                      <a:latin typeface="Times New Roman" panose="02020603050405020304" pitchFamily="18" charset="0"/>
                    </a:rPr>
                    <a:t> </a:t>
                  </a:r>
                  <a:r>
                    <a:rPr lang="zh-CN" altLang="en-US" sz="2000">
                      <a:latin typeface="Times New Roman" panose="02020603050405020304" pitchFamily="18" charset="0"/>
                    </a:rPr>
                    <a:t>位</a:t>
                  </a:r>
                </a:p>
              </p:txBody>
            </p:sp>
          </p:grpSp>
          <p:sp>
            <p:nvSpPr>
              <p:cNvPr id="203840" name="Text Box 97"/>
              <p:cNvSpPr txBox="1">
                <a:spLocks noChangeArrowheads="1"/>
              </p:cNvSpPr>
              <p:nvPr/>
            </p:nvSpPr>
            <p:spPr bwMode="auto">
              <a:xfrm>
                <a:off x="1736" y="720"/>
                <a:ext cx="211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000">
                    <a:latin typeface="Times New Roman" panose="02020603050405020304" pitchFamily="18" charset="0"/>
                  </a:rPr>
                  <a:t>共 </a:t>
                </a:r>
                <a:r>
                  <a:rPr lang="en-US" altLang="zh-CN" sz="2000" i="1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Q</a:t>
                </a:r>
                <a:r>
                  <a:rPr lang="en-US" altLang="zh-CN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zh-CN" altLang="en-US" sz="2000">
                    <a:solidFill>
                      <a:schemeClr val="folHlink"/>
                    </a:solidFill>
                    <a:latin typeface="Times New Roman" panose="02020603050405020304" pitchFamily="18" charset="0"/>
                  </a:rPr>
                  <a:t>组</a:t>
                </a:r>
                <a:r>
                  <a:rPr lang="zh-CN" altLang="en-US" sz="2000">
                    <a:latin typeface="Times New Roman" panose="02020603050405020304" pitchFamily="18" charset="0"/>
                  </a:rPr>
                  <a:t>，每组内两块（</a:t>
                </a:r>
                <a:r>
                  <a:rPr lang="en-US" altLang="zh-CN" sz="2000" i="1">
                    <a:latin typeface="Times New Roman" panose="02020603050405020304" pitchFamily="18" charset="0"/>
                  </a:rPr>
                  <a:t>r</a:t>
                </a:r>
                <a:r>
                  <a:rPr lang="en-US" altLang="zh-CN" sz="2000">
                    <a:latin typeface="Times New Roman" panose="02020603050405020304" pitchFamily="18" charset="0"/>
                  </a:rPr>
                  <a:t> = 1)</a:t>
                </a:r>
              </a:p>
            </p:txBody>
          </p:sp>
        </p:grpSp>
        <p:sp>
          <p:nvSpPr>
            <p:cNvPr id="203838" name="Text Box 98"/>
            <p:cNvSpPr txBox="1">
              <a:spLocks noChangeArrowheads="1"/>
            </p:cNvSpPr>
            <p:nvPr/>
          </p:nvSpPr>
          <p:spPr bwMode="auto">
            <a:xfrm>
              <a:off x="5214" y="1632"/>
              <a:ext cx="24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1</a:t>
              </a:r>
            </a:p>
          </p:txBody>
        </p:sp>
      </p:grpSp>
      <p:sp>
        <p:nvSpPr>
          <p:cNvPr id="295011" name="Text Box 99"/>
          <p:cNvSpPr txBox="1">
            <a:spLocks noChangeArrowheads="1"/>
          </p:cNvSpPr>
          <p:nvPr/>
        </p:nvSpPr>
        <p:spPr bwMode="auto">
          <a:xfrm>
            <a:off x="457200" y="6100763"/>
            <a:ext cx="85502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某一主存块</a:t>
            </a:r>
            <a:r>
              <a:rPr lang="zh-CN" altLang="en-US" sz="2800">
                <a:latin typeface="Times New Roman" panose="02020603050405020304" pitchFamily="18" charset="0"/>
              </a:rPr>
              <a:t> </a:t>
            </a:r>
            <a:r>
              <a:rPr lang="en-US" altLang="zh-CN" sz="2800" i="1">
                <a:solidFill>
                  <a:schemeClr val="folHlink"/>
                </a:solidFill>
                <a:latin typeface="Times New Roman" panose="02020603050405020304" pitchFamily="18" charset="0"/>
              </a:rPr>
              <a:t>j</a:t>
            </a:r>
            <a:r>
              <a:rPr lang="en-US" altLang="zh-CN" sz="2800">
                <a:latin typeface="Times New Roman" panose="02020603050405020304" pitchFamily="18" charset="0"/>
              </a:rPr>
              <a:t> </a:t>
            </a:r>
            <a:r>
              <a:rPr lang="zh-CN" altLang="en-US" sz="2800">
                <a:latin typeface="Times New Roman" panose="02020603050405020304" pitchFamily="18" charset="0"/>
              </a:rPr>
              <a:t>按模 </a:t>
            </a:r>
            <a:r>
              <a:rPr lang="en-US" altLang="zh-CN" sz="2800" i="1">
                <a:solidFill>
                  <a:schemeClr val="folHlink"/>
                </a:solidFill>
                <a:latin typeface="Times New Roman" panose="02020603050405020304" pitchFamily="18" charset="0"/>
              </a:rPr>
              <a:t>Q</a:t>
            </a:r>
            <a:r>
              <a:rPr lang="en-US" altLang="zh-CN" sz="2800">
                <a:latin typeface="Times New Roman" panose="02020603050405020304" pitchFamily="18" charset="0"/>
              </a:rPr>
              <a:t> </a:t>
            </a:r>
            <a:r>
              <a:rPr lang="zh-CN" altLang="en-US" sz="2800">
                <a:latin typeface="Times New Roman" panose="02020603050405020304" pitchFamily="18" charset="0"/>
              </a:rPr>
              <a:t>映射到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缓存 </a:t>
            </a:r>
            <a:r>
              <a:rPr lang="zh-CN" altLang="en-US" sz="2800">
                <a:latin typeface="Times New Roman" panose="02020603050405020304" pitchFamily="18" charset="0"/>
              </a:rPr>
              <a:t>的第 </a:t>
            </a:r>
            <a:r>
              <a:rPr lang="en-US" altLang="zh-CN" sz="2800" i="1">
                <a:solidFill>
                  <a:schemeClr val="folHlink"/>
                </a:solidFill>
                <a:latin typeface="Times New Roman" panose="02020603050405020304" pitchFamily="18" charset="0"/>
              </a:rPr>
              <a:t>i</a:t>
            </a:r>
            <a:r>
              <a:rPr lang="en-US" altLang="zh-CN" sz="2800">
                <a:latin typeface="Times New Roman" panose="02020603050405020304" pitchFamily="18" charset="0"/>
              </a:rPr>
              <a:t>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组</a:t>
            </a:r>
            <a:r>
              <a:rPr lang="zh-CN" altLang="en-US" sz="2800">
                <a:latin typeface="Times New Roman" panose="02020603050405020304" pitchFamily="18" charset="0"/>
              </a:rPr>
              <a:t>中的 </a:t>
            </a: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任一块</a:t>
            </a:r>
          </a:p>
        </p:txBody>
      </p:sp>
      <p:sp>
        <p:nvSpPr>
          <p:cNvPr id="295012" name="Text Box 100"/>
          <p:cNvSpPr txBox="1">
            <a:spLocks noChangeArrowheads="1"/>
          </p:cNvSpPr>
          <p:nvPr/>
        </p:nvSpPr>
        <p:spPr bwMode="auto">
          <a:xfrm>
            <a:off x="533400" y="5414963"/>
            <a:ext cx="177323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2800" i="1">
                <a:solidFill>
                  <a:schemeClr val="folHlink"/>
                </a:solidFill>
                <a:latin typeface="Times New Roman" panose="02020603050405020304" pitchFamily="18" charset="0"/>
              </a:rPr>
              <a:t>i</a:t>
            </a:r>
            <a:r>
              <a: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rPr>
              <a:t> = </a:t>
            </a:r>
            <a:r>
              <a:rPr lang="en-US" altLang="zh-CN" sz="2800" i="1">
                <a:solidFill>
                  <a:schemeClr val="folHlink"/>
                </a:solidFill>
                <a:latin typeface="Times New Roman" panose="02020603050405020304" pitchFamily="18" charset="0"/>
              </a:rPr>
              <a:t>j</a:t>
            </a:r>
            <a:r>
              <a: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en-US" altLang="zh-CN" sz="2400">
                <a:solidFill>
                  <a:schemeClr val="folHlink"/>
                </a:solidFill>
                <a:latin typeface="Times New Roman" panose="02020603050405020304" pitchFamily="18" charset="0"/>
              </a:rPr>
              <a:t>mod</a:t>
            </a:r>
            <a:r>
              <a:rPr lang="en-US" altLang="zh-CN" sz="2800">
                <a:solidFill>
                  <a:schemeClr val="folHlink"/>
                </a:solidFill>
                <a:latin typeface="Times New Roman" panose="02020603050405020304" pitchFamily="18" charset="0"/>
              </a:rPr>
              <a:t> </a:t>
            </a:r>
            <a:r>
              <a:rPr lang="en-US" altLang="zh-CN" sz="2800" i="1">
                <a:solidFill>
                  <a:schemeClr val="folHlink"/>
                </a:solidFill>
                <a:latin typeface="Times New Roman" panose="02020603050405020304" pitchFamily="18" charset="0"/>
              </a:rPr>
              <a:t>Q</a:t>
            </a:r>
          </a:p>
        </p:txBody>
      </p:sp>
      <p:grpSp>
        <p:nvGrpSpPr>
          <p:cNvPr id="7" name="Group 101"/>
          <p:cNvGrpSpPr/>
          <p:nvPr/>
        </p:nvGrpSpPr>
        <p:grpSpPr bwMode="auto">
          <a:xfrm>
            <a:off x="2571750" y="5262563"/>
            <a:ext cx="3805238" cy="914400"/>
            <a:chOff x="1620" y="3408"/>
            <a:chExt cx="2397" cy="576"/>
          </a:xfrm>
        </p:grpSpPr>
        <p:sp>
          <p:nvSpPr>
            <p:cNvPr id="203834" name="Freeform 102"/>
            <p:cNvSpPr/>
            <p:nvPr/>
          </p:nvSpPr>
          <p:spPr bwMode="auto">
            <a:xfrm>
              <a:off x="1620" y="3600"/>
              <a:ext cx="876" cy="369"/>
            </a:xfrm>
            <a:custGeom>
              <a:avLst/>
              <a:gdLst>
                <a:gd name="T0" fmla="*/ 0 w 876"/>
                <a:gd name="T1" fmla="*/ 369 h 369"/>
                <a:gd name="T2" fmla="*/ 876 w 876"/>
                <a:gd name="T3" fmla="*/ 0 h 369"/>
                <a:gd name="T4" fmla="*/ 0 60000 65536"/>
                <a:gd name="T5" fmla="*/ 0 60000 65536"/>
                <a:gd name="T6" fmla="*/ 0 w 876"/>
                <a:gd name="T7" fmla="*/ 0 h 369"/>
                <a:gd name="T8" fmla="*/ 876 w 876"/>
                <a:gd name="T9" fmla="*/ 369 h 36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76" h="369">
                  <a:moveTo>
                    <a:pt x="0" y="369"/>
                  </a:moveTo>
                  <a:lnTo>
                    <a:pt x="876" y="0"/>
                  </a:lnTo>
                </a:path>
              </a:pathLst>
            </a:custGeom>
            <a:noFill/>
            <a:ln w="28575" cmpd="sng">
              <a:solidFill>
                <a:schemeClr val="folHlink"/>
              </a:solidFill>
              <a:round/>
              <a:headEnd type="none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3835" name="Freeform 103"/>
            <p:cNvSpPr/>
            <p:nvPr/>
          </p:nvSpPr>
          <p:spPr bwMode="auto">
            <a:xfrm>
              <a:off x="3354" y="3627"/>
              <a:ext cx="663" cy="357"/>
            </a:xfrm>
            <a:custGeom>
              <a:avLst/>
              <a:gdLst>
                <a:gd name="T0" fmla="*/ 663 w 663"/>
                <a:gd name="T1" fmla="*/ 357 h 357"/>
                <a:gd name="T2" fmla="*/ 0 w 663"/>
                <a:gd name="T3" fmla="*/ 0 h 357"/>
                <a:gd name="T4" fmla="*/ 0 60000 65536"/>
                <a:gd name="T5" fmla="*/ 0 60000 65536"/>
                <a:gd name="T6" fmla="*/ 0 w 663"/>
                <a:gd name="T7" fmla="*/ 0 h 357"/>
                <a:gd name="T8" fmla="*/ 663 w 663"/>
                <a:gd name="T9" fmla="*/ 357 h 35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63" h="357">
                  <a:moveTo>
                    <a:pt x="663" y="357"/>
                  </a:move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chemeClr val="folHlink"/>
              </a:solidFill>
              <a:round/>
              <a:headEnd type="none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3836" name="Text Box 104"/>
            <p:cNvSpPr txBox="1">
              <a:spLocks noChangeArrowheads="1"/>
            </p:cNvSpPr>
            <p:nvPr/>
          </p:nvSpPr>
          <p:spPr bwMode="auto">
            <a:xfrm>
              <a:off x="2400" y="3408"/>
              <a:ext cx="101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直接映射</a:t>
              </a:r>
            </a:p>
          </p:txBody>
        </p:sp>
      </p:grpSp>
      <p:grpSp>
        <p:nvGrpSpPr>
          <p:cNvPr id="8" name="Group 105"/>
          <p:cNvGrpSpPr/>
          <p:nvPr/>
        </p:nvGrpSpPr>
        <p:grpSpPr bwMode="auto">
          <a:xfrm>
            <a:off x="2590800" y="5307013"/>
            <a:ext cx="5257800" cy="869950"/>
            <a:chOff x="1632" y="3388"/>
            <a:chExt cx="3312" cy="548"/>
          </a:xfrm>
        </p:grpSpPr>
        <p:sp>
          <p:nvSpPr>
            <p:cNvPr id="203831" name="Text Box 106"/>
            <p:cNvSpPr txBox="1">
              <a:spLocks noChangeArrowheads="1"/>
            </p:cNvSpPr>
            <p:nvPr/>
          </p:nvSpPr>
          <p:spPr bwMode="auto">
            <a:xfrm>
              <a:off x="2736" y="3388"/>
              <a:ext cx="124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全相联映射</a:t>
              </a:r>
            </a:p>
          </p:txBody>
        </p:sp>
        <p:sp>
          <p:nvSpPr>
            <p:cNvPr id="203832" name="Line 107"/>
            <p:cNvSpPr>
              <a:spLocks noChangeShapeType="1"/>
            </p:cNvSpPr>
            <p:nvPr/>
          </p:nvSpPr>
          <p:spPr bwMode="auto">
            <a:xfrm flipV="1">
              <a:off x="1632" y="3600"/>
              <a:ext cx="1152" cy="336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3833" name="Line 108"/>
            <p:cNvSpPr>
              <a:spLocks noChangeShapeType="1"/>
            </p:cNvSpPr>
            <p:nvPr/>
          </p:nvSpPr>
          <p:spPr bwMode="auto">
            <a:xfrm flipH="1" flipV="1">
              <a:off x="3936" y="3600"/>
              <a:ext cx="1008" cy="336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03783" name="Text Box 109"/>
          <p:cNvSpPr txBox="1">
            <a:spLocks noChangeArrowheads="1"/>
          </p:cNvSpPr>
          <p:nvPr/>
        </p:nvSpPr>
        <p:spPr bwMode="auto">
          <a:xfrm>
            <a:off x="517525" y="334963"/>
            <a:ext cx="33337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3. 组相联映射</a:t>
            </a:r>
          </a:p>
        </p:txBody>
      </p:sp>
      <p:sp>
        <p:nvSpPr>
          <p:cNvPr id="295022" name="Rectangle 110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4.3</a:t>
            </a:r>
          </a:p>
        </p:txBody>
      </p:sp>
      <p:grpSp>
        <p:nvGrpSpPr>
          <p:cNvPr id="9" name="Group 111"/>
          <p:cNvGrpSpPr/>
          <p:nvPr/>
        </p:nvGrpSpPr>
        <p:grpSpPr bwMode="auto">
          <a:xfrm>
            <a:off x="1824038" y="1414463"/>
            <a:ext cx="6788150" cy="3557587"/>
            <a:chOff x="1149" y="891"/>
            <a:chExt cx="4276" cy="2241"/>
          </a:xfrm>
        </p:grpSpPr>
        <p:grpSp>
          <p:nvGrpSpPr>
            <p:cNvPr id="203787" name="Group 112"/>
            <p:cNvGrpSpPr/>
            <p:nvPr/>
          </p:nvGrpSpPr>
          <p:grpSpPr bwMode="auto">
            <a:xfrm>
              <a:off x="4512" y="899"/>
              <a:ext cx="912" cy="249"/>
              <a:chOff x="4512" y="899"/>
              <a:chExt cx="912" cy="249"/>
            </a:xfrm>
          </p:grpSpPr>
          <p:sp>
            <p:nvSpPr>
              <p:cNvPr id="203828" name="Rectangle 113"/>
              <p:cNvSpPr>
                <a:spLocks noChangeArrowheads="1"/>
              </p:cNvSpPr>
              <p:nvPr/>
            </p:nvSpPr>
            <p:spPr bwMode="auto">
              <a:xfrm>
                <a:off x="4512" y="899"/>
                <a:ext cx="912" cy="249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     字块0</a:t>
                </a:r>
              </a:p>
            </p:txBody>
          </p:sp>
          <p:sp>
            <p:nvSpPr>
              <p:cNvPr id="203829" name="Line 114"/>
              <p:cNvSpPr>
                <a:spLocks noChangeShapeType="1"/>
              </p:cNvSpPr>
              <p:nvPr/>
            </p:nvSpPr>
            <p:spPr bwMode="auto">
              <a:xfrm>
                <a:off x="4512" y="899"/>
                <a:ext cx="912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03830" name="Line 115"/>
              <p:cNvSpPr>
                <a:spLocks noChangeShapeType="1"/>
              </p:cNvSpPr>
              <p:nvPr/>
            </p:nvSpPr>
            <p:spPr bwMode="auto">
              <a:xfrm>
                <a:off x="4512" y="1148"/>
                <a:ext cx="91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grpSp>
          <p:nvGrpSpPr>
            <p:cNvPr id="203788" name="Group 116"/>
            <p:cNvGrpSpPr/>
            <p:nvPr/>
          </p:nvGrpSpPr>
          <p:grpSpPr bwMode="auto">
            <a:xfrm>
              <a:off x="1152" y="1043"/>
              <a:ext cx="2688" cy="249"/>
              <a:chOff x="1152" y="1043"/>
              <a:chExt cx="2688" cy="249"/>
            </a:xfrm>
          </p:grpSpPr>
          <p:sp>
            <p:nvSpPr>
              <p:cNvPr id="203822" name="Rectangle 117"/>
              <p:cNvSpPr>
                <a:spLocks noChangeArrowheads="1"/>
              </p:cNvSpPr>
              <p:nvPr/>
            </p:nvSpPr>
            <p:spPr bwMode="auto">
              <a:xfrm>
                <a:off x="2976" y="1043"/>
                <a:ext cx="864" cy="249"/>
              </a:xfrm>
              <a:prstGeom prst="rect">
                <a:avLst/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</a:ln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    字块 1</a:t>
                </a:r>
              </a:p>
            </p:txBody>
          </p:sp>
          <p:sp>
            <p:nvSpPr>
              <p:cNvPr id="203823" name="Line 118"/>
              <p:cNvSpPr>
                <a:spLocks noChangeShapeType="1"/>
              </p:cNvSpPr>
              <p:nvPr/>
            </p:nvSpPr>
            <p:spPr bwMode="auto">
              <a:xfrm>
                <a:off x="2496" y="1043"/>
                <a:ext cx="1344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03824" name="Line 119"/>
              <p:cNvSpPr>
                <a:spLocks noChangeShapeType="1"/>
              </p:cNvSpPr>
              <p:nvPr/>
            </p:nvSpPr>
            <p:spPr bwMode="auto">
              <a:xfrm>
                <a:off x="2496" y="1292"/>
                <a:ext cx="134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03825" name="Rectangle 120"/>
              <p:cNvSpPr>
                <a:spLocks noChangeArrowheads="1"/>
              </p:cNvSpPr>
              <p:nvPr/>
            </p:nvSpPr>
            <p:spPr bwMode="auto">
              <a:xfrm>
                <a:off x="1632" y="1043"/>
                <a:ext cx="864" cy="249"/>
              </a:xfrm>
              <a:prstGeom prst="rect">
                <a:avLst/>
              </a:prstGeom>
              <a:solidFill>
                <a:schemeClr val="folHlink"/>
              </a:solidFill>
              <a:ln w="9525">
                <a:solidFill>
                  <a:schemeClr val="folHlink"/>
                </a:solidFill>
                <a:miter lim="800000"/>
              </a:ln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    字块 0</a:t>
                </a:r>
              </a:p>
            </p:txBody>
          </p:sp>
          <p:sp>
            <p:nvSpPr>
              <p:cNvPr id="203826" name="Line 121"/>
              <p:cNvSpPr>
                <a:spLocks noChangeShapeType="1"/>
              </p:cNvSpPr>
              <p:nvPr/>
            </p:nvSpPr>
            <p:spPr bwMode="auto">
              <a:xfrm>
                <a:off x="1152" y="1043"/>
                <a:ext cx="1344" cy="0"/>
              </a:xfrm>
              <a:prstGeom prst="line">
                <a:avLst/>
              </a:prstGeom>
              <a:noFill/>
              <a:ln w="38100" cap="sq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03827" name="Line 122"/>
              <p:cNvSpPr>
                <a:spLocks noChangeShapeType="1"/>
              </p:cNvSpPr>
              <p:nvPr/>
            </p:nvSpPr>
            <p:spPr bwMode="auto">
              <a:xfrm>
                <a:off x="1152" y="1292"/>
                <a:ext cx="134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203789" name="Line 123"/>
            <p:cNvSpPr>
              <a:spLocks noChangeShapeType="1"/>
            </p:cNvSpPr>
            <p:nvPr/>
          </p:nvSpPr>
          <p:spPr bwMode="auto">
            <a:xfrm>
              <a:off x="3840" y="1139"/>
              <a:ext cx="672" cy="86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3790" name="Line 124"/>
            <p:cNvSpPr>
              <a:spLocks noChangeShapeType="1"/>
            </p:cNvSpPr>
            <p:nvPr/>
          </p:nvSpPr>
          <p:spPr bwMode="auto">
            <a:xfrm>
              <a:off x="3840" y="1139"/>
              <a:ext cx="672" cy="182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203791" name="Group 125"/>
            <p:cNvGrpSpPr/>
            <p:nvPr/>
          </p:nvGrpSpPr>
          <p:grpSpPr bwMode="auto">
            <a:xfrm>
              <a:off x="1149" y="891"/>
              <a:ext cx="4276" cy="414"/>
              <a:chOff x="1149" y="891"/>
              <a:chExt cx="4276" cy="414"/>
            </a:xfrm>
          </p:grpSpPr>
          <p:sp>
            <p:nvSpPr>
              <p:cNvPr id="203806" name="Line 126"/>
              <p:cNvSpPr>
                <a:spLocks noChangeShapeType="1"/>
              </p:cNvSpPr>
              <p:nvPr/>
            </p:nvSpPr>
            <p:spPr bwMode="auto">
              <a:xfrm flipV="1">
                <a:off x="3840" y="995"/>
                <a:ext cx="672" cy="144"/>
              </a:xfrm>
              <a:prstGeom prst="line">
                <a:avLst/>
              </a:prstGeom>
              <a:noFill/>
              <a:ln w="38100">
                <a:solidFill>
                  <a:schemeClr val="folHlink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03807" name="Group 127"/>
              <p:cNvGrpSpPr/>
              <p:nvPr/>
            </p:nvGrpSpPr>
            <p:grpSpPr bwMode="auto">
              <a:xfrm>
                <a:off x="4512" y="891"/>
                <a:ext cx="913" cy="267"/>
                <a:chOff x="4512" y="891"/>
                <a:chExt cx="913" cy="267"/>
              </a:xfrm>
            </p:grpSpPr>
            <p:sp>
              <p:nvSpPr>
                <p:cNvPr id="203818" name="Line 128"/>
                <p:cNvSpPr>
                  <a:spLocks noChangeShapeType="1"/>
                </p:cNvSpPr>
                <p:nvPr/>
              </p:nvSpPr>
              <p:spPr bwMode="auto">
                <a:xfrm>
                  <a:off x="4512" y="899"/>
                  <a:ext cx="912" cy="0"/>
                </a:xfrm>
                <a:prstGeom prst="line">
                  <a:avLst/>
                </a:prstGeom>
                <a:noFill/>
                <a:ln w="38100" cap="sq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19" name="Line 129"/>
                <p:cNvSpPr>
                  <a:spLocks noChangeShapeType="1"/>
                </p:cNvSpPr>
                <p:nvPr/>
              </p:nvSpPr>
              <p:spPr bwMode="auto">
                <a:xfrm>
                  <a:off x="4512" y="1148"/>
                  <a:ext cx="912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20" name="Freeform 130"/>
                <p:cNvSpPr/>
                <p:nvPr/>
              </p:nvSpPr>
              <p:spPr bwMode="auto">
                <a:xfrm>
                  <a:off x="4512" y="891"/>
                  <a:ext cx="1" cy="267"/>
                </a:xfrm>
                <a:custGeom>
                  <a:avLst/>
                  <a:gdLst>
                    <a:gd name="T0" fmla="*/ 0 w 1"/>
                    <a:gd name="T1" fmla="*/ 0 h 267"/>
                    <a:gd name="T2" fmla="*/ 0 w 1"/>
                    <a:gd name="T3" fmla="*/ 267 h 267"/>
                    <a:gd name="T4" fmla="*/ 0 60000 65536"/>
                    <a:gd name="T5" fmla="*/ 0 60000 65536"/>
                    <a:gd name="T6" fmla="*/ 0 w 1"/>
                    <a:gd name="T7" fmla="*/ 0 h 267"/>
                    <a:gd name="T8" fmla="*/ 1 w 1"/>
                    <a:gd name="T9" fmla="*/ 267 h 267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67">
                      <a:moveTo>
                        <a:pt x="0" y="0"/>
                      </a:moveTo>
                      <a:lnTo>
                        <a:pt x="0" y="267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21" name="Freeform 131"/>
                <p:cNvSpPr/>
                <p:nvPr/>
              </p:nvSpPr>
              <p:spPr bwMode="auto">
                <a:xfrm>
                  <a:off x="5424" y="891"/>
                  <a:ext cx="1" cy="267"/>
                </a:xfrm>
                <a:custGeom>
                  <a:avLst/>
                  <a:gdLst>
                    <a:gd name="T0" fmla="*/ 0 w 1"/>
                    <a:gd name="T1" fmla="*/ 0 h 267"/>
                    <a:gd name="T2" fmla="*/ 0 w 1"/>
                    <a:gd name="T3" fmla="*/ 267 h 267"/>
                    <a:gd name="T4" fmla="*/ 0 60000 65536"/>
                    <a:gd name="T5" fmla="*/ 0 60000 65536"/>
                    <a:gd name="T6" fmla="*/ 0 w 1"/>
                    <a:gd name="T7" fmla="*/ 0 h 267"/>
                    <a:gd name="T8" fmla="*/ 1 w 1"/>
                    <a:gd name="T9" fmla="*/ 267 h 267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67">
                      <a:moveTo>
                        <a:pt x="0" y="0"/>
                      </a:moveTo>
                      <a:lnTo>
                        <a:pt x="0" y="267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03808" name="Group 132"/>
              <p:cNvGrpSpPr/>
              <p:nvPr/>
            </p:nvGrpSpPr>
            <p:grpSpPr bwMode="auto">
              <a:xfrm>
                <a:off x="1149" y="1035"/>
                <a:ext cx="2691" cy="270"/>
                <a:chOff x="1149" y="1035"/>
                <a:chExt cx="2691" cy="270"/>
              </a:xfrm>
            </p:grpSpPr>
            <p:sp>
              <p:nvSpPr>
                <p:cNvPr id="203809" name="Line 133"/>
                <p:cNvSpPr>
                  <a:spLocks noChangeShapeType="1"/>
                </p:cNvSpPr>
                <p:nvPr/>
              </p:nvSpPr>
              <p:spPr bwMode="auto">
                <a:xfrm>
                  <a:off x="2496" y="1043"/>
                  <a:ext cx="1344" cy="0"/>
                </a:xfrm>
                <a:prstGeom prst="line">
                  <a:avLst/>
                </a:prstGeom>
                <a:noFill/>
                <a:ln w="38100" cap="sq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10" name="Line 134"/>
                <p:cNvSpPr>
                  <a:spLocks noChangeShapeType="1"/>
                </p:cNvSpPr>
                <p:nvPr/>
              </p:nvSpPr>
              <p:spPr bwMode="auto">
                <a:xfrm>
                  <a:off x="2496" y="1292"/>
                  <a:ext cx="1344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11" name="Line 135"/>
                <p:cNvSpPr>
                  <a:spLocks noChangeShapeType="1"/>
                </p:cNvSpPr>
                <p:nvPr/>
              </p:nvSpPr>
              <p:spPr bwMode="auto">
                <a:xfrm>
                  <a:off x="1152" y="1043"/>
                  <a:ext cx="1344" cy="0"/>
                </a:xfrm>
                <a:prstGeom prst="line">
                  <a:avLst/>
                </a:prstGeom>
                <a:noFill/>
                <a:ln w="38100" cap="sq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12" name="Line 136"/>
                <p:cNvSpPr>
                  <a:spLocks noChangeShapeType="1"/>
                </p:cNvSpPr>
                <p:nvPr/>
              </p:nvSpPr>
              <p:spPr bwMode="auto">
                <a:xfrm>
                  <a:off x="1152" y="1292"/>
                  <a:ext cx="1344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13" name="Freeform 137"/>
                <p:cNvSpPr/>
                <p:nvPr/>
              </p:nvSpPr>
              <p:spPr bwMode="auto">
                <a:xfrm>
                  <a:off x="1149" y="1035"/>
                  <a:ext cx="3" cy="270"/>
                </a:xfrm>
                <a:custGeom>
                  <a:avLst/>
                  <a:gdLst>
                    <a:gd name="T0" fmla="*/ 0 w 3"/>
                    <a:gd name="T1" fmla="*/ 0 h 270"/>
                    <a:gd name="T2" fmla="*/ 3 w 3"/>
                    <a:gd name="T3" fmla="*/ 270 h 270"/>
                    <a:gd name="T4" fmla="*/ 0 60000 65536"/>
                    <a:gd name="T5" fmla="*/ 0 60000 65536"/>
                    <a:gd name="T6" fmla="*/ 0 w 3"/>
                    <a:gd name="T7" fmla="*/ 0 h 270"/>
                    <a:gd name="T8" fmla="*/ 3 w 3"/>
                    <a:gd name="T9" fmla="*/ 270 h 27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" h="270">
                      <a:moveTo>
                        <a:pt x="0" y="0"/>
                      </a:moveTo>
                      <a:lnTo>
                        <a:pt x="3" y="270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14" name="Line 138"/>
                <p:cNvSpPr>
                  <a:spLocks noChangeShapeType="1"/>
                </p:cNvSpPr>
                <p:nvPr/>
              </p:nvSpPr>
              <p:spPr bwMode="auto">
                <a:xfrm>
                  <a:off x="1632" y="1056"/>
                  <a:ext cx="0" cy="24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15" name="Line 139"/>
                <p:cNvSpPr>
                  <a:spLocks noChangeShapeType="1"/>
                </p:cNvSpPr>
                <p:nvPr/>
              </p:nvSpPr>
              <p:spPr bwMode="auto">
                <a:xfrm>
                  <a:off x="2496" y="1056"/>
                  <a:ext cx="0" cy="24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16" name="Freeform 140"/>
                <p:cNvSpPr/>
                <p:nvPr/>
              </p:nvSpPr>
              <p:spPr bwMode="auto">
                <a:xfrm>
                  <a:off x="2973" y="1041"/>
                  <a:ext cx="3" cy="261"/>
                </a:xfrm>
                <a:custGeom>
                  <a:avLst/>
                  <a:gdLst>
                    <a:gd name="T0" fmla="*/ 3 w 3"/>
                    <a:gd name="T1" fmla="*/ 0 h 261"/>
                    <a:gd name="T2" fmla="*/ 0 w 3"/>
                    <a:gd name="T3" fmla="*/ 261 h 261"/>
                    <a:gd name="T4" fmla="*/ 0 60000 65536"/>
                    <a:gd name="T5" fmla="*/ 0 60000 65536"/>
                    <a:gd name="T6" fmla="*/ 0 w 3"/>
                    <a:gd name="T7" fmla="*/ 0 h 261"/>
                    <a:gd name="T8" fmla="*/ 3 w 3"/>
                    <a:gd name="T9" fmla="*/ 261 h 26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" h="261">
                      <a:moveTo>
                        <a:pt x="3" y="0"/>
                      </a:moveTo>
                      <a:lnTo>
                        <a:pt x="0" y="261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17" name="Freeform 141"/>
                <p:cNvSpPr/>
                <p:nvPr/>
              </p:nvSpPr>
              <p:spPr bwMode="auto">
                <a:xfrm>
                  <a:off x="3837" y="1038"/>
                  <a:ext cx="3" cy="261"/>
                </a:xfrm>
                <a:custGeom>
                  <a:avLst/>
                  <a:gdLst>
                    <a:gd name="T0" fmla="*/ 0 w 3"/>
                    <a:gd name="T1" fmla="*/ 0 h 261"/>
                    <a:gd name="T2" fmla="*/ 3 w 3"/>
                    <a:gd name="T3" fmla="*/ 261 h 261"/>
                    <a:gd name="T4" fmla="*/ 0 60000 65536"/>
                    <a:gd name="T5" fmla="*/ 0 60000 65536"/>
                    <a:gd name="T6" fmla="*/ 0 w 3"/>
                    <a:gd name="T7" fmla="*/ 0 h 261"/>
                    <a:gd name="T8" fmla="*/ 3 w 3"/>
                    <a:gd name="T9" fmla="*/ 261 h 26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" h="261">
                      <a:moveTo>
                        <a:pt x="0" y="0"/>
                      </a:moveTo>
                      <a:lnTo>
                        <a:pt x="3" y="261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03792" name="Group 142"/>
            <p:cNvGrpSpPr/>
            <p:nvPr/>
          </p:nvGrpSpPr>
          <p:grpSpPr bwMode="auto">
            <a:xfrm>
              <a:off x="4509" y="1863"/>
              <a:ext cx="916" cy="273"/>
              <a:chOff x="4509" y="1863"/>
              <a:chExt cx="916" cy="273"/>
            </a:xfrm>
          </p:grpSpPr>
          <p:sp>
            <p:nvSpPr>
              <p:cNvPr id="203800" name="Rectangle 143"/>
              <p:cNvSpPr>
                <a:spLocks noChangeArrowheads="1"/>
              </p:cNvSpPr>
              <p:nvPr/>
            </p:nvSpPr>
            <p:spPr bwMode="auto">
              <a:xfrm>
                <a:off x="4512" y="1876"/>
                <a:ext cx="912" cy="249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    字块2</a:t>
                </a:r>
                <a:r>
                  <a:rPr lang="en-US" altLang="zh-CN" sz="2000" i="1" baseline="30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zh-CN" sz="2000" baseline="30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-</a:t>
                </a:r>
                <a:r>
                  <a:rPr lang="en-US" altLang="zh-CN" sz="2000" i="1" baseline="30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r</a:t>
                </a:r>
                <a:endParaRPr lang="zh-CN" altLang="en-US" sz="2000" i="1" baseline="30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03801" name="Group 144"/>
              <p:cNvGrpSpPr/>
              <p:nvPr/>
            </p:nvGrpSpPr>
            <p:grpSpPr bwMode="auto">
              <a:xfrm>
                <a:off x="4509" y="1863"/>
                <a:ext cx="916" cy="273"/>
                <a:chOff x="4509" y="1863"/>
                <a:chExt cx="916" cy="273"/>
              </a:xfrm>
            </p:grpSpPr>
            <p:sp>
              <p:nvSpPr>
                <p:cNvPr id="203802" name="Line 145"/>
                <p:cNvSpPr>
                  <a:spLocks noChangeShapeType="1"/>
                </p:cNvSpPr>
                <p:nvPr/>
              </p:nvSpPr>
              <p:spPr bwMode="auto">
                <a:xfrm>
                  <a:off x="4512" y="1876"/>
                  <a:ext cx="912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03" name="Line 146"/>
                <p:cNvSpPr>
                  <a:spLocks noChangeShapeType="1"/>
                </p:cNvSpPr>
                <p:nvPr/>
              </p:nvSpPr>
              <p:spPr bwMode="auto">
                <a:xfrm>
                  <a:off x="4512" y="2125"/>
                  <a:ext cx="912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04" name="Freeform 147"/>
                <p:cNvSpPr/>
                <p:nvPr/>
              </p:nvSpPr>
              <p:spPr bwMode="auto">
                <a:xfrm>
                  <a:off x="5424" y="1866"/>
                  <a:ext cx="1" cy="270"/>
                </a:xfrm>
                <a:custGeom>
                  <a:avLst/>
                  <a:gdLst>
                    <a:gd name="T0" fmla="*/ 0 w 1"/>
                    <a:gd name="T1" fmla="*/ 0 h 270"/>
                    <a:gd name="T2" fmla="*/ 0 w 1"/>
                    <a:gd name="T3" fmla="*/ 270 h 270"/>
                    <a:gd name="T4" fmla="*/ 0 60000 65536"/>
                    <a:gd name="T5" fmla="*/ 0 60000 65536"/>
                    <a:gd name="T6" fmla="*/ 0 w 1"/>
                    <a:gd name="T7" fmla="*/ 0 h 270"/>
                    <a:gd name="T8" fmla="*/ 1 w 1"/>
                    <a:gd name="T9" fmla="*/ 270 h 270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70">
                      <a:moveTo>
                        <a:pt x="0" y="0"/>
                      </a:moveTo>
                      <a:lnTo>
                        <a:pt x="0" y="270"/>
                      </a:lnTo>
                    </a:path>
                  </a:pathLst>
                </a:custGeom>
                <a:solidFill>
                  <a:schemeClr val="folHlink"/>
                </a:solidFill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805" name="Freeform 148"/>
                <p:cNvSpPr/>
                <p:nvPr/>
              </p:nvSpPr>
              <p:spPr bwMode="auto">
                <a:xfrm>
                  <a:off x="4509" y="1863"/>
                  <a:ext cx="3" cy="273"/>
                </a:xfrm>
                <a:custGeom>
                  <a:avLst/>
                  <a:gdLst>
                    <a:gd name="T0" fmla="*/ 3 w 3"/>
                    <a:gd name="T1" fmla="*/ 0 h 273"/>
                    <a:gd name="T2" fmla="*/ 0 w 3"/>
                    <a:gd name="T3" fmla="*/ 273 h 273"/>
                    <a:gd name="T4" fmla="*/ 0 60000 65536"/>
                    <a:gd name="T5" fmla="*/ 0 60000 65536"/>
                    <a:gd name="T6" fmla="*/ 0 w 3"/>
                    <a:gd name="T7" fmla="*/ 0 h 273"/>
                    <a:gd name="T8" fmla="*/ 3 w 3"/>
                    <a:gd name="T9" fmla="*/ 273 h 273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" h="273">
                      <a:moveTo>
                        <a:pt x="3" y="0"/>
                      </a:moveTo>
                      <a:lnTo>
                        <a:pt x="0" y="273"/>
                      </a:lnTo>
                    </a:path>
                  </a:pathLst>
                </a:custGeom>
                <a:solidFill>
                  <a:schemeClr val="folHlink"/>
                </a:solidFill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03793" name="Group 149"/>
            <p:cNvGrpSpPr/>
            <p:nvPr/>
          </p:nvGrpSpPr>
          <p:grpSpPr bwMode="auto">
            <a:xfrm>
              <a:off x="4512" y="2856"/>
              <a:ext cx="913" cy="276"/>
              <a:chOff x="4512" y="2856"/>
              <a:chExt cx="913" cy="276"/>
            </a:xfrm>
          </p:grpSpPr>
          <p:sp>
            <p:nvSpPr>
              <p:cNvPr id="203794" name="Rectangle 150"/>
              <p:cNvSpPr>
                <a:spLocks noChangeArrowheads="1"/>
              </p:cNvSpPr>
              <p:nvPr/>
            </p:nvSpPr>
            <p:spPr bwMode="auto">
              <a:xfrm>
                <a:off x="4512" y="2872"/>
                <a:ext cx="912" cy="249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buClr>
                    <a:schemeClr val="accent2"/>
                  </a:buClr>
                  <a:buSzPct val="80000"/>
                  <a:buFont typeface="Wingdings" panose="05000000000000000000" pitchFamily="2" charset="2"/>
                  <a:buNone/>
                </a:pPr>
                <a:r>
                  <a:rPr lang="zh-CN" altLang="en-US" sz="2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  字块2</a:t>
                </a:r>
                <a:r>
                  <a:rPr lang="en-US" altLang="zh-CN" sz="2000" i="1" baseline="30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zh-CN" sz="2000" baseline="30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-</a:t>
                </a:r>
                <a:r>
                  <a:rPr lang="en-US" altLang="zh-CN" sz="2000" i="1" baseline="30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r</a:t>
                </a:r>
                <a:r>
                  <a:rPr lang="en-US" altLang="zh-CN" sz="2000" baseline="30000">
                    <a:solidFill>
                      <a:schemeClr val="bg2"/>
                    </a:solidFill>
                    <a:latin typeface="Times New Roman" panose="02020603050405020304" pitchFamily="18" charset="0"/>
                  </a:rPr>
                  <a:t>+1</a:t>
                </a:r>
                <a:endParaRPr lang="zh-CN" altLang="en-US" sz="2000" baseline="30000">
                  <a:solidFill>
                    <a:schemeClr val="bg2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03795" name="Group 151"/>
              <p:cNvGrpSpPr/>
              <p:nvPr/>
            </p:nvGrpSpPr>
            <p:grpSpPr bwMode="auto">
              <a:xfrm>
                <a:off x="4512" y="2856"/>
                <a:ext cx="913" cy="276"/>
                <a:chOff x="4512" y="2856"/>
                <a:chExt cx="913" cy="276"/>
              </a:xfrm>
            </p:grpSpPr>
            <p:sp>
              <p:nvSpPr>
                <p:cNvPr id="203796" name="Line 152"/>
                <p:cNvSpPr>
                  <a:spLocks noChangeShapeType="1"/>
                </p:cNvSpPr>
                <p:nvPr/>
              </p:nvSpPr>
              <p:spPr bwMode="auto">
                <a:xfrm>
                  <a:off x="4512" y="2872"/>
                  <a:ext cx="912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797" name="Line 153"/>
                <p:cNvSpPr>
                  <a:spLocks noChangeShapeType="1"/>
                </p:cNvSpPr>
                <p:nvPr/>
              </p:nvSpPr>
              <p:spPr bwMode="auto">
                <a:xfrm>
                  <a:off x="4512" y="3121"/>
                  <a:ext cx="912" cy="0"/>
                </a:xfrm>
                <a:prstGeom prst="line">
                  <a:avLst/>
                </a:prstGeom>
                <a:noFill/>
                <a:ln w="38100">
                  <a:solidFill>
                    <a:schemeClr val="folHlink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798" name="Freeform 154"/>
                <p:cNvSpPr/>
                <p:nvPr/>
              </p:nvSpPr>
              <p:spPr bwMode="auto">
                <a:xfrm>
                  <a:off x="4512" y="2856"/>
                  <a:ext cx="1" cy="276"/>
                </a:xfrm>
                <a:custGeom>
                  <a:avLst/>
                  <a:gdLst>
                    <a:gd name="T0" fmla="*/ 0 w 1"/>
                    <a:gd name="T1" fmla="*/ 0 h 276"/>
                    <a:gd name="T2" fmla="*/ 0 w 1"/>
                    <a:gd name="T3" fmla="*/ 276 h 276"/>
                    <a:gd name="T4" fmla="*/ 0 60000 65536"/>
                    <a:gd name="T5" fmla="*/ 0 60000 65536"/>
                    <a:gd name="T6" fmla="*/ 0 w 1"/>
                    <a:gd name="T7" fmla="*/ 0 h 276"/>
                    <a:gd name="T8" fmla="*/ 1 w 1"/>
                    <a:gd name="T9" fmla="*/ 276 h 27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76">
                      <a:moveTo>
                        <a:pt x="0" y="0"/>
                      </a:moveTo>
                      <a:lnTo>
                        <a:pt x="0" y="276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3799" name="Freeform 155"/>
                <p:cNvSpPr/>
                <p:nvPr/>
              </p:nvSpPr>
              <p:spPr bwMode="auto">
                <a:xfrm>
                  <a:off x="5424" y="2859"/>
                  <a:ext cx="1" cy="273"/>
                </a:xfrm>
                <a:custGeom>
                  <a:avLst/>
                  <a:gdLst>
                    <a:gd name="T0" fmla="*/ 0 w 1"/>
                    <a:gd name="T1" fmla="*/ 0 h 273"/>
                    <a:gd name="T2" fmla="*/ 0 w 1"/>
                    <a:gd name="T3" fmla="*/ 273 h 273"/>
                    <a:gd name="T4" fmla="*/ 0 60000 65536"/>
                    <a:gd name="T5" fmla="*/ 0 60000 65536"/>
                    <a:gd name="T6" fmla="*/ 0 w 1"/>
                    <a:gd name="T7" fmla="*/ 0 h 273"/>
                    <a:gd name="T8" fmla="*/ 1 w 1"/>
                    <a:gd name="T9" fmla="*/ 273 h 273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1" h="273">
                      <a:moveTo>
                        <a:pt x="0" y="0"/>
                      </a:moveTo>
                      <a:lnTo>
                        <a:pt x="0" y="273"/>
                      </a:lnTo>
                    </a:path>
                  </a:pathLst>
                </a:custGeom>
                <a:noFill/>
                <a:ln w="38100" cmpd="sng">
                  <a:solidFill>
                    <a:schemeClr val="folHlink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203786" name="AutoShape 158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0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950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950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5011" grpId="0" autoUpdateAnimBg="0"/>
      <p:bldP spid="295012" grpId="0" autoUpdateAnimBg="0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2" name="Text Box 2"/>
          <p:cNvSpPr txBox="1">
            <a:spLocks noChangeArrowheads="1"/>
          </p:cNvSpPr>
          <p:nvPr/>
        </p:nvSpPr>
        <p:spPr bwMode="auto">
          <a:xfrm>
            <a:off x="533400" y="381000"/>
            <a:ext cx="4110038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三、替换算法</a:t>
            </a:r>
          </a:p>
        </p:txBody>
      </p:sp>
      <p:sp>
        <p:nvSpPr>
          <p:cNvPr id="295939" name="Text Box 3"/>
          <p:cNvSpPr txBox="1">
            <a:spLocks noChangeArrowheads="1"/>
          </p:cNvSpPr>
          <p:nvPr/>
        </p:nvSpPr>
        <p:spPr bwMode="auto">
          <a:xfrm>
            <a:off x="1066800" y="1249363"/>
            <a:ext cx="533241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1.  先进先出 （ </a:t>
            </a:r>
            <a:r>
              <a:rPr lang="en-US" altLang="zh-CN" sz="3200">
                <a:latin typeface="Times New Roman" panose="02020603050405020304" pitchFamily="18" charset="0"/>
              </a:rPr>
              <a:t>FIFO ）</a:t>
            </a:r>
            <a:r>
              <a:rPr lang="zh-CN" altLang="en-US" sz="3200">
                <a:latin typeface="Times New Roman" panose="02020603050405020304" pitchFamily="18" charset="0"/>
              </a:rPr>
              <a:t>算法 </a:t>
            </a:r>
          </a:p>
        </p:txBody>
      </p:sp>
      <p:sp>
        <p:nvSpPr>
          <p:cNvPr id="295940" name="Text Box 4"/>
          <p:cNvSpPr txBox="1">
            <a:spLocks noChangeArrowheads="1"/>
          </p:cNvSpPr>
          <p:nvPr/>
        </p:nvSpPr>
        <p:spPr bwMode="auto">
          <a:xfrm>
            <a:off x="1066800" y="2087563"/>
            <a:ext cx="703421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2.  近期最少使用（ </a:t>
            </a:r>
            <a:r>
              <a:rPr lang="en-US" altLang="zh-CN" sz="3200">
                <a:latin typeface="Times New Roman" panose="02020603050405020304" pitchFamily="18" charset="0"/>
              </a:rPr>
              <a:t>LRU）</a:t>
            </a:r>
            <a:r>
              <a:rPr lang="zh-CN" altLang="en-US" sz="3200">
                <a:latin typeface="Times New Roman" panose="02020603050405020304" pitchFamily="18" charset="0"/>
              </a:rPr>
              <a:t>算法</a:t>
            </a:r>
          </a:p>
        </p:txBody>
      </p:sp>
      <p:sp>
        <p:nvSpPr>
          <p:cNvPr id="295941" name="Text Box 5"/>
          <p:cNvSpPr txBox="1">
            <a:spLocks noChangeArrowheads="1"/>
          </p:cNvSpPr>
          <p:nvPr/>
        </p:nvSpPr>
        <p:spPr bwMode="auto">
          <a:xfrm>
            <a:off x="904875" y="2887663"/>
            <a:ext cx="10001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小结</a:t>
            </a:r>
          </a:p>
        </p:txBody>
      </p:sp>
      <p:sp>
        <p:nvSpPr>
          <p:cNvPr id="295942" name="Text Box 6"/>
          <p:cNvSpPr txBox="1">
            <a:spLocks noChangeArrowheads="1"/>
          </p:cNvSpPr>
          <p:nvPr/>
        </p:nvSpPr>
        <p:spPr bwMode="auto">
          <a:xfrm>
            <a:off x="2124075" y="3981450"/>
            <a:ext cx="64627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某一 </a:t>
            </a:r>
            <a:r>
              <a:rPr lang="zh-CN" altLang="en-US" sz="2400">
                <a:latin typeface="Times New Roman" panose="02020603050405020304" pitchFamily="18" charset="0"/>
              </a:rPr>
              <a:t>主存块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只能固定 </a:t>
            </a:r>
            <a:r>
              <a:rPr lang="zh-CN" altLang="en-US" sz="2400">
                <a:latin typeface="Times New Roman" panose="02020603050405020304" pitchFamily="18" charset="0"/>
              </a:rPr>
              <a:t>映射到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某一 </a:t>
            </a:r>
            <a:r>
              <a:rPr lang="zh-CN" altLang="en-US" sz="2400">
                <a:latin typeface="Times New Roman" panose="02020603050405020304" pitchFamily="18" charset="0"/>
              </a:rPr>
              <a:t>缓存块</a:t>
            </a:r>
          </a:p>
        </p:txBody>
      </p:sp>
      <p:grpSp>
        <p:nvGrpSpPr>
          <p:cNvPr id="2" name="Group 7"/>
          <p:cNvGrpSpPr/>
          <p:nvPr/>
        </p:nvGrpSpPr>
        <p:grpSpPr bwMode="auto">
          <a:xfrm>
            <a:off x="852488" y="3908425"/>
            <a:ext cx="1252537" cy="2195513"/>
            <a:chOff x="96" y="2462"/>
            <a:chExt cx="789" cy="1383"/>
          </a:xfrm>
        </p:grpSpPr>
        <p:sp>
          <p:nvSpPr>
            <p:cNvPr id="204814" name="Text Box 8"/>
            <p:cNvSpPr txBox="1">
              <a:spLocks noChangeArrowheads="1"/>
            </p:cNvSpPr>
            <p:nvPr/>
          </p:nvSpPr>
          <p:spPr bwMode="auto">
            <a:xfrm>
              <a:off x="96" y="2462"/>
              <a:ext cx="563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直接</a:t>
              </a:r>
            </a:p>
          </p:txBody>
        </p:sp>
        <p:sp>
          <p:nvSpPr>
            <p:cNvPr id="204815" name="Text Box 9"/>
            <p:cNvSpPr txBox="1">
              <a:spLocks noChangeArrowheads="1"/>
            </p:cNvSpPr>
            <p:nvPr/>
          </p:nvSpPr>
          <p:spPr bwMode="auto">
            <a:xfrm>
              <a:off x="96" y="2990"/>
              <a:ext cx="789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全相联</a:t>
              </a:r>
            </a:p>
          </p:txBody>
        </p:sp>
        <p:sp>
          <p:nvSpPr>
            <p:cNvPr id="204816" name="Text Box 10"/>
            <p:cNvSpPr txBox="1">
              <a:spLocks noChangeArrowheads="1"/>
            </p:cNvSpPr>
            <p:nvPr/>
          </p:nvSpPr>
          <p:spPr bwMode="auto">
            <a:xfrm>
              <a:off x="96" y="3518"/>
              <a:ext cx="789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组相联</a:t>
              </a:r>
            </a:p>
          </p:txBody>
        </p:sp>
      </p:grpSp>
      <p:sp>
        <p:nvSpPr>
          <p:cNvPr id="295947" name="Text Box 11"/>
          <p:cNvSpPr txBox="1">
            <a:spLocks noChangeArrowheads="1"/>
          </p:cNvSpPr>
          <p:nvPr/>
        </p:nvSpPr>
        <p:spPr bwMode="auto">
          <a:xfrm>
            <a:off x="2124075" y="4805363"/>
            <a:ext cx="68437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某一 </a:t>
            </a:r>
            <a:r>
              <a:rPr lang="zh-CN" altLang="en-US" sz="2400">
                <a:latin typeface="Times New Roman" panose="02020603050405020304" pitchFamily="18" charset="0"/>
              </a:rPr>
              <a:t>主存块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能</a:t>
            </a:r>
            <a:r>
              <a:rPr lang="zh-CN" altLang="en-US" sz="2400">
                <a:latin typeface="Times New Roman" panose="02020603050405020304" pitchFamily="18" charset="0"/>
              </a:rPr>
              <a:t> 映射到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任一 </a:t>
            </a:r>
            <a:r>
              <a:rPr lang="zh-CN" altLang="en-US" sz="2400">
                <a:latin typeface="Times New Roman" panose="02020603050405020304" pitchFamily="18" charset="0"/>
              </a:rPr>
              <a:t>缓存块</a:t>
            </a:r>
          </a:p>
        </p:txBody>
      </p:sp>
      <p:sp>
        <p:nvSpPr>
          <p:cNvPr id="295948" name="Text Box 12"/>
          <p:cNvSpPr txBox="1">
            <a:spLocks noChangeArrowheads="1"/>
          </p:cNvSpPr>
          <p:nvPr/>
        </p:nvSpPr>
        <p:spPr bwMode="auto">
          <a:xfrm>
            <a:off x="2124075" y="5643563"/>
            <a:ext cx="71485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某一 </a:t>
            </a:r>
            <a:r>
              <a:rPr lang="zh-CN" altLang="en-US" sz="2400">
                <a:latin typeface="Times New Roman" panose="02020603050405020304" pitchFamily="18" charset="0"/>
              </a:rPr>
              <a:t>主存块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只能 </a:t>
            </a:r>
            <a:r>
              <a:rPr lang="zh-CN" altLang="en-US" sz="2400">
                <a:latin typeface="Times New Roman" panose="02020603050405020304" pitchFamily="18" charset="0"/>
              </a:rPr>
              <a:t>映射到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某一 </a:t>
            </a:r>
            <a:r>
              <a:rPr lang="zh-CN" altLang="en-US" sz="2400">
                <a:latin typeface="Times New Roman" panose="02020603050405020304" pitchFamily="18" charset="0"/>
              </a:rPr>
              <a:t>缓存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组 </a:t>
            </a:r>
            <a:r>
              <a:rPr lang="zh-CN" altLang="en-US" sz="2400">
                <a:latin typeface="Times New Roman" panose="02020603050405020304" pitchFamily="18" charset="0"/>
              </a:rPr>
              <a:t>中的 </a:t>
            </a:r>
            <a:r>
              <a:rPr lang="zh-CN" altLang="en-US" sz="2400">
                <a:solidFill>
                  <a:schemeClr val="folHlink"/>
                </a:solidFill>
                <a:latin typeface="Times New Roman" panose="02020603050405020304" pitchFamily="18" charset="0"/>
              </a:rPr>
              <a:t>任一块</a:t>
            </a:r>
          </a:p>
        </p:txBody>
      </p:sp>
      <p:sp>
        <p:nvSpPr>
          <p:cNvPr id="295949" name="AutoShape 13"/>
          <p:cNvSpPr>
            <a:spLocks noChangeArrowheads="1"/>
          </p:cNvSpPr>
          <p:nvPr/>
        </p:nvSpPr>
        <p:spPr bwMode="auto">
          <a:xfrm>
            <a:off x="2438400" y="3030538"/>
            <a:ext cx="1370013" cy="582612"/>
          </a:xfrm>
          <a:prstGeom prst="wedgeRoundRectCallout">
            <a:avLst>
              <a:gd name="adj1" fmla="val -96065"/>
              <a:gd name="adj2" fmla="val 151125"/>
              <a:gd name="adj3" fmla="val 16667"/>
            </a:avLst>
          </a:prstGeom>
          <a:noFill/>
          <a:ln w="28575">
            <a:solidFill>
              <a:schemeClr val="folHlink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不灵活</a:t>
            </a:r>
          </a:p>
        </p:txBody>
      </p:sp>
      <p:sp>
        <p:nvSpPr>
          <p:cNvPr id="295950" name="AutoShape 14"/>
          <p:cNvSpPr>
            <a:spLocks noChangeArrowheads="1"/>
          </p:cNvSpPr>
          <p:nvPr/>
        </p:nvSpPr>
        <p:spPr bwMode="auto">
          <a:xfrm>
            <a:off x="2057400" y="3048000"/>
            <a:ext cx="1370013" cy="582613"/>
          </a:xfrm>
          <a:prstGeom prst="wedgeRoundRectCallout">
            <a:avLst>
              <a:gd name="adj1" fmla="val -48032"/>
              <a:gd name="adj2" fmla="val 245639"/>
              <a:gd name="adj3" fmla="val 16667"/>
            </a:avLst>
          </a:prstGeom>
          <a:noFill/>
          <a:ln w="28575">
            <a:solidFill>
              <a:schemeClr val="folHlink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成本高</a:t>
            </a:r>
          </a:p>
        </p:txBody>
      </p:sp>
      <p:sp>
        <p:nvSpPr>
          <p:cNvPr id="295951" name="Rectangle 15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4.3</a:t>
            </a:r>
          </a:p>
        </p:txBody>
      </p:sp>
      <p:sp>
        <p:nvSpPr>
          <p:cNvPr id="204813" name="AutoShape 17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959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959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959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959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959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959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29594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95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29595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95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5939" grpId="0" autoUpdateAnimBg="0"/>
      <p:bldP spid="295940" grpId="0" autoUpdateAnimBg="0"/>
      <p:bldP spid="295941" grpId="0" autoUpdateAnimBg="0"/>
      <p:bldP spid="295942" grpId="0" autoUpdateAnimBg="0"/>
      <p:bldP spid="295947" grpId="0" autoUpdateAnimBg="0"/>
      <p:bldP spid="295948" grpId="0" autoUpdateAnimBg="0"/>
      <p:bldP spid="295949" grpId="0" animBg="1" autoUpdateAnimBg="0"/>
      <p:bldP spid="295950" grpId="0" animBg="1" autoUpdateAnimBg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6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152400"/>
            <a:ext cx="7772400" cy="1143000"/>
          </a:xfrm>
        </p:spPr>
        <p:txBody>
          <a:bodyPr/>
          <a:lstStyle/>
          <a:p>
            <a:pPr eaLnBrk="1" hangingPunct="1">
              <a:defRPr/>
            </a:pPr>
            <a:r>
              <a:rPr lang="zh-CN" altLang="en-US" b="1"/>
              <a:t>4.4   辅助存储器</a:t>
            </a:r>
            <a:endParaRPr lang="en-US" altLang="zh-CN" b="1"/>
          </a:p>
        </p:txBody>
      </p:sp>
      <p:sp>
        <p:nvSpPr>
          <p:cNvPr id="296963" name="Text Box 3"/>
          <p:cNvSpPr txBox="1">
            <a:spLocks noChangeArrowheads="1"/>
          </p:cNvSpPr>
          <p:nvPr/>
        </p:nvSpPr>
        <p:spPr bwMode="auto">
          <a:xfrm>
            <a:off x="152400" y="981075"/>
            <a:ext cx="18097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一、概述</a:t>
            </a:r>
          </a:p>
        </p:txBody>
      </p:sp>
      <p:sp>
        <p:nvSpPr>
          <p:cNvPr id="296964" name="Text Box 4"/>
          <p:cNvSpPr txBox="1">
            <a:spLocks noChangeArrowheads="1"/>
          </p:cNvSpPr>
          <p:nvPr/>
        </p:nvSpPr>
        <p:spPr bwMode="auto">
          <a:xfrm>
            <a:off x="533400" y="1590675"/>
            <a:ext cx="13398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1.  特点</a:t>
            </a:r>
          </a:p>
        </p:txBody>
      </p:sp>
      <p:sp>
        <p:nvSpPr>
          <p:cNvPr id="296965" name="Text Box 5"/>
          <p:cNvSpPr txBox="1">
            <a:spLocks noChangeArrowheads="1"/>
          </p:cNvSpPr>
          <p:nvPr/>
        </p:nvSpPr>
        <p:spPr bwMode="auto">
          <a:xfrm>
            <a:off x="2133600" y="1590675"/>
            <a:ext cx="39385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不直接与 </a:t>
            </a:r>
            <a:r>
              <a:rPr lang="en-US" altLang="zh-CN" sz="2800">
                <a:latin typeface="Times New Roman" panose="02020603050405020304" pitchFamily="18" charset="0"/>
              </a:rPr>
              <a:t>CPU </a:t>
            </a:r>
            <a:r>
              <a:rPr lang="zh-CN" altLang="en-US" sz="2800">
                <a:latin typeface="Times New Roman" panose="02020603050405020304" pitchFamily="18" charset="0"/>
              </a:rPr>
              <a:t>交换信息</a:t>
            </a:r>
          </a:p>
        </p:txBody>
      </p:sp>
      <p:sp>
        <p:nvSpPr>
          <p:cNvPr id="296966" name="Text Box 6"/>
          <p:cNvSpPr txBox="1">
            <a:spLocks noChangeArrowheads="1"/>
          </p:cNvSpPr>
          <p:nvPr/>
        </p:nvSpPr>
        <p:spPr bwMode="auto">
          <a:xfrm>
            <a:off x="533400" y="2152650"/>
            <a:ext cx="45402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2.  磁表面存储器的技术指标</a:t>
            </a:r>
          </a:p>
        </p:txBody>
      </p:sp>
      <p:grpSp>
        <p:nvGrpSpPr>
          <p:cNvPr id="2" name="Group 7"/>
          <p:cNvGrpSpPr/>
          <p:nvPr/>
        </p:nvGrpSpPr>
        <p:grpSpPr bwMode="auto">
          <a:xfrm>
            <a:off x="3425825" y="2809875"/>
            <a:ext cx="3352800" cy="457200"/>
            <a:chOff x="2592" y="1872"/>
            <a:chExt cx="2112" cy="288"/>
          </a:xfrm>
        </p:grpSpPr>
        <p:sp>
          <p:nvSpPr>
            <p:cNvPr id="205848" name="Text Box 8"/>
            <p:cNvSpPr txBox="1">
              <a:spLocks noChangeArrowheads="1"/>
            </p:cNvSpPr>
            <p:nvPr/>
          </p:nvSpPr>
          <p:spPr bwMode="auto">
            <a:xfrm>
              <a:off x="2592" y="1872"/>
              <a:ext cx="115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道密度 </a:t>
              </a:r>
              <a:r>
                <a:rPr lang="en-US" altLang="zh-CN" sz="2400" i="1">
                  <a:latin typeface="Times New Roman" panose="02020603050405020304" pitchFamily="18" charset="0"/>
                </a:rPr>
                <a:t>D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t</a:t>
              </a:r>
            </a:p>
          </p:txBody>
        </p:sp>
        <p:sp>
          <p:nvSpPr>
            <p:cNvPr id="205849" name="Text Box 9"/>
            <p:cNvSpPr txBox="1">
              <a:spLocks noChangeArrowheads="1"/>
            </p:cNvSpPr>
            <p:nvPr/>
          </p:nvSpPr>
          <p:spPr bwMode="auto">
            <a:xfrm>
              <a:off x="3696" y="1872"/>
              <a:ext cx="10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位密度 </a:t>
              </a:r>
              <a:r>
                <a:rPr lang="en-US" altLang="zh-CN" sz="2400" i="1">
                  <a:latin typeface="Times New Roman" panose="02020603050405020304" pitchFamily="18" charset="0"/>
                </a:rPr>
                <a:t>D</a:t>
              </a:r>
              <a:r>
                <a:rPr lang="en-US" altLang="zh-CN" sz="2400" baseline="-25000">
                  <a:latin typeface="Times New Roman" panose="02020603050405020304" pitchFamily="18" charset="0"/>
                </a:rPr>
                <a:t>b</a:t>
              </a:r>
            </a:p>
          </p:txBody>
        </p:sp>
      </p:grpSp>
      <p:sp>
        <p:nvSpPr>
          <p:cNvPr id="296970" name="Text Box 10"/>
          <p:cNvSpPr txBox="1">
            <a:spLocks noChangeArrowheads="1"/>
          </p:cNvSpPr>
          <p:nvPr/>
        </p:nvSpPr>
        <p:spPr bwMode="auto">
          <a:xfrm>
            <a:off x="3425825" y="3355975"/>
            <a:ext cx="28987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2400" i="1">
                <a:latin typeface="Times New Roman" panose="02020603050405020304" pitchFamily="18" charset="0"/>
              </a:rPr>
              <a:t>C</a:t>
            </a:r>
            <a:r>
              <a:rPr lang="en-US" altLang="zh-CN" sz="2400">
                <a:latin typeface="Times New Roman" panose="02020603050405020304" pitchFamily="18" charset="0"/>
              </a:rPr>
              <a:t> = </a:t>
            </a:r>
            <a:r>
              <a:rPr lang="en-US" altLang="zh-CN" sz="2400" i="1">
                <a:latin typeface="Times New Roman" panose="02020603050405020304" pitchFamily="18" charset="0"/>
              </a:rPr>
              <a:t>n </a:t>
            </a:r>
            <a:r>
              <a:rPr lang="en-US" altLang="zh-CN" sz="24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2000">
                <a:latin typeface="Times New Roman" panose="02020603050405020304" pitchFamily="18" charset="0"/>
              </a:rPr>
              <a:t> </a:t>
            </a:r>
            <a:r>
              <a:rPr lang="en-US" altLang="zh-CN" sz="2400" i="1">
                <a:latin typeface="Times New Roman" panose="02020603050405020304" pitchFamily="18" charset="0"/>
              </a:rPr>
              <a:t>k </a:t>
            </a:r>
            <a:r>
              <a:rPr lang="en-US" altLang="zh-CN" sz="24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2000">
                <a:latin typeface="Times New Roman" panose="02020603050405020304" pitchFamily="18" charset="0"/>
              </a:rPr>
              <a:t> </a:t>
            </a:r>
            <a:r>
              <a:rPr lang="en-US" altLang="zh-CN" sz="2400" i="1">
                <a:latin typeface="Times New Roman" panose="02020603050405020304" pitchFamily="18" charset="0"/>
              </a:rPr>
              <a:t>s</a:t>
            </a:r>
          </a:p>
        </p:txBody>
      </p:sp>
      <p:sp>
        <p:nvSpPr>
          <p:cNvPr id="296971" name="Text Box 11"/>
          <p:cNvSpPr txBox="1">
            <a:spLocks noChangeArrowheads="1"/>
          </p:cNvSpPr>
          <p:nvPr/>
        </p:nvSpPr>
        <p:spPr bwMode="auto">
          <a:xfrm>
            <a:off x="3425825" y="3902075"/>
            <a:ext cx="2947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寻道时间 + 等待时间</a:t>
            </a:r>
          </a:p>
        </p:txBody>
      </p:sp>
      <p:grpSp>
        <p:nvGrpSpPr>
          <p:cNvPr id="3" name="Group 12"/>
          <p:cNvGrpSpPr/>
          <p:nvPr/>
        </p:nvGrpSpPr>
        <p:grpSpPr bwMode="auto">
          <a:xfrm>
            <a:off x="930275" y="2809875"/>
            <a:ext cx="4800600" cy="3733800"/>
            <a:chOff x="634" y="1872"/>
            <a:chExt cx="3024" cy="2352"/>
          </a:xfrm>
        </p:grpSpPr>
        <p:sp>
          <p:nvSpPr>
            <p:cNvPr id="205843" name="Text Box 13"/>
            <p:cNvSpPr txBox="1">
              <a:spLocks noChangeArrowheads="1"/>
            </p:cNvSpPr>
            <p:nvPr/>
          </p:nvSpPr>
          <p:spPr bwMode="auto">
            <a:xfrm>
              <a:off x="634" y="1872"/>
              <a:ext cx="115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(1) 记录密度</a:t>
              </a:r>
            </a:p>
          </p:txBody>
        </p:sp>
        <p:sp>
          <p:nvSpPr>
            <p:cNvPr id="205844" name="Text Box 14"/>
            <p:cNvSpPr txBox="1">
              <a:spLocks noChangeArrowheads="1"/>
            </p:cNvSpPr>
            <p:nvPr/>
          </p:nvSpPr>
          <p:spPr bwMode="auto">
            <a:xfrm>
              <a:off x="634" y="2216"/>
              <a:ext cx="115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(2) 存储容量</a:t>
              </a:r>
            </a:p>
          </p:txBody>
        </p:sp>
        <p:sp>
          <p:nvSpPr>
            <p:cNvPr id="205845" name="Text Box 15"/>
            <p:cNvSpPr txBox="1">
              <a:spLocks noChangeArrowheads="1"/>
            </p:cNvSpPr>
            <p:nvPr/>
          </p:nvSpPr>
          <p:spPr bwMode="auto">
            <a:xfrm>
              <a:off x="634" y="2560"/>
              <a:ext cx="154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(3) 平均寻址时间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205846" name="Text Box 16"/>
            <p:cNvSpPr txBox="1">
              <a:spLocks noChangeArrowheads="1"/>
            </p:cNvSpPr>
            <p:nvPr/>
          </p:nvSpPr>
          <p:spPr bwMode="auto">
            <a:xfrm>
              <a:off x="634" y="3592"/>
              <a:ext cx="302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(4) 数据传输率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205847" name="Text Box 17"/>
            <p:cNvSpPr txBox="1">
              <a:spLocks noChangeArrowheads="1"/>
            </p:cNvSpPr>
            <p:nvPr/>
          </p:nvSpPr>
          <p:spPr bwMode="auto">
            <a:xfrm>
              <a:off x="634" y="3936"/>
              <a:ext cx="17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(5) 误码率</a:t>
              </a:r>
              <a:endParaRPr lang="en-US" altLang="zh-CN" sz="2400">
                <a:latin typeface="Times New Roman" panose="02020603050405020304" pitchFamily="18" charset="0"/>
              </a:endParaRPr>
            </a:p>
          </p:txBody>
        </p:sp>
      </p:grpSp>
      <p:sp>
        <p:nvSpPr>
          <p:cNvPr id="296978" name="Text Box 18"/>
          <p:cNvSpPr txBox="1">
            <a:spLocks noChangeArrowheads="1"/>
          </p:cNvSpPr>
          <p:nvPr/>
        </p:nvSpPr>
        <p:spPr bwMode="auto">
          <a:xfrm>
            <a:off x="1524000" y="4638675"/>
            <a:ext cx="1708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辅存的速度</a:t>
            </a:r>
          </a:p>
        </p:txBody>
      </p:sp>
      <p:grpSp>
        <p:nvGrpSpPr>
          <p:cNvPr id="4" name="Group 19"/>
          <p:cNvGrpSpPr/>
          <p:nvPr/>
        </p:nvGrpSpPr>
        <p:grpSpPr bwMode="auto">
          <a:xfrm>
            <a:off x="3425825" y="4448175"/>
            <a:ext cx="2012950" cy="1003300"/>
            <a:chOff x="2592" y="2904"/>
            <a:chExt cx="1268" cy="632"/>
          </a:xfrm>
        </p:grpSpPr>
        <p:sp>
          <p:nvSpPr>
            <p:cNvPr id="205841" name="Text Box 20"/>
            <p:cNvSpPr txBox="1">
              <a:spLocks noChangeArrowheads="1"/>
            </p:cNvSpPr>
            <p:nvPr/>
          </p:nvSpPr>
          <p:spPr bwMode="auto">
            <a:xfrm>
              <a:off x="2592" y="2904"/>
              <a:ext cx="88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寻址时间</a:t>
              </a:r>
            </a:p>
          </p:txBody>
        </p:sp>
        <p:sp>
          <p:nvSpPr>
            <p:cNvPr id="205842" name="Text Box 21"/>
            <p:cNvSpPr txBox="1">
              <a:spLocks noChangeArrowheads="1"/>
            </p:cNvSpPr>
            <p:nvPr/>
          </p:nvSpPr>
          <p:spPr bwMode="auto">
            <a:xfrm>
              <a:off x="2592" y="3248"/>
              <a:ext cx="126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磁头读写时间</a:t>
              </a:r>
            </a:p>
          </p:txBody>
        </p:sp>
      </p:grpSp>
      <p:sp>
        <p:nvSpPr>
          <p:cNvPr id="296982" name="AutoShape 22"/>
          <p:cNvSpPr/>
          <p:nvPr/>
        </p:nvSpPr>
        <p:spPr bwMode="auto">
          <a:xfrm>
            <a:off x="3273425" y="4598988"/>
            <a:ext cx="152400" cy="762000"/>
          </a:xfrm>
          <a:prstGeom prst="leftBrace">
            <a:avLst>
              <a:gd name="adj1" fmla="val 41667"/>
              <a:gd name="adj2" fmla="val 50000"/>
            </a:avLst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296983" name="Text Box 23"/>
          <p:cNvSpPr txBox="1">
            <a:spLocks noChangeArrowheads="1"/>
          </p:cNvSpPr>
          <p:nvPr/>
        </p:nvSpPr>
        <p:spPr bwMode="auto">
          <a:xfrm>
            <a:off x="3425825" y="5540375"/>
            <a:ext cx="3200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2400" i="1">
                <a:latin typeface="Times New Roman" panose="02020603050405020304" pitchFamily="18" charset="0"/>
              </a:rPr>
              <a:t>D</a:t>
            </a:r>
            <a:r>
              <a:rPr lang="en-US" altLang="zh-CN" sz="2400" baseline="-25000">
                <a:latin typeface="Times New Roman" panose="02020603050405020304" pitchFamily="18" charset="0"/>
              </a:rPr>
              <a:t>r</a:t>
            </a:r>
            <a:r>
              <a:rPr lang="en-US" altLang="zh-CN" sz="1400">
                <a:latin typeface="Times New Roman" panose="02020603050405020304" pitchFamily="18" charset="0"/>
              </a:rPr>
              <a:t>  </a:t>
            </a:r>
            <a:r>
              <a:rPr lang="en-US" altLang="zh-CN" sz="2400">
                <a:latin typeface="Times New Roman" panose="02020603050405020304" pitchFamily="18" charset="0"/>
              </a:rPr>
              <a:t>=</a:t>
            </a:r>
            <a:r>
              <a:rPr lang="en-US" altLang="zh-CN" sz="1400">
                <a:latin typeface="Times New Roman" panose="02020603050405020304" pitchFamily="18" charset="0"/>
              </a:rPr>
              <a:t> </a:t>
            </a:r>
            <a:r>
              <a:rPr lang="en-US" altLang="zh-CN" sz="2400" i="1">
                <a:latin typeface="Times New Roman" panose="02020603050405020304" pitchFamily="18" charset="0"/>
              </a:rPr>
              <a:t>D</a:t>
            </a:r>
            <a:r>
              <a:rPr lang="en-US" altLang="en-US" sz="2400" baseline="-25000">
                <a:latin typeface="Times New Roman" panose="02020603050405020304" pitchFamily="18" charset="0"/>
              </a:rPr>
              <a:t>b</a:t>
            </a:r>
            <a:r>
              <a:rPr lang="en-US" altLang="zh-CN" sz="2400" i="1">
                <a:latin typeface="Times New Roman" panose="02020603050405020304" pitchFamily="18" charset="0"/>
              </a:rPr>
              <a:t> </a:t>
            </a:r>
            <a:r>
              <a:rPr lang="en-US" altLang="zh-CN" sz="2800">
                <a:latin typeface="Times New Roman" panose="02020603050405020304" pitchFamily="18" charset="0"/>
                <a:cs typeface="Times New Roman" panose="02020603050405020304" pitchFamily="18" charset="0"/>
              </a:rPr>
              <a:t>×</a:t>
            </a:r>
            <a:r>
              <a:rPr lang="en-US" altLang="zh-CN" sz="2400" i="1">
                <a:latin typeface="Times New Roman" panose="02020603050405020304" pitchFamily="18" charset="0"/>
              </a:rPr>
              <a:t> V</a:t>
            </a:r>
            <a:endParaRPr lang="zh-CN" altLang="en-US" sz="2400" i="1">
              <a:latin typeface="Times New Roman" panose="02020603050405020304" pitchFamily="18" charset="0"/>
            </a:endParaRPr>
          </a:p>
        </p:txBody>
      </p:sp>
      <p:sp>
        <p:nvSpPr>
          <p:cNvPr id="296984" name="Text Box 24"/>
          <p:cNvSpPr txBox="1">
            <a:spLocks noChangeArrowheads="1"/>
          </p:cNvSpPr>
          <p:nvPr/>
        </p:nvSpPr>
        <p:spPr bwMode="auto">
          <a:xfrm>
            <a:off x="3425825" y="6086475"/>
            <a:ext cx="571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zh-CN" altLang="en-US" sz="2400">
                <a:latin typeface="Times New Roman" panose="02020603050405020304" pitchFamily="18" charset="0"/>
              </a:rPr>
              <a:t>出错信息位数与读出信息的总位数之比</a:t>
            </a:r>
          </a:p>
        </p:txBody>
      </p:sp>
      <p:sp>
        <p:nvSpPr>
          <p:cNvPr id="205840" name="AutoShape 26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96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96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96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969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969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2969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2969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16" presetClass="entr" presetSubtype="4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51" dur="500"/>
                                        <p:tgtEl>
                                          <p:spTgt spid="2969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1" dur="500"/>
                                        <p:tgtEl>
                                          <p:spTgt spid="2969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6" dur="500"/>
                                        <p:tgtEl>
                                          <p:spTgt spid="296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6963" grpId="0" autoUpdateAnimBg="0"/>
      <p:bldP spid="296964" grpId="0" autoUpdateAnimBg="0"/>
      <p:bldP spid="296965" grpId="0" autoUpdateAnimBg="0"/>
      <p:bldP spid="296966" grpId="0" autoUpdateAnimBg="0"/>
      <p:bldP spid="296970" grpId="0" autoUpdateAnimBg="0"/>
      <p:bldP spid="296971" grpId="0" autoUpdateAnimBg="0"/>
      <p:bldP spid="296978" grpId="0" autoUpdateAnimBg="0"/>
      <p:bldP spid="296982" grpId="0" animBg="1"/>
      <p:bldP spid="296983" grpId="0" autoUpdateAnimBg="0"/>
      <p:bldP spid="296984" grpId="0" autoUpdateAnimBg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Text Box 2"/>
          <p:cNvSpPr txBox="1">
            <a:spLocks noChangeArrowheads="1"/>
          </p:cNvSpPr>
          <p:nvPr/>
        </p:nvSpPr>
        <p:spPr bwMode="auto">
          <a:xfrm>
            <a:off x="533400" y="373063"/>
            <a:ext cx="50641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二、磁记录原理和记录方式</a:t>
            </a:r>
          </a:p>
        </p:txBody>
      </p:sp>
      <p:sp>
        <p:nvSpPr>
          <p:cNvPr id="297987" name="Text Box 3"/>
          <p:cNvSpPr txBox="1">
            <a:spLocks noChangeArrowheads="1"/>
          </p:cNvSpPr>
          <p:nvPr/>
        </p:nvSpPr>
        <p:spPr bwMode="auto">
          <a:xfrm>
            <a:off x="1066800" y="1085850"/>
            <a:ext cx="26146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1. 磁记录原理</a:t>
            </a:r>
          </a:p>
        </p:txBody>
      </p:sp>
      <p:sp>
        <p:nvSpPr>
          <p:cNvPr id="297988" name="Text Box 4"/>
          <p:cNvSpPr txBox="1">
            <a:spLocks noChangeArrowheads="1"/>
          </p:cNvSpPr>
          <p:nvPr/>
        </p:nvSpPr>
        <p:spPr bwMode="auto">
          <a:xfrm>
            <a:off x="1465263" y="1668463"/>
            <a:ext cx="59213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写</a:t>
            </a:r>
          </a:p>
        </p:txBody>
      </p:sp>
      <p:sp>
        <p:nvSpPr>
          <p:cNvPr id="297989" name="Rectangle 5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4.4</a:t>
            </a:r>
          </a:p>
        </p:txBody>
      </p:sp>
      <p:grpSp>
        <p:nvGrpSpPr>
          <p:cNvPr id="2" name="Group 6"/>
          <p:cNvGrpSpPr/>
          <p:nvPr/>
        </p:nvGrpSpPr>
        <p:grpSpPr bwMode="auto">
          <a:xfrm>
            <a:off x="1331913" y="2514600"/>
            <a:ext cx="6589712" cy="3810000"/>
            <a:chOff x="839" y="1584"/>
            <a:chExt cx="4151" cy="2400"/>
          </a:xfrm>
        </p:grpSpPr>
        <p:sp>
          <p:nvSpPr>
            <p:cNvPr id="206856" name="Line 7"/>
            <p:cNvSpPr>
              <a:spLocks noChangeShapeType="1"/>
            </p:cNvSpPr>
            <p:nvPr/>
          </p:nvSpPr>
          <p:spPr bwMode="auto">
            <a:xfrm>
              <a:off x="1223" y="2127"/>
              <a:ext cx="1" cy="495"/>
            </a:xfrm>
            <a:prstGeom prst="line">
              <a:avLst/>
            </a:prstGeom>
            <a:noFill/>
            <a:ln w="23813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857" name="Line 8"/>
            <p:cNvSpPr>
              <a:spLocks noChangeShapeType="1"/>
            </p:cNvSpPr>
            <p:nvPr/>
          </p:nvSpPr>
          <p:spPr bwMode="auto">
            <a:xfrm>
              <a:off x="1223" y="2127"/>
              <a:ext cx="1032" cy="1"/>
            </a:xfrm>
            <a:prstGeom prst="line">
              <a:avLst/>
            </a:prstGeom>
            <a:noFill/>
            <a:ln w="23813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858" name="Rectangle 9"/>
            <p:cNvSpPr>
              <a:spLocks noChangeArrowheads="1"/>
            </p:cNvSpPr>
            <p:nvPr/>
          </p:nvSpPr>
          <p:spPr bwMode="auto">
            <a:xfrm>
              <a:off x="935" y="3157"/>
              <a:ext cx="1155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6859" name="Rectangle 10"/>
            <p:cNvSpPr>
              <a:spLocks noChangeArrowheads="1"/>
            </p:cNvSpPr>
            <p:nvPr/>
          </p:nvSpPr>
          <p:spPr bwMode="auto">
            <a:xfrm>
              <a:off x="1077" y="3264"/>
              <a:ext cx="96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/>
                <a:t>局部磁化单元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06860" name="Line 11"/>
            <p:cNvSpPr>
              <a:spLocks noChangeShapeType="1"/>
            </p:cNvSpPr>
            <p:nvPr/>
          </p:nvSpPr>
          <p:spPr bwMode="auto">
            <a:xfrm>
              <a:off x="889" y="2908"/>
              <a:ext cx="1941" cy="1"/>
            </a:xfrm>
            <a:prstGeom prst="line">
              <a:avLst/>
            </a:prstGeom>
            <a:noFill/>
            <a:ln w="23813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06861" name="Group 12"/>
            <p:cNvGrpSpPr/>
            <p:nvPr/>
          </p:nvGrpSpPr>
          <p:grpSpPr bwMode="auto">
            <a:xfrm>
              <a:off x="839" y="2996"/>
              <a:ext cx="2041" cy="112"/>
              <a:chOff x="839" y="3140"/>
              <a:chExt cx="2041" cy="112"/>
            </a:xfrm>
          </p:grpSpPr>
          <p:sp>
            <p:nvSpPr>
              <p:cNvPr id="207055" name="Rectangle 13"/>
              <p:cNvSpPr>
                <a:spLocks noChangeArrowheads="1"/>
              </p:cNvSpPr>
              <p:nvPr/>
            </p:nvSpPr>
            <p:spPr bwMode="auto">
              <a:xfrm>
                <a:off x="839" y="3140"/>
                <a:ext cx="2037" cy="109"/>
              </a:xfrm>
              <a:prstGeom prst="rect">
                <a:avLst/>
              </a:prstGeom>
              <a:blipFill dpi="0" rotWithShape="0">
                <a:blip r:embed="rId2"/>
                <a:srcRect/>
                <a:tile tx="0" ty="0" sx="100000" sy="100000" flip="none" algn="tl"/>
              </a:blipFill>
              <a:ln w="9525">
                <a:solidFill>
                  <a:schemeClr val="tx1"/>
                </a:solidFill>
                <a:miter lim="800000"/>
              </a:ln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207056" name="Rectangle 14"/>
              <p:cNvSpPr>
                <a:spLocks noChangeArrowheads="1"/>
              </p:cNvSpPr>
              <p:nvPr/>
            </p:nvSpPr>
            <p:spPr bwMode="auto">
              <a:xfrm>
                <a:off x="839" y="3140"/>
                <a:ext cx="2041" cy="112"/>
              </a:xfrm>
              <a:prstGeom prst="rect">
                <a:avLst/>
              </a:prstGeom>
              <a:noFill/>
              <a:ln w="23813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</p:grpSp>
        <p:sp>
          <p:nvSpPr>
            <p:cNvPr id="206862" name="Rectangle 15"/>
            <p:cNvSpPr>
              <a:spLocks noChangeArrowheads="1"/>
            </p:cNvSpPr>
            <p:nvPr/>
          </p:nvSpPr>
          <p:spPr bwMode="auto">
            <a:xfrm>
              <a:off x="2445" y="3264"/>
              <a:ext cx="48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/>
                <a:t>载磁体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06863" name="Line 16"/>
            <p:cNvSpPr>
              <a:spLocks noChangeShapeType="1"/>
            </p:cNvSpPr>
            <p:nvPr/>
          </p:nvSpPr>
          <p:spPr bwMode="auto">
            <a:xfrm>
              <a:off x="1223" y="2622"/>
              <a:ext cx="479" cy="181"/>
            </a:xfrm>
            <a:prstGeom prst="line">
              <a:avLst/>
            </a:prstGeom>
            <a:noFill/>
            <a:ln w="23813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864" name="Line 17"/>
            <p:cNvSpPr>
              <a:spLocks noChangeShapeType="1"/>
            </p:cNvSpPr>
            <p:nvPr/>
          </p:nvSpPr>
          <p:spPr bwMode="auto">
            <a:xfrm flipV="1">
              <a:off x="1702" y="2714"/>
              <a:ext cx="1" cy="89"/>
            </a:xfrm>
            <a:prstGeom prst="line">
              <a:avLst/>
            </a:prstGeom>
            <a:noFill/>
            <a:ln w="23813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865" name="Line 18"/>
            <p:cNvSpPr>
              <a:spLocks noChangeShapeType="1"/>
            </p:cNvSpPr>
            <p:nvPr/>
          </p:nvSpPr>
          <p:spPr bwMode="auto">
            <a:xfrm flipH="1" flipV="1">
              <a:off x="1391" y="2501"/>
              <a:ext cx="311" cy="213"/>
            </a:xfrm>
            <a:prstGeom prst="line">
              <a:avLst/>
            </a:prstGeom>
            <a:noFill/>
            <a:ln w="23813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866" name="Line 19"/>
            <p:cNvSpPr>
              <a:spLocks noChangeShapeType="1"/>
            </p:cNvSpPr>
            <p:nvPr/>
          </p:nvSpPr>
          <p:spPr bwMode="auto">
            <a:xfrm flipV="1">
              <a:off x="1391" y="2251"/>
              <a:ext cx="1" cy="250"/>
            </a:xfrm>
            <a:prstGeom prst="line">
              <a:avLst/>
            </a:prstGeom>
            <a:noFill/>
            <a:ln w="23813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06867" name="Group 20"/>
            <p:cNvGrpSpPr/>
            <p:nvPr/>
          </p:nvGrpSpPr>
          <p:grpSpPr bwMode="auto">
            <a:xfrm>
              <a:off x="1330" y="2557"/>
              <a:ext cx="376" cy="233"/>
              <a:chOff x="1330" y="2701"/>
              <a:chExt cx="376" cy="233"/>
            </a:xfrm>
          </p:grpSpPr>
          <p:sp>
            <p:nvSpPr>
              <p:cNvPr id="207049" name="Freeform 21"/>
              <p:cNvSpPr/>
              <p:nvPr/>
            </p:nvSpPr>
            <p:spPr bwMode="auto">
              <a:xfrm>
                <a:off x="1660" y="2901"/>
                <a:ext cx="46" cy="33"/>
              </a:xfrm>
              <a:custGeom>
                <a:avLst/>
                <a:gdLst>
                  <a:gd name="T0" fmla="*/ 42 w 46"/>
                  <a:gd name="T1" fmla="*/ 33 h 33"/>
                  <a:gd name="T2" fmla="*/ 42 w 46"/>
                  <a:gd name="T3" fmla="*/ 29 h 33"/>
                  <a:gd name="T4" fmla="*/ 46 w 46"/>
                  <a:gd name="T5" fmla="*/ 26 h 33"/>
                  <a:gd name="T6" fmla="*/ 46 w 46"/>
                  <a:gd name="T7" fmla="*/ 26 h 33"/>
                  <a:gd name="T8" fmla="*/ 46 w 46"/>
                  <a:gd name="T9" fmla="*/ 23 h 33"/>
                  <a:gd name="T10" fmla="*/ 8 w 46"/>
                  <a:gd name="T11" fmla="*/ 0 h 33"/>
                  <a:gd name="T12" fmla="*/ 4 w 46"/>
                  <a:gd name="T13" fmla="*/ 0 h 33"/>
                  <a:gd name="T14" fmla="*/ 0 w 46"/>
                  <a:gd name="T15" fmla="*/ 3 h 33"/>
                  <a:gd name="T16" fmla="*/ 0 w 46"/>
                  <a:gd name="T17" fmla="*/ 6 h 33"/>
                  <a:gd name="T18" fmla="*/ 4 w 46"/>
                  <a:gd name="T19" fmla="*/ 10 h 33"/>
                  <a:gd name="T20" fmla="*/ 42 w 46"/>
                  <a:gd name="T21" fmla="*/ 33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6"/>
                  <a:gd name="T34" fmla="*/ 0 h 33"/>
                  <a:gd name="T35" fmla="*/ 46 w 46"/>
                  <a:gd name="T36" fmla="*/ 33 h 3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6" h="33">
                    <a:moveTo>
                      <a:pt x="42" y="33"/>
                    </a:moveTo>
                    <a:lnTo>
                      <a:pt x="42" y="29"/>
                    </a:lnTo>
                    <a:lnTo>
                      <a:pt x="46" y="26"/>
                    </a:lnTo>
                    <a:lnTo>
                      <a:pt x="46" y="23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4" y="10"/>
                    </a:lnTo>
                    <a:lnTo>
                      <a:pt x="42" y="3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50" name="Freeform 22"/>
              <p:cNvSpPr/>
              <p:nvPr/>
            </p:nvSpPr>
            <p:spPr bwMode="auto">
              <a:xfrm>
                <a:off x="1591" y="2862"/>
                <a:ext cx="50" cy="29"/>
              </a:xfrm>
              <a:custGeom>
                <a:avLst/>
                <a:gdLst>
                  <a:gd name="T0" fmla="*/ 42 w 50"/>
                  <a:gd name="T1" fmla="*/ 29 h 29"/>
                  <a:gd name="T2" fmla="*/ 46 w 50"/>
                  <a:gd name="T3" fmla="*/ 29 h 29"/>
                  <a:gd name="T4" fmla="*/ 50 w 50"/>
                  <a:gd name="T5" fmla="*/ 26 h 29"/>
                  <a:gd name="T6" fmla="*/ 50 w 50"/>
                  <a:gd name="T7" fmla="*/ 22 h 29"/>
                  <a:gd name="T8" fmla="*/ 46 w 50"/>
                  <a:gd name="T9" fmla="*/ 19 h 29"/>
                  <a:gd name="T10" fmla="*/ 8 w 50"/>
                  <a:gd name="T11" fmla="*/ 0 h 29"/>
                  <a:gd name="T12" fmla="*/ 4 w 50"/>
                  <a:gd name="T13" fmla="*/ 0 h 29"/>
                  <a:gd name="T14" fmla="*/ 0 w 50"/>
                  <a:gd name="T15" fmla="*/ 3 h 29"/>
                  <a:gd name="T16" fmla="*/ 0 w 50"/>
                  <a:gd name="T17" fmla="*/ 6 h 29"/>
                  <a:gd name="T18" fmla="*/ 4 w 50"/>
                  <a:gd name="T19" fmla="*/ 9 h 29"/>
                  <a:gd name="T20" fmla="*/ 42 w 50"/>
                  <a:gd name="T21" fmla="*/ 29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0"/>
                  <a:gd name="T34" fmla="*/ 0 h 29"/>
                  <a:gd name="T35" fmla="*/ 50 w 50"/>
                  <a:gd name="T36" fmla="*/ 29 h 2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0" h="29">
                    <a:moveTo>
                      <a:pt x="42" y="29"/>
                    </a:moveTo>
                    <a:lnTo>
                      <a:pt x="46" y="29"/>
                    </a:lnTo>
                    <a:lnTo>
                      <a:pt x="50" y="26"/>
                    </a:lnTo>
                    <a:lnTo>
                      <a:pt x="50" y="22"/>
                    </a:lnTo>
                    <a:lnTo>
                      <a:pt x="46" y="19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4" y="9"/>
                    </a:lnTo>
                    <a:lnTo>
                      <a:pt x="42" y="29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51" name="Freeform 23"/>
              <p:cNvSpPr/>
              <p:nvPr/>
            </p:nvSpPr>
            <p:spPr bwMode="auto">
              <a:xfrm>
                <a:off x="1526" y="2822"/>
                <a:ext cx="50" cy="30"/>
              </a:xfrm>
              <a:custGeom>
                <a:avLst/>
                <a:gdLst>
                  <a:gd name="T0" fmla="*/ 42 w 50"/>
                  <a:gd name="T1" fmla="*/ 30 h 30"/>
                  <a:gd name="T2" fmla="*/ 46 w 50"/>
                  <a:gd name="T3" fmla="*/ 30 h 30"/>
                  <a:gd name="T4" fmla="*/ 50 w 50"/>
                  <a:gd name="T5" fmla="*/ 26 h 30"/>
                  <a:gd name="T6" fmla="*/ 50 w 50"/>
                  <a:gd name="T7" fmla="*/ 23 h 30"/>
                  <a:gd name="T8" fmla="*/ 46 w 50"/>
                  <a:gd name="T9" fmla="*/ 20 h 30"/>
                  <a:gd name="T10" fmla="*/ 7 w 50"/>
                  <a:gd name="T11" fmla="*/ 0 h 30"/>
                  <a:gd name="T12" fmla="*/ 4 w 50"/>
                  <a:gd name="T13" fmla="*/ 0 h 30"/>
                  <a:gd name="T14" fmla="*/ 0 w 50"/>
                  <a:gd name="T15" fmla="*/ 3 h 30"/>
                  <a:gd name="T16" fmla="*/ 0 w 50"/>
                  <a:gd name="T17" fmla="*/ 7 h 30"/>
                  <a:gd name="T18" fmla="*/ 4 w 50"/>
                  <a:gd name="T19" fmla="*/ 10 h 30"/>
                  <a:gd name="T20" fmla="*/ 42 w 50"/>
                  <a:gd name="T21" fmla="*/ 30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0"/>
                  <a:gd name="T34" fmla="*/ 0 h 30"/>
                  <a:gd name="T35" fmla="*/ 50 w 50"/>
                  <a:gd name="T36" fmla="*/ 30 h 3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0" h="30">
                    <a:moveTo>
                      <a:pt x="42" y="30"/>
                    </a:moveTo>
                    <a:lnTo>
                      <a:pt x="46" y="30"/>
                    </a:lnTo>
                    <a:lnTo>
                      <a:pt x="50" y="26"/>
                    </a:lnTo>
                    <a:lnTo>
                      <a:pt x="50" y="23"/>
                    </a:lnTo>
                    <a:lnTo>
                      <a:pt x="46" y="2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4" y="10"/>
                    </a:lnTo>
                    <a:lnTo>
                      <a:pt x="42" y="3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52" name="Freeform 24"/>
              <p:cNvSpPr/>
              <p:nvPr/>
            </p:nvSpPr>
            <p:spPr bwMode="auto">
              <a:xfrm>
                <a:off x="1460" y="2779"/>
                <a:ext cx="50" cy="33"/>
              </a:xfrm>
              <a:custGeom>
                <a:avLst/>
                <a:gdLst>
                  <a:gd name="T0" fmla="*/ 43 w 50"/>
                  <a:gd name="T1" fmla="*/ 33 h 33"/>
                  <a:gd name="T2" fmla="*/ 47 w 50"/>
                  <a:gd name="T3" fmla="*/ 33 h 33"/>
                  <a:gd name="T4" fmla="*/ 50 w 50"/>
                  <a:gd name="T5" fmla="*/ 30 h 33"/>
                  <a:gd name="T6" fmla="*/ 50 w 50"/>
                  <a:gd name="T7" fmla="*/ 27 h 33"/>
                  <a:gd name="T8" fmla="*/ 47 w 50"/>
                  <a:gd name="T9" fmla="*/ 23 h 33"/>
                  <a:gd name="T10" fmla="*/ 8 w 50"/>
                  <a:gd name="T11" fmla="*/ 0 h 33"/>
                  <a:gd name="T12" fmla="*/ 4 w 50"/>
                  <a:gd name="T13" fmla="*/ 0 h 33"/>
                  <a:gd name="T14" fmla="*/ 0 w 50"/>
                  <a:gd name="T15" fmla="*/ 4 h 33"/>
                  <a:gd name="T16" fmla="*/ 0 w 50"/>
                  <a:gd name="T17" fmla="*/ 7 h 33"/>
                  <a:gd name="T18" fmla="*/ 4 w 50"/>
                  <a:gd name="T19" fmla="*/ 10 h 33"/>
                  <a:gd name="T20" fmla="*/ 43 w 50"/>
                  <a:gd name="T21" fmla="*/ 33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0"/>
                  <a:gd name="T34" fmla="*/ 0 h 33"/>
                  <a:gd name="T35" fmla="*/ 50 w 50"/>
                  <a:gd name="T36" fmla="*/ 33 h 3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0" h="33">
                    <a:moveTo>
                      <a:pt x="43" y="33"/>
                    </a:moveTo>
                    <a:lnTo>
                      <a:pt x="47" y="33"/>
                    </a:lnTo>
                    <a:lnTo>
                      <a:pt x="50" y="30"/>
                    </a:lnTo>
                    <a:lnTo>
                      <a:pt x="50" y="27"/>
                    </a:lnTo>
                    <a:lnTo>
                      <a:pt x="47" y="23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4" y="10"/>
                    </a:lnTo>
                    <a:lnTo>
                      <a:pt x="43" y="3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53" name="Freeform 25"/>
              <p:cNvSpPr/>
              <p:nvPr/>
            </p:nvSpPr>
            <p:spPr bwMode="auto">
              <a:xfrm>
                <a:off x="1395" y="2740"/>
                <a:ext cx="50" cy="33"/>
              </a:xfrm>
              <a:custGeom>
                <a:avLst/>
                <a:gdLst>
                  <a:gd name="T0" fmla="*/ 42 w 50"/>
                  <a:gd name="T1" fmla="*/ 33 h 33"/>
                  <a:gd name="T2" fmla="*/ 46 w 50"/>
                  <a:gd name="T3" fmla="*/ 33 h 33"/>
                  <a:gd name="T4" fmla="*/ 50 w 50"/>
                  <a:gd name="T5" fmla="*/ 30 h 33"/>
                  <a:gd name="T6" fmla="*/ 50 w 50"/>
                  <a:gd name="T7" fmla="*/ 26 h 33"/>
                  <a:gd name="T8" fmla="*/ 46 w 50"/>
                  <a:gd name="T9" fmla="*/ 23 h 33"/>
                  <a:gd name="T10" fmla="*/ 8 w 50"/>
                  <a:gd name="T11" fmla="*/ 0 h 33"/>
                  <a:gd name="T12" fmla="*/ 4 w 50"/>
                  <a:gd name="T13" fmla="*/ 0 h 33"/>
                  <a:gd name="T14" fmla="*/ 0 w 50"/>
                  <a:gd name="T15" fmla="*/ 3 h 33"/>
                  <a:gd name="T16" fmla="*/ 0 w 50"/>
                  <a:gd name="T17" fmla="*/ 7 h 33"/>
                  <a:gd name="T18" fmla="*/ 4 w 50"/>
                  <a:gd name="T19" fmla="*/ 10 h 33"/>
                  <a:gd name="T20" fmla="*/ 42 w 50"/>
                  <a:gd name="T21" fmla="*/ 33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0"/>
                  <a:gd name="T34" fmla="*/ 0 h 33"/>
                  <a:gd name="T35" fmla="*/ 50 w 50"/>
                  <a:gd name="T36" fmla="*/ 33 h 3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0" h="33">
                    <a:moveTo>
                      <a:pt x="42" y="33"/>
                    </a:moveTo>
                    <a:lnTo>
                      <a:pt x="46" y="33"/>
                    </a:lnTo>
                    <a:lnTo>
                      <a:pt x="50" y="30"/>
                    </a:lnTo>
                    <a:lnTo>
                      <a:pt x="50" y="26"/>
                    </a:lnTo>
                    <a:lnTo>
                      <a:pt x="46" y="23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4" y="10"/>
                    </a:lnTo>
                    <a:lnTo>
                      <a:pt x="42" y="3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54" name="Freeform 26"/>
              <p:cNvSpPr/>
              <p:nvPr/>
            </p:nvSpPr>
            <p:spPr bwMode="auto">
              <a:xfrm>
                <a:off x="1330" y="2701"/>
                <a:ext cx="46" cy="32"/>
              </a:xfrm>
              <a:custGeom>
                <a:avLst/>
                <a:gdLst>
                  <a:gd name="T0" fmla="*/ 38 w 46"/>
                  <a:gd name="T1" fmla="*/ 32 h 32"/>
                  <a:gd name="T2" fmla="*/ 42 w 46"/>
                  <a:gd name="T3" fmla="*/ 32 h 32"/>
                  <a:gd name="T4" fmla="*/ 46 w 46"/>
                  <a:gd name="T5" fmla="*/ 29 h 32"/>
                  <a:gd name="T6" fmla="*/ 46 w 46"/>
                  <a:gd name="T7" fmla="*/ 26 h 32"/>
                  <a:gd name="T8" fmla="*/ 42 w 46"/>
                  <a:gd name="T9" fmla="*/ 23 h 32"/>
                  <a:gd name="T10" fmla="*/ 8 w 46"/>
                  <a:gd name="T11" fmla="*/ 0 h 32"/>
                  <a:gd name="T12" fmla="*/ 4 w 46"/>
                  <a:gd name="T13" fmla="*/ 0 h 32"/>
                  <a:gd name="T14" fmla="*/ 0 w 46"/>
                  <a:gd name="T15" fmla="*/ 3 h 32"/>
                  <a:gd name="T16" fmla="*/ 0 w 46"/>
                  <a:gd name="T17" fmla="*/ 6 h 32"/>
                  <a:gd name="T18" fmla="*/ 4 w 46"/>
                  <a:gd name="T19" fmla="*/ 10 h 32"/>
                  <a:gd name="T20" fmla="*/ 38 w 46"/>
                  <a:gd name="T21" fmla="*/ 32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6"/>
                  <a:gd name="T34" fmla="*/ 0 h 32"/>
                  <a:gd name="T35" fmla="*/ 46 w 46"/>
                  <a:gd name="T36" fmla="*/ 32 h 3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6" h="32">
                    <a:moveTo>
                      <a:pt x="38" y="32"/>
                    </a:moveTo>
                    <a:lnTo>
                      <a:pt x="42" y="32"/>
                    </a:lnTo>
                    <a:lnTo>
                      <a:pt x="46" y="29"/>
                    </a:lnTo>
                    <a:lnTo>
                      <a:pt x="46" y="26"/>
                    </a:lnTo>
                    <a:lnTo>
                      <a:pt x="42" y="23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4" y="10"/>
                    </a:lnTo>
                    <a:lnTo>
                      <a:pt x="38" y="32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06868" name="Group 27"/>
            <p:cNvGrpSpPr/>
            <p:nvPr/>
          </p:nvGrpSpPr>
          <p:grpSpPr bwMode="auto">
            <a:xfrm>
              <a:off x="1315" y="2176"/>
              <a:ext cx="11" cy="381"/>
              <a:chOff x="1315" y="2320"/>
              <a:chExt cx="11" cy="381"/>
            </a:xfrm>
          </p:grpSpPr>
          <p:sp>
            <p:nvSpPr>
              <p:cNvPr id="207043" name="Freeform 28"/>
              <p:cNvSpPr/>
              <p:nvPr/>
            </p:nvSpPr>
            <p:spPr bwMode="auto">
              <a:xfrm>
                <a:off x="1315" y="2655"/>
                <a:ext cx="11" cy="46"/>
              </a:xfrm>
              <a:custGeom>
                <a:avLst/>
                <a:gdLst>
                  <a:gd name="T0" fmla="*/ 0 w 11"/>
                  <a:gd name="T1" fmla="*/ 46 h 46"/>
                  <a:gd name="T2" fmla="*/ 4 w 11"/>
                  <a:gd name="T3" fmla="*/ 46 h 46"/>
                  <a:gd name="T4" fmla="*/ 4 w 11"/>
                  <a:gd name="T5" fmla="*/ 46 h 46"/>
                  <a:gd name="T6" fmla="*/ 7 w 11"/>
                  <a:gd name="T7" fmla="*/ 42 h 46"/>
                  <a:gd name="T8" fmla="*/ 11 w 11"/>
                  <a:gd name="T9" fmla="*/ 42 h 46"/>
                  <a:gd name="T10" fmla="*/ 11 w 11"/>
                  <a:gd name="T11" fmla="*/ 3 h 46"/>
                  <a:gd name="T12" fmla="*/ 4 w 11"/>
                  <a:gd name="T13" fmla="*/ 0 h 46"/>
                  <a:gd name="T14" fmla="*/ 4 w 11"/>
                  <a:gd name="T15" fmla="*/ 0 h 46"/>
                  <a:gd name="T16" fmla="*/ 0 w 11"/>
                  <a:gd name="T17" fmla="*/ 3 h 46"/>
                  <a:gd name="T18" fmla="*/ 0 w 11"/>
                  <a:gd name="T19" fmla="*/ 6 h 46"/>
                  <a:gd name="T20" fmla="*/ 0 w 11"/>
                  <a:gd name="T21" fmla="*/ 46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46"/>
                  <a:gd name="T35" fmla="*/ 11 w 11"/>
                  <a:gd name="T36" fmla="*/ 46 h 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46">
                    <a:moveTo>
                      <a:pt x="0" y="46"/>
                    </a:moveTo>
                    <a:lnTo>
                      <a:pt x="4" y="46"/>
                    </a:lnTo>
                    <a:lnTo>
                      <a:pt x="7" y="42"/>
                    </a:lnTo>
                    <a:lnTo>
                      <a:pt x="11" y="42"/>
                    </a:lnTo>
                    <a:lnTo>
                      <a:pt x="11" y="3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44" name="Freeform 29"/>
              <p:cNvSpPr/>
              <p:nvPr/>
            </p:nvSpPr>
            <p:spPr bwMode="auto">
              <a:xfrm>
                <a:off x="1315" y="2586"/>
                <a:ext cx="11" cy="46"/>
              </a:xfrm>
              <a:custGeom>
                <a:avLst/>
                <a:gdLst>
                  <a:gd name="T0" fmla="*/ 0 w 11"/>
                  <a:gd name="T1" fmla="*/ 46 h 46"/>
                  <a:gd name="T2" fmla="*/ 4 w 11"/>
                  <a:gd name="T3" fmla="*/ 46 h 46"/>
                  <a:gd name="T4" fmla="*/ 4 w 11"/>
                  <a:gd name="T5" fmla="*/ 46 h 46"/>
                  <a:gd name="T6" fmla="*/ 7 w 11"/>
                  <a:gd name="T7" fmla="*/ 42 h 46"/>
                  <a:gd name="T8" fmla="*/ 11 w 11"/>
                  <a:gd name="T9" fmla="*/ 42 h 46"/>
                  <a:gd name="T10" fmla="*/ 11 w 11"/>
                  <a:gd name="T11" fmla="*/ 3 h 46"/>
                  <a:gd name="T12" fmla="*/ 4 w 11"/>
                  <a:gd name="T13" fmla="*/ 0 h 46"/>
                  <a:gd name="T14" fmla="*/ 4 w 11"/>
                  <a:gd name="T15" fmla="*/ 0 h 46"/>
                  <a:gd name="T16" fmla="*/ 0 w 11"/>
                  <a:gd name="T17" fmla="*/ 3 h 46"/>
                  <a:gd name="T18" fmla="*/ 0 w 11"/>
                  <a:gd name="T19" fmla="*/ 6 h 46"/>
                  <a:gd name="T20" fmla="*/ 0 w 11"/>
                  <a:gd name="T21" fmla="*/ 46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46"/>
                  <a:gd name="T35" fmla="*/ 11 w 11"/>
                  <a:gd name="T36" fmla="*/ 46 h 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46">
                    <a:moveTo>
                      <a:pt x="0" y="46"/>
                    </a:moveTo>
                    <a:lnTo>
                      <a:pt x="4" y="46"/>
                    </a:lnTo>
                    <a:lnTo>
                      <a:pt x="7" y="42"/>
                    </a:lnTo>
                    <a:lnTo>
                      <a:pt x="11" y="42"/>
                    </a:lnTo>
                    <a:lnTo>
                      <a:pt x="11" y="3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45" name="Freeform 30"/>
              <p:cNvSpPr/>
              <p:nvPr/>
            </p:nvSpPr>
            <p:spPr bwMode="auto">
              <a:xfrm>
                <a:off x="1315" y="2517"/>
                <a:ext cx="11" cy="46"/>
              </a:xfrm>
              <a:custGeom>
                <a:avLst/>
                <a:gdLst>
                  <a:gd name="T0" fmla="*/ 0 w 11"/>
                  <a:gd name="T1" fmla="*/ 46 h 46"/>
                  <a:gd name="T2" fmla="*/ 4 w 11"/>
                  <a:gd name="T3" fmla="*/ 46 h 46"/>
                  <a:gd name="T4" fmla="*/ 4 w 11"/>
                  <a:gd name="T5" fmla="*/ 46 h 46"/>
                  <a:gd name="T6" fmla="*/ 7 w 11"/>
                  <a:gd name="T7" fmla="*/ 43 h 46"/>
                  <a:gd name="T8" fmla="*/ 11 w 11"/>
                  <a:gd name="T9" fmla="*/ 43 h 46"/>
                  <a:gd name="T10" fmla="*/ 11 w 11"/>
                  <a:gd name="T11" fmla="*/ 3 h 46"/>
                  <a:gd name="T12" fmla="*/ 4 w 11"/>
                  <a:gd name="T13" fmla="*/ 0 h 46"/>
                  <a:gd name="T14" fmla="*/ 4 w 11"/>
                  <a:gd name="T15" fmla="*/ 0 h 46"/>
                  <a:gd name="T16" fmla="*/ 0 w 11"/>
                  <a:gd name="T17" fmla="*/ 3 h 46"/>
                  <a:gd name="T18" fmla="*/ 0 w 11"/>
                  <a:gd name="T19" fmla="*/ 6 h 46"/>
                  <a:gd name="T20" fmla="*/ 0 w 11"/>
                  <a:gd name="T21" fmla="*/ 46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46"/>
                  <a:gd name="T35" fmla="*/ 11 w 11"/>
                  <a:gd name="T36" fmla="*/ 46 h 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46">
                    <a:moveTo>
                      <a:pt x="0" y="46"/>
                    </a:moveTo>
                    <a:lnTo>
                      <a:pt x="4" y="46"/>
                    </a:lnTo>
                    <a:lnTo>
                      <a:pt x="7" y="43"/>
                    </a:lnTo>
                    <a:lnTo>
                      <a:pt x="11" y="43"/>
                    </a:lnTo>
                    <a:lnTo>
                      <a:pt x="11" y="3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46" name="Freeform 31"/>
              <p:cNvSpPr/>
              <p:nvPr/>
            </p:nvSpPr>
            <p:spPr bwMode="auto">
              <a:xfrm>
                <a:off x="1315" y="2448"/>
                <a:ext cx="11" cy="46"/>
              </a:xfrm>
              <a:custGeom>
                <a:avLst/>
                <a:gdLst>
                  <a:gd name="T0" fmla="*/ 0 w 11"/>
                  <a:gd name="T1" fmla="*/ 46 h 46"/>
                  <a:gd name="T2" fmla="*/ 4 w 11"/>
                  <a:gd name="T3" fmla="*/ 46 h 46"/>
                  <a:gd name="T4" fmla="*/ 4 w 11"/>
                  <a:gd name="T5" fmla="*/ 46 h 46"/>
                  <a:gd name="T6" fmla="*/ 7 w 11"/>
                  <a:gd name="T7" fmla="*/ 43 h 46"/>
                  <a:gd name="T8" fmla="*/ 11 w 11"/>
                  <a:gd name="T9" fmla="*/ 43 h 46"/>
                  <a:gd name="T10" fmla="*/ 11 w 11"/>
                  <a:gd name="T11" fmla="*/ 3 h 46"/>
                  <a:gd name="T12" fmla="*/ 4 w 11"/>
                  <a:gd name="T13" fmla="*/ 0 h 46"/>
                  <a:gd name="T14" fmla="*/ 4 w 11"/>
                  <a:gd name="T15" fmla="*/ 0 h 46"/>
                  <a:gd name="T16" fmla="*/ 0 w 11"/>
                  <a:gd name="T17" fmla="*/ 3 h 46"/>
                  <a:gd name="T18" fmla="*/ 0 w 11"/>
                  <a:gd name="T19" fmla="*/ 7 h 46"/>
                  <a:gd name="T20" fmla="*/ 0 w 11"/>
                  <a:gd name="T21" fmla="*/ 46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46"/>
                  <a:gd name="T35" fmla="*/ 11 w 11"/>
                  <a:gd name="T36" fmla="*/ 46 h 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46">
                    <a:moveTo>
                      <a:pt x="0" y="46"/>
                    </a:moveTo>
                    <a:lnTo>
                      <a:pt x="4" y="46"/>
                    </a:lnTo>
                    <a:lnTo>
                      <a:pt x="7" y="43"/>
                    </a:lnTo>
                    <a:lnTo>
                      <a:pt x="11" y="43"/>
                    </a:lnTo>
                    <a:lnTo>
                      <a:pt x="11" y="3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47" name="Freeform 32"/>
              <p:cNvSpPr/>
              <p:nvPr/>
            </p:nvSpPr>
            <p:spPr bwMode="auto">
              <a:xfrm>
                <a:off x="1315" y="2379"/>
                <a:ext cx="11" cy="46"/>
              </a:xfrm>
              <a:custGeom>
                <a:avLst/>
                <a:gdLst>
                  <a:gd name="T0" fmla="*/ 0 w 11"/>
                  <a:gd name="T1" fmla="*/ 46 h 46"/>
                  <a:gd name="T2" fmla="*/ 4 w 11"/>
                  <a:gd name="T3" fmla="*/ 46 h 46"/>
                  <a:gd name="T4" fmla="*/ 4 w 11"/>
                  <a:gd name="T5" fmla="*/ 46 h 46"/>
                  <a:gd name="T6" fmla="*/ 7 w 11"/>
                  <a:gd name="T7" fmla="*/ 43 h 46"/>
                  <a:gd name="T8" fmla="*/ 11 w 11"/>
                  <a:gd name="T9" fmla="*/ 43 h 46"/>
                  <a:gd name="T10" fmla="*/ 11 w 11"/>
                  <a:gd name="T11" fmla="*/ 3 h 46"/>
                  <a:gd name="T12" fmla="*/ 4 w 11"/>
                  <a:gd name="T13" fmla="*/ 0 h 46"/>
                  <a:gd name="T14" fmla="*/ 4 w 11"/>
                  <a:gd name="T15" fmla="*/ 0 h 46"/>
                  <a:gd name="T16" fmla="*/ 0 w 11"/>
                  <a:gd name="T17" fmla="*/ 3 h 46"/>
                  <a:gd name="T18" fmla="*/ 0 w 11"/>
                  <a:gd name="T19" fmla="*/ 7 h 46"/>
                  <a:gd name="T20" fmla="*/ 0 w 11"/>
                  <a:gd name="T21" fmla="*/ 46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46"/>
                  <a:gd name="T35" fmla="*/ 11 w 11"/>
                  <a:gd name="T36" fmla="*/ 46 h 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46">
                    <a:moveTo>
                      <a:pt x="0" y="46"/>
                    </a:moveTo>
                    <a:lnTo>
                      <a:pt x="4" y="46"/>
                    </a:lnTo>
                    <a:lnTo>
                      <a:pt x="7" y="43"/>
                    </a:lnTo>
                    <a:lnTo>
                      <a:pt x="11" y="43"/>
                    </a:lnTo>
                    <a:lnTo>
                      <a:pt x="11" y="3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48" name="Freeform 33"/>
              <p:cNvSpPr/>
              <p:nvPr/>
            </p:nvSpPr>
            <p:spPr bwMode="auto">
              <a:xfrm>
                <a:off x="1315" y="2320"/>
                <a:ext cx="11" cy="36"/>
              </a:xfrm>
              <a:custGeom>
                <a:avLst/>
                <a:gdLst>
                  <a:gd name="T0" fmla="*/ 0 w 11"/>
                  <a:gd name="T1" fmla="*/ 36 h 36"/>
                  <a:gd name="T2" fmla="*/ 4 w 11"/>
                  <a:gd name="T3" fmla="*/ 36 h 36"/>
                  <a:gd name="T4" fmla="*/ 4 w 11"/>
                  <a:gd name="T5" fmla="*/ 36 h 36"/>
                  <a:gd name="T6" fmla="*/ 7 w 11"/>
                  <a:gd name="T7" fmla="*/ 33 h 36"/>
                  <a:gd name="T8" fmla="*/ 11 w 11"/>
                  <a:gd name="T9" fmla="*/ 33 h 36"/>
                  <a:gd name="T10" fmla="*/ 11 w 11"/>
                  <a:gd name="T11" fmla="*/ 3 h 36"/>
                  <a:gd name="T12" fmla="*/ 4 w 11"/>
                  <a:gd name="T13" fmla="*/ 0 h 36"/>
                  <a:gd name="T14" fmla="*/ 4 w 11"/>
                  <a:gd name="T15" fmla="*/ 0 h 36"/>
                  <a:gd name="T16" fmla="*/ 0 w 11"/>
                  <a:gd name="T17" fmla="*/ 3 h 36"/>
                  <a:gd name="T18" fmla="*/ 0 w 11"/>
                  <a:gd name="T19" fmla="*/ 7 h 36"/>
                  <a:gd name="T20" fmla="*/ 0 w 11"/>
                  <a:gd name="T21" fmla="*/ 36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36"/>
                  <a:gd name="T35" fmla="*/ 11 w 11"/>
                  <a:gd name="T36" fmla="*/ 36 h 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36">
                    <a:moveTo>
                      <a:pt x="0" y="36"/>
                    </a:moveTo>
                    <a:lnTo>
                      <a:pt x="4" y="36"/>
                    </a:lnTo>
                    <a:lnTo>
                      <a:pt x="7" y="33"/>
                    </a:lnTo>
                    <a:lnTo>
                      <a:pt x="11" y="33"/>
                    </a:lnTo>
                    <a:lnTo>
                      <a:pt x="11" y="3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06869" name="Group 34"/>
            <p:cNvGrpSpPr/>
            <p:nvPr/>
          </p:nvGrpSpPr>
          <p:grpSpPr bwMode="auto">
            <a:xfrm>
              <a:off x="1602" y="2780"/>
              <a:ext cx="85" cy="167"/>
              <a:chOff x="1602" y="2924"/>
              <a:chExt cx="85" cy="167"/>
            </a:xfrm>
          </p:grpSpPr>
          <p:sp>
            <p:nvSpPr>
              <p:cNvPr id="207040" name="Freeform 35"/>
              <p:cNvSpPr/>
              <p:nvPr/>
            </p:nvSpPr>
            <p:spPr bwMode="auto">
              <a:xfrm>
                <a:off x="1656" y="2924"/>
                <a:ext cx="31" cy="46"/>
              </a:xfrm>
              <a:custGeom>
                <a:avLst/>
                <a:gdLst>
                  <a:gd name="T0" fmla="*/ 31 w 31"/>
                  <a:gd name="T1" fmla="*/ 6 h 46"/>
                  <a:gd name="T2" fmla="*/ 27 w 31"/>
                  <a:gd name="T3" fmla="*/ 3 h 46"/>
                  <a:gd name="T4" fmla="*/ 23 w 31"/>
                  <a:gd name="T5" fmla="*/ 0 h 46"/>
                  <a:gd name="T6" fmla="*/ 23 w 31"/>
                  <a:gd name="T7" fmla="*/ 0 h 46"/>
                  <a:gd name="T8" fmla="*/ 19 w 31"/>
                  <a:gd name="T9" fmla="*/ 3 h 46"/>
                  <a:gd name="T10" fmla="*/ 0 w 31"/>
                  <a:gd name="T11" fmla="*/ 39 h 46"/>
                  <a:gd name="T12" fmla="*/ 0 w 31"/>
                  <a:gd name="T13" fmla="*/ 43 h 46"/>
                  <a:gd name="T14" fmla="*/ 4 w 31"/>
                  <a:gd name="T15" fmla="*/ 46 h 46"/>
                  <a:gd name="T16" fmla="*/ 8 w 31"/>
                  <a:gd name="T17" fmla="*/ 46 h 46"/>
                  <a:gd name="T18" fmla="*/ 12 w 31"/>
                  <a:gd name="T19" fmla="*/ 43 h 46"/>
                  <a:gd name="T20" fmla="*/ 31 w 31"/>
                  <a:gd name="T21" fmla="*/ 6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1"/>
                  <a:gd name="T34" fmla="*/ 0 h 46"/>
                  <a:gd name="T35" fmla="*/ 31 w 31"/>
                  <a:gd name="T36" fmla="*/ 46 h 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1" h="46">
                    <a:moveTo>
                      <a:pt x="31" y="6"/>
                    </a:moveTo>
                    <a:lnTo>
                      <a:pt x="27" y="3"/>
                    </a:lnTo>
                    <a:lnTo>
                      <a:pt x="23" y="0"/>
                    </a:lnTo>
                    <a:lnTo>
                      <a:pt x="19" y="3"/>
                    </a:lnTo>
                    <a:lnTo>
                      <a:pt x="0" y="39"/>
                    </a:lnTo>
                    <a:lnTo>
                      <a:pt x="0" y="43"/>
                    </a:lnTo>
                    <a:lnTo>
                      <a:pt x="4" y="46"/>
                    </a:lnTo>
                    <a:lnTo>
                      <a:pt x="8" y="46"/>
                    </a:lnTo>
                    <a:lnTo>
                      <a:pt x="12" y="43"/>
                    </a:lnTo>
                    <a:lnTo>
                      <a:pt x="31" y="6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41" name="Freeform 36"/>
              <p:cNvSpPr/>
              <p:nvPr/>
            </p:nvSpPr>
            <p:spPr bwMode="auto">
              <a:xfrm>
                <a:off x="1629" y="2986"/>
                <a:ext cx="27" cy="46"/>
              </a:xfrm>
              <a:custGeom>
                <a:avLst/>
                <a:gdLst>
                  <a:gd name="T0" fmla="*/ 27 w 27"/>
                  <a:gd name="T1" fmla="*/ 7 h 46"/>
                  <a:gd name="T2" fmla="*/ 27 w 27"/>
                  <a:gd name="T3" fmla="*/ 4 h 46"/>
                  <a:gd name="T4" fmla="*/ 23 w 27"/>
                  <a:gd name="T5" fmla="*/ 0 h 46"/>
                  <a:gd name="T6" fmla="*/ 19 w 27"/>
                  <a:gd name="T7" fmla="*/ 0 h 46"/>
                  <a:gd name="T8" fmla="*/ 16 w 27"/>
                  <a:gd name="T9" fmla="*/ 4 h 46"/>
                  <a:gd name="T10" fmla="*/ 0 w 27"/>
                  <a:gd name="T11" fmla="*/ 40 h 46"/>
                  <a:gd name="T12" fmla="*/ 0 w 27"/>
                  <a:gd name="T13" fmla="*/ 43 h 46"/>
                  <a:gd name="T14" fmla="*/ 4 w 27"/>
                  <a:gd name="T15" fmla="*/ 46 h 46"/>
                  <a:gd name="T16" fmla="*/ 8 w 27"/>
                  <a:gd name="T17" fmla="*/ 46 h 46"/>
                  <a:gd name="T18" fmla="*/ 12 w 27"/>
                  <a:gd name="T19" fmla="*/ 43 h 46"/>
                  <a:gd name="T20" fmla="*/ 27 w 27"/>
                  <a:gd name="T21" fmla="*/ 7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7"/>
                  <a:gd name="T34" fmla="*/ 0 h 46"/>
                  <a:gd name="T35" fmla="*/ 27 w 27"/>
                  <a:gd name="T36" fmla="*/ 46 h 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7" h="46">
                    <a:moveTo>
                      <a:pt x="27" y="7"/>
                    </a:moveTo>
                    <a:lnTo>
                      <a:pt x="27" y="4"/>
                    </a:lnTo>
                    <a:lnTo>
                      <a:pt x="23" y="0"/>
                    </a:lnTo>
                    <a:lnTo>
                      <a:pt x="19" y="0"/>
                    </a:lnTo>
                    <a:lnTo>
                      <a:pt x="16" y="4"/>
                    </a:lnTo>
                    <a:lnTo>
                      <a:pt x="0" y="40"/>
                    </a:lnTo>
                    <a:lnTo>
                      <a:pt x="0" y="43"/>
                    </a:lnTo>
                    <a:lnTo>
                      <a:pt x="4" y="46"/>
                    </a:lnTo>
                    <a:lnTo>
                      <a:pt x="8" y="46"/>
                    </a:lnTo>
                    <a:lnTo>
                      <a:pt x="12" y="43"/>
                    </a:lnTo>
                    <a:lnTo>
                      <a:pt x="27" y="7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42" name="Freeform 37"/>
              <p:cNvSpPr/>
              <p:nvPr/>
            </p:nvSpPr>
            <p:spPr bwMode="auto">
              <a:xfrm>
                <a:off x="1602" y="3052"/>
                <a:ext cx="23" cy="39"/>
              </a:xfrm>
              <a:custGeom>
                <a:avLst/>
                <a:gdLst>
                  <a:gd name="T0" fmla="*/ 23 w 23"/>
                  <a:gd name="T1" fmla="*/ 6 h 39"/>
                  <a:gd name="T2" fmla="*/ 23 w 23"/>
                  <a:gd name="T3" fmla="*/ 3 h 39"/>
                  <a:gd name="T4" fmla="*/ 20 w 23"/>
                  <a:gd name="T5" fmla="*/ 0 h 39"/>
                  <a:gd name="T6" fmla="*/ 16 w 23"/>
                  <a:gd name="T7" fmla="*/ 0 h 39"/>
                  <a:gd name="T8" fmla="*/ 12 w 23"/>
                  <a:gd name="T9" fmla="*/ 3 h 39"/>
                  <a:gd name="T10" fmla="*/ 0 w 23"/>
                  <a:gd name="T11" fmla="*/ 36 h 39"/>
                  <a:gd name="T12" fmla="*/ 0 w 23"/>
                  <a:gd name="T13" fmla="*/ 36 h 39"/>
                  <a:gd name="T14" fmla="*/ 4 w 23"/>
                  <a:gd name="T15" fmla="*/ 39 h 39"/>
                  <a:gd name="T16" fmla="*/ 4 w 23"/>
                  <a:gd name="T17" fmla="*/ 39 h 39"/>
                  <a:gd name="T18" fmla="*/ 12 w 23"/>
                  <a:gd name="T19" fmla="*/ 39 h 39"/>
                  <a:gd name="T20" fmla="*/ 23 w 23"/>
                  <a:gd name="T21" fmla="*/ 6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3"/>
                  <a:gd name="T34" fmla="*/ 0 h 39"/>
                  <a:gd name="T35" fmla="*/ 23 w 23"/>
                  <a:gd name="T36" fmla="*/ 39 h 3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3" h="39">
                    <a:moveTo>
                      <a:pt x="23" y="6"/>
                    </a:moveTo>
                    <a:lnTo>
                      <a:pt x="23" y="3"/>
                    </a:lnTo>
                    <a:lnTo>
                      <a:pt x="20" y="0"/>
                    </a:lnTo>
                    <a:lnTo>
                      <a:pt x="16" y="0"/>
                    </a:lnTo>
                    <a:lnTo>
                      <a:pt x="12" y="3"/>
                    </a:lnTo>
                    <a:lnTo>
                      <a:pt x="0" y="36"/>
                    </a:lnTo>
                    <a:lnTo>
                      <a:pt x="4" y="39"/>
                    </a:lnTo>
                    <a:lnTo>
                      <a:pt x="12" y="39"/>
                    </a:lnTo>
                    <a:lnTo>
                      <a:pt x="23" y="6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06870" name="Line 38"/>
            <p:cNvSpPr>
              <a:spLocks noChangeShapeType="1"/>
            </p:cNvSpPr>
            <p:nvPr/>
          </p:nvSpPr>
          <p:spPr bwMode="auto">
            <a:xfrm>
              <a:off x="2255" y="2127"/>
              <a:ext cx="1" cy="495"/>
            </a:xfrm>
            <a:prstGeom prst="line">
              <a:avLst/>
            </a:prstGeom>
            <a:noFill/>
            <a:ln w="23813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871" name="Line 39"/>
            <p:cNvSpPr>
              <a:spLocks noChangeShapeType="1"/>
            </p:cNvSpPr>
            <p:nvPr/>
          </p:nvSpPr>
          <p:spPr bwMode="auto">
            <a:xfrm flipH="1">
              <a:off x="1775" y="2622"/>
              <a:ext cx="480" cy="181"/>
            </a:xfrm>
            <a:prstGeom prst="line">
              <a:avLst/>
            </a:prstGeom>
            <a:noFill/>
            <a:ln w="23813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872" name="Line 40"/>
            <p:cNvSpPr>
              <a:spLocks noChangeShapeType="1"/>
            </p:cNvSpPr>
            <p:nvPr/>
          </p:nvSpPr>
          <p:spPr bwMode="auto">
            <a:xfrm flipV="1">
              <a:off x="1775" y="2714"/>
              <a:ext cx="1" cy="89"/>
            </a:xfrm>
            <a:prstGeom prst="line">
              <a:avLst/>
            </a:prstGeom>
            <a:noFill/>
            <a:ln w="23813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873" name="Line 41"/>
            <p:cNvSpPr>
              <a:spLocks noChangeShapeType="1"/>
            </p:cNvSpPr>
            <p:nvPr/>
          </p:nvSpPr>
          <p:spPr bwMode="auto">
            <a:xfrm flipV="1">
              <a:off x="1775" y="2501"/>
              <a:ext cx="311" cy="213"/>
            </a:xfrm>
            <a:prstGeom prst="line">
              <a:avLst/>
            </a:prstGeom>
            <a:noFill/>
            <a:ln w="23813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874" name="Line 42"/>
            <p:cNvSpPr>
              <a:spLocks noChangeShapeType="1"/>
            </p:cNvSpPr>
            <p:nvPr/>
          </p:nvSpPr>
          <p:spPr bwMode="auto">
            <a:xfrm flipV="1">
              <a:off x="2086" y="2251"/>
              <a:ext cx="1" cy="250"/>
            </a:xfrm>
            <a:prstGeom prst="line">
              <a:avLst/>
            </a:prstGeom>
            <a:noFill/>
            <a:ln w="23813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06875" name="Group 43"/>
            <p:cNvGrpSpPr/>
            <p:nvPr/>
          </p:nvGrpSpPr>
          <p:grpSpPr bwMode="auto">
            <a:xfrm>
              <a:off x="1771" y="2557"/>
              <a:ext cx="376" cy="233"/>
              <a:chOff x="1771" y="2701"/>
              <a:chExt cx="376" cy="233"/>
            </a:xfrm>
          </p:grpSpPr>
          <p:sp>
            <p:nvSpPr>
              <p:cNvPr id="207034" name="Freeform 44"/>
              <p:cNvSpPr/>
              <p:nvPr/>
            </p:nvSpPr>
            <p:spPr bwMode="auto">
              <a:xfrm>
                <a:off x="1771" y="2901"/>
                <a:ext cx="46" cy="33"/>
              </a:xfrm>
              <a:custGeom>
                <a:avLst/>
                <a:gdLst>
                  <a:gd name="T0" fmla="*/ 4 w 46"/>
                  <a:gd name="T1" fmla="*/ 23 h 33"/>
                  <a:gd name="T2" fmla="*/ 0 w 46"/>
                  <a:gd name="T3" fmla="*/ 26 h 33"/>
                  <a:gd name="T4" fmla="*/ 0 w 46"/>
                  <a:gd name="T5" fmla="*/ 26 h 33"/>
                  <a:gd name="T6" fmla="*/ 4 w 46"/>
                  <a:gd name="T7" fmla="*/ 29 h 33"/>
                  <a:gd name="T8" fmla="*/ 8 w 46"/>
                  <a:gd name="T9" fmla="*/ 33 h 33"/>
                  <a:gd name="T10" fmla="*/ 42 w 46"/>
                  <a:gd name="T11" fmla="*/ 10 h 33"/>
                  <a:gd name="T12" fmla="*/ 46 w 46"/>
                  <a:gd name="T13" fmla="*/ 6 h 33"/>
                  <a:gd name="T14" fmla="*/ 46 w 46"/>
                  <a:gd name="T15" fmla="*/ 3 h 33"/>
                  <a:gd name="T16" fmla="*/ 42 w 46"/>
                  <a:gd name="T17" fmla="*/ 0 h 33"/>
                  <a:gd name="T18" fmla="*/ 39 w 46"/>
                  <a:gd name="T19" fmla="*/ 0 h 33"/>
                  <a:gd name="T20" fmla="*/ 4 w 46"/>
                  <a:gd name="T21" fmla="*/ 23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6"/>
                  <a:gd name="T34" fmla="*/ 0 h 33"/>
                  <a:gd name="T35" fmla="*/ 46 w 46"/>
                  <a:gd name="T36" fmla="*/ 33 h 3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6" h="33">
                    <a:moveTo>
                      <a:pt x="4" y="23"/>
                    </a:moveTo>
                    <a:lnTo>
                      <a:pt x="0" y="26"/>
                    </a:lnTo>
                    <a:lnTo>
                      <a:pt x="4" y="29"/>
                    </a:lnTo>
                    <a:lnTo>
                      <a:pt x="8" y="33"/>
                    </a:lnTo>
                    <a:lnTo>
                      <a:pt x="42" y="10"/>
                    </a:lnTo>
                    <a:lnTo>
                      <a:pt x="46" y="6"/>
                    </a:lnTo>
                    <a:lnTo>
                      <a:pt x="46" y="3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4" y="2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35" name="Freeform 45"/>
              <p:cNvSpPr/>
              <p:nvPr/>
            </p:nvSpPr>
            <p:spPr bwMode="auto">
              <a:xfrm>
                <a:off x="1836" y="2862"/>
                <a:ext cx="50" cy="29"/>
              </a:xfrm>
              <a:custGeom>
                <a:avLst/>
                <a:gdLst>
                  <a:gd name="T0" fmla="*/ 4 w 50"/>
                  <a:gd name="T1" fmla="*/ 19 h 29"/>
                  <a:gd name="T2" fmla="*/ 0 w 50"/>
                  <a:gd name="T3" fmla="*/ 22 h 29"/>
                  <a:gd name="T4" fmla="*/ 0 w 50"/>
                  <a:gd name="T5" fmla="*/ 26 h 29"/>
                  <a:gd name="T6" fmla="*/ 4 w 50"/>
                  <a:gd name="T7" fmla="*/ 29 h 29"/>
                  <a:gd name="T8" fmla="*/ 8 w 50"/>
                  <a:gd name="T9" fmla="*/ 29 h 29"/>
                  <a:gd name="T10" fmla="*/ 46 w 50"/>
                  <a:gd name="T11" fmla="*/ 9 h 29"/>
                  <a:gd name="T12" fmla="*/ 50 w 50"/>
                  <a:gd name="T13" fmla="*/ 6 h 29"/>
                  <a:gd name="T14" fmla="*/ 50 w 50"/>
                  <a:gd name="T15" fmla="*/ 3 h 29"/>
                  <a:gd name="T16" fmla="*/ 46 w 50"/>
                  <a:gd name="T17" fmla="*/ 0 h 29"/>
                  <a:gd name="T18" fmla="*/ 43 w 50"/>
                  <a:gd name="T19" fmla="*/ 0 h 29"/>
                  <a:gd name="T20" fmla="*/ 4 w 50"/>
                  <a:gd name="T21" fmla="*/ 19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0"/>
                  <a:gd name="T34" fmla="*/ 0 h 29"/>
                  <a:gd name="T35" fmla="*/ 50 w 50"/>
                  <a:gd name="T36" fmla="*/ 29 h 2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0" h="29">
                    <a:moveTo>
                      <a:pt x="4" y="19"/>
                    </a:moveTo>
                    <a:lnTo>
                      <a:pt x="0" y="22"/>
                    </a:lnTo>
                    <a:lnTo>
                      <a:pt x="0" y="26"/>
                    </a:lnTo>
                    <a:lnTo>
                      <a:pt x="4" y="29"/>
                    </a:lnTo>
                    <a:lnTo>
                      <a:pt x="8" y="29"/>
                    </a:lnTo>
                    <a:lnTo>
                      <a:pt x="46" y="9"/>
                    </a:lnTo>
                    <a:lnTo>
                      <a:pt x="50" y="6"/>
                    </a:lnTo>
                    <a:lnTo>
                      <a:pt x="50" y="3"/>
                    </a:lnTo>
                    <a:lnTo>
                      <a:pt x="46" y="0"/>
                    </a:lnTo>
                    <a:lnTo>
                      <a:pt x="43" y="0"/>
                    </a:lnTo>
                    <a:lnTo>
                      <a:pt x="4" y="19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36" name="Freeform 46"/>
              <p:cNvSpPr/>
              <p:nvPr/>
            </p:nvSpPr>
            <p:spPr bwMode="auto">
              <a:xfrm>
                <a:off x="1902" y="2822"/>
                <a:ext cx="50" cy="30"/>
              </a:xfrm>
              <a:custGeom>
                <a:avLst/>
                <a:gdLst>
                  <a:gd name="T0" fmla="*/ 4 w 50"/>
                  <a:gd name="T1" fmla="*/ 20 h 30"/>
                  <a:gd name="T2" fmla="*/ 0 w 50"/>
                  <a:gd name="T3" fmla="*/ 23 h 30"/>
                  <a:gd name="T4" fmla="*/ 0 w 50"/>
                  <a:gd name="T5" fmla="*/ 26 h 30"/>
                  <a:gd name="T6" fmla="*/ 4 w 50"/>
                  <a:gd name="T7" fmla="*/ 30 h 30"/>
                  <a:gd name="T8" fmla="*/ 7 w 50"/>
                  <a:gd name="T9" fmla="*/ 30 h 30"/>
                  <a:gd name="T10" fmla="*/ 46 w 50"/>
                  <a:gd name="T11" fmla="*/ 10 h 30"/>
                  <a:gd name="T12" fmla="*/ 50 w 50"/>
                  <a:gd name="T13" fmla="*/ 7 h 30"/>
                  <a:gd name="T14" fmla="*/ 50 w 50"/>
                  <a:gd name="T15" fmla="*/ 3 h 30"/>
                  <a:gd name="T16" fmla="*/ 46 w 50"/>
                  <a:gd name="T17" fmla="*/ 0 h 30"/>
                  <a:gd name="T18" fmla="*/ 42 w 50"/>
                  <a:gd name="T19" fmla="*/ 0 h 30"/>
                  <a:gd name="T20" fmla="*/ 4 w 50"/>
                  <a:gd name="T21" fmla="*/ 20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0"/>
                  <a:gd name="T34" fmla="*/ 0 h 30"/>
                  <a:gd name="T35" fmla="*/ 50 w 50"/>
                  <a:gd name="T36" fmla="*/ 30 h 3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0" h="30">
                    <a:moveTo>
                      <a:pt x="4" y="20"/>
                    </a:moveTo>
                    <a:lnTo>
                      <a:pt x="0" y="23"/>
                    </a:lnTo>
                    <a:lnTo>
                      <a:pt x="0" y="26"/>
                    </a:lnTo>
                    <a:lnTo>
                      <a:pt x="4" y="30"/>
                    </a:lnTo>
                    <a:lnTo>
                      <a:pt x="7" y="30"/>
                    </a:lnTo>
                    <a:lnTo>
                      <a:pt x="46" y="10"/>
                    </a:lnTo>
                    <a:lnTo>
                      <a:pt x="50" y="7"/>
                    </a:lnTo>
                    <a:lnTo>
                      <a:pt x="50" y="3"/>
                    </a:lnTo>
                    <a:lnTo>
                      <a:pt x="46" y="0"/>
                    </a:lnTo>
                    <a:lnTo>
                      <a:pt x="42" y="0"/>
                    </a:lnTo>
                    <a:lnTo>
                      <a:pt x="4" y="2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37" name="Freeform 47"/>
              <p:cNvSpPr/>
              <p:nvPr/>
            </p:nvSpPr>
            <p:spPr bwMode="auto">
              <a:xfrm>
                <a:off x="1967" y="2779"/>
                <a:ext cx="50" cy="33"/>
              </a:xfrm>
              <a:custGeom>
                <a:avLst/>
                <a:gdLst>
                  <a:gd name="T0" fmla="*/ 4 w 50"/>
                  <a:gd name="T1" fmla="*/ 23 h 33"/>
                  <a:gd name="T2" fmla="*/ 0 w 50"/>
                  <a:gd name="T3" fmla="*/ 27 h 33"/>
                  <a:gd name="T4" fmla="*/ 0 w 50"/>
                  <a:gd name="T5" fmla="*/ 30 h 33"/>
                  <a:gd name="T6" fmla="*/ 4 w 50"/>
                  <a:gd name="T7" fmla="*/ 33 h 33"/>
                  <a:gd name="T8" fmla="*/ 8 w 50"/>
                  <a:gd name="T9" fmla="*/ 33 h 33"/>
                  <a:gd name="T10" fmla="*/ 46 w 50"/>
                  <a:gd name="T11" fmla="*/ 10 h 33"/>
                  <a:gd name="T12" fmla="*/ 50 w 50"/>
                  <a:gd name="T13" fmla="*/ 7 h 33"/>
                  <a:gd name="T14" fmla="*/ 50 w 50"/>
                  <a:gd name="T15" fmla="*/ 4 h 33"/>
                  <a:gd name="T16" fmla="*/ 46 w 50"/>
                  <a:gd name="T17" fmla="*/ 0 h 33"/>
                  <a:gd name="T18" fmla="*/ 42 w 50"/>
                  <a:gd name="T19" fmla="*/ 0 h 33"/>
                  <a:gd name="T20" fmla="*/ 4 w 50"/>
                  <a:gd name="T21" fmla="*/ 23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0"/>
                  <a:gd name="T34" fmla="*/ 0 h 33"/>
                  <a:gd name="T35" fmla="*/ 50 w 50"/>
                  <a:gd name="T36" fmla="*/ 33 h 3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0" h="33">
                    <a:moveTo>
                      <a:pt x="4" y="23"/>
                    </a:moveTo>
                    <a:lnTo>
                      <a:pt x="0" y="27"/>
                    </a:lnTo>
                    <a:lnTo>
                      <a:pt x="0" y="30"/>
                    </a:lnTo>
                    <a:lnTo>
                      <a:pt x="4" y="33"/>
                    </a:lnTo>
                    <a:lnTo>
                      <a:pt x="8" y="33"/>
                    </a:lnTo>
                    <a:lnTo>
                      <a:pt x="46" y="10"/>
                    </a:lnTo>
                    <a:lnTo>
                      <a:pt x="50" y="7"/>
                    </a:lnTo>
                    <a:lnTo>
                      <a:pt x="50" y="4"/>
                    </a:lnTo>
                    <a:lnTo>
                      <a:pt x="46" y="0"/>
                    </a:lnTo>
                    <a:lnTo>
                      <a:pt x="42" y="0"/>
                    </a:lnTo>
                    <a:lnTo>
                      <a:pt x="4" y="2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38" name="Freeform 48"/>
              <p:cNvSpPr/>
              <p:nvPr/>
            </p:nvSpPr>
            <p:spPr bwMode="auto">
              <a:xfrm>
                <a:off x="2032" y="2740"/>
                <a:ext cx="50" cy="33"/>
              </a:xfrm>
              <a:custGeom>
                <a:avLst/>
                <a:gdLst>
                  <a:gd name="T0" fmla="*/ 4 w 50"/>
                  <a:gd name="T1" fmla="*/ 23 h 33"/>
                  <a:gd name="T2" fmla="*/ 0 w 50"/>
                  <a:gd name="T3" fmla="*/ 26 h 33"/>
                  <a:gd name="T4" fmla="*/ 0 w 50"/>
                  <a:gd name="T5" fmla="*/ 30 h 33"/>
                  <a:gd name="T6" fmla="*/ 4 w 50"/>
                  <a:gd name="T7" fmla="*/ 33 h 33"/>
                  <a:gd name="T8" fmla="*/ 8 w 50"/>
                  <a:gd name="T9" fmla="*/ 33 h 33"/>
                  <a:gd name="T10" fmla="*/ 46 w 50"/>
                  <a:gd name="T11" fmla="*/ 10 h 33"/>
                  <a:gd name="T12" fmla="*/ 50 w 50"/>
                  <a:gd name="T13" fmla="*/ 7 h 33"/>
                  <a:gd name="T14" fmla="*/ 50 w 50"/>
                  <a:gd name="T15" fmla="*/ 3 h 33"/>
                  <a:gd name="T16" fmla="*/ 46 w 50"/>
                  <a:gd name="T17" fmla="*/ 0 h 33"/>
                  <a:gd name="T18" fmla="*/ 42 w 50"/>
                  <a:gd name="T19" fmla="*/ 0 h 33"/>
                  <a:gd name="T20" fmla="*/ 4 w 50"/>
                  <a:gd name="T21" fmla="*/ 23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0"/>
                  <a:gd name="T34" fmla="*/ 0 h 33"/>
                  <a:gd name="T35" fmla="*/ 50 w 50"/>
                  <a:gd name="T36" fmla="*/ 33 h 3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0" h="33">
                    <a:moveTo>
                      <a:pt x="4" y="23"/>
                    </a:moveTo>
                    <a:lnTo>
                      <a:pt x="0" y="26"/>
                    </a:lnTo>
                    <a:lnTo>
                      <a:pt x="0" y="30"/>
                    </a:lnTo>
                    <a:lnTo>
                      <a:pt x="4" y="33"/>
                    </a:lnTo>
                    <a:lnTo>
                      <a:pt x="8" y="33"/>
                    </a:lnTo>
                    <a:lnTo>
                      <a:pt x="46" y="10"/>
                    </a:lnTo>
                    <a:lnTo>
                      <a:pt x="50" y="7"/>
                    </a:lnTo>
                    <a:lnTo>
                      <a:pt x="50" y="3"/>
                    </a:lnTo>
                    <a:lnTo>
                      <a:pt x="46" y="0"/>
                    </a:lnTo>
                    <a:lnTo>
                      <a:pt x="42" y="0"/>
                    </a:lnTo>
                    <a:lnTo>
                      <a:pt x="4" y="2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39" name="Freeform 49"/>
              <p:cNvSpPr/>
              <p:nvPr/>
            </p:nvSpPr>
            <p:spPr bwMode="auto">
              <a:xfrm>
                <a:off x="2101" y="2701"/>
                <a:ext cx="46" cy="32"/>
              </a:xfrm>
              <a:custGeom>
                <a:avLst/>
                <a:gdLst>
                  <a:gd name="T0" fmla="*/ 4 w 46"/>
                  <a:gd name="T1" fmla="*/ 23 h 32"/>
                  <a:gd name="T2" fmla="*/ 0 w 46"/>
                  <a:gd name="T3" fmla="*/ 26 h 32"/>
                  <a:gd name="T4" fmla="*/ 0 w 46"/>
                  <a:gd name="T5" fmla="*/ 29 h 32"/>
                  <a:gd name="T6" fmla="*/ 4 w 46"/>
                  <a:gd name="T7" fmla="*/ 32 h 32"/>
                  <a:gd name="T8" fmla="*/ 8 w 46"/>
                  <a:gd name="T9" fmla="*/ 32 h 32"/>
                  <a:gd name="T10" fmla="*/ 42 w 46"/>
                  <a:gd name="T11" fmla="*/ 10 h 32"/>
                  <a:gd name="T12" fmla="*/ 46 w 46"/>
                  <a:gd name="T13" fmla="*/ 6 h 32"/>
                  <a:gd name="T14" fmla="*/ 46 w 46"/>
                  <a:gd name="T15" fmla="*/ 3 h 32"/>
                  <a:gd name="T16" fmla="*/ 42 w 46"/>
                  <a:gd name="T17" fmla="*/ 0 h 32"/>
                  <a:gd name="T18" fmla="*/ 39 w 46"/>
                  <a:gd name="T19" fmla="*/ 0 h 32"/>
                  <a:gd name="T20" fmla="*/ 4 w 46"/>
                  <a:gd name="T21" fmla="*/ 23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6"/>
                  <a:gd name="T34" fmla="*/ 0 h 32"/>
                  <a:gd name="T35" fmla="*/ 46 w 46"/>
                  <a:gd name="T36" fmla="*/ 32 h 3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6" h="32">
                    <a:moveTo>
                      <a:pt x="4" y="23"/>
                    </a:moveTo>
                    <a:lnTo>
                      <a:pt x="0" y="26"/>
                    </a:lnTo>
                    <a:lnTo>
                      <a:pt x="0" y="29"/>
                    </a:lnTo>
                    <a:lnTo>
                      <a:pt x="4" y="32"/>
                    </a:lnTo>
                    <a:lnTo>
                      <a:pt x="8" y="32"/>
                    </a:lnTo>
                    <a:lnTo>
                      <a:pt x="42" y="10"/>
                    </a:lnTo>
                    <a:lnTo>
                      <a:pt x="46" y="6"/>
                    </a:lnTo>
                    <a:lnTo>
                      <a:pt x="46" y="3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4" y="2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06876" name="Group 50"/>
            <p:cNvGrpSpPr/>
            <p:nvPr/>
          </p:nvGrpSpPr>
          <p:grpSpPr bwMode="auto">
            <a:xfrm>
              <a:off x="2155" y="2461"/>
              <a:ext cx="11" cy="96"/>
              <a:chOff x="2155" y="2605"/>
              <a:chExt cx="11" cy="96"/>
            </a:xfrm>
          </p:grpSpPr>
          <p:sp>
            <p:nvSpPr>
              <p:cNvPr id="207032" name="Freeform 51"/>
              <p:cNvSpPr/>
              <p:nvPr/>
            </p:nvSpPr>
            <p:spPr bwMode="auto">
              <a:xfrm>
                <a:off x="2155" y="2655"/>
                <a:ext cx="11" cy="46"/>
              </a:xfrm>
              <a:custGeom>
                <a:avLst/>
                <a:gdLst>
                  <a:gd name="T0" fmla="*/ 0 w 11"/>
                  <a:gd name="T1" fmla="*/ 46 h 46"/>
                  <a:gd name="T2" fmla="*/ 4 w 11"/>
                  <a:gd name="T3" fmla="*/ 46 h 46"/>
                  <a:gd name="T4" fmla="*/ 4 w 11"/>
                  <a:gd name="T5" fmla="*/ 46 h 46"/>
                  <a:gd name="T6" fmla="*/ 8 w 11"/>
                  <a:gd name="T7" fmla="*/ 42 h 46"/>
                  <a:gd name="T8" fmla="*/ 11 w 11"/>
                  <a:gd name="T9" fmla="*/ 42 h 46"/>
                  <a:gd name="T10" fmla="*/ 11 w 11"/>
                  <a:gd name="T11" fmla="*/ 3 h 46"/>
                  <a:gd name="T12" fmla="*/ 4 w 11"/>
                  <a:gd name="T13" fmla="*/ 0 h 46"/>
                  <a:gd name="T14" fmla="*/ 4 w 11"/>
                  <a:gd name="T15" fmla="*/ 0 h 46"/>
                  <a:gd name="T16" fmla="*/ 0 w 11"/>
                  <a:gd name="T17" fmla="*/ 3 h 46"/>
                  <a:gd name="T18" fmla="*/ 0 w 11"/>
                  <a:gd name="T19" fmla="*/ 6 h 46"/>
                  <a:gd name="T20" fmla="*/ 0 w 11"/>
                  <a:gd name="T21" fmla="*/ 46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46"/>
                  <a:gd name="T35" fmla="*/ 11 w 11"/>
                  <a:gd name="T36" fmla="*/ 46 h 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46">
                    <a:moveTo>
                      <a:pt x="0" y="46"/>
                    </a:moveTo>
                    <a:lnTo>
                      <a:pt x="4" y="46"/>
                    </a:lnTo>
                    <a:lnTo>
                      <a:pt x="8" y="42"/>
                    </a:lnTo>
                    <a:lnTo>
                      <a:pt x="11" y="42"/>
                    </a:lnTo>
                    <a:lnTo>
                      <a:pt x="11" y="3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33" name="Freeform 52"/>
              <p:cNvSpPr/>
              <p:nvPr/>
            </p:nvSpPr>
            <p:spPr bwMode="auto">
              <a:xfrm>
                <a:off x="2155" y="2605"/>
                <a:ext cx="11" cy="27"/>
              </a:xfrm>
              <a:custGeom>
                <a:avLst/>
                <a:gdLst>
                  <a:gd name="T0" fmla="*/ 0 w 11"/>
                  <a:gd name="T1" fmla="*/ 27 h 27"/>
                  <a:gd name="T2" fmla="*/ 4 w 11"/>
                  <a:gd name="T3" fmla="*/ 27 h 27"/>
                  <a:gd name="T4" fmla="*/ 4 w 11"/>
                  <a:gd name="T5" fmla="*/ 27 h 27"/>
                  <a:gd name="T6" fmla="*/ 8 w 11"/>
                  <a:gd name="T7" fmla="*/ 23 h 27"/>
                  <a:gd name="T8" fmla="*/ 11 w 11"/>
                  <a:gd name="T9" fmla="*/ 23 h 27"/>
                  <a:gd name="T10" fmla="*/ 11 w 11"/>
                  <a:gd name="T11" fmla="*/ 4 h 27"/>
                  <a:gd name="T12" fmla="*/ 4 w 11"/>
                  <a:gd name="T13" fmla="*/ 0 h 27"/>
                  <a:gd name="T14" fmla="*/ 4 w 11"/>
                  <a:gd name="T15" fmla="*/ 0 h 27"/>
                  <a:gd name="T16" fmla="*/ 0 w 11"/>
                  <a:gd name="T17" fmla="*/ 4 h 27"/>
                  <a:gd name="T18" fmla="*/ 0 w 11"/>
                  <a:gd name="T19" fmla="*/ 7 h 27"/>
                  <a:gd name="T20" fmla="*/ 0 w 11"/>
                  <a:gd name="T21" fmla="*/ 27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27"/>
                  <a:gd name="T35" fmla="*/ 11 w 11"/>
                  <a:gd name="T36" fmla="*/ 27 h 2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27">
                    <a:moveTo>
                      <a:pt x="0" y="27"/>
                    </a:moveTo>
                    <a:lnTo>
                      <a:pt x="4" y="27"/>
                    </a:lnTo>
                    <a:lnTo>
                      <a:pt x="8" y="23"/>
                    </a:lnTo>
                    <a:lnTo>
                      <a:pt x="11" y="23"/>
                    </a:lnTo>
                    <a:lnTo>
                      <a:pt x="11" y="4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06877" name="Group 53"/>
            <p:cNvGrpSpPr/>
            <p:nvPr/>
          </p:nvGrpSpPr>
          <p:grpSpPr bwMode="auto">
            <a:xfrm>
              <a:off x="1794" y="2780"/>
              <a:ext cx="85" cy="167"/>
              <a:chOff x="1794" y="2924"/>
              <a:chExt cx="85" cy="167"/>
            </a:xfrm>
          </p:grpSpPr>
          <p:sp>
            <p:nvSpPr>
              <p:cNvPr id="207029" name="Freeform 54"/>
              <p:cNvSpPr/>
              <p:nvPr/>
            </p:nvSpPr>
            <p:spPr bwMode="auto">
              <a:xfrm>
                <a:off x="1794" y="2924"/>
                <a:ext cx="27" cy="46"/>
              </a:xfrm>
              <a:custGeom>
                <a:avLst/>
                <a:gdLst>
                  <a:gd name="T0" fmla="*/ 12 w 27"/>
                  <a:gd name="T1" fmla="*/ 3 h 46"/>
                  <a:gd name="T2" fmla="*/ 4 w 27"/>
                  <a:gd name="T3" fmla="*/ 0 h 46"/>
                  <a:gd name="T4" fmla="*/ 4 w 27"/>
                  <a:gd name="T5" fmla="*/ 0 h 46"/>
                  <a:gd name="T6" fmla="*/ 0 w 27"/>
                  <a:gd name="T7" fmla="*/ 3 h 46"/>
                  <a:gd name="T8" fmla="*/ 0 w 27"/>
                  <a:gd name="T9" fmla="*/ 6 h 46"/>
                  <a:gd name="T10" fmla="*/ 16 w 27"/>
                  <a:gd name="T11" fmla="*/ 43 h 46"/>
                  <a:gd name="T12" fmla="*/ 19 w 27"/>
                  <a:gd name="T13" fmla="*/ 46 h 46"/>
                  <a:gd name="T14" fmla="*/ 23 w 27"/>
                  <a:gd name="T15" fmla="*/ 46 h 46"/>
                  <a:gd name="T16" fmla="*/ 27 w 27"/>
                  <a:gd name="T17" fmla="*/ 43 h 46"/>
                  <a:gd name="T18" fmla="*/ 27 w 27"/>
                  <a:gd name="T19" fmla="*/ 39 h 46"/>
                  <a:gd name="T20" fmla="*/ 12 w 27"/>
                  <a:gd name="T21" fmla="*/ 3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7"/>
                  <a:gd name="T34" fmla="*/ 0 h 46"/>
                  <a:gd name="T35" fmla="*/ 27 w 27"/>
                  <a:gd name="T36" fmla="*/ 46 h 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7" h="46">
                    <a:moveTo>
                      <a:pt x="12" y="3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6" y="43"/>
                    </a:lnTo>
                    <a:lnTo>
                      <a:pt x="19" y="46"/>
                    </a:lnTo>
                    <a:lnTo>
                      <a:pt x="23" y="46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12" y="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30" name="Freeform 55"/>
              <p:cNvSpPr/>
              <p:nvPr/>
            </p:nvSpPr>
            <p:spPr bwMode="auto">
              <a:xfrm>
                <a:off x="1821" y="2986"/>
                <a:ext cx="27" cy="46"/>
              </a:xfrm>
              <a:custGeom>
                <a:avLst/>
                <a:gdLst>
                  <a:gd name="T0" fmla="*/ 12 w 27"/>
                  <a:gd name="T1" fmla="*/ 4 h 46"/>
                  <a:gd name="T2" fmla="*/ 8 w 27"/>
                  <a:gd name="T3" fmla="*/ 0 h 46"/>
                  <a:gd name="T4" fmla="*/ 4 w 27"/>
                  <a:gd name="T5" fmla="*/ 0 h 46"/>
                  <a:gd name="T6" fmla="*/ 0 w 27"/>
                  <a:gd name="T7" fmla="*/ 4 h 46"/>
                  <a:gd name="T8" fmla="*/ 0 w 27"/>
                  <a:gd name="T9" fmla="*/ 7 h 46"/>
                  <a:gd name="T10" fmla="*/ 15 w 27"/>
                  <a:gd name="T11" fmla="*/ 43 h 46"/>
                  <a:gd name="T12" fmla="*/ 19 w 27"/>
                  <a:gd name="T13" fmla="*/ 46 h 46"/>
                  <a:gd name="T14" fmla="*/ 23 w 27"/>
                  <a:gd name="T15" fmla="*/ 46 h 46"/>
                  <a:gd name="T16" fmla="*/ 27 w 27"/>
                  <a:gd name="T17" fmla="*/ 43 h 46"/>
                  <a:gd name="T18" fmla="*/ 27 w 27"/>
                  <a:gd name="T19" fmla="*/ 40 h 46"/>
                  <a:gd name="T20" fmla="*/ 12 w 27"/>
                  <a:gd name="T21" fmla="*/ 4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7"/>
                  <a:gd name="T34" fmla="*/ 0 h 46"/>
                  <a:gd name="T35" fmla="*/ 27 w 27"/>
                  <a:gd name="T36" fmla="*/ 46 h 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7" h="46">
                    <a:moveTo>
                      <a:pt x="12" y="4"/>
                    </a:moveTo>
                    <a:lnTo>
                      <a:pt x="8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15" y="43"/>
                    </a:lnTo>
                    <a:lnTo>
                      <a:pt x="19" y="46"/>
                    </a:lnTo>
                    <a:lnTo>
                      <a:pt x="23" y="46"/>
                    </a:lnTo>
                    <a:lnTo>
                      <a:pt x="27" y="43"/>
                    </a:lnTo>
                    <a:lnTo>
                      <a:pt x="27" y="40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31" name="Freeform 56"/>
              <p:cNvSpPr/>
              <p:nvPr/>
            </p:nvSpPr>
            <p:spPr bwMode="auto">
              <a:xfrm>
                <a:off x="1852" y="3052"/>
                <a:ext cx="27" cy="39"/>
              </a:xfrm>
              <a:custGeom>
                <a:avLst/>
                <a:gdLst>
                  <a:gd name="T0" fmla="*/ 11 w 27"/>
                  <a:gd name="T1" fmla="*/ 3 h 39"/>
                  <a:gd name="T2" fmla="*/ 7 w 27"/>
                  <a:gd name="T3" fmla="*/ 0 h 39"/>
                  <a:gd name="T4" fmla="*/ 4 w 27"/>
                  <a:gd name="T5" fmla="*/ 0 h 39"/>
                  <a:gd name="T6" fmla="*/ 0 w 27"/>
                  <a:gd name="T7" fmla="*/ 3 h 39"/>
                  <a:gd name="T8" fmla="*/ 0 w 27"/>
                  <a:gd name="T9" fmla="*/ 6 h 39"/>
                  <a:gd name="T10" fmla="*/ 15 w 27"/>
                  <a:gd name="T11" fmla="*/ 39 h 39"/>
                  <a:gd name="T12" fmla="*/ 19 w 27"/>
                  <a:gd name="T13" fmla="*/ 39 h 39"/>
                  <a:gd name="T14" fmla="*/ 19 w 27"/>
                  <a:gd name="T15" fmla="*/ 39 h 39"/>
                  <a:gd name="T16" fmla="*/ 23 w 27"/>
                  <a:gd name="T17" fmla="*/ 36 h 39"/>
                  <a:gd name="T18" fmla="*/ 27 w 27"/>
                  <a:gd name="T19" fmla="*/ 36 h 39"/>
                  <a:gd name="T20" fmla="*/ 11 w 27"/>
                  <a:gd name="T21" fmla="*/ 3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7"/>
                  <a:gd name="T34" fmla="*/ 0 h 39"/>
                  <a:gd name="T35" fmla="*/ 27 w 27"/>
                  <a:gd name="T36" fmla="*/ 39 h 3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7" h="39">
                    <a:moveTo>
                      <a:pt x="11" y="3"/>
                    </a:moveTo>
                    <a:lnTo>
                      <a:pt x="7" y="0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5" y="39"/>
                    </a:lnTo>
                    <a:lnTo>
                      <a:pt x="19" y="39"/>
                    </a:lnTo>
                    <a:lnTo>
                      <a:pt x="23" y="36"/>
                    </a:lnTo>
                    <a:lnTo>
                      <a:pt x="27" y="36"/>
                    </a:lnTo>
                    <a:lnTo>
                      <a:pt x="11" y="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06878" name="Group 57"/>
            <p:cNvGrpSpPr/>
            <p:nvPr/>
          </p:nvGrpSpPr>
          <p:grpSpPr bwMode="auto">
            <a:xfrm>
              <a:off x="1315" y="2176"/>
              <a:ext cx="848" cy="10"/>
              <a:chOff x="1315" y="2320"/>
              <a:chExt cx="848" cy="10"/>
            </a:xfrm>
          </p:grpSpPr>
          <p:sp>
            <p:nvSpPr>
              <p:cNvPr id="207018" name="Freeform 58"/>
              <p:cNvSpPr/>
              <p:nvPr/>
            </p:nvSpPr>
            <p:spPr bwMode="auto">
              <a:xfrm>
                <a:off x="1315" y="2320"/>
                <a:ext cx="53" cy="10"/>
              </a:xfrm>
              <a:custGeom>
                <a:avLst/>
                <a:gdLst>
                  <a:gd name="T0" fmla="*/ 7 w 53"/>
                  <a:gd name="T1" fmla="*/ 0 h 10"/>
                  <a:gd name="T2" fmla="*/ 4 w 53"/>
                  <a:gd name="T3" fmla="*/ 0 h 10"/>
                  <a:gd name="T4" fmla="*/ 0 w 53"/>
                  <a:gd name="T5" fmla="*/ 3 h 10"/>
                  <a:gd name="T6" fmla="*/ 0 w 53"/>
                  <a:gd name="T7" fmla="*/ 3 h 10"/>
                  <a:gd name="T8" fmla="*/ 4 w 53"/>
                  <a:gd name="T9" fmla="*/ 10 h 10"/>
                  <a:gd name="T10" fmla="*/ 46 w 53"/>
                  <a:gd name="T11" fmla="*/ 10 h 10"/>
                  <a:gd name="T12" fmla="*/ 50 w 53"/>
                  <a:gd name="T13" fmla="*/ 10 h 10"/>
                  <a:gd name="T14" fmla="*/ 53 w 53"/>
                  <a:gd name="T15" fmla="*/ 7 h 10"/>
                  <a:gd name="T16" fmla="*/ 53 w 53"/>
                  <a:gd name="T17" fmla="*/ 3 h 10"/>
                  <a:gd name="T18" fmla="*/ 50 w 53"/>
                  <a:gd name="T19" fmla="*/ 0 h 10"/>
                  <a:gd name="T20" fmla="*/ 7 w 53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3"/>
                  <a:gd name="T34" fmla="*/ 0 h 10"/>
                  <a:gd name="T35" fmla="*/ 53 w 53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3" h="10">
                    <a:moveTo>
                      <a:pt x="7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4" y="10"/>
                    </a:lnTo>
                    <a:lnTo>
                      <a:pt x="46" y="10"/>
                    </a:lnTo>
                    <a:lnTo>
                      <a:pt x="50" y="10"/>
                    </a:lnTo>
                    <a:lnTo>
                      <a:pt x="53" y="7"/>
                    </a:lnTo>
                    <a:lnTo>
                      <a:pt x="53" y="3"/>
                    </a:lnTo>
                    <a:lnTo>
                      <a:pt x="50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19" name="Freeform 59"/>
              <p:cNvSpPr/>
              <p:nvPr/>
            </p:nvSpPr>
            <p:spPr bwMode="auto">
              <a:xfrm>
                <a:off x="1391" y="2320"/>
                <a:ext cx="58" cy="10"/>
              </a:xfrm>
              <a:custGeom>
                <a:avLst/>
                <a:gdLst>
                  <a:gd name="T0" fmla="*/ 8 w 58"/>
                  <a:gd name="T1" fmla="*/ 0 h 10"/>
                  <a:gd name="T2" fmla="*/ 4 w 58"/>
                  <a:gd name="T3" fmla="*/ 0 h 10"/>
                  <a:gd name="T4" fmla="*/ 0 w 58"/>
                  <a:gd name="T5" fmla="*/ 3 h 10"/>
                  <a:gd name="T6" fmla="*/ 0 w 58"/>
                  <a:gd name="T7" fmla="*/ 7 h 10"/>
                  <a:gd name="T8" fmla="*/ 4 w 58"/>
                  <a:gd name="T9" fmla="*/ 10 h 10"/>
                  <a:gd name="T10" fmla="*/ 50 w 58"/>
                  <a:gd name="T11" fmla="*/ 10 h 10"/>
                  <a:gd name="T12" fmla="*/ 54 w 58"/>
                  <a:gd name="T13" fmla="*/ 10 h 10"/>
                  <a:gd name="T14" fmla="*/ 58 w 58"/>
                  <a:gd name="T15" fmla="*/ 7 h 10"/>
                  <a:gd name="T16" fmla="*/ 58 w 58"/>
                  <a:gd name="T17" fmla="*/ 3 h 10"/>
                  <a:gd name="T18" fmla="*/ 54 w 58"/>
                  <a:gd name="T19" fmla="*/ 0 h 10"/>
                  <a:gd name="T20" fmla="*/ 8 w 58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8"/>
                  <a:gd name="T34" fmla="*/ 0 h 10"/>
                  <a:gd name="T35" fmla="*/ 58 w 58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8" h="10">
                    <a:moveTo>
                      <a:pt x="8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4" y="10"/>
                    </a:lnTo>
                    <a:lnTo>
                      <a:pt x="50" y="10"/>
                    </a:lnTo>
                    <a:lnTo>
                      <a:pt x="54" y="10"/>
                    </a:lnTo>
                    <a:lnTo>
                      <a:pt x="58" y="7"/>
                    </a:lnTo>
                    <a:lnTo>
                      <a:pt x="58" y="3"/>
                    </a:lnTo>
                    <a:lnTo>
                      <a:pt x="54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20" name="Freeform 60"/>
              <p:cNvSpPr/>
              <p:nvPr/>
            </p:nvSpPr>
            <p:spPr bwMode="auto">
              <a:xfrm>
                <a:off x="1472" y="2320"/>
                <a:ext cx="58" cy="10"/>
              </a:xfrm>
              <a:custGeom>
                <a:avLst/>
                <a:gdLst>
                  <a:gd name="T0" fmla="*/ 8 w 58"/>
                  <a:gd name="T1" fmla="*/ 0 h 10"/>
                  <a:gd name="T2" fmla="*/ 4 w 58"/>
                  <a:gd name="T3" fmla="*/ 0 h 10"/>
                  <a:gd name="T4" fmla="*/ 0 w 58"/>
                  <a:gd name="T5" fmla="*/ 3 h 10"/>
                  <a:gd name="T6" fmla="*/ 0 w 58"/>
                  <a:gd name="T7" fmla="*/ 7 h 10"/>
                  <a:gd name="T8" fmla="*/ 4 w 58"/>
                  <a:gd name="T9" fmla="*/ 10 h 10"/>
                  <a:gd name="T10" fmla="*/ 50 w 58"/>
                  <a:gd name="T11" fmla="*/ 10 h 10"/>
                  <a:gd name="T12" fmla="*/ 54 w 58"/>
                  <a:gd name="T13" fmla="*/ 10 h 10"/>
                  <a:gd name="T14" fmla="*/ 58 w 58"/>
                  <a:gd name="T15" fmla="*/ 7 h 10"/>
                  <a:gd name="T16" fmla="*/ 58 w 58"/>
                  <a:gd name="T17" fmla="*/ 3 h 10"/>
                  <a:gd name="T18" fmla="*/ 54 w 58"/>
                  <a:gd name="T19" fmla="*/ 0 h 10"/>
                  <a:gd name="T20" fmla="*/ 8 w 58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8"/>
                  <a:gd name="T34" fmla="*/ 0 h 10"/>
                  <a:gd name="T35" fmla="*/ 58 w 58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8" h="10">
                    <a:moveTo>
                      <a:pt x="8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4" y="10"/>
                    </a:lnTo>
                    <a:lnTo>
                      <a:pt x="50" y="10"/>
                    </a:lnTo>
                    <a:lnTo>
                      <a:pt x="54" y="10"/>
                    </a:lnTo>
                    <a:lnTo>
                      <a:pt x="58" y="7"/>
                    </a:lnTo>
                    <a:lnTo>
                      <a:pt x="58" y="3"/>
                    </a:lnTo>
                    <a:lnTo>
                      <a:pt x="54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21" name="Freeform 61"/>
              <p:cNvSpPr/>
              <p:nvPr/>
            </p:nvSpPr>
            <p:spPr bwMode="auto">
              <a:xfrm>
                <a:off x="1553" y="2320"/>
                <a:ext cx="57" cy="10"/>
              </a:xfrm>
              <a:custGeom>
                <a:avLst/>
                <a:gdLst>
                  <a:gd name="T0" fmla="*/ 7 w 57"/>
                  <a:gd name="T1" fmla="*/ 0 h 10"/>
                  <a:gd name="T2" fmla="*/ 3 w 57"/>
                  <a:gd name="T3" fmla="*/ 0 h 10"/>
                  <a:gd name="T4" fmla="*/ 0 w 57"/>
                  <a:gd name="T5" fmla="*/ 3 h 10"/>
                  <a:gd name="T6" fmla="*/ 0 w 57"/>
                  <a:gd name="T7" fmla="*/ 7 h 10"/>
                  <a:gd name="T8" fmla="*/ 3 w 57"/>
                  <a:gd name="T9" fmla="*/ 10 h 10"/>
                  <a:gd name="T10" fmla="*/ 49 w 57"/>
                  <a:gd name="T11" fmla="*/ 10 h 10"/>
                  <a:gd name="T12" fmla="*/ 53 w 57"/>
                  <a:gd name="T13" fmla="*/ 10 h 10"/>
                  <a:gd name="T14" fmla="*/ 57 w 57"/>
                  <a:gd name="T15" fmla="*/ 7 h 10"/>
                  <a:gd name="T16" fmla="*/ 57 w 57"/>
                  <a:gd name="T17" fmla="*/ 3 h 10"/>
                  <a:gd name="T18" fmla="*/ 53 w 57"/>
                  <a:gd name="T19" fmla="*/ 0 h 10"/>
                  <a:gd name="T20" fmla="*/ 7 w 57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7"/>
                  <a:gd name="T34" fmla="*/ 0 h 10"/>
                  <a:gd name="T35" fmla="*/ 57 w 5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7" h="10">
                    <a:moveTo>
                      <a:pt x="7" y="0"/>
                    </a:moveTo>
                    <a:lnTo>
                      <a:pt x="3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3" y="10"/>
                    </a:lnTo>
                    <a:lnTo>
                      <a:pt x="49" y="10"/>
                    </a:lnTo>
                    <a:lnTo>
                      <a:pt x="53" y="10"/>
                    </a:lnTo>
                    <a:lnTo>
                      <a:pt x="57" y="7"/>
                    </a:lnTo>
                    <a:lnTo>
                      <a:pt x="57" y="3"/>
                    </a:lnTo>
                    <a:lnTo>
                      <a:pt x="53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22" name="Freeform 62"/>
              <p:cNvSpPr/>
              <p:nvPr/>
            </p:nvSpPr>
            <p:spPr bwMode="auto">
              <a:xfrm>
                <a:off x="1633" y="2320"/>
                <a:ext cx="58" cy="10"/>
              </a:xfrm>
              <a:custGeom>
                <a:avLst/>
                <a:gdLst>
                  <a:gd name="T0" fmla="*/ 8 w 58"/>
                  <a:gd name="T1" fmla="*/ 0 h 10"/>
                  <a:gd name="T2" fmla="*/ 4 w 58"/>
                  <a:gd name="T3" fmla="*/ 0 h 10"/>
                  <a:gd name="T4" fmla="*/ 0 w 58"/>
                  <a:gd name="T5" fmla="*/ 3 h 10"/>
                  <a:gd name="T6" fmla="*/ 0 w 58"/>
                  <a:gd name="T7" fmla="*/ 7 h 10"/>
                  <a:gd name="T8" fmla="*/ 4 w 58"/>
                  <a:gd name="T9" fmla="*/ 10 h 10"/>
                  <a:gd name="T10" fmla="*/ 50 w 58"/>
                  <a:gd name="T11" fmla="*/ 10 h 10"/>
                  <a:gd name="T12" fmla="*/ 54 w 58"/>
                  <a:gd name="T13" fmla="*/ 10 h 10"/>
                  <a:gd name="T14" fmla="*/ 58 w 58"/>
                  <a:gd name="T15" fmla="*/ 7 h 10"/>
                  <a:gd name="T16" fmla="*/ 58 w 58"/>
                  <a:gd name="T17" fmla="*/ 3 h 10"/>
                  <a:gd name="T18" fmla="*/ 54 w 58"/>
                  <a:gd name="T19" fmla="*/ 0 h 10"/>
                  <a:gd name="T20" fmla="*/ 8 w 58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8"/>
                  <a:gd name="T34" fmla="*/ 0 h 10"/>
                  <a:gd name="T35" fmla="*/ 58 w 58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8" h="10">
                    <a:moveTo>
                      <a:pt x="8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4" y="10"/>
                    </a:lnTo>
                    <a:lnTo>
                      <a:pt x="50" y="10"/>
                    </a:lnTo>
                    <a:lnTo>
                      <a:pt x="54" y="10"/>
                    </a:lnTo>
                    <a:lnTo>
                      <a:pt x="58" y="7"/>
                    </a:lnTo>
                    <a:lnTo>
                      <a:pt x="58" y="3"/>
                    </a:lnTo>
                    <a:lnTo>
                      <a:pt x="54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23" name="Freeform 63"/>
              <p:cNvSpPr/>
              <p:nvPr/>
            </p:nvSpPr>
            <p:spPr bwMode="auto">
              <a:xfrm>
                <a:off x="1714" y="2320"/>
                <a:ext cx="57" cy="10"/>
              </a:xfrm>
              <a:custGeom>
                <a:avLst/>
                <a:gdLst>
                  <a:gd name="T0" fmla="*/ 7 w 57"/>
                  <a:gd name="T1" fmla="*/ 0 h 10"/>
                  <a:gd name="T2" fmla="*/ 4 w 57"/>
                  <a:gd name="T3" fmla="*/ 0 h 10"/>
                  <a:gd name="T4" fmla="*/ 0 w 57"/>
                  <a:gd name="T5" fmla="*/ 3 h 10"/>
                  <a:gd name="T6" fmla="*/ 0 w 57"/>
                  <a:gd name="T7" fmla="*/ 7 h 10"/>
                  <a:gd name="T8" fmla="*/ 4 w 57"/>
                  <a:gd name="T9" fmla="*/ 10 h 10"/>
                  <a:gd name="T10" fmla="*/ 50 w 57"/>
                  <a:gd name="T11" fmla="*/ 10 h 10"/>
                  <a:gd name="T12" fmla="*/ 53 w 57"/>
                  <a:gd name="T13" fmla="*/ 10 h 10"/>
                  <a:gd name="T14" fmla="*/ 57 w 57"/>
                  <a:gd name="T15" fmla="*/ 7 h 10"/>
                  <a:gd name="T16" fmla="*/ 57 w 57"/>
                  <a:gd name="T17" fmla="*/ 3 h 10"/>
                  <a:gd name="T18" fmla="*/ 53 w 57"/>
                  <a:gd name="T19" fmla="*/ 0 h 10"/>
                  <a:gd name="T20" fmla="*/ 7 w 57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7"/>
                  <a:gd name="T34" fmla="*/ 0 h 10"/>
                  <a:gd name="T35" fmla="*/ 57 w 5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7" h="10">
                    <a:moveTo>
                      <a:pt x="7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4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7" y="7"/>
                    </a:lnTo>
                    <a:lnTo>
                      <a:pt x="57" y="3"/>
                    </a:lnTo>
                    <a:lnTo>
                      <a:pt x="53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24" name="Freeform 64"/>
              <p:cNvSpPr/>
              <p:nvPr/>
            </p:nvSpPr>
            <p:spPr bwMode="auto">
              <a:xfrm>
                <a:off x="1794" y="2320"/>
                <a:ext cx="58" cy="10"/>
              </a:xfrm>
              <a:custGeom>
                <a:avLst/>
                <a:gdLst>
                  <a:gd name="T0" fmla="*/ 8 w 58"/>
                  <a:gd name="T1" fmla="*/ 0 h 10"/>
                  <a:gd name="T2" fmla="*/ 4 w 58"/>
                  <a:gd name="T3" fmla="*/ 0 h 10"/>
                  <a:gd name="T4" fmla="*/ 0 w 58"/>
                  <a:gd name="T5" fmla="*/ 3 h 10"/>
                  <a:gd name="T6" fmla="*/ 0 w 58"/>
                  <a:gd name="T7" fmla="*/ 7 h 10"/>
                  <a:gd name="T8" fmla="*/ 4 w 58"/>
                  <a:gd name="T9" fmla="*/ 10 h 10"/>
                  <a:gd name="T10" fmla="*/ 50 w 58"/>
                  <a:gd name="T11" fmla="*/ 10 h 10"/>
                  <a:gd name="T12" fmla="*/ 54 w 58"/>
                  <a:gd name="T13" fmla="*/ 10 h 10"/>
                  <a:gd name="T14" fmla="*/ 58 w 58"/>
                  <a:gd name="T15" fmla="*/ 7 h 10"/>
                  <a:gd name="T16" fmla="*/ 58 w 58"/>
                  <a:gd name="T17" fmla="*/ 3 h 10"/>
                  <a:gd name="T18" fmla="*/ 54 w 58"/>
                  <a:gd name="T19" fmla="*/ 0 h 10"/>
                  <a:gd name="T20" fmla="*/ 8 w 58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8"/>
                  <a:gd name="T34" fmla="*/ 0 h 10"/>
                  <a:gd name="T35" fmla="*/ 58 w 58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8" h="10">
                    <a:moveTo>
                      <a:pt x="8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4" y="10"/>
                    </a:lnTo>
                    <a:lnTo>
                      <a:pt x="50" y="10"/>
                    </a:lnTo>
                    <a:lnTo>
                      <a:pt x="54" y="10"/>
                    </a:lnTo>
                    <a:lnTo>
                      <a:pt x="58" y="7"/>
                    </a:lnTo>
                    <a:lnTo>
                      <a:pt x="58" y="3"/>
                    </a:lnTo>
                    <a:lnTo>
                      <a:pt x="54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25" name="Freeform 65"/>
              <p:cNvSpPr/>
              <p:nvPr/>
            </p:nvSpPr>
            <p:spPr bwMode="auto">
              <a:xfrm>
                <a:off x="1875" y="2320"/>
                <a:ext cx="57" cy="10"/>
              </a:xfrm>
              <a:custGeom>
                <a:avLst/>
                <a:gdLst>
                  <a:gd name="T0" fmla="*/ 7 w 57"/>
                  <a:gd name="T1" fmla="*/ 0 h 10"/>
                  <a:gd name="T2" fmla="*/ 4 w 57"/>
                  <a:gd name="T3" fmla="*/ 0 h 10"/>
                  <a:gd name="T4" fmla="*/ 0 w 57"/>
                  <a:gd name="T5" fmla="*/ 3 h 10"/>
                  <a:gd name="T6" fmla="*/ 0 w 57"/>
                  <a:gd name="T7" fmla="*/ 7 h 10"/>
                  <a:gd name="T8" fmla="*/ 4 w 57"/>
                  <a:gd name="T9" fmla="*/ 10 h 10"/>
                  <a:gd name="T10" fmla="*/ 50 w 57"/>
                  <a:gd name="T11" fmla="*/ 10 h 10"/>
                  <a:gd name="T12" fmla="*/ 54 w 57"/>
                  <a:gd name="T13" fmla="*/ 10 h 10"/>
                  <a:gd name="T14" fmla="*/ 57 w 57"/>
                  <a:gd name="T15" fmla="*/ 7 h 10"/>
                  <a:gd name="T16" fmla="*/ 57 w 57"/>
                  <a:gd name="T17" fmla="*/ 3 h 10"/>
                  <a:gd name="T18" fmla="*/ 54 w 57"/>
                  <a:gd name="T19" fmla="*/ 0 h 10"/>
                  <a:gd name="T20" fmla="*/ 7 w 57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7"/>
                  <a:gd name="T34" fmla="*/ 0 h 10"/>
                  <a:gd name="T35" fmla="*/ 57 w 5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7" h="10">
                    <a:moveTo>
                      <a:pt x="7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4" y="10"/>
                    </a:lnTo>
                    <a:lnTo>
                      <a:pt x="50" y="10"/>
                    </a:lnTo>
                    <a:lnTo>
                      <a:pt x="54" y="10"/>
                    </a:lnTo>
                    <a:lnTo>
                      <a:pt x="57" y="7"/>
                    </a:lnTo>
                    <a:lnTo>
                      <a:pt x="57" y="3"/>
                    </a:lnTo>
                    <a:lnTo>
                      <a:pt x="5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26" name="Freeform 66"/>
              <p:cNvSpPr/>
              <p:nvPr/>
            </p:nvSpPr>
            <p:spPr bwMode="auto">
              <a:xfrm>
                <a:off x="1955" y="2320"/>
                <a:ext cx="58" cy="10"/>
              </a:xfrm>
              <a:custGeom>
                <a:avLst/>
                <a:gdLst>
                  <a:gd name="T0" fmla="*/ 8 w 58"/>
                  <a:gd name="T1" fmla="*/ 0 h 10"/>
                  <a:gd name="T2" fmla="*/ 4 w 58"/>
                  <a:gd name="T3" fmla="*/ 0 h 10"/>
                  <a:gd name="T4" fmla="*/ 0 w 58"/>
                  <a:gd name="T5" fmla="*/ 3 h 10"/>
                  <a:gd name="T6" fmla="*/ 0 w 58"/>
                  <a:gd name="T7" fmla="*/ 7 h 10"/>
                  <a:gd name="T8" fmla="*/ 4 w 58"/>
                  <a:gd name="T9" fmla="*/ 10 h 10"/>
                  <a:gd name="T10" fmla="*/ 50 w 58"/>
                  <a:gd name="T11" fmla="*/ 10 h 10"/>
                  <a:gd name="T12" fmla="*/ 54 w 58"/>
                  <a:gd name="T13" fmla="*/ 10 h 10"/>
                  <a:gd name="T14" fmla="*/ 58 w 58"/>
                  <a:gd name="T15" fmla="*/ 7 h 10"/>
                  <a:gd name="T16" fmla="*/ 58 w 58"/>
                  <a:gd name="T17" fmla="*/ 3 h 10"/>
                  <a:gd name="T18" fmla="*/ 54 w 58"/>
                  <a:gd name="T19" fmla="*/ 0 h 10"/>
                  <a:gd name="T20" fmla="*/ 8 w 58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8"/>
                  <a:gd name="T34" fmla="*/ 0 h 10"/>
                  <a:gd name="T35" fmla="*/ 58 w 58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8" h="10">
                    <a:moveTo>
                      <a:pt x="8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4" y="10"/>
                    </a:lnTo>
                    <a:lnTo>
                      <a:pt x="50" y="10"/>
                    </a:lnTo>
                    <a:lnTo>
                      <a:pt x="54" y="10"/>
                    </a:lnTo>
                    <a:lnTo>
                      <a:pt x="58" y="7"/>
                    </a:lnTo>
                    <a:lnTo>
                      <a:pt x="58" y="3"/>
                    </a:lnTo>
                    <a:lnTo>
                      <a:pt x="54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27" name="Freeform 67"/>
              <p:cNvSpPr/>
              <p:nvPr/>
            </p:nvSpPr>
            <p:spPr bwMode="auto">
              <a:xfrm>
                <a:off x="2036" y="2320"/>
                <a:ext cx="57" cy="10"/>
              </a:xfrm>
              <a:custGeom>
                <a:avLst/>
                <a:gdLst>
                  <a:gd name="T0" fmla="*/ 8 w 57"/>
                  <a:gd name="T1" fmla="*/ 0 h 10"/>
                  <a:gd name="T2" fmla="*/ 4 w 57"/>
                  <a:gd name="T3" fmla="*/ 0 h 10"/>
                  <a:gd name="T4" fmla="*/ 0 w 57"/>
                  <a:gd name="T5" fmla="*/ 3 h 10"/>
                  <a:gd name="T6" fmla="*/ 0 w 57"/>
                  <a:gd name="T7" fmla="*/ 7 h 10"/>
                  <a:gd name="T8" fmla="*/ 4 w 57"/>
                  <a:gd name="T9" fmla="*/ 10 h 10"/>
                  <a:gd name="T10" fmla="*/ 50 w 57"/>
                  <a:gd name="T11" fmla="*/ 10 h 10"/>
                  <a:gd name="T12" fmla="*/ 54 w 57"/>
                  <a:gd name="T13" fmla="*/ 10 h 10"/>
                  <a:gd name="T14" fmla="*/ 57 w 57"/>
                  <a:gd name="T15" fmla="*/ 7 h 10"/>
                  <a:gd name="T16" fmla="*/ 57 w 57"/>
                  <a:gd name="T17" fmla="*/ 3 h 10"/>
                  <a:gd name="T18" fmla="*/ 54 w 57"/>
                  <a:gd name="T19" fmla="*/ 0 h 10"/>
                  <a:gd name="T20" fmla="*/ 8 w 57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7"/>
                  <a:gd name="T34" fmla="*/ 0 h 10"/>
                  <a:gd name="T35" fmla="*/ 57 w 5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7" h="10">
                    <a:moveTo>
                      <a:pt x="8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4" y="10"/>
                    </a:lnTo>
                    <a:lnTo>
                      <a:pt x="50" y="10"/>
                    </a:lnTo>
                    <a:lnTo>
                      <a:pt x="54" y="10"/>
                    </a:lnTo>
                    <a:lnTo>
                      <a:pt x="57" y="7"/>
                    </a:lnTo>
                    <a:lnTo>
                      <a:pt x="57" y="3"/>
                    </a:lnTo>
                    <a:lnTo>
                      <a:pt x="54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28" name="Freeform 68"/>
              <p:cNvSpPr/>
              <p:nvPr/>
            </p:nvSpPr>
            <p:spPr bwMode="auto">
              <a:xfrm>
                <a:off x="2117" y="2320"/>
                <a:ext cx="46" cy="10"/>
              </a:xfrm>
              <a:custGeom>
                <a:avLst/>
                <a:gdLst>
                  <a:gd name="T0" fmla="*/ 7 w 46"/>
                  <a:gd name="T1" fmla="*/ 0 h 10"/>
                  <a:gd name="T2" fmla="*/ 3 w 46"/>
                  <a:gd name="T3" fmla="*/ 0 h 10"/>
                  <a:gd name="T4" fmla="*/ 0 w 46"/>
                  <a:gd name="T5" fmla="*/ 3 h 10"/>
                  <a:gd name="T6" fmla="*/ 0 w 46"/>
                  <a:gd name="T7" fmla="*/ 7 h 10"/>
                  <a:gd name="T8" fmla="*/ 3 w 46"/>
                  <a:gd name="T9" fmla="*/ 10 h 10"/>
                  <a:gd name="T10" fmla="*/ 42 w 46"/>
                  <a:gd name="T11" fmla="*/ 10 h 10"/>
                  <a:gd name="T12" fmla="*/ 42 w 46"/>
                  <a:gd name="T13" fmla="*/ 7 h 10"/>
                  <a:gd name="T14" fmla="*/ 46 w 46"/>
                  <a:gd name="T15" fmla="*/ 3 h 10"/>
                  <a:gd name="T16" fmla="*/ 46 w 46"/>
                  <a:gd name="T17" fmla="*/ 3 h 10"/>
                  <a:gd name="T18" fmla="*/ 46 w 46"/>
                  <a:gd name="T19" fmla="*/ 0 h 10"/>
                  <a:gd name="T20" fmla="*/ 7 w 46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6"/>
                  <a:gd name="T34" fmla="*/ 0 h 10"/>
                  <a:gd name="T35" fmla="*/ 46 w 4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6" h="10">
                    <a:moveTo>
                      <a:pt x="7" y="0"/>
                    </a:moveTo>
                    <a:lnTo>
                      <a:pt x="3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3" y="10"/>
                    </a:lnTo>
                    <a:lnTo>
                      <a:pt x="42" y="10"/>
                    </a:lnTo>
                    <a:lnTo>
                      <a:pt x="42" y="7"/>
                    </a:lnTo>
                    <a:lnTo>
                      <a:pt x="46" y="3"/>
                    </a:lnTo>
                    <a:lnTo>
                      <a:pt x="46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06879" name="Line 69"/>
            <p:cNvSpPr>
              <a:spLocks noChangeShapeType="1"/>
            </p:cNvSpPr>
            <p:nvPr/>
          </p:nvSpPr>
          <p:spPr bwMode="auto">
            <a:xfrm>
              <a:off x="1391" y="2251"/>
              <a:ext cx="695" cy="1"/>
            </a:xfrm>
            <a:prstGeom prst="line">
              <a:avLst/>
            </a:prstGeom>
            <a:noFill/>
            <a:ln w="23813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06880" name="Group 70"/>
            <p:cNvGrpSpPr/>
            <p:nvPr/>
          </p:nvGrpSpPr>
          <p:grpSpPr bwMode="auto">
            <a:xfrm>
              <a:off x="1602" y="2924"/>
              <a:ext cx="273" cy="69"/>
              <a:chOff x="1602" y="3068"/>
              <a:chExt cx="273" cy="69"/>
            </a:xfrm>
          </p:grpSpPr>
          <p:sp>
            <p:nvSpPr>
              <p:cNvPr id="207013" name="Freeform 71"/>
              <p:cNvSpPr/>
              <p:nvPr/>
            </p:nvSpPr>
            <p:spPr bwMode="auto">
              <a:xfrm>
                <a:off x="1821" y="3101"/>
                <a:ext cx="54" cy="10"/>
              </a:xfrm>
              <a:custGeom>
                <a:avLst/>
                <a:gdLst>
                  <a:gd name="T0" fmla="*/ 54 w 54"/>
                  <a:gd name="T1" fmla="*/ 10 h 10"/>
                  <a:gd name="T2" fmla="*/ 54 w 54"/>
                  <a:gd name="T3" fmla="*/ 3 h 10"/>
                  <a:gd name="T4" fmla="*/ 54 w 54"/>
                  <a:gd name="T5" fmla="*/ 3 h 10"/>
                  <a:gd name="T6" fmla="*/ 50 w 54"/>
                  <a:gd name="T7" fmla="*/ 0 h 10"/>
                  <a:gd name="T8" fmla="*/ 50 w 54"/>
                  <a:gd name="T9" fmla="*/ 0 h 10"/>
                  <a:gd name="T10" fmla="*/ 4 w 54"/>
                  <a:gd name="T11" fmla="*/ 0 h 10"/>
                  <a:gd name="T12" fmla="*/ 0 w 54"/>
                  <a:gd name="T13" fmla="*/ 3 h 10"/>
                  <a:gd name="T14" fmla="*/ 0 w 54"/>
                  <a:gd name="T15" fmla="*/ 3 h 10"/>
                  <a:gd name="T16" fmla="*/ 4 w 54"/>
                  <a:gd name="T17" fmla="*/ 7 h 10"/>
                  <a:gd name="T18" fmla="*/ 8 w 54"/>
                  <a:gd name="T19" fmla="*/ 10 h 10"/>
                  <a:gd name="T20" fmla="*/ 54 w 54"/>
                  <a:gd name="T21" fmla="*/ 1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4"/>
                  <a:gd name="T34" fmla="*/ 0 h 10"/>
                  <a:gd name="T35" fmla="*/ 54 w 54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4" h="10">
                    <a:moveTo>
                      <a:pt x="54" y="10"/>
                    </a:moveTo>
                    <a:lnTo>
                      <a:pt x="54" y="3"/>
                    </a:lnTo>
                    <a:lnTo>
                      <a:pt x="50" y="0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4" y="7"/>
                    </a:lnTo>
                    <a:lnTo>
                      <a:pt x="8" y="10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chemeClr val="folHlink"/>
              </a:solidFill>
              <a:ln w="9525">
                <a:solidFill>
                  <a:schemeClr val="folHlink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14" name="Freeform 72"/>
              <p:cNvSpPr/>
              <p:nvPr/>
            </p:nvSpPr>
            <p:spPr bwMode="auto">
              <a:xfrm>
                <a:off x="1741" y="3101"/>
                <a:ext cx="53" cy="10"/>
              </a:xfrm>
              <a:custGeom>
                <a:avLst/>
                <a:gdLst>
                  <a:gd name="T0" fmla="*/ 53 w 53"/>
                  <a:gd name="T1" fmla="*/ 10 h 10"/>
                  <a:gd name="T2" fmla="*/ 53 w 53"/>
                  <a:gd name="T3" fmla="*/ 3 h 10"/>
                  <a:gd name="T4" fmla="*/ 53 w 53"/>
                  <a:gd name="T5" fmla="*/ 3 h 10"/>
                  <a:gd name="T6" fmla="*/ 49 w 53"/>
                  <a:gd name="T7" fmla="*/ 0 h 10"/>
                  <a:gd name="T8" fmla="*/ 49 w 53"/>
                  <a:gd name="T9" fmla="*/ 0 h 10"/>
                  <a:gd name="T10" fmla="*/ 3 w 53"/>
                  <a:gd name="T11" fmla="*/ 0 h 10"/>
                  <a:gd name="T12" fmla="*/ 0 w 53"/>
                  <a:gd name="T13" fmla="*/ 3 h 10"/>
                  <a:gd name="T14" fmla="*/ 0 w 53"/>
                  <a:gd name="T15" fmla="*/ 3 h 10"/>
                  <a:gd name="T16" fmla="*/ 3 w 53"/>
                  <a:gd name="T17" fmla="*/ 7 h 10"/>
                  <a:gd name="T18" fmla="*/ 7 w 53"/>
                  <a:gd name="T19" fmla="*/ 10 h 10"/>
                  <a:gd name="T20" fmla="*/ 53 w 53"/>
                  <a:gd name="T21" fmla="*/ 1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3"/>
                  <a:gd name="T34" fmla="*/ 0 h 10"/>
                  <a:gd name="T35" fmla="*/ 53 w 53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3" h="10">
                    <a:moveTo>
                      <a:pt x="53" y="10"/>
                    </a:moveTo>
                    <a:lnTo>
                      <a:pt x="53" y="3"/>
                    </a:lnTo>
                    <a:lnTo>
                      <a:pt x="49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7"/>
                    </a:lnTo>
                    <a:lnTo>
                      <a:pt x="7" y="10"/>
                    </a:lnTo>
                    <a:lnTo>
                      <a:pt x="53" y="10"/>
                    </a:lnTo>
                    <a:close/>
                  </a:path>
                </a:pathLst>
              </a:custGeom>
              <a:solidFill>
                <a:schemeClr val="folHlink"/>
              </a:solidFill>
              <a:ln w="9525">
                <a:solidFill>
                  <a:schemeClr val="folHlink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15" name="Freeform 73"/>
              <p:cNvSpPr/>
              <p:nvPr/>
            </p:nvSpPr>
            <p:spPr bwMode="auto">
              <a:xfrm>
                <a:off x="1660" y="3101"/>
                <a:ext cx="54" cy="10"/>
              </a:xfrm>
              <a:custGeom>
                <a:avLst/>
                <a:gdLst>
                  <a:gd name="T0" fmla="*/ 54 w 54"/>
                  <a:gd name="T1" fmla="*/ 10 h 10"/>
                  <a:gd name="T2" fmla="*/ 54 w 54"/>
                  <a:gd name="T3" fmla="*/ 3 h 10"/>
                  <a:gd name="T4" fmla="*/ 54 w 54"/>
                  <a:gd name="T5" fmla="*/ 3 h 10"/>
                  <a:gd name="T6" fmla="*/ 50 w 54"/>
                  <a:gd name="T7" fmla="*/ 0 h 10"/>
                  <a:gd name="T8" fmla="*/ 50 w 54"/>
                  <a:gd name="T9" fmla="*/ 0 h 10"/>
                  <a:gd name="T10" fmla="*/ 4 w 54"/>
                  <a:gd name="T11" fmla="*/ 0 h 10"/>
                  <a:gd name="T12" fmla="*/ 0 w 54"/>
                  <a:gd name="T13" fmla="*/ 3 h 10"/>
                  <a:gd name="T14" fmla="*/ 0 w 54"/>
                  <a:gd name="T15" fmla="*/ 3 h 10"/>
                  <a:gd name="T16" fmla="*/ 4 w 54"/>
                  <a:gd name="T17" fmla="*/ 7 h 10"/>
                  <a:gd name="T18" fmla="*/ 8 w 54"/>
                  <a:gd name="T19" fmla="*/ 10 h 10"/>
                  <a:gd name="T20" fmla="*/ 54 w 54"/>
                  <a:gd name="T21" fmla="*/ 1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4"/>
                  <a:gd name="T34" fmla="*/ 0 h 10"/>
                  <a:gd name="T35" fmla="*/ 54 w 54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4" h="10">
                    <a:moveTo>
                      <a:pt x="54" y="10"/>
                    </a:moveTo>
                    <a:lnTo>
                      <a:pt x="54" y="3"/>
                    </a:lnTo>
                    <a:lnTo>
                      <a:pt x="50" y="0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4" y="7"/>
                    </a:lnTo>
                    <a:lnTo>
                      <a:pt x="8" y="10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chemeClr val="folHlink"/>
              </a:solidFill>
              <a:ln w="9525">
                <a:solidFill>
                  <a:schemeClr val="folHlink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16" name="Freeform 74"/>
              <p:cNvSpPr/>
              <p:nvPr/>
            </p:nvSpPr>
            <p:spPr bwMode="auto">
              <a:xfrm>
                <a:off x="1602" y="3101"/>
                <a:ext cx="31" cy="10"/>
              </a:xfrm>
              <a:custGeom>
                <a:avLst/>
                <a:gdLst>
                  <a:gd name="T0" fmla="*/ 31 w 31"/>
                  <a:gd name="T1" fmla="*/ 10 h 10"/>
                  <a:gd name="T2" fmla="*/ 31 w 31"/>
                  <a:gd name="T3" fmla="*/ 3 h 10"/>
                  <a:gd name="T4" fmla="*/ 31 w 31"/>
                  <a:gd name="T5" fmla="*/ 3 h 10"/>
                  <a:gd name="T6" fmla="*/ 27 w 31"/>
                  <a:gd name="T7" fmla="*/ 0 h 10"/>
                  <a:gd name="T8" fmla="*/ 27 w 31"/>
                  <a:gd name="T9" fmla="*/ 0 h 10"/>
                  <a:gd name="T10" fmla="*/ 4 w 31"/>
                  <a:gd name="T11" fmla="*/ 0 h 10"/>
                  <a:gd name="T12" fmla="*/ 0 w 31"/>
                  <a:gd name="T13" fmla="*/ 3 h 10"/>
                  <a:gd name="T14" fmla="*/ 0 w 31"/>
                  <a:gd name="T15" fmla="*/ 3 h 10"/>
                  <a:gd name="T16" fmla="*/ 4 w 31"/>
                  <a:gd name="T17" fmla="*/ 7 h 10"/>
                  <a:gd name="T18" fmla="*/ 8 w 31"/>
                  <a:gd name="T19" fmla="*/ 10 h 10"/>
                  <a:gd name="T20" fmla="*/ 31 w 31"/>
                  <a:gd name="T21" fmla="*/ 1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1"/>
                  <a:gd name="T34" fmla="*/ 0 h 10"/>
                  <a:gd name="T35" fmla="*/ 31 w 31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1" h="10">
                    <a:moveTo>
                      <a:pt x="31" y="10"/>
                    </a:moveTo>
                    <a:lnTo>
                      <a:pt x="31" y="3"/>
                    </a:lnTo>
                    <a:lnTo>
                      <a:pt x="27" y="0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4" y="7"/>
                    </a:lnTo>
                    <a:lnTo>
                      <a:pt x="8" y="10"/>
                    </a:lnTo>
                    <a:lnTo>
                      <a:pt x="31" y="10"/>
                    </a:lnTo>
                    <a:close/>
                  </a:path>
                </a:pathLst>
              </a:custGeom>
              <a:solidFill>
                <a:schemeClr val="folHlink"/>
              </a:solidFill>
              <a:ln w="9525">
                <a:solidFill>
                  <a:schemeClr val="folHlink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17" name="Freeform 75"/>
              <p:cNvSpPr/>
              <p:nvPr/>
            </p:nvSpPr>
            <p:spPr bwMode="auto">
              <a:xfrm>
                <a:off x="1606" y="3068"/>
                <a:ext cx="81" cy="69"/>
              </a:xfrm>
              <a:custGeom>
                <a:avLst/>
                <a:gdLst>
                  <a:gd name="T0" fmla="*/ 81 w 81"/>
                  <a:gd name="T1" fmla="*/ 0 h 69"/>
                  <a:gd name="T2" fmla="*/ 0 w 81"/>
                  <a:gd name="T3" fmla="*/ 36 h 69"/>
                  <a:gd name="T4" fmla="*/ 81 w 81"/>
                  <a:gd name="T5" fmla="*/ 69 h 69"/>
                  <a:gd name="T6" fmla="*/ 0 60000 65536"/>
                  <a:gd name="T7" fmla="*/ 0 60000 65536"/>
                  <a:gd name="T8" fmla="*/ 0 60000 65536"/>
                  <a:gd name="T9" fmla="*/ 0 w 81"/>
                  <a:gd name="T10" fmla="*/ 0 h 69"/>
                  <a:gd name="T11" fmla="*/ 81 w 81"/>
                  <a:gd name="T12" fmla="*/ 69 h 6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1" h="69">
                    <a:moveTo>
                      <a:pt x="81" y="0"/>
                    </a:moveTo>
                    <a:lnTo>
                      <a:pt x="0" y="36"/>
                    </a:lnTo>
                    <a:lnTo>
                      <a:pt x="81" y="69"/>
                    </a:lnTo>
                  </a:path>
                </a:pathLst>
              </a:custGeom>
              <a:solidFill>
                <a:schemeClr val="folHlink"/>
              </a:solidFill>
              <a:ln w="19050">
                <a:solidFill>
                  <a:schemeClr val="folHlink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06881" name="Line 76"/>
            <p:cNvSpPr>
              <a:spLocks noChangeShapeType="1"/>
            </p:cNvSpPr>
            <p:nvPr/>
          </p:nvSpPr>
          <p:spPr bwMode="auto">
            <a:xfrm>
              <a:off x="1464" y="2908"/>
              <a:ext cx="1" cy="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882" name="Line 77"/>
            <p:cNvSpPr>
              <a:spLocks noChangeShapeType="1"/>
            </p:cNvSpPr>
            <p:nvPr/>
          </p:nvSpPr>
          <p:spPr bwMode="auto">
            <a:xfrm>
              <a:off x="1990" y="2908"/>
              <a:ext cx="1" cy="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883" name="Oval 78"/>
            <p:cNvSpPr>
              <a:spLocks noChangeArrowheads="1"/>
            </p:cNvSpPr>
            <p:nvPr/>
          </p:nvSpPr>
          <p:spPr bwMode="auto">
            <a:xfrm>
              <a:off x="1510" y="1772"/>
              <a:ext cx="54" cy="43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/>
              </a:solidFill>
              <a:round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6884" name="Freeform 79"/>
            <p:cNvSpPr/>
            <p:nvPr/>
          </p:nvSpPr>
          <p:spPr bwMode="auto">
            <a:xfrm>
              <a:off x="1533" y="1825"/>
              <a:ext cx="50" cy="463"/>
            </a:xfrm>
            <a:custGeom>
              <a:avLst/>
              <a:gdLst>
                <a:gd name="T0" fmla="*/ 0 w 50"/>
                <a:gd name="T1" fmla="*/ 0 h 463"/>
                <a:gd name="T2" fmla="*/ 0 w 50"/>
                <a:gd name="T3" fmla="*/ 443 h 463"/>
                <a:gd name="T4" fmla="*/ 27 w 50"/>
                <a:gd name="T5" fmla="*/ 463 h 463"/>
                <a:gd name="T6" fmla="*/ 50 w 50"/>
                <a:gd name="T7" fmla="*/ 443 h 463"/>
                <a:gd name="T8" fmla="*/ 50 w 50"/>
                <a:gd name="T9" fmla="*/ 426 h 4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463"/>
                <a:gd name="T17" fmla="*/ 50 w 50"/>
                <a:gd name="T18" fmla="*/ 463 h 4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463">
                  <a:moveTo>
                    <a:pt x="0" y="0"/>
                  </a:moveTo>
                  <a:lnTo>
                    <a:pt x="0" y="443"/>
                  </a:lnTo>
                  <a:lnTo>
                    <a:pt x="27" y="463"/>
                  </a:lnTo>
                  <a:lnTo>
                    <a:pt x="50" y="443"/>
                  </a:lnTo>
                  <a:lnTo>
                    <a:pt x="50" y="42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885" name="Freeform 80"/>
            <p:cNvSpPr/>
            <p:nvPr/>
          </p:nvSpPr>
          <p:spPr bwMode="auto">
            <a:xfrm>
              <a:off x="1629" y="2107"/>
              <a:ext cx="123" cy="181"/>
            </a:xfrm>
            <a:custGeom>
              <a:avLst/>
              <a:gdLst>
                <a:gd name="T0" fmla="*/ 0 w 123"/>
                <a:gd name="T1" fmla="*/ 20 h 181"/>
                <a:gd name="T2" fmla="*/ 27 w 123"/>
                <a:gd name="T3" fmla="*/ 0 h 181"/>
                <a:gd name="T4" fmla="*/ 50 w 123"/>
                <a:gd name="T5" fmla="*/ 0 h 181"/>
                <a:gd name="T6" fmla="*/ 73 w 123"/>
                <a:gd name="T7" fmla="*/ 20 h 181"/>
                <a:gd name="T8" fmla="*/ 73 w 123"/>
                <a:gd name="T9" fmla="*/ 36 h 181"/>
                <a:gd name="T10" fmla="*/ 73 w 123"/>
                <a:gd name="T11" fmla="*/ 125 h 181"/>
                <a:gd name="T12" fmla="*/ 73 w 123"/>
                <a:gd name="T13" fmla="*/ 161 h 181"/>
                <a:gd name="T14" fmla="*/ 96 w 123"/>
                <a:gd name="T15" fmla="*/ 181 h 181"/>
                <a:gd name="T16" fmla="*/ 123 w 123"/>
                <a:gd name="T17" fmla="*/ 161 h 181"/>
                <a:gd name="T18" fmla="*/ 123 w 123"/>
                <a:gd name="T19" fmla="*/ 144 h 1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3"/>
                <a:gd name="T31" fmla="*/ 0 h 181"/>
                <a:gd name="T32" fmla="*/ 123 w 123"/>
                <a:gd name="T33" fmla="*/ 181 h 18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3" h="181">
                  <a:moveTo>
                    <a:pt x="0" y="20"/>
                  </a:moveTo>
                  <a:lnTo>
                    <a:pt x="27" y="0"/>
                  </a:lnTo>
                  <a:lnTo>
                    <a:pt x="50" y="0"/>
                  </a:lnTo>
                  <a:lnTo>
                    <a:pt x="73" y="20"/>
                  </a:lnTo>
                  <a:lnTo>
                    <a:pt x="73" y="36"/>
                  </a:lnTo>
                  <a:lnTo>
                    <a:pt x="73" y="125"/>
                  </a:lnTo>
                  <a:lnTo>
                    <a:pt x="73" y="161"/>
                  </a:lnTo>
                  <a:lnTo>
                    <a:pt x="96" y="181"/>
                  </a:lnTo>
                  <a:lnTo>
                    <a:pt x="123" y="161"/>
                  </a:lnTo>
                  <a:lnTo>
                    <a:pt x="123" y="14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886" name="Freeform 81"/>
            <p:cNvSpPr/>
            <p:nvPr/>
          </p:nvSpPr>
          <p:spPr bwMode="auto">
            <a:xfrm>
              <a:off x="1775" y="2107"/>
              <a:ext cx="119" cy="181"/>
            </a:xfrm>
            <a:custGeom>
              <a:avLst/>
              <a:gdLst>
                <a:gd name="T0" fmla="*/ 0 w 119"/>
                <a:gd name="T1" fmla="*/ 20 h 181"/>
                <a:gd name="T2" fmla="*/ 23 w 119"/>
                <a:gd name="T3" fmla="*/ 0 h 181"/>
                <a:gd name="T4" fmla="*/ 46 w 119"/>
                <a:gd name="T5" fmla="*/ 0 h 181"/>
                <a:gd name="T6" fmla="*/ 73 w 119"/>
                <a:gd name="T7" fmla="*/ 20 h 181"/>
                <a:gd name="T8" fmla="*/ 73 w 119"/>
                <a:gd name="T9" fmla="*/ 36 h 181"/>
                <a:gd name="T10" fmla="*/ 73 w 119"/>
                <a:gd name="T11" fmla="*/ 125 h 181"/>
                <a:gd name="T12" fmla="*/ 73 w 119"/>
                <a:gd name="T13" fmla="*/ 161 h 181"/>
                <a:gd name="T14" fmla="*/ 96 w 119"/>
                <a:gd name="T15" fmla="*/ 181 h 181"/>
                <a:gd name="T16" fmla="*/ 119 w 119"/>
                <a:gd name="T17" fmla="*/ 161 h 181"/>
                <a:gd name="T18" fmla="*/ 119 w 119"/>
                <a:gd name="T19" fmla="*/ 144 h 1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9"/>
                <a:gd name="T31" fmla="*/ 0 h 181"/>
                <a:gd name="T32" fmla="*/ 119 w 119"/>
                <a:gd name="T33" fmla="*/ 181 h 18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9" h="181">
                  <a:moveTo>
                    <a:pt x="0" y="20"/>
                  </a:moveTo>
                  <a:lnTo>
                    <a:pt x="23" y="0"/>
                  </a:lnTo>
                  <a:lnTo>
                    <a:pt x="46" y="0"/>
                  </a:lnTo>
                  <a:lnTo>
                    <a:pt x="73" y="20"/>
                  </a:lnTo>
                  <a:lnTo>
                    <a:pt x="73" y="36"/>
                  </a:lnTo>
                  <a:lnTo>
                    <a:pt x="73" y="125"/>
                  </a:lnTo>
                  <a:lnTo>
                    <a:pt x="73" y="161"/>
                  </a:lnTo>
                  <a:lnTo>
                    <a:pt x="96" y="181"/>
                  </a:lnTo>
                  <a:lnTo>
                    <a:pt x="119" y="161"/>
                  </a:lnTo>
                  <a:lnTo>
                    <a:pt x="119" y="14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887" name="Line 82"/>
            <p:cNvSpPr>
              <a:spLocks noChangeShapeType="1"/>
            </p:cNvSpPr>
            <p:nvPr/>
          </p:nvSpPr>
          <p:spPr bwMode="auto">
            <a:xfrm flipV="1">
              <a:off x="1917" y="1805"/>
              <a:ext cx="4" cy="32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888" name="Oval 83"/>
            <p:cNvSpPr>
              <a:spLocks noChangeArrowheads="1"/>
            </p:cNvSpPr>
            <p:nvPr/>
          </p:nvSpPr>
          <p:spPr bwMode="auto">
            <a:xfrm>
              <a:off x="1894" y="1772"/>
              <a:ext cx="54" cy="43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/>
              </a:solidFill>
              <a:round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6889" name="Rectangle 84"/>
            <p:cNvSpPr>
              <a:spLocks noChangeArrowheads="1"/>
            </p:cNvSpPr>
            <p:nvPr/>
          </p:nvSpPr>
          <p:spPr bwMode="auto">
            <a:xfrm>
              <a:off x="1533" y="1584"/>
              <a:ext cx="48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/>
                <a:t>写线圈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06890" name="Rectangle 85"/>
            <p:cNvSpPr>
              <a:spLocks noChangeArrowheads="1"/>
            </p:cNvSpPr>
            <p:nvPr/>
          </p:nvSpPr>
          <p:spPr bwMode="auto">
            <a:xfrm>
              <a:off x="1848" y="2731"/>
              <a:ext cx="196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6891" name="Rectangle 86"/>
            <p:cNvSpPr>
              <a:spLocks noChangeArrowheads="1"/>
            </p:cNvSpPr>
            <p:nvPr/>
          </p:nvSpPr>
          <p:spPr bwMode="auto">
            <a:xfrm>
              <a:off x="1927" y="2736"/>
              <a:ext cx="89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206892" name="Rectangle 87"/>
            <p:cNvSpPr>
              <a:spLocks noChangeArrowheads="1"/>
            </p:cNvSpPr>
            <p:nvPr/>
          </p:nvSpPr>
          <p:spPr bwMode="auto">
            <a:xfrm>
              <a:off x="1441" y="2731"/>
              <a:ext cx="196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6893" name="Rectangle 88"/>
            <p:cNvSpPr>
              <a:spLocks noChangeArrowheads="1"/>
            </p:cNvSpPr>
            <p:nvPr/>
          </p:nvSpPr>
          <p:spPr bwMode="auto">
            <a:xfrm>
              <a:off x="1440" y="2736"/>
              <a:ext cx="116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N</a:t>
              </a:r>
            </a:p>
          </p:txBody>
        </p:sp>
        <p:sp>
          <p:nvSpPr>
            <p:cNvPr id="206894" name="Rectangle 89"/>
            <p:cNvSpPr>
              <a:spLocks noChangeArrowheads="1"/>
            </p:cNvSpPr>
            <p:nvPr/>
          </p:nvSpPr>
          <p:spPr bwMode="auto">
            <a:xfrm>
              <a:off x="1272" y="1841"/>
              <a:ext cx="196" cy="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6895" name="Rectangle 90"/>
            <p:cNvSpPr>
              <a:spLocks noChangeArrowheads="1"/>
            </p:cNvSpPr>
            <p:nvPr/>
          </p:nvSpPr>
          <p:spPr bwMode="auto">
            <a:xfrm>
              <a:off x="1349" y="1890"/>
              <a:ext cx="53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 b="0" i="1">
                  <a:latin typeface="Times New Roman" panose="02020603050405020304" pitchFamily="18" charset="0"/>
                </a:rPr>
                <a:t>I</a:t>
              </a:r>
              <a:endParaRPr lang="en-US" altLang="zh-CN" sz="2000" i="1">
                <a:latin typeface="Times New Roman" panose="02020603050405020304" pitchFamily="18" charset="0"/>
              </a:endParaRPr>
            </a:p>
          </p:txBody>
        </p:sp>
        <p:sp>
          <p:nvSpPr>
            <p:cNvPr id="206896" name="Line 91"/>
            <p:cNvSpPr>
              <a:spLocks noChangeShapeType="1"/>
            </p:cNvSpPr>
            <p:nvPr/>
          </p:nvSpPr>
          <p:spPr bwMode="auto">
            <a:xfrm>
              <a:off x="3333" y="2127"/>
              <a:ext cx="1" cy="495"/>
            </a:xfrm>
            <a:prstGeom prst="line">
              <a:avLst/>
            </a:prstGeom>
            <a:noFill/>
            <a:ln w="23813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897" name="Line 92"/>
            <p:cNvSpPr>
              <a:spLocks noChangeShapeType="1"/>
            </p:cNvSpPr>
            <p:nvPr/>
          </p:nvSpPr>
          <p:spPr bwMode="auto">
            <a:xfrm>
              <a:off x="3333" y="2127"/>
              <a:ext cx="1032" cy="1"/>
            </a:xfrm>
            <a:prstGeom prst="line">
              <a:avLst/>
            </a:prstGeom>
            <a:noFill/>
            <a:ln w="23813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898" name="Rectangle 93"/>
            <p:cNvSpPr>
              <a:spLocks noChangeArrowheads="1"/>
            </p:cNvSpPr>
            <p:nvPr/>
          </p:nvSpPr>
          <p:spPr bwMode="auto">
            <a:xfrm>
              <a:off x="3502" y="3264"/>
              <a:ext cx="96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/>
                <a:t>局部磁化单元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06899" name="Line 94"/>
            <p:cNvSpPr>
              <a:spLocks noChangeShapeType="1"/>
            </p:cNvSpPr>
            <p:nvPr/>
          </p:nvSpPr>
          <p:spPr bwMode="auto">
            <a:xfrm>
              <a:off x="2999" y="2908"/>
              <a:ext cx="1941" cy="1"/>
            </a:xfrm>
            <a:prstGeom prst="line">
              <a:avLst/>
            </a:prstGeom>
            <a:noFill/>
            <a:ln w="23813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06900" name="Group 95"/>
            <p:cNvGrpSpPr/>
            <p:nvPr/>
          </p:nvGrpSpPr>
          <p:grpSpPr bwMode="auto">
            <a:xfrm>
              <a:off x="2949" y="2996"/>
              <a:ext cx="2041" cy="112"/>
              <a:chOff x="2949" y="3140"/>
              <a:chExt cx="2041" cy="112"/>
            </a:xfrm>
          </p:grpSpPr>
          <p:sp>
            <p:nvSpPr>
              <p:cNvPr id="207011" name="Rectangle 96"/>
              <p:cNvSpPr>
                <a:spLocks noChangeArrowheads="1"/>
              </p:cNvSpPr>
              <p:nvPr/>
            </p:nvSpPr>
            <p:spPr bwMode="auto">
              <a:xfrm>
                <a:off x="2949" y="3140"/>
                <a:ext cx="2037" cy="109"/>
              </a:xfrm>
              <a:prstGeom prst="rect">
                <a:avLst/>
              </a:prstGeom>
              <a:blipFill dpi="0" rotWithShape="0">
                <a:blip r:embed="rId3"/>
                <a:srcRect/>
                <a:tile tx="0" ty="0" sx="100000" sy="100000" flip="none" algn="tl"/>
              </a:blipFill>
              <a:ln w="9525">
                <a:solidFill>
                  <a:schemeClr val="tx1"/>
                </a:solidFill>
                <a:miter lim="800000"/>
              </a:ln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207012" name="Rectangle 97"/>
              <p:cNvSpPr>
                <a:spLocks noChangeArrowheads="1"/>
              </p:cNvSpPr>
              <p:nvPr/>
            </p:nvSpPr>
            <p:spPr bwMode="auto">
              <a:xfrm>
                <a:off x="2949" y="3140"/>
                <a:ext cx="2041" cy="112"/>
              </a:xfrm>
              <a:prstGeom prst="rect">
                <a:avLst/>
              </a:prstGeom>
              <a:noFill/>
              <a:ln w="23813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</p:grpSp>
        <p:sp>
          <p:nvSpPr>
            <p:cNvPr id="206901" name="Line 98"/>
            <p:cNvSpPr>
              <a:spLocks noChangeShapeType="1"/>
            </p:cNvSpPr>
            <p:nvPr/>
          </p:nvSpPr>
          <p:spPr bwMode="auto">
            <a:xfrm>
              <a:off x="3333" y="2622"/>
              <a:ext cx="479" cy="181"/>
            </a:xfrm>
            <a:prstGeom prst="line">
              <a:avLst/>
            </a:prstGeom>
            <a:noFill/>
            <a:ln w="23813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902" name="Line 99"/>
            <p:cNvSpPr>
              <a:spLocks noChangeShapeType="1"/>
            </p:cNvSpPr>
            <p:nvPr/>
          </p:nvSpPr>
          <p:spPr bwMode="auto">
            <a:xfrm flipV="1">
              <a:off x="3812" y="2714"/>
              <a:ext cx="1" cy="89"/>
            </a:xfrm>
            <a:prstGeom prst="line">
              <a:avLst/>
            </a:prstGeom>
            <a:noFill/>
            <a:ln w="23813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903" name="Line 100"/>
            <p:cNvSpPr>
              <a:spLocks noChangeShapeType="1"/>
            </p:cNvSpPr>
            <p:nvPr/>
          </p:nvSpPr>
          <p:spPr bwMode="auto">
            <a:xfrm flipH="1" flipV="1">
              <a:off x="3502" y="2501"/>
              <a:ext cx="310" cy="213"/>
            </a:xfrm>
            <a:prstGeom prst="line">
              <a:avLst/>
            </a:prstGeom>
            <a:noFill/>
            <a:ln w="23813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904" name="Line 101"/>
            <p:cNvSpPr>
              <a:spLocks noChangeShapeType="1"/>
            </p:cNvSpPr>
            <p:nvPr/>
          </p:nvSpPr>
          <p:spPr bwMode="auto">
            <a:xfrm flipV="1">
              <a:off x="3502" y="2251"/>
              <a:ext cx="1" cy="250"/>
            </a:xfrm>
            <a:prstGeom prst="line">
              <a:avLst/>
            </a:prstGeom>
            <a:noFill/>
            <a:ln w="23813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06905" name="Group 102"/>
            <p:cNvGrpSpPr/>
            <p:nvPr/>
          </p:nvGrpSpPr>
          <p:grpSpPr bwMode="auto">
            <a:xfrm>
              <a:off x="3440" y="2557"/>
              <a:ext cx="376" cy="233"/>
              <a:chOff x="3440" y="2701"/>
              <a:chExt cx="376" cy="233"/>
            </a:xfrm>
          </p:grpSpPr>
          <p:sp>
            <p:nvSpPr>
              <p:cNvPr id="207005" name="Freeform 103"/>
              <p:cNvSpPr/>
              <p:nvPr/>
            </p:nvSpPr>
            <p:spPr bwMode="auto">
              <a:xfrm>
                <a:off x="3770" y="2901"/>
                <a:ext cx="46" cy="33"/>
              </a:xfrm>
              <a:custGeom>
                <a:avLst/>
                <a:gdLst>
                  <a:gd name="T0" fmla="*/ 42 w 46"/>
                  <a:gd name="T1" fmla="*/ 33 h 33"/>
                  <a:gd name="T2" fmla="*/ 42 w 46"/>
                  <a:gd name="T3" fmla="*/ 29 h 33"/>
                  <a:gd name="T4" fmla="*/ 46 w 46"/>
                  <a:gd name="T5" fmla="*/ 26 h 33"/>
                  <a:gd name="T6" fmla="*/ 46 w 46"/>
                  <a:gd name="T7" fmla="*/ 26 h 33"/>
                  <a:gd name="T8" fmla="*/ 46 w 46"/>
                  <a:gd name="T9" fmla="*/ 23 h 33"/>
                  <a:gd name="T10" fmla="*/ 8 w 46"/>
                  <a:gd name="T11" fmla="*/ 0 h 33"/>
                  <a:gd name="T12" fmla="*/ 4 w 46"/>
                  <a:gd name="T13" fmla="*/ 0 h 33"/>
                  <a:gd name="T14" fmla="*/ 0 w 46"/>
                  <a:gd name="T15" fmla="*/ 3 h 33"/>
                  <a:gd name="T16" fmla="*/ 0 w 46"/>
                  <a:gd name="T17" fmla="*/ 6 h 33"/>
                  <a:gd name="T18" fmla="*/ 4 w 46"/>
                  <a:gd name="T19" fmla="*/ 10 h 33"/>
                  <a:gd name="T20" fmla="*/ 42 w 46"/>
                  <a:gd name="T21" fmla="*/ 33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6"/>
                  <a:gd name="T34" fmla="*/ 0 h 33"/>
                  <a:gd name="T35" fmla="*/ 46 w 46"/>
                  <a:gd name="T36" fmla="*/ 33 h 3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6" h="33">
                    <a:moveTo>
                      <a:pt x="42" y="33"/>
                    </a:moveTo>
                    <a:lnTo>
                      <a:pt x="42" y="29"/>
                    </a:lnTo>
                    <a:lnTo>
                      <a:pt x="46" y="26"/>
                    </a:lnTo>
                    <a:lnTo>
                      <a:pt x="46" y="23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4" y="10"/>
                    </a:lnTo>
                    <a:lnTo>
                      <a:pt x="42" y="3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06" name="Freeform 104"/>
              <p:cNvSpPr/>
              <p:nvPr/>
            </p:nvSpPr>
            <p:spPr bwMode="auto">
              <a:xfrm>
                <a:off x="3701" y="2862"/>
                <a:ext cx="50" cy="29"/>
              </a:xfrm>
              <a:custGeom>
                <a:avLst/>
                <a:gdLst>
                  <a:gd name="T0" fmla="*/ 42 w 50"/>
                  <a:gd name="T1" fmla="*/ 29 h 29"/>
                  <a:gd name="T2" fmla="*/ 46 w 50"/>
                  <a:gd name="T3" fmla="*/ 29 h 29"/>
                  <a:gd name="T4" fmla="*/ 50 w 50"/>
                  <a:gd name="T5" fmla="*/ 26 h 29"/>
                  <a:gd name="T6" fmla="*/ 50 w 50"/>
                  <a:gd name="T7" fmla="*/ 22 h 29"/>
                  <a:gd name="T8" fmla="*/ 46 w 50"/>
                  <a:gd name="T9" fmla="*/ 19 h 29"/>
                  <a:gd name="T10" fmla="*/ 8 w 50"/>
                  <a:gd name="T11" fmla="*/ 0 h 29"/>
                  <a:gd name="T12" fmla="*/ 4 w 50"/>
                  <a:gd name="T13" fmla="*/ 0 h 29"/>
                  <a:gd name="T14" fmla="*/ 0 w 50"/>
                  <a:gd name="T15" fmla="*/ 3 h 29"/>
                  <a:gd name="T16" fmla="*/ 0 w 50"/>
                  <a:gd name="T17" fmla="*/ 6 h 29"/>
                  <a:gd name="T18" fmla="*/ 4 w 50"/>
                  <a:gd name="T19" fmla="*/ 9 h 29"/>
                  <a:gd name="T20" fmla="*/ 42 w 50"/>
                  <a:gd name="T21" fmla="*/ 29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0"/>
                  <a:gd name="T34" fmla="*/ 0 h 29"/>
                  <a:gd name="T35" fmla="*/ 50 w 50"/>
                  <a:gd name="T36" fmla="*/ 29 h 2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0" h="29">
                    <a:moveTo>
                      <a:pt x="42" y="29"/>
                    </a:moveTo>
                    <a:lnTo>
                      <a:pt x="46" y="29"/>
                    </a:lnTo>
                    <a:lnTo>
                      <a:pt x="50" y="26"/>
                    </a:lnTo>
                    <a:lnTo>
                      <a:pt x="50" y="22"/>
                    </a:lnTo>
                    <a:lnTo>
                      <a:pt x="46" y="19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4" y="9"/>
                    </a:lnTo>
                    <a:lnTo>
                      <a:pt x="42" y="29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07" name="Freeform 105"/>
              <p:cNvSpPr/>
              <p:nvPr/>
            </p:nvSpPr>
            <p:spPr bwMode="auto">
              <a:xfrm>
                <a:off x="3636" y="2822"/>
                <a:ext cx="50" cy="30"/>
              </a:xfrm>
              <a:custGeom>
                <a:avLst/>
                <a:gdLst>
                  <a:gd name="T0" fmla="*/ 42 w 50"/>
                  <a:gd name="T1" fmla="*/ 30 h 30"/>
                  <a:gd name="T2" fmla="*/ 46 w 50"/>
                  <a:gd name="T3" fmla="*/ 30 h 30"/>
                  <a:gd name="T4" fmla="*/ 50 w 50"/>
                  <a:gd name="T5" fmla="*/ 26 h 30"/>
                  <a:gd name="T6" fmla="*/ 50 w 50"/>
                  <a:gd name="T7" fmla="*/ 23 h 30"/>
                  <a:gd name="T8" fmla="*/ 46 w 50"/>
                  <a:gd name="T9" fmla="*/ 20 h 30"/>
                  <a:gd name="T10" fmla="*/ 7 w 50"/>
                  <a:gd name="T11" fmla="*/ 0 h 30"/>
                  <a:gd name="T12" fmla="*/ 4 w 50"/>
                  <a:gd name="T13" fmla="*/ 0 h 30"/>
                  <a:gd name="T14" fmla="*/ 0 w 50"/>
                  <a:gd name="T15" fmla="*/ 3 h 30"/>
                  <a:gd name="T16" fmla="*/ 0 w 50"/>
                  <a:gd name="T17" fmla="*/ 7 h 30"/>
                  <a:gd name="T18" fmla="*/ 4 w 50"/>
                  <a:gd name="T19" fmla="*/ 10 h 30"/>
                  <a:gd name="T20" fmla="*/ 42 w 50"/>
                  <a:gd name="T21" fmla="*/ 30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0"/>
                  <a:gd name="T34" fmla="*/ 0 h 30"/>
                  <a:gd name="T35" fmla="*/ 50 w 50"/>
                  <a:gd name="T36" fmla="*/ 30 h 3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0" h="30">
                    <a:moveTo>
                      <a:pt x="42" y="30"/>
                    </a:moveTo>
                    <a:lnTo>
                      <a:pt x="46" y="30"/>
                    </a:lnTo>
                    <a:lnTo>
                      <a:pt x="50" y="26"/>
                    </a:lnTo>
                    <a:lnTo>
                      <a:pt x="50" y="23"/>
                    </a:lnTo>
                    <a:lnTo>
                      <a:pt x="46" y="2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4" y="10"/>
                    </a:lnTo>
                    <a:lnTo>
                      <a:pt x="42" y="3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08" name="Freeform 106"/>
              <p:cNvSpPr/>
              <p:nvPr/>
            </p:nvSpPr>
            <p:spPr bwMode="auto">
              <a:xfrm>
                <a:off x="3571" y="2779"/>
                <a:ext cx="49" cy="33"/>
              </a:xfrm>
              <a:custGeom>
                <a:avLst/>
                <a:gdLst>
                  <a:gd name="T0" fmla="*/ 42 w 49"/>
                  <a:gd name="T1" fmla="*/ 33 h 33"/>
                  <a:gd name="T2" fmla="*/ 46 w 49"/>
                  <a:gd name="T3" fmla="*/ 33 h 33"/>
                  <a:gd name="T4" fmla="*/ 49 w 49"/>
                  <a:gd name="T5" fmla="*/ 30 h 33"/>
                  <a:gd name="T6" fmla="*/ 49 w 49"/>
                  <a:gd name="T7" fmla="*/ 27 h 33"/>
                  <a:gd name="T8" fmla="*/ 46 w 49"/>
                  <a:gd name="T9" fmla="*/ 23 h 33"/>
                  <a:gd name="T10" fmla="*/ 7 w 49"/>
                  <a:gd name="T11" fmla="*/ 0 h 33"/>
                  <a:gd name="T12" fmla="*/ 3 w 49"/>
                  <a:gd name="T13" fmla="*/ 0 h 33"/>
                  <a:gd name="T14" fmla="*/ 0 w 49"/>
                  <a:gd name="T15" fmla="*/ 4 h 33"/>
                  <a:gd name="T16" fmla="*/ 0 w 49"/>
                  <a:gd name="T17" fmla="*/ 7 h 33"/>
                  <a:gd name="T18" fmla="*/ 3 w 49"/>
                  <a:gd name="T19" fmla="*/ 10 h 33"/>
                  <a:gd name="T20" fmla="*/ 42 w 49"/>
                  <a:gd name="T21" fmla="*/ 33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9"/>
                  <a:gd name="T34" fmla="*/ 0 h 33"/>
                  <a:gd name="T35" fmla="*/ 49 w 49"/>
                  <a:gd name="T36" fmla="*/ 33 h 3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9" h="33">
                    <a:moveTo>
                      <a:pt x="42" y="33"/>
                    </a:moveTo>
                    <a:lnTo>
                      <a:pt x="46" y="33"/>
                    </a:lnTo>
                    <a:lnTo>
                      <a:pt x="49" y="30"/>
                    </a:lnTo>
                    <a:lnTo>
                      <a:pt x="49" y="27"/>
                    </a:lnTo>
                    <a:lnTo>
                      <a:pt x="46" y="23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3" y="10"/>
                    </a:lnTo>
                    <a:lnTo>
                      <a:pt x="42" y="3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09" name="Freeform 107"/>
              <p:cNvSpPr/>
              <p:nvPr/>
            </p:nvSpPr>
            <p:spPr bwMode="auto">
              <a:xfrm>
                <a:off x="3505" y="2740"/>
                <a:ext cx="50" cy="33"/>
              </a:xfrm>
              <a:custGeom>
                <a:avLst/>
                <a:gdLst>
                  <a:gd name="T0" fmla="*/ 43 w 50"/>
                  <a:gd name="T1" fmla="*/ 33 h 33"/>
                  <a:gd name="T2" fmla="*/ 46 w 50"/>
                  <a:gd name="T3" fmla="*/ 33 h 33"/>
                  <a:gd name="T4" fmla="*/ 50 w 50"/>
                  <a:gd name="T5" fmla="*/ 30 h 33"/>
                  <a:gd name="T6" fmla="*/ 50 w 50"/>
                  <a:gd name="T7" fmla="*/ 26 h 33"/>
                  <a:gd name="T8" fmla="*/ 46 w 50"/>
                  <a:gd name="T9" fmla="*/ 23 h 33"/>
                  <a:gd name="T10" fmla="*/ 8 w 50"/>
                  <a:gd name="T11" fmla="*/ 0 h 33"/>
                  <a:gd name="T12" fmla="*/ 4 w 50"/>
                  <a:gd name="T13" fmla="*/ 0 h 33"/>
                  <a:gd name="T14" fmla="*/ 0 w 50"/>
                  <a:gd name="T15" fmla="*/ 3 h 33"/>
                  <a:gd name="T16" fmla="*/ 0 w 50"/>
                  <a:gd name="T17" fmla="*/ 7 h 33"/>
                  <a:gd name="T18" fmla="*/ 4 w 50"/>
                  <a:gd name="T19" fmla="*/ 10 h 33"/>
                  <a:gd name="T20" fmla="*/ 43 w 50"/>
                  <a:gd name="T21" fmla="*/ 33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0"/>
                  <a:gd name="T34" fmla="*/ 0 h 33"/>
                  <a:gd name="T35" fmla="*/ 50 w 50"/>
                  <a:gd name="T36" fmla="*/ 33 h 3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0" h="33">
                    <a:moveTo>
                      <a:pt x="43" y="33"/>
                    </a:moveTo>
                    <a:lnTo>
                      <a:pt x="46" y="33"/>
                    </a:lnTo>
                    <a:lnTo>
                      <a:pt x="50" y="30"/>
                    </a:lnTo>
                    <a:lnTo>
                      <a:pt x="50" y="26"/>
                    </a:lnTo>
                    <a:lnTo>
                      <a:pt x="46" y="23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4" y="10"/>
                    </a:lnTo>
                    <a:lnTo>
                      <a:pt x="43" y="3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10" name="Freeform 108"/>
              <p:cNvSpPr/>
              <p:nvPr/>
            </p:nvSpPr>
            <p:spPr bwMode="auto">
              <a:xfrm>
                <a:off x="3440" y="2701"/>
                <a:ext cx="46" cy="32"/>
              </a:xfrm>
              <a:custGeom>
                <a:avLst/>
                <a:gdLst>
                  <a:gd name="T0" fmla="*/ 39 w 46"/>
                  <a:gd name="T1" fmla="*/ 32 h 32"/>
                  <a:gd name="T2" fmla="*/ 42 w 46"/>
                  <a:gd name="T3" fmla="*/ 32 h 32"/>
                  <a:gd name="T4" fmla="*/ 46 w 46"/>
                  <a:gd name="T5" fmla="*/ 29 h 32"/>
                  <a:gd name="T6" fmla="*/ 46 w 46"/>
                  <a:gd name="T7" fmla="*/ 26 h 32"/>
                  <a:gd name="T8" fmla="*/ 42 w 46"/>
                  <a:gd name="T9" fmla="*/ 23 h 32"/>
                  <a:gd name="T10" fmla="*/ 8 w 46"/>
                  <a:gd name="T11" fmla="*/ 0 h 32"/>
                  <a:gd name="T12" fmla="*/ 4 w 46"/>
                  <a:gd name="T13" fmla="*/ 0 h 32"/>
                  <a:gd name="T14" fmla="*/ 0 w 46"/>
                  <a:gd name="T15" fmla="*/ 3 h 32"/>
                  <a:gd name="T16" fmla="*/ 0 w 46"/>
                  <a:gd name="T17" fmla="*/ 6 h 32"/>
                  <a:gd name="T18" fmla="*/ 4 w 46"/>
                  <a:gd name="T19" fmla="*/ 10 h 32"/>
                  <a:gd name="T20" fmla="*/ 39 w 46"/>
                  <a:gd name="T21" fmla="*/ 32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6"/>
                  <a:gd name="T34" fmla="*/ 0 h 32"/>
                  <a:gd name="T35" fmla="*/ 46 w 46"/>
                  <a:gd name="T36" fmla="*/ 32 h 3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6" h="32">
                    <a:moveTo>
                      <a:pt x="39" y="32"/>
                    </a:moveTo>
                    <a:lnTo>
                      <a:pt x="42" y="32"/>
                    </a:lnTo>
                    <a:lnTo>
                      <a:pt x="46" y="29"/>
                    </a:lnTo>
                    <a:lnTo>
                      <a:pt x="46" y="26"/>
                    </a:lnTo>
                    <a:lnTo>
                      <a:pt x="42" y="23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4" y="10"/>
                    </a:lnTo>
                    <a:lnTo>
                      <a:pt x="39" y="32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06906" name="Group 109"/>
            <p:cNvGrpSpPr/>
            <p:nvPr/>
          </p:nvGrpSpPr>
          <p:grpSpPr bwMode="auto">
            <a:xfrm>
              <a:off x="3425" y="2442"/>
              <a:ext cx="11" cy="115"/>
              <a:chOff x="3425" y="2586"/>
              <a:chExt cx="11" cy="115"/>
            </a:xfrm>
          </p:grpSpPr>
          <p:sp>
            <p:nvSpPr>
              <p:cNvPr id="207003" name="Freeform 110"/>
              <p:cNvSpPr/>
              <p:nvPr/>
            </p:nvSpPr>
            <p:spPr bwMode="auto">
              <a:xfrm>
                <a:off x="3425" y="2655"/>
                <a:ext cx="11" cy="46"/>
              </a:xfrm>
              <a:custGeom>
                <a:avLst/>
                <a:gdLst>
                  <a:gd name="T0" fmla="*/ 0 w 11"/>
                  <a:gd name="T1" fmla="*/ 46 h 46"/>
                  <a:gd name="T2" fmla="*/ 4 w 11"/>
                  <a:gd name="T3" fmla="*/ 46 h 46"/>
                  <a:gd name="T4" fmla="*/ 4 w 11"/>
                  <a:gd name="T5" fmla="*/ 46 h 46"/>
                  <a:gd name="T6" fmla="*/ 7 w 11"/>
                  <a:gd name="T7" fmla="*/ 42 h 46"/>
                  <a:gd name="T8" fmla="*/ 11 w 11"/>
                  <a:gd name="T9" fmla="*/ 42 h 46"/>
                  <a:gd name="T10" fmla="*/ 11 w 11"/>
                  <a:gd name="T11" fmla="*/ 3 h 46"/>
                  <a:gd name="T12" fmla="*/ 4 w 11"/>
                  <a:gd name="T13" fmla="*/ 0 h 46"/>
                  <a:gd name="T14" fmla="*/ 4 w 11"/>
                  <a:gd name="T15" fmla="*/ 0 h 46"/>
                  <a:gd name="T16" fmla="*/ 0 w 11"/>
                  <a:gd name="T17" fmla="*/ 3 h 46"/>
                  <a:gd name="T18" fmla="*/ 0 w 11"/>
                  <a:gd name="T19" fmla="*/ 6 h 46"/>
                  <a:gd name="T20" fmla="*/ 0 w 11"/>
                  <a:gd name="T21" fmla="*/ 46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46"/>
                  <a:gd name="T35" fmla="*/ 11 w 11"/>
                  <a:gd name="T36" fmla="*/ 46 h 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46">
                    <a:moveTo>
                      <a:pt x="0" y="46"/>
                    </a:moveTo>
                    <a:lnTo>
                      <a:pt x="4" y="46"/>
                    </a:lnTo>
                    <a:lnTo>
                      <a:pt x="7" y="42"/>
                    </a:lnTo>
                    <a:lnTo>
                      <a:pt x="11" y="42"/>
                    </a:lnTo>
                    <a:lnTo>
                      <a:pt x="11" y="3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04" name="Freeform 111"/>
              <p:cNvSpPr/>
              <p:nvPr/>
            </p:nvSpPr>
            <p:spPr bwMode="auto">
              <a:xfrm>
                <a:off x="3425" y="2586"/>
                <a:ext cx="11" cy="46"/>
              </a:xfrm>
              <a:custGeom>
                <a:avLst/>
                <a:gdLst>
                  <a:gd name="T0" fmla="*/ 0 w 11"/>
                  <a:gd name="T1" fmla="*/ 46 h 46"/>
                  <a:gd name="T2" fmla="*/ 4 w 11"/>
                  <a:gd name="T3" fmla="*/ 46 h 46"/>
                  <a:gd name="T4" fmla="*/ 4 w 11"/>
                  <a:gd name="T5" fmla="*/ 46 h 46"/>
                  <a:gd name="T6" fmla="*/ 7 w 11"/>
                  <a:gd name="T7" fmla="*/ 42 h 46"/>
                  <a:gd name="T8" fmla="*/ 11 w 11"/>
                  <a:gd name="T9" fmla="*/ 42 h 46"/>
                  <a:gd name="T10" fmla="*/ 11 w 11"/>
                  <a:gd name="T11" fmla="*/ 3 h 46"/>
                  <a:gd name="T12" fmla="*/ 4 w 11"/>
                  <a:gd name="T13" fmla="*/ 0 h 46"/>
                  <a:gd name="T14" fmla="*/ 4 w 11"/>
                  <a:gd name="T15" fmla="*/ 0 h 46"/>
                  <a:gd name="T16" fmla="*/ 0 w 11"/>
                  <a:gd name="T17" fmla="*/ 3 h 46"/>
                  <a:gd name="T18" fmla="*/ 0 w 11"/>
                  <a:gd name="T19" fmla="*/ 6 h 46"/>
                  <a:gd name="T20" fmla="*/ 0 w 11"/>
                  <a:gd name="T21" fmla="*/ 46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46"/>
                  <a:gd name="T35" fmla="*/ 11 w 11"/>
                  <a:gd name="T36" fmla="*/ 46 h 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46">
                    <a:moveTo>
                      <a:pt x="0" y="46"/>
                    </a:moveTo>
                    <a:lnTo>
                      <a:pt x="4" y="46"/>
                    </a:lnTo>
                    <a:lnTo>
                      <a:pt x="7" y="42"/>
                    </a:lnTo>
                    <a:lnTo>
                      <a:pt x="11" y="42"/>
                    </a:lnTo>
                    <a:lnTo>
                      <a:pt x="11" y="3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06907" name="Group 112"/>
            <p:cNvGrpSpPr/>
            <p:nvPr/>
          </p:nvGrpSpPr>
          <p:grpSpPr bwMode="auto">
            <a:xfrm>
              <a:off x="3713" y="2780"/>
              <a:ext cx="84" cy="167"/>
              <a:chOff x="3713" y="2924"/>
              <a:chExt cx="84" cy="167"/>
            </a:xfrm>
          </p:grpSpPr>
          <p:sp>
            <p:nvSpPr>
              <p:cNvPr id="207000" name="Freeform 113"/>
              <p:cNvSpPr/>
              <p:nvPr/>
            </p:nvSpPr>
            <p:spPr bwMode="auto">
              <a:xfrm>
                <a:off x="3766" y="2924"/>
                <a:ext cx="31" cy="46"/>
              </a:xfrm>
              <a:custGeom>
                <a:avLst/>
                <a:gdLst>
                  <a:gd name="T0" fmla="*/ 31 w 31"/>
                  <a:gd name="T1" fmla="*/ 6 h 46"/>
                  <a:gd name="T2" fmla="*/ 27 w 31"/>
                  <a:gd name="T3" fmla="*/ 3 h 46"/>
                  <a:gd name="T4" fmla="*/ 23 w 31"/>
                  <a:gd name="T5" fmla="*/ 0 h 46"/>
                  <a:gd name="T6" fmla="*/ 23 w 31"/>
                  <a:gd name="T7" fmla="*/ 0 h 46"/>
                  <a:gd name="T8" fmla="*/ 19 w 31"/>
                  <a:gd name="T9" fmla="*/ 3 h 46"/>
                  <a:gd name="T10" fmla="*/ 0 w 31"/>
                  <a:gd name="T11" fmla="*/ 39 h 46"/>
                  <a:gd name="T12" fmla="*/ 0 w 31"/>
                  <a:gd name="T13" fmla="*/ 43 h 46"/>
                  <a:gd name="T14" fmla="*/ 4 w 31"/>
                  <a:gd name="T15" fmla="*/ 46 h 46"/>
                  <a:gd name="T16" fmla="*/ 8 w 31"/>
                  <a:gd name="T17" fmla="*/ 46 h 46"/>
                  <a:gd name="T18" fmla="*/ 12 w 31"/>
                  <a:gd name="T19" fmla="*/ 43 h 46"/>
                  <a:gd name="T20" fmla="*/ 31 w 31"/>
                  <a:gd name="T21" fmla="*/ 6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1"/>
                  <a:gd name="T34" fmla="*/ 0 h 46"/>
                  <a:gd name="T35" fmla="*/ 31 w 31"/>
                  <a:gd name="T36" fmla="*/ 46 h 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1" h="46">
                    <a:moveTo>
                      <a:pt x="31" y="6"/>
                    </a:moveTo>
                    <a:lnTo>
                      <a:pt x="27" y="3"/>
                    </a:lnTo>
                    <a:lnTo>
                      <a:pt x="23" y="0"/>
                    </a:lnTo>
                    <a:lnTo>
                      <a:pt x="19" y="3"/>
                    </a:lnTo>
                    <a:lnTo>
                      <a:pt x="0" y="39"/>
                    </a:lnTo>
                    <a:lnTo>
                      <a:pt x="0" y="43"/>
                    </a:lnTo>
                    <a:lnTo>
                      <a:pt x="4" y="46"/>
                    </a:lnTo>
                    <a:lnTo>
                      <a:pt x="8" y="46"/>
                    </a:lnTo>
                    <a:lnTo>
                      <a:pt x="12" y="43"/>
                    </a:lnTo>
                    <a:lnTo>
                      <a:pt x="31" y="6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01" name="Freeform 114"/>
              <p:cNvSpPr/>
              <p:nvPr/>
            </p:nvSpPr>
            <p:spPr bwMode="auto">
              <a:xfrm>
                <a:off x="3739" y="2986"/>
                <a:ext cx="27" cy="46"/>
              </a:xfrm>
              <a:custGeom>
                <a:avLst/>
                <a:gdLst>
                  <a:gd name="T0" fmla="*/ 27 w 27"/>
                  <a:gd name="T1" fmla="*/ 7 h 46"/>
                  <a:gd name="T2" fmla="*/ 27 w 27"/>
                  <a:gd name="T3" fmla="*/ 4 h 46"/>
                  <a:gd name="T4" fmla="*/ 23 w 27"/>
                  <a:gd name="T5" fmla="*/ 0 h 46"/>
                  <a:gd name="T6" fmla="*/ 20 w 27"/>
                  <a:gd name="T7" fmla="*/ 0 h 46"/>
                  <a:gd name="T8" fmla="*/ 16 w 27"/>
                  <a:gd name="T9" fmla="*/ 4 h 46"/>
                  <a:gd name="T10" fmla="*/ 0 w 27"/>
                  <a:gd name="T11" fmla="*/ 40 h 46"/>
                  <a:gd name="T12" fmla="*/ 0 w 27"/>
                  <a:gd name="T13" fmla="*/ 43 h 46"/>
                  <a:gd name="T14" fmla="*/ 4 w 27"/>
                  <a:gd name="T15" fmla="*/ 46 h 46"/>
                  <a:gd name="T16" fmla="*/ 8 w 27"/>
                  <a:gd name="T17" fmla="*/ 46 h 46"/>
                  <a:gd name="T18" fmla="*/ 12 w 27"/>
                  <a:gd name="T19" fmla="*/ 43 h 46"/>
                  <a:gd name="T20" fmla="*/ 27 w 27"/>
                  <a:gd name="T21" fmla="*/ 7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7"/>
                  <a:gd name="T34" fmla="*/ 0 h 46"/>
                  <a:gd name="T35" fmla="*/ 27 w 27"/>
                  <a:gd name="T36" fmla="*/ 46 h 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7" h="46">
                    <a:moveTo>
                      <a:pt x="27" y="7"/>
                    </a:moveTo>
                    <a:lnTo>
                      <a:pt x="27" y="4"/>
                    </a:lnTo>
                    <a:lnTo>
                      <a:pt x="23" y="0"/>
                    </a:lnTo>
                    <a:lnTo>
                      <a:pt x="20" y="0"/>
                    </a:lnTo>
                    <a:lnTo>
                      <a:pt x="16" y="4"/>
                    </a:lnTo>
                    <a:lnTo>
                      <a:pt x="0" y="40"/>
                    </a:lnTo>
                    <a:lnTo>
                      <a:pt x="0" y="43"/>
                    </a:lnTo>
                    <a:lnTo>
                      <a:pt x="4" y="46"/>
                    </a:lnTo>
                    <a:lnTo>
                      <a:pt x="8" y="46"/>
                    </a:lnTo>
                    <a:lnTo>
                      <a:pt x="12" y="43"/>
                    </a:lnTo>
                    <a:lnTo>
                      <a:pt x="27" y="7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002" name="Freeform 115"/>
              <p:cNvSpPr/>
              <p:nvPr/>
            </p:nvSpPr>
            <p:spPr bwMode="auto">
              <a:xfrm>
                <a:off x="3713" y="3052"/>
                <a:ext cx="23" cy="39"/>
              </a:xfrm>
              <a:custGeom>
                <a:avLst/>
                <a:gdLst>
                  <a:gd name="T0" fmla="*/ 23 w 23"/>
                  <a:gd name="T1" fmla="*/ 6 h 39"/>
                  <a:gd name="T2" fmla="*/ 23 w 23"/>
                  <a:gd name="T3" fmla="*/ 3 h 39"/>
                  <a:gd name="T4" fmla="*/ 19 w 23"/>
                  <a:gd name="T5" fmla="*/ 0 h 39"/>
                  <a:gd name="T6" fmla="*/ 15 w 23"/>
                  <a:gd name="T7" fmla="*/ 0 h 39"/>
                  <a:gd name="T8" fmla="*/ 11 w 23"/>
                  <a:gd name="T9" fmla="*/ 3 h 39"/>
                  <a:gd name="T10" fmla="*/ 0 w 23"/>
                  <a:gd name="T11" fmla="*/ 36 h 39"/>
                  <a:gd name="T12" fmla="*/ 0 w 23"/>
                  <a:gd name="T13" fmla="*/ 36 h 39"/>
                  <a:gd name="T14" fmla="*/ 3 w 23"/>
                  <a:gd name="T15" fmla="*/ 39 h 39"/>
                  <a:gd name="T16" fmla="*/ 3 w 23"/>
                  <a:gd name="T17" fmla="*/ 39 h 39"/>
                  <a:gd name="T18" fmla="*/ 11 w 23"/>
                  <a:gd name="T19" fmla="*/ 39 h 39"/>
                  <a:gd name="T20" fmla="*/ 23 w 23"/>
                  <a:gd name="T21" fmla="*/ 6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3"/>
                  <a:gd name="T34" fmla="*/ 0 h 39"/>
                  <a:gd name="T35" fmla="*/ 23 w 23"/>
                  <a:gd name="T36" fmla="*/ 39 h 3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3" h="39">
                    <a:moveTo>
                      <a:pt x="23" y="6"/>
                    </a:moveTo>
                    <a:lnTo>
                      <a:pt x="23" y="3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1" y="3"/>
                    </a:lnTo>
                    <a:lnTo>
                      <a:pt x="0" y="36"/>
                    </a:lnTo>
                    <a:lnTo>
                      <a:pt x="3" y="39"/>
                    </a:lnTo>
                    <a:lnTo>
                      <a:pt x="11" y="39"/>
                    </a:lnTo>
                    <a:lnTo>
                      <a:pt x="23" y="6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06908" name="Line 116"/>
            <p:cNvSpPr>
              <a:spLocks noChangeShapeType="1"/>
            </p:cNvSpPr>
            <p:nvPr/>
          </p:nvSpPr>
          <p:spPr bwMode="auto">
            <a:xfrm>
              <a:off x="4365" y="2127"/>
              <a:ext cx="1" cy="495"/>
            </a:xfrm>
            <a:prstGeom prst="line">
              <a:avLst/>
            </a:prstGeom>
            <a:noFill/>
            <a:ln w="23813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909" name="Line 117"/>
            <p:cNvSpPr>
              <a:spLocks noChangeShapeType="1"/>
            </p:cNvSpPr>
            <p:nvPr/>
          </p:nvSpPr>
          <p:spPr bwMode="auto">
            <a:xfrm flipH="1">
              <a:off x="3885" y="2622"/>
              <a:ext cx="480" cy="181"/>
            </a:xfrm>
            <a:prstGeom prst="line">
              <a:avLst/>
            </a:prstGeom>
            <a:noFill/>
            <a:ln w="23813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910" name="Line 118"/>
            <p:cNvSpPr>
              <a:spLocks noChangeShapeType="1"/>
            </p:cNvSpPr>
            <p:nvPr/>
          </p:nvSpPr>
          <p:spPr bwMode="auto">
            <a:xfrm flipV="1">
              <a:off x="3885" y="2714"/>
              <a:ext cx="1" cy="89"/>
            </a:xfrm>
            <a:prstGeom prst="line">
              <a:avLst/>
            </a:prstGeom>
            <a:noFill/>
            <a:ln w="23813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911" name="Line 119"/>
            <p:cNvSpPr>
              <a:spLocks noChangeShapeType="1"/>
            </p:cNvSpPr>
            <p:nvPr/>
          </p:nvSpPr>
          <p:spPr bwMode="auto">
            <a:xfrm flipV="1">
              <a:off x="3885" y="2501"/>
              <a:ext cx="311" cy="213"/>
            </a:xfrm>
            <a:prstGeom prst="line">
              <a:avLst/>
            </a:prstGeom>
            <a:noFill/>
            <a:ln w="23813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912" name="Line 120"/>
            <p:cNvSpPr>
              <a:spLocks noChangeShapeType="1"/>
            </p:cNvSpPr>
            <p:nvPr/>
          </p:nvSpPr>
          <p:spPr bwMode="auto">
            <a:xfrm flipV="1">
              <a:off x="4196" y="2251"/>
              <a:ext cx="1" cy="250"/>
            </a:xfrm>
            <a:prstGeom prst="line">
              <a:avLst/>
            </a:prstGeom>
            <a:noFill/>
            <a:ln w="23813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06913" name="Group 121"/>
            <p:cNvGrpSpPr/>
            <p:nvPr/>
          </p:nvGrpSpPr>
          <p:grpSpPr bwMode="auto">
            <a:xfrm>
              <a:off x="3881" y="2557"/>
              <a:ext cx="376" cy="233"/>
              <a:chOff x="3881" y="2701"/>
              <a:chExt cx="376" cy="233"/>
            </a:xfrm>
          </p:grpSpPr>
          <p:sp>
            <p:nvSpPr>
              <p:cNvPr id="206994" name="Freeform 122"/>
              <p:cNvSpPr/>
              <p:nvPr/>
            </p:nvSpPr>
            <p:spPr bwMode="auto">
              <a:xfrm>
                <a:off x="3881" y="2901"/>
                <a:ext cx="46" cy="33"/>
              </a:xfrm>
              <a:custGeom>
                <a:avLst/>
                <a:gdLst>
                  <a:gd name="T0" fmla="*/ 4 w 46"/>
                  <a:gd name="T1" fmla="*/ 23 h 33"/>
                  <a:gd name="T2" fmla="*/ 0 w 46"/>
                  <a:gd name="T3" fmla="*/ 26 h 33"/>
                  <a:gd name="T4" fmla="*/ 0 w 46"/>
                  <a:gd name="T5" fmla="*/ 26 h 33"/>
                  <a:gd name="T6" fmla="*/ 4 w 46"/>
                  <a:gd name="T7" fmla="*/ 29 h 33"/>
                  <a:gd name="T8" fmla="*/ 8 w 46"/>
                  <a:gd name="T9" fmla="*/ 33 h 33"/>
                  <a:gd name="T10" fmla="*/ 43 w 46"/>
                  <a:gd name="T11" fmla="*/ 10 h 33"/>
                  <a:gd name="T12" fmla="*/ 46 w 46"/>
                  <a:gd name="T13" fmla="*/ 6 h 33"/>
                  <a:gd name="T14" fmla="*/ 46 w 46"/>
                  <a:gd name="T15" fmla="*/ 3 h 33"/>
                  <a:gd name="T16" fmla="*/ 43 w 46"/>
                  <a:gd name="T17" fmla="*/ 0 h 33"/>
                  <a:gd name="T18" fmla="*/ 39 w 46"/>
                  <a:gd name="T19" fmla="*/ 0 h 33"/>
                  <a:gd name="T20" fmla="*/ 4 w 46"/>
                  <a:gd name="T21" fmla="*/ 23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6"/>
                  <a:gd name="T34" fmla="*/ 0 h 33"/>
                  <a:gd name="T35" fmla="*/ 46 w 46"/>
                  <a:gd name="T36" fmla="*/ 33 h 3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6" h="33">
                    <a:moveTo>
                      <a:pt x="4" y="23"/>
                    </a:moveTo>
                    <a:lnTo>
                      <a:pt x="0" y="26"/>
                    </a:lnTo>
                    <a:lnTo>
                      <a:pt x="4" y="29"/>
                    </a:lnTo>
                    <a:lnTo>
                      <a:pt x="8" y="33"/>
                    </a:lnTo>
                    <a:lnTo>
                      <a:pt x="43" y="10"/>
                    </a:lnTo>
                    <a:lnTo>
                      <a:pt x="46" y="6"/>
                    </a:lnTo>
                    <a:lnTo>
                      <a:pt x="46" y="3"/>
                    </a:lnTo>
                    <a:lnTo>
                      <a:pt x="43" y="0"/>
                    </a:lnTo>
                    <a:lnTo>
                      <a:pt x="39" y="0"/>
                    </a:lnTo>
                    <a:lnTo>
                      <a:pt x="4" y="2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95" name="Freeform 123"/>
              <p:cNvSpPr/>
              <p:nvPr/>
            </p:nvSpPr>
            <p:spPr bwMode="auto">
              <a:xfrm>
                <a:off x="3947" y="2862"/>
                <a:ext cx="49" cy="29"/>
              </a:xfrm>
              <a:custGeom>
                <a:avLst/>
                <a:gdLst>
                  <a:gd name="T0" fmla="*/ 3 w 49"/>
                  <a:gd name="T1" fmla="*/ 19 h 29"/>
                  <a:gd name="T2" fmla="*/ 0 w 49"/>
                  <a:gd name="T3" fmla="*/ 22 h 29"/>
                  <a:gd name="T4" fmla="*/ 0 w 49"/>
                  <a:gd name="T5" fmla="*/ 26 h 29"/>
                  <a:gd name="T6" fmla="*/ 3 w 49"/>
                  <a:gd name="T7" fmla="*/ 29 h 29"/>
                  <a:gd name="T8" fmla="*/ 7 w 49"/>
                  <a:gd name="T9" fmla="*/ 29 h 29"/>
                  <a:gd name="T10" fmla="*/ 46 w 49"/>
                  <a:gd name="T11" fmla="*/ 9 h 29"/>
                  <a:gd name="T12" fmla="*/ 49 w 49"/>
                  <a:gd name="T13" fmla="*/ 6 h 29"/>
                  <a:gd name="T14" fmla="*/ 49 w 49"/>
                  <a:gd name="T15" fmla="*/ 3 h 29"/>
                  <a:gd name="T16" fmla="*/ 46 w 49"/>
                  <a:gd name="T17" fmla="*/ 0 h 29"/>
                  <a:gd name="T18" fmla="*/ 42 w 49"/>
                  <a:gd name="T19" fmla="*/ 0 h 29"/>
                  <a:gd name="T20" fmla="*/ 3 w 49"/>
                  <a:gd name="T21" fmla="*/ 19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9"/>
                  <a:gd name="T34" fmla="*/ 0 h 29"/>
                  <a:gd name="T35" fmla="*/ 49 w 49"/>
                  <a:gd name="T36" fmla="*/ 29 h 2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9" h="29">
                    <a:moveTo>
                      <a:pt x="3" y="19"/>
                    </a:moveTo>
                    <a:lnTo>
                      <a:pt x="0" y="22"/>
                    </a:lnTo>
                    <a:lnTo>
                      <a:pt x="0" y="26"/>
                    </a:lnTo>
                    <a:lnTo>
                      <a:pt x="3" y="29"/>
                    </a:lnTo>
                    <a:lnTo>
                      <a:pt x="7" y="29"/>
                    </a:lnTo>
                    <a:lnTo>
                      <a:pt x="46" y="9"/>
                    </a:lnTo>
                    <a:lnTo>
                      <a:pt x="49" y="6"/>
                    </a:lnTo>
                    <a:lnTo>
                      <a:pt x="49" y="3"/>
                    </a:lnTo>
                    <a:lnTo>
                      <a:pt x="46" y="0"/>
                    </a:lnTo>
                    <a:lnTo>
                      <a:pt x="42" y="0"/>
                    </a:lnTo>
                    <a:lnTo>
                      <a:pt x="3" y="19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96" name="Freeform 124"/>
              <p:cNvSpPr/>
              <p:nvPr/>
            </p:nvSpPr>
            <p:spPr bwMode="auto">
              <a:xfrm>
                <a:off x="4012" y="2822"/>
                <a:ext cx="50" cy="30"/>
              </a:xfrm>
              <a:custGeom>
                <a:avLst/>
                <a:gdLst>
                  <a:gd name="T0" fmla="*/ 4 w 50"/>
                  <a:gd name="T1" fmla="*/ 20 h 30"/>
                  <a:gd name="T2" fmla="*/ 0 w 50"/>
                  <a:gd name="T3" fmla="*/ 23 h 30"/>
                  <a:gd name="T4" fmla="*/ 0 w 50"/>
                  <a:gd name="T5" fmla="*/ 26 h 30"/>
                  <a:gd name="T6" fmla="*/ 4 w 50"/>
                  <a:gd name="T7" fmla="*/ 30 h 30"/>
                  <a:gd name="T8" fmla="*/ 7 w 50"/>
                  <a:gd name="T9" fmla="*/ 30 h 30"/>
                  <a:gd name="T10" fmla="*/ 46 w 50"/>
                  <a:gd name="T11" fmla="*/ 10 h 30"/>
                  <a:gd name="T12" fmla="*/ 50 w 50"/>
                  <a:gd name="T13" fmla="*/ 7 h 30"/>
                  <a:gd name="T14" fmla="*/ 50 w 50"/>
                  <a:gd name="T15" fmla="*/ 3 h 30"/>
                  <a:gd name="T16" fmla="*/ 46 w 50"/>
                  <a:gd name="T17" fmla="*/ 0 h 30"/>
                  <a:gd name="T18" fmla="*/ 42 w 50"/>
                  <a:gd name="T19" fmla="*/ 0 h 30"/>
                  <a:gd name="T20" fmla="*/ 4 w 50"/>
                  <a:gd name="T21" fmla="*/ 20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0"/>
                  <a:gd name="T34" fmla="*/ 0 h 30"/>
                  <a:gd name="T35" fmla="*/ 50 w 50"/>
                  <a:gd name="T36" fmla="*/ 30 h 3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0" h="30">
                    <a:moveTo>
                      <a:pt x="4" y="20"/>
                    </a:moveTo>
                    <a:lnTo>
                      <a:pt x="0" y="23"/>
                    </a:lnTo>
                    <a:lnTo>
                      <a:pt x="0" y="26"/>
                    </a:lnTo>
                    <a:lnTo>
                      <a:pt x="4" y="30"/>
                    </a:lnTo>
                    <a:lnTo>
                      <a:pt x="7" y="30"/>
                    </a:lnTo>
                    <a:lnTo>
                      <a:pt x="46" y="10"/>
                    </a:lnTo>
                    <a:lnTo>
                      <a:pt x="50" y="7"/>
                    </a:lnTo>
                    <a:lnTo>
                      <a:pt x="50" y="3"/>
                    </a:lnTo>
                    <a:lnTo>
                      <a:pt x="46" y="0"/>
                    </a:lnTo>
                    <a:lnTo>
                      <a:pt x="42" y="0"/>
                    </a:lnTo>
                    <a:lnTo>
                      <a:pt x="4" y="2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97" name="Freeform 125"/>
              <p:cNvSpPr/>
              <p:nvPr/>
            </p:nvSpPr>
            <p:spPr bwMode="auto">
              <a:xfrm>
                <a:off x="4077" y="2779"/>
                <a:ext cx="50" cy="33"/>
              </a:xfrm>
              <a:custGeom>
                <a:avLst/>
                <a:gdLst>
                  <a:gd name="T0" fmla="*/ 4 w 50"/>
                  <a:gd name="T1" fmla="*/ 23 h 33"/>
                  <a:gd name="T2" fmla="*/ 0 w 50"/>
                  <a:gd name="T3" fmla="*/ 27 h 33"/>
                  <a:gd name="T4" fmla="*/ 0 w 50"/>
                  <a:gd name="T5" fmla="*/ 30 h 33"/>
                  <a:gd name="T6" fmla="*/ 4 w 50"/>
                  <a:gd name="T7" fmla="*/ 33 h 33"/>
                  <a:gd name="T8" fmla="*/ 8 w 50"/>
                  <a:gd name="T9" fmla="*/ 33 h 33"/>
                  <a:gd name="T10" fmla="*/ 46 w 50"/>
                  <a:gd name="T11" fmla="*/ 10 h 33"/>
                  <a:gd name="T12" fmla="*/ 50 w 50"/>
                  <a:gd name="T13" fmla="*/ 7 h 33"/>
                  <a:gd name="T14" fmla="*/ 50 w 50"/>
                  <a:gd name="T15" fmla="*/ 4 h 33"/>
                  <a:gd name="T16" fmla="*/ 46 w 50"/>
                  <a:gd name="T17" fmla="*/ 0 h 33"/>
                  <a:gd name="T18" fmla="*/ 42 w 50"/>
                  <a:gd name="T19" fmla="*/ 0 h 33"/>
                  <a:gd name="T20" fmla="*/ 4 w 50"/>
                  <a:gd name="T21" fmla="*/ 23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0"/>
                  <a:gd name="T34" fmla="*/ 0 h 33"/>
                  <a:gd name="T35" fmla="*/ 50 w 50"/>
                  <a:gd name="T36" fmla="*/ 33 h 3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0" h="33">
                    <a:moveTo>
                      <a:pt x="4" y="23"/>
                    </a:moveTo>
                    <a:lnTo>
                      <a:pt x="0" y="27"/>
                    </a:lnTo>
                    <a:lnTo>
                      <a:pt x="0" y="30"/>
                    </a:lnTo>
                    <a:lnTo>
                      <a:pt x="4" y="33"/>
                    </a:lnTo>
                    <a:lnTo>
                      <a:pt x="8" y="33"/>
                    </a:lnTo>
                    <a:lnTo>
                      <a:pt x="46" y="10"/>
                    </a:lnTo>
                    <a:lnTo>
                      <a:pt x="50" y="7"/>
                    </a:lnTo>
                    <a:lnTo>
                      <a:pt x="50" y="4"/>
                    </a:lnTo>
                    <a:lnTo>
                      <a:pt x="46" y="0"/>
                    </a:lnTo>
                    <a:lnTo>
                      <a:pt x="42" y="0"/>
                    </a:lnTo>
                    <a:lnTo>
                      <a:pt x="4" y="2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98" name="Freeform 126"/>
              <p:cNvSpPr/>
              <p:nvPr/>
            </p:nvSpPr>
            <p:spPr bwMode="auto">
              <a:xfrm>
                <a:off x="4142" y="2740"/>
                <a:ext cx="50" cy="33"/>
              </a:xfrm>
              <a:custGeom>
                <a:avLst/>
                <a:gdLst>
                  <a:gd name="T0" fmla="*/ 4 w 50"/>
                  <a:gd name="T1" fmla="*/ 23 h 33"/>
                  <a:gd name="T2" fmla="*/ 0 w 50"/>
                  <a:gd name="T3" fmla="*/ 26 h 33"/>
                  <a:gd name="T4" fmla="*/ 0 w 50"/>
                  <a:gd name="T5" fmla="*/ 30 h 33"/>
                  <a:gd name="T6" fmla="*/ 4 w 50"/>
                  <a:gd name="T7" fmla="*/ 33 h 33"/>
                  <a:gd name="T8" fmla="*/ 8 w 50"/>
                  <a:gd name="T9" fmla="*/ 33 h 33"/>
                  <a:gd name="T10" fmla="*/ 46 w 50"/>
                  <a:gd name="T11" fmla="*/ 10 h 33"/>
                  <a:gd name="T12" fmla="*/ 50 w 50"/>
                  <a:gd name="T13" fmla="*/ 7 h 33"/>
                  <a:gd name="T14" fmla="*/ 50 w 50"/>
                  <a:gd name="T15" fmla="*/ 3 h 33"/>
                  <a:gd name="T16" fmla="*/ 46 w 50"/>
                  <a:gd name="T17" fmla="*/ 0 h 33"/>
                  <a:gd name="T18" fmla="*/ 42 w 50"/>
                  <a:gd name="T19" fmla="*/ 0 h 33"/>
                  <a:gd name="T20" fmla="*/ 4 w 50"/>
                  <a:gd name="T21" fmla="*/ 23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0"/>
                  <a:gd name="T34" fmla="*/ 0 h 33"/>
                  <a:gd name="T35" fmla="*/ 50 w 50"/>
                  <a:gd name="T36" fmla="*/ 33 h 3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0" h="33">
                    <a:moveTo>
                      <a:pt x="4" y="23"/>
                    </a:moveTo>
                    <a:lnTo>
                      <a:pt x="0" y="26"/>
                    </a:lnTo>
                    <a:lnTo>
                      <a:pt x="0" y="30"/>
                    </a:lnTo>
                    <a:lnTo>
                      <a:pt x="4" y="33"/>
                    </a:lnTo>
                    <a:lnTo>
                      <a:pt x="8" y="33"/>
                    </a:lnTo>
                    <a:lnTo>
                      <a:pt x="46" y="10"/>
                    </a:lnTo>
                    <a:lnTo>
                      <a:pt x="50" y="7"/>
                    </a:lnTo>
                    <a:lnTo>
                      <a:pt x="50" y="3"/>
                    </a:lnTo>
                    <a:lnTo>
                      <a:pt x="46" y="0"/>
                    </a:lnTo>
                    <a:lnTo>
                      <a:pt x="42" y="0"/>
                    </a:lnTo>
                    <a:lnTo>
                      <a:pt x="4" y="2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99" name="Freeform 127"/>
              <p:cNvSpPr/>
              <p:nvPr/>
            </p:nvSpPr>
            <p:spPr bwMode="auto">
              <a:xfrm>
                <a:off x="4211" y="2701"/>
                <a:ext cx="46" cy="32"/>
              </a:xfrm>
              <a:custGeom>
                <a:avLst/>
                <a:gdLst>
                  <a:gd name="T0" fmla="*/ 4 w 46"/>
                  <a:gd name="T1" fmla="*/ 23 h 32"/>
                  <a:gd name="T2" fmla="*/ 0 w 46"/>
                  <a:gd name="T3" fmla="*/ 26 h 32"/>
                  <a:gd name="T4" fmla="*/ 0 w 46"/>
                  <a:gd name="T5" fmla="*/ 29 h 32"/>
                  <a:gd name="T6" fmla="*/ 4 w 46"/>
                  <a:gd name="T7" fmla="*/ 32 h 32"/>
                  <a:gd name="T8" fmla="*/ 8 w 46"/>
                  <a:gd name="T9" fmla="*/ 32 h 32"/>
                  <a:gd name="T10" fmla="*/ 42 w 46"/>
                  <a:gd name="T11" fmla="*/ 10 h 32"/>
                  <a:gd name="T12" fmla="*/ 46 w 46"/>
                  <a:gd name="T13" fmla="*/ 6 h 32"/>
                  <a:gd name="T14" fmla="*/ 46 w 46"/>
                  <a:gd name="T15" fmla="*/ 3 h 32"/>
                  <a:gd name="T16" fmla="*/ 42 w 46"/>
                  <a:gd name="T17" fmla="*/ 0 h 32"/>
                  <a:gd name="T18" fmla="*/ 39 w 46"/>
                  <a:gd name="T19" fmla="*/ 0 h 32"/>
                  <a:gd name="T20" fmla="*/ 4 w 46"/>
                  <a:gd name="T21" fmla="*/ 23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6"/>
                  <a:gd name="T34" fmla="*/ 0 h 32"/>
                  <a:gd name="T35" fmla="*/ 46 w 46"/>
                  <a:gd name="T36" fmla="*/ 32 h 3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6" h="32">
                    <a:moveTo>
                      <a:pt x="4" y="23"/>
                    </a:moveTo>
                    <a:lnTo>
                      <a:pt x="0" y="26"/>
                    </a:lnTo>
                    <a:lnTo>
                      <a:pt x="0" y="29"/>
                    </a:lnTo>
                    <a:lnTo>
                      <a:pt x="4" y="32"/>
                    </a:lnTo>
                    <a:lnTo>
                      <a:pt x="8" y="32"/>
                    </a:lnTo>
                    <a:lnTo>
                      <a:pt x="42" y="10"/>
                    </a:lnTo>
                    <a:lnTo>
                      <a:pt x="46" y="6"/>
                    </a:lnTo>
                    <a:lnTo>
                      <a:pt x="46" y="3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4" y="2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06914" name="Group 128"/>
            <p:cNvGrpSpPr/>
            <p:nvPr/>
          </p:nvGrpSpPr>
          <p:grpSpPr bwMode="auto">
            <a:xfrm>
              <a:off x="4265" y="2176"/>
              <a:ext cx="12" cy="381"/>
              <a:chOff x="4265" y="2320"/>
              <a:chExt cx="12" cy="381"/>
            </a:xfrm>
          </p:grpSpPr>
          <p:sp>
            <p:nvSpPr>
              <p:cNvPr id="206988" name="Freeform 129"/>
              <p:cNvSpPr/>
              <p:nvPr/>
            </p:nvSpPr>
            <p:spPr bwMode="auto">
              <a:xfrm>
                <a:off x="4265" y="2655"/>
                <a:ext cx="12" cy="46"/>
              </a:xfrm>
              <a:custGeom>
                <a:avLst/>
                <a:gdLst>
                  <a:gd name="T0" fmla="*/ 0 w 12"/>
                  <a:gd name="T1" fmla="*/ 46 h 46"/>
                  <a:gd name="T2" fmla="*/ 4 w 12"/>
                  <a:gd name="T3" fmla="*/ 46 h 46"/>
                  <a:gd name="T4" fmla="*/ 4 w 12"/>
                  <a:gd name="T5" fmla="*/ 46 h 46"/>
                  <a:gd name="T6" fmla="*/ 8 w 12"/>
                  <a:gd name="T7" fmla="*/ 42 h 46"/>
                  <a:gd name="T8" fmla="*/ 12 w 12"/>
                  <a:gd name="T9" fmla="*/ 42 h 46"/>
                  <a:gd name="T10" fmla="*/ 12 w 12"/>
                  <a:gd name="T11" fmla="*/ 3 h 46"/>
                  <a:gd name="T12" fmla="*/ 4 w 12"/>
                  <a:gd name="T13" fmla="*/ 0 h 46"/>
                  <a:gd name="T14" fmla="*/ 4 w 12"/>
                  <a:gd name="T15" fmla="*/ 0 h 46"/>
                  <a:gd name="T16" fmla="*/ 0 w 12"/>
                  <a:gd name="T17" fmla="*/ 3 h 46"/>
                  <a:gd name="T18" fmla="*/ 0 w 12"/>
                  <a:gd name="T19" fmla="*/ 6 h 46"/>
                  <a:gd name="T20" fmla="*/ 0 w 12"/>
                  <a:gd name="T21" fmla="*/ 46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"/>
                  <a:gd name="T34" fmla="*/ 0 h 46"/>
                  <a:gd name="T35" fmla="*/ 12 w 12"/>
                  <a:gd name="T36" fmla="*/ 46 h 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" h="46">
                    <a:moveTo>
                      <a:pt x="0" y="46"/>
                    </a:moveTo>
                    <a:lnTo>
                      <a:pt x="4" y="46"/>
                    </a:lnTo>
                    <a:lnTo>
                      <a:pt x="8" y="42"/>
                    </a:lnTo>
                    <a:lnTo>
                      <a:pt x="12" y="42"/>
                    </a:lnTo>
                    <a:lnTo>
                      <a:pt x="12" y="3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89" name="Freeform 130"/>
              <p:cNvSpPr/>
              <p:nvPr/>
            </p:nvSpPr>
            <p:spPr bwMode="auto">
              <a:xfrm>
                <a:off x="4265" y="2586"/>
                <a:ext cx="12" cy="46"/>
              </a:xfrm>
              <a:custGeom>
                <a:avLst/>
                <a:gdLst>
                  <a:gd name="T0" fmla="*/ 0 w 12"/>
                  <a:gd name="T1" fmla="*/ 46 h 46"/>
                  <a:gd name="T2" fmla="*/ 4 w 12"/>
                  <a:gd name="T3" fmla="*/ 46 h 46"/>
                  <a:gd name="T4" fmla="*/ 4 w 12"/>
                  <a:gd name="T5" fmla="*/ 46 h 46"/>
                  <a:gd name="T6" fmla="*/ 8 w 12"/>
                  <a:gd name="T7" fmla="*/ 42 h 46"/>
                  <a:gd name="T8" fmla="*/ 12 w 12"/>
                  <a:gd name="T9" fmla="*/ 42 h 46"/>
                  <a:gd name="T10" fmla="*/ 12 w 12"/>
                  <a:gd name="T11" fmla="*/ 3 h 46"/>
                  <a:gd name="T12" fmla="*/ 4 w 12"/>
                  <a:gd name="T13" fmla="*/ 0 h 46"/>
                  <a:gd name="T14" fmla="*/ 4 w 12"/>
                  <a:gd name="T15" fmla="*/ 0 h 46"/>
                  <a:gd name="T16" fmla="*/ 0 w 12"/>
                  <a:gd name="T17" fmla="*/ 3 h 46"/>
                  <a:gd name="T18" fmla="*/ 0 w 12"/>
                  <a:gd name="T19" fmla="*/ 6 h 46"/>
                  <a:gd name="T20" fmla="*/ 0 w 12"/>
                  <a:gd name="T21" fmla="*/ 46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"/>
                  <a:gd name="T34" fmla="*/ 0 h 46"/>
                  <a:gd name="T35" fmla="*/ 12 w 12"/>
                  <a:gd name="T36" fmla="*/ 46 h 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" h="46">
                    <a:moveTo>
                      <a:pt x="0" y="46"/>
                    </a:moveTo>
                    <a:lnTo>
                      <a:pt x="4" y="46"/>
                    </a:lnTo>
                    <a:lnTo>
                      <a:pt x="8" y="42"/>
                    </a:lnTo>
                    <a:lnTo>
                      <a:pt x="12" y="42"/>
                    </a:lnTo>
                    <a:lnTo>
                      <a:pt x="12" y="3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90" name="Freeform 131"/>
              <p:cNvSpPr/>
              <p:nvPr/>
            </p:nvSpPr>
            <p:spPr bwMode="auto">
              <a:xfrm>
                <a:off x="4265" y="2517"/>
                <a:ext cx="12" cy="46"/>
              </a:xfrm>
              <a:custGeom>
                <a:avLst/>
                <a:gdLst>
                  <a:gd name="T0" fmla="*/ 0 w 12"/>
                  <a:gd name="T1" fmla="*/ 46 h 46"/>
                  <a:gd name="T2" fmla="*/ 4 w 12"/>
                  <a:gd name="T3" fmla="*/ 46 h 46"/>
                  <a:gd name="T4" fmla="*/ 4 w 12"/>
                  <a:gd name="T5" fmla="*/ 46 h 46"/>
                  <a:gd name="T6" fmla="*/ 8 w 12"/>
                  <a:gd name="T7" fmla="*/ 43 h 46"/>
                  <a:gd name="T8" fmla="*/ 12 w 12"/>
                  <a:gd name="T9" fmla="*/ 43 h 46"/>
                  <a:gd name="T10" fmla="*/ 12 w 12"/>
                  <a:gd name="T11" fmla="*/ 3 h 46"/>
                  <a:gd name="T12" fmla="*/ 4 w 12"/>
                  <a:gd name="T13" fmla="*/ 0 h 46"/>
                  <a:gd name="T14" fmla="*/ 4 w 12"/>
                  <a:gd name="T15" fmla="*/ 0 h 46"/>
                  <a:gd name="T16" fmla="*/ 0 w 12"/>
                  <a:gd name="T17" fmla="*/ 3 h 46"/>
                  <a:gd name="T18" fmla="*/ 0 w 12"/>
                  <a:gd name="T19" fmla="*/ 6 h 46"/>
                  <a:gd name="T20" fmla="*/ 0 w 12"/>
                  <a:gd name="T21" fmla="*/ 46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"/>
                  <a:gd name="T34" fmla="*/ 0 h 46"/>
                  <a:gd name="T35" fmla="*/ 12 w 12"/>
                  <a:gd name="T36" fmla="*/ 46 h 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" h="46">
                    <a:moveTo>
                      <a:pt x="0" y="46"/>
                    </a:moveTo>
                    <a:lnTo>
                      <a:pt x="4" y="46"/>
                    </a:lnTo>
                    <a:lnTo>
                      <a:pt x="8" y="43"/>
                    </a:lnTo>
                    <a:lnTo>
                      <a:pt x="12" y="43"/>
                    </a:lnTo>
                    <a:lnTo>
                      <a:pt x="12" y="3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91" name="Freeform 132"/>
              <p:cNvSpPr/>
              <p:nvPr/>
            </p:nvSpPr>
            <p:spPr bwMode="auto">
              <a:xfrm>
                <a:off x="4265" y="2448"/>
                <a:ext cx="12" cy="46"/>
              </a:xfrm>
              <a:custGeom>
                <a:avLst/>
                <a:gdLst>
                  <a:gd name="T0" fmla="*/ 0 w 12"/>
                  <a:gd name="T1" fmla="*/ 46 h 46"/>
                  <a:gd name="T2" fmla="*/ 4 w 12"/>
                  <a:gd name="T3" fmla="*/ 46 h 46"/>
                  <a:gd name="T4" fmla="*/ 4 w 12"/>
                  <a:gd name="T5" fmla="*/ 46 h 46"/>
                  <a:gd name="T6" fmla="*/ 8 w 12"/>
                  <a:gd name="T7" fmla="*/ 43 h 46"/>
                  <a:gd name="T8" fmla="*/ 12 w 12"/>
                  <a:gd name="T9" fmla="*/ 43 h 46"/>
                  <a:gd name="T10" fmla="*/ 12 w 12"/>
                  <a:gd name="T11" fmla="*/ 3 h 46"/>
                  <a:gd name="T12" fmla="*/ 4 w 12"/>
                  <a:gd name="T13" fmla="*/ 0 h 46"/>
                  <a:gd name="T14" fmla="*/ 4 w 12"/>
                  <a:gd name="T15" fmla="*/ 0 h 46"/>
                  <a:gd name="T16" fmla="*/ 0 w 12"/>
                  <a:gd name="T17" fmla="*/ 3 h 46"/>
                  <a:gd name="T18" fmla="*/ 0 w 12"/>
                  <a:gd name="T19" fmla="*/ 7 h 46"/>
                  <a:gd name="T20" fmla="*/ 0 w 12"/>
                  <a:gd name="T21" fmla="*/ 46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"/>
                  <a:gd name="T34" fmla="*/ 0 h 46"/>
                  <a:gd name="T35" fmla="*/ 12 w 12"/>
                  <a:gd name="T36" fmla="*/ 46 h 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" h="46">
                    <a:moveTo>
                      <a:pt x="0" y="46"/>
                    </a:moveTo>
                    <a:lnTo>
                      <a:pt x="4" y="46"/>
                    </a:lnTo>
                    <a:lnTo>
                      <a:pt x="8" y="43"/>
                    </a:lnTo>
                    <a:lnTo>
                      <a:pt x="12" y="43"/>
                    </a:lnTo>
                    <a:lnTo>
                      <a:pt x="12" y="3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92" name="Freeform 133"/>
              <p:cNvSpPr/>
              <p:nvPr/>
            </p:nvSpPr>
            <p:spPr bwMode="auto">
              <a:xfrm>
                <a:off x="4265" y="2379"/>
                <a:ext cx="12" cy="46"/>
              </a:xfrm>
              <a:custGeom>
                <a:avLst/>
                <a:gdLst>
                  <a:gd name="T0" fmla="*/ 0 w 12"/>
                  <a:gd name="T1" fmla="*/ 46 h 46"/>
                  <a:gd name="T2" fmla="*/ 4 w 12"/>
                  <a:gd name="T3" fmla="*/ 46 h 46"/>
                  <a:gd name="T4" fmla="*/ 4 w 12"/>
                  <a:gd name="T5" fmla="*/ 46 h 46"/>
                  <a:gd name="T6" fmla="*/ 8 w 12"/>
                  <a:gd name="T7" fmla="*/ 43 h 46"/>
                  <a:gd name="T8" fmla="*/ 12 w 12"/>
                  <a:gd name="T9" fmla="*/ 43 h 46"/>
                  <a:gd name="T10" fmla="*/ 12 w 12"/>
                  <a:gd name="T11" fmla="*/ 3 h 46"/>
                  <a:gd name="T12" fmla="*/ 4 w 12"/>
                  <a:gd name="T13" fmla="*/ 0 h 46"/>
                  <a:gd name="T14" fmla="*/ 4 w 12"/>
                  <a:gd name="T15" fmla="*/ 0 h 46"/>
                  <a:gd name="T16" fmla="*/ 0 w 12"/>
                  <a:gd name="T17" fmla="*/ 3 h 46"/>
                  <a:gd name="T18" fmla="*/ 0 w 12"/>
                  <a:gd name="T19" fmla="*/ 7 h 46"/>
                  <a:gd name="T20" fmla="*/ 0 w 12"/>
                  <a:gd name="T21" fmla="*/ 46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"/>
                  <a:gd name="T34" fmla="*/ 0 h 46"/>
                  <a:gd name="T35" fmla="*/ 12 w 12"/>
                  <a:gd name="T36" fmla="*/ 46 h 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" h="46">
                    <a:moveTo>
                      <a:pt x="0" y="46"/>
                    </a:moveTo>
                    <a:lnTo>
                      <a:pt x="4" y="46"/>
                    </a:lnTo>
                    <a:lnTo>
                      <a:pt x="8" y="43"/>
                    </a:lnTo>
                    <a:lnTo>
                      <a:pt x="12" y="43"/>
                    </a:lnTo>
                    <a:lnTo>
                      <a:pt x="12" y="3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93" name="Freeform 134"/>
              <p:cNvSpPr/>
              <p:nvPr/>
            </p:nvSpPr>
            <p:spPr bwMode="auto">
              <a:xfrm>
                <a:off x="4265" y="2320"/>
                <a:ext cx="12" cy="36"/>
              </a:xfrm>
              <a:custGeom>
                <a:avLst/>
                <a:gdLst>
                  <a:gd name="T0" fmla="*/ 0 w 12"/>
                  <a:gd name="T1" fmla="*/ 36 h 36"/>
                  <a:gd name="T2" fmla="*/ 4 w 12"/>
                  <a:gd name="T3" fmla="*/ 36 h 36"/>
                  <a:gd name="T4" fmla="*/ 4 w 12"/>
                  <a:gd name="T5" fmla="*/ 36 h 36"/>
                  <a:gd name="T6" fmla="*/ 8 w 12"/>
                  <a:gd name="T7" fmla="*/ 33 h 36"/>
                  <a:gd name="T8" fmla="*/ 12 w 12"/>
                  <a:gd name="T9" fmla="*/ 33 h 36"/>
                  <a:gd name="T10" fmla="*/ 12 w 12"/>
                  <a:gd name="T11" fmla="*/ 3 h 36"/>
                  <a:gd name="T12" fmla="*/ 4 w 12"/>
                  <a:gd name="T13" fmla="*/ 0 h 36"/>
                  <a:gd name="T14" fmla="*/ 4 w 12"/>
                  <a:gd name="T15" fmla="*/ 0 h 36"/>
                  <a:gd name="T16" fmla="*/ 0 w 12"/>
                  <a:gd name="T17" fmla="*/ 3 h 36"/>
                  <a:gd name="T18" fmla="*/ 0 w 12"/>
                  <a:gd name="T19" fmla="*/ 7 h 36"/>
                  <a:gd name="T20" fmla="*/ 0 w 12"/>
                  <a:gd name="T21" fmla="*/ 36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"/>
                  <a:gd name="T34" fmla="*/ 0 h 36"/>
                  <a:gd name="T35" fmla="*/ 12 w 12"/>
                  <a:gd name="T36" fmla="*/ 36 h 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" h="36">
                    <a:moveTo>
                      <a:pt x="0" y="36"/>
                    </a:moveTo>
                    <a:lnTo>
                      <a:pt x="4" y="36"/>
                    </a:lnTo>
                    <a:lnTo>
                      <a:pt x="8" y="33"/>
                    </a:lnTo>
                    <a:lnTo>
                      <a:pt x="12" y="33"/>
                    </a:lnTo>
                    <a:lnTo>
                      <a:pt x="12" y="3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06915" name="Group 135"/>
            <p:cNvGrpSpPr/>
            <p:nvPr/>
          </p:nvGrpSpPr>
          <p:grpSpPr bwMode="auto">
            <a:xfrm>
              <a:off x="3904" y="2780"/>
              <a:ext cx="85" cy="167"/>
              <a:chOff x="3904" y="2924"/>
              <a:chExt cx="85" cy="167"/>
            </a:xfrm>
          </p:grpSpPr>
          <p:sp>
            <p:nvSpPr>
              <p:cNvPr id="206985" name="Freeform 136"/>
              <p:cNvSpPr/>
              <p:nvPr/>
            </p:nvSpPr>
            <p:spPr bwMode="auto">
              <a:xfrm>
                <a:off x="3904" y="2924"/>
                <a:ext cx="27" cy="46"/>
              </a:xfrm>
              <a:custGeom>
                <a:avLst/>
                <a:gdLst>
                  <a:gd name="T0" fmla="*/ 12 w 27"/>
                  <a:gd name="T1" fmla="*/ 3 h 46"/>
                  <a:gd name="T2" fmla="*/ 4 w 27"/>
                  <a:gd name="T3" fmla="*/ 0 h 46"/>
                  <a:gd name="T4" fmla="*/ 4 w 27"/>
                  <a:gd name="T5" fmla="*/ 0 h 46"/>
                  <a:gd name="T6" fmla="*/ 0 w 27"/>
                  <a:gd name="T7" fmla="*/ 3 h 46"/>
                  <a:gd name="T8" fmla="*/ 0 w 27"/>
                  <a:gd name="T9" fmla="*/ 6 h 46"/>
                  <a:gd name="T10" fmla="*/ 16 w 27"/>
                  <a:gd name="T11" fmla="*/ 43 h 46"/>
                  <a:gd name="T12" fmla="*/ 20 w 27"/>
                  <a:gd name="T13" fmla="*/ 46 h 46"/>
                  <a:gd name="T14" fmla="*/ 23 w 27"/>
                  <a:gd name="T15" fmla="*/ 46 h 46"/>
                  <a:gd name="T16" fmla="*/ 27 w 27"/>
                  <a:gd name="T17" fmla="*/ 43 h 46"/>
                  <a:gd name="T18" fmla="*/ 27 w 27"/>
                  <a:gd name="T19" fmla="*/ 39 h 46"/>
                  <a:gd name="T20" fmla="*/ 12 w 27"/>
                  <a:gd name="T21" fmla="*/ 3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7"/>
                  <a:gd name="T34" fmla="*/ 0 h 46"/>
                  <a:gd name="T35" fmla="*/ 27 w 27"/>
                  <a:gd name="T36" fmla="*/ 46 h 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7" h="46">
                    <a:moveTo>
                      <a:pt x="12" y="3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6" y="43"/>
                    </a:lnTo>
                    <a:lnTo>
                      <a:pt x="20" y="46"/>
                    </a:lnTo>
                    <a:lnTo>
                      <a:pt x="23" y="46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12" y="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86" name="Freeform 137"/>
              <p:cNvSpPr/>
              <p:nvPr/>
            </p:nvSpPr>
            <p:spPr bwMode="auto">
              <a:xfrm>
                <a:off x="3931" y="2986"/>
                <a:ext cx="27" cy="46"/>
              </a:xfrm>
              <a:custGeom>
                <a:avLst/>
                <a:gdLst>
                  <a:gd name="T0" fmla="*/ 12 w 27"/>
                  <a:gd name="T1" fmla="*/ 4 h 46"/>
                  <a:gd name="T2" fmla="*/ 8 w 27"/>
                  <a:gd name="T3" fmla="*/ 0 h 46"/>
                  <a:gd name="T4" fmla="*/ 4 w 27"/>
                  <a:gd name="T5" fmla="*/ 0 h 46"/>
                  <a:gd name="T6" fmla="*/ 0 w 27"/>
                  <a:gd name="T7" fmla="*/ 4 h 46"/>
                  <a:gd name="T8" fmla="*/ 0 w 27"/>
                  <a:gd name="T9" fmla="*/ 7 h 46"/>
                  <a:gd name="T10" fmla="*/ 16 w 27"/>
                  <a:gd name="T11" fmla="*/ 43 h 46"/>
                  <a:gd name="T12" fmla="*/ 19 w 27"/>
                  <a:gd name="T13" fmla="*/ 46 h 46"/>
                  <a:gd name="T14" fmla="*/ 23 w 27"/>
                  <a:gd name="T15" fmla="*/ 46 h 46"/>
                  <a:gd name="T16" fmla="*/ 27 w 27"/>
                  <a:gd name="T17" fmla="*/ 43 h 46"/>
                  <a:gd name="T18" fmla="*/ 27 w 27"/>
                  <a:gd name="T19" fmla="*/ 40 h 46"/>
                  <a:gd name="T20" fmla="*/ 12 w 27"/>
                  <a:gd name="T21" fmla="*/ 4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7"/>
                  <a:gd name="T34" fmla="*/ 0 h 46"/>
                  <a:gd name="T35" fmla="*/ 27 w 27"/>
                  <a:gd name="T36" fmla="*/ 46 h 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7" h="46">
                    <a:moveTo>
                      <a:pt x="12" y="4"/>
                    </a:moveTo>
                    <a:lnTo>
                      <a:pt x="8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16" y="43"/>
                    </a:lnTo>
                    <a:lnTo>
                      <a:pt x="19" y="46"/>
                    </a:lnTo>
                    <a:lnTo>
                      <a:pt x="23" y="46"/>
                    </a:lnTo>
                    <a:lnTo>
                      <a:pt x="27" y="43"/>
                    </a:lnTo>
                    <a:lnTo>
                      <a:pt x="27" y="40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87" name="Freeform 138"/>
              <p:cNvSpPr/>
              <p:nvPr/>
            </p:nvSpPr>
            <p:spPr bwMode="auto">
              <a:xfrm>
                <a:off x="3962" y="3052"/>
                <a:ext cx="27" cy="39"/>
              </a:xfrm>
              <a:custGeom>
                <a:avLst/>
                <a:gdLst>
                  <a:gd name="T0" fmla="*/ 11 w 27"/>
                  <a:gd name="T1" fmla="*/ 3 h 39"/>
                  <a:gd name="T2" fmla="*/ 8 w 27"/>
                  <a:gd name="T3" fmla="*/ 0 h 39"/>
                  <a:gd name="T4" fmla="*/ 4 w 27"/>
                  <a:gd name="T5" fmla="*/ 0 h 39"/>
                  <a:gd name="T6" fmla="*/ 0 w 27"/>
                  <a:gd name="T7" fmla="*/ 3 h 39"/>
                  <a:gd name="T8" fmla="*/ 0 w 27"/>
                  <a:gd name="T9" fmla="*/ 6 h 39"/>
                  <a:gd name="T10" fmla="*/ 15 w 27"/>
                  <a:gd name="T11" fmla="*/ 39 h 39"/>
                  <a:gd name="T12" fmla="*/ 19 w 27"/>
                  <a:gd name="T13" fmla="*/ 39 h 39"/>
                  <a:gd name="T14" fmla="*/ 19 w 27"/>
                  <a:gd name="T15" fmla="*/ 39 h 39"/>
                  <a:gd name="T16" fmla="*/ 23 w 27"/>
                  <a:gd name="T17" fmla="*/ 36 h 39"/>
                  <a:gd name="T18" fmla="*/ 27 w 27"/>
                  <a:gd name="T19" fmla="*/ 36 h 39"/>
                  <a:gd name="T20" fmla="*/ 11 w 27"/>
                  <a:gd name="T21" fmla="*/ 3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7"/>
                  <a:gd name="T34" fmla="*/ 0 h 39"/>
                  <a:gd name="T35" fmla="*/ 27 w 27"/>
                  <a:gd name="T36" fmla="*/ 39 h 3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7" h="39">
                    <a:moveTo>
                      <a:pt x="11" y="3"/>
                    </a:moveTo>
                    <a:lnTo>
                      <a:pt x="8" y="0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5" y="39"/>
                    </a:lnTo>
                    <a:lnTo>
                      <a:pt x="19" y="39"/>
                    </a:lnTo>
                    <a:lnTo>
                      <a:pt x="23" y="36"/>
                    </a:lnTo>
                    <a:lnTo>
                      <a:pt x="27" y="36"/>
                    </a:lnTo>
                    <a:lnTo>
                      <a:pt x="11" y="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06916" name="Group 139"/>
            <p:cNvGrpSpPr/>
            <p:nvPr/>
          </p:nvGrpSpPr>
          <p:grpSpPr bwMode="auto">
            <a:xfrm>
              <a:off x="3425" y="2176"/>
              <a:ext cx="848" cy="10"/>
              <a:chOff x="3425" y="2320"/>
              <a:chExt cx="848" cy="10"/>
            </a:xfrm>
          </p:grpSpPr>
          <p:sp>
            <p:nvSpPr>
              <p:cNvPr id="206974" name="Freeform 140"/>
              <p:cNvSpPr/>
              <p:nvPr/>
            </p:nvSpPr>
            <p:spPr bwMode="auto">
              <a:xfrm>
                <a:off x="3425" y="2320"/>
                <a:ext cx="54" cy="10"/>
              </a:xfrm>
              <a:custGeom>
                <a:avLst/>
                <a:gdLst>
                  <a:gd name="T0" fmla="*/ 7 w 54"/>
                  <a:gd name="T1" fmla="*/ 0 h 10"/>
                  <a:gd name="T2" fmla="*/ 4 w 54"/>
                  <a:gd name="T3" fmla="*/ 0 h 10"/>
                  <a:gd name="T4" fmla="*/ 0 w 54"/>
                  <a:gd name="T5" fmla="*/ 3 h 10"/>
                  <a:gd name="T6" fmla="*/ 0 w 54"/>
                  <a:gd name="T7" fmla="*/ 3 h 10"/>
                  <a:gd name="T8" fmla="*/ 4 w 54"/>
                  <a:gd name="T9" fmla="*/ 10 h 10"/>
                  <a:gd name="T10" fmla="*/ 46 w 54"/>
                  <a:gd name="T11" fmla="*/ 10 h 10"/>
                  <a:gd name="T12" fmla="*/ 50 w 54"/>
                  <a:gd name="T13" fmla="*/ 10 h 10"/>
                  <a:gd name="T14" fmla="*/ 54 w 54"/>
                  <a:gd name="T15" fmla="*/ 7 h 10"/>
                  <a:gd name="T16" fmla="*/ 54 w 54"/>
                  <a:gd name="T17" fmla="*/ 3 h 10"/>
                  <a:gd name="T18" fmla="*/ 50 w 54"/>
                  <a:gd name="T19" fmla="*/ 0 h 10"/>
                  <a:gd name="T20" fmla="*/ 7 w 54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4"/>
                  <a:gd name="T34" fmla="*/ 0 h 10"/>
                  <a:gd name="T35" fmla="*/ 54 w 54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4" h="10">
                    <a:moveTo>
                      <a:pt x="7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4" y="10"/>
                    </a:lnTo>
                    <a:lnTo>
                      <a:pt x="46" y="10"/>
                    </a:lnTo>
                    <a:lnTo>
                      <a:pt x="50" y="10"/>
                    </a:lnTo>
                    <a:lnTo>
                      <a:pt x="54" y="7"/>
                    </a:lnTo>
                    <a:lnTo>
                      <a:pt x="54" y="3"/>
                    </a:lnTo>
                    <a:lnTo>
                      <a:pt x="50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75" name="Freeform 141"/>
              <p:cNvSpPr/>
              <p:nvPr/>
            </p:nvSpPr>
            <p:spPr bwMode="auto">
              <a:xfrm>
                <a:off x="3502" y="2320"/>
                <a:ext cx="57" cy="10"/>
              </a:xfrm>
              <a:custGeom>
                <a:avLst/>
                <a:gdLst>
                  <a:gd name="T0" fmla="*/ 7 w 57"/>
                  <a:gd name="T1" fmla="*/ 0 h 10"/>
                  <a:gd name="T2" fmla="*/ 3 w 57"/>
                  <a:gd name="T3" fmla="*/ 0 h 10"/>
                  <a:gd name="T4" fmla="*/ 0 w 57"/>
                  <a:gd name="T5" fmla="*/ 3 h 10"/>
                  <a:gd name="T6" fmla="*/ 0 w 57"/>
                  <a:gd name="T7" fmla="*/ 7 h 10"/>
                  <a:gd name="T8" fmla="*/ 3 w 57"/>
                  <a:gd name="T9" fmla="*/ 10 h 10"/>
                  <a:gd name="T10" fmla="*/ 49 w 57"/>
                  <a:gd name="T11" fmla="*/ 10 h 10"/>
                  <a:gd name="T12" fmla="*/ 53 w 57"/>
                  <a:gd name="T13" fmla="*/ 10 h 10"/>
                  <a:gd name="T14" fmla="*/ 57 w 57"/>
                  <a:gd name="T15" fmla="*/ 7 h 10"/>
                  <a:gd name="T16" fmla="*/ 57 w 57"/>
                  <a:gd name="T17" fmla="*/ 3 h 10"/>
                  <a:gd name="T18" fmla="*/ 53 w 57"/>
                  <a:gd name="T19" fmla="*/ 0 h 10"/>
                  <a:gd name="T20" fmla="*/ 7 w 57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7"/>
                  <a:gd name="T34" fmla="*/ 0 h 10"/>
                  <a:gd name="T35" fmla="*/ 57 w 5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7" h="10">
                    <a:moveTo>
                      <a:pt x="7" y="0"/>
                    </a:moveTo>
                    <a:lnTo>
                      <a:pt x="3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3" y="10"/>
                    </a:lnTo>
                    <a:lnTo>
                      <a:pt x="49" y="10"/>
                    </a:lnTo>
                    <a:lnTo>
                      <a:pt x="53" y="10"/>
                    </a:lnTo>
                    <a:lnTo>
                      <a:pt x="57" y="7"/>
                    </a:lnTo>
                    <a:lnTo>
                      <a:pt x="57" y="3"/>
                    </a:lnTo>
                    <a:lnTo>
                      <a:pt x="53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76" name="Freeform 142"/>
              <p:cNvSpPr/>
              <p:nvPr/>
            </p:nvSpPr>
            <p:spPr bwMode="auto">
              <a:xfrm>
                <a:off x="3582" y="2320"/>
                <a:ext cx="58" cy="10"/>
              </a:xfrm>
              <a:custGeom>
                <a:avLst/>
                <a:gdLst>
                  <a:gd name="T0" fmla="*/ 8 w 58"/>
                  <a:gd name="T1" fmla="*/ 0 h 10"/>
                  <a:gd name="T2" fmla="*/ 4 w 58"/>
                  <a:gd name="T3" fmla="*/ 0 h 10"/>
                  <a:gd name="T4" fmla="*/ 0 w 58"/>
                  <a:gd name="T5" fmla="*/ 3 h 10"/>
                  <a:gd name="T6" fmla="*/ 0 w 58"/>
                  <a:gd name="T7" fmla="*/ 7 h 10"/>
                  <a:gd name="T8" fmla="*/ 4 w 58"/>
                  <a:gd name="T9" fmla="*/ 10 h 10"/>
                  <a:gd name="T10" fmla="*/ 50 w 58"/>
                  <a:gd name="T11" fmla="*/ 10 h 10"/>
                  <a:gd name="T12" fmla="*/ 54 w 58"/>
                  <a:gd name="T13" fmla="*/ 10 h 10"/>
                  <a:gd name="T14" fmla="*/ 58 w 58"/>
                  <a:gd name="T15" fmla="*/ 7 h 10"/>
                  <a:gd name="T16" fmla="*/ 58 w 58"/>
                  <a:gd name="T17" fmla="*/ 3 h 10"/>
                  <a:gd name="T18" fmla="*/ 54 w 58"/>
                  <a:gd name="T19" fmla="*/ 0 h 10"/>
                  <a:gd name="T20" fmla="*/ 8 w 58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8"/>
                  <a:gd name="T34" fmla="*/ 0 h 10"/>
                  <a:gd name="T35" fmla="*/ 58 w 58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8" h="10">
                    <a:moveTo>
                      <a:pt x="8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4" y="10"/>
                    </a:lnTo>
                    <a:lnTo>
                      <a:pt x="50" y="10"/>
                    </a:lnTo>
                    <a:lnTo>
                      <a:pt x="54" y="10"/>
                    </a:lnTo>
                    <a:lnTo>
                      <a:pt x="58" y="7"/>
                    </a:lnTo>
                    <a:lnTo>
                      <a:pt x="58" y="3"/>
                    </a:lnTo>
                    <a:lnTo>
                      <a:pt x="54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77" name="Freeform 143"/>
              <p:cNvSpPr/>
              <p:nvPr/>
            </p:nvSpPr>
            <p:spPr bwMode="auto">
              <a:xfrm>
                <a:off x="3663" y="2320"/>
                <a:ext cx="57" cy="10"/>
              </a:xfrm>
              <a:custGeom>
                <a:avLst/>
                <a:gdLst>
                  <a:gd name="T0" fmla="*/ 7 w 57"/>
                  <a:gd name="T1" fmla="*/ 0 h 10"/>
                  <a:gd name="T2" fmla="*/ 4 w 57"/>
                  <a:gd name="T3" fmla="*/ 0 h 10"/>
                  <a:gd name="T4" fmla="*/ 0 w 57"/>
                  <a:gd name="T5" fmla="*/ 3 h 10"/>
                  <a:gd name="T6" fmla="*/ 0 w 57"/>
                  <a:gd name="T7" fmla="*/ 7 h 10"/>
                  <a:gd name="T8" fmla="*/ 4 w 57"/>
                  <a:gd name="T9" fmla="*/ 10 h 10"/>
                  <a:gd name="T10" fmla="*/ 50 w 57"/>
                  <a:gd name="T11" fmla="*/ 10 h 10"/>
                  <a:gd name="T12" fmla="*/ 53 w 57"/>
                  <a:gd name="T13" fmla="*/ 10 h 10"/>
                  <a:gd name="T14" fmla="*/ 57 w 57"/>
                  <a:gd name="T15" fmla="*/ 7 h 10"/>
                  <a:gd name="T16" fmla="*/ 57 w 57"/>
                  <a:gd name="T17" fmla="*/ 3 h 10"/>
                  <a:gd name="T18" fmla="*/ 53 w 57"/>
                  <a:gd name="T19" fmla="*/ 0 h 10"/>
                  <a:gd name="T20" fmla="*/ 7 w 57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7"/>
                  <a:gd name="T34" fmla="*/ 0 h 10"/>
                  <a:gd name="T35" fmla="*/ 57 w 5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7" h="10">
                    <a:moveTo>
                      <a:pt x="7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4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7" y="7"/>
                    </a:lnTo>
                    <a:lnTo>
                      <a:pt x="57" y="3"/>
                    </a:lnTo>
                    <a:lnTo>
                      <a:pt x="53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78" name="Freeform 144"/>
              <p:cNvSpPr/>
              <p:nvPr/>
            </p:nvSpPr>
            <p:spPr bwMode="auto">
              <a:xfrm>
                <a:off x="3743" y="2320"/>
                <a:ext cx="58" cy="10"/>
              </a:xfrm>
              <a:custGeom>
                <a:avLst/>
                <a:gdLst>
                  <a:gd name="T0" fmla="*/ 8 w 58"/>
                  <a:gd name="T1" fmla="*/ 0 h 10"/>
                  <a:gd name="T2" fmla="*/ 4 w 58"/>
                  <a:gd name="T3" fmla="*/ 0 h 10"/>
                  <a:gd name="T4" fmla="*/ 0 w 58"/>
                  <a:gd name="T5" fmla="*/ 3 h 10"/>
                  <a:gd name="T6" fmla="*/ 0 w 58"/>
                  <a:gd name="T7" fmla="*/ 7 h 10"/>
                  <a:gd name="T8" fmla="*/ 4 w 58"/>
                  <a:gd name="T9" fmla="*/ 10 h 10"/>
                  <a:gd name="T10" fmla="*/ 50 w 58"/>
                  <a:gd name="T11" fmla="*/ 10 h 10"/>
                  <a:gd name="T12" fmla="*/ 54 w 58"/>
                  <a:gd name="T13" fmla="*/ 10 h 10"/>
                  <a:gd name="T14" fmla="*/ 58 w 58"/>
                  <a:gd name="T15" fmla="*/ 7 h 10"/>
                  <a:gd name="T16" fmla="*/ 58 w 58"/>
                  <a:gd name="T17" fmla="*/ 3 h 10"/>
                  <a:gd name="T18" fmla="*/ 54 w 58"/>
                  <a:gd name="T19" fmla="*/ 0 h 10"/>
                  <a:gd name="T20" fmla="*/ 8 w 58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8"/>
                  <a:gd name="T34" fmla="*/ 0 h 10"/>
                  <a:gd name="T35" fmla="*/ 58 w 58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8" h="10">
                    <a:moveTo>
                      <a:pt x="8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4" y="10"/>
                    </a:lnTo>
                    <a:lnTo>
                      <a:pt x="50" y="10"/>
                    </a:lnTo>
                    <a:lnTo>
                      <a:pt x="54" y="10"/>
                    </a:lnTo>
                    <a:lnTo>
                      <a:pt x="58" y="7"/>
                    </a:lnTo>
                    <a:lnTo>
                      <a:pt x="58" y="3"/>
                    </a:lnTo>
                    <a:lnTo>
                      <a:pt x="54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79" name="Freeform 145"/>
              <p:cNvSpPr/>
              <p:nvPr/>
            </p:nvSpPr>
            <p:spPr bwMode="auto">
              <a:xfrm>
                <a:off x="3824" y="2320"/>
                <a:ext cx="57" cy="10"/>
              </a:xfrm>
              <a:custGeom>
                <a:avLst/>
                <a:gdLst>
                  <a:gd name="T0" fmla="*/ 7 w 57"/>
                  <a:gd name="T1" fmla="*/ 0 h 10"/>
                  <a:gd name="T2" fmla="*/ 4 w 57"/>
                  <a:gd name="T3" fmla="*/ 0 h 10"/>
                  <a:gd name="T4" fmla="*/ 0 w 57"/>
                  <a:gd name="T5" fmla="*/ 3 h 10"/>
                  <a:gd name="T6" fmla="*/ 0 w 57"/>
                  <a:gd name="T7" fmla="*/ 7 h 10"/>
                  <a:gd name="T8" fmla="*/ 4 w 57"/>
                  <a:gd name="T9" fmla="*/ 10 h 10"/>
                  <a:gd name="T10" fmla="*/ 50 w 57"/>
                  <a:gd name="T11" fmla="*/ 10 h 10"/>
                  <a:gd name="T12" fmla="*/ 54 w 57"/>
                  <a:gd name="T13" fmla="*/ 10 h 10"/>
                  <a:gd name="T14" fmla="*/ 57 w 57"/>
                  <a:gd name="T15" fmla="*/ 7 h 10"/>
                  <a:gd name="T16" fmla="*/ 57 w 57"/>
                  <a:gd name="T17" fmla="*/ 3 h 10"/>
                  <a:gd name="T18" fmla="*/ 54 w 57"/>
                  <a:gd name="T19" fmla="*/ 0 h 10"/>
                  <a:gd name="T20" fmla="*/ 7 w 57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7"/>
                  <a:gd name="T34" fmla="*/ 0 h 10"/>
                  <a:gd name="T35" fmla="*/ 57 w 5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7" h="10">
                    <a:moveTo>
                      <a:pt x="7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4" y="10"/>
                    </a:lnTo>
                    <a:lnTo>
                      <a:pt x="50" y="10"/>
                    </a:lnTo>
                    <a:lnTo>
                      <a:pt x="54" y="10"/>
                    </a:lnTo>
                    <a:lnTo>
                      <a:pt x="57" y="7"/>
                    </a:lnTo>
                    <a:lnTo>
                      <a:pt x="57" y="3"/>
                    </a:lnTo>
                    <a:lnTo>
                      <a:pt x="5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80" name="Freeform 146"/>
              <p:cNvSpPr/>
              <p:nvPr/>
            </p:nvSpPr>
            <p:spPr bwMode="auto">
              <a:xfrm>
                <a:off x="3904" y="2320"/>
                <a:ext cx="58" cy="10"/>
              </a:xfrm>
              <a:custGeom>
                <a:avLst/>
                <a:gdLst>
                  <a:gd name="T0" fmla="*/ 8 w 58"/>
                  <a:gd name="T1" fmla="*/ 0 h 10"/>
                  <a:gd name="T2" fmla="*/ 4 w 58"/>
                  <a:gd name="T3" fmla="*/ 0 h 10"/>
                  <a:gd name="T4" fmla="*/ 0 w 58"/>
                  <a:gd name="T5" fmla="*/ 3 h 10"/>
                  <a:gd name="T6" fmla="*/ 0 w 58"/>
                  <a:gd name="T7" fmla="*/ 7 h 10"/>
                  <a:gd name="T8" fmla="*/ 4 w 58"/>
                  <a:gd name="T9" fmla="*/ 10 h 10"/>
                  <a:gd name="T10" fmla="*/ 50 w 58"/>
                  <a:gd name="T11" fmla="*/ 10 h 10"/>
                  <a:gd name="T12" fmla="*/ 54 w 58"/>
                  <a:gd name="T13" fmla="*/ 10 h 10"/>
                  <a:gd name="T14" fmla="*/ 58 w 58"/>
                  <a:gd name="T15" fmla="*/ 7 h 10"/>
                  <a:gd name="T16" fmla="*/ 58 w 58"/>
                  <a:gd name="T17" fmla="*/ 3 h 10"/>
                  <a:gd name="T18" fmla="*/ 54 w 58"/>
                  <a:gd name="T19" fmla="*/ 0 h 10"/>
                  <a:gd name="T20" fmla="*/ 8 w 58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8"/>
                  <a:gd name="T34" fmla="*/ 0 h 10"/>
                  <a:gd name="T35" fmla="*/ 58 w 58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8" h="10">
                    <a:moveTo>
                      <a:pt x="8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4" y="10"/>
                    </a:lnTo>
                    <a:lnTo>
                      <a:pt x="50" y="10"/>
                    </a:lnTo>
                    <a:lnTo>
                      <a:pt x="54" y="10"/>
                    </a:lnTo>
                    <a:lnTo>
                      <a:pt x="58" y="7"/>
                    </a:lnTo>
                    <a:lnTo>
                      <a:pt x="58" y="3"/>
                    </a:lnTo>
                    <a:lnTo>
                      <a:pt x="54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81" name="Freeform 147"/>
              <p:cNvSpPr/>
              <p:nvPr/>
            </p:nvSpPr>
            <p:spPr bwMode="auto">
              <a:xfrm>
                <a:off x="3985" y="2320"/>
                <a:ext cx="57" cy="10"/>
              </a:xfrm>
              <a:custGeom>
                <a:avLst/>
                <a:gdLst>
                  <a:gd name="T0" fmla="*/ 8 w 57"/>
                  <a:gd name="T1" fmla="*/ 0 h 10"/>
                  <a:gd name="T2" fmla="*/ 4 w 57"/>
                  <a:gd name="T3" fmla="*/ 0 h 10"/>
                  <a:gd name="T4" fmla="*/ 0 w 57"/>
                  <a:gd name="T5" fmla="*/ 3 h 10"/>
                  <a:gd name="T6" fmla="*/ 0 w 57"/>
                  <a:gd name="T7" fmla="*/ 7 h 10"/>
                  <a:gd name="T8" fmla="*/ 4 w 57"/>
                  <a:gd name="T9" fmla="*/ 10 h 10"/>
                  <a:gd name="T10" fmla="*/ 50 w 57"/>
                  <a:gd name="T11" fmla="*/ 10 h 10"/>
                  <a:gd name="T12" fmla="*/ 54 w 57"/>
                  <a:gd name="T13" fmla="*/ 10 h 10"/>
                  <a:gd name="T14" fmla="*/ 57 w 57"/>
                  <a:gd name="T15" fmla="*/ 7 h 10"/>
                  <a:gd name="T16" fmla="*/ 57 w 57"/>
                  <a:gd name="T17" fmla="*/ 3 h 10"/>
                  <a:gd name="T18" fmla="*/ 54 w 57"/>
                  <a:gd name="T19" fmla="*/ 0 h 10"/>
                  <a:gd name="T20" fmla="*/ 8 w 57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7"/>
                  <a:gd name="T34" fmla="*/ 0 h 10"/>
                  <a:gd name="T35" fmla="*/ 57 w 5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7" h="10">
                    <a:moveTo>
                      <a:pt x="8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4" y="10"/>
                    </a:lnTo>
                    <a:lnTo>
                      <a:pt x="50" y="10"/>
                    </a:lnTo>
                    <a:lnTo>
                      <a:pt x="54" y="10"/>
                    </a:lnTo>
                    <a:lnTo>
                      <a:pt x="57" y="7"/>
                    </a:lnTo>
                    <a:lnTo>
                      <a:pt x="57" y="3"/>
                    </a:lnTo>
                    <a:lnTo>
                      <a:pt x="54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82" name="Freeform 148"/>
              <p:cNvSpPr/>
              <p:nvPr/>
            </p:nvSpPr>
            <p:spPr bwMode="auto">
              <a:xfrm>
                <a:off x="4066" y="2320"/>
                <a:ext cx="57" cy="10"/>
              </a:xfrm>
              <a:custGeom>
                <a:avLst/>
                <a:gdLst>
                  <a:gd name="T0" fmla="*/ 7 w 57"/>
                  <a:gd name="T1" fmla="*/ 0 h 10"/>
                  <a:gd name="T2" fmla="*/ 3 w 57"/>
                  <a:gd name="T3" fmla="*/ 0 h 10"/>
                  <a:gd name="T4" fmla="*/ 0 w 57"/>
                  <a:gd name="T5" fmla="*/ 3 h 10"/>
                  <a:gd name="T6" fmla="*/ 0 w 57"/>
                  <a:gd name="T7" fmla="*/ 7 h 10"/>
                  <a:gd name="T8" fmla="*/ 3 w 57"/>
                  <a:gd name="T9" fmla="*/ 10 h 10"/>
                  <a:gd name="T10" fmla="*/ 49 w 57"/>
                  <a:gd name="T11" fmla="*/ 10 h 10"/>
                  <a:gd name="T12" fmla="*/ 53 w 57"/>
                  <a:gd name="T13" fmla="*/ 10 h 10"/>
                  <a:gd name="T14" fmla="*/ 57 w 57"/>
                  <a:gd name="T15" fmla="*/ 7 h 10"/>
                  <a:gd name="T16" fmla="*/ 57 w 57"/>
                  <a:gd name="T17" fmla="*/ 3 h 10"/>
                  <a:gd name="T18" fmla="*/ 53 w 57"/>
                  <a:gd name="T19" fmla="*/ 0 h 10"/>
                  <a:gd name="T20" fmla="*/ 7 w 57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7"/>
                  <a:gd name="T34" fmla="*/ 0 h 10"/>
                  <a:gd name="T35" fmla="*/ 57 w 5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7" h="10">
                    <a:moveTo>
                      <a:pt x="7" y="0"/>
                    </a:moveTo>
                    <a:lnTo>
                      <a:pt x="3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3" y="10"/>
                    </a:lnTo>
                    <a:lnTo>
                      <a:pt x="49" y="10"/>
                    </a:lnTo>
                    <a:lnTo>
                      <a:pt x="53" y="10"/>
                    </a:lnTo>
                    <a:lnTo>
                      <a:pt x="57" y="7"/>
                    </a:lnTo>
                    <a:lnTo>
                      <a:pt x="57" y="3"/>
                    </a:lnTo>
                    <a:lnTo>
                      <a:pt x="53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83" name="Freeform 149"/>
              <p:cNvSpPr/>
              <p:nvPr/>
            </p:nvSpPr>
            <p:spPr bwMode="auto">
              <a:xfrm>
                <a:off x="4146" y="2320"/>
                <a:ext cx="58" cy="10"/>
              </a:xfrm>
              <a:custGeom>
                <a:avLst/>
                <a:gdLst>
                  <a:gd name="T0" fmla="*/ 8 w 58"/>
                  <a:gd name="T1" fmla="*/ 0 h 10"/>
                  <a:gd name="T2" fmla="*/ 4 w 58"/>
                  <a:gd name="T3" fmla="*/ 0 h 10"/>
                  <a:gd name="T4" fmla="*/ 0 w 58"/>
                  <a:gd name="T5" fmla="*/ 3 h 10"/>
                  <a:gd name="T6" fmla="*/ 0 w 58"/>
                  <a:gd name="T7" fmla="*/ 7 h 10"/>
                  <a:gd name="T8" fmla="*/ 4 w 58"/>
                  <a:gd name="T9" fmla="*/ 10 h 10"/>
                  <a:gd name="T10" fmla="*/ 50 w 58"/>
                  <a:gd name="T11" fmla="*/ 10 h 10"/>
                  <a:gd name="T12" fmla="*/ 54 w 58"/>
                  <a:gd name="T13" fmla="*/ 10 h 10"/>
                  <a:gd name="T14" fmla="*/ 58 w 58"/>
                  <a:gd name="T15" fmla="*/ 7 h 10"/>
                  <a:gd name="T16" fmla="*/ 58 w 58"/>
                  <a:gd name="T17" fmla="*/ 3 h 10"/>
                  <a:gd name="T18" fmla="*/ 54 w 58"/>
                  <a:gd name="T19" fmla="*/ 0 h 10"/>
                  <a:gd name="T20" fmla="*/ 8 w 58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8"/>
                  <a:gd name="T34" fmla="*/ 0 h 10"/>
                  <a:gd name="T35" fmla="*/ 58 w 58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8" h="10">
                    <a:moveTo>
                      <a:pt x="8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4" y="10"/>
                    </a:lnTo>
                    <a:lnTo>
                      <a:pt x="50" y="10"/>
                    </a:lnTo>
                    <a:lnTo>
                      <a:pt x="54" y="10"/>
                    </a:lnTo>
                    <a:lnTo>
                      <a:pt x="58" y="7"/>
                    </a:lnTo>
                    <a:lnTo>
                      <a:pt x="58" y="3"/>
                    </a:lnTo>
                    <a:lnTo>
                      <a:pt x="54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84" name="Freeform 150"/>
              <p:cNvSpPr/>
              <p:nvPr/>
            </p:nvSpPr>
            <p:spPr bwMode="auto">
              <a:xfrm>
                <a:off x="4227" y="2320"/>
                <a:ext cx="46" cy="10"/>
              </a:xfrm>
              <a:custGeom>
                <a:avLst/>
                <a:gdLst>
                  <a:gd name="T0" fmla="*/ 7 w 46"/>
                  <a:gd name="T1" fmla="*/ 0 h 10"/>
                  <a:gd name="T2" fmla="*/ 3 w 46"/>
                  <a:gd name="T3" fmla="*/ 0 h 10"/>
                  <a:gd name="T4" fmla="*/ 0 w 46"/>
                  <a:gd name="T5" fmla="*/ 3 h 10"/>
                  <a:gd name="T6" fmla="*/ 0 w 46"/>
                  <a:gd name="T7" fmla="*/ 7 h 10"/>
                  <a:gd name="T8" fmla="*/ 3 w 46"/>
                  <a:gd name="T9" fmla="*/ 10 h 10"/>
                  <a:gd name="T10" fmla="*/ 42 w 46"/>
                  <a:gd name="T11" fmla="*/ 10 h 10"/>
                  <a:gd name="T12" fmla="*/ 42 w 46"/>
                  <a:gd name="T13" fmla="*/ 7 h 10"/>
                  <a:gd name="T14" fmla="*/ 46 w 46"/>
                  <a:gd name="T15" fmla="*/ 3 h 10"/>
                  <a:gd name="T16" fmla="*/ 46 w 46"/>
                  <a:gd name="T17" fmla="*/ 3 h 10"/>
                  <a:gd name="T18" fmla="*/ 46 w 46"/>
                  <a:gd name="T19" fmla="*/ 0 h 10"/>
                  <a:gd name="T20" fmla="*/ 7 w 46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6"/>
                  <a:gd name="T34" fmla="*/ 0 h 10"/>
                  <a:gd name="T35" fmla="*/ 46 w 4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6" h="10">
                    <a:moveTo>
                      <a:pt x="7" y="0"/>
                    </a:moveTo>
                    <a:lnTo>
                      <a:pt x="3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3" y="10"/>
                    </a:lnTo>
                    <a:lnTo>
                      <a:pt x="42" y="10"/>
                    </a:lnTo>
                    <a:lnTo>
                      <a:pt x="42" y="7"/>
                    </a:lnTo>
                    <a:lnTo>
                      <a:pt x="46" y="3"/>
                    </a:lnTo>
                    <a:lnTo>
                      <a:pt x="46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06917" name="Line 151"/>
            <p:cNvSpPr>
              <a:spLocks noChangeShapeType="1"/>
            </p:cNvSpPr>
            <p:nvPr/>
          </p:nvSpPr>
          <p:spPr bwMode="auto">
            <a:xfrm>
              <a:off x="3502" y="2251"/>
              <a:ext cx="694" cy="1"/>
            </a:xfrm>
            <a:prstGeom prst="line">
              <a:avLst/>
            </a:prstGeom>
            <a:noFill/>
            <a:ln w="23813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06918" name="Group 152"/>
            <p:cNvGrpSpPr/>
            <p:nvPr/>
          </p:nvGrpSpPr>
          <p:grpSpPr bwMode="auto">
            <a:xfrm>
              <a:off x="3713" y="2928"/>
              <a:ext cx="272" cy="68"/>
              <a:chOff x="3713" y="3072"/>
              <a:chExt cx="272" cy="68"/>
            </a:xfrm>
          </p:grpSpPr>
          <p:sp>
            <p:nvSpPr>
              <p:cNvPr id="206969" name="Freeform 153"/>
              <p:cNvSpPr/>
              <p:nvPr/>
            </p:nvSpPr>
            <p:spPr bwMode="auto">
              <a:xfrm>
                <a:off x="3713" y="3101"/>
                <a:ext cx="53" cy="10"/>
              </a:xfrm>
              <a:custGeom>
                <a:avLst/>
                <a:gdLst>
                  <a:gd name="T0" fmla="*/ 7 w 53"/>
                  <a:gd name="T1" fmla="*/ 0 h 10"/>
                  <a:gd name="T2" fmla="*/ 3 w 53"/>
                  <a:gd name="T3" fmla="*/ 0 h 10"/>
                  <a:gd name="T4" fmla="*/ 0 w 53"/>
                  <a:gd name="T5" fmla="*/ 3 h 10"/>
                  <a:gd name="T6" fmla="*/ 0 w 53"/>
                  <a:gd name="T7" fmla="*/ 3 h 10"/>
                  <a:gd name="T8" fmla="*/ 3 w 53"/>
                  <a:gd name="T9" fmla="*/ 10 h 10"/>
                  <a:gd name="T10" fmla="*/ 46 w 53"/>
                  <a:gd name="T11" fmla="*/ 10 h 10"/>
                  <a:gd name="T12" fmla="*/ 49 w 53"/>
                  <a:gd name="T13" fmla="*/ 10 h 10"/>
                  <a:gd name="T14" fmla="*/ 53 w 53"/>
                  <a:gd name="T15" fmla="*/ 7 h 10"/>
                  <a:gd name="T16" fmla="*/ 53 w 53"/>
                  <a:gd name="T17" fmla="*/ 3 h 10"/>
                  <a:gd name="T18" fmla="*/ 49 w 53"/>
                  <a:gd name="T19" fmla="*/ 0 h 10"/>
                  <a:gd name="T20" fmla="*/ 7 w 53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3"/>
                  <a:gd name="T34" fmla="*/ 0 h 10"/>
                  <a:gd name="T35" fmla="*/ 53 w 53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3" h="10">
                    <a:moveTo>
                      <a:pt x="7" y="0"/>
                    </a:moveTo>
                    <a:lnTo>
                      <a:pt x="3" y="0"/>
                    </a:lnTo>
                    <a:lnTo>
                      <a:pt x="0" y="3"/>
                    </a:lnTo>
                    <a:lnTo>
                      <a:pt x="3" y="10"/>
                    </a:lnTo>
                    <a:lnTo>
                      <a:pt x="46" y="10"/>
                    </a:lnTo>
                    <a:lnTo>
                      <a:pt x="49" y="10"/>
                    </a:lnTo>
                    <a:lnTo>
                      <a:pt x="53" y="7"/>
                    </a:lnTo>
                    <a:lnTo>
                      <a:pt x="53" y="3"/>
                    </a:lnTo>
                    <a:lnTo>
                      <a:pt x="49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folHlink"/>
              </a:solidFill>
              <a:ln w="9525">
                <a:solidFill>
                  <a:schemeClr val="folHlink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70" name="Freeform 154"/>
              <p:cNvSpPr/>
              <p:nvPr/>
            </p:nvSpPr>
            <p:spPr bwMode="auto">
              <a:xfrm>
                <a:off x="3789" y="3101"/>
                <a:ext cx="58" cy="10"/>
              </a:xfrm>
              <a:custGeom>
                <a:avLst/>
                <a:gdLst>
                  <a:gd name="T0" fmla="*/ 8 w 58"/>
                  <a:gd name="T1" fmla="*/ 0 h 10"/>
                  <a:gd name="T2" fmla="*/ 4 w 58"/>
                  <a:gd name="T3" fmla="*/ 0 h 10"/>
                  <a:gd name="T4" fmla="*/ 0 w 58"/>
                  <a:gd name="T5" fmla="*/ 3 h 10"/>
                  <a:gd name="T6" fmla="*/ 0 w 58"/>
                  <a:gd name="T7" fmla="*/ 7 h 10"/>
                  <a:gd name="T8" fmla="*/ 4 w 58"/>
                  <a:gd name="T9" fmla="*/ 10 h 10"/>
                  <a:gd name="T10" fmla="*/ 50 w 58"/>
                  <a:gd name="T11" fmla="*/ 10 h 10"/>
                  <a:gd name="T12" fmla="*/ 54 w 58"/>
                  <a:gd name="T13" fmla="*/ 10 h 10"/>
                  <a:gd name="T14" fmla="*/ 58 w 58"/>
                  <a:gd name="T15" fmla="*/ 7 h 10"/>
                  <a:gd name="T16" fmla="*/ 58 w 58"/>
                  <a:gd name="T17" fmla="*/ 3 h 10"/>
                  <a:gd name="T18" fmla="*/ 54 w 58"/>
                  <a:gd name="T19" fmla="*/ 0 h 10"/>
                  <a:gd name="T20" fmla="*/ 8 w 58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8"/>
                  <a:gd name="T34" fmla="*/ 0 h 10"/>
                  <a:gd name="T35" fmla="*/ 58 w 58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8" h="10">
                    <a:moveTo>
                      <a:pt x="8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4" y="10"/>
                    </a:lnTo>
                    <a:lnTo>
                      <a:pt x="50" y="10"/>
                    </a:lnTo>
                    <a:lnTo>
                      <a:pt x="54" y="10"/>
                    </a:lnTo>
                    <a:lnTo>
                      <a:pt x="58" y="7"/>
                    </a:lnTo>
                    <a:lnTo>
                      <a:pt x="58" y="3"/>
                    </a:lnTo>
                    <a:lnTo>
                      <a:pt x="54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folHlink"/>
              </a:solidFill>
              <a:ln w="9525">
                <a:solidFill>
                  <a:schemeClr val="folHlink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71" name="Freeform 155"/>
              <p:cNvSpPr/>
              <p:nvPr/>
            </p:nvSpPr>
            <p:spPr bwMode="auto">
              <a:xfrm>
                <a:off x="3870" y="3101"/>
                <a:ext cx="57" cy="10"/>
              </a:xfrm>
              <a:custGeom>
                <a:avLst/>
                <a:gdLst>
                  <a:gd name="T0" fmla="*/ 8 w 57"/>
                  <a:gd name="T1" fmla="*/ 0 h 10"/>
                  <a:gd name="T2" fmla="*/ 4 w 57"/>
                  <a:gd name="T3" fmla="*/ 0 h 10"/>
                  <a:gd name="T4" fmla="*/ 0 w 57"/>
                  <a:gd name="T5" fmla="*/ 3 h 10"/>
                  <a:gd name="T6" fmla="*/ 0 w 57"/>
                  <a:gd name="T7" fmla="*/ 7 h 10"/>
                  <a:gd name="T8" fmla="*/ 4 w 57"/>
                  <a:gd name="T9" fmla="*/ 10 h 10"/>
                  <a:gd name="T10" fmla="*/ 50 w 57"/>
                  <a:gd name="T11" fmla="*/ 10 h 10"/>
                  <a:gd name="T12" fmla="*/ 54 w 57"/>
                  <a:gd name="T13" fmla="*/ 10 h 10"/>
                  <a:gd name="T14" fmla="*/ 57 w 57"/>
                  <a:gd name="T15" fmla="*/ 7 h 10"/>
                  <a:gd name="T16" fmla="*/ 57 w 57"/>
                  <a:gd name="T17" fmla="*/ 3 h 10"/>
                  <a:gd name="T18" fmla="*/ 54 w 57"/>
                  <a:gd name="T19" fmla="*/ 0 h 10"/>
                  <a:gd name="T20" fmla="*/ 8 w 57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7"/>
                  <a:gd name="T34" fmla="*/ 0 h 10"/>
                  <a:gd name="T35" fmla="*/ 57 w 5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7" h="10">
                    <a:moveTo>
                      <a:pt x="8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4" y="10"/>
                    </a:lnTo>
                    <a:lnTo>
                      <a:pt x="50" y="10"/>
                    </a:lnTo>
                    <a:lnTo>
                      <a:pt x="54" y="10"/>
                    </a:lnTo>
                    <a:lnTo>
                      <a:pt x="57" y="7"/>
                    </a:lnTo>
                    <a:lnTo>
                      <a:pt x="57" y="3"/>
                    </a:lnTo>
                    <a:lnTo>
                      <a:pt x="54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folHlink"/>
              </a:solidFill>
              <a:ln w="9525">
                <a:solidFill>
                  <a:schemeClr val="folHlink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72" name="Freeform 156"/>
              <p:cNvSpPr/>
              <p:nvPr/>
            </p:nvSpPr>
            <p:spPr bwMode="auto">
              <a:xfrm>
                <a:off x="3950" y="3101"/>
                <a:ext cx="35" cy="10"/>
              </a:xfrm>
              <a:custGeom>
                <a:avLst/>
                <a:gdLst>
                  <a:gd name="T0" fmla="*/ 8 w 35"/>
                  <a:gd name="T1" fmla="*/ 0 h 10"/>
                  <a:gd name="T2" fmla="*/ 4 w 35"/>
                  <a:gd name="T3" fmla="*/ 0 h 10"/>
                  <a:gd name="T4" fmla="*/ 0 w 35"/>
                  <a:gd name="T5" fmla="*/ 3 h 10"/>
                  <a:gd name="T6" fmla="*/ 0 w 35"/>
                  <a:gd name="T7" fmla="*/ 7 h 10"/>
                  <a:gd name="T8" fmla="*/ 4 w 35"/>
                  <a:gd name="T9" fmla="*/ 10 h 10"/>
                  <a:gd name="T10" fmla="*/ 31 w 35"/>
                  <a:gd name="T11" fmla="*/ 10 h 10"/>
                  <a:gd name="T12" fmla="*/ 31 w 35"/>
                  <a:gd name="T13" fmla="*/ 7 h 10"/>
                  <a:gd name="T14" fmla="*/ 35 w 35"/>
                  <a:gd name="T15" fmla="*/ 3 h 10"/>
                  <a:gd name="T16" fmla="*/ 35 w 35"/>
                  <a:gd name="T17" fmla="*/ 3 h 10"/>
                  <a:gd name="T18" fmla="*/ 35 w 35"/>
                  <a:gd name="T19" fmla="*/ 0 h 10"/>
                  <a:gd name="T20" fmla="*/ 8 w 35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5"/>
                  <a:gd name="T34" fmla="*/ 0 h 10"/>
                  <a:gd name="T35" fmla="*/ 35 w 35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5" h="10">
                    <a:moveTo>
                      <a:pt x="8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4" y="10"/>
                    </a:lnTo>
                    <a:lnTo>
                      <a:pt x="31" y="10"/>
                    </a:lnTo>
                    <a:lnTo>
                      <a:pt x="31" y="7"/>
                    </a:lnTo>
                    <a:lnTo>
                      <a:pt x="35" y="3"/>
                    </a:lnTo>
                    <a:lnTo>
                      <a:pt x="3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folHlink"/>
              </a:solidFill>
              <a:ln w="9525">
                <a:solidFill>
                  <a:schemeClr val="folHlink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73" name="Freeform 157"/>
              <p:cNvSpPr/>
              <p:nvPr/>
            </p:nvSpPr>
            <p:spPr bwMode="auto">
              <a:xfrm>
                <a:off x="3901" y="3072"/>
                <a:ext cx="80" cy="68"/>
              </a:xfrm>
              <a:custGeom>
                <a:avLst/>
                <a:gdLst>
                  <a:gd name="T0" fmla="*/ 0 w 80"/>
                  <a:gd name="T1" fmla="*/ 68 h 68"/>
                  <a:gd name="T2" fmla="*/ 80 w 80"/>
                  <a:gd name="T3" fmla="*/ 32 h 68"/>
                  <a:gd name="T4" fmla="*/ 0 w 80"/>
                  <a:gd name="T5" fmla="*/ 0 h 68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68"/>
                  <a:gd name="T11" fmla="*/ 80 w 80"/>
                  <a:gd name="T12" fmla="*/ 68 h 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68">
                    <a:moveTo>
                      <a:pt x="0" y="68"/>
                    </a:moveTo>
                    <a:lnTo>
                      <a:pt x="80" y="32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folHlink"/>
              </a:solidFill>
              <a:ln w="19050">
                <a:solidFill>
                  <a:schemeClr val="folHlink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06919" name="Line 158"/>
            <p:cNvSpPr>
              <a:spLocks noChangeShapeType="1"/>
            </p:cNvSpPr>
            <p:nvPr/>
          </p:nvSpPr>
          <p:spPr bwMode="auto">
            <a:xfrm>
              <a:off x="3574" y="2908"/>
              <a:ext cx="1" cy="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920" name="Line 159"/>
            <p:cNvSpPr>
              <a:spLocks noChangeShapeType="1"/>
            </p:cNvSpPr>
            <p:nvPr/>
          </p:nvSpPr>
          <p:spPr bwMode="auto">
            <a:xfrm>
              <a:off x="4100" y="2908"/>
              <a:ext cx="1" cy="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921" name="Oval 160"/>
            <p:cNvSpPr>
              <a:spLocks noChangeArrowheads="1"/>
            </p:cNvSpPr>
            <p:nvPr/>
          </p:nvSpPr>
          <p:spPr bwMode="auto">
            <a:xfrm>
              <a:off x="3620" y="1772"/>
              <a:ext cx="54" cy="43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/>
              </a:solidFill>
              <a:round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6922" name="Freeform 161"/>
            <p:cNvSpPr/>
            <p:nvPr/>
          </p:nvSpPr>
          <p:spPr bwMode="auto">
            <a:xfrm>
              <a:off x="3643" y="1825"/>
              <a:ext cx="50" cy="463"/>
            </a:xfrm>
            <a:custGeom>
              <a:avLst/>
              <a:gdLst>
                <a:gd name="T0" fmla="*/ 0 w 50"/>
                <a:gd name="T1" fmla="*/ 0 h 463"/>
                <a:gd name="T2" fmla="*/ 0 w 50"/>
                <a:gd name="T3" fmla="*/ 443 h 463"/>
                <a:gd name="T4" fmla="*/ 27 w 50"/>
                <a:gd name="T5" fmla="*/ 463 h 463"/>
                <a:gd name="T6" fmla="*/ 50 w 50"/>
                <a:gd name="T7" fmla="*/ 443 h 463"/>
                <a:gd name="T8" fmla="*/ 50 w 50"/>
                <a:gd name="T9" fmla="*/ 426 h 4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463"/>
                <a:gd name="T17" fmla="*/ 50 w 50"/>
                <a:gd name="T18" fmla="*/ 463 h 4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463">
                  <a:moveTo>
                    <a:pt x="0" y="0"/>
                  </a:moveTo>
                  <a:lnTo>
                    <a:pt x="0" y="443"/>
                  </a:lnTo>
                  <a:lnTo>
                    <a:pt x="27" y="463"/>
                  </a:lnTo>
                  <a:lnTo>
                    <a:pt x="50" y="443"/>
                  </a:lnTo>
                  <a:lnTo>
                    <a:pt x="50" y="42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923" name="Freeform 162"/>
            <p:cNvSpPr/>
            <p:nvPr/>
          </p:nvSpPr>
          <p:spPr bwMode="auto">
            <a:xfrm>
              <a:off x="3739" y="2107"/>
              <a:ext cx="123" cy="181"/>
            </a:xfrm>
            <a:custGeom>
              <a:avLst/>
              <a:gdLst>
                <a:gd name="T0" fmla="*/ 0 w 123"/>
                <a:gd name="T1" fmla="*/ 20 h 181"/>
                <a:gd name="T2" fmla="*/ 27 w 123"/>
                <a:gd name="T3" fmla="*/ 0 h 181"/>
                <a:gd name="T4" fmla="*/ 50 w 123"/>
                <a:gd name="T5" fmla="*/ 0 h 181"/>
                <a:gd name="T6" fmla="*/ 73 w 123"/>
                <a:gd name="T7" fmla="*/ 20 h 181"/>
                <a:gd name="T8" fmla="*/ 73 w 123"/>
                <a:gd name="T9" fmla="*/ 36 h 181"/>
                <a:gd name="T10" fmla="*/ 73 w 123"/>
                <a:gd name="T11" fmla="*/ 125 h 181"/>
                <a:gd name="T12" fmla="*/ 73 w 123"/>
                <a:gd name="T13" fmla="*/ 161 h 181"/>
                <a:gd name="T14" fmla="*/ 96 w 123"/>
                <a:gd name="T15" fmla="*/ 181 h 181"/>
                <a:gd name="T16" fmla="*/ 123 w 123"/>
                <a:gd name="T17" fmla="*/ 161 h 181"/>
                <a:gd name="T18" fmla="*/ 123 w 123"/>
                <a:gd name="T19" fmla="*/ 144 h 1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3"/>
                <a:gd name="T31" fmla="*/ 0 h 181"/>
                <a:gd name="T32" fmla="*/ 123 w 123"/>
                <a:gd name="T33" fmla="*/ 181 h 18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3" h="181">
                  <a:moveTo>
                    <a:pt x="0" y="20"/>
                  </a:moveTo>
                  <a:lnTo>
                    <a:pt x="27" y="0"/>
                  </a:lnTo>
                  <a:lnTo>
                    <a:pt x="50" y="0"/>
                  </a:lnTo>
                  <a:lnTo>
                    <a:pt x="73" y="20"/>
                  </a:lnTo>
                  <a:lnTo>
                    <a:pt x="73" y="36"/>
                  </a:lnTo>
                  <a:lnTo>
                    <a:pt x="73" y="125"/>
                  </a:lnTo>
                  <a:lnTo>
                    <a:pt x="73" y="161"/>
                  </a:lnTo>
                  <a:lnTo>
                    <a:pt x="96" y="181"/>
                  </a:lnTo>
                  <a:lnTo>
                    <a:pt x="123" y="161"/>
                  </a:lnTo>
                  <a:lnTo>
                    <a:pt x="123" y="14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924" name="Freeform 163"/>
            <p:cNvSpPr/>
            <p:nvPr/>
          </p:nvSpPr>
          <p:spPr bwMode="auto">
            <a:xfrm>
              <a:off x="3885" y="2107"/>
              <a:ext cx="119" cy="181"/>
            </a:xfrm>
            <a:custGeom>
              <a:avLst/>
              <a:gdLst>
                <a:gd name="T0" fmla="*/ 0 w 119"/>
                <a:gd name="T1" fmla="*/ 20 h 181"/>
                <a:gd name="T2" fmla="*/ 23 w 119"/>
                <a:gd name="T3" fmla="*/ 0 h 181"/>
                <a:gd name="T4" fmla="*/ 46 w 119"/>
                <a:gd name="T5" fmla="*/ 0 h 181"/>
                <a:gd name="T6" fmla="*/ 73 w 119"/>
                <a:gd name="T7" fmla="*/ 20 h 181"/>
                <a:gd name="T8" fmla="*/ 73 w 119"/>
                <a:gd name="T9" fmla="*/ 36 h 181"/>
                <a:gd name="T10" fmla="*/ 73 w 119"/>
                <a:gd name="T11" fmla="*/ 125 h 181"/>
                <a:gd name="T12" fmla="*/ 73 w 119"/>
                <a:gd name="T13" fmla="*/ 161 h 181"/>
                <a:gd name="T14" fmla="*/ 96 w 119"/>
                <a:gd name="T15" fmla="*/ 181 h 181"/>
                <a:gd name="T16" fmla="*/ 119 w 119"/>
                <a:gd name="T17" fmla="*/ 161 h 181"/>
                <a:gd name="T18" fmla="*/ 119 w 119"/>
                <a:gd name="T19" fmla="*/ 144 h 1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9"/>
                <a:gd name="T31" fmla="*/ 0 h 181"/>
                <a:gd name="T32" fmla="*/ 119 w 119"/>
                <a:gd name="T33" fmla="*/ 181 h 18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9" h="181">
                  <a:moveTo>
                    <a:pt x="0" y="20"/>
                  </a:moveTo>
                  <a:lnTo>
                    <a:pt x="23" y="0"/>
                  </a:lnTo>
                  <a:lnTo>
                    <a:pt x="46" y="0"/>
                  </a:lnTo>
                  <a:lnTo>
                    <a:pt x="73" y="20"/>
                  </a:lnTo>
                  <a:lnTo>
                    <a:pt x="73" y="36"/>
                  </a:lnTo>
                  <a:lnTo>
                    <a:pt x="73" y="125"/>
                  </a:lnTo>
                  <a:lnTo>
                    <a:pt x="73" y="161"/>
                  </a:lnTo>
                  <a:lnTo>
                    <a:pt x="96" y="181"/>
                  </a:lnTo>
                  <a:lnTo>
                    <a:pt x="119" y="161"/>
                  </a:lnTo>
                  <a:lnTo>
                    <a:pt x="119" y="14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925" name="Line 164"/>
            <p:cNvSpPr>
              <a:spLocks noChangeShapeType="1"/>
            </p:cNvSpPr>
            <p:nvPr/>
          </p:nvSpPr>
          <p:spPr bwMode="auto">
            <a:xfrm flipV="1">
              <a:off x="4027" y="1805"/>
              <a:ext cx="4" cy="32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926" name="Oval 165"/>
            <p:cNvSpPr>
              <a:spLocks noChangeArrowheads="1"/>
            </p:cNvSpPr>
            <p:nvPr/>
          </p:nvSpPr>
          <p:spPr bwMode="auto">
            <a:xfrm>
              <a:off x="4004" y="1772"/>
              <a:ext cx="54" cy="43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/>
              </a:solidFill>
              <a:round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6927" name="Rectangle 166"/>
            <p:cNvSpPr>
              <a:spLocks noChangeArrowheads="1"/>
            </p:cNvSpPr>
            <p:nvPr/>
          </p:nvSpPr>
          <p:spPr bwMode="auto">
            <a:xfrm>
              <a:off x="3643" y="1584"/>
              <a:ext cx="48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/>
                <a:t>写线圈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06928" name="Rectangle 167"/>
            <p:cNvSpPr>
              <a:spLocks noChangeArrowheads="1"/>
            </p:cNvSpPr>
            <p:nvPr/>
          </p:nvSpPr>
          <p:spPr bwMode="auto">
            <a:xfrm>
              <a:off x="3551" y="2731"/>
              <a:ext cx="196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6929" name="Rectangle 168"/>
            <p:cNvSpPr>
              <a:spLocks noChangeArrowheads="1"/>
            </p:cNvSpPr>
            <p:nvPr/>
          </p:nvSpPr>
          <p:spPr bwMode="auto">
            <a:xfrm>
              <a:off x="3559" y="2736"/>
              <a:ext cx="89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206930" name="Rectangle 169"/>
            <p:cNvSpPr>
              <a:spLocks noChangeArrowheads="1"/>
            </p:cNvSpPr>
            <p:nvPr/>
          </p:nvSpPr>
          <p:spPr bwMode="auto">
            <a:xfrm>
              <a:off x="3958" y="2731"/>
              <a:ext cx="196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6931" name="Rectangle 170"/>
            <p:cNvSpPr>
              <a:spLocks noChangeArrowheads="1"/>
            </p:cNvSpPr>
            <p:nvPr/>
          </p:nvSpPr>
          <p:spPr bwMode="auto">
            <a:xfrm>
              <a:off x="4060" y="2736"/>
              <a:ext cx="116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>
                  <a:latin typeface="Times New Roman" panose="02020603050405020304" pitchFamily="18" charset="0"/>
                </a:rPr>
                <a:t>N</a:t>
              </a:r>
            </a:p>
          </p:txBody>
        </p:sp>
        <p:sp>
          <p:nvSpPr>
            <p:cNvPr id="206932" name="Line 171"/>
            <p:cNvSpPr>
              <a:spLocks noChangeShapeType="1"/>
            </p:cNvSpPr>
            <p:nvPr/>
          </p:nvSpPr>
          <p:spPr bwMode="auto">
            <a:xfrm rot="900000">
              <a:off x="2064" y="3143"/>
              <a:ext cx="384" cy="159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933" name="Line 172"/>
            <p:cNvSpPr>
              <a:spLocks noChangeShapeType="1"/>
            </p:cNvSpPr>
            <p:nvPr/>
          </p:nvSpPr>
          <p:spPr bwMode="auto">
            <a:xfrm>
              <a:off x="3670" y="2960"/>
              <a:ext cx="46" cy="27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934" name="Line 173"/>
            <p:cNvSpPr>
              <a:spLocks noChangeShapeType="1"/>
            </p:cNvSpPr>
            <p:nvPr/>
          </p:nvSpPr>
          <p:spPr bwMode="auto">
            <a:xfrm rot="20327280" flipH="1">
              <a:off x="2925" y="3158"/>
              <a:ext cx="385" cy="11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935" name="Rectangle 174"/>
            <p:cNvSpPr>
              <a:spLocks noChangeArrowheads="1"/>
            </p:cNvSpPr>
            <p:nvPr/>
          </p:nvSpPr>
          <p:spPr bwMode="auto">
            <a:xfrm>
              <a:off x="2469" y="1772"/>
              <a:ext cx="607" cy="1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6936" name="Rectangle 175"/>
            <p:cNvSpPr>
              <a:spLocks noChangeArrowheads="1"/>
            </p:cNvSpPr>
            <p:nvPr/>
          </p:nvSpPr>
          <p:spPr bwMode="auto">
            <a:xfrm>
              <a:off x="2623" y="1812"/>
              <a:ext cx="3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/>
                <a:t>铁芯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06937" name="Line 176"/>
            <p:cNvSpPr>
              <a:spLocks noChangeShapeType="1"/>
            </p:cNvSpPr>
            <p:nvPr/>
          </p:nvSpPr>
          <p:spPr bwMode="auto">
            <a:xfrm flipH="1">
              <a:off x="2255" y="1913"/>
              <a:ext cx="360" cy="21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938" name="Line 177"/>
            <p:cNvSpPr>
              <a:spLocks noChangeShapeType="1"/>
            </p:cNvSpPr>
            <p:nvPr/>
          </p:nvSpPr>
          <p:spPr bwMode="auto">
            <a:xfrm>
              <a:off x="2903" y="1913"/>
              <a:ext cx="430" cy="26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939" name="Rectangle 178"/>
            <p:cNvSpPr>
              <a:spLocks noChangeArrowheads="1"/>
            </p:cNvSpPr>
            <p:nvPr/>
          </p:nvSpPr>
          <p:spPr bwMode="auto">
            <a:xfrm>
              <a:off x="2623" y="2133"/>
              <a:ext cx="3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/>
                <a:t>磁通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06940" name="Line 179"/>
            <p:cNvSpPr>
              <a:spLocks noChangeShapeType="1"/>
            </p:cNvSpPr>
            <p:nvPr/>
          </p:nvSpPr>
          <p:spPr bwMode="auto">
            <a:xfrm flipH="1">
              <a:off x="2159" y="2232"/>
              <a:ext cx="456" cy="269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941" name="Line 180"/>
            <p:cNvSpPr>
              <a:spLocks noChangeShapeType="1"/>
            </p:cNvSpPr>
            <p:nvPr/>
          </p:nvSpPr>
          <p:spPr bwMode="auto">
            <a:xfrm>
              <a:off x="2903" y="2232"/>
              <a:ext cx="526" cy="269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942" name="Rectangle 181"/>
            <p:cNvSpPr>
              <a:spLocks noChangeArrowheads="1"/>
            </p:cNvSpPr>
            <p:nvPr/>
          </p:nvSpPr>
          <p:spPr bwMode="auto">
            <a:xfrm>
              <a:off x="2496" y="2517"/>
              <a:ext cx="603" cy="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6943" name="Rectangle 182"/>
            <p:cNvSpPr>
              <a:spLocks noChangeArrowheads="1"/>
            </p:cNvSpPr>
            <p:nvPr/>
          </p:nvSpPr>
          <p:spPr bwMode="auto">
            <a:xfrm>
              <a:off x="2650" y="2560"/>
              <a:ext cx="32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/>
                <a:t>磁层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06944" name="Line 183"/>
            <p:cNvSpPr>
              <a:spLocks noChangeShapeType="1"/>
            </p:cNvSpPr>
            <p:nvPr/>
          </p:nvSpPr>
          <p:spPr bwMode="auto">
            <a:xfrm flipH="1">
              <a:off x="2301" y="2658"/>
              <a:ext cx="337" cy="28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945" name="Line 184"/>
            <p:cNvSpPr>
              <a:spLocks noChangeShapeType="1"/>
            </p:cNvSpPr>
            <p:nvPr/>
          </p:nvSpPr>
          <p:spPr bwMode="auto">
            <a:xfrm>
              <a:off x="2926" y="2658"/>
              <a:ext cx="430" cy="27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06946" name="Group 185"/>
            <p:cNvGrpSpPr/>
            <p:nvPr/>
          </p:nvGrpSpPr>
          <p:grpSpPr bwMode="auto">
            <a:xfrm>
              <a:off x="1488" y="1825"/>
              <a:ext cx="81" cy="193"/>
              <a:chOff x="1495" y="1969"/>
              <a:chExt cx="81" cy="193"/>
            </a:xfrm>
          </p:grpSpPr>
          <p:sp>
            <p:nvSpPr>
              <p:cNvPr id="206967" name="Line 186"/>
              <p:cNvSpPr>
                <a:spLocks noChangeShapeType="1"/>
              </p:cNvSpPr>
              <p:nvPr/>
            </p:nvSpPr>
            <p:spPr bwMode="auto">
              <a:xfrm>
                <a:off x="1533" y="1969"/>
                <a:ext cx="4" cy="15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68" name="Freeform 187"/>
              <p:cNvSpPr/>
              <p:nvPr/>
            </p:nvSpPr>
            <p:spPr bwMode="auto">
              <a:xfrm>
                <a:off x="1495" y="2093"/>
                <a:ext cx="81" cy="69"/>
              </a:xfrm>
              <a:custGeom>
                <a:avLst/>
                <a:gdLst>
                  <a:gd name="T0" fmla="*/ 0 w 81"/>
                  <a:gd name="T1" fmla="*/ 0 h 69"/>
                  <a:gd name="T2" fmla="*/ 42 w 81"/>
                  <a:gd name="T3" fmla="*/ 69 h 69"/>
                  <a:gd name="T4" fmla="*/ 81 w 81"/>
                  <a:gd name="T5" fmla="*/ 0 h 69"/>
                  <a:gd name="T6" fmla="*/ 42 w 81"/>
                  <a:gd name="T7" fmla="*/ 23 h 69"/>
                  <a:gd name="T8" fmla="*/ 0 w 81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1"/>
                  <a:gd name="T16" fmla="*/ 0 h 69"/>
                  <a:gd name="T17" fmla="*/ 81 w 81"/>
                  <a:gd name="T18" fmla="*/ 69 h 6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1" h="69">
                    <a:moveTo>
                      <a:pt x="0" y="0"/>
                    </a:moveTo>
                    <a:lnTo>
                      <a:pt x="42" y="69"/>
                    </a:lnTo>
                    <a:lnTo>
                      <a:pt x="81" y="0"/>
                    </a:lnTo>
                    <a:lnTo>
                      <a:pt x="42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 cmpd="sng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06947" name="Group 188"/>
            <p:cNvGrpSpPr/>
            <p:nvPr/>
          </p:nvGrpSpPr>
          <p:grpSpPr bwMode="auto">
            <a:xfrm>
              <a:off x="3386" y="2176"/>
              <a:ext cx="81" cy="253"/>
              <a:chOff x="3386" y="2320"/>
              <a:chExt cx="81" cy="253"/>
            </a:xfrm>
          </p:grpSpPr>
          <p:sp>
            <p:nvSpPr>
              <p:cNvPr id="206961" name="Freeform 189"/>
              <p:cNvSpPr/>
              <p:nvPr/>
            </p:nvSpPr>
            <p:spPr bwMode="auto">
              <a:xfrm>
                <a:off x="3425" y="2320"/>
                <a:ext cx="7" cy="33"/>
              </a:xfrm>
              <a:custGeom>
                <a:avLst/>
                <a:gdLst>
                  <a:gd name="T0" fmla="*/ 7 w 7"/>
                  <a:gd name="T1" fmla="*/ 3 h 33"/>
                  <a:gd name="T2" fmla="*/ 4 w 7"/>
                  <a:gd name="T3" fmla="*/ 0 h 33"/>
                  <a:gd name="T4" fmla="*/ 4 w 7"/>
                  <a:gd name="T5" fmla="*/ 0 h 33"/>
                  <a:gd name="T6" fmla="*/ 0 w 7"/>
                  <a:gd name="T7" fmla="*/ 3 h 33"/>
                  <a:gd name="T8" fmla="*/ 0 w 7"/>
                  <a:gd name="T9" fmla="*/ 29 h 33"/>
                  <a:gd name="T10" fmla="*/ 4 w 7"/>
                  <a:gd name="T11" fmla="*/ 33 h 33"/>
                  <a:gd name="T12" fmla="*/ 4 w 7"/>
                  <a:gd name="T13" fmla="*/ 33 h 33"/>
                  <a:gd name="T14" fmla="*/ 7 w 7"/>
                  <a:gd name="T15" fmla="*/ 29 h 33"/>
                  <a:gd name="T16" fmla="*/ 7 w 7"/>
                  <a:gd name="T17" fmla="*/ 3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33"/>
                  <a:gd name="T29" fmla="*/ 7 w 7"/>
                  <a:gd name="T30" fmla="*/ 33 h 3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33">
                    <a:moveTo>
                      <a:pt x="7" y="3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0" y="29"/>
                    </a:lnTo>
                    <a:lnTo>
                      <a:pt x="4" y="33"/>
                    </a:lnTo>
                    <a:lnTo>
                      <a:pt x="7" y="29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62" name="Freeform 190"/>
              <p:cNvSpPr/>
              <p:nvPr/>
            </p:nvSpPr>
            <p:spPr bwMode="auto">
              <a:xfrm>
                <a:off x="3425" y="2366"/>
                <a:ext cx="7" cy="33"/>
              </a:xfrm>
              <a:custGeom>
                <a:avLst/>
                <a:gdLst>
                  <a:gd name="T0" fmla="*/ 7 w 7"/>
                  <a:gd name="T1" fmla="*/ 3 h 33"/>
                  <a:gd name="T2" fmla="*/ 4 w 7"/>
                  <a:gd name="T3" fmla="*/ 0 h 33"/>
                  <a:gd name="T4" fmla="*/ 4 w 7"/>
                  <a:gd name="T5" fmla="*/ 0 h 33"/>
                  <a:gd name="T6" fmla="*/ 0 w 7"/>
                  <a:gd name="T7" fmla="*/ 3 h 33"/>
                  <a:gd name="T8" fmla="*/ 0 w 7"/>
                  <a:gd name="T9" fmla="*/ 29 h 33"/>
                  <a:gd name="T10" fmla="*/ 4 w 7"/>
                  <a:gd name="T11" fmla="*/ 33 h 33"/>
                  <a:gd name="T12" fmla="*/ 4 w 7"/>
                  <a:gd name="T13" fmla="*/ 33 h 33"/>
                  <a:gd name="T14" fmla="*/ 7 w 7"/>
                  <a:gd name="T15" fmla="*/ 29 h 33"/>
                  <a:gd name="T16" fmla="*/ 7 w 7"/>
                  <a:gd name="T17" fmla="*/ 3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33"/>
                  <a:gd name="T29" fmla="*/ 7 w 7"/>
                  <a:gd name="T30" fmla="*/ 33 h 3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33">
                    <a:moveTo>
                      <a:pt x="7" y="3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0" y="29"/>
                    </a:lnTo>
                    <a:lnTo>
                      <a:pt x="4" y="33"/>
                    </a:lnTo>
                    <a:lnTo>
                      <a:pt x="7" y="29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63" name="Freeform 191"/>
              <p:cNvSpPr/>
              <p:nvPr/>
            </p:nvSpPr>
            <p:spPr bwMode="auto">
              <a:xfrm>
                <a:off x="3425" y="2412"/>
                <a:ext cx="7" cy="33"/>
              </a:xfrm>
              <a:custGeom>
                <a:avLst/>
                <a:gdLst>
                  <a:gd name="T0" fmla="*/ 7 w 7"/>
                  <a:gd name="T1" fmla="*/ 3 h 33"/>
                  <a:gd name="T2" fmla="*/ 4 w 7"/>
                  <a:gd name="T3" fmla="*/ 0 h 33"/>
                  <a:gd name="T4" fmla="*/ 4 w 7"/>
                  <a:gd name="T5" fmla="*/ 0 h 33"/>
                  <a:gd name="T6" fmla="*/ 0 w 7"/>
                  <a:gd name="T7" fmla="*/ 3 h 33"/>
                  <a:gd name="T8" fmla="*/ 0 w 7"/>
                  <a:gd name="T9" fmla="*/ 29 h 33"/>
                  <a:gd name="T10" fmla="*/ 4 w 7"/>
                  <a:gd name="T11" fmla="*/ 33 h 33"/>
                  <a:gd name="T12" fmla="*/ 4 w 7"/>
                  <a:gd name="T13" fmla="*/ 33 h 33"/>
                  <a:gd name="T14" fmla="*/ 7 w 7"/>
                  <a:gd name="T15" fmla="*/ 29 h 33"/>
                  <a:gd name="T16" fmla="*/ 7 w 7"/>
                  <a:gd name="T17" fmla="*/ 3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33"/>
                  <a:gd name="T29" fmla="*/ 7 w 7"/>
                  <a:gd name="T30" fmla="*/ 33 h 3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33">
                    <a:moveTo>
                      <a:pt x="7" y="3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0" y="29"/>
                    </a:lnTo>
                    <a:lnTo>
                      <a:pt x="4" y="33"/>
                    </a:lnTo>
                    <a:lnTo>
                      <a:pt x="7" y="29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64" name="Freeform 192"/>
              <p:cNvSpPr/>
              <p:nvPr/>
            </p:nvSpPr>
            <p:spPr bwMode="auto">
              <a:xfrm>
                <a:off x="3425" y="2458"/>
                <a:ext cx="7" cy="33"/>
              </a:xfrm>
              <a:custGeom>
                <a:avLst/>
                <a:gdLst>
                  <a:gd name="T0" fmla="*/ 7 w 7"/>
                  <a:gd name="T1" fmla="*/ 3 h 33"/>
                  <a:gd name="T2" fmla="*/ 4 w 7"/>
                  <a:gd name="T3" fmla="*/ 0 h 33"/>
                  <a:gd name="T4" fmla="*/ 4 w 7"/>
                  <a:gd name="T5" fmla="*/ 0 h 33"/>
                  <a:gd name="T6" fmla="*/ 0 w 7"/>
                  <a:gd name="T7" fmla="*/ 3 h 33"/>
                  <a:gd name="T8" fmla="*/ 0 w 7"/>
                  <a:gd name="T9" fmla="*/ 29 h 33"/>
                  <a:gd name="T10" fmla="*/ 4 w 7"/>
                  <a:gd name="T11" fmla="*/ 33 h 33"/>
                  <a:gd name="T12" fmla="*/ 4 w 7"/>
                  <a:gd name="T13" fmla="*/ 33 h 33"/>
                  <a:gd name="T14" fmla="*/ 7 w 7"/>
                  <a:gd name="T15" fmla="*/ 29 h 33"/>
                  <a:gd name="T16" fmla="*/ 7 w 7"/>
                  <a:gd name="T17" fmla="*/ 3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33"/>
                  <a:gd name="T29" fmla="*/ 7 w 7"/>
                  <a:gd name="T30" fmla="*/ 33 h 3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33">
                    <a:moveTo>
                      <a:pt x="7" y="3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0" y="29"/>
                    </a:lnTo>
                    <a:lnTo>
                      <a:pt x="4" y="33"/>
                    </a:lnTo>
                    <a:lnTo>
                      <a:pt x="7" y="29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65" name="Freeform 193"/>
              <p:cNvSpPr/>
              <p:nvPr/>
            </p:nvSpPr>
            <p:spPr bwMode="auto">
              <a:xfrm>
                <a:off x="3425" y="2504"/>
                <a:ext cx="7" cy="33"/>
              </a:xfrm>
              <a:custGeom>
                <a:avLst/>
                <a:gdLst>
                  <a:gd name="T0" fmla="*/ 7 w 7"/>
                  <a:gd name="T1" fmla="*/ 3 h 33"/>
                  <a:gd name="T2" fmla="*/ 4 w 7"/>
                  <a:gd name="T3" fmla="*/ 0 h 33"/>
                  <a:gd name="T4" fmla="*/ 4 w 7"/>
                  <a:gd name="T5" fmla="*/ 0 h 33"/>
                  <a:gd name="T6" fmla="*/ 0 w 7"/>
                  <a:gd name="T7" fmla="*/ 3 h 33"/>
                  <a:gd name="T8" fmla="*/ 0 w 7"/>
                  <a:gd name="T9" fmla="*/ 29 h 33"/>
                  <a:gd name="T10" fmla="*/ 4 w 7"/>
                  <a:gd name="T11" fmla="*/ 33 h 33"/>
                  <a:gd name="T12" fmla="*/ 4 w 7"/>
                  <a:gd name="T13" fmla="*/ 33 h 33"/>
                  <a:gd name="T14" fmla="*/ 7 w 7"/>
                  <a:gd name="T15" fmla="*/ 29 h 33"/>
                  <a:gd name="T16" fmla="*/ 7 w 7"/>
                  <a:gd name="T17" fmla="*/ 3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33"/>
                  <a:gd name="T29" fmla="*/ 7 w 7"/>
                  <a:gd name="T30" fmla="*/ 33 h 3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33">
                    <a:moveTo>
                      <a:pt x="7" y="3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0" y="29"/>
                    </a:lnTo>
                    <a:lnTo>
                      <a:pt x="4" y="33"/>
                    </a:lnTo>
                    <a:lnTo>
                      <a:pt x="7" y="29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66" name="Freeform 194"/>
              <p:cNvSpPr/>
              <p:nvPr/>
            </p:nvSpPr>
            <p:spPr bwMode="auto">
              <a:xfrm>
                <a:off x="3386" y="2504"/>
                <a:ext cx="81" cy="69"/>
              </a:xfrm>
              <a:custGeom>
                <a:avLst/>
                <a:gdLst>
                  <a:gd name="T0" fmla="*/ 0 w 81"/>
                  <a:gd name="T1" fmla="*/ 0 h 69"/>
                  <a:gd name="T2" fmla="*/ 43 w 81"/>
                  <a:gd name="T3" fmla="*/ 69 h 69"/>
                  <a:gd name="T4" fmla="*/ 81 w 81"/>
                  <a:gd name="T5" fmla="*/ 0 h 69"/>
                  <a:gd name="T6" fmla="*/ 43 w 81"/>
                  <a:gd name="T7" fmla="*/ 23 h 69"/>
                  <a:gd name="T8" fmla="*/ 0 w 81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1"/>
                  <a:gd name="T16" fmla="*/ 0 h 69"/>
                  <a:gd name="T17" fmla="*/ 81 w 81"/>
                  <a:gd name="T18" fmla="*/ 69 h 6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1" h="69">
                    <a:moveTo>
                      <a:pt x="0" y="0"/>
                    </a:moveTo>
                    <a:lnTo>
                      <a:pt x="43" y="69"/>
                    </a:lnTo>
                    <a:lnTo>
                      <a:pt x="81" y="0"/>
                    </a:lnTo>
                    <a:lnTo>
                      <a:pt x="43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06948" name="Group 195"/>
            <p:cNvGrpSpPr/>
            <p:nvPr/>
          </p:nvGrpSpPr>
          <p:grpSpPr bwMode="auto">
            <a:xfrm>
              <a:off x="2117" y="2176"/>
              <a:ext cx="80" cy="289"/>
              <a:chOff x="2117" y="2320"/>
              <a:chExt cx="80" cy="289"/>
            </a:xfrm>
          </p:grpSpPr>
          <p:sp>
            <p:nvSpPr>
              <p:cNvPr id="206956" name="Freeform 196"/>
              <p:cNvSpPr/>
              <p:nvPr/>
            </p:nvSpPr>
            <p:spPr bwMode="auto">
              <a:xfrm>
                <a:off x="2155" y="2320"/>
                <a:ext cx="11" cy="46"/>
              </a:xfrm>
              <a:custGeom>
                <a:avLst/>
                <a:gdLst>
                  <a:gd name="T0" fmla="*/ 11 w 11"/>
                  <a:gd name="T1" fmla="*/ 7 h 46"/>
                  <a:gd name="T2" fmla="*/ 8 w 11"/>
                  <a:gd name="T3" fmla="*/ 3 h 46"/>
                  <a:gd name="T4" fmla="*/ 4 w 11"/>
                  <a:gd name="T5" fmla="*/ 0 h 46"/>
                  <a:gd name="T6" fmla="*/ 4 w 11"/>
                  <a:gd name="T7" fmla="*/ 0 h 46"/>
                  <a:gd name="T8" fmla="*/ 0 w 11"/>
                  <a:gd name="T9" fmla="*/ 3 h 46"/>
                  <a:gd name="T10" fmla="*/ 0 w 11"/>
                  <a:gd name="T11" fmla="*/ 39 h 46"/>
                  <a:gd name="T12" fmla="*/ 0 w 11"/>
                  <a:gd name="T13" fmla="*/ 43 h 46"/>
                  <a:gd name="T14" fmla="*/ 4 w 11"/>
                  <a:gd name="T15" fmla="*/ 46 h 46"/>
                  <a:gd name="T16" fmla="*/ 8 w 11"/>
                  <a:gd name="T17" fmla="*/ 46 h 46"/>
                  <a:gd name="T18" fmla="*/ 11 w 11"/>
                  <a:gd name="T19" fmla="*/ 43 h 46"/>
                  <a:gd name="T20" fmla="*/ 11 w 11"/>
                  <a:gd name="T21" fmla="*/ 7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46"/>
                  <a:gd name="T35" fmla="*/ 11 w 11"/>
                  <a:gd name="T36" fmla="*/ 46 h 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46">
                    <a:moveTo>
                      <a:pt x="11" y="7"/>
                    </a:moveTo>
                    <a:lnTo>
                      <a:pt x="8" y="3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39"/>
                    </a:lnTo>
                    <a:lnTo>
                      <a:pt x="0" y="43"/>
                    </a:lnTo>
                    <a:lnTo>
                      <a:pt x="4" y="46"/>
                    </a:lnTo>
                    <a:lnTo>
                      <a:pt x="8" y="46"/>
                    </a:lnTo>
                    <a:lnTo>
                      <a:pt x="11" y="43"/>
                    </a:lnTo>
                    <a:lnTo>
                      <a:pt x="11" y="7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57" name="Freeform 197"/>
              <p:cNvSpPr/>
              <p:nvPr/>
            </p:nvSpPr>
            <p:spPr bwMode="auto">
              <a:xfrm>
                <a:off x="2155" y="2386"/>
                <a:ext cx="11" cy="49"/>
              </a:xfrm>
              <a:custGeom>
                <a:avLst/>
                <a:gdLst>
                  <a:gd name="T0" fmla="*/ 11 w 11"/>
                  <a:gd name="T1" fmla="*/ 6 h 49"/>
                  <a:gd name="T2" fmla="*/ 11 w 11"/>
                  <a:gd name="T3" fmla="*/ 3 h 49"/>
                  <a:gd name="T4" fmla="*/ 8 w 11"/>
                  <a:gd name="T5" fmla="*/ 0 h 49"/>
                  <a:gd name="T6" fmla="*/ 4 w 11"/>
                  <a:gd name="T7" fmla="*/ 0 h 49"/>
                  <a:gd name="T8" fmla="*/ 0 w 11"/>
                  <a:gd name="T9" fmla="*/ 3 h 49"/>
                  <a:gd name="T10" fmla="*/ 0 w 11"/>
                  <a:gd name="T11" fmla="*/ 42 h 49"/>
                  <a:gd name="T12" fmla="*/ 0 w 11"/>
                  <a:gd name="T13" fmla="*/ 46 h 49"/>
                  <a:gd name="T14" fmla="*/ 4 w 11"/>
                  <a:gd name="T15" fmla="*/ 49 h 49"/>
                  <a:gd name="T16" fmla="*/ 8 w 11"/>
                  <a:gd name="T17" fmla="*/ 49 h 49"/>
                  <a:gd name="T18" fmla="*/ 11 w 11"/>
                  <a:gd name="T19" fmla="*/ 46 h 49"/>
                  <a:gd name="T20" fmla="*/ 11 w 11"/>
                  <a:gd name="T21" fmla="*/ 6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49"/>
                  <a:gd name="T35" fmla="*/ 11 w 11"/>
                  <a:gd name="T36" fmla="*/ 49 h 4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49">
                    <a:moveTo>
                      <a:pt x="11" y="6"/>
                    </a:moveTo>
                    <a:lnTo>
                      <a:pt x="11" y="3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42"/>
                    </a:lnTo>
                    <a:lnTo>
                      <a:pt x="0" y="46"/>
                    </a:lnTo>
                    <a:lnTo>
                      <a:pt x="4" y="49"/>
                    </a:lnTo>
                    <a:lnTo>
                      <a:pt x="8" y="49"/>
                    </a:lnTo>
                    <a:lnTo>
                      <a:pt x="11" y="46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58" name="Freeform 198"/>
              <p:cNvSpPr/>
              <p:nvPr/>
            </p:nvSpPr>
            <p:spPr bwMode="auto">
              <a:xfrm>
                <a:off x="2155" y="2455"/>
                <a:ext cx="11" cy="49"/>
              </a:xfrm>
              <a:custGeom>
                <a:avLst/>
                <a:gdLst>
                  <a:gd name="T0" fmla="*/ 11 w 11"/>
                  <a:gd name="T1" fmla="*/ 6 h 49"/>
                  <a:gd name="T2" fmla="*/ 11 w 11"/>
                  <a:gd name="T3" fmla="*/ 3 h 49"/>
                  <a:gd name="T4" fmla="*/ 8 w 11"/>
                  <a:gd name="T5" fmla="*/ 0 h 49"/>
                  <a:gd name="T6" fmla="*/ 4 w 11"/>
                  <a:gd name="T7" fmla="*/ 0 h 49"/>
                  <a:gd name="T8" fmla="*/ 0 w 11"/>
                  <a:gd name="T9" fmla="*/ 3 h 49"/>
                  <a:gd name="T10" fmla="*/ 0 w 11"/>
                  <a:gd name="T11" fmla="*/ 42 h 49"/>
                  <a:gd name="T12" fmla="*/ 0 w 11"/>
                  <a:gd name="T13" fmla="*/ 45 h 49"/>
                  <a:gd name="T14" fmla="*/ 4 w 11"/>
                  <a:gd name="T15" fmla="*/ 49 h 49"/>
                  <a:gd name="T16" fmla="*/ 8 w 11"/>
                  <a:gd name="T17" fmla="*/ 49 h 49"/>
                  <a:gd name="T18" fmla="*/ 11 w 11"/>
                  <a:gd name="T19" fmla="*/ 45 h 49"/>
                  <a:gd name="T20" fmla="*/ 11 w 11"/>
                  <a:gd name="T21" fmla="*/ 6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49"/>
                  <a:gd name="T35" fmla="*/ 11 w 11"/>
                  <a:gd name="T36" fmla="*/ 49 h 4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49">
                    <a:moveTo>
                      <a:pt x="11" y="6"/>
                    </a:moveTo>
                    <a:lnTo>
                      <a:pt x="11" y="3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42"/>
                    </a:lnTo>
                    <a:lnTo>
                      <a:pt x="0" y="45"/>
                    </a:lnTo>
                    <a:lnTo>
                      <a:pt x="4" y="49"/>
                    </a:lnTo>
                    <a:lnTo>
                      <a:pt x="8" y="49"/>
                    </a:lnTo>
                    <a:lnTo>
                      <a:pt x="11" y="45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59" name="Freeform 199"/>
              <p:cNvSpPr/>
              <p:nvPr/>
            </p:nvSpPr>
            <p:spPr bwMode="auto">
              <a:xfrm>
                <a:off x="2155" y="2523"/>
                <a:ext cx="11" cy="50"/>
              </a:xfrm>
              <a:custGeom>
                <a:avLst/>
                <a:gdLst>
                  <a:gd name="T0" fmla="*/ 11 w 11"/>
                  <a:gd name="T1" fmla="*/ 7 h 50"/>
                  <a:gd name="T2" fmla="*/ 11 w 11"/>
                  <a:gd name="T3" fmla="*/ 4 h 50"/>
                  <a:gd name="T4" fmla="*/ 8 w 11"/>
                  <a:gd name="T5" fmla="*/ 0 h 50"/>
                  <a:gd name="T6" fmla="*/ 4 w 11"/>
                  <a:gd name="T7" fmla="*/ 0 h 50"/>
                  <a:gd name="T8" fmla="*/ 0 w 11"/>
                  <a:gd name="T9" fmla="*/ 4 h 50"/>
                  <a:gd name="T10" fmla="*/ 0 w 11"/>
                  <a:gd name="T11" fmla="*/ 43 h 50"/>
                  <a:gd name="T12" fmla="*/ 0 w 11"/>
                  <a:gd name="T13" fmla="*/ 46 h 50"/>
                  <a:gd name="T14" fmla="*/ 4 w 11"/>
                  <a:gd name="T15" fmla="*/ 50 h 50"/>
                  <a:gd name="T16" fmla="*/ 8 w 11"/>
                  <a:gd name="T17" fmla="*/ 50 h 50"/>
                  <a:gd name="T18" fmla="*/ 11 w 11"/>
                  <a:gd name="T19" fmla="*/ 46 h 50"/>
                  <a:gd name="T20" fmla="*/ 11 w 11"/>
                  <a:gd name="T21" fmla="*/ 7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50"/>
                  <a:gd name="T35" fmla="*/ 11 w 11"/>
                  <a:gd name="T36" fmla="*/ 50 h 5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50">
                    <a:moveTo>
                      <a:pt x="11" y="7"/>
                    </a:moveTo>
                    <a:lnTo>
                      <a:pt x="11" y="4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43"/>
                    </a:lnTo>
                    <a:lnTo>
                      <a:pt x="0" y="46"/>
                    </a:lnTo>
                    <a:lnTo>
                      <a:pt x="4" y="50"/>
                    </a:lnTo>
                    <a:lnTo>
                      <a:pt x="8" y="50"/>
                    </a:lnTo>
                    <a:lnTo>
                      <a:pt x="11" y="46"/>
                    </a:lnTo>
                    <a:lnTo>
                      <a:pt x="11" y="7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60" name="Freeform 200"/>
              <p:cNvSpPr/>
              <p:nvPr/>
            </p:nvSpPr>
            <p:spPr bwMode="auto">
              <a:xfrm>
                <a:off x="2117" y="2540"/>
                <a:ext cx="80" cy="69"/>
              </a:xfrm>
              <a:custGeom>
                <a:avLst/>
                <a:gdLst>
                  <a:gd name="T0" fmla="*/ 0 w 80"/>
                  <a:gd name="T1" fmla="*/ 0 h 69"/>
                  <a:gd name="T2" fmla="*/ 42 w 80"/>
                  <a:gd name="T3" fmla="*/ 69 h 69"/>
                  <a:gd name="T4" fmla="*/ 80 w 80"/>
                  <a:gd name="T5" fmla="*/ 0 h 69"/>
                  <a:gd name="T6" fmla="*/ 42 w 80"/>
                  <a:gd name="T7" fmla="*/ 23 h 69"/>
                  <a:gd name="T8" fmla="*/ 0 w 80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0"/>
                  <a:gd name="T16" fmla="*/ 0 h 69"/>
                  <a:gd name="T17" fmla="*/ 80 w 80"/>
                  <a:gd name="T18" fmla="*/ 69 h 6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0" h="69">
                    <a:moveTo>
                      <a:pt x="0" y="0"/>
                    </a:moveTo>
                    <a:lnTo>
                      <a:pt x="42" y="69"/>
                    </a:lnTo>
                    <a:lnTo>
                      <a:pt x="80" y="0"/>
                    </a:lnTo>
                    <a:lnTo>
                      <a:pt x="42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06949" name="Text Box 201"/>
            <p:cNvSpPr txBox="1">
              <a:spLocks noChangeArrowheads="1"/>
            </p:cNvSpPr>
            <p:nvPr/>
          </p:nvSpPr>
          <p:spPr bwMode="auto">
            <a:xfrm>
              <a:off x="1382" y="3674"/>
              <a:ext cx="78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写入“0”</a:t>
              </a:r>
            </a:p>
          </p:txBody>
        </p:sp>
        <p:sp>
          <p:nvSpPr>
            <p:cNvPr id="206950" name="Text Box 202"/>
            <p:cNvSpPr txBox="1">
              <a:spLocks noChangeArrowheads="1"/>
            </p:cNvSpPr>
            <p:nvPr/>
          </p:nvSpPr>
          <p:spPr bwMode="auto">
            <a:xfrm>
              <a:off x="3482" y="3696"/>
              <a:ext cx="78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写入“1”</a:t>
              </a:r>
            </a:p>
          </p:txBody>
        </p:sp>
        <p:grpSp>
          <p:nvGrpSpPr>
            <p:cNvPr id="206951" name="Group 203"/>
            <p:cNvGrpSpPr/>
            <p:nvPr/>
          </p:nvGrpSpPr>
          <p:grpSpPr bwMode="auto">
            <a:xfrm>
              <a:off x="3984" y="1823"/>
              <a:ext cx="81" cy="193"/>
              <a:chOff x="1495" y="1969"/>
              <a:chExt cx="81" cy="193"/>
            </a:xfrm>
          </p:grpSpPr>
          <p:sp>
            <p:nvSpPr>
              <p:cNvPr id="206954" name="Line 204"/>
              <p:cNvSpPr>
                <a:spLocks noChangeShapeType="1"/>
              </p:cNvSpPr>
              <p:nvPr/>
            </p:nvSpPr>
            <p:spPr bwMode="auto">
              <a:xfrm>
                <a:off x="1533" y="1969"/>
                <a:ext cx="4" cy="15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955" name="Freeform 205"/>
              <p:cNvSpPr/>
              <p:nvPr/>
            </p:nvSpPr>
            <p:spPr bwMode="auto">
              <a:xfrm>
                <a:off x="1495" y="2093"/>
                <a:ext cx="81" cy="69"/>
              </a:xfrm>
              <a:custGeom>
                <a:avLst/>
                <a:gdLst>
                  <a:gd name="T0" fmla="*/ 0 w 81"/>
                  <a:gd name="T1" fmla="*/ 0 h 69"/>
                  <a:gd name="T2" fmla="*/ 42 w 81"/>
                  <a:gd name="T3" fmla="*/ 69 h 69"/>
                  <a:gd name="T4" fmla="*/ 81 w 81"/>
                  <a:gd name="T5" fmla="*/ 0 h 69"/>
                  <a:gd name="T6" fmla="*/ 42 w 81"/>
                  <a:gd name="T7" fmla="*/ 23 h 69"/>
                  <a:gd name="T8" fmla="*/ 0 w 81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1"/>
                  <a:gd name="T16" fmla="*/ 0 h 69"/>
                  <a:gd name="T17" fmla="*/ 81 w 81"/>
                  <a:gd name="T18" fmla="*/ 69 h 6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1" h="69">
                    <a:moveTo>
                      <a:pt x="0" y="0"/>
                    </a:moveTo>
                    <a:lnTo>
                      <a:pt x="42" y="69"/>
                    </a:lnTo>
                    <a:lnTo>
                      <a:pt x="81" y="0"/>
                    </a:lnTo>
                    <a:lnTo>
                      <a:pt x="42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 cmpd="sng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06952" name="Rectangle 206"/>
            <p:cNvSpPr>
              <a:spLocks noChangeArrowheads="1"/>
            </p:cNvSpPr>
            <p:nvPr/>
          </p:nvSpPr>
          <p:spPr bwMode="auto">
            <a:xfrm>
              <a:off x="4219" y="1872"/>
              <a:ext cx="53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000" b="0" i="1">
                  <a:latin typeface="Times New Roman" panose="02020603050405020304" pitchFamily="18" charset="0"/>
                </a:rPr>
                <a:t>I</a:t>
              </a:r>
              <a:endParaRPr lang="en-US" altLang="zh-CN" sz="2000" i="1">
                <a:latin typeface="Times New Roman" panose="02020603050405020304" pitchFamily="18" charset="0"/>
              </a:endParaRPr>
            </a:p>
          </p:txBody>
        </p:sp>
        <p:sp>
          <p:nvSpPr>
            <p:cNvPr id="206953" name="Line 207"/>
            <p:cNvSpPr>
              <a:spLocks noChangeShapeType="1"/>
            </p:cNvSpPr>
            <p:nvPr/>
          </p:nvSpPr>
          <p:spPr bwMode="auto">
            <a:xfrm flipH="1">
              <a:off x="1344" y="2928"/>
              <a:ext cx="215" cy="3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6855" name="AutoShape 208">
            <a:hlinkClick r:id="rId4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9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979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97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7987" grpId="0" autoUpdateAnimBg="0"/>
      <p:bldP spid="297988" grpId="0" autoUpdateAnimBg="0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3"/>
          <p:cNvGrpSpPr/>
          <p:nvPr/>
        </p:nvGrpSpPr>
        <p:grpSpPr bwMode="auto">
          <a:xfrm>
            <a:off x="1600200" y="1295400"/>
            <a:ext cx="6705600" cy="5116513"/>
            <a:chOff x="1008" y="816"/>
            <a:chExt cx="4224" cy="3223"/>
          </a:xfrm>
        </p:grpSpPr>
        <p:grpSp>
          <p:nvGrpSpPr>
            <p:cNvPr id="207879" name="Group 4"/>
            <p:cNvGrpSpPr/>
            <p:nvPr/>
          </p:nvGrpSpPr>
          <p:grpSpPr bwMode="auto">
            <a:xfrm>
              <a:off x="1008" y="2150"/>
              <a:ext cx="1917" cy="96"/>
              <a:chOff x="1008" y="2438"/>
              <a:chExt cx="1917" cy="96"/>
            </a:xfrm>
          </p:grpSpPr>
          <p:sp>
            <p:nvSpPr>
              <p:cNvPr id="208080" name="Rectangle 5"/>
              <p:cNvSpPr>
                <a:spLocks noChangeArrowheads="1"/>
              </p:cNvSpPr>
              <p:nvPr/>
            </p:nvSpPr>
            <p:spPr bwMode="auto">
              <a:xfrm>
                <a:off x="1008" y="2438"/>
                <a:ext cx="1911" cy="92"/>
              </a:xfrm>
              <a:prstGeom prst="rect">
                <a:avLst/>
              </a:prstGeom>
              <a:blipFill dpi="0" rotWithShape="0">
                <a:blip r:embed="rId2"/>
                <a:srcRect/>
                <a:tile tx="0" ty="0" sx="100000" sy="100000" flip="none" algn="tl"/>
              </a:blipFill>
              <a:ln w="9525">
                <a:solidFill>
                  <a:schemeClr val="tx1"/>
                </a:solidFill>
                <a:miter lim="800000"/>
              </a:ln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208081" name="Rectangle 6"/>
              <p:cNvSpPr>
                <a:spLocks noChangeArrowheads="1"/>
              </p:cNvSpPr>
              <p:nvPr/>
            </p:nvSpPr>
            <p:spPr bwMode="auto">
              <a:xfrm>
                <a:off x="1008" y="2438"/>
                <a:ext cx="1917" cy="96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</p:grpSp>
        <p:sp>
          <p:nvSpPr>
            <p:cNvPr id="207880" name="Rectangle 7"/>
            <p:cNvSpPr>
              <a:spLocks noChangeArrowheads="1"/>
            </p:cNvSpPr>
            <p:nvPr/>
          </p:nvSpPr>
          <p:spPr bwMode="auto">
            <a:xfrm>
              <a:off x="1621" y="1939"/>
              <a:ext cx="10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N</a:t>
              </a:r>
            </a:p>
          </p:txBody>
        </p:sp>
        <p:sp>
          <p:nvSpPr>
            <p:cNvPr id="207881" name="Line 8"/>
            <p:cNvSpPr>
              <a:spLocks noChangeShapeType="1"/>
            </p:cNvSpPr>
            <p:nvPr/>
          </p:nvSpPr>
          <p:spPr bwMode="auto">
            <a:xfrm>
              <a:off x="1369" y="1387"/>
              <a:ext cx="1" cy="43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882" name="Line 9"/>
            <p:cNvSpPr>
              <a:spLocks noChangeShapeType="1"/>
            </p:cNvSpPr>
            <p:nvPr/>
          </p:nvSpPr>
          <p:spPr bwMode="auto">
            <a:xfrm>
              <a:off x="1369" y="1382"/>
              <a:ext cx="967" cy="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883" name="Line 10"/>
            <p:cNvSpPr>
              <a:spLocks noChangeShapeType="1"/>
            </p:cNvSpPr>
            <p:nvPr/>
          </p:nvSpPr>
          <p:spPr bwMode="auto">
            <a:xfrm>
              <a:off x="1050" y="2069"/>
              <a:ext cx="1827" cy="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884" name="Line 11"/>
            <p:cNvSpPr>
              <a:spLocks noChangeShapeType="1"/>
            </p:cNvSpPr>
            <p:nvPr/>
          </p:nvSpPr>
          <p:spPr bwMode="auto">
            <a:xfrm>
              <a:off x="1369" y="1824"/>
              <a:ext cx="450" cy="15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885" name="Line 12"/>
            <p:cNvSpPr>
              <a:spLocks noChangeShapeType="1"/>
            </p:cNvSpPr>
            <p:nvPr/>
          </p:nvSpPr>
          <p:spPr bwMode="auto">
            <a:xfrm flipV="1">
              <a:off x="1819" y="1901"/>
              <a:ext cx="1" cy="7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886" name="Line 13"/>
            <p:cNvSpPr>
              <a:spLocks noChangeShapeType="1"/>
            </p:cNvSpPr>
            <p:nvPr/>
          </p:nvSpPr>
          <p:spPr bwMode="auto">
            <a:xfrm flipH="1" flipV="1">
              <a:off x="1525" y="1714"/>
              <a:ext cx="294" cy="1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887" name="Line 14"/>
            <p:cNvSpPr>
              <a:spLocks noChangeShapeType="1"/>
            </p:cNvSpPr>
            <p:nvPr/>
          </p:nvSpPr>
          <p:spPr bwMode="auto">
            <a:xfrm flipV="1">
              <a:off x="1525" y="1493"/>
              <a:ext cx="1" cy="2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07888" name="Group 15"/>
            <p:cNvGrpSpPr/>
            <p:nvPr/>
          </p:nvGrpSpPr>
          <p:grpSpPr bwMode="auto">
            <a:xfrm>
              <a:off x="1453" y="1752"/>
              <a:ext cx="372" cy="216"/>
              <a:chOff x="1453" y="2040"/>
              <a:chExt cx="372" cy="216"/>
            </a:xfrm>
          </p:grpSpPr>
          <p:sp>
            <p:nvSpPr>
              <p:cNvPr id="208074" name="Freeform 16"/>
              <p:cNvSpPr/>
              <p:nvPr/>
            </p:nvSpPr>
            <p:spPr bwMode="auto">
              <a:xfrm>
                <a:off x="1771" y="2222"/>
                <a:ext cx="54" cy="34"/>
              </a:xfrm>
              <a:custGeom>
                <a:avLst/>
                <a:gdLst>
                  <a:gd name="T0" fmla="*/ 48 w 54"/>
                  <a:gd name="T1" fmla="*/ 34 h 34"/>
                  <a:gd name="T2" fmla="*/ 48 w 54"/>
                  <a:gd name="T3" fmla="*/ 34 h 34"/>
                  <a:gd name="T4" fmla="*/ 54 w 54"/>
                  <a:gd name="T5" fmla="*/ 29 h 34"/>
                  <a:gd name="T6" fmla="*/ 54 w 54"/>
                  <a:gd name="T7" fmla="*/ 24 h 34"/>
                  <a:gd name="T8" fmla="*/ 12 w 54"/>
                  <a:gd name="T9" fmla="*/ 0 h 34"/>
                  <a:gd name="T10" fmla="*/ 6 w 54"/>
                  <a:gd name="T11" fmla="*/ 0 h 34"/>
                  <a:gd name="T12" fmla="*/ 0 w 54"/>
                  <a:gd name="T13" fmla="*/ 5 h 34"/>
                  <a:gd name="T14" fmla="*/ 6 w 54"/>
                  <a:gd name="T15" fmla="*/ 10 h 34"/>
                  <a:gd name="T16" fmla="*/ 48 w 54"/>
                  <a:gd name="T17" fmla="*/ 34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4"/>
                  <a:gd name="T28" fmla="*/ 0 h 34"/>
                  <a:gd name="T29" fmla="*/ 54 w 54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4" h="34">
                    <a:moveTo>
                      <a:pt x="48" y="34"/>
                    </a:moveTo>
                    <a:lnTo>
                      <a:pt x="48" y="34"/>
                    </a:lnTo>
                    <a:lnTo>
                      <a:pt x="54" y="29"/>
                    </a:lnTo>
                    <a:lnTo>
                      <a:pt x="54" y="24"/>
                    </a:lnTo>
                    <a:lnTo>
                      <a:pt x="12" y="0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6" y="10"/>
                    </a:lnTo>
                    <a:lnTo>
                      <a:pt x="48" y="34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75" name="Freeform 17"/>
              <p:cNvSpPr/>
              <p:nvPr/>
            </p:nvSpPr>
            <p:spPr bwMode="auto">
              <a:xfrm>
                <a:off x="1705" y="2184"/>
                <a:ext cx="54" cy="34"/>
              </a:xfrm>
              <a:custGeom>
                <a:avLst/>
                <a:gdLst>
                  <a:gd name="T0" fmla="*/ 42 w 54"/>
                  <a:gd name="T1" fmla="*/ 34 h 34"/>
                  <a:gd name="T2" fmla="*/ 48 w 54"/>
                  <a:gd name="T3" fmla="*/ 34 h 34"/>
                  <a:gd name="T4" fmla="*/ 54 w 54"/>
                  <a:gd name="T5" fmla="*/ 29 h 34"/>
                  <a:gd name="T6" fmla="*/ 48 w 54"/>
                  <a:gd name="T7" fmla="*/ 24 h 34"/>
                  <a:gd name="T8" fmla="*/ 12 w 54"/>
                  <a:gd name="T9" fmla="*/ 0 h 34"/>
                  <a:gd name="T10" fmla="*/ 6 w 54"/>
                  <a:gd name="T11" fmla="*/ 0 h 34"/>
                  <a:gd name="T12" fmla="*/ 0 w 54"/>
                  <a:gd name="T13" fmla="*/ 5 h 34"/>
                  <a:gd name="T14" fmla="*/ 6 w 54"/>
                  <a:gd name="T15" fmla="*/ 10 h 34"/>
                  <a:gd name="T16" fmla="*/ 42 w 54"/>
                  <a:gd name="T17" fmla="*/ 34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4"/>
                  <a:gd name="T28" fmla="*/ 0 h 34"/>
                  <a:gd name="T29" fmla="*/ 54 w 54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4" h="34">
                    <a:moveTo>
                      <a:pt x="42" y="34"/>
                    </a:moveTo>
                    <a:lnTo>
                      <a:pt x="48" y="34"/>
                    </a:lnTo>
                    <a:lnTo>
                      <a:pt x="54" y="29"/>
                    </a:lnTo>
                    <a:lnTo>
                      <a:pt x="48" y="24"/>
                    </a:lnTo>
                    <a:lnTo>
                      <a:pt x="12" y="0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6" y="10"/>
                    </a:lnTo>
                    <a:lnTo>
                      <a:pt x="42" y="34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76" name="Freeform 18"/>
              <p:cNvSpPr/>
              <p:nvPr/>
            </p:nvSpPr>
            <p:spPr bwMode="auto">
              <a:xfrm>
                <a:off x="1639" y="2146"/>
                <a:ext cx="48" cy="33"/>
              </a:xfrm>
              <a:custGeom>
                <a:avLst/>
                <a:gdLst>
                  <a:gd name="T0" fmla="*/ 42 w 48"/>
                  <a:gd name="T1" fmla="*/ 33 h 33"/>
                  <a:gd name="T2" fmla="*/ 48 w 48"/>
                  <a:gd name="T3" fmla="*/ 33 h 33"/>
                  <a:gd name="T4" fmla="*/ 48 w 48"/>
                  <a:gd name="T5" fmla="*/ 28 h 33"/>
                  <a:gd name="T6" fmla="*/ 48 w 48"/>
                  <a:gd name="T7" fmla="*/ 24 h 33"/>
                  <a:gd name="T8" fmla="*/ 6 w 48"/>
                  <a:gd name="T9" fmla="*/ 0 h 33"/>
                  <a:gd name="T10" fmla="*/ 0 w 48"/>
                  <a:gd name="T11" fmla="*/ 0 h 33"/>
                  <a:gd name="T12" fmla="*/ 0 w 48"/>
                  <a:gd name="T13" fmla="*/ 4 h 33"/>
                  <a:gd name="T14" fmla="*/ 0 w 48"/>
                  <a:gd name="T15" fmla="*/ 9 h 33"/>
                  <a:gd name="T16" fmla="*/ 42 w 48"/>
                  <a:gd name="T17" fmla="*/ 33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8"/>
                  <a:gd name="T28" fmla="*/ 0 h 33"/>
                  <a:gd name="T29" fmla="*/ 48 w 48"/>
                  <a:gd name="T30" fmla="*/ 33 h 3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8" h="33">
                    <a:moveTo>
                      <a:pt x="42" y="33"/>
                    </a:moveTo>
                    <a:lnTo>
                      <a:pt x="48" y="33"/>
                    </a:lnTo>
                    <a:lnTo>
                      <a:pt x="48" y="28"/>
                    </a:lnTo>
                    <a:lnTo>
                      <a:pt x="48" y="24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42" y="3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77" name="Freeform 19"/>
              <p:cNvSpPr/>
              <p:nvPr/>
            </p:nvSpPr>
            <p:spPr bwMode="auto">
              <a:xfrm>
                <a:off x="1567" y="2107"/>
                <a:ext cx="54" cy="34"/>
              </a:xfrm>
              <a:custGeom>
                <a:avLst/>
                <a:gdLst>
                  <a:gd name="T0" fmla="*/ 42 w 54"/>
                  <a:gd name="T1" fmla="*/ 34 h 34"/>
                  <a:gd name="T2" fmla="*/ 48 w 54"/>
                  <a:gd name="T3" fmla="*/ 34 h 34"/>
                  <a:gd name="T4" fmla="*/ 54 w 54"/>
                  <a:gd name="T5" fmla="*/ 29 h 34"/>
                  <a:gd name="T6" fmla="*/ 48 w 54"/>
                  <a:gd name="T7" fmla="*/ 24 h 34"/>
                  <a:gd name="T8" fmla="*/ 12 w 54"/>
                  <a:gd name="T9" fmla="*/ 0 h 34"/>
                  <a:gd name="T10" fmla="*/ 6 w 54"/>
                  <a:gd name="T11" fmla="*/ 0 h 34"/>
                  <a:gd name="T12" fmla="*/ 0 w 54"/>
                  <a:gd name="T13" fmla="*/ 5 h 34"/>
                  <a:gd name="T14" fmla="*/ 6 w 54"/>
                  <a:gd name="T15" fmla="*/ 10 h 34"/>
                  <a:gd name="T16" fmla="*/ 42 w 54"/>
                  <a:gd name="T17" fmla="*/ 34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4"/>
                  <a:gd name="T28" fmla="*/ 0 h 34"/>
                  <a:gd name="T29" fmla="*/ 54 w 54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4" h="34">
                    <a:moveTo>
                      <a:pt x="42" y="34"/>
                    </a:moveTo>
                    <a:lnTo>
                      <a:pt x="48" y="34"/>
                    </a:lnTo>
                    <a:lnTo>
                      <a:pt x="54" y="29"/>
                    </a:lnTo>
                    <a:lnTo>
                      <a:pt x="48" y="24"/>
                    </a:lnTo>
                    <a:lnTo>
                      <a:pt x="12" y="0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6" y="10"/>
                    </a:lnTo>
                    <a:lnTo>
                      <a:pt x="42" y="34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78" name="Freeform 20"/>
              <p:cNvSpPr/>
              <p:nvPr/>
            </p:nvSpPr>
            <p:spPr bwMode="auto">
              <a:xfrm>
                <a:off x="1501" y="2069"/>
                <a:ext cx="48" cy="29"/>
              </a:xfrm>
              <a:custGeom>
                <a:avLst/>
                <a:gdLst>
                  <a:gd name="T0" fmla="*/ 42 w 48"/>
                  <a:gd name="T1" fmla="*/ 29 h 29"/>
                  <a:gd name="T2" fmla="*/ 48 w 48"/>
                  <a:gd name="T3" fmla="*/ 29 h 29"/>
                  <a:gd name="T4" fmla="*/ 48 w 48"/>
                  <a:gd name="T5" fmla="*/ 24 h 29"/>
                  <a:gd name="T6" fmla="*/ 48 w 48"/>
                  <a:gd name="T7" fmla="*/ 19 h 29"/>
                  <a:gd name="T8" fmla="*/ 6 w 48"/>
                  <a:gd name="T9" fmla="*/ 0 h 29"/>
                  <a:gd name="T10" fmla="*/ 0 w 48"/>
                  <a:gd name="T11" fmla="*/ 0 h 29"/>
                  <a:gd name="T12" fmla="*/ 0 w 48"/>
                  <a:gd name="T13" fmla="*/ 5 h 29"/>
                  <a:gd name="T14" fmla="*/ 0 w 48"/>
                  <a:gd name="T15" fmla="*/ 9 h 29"/>
                  <a:gd name="T16" fmla="*/ 42 w 48"/>
                  <a:gd name="T17" fmla="*/ 29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8"/>
                  <a:gd name="T28" fmla="*/ 0 h 29"/>
                  <a:gd name="T29" fmla="*/ 48 w 48"/>
                  <a:gd name="T30" fmla="*/ 29 h 2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8" h="29">
                    <a:moveTo>
                      <a:pt x="42" y="29"/>
                    </a:moveTo>
                    <a:lnTo>
                      <a:pt x="48" y="29"/>
                    </a:lnTo>
                    <a:lnTo>
                      <a:pt x="48" y="24"/>
                    </a:lnTo>
                    <a:lnTo>
                      <a:pt x="48" y="19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42" y="29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79" name="Freeform 21"/>
              <p:cNvSpPr/>
              <p:nvPr/>
            </p:nvSpPr>
            <p:spPr bwMode="auto">
              <a:xfrm>
                <a:off x="1453" y="2040"/>
                <a:ext cx="30" cy="19"/>
              </a:xfrm>
              <a:custGeom>
                <a:avLst/>
                <a:gdLst>
                  <a:gd name="T0" fmla="*/ 24 w 30"/>
                  <a:gd name="T1" fmla="*/ 19 h 19"/>
                  <a:gd name="T2" fmla="*/ 30 w 30"/>
                  <a:gd name="T3" fmla="*/ 19 h 19"/>
                  <a:gd name="T4" fmla="*/ 30 w 30"/>
                  <a:gd name="T5" fmla="*/ 14 h 19"/>
                  <a:gd name="T6" fmla="*/ 30 w 30"/>
                  <a:gd name="T7" fmla="*/ 10 h 19"/>
                  <a:gd name="T8" fmla="*/ 12 w 30"/>
                  <a:gd name="T9" fmla="*/ 0 h 19"/>
                  <a:gd name="T10" fmla="*/ 6 w 30"/>
                  <a:gd name="T11" fmla="*/ 0 h 19"/>
                  <a:gd name="T12" fmla="*/ 0 w 30"/>
                  <a:gd name="T13" fmla="*/ 5 h 19"/>
                  <a:gd name="T14" fmla="*/ 6 w 30"/>
                  <a:gd name="T15" fmla="*/ 10 h 19"/>
                  <a:gd name="T16" fmla="*/ 24 w 30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19"/>
                  <a:gd name="T29" fmla="*/ 30 w 30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19">
                    <a:moveTo>
                      <a:pt x="24" y="19"/>
                    </a:moveTo>
                    <a:lnTo>
                      <a:pt x="30" y="19"/>
                    </a:lnTo>
                    <a:lnTo>
                      <a:pt x="30" y="14"/>
                    </a:lnTo>
                    <a:lnTo>
                      <a:pt x="30" y="10"/>
                    </a:lnTo>
                    <a:lnTo>
                      <a:pt x="12" y="0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6" y="10"/>
                    </a:lnTo>
                    <a:lnTo>
                      <a:pt x="24" y="19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07889" name="Group 22"/>
            <p:cNvGrpSpPr/>
            <p:nvPr/>
          </p:nvGrpSpPr>
          <p:grpSpPr bwMode="auto">
            <a:xfrm>
              <a:off x="1453" y="1445"/>
              <a:ext cx="12" cy="317"/>
              <a:chOff x="1453" y="1733"/>
              <a:chExt cx="12" cy="317"/>
            </a:xfrm>
          </p:grpSpPr>
          <p:sp>
            <p:nvSpPr>
              <p:cNvPr id="208069" name="Freeform 23"/>
              <p:cNvSpPr/>
              <p:nvPr/>
            </p:nvSpPr>
            <p:spPr bwMode="auto">
              <a:xfrm>
                <a:off x="1453" y="2002"/>
                <a:ext cx="12" cy="48"/>
              </a:xfrm>
              <a:custGeom>
                <a:avLst/>
                <a:gdLst>
                  <a:gd name="T0" fmla="*/ 0 w 12"/>
                  <a:gd name="T1" fmla="*/ 43 h 48"/>
                  <a:gd name="T2" fmla="*/ 6 w 12"/>
                  <a:gd name="T3" fmla="*/ 48 h 48"/>
                  <a:gd name="T4" fmla="*/ 6 w 12"/>
                  <a:gd name="T5" fmla="*/ 48 h 48"/>
                  <a:gd name="T6" fmla="*/ 12 w 12"/>
                  <a:gd name="T7" fmla="*/ 43 h 48"/>
                  <a:gd name="T8" fmla="*/ 12 w 12"/>
                  <a:gd name="T9" fmla="*/ 4 h 48"/>
                  <a:gd name="T10" fmla="*/ 6 w 12"/>
                  <a:gd name="T11" fmla="*/ 0 h 48"/>
                  <a:gd name="T12" fmla="*/ 6 w 12"/>
                  <a:gd name="T13" fmla="*/ 0 h 48"/>
                  <a:gd name="T14" fmla="*/ 0 w 12"/>
                  <a:gd name="T15" fmla="*/ 4 h 48"/>
                  <a:gd name="T16" fmla="*/ 0 w 12"/>
                  <a:gd name="T17" fmla="*/ 43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48"/>
                  <a:gd name="T29" fmla="*/ 12 w 12"/>
                  <a:gd name="T30" fmla="*/ 48 h 4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48">
                    <a:moveTo>
                      <a:pt x="0" y="43"/>
                    </a:moveTo>
                    <a:lnTo>
                      <a:pt x="6" y="48"/>
                    </a:lnTo>
                    <a:lnTo>
                      <a:pt x="12" y="43"/>
                    </a:lnTo>
                    <a:lnTo>
                      <a:pt x="12" y="4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70" name="Freeform 24"/>
              <p:cNvSpPr/>
              <p:nvPr/>
            </p:nvSpPr>
            <p:spPr bwMode="auto">
              <a:xfrm>
                <a:off x="1453" y="1934"/>
                <a:ext cx="12" cy="48"/>
              </a:xfrm>
              <a:custGeom>
                <a:avLst/>
                <a:gdLst>
                  <a:gd name="T0" fmla="*/ 0 w 12"/>
                  <a:gd name="T1" fmla="*/ 44 h 48"/>
                  <a:gd name="T2" fmla="*/ 6 w 12"/>
                  <a:gd name="T3" fmla="*/ 48 h 48"/>
                  <a:gd name="T4" fmla="*/ 6 w 12"/>
                  <a:gd name="T5" fmla="*/ 48 h 48"/>
                  <a:gd name="T6" fmla="*/ 12 w 12"/>
                  <a:gd name="T7" fmla="*/ 44 h 48"/>
                  <a:gd name="T8" fmla="*/ 12 w 12"/>
                  <a:gd name="T9" fmla="*/ 5 h 48"/>
                  <a:gd name="T10" fmla="*/ 6 w 12"/>
                  <a:gd name="T11" fmla="*/ 0 h 48"/>
                  <a:gd name="T12" fmla="*/ 6 w 12"/>
                  <a:gd name="T13" fmla="*/ 0 h 48"/>
                  <a:gd name="T14" fmla="*/ 0 w 12"/>
                  <a:gd name="T15" fmla="*/ 5 h 48"/>
                  <a:gd name="T16" fmla="*/ 0 w 12"/>
                  <a:gd name="T17" fmla="*/ 44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48"/>
                  <a:gd name="T29" fmla="*/ 12 w 12"/>
                  <a:gd name="T30" fmla="*/ 48 h 4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48">
                    <a:moveTo>
                      <a:pt x="0" y="44"/>
                    </a:moveTo>
                    <a:lnTo>
                      <a:pt x="6" y="48"/>
                    </a:lnTo>
                    <a:lnTo>
                      <a:pt x="12" y="44"/>
                    </a:lnTo>
                    <a:lnTo>
                      <a:pt x="12" y="5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71" name="Freeform 25"/>
              <p:cNvSpPr/>
              <p:nvPr/>
            </p:nvSpPr>
            <p:spPr bwMode="auto">
              <a:xfrm>
                <a:off x="1453" y="1867"/>
                <a:ext cx="12" cy="48"/>
              </a:xfrm>
              <a:custGeom>
                <a:avLst/>
                <a:gdLst>
                  <a:gd name="T0" fmla="*/ 0 w 12"/>
                  <a:gd name="T1" fmla="*/ 43 h 48"/>
                  <a:gd name="T2" fmla="*/ 6 w 12"/>
                  <a:gd name="T3" fmla="*/ 48 h 48"/>
                  <a:gd name="T4" fmla="*/ 6 w 12"/>
                  <a:gd name="T5" fmla="*/ 48 h 48"/>
                  <a:gd name="T6" fmla="*/ 12 w 12"/>
                  <a:gd name="T7" fmla="*/ 43 h 48"/>
                  <a:gd name="T8" fmla="*/ 12 w 12"/>
                  <a:gd name="T9" fmla="*/ 5 h 48"/>
                  <a:gd name="T10" fmla="*/ 6 w 12"/>
                  <a:gd name="T11" fmla="*/ 0 h 48"/>
                  <a:gd name="T12" fmla="*/ 6 w 12"/>
                  <a:gd name="T13" fmla="*/ 0 h 48"/>
                  <a:gd name="T14" fmla="*/ 0 w 12"/>
                  <a:gd name="T15" fmla="*/ 5 h 48"/>
                  <a:gd name="T16" fmla="*/ 0 w 12"/>
                  <a:gd name="T17" fmla="*/ 43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48"/>
                  <a:gd name="T29" fmla="*/ 12 w 12"/>
                  <a:gd name="T30" fmla="*/ 48 h 4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48">
                    <a:moveTo>
                      <a:pt x="0" y="43"/>
                    </a:moveTo>
                    <a:lnTo>
                      <a:pt x="6" y="48"/>
                    </a:lnTo>
                    <a:lnTo>
                      <a:pt x="12" y="43"/>
                    </a:lnTo>
                    <a:lnTo>
                      <a:pt x="12" y="5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72" name="Freeform 26"/>
              <p:cNvSpPr/>
              <p:nvPr/>
            </p:nvSpPr>
            <p:spPr bwMode="auto">
              <a:xfrm>
                <a:off x="1453" y="1800"/>
                <a:ext cx="12" cy="48"/>
              </a:xfrm>
              <a:custGeom>
                <a:avLst/>
                <a:gdLst>
                  <a:gd name="T0" fmla="*/ 0 w 12"/>
                  <a:gd name="T1" fmla="*/ 43 h 48"/>
                  <a:gd name="T2" fmla="*/ 6 w 12"/>
                  <a:gd name="T3" fmla="*/ 48 h 48"/>
                  <a:gd name="T4" fmla="*/ 6 w 12"/>
                  <a:gd name="T5" fmla="*/ 48 h 48"/>
                  <a:gd name="T6" fmla="*/ 12 w 12"/>
                  <a:gd name="T7" fmla="*/ 43 h 48"/>
                  <a:gd name="T8" fmla="*/ 12 w 12"/>
                  <a:gd name="T9" fmla="*/ 5 h 48"/>
                  <a:gd name="T10" fmla="*/ 6 w 12"/>
                  <a:gd name="T11" fmla="*/ 0 h 48"/>
                  <a:gd name="T12" fmla="*/ 6 w 12"/>
                  <a:gd name="T13" fmla="*/ 0 h 48"/>
                  <a:gd name="T14" fmla="*/ 0 w 12"/>
                  <a:gd name="T15" fmla="*/ 5 h 48"/>
                  <a:gd name="T16" fmla="*/ 0 w 12"/>
                  <a:gd name="T17" fmla="*/ 43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48"/>
                  <a:gd name="T29" fmla="*/ 12 w 12"/>
                  <a:gd name="T30" fmla="*/ 48 h 4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48">
                    <a:moveTo>
                      <a:pt x="0" y="43"/>
                    </a:moveTo>
                    <a:lnTo>
                      <a:pt x="6" y="48"/>
                    </a:lnTo>
                    <a:lnTo>
                      <a:pt x="12" y="43"/>
                    </a:lnTo>
                    <a:lnTo>
                      <a:pt x="12" y="5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73" name="Freeform 27"/>
              <p:cNvSpPr/>
              <p:nvPr/>
            </p:nvSpPr>
            <p:spPr bwMode="auto">
              <a:xfrm>
                <a:off x="1453" y="1733"/>
                <a:ext cx="12" cy="48"/>
              </a:xfrm>
              <a:custGeom>
                <a:avLst/>
                <a:gdLst>
                  <a:gd name="T0" fmla="*/ 0 w 12"/>
                  <a:gd name="T1" fmla="*/ 43 h 48"/>
                  <a:gd name="T2" fmla="*/ 6 w 12"/>
                  <a:gd name="T3" fmla="*/ 48 h 48"/>
                  <a:gd name="T4" fmla="*/ 6 w 12"/>
                  <a:gd name="T5" fmla="*/ 48 h 48"/>
                  <a:gd name="T6" fmla="*/ 12 w 12"/>
                  <a:gd name="T7" fmla="*/ 43 h 48"/>
                  <a:gd name="T8" fmla="*/ 12 w 12"/>
                  <a:gd name="T9" fmla="*/ 5 h 48"/>
                  <a:gd name="T10" fmla="*/ 6 w 12"/>
                  <a:gd name="T11" fmla="*/ 0 h 48"/>
                  <a:gd name="T12" fmla="*/ 6 w 12"/>
                  <a:gd name="T13" fmla="*/ 0 h 48"/>
                  <a:gd name="T14" fmla="*/ 0 w 12"/>
                  <a:gd name="T15" fmla="*/ 5 h 48"/>
                  <a:gd name="T16" fmla="*/ 0 w 12"/>
                  <a:gd name="T17" fmla="*/ 43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48"/>
                  <a:gd name="T29" fmla="*/ 12 w 12"/>
                  <a:gd name="T30" fmla="*/ 48 h 4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48">
                    <a:moveTo>
                      <a:pt x="0" y="43"/>
                    </a:moveTo>
                    <a:lnTo>
                      <a:pt x="6" y="48"/>
                    </a:lnTo>
                    <a:lnTo>
                      <a:pt x="12" y="43"/>
                    </a:lnTo>
                    <a:lnTo>
                      <a:pt x="12" y="5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07890" name="Group 28"/>
            <p:cNvGrpSpPr/>
            <p:nvPr/>
          </p:nvGrpSpPr>
          <p:grpSpPr bwMode="auto">
            <a:xfrm>
              <a:off x="1723" y="1958"/>
              <a:ext cx="78" cy="149"/>
              <a:chOff x="1723" y="2246"/>
              <a:chExt cx="78" cy="149"/>
            </a:xfrm>
          </p:grpSpPr>
          <p:sp>
            <p:nvSpPr>
              <p:cNvPr id="208066" name="Freeform 29"/>
              <p:cNvSpPr/>
              <p:nvPr/>
            </p:nvSpPr>
            <p:spPr bwMode="auto">
              <a:xfrm>
                <a:off x="1771" y="2246"/>
                <a:ext cx="30" cy="44"/>
              </a:xfrm>
              <a:custGeom>
                <a:avLst/>
                <a:gdLst>
                  <a:gd name="T0" fmla="*/ 30 w 30"/>
                  <a:gd name="T1" fmla="*/ 5 h 44"/>
                  <a:gd name="T2" fmla="*/ 24 w 30"/>
                  <a:gd name="T3" fmla="*/ 0 h 44"/>
                  <a:gd name="T4" fmla="*/ 24 w 30"/>
                  <a:gd name="T5" fmla="*/ 0 h 44"/>
                  <a:gd name="T6" fmla="*/ 18 w 30"/>
                  <a:gd name="T7" fmla="*/ 5 h 44"/>
                  <a:gd name="T8" fmla="*/ 0 w 30"/>
                  <a:gd name="T9" fmla="*/ 39 h 44"/>
                  <a:gd name="T10" fmla="*/ 6 w 30"/>
                  <a:gd name="T11" fmla="*/ 44 h 44"/>
                  <a:gd name="T12" fmla="*/ 12 w 30"/>
                  <a:gd name="T13" fmla="*/ 44 h 44"/>
                  <a:gd name="T14" fmla="*/ 12 w 30"/>
                  <a:gd name="T15" fmla="*/ 39 h 44"/>
                  <a:gd name="T16" fmla="*/ 30 w 30"/>
                  <a:gd name="T17" fmla="*/ 5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44"/>
                  <a:gd name="T29" fmla="*/ 30 w 30"/>
                  <a:gd name="T30" fmla="*/ 44 h 4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44">
                    <a:moveTo>
                      <a:pt x="30" y="5"/>
                    </a:moveTo>
                    <a:lnTo>
                      <a:pt x="24" y="0"/>
                    </a:lnTo>
                    <a:lnTo>
                      <a:pt x="18" y="5"/>
                    </a:lnTo>
                    <a:lnTo>
                      <a:pt x="0" y="39"/>
                    </a:lnTo>
                    <a:lnTo>
                      <a:pt x="6" y="44"/>
                    </a:lnTo>
                    <a:lnTo>
                      <a:pt x="12" y="44"/>
                    </a:lnTo>
                    <a:lnTo>
                      <a:pt x="12" y="39"/>
                    </a:lnTo>
                    <a:lnTo>
                      <a:pt x="30" y="5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67" name="Freeform 30"/>
              <p:cNvSpPr/>
              <p:nvPr/>
            </p:nvSpPr>
            <p:spPr bwMode="auto">
              <a:xfrm>
                <a:off x="1741" y="2309"/>
                <a:ext cx="30" cy="48"/>
              </a:xfrm>
              <a:custGeom>
                <a:avLst/>
                <a:gdLst>
                  <a:gd name="T0" fmla="*/ 30 w 30"/>
                  <a:gd name="T1" fmla="*/ 5 h 48"/>
                  <a:gd name="T2" fmla="*/ 30 w 30"/>
                  <a:gd name="T3" fmla="*/ 0 h 48"/>
                  <a:gd name="T4" fmla="*/ 24 w 30"/>
                  <a:gd name="T5" fmla="*/ 0 h 48"/>
                  <a:gd name="T6" fmla="*/ 18 w 30"/>
                  <a:gd name="T7" fmla="*/ 5 h 48"/>
                  <a:gd name="T8" fmla="*/ 0 w 30"/>
                  <a:gd name="T9" fmla="*/ 43 h 48"/>
                  <a:gd name="T10" fmla="*/ 6 w 30"/>
                  <a:gd name="T11" fmla="*/ 48 h 48"/>
                  <a:gd name="T12" fmla="*/ 12 w 30"/>
                  <a:gd name="T13" fmla="*/ 48 h 48"/>
                  <a:gd name="T14" fmla="*/ 12 w 30"/>
                  <a:gd name="T15" fmla="*/ 43 h 48"/>
                  <a:gd name="T16" fmla="*/ 30 w 30"/>
                  <a:gd name="T17" fmla="*/ 5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48"/>
                  <a:gd name="T29" fmla="*/ 30 w 30"/>
                  <a:gd name="T30" fmla="*/ 48 h 4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48">
                    <a:moveTo>
                      <a:pt x="30" y="5"/>
                    </a:moveTo>
                    <a:lnTo>
                      <a:pt x="30" y="0"/>
                    </a:lnTo>
                    <a:lnTo>
                      <a:pt x="24" y="0"/>
                    </a:lnTo>
                    <a:lnTo>
                      <a:pt x="18" y="5"/>
                    </a:lnTo>
                    <a:lnTo>
                      <a:pt x="0" y="43"/>
                    </a:lnTo>
                    <a:lnTo>
                      <a:pt x="6" y="48"/>
                    </a:lnTo>
                    <a:lnTo>
                      <a:pt x="12" y="48"/>
                    </a:lnTo>
                    <a:lnTo>
                      <a:pt x="12" y="43"/>
                    </a:lnTo>
                    <a:lnTo>
                      <a:pt x="30" y="5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68" name="Freeform 31"/>
              <p:cNvSpPr/>
              <p:nvPr/>
            </p:nvSpPr>
            <p:spPr bwMode="auto">
              <a:xfrm>
                <a:off x="1723" y="2371"/>
                <a:ext cx="18" cy="24"/>
              </a:xfrm>
              <a:custGeom>
                <a:avLst/>
                <a:gdLst>
                  <a:gd name="T0" fmla="*/ 18 w 18"/>
                  <a:gd name="T1" fmla="*/ 5 h 24"/>
                  <a:gd name="T2" fmla="*/ 18 w 18"/>
                  <a:gd name="T3" fmla="*/ 0 h 24"/>
                  <a:gd name="T4" fmla="*/ 12 w 18"/>
                  <a:gd name="T5" fmla="*/ 0 h 24"/>
                  <a:gd name="T6" fmla="*/ 6 w 18"/>
                  <a:gd name="T7" fmla="*/ 5 h 24"/>
                  <a:gd name="T8" fmla="*/ 0 w 18"/>
                  <a:gd name="T9" fmla="*/ 19 h 24"/>
                  <a:gd name="T10" fmla="*/ 6 w 18"/>
                  <a:gd name="T11" fmla="*/ 24 h 24"/>
                  <a:gd name="T12" fmla="*/ 6 w 18"/>
                  <a:gd name="T13" fmla="*/ 24 h 24"/>
                  <a:gd name="T14" fmla="*/ 12 w 18"/>
                  <a:gd name="T15" fmla="*/ 19 h 24"/>
                  <a:gd name="T16" fmla="*/ 18 w 18"/>
                  <a:gd name="T17" fmla="*/ 5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24"/>
                  <a:gd name="T29" fmla="*/ 18 w 18"/>
                  <a:gd name="T30" fmla="*/ 24 h 2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24">
                    <a:moveTo>
                      <a:pt x="18" y="5"/>
                    </a:moveTo>
                    <a:lnTo>
                      <a:pt x="18" y="0"/>
                    </a:lnTo>
                    <a:lnTo>
                      <a:pt x="12" y="0"/>
                    </a:lnTo>
                    <a:lnTo>
                      <a:pt x="6" y="5"/>
                    </a:lnTo>
                    <a:lnTo>
                      <a:pt x="0" y="19"/>
                    </a:lnTo>
                    <a:lnTo>
                      <a:pt x="6" y="24"/>
                    </a:lnTo>
                    <a:lnTo>
                      <a:pt x="12" y="19"/>
                    </a:lnTo>
                    <a:lnTo>
                      <a:pt x="18" y="5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07891" name="Line 32"/>
            <p:cNvSpPr>
              <a:spLocks noChangeShapeType="1"/>
            </p:cNvSpPr>
            <p:nvPr/>
          </p:nvSpPr>
          <p:spPr bwMode="auto">
            <a:xfrm>
              <a:off x="2336" y="1387"/>
              <a:ext cx="1" cy="43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892" name="Line 33"/>
            <p:cNvSpPr>
              <a:spLocks noChangeShapeType="1"/>
            </p:cNvSpPr>
            <p:nvPr/>
          </p:nvSpPr>
          <p:spPr bwMode="auto">
            <a:xfrm flipH="1">
              <a:off x="1885" y="1824"/>
              <a:ext cx="451" cy="15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893" name="Line 34"/>
            <p:cNvSpPr>
              <a:spLocks noChangeShapeType="1"/>
            </p:cNvSpPr>
            <p:nvPr/>
          </p:nvSpPr>
          <p:spPr bwMode="auto">
            <a:xfrm flipV="1">
              <a:off x="1885" y="1901"/>
              <a:ext cx="1" cy="7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894" name="Line 35"/>
            <p:cNvSpPr>
              <a:spLocks noChangeShapeType="1"/>
            </p:cNvSpPr>
            <p:nvPr/>
          </p:nvSpPr>
          <p:spPr bwMode="auto">
            <a:xfrm flipV="1">
              <a:off x="1885" y="1714"/>
              <a:ext cx="295" cy="1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895" name="Line 36"/>
            <p:cNvSpPr>
              <a:spLocks noChangeShapeType="1"/>
            </p:cNvSpPr>
            <p:nvPr/>
          </p:nvSpPr>
          <p:spPr bwMode="auto">
            <a:xfrm flipV="1">
              <a:off x="2180" y="1493"/>
              <a:ext cx="1" cy="2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07896" name="Group 37"/>
            <p:cNvGrpSpPr/>
            <p:nvPr/>
          </p:nvGrpSpPr>
          <p:grpSpPr bwMode="auto">
            <a:xfrm>
              <a:off x="1879" y="1752"/>
              <a:ext cx="373" cy="216"/>
              <a:chOff x="1879" y="2040"/>
              <a:chExt cx="373" cy="216"/>
            </a:xfrm>
          </p:grpSpPr>
          <p:sp>
            <p:nvSpPr>
              <p:cNvPr id="208060" name="Freeform 38"/>
              <p:cNvSpPr/>
              <p:nvPr/>
            </p:nvSpPr>
            <p:spPr bwMode="auto">
              <a:xfrm>
                <a:off x="1879" y="2222"/>
                <a:ext cx="54" cy="34"/>
              </a:xfrm>
              <a:custGeom>
                <a:avLst/>
                <a:gdLst>
                  <a:gd name="T0" fmla="*/ 6 w 54"/>
                  <a:gd name="T1" fmla="*/ 24 h 34"/>
                  <a:gd name="T2" fmla="*/ 0 w 54"/>
                  <a:gd name="T3" fmla="*/ 29 h 34"/>
                  <a:gd name="T4" fmla="*/ 6 w 54"/>
                  <a:gd name="T5" fmla="*/ 34 h 34"/>
                  <a:gd name="T6" fmla="*/ 12 w 54"/>
                  <a:gd name="T7" fmla="*/ 34 h 34"/>
                  <a:gd name="T8" fmla="*/ 48 w 54"/>
                  <a:gd name="T9" fmla="*/ 10 h 34"/>
                  <a:gd name="T10" fmla="*/ 54 w 54"/>
                  <a:gd name="T11" fmla="*/ 5 h 34"/>
                  <a:gd name="T12" fmla="*/ 48 w 54"/>
                  <a:gd name="T13" fmla="*/ 0 h 34"/>
                  <a:gd name="T14" fmla="*/ 42 w 54"/>
                  <a:gd name="T15" fmla="*/ 0 h 34"/>
                  <a:gd name="T16" fmla="*/ 6 w 54"/>
                  <a:gd name="T17" fmla="*/ 24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4"/>
                  <a:gd name="T28" fmla="*/ 0 h 34"/>
                  <a:gd name="T29" fmla="*/ 54 w 54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4" h="34">
                    <a:moveTo>
                      <a:pt x="6" y="24"/>
                    </a:moveTo>
                    <a:lnTo>
                      <a:pt x="0" y="29"/>
                    </a:lnTo>
                    <a:lnTo>
                      <a:pt x="6" y="34"/>
                    </a:lnTo>
                    <a:lnTo>
                      <a:pt x="12" y="34"/>
                    </a:lnTo>
                    <a:lnTo>
                      <a:pt x="48" y="10"/>
                    </a:lnTo>
                    <a:lnTo>
                      <a:pt x="54" y="5"/>
                    </a:lnTo>
                    <a:lnTo>
                      <a:pt x="48" y="0"/>
                    </a:lnTo>
                    <a:lnTo>
                      <a:pt x="42" y="0"/>
                    </a:lnTo>
                    <a:lnTo>
                      <a:pt x="6" y="24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61" name="Freeform 39"/>
              <p:cNvSpPr/>
              <p:nvPr/>
            </p:nvSpPr>
            <p:spPr bwMode="auto">
              <a:xfrm>
                <a:off x="1945" y="2184"/>
                <a:ext cx="55" cy="34"/>
              </a:xfrm>
              <a:custGeom>
                <a:avLst/>
                <a:gdLst>
                  <a:gd name="T0" fmla="*/ 6 w 55"/>
                  <a:gd name="T1" fmla="*/ 24 h 34"/>
                  <a:gd name="T2" fmla="*/ 0 w 55"/>
                  <a:gd name="T3" fmla="*/ 29 h 34"/>
                  <a:gd name="T4" fmla="*/ 6 w 55"/>
                  <a:gd name="T5" fmla="*/ 34 h 34"/>
                  <a:gd name="T6" fmla="*/ 12 w 55"/>
                  <a:gd name="T7" fmla="*/ 34 h 34"/>
                  <a:gd name="T8" fmla="*/ 49 w 55"/>
                  <a:gd name="T9" fmla="*/ 10 h 34"/>
                  <a:gd name="T10" fmla="*/ 55 w 55"/>
                  <a:gd name="T11" fmla="*/ 5 h 34"/>
                  <a:gd name="T12" fmla="*/ 49 w 55"/>
                  <a:gd name="T13" fmla="*/ 0 h 34"/>
                  <a:gd name="T14" fmla="*/ 43 w 55"/>
                  <a:gd name="T15" fmla="*/ 0 h 34"/>
                  <a:gd name="T16" fmla="*/ 6 w 55"/>
                  <a:gd name="T17" fmla="*/ 24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5"/>
                  <a:gd name="T28" fmla="*/ 0 h 34"/>
                  <a:gd name="T29" fmla="*/ 55 w 55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5" h="34">
                    <a:moveTo>
                      <a:pt x="6" y="24"/>
                    </a:moveTo>
                    <a:lnTo>
                      <a:pt x="0" y="29"/>
                    </a:lnTo>
                    <a:lnTo>
                      <a:pt x="6" y="34"/>
                    </a:lnTo>
                    <a:lnTo>
                      <a:pt x="12" y="34"/>
                    </a:lnTo>
                    <a:lnTo>
                      <a:pt x="49" y="10"/>
                    </a:lnTo>
                    <a:lnTo>
                      <a:pt x="55" y="5"/>
                    </a:lnTo>
                    <a:lnTo>
                      <a:pt x="49" y="0"/>
                    </a:lnTo>
                    <a:lnTo>
                      <a:pt x="43" y="0"/>
                    </a:lnTo>
                    <a:lnTo>
                      <a:pt x="6" y="24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62" name="Freeform 40"/>
              <p:cNvSpPr/>
              <p:nvPr/>
            </p:nvSpPr>
            <p:spPr bwMode="auto">
              <a:xfrm>
                <a:off x="2018" y="2146"/>
                <a:ext cx="48" cy="33"/>
              </a:xfrm>
              <a:custGeom>
                <a:avLst/>
                <a:gdLst>
                  <a:gd name="T0" fmla="*/ 0 w 48"/>
                  <a:gd name="T1" fmla="*/ 24 h 33"/>
                  <a:gd name="T2" fmla="*/ 0 w 48"/>
                  <a:gd name="T3" fmla="*/ 28 h 33"/>
                  <a:gd name="T4" fmla="*/ 0 w 48"/>
                  <a:gd name="T5" fmla="*/ 33 h 33"/>
                  <a:gd name="T6" fmla="*/ 6 w 48"/>
                  <a:gd name="T7" fmla="*/ 33 h 33"/>
                  <a:gd name="T8" fmla="*/ 48 w 48"/>
                  <a:gd name="T9" fmla="*/ 9 h 33"/>
                  <a:gd name="T10" fmla="*/ 48 w 48"/>
                  <a:gd name="T11" fmla="*/ 4 h 33"/>
                  <a:gd name="T12" fmla="*/ 48 w 48"/>
                  <a:gd name="T13" fmla="*/ 0 h 33"/>
                  <a:gd name="T14" fmla="*/ 42 w 48"/>
                  <a:gd name="T15" fmla="*/ 0 h 33"/>
                  <a:gd name="T16" fmla="*/ 0 w 48"/>
                  <a:gd name="T17" fmla="*/ 24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8"/>
                  <a:gd name="T28" fmla="*/ 0 h 33"/>
                  <a:gd name="T29" fmla="*/ 48 w 48"/>
                  <a:gd name="T30" fmla="*/ 33 h 3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8" h="33">
                    <a:moveTo>
                      <a:pt x="0" y="24"/>
                    </a:moveTo>
                    <a:lnTo>
                      <a:pt x="0" y="28"/>
                    </a:lnTo>
                    <a:lnTo>
                      <a:pt x="0" y="33"/>
                    </a:lnTo>
                    <a:lnTo>
                      <a:pt x="6" y="33"/>
                    </a:lnTo>
                    <a:lnTo>
                      <a:pt x="48" y="9"/>
                    </a:lnTo>
                    <a:lnTo>
                      <a:pt x="48" y="4"/>
                    </a:lnTo>
                    <a:lnTo>
                      <a:pt x="48" y="0"/>
                    </a:lnTo>
                    <a:lnTo>
                      <a:pt x="42" y="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63" name="Freeform 41"/>
              <p:cNvSpPr/>
              <p:nvPr/>
            </p:nvSpPr>
            <p:spPr bwMode="auto">
              <a:xfrm>
                <a:off x="2084" y="2107"/>
                <a:ext cx="54" cy="34"/>
              </a:xfrm>
              <a:custGeom>
                <a:avLst/>
                <a:gdLst>
                  <a:gd name="T0" fmla="*/ 6 w 54"/>
                  <a:gd name="T1" fmla="*/ 24 h 34"/>
                  <a:gd name="T2" fmla="*/ 0 w 54"/>
                  <a:gd name="T3" fmla="*/ 29 h 34"/>
                  <a:gd name="T4" fmla="*/ 6 w 54"/>
                  <a:gd name="T5" fmla="*/ 34 h 34"/>
                  <a:gd name="T6" fmla="*/ 12 w 54"/>
                  <a:gd name="T7" fmla="*/ 34 h 34"/>
                  <a:gd name="T8" fmla="*/ 48 w 54"/>
                  <a:gd name="T9" fmla="*/ 10 h 34"/>
                  <a:gd name="T10" fmla="*/ 54 w 54"/>
                  <a:gd name="T11" fmla="*/ 5 h 34"/>
                  <a:gd name="T12" fmla="*/ 48 w 54"/>
                  <a:gd name="T13" fmla="*/ 0 h 34"/>
                  <a:gd name="T14" fmla="*/ 42 w 54"/>
                  <a:gd name="T15" fmla="*/ 0 h 34"/>
                  <a:gd name="T16" fmla="*/ 6 w 54"/>
                  <a:gd name="T17" fmla="*/ 24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4"/>
                  <a:gd name="T28" fmla="*/ 0 h 34"/>
                  <a:gd name="T29" fmla="*/ 54 w 54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4" h="34">
                    <a:moveTo>
                      <a:pt x="6" y="24"/>
                    </a:moveTo>
                    <a:lnTo>
                      <a:pt x="0" y="29"/>
                    </a:lnTo>
                    <a:lnTo>
                      <a:pt x="6" y="34"/>
                    </a:lnTo>
                    <a:lnTo>
                      <a:pt x="12" y="34"/>
                    </a:lnTo>
                    <a:lnTo>
                      <a:pt x="48" y="10"/>
                    </a:lnTo>
                    <a:lnTo>
                      <a:pt x="54" y="5"/>
                    </a:lnTo>
                    <a:lnTo>
                      <a:pt x="48" y="0"/>
                    </a:lnTo>
                    <a:lnTo>
                      <a:pt x="42" y="0"/>
                    </a:lnTo>
                    <a:lnTo>
                      <a:pt x="6" y="24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64" name="Freeform 42"/>
              <p:cNvSpPr/>
              <p:nvPr/>
            </p:nvSpPr>
            <p:spPr bwMode="auto">
              <a:xfrm>
                <a:off x="2156" y="2069"/>
                <a:ext cx="48" cy="29"/>
              </a:xfrm>
              <a:custGeom>
                <a:avLst/>
                <a:gdLst>
                  <a:gd name="T0" fmla="*/ 0 w 48"/>
                  <a:gd name="T1" fmla="*/ 19 h 29"/>
                  <a:gd name="T2" fmla="*/ 0 w 48"/>
                  <a:gd name="T3" fmla="*/ 24 h 29"/>
                  <a:gd name="T4" fmla="*/ 0 w 48"/>
                  <a:gd name="T5" fmla="*/ 29 h 29"/>
                  <a:gd name="T6" fmla="*/ 6 w 48"/>
                  <a:gd name="T7" fmla="*/ 29 h 29"/>
                  <a:gd name="T8" fmla="*/ 48 w 48"/>
                  <a:gd name="T9" fmla="*/ 9 h 29"/>
                  <a:gd name="T10" fmla="*/ 48 w 48"/>
                  <a:gd name="T11" fmla="*/ 5 h 29"/>
                  <a:gd name="T12" fmla="*/ 48 w 48"/>
                  <a:gd name="T13" fmla="*/ 0 h 29"/>
                  <a:gd name="T14" fmla="*/ 42 w 48"/>
                  <a:gd name="T15" fmla="*/ 0 h 29"/>
                  <a:gd name="T16" fmla="*/ 0 w 48"/>
                  <a:gd name="T17" fmla="*/ 19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8"/>
                  <a:gd name="T28" fmla="*/ 0 h 29"/>
                  <a:gd name="T29" fmla="*/ 48 w 48"/>
                  <a:gd name="T30" fmla="*/ 29 h 2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8" h="29">
                    <a:moveTo>
                      <a:pt x="0" y="19"/>
                    </a:moveTo>
                    <a:lnTo>
                      <a:pt x="0" y="24"/>
                    </a:lnTo>
                    <a:lnTo>
                      <a:pt x="0" y="29"/>
                    </a:lnTo>
                    <a:lnTo>
                      <a:pt x="6" y="29"/>
                    </a:lnTo>
                    <a:lnTo>
                      <a:pt x="48" y="9"/>
                    </a:lnTo>
                    <a:lnTo>
                      <a:pt x="48" y="5"/>
                    </a:lnTo>
                    <a:lnTo>
                      <a:pt x="48" y="0"/>
                    </a:lnTo>
                    <a:lnTo>
                      <a:pt x="42" y="0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65" name="Freeform 43"/>
              <p:cNvSpPr/>
              <p:nvPr/>
            </p:nvSpPr>
            <p:spPr bwMode="auto">
              <a:xfrm>
                <a:off x="2222" y="2040"/>
                <a:ext cx="30" cy="19"/>
              </a:xfrm>
              <a:custGeom>
                <a:avLst/>
                <a:gdLst>
                  <a:gd name="T0" fmla="*/ 0 w 30"/>
                  <a:gd name="T1" fmla="*/ 10 h 19"/>
                  <a:gd name="T2" fmla="*/ 0 w 30"/>
                  <a:gd name="T3" fmla="*/ 14 h 19"/>
                  <a:gd name="T4" fmla="*/ 0 w 30"/>
                  <a:gd name="T5" fmla="*/ 19 h 19"/>
                  <a:gd name="T6" fmla="*/ 6 w 30"/>
                  <a:gd name="T7" fmla="*/ 19 h 19"/>
                  <a:gd name="T8" fmla="*/ 30 w 30"/>
                  <a:gd name="T9" fmla="*/ 10 h 19"/>
                  <a:gd name="T10" fmla="*/ 30 w 30"/>
                  <a:gd name="T11" fmla="*/ 5 h 19"/>
                  <a:gd name="T12" fmla="*/ 24 w 30"/>
                  <a:gd name="T13" fmla="*/ 0 h 19"/>
                  <a:gd name="T14" fmla="*/ 24 w 30"/>
                  <a:gd name="T15" fmla="*/ 0 h 19"/>
                  <a:gd name="T16" fmla="*/ 0 w 30"/>
                  <a:gd name="T17" fmla="*/ 1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19"/>
                  <a:gd name="T29" fmla="*/ 30 w 30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19">
                    <a:moveTo>
                      <a:pt x="0" y="10"/>
                    </a:moveTo>
                    <a:lnTo>
                      <a:pt x="0" y="14"/>
                    </a:lnTo>
                    <a:lnTo>
                      <a:pt x="0" y="19"/>
                    </a:lnTo>
                    <a:lnTo>
                      <a:pt x="6" y="19"/>
                    </a:lnTo>
                    <a:lnTo>
                      <a:pt x="30" y="10"/>
                    </a:lnTo>
                    <a:lnTo>
                      <a:pt x="30" y="5"/>
                    </a:lnTo>
                    <a:lnTo>
                      <a:pt x="24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07897" name="Group 44"/>
            <p:cNvGrpSpPr/>
            <p:nvPr/>
          </p:nvGrpSpPr>
          <p:grpSpPr bwMode="auto">
            <a:xfrm>
              <a:off x="2240" y="1445"/>
              <a:ext cx="12" cy="317"/>
              <a:chOff x="2240" y="1733"/>
              <a:chExt cx="12" cy="317"/>
            </a:xfrm>
          </p:grpSpPr>
          <p:sp>
            <p:nvSpPr>
              <p:cNvPr id="208055" name="Freeform 45"/>
              <p:cNvSpPr/>
              <p:nvPr/>
            </p:nvSpPr>
            <p:spPr bwMode="auto">
              <a:xfrm>
                <a:off x="2240" y="2002"/>
                <a:ext cx="12" cy="48"/>
              </a:xfrm>
              <a:custGeom>
                <a:avLst/>
                <a:gdLst>
                  <a:gd name="T0" fmla="*/ 0 w 12"/>
                  <a:gd name="T1" fmla="*/ 43 h 48"/>
                  <a:gd name="T2" fmla="*/ 6 w 12"/>
                  <a:gd name="T3" fmla="*/ 48 h 48"/>
                  <a:gd name="T4" fmla="*/ 6 w 12"/>
                  <a:gd name="T5" fmla="*/ 48 h 48"/>
                  <a:gd name="T6" fmla="*/ 12 w 12"/>
                  <a:gd name="T7" fmla="*/ 43 h 48"/>
                  <a:gd name="T8" fmla="*/ 12 w 12"/>
                  <a:gd name="T9" fmla="*/ 4 h 48"/>
                  <a:gd name="T10" fmla="*/ 6 w 12"/>
                  <a:gd name="T11" fmla="*/ 0 h 48"/>
                  <a:gd name="T12" fmla="*/ 6 w 12"/>
                  <a:gd name="T13" fmla="*/ 0 h 48"/>
                  <a:gd name="T14" fmla="*/ 0 w 12"/>
                  <a:gd name="T15" fmla="*/ 4 h 48"/>
                  <a:gd name="T16" fmla="*/ 0 w 12"/>
                  <a:gd name="T17" fmla="*/ 43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48"/>
                  <a:gd name="T29" fmla="*/ 12 w 12"/>
                  <a:gd name="T30" fmla="*/ 48 h 4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48">
                    <a:moveTo>
                      <a:pt x="0" y="43"/>
                    </a:moveTo>
                    <a:lnTo>
                      <a:pt x="6" y="48"/>
                    </a:lnTo>
                    <a:lnTo>
                      <a:pt x="12" y="43"/>
                    </a:lnTo>
                    <a:lnTo>
                      <a:pt x="12" y="4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56" name="Freeform 46"/>
              <p:cNvSpPr/>
              <p:nvPr/>
            </p:nvSpPr>
            <p:spPr bwMode="auto">
              <a:xfrm>
                <a:off x="2240" y="1934"/>
                <a:ext cx="12" cy="48"/>
              </a:xfrm>
              <a:custGeom>
                <a:avLst/>
                <a:gdLst>
                  <a:gd name="T0" fmla="*/ 0 w 12"/>
                  <a:gd name="T1" fmla="*/ 44 h 48"/>
                  <a:gd name="T2" fmla="*/ 6 w 12"/>
                  <a:gd name="T3" fmla="*/ 48 h 48"/>
                  <a:gd name="T4" fmla="*/ 6 w 12"/>
                  <a:gd name="T5" fmla="*/ 48 h 48"/>
                  <a:gd name="T6" fmla="*/ 12 w 12"/>
                  <a:gd name="T7" fmla="*/ 44 h 48"/>
                  <a:gd name="T8" fmla="*/ 12 w 12"/>
                  <a:gd name="T9" fmla="*/ 5 h 48"/>
                  <a:gd name="T10" fmla="*/ 6 w 12"/>
                  <a:gd name="T11" fmla="*/ 0 h 48"/>
                  <a:gd name="T12" fmla="*/ 6 w 12"/>
                  <a:gd name="T13" fmla="*/ 0 h 48"/>
                  <a:gd name="T14" fmla="*/ 0 w 12"/>
                  <a:gd name="T15" fmla="*/ 5 h 48"/>
                  <a:gd name="T16" fmla="*/ 0 w 12"/>
                  <a:gd name="T17" fmla="*/ 44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48"/>
                  <a:gd name="T29" fmla="*/ 12 w 12"/>
                  <a:gd name="T30" fmla="*/ 48 h 4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48">
                    <a:moveTo>
                      <a:pt x="0" y="44"/>
                    </a:moveTo>
                    <a:lnTo>
                      <a:pt x="6" y="48"/>
                    </a:lnTo>
                    <a:lnTo>
                      <a:pt x="12" y="44"/>
                    </a:lnTo>
                    <a:lnTo>
                      <a:pt x="12" y="5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57" name="Freeform 47"/>
              <p:cNvSpPr/>
              <p:nvPr/>
            </p:nvSpPr>
            <p:spPr bwMode="auto">
              <a:xfrm>
                <a:off x="2240" y="1867"/>
                <a:ext cx="12" cy="48"/>
              </a:xfrm>
              <a:custGeom>
                <a:avLst/>
                <a:gdLst>
                  <a:gd name="T0" fmla="*/ 0 w 12"/>
                  <a:gd name="T1" fmla="*/ 43 h 48"/>
                  <a:gd name="T2" fmla="*/ 6 w 12"/>
                  <a:gd name="T3" fmla="*/ 48 h 48"/>
                  <a:gd name="T4" fmla="*/ 6 w 12"/>
                  <a:gd name="T5" fmla="*/ 48 h 48"/>
                  <a:gd name="T6" fmla="*/ 12 w 12"/>
                  <a:gd name="T7" fmla="*/ 43 h 48"/>
                  <a:gd name="T8" fmla="*/ 12 w 12"/>
                  <a:gd name="T9" fmla="*/ 5 h 48"/>
                  <a:gd name="T10" fmla="*/ 6 w 12"/>
                  <a:gd name="T11" fmla="*/ 0 h 48"/>
                  <a:gd name="T12" fmla="*/ 6 w 12"/>
                  <a:gd name="T13" fmla="*/ 0 h 48"/>
                  <a:gd name="T14" fmla="*/ 0 w 12"/>
                  <a:gd name="T15" fmla="*/ 5 h 48"/>
                  <a:gd name="T16" fmla="*/ 0 w 12"/>
                  <a:gd name="T17" fmla="*/ 43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48"/>
                  <a:gd name="T29" fmla="*/ 12 w 12"/>
                  <a:gd name="T30" fmla="*/ 48 h 4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48">
                    <a:moveTo>
                      <a:pt x="0" y="43"/>
                    </a:moveTo>
                    <a:lnTo>
                      <a:pt x="6" y="48"/>
                    </a:lnTo>
                    <a:lnTo>
                      <a:pt x="12" y="43"/>
                    </a:lnTo>
                    <a:lnTo>
                      <a:pt x="12" y="5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58" name="Freeform 48"/>
              <p:cNvSpPr/>
              <p:nvPr/>
            </p:nvSpPr>
            <p:spPr bwMode="auto">
              <a:xfrm>
                <a:off x="2240" y="1800"/>
                <a:ext cx="12" cy="48"/>
              </a:xfrm>
              <a:custGeom>
                <a:avLst/>
                <a:gdLst>
                  <a:gd name="T0" fmla="*/ 0 w 12"/>
                  <a:gd name="T1" fmla="*/ 43 h 48"/>
                  <a:gd name="T2" fmla="*/ 6 w 12"/>
                  <a:gd name="T3" fmla="*/ 48 h 48"/>
                  <a:gd name="T4" fmla="*/ 6 w 12"/>
                  <a:gd name="T5" fmla="*/ 48 h 48"/>
                  <a:gd name="T6" fmla="*/ 12 w 12"/>
                  <a:gd name="T7" fmla="*/ 43 h 48"/>
                  <a:gd name="T8" fmla="*/ 12 w 12"/>
                  <a:gd name="T9" fmla="*/ 5 h 48"/>
                  <a:gd name="T10" fmla="*/ 6 w 12"/>
                  <a:gd name="T11" fmla="*/ 0 h 48"/>
                  <a:gd name="T12" fmla="*/ 6 w 12"/>
                  <a:gd name="T13" fmla="*/ 0 h 48"/>
                  <a:gd name="T14" fmla="*/ 0 w 12"/>
                  <a:gd name="T15" fmla="*/ 5 h 48"/>
                  <a:gd name="T16" fmla="*/ 0 w 12"/>
                  <a:gd name="T17" fmla="*/ 43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48"/>
                  <a:gd name="T29" fmla="*/ 12 w 12"/>
                  <a:gd name="T30" fmla="*/ 48 h 4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48">
                    <a:moveTo>
                      <a:pt x="0" y="43"/>
                    </a:moveTo>
                    <a:lnTo>
                      <a:pt x="6" y="48"/>
                    </a:lnTo>
                    <a:lnTo>
                      <a:pt x="12" y="43"/>
                    </a:lnTo>
                    <a:lnTo>
                      <a:pt x="12" y="5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59" name="Freeform 49"/>
              <p:cNvSpPr/>
              <p:nvPr/>
            </p:nvSpPr>
            <p:spPr bwMode="auto">
              <a:xfrm>
                <a:off x="2240" y="1733"/>
                <a:ext cx="12" cy="48"/>
              </a:xfrm>
              <a:custGeom>
                <a:avLst/>
                <a:gdLst>
                  <a:gd name="T0" fmla="*/ 0 w 12"/>
                  <a:gd name="T1" fmla="*/ 43 h 48"/>
                  <a:gd name="T2" fmla="*/ 6 w 12"/>
                  <a:gd name="T3" fmla="*/ 48 h 48"/>
                  <a:gd name="T4" fmla="*/ 6 w 12"/>
                  <a:gd name="T5" fmla="*/ 48 h 48"/>
                  <a:gd name="T6" fmla="*/ 12 w 12"/>
                  <a:gd name="T7" fmla="*/ 43 h 48"/>
                  <a:gd name="T8" fmla="*/ 12 w 12"/>
                  <a:gd name="T9" fmla="*/ 5 h 48"/>
                  <a:gd name="T10" fmla="*/ 6 w 12"/>
                  <a:gd name="T11" fmla="*/ 0 h 48"/>
                  <a:gd name="T12" fmla="*/ 6 w 12"/>
                  <a:gd name="T13" fmla="*/ 0 h 48"/>
                  <a:gd name="T14" fmla="*/ 0 w 12"/>
                  <a:gd name="T15" fmla="*/ 5 h 48"/>
                  <a:gd name="T16" fmla="*/ 0 w 12"/>
                  <a:gd name="T17" fmla="*/ 43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48"/>
                  <a:gd name="T29" fmla="*/ 12 w 12"/>
                  <a:gd name="T30" fmla="*/ 48 h 4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48">
                    <a:moveTo>
                      <a:pt x="0" y="43"/>
                    </a:moveTo>
                    <a:lnTo>
                      <a:pt x="6" y="48"/>
                    </a:lnTo>
                    <a:lnTo>
                      <a:pt x="12" y="43"/>
                    </a:lnTo>
                    <a:lnTo>
                      <a:pt x="12" y="5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07898" name="Group 50"/>
            <p:cNvGrpSpPr/>
            <p:nvPr/>
          </p:nvGrpSpPr>
          <p:grpSpPr bwMode="auto">
            <a:xfrm>
              <a:off x="1903" y="1958"/>
              <a:ext cx="79" cy="149"/>
              <a:chOff x="1903" y="2246"/>
              <a:chExt cx="79" cy="149"/>
            </a:xfrm>
          </p:grpSpPr>
          <p:sp>
            <p:nvSpPr>
              <p:cNvPr id="208052" name="Freeform 51"/>
              <p:cNvSpPr/>
              <p:nvPr/>
            </p:nvSpPr>
            <p:spPr bwMode="auto">
              <a:xfrm>
                <a:off x="1903" y="2246"/>
                <a:ext cx="30" cy="44"/>
              </a:xfrm>
              <a:custGeom>
                <a:avLst/>
                <a:gdLst>
                  <a:gd name="T0" fmla="*/ 12 w 30"/>
                  <a:gd name="T1" fmla="*/ 5 h 44"/>
                  <a:gd name="T2" fmla="*/ 6 w 30"/>
                  <a:gd name="T3" fmla="*/ 0 h 44"/>
                  <a:gd name="T4" fmla="*/ 6 w 30"/>
                  <a:gd name="T5" fmla="*/ 0 h 44"/>
                  <a:gd name="T6" fmla="*/ 0 w 30"/>
                  <a:gd name="T7" fmla="*/ 5 h 44"/>
                  <a:gd name="T8" fmla="*/ 18 w 30"/>
                  <a:gd name="T9" fmla="*/ 39 h 44"/>
                  <a:gd name="T10" fmla="*/ 18 w 30"/>
                  <a:gd name="T11" fmla="*/ 44 h 44"/>
                  <a:gd name="T12" fmla="*/ 24 w 30"/>
                  <a:gd name="T13" fmla="*/ 44 h 44"/>
                  <a:gd name="T14" fmla="*/ 30 w 30"/>
                  <a:gd name="T15" fmla="*/ 39 h 44"/>
                  <a:gd name="T16" fmla="*/ 12 w 30"/>
                  <a:gd name="T17" fmla="*/ 5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44"/>
                  <a:gd name="T29" fmla="*/ 30 w 30"/>
                  <a:gd name="T30" fmla="*/ 44 h 4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44">
                    <a:moveTo>
                      <a:pt x="12" y="5"/>
                    </a:moveTo>
                    <a:lnTo>
                      <a:pt x="6" y="0"/>
                    </a:lnTo>
                    <a:lnTo>
                      <a:pt x="0" y="5"/>
                    </a:lnTo>
                    <a:lnTo>
                      <a:pt x="18" y="39"/>
                    </a:lnTo>
                    <a:lnTo>
                      <a:pt x="18" y="44"/>
                    </a:lnTo>
                    <a:lnTo>
                      <a:pt x="24" y="44"/>
                    </a:lnTo>
                    <a:lnTo>
                      <a:pt x="30" y="39"/>
                    </a:lnTo>
                    <a:lnTo>
                      <a:pt x="12" y="5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53" name="Freeform 52"/>
              <p:cNvSpPr/>
              <p:nvPr/>
            </p:nvSpPr>
            <p:spPr bwMode="auto">
              <a:xfrm>
                <a:off x="1933" y="2309"/>
                <a:ext cx="30" cy="48"/>
              </a:xfrm>
              <a:custGeom>
                <a:avLst/>
                <a:gdLst>
                  <a:gd name="T0" fmla="*/ 12 w 30"/>
                  <a:gd name="T1" fmla="*/ 5 h 48"/>
                  <a:gd name="T2" fmla="*/ 6 w 30"/>
                  <a:gd name="T3" fmla="*/ 0 h 48"/>
                  <a:gd name="T4" fmla="*/ 0 w 30"/>
                  <a:gd name="T5" fmla="*/ 0 h 48"/>
                  <a:gd name="T6" fmla="*/ 0 w 30"/>
                  <a:gd name="T7" fmla="*/ 5 h 48"/>
                  <a:gd name="T8" fmla="*/ 18 w 30"/>
                  <a:gd name="T9" fmla="*/ 43 h 48"/>
                  <a:gd name="T10" fmla="*/ 18 w 30"/>
                  <a:gd name="T11" fmla="*/ 48 h 48"/>
                  <a:gd name="T12" fmla="*/ 24 w 30"/>
                  <a:gd name="T13" fmla="*/ 48 h 48"/>
                  <a:gd name="T14" fmla="*/ 30 w 30"/>
                  <a:gd name="T15" fmla="*/ 43 h 48"/>
                  <a:gd name="T16" fmla="*/ 12 w 30"/>
                  <a:gd name="T17" fmla="*/ 5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48"/>
                  <a:gd name="T29" fmla="*/ 30 w 30"/>
                  <a:gd name="T30" fmla="*/ 48 h 4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48">
                    <a:moveTo>
                      <a:pt x="12" y="5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18" y="43"/>
                    </a:lnTo>
                    <a:lnTo>
                      <a:pt x="18" y="48"/>
                    </a:lnTo>
                    <a:lnTo>
                      <a:pt x="24" y="48"/>
                    </a:lnTo>
                    <a:lnTo>
                      <a:pt x="30" y="43"/>
                    </a:lnTo>
                    <a:lnTo>
                      <a:pt x="12" y="5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54" name="Freeform 53"/>
              <p:cNvSpPr/>
              <p:nvPr/>
            </p:nvSpPr>
            <p:spPr bwMode="auto">
              <a:xfrm>
                <a:off x="1963" y="2371"/>
                <a:ext cx="19" cy="24"/>
              </a:xfrm>
              <a:custGeom>
                <a:avLst/>
                <a:gdLst>
                  <a:gd name="T0" fmla="*/ 13 w 19"/>
                  <a:gd name="T1" fmla="*/ 5 h 24"/>
                  <a:gd name="T2" fmla="*/ 7 w 19"/>
                  <a:gd name="T3" fmla="*/ 0 h 24"/>
                  <a:gd name="T4" fmla="*/ 0 w 19"/>
                  <a:gd name="T5" fmla="*/ 0 h 24"/>
                  <a:gd name="T6" fmla="*/ 0 w 19"/>
                  <a:gd name="T7" fmla="*/ 5 h 24"/>
                  <a:gd name="T8" fmla="*/ 7 w 19"/>
                  <a:gd name="T9" fmla="*/ 19 h 24"/>
                  <a:gd name="T10" fmla="*/ 13 w 19"/>
                  <a:gd name="T11" fmla="*/ 24 h 24"/>
                  <a:gd name="T12" fmla="*/ 13 w 19"/>
                  <a:gd name="T13" fmla="*/ 24 h 24"/>
                  <a:gd name="T14" fmla="*/ 19 w 19"/>
                  <a:gd name="T15" fmla="*/ 19 h 24"/>
                  <a:gd name="T16" fmla="*/ 13 w 19"/>
                  <a:gd name="T17" fmla="*/ 5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24"/>
                  <a:gd name="T29" fmla="*/ 19 w 19"/>
                  <a:gd name="T30" fmla="*/ 24 h 2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24">
                    <a:moveTo>
                      <a:pt x="13" y="5"/>
                    </a:moveTo>
                    <a:lnTo>
                      <a:pt x="7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19"/>
                    </a:lnTo>
                    <a:lnTo>
                      <a:pt x="13" y="24"/>
                    </a:lnTo>
                    <a:lnTo>
                      <a:pt x="19" y="19"/>
                    </a:lnTo>
                    <a:lnTo>
                      <a:pt x="13" y="5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07899" name="Group 54"/>
            <p:cNvGrpSpPr/>
            <p:nvPr/>
          </p:nvGrpSpPr>
          <p:grpSpPr bwMode="auto">
            <a:xfrm>
              <a:off x="1453" y="1426"/>
              <a:ext cx="799" cy="9"/>
              <a:chOff x="1453" y="1714"/>
              <a:chExt cx="799" cy="9"/>
            </a:xfrm>
          </p:grpSpPr>
          <p:sp>
            <p:nvSpPr>
              <p:cNvPr id="208042" name="Freeform 55"/>
              <p:cNvSpPr/>
              <p:nvPr/>
            </p:nvSpPr>
            <p:spPr bwMode="auto">
              <a:xfrm>
                <a:off x="1453" y="1714"/>
                <a:ext cx="60" cy="9"/>
              </a:xfrm>
              <a:custGeom>
                <a:avLst/>
                <a:gdLst>
                  <a:gd name="T0" fmla="*/ 12 w 60"/>
                  <a:gd name="T1" fmla="*/ 0 h 9"/>
                  <a:gd name="T2" fmla="*/ 6 w 60"/>
                  <a:gd name="T3" fmla="*/ 0 h 9"/>
                  <a:gd name="T4" fmla="*/ 0 w 60"/>
                  <a:gd name="T5" fmla="*/ 4 h 9"/>
                  <a:gd name="T6" fmla="*/ 6 w 60"/>
                  <a:gd name="T7" fmla="*/ 9 h 9"/>
                  <a:gd name="T8" fmla="*/ 48 w 60"/>
                  <a:gd name="T9" fmla="*/ 9 h 9"/>
                  <a:gd name="T10" fmla="*/ 54 w 60"/>
                  <a:gd name="T11" fmla="*/ 9 h 9"/>
                  <a:gd name="T12" fmla="*/ 60 w 60"/>
                  <a:gd name="T13" fmla="*/ 4 h 9"/>
                  <a:gd name="T14" fmla="*/ 54 w 60"/>
                  <a:gd name="T15" fmla="*/ 0 h 9"/>
                  <a:gd name="T16" fmla="*/ 12 w 60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0"/>
                  <a:gd name="T28" fmla="*/ 0 h 9"/>
                  <a:gd name="T29" fmla="*/ 60 w 60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0" h="9">
                    <a:moveTo>
                      <a:pt x="12" y="0"/>
                    </a:moveTo>
                    <a:lnTo>
                      <a:pt x="6" y="0"/>
                    </a:lnTo>
                    <a:lnTo>
                      <a:pt x="0" y="4"/>
                    </a:lnTo>
                    <a:lnTo>
                      <a:pt x="6" y="9"/>
                    </a:lnTo>
                    <a:lnTo>
                      <a:pt x="48" y="9"/>
                    </a:lnTo>
                    <a:lnTo>
                      <a:pt x="54" y="9"/>
                    </a:lnTo>
                    <a:lnTo>
                      <a:pt x="60" y="4"/>
                    </a:lnTo>
                    <a:lnTo>
                      <a:pt x="54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43" name="Freeform 56"/>
              <p:cNvSpPr/>
              <p:nvPr/>
            </p:nvSpPr>
            <p:spPr bwMode="auto">
              <a:xfrm>
                <a:off x="1537" y="1714"/>
                <a:ext cx="60" cy="9"/>
              </a:xfrm>
              <a:custGeom>
                <a:avLst/>
                <a:gdLst>
                  <a:gd name="T0" fmla="*/ 6 w 60"/>
                  <a:gd name="T1" fmla="*/ 0 h 9"/>
                  <a:gd name="T2" fmla="*/ 0 w 60"/>
                  <a:gd name="T3" fmla="*/ 0 h 9"/>
                  <a:gd name="T4" fmla="*/ 0 w 60"/>
                  <a:gd name="T5" fmla="*/ 4 h 9"/>
                  <a:gd name="T6" fmla="*/ 0 w 60"/>
                  <a:gd name="T7" fmla="*/ 9 h 9"/>
                  <a:gd name="T8" fmla="*/ 48 w 60"/>
                  <a:gd name="T9" fmla="*/ 9 h 9"/>
                  <a:gd name="T10" fmla="*/ 54 w 60"/>
                  <a:gd name="T11" fmla="*/ 9 h 9"/>
                  <a:gd name="T12" fmla="*/ 60 w 60"/>
                  <a:gd name="T13" fmla="*/ 4 h 9"/>
                  <a:gd name="T14" fmla="*/ 54 w 60"/>
                  <a:gd name="T15" fmla="*/ 0 h 9"/>
                  <a:gd name="T16" fmla="*/ 6 w 60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0"/>
                  <a:gd name="T28" fmla="*/ 0 h 9"/>
                  <a:gd name="T29" fmla="*/ 60 w 60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0" h="9">
                    <a:moveTo>
                      <a:pt x="6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48" y="9"/>
                    </a:lnTo>
                    <a:lnTo>
                      <a:pt x="54" y="9"/>
                    </a:lnTo>
                    <a:lnTo>
                      <a:pt x="60" y="4"/>
                    </a:lnTo>
                    <a:lnTo>
                      <a:pt x="5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44" name="Freeform 57"/>
              <p:cNvSpPr/>
              <p:nvPr/>
            </p:nvSpPr>
            <p:spPr bwMode="auto">
              <a:xfrm>
                <a:off x="1621" y="1714"/>
                <a:ext cx="60" cy="9"/>
              </a:xfrm>
              <a:custGeom>
                <a:avLst/>
                <a:gdLst>
                  <a:gd name="T0" fmla="*/ 6 w 60"/>
                  <a:gd name="T1" fmla="*/ 0 h 9"/>
                  <a:gd name="T2" fmla="*/ 0 w 60"/>
                  <a:gd name="T3" fmla="*/ 0 h 9"/>
                  <a:gd name="T4" fmla="*/ 0 w 60"/>
                  <a:gd name="T5" fmla="*/ 4 h 9"/>
                  <a:gd name="T6" fmla="*/ 0 w 60"/>
                  <a:gd name="T7" fmla="*/ 9 h 9"/>
                  <a:gd name="T8" fmla="*/ 48 w 60"/>
                  <a:gd name="T9" fmla="*/ 9 h 9"/>
                  <a:gd name="T10" fmla="*/ 54 w 60"/>
                  <a:gd name="T11" fmla="*/ 9 h 9"/>
                  <a:gd name="T12" fmla="*/ 60 w 60"/>
                  <a:gd name="T13" fmla="*/ 4 h 9"/>
                  <a:gd name="T14" fmla="*/ 54 w 60"/>
                  <a:gd name="T15" fmla="*/ 0 h 9"/>
                  <a:gd name="T16" fmla="*/ 6 w 60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0"/>
                  <a:gd name="T28" fmla="*/ 0 h 9"/>
                  <a:gd name="T29" fmla="*/ 60 w 60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0" h="9">
                    <a:moveTo>
                      <a:pt x="6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48" y="9"/>
                    </a:lnTo>
                    <a:lnTo>
                      <a:pt x="54" y="9"/>
                    </a:lnTo>
                    <a:lnTo>
                      <a:pt x="60" y="4"/>
                    </a:lnTo>
                    <a:lnTo>
                      <a:pt x="5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45" name="Freeform 58"/>
              <p:cNvSpPr/>
              <p:nvPr/>
            </p:nvSpPr>
            <p:spPr bwMode="auto">
              <a:xfrm>
                <a:off x="1705" y="1714"/>
                <a:ext cx="60" cy="9"/>
              </a:xfrm>
              <a:custGeom>
                <a:avLst/>
                <a:gdLst>
                  <a:gd name="T0" fmla="*/ 6 w 60"/>
                  <a:gd name="T1" fmla="*/ 0 h 9"/>
                  <a:gd name="T2" fmla="*/ 0 w 60"/>
                  <a:gd name="T3" fmla="*/ 0 h 9"/>
                  <a:gd name="T4" fmla="*/ 0 w 60"/>
                  <a:gd name="T5" fmla="*/ 4 h 9"/>
                  <a:gd name="T6" fmla="*/ 0 w 60"/>
                  <a:gd name="T7" fmla="*/ 9 h 9"/>
                  <a:gd name="T8" fmla="*/ 48 w 60"/>
                  <a:gd name="T9" fmla="*/ 9 h 9"/>
                  <a:gd name="T10" fmla="*/ 54 w 60"/>
                  <a:gd name="T11" fmla="*/ 9 h 9"/>
                  <a:gd name="T12" fmla="*/ 60 w 60"/>
                  <a:gd name="T13" fmla="*/ 4 h 9"/>
                  <a:gd name="T14" fmla="*/ 54 w 60"/>
                  <a:gd name="T15" fmla="*/ 0 h 9"/>
                  <a:gd name="T16" fmla="*/ 6 w 60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0"/>
                  <a:gd name="T28" fmla="*/ 0 h 9"/>
                  <a:gd name="T29" fmla="*/ 60 w 60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0" h="9">
                    <a:moveTo>
                      <a:pt x="6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48" y="9"/>
                    </a:lnTo>
                    <a:lnTo>
                      <a:pt x="54" y="9"/>
                    </a:lnTo>
                    <a:lnTo>
                      <a:pt x="60" y="4"/>
                    </a:lnTo>
                    <a:lnTo>
                      <a:pt x="5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46" name="Freeform 59"/>
              <p:cNvSpPr/>
              <p:nvPr/>
            </p:nvSpPr>
            <p:spPr bwMode="auto">
              <a:xfrm>
                <a:off x="1789" y="1714"/>
                <a:ext cx="60" cy="9"/>
              </a:xfrm>
              <a:custGeom>
                <a:avLst/>
                <a:gdLst>
                  <a:gd name="T0" fmla="*/ 6 w 60"/>
                  <a:gd name="T1" fmla="*/ 0 h 9"/>
                  <a:gd name="T2" fmla="*/ 0 w 60"/>
                  <a:gd name="T3" fmla="*/ 0 h 9"/>
                  <a:gd name="T4" fmla="*/ 0 w 60"/>
                  <a:gd name="T5" fmla="*/ 4 h 9"/>
                  <a:gd name="T6" fmla="*/ 0 w 60"/>
                  <a:gd name="T7" fmla="*/ 9 h 9"/>
                  <a:gd name="T8" fmla="*/ 48 w 60"/>
                  <a:gd name="T9" fmla="*/ 9 h 9"/>
                  <a:gd name="T10" fmla="*/ 54 w 60"/>
                  <a:gd name="T11" fmla="*/ 9 h 9"/>
                  <a:gd name="T12" fmla="*/ 60 w 60"/>
                  <a:gd name="T13" fmla="*/ 4 h 9"/>
                  <a:gd name="T14" fmla="*/ 54 w 60"/>
                  <a:gd name="T15" fmla="*/ 0 h 9"/>
                  <a:gd name="T16" fmla="*/ 6 w 60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0"/>
                  <a:gd name="T28" fmla="*/ 0 h 9"/>
                  <a:gd name="T29" fmla="*/ 60 w 60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0" h="9">
                    <a:moveTo>
                      <a:pt x="6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48" y="9"/>
                    </a:lnTo>
                    <a:lnTo>
                      <a:pt x="54" y="9"/>
                    </a:lnTo>
                    <a:lnTo>
                      <a:pt x="60" y="4"/>
                    </a:lnTo>
                    <a:lnTo>
                      <a:pt x="5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47" name="Freeform 60"/>
              <p:cNvSpPr/>
              <p:nvPr/>
            </p:nvSpPr>
            <p:spPr bwMode="auto">
              <a:xfrm>
                <a:off x="1873" y="1714"/>
                <a:ext cx="60" cy="9"/>
              </a:xfrm>
              <a:custGeom>
                <a:avLst/>
                <a:gdLst>
                  <a:gd name="T0" fmla="*/ 6 w 60"/>
                  <a:gd name="T1" fmla="*/ 0 h 9"/>
                  <a:gd name="T2" fmla="*/ 0 w 60"/>
                  <a:gd name="T3" fmla="*/ 0 h 9"/>
                  <a:gd name="T4" fmla="*/ 0 w 60"/>
                  <a:gd name="T5" fmla="*/ 4 h 9"/>
                  <a:gd name="T6" fmla="*/ 0 w 60"/>
                  <a:gd name="T7" fmla="*/ 9 h 9"/>
                  <a:gd name="T8" fmla="*/ 48 w 60"/>
                  <a:gd name="T9" fmla="*/ 9 h 9"/>
                  <a:gd name="T10" fmla="*/ 54 w 60"/>
                  <a:gd name="T11" fmla="*/ 9 h 9"/>
                  <a:gd name="T12" fmla="*/ 60 w 60"/>
                  <a:gd name="T13" fmla="*/ 4 h 9"/>
                  <a:gd name="T14" fmla="*/ 54 w 60"/>
                  <a:gd name="T15" fmla="*/ 0 h 9"/>
                  <a:gd name="T16" fmla="*/ 6 w 60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0"/>
                  <a:gd name="T28" fmla="*/ 0 h 9"/>
                  <a:gd name="T29" fmla="*/ 60 w 60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0" h="9">
                    <a:moveTo>
                      <a:pt x="6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48" y="9"/>
                    </a:lnTo>
                    <a:lnTo>
                      <a:pt x="54" y="9"/>
                    </a:lnTo>
                    <a:lnTo>
                      <a:pt x="60" y="4"/>
                    </a:lnTo>
                    <a:lnTo>
                      <a:pt x="5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48" name="Freeform 61"/>
              <p:cNvSpPr/>
              <p:nvPr/>
            </p:nvSpPr>
            <p:spPr bwMode="auto">
              <a:xfrm>
                <a:off x="1957" y="1714"/>
                <a:ext cx="61" cy="9"/>
              </a:xfrm>
              <a:custGeom>
                <a:avLst/>
                <a:gdLst>
                  <a:gd name="T0" fmla="*/ 6 w 61"/>
                  <a:gd name="T1" fmla="*/ 0 h 9"/>
                  <a:gd name="T2" fmla="*/ 0 w 61"/>
                  <a:gd name="T3" fmla="*/ 0 h 9"/>
                  <a:gd name="T4" fmla="*/ 0 w 61"/>
                  <a:gd name="T5" fmla="*/ 4 h 9"/>
                  <a:gd name="T6" fmla="*/ 0 w 61"/>
                  <a:gd name="T7" fmla="*/ 9 h 9"/>
                  <a:gd name="T8" fmla="*/ 49 w 61"/>
                  <a:gd name="T9" fmla="*/ 9 h 9"/>
                  <a:gd name="T10" fmla="*/ 55 w 61"/>
                  <a:gd name="T11" fmla="*/ 9 h 9"/>
                  <a:gd name="T12" fmla="*/ 61 w 61"/>
                  <a:gd name="T13" fmla="*/ 4 h 9"/>
                  <a:gd name="T14" fmla="*/ 55 w 61"/>
                  <a:gd name="T15" fmla="*/ 0 h 9"/>
                  <a:gd name="T16" fmla="*/ 6 w 61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1"/>
                  <a:gd name="T28" fmla="*/ 0 h 9"/>
                  <a:gd name="T29" fmla="*/ 61 w 61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1" h="9">
                    <a:moveTo>
                      <a:pt x="6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49" y="9"/>
                    </a:lnTo>
                    <a:lnTo>
                      <a:pt x="55" y="9"/>
                    </a:lnTo>
                    <a:lnTo>
                      <a:pt x="61" y="4"/>
                    </a:lnTo>
                    <a:lnTo>
                      <a:pt x="55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49" name="Freeform 62"/>
              <p:cNvSpPr/>
              <p:nvPr/>
            </p:nvSpPr>
            <p:spPr bwMode="auto">
              <a:xfrm>
                <a:off x="2042" y="1714"/>
                <a:ext cx="60" cy="9"/>
              </a:xfrm>
              <a:custGeom>
                <a:avLst/>
                <a:gdLst>
                  <a:gd name="T0" fmla="*/ 6 w 60"/>
                  <a:gd name="T1" fmla="*/ 0 h 9"/>
                  <a:gd name="T2" fmla="*/ 0 w 60"/>
                  <a:gd name="T3" fmla="*/ 0 h 9"/>
                  <a:gd name="T4" fmla="*/ 0 w 60"/>
                  <a:gd name="T5" fmla="*/ 4 h 9"/>
                  <a:gd name="T6" fmla="*/ 0 w 60"/>
                  <a:gd name="T7" fmla="*/ 9 h 9"/>
                  <a:gd name="T8" fmla="*/ 48 w 60"/>
                  <a:gd name="T9" fmla="*/ 9 h 9"/>
                  <a:gd name="T10" fmla="*/ 54 w 60"/>
                  <a:gd name="T11" fmla="*/ 9 h 9"/>
                  <a:gd name="T12" fmla="*/ 60 w 60"/>
                  <a:gd name="T13" fmla="*/ 4 h 9"/>
                  <a:gd name="T14" fmla="*/ 54 w 60"/>
                  <a:gd name="T15" fmla="*/ 0 h 9"/>
                  <a:gd name="T16" fmla="*/ 6 w 60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0"/>
                  <a:gd name="T28" fmla="*/ 0 h 9"/>
                  <a:gd name="T29" fmla="*/ 60 w 60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0" h="9">
                    <a:moveTo>
                      <a:pt x="6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48" y="9"/>
                    </a:lnTo>
                    <a:lnTo>
                      <a:pt x="54" y="9"/>
                    </a:lnTo>
                    <a:lnTo>
                      <a:pt x="60" y="4"/>
                    </a:lnTo>
                    <a:lnTo>
                      <a:pt x="5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50" name="Freeform 63"/>
              <p:cNvSpPr/>
              <p:nvPr/>
            </p:nvSpPr>
            <p:spPr bwMode="auto">
              <a:xfrm>
                <a:off x="2126" y="1714"/>
                <a:ext cx="60" cy="9"/>
              </a:xfrm>
              <a:custGeom>
                <a:avLst/>
                <a:gdLst>
                  <a:gd name="T0" fmla="*/ 6 w 60"/>
                  <a:gd name="T1" fmla="*/ 0 h 9"/>
                  <a:gd name="T2" fmla="*/ 0 w 60"/>
                  <a:gd name="T3" fmla="*/ 0 h 9"/>
                  <a:gd name="T4" fmla="*/ 0 w 60"/>
                  <a:gd name="T5" fmla="*/ 4 h 9"/>
                  <a:gd name="T6" fmla="*/ 0 w 60"/>
                  <a:gd name="T7" fmla="*/ 9 h 9"/>
                  <a:gd name="T8" fmla="*/ 48 w 60"/>
                  <a:gd name="T9" fmla="*/ 9 h 9"/>
                  <a:gd name="T10" fmla="*/ 54 w 60"/>
                  <a:gd name="T11" fmla="*/ 9 h 9"/>
                  <a:gd name="T12" fmla="*/ 60 w 60"/>
                  <a:gd name="T13" fmla="*/ 4 h 9"/>
                  <a:gd name="T14" fmla="*/ 54 w 60"/>
                  <a:gd name="T15" fmla="*/ 0 h 9"/>
                  <a:gd name="T16" fmla="*/ 6 w 60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0"/>
                  <a:gd name="T28" fmla="*/ 0 h 9"/>
                  <a:gd name="T29" fmla="*/ 60 w 60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0" h="9">
                    <a:moveTo>
                      <a:pt x="6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48" y="9"/>
                    </a:lnTo>
                    <a:lnTo>
                      <a:pt x="54" y="9"/>
                    </a:lnTo>
                    <a:lnTo>
                      <a:pt x="60" y="4"/>
                    </a:lnTo>
                    <a:lnTo>
                      <a:pt x="5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51" name="Freeform 64"/>
              <p:cNvSpPr/>
              <p:nvPr/>
            </p:nvSpPr>
            <p:spPr bwMode="auto">
              <a:xfrm>
                <a:off x="2210" y="1714"/>
                <a:ext cx="42" cy="9"/>
              </a:xfrm>
              <a:custGeom>
                <a:avLst/>
                <a:gdLst>
                  <a:gd name="T0" fmla="*/ 6 w 42"/>
                  <a:gd name="T1" fmla="*/ 0 h 9"/>
                  <a:gd name="T2" fmla="*/ 0 w 42"/>
                  <a:gd name="T3" fmla="*/ 0 h 9"/>
                  <a:gd name="T4" fmla="*/ 0 w 42"/>
                  <a:gd name="T5" fmla="*/ 4 h 9"/>
                  <a:gd name="T6" fmla="*/ 0 w 42"/>
                  <a:gd name="T7" fmla="*/ 9 h 9"/>
                  <a:gd name="T8" fmla="*/ 36 w 42"/>
                  <a:gd name="T9" fmla="*/ 9 h 9"/>
                  <a:gd name="T10" fmla="*/ 36 w 42"/>
                  <a:gd name="T11" fmla="*/ 9 h 9"/>
                  <a:gd name="T12" fmla="*/ 42 w 42"/>
                  <a:gd name="T13" fmla="*/ 4 h 9"/>
                  <a:gd name="T14" fmla="*/ 42 w 42"/>
                  <a:gd name="T15" fmla="*/ 0 h 9"/>
                  <a:gd name="T16" fmla="*/ 6 w 42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2"/>
                  <a:gd name="T28" fmla="*/ 0 h 9"/>
                  <a:gd name="T29" fmla="*/ 42 w 42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2" h="9">
                    <a:moveTo>
                      <a:pt x="6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36" y="9"/>
                    </a:lnTo>
                    <a:lnTo>
                      <a:pt x="42" y="4"/>
                    </a:lnTo>
                    <a:lnTo>
                      <a:pt x="42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07900" name="Line 65"/>
            <p:cNvSpPr>
              <a:spLocks noChangeShapeType="1"/>
            </p:cNvSpPr>
            <p:nvPr/>
          </p:nvSpPr>
          <p:spPr bwMode="auto">
            <a:xfrm>
              <a:off x="1525" y="1493"/>
              <a:ext cx="655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07901" name="Group 66"/>
            <p:cNvGrpSpPr/>
            <p:nvPr/>
          </p:nvGrpSpPr>
          <p:grpSpPr bwMode="auto">
            <a:xfrm>
              <a:off x="1729" y="2083"/>
              <a:ext cx="253" cy="63"/>
              <a:chOff x="1729" y="2371"/>
              <a:chExt cx="253" cy="63"/>
            </a:xfrm>
          </p:grpSpPr>
          <p:sp>
            <p:nvSpPr>
              <p:cNvPr id="208038" name="Freeform 67"/>
              <p:cNvSpPr/>
              <p:nvPr/>
            </p:nvSpPr>
            <p:spPr bwMode="auto">
              <a:xfrm>
                <a:off x="1921" y="2400"/>
                <a:ext cx="61" cy="10"/>
              </a:xfrm>
              <a:custGeom>
                <a:avLst/>
                <a:gdLst>
                  <a:gd name="T0" fmla="*/ 61 w 61"/>
                  <a:gd name="T1" fmla="*/ 10 h 10"/>
                  <a:gd name="T2" fmla="*/ 61 w 61"/>
                  <a:gd name="T3" fmla="*/ 5 h 10"/>
                  <a:gd name="T4" fmla="*/ 55 w 61"/>
                  <a:gd name="T5" fmla="*/ 0 h 10"/>
                  <a:gd name="T6" fmla="*/ 55 w 61"/>
                  <a:gd name="T7" fmla="*/ 0 h 10"/>
                  <a:gd name="T8" fmla="*/ 6 w 61"/>
                  <a:gd name="T9" fmla="*/ 0 h 10"/>
                  <a:gd name="T10" fmla="*/ 0 w 61"/>
                  <a:gd name="T11" fmla="*/ 5 h 10"/>
                  <a:gd name="T12" fmla="*/ 6 w 61"/>
                  <a:gd name="T13" fmla="*/ 10 h 10"/>
                  <a:gd name="T14" fmla="*/ 12 w 61"/>
                  <a:gd name="T15" fmla="*/ 10 h 10"/>
                  <a:gd name="T16" fmla="*/ 61 w 61"/>
                  <a:gd name="T17" fmla="*/ 1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1"/>
                  <a:gd name="T28" fmla="*/ 0 h 10"/>
                  <a:gd name="T29" fmla="*/ 61 w 61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1" h="10">
                    <a:moveTo>
                      <a:pt x="61" y="10"/>
                    </a:moveTo>
                    <a:lnTo>
                      <a:pt x="61" y="5"/>
                    </a:lnTo>
                    <a:lnTo>
                      <a:pt x="55" y="0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6" y="10"/>
                    </a:lnTo>
                    <a:lnTo>
                      <a:pt x="12" y="10"/>
                    </a:lnTo>
                    <a:lnTo>
                      <a:pt x="61" y="10"/>
                    </a:lnTo>
                    <a:close/>
                  </a:path>
                </a:pathLst>
              </a:custGeom>
              <a:solidFill>
                <a:schemeClr val="folHlink"/>
              </a:solidFill>
              <a:ln w="9525">
                <a:solidFill>
                  <a:schemeClr val="folHlink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39" name="Freeform 68"/>
              <p:cNvSpPr/>
              <p:nvPr/>
            </p:nvSpPr>
            <p:spPr bwMode="auto">
              <a:xfrm>
                <a:off x="1837" y="2400"/>
                <a:ext cx="60" cy="10"/>
              </a:xfrm>
              <a:custGeom>
                <a:avLst/>
                <a:gdLst>
                  <a:gd name="T0" fmla="*/ 60 w 60"/>
                  <a:gd name="T1" fmla="*/ 10 h 10"/>
                  <a:gd name="T2" fmla="*/ 60 w 60"/>
                  <a:gd name="T3" fmla="*/ 5 h 10"/>
                  <a:gd name="T4" fmla="*/ 54 w 60"/>
                  <a:gd name="T5" fmla="*/ 0 h 10"/>
                  <a:gd name="T6" fmla="*/ 54 w 60"/>
                  <a:gd name="T7" fmla="*/ 0 h 10"/>
                  <a:gd name="T8" fmla="*/ 6 w 60"/>
                  <a:gd name="T9" fmla="*/ 0 h 10"/>
                  <a:gd name="T10" fmla="*/ 0 w 60"/>
                  <a:gd name="T11" fmla="*/ 5 h 10"/>
                  <a:gd name="T12" fmla="*/ 6 w 60"/>
                  <a:gd name="T13" fmla="*/ 10 h 10"/>
                  <a:gd name="T14" fmla="*/ 12 w 60"/>
                  <a:gd name="T15" fmla="*/ 10 h 10"/>
                  <a:gd name="T16" fmla="*/ 60 w 60"/>
                  <a:gd name="T17" fmla="*/ 1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0"/>
                  <a:gd name="T28" fmla="*/ 0 h 10"/>
                  <a:gd name="T29" fmla="*/ 60 w 60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0" h="10">
                    <a:moveTo>
                      <a:pt x="60" y="10"/>
                    </a:moveTo>
                    <a:lnTo>
                      <a:pt x="60" y="5"/>
                    </a:lnTo>
                    <a:lnTo>
                      <a:pt x="54" y="0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6" y="10"/>
                    </a:lnTo>
                    <a:lnTo>
                      <a:pt x="12" y="10"/>
                    </a:lnTo>
                    <a:lnTo>
                      <a:pt x="60" y="10"/>
                    </a:lnTo>
                    <a:close/>
                  </a:path>
                </a:pathLst>
              </a:custGeom>
              <a:solidFill>
                <a:schemeClr val="folHlink"/>
              </a:solidFill>
              <a:ln w="9525">
                <a:solidFill>
                  <a:schemeClr val="folHlink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40" name="Freeform 69"/>
              <p:cNvSpPr/>
              <p:nvPr/>
            </p:nvSpPr>
            <p:spPr bwMode="auto">
              <a:xfrm>
                <a:off x="1753" y="2400"/>
                <a:ext cx="60" cy="10"/>
              </a:xfrm>
              <a:custGeom>
                <a:avLst/>
                <a:gdLst>
                  <a:gd name="T0" fmla="*/ 60 w 60"/>
                  <a:gd name="T1" fmla="*/ 10 h 10"/>
                  <a:gd name="T2" fmla="*/ 60 w 60"/>
                  <a:gd name="T3" fmla="*/ 5 h 10"/>
                  <a:gd name="T4" fmla="*/ 54 w 60"/>
                  <a:gd name="T5" fmla="*/ 0 h 10"/>
                  <a:gd name="T6" fmla="*/ 54 w 60"/>
                  <a:gd name="T7" fmla="*/ 0 h 10"/>
                  <a:gd name="T8" fmla="*/ 6 w 60"/>
                  <a:gd name="T9" fmla="*/ 0 h 10"/>
                  <a:gd name="T10" fmla="*/ 0 w 60"/>
                  <a:gd name="T11" fmla="*/ 5 h 10"/>
                  <a:gd name="T12" fmla="*/ 6 w 60"/>
                  <a:gd name="T13" fmla="*/ 10 h 10"/>
                  <a:gd name="T14" fmla="*/ 12 w 60"/>
                  <a:gd name="T15" fmla="*/ 10 h 10"/>
                  <a:gd name="T16" fmla="*/ 60 w 60"/>
                  <a:gd name="T17" fmla="*/ 1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0"/>
                  <a:gd name="T28" fmla="*/ 0 h 10"/>
                  <a:gd name="T29" fmla="*/ 60 w 60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0" h="10">
                    <a:moveTo>
                      <a:pt x="60" y="10"/>
                    </a:moveTo>
                    <a:lnTo>
                      <a:pt x="60" y="5"/>
                    </a:lnTo>
                    <a:lnTo>
                      <a:pt x="54" y="0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6" y="10"/>
                    </a:lnTo>
                    <a:lnTo>
                      <a:pt x="12" y="10"/>
                    </a:lnTo>
                    <a:lnTo>
                      <a:pt x="60" y="10"/>
                    </a:lnTo>
                    <a:close/>
                  </a:path>
                </a:pathLst>
              </a:custGeom>
              <a:solidFill>
                <a:schemeClr val="folHlink"/>
              </a:solidFill>
              <a:ln w="9525">
                <a:solidFill>
                  <a:schemeClr val="folHlink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41" name="Freeform 70"/>
              <p:cNvSpPr/>
              <p:nvPr/>
            </p:nvSpPr>
            <p:spPr bwMode="auto">
              <a:xfrm>
                <a:off x="1729" y="2371"/>
                <a:ext cx="72" cy="63"/>
              </a:xfrm>
              <a:custGeom>
                <a:avLst/>
                <a:gdLst>
                  <a:gd name="T0" fmla="*/ 72 w 72"/>
                  <a:gd name="T1" fmla="*/ 0 h 63"/>
                  <a:gd name="T2" fmla="*/ 0 w 72"/>
                  <a:gd name="T3" fmla="*/ 34 h 63"/>
                  <a:gd name="T4" fmla="*/ 72 w 72"/>
                  <a:gd name="T5" fmla="*/ 63 h 63"/>
                  <a:gd name="T6" fmla="*/ 0 60000 65536"/>
                  <a:gd name="T7" fmla="*/ 0 60000 65536"/>
                  <a:gd name="T8" fmla="*/ 0 60000 65536"/>
                  <a:gd name="T9" fmla="*/ 0 w 72"/>
                  <a:gd name="T10" fmla="*/ 0 h 63"/>
                  <a:gd name="T11" fmla="*/ 72 w 72"/>
                  <a:gd name="T12" fmla="*/ 63 h 6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2" h="63">
                    <a:moveTo>
                      <a:pt x="72" y="0"/>
                    </a:moveTo>
                    <a:lnTo>
                      <a:pt x="0" y="34"/>
                    </a:lnTo>
                    <a:lnTo>
                      <a:pt x="72" y="63"/>
                    </a:lnTo>
                  </a:path>
                </a:pathLst>
              </a:custGeom>
              <a:solidFill>
                <a:schemeClr val="folHlink"/>
              </a:solidFill>
              <a:ln w="19050">
                <a:solidFill>
                  <a:schemeClr val="folHlink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07902" name="Line 71"/>
            <p:cNvSpPr>
              <a:spLocks noChangeShapeType="1"/>
            </p:cNvSpPr>
            <p:nvPr/>
          </p:nvSpPr>
          <p:spPr bwMode="auto">
            <a:xfrm>
              <a:off x="1591" y="2074"/>
              <a:ext cx="1" cy="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03" name="Line 72"/>
            <p:cNvSpPr>
              <a:spLocks noChangeShapeType="1"/>
            </p:cNvSpPr>
            <p:nvPr/>
          </p:nvSpPr>
          <p:spPr bwMode="auto">
            <a:xfrm>
              <a:off x="2090" y="2074"/>
              <a:ext cx="1" cy="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04" name="Oval 73"/>
            <p:cNvSpPr>
              <a:spLocks noChangeArrowheads="1"/>
            </p:cNvSpPr>
            <p:nvPr/>
          </p:nvSpPr>
          <p:spPr bwMode="auto">
            <a:xfrm>
              <a:off x="1639" y="1075"/>
              <a:ext cx="48" cy="39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/>
              </a:solidFill>
              <a:round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7905" name="Freeform 74"/>
            <p:cNvSpPr/>
            <p:nvPr/>
          </p:nvSpPr>
          <p:spPr bwMode="auto">
            <a:xfrm>
              <a:off x="1663" y="1262"/>
              <a:ext cx="42" cy="264"/>
            </a:xfrm>
            <a:custGeom>
              <a:avLst/>
              <a:gdLst>
                <a:gd name="T0" fmla="*/ 0 w 42"/>
                <a:gd name="T1" fmla="*/ 0 h 264"/>
                <a:gd name="T2" fmla="*/ 0 w 42"/>
                <a:gd name="T3" fmla="*/ 255 h 264"/>
                <a:gd name="T4" fmla="*/ 18 w 42"/>
                <a:gd name="T5" fmla="*/ 264 h 264"/>
                <a:gd name="T6" fmla="*/ 42 w 42"/>
                <a:gd name="T7" fmla="*/ 255 h 264"/>
                <a:gd name="T8" fmla="*/ 42 w 42"/>
                <a:gd name="T9" fmla="*/ 240 h 2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2"/>
                <a:gd name="T16" fmla="*/ 0 h 264"/>
                <a:gd name="T17" fmla="*/ 42 w 42"/>
                <a:gd name="T18" fmla="*/ 264 h 26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2" h="264">
                  <a:moveTo>
                    <a:pt x="0" y="0"/>
                  </a:moveTo>
                  <a:lnTo>
                    <a:pt x="0" y="255"/>
                  </a:lnTo>
                  <a:lnTo>
                    <a:pt x="18" y="264"/>
                  </a:lnTo>
                  <a:lnTo>
                    <a:pt x="42" y="255"/>
                  </a:lnTo>
                  <a:lnTo>
                    <a:pt x="42" y="24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06" name="Freeform 75"/>
            <p:cNvSpPr/>
            <p:nvPr/>
          </p:nvSpPr>
          <p:spPr bwMode="auto">
            <a:xfrm>
              <a:off x="1753" y="1368"/>
              <a:ext cx="108" cy="158"/>
            </a:xfrm>
            <a:custGeom>
              <a:avLst/>
              <a:gdLst>
                <a:gd name="T0" fmla="*/ 0 w 108"/>
                <a:gd name="T1" fmla="*/ 14 h 158"/>
                <a:gd name="T2" fmla="*/ 18 w 108"/>
                <a:gd name="T3" fmla="*/ 0 h 158"/>
                <a:gd name="T4" fmla="*/ 42 w 108"/>
                <a:gd name="T5" fmla="*/ 0 h 158"/>
                <a:gd name="T6" fmla="*/ 66 w 108"/>
                <a:gd name="T7" fmla="*/ 14 h 158"/>
                <a:gd name="T8" fmla="*/ 66 w 108"/>
                <a:gd name="T9" fmla="*/ 34 h 158"/>
                <a:gd name="T10" fmla="*/ 66 w 108"/>
                <a:gd name="T11" fmla="*/ 110 h 158"/>
                <a:gd name="T12" fmla="*/ 66 w 108"/>
                <a:gd name="T13" fmla="*/ 139 h 158"/>
                <a:gd name="T14" fmla="*/ 84 w 108"/>
                <a:gd name="T15" fmla="*/ 158 h 158"/>
                <a:gd name="T16" fmla="*/ 108 w 108"/>
                <a:gd name="T17" fmla="*/ 139 h 158"/>
                <a:gd name="T18" fmla="*/ 108 w 108"/>
                <a:gd name="T19" fmla="*/ 125 h 1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8"/>
                <a:gd name="T31" fmla="*/ 0 h 158"/>
                <a:gd name="T32" fmla="*/ 108 w 108"/>
                <a:gd name="T33" fmla="*/ 158 h 15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8" h="158">
                  <a:moveTo>
                    <a:pt x="0" y="14"/>
                  </a:moveTo>
                  <a:lnTo>
                    <a:pt x="18" y="0"/>
                  </a:lnTo>
                  <a:lnTo>
                    <a:pt x="42" y="0"/>
                  </a:lnTo>
                  <a:lnTo>
                    <a:pt x="66" y="14"/>
                  </a:lnTo>
                  <a:lnTo>
                    <a:pt x="66" y="34"/>
                  </a:lnTo>
                  <a:lnTo>
                    <a:pt x="66" y="110"/>
                  </a:lnTo>
                  <a:lnTo>
                    <a:pt x="66" y="139"/>
                  </a:lnTo>
                  <a:lnTo>
                    <a:pt x="84" y="158"/>
                  </a:lnTo>
                  <a:lnTo>
                    <a:pt x="108" y="139"/>
                  </a:lnTo>
                  <a:lnTo>
                    <a:pt x="108" y="12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07" name="Freeform 76"/>
            <p:cNvSpPr/>
            <p:nvPr/>
          </p:nvSpPr>
          <p:spPr bwMode="auto">
            <a:xfrm>
              <a:off x="1885" y="1368"/>
              <a:ext cx="115" cy="158"/>
            </a:xfrm>
            <a:custGeom>
              <a:avLst/>
              <a:gdLst>
                <a:gd name="T0" fmla="*/ 0 w 115"/>
                <a:gd name="T1" fmla="*/ 14 h 158"/>
                <a:gd name="T2" fmla="*/ 24 w 115"/>
                <a:gd name="T3" fmla="*/ 0 h 158"/>
                <a:gd name="T4" fmla="*/ 42 w 115"/>
                <a:gd name="T5" fmla="*/ 0 h 158"/>
                <a:gd name="T6" fmla="*/ 66 w 115"/>
                <a:gd name="T7" fmla="*/ 14 h 158"/>
                <a:gd name="T8" fmla="*/ 66 w 115"/>
                <a:gd name="T9" fmla="*/ 34 h 158"/>
                <a:gd name="T10" fmla="*/ 66 w 115"/>
                <a:gd name="T11" fmla="*/ 110 h 158"/>
                <a:gd name="T12" fmla="*/ 66 w 115"/>
                <a:gd name="T13" fmla="*/ 139 h 158"/>
                <a:gd name="T14" fmla="*/ 91 w 115"/>
                <a:gd name="T15" fmla="*/ 158 h 158"/>
                <a:gd name="T16" fmla="*/ 115 w 115"/>
                <a:gd name="T17" fmla="*/ 139 h 158"/>
                <a:gd name="T18" fmla="*/ 115 w 115"/>
                <a:gd name="T19" fmla="*/ 125 h 1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5"/>
                <a:gd name="T31" fmla="*/ 0 h 158"/>
                <a:gd name="T32" fmla="*/ 115 w 115"/>
                <a:gd name="T33" fmla="*/ 158 h 15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5" h="158">
                  <a:moveTo>
                    <a:pt x="0" y="14"/>
                  </a:moveTo>
                  <a:lnTo>
                    <a:pt x="24" y="0"/>
                  </a:lnTo>
                  <a:lnTo>
                    <a:pt x="42" y="0"/>
                  </a:lnTo>
                  <a:lnTo>
                    <a:pt x="66" y="14"/>
                  </a:lnTo>
                  <a:lnTo>
                    <a:pt x="66" y="34"/>
                  </a:lnTo>
                  <a:lnTo>
                    <a:pt x="66" y="110"/>
                  </a:lnTo>
                  <a:lnTo>
                    <a:pt x="66" y="139"/>
                  </a:lnTo>
                  <a:lnTo>
                    <a:pt x="91" y="158"/>
                  </a:lnTo>
                  <a:lnTo>
                    <a:pt x="115" y="139"/>
                  </a:lnTo>
                  <a:lnTo>
                    <a:pt x="115" y="12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08" name="Line 77"/>
            <p:cNvSpPr>
              <a:spLocks noChangeShapeType="1"/>
            </p:cNvSpPr>
            <p:nvPr/>
          </p:nvSpPr>
          <p:spPr bwMode="auto">
            <a:xfrm flipV="1">
              <a:off x="2018" y="1104"/>
              <a:ext cx="6" cy="27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09" name="Oval 78"/>
            <p:cNvSpPr>
              <a:spLocks noChangeArrowheads="1"/>
            </p:cNvSpPr>
            <p:nvPr/>
          </p:nvSpPr>
          <p:spPr bwMode="auto">
            <a:xfrm>
              <a:off x="2000" y="1075"/>
              <a:ext cx="48" cy="39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/>
              </a:solidFill>
              <a:round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7910" name="Rectangle 79"/>
            <p:cNvSpPr>
              <a:spLocks noChangeArrowheads="1"/>
            </p:cNvSpPr>
            <p:nvPr/>
          </p:nvSpPr>
          <p:spPr bwMode="auto">
            <a:xfrm>
              <a:off x="1657" y="816"/>
              <a:ext cx="43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800"/>
                <a:t>读线圈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07911" name="Rectangle 80"/>
            <p:cNvSpPr>
              <a:spLocks noChangeArrowheads="1"/>
            </p:cNvSpPr>
            <p:nvPr/>
          </p:nvSpPr>
          <p:spPr bwMode="auto">
            <a:xfrm>
              <a:off x="2006" y="1939"/>
              <a:ext cx="8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207912" name="Line 81"/>
            <p:cNvSpPr>
              <a:spLocks noChangeShapeType="1"/>
            </p:cNvSpPr>
            <p:nvPr/>
          </p:nvSpPr>
          <p:spPr bwMode="auto">
            <a:xfrm>
              <a:off x="3352" y="1387"/>
              <a:ext cx="1" cy="43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13" name="Line 82"/>
            <p:cNvSpPr>
              <a:spLocks noChangeShapeType="1"/>
            </p:cNvSpPr>
            <p:nvPr/>
          </p:nvSpPr>
          <p:spPr bwMode="auto">
            <a:xfrm>
              <a:off x="3352" y="1382"/>
              <a:ext cx="967" cy="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14" name="Line 83"/>
            <p:cNvSpPr>
              <a:spLocks noChangeShapeType="1"/>
            </p:cNvSpPr>
            <p:nvPr/>
          </p:nvSpPr>
          <p:spPr bwMode="auto">
            <a:xfrm>
              <a:off x="3033" y="2069"/>
              <a:ext cx="1827" cy="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07915" name="Group 84"/>
            <p:cNvGrpSpPr/>
            <p:nvPr/>
          </p:nvGrpSpPr>
          <p:grpSpPr bwMode="auto">
            <a:xfrm>
              <a:off x="2991" y="2150"/>
              <a:ext cx="1917" cy="96"/>
              <a:chOff x="2991" y="2438"/>
              <a:chExt cx="1917" cy="96"/>
            </a:xfrm>
          </p:grpSpPr>
          <p:sp>
            <p:nvSpPr>
              <p:cNvPr id="208036" name="Rectangle 85"/>
              <p:cNvSpPr>
                <a:spLocks noChangeArrowheads="1"/>
              </p:cNvSpPr>
              <p:nvPr/>
            </p:nvSpPr>
            <p:spPr bwMode="auto">
              <a:xfrm>
                <a:off x="2991" y="2438"/>
                <a:ext cx="1911" cy="92"/>
              </a:xfrm>
              <a:prstGeom prst="rect">
                <a:avLst/>
              </a:prstGeom>
              <a:blipFill dpi="0" rotWithShape="0">
                <a:blip r:embed="rId3"/>
                <a:srcRect/>
                <a:tile tx="0" ty="0" sx="100000" sy="100000" flip="none" algn="tl"/>
              </a:blipFill>
              <a:ln w="9525">
                <a:solidFill>
                  <a:schemeClr val="tx1"/>
                </a:solidFill>
                <a:miter lim="800000"/>
              </a:ln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208037" name="Rectangle 86"/>
              <p:cNvSpPr>
                <a:spLocks noChangeArrowheads="1"/>
              </p:cNvSpPr>
              <p:nvPr/>
            </p:nvSpPr>
            <p:spPr bwMode="auto">
              <a:xfrm>
                <a:off x="2991" y="2438"/>
                <a:ext cx="1917" cy="96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</p:grpSp>
        <p:sp>
          <p:nvSpPr>
            <p:cNvPr id="207916" name="Line 87"/>
            <p:cNvSpPr>
              <a:spLocks noChangeShapeType="1"/>
            </p:cNvSpPr>
            <p:nvPr/>
          </p:nvSpPr>
          <p:spPr bwMode="auto">
            <a:xfrm>
              <a:off x="3352" y="1824"/>
              <a:ext cx="450" cy="15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17" name="Line 88"/>
            <p:cNvSpPr>
              <a:spLocks noChangeShapeType="1"/>
            </p:cNvSpPr>
            <p:nvPr/>
          </p:nvSpPr>
          <p:spPr bwMode="auto">
            <a:xfrm flipV="1">
              <a:off x="3802" y="1901"/>
              <a:ext cx="1" cy="7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18" name="Line 89"/>
            <p:cNvSpPr>
              <a:spLocks noChangeShapeType="1"/>
            </p:cNvSpPr>
            <p:nvPr/>
          </p:nvSpPr>
          <p:spPr bwMode="auto">
            <a:xfrm flipH="1" flipV="1">
              <a:off x="3508" y="1714"/>
              <a:ext cx="294" cy="1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19" name="Line 90"/>
            <p:cNvSpPr>
              <a:spLocks noChangeShapeType="1"/>
            </p:cNvSpPr>
            <p:nvPr/>
          </p:nvSpPr>
          <p:spPr bwMode="auto">
            <a:xfrm flipV="1">
              <a:off x="3508" y="1493"/>
              <a:ext cx="1" cy="2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07920" name="Group 91"/>
            <p:cNvGrpSpPr/>
            <p:nvPr/>
          </p:nvGrpSpPr>
          <p:grpSpPr bwMode="auto">
            <a:xfrm>
              <a:off x="3436" y="1752"/>
              <a:ext cx="372" cy="216"/>
              <a:chOff x="3436" y="2040"/>
              <a:chExt cx="372" cy="216"/>
            </a:xfrm>
          </p:grpSpPr>
          <p:sp>
            <p:nvSpPr>
              <p:cNvPr id="208030" name="Freeform 92"/>
              <p:cNvSpPr/>
              <p:nvPr/>
            </p:nvSpPr>
            <p:spPr bwMode="auto">
              <a:xfrm>
                <a:off x="3754" y="2222"/>
                <a:ext cx="54" cy="34"/>
              </a:xfrm>
              <a:custGeom>
                <a:avLst/>
                <a:gdLst>
                  <a:gd name="T0" fmla="*/ 48 w 54"/>
                  <a:gd name="T1" fmla="*/ 34 h 34"/>
                  <a:gd name="T2" fmla="*/ 48 w 54"/>
                  <a:gd name="T3" fmla="*/ 34 h 34"/>
                  <a:gd name="T4" fmla="*/ 54 w 54"/>
                  <a:gd name="T5" fmla="*/ 29 h 34"/>
                  <a:gd name="T6" fmla="*/ 54 w 54"/>
                  <a:gd name="T7" fmla="*/ 24 h 34"/>
                  <a:gd name="T8" fmla="*/ 12 w 54"/>
                  <a:gd name="T9" fmla="*/ 0 h 34"/>
                  <a:gd name="T10" fmla="*/ 6 w 54"/>
                  <a:gd name="T11" fmla="*/ 0 h 34"/>
                  <a:gd name="T12" fmla="*/ 0 w 54"/>
                  <a:gd name="T13" fmla="*/ 5 h 34"/>
                  <a:gd name="T14" fmla="*/ 6 w 54"/>
                  <a:gd name="T15" fmla="*/ 10 h 34"/>
                  <a:gd name="T16" fmla="*/ 48 w 54"/>
                  <a:gd name="T17" fmla="*/ 34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4"/>
                  <a:gd name="T28" fmla="*/ 0 h 34"/>
                  <a:gd name="T29" fmla="*/ 54 w 54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4" h="34">
                    <a:moveTo>
                      <a:pt x="48" y="34"/>
                    </a:moveTo>
                    <a:lnTo>
                      <a:pt x="48" y="34"/>
                    </a:lnTo>
                    <a:lnTo>
                      <a:pt x="54" y="29"/>
                    </a:lnTo>
                    <a:lnTo>
                      <a:pt x="54" y="24"/>
                    </a:lnTo>
                    <a:lnTo>
                      <a:pt x="12" y="0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6" y="10"/>
                    </a:lnTo>
                    <a:lnTo>
                      <a:pt x="48" y="34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31" name="Freeform 93"/>
              <p:cNvSpPr/>
              <p:nvPr/>
            </p:nvSpPr>
            <p:spPr bwMode="auto">
              <a:xfrm>
                <a:off x="3688" y="2184"/>
                <a:ext cx="54" cy="34"/>
              </a:xfrm>
              <a:custGeom>
                <a:avLst/>
                <a:gdLst>
                  <a:gd name="T0" fmla="*/ 42 w 54"/>
                  <a:gd name="T1" fmla="*/ 34 h 34"/>
                  <a:gd name="T2" fmla="*/ 48 w 54"/>
                  <a:gd name="T3" fmla="*/ 34 h 34"/>
                  <a:gd name="T4" fmla="*/ 54 w 54"/>
                  <a:gd name="T5" fmla="*/ 29 h 34"/>
                  <a:gd name="T6" fmla="*/ 48 w 54"/>
                  <a:gd name="T7" fmla="*/ 24 h 34"/>
                  <a:gd name="T8" fmla="*/ 12 w 54"/>
                  <a:gd name="T9" fmla="*/ 0 h 34"/>
                  <a:gd name="T10" fmla="*/ 6 w 54"/>
                  <a:gd name="T11" fmla="*/ 0 h 34"/>
                  <a:gd name="T12" fmla="*/ 0 w 54"/>
                  <a:gd name="T13" fmla="*/ 5 h 34"/>
                  <a:gd name="T14" fmla="*/ 6 w 54"/>
                  <a:gd name="T15" fmla="*/ 10 h 34"/>
                  <a:gd name="T16" fmla="*/ 42 w 54"/>
                  <a:gd name="T17" fmla="*/ 34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4"/>
                  <a:gd name="T28" fmla="*/ 0 h 34"/>
                  <a:gd name="T29" fmla="*/ 54 w 54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4" h="34">
                    <a:moveTo>
                      <a:pt x="42" y="34"/>
                    </a:moveTo>
                    <a:lnTo>
                      <a:pt x="48" y="34"/>
                    </a:lnTo>
                    <a:lnTo>
                      <a:pt x="54" y="29"/>
                    </a:lnTo>
                    <a:lnTo>
                      <a:pt x="48" y="24"/>
                    </a:lnTo>
                    <a:lnTo>
                      <a:pt x="12" y="0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6" y="10"/>
                    </a:lnTo>
                    <a:lnTo>
                      <a:pt x="42" y="34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32" name="Freeform 94"/>
              <p:cNvSpPr/>
              <p:nvPr/>
            </p:nvSpPr>
            <p:spPr bwMode="auto">
              <a:xfrm>
                <a:off x="3622" y="2146"/>
                <a:ext cx="48" cy="33"/>
              </a:xfrm>
              <a:custGeom>
                <a:avLst/>
                <a:gdLst>
                  <a:gd name="T0" fmla="*/ 42 w 48"/>
                  <a:gd name="T1" fmla="*/ 33 h 33"/>
                  <a:gd name="T2" fmla="*/ 48 w 48"/>
                  <a:gd name="T3" fmla="*/ 33 h 33"/>
                  <a:gd name="T4" fmla="*/ 48 w 48"/>
                  <a:gd name="T5" fmla="*/ 28 h 33"/>
                  <a:gd name="T6" fmla="*/ 48 w 48"/>
                  <a:gd name="T7" fmla="*/ 24 h 33"/>
                  <a:gd name="T8" fmla="*/ 6 w 48"/>
                  <a:gd name="T9" fmla="*/ 0 h 33"/>
                  <a:gd name="T10" fmla="*/ 0 w 48"/>
                  <a:gd name="T11" fmla="*/ 0 h 33"/>
                  <a:gd name="T12" fmla="*/ 0 w 48"/>
                  <a:gd name="T13" fmla="*/ 4 h 33"/>
                  <a:gd name="T14" fmla="*/ 0 w 48"/>
                  <a:gd name="T15" fmla="*/ 9 h 33"/>
                  <a:gd name="T16" fmla="*/ 42 w 48"/>
                  <a:gd name="T17" fmla="*/ 33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8"/>
                  <a:gd name="T28" fmla="*/ 0 h 33"/>
                  <a:gd name="T29" fmla="*/ 48 w 48"/>
                  <a:gd name="T30" fmla="*/ 33 h 3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8" h="33">
                    <a:moveTo>
                      <a:pt x="42" y="33"/>
                    </a:moveTo>
                    <a:lnTo>
                      <a:pt x="48" y="33"/>
                    </a:lnTo>
                    <a:lnTo>
                      <a:pt x="48" y="28"/>
                    </a:lnTo>
                    <a:lnTo>
                      <a:pt x="48" y="24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42" y="3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33" name="Freeform 95"/>
              <p:cNvSpPr/>
              <p:nvPr/>
            </p:nvSpPr>
            <p:spPr bwMode="auto">
              <a:xfrm>
                <a:off x="3550" y="2107"/>
                <a:ext cx="54" cy="34"/>
              </a:xfrm>
              <a:custGeom>
                <a:avLst/>
                <a:gdLst>
                  <a:gd name="T0" fmla="*/ 42 w 54"/>
                  <a:gd name="T1" fmla="*/ 34 h 34"/>
                  <a:gd name="T2" fmla="*/ 48 w 54"/>
                  <a:gd name="T3" fmla="*/ 34 h 34"/>
                  <a:gd name="T4" fmla="*/ 54 w 54"/>
                  <a:gd name="T5" fmla="*/ 29 h 34"/>
                  <a:gd name="T6" fmla="*/ 48 w 54"/>
                  <a:gd name="T7" fmla="*/ 24 h 34"/>
                  <a:gd name="T8" fmla="*/ 12 w 54"/>
                  <a:gd name="T9" fmla="*/ 0 h 34"/>
                  <a:gd name="T10" fmla="*/ 6 w 54"/>
                  <a:gd name="T11" fmla="*/ 0 h 34"/>
                  <a:gd name="T12" fmla="*/ 0 w 54"/>
                  <a:gd name="T13" fmla="*/ 5 h 34"/>
                  <a:gd name="T14" fmla="*/ 6 w 54"/>
                  <a:gd name="T15" fmla="*/ 10 h 34"/>
                  <a:gd name="T16" fmla="*/ 42 w 54"/>
                  <a:gd name="T17" fmla="*/ 34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4"/>
                  <a:gd name="T28" fmla="*/ 0 h 34"/>
                  <a:gd name="T29" fmla="*/ 54 w 54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4" h="34">
                    <a:moveTo>
                      <a:pt x="42" y="34"/>
                    </a:moveTo>
                    <a:lnTo>
                      <a:pt x="48" y="34"/>
                    </a:lnTo>
                    <a:lnTo>
                      <a:pt x="54" y="29"/>
                    </a:lnTo>
                    <a:lnTo>
                      <a:pt x="48" y="24"/>
                    </a:lnTo>
                    <a:lnTo>
                      <a:pt x="12" y="0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6" y="10"/>
                    </a:lnTo>
                    <a:lnTo>
                      <a:pt x="42" y="34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34" name="Freeform 96"/>
              <p:cNvSpPr/>
              <p:nvPr/>
            </p:nvSpPr>
            <p:spPr bwMode="auto">
              <a:xfrm>
                <a:off x="3484" y="2069"/>
                <a:ext cx="48" cy="29"/>
              </a:xfrm>
              <a:custGeom>
                <a:avLst/>
                <a:gdLst>
                  <a:gd name="T0" fmla="*/ 42 w 48"/>
                  <a:gd name="T1" fmla="*/ 29 h 29"/>
                  <a:gd name="T2" fmla="*/ 48 w 48"/>
                  <a:gd name="T3" fmla="*/ 29 h 29"/>
                  <a:gd name="T4" fmla="*/ 48 w 48"/>
                  <a:gd name="T5" fmla="*/ 24 h 29"/>
                  <a:gd name="T6" fmla="*/ 48 w 48"/>
                  <a:gd name="T7" fmla="*/ 19 h 29"/>
                  <a:gd name="T8" fmla="*/ 6 w 48"/>
                  <a:gd name="T9" fmla="*/ 0 h 29"/>
                  <a:gd name="T10" fmla="*/ 0 w 48"/>
                  <a:gd name="T11" fmla="*/ 0 h 29"/>
                  <a:gd name="T12" fmla="*/ 0 w 48"/>
                  <a:gd name="T13" fmla="*/ 5 h 29"/>
                  <a:gd name="T14" fmla="*/ 0 w 48"/>
                  <a:gd name="T15" fmla="*/ 9 h 29"/>
                  <a:gd name="T16" fmla="*/ 42 w 48"/>
                  <a:gd name="T17" fmla="*/ 29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8"/>
                  <a:gd name="T28" fmla="*/ 0 h 29"/>
                  <a:gd name="T29" fmla="*/ 48 w 48"/>
                  <a:gd name="T30" fmla="*/ 29 h 2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8" h="29">
                    <a:moveTo>
                      <a:pt x="42" y="29"/>
                    </a:moveTo>
                    <a:lnTo>
                      <a:pt x="48" y="29"/>
                    </a:lnTo>
                    <a:lnTo>
                      <a:pt x="48" y="24"/>
                    </a:lnTo>
                    <a:lnTo>
                      <a:pt x="48" y="19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42" y="29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35" name="Freeform 97"/>
              <p:cNvSpPr/>
              <p:nvPr/>
            </p:nvSpPr>
            <p:spPr bwMode="auto">
              <a:xfrm>
                <a:off x="3436" y="2040"/>
                <a:ext cx="30" cy="19"/>
              </a:xfrm>
              <a:custGeom>
                <a:avLst/>
                <a:gdLst>
                  <a:gd name="T0" fmla="*/ 24 w 30"/>
                  <a:gd name="T1" fmla="*/ 19 h 19"/>
                  <a:gd name="T2" fmla="*/ 30 w 30"/>
                  <a:gd name="T3" fmla="*/ 19 h 19"/>
                  <a:gd name="T4" fmla="*/ 30 w 30"/>
                  <a:gd name="T5" fmla="*/ 14 h 19"/>
                  <a:gd name="T6" fmla="*/ 30 w 30"/>
                  <a:gd name="T7" fmla="*/ 10 h 19"/>
                  <a:gd name="T8" fmla="*/ 12 w 30"/>
                  <a:gd name="T9" fmla="*/ 0 h 19"/>
                  <a:gd name="T10" fmla="*/ 6 w 30"/>
                  <a:gd name="T11" fmla="*/ 0 h 19"/>
                  <a:gd name="T12" fmla="*/ 0 w 30"/>
                  <a:gd name="T13" fmla="*/ 5 h 19"/>
                  <a:gd name="T14" fmla="*/ 6 w 30"/>
                  <a:gd name="T15" fmla="*/ 10 h 19"/>
                  <a:gd name="T16" fmla="*/ 24 w 30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19"/>
                  <a:gd name="T29" fmla="*/ 30 w 30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19">
                    <a:moveTo>
                      <a:pt x="24" y="19"/>
                    </a:moveTo>
                    <a:lnTo>
                      <a:pt x="30" y="19"/>
                    </a:lnTo>
                    <a:lnTo>
                      <a:pt x="30" y="14"/>
                    </a:lnTo>
                    <a:lnTo>
                      <a:pt x="30" y="10"/>
                    </a:lnTo>
                    <a:lnTo>
                      <a:pt x="12" y="0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6" y="10"/>
                    </a:lnTo>
                    <a:lnTo>
                      <a:pt x="24" y="19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07921" name="Group 98"/>
            <p:cNvGrpSpPr/>
            <p:nvPr/>
          </p:nvGrpSpPr>
          <p:grpSpPr bwMode="auto">
            <a:xfrm>
              <a:off x="3436" y="1445"/>
              <a:ext cx="12" cy="317"/>
              <a:chOff x="3436" y="1733"/>
              <a:chExt cx="12" cy="317"/>
            </a:xfrm>
          </p:grpSpPr>
          <p:sp>
            <p:nvSpPr>
              <p:cNvPr id="208025" name="Freeform 99"/>
              <p:cNvSpPr/>
              <p:nvPr/>
            </p:nvSpPr>
            <p:spPr bwMode="auto">
              <a:xfrm>
                <a:off x="3436" y="2002"/>
                <a:ext cx="12" cy="48"/>
              </a:xfrm>
              <a:custGeom>
                <a:avLst/>
                <a:gdLst>
                  <a:gd name="T0" fmla="*/ 0 w 12"/>
                  <a:gd name="T1" fmla="*/ 43 h 48"/>
                  <a:gd name="T2" fmla="*/ 6 w 12"/>
                  <a:gd name="T3" fmla="*/ 48 h 48"/>
                  <a:gd name="T4" fmla="*/ 6 w 12"/>
                  <a:gd name="T5" fmla="*/ 48 h 48"/>
                  <a:gd name="T6" fmla="*/ 12 w 12"/>
                  <a:gd name="T7" fmla="*/ 43 h 48"/>
                  <a:gd name="T8" fmla="*/ 12 w 12"/>
                  <a:gd name="T9" fmla="*/ 4 h 48"/>
                  <a:gd name="T10" fmla="*/ 6 w 12"/>
                  <a:gd name="T11" fmla="*/ 0 h 48"/>
                  <a:gd name="T12" fmla="*/ 6 w 12"/>
                  <a:gd name="T13" fmla="*/ 0 h 48"/>
                  <a:gd name="T14" fmla="*/ 0 w 12"/>
                  <a:gd name="T15" fmla="*/ 4 h 48"/>
                  <a:gd name="T16" fmla="*/ 0 w 12"/>
                  <a:gd name="T17" fmla="*/ 43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48"/>
                  <a:gd name="T29" fmla="*/ 12 w 12"/>
                  <a:gd name="T30" fmla="*/ 48 h 4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48">
                    <a:moveTo>
                      <a:pt x="0" y="43"/>
                    </a:moveTo>
                    <a:lnTo>
                      <a:pt x="6" y="48"/>
                    </a:lnTo>
                    <a:lnTo>
                      <a:pt x="12" y="43"/>
                    </a:lnTo>
                    <a:lnTo>
                      <a:pt x="12" y="4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26" name="Freeform 100"/>
              <p:cNvSpPr/>
              <p:nvPr/>
            </p:nvSpPr>
            <p:spPr bwMode="auto">
              <a:xfrm>
                <a:off x="3436" y="1934"/>
                <a:ext cx="12" cy="48"/>
              </a:xfrm>
              <a:custGeom>
                <a:avLst/>
                <a:gdLst>
                  <a:gd name="T0" fmla="*/ 0 w 12"/>
                  <a:gd name="T1" fmla="*/ 44 h 48"/>
                  <a:gd name="T2" fmla="*/ 6 w 12"/>
                  <a:gd name="T3" fmla="*/ 48 h 48"/>
                  <a:gd name="T4" fmla="*/ 6 w 12"/>
                  <a:gd name="T5" fmla="*/ 48 h 48"/>
                  <a:gd name="T6" fmla="*/ 12 w 12"/>
                  <a:gd name="T7" fmla="*/ 44 h 48"/>
                  <a:gd name="T8" fmla="*/ 12 w 12"/>
                  <a:gd name="T9" fmla="*/ 5 h 48"/>
                  <a:gd name="T10" fmla="*/ 6 w 12"/>
                  <a:gd name="T11" fmla="*/ 0 h 48"/>
                  <a:gd name="T12" fmla="*/ 6 w 12"/>
                  <a:gd name="T13" fmla="*/ 0 h 48"/>
                  <a:gd name="T14" fmla="*/ 0 w 12"/>
                  <a:gd name="T15" fmla="*/ 5 h 48"/>
                  <a:gd name="T16" fmla="*/ 0 w 12"/>
                  <a:gd name="T17" fmla="*/ 44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48"/>
                  <a:gd name="T29" fmla="*/ 12 w 12"/>
                  <a:gd name="T30" fmla="*/ 48 h 4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48">
                    <a:moveTo>
                      <a:pt x="0" y="44"/>
                    </a:moveTo>
                    <a:lnTo>
                      <a:pt x="6" y="48"/>
                    </a:lnTo>
                    <a:lnTo>
                      <a:pt x="12" y="44"/>
                    </a:lnTo>
                    <a:lnTo>
                      <a:pt x="12" y="5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27" name="Freeform 101"/>
              <p:cNvSpPr/>
              <p:nvPr/>
            </p:nvSpPr>
            <p:spPr bwMode="auto">
              <a:xfrm>
                <a:off x="3436" y="1867"/>
                <a:ext cx="12" cy="48"/>
              </a:xfrm>
              <a:custGeom>
                <a:avLst/>
                <a:gdLst>
                  <a:gd name="T0" fmla="*/ 0 w 12"/>
                  <a:gd name="T1" fmla="*/ 43 h 48"/>
                  <a:gd name="T2" fmla="*/ 6 w 12"/>
                  <a:gd name="T3" fmla="*/ 48 h 48"/>
                  <a:gd name="T4" fmla="*/ 6 w 12"/>
                  <a:gd name="T5" fmla="*/ 48 h 48"/>
                  <a:gd name="T6" fmla="*/ 12 w 12"/>
                  <a:gd name="T7" fmla="*/ 43 h 48"/>
                  <a:gd name="T8" fmla="*/ 12 w 12"/>
                  <a:gd name="T9" fmla="*/ 5 h 48"/>
                  <a:gd name="T10" fmla="*/ 6 w 12"/>
                  <a:gd name="T11" fmla="*/ 0 h 48"/>
                  <a:gd name="T12" fmla="*/ 6 w 12"/>
                  <a:gd name="T13" fmla="*/ 0 h 48"/>
                  <a:gd name="T14" fmla="*/ 0 w 12"/>
                  <a:gd name="T15" fmla="*/ 5 h 48"/>
                  <a:gd name="T16" fmla="*/ 0 w 12"/>
                  <a:gd name="T17" fmla="*/ 43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48"/>
                  <a:gd name="T29" fmla="*/ 12 w 12"/>
                  <a:gd name="T30" fmla="*/ 48 h 4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48">
                    <a:moveTo>
                      <a:pt x="0" y="43"/>
                    </a:moveTo>
                    <a:lnTo>
                      <a:pt x="6" y="48"/>
                    </a:lnTo>
                    <a:lnTo>
                      <a:pt x="12" y="43"/>
                    </a:lnTo>
                    <a:lnTo>
                      <a:pt x="12" y="5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28" name="Freeform 102"/>
              <p:cNvSpPr/>
              <p:nvPr/>
            </p:nvSpPr>
            <p:spPr bwMode="auto">
              <a:xfrm>
                <a:off x="3436" y="1800"/>
                <a:ext cx="12" cy="48"/>
              </a:xfrm>
              <a:custGeom>
                <a:avLst/>
                <a:gdLst>
                  <a:gd name="T0" fmla="*/ 0 w 12"/>
                  <a:gd name="T1" fmla="*/ 43 h 48"/>
                  <a:gd name="T2" fmla="*/ 6 w 12"/>
                  <a:gd name="T3" fmla="*/ 48 h 48"/>
                  <a:gd name="T4" fmla="*/ 6 w 12"/>
                  <a:gd name="T5" fmla="*/ 48 h 48"/>
                  <a:gd name="T6" fmla="*/ 12 w 12"/>
                  <a:gd name="T7" fmla="*/ 43 h 48"/>
                  <a:gd name="T8" fmla="*/ 12 w 12"/>
                  <a:gd name="T9" fmla="*/ 5 h 48"/>
                  <a:gd name="T10" fmla="*/ 6 w 12"/>
                  <a:gd name="T11" fmla="*/ 0 h 48"/>
                  <a:gd name="T12" fmla="*/ 6 w 12"/>
                  <a:gd name="T13" fmla="*/ 0 h 48"/>
                  <a:gd name="T14" fmla="*/ 0 w 12"/>
                  <a:gd name="T15" fmla="*/ 5 h 48"/>
                  <a:gd name="T16" fmla="*/ 0 w 12"/>
                  <a:gd name="T17" fmla="*/ 43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48"/>
                  <a:gd name="T29" fmla="*/ 12 w 12"/>
                  <a:gd name="T30" fmla="*/ 48 h 4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48">
                    <a:moveTo>
                      <a:pt x="0" y="43"/>
                    </a:moveTo>
                    <a:lnTo>
                      <a:pt x="6" y="48"/>
                    </a:lnTo>
                    <a:lnTo>
                      <a:pt x="12" y="43"/>
                    </a:lnTo>
                    <a:lnTo>
                      <a:pt x="12" y="5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29" name="Freeform 103"/>
              <p:cNvSpPr/>
              <p:nvPr/>
            </p:nvSpPr>
            <p:spPr bwMode="auto">
              <a:xfrm>
                <a:off x="3436" y="1733"/>
                <a:ext cx="12" cy="48"/>
              </a:xfrm>
              <a:custGeom>
                <a:avLst/>
                <a:gdLst>
                  <a:gd name="T0" fmla="*/ 0 w 12"/>
                  <a:gd name="T1" fmla="*/ 43 h 48"/>
                  <a:gd name="T2" fmla="*/ 6 w 12"/>
                  <a:gd name="T3" fmla="*/ 48 h 48"/>
                  <a:gd name="T4" fmla="*/ 6 w 12"/>
                  <a:gd name="T5" fmla="*/ 48 h 48"/>
                  <a:gd name="T6" fmla="*/ 12 w 12"/>
                  <a:gd name="T7" fmla="*/ 43 h 48"/>
                  <a:gd name="T8" fmla="*/ 12 w 12"/>
                  <a:gd name="T9" fmla="*/ 5 h 48"/>
                  <a:gd name="T10" fmla="*/ 6 w 12"/>
                  <a:gd name="T11" fmla="*/ 0 h 48"/>
                  <a:gd name="T12" fmla="*/ 6 w 12"/>
                  <a:gd name="T13" fmla="*/ 0 h 48"/>
                  <a:gd name="T14" fmla="*/ 0 w 12"/>
                  <a:gd name="T15" fmla="*/ 5 h 48"/>
                  <a:gd name="T16" fmla="*/ 0 w 12"/>
                  <a:gd name="T17" fmla="*/ 43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48"/>
                  <a:gd name="T29" fmla="*/ 12 w 12"/>
                  <a:gd name="T30" fmla="*/ 48 h 4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48">
                    <a:moveTo>
                      <a:pt x="0" y="43"/>
                    </a:moveTo>
                    <a:lnTo>
                      <a:pt x="6" y="48"/>
                    </a:lnTo>
                    <a:lnTo>
                      <a:pt x="12" y="43"/>
                    </a:lnTo>
                    <a:lnTo>
                      <a:pt x="12" y="5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07922" name="Group 104"/>
            <p:cNvGrpSpPr/>
            <p:nvPr/>
          </p:nvGrpSpPr>
          <p:grpSpPr bwMode="auto">
            <a:xfrm>
              <a:off x="3706" y="1958"/>
              <a:ext cx="78" cy="149"/>
              <a:chOff x="3706" y="2246"/>
              <a:chExt cx="78" cy="149"/>
            </a:xfrm>
          </p:grpSpPr>
          <p:sp>
            <p:nvSpPr>
              <p:cNvPr id="208022" name="Freeform 105"/>
              <p:cNvSpPr/>
              <p:nvPr/>
            </p:nvSpPr>
            <p:spPr bwMode="auto">
              <a:xfrm>
                <a:off x="3754" y="2246"/>
                <a:ext cx="30" cy="44"/>
              </a:xfrm>
              <a:custGeom>
                <a:avLst/>
                <a:gdLst>
                  <a:gd name="T0" fmla="*/ 30 w 30"/>
                  <a:gd name="T1" fmla="*/ 5 h 44"/>
                  <a:gd name="T2" fmla="*/ 24 w 30"/>
                  <a:gd name="T3" fmla="*/ 0 h 44"/>
                  <a:gd name="T4" fmla="*/ 24 w 30"/>
                  <a:gd name="T5" fmla="*/ 0 h 44"/>
                  <a:gd name="T6" fmla="*/ 18 w 30"/>
                  <a:gd name="T7" fmla="*/ 5 h 44"/>
                  <a:gd name="T8" fmla="*/ 0 w 30"/>
                  <a:gd name="T9" fmla="*/ 39 h 44"/>
                  <a:gd name="T10" fmla="*/ 6 w 30"/>
                  <a:gd name="T11" fmla="*/ 44 h 44"/>
                  <a:gd name="T12" fmla="*/ 12 w 30"/>
                  <a:gd name="T13" fmla="*/ 44 h 44"/>
                  <a:gd name="T14" fmla="*/ 12 w 30"/>
                  <a:gd name="T15" fmla="*/ 39 h 44"/>
                  <a:gd name="T16" fmla="*/ 30 w 30"/>
                  <a:gd name="T17" fmla="*/ 5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44"/>
                  <a:gd name="T29" fmla="*/ 30 w 30"/>
                  <a:gd name="T30" fmla="*/ 44 h 4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44">
                    <a:moveTo>
                      <a:pt x="30" y="5"/>
                    </a:moveTo>
                    <a:lnTo>
                      <a:pt x="24" y="0"/>
                    </a:lnTo>
                    <a:lnTo>
                      <a:pt x="18" y="5"/>
                    </a:lnTo>
                    <a:lnTo>
                      <a:pt x="0" y="39"/>
                    </a:lnTo>
                    <a:lnTo>
                      <a:pt x="6" y="44"/>
                    </a:lnTo>
                    <a:lnTo>
                      <a:pt x="12" y="44"/>
                    </a:lnTo>
                    <a:lnTo>
                      <a:pt x="12" y="39"/>
                    </a:lnTo>
                    <a:lnTo>
                      <a:pt x="30" y="5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23" name="Freeform 106"/>
              <p:cNvSpPr/>
              <p:nvPr/>
            </p:nvSpPr>
            <p:spPr bwMode="auto">
              <a:xfrm>
                <a:off x="3724" y="2309"/>
                <a:ext cx="30" cy="48"/>
              </a:xfrm>
              <a:custGeom>
                <a:avLst/>
                <a:gdLst>
                  <a:gd name="T0" fmla="*/ 30 w 30"/>
                  <a:gd name="T1" fmla="*/ 5 h 48"/>
                  <a:gd name="T2" fmla="*/ 30 w 30"/>
                  <a:gd name="T3" fmla="*/ 0 h 48"/>
                  <a:gd name="T4" fmla="*/ 24 w 30"/>
                  <a:gd name="T5" fmla="*/ 0 h 48"/>
                  <a:gd name="T6" fmla="*/ 18 w 30"/>
                  <a:gd name="T7" fmla="*/ 5 h 48"/>
                  <a:gd name="T8" fmla="*/ 0 w 30"/>
                  <a:gd name="T9" fmla="*/ 43 h 48"/>
                  <a:gd name="T10" fmla="*/ 6 w 30"/>
                  <a:gd name="T11" fmla="*/ 48 h 48"/>
                  <a:gd name="T12" fmla="*/ 12 w 30"/>
                  <a:gd name="T13" fmla="*/ 48 h 48"/>
                  <a:gd name="T14" fmla="*/ 12 w 30"/>
                  <a:gd name="T15" fmla="*/ 43 h 48"/>
                  <a:gd name="T16" fmla="*/ 30 w 30"/>
                  <a:gd name="T17" fmla="*/ 5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48"/>
                  <a:gd name="T29" fmla="*/ 30 w 30"/>
                  <a:gd name="T30" fmla="*/ 48 h 4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48">
                    <a:moveTo>
                      <a:pt x="30" y="5"/>
                    </a:moveTo>
                    <a:lnTo>
                      <a:pt x="30" y="0"/>
                    </a:lnTo>
                    <a:lnTo>
                      <a:pt x="24" y="0"/>
                    </a:lnTo>
                    <a:lnTo>
                      <a:pt x="18" y="5"/>
                    </a:lnTo>
                    <a:lnTo>
                      <a:pt x="0" y="43"/>
                    </a:lnTo>
                    <a:lnTo>
                      <a:pt x="6" y="48"/>
                    </a:lnTo>
                    <a:lnTo>
                      <a:pt x="12" y="48"/>
                    </a:lnTo>
                    <a:lnTo>
                      <a:pt x="12" y="43"/>
                    </a:lnTo>
                    <a:lnTo>
                      <a:pt x="30" y="5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24" name="Freeform 107"/>
              <p:cNvSpPr/>
              <p:nvPr/>
            </p:nvSpPr>
            <p:spPr bwMode="auto">
              <a:xfrm>
                <a:off x="3706" y="2371"/>
                <a:ext cx="18" cy="24"/>
              </a:xfrm>
              <a:custGeom>
                <a:avLst/>
                <a:gdLst>
                  <a:gd name="T0" fmla="*/ 18 w 18"/>
                  <a:gd name="T1" fmla="*/ 5 h 24"/>
                  <a:gd name="T2" fmla="*/ 18 w 18"/>
                  <a:gd name="T3" fmla="*/ 0 h 24"/>
                  <a:gd name="T4" fmla="*/ 12 w 18"/>
                  <a:gd name="T5" fmla="*/ 0 h 24"/>
                  <a:gd name="T6" fmla="*/ 6 w 18"/>
                  <a:gd name="T7" fmla="*/ 5 h 24"/>
                  <a:gd name="T8" fmla="*/ 0 w 18"/>
                  <a:gd name="T9" fmla="*/ 19 h 24"/>
                  <a:gd name="T10" fmla="*/ 6 w 18"/>
                  <a:gd name="T11" fmla="*/ 24 h 24"/>
                  <a:gd name="T12" fmla="*/ 6 w 18"/>
                  <a:gd name="T13" fmla="*/ 24 h 24"/>
                  <a:gd name="T14" fmla="*/ 12 w 18"/>
                  <a:gd name="T15" fmla="*/ 19 h 24"/>
                  <a:gd name="T16" fmla="*/ 18 w 18"/>
                  <a:gd name="T17" fmla="*/ 5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24"/>
                  <a:gd name="T29" fmla="*/ 18 w 18"/>
                  <a:gd name="T30" fmla="*/ 24 h 2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24">
                    <a:moveTo>
                      <a:pt x="18" y="5"/>
                    </a:moveTo>
                    <a:lnTo>
                      <a:pt x="18" y="0"/>
                    </a:lnTo>
                    <a:lnTo>
                      <a:pt x="12" y="0"/>
                    </a:lnTo>
                    <a:lnTo>
                      <a:pt x="6" y="5"/>
                    </a:lnTo>
                    <a:lnTo>
                      <a:pt x="0" y="19"/>
                    </a:lnTo>
                    <a:lnTo>
                      <a:pt x="6" y="24"/>
                    </a:lnTo>
                    <a:lnTo>
                      <a:pt x="12" y="19"/>
                    </a:lnTo>
                    <a:lnTo>
                      <a:pt x="18" y="5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07923" name="Line 108"/>
            <p:cNvSpPr>
              <a:spLocks noChangeShapeType="1"/>
            </p:cNvSpPr>
            <p:nvPr/>
          </p:nvSpPr>
          <p:spPr bwMode="auto">
            <a:xfrm>
              <a:off x="4319" y="1387"/>
              <a:ext cx="1" cy="43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24" name="Line 109"/>
            <p:cNvSpPr>
              <a:spLocks noChangeShapeType="1"/>
            </p:cNvSpPr>
            <p:nvPr/>
          </p:nvSpPr>
          <p:spPr bwMode="auto">
            <a:xfrm flipH="1">
              <a:off x="3868" y="1824"/>
              <a:ext cx="451" cy="15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25" name="Line 110"/>
            <p:cNvSpPr>
              <a:spLocks noChangeShapeType="1"/>
            </p:cNvSpPr>
            <p:nvPr/>
          </p:nvSpPr>
          <p:spPr bwMode="auto">
            <a:xfrm flipV="1">
              <a:off x="3868" y="1901"/>
              <a:ext cx="1" cy="7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26" name="Line 111"/>
            <p:cNvSpPr>
              <a:spLocks noChangeShapeType="1"/>
            </p:cNvSpPr>
            <p:nvPr/>
          </p:nvSpPr>
          <p:spPr bwMode="auto">
            <a:xfrm flipV="1">
              <a:off x="3868" y="1714"/>
              <a:ext cx="295" cy="1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27" name="Line 112"/>
            <p:cNvSpPr>
              <a:spLocks noChangeShapeType="1"/>
            </p:cNvSpPr>
            <p:nvPr/>
          </p:nvSpPr>
          <p:spPr bwMode="auto">
            <a:xfrm flipV="1">
              <a:off x="4163" y="1493"/>
              <a:ext cx="1" cy="2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07928" name="Group 113"/>
            <p:cNvGrpSpPr/>
            <p:nvPr/>
          </p:nvGrpSpPr>
          <p:grpSpPr bwMode="auto">
            <a:xfrm>
              <a:off x="3862" y="1752"/>
              <a:ext cx="373" cy="216"/>
              <a:chOff x="3862" y="2040"/>
              <a:chExt cx="373" cy="216"/>
            </a:xfrm>
          </p:grpSpPr>
          <p:sp>
            <p:nvSpPr>
              <p:cNvPr id="208016" name="Freeform 114"/>
              <p:cNvSpPr/>
              <p:nvPr/>
            </p:nvSpPr>
            <p:spPr bwMode="auto">
              <a:xfrm>
                <a:off x="3862" y="2222"/>
                <a:ext cx="54" cy="34"/>
              </a:xfrm>
              <a:custGeom>
                <a:avLst/>
                <a:gdLst>
                  <a:gd name="T0" fmla="*/ 6 w 54"/>
                  <a:gd name="T1" fmla="*/ 24 h 34"/>
                  <a:gd name="T2" fmla="*/ 0 w 54"/>
                  <a:gd name="T3" fmla="*/ 29 h 34"/>
                  <a:gd name="T4" fmla="*/ 6 w 54"/>
                  <a:gd name="T5" fmla="*/ 34 h 34"/>
                  <a:gd name="T6" fmla="*/ 12 w 54"/>
                  <a:gd name="T7" fmla="*/ 34 h 34"/>
                  <a:gd name="T8" fmla="*/ 48 w 54"/>
                  <a:gd name="T9" fmla="*/ 10 h 34"/>
                  <a:gd name="T10" fmla="*/ 54 w 54"/>
                  <a:gd name="T11" fmla="*/ 5 h 34"/>
                  <a:gd name="T12" fmla="*/ 48 w 54"/>
                  <a:gd name="T13" fmla="*/ 0 h 34"/>
                  <a:gd name="T14" fmla="*/ 42 w 54"/>
                  <a:gd name="T15" fmla="*/ 0 h 34"/>
                  <a:gd name="T16" fmla="*/ 6 w 54"/>
                  <a:gd name="T17" fmla="*/ 24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4"/>
                  <a:gd name="T28" fmla="*/ 0 h 34"/>
                  <a:gd name="T29" fmla="*/ 54 w 54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4" h="34">
                    <a:moveTo>
                      <a:pt x="6" y="24"/>
                    </a:moveTo>
                    <a:lnTo>
                      <a:pt x="0" y="29"/>
                    </a:lnTo>
                    <a:lnTo>
                      <a:pt x="6" y="34"/>
                    </a:lnTo>
                    <a:lnTo>
                      <a:pt x="12" y="34"/>
                    </a:lnTo>
                    <a:lnTo>
                      <a:pt x="48" y="10"/>
                    </a:lnTo>
                    <a:lnTo>
                      <a:pt x="54" y="5"/>
                    </a:lnTo>
                    <a:lnTo>
                      <a:pt x="48" y="0"/>
                    </a:lnTo>
                    <a:lnTo>
                      <a:pt x="42" y="0"/>
                    </a:lnTo>
                    <a:lnTo>
                      <a:pt x="6" y="24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17" name="Freeform 115"/>
              <p:cNvSpPr/>
              <p:nvPr/>
            </p:nvSpPr>
            <p:spPr bwMode="auto">
              <a:xfrm>
                <a:off x="3928" y="2184"/>
                <a:ext cx="54" cy="34"/>
              </a:xfrm>
              <a:custGeom>
                <a:avLst/>
                <a:gdLst>
                  <a:gd name="T0" fmla="*/ 6 w 54"/>
                  <a:gd name="T1" fmla="*/ 24 h 34"/>
                  <a:gd name="T2" fmla="*/ 0 w 54"/>
                  <a:gd name="T3" fmla="*/ 29 h 34"/>
                  <a:gd name="T4" fmla="*/ 6 w 54"/>
                  <a:gd name="T5" fmla="*/ 34 h 34"/>
                  <a:gd name="T6" fmla="*/ 12 w 54"/>
                  <a:gd name="T7" fmla="*/ 34 h 34"/>
                  <a:gd name="T8" fmla="*/ 48 w 54"/>
                  <a:gd name="T9" fmla="*/ 10 h 34"/>
                  <a:gd name="T10" fmla="*/ 54 w 54"/>
                  <a:gd name="T11" fmla="*/ 5 h 34"/>
                  <a:gd name="T12" fmla="*/ 48 w 54"/>
                  <a:gd name="T13" fmla="*/ 0 h 34"/>
                  <a:gd name="T14" fmla="*/ 42 w 54"/>
                  <a:gd name="T15" fmla="*/ 0 h 34"/>
                  <a:gd name="T16" fmla="*/ 6 w 54"/>
                  <a:gd name="T17" fmla="*/ 24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4"/>
                  <a:gd name="T28" fmla="*/ 0 h 34"/>
                  <a:gd name="T29" fmla="*/ 54 w 54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4" h="34">
                    <a:moveTo>
                      <a:pt x="6" y="24"/>
                    </a:moveTo>
                    <a:lnTo>
                      <a:pt x="0" y="29"/>
                    </a:lnTo>
                    <a:lnTo>
                      <a:pt x="6" y="34"/>
                    </a:lnTo>
                    <a:lnTo>
                      <a:pt x="12" y="34"/>
                    </a:lnTo>
                    <a:lnTo>
                      <a:pt x="48" y="10"/>
                    </a:lnTo>
                    <a:lnTo>
                      <a:pt x="54" y="5"/>
                    </a:lnTo>
                    <a:lnTo>
                      <a:pt x="48" y="0"/>
                    </a:lnTo>
                    <a:lnTo>
                      <a:pt x="42" y="0"/>
                    </a:lnTo>
                    <a:lnTo>
                      <a:pt x="6" y="24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18" name="Freeform 116"/>
              <p:cNvSpPr/>
              <p:nvPr/>
            </p:nvSpPr>
            <p:spPr bwMode="auto">
              <a:xfrm>
                <a:off x="4001" y="2146"/>
                <a:ext cx="48" cy="33"/>
              </a:xfrm>
              <a:custGeom>
                <a:avLst/>
                <a:gdLst>
                  <a:gd name="T0" fmla="*/ 0 w 48"/>
                  <a:gd name="T1" fmla="*/ 24 h 33"/>
                  <a:gd name="T2" fmla="*/ 0 w 48"/>
                  <a:gd name="T3" fmla="*/ 28 h 33"/>
                  <a:gd name="T4" fmla="*/ 0 w 48"/>
                  <a:gd name="T5" fmla="*/ 33 h 33"/>
                  <a:gd name="T6" fmla="*/ 6 w 48"/>
                  <a:gd name="T7" fmla="*/ 33 h 33"/>
                  <a:gd name="T8" fmla="*/ 48 w 48"/>
                  <a:gd name="T9" fmla="*/ 9 h 33"/>
                  <a:gd name="T10" fmla="*/ 48 w 48"/>
                  <a:gd name="T11" fmla="*/ 4 h 33"/>
                  <a:gd name="T12" fmla="*/ 48 w 48"/>
                  <a:gd name="T13" fmla="*/ 0 h 33"/>
                  <a:gd name="T14" fmla="*/ 42 w 48"/>
                  <a:gd name="T15" fmla="*/ 0 h 33"/>
                  <a:gd name="T16" fmla="*/ 0 w 48"/>
                  <a:gd name="T17" fmla="*/ 24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8"/>
                  <a:gd name="T28" fmla="*/ 0 h 33"/>
                  <a:gd name="T29" fmla="*/ 48 w 48"/>
                  <a:gd name="T30" fmla="*/ 33 h 3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8" h="33">
                    <a:moveTo>
                      <a:pt x="0" y="24"/>
                    </a:moveTo>
                    <a:lnTo>
                      <a:pt x="0" y="28"/>
                    </a:lnTo>
                    <a:lnTo>
                      <a:pt x="0" y="33"/>
                    </a:lnTo>
                    <a:lnTo>
                      <a:pt x="6" y="33"/>
                    </a:lnTo>
                    <a:lnTo>
                      <a:pt x="48" y="9"/>
                    </a:lnTo>
                    <a:lnTo>
                      <a:pt x="48" y="4"/>
                    </a:lnTo>
                    <a:lnTo>
                      <a:pt x="48" y="0"/>
                    </a:lnTo>
                    <a:lnTo>
                      <a:pt x="42" y="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19" name="Freeform 117"/>
              <p:cNvSpPr/>
              <p:nvPr/>
            </p:nvSpPr>
            <p:spPr bwMode="auto">
              <a:xfrm>
                <a:off x="4067" y="2107"/>
                <a:ext cx="54" cy="34"/>
              </a:xfrm>
              <a:custGeom>
                <a:avLst/>
                <a:gdLst>
                  <a:gd name="T0" fmla="*/ 6 w 54"/>
                  <a:gd name="T1" fmla="*/ 24 h 34"/>
                  <a:gd name="T2" fmla="*/ 0 w 54"/>
                  <a:gd name="T3" fmla="*/ 29 h 34"/>
                  <a:gd name="T4" fmla="*/ 6 w 54"/>
                  <a:gd name="T5" fmla="*/ 34 h 34"/>
                  <a:gd name="T6" fmla="*/ 12 w 54"/>
                  <a:gd name="T7" fmla="*/ 34 h 34"/>
                  <a:gd name="T8" fmla="*/ 48 w 54"/>
                  <a:gd name="T9" fmla="*/ 10 h 34"/>
                  <a:gd name="T10" fmla="*/ 54 w 54"/>
                  <a:gd name="T11" fmla="*/ 5 h 34"/>
                  <a:gd name="T12" fmla="*/ 48 w 54"/>
                  <a:gd name="T13" fmla="*/ 0 h 34"/>
                  <a:gd name="T14" fmla="*/ 42 w 54"/>
                  <a:gd name="T15" fmla="*/ 0 h 34"/>
                  <a:gd name="T16" fmla="*/ 6 w 54"/>
                  <a:gd name="T17" fmla="*/ 24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4"/>
                  <a:gd name="T28" fmla="*/ 0 h 34"/>
                  <a:gd name="T29" fmla="*/ 54 w 54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4" h="34">
                    <a:moveTo>
                      <a:pt x="6" y="24"/>
                    </a:moveTo>
                    <a:lnTo>
                      <a:pt x="0" y="29"/>
                    </a:lnTo>
                    <a:lnTo>
                      <a:pt x="6" y="34"/>
                    </a:lnTo>
                    <a:lnTo>
                      <a:pt x="12" y="34"/>
                    </a:lnTo>
                    <a:lnTo>
                      <a:pt x="48" y="10"/>
                    </a:lnTo>
                    <a:lnTo>
                      <a:pt x="54" y="5"/>
                    </a:lnTo>
                    <a:lnTo>
                      <a:pt x="48" y="0"/>
                    </a:lnTo>
                    <a:lnTo>
                      <a:pt x="42" y="0"/>
                    </a:lnTo>
                    <a:lnTo>
                      <a:pt x="6" y="24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20" name="Freeform 118"/>
              <p:cNvSpPr/>
              <p:nvPr/>
            </p:nvSpPr>
            <p:spPr bwMode="auto">
              <a:xfrm>
                <a:off x="4139" y="2069"/>
                <a:ext cx="48" cy="29"/>
              </a:xfrm>
              <a:custGeom>
                <a:avLst/>
                <a:gdLst>
                  <a:gd name="T0" fmla="*/ 0 w 48"/>
                  <a:gd name="T1" fmla="*/ 19 h 29"/>
                  <a:gd name="T2" fmla="*/ 0 w 48"/>
                  <a:gd name="T3" fmla="*/ 24 h 29"/>
                  <a:gd name="T4" fmla="*/ 0 w 48"/>
                  <a:gd name="T5" fmla="*/ 29 h 29"/>
                  <a:gd name="T6" fmla="*/ 6 w 48"/>
                  <a:gd name="T7" fmla="*/ 29 h 29"/>
                  <a:gd name="T8" fmla="*/ 48 w 48"/>
                  <a:gd name="T9" fmla="*/ 9 h 29"/>
                  <a:gd name="T10" fmla="*/ 48 w 48"/>
                  <a:gd name="T11" fmla="*/ 5 h 29"/>
                  <a:gd name="T12" fmla="*/ 48 w 48"/>
                  <a:gd name="T13" fmla="*/ 0 h 29"/>
                  <a:gd name="T14" fmla="*/ 42 w 48"/>
                  <a:gd name="T15" fmla="*/ 0 h 29"/>
                  <a:gd name="T16" fmla="*/ 0 w 48"/>
                  <a:gd name="T17" fmla="*/ 19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8"/>
                  <a:gd name="T28" fmla="*/ 0 h 29"/>
                  <a:gd name="T29" fmla="*/ 48 w 48"/>
                  <a:gd name="T30" fmla="*/ 29 h 2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8" h="29">
                    <a:moveTo>
                      <a:pt x="0" y="19"/>
                    </a:moveTo>
                    <a:lnTo>
                      <a:pt x="0" y="24"/>
                    </a:lnTo>
                    <a:lnTo>
                      <a:pt x="0" y="29"/>
                    </a:lnTo>
                    <a:lnTo>
                      <a:pt x="6" y="29"/>
                    </a:lnTo>
                    <a:lnTo>
                      <a:pt x="48" y="9"/>
                    </a:lnTo>
                    <a:lnTo>
                      <a:pt x="48" y="5"/>
                    </a:lnTo>
                    <a:lnTo>
                      <a:pt x="48" y="0"/>
                    </a:lnTo>
                    <a:lnTo>
                      <a:pt x="42" y="0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21" name="Freeform 119"/>
              <p:cNvSpPr/>
              <p:nvPr/>
            </p:nvSpPr>
            <p:spPr bwMode="auto">
              <a:xfrm>
                <a:off x="4205" y="2040"/>
                <a:ext cx="30" cy="19"/>
              </a:xfrm>
              <a:custGeom>
                <a:avLst/>
                <a:gdLst>
                  <a:gd name="T0" fmla="*/ 0 w 30"/>
                  <a:gd name="T1" fmla="*/ 10 h 19"/>
                  <a:gd name="T2" fmla="*/ 0 w 30"/>
                  <a:gd name="T3" fmla="*/ 14 h 19"/>
                  <a:gd name="T4" fmla="*/ 0 w 30"/>
                  <a:gd name="T5" fmla="*/ 19 h 19"/>
                  <a:gd name="T6" fmla="*/ 6 w 30"/>
                  <a:gd name="T7" fmla="*/ 19 h 19"/>
                  <a:gd name="T8" fmla="*/ 30 w 30"/>
                  <a:gd name="T9" fmla="*/ 10 h 19"/>
                  <a:gd name="T10" fmla="*/ 30 w 30"/>
                  <a:gd name="T11" fmla="*/ 5 h 19"/>
                  <a:gd name="T12" fmla="*/ 24 w 30"/>
                  <a:gd name="T13" fmla="*/ 0 h 19"/>
                  <a:gd name="T14" fmla="*/ 24 w 30"/>
                  <a:gd name="T15" fmla="*/ 0 h 19"/>
                  <a:gd name="T16" fmla="*/ 0 w 30"/>
                  <a:gd name="T17" fmla="*/ 1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19"/>
                  <a:gd name="T29" fmla="*/ 30 w 30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19">
                    <a:moveTo>
                      <a:pt x="0" y="10"/>
                    </a:moveTo>
                    <a:lnTo>
                      <a:pt x="0" y="14"/>
                    </a:lnTo>
                    <a:lnTo>
                      <a:pt x="0" y="19"/>
                    </a:lnTo>
                    <a:lnTo>
                      <a:pt x="6" y="19"/>
                    </a:lnTo>
                    <a:lnTo>
                      <a:pt x="30" y="10"/>
                    </a:lnTo>
                    <a:lnTo>
                      <a:pt x="30" y="5"/>
                    </a:lnTo>
                    <a:lnTo>
                      <a:pt x="24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07929" name="Group 120"/>
            <p:cNvGrpSpPr/>
            <p:nvPr/>
          </p:nvGrpSpPr>
          <p:grpSpPr bwMode="auto">
            <a:xfrm>
              <a:off x="4223" y="1445"/>
              <a:ext cx="12" cy="317"/>
              <a:chOff x="4223" y="1733"/>
              <a:chExt cx="12" cy="317"/>
            </a:xfrm>
          </p:grpSpPr>
          <p:sp>
            <p:nvSpPr>
              <p:cNvPr id="208011" name="Freeform 121"/>
              <p:cNvSpPr/>
              <p:nvPr/>
            </p:nvSpPr>
            <p:spPr bwMode="auto">
              <a:xfrm>
                <a:off x="4223" y="2002"/>
                <a:ext cx="12" cy="48"/>
              </a:xfrm>
              <a:custGeom>
                <a:avLst/>
                <a:gdLst>
                  <a:gd name="T0" fmla="*/ 0 w 12"/>
                  <a:gd name="T1" fmla="*/ 43 h 48"/>
                  <a:gd name="T2" fmla="*/ 6 w 12"/>
                  <a:gd name="T3" fmla="*/ 48 h 48"/>
                  <a:gd name="T4" fmla="*/ 6 w 12"/>
                  <a:gd name="T5" fmla="*/ 48 h 48"/>
                  <a:gd name="T6" fmla="*/ 12 w 12"/>
                  <a:gd name="T7" fmla="*/ 43 h 48"/>
                  <a:gd name="T8" fmla="*/ 12 w 12"/>
                  <a:gd name="T9" fmla="*/ 4 h 48"/>
                  <a:gd name="T10" fmla="*/ 6 w 12"/>
                  <a:gd name="T11" fmla="*/ 0 h 48"/>
                  <a:gd name="T12" fmla="*/ 6 w 12"/>
                  <a:gd name="T13" fmla="*/ 0 h 48"/>
                  <a:gd name="T14" fmla="*/ 0 w 12"/>
                  <a:gd name="T15" fmla="*/ 4 h 48"/>
                  <a:gd name="T16" fmla="*/ 0 w 12"/>
                  <a:gd name="T17" fmla="*/ 43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48"/>
                  <a:gd name="T29" fmla="*/ 12 w 12"/>
                  <a:gd name="T30" fmla="*/ 48 h 4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48">
                    <a:moveTo>
                      <a:pt x="0" y="43"/>
                    </a:moveTo>
                    <a:lnTo>
                      <a:pt x="6" y="48"/>
                    </a:lnTo>
                    <a:lnTo>
                      <a:pt x="12" y="43"/>
                    </a:lnTo>
                    <a:lnTo>
                      <a:pt x="12" y="4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12" name="Freeform 122"/>
              <p:cNvSpPr/>
              <p:nvPr/>
            </p:nvSpPr>
            <p:spPr bwMode="auto">
              <a:xfrm>
                <a:off x="4223" y="1934"/>
                <a:ext cx="12" cy="48"/>
              </a:xfrm>
              <a:custGeom>
                <a:avLst/>
                <a:gdLst>
                  <a:gd name="T0" fmla="*/ 0 w 12"/>
                  <a:gd name="T1" fmla="*/ 44 h 48"/>
                  <a:gd name="T2" fmla="*/ 6 w 12"/>
                  <a:gd name="T3" fmla="*/ 48 h 48"/>
                  <a:gd name="T4" fmla="*/ 6 w 12"/>
                  <a:gd name="T5" fmla="*/ 48 h 48"/>
                  <a:gd name="T6" fmla="*/ 12 w 12"/>
                  <a:gd name="T7" fmla="*/ 44 h 48"/>
                  <a:gd name="T8" fmla="*/ 12 w 12"/>
                  <a:gd name="T9" fmla="*/ 5 h 48"/>
                  <a:gd name="T10" fmla="*/ 6 w 12"/>
                  <a:gd name="T11" fmla="*/ 0 h 48"/>
                  <a:gd name="T12" fmla="*/ 6 w 12"/>
                  <a:gd name="T13" fmla="*/ 0 h 48"/>
                  <a:gd name="T14" fmla="*/ 0 w 12"/>
                  <a:gd name="T15" fmla="*/ 5 h 48"/>
                  <a:gd name="T16" fmla="*/ 0 w 12"/>
                  <a:gd name="T17" fmla="*/ 44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48"/>
                  <a:gd name="T29" fmla="*/ 12 w 12"/>
                  <a:gd name="T30" fmla="*/ 48 h 4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48">
                    <a:moveTo>
                      <a:pt x="0" y="44"/>
                    </a:moveTo>
                    <a:lnTo>
                      <a:pt x="6" y="48"/>
                    </a:lnTo>
                    <a:lnTo>
                      <a:pt x="12" y="44"/>
                    </a:lnTo>
                    <a:lnTo>
                      <a:pt x="12" y="5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13" name="Freeform 123"/>
              <p:cNvSpPr/>
              <p:nvPr/>
            </p:nvSpPr>
            <p:spPr bwMode="auto">
              <a:xfrm>
                <a:off x="4223" y="1867"/>
                <a:ext cx="12" cy="48"/>
              </a:xfrm>
              <a:custGeom>
                <a:avLst/>
                <a:gdLst>
                  <a:gd name="T0" fmla="*/ 0 w 12"/>
                  <a:gd name="T1" fmla="*/ 43 h 48"/>
                  <a:gd name="T2" fmla="*/ 6 w 12"/>
                  <a:gd name="T3" fmla="*/ 48 h 48"/>
                  <a:gd name="T4" fmla="*/ 6 w 12"/>
                  <a:gd name="T5" fmla="*/ 48 h 48"/>
                  <a:gd name="T6" fmla="*/ 12 w 12"/>
                  <a:gd name="T7" fmla="*/ 43 h 48"/>
                  <a:gd name="T8" fmla="*/ 12 w 12"/>
                  <a:gd name="T9" fmla="*/ 5 h 48"/>
                  <a:gd name="T10" fmla="*/ 6 w 12"/>
                  <a:gd name="T11" fmla="*/ 0 h 48"/>
                  <a:gd name="T12" fmla="*/ 6 w 12"/>
                  <a:gd name="T13" fmla="*/ 0 h 48"/>
                  <a:gd name="T14" fmla="*/ 0 w 12"/>
                  <a:gd name="T15" fmla="*/ 5 h 48"/>
                  <a:gd name="T16" fmla="*/ 0 w 12"/>
                  <a:gd name="T17" fmla="*/ 43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48"/>
                  <a:gd name="T29" fmla="*/ 12 w 12"/>
                  <a:gd name="T30" fmla="*/ 48 h 4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48">
                    <a:moveTo>
                      <a:pt x="0" y="43"/>
                    </a:moveTo>
                    <a:lnTo>
                      <a:pt x="6" y="48"/>
                    </a:lnTo>
                    <a:lnTo>
                      <a:pt x="12" y="43"/>
                    </a:lnTo>
                    <a:lnTo>
                      <a:pt x="12" y="5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14" name="Freeform 124"/>
              <p:cNvSpPr/>
              <p:nvPr/>
            </p:nvSpPr>
            <p:spPr bwMode="auto">
              <a:xfrm>
                <a:off x="4223" y="1800"/>
                <a:ext cx="12" cy="48"/>
              </a:xfrm>
              <a:custGeom>
                <a:avLst/>
                <a:gdLst>
                  <a:gd name="T0" fmla="*/ 0 w 12"/>
                  <a:gd name="T1" fmla="*/ 43 h 48"/>
                  <a:gd name="T2" fmla="*/ 6 w 12"/>
                  <a:gd name="T3" fmla="*/ 48 h 48"/>
                  <a:gd name="T4" fmla="*/ 6 w 12"/>
                  <a:gd name="T5" fmla="*/ 48 h 48"/>
                  <a:gd name="T6" fmla="*/ 12 w 12"/>
                  <a:gd name="T7" fmla="*/ 43 h 48"/>
                  <a:gd name="T8" fmla="*/ 12 w 12"/>
                  <a:gd name="T9" fmla="*/ 5 h 48"/>
                  <a:gd name="T10" fmla="*/ 6 w 12"/>
                  <a:gd name="T11" fmla="*/ 0 h 48"/>
                  <a:gd name="T12" fmla="*/ 6 w 12"/>
                  <a:gd name="T13" fmla="*/ 0 h 48"/>
                  <a:gd name="T14" fmla="*/ 0 w 12"/>
                  <a:gd name="T15" fmla="*/ 5 h 48"/>
                  <a:gd name="T16" fmla="*/ 0 w 12"/>
                  <a:gd name="T17" fmla="*/ 43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48"/>
                  <a:gd name="T29" fmla="*/ 12 w 12"/>
                  <a:gd name="T30" fmla="*/ 48 h 4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48">
                    <a:moveTo>
                      <a:pt x="0" y="43"/>
                    </a:moveTo>
                    <a:lnTo>
                      <a:pt x="6" y="48"/>
                    </a:lnTo>
                    <a:lnTo>
                      <a:pt x="12" y="43"/>
                    </a:lnTo>
                    <a:lnTo>
                      <a:pt x="12" y="5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15" name="Freeform 125"/>
              <p:cNvSpPr/>
              <p:nvPr/>
            </p:nvSpPr>
            <p:spPr bwMode="auto">
              <a:xfrm>
                <a:off x="4223" y="1733"/>
                <a:ext cx="12" cy="48"/>
              </a:xfrm>
              <a:custGeom>
                <a:avLst/>
                <a:gdLst>
                  <a:gd name="T0" fmla="*/ 0 w 12"/>
                  <a:gd name="T1" fmla="*/ 43 h 48"/>
                  <a:gd name="T2" fmla="*/ 6 w 12"/>
                  <a:gd name="T3" fmla="*/ 48 h 48"/>
                  <a:gd name="T4" fmla="*/ 6 w 12"/>
                  <a:gd name="T5" fmla="*/ 48 h 48"/>
                  <a:gd name="T6" fmla="*/ 12 w 12"/>
                  <a:gd name="T7" fmla="*/ 43 h 48"/>
                  <a:gd name="T8" fmla="*/ 12 w 12"/>
                  <a:gd name="T9" fmla="*/ 5 h 48"/>
                  <a:gd name="T10" fmla="*/ 6 w 12"/>
                  <a:gd name="T11" fmla="*/ 0 h 48"/>
                  <a:gd name="T12" fmla="*/ 6 w 12"/>
                  <a:gd name="T13" fmla="*/ 0 h 48"/>
                  <a:gd name="T14" fmla="*/ 0 w 12"/>
                  <a:gd name="T15" fmla="*/ 5 h 48"/>
                  <a:gd name="T16" fmla="*/ 0 w 12"/>
                  <a:gd name="T17" fmla="*/ 43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48"/>
                  <a:gd name="T29" fmla="*/ 12 w 12"/>
                  <a:gd name="T30" fmla="*/ 48 h 4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48">
                    <a:moveTo>
                      <a:pt x="0" y="43"/>
                    </a:moveTo>
                    <a:lnTo>
                      <a:pt x="6" y="48"/>
                    </a:lnTo>
                    <a:lnTo>
                      <a:pt x="12" y="43"/>
                    </a:lnTo>
                    <a:lnTo>
                      <a:pt x="12" y="5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07930" name="Group 126"/>
            <p:cNvGrpSpPr/>
            <p:nvPr/>
          </p:nvGrpSpPr>
          <p:grpSpPr bwMode="auto">
            <a:xfrm>
              <a:off x="3886" y="1958"/>
              <a:ext cx="78" cy="149"/>
              <a:chOff x="3886" y="2246"/>
              <a:chExt cx="78" cy="149"/>
            </a:xfrm>
          </p:grpSpPr>
          <p:sp>
            <p:nvSpPr>
              <p:cNvPr id="208008" name="Freeform 127"/>
              <p:cNvSpPr/>
              <p:nvPr/>
            </p:nvSpPr>
            <p:spPr bwMode="auto">
              <a:xfrm>
                <a:off x="3886" y="2246"/>
                <a:ext cx="30" cy="44"/>
              </a:xfrm>
              <a:custGeom>
                <a:avLst/>
                <a:gdLst>
                  <a:gd name="T0" fmla="*/ 12 w 30"/>
                  <a:gd name="T1" fmla="*/ 5 h 44"/>
                  <a:gd name="T2" fmla="*/ 6 w 30"/>
                  <a:gd name="T3" fmla="*/ 0 h 44"/>
                  <a:gd name="T4" fmla="*/ 6 w 30"/>
                  <a:gd name="T5" fmla="*/ 0 h 44"/>
                  <a:gd name="T6" fmla="*/ 0 w 30"/>
                  <a:gd name="T7" fmla="*/ 5 h 44"/>
                  <a:gd name="T8" fmla="*/ 18 w 30"/>
                  <a:gd name="T9" fmla="*/ 39 h 44"/>
                  <a:gd name="T10" fmla="*/ 18 w 30"/>
                  <a:gd name="T11" fmla="*/ 44 h 44"/>
                  <a:gd name="T12" fmla="*/ 24 w 30"/>
                  <a:gd name="T13" fmla="*/ 44 h 44"/>
                  <a:gd name="T14" fmla="*/ 30 w 30"/>
                  <a:gd name="T15" fmla="*/ 39 h 44"/>
                  <a:gd name="T16" fmla="*/ 12 w 30"/>
                  <a:gd name="T17" fmla="*/ 5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44"/>
                  <a:gd name="T29" fmla="*/ 30 w 30"/>
                  <a:gd name="T30" fmla="*/ 44 h 4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44">
                    <a:moveTo>
                      <a:pt x="12" y="5"/>
                    </a:moveTo>
                    <a:lnTo>
                      <a:pt x="6" y="0"/>
                    </a:lnTo>
                    <a:lnTo>
                      <a:pt x="0" y="5"/>
                    </a:lnTo>
                    <a:lnTo>
                      <a:pt x="18" y="39"/>
                    </a:lnTo>
                    <a:lnTo>
                      <a:pt x="18" y="44"/>
                    </a:lnTo>
                    <a:lnTo>
                      <a:pt x="24" y="44"/>
                    </a:lnTo>
                    <a:lnTo>
                      <a:pt x="30" y="39"/>
                    </a:lnTo>
                    <a:lnTo>
                      <a:pt x="12" y="5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09" name="Freeform 128"/>
              <p:cNvSpPr/>
              <p:nvPr/>
            </p:nvSpPr>
            <p:spPr bwMode="auto">
              <a:xfrm>
                <a:off x="3916" y="2309"/>
                <a:ext cx="30" cy="48"/>
              </a:xfrm>
              <a:custGeom>
                <a:avLst/>
                <a:gdLst>
                  <a:gd name="T0" fmla="*/ 12 w 30"/>
                  <a:gd name="T1" fmla="*/ 5 h 48"/>
                  <a:gd name="T2" fmla="*/ 6 w 30"/>
                  <a:gd name="T3" fmla="*/ 0 h 48"/>
                  <a:gd name="T4" fmla="*/ 0 w 30"/>
                  <a:gd name="T5" fmla="*/ 0 h 48"/>
                  <a:gd name="T6" fmla="*/ 0 w 30"/>
                  <a:gd name="T7" fmla="*/ 5 h 48"/>
                  <a:gd name="T8" fmla="*/ 18 w 30"/>
                  <a:gd name="T9" fmla="*/ 43 h 48"/>
                  <a:gd name="T10" fmla="*/ 18 w 30"/>
                  <a:gd name="T11" fmla="*/ 48 h 48"/>
                  <a:gd name="T12" fmla="*/ 24 w 30"/>
                  <a:gd name="T13" fmla="*/ 48 h 48"/>
                  <a:gd name="T14" fmla="*/ 30 w 30"/>
                  <a:gd name="T15" fmla="*/ 43 h 48"/>
                  <a:gd name="T16" fmla="*/ 12 w 30"/>
                  <a:gd name="T17" fmla="*/ 5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48"/>
                  <a:gd name="T29" fmla="*/ 30 w 30"/>
                  <a:gd name="T30" fmla="*/ 48 h 4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48">
                    <a:moveTo>
                      <a:pt x="12" y="5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18" y="43"/>
                    </a:lnTo>
                    <a:lnTo>
                      <a:pt x="18" y="48"/>
                    </a:lnTo>
                    <a:lnTo>
                      <a:pt x="24" y="48"/>
                    </a:lnTo>
                    <a:lnTo>
                      <a:pt x="30" y="43"/>
                    </a:lnTo>
                    <a:lnTo>
                      <a:pt x="12" y="5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10" name="Freeform 129"/>
              <p:cNvSpPr/>
              <p:nvPr/>
            </p:nvSpPr>
            <p:spPr bwMode="auto">
              <a:xfrm>
                <a:off x="3946" y="2371"/>
                <a:ext cx="18" cy="24"/>
              </a:xfrm>
              <a:custGeom>
                <a:avLst/>
                <a:gdLst>
                  <a:gd name="T0" fmla="*/ 12 w 18"/>
                  <a:gd name="T1" fmla="*/ 5 h 24"/>
                  <a:gd name="T2" fmla="*/ 6 w 18"/>
                  <a:gd name="T3" fmla="*/ 0 h 24"/>
                  <a:gd name="T4" fmla="*/ 0 w 18"/>
                  <a:gd name="T5" fmla="*/ 0 h 24"/>
                  <a:gd name="T6" fmla="*/ 0 w 18"/>
                  <a:gd name="T7" fmla="*/ 5 h 24"/>
                  <a:gd name="T8" fmla="*/ 6 w 18"/>
                  <a:gd name="T9" fmla="*/ 19 h 24"/>
                  <a:gd name="T10" fmla="*/ 12 w 18"/>
                  <a:gd name="T11" fmla="*/ 24 h 24"/>
                  <a:gd name="T12" fmla="*/ 12 w 18"/>
                  <a:gd name="T13" fmla="*/ 24 h 24"/>
                  <a:gd name="T14" fmla="*/ 18 w 18"/>
                  <a:gd name="T15" fmla="*/ 19 h 24"/>
                  <a:gd name="T16" fmla="*/ 12 w 18"/>
                  <a:gd name="T17" fmla="*/ 5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24"/>
                  <a:gd name="T29" fmla="*/ 18 w 18"/>
                  <a:gd name="T30" fmla="*/ 24 h 2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24">
                    <a:moveTo>
                      <a:pt x="12" y="5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6" y="19"/>
                    </a:lnTo>
                    <a:lnTo>
                      <a:pt x="12" y="24"/>
                    </a:lnTo>
                    <a:lnTo>
                      <a:pt x="18" y="19"/>
                    </a:lnTo>
                    <a:lnTo>
                      <a:pt x="12" y="5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07931" name="Group 130"/>
            <p:cNvGrpSpPr/>
            <p:nvPr/>
          </p:nvGrpSpPr>
          <p:grpSpPr bwMode="auto">
            <a:xfrm>
              <a:off x="3436" y="1426"/>
              <a:ext cx="799" cy="9"/>
              <a:chOff x="3436" y="1714"/>
              <a:chExt cx="799" cy="9"/>
            </a:xfrm>
          </p:grpSpPr>
          <p:sp>
            <p:nvSpPr>
              <p:cNvPr id="207998" name="Freeform 131"/>
              <p:cNvSpPr/>
              <p:nvPr/>
            </p:nvSpPr>
            <p:spPr bwMode="auto">
              <a:xfrm>
                <a:off x="3436" y="1714"/>
                <a:ext cx="60" cy="9"/>
              </a:xfrm>
              <a:custGeom>
                <a:avLst/>
                <a:gdLst>
                  <a:gd name="T0" fmla="*/ 12 w 60"/>
                  <a:gd name="T1" fmla="*/ 0 h 9"/>
                  <a:gd name="T2" fmla="*/ 6 w 60"/>
                  <a:gd name="T3" fmla="*/ 0 h 9"/>
                  <a:gd name="T4" fmla="*/ 0 w 60"/>
                  <a:gd name="T5" fmla="*/ 4 h 9"/>
                  <a:gd name="T6" fmla="*/ 6 w 60"/>
                  <a:gd name="T7" fmla="*/ 9 h 9"/>
                  <a:gd name="T8" fmla="*/ 48 w 60"/>
                  <a:gd name="T9" fmla="*/ 9 h 9"/>
                  <a:gd name="T10" fmla="*/ 54 w 60"/>
                  <a:gd name="T11" fmla="*/ 9 h 9"/>
                  <a:gd name="T12" fmla="*/ 60 w 60"/>
                  <a:gd name="T13" fmla="*/ 4 h 9"/>
                  <a:gd name="T14" fmla="*/ 54 w 60"/>
                  <a:gd name="T15" fmla="*/ 0 h 9"/>
                  <a:gd name="T16" fmla="*/ 12 w 60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0"/>
                  <a:gd name="T28" fmla="*/ 0 h 9"/>
                  <a:gd name="T29" fmla="*/ 60 w 60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0" h="9">
                    <a:moveTo>
                      <a:pt x="12" y="0"/>
                    </a:moveTo>
                    <a:lnTo>
                      <a:pt x="6" y="0"/>
                    </a:lnTo>
                    <a:lnTo>
                      <a:pt x="0" y="4"/>
                    </a:lnTo>
                    <a:lnTo>
                      <a:pt x="6" y="9"/>
                    </a:lnTo>
                    <a:lnTo>
                      <a:pt x="48" y="9"/>
                    </a:lnTo>
                    <a:lnTo>
                      <a:pt x="54" y="9"/>
                    </a:lnTo>
                    <a:lnTo>
                      <a:pt x="60" y="4"/>
                    </a:lnTo>
                    <a:lnTo>
                      <a:pt x="54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999" name="Freeform 132"/>
              <p:cNvSpPr/>
              <p:nvPr/>
            </p:nvSpPr>
            <p:spPr bwMode="auto">
              <a:xfrm>
                <a:off x="3520" y="1714"/>
                <a:ext cx="60" cy="9"/>
              </a:xfrm>
              <a:custGeom>
                <a:avLst/>
                <a:gdLst>
                  <a:gd name="T0" fmla="*/ 6 w 60"/>
                  <a:gd name="T1" fmla="*/ 0 h 9"/>
                  <a:gd name="T2" fmla="*/ 0 w 60"/>
                  <a:gd name="T3" fmla="*/ 0 h 9"/>
                  <a:gd name="T4" fmla="*/ 0 w 60"/>
                  <a:gd name="T5" fmla="*/ 4 h 9"/>
                  <a:gd name="T6" fmla="*/ 0 w 60"/>
                  <a:gd name="T7" fmla="*/ 9 h 9"/>
                  <a:gd name="T8" fmla="*/ 48 w 60"/>
                  <a:gd name="T9" fmla="*/ 9 h 9"/>
                  <a:gd name="T10" fmla="*/ 54 w 60"/>
                  <a:gd name="T11" fmla="*/ 9 h 9"/>
                  <a:gd name="T12" fmla="*/ 60 w 60"/>
                  <a:gd name="T13" fmla="*/ 4 h 9"/>
                  <a:gd name="T14" fmla="*/ 54 w 60"/>
                  <a:gd name="T15" fmla="*/ 0 h 9"/>
                  <a:gd name="T16" fmla="*/ 6 w 60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0"/>
                  <a:gd name="T28" fmla="*/ 0 h 9"/>
                  <a:gd name="T29" fmla="*/ 60 w 60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0" h="9">
                    <a:moveTo>
                      <a:pt x="6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48" y="9"/>
                    </a:lnTo>
                    <a:lnTo>
                      <a:pt x="54" y="9"/>
                    </a:lnTo>
                    <a:lnTo>
                      <a:pt x="60" y="4"/>
                    </a:lnTo>
                    <a:lnTo>
                      <a:pt x="5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00" name="Freeform 133"/>
              <p:cNvSpPr/>
              <p:nvPr/>
            </p:nvSpPr>
            <p:spPr bwMode="auto">
              <a:xfrm>
                <a:off x="3604" y="1714"/>
                <a:ext cx="60" cy="9"/>
              </a:xfrm>
              <a:custGeom>
                <a:avLst/>
                <a:gdLst>
                  <a:gd name="T0" fmla="*/ 6 w 60"/>
                  <a:gd name="T1" fmla="*/ 0 h 9"/>
                  <a:gd name="T2" fmla="*/ 0 w 60"/>
                  <a:gd name="T3" fmla="*/ 0 h 9"/>
                  <a:gd name="T4" fmla="*/ 0 w 60"/>
                  <a:gd name="T5" fmla="*/ 4 h 9"/>
                  <a:gd name="T6" fmla="*/ 0 w 60"/>
                  <a:gd name="T7" fmla="*/ 9 h 9"/>
                  <a:gd name="T8" fmla="*/ 48 w 60"/>
                  <a:gd name="T9" fmla="*/ 9 h 9"/>
                  <a:gd name="T10" fmla="*/ 54 w 60"/>
                  <a:gd name="T11" fmla="*/ 9 h 9"/>
                  <a:gd name="T12" fmla="*/ 60 w 60"/>
                  <a:gd name="T13" fmla="*/ 4 h 9"/>
                  <a:gd name="T14" fmla="*/ 54 w 60"/>
                  <a:gd name="T15" fmla="*/ 0 h 9"/>
                  <a:gd name="T16" fmla="*/ 6 w 60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0"/>
                  <a:gd name="T28" fmla="*/ 0 h 9"/>
                  <a:gd name="T29" fmla="*/ 60 w 60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0" h="9">
                    <a:moveTo>
                      <a:pt x="6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48" y="9"/>
                    </a:lnTo>
                    <a:lnTo>
                      <a:pt x="54" y="9"/>
                    </a:lnTo>
                    <a:lnTo>
                      <a:pt x="60" y="4"/>
                    </a:lnTo>
                    <a:lnTo>
                      <a:pt x="5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01" name="Freeform 134"/>
              <p:cNvSpPr/>
              <p:nvPr/>
            </p:nvSpPr>
            <p:spPr bwMode="auto">
              <a:xfrm>
                <a:off x="3688" y="1714"/>
                <a:ext cx="60" cy="9"/>
              </a:xfrm>
              <a:custGeom>
                <a:avLst/>
                <a:gdLst>
                  <a:gd name="T0" fmla="*/ 6 w 60"/>
                  <a:gd name="T1" fmla="*/ 0 h 9"/>
                  <a:gd name="T2" fmla="*/ 0 w 60"/>
                  <a:gd name="T3" fmla="*/ 0 h 9"/>
                  <a:gd name="T4" fmla="*/ 0 w 60"/>
                  <a:gd name="T5" fmla="*/ 4 h 9"/>
                  <a:gd name="T6" fmla="*/ 0 w 60"/>
                  <a:gd name="T7" fmla="*/ 9 h 9"/>
                  <a:gd name="T8" fmla="*/ 48 w 60"/>
                  <a:gd name="T9" fmla="*/ 9 h 9"/>
                  <a:gd name="T10" fmla="*/ 54 w 60"/>
                  <a:gd name="T11" fmla="*/ 9 h 9"/>
                  <a:gd name="T12" fmla="*/ 60 w 60"/>
                  <a:gd name="T13" fmla="*/ 4 h 9"/>
                  <a:gd name="T14" fmla="*/ 54 w 60"/>
                  <a:gd name="T15" fmla="*/ 0 h 9"/>
                  <a:gd name="T16" fmla="*/ 6 w 60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0"/>
                  <a:gd name="T28" fmla="*/ 0 h 9"/>
                  <a:gd name="T29" fmla="*/ 60 w 60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0" h="9">
                    <a:moveTo>
                      <a:pt x="6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48" y="9"/>
                    </a:lnTo>
                    <a:lnTo>
                      <a:pt x="54" y="9"/>
                    </a:lnTo>
                    <a:lnTo>
                      <a:pt x="60" y="4"/>
                    </a:lnTo>
                    <a:lnTo>
                      <a:pt x="5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02" name="Freeform 135"/>
              <p:cNvSpPr/>
              <p:nvPr/>
            </p:nvSpPr>
            <p:spPr bwMode="auto">
              <a:xfrm>
                <a:off x="3772" y="1714"/>
                <a:ext cx="60" cy="9"/>
              </a:xfrm>
              <a:custGeom>
                <a:avLst/>
                <a:gdLst>
                  <a:gd name="T0" fmla="*/ 6 w 60"/>
                  <a:gd name="T1" fmla="*/ 0 h 9"/>
                  <a:gd name="T2" fmla="*/ 0 w 60"/>
                  <a:gd name="T3" fmla="*/ 0 h 9"/>
                  <a:gd name="T4" fmla="*/ 0 w 60"/>
                  <a:gd name="T5" fmla="*/ 4 h 9"/>
                  <a:gd name="T6" fmla="*/ 0 w 60"/>
                  <a:gd name="T7" fmla="*/ 9 h 9"/>
                  <a:gd name="T8" fmla="*/ 48 w 60"/>
                  <a:gd name="T9" fmla="*/ 9 h 9"/>
                  <a:gd name="T10" fmla="*/ 54 w 60"/>
                  <a:gd name="T11" fmla="*/ 9 h 9"/>
                  <a:gd name="T12" fmla="*/ 60 w 60"/>
                  <a:gd name="T13" fmla="*/ 4 h 9"/>
                  <a:gd name="T14" fmla="*/ 54 w 60"/>
                  <a:gd name="T15" fmla="*/ 0 h 9"/>
                  <a:gd name="T16" fmla="*/ 6 w 60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0"/>
                  <a:gd name="T28" fmla="*/ 0 h 9"/>
                  <a:gd name="T29" fmla="*/ 60 w 60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0" h="9">
                    <a:moveTo>
                      <a:pt x="6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48" y="9"/>
                    </a:lnTo>
                    <a:lnTo>
                      <a:pt x="54" y="9"/>
                    </a:lnTo>
                    <a:lnTo>
                      <a:pt x="60" y="4"/>
                    </a:lnTo>
                    <a:lnTo>
                      <a:pt x="5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03" name="Freeform 136"/>
              <p:cNvSpPr/>
              <p:nvPr/>
            </p:nvSpPr>
            <p:spPr bwMode="auto">
              <a:xfrm>
                <a:off x="3856" y="1714"/>
                <a:ext cx="60" cy="9"/>
              </a:xfrm>
              <a:custGeom>
                <a:avLst/>
                <a:gdLst>
                  <a:gd name="T0" fmla="*/ 6 w 60"/>
                  <a:gd name="T1" fmla="*/ 0 h 9"/>
                  <a:gd name="T2" fmla="*/ 0 w 60"/>
                  <a:gd name="T3" fmla="*/ 0 h 9"/>
                  <a:gd name="T4" fmla="*/ 0 w 60"/>
                  <a:gd name="T5" fmla="*/ 4 h 9"/>
                  <a:gd name="T6" fmla="*/ 0 w 60"/>
                  <a:gd name="T7" fmla="*/ 9 h 9"/>
                  <a:gd name="T8" fmla="*/ 48 w 60"/>
                  <a:gd name="T9" fmla="*/ 9 h 9"/>
                  <a:gd name="T10" fmla="*/ 54 w 60"/>
                  <a:gd name="T11" fmla="*/ 9 h 9"/>
                  <a:gd name="T12" fmla="*/ 60 w 60"/>
                  <a:gd name="T13" fmla="*/ 4 h 9"/>
                  <a:gd name="T14" fmla="*/ 54 w 60"/>
                  <a:gd name="T15" fmla="*/ 0 h 9"/>
                  <a:gd name="T16" fmla="*/ 6 w 60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0"/>
                  <a:gd name="T28" fmla="*/ 0 h 9"/>
                  <a:gd name="T29" fmla="*/ 60 w 60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0" h="9">
                    <a:moveTo>
                      <a:pt x="6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48" y="9"/>
                    </a:lnTo>
                    <a:lnTo>
                      <a:pt x="54" y="9"/>
                    </a:lnTo>
                    <a:lnTo>
                      <a:pt x="60" y="4"/>
                    </a:lnTo>
                    <a:lnTo>
                      <a:pt x="5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04" name="Freeform 137"/>
              <p:cNvSpPr/>
              <p:nvPr/>
            </p:nvSpPr>
            <p:spPr bwMode="auto">
              <a:xfrm>
                <a:off x="3940" y="1714"/>
                <a:ext cx="61" cy="9"/>
              </a:xfrm>
              <a:custGeom>
                <a:avLst/>
                <a:gdLst>
                  <a:gd name="T0" fmla="*/ 6 w 61"/>
                  <a:gd name="T1" fmla="*/ 0 h 9"/>
                  <a:gd name="T2" fmla="*/ 0 w 61"/>
                  <a:gd name="T3" fmla="*/ 0 h 9"/>
                  <a:gd name="T4" fmla="*/ 0 w 61"/>
                  <a:gd name="T5" fmla="*/ 4 h 9"/>
                  <a:gd name="T6" fmla="*/ 0 w 61"/>
                  <a:gd name="T7" fmla="*/ 9 h 9"/>
                  <a:gd name="T8" fmla="*/ 49 w 61"/>
                  <a:gd name="T9" fmla="*/ 9 h 9"/>
                  <a:gd name="T10" fmla="*/ 55 w 61"/>
                  <a:gd name="T11" fmla="*/ 9 h 9"/>
                  <a:gd name="T12" fmla="*/ 61 w 61"/>
                  <a:gd name="T13" fmla="*/ 4 h 9"/>
                  <a:gd name="T14" fmla="*/ 55 w 61"/>
                  <a:gd name="T15" fmla="*/ 0 h 9"/>
                  <a:gd name="T16" fmla="*/ 6 w 61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1"/>
                  <a:gd name="T28" fmla="*/ 0 h 9"/>
                  <a:gd name="T29" fmla="*/ 61 w 61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1" h="9">
                    <a:moveTo>
                      <a:pt x="6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49" y="9"/>
                    </a:lnTo>
                    <a:lnTo>
                      <a:pt x="55" y="9"/>
                    </a:lnTo>
                    <a:lnTo>
                      <a:pt x="61" y="4"/>
                    </a:lnTo>
                    <a:lnTo>
                      <a:pt x="55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05" name="Freeform 138"/>
              <p:cNvSpPr/>
              <p:nvPr/>
            </p:nvSpPr>
            <p:spPr bwMode="auto">
              <a:xfrm>
                <a:off x="4025" y="1714"/>
                <a:ext cx="60" cy="9"/>
              </a:xfrm>
              <a:custGeom>
                <a:avLst/>
                <a:gdLst>
                  <a:gd name="T0" fmla="*/ 6 w 60"/>
                  <a:gd name="T1" fmla="*/ 0 h 9"/>
                  <a:gd name="T2" fmla="*/ 0 w 60"/>
                  <a:gd name="T3" fmla="*/ 0 h 9"/>
                  <a:gd name="T4" fmla="*/ 0 w 60"/>
                  <a:gd name="T5" fmla="*/ 4 h 9"/>
                  <a:gd name="T6" fmla="*/ 0 w 60"/>
                  <a:gd name="T7" fmla="*/ 9 h 9"/>
                  <a:gd name="T8" fmla="*/ 48 w 60"/>
                  <a:gd name="T9" fmla="*/ 9 h 9"/>
                  <a:gd name="T10" fmla="*/ 54 w 60"/>
                  <a:gd name="T11" fmla="*/ 9 h 9"/>
                  <a:gd name="T12" fmla="*/ 60 w 60"/>
                  <a:gd name="T13" fmla="*/ 4 h 9"/>
                  <a:gd name="T14" fmla="*/ 54 w 60"/>
                  <a:gd name="T15" fmla="*/ 0 h 9"/>
                  <a:gd name="T16" fmla="*/ 6 w 60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0"/>
                  <a:gd name="T28" fmla="*/ 0 h 9"/>
                  <a:gd name="T29" fmla="*/ 60 w 60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0" h="9">
                    <a:moveTo>
                      <a:pt x="6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48" y="9"/>
                    </a:lnTo>
                    <a:lnTo>
                      <a:pt x="54" y="9"/>
                    </a:lnTo>
                    <a:lnTo>
                      <a:pt x="60" y="4"/>
                    </a:lnTo>
                    <a:lnTo>
                      <a:pt x="5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06" name="Freeform 139"/>
              <p:cNvSpPr/>
              <p:nvPr/>
            </p:nvSpPr>
            <p:spPr bwMode="auto">
              <a:xfrm>
                <a:off x="4109" y="1714"/>
                <a:ext cx="60" cy="9"/>
              </a:xfrm>
              <a:custGeom>
                <a:avLst/>
                <a:gdLst>
                  <a:gd name="T0" fmla="*/ 6 w 60"/>
                  <a:gd name="T1" fmla="*/ 0 h 9"/>
                  <a:gd name="T2" fmla="*/ 0 w 60"/>
                  <a:gd name="T3" fmla="*/ 0 h 9"/>
                  <a:gd name="T4" fmla="*/ 0 w 60"/>
                  <a:gd name="T5" fmla="*/ 4 h 9"/>
                  <a:gd name="T6" fmla="*/ 0 w 60"/>
                  <a:gd name="T7" fmla="*/ 9 h 9"/>
                  <a:gd name="T8" fmla="*/ 48 w 60"/>
                  <a:gd name="T9" fmla="*/ 9 h 9"/>
                  <a:gd name="T10" fmla="*/ 54 w 60"/>
                  <a:gd name="T11" fmla="*/ 9 h 9"/>
                  <a:gd name="T12" fmla="*/ 60 w 60"/>
                  <a:gd name="T13" fmla="*/ 4 h 9"/>
                  <a:gd name="T14" fmla="*/ 54 w 60"/>
                  <a:gd name="T15" fmla="*/ 0 h 9"/>
                  <a:gd name="T16" fmla="*/ 6 w 60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0"/>
                  <a:gd name="T28" fmla="*/ 0 h 9"/>
                  <a:gd name="T29" fmla="*/ 60 w 60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0" h="9">
                    <a:moveTo>
                      <a:pt x="6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48" y="9"/>
                    </a:lnTo>
                    <a:lnTo>
                      <a:pt x="54" y="9"/>
                    </a:lnTo>
                    <a:lnTo>
                      <a:pt x="60" y="4"/>
                    </a:lnTo>
                    <a:lnTo>
                      <a:pt x="5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8007" name="Freeform 140"/>
              <p:cNvSpPr/>
              <p:nvPr/>
            </p:nvSpPr>
            <p:spPr bwMode="auto">
              <a:xfrm>
                <a:off x="4193" y="1714"/>
                <a:ext cx="42" cy="9"/>
              </a:xfrm>
              <a:custGeom>
                <a:avLst/>
                <a:gdLst>
                  <a:gd name="T0" fmla="*/ 6 w 42"/>
                  <a:gd name="T1" fmla="*/ 0 h 9"/>
                  <a:gd name="T2" fmla="*/ 0 w 42"/>
                  <a:gd name="T3" fmla="*/ 0 h 9"/>
                  <a:gd name="T4" fmla="*/ 0 w 42"/>
                  <a:gd name="T5" fmla="*/ 4 h 9"/>
                  <a:gd name="T6" fmla="*/ 0 w 42"/>
                  <a:gd name="T7" fmla="*/ 9 h 9"/>
                  <a:gd name="T8" fmla="*/ 36 w 42"/>
                  <a:gd name="T9" fmla="*/ 9 h 9"/>
                  <a:gd name="T10" fmla="*/ 36 w 42"/>
                  <a:gd name="T11" fmla="*/ 9 h 9"/>
                  <a:gd name="T12" fmla="*/ 42 w 42"/>
                  <a:gd name="T13" fmla="*/ 4 h 9"/>
                  <a:gd name="T14" fmla="*/ 42 w 42"/>
                  <a:gd name="T15" fmla="*/ 0 h 9"/>
                  <a:gd name="T16" fmla="*/ 6 w 42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2"/>
                  <a:gd name="T28" fmla="*/ 0 h 9"/>
                  <a:gd name="T29" fmla="*/ 42 w 42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2" h="9">
                    <a:moveTo>
                      <a:pt x="6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36" y="9"/>
                    </a:lnTo>
                    <a:lnTo>
                      <a:pt x="42" y="4"/>
                    </a:lnTo>
                    <a:lnTo>
                      <a:pt x="42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07932" name="Line 141"/>
            <p:cNvSpPr>
              <a:spLocks noChangeShapeType="1"/>
            </p:cNvSpPr>
            <p:nvPr/>
          </p:nvSpPr>
          <p:spPr bwMode="auto">
            <a:xfrm>
              <a:off x="3508" y="1493"/>
              <a:ext cx="655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07933" name="Group 142"/>
            <p:cNvGrpSpPr/>
            <p:nvPr/>
          </p:nvGrpSpPr>
          <p:grpSpPr bwMode="auto">
            <a:xfrm>
              <a:off x="3706" y="2088"/>
              <a:ext cx="252" cy="62"/>
              <a:chOff x="3706" y="2376"/>
              <a:chExt cx="252" cy="62"/>
            </a:xfrm>
          </p:grpSpPr>
          <p:sp>
            <p:nvSpPr>
              <p:cNvPr id="207994" name="Freeform 143"/>
              <p:cNvSpPr/>
              <p:nvPr/>
            </p:nvSpPr>
            <p:spPr bwMode="auto">
              <a:xfrm>
                <a:off x="3706" y="2400"/>
                <a:ext cx="60" cy="10"/>
              </a:xfrm>
              <a:custGeom>
                <a:avLst/>
                <a:gdLst>
                  <a:gd name="T0" fmla="*/ 12 w 60"/>
                  <a:gd name="T1" fmla="*/ 0 h 10"/>
                  <a:gd name="T2" fmla="*/ 6 w 60"/>
                  <a:gd name="T3" fmla="*/ 0 h 10"/>
                  <a:gd name="T4" fmla="*/ 0 w 60"/>
                  <a:gd name="T5" fmla="*/ 5 h 10"/>
                  <a:gd name="T6" fmla="*/ 6 w 60"/>
                  <a:gd name="T7" fmla="*/ 10 h 10"/>
                  <a:gd name="T8" fmla="*/ 48 w 60"/>
                  <a:gd name="T9" fmla="*/ 10 h 10"/>
                  <a:gd name="T10" fmla="*/ 54 w 60"/>
                  <a:gd name="T11" fmla="*/ 10 h 10"/>
                  <a:gd name="T12" fmla="*/ 60 w 60"/>
                  <a:gd name="T13" fmla="*/ 5 h 10"/>
                  <a:gd name="T14" fmla="*/ 54 w 60"/>
                  <a:gd name="T15" fmla="*/ 0 h 10"/>
                  <a:gd name="T16" fmla="*/ 12 w 60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0"/>
                  <a:gd name="T28" fmla="*/ 0 h 10"/>
                  <a:gd name="T29" fmla="*/ 60 w 60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0" h="10">
                    <a:moveTo>
                      <a:pt x="12" y="0"/>
                    </a:moveTo>
                    <a:lnTo>
                      <a:pt x="6" y="0"/>
                    </a:lnTo>
                    <a:lnTo>
                      <a:pt x="0" y="5"/>
                    </a:lnTo>
                    <a:lnTo>
                      <a:pt x="6" y="10"/>
                    </a:lnTo>
                    <a:lnTo>
                      <a:pt x="48" y="10"/>
                    </a:lnTo>
                    <a:lnTo>
                      <a:pt x="54" y="10"/>
                    </a:lnTo>
                    <a:lnTo>
                      <a:pt x="60" y="5"/>
                    </a:lnTo>
                    <a:lnTo>
                      <a:pt x="54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folHlink"/>
              </a:solidFill>
              <a:ln w="9525">
                <a:solidFill>
                  <a:schemeClr val="folHlink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995" name="Freeform 144"/>
              <p:cNvSpPr/>
              <p:nvPr/>
            </p:nvSpPr>
            <p:spPr bwMode="auto">
              <a:xfrm>
                <a:off x="3790" y="2400"/>
                <a:ext cx="60" cy="10"/>
              </a:xfrm>
              <a:custGeom>
                <a:avLst/>
                <a:gdLst>
                  <a:gd name="T0" fmla="*/ 6 w 60"/>
                  <a:gd name="T1" fmla="*/ 0 h 10"/>
                  <a:gd name="T2" fmla="*/ 0 w 60"/>
                  <a:gd name="T3" fmla="*/ 0 h 10"/>
                  <a:gd name="T4" fmla="*/ 0 w 60"/>
                  <a:gd name="T5" fmla="*/ 5 h 10"/>
                  <a:gd name="T6" fmla="*/ 0 w 60"/>
                  <a:gd name="T7" fmla="*/ 10 h 10"/>
                  <a:gd name="T8" fmla="*/ 48 w 60"/>
                  <a:gd name="T9" fmla="*/ 10 h 10"/>
                  <a:gd name="T10" fmla="*/ 54 w 60"/>
                  <a:gd name="T11" fmla="*/ 10 h 10"/>
                  <a:gd name="T12" fmla="*/ 60 w 60"/>
                  <a:gd name="T13" fmla="*/ 5 h 10"/>
                  <a:gd name="T14" fmla="*/ 54 w 60"/>
                  <a:gd name="T15" fmla="*/ 0 h 10"/>
                  <a:gd name="T16" fmla="*/ 6 w 60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0"/>
                  <a:gd name="T28" fmla="*/ 0 h 10"/>
                  <a:gd name="T29" fmla="*/ 60 w 60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0" h="10">
                    <a:moveTo>
                      <a:pt x="6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48" y="10"/>
                    </a:lnTo>
                    <a:lnTo>
                      <a:pt x="54" y="10"/>
                    </a:lnTo>
                    <a:lnTo>
                      <a:pt x="60" y="5"/>
                    </a:lnTo>
                    <a:lnTo>
                      <a:pt x="5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folHlink"/>
              </a:solidFill>
              <a:ln w="9525">
                <a:solidFill>
                  <a:schemeClr val="folHlink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996" name="Freeform 145"/>
              <p:cNvSpPr/>
              <p:nvPr/>
            </p:nvSpPr>
            <p:spPr bwMode="auto">
              <a:xfrm>
                <a:off x="3874" y="2400"/>
                <a:ext cx="60" cy="10"/>
              </a:xfrm>
              <a:custGeom>
                <a:avLst/>
                <a:gdLst>
                  <a:gd name="T0" fmla="*/ 6 w 60"/>
                  <a:gd name="T1" fmla="*/ 0 h 10"/>
                  <a:gd name="T2" fmla="*/ 0 w 60"/>
                  <a:gd name="T3" fmla="*/ 0 h 10"/>
                  <a:gd name="T4" fmla="*/ 0 w 60"/>
                  <a:gd name="T5" fmla="*/ 5 h 10"/>
                  <a:gd name="T6" fmla="*/ 0 w 60"/>
                  <a:gd name="T7" fmla="*/ 10 h 10"/>
                  <a:gd name="T8" fmla="*/ 48 w 60"/>
                  <a:gd name="T9" fmla="*/ 10 h 10"/>
                  <a:gd name="T10" fmla="*/ 54 w 60"/>
                  <a:gd name="T11" fmla="*/ 10 h 10"/>
                  <a:gd name="T12" fmla="*/ 60 w 60"/>
                  <a:gd name="T13" fmla="*/ 5 h 10"/>
                  <a:gd name="T14" fmla="*/ 54 w 60"/>
                  <a:gd name="T15" fmla="*/ 0 h 10"/>
                  <a:gd name="T16" fmla="*/ 6 w 60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0"/>
                  <a:gd name="T28" fmla="*/ 0 h 10"/>
                  <a:gd name="T29" fmla="*/ 60 w 60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0" h="10">
                    <a:moveTo>
                      <a:pt x="6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48" y="10"/>
                    </a:lnTo>
                    <a:lnTo>
                      <a:pt x="54" y="10"/>
                    </a:lnTo>
                    <a:lnTo>
                      <a:pt x="60" y="5"/>
                    </a:lnTo>
                    <a:lnTo>
                      <a:pt x="5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folHlink"/>
              </a:solidFill>
              <a:ln w="9525">
                <a:solidFill>
                  <a:schemeClr val="folHlink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997" name="Freeform 146"/>
              <p:cNvSpPr/>
              <p:nvPr/>
            </p:nvSpPr>
            <p:spPr bwMode="auto">
              <a:xfrm>
                <a:off x="3886" y="2376"/>
                <a:ext cx="72" cy="62"/>
              </a:xfrm>
              <a:custGeom>
                <a:avLst/>
                <a:gdLst>
                  <a:gd name="T0" fmla="*/ 0 w 72"/>
                  <a:gd name="T1" fmla="*/ 62 h 62"/>
                  <a:gd name="T2" fmla="*/ 72 w 72"/>
                  <a:gd name="T3" fmla="*/ 29 h 62"/>
                  <a:gd name="T4" fmla="*/ 0 w 72"/>
                  <a:gd name="T5" fmla="*/ 0 h 62"/>
                  <a:gd name="T6" fmla="*/ 0 60000 65536"/>
                  <a:gd name="T7" fmla="*/ 0 60000 65536"/>
                  <a:gd name="T8" fmla="*/ 0 60000 65536"/>
                  <a:gd name="T9" fmla="*/ 0 w 72"/>
                  <a:gd name="T10" fmla="*/ 0 h 62"/>
                  <a:gd name="T11" fmla="*/ 72 w 72"/>
                  <a:gd name="T12" fmla="*/ 62 h 6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2" h="62">
                    <a:moveTo>
                      <a:pt x="0" y="62"/>
                    </a:moveTo>
                    <a:lnTo>
                      <a:pt x="72" y="29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folHlink"/>
              </a:solidFill>
              <a:ln w="19050">
                <a:solidFill>
                  <a:schemeClr val="folHlink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07934" name="Line 147"/>
            <p:cNvSpPr>
              <a:spLocks noChangeShapeType="1"/>
            </p:cNvSpPr>
            <p:nvPr/>
          </p:nvSpPr>
          <p:spPr bwMode="auto">
            <a:xfrm>
              <a:off x="3574" y="2074"/>
              <a:ext cx="1" cy="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35" name="Line 148"/>
            <p:cNvSpPr>
              <a:spLocks noChangeShapeType="1"/>
            </p:cNvSpPr>
            <p:nvPr/>
          </p:nvSpPr>
          <p:spPr bwMode="auto">
            <a:xfrm>
              <a:off x="4073" y="2074"/>
              <a:ext cx="1" cy="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36" name="Oval 149"/>
            <p:cNvSpPr>
              <a:spLocks noChangeArrowheads="1"/>
            </p:cNvSpPr>
            <p:nvPr/>
          </p:nvSpPr>
          <p:spPr bwMode="auto">
            <a:xfrm>
              <a:off x="3622" y="1075"/>
              <a:ext cx="48" cy="39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/>
              </a:solidFill>
              <a:round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7937" name="Freeform 150"/>
            <p:cNvSpPr/>
            <p:nvPr/>
          </p:nvSpPr>
          <p:spPr bwMode="auto">
            <a:xfrm>
              <a:off x="3646" y="1118"/>
              <a:ext cx="42" cy="408"/>
            </a:xfrm>
            <a:custGeom>
              <a:avLst/>
              <a:gdLst>
                <a:gd name="T0" fmla="*/ 0 w 42"/>
                <a:gd name="T1" fmla="*/ 0 h 408"/>
                <a:gd name="T2" fmla="*/ 0 w 42"/>
                <a:gd name="T3" fmla="*/ 389 h 408"/>
                <a:gd name="T4" fmla="*/ 18 w 42"/>
                <a:gd name="T5" fmla="*/ 408 h 408"/>
                <a:gd name="T6" fmla="*/ 42 w 42"/>
                <a:gd name="T7" fmla="*/ 389 h 408"/>
                <a:gd name="T8" fmla="*/ 42 w 42"/>
                <a:gd name="T9" fmla="*/ 375 h 4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2"/>
                <a:gd name="T16" fmla="*/ 0 h 408"/>
                <a:gd name="T17" fmla="*/ 42 w 42"/>
                <a:gd name="T18" fmla="*/ 408 h 4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2" h="408">
                  <a:moveTo>
                    <a:pt x="0" y="0"/>
                  </a:moveTo>
                  <a:lnTo>
                    <a:pt x="0" y="389"/>
                  </a:lnTo>
                  <a:lnTo>
                    <a:pt x="18" y="408"/>
                  </a:lnTo>
                  <a:lnTo>
                    <a:pt x="42" y="389"/>
                  </a:lnTo>
                  <a:lnTo>
                    <a:pt x="42" y="37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38" name="Freeform 151"/>
            <p:cNvSpPr/>
            <p:nvPr/>
          </p:nvSpPr>
          <p:spPr bwMode="auto">
            <a:xfrm>
              <a:off x="3736" y="1368"/>
              <a:ext cx="108" cy="158"/>
            </a:xfrm>
            <a:custGeom>
              <a:avLst/>
              <a:gdLst>
                <a:gd name="T0" fmla="*/ 0 w 108"/>
                <a:gd name="T1" fmla="*/ 14 h 158"/>
                <a:gd name="T2" fmla="*/ 18 w 108"/>
                <a:gd name="T3" fmla="*/ 0 h 158"/>
                <a:gd name="T4" fmla="*/ 42 w 108"/>
                <a:gd name="T5" fmla="*/ 0 h 158"/>
                <a:gd name="T6" fmla="*/ 66 w 108"/>
                <a:gd name="T7" fmla="*/ 14 h 158"/>
                <a:gd name="T8" fmla="*/ 66 w 108"/>
                <a:gd name="T9" fmla="*/ 34 h 158"/>
                <a:gd name="T10" fmla="*/ 66 w 108"/>
                <a:gd name="T11" fmla="*/ 110 h 158"/>
                <a:gd name="T12" fmla="*/ 66 w 108"/>
                <a:gd name="T13" fmla="*/ 139 h 158"/>
                <a:gd name="T14" fmla="*/ 84 w 108"/>
                <a:gd name="T15" fmla="*/ 158 h 158"/>
                <a:gd name="T16" fmla="*/ 108 w 108"/>
                <a:gd name="T17" fmla="*/ 139 h 158"/>
                <a:gd name="T18" fmla="*/ 108 w 108"/>
                <a:gd name="T19" fmla="*/ 125 h 1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8"/>
                <a:gd name="T31" fmla="*/ 0 h 158"/>
                <a:gd name="T32" fmla="*/ 108 w 108"/>
                <a:gd name="T33" fmla="*/ 158 h 15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8" h="158">
                  <a:moveTo>
                    <a:pt x="0" y="14"/>
                  </a:moveTo>
                  <a:lnTo>
                    <a:pt x="18" y="0"/>
                  </a:lnTo>
                  <a:lnTo>
                    <a:pt x="42" y="0"/>
                  </a:lnTo>
                  <a:lnTo>
                    <a:pt x="66" y="14"/>
                  </a:lnTo>
                  <a:lnTo>
                    <a:pt x="66" y="34"/>
                  </a:lnTo>
                  <a:lnTo>
                    <a:pt x="66" y="110"/>
                  </a:lnTo>
                  <a:lnTo>
                    <a:pt x="66" y="139"/>
                  </a:lnTo>
                  <a:lnTo>
                    <a:pt x="84" y="158"/>
                  </a:lnTo>
                  <a:lnTo>
                    <a:pt x="108" y="139"/>
                  </a:lnTo>
                  <a:lnTo>
                    <a:pt x="108" y="12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39" name="Freeform 152"/>
            <p:cNvSpPr/>
            <p:nvPr/>
          </p:nvSpPr>
          <p:spPr bwMode="auto">
            <a:xfrm>
              <a:off x="3868" y="1368"/>
              <a:ext cx="114" cy="158"/>
            </a:xfrm>
            <a:custGeom>
              <a:avLst/>
              <a:gdLst>
                <a:gd name="T0" fmla="*/ 0 w 114"/>
                <a:gd name="T1" fmla="*/ 14 h 158"/>
                <a:gd name="T2" fmla="*/ 24 w 114"/>
                <a:gd name="T3" fmla="*/ 0 h 158"/>
                <a:gd name="T4" fmla="*/ 42 w 114"/>
                <a:gd name="T5" fmla="*/ 0 h 158"/>
                <a:gd name="T6" fmla="*/ 66 w 114"/>
                <a:gd name="T7" fmla="*/ 14 h 158"/>
                <a:gd name="T8" fmla="*/ 66 w 114"/>
                <a:gd name="T9" fmla="*/ 34 h 158"/>
                <a:gd name="T10" fmla="*/ 66 w 114"/>
                <a:gd name="T11" fmla="*/ 110 h 158"/>
                <a:gd name="T12" fmla="*/ 66 w 114"/>
                <a:gd name="T13" fmla="*/ 139 h 158"/>
                <a:gd name="T14" fmla="*/ 90 w 114"/>
                <a:gd name="T15" fmla="*/ 158 h 158"/>
                <a:gd name="T16" fmla="*/ 114 w 114"/>
                <a:gd name="T17" fmla="*/ 139 h 158"/>
                <a:gd name="T18" fmla="*/ 114 w 114"/>
                <a:gd name="T19" fmla="*/ 125 h 1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4"/>
                <a:gd name="T31" fmla="*/ 0 h 158"/>
                <a:gd name="T32" fmla="*/ 114 w 114"/>
                <a:gd name="T33" fmla="*/ 158 h 15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4" h="158">
                  <a:moveTo>
                    <a:pt x="0" y="14"/>
                  </a:moveTo>
                  <a:lnTo>
                    <a:pt x="24" y="0"/>
                  </a:lnTo>
                  <a:lnTo>
                    <a:pt x="42" y="0"/>
                  </a:lnTo>
                  <a:lnTo>
                    <a:pt x="66" y="14"/>
                  </a:lnTo>
                  <a:lnTo>
                    <a:pt x="66" y="34"/>
                  </a:lnTo>
                  <a:lnTo>
                    <a:pt x="66" y="110"/>
                  </a:lnTo>
                  <a:lnTo>
                    <a:pt x="66" y="139"/>
                  </a:lnTo>
                  <a:lnTo>
                    <a:pt x="90" y="158"/>
                  </a:lnTo>
                  <a:lnTo>
                    <a:pt x="114" y="139"/>
                  </a:lnTo>
                  <a:lnTo>
                    <a:pt x="114" y="12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40" name="Line 153"/>
            <p:cNvSpPr>
              <a:spLocks noChangeShapeType="1"/>
            </p:cNvSpPr>
            <p:nvPr/>
          </p:nvSpPr>
          <p:spPr bwMode="auto">
            <a:xfrm flipV="1">
              <a:off x="4001" y="1104"/>
              <a:ext cx="6" cy="27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41" name="Oval 154"/>
            <p:cNvSpPr>
              <a:spLocks noChangeArrowheads="1"/>
            </p:cNvSpPr>
            <p:nvPr/>
          </p:nvSpPr>
          <p:spPr bwMode="auto">
            <a:xfrm>
              <a:off x="3982" y="1075"/>
              <a:ext cx="49" cy="39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/>
              </a:solidFill>
              <a:round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07942" name="Rectangle 155"/>
            <p:cNvSpPr>
              <a:spLocks noChangeArrowheads="1"/>
            </p:cNvSpPr>
            <p:nvPr/>
          </p:nvSpPr>
          <p:spPr bwMode="auto">
            <a:xfrm>
              <a:off x="3640" y="816"/>
              <a:ext cx="43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800"/>
                <a:t>读线圈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07943" name="Rectangle 156"/>
            <p:cNvSpPr>
              <a:spLocks noChangeArrowheads="1"/>
            </p:cNvSpPr>
            <p:nvPr/>
          </p:nvSpPr>
          <p:spPr bwMode="auto">
            <a:xfrm>
              <a:off x="3610" y="1939"/>
              <a:ext cx="8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S</a:t>
              </a:r>
            </a:p>
          </p:txBody>
        </p:sp>
        <p:sp>
          <p:nvSpPr>
            <p:cNvPr id="207944" name="Rectangle 157"/>
            <p:cNvSpPr>
              <a:spLocks noChangeArrowheads="1"/>
            </p:cNvSpPr>
            <p:nvPr/>
          </p:nvSpPr>
          <p:spPr bwMode="auto">
            <a:xfrm>
              <a:off x="3982" y="1939"/>
              <a:ext cx="10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1800">
                  <a:latin typeface="Times New Roman" panose="02020603050405020304" pitchFamily="18" charset="0"/>
                </a:rPr>
                <a:t>N</a:t>
              </a:r>
            </a:p>
          </p:txBody>
        </p:sp>
        <p:sp>
          <p:nvSpPr>
            <p:cNvPr id="207945" name="Line 158"/>
            <p:cNvSpPr>
              <a:spLocks noChangeShapeType="1"/>
            </p:cNvSpPr>
            <p:nvPr/>
          </p:nvSpPr>
          <p:spPr bwMode="auto">
            <a:xfrm>
              <a:off x="4007" y="1118"/>
              <a:ext cx="1" cy="1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46" name="Rectangle 159"/>
            <p:cNvSpPr>
              <a:spLocks noChangeArrowheads="1"/>
            </p:cNvSpPr>
            <p:nvPr/>
          </p:nvSpPr>
          <p:spPr bwMode="auto">
            <a:xfrm>
              <a:off x="2685" y="1094"/>
              <a:ext cx="32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/>
                <a:t>铁芯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07947" name="Line 160"/>
            <p:cNvSpPr>
              <a:spLocks noChangeShapeType="1"/>
            </p:cNvSpPr>
            <p:nvPr/>
          </p:nvSpPr>
          <p:spPr bwMode="auto">
            <a:xfrm flipH="1">
              <a:off x="2336" y="1200"/>
              <a:ext cx="337" cy="1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48" name="Line 161"/>
            <p:cNvSpPr>
              <a:spLocks noChangeShapeType="1"/>
            </p:cNvSpPr>
            <p:nvPr/>
          </p:nvSpPr>
          <p:spPr bwMode="auto">
            <a:xfrm>
              <a:off x="2943" y="1200"/>
              <a:ext cx="409" cy="2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49" name="Rectangle 162"/>
            <p:cNvSpPr>
              <a:spLocks noChangeArrowheads="1"/>
            </p:cNvSpPr>
            <p:nvPr/>
          </p:nvSpPr>
          <p:spPr bwMode="auto">
            <a:xfrm>
              <a:off x="2685" y="1358"/>
              <a:ext cx="32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/>
                <a:t>磁通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07950" name="Line 163"/>
            <p:cNvSpPr>
              <a:spLocks noChangeShapeType="1"/>
            </p:cNvSpPr>
            <p:nvPr/>
          </p:nvSpPr>
          <p:spPr bwMode="auto">
            <a:xfrm flipH="1">
              <a:off x="2246" y="1478"/>
              <a:ext cx="427" cy="23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51" name="Line 164"/>
            <p:cNvSpPr>
              <a:spLocks noChangeShapeType="1"/>
            </p:cNvSpPr>
            <p:nvPr/>
          </p:nvSpPr>
          <p:spPr bwMode="auto">
            <a:xfrm>
              <a:off x="2943" y="1478"/>
              <a:ext cx="499" cy="23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52" name="Rectangle 165"/>
            <p:cNvSpPr>
              <a:spLocks noChangeArrowheads="1"/>
            </p:cNvSpPr>
            <p:nvPr/>
          </p:nvSpPr>
          <p:spPr bwMode="auto">
            <a:xfrm>
              <a:off x="2709" y="1733"/>
              <a:ext cx="32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/>
                <a:t>磁层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07953" name="Line 166"/>
            <p:cNvSpPr>
              <a:spLocks noChangeShapeType="1"/>
            </p:cNvSpPr>
            <p:nvPr/>
          </p:nvSpPr>
          <p:spPr bwMode="auto">
            <a:xfrm flipH="1">
              <a:off x="2378" y="1853"/>
              <a:ext cx="319" cy="24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54" name="Line 167"/>
            <p:cNvSpPr>
              <a:spLocks noChangeShapeType="1"/>
            </p:cNvSpPr>
            <p:nvPr/>
          </p:nvSpPr>
          <p:spPr bwMode="auto">
            <a:xfrm>
              <a:off x="2967" y="1853"/>
              <a:ext cx="403" cy="2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07955" name="Group 168"/>
            <p:cNvGrpSpPr/>
            <p:nvPr/>
          </p:nvGrpSpPr>
          <p:grpSpPr bwMode="auto">
            <a:xfrm>
              <a:off x="2138" y="2290"/>
              <a:ext cx="312" cy="62"/>
              <a:chOff x="2066" y="2578"/>
              <a:chExt cx="312" cy="62"/>
            </a:xfrm>
          </p:grpSpPr>
          <p:sp>
            <p:nvSpPr>
              <p:cNvPr id="207992" name="Line 169"/>
              <p:cNvSpPr>
                <a:spLocks noChangeShapeType="1"/>
              </p:cNvSpPr>
              <p:nvPr/>
            </p:nvSpPr>
            <p:spPr bwMode="auto">
              <a:xfrm flipH="1">
                <a:off x="2102" y="2606"/>
                <a:ext cx="276" cy="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993" name="Freeform 170"/>
              <p:cNvSpPr/>
              <p:nvPr/>
            </p:nvSpPr>
            <p:spPr bwMode="auto">
              <a:xfrm>
                <a:off x="2066" y="2578"/>
                <a:ext cx="72" cy="62"/>
              </a:xfrm>
              <a:custGeom>
                <a:avLst/>
                <a:gdLst>
                  <a:gd name="T0" fmla="*/ 72 w 72"/>
                  <a:gd name="T1" fmla="*/ 0 h 62"/>
                  <a:gd name="T2" fmla="*/ 0 w 72"/>
                  <a:gd name="T3" fmla="*/ 33 h 62"/>
                  <a:gd name="T4" fmla="*/ 72 w 72"/>
                  <a:gd name="T5" fmla="*/ 62 h 62"/>
                  <a:gd name="T6" fmla="*/ 48 w 72"/>
                  <a:gd name="T7" fmla="*/ 33 h 62"/>
                  <a:gd name="T8" fmla="*/ 72 w 72"/>
                  <a:gd name="T9" fmla="*/ 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"/>
                  <a:gd name="T16" fmla="*/ 0 h 62"/>
                  <a:gd name="T17" fmla="*/ 72 w 72"/>
                  <a:gd name="T18" fmla="*/ 62 h 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" h="62">
                    <a:moveTo>
                      <a:pt x="72" y="0"/>
                    </a:moveTo>
                    <a:lnTo>
                      <a:pt x="0" y="33"/>
                    </a:lnTo>
                    <a:lnTo>
                      <a:pt x="72" y="62"/>
                    </a:lnTo>
                    <a:lnTo>
                      <a:pt x="48" y="33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07956" name="Rectangle 171"/>
            <p:cNvSpPr>
              <a:spLocks noChangeArrowheads="1"/>
            </p:cNvSpPr>
            <p:nvPr/>
          </p:nvSpPr>
          <p:spPr bwMode="auto">
            <a:xfrm>
              <a:off x="2492" y="2290"/>
              <a:ext cx="724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/>
                <a:t>运动方向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grpSp>
          <p:nvGrpSpPr>
            <p:cNvPr id="207957" name="Group 172"/>
            <p:cNvGrpSpPr/>
            <p:nvPr/>
          </p:nvGrpSpPr>
          <p:grpSpPr bwMode="auto">
            <a:xfrm>
              <a:off x="4128" y="2304"/>
              <a:ext cx="318" cy="62"/>
              <a:chOff x="4091" y="2592"/>
              <a:chExt cx="318" cy="62"/>
            </a:xfrm>
          </p:grpSpPr>
          <p:sp>
            <p:nvSpPr>
              <p:cNvPr id="207990" name="Line 173"/>
              <p:cNvSpPr>
                <a:spLocks noChangeShapeType="1"/>
              </p:cNvSpPr>
              <p:nvPr/>
            </p:nvSpPr>
            <p:spPr bwMode="auto">
              <a:xfrm flipH="1">
                <a:off x="4127" y="2626"/>
                <a:ext cx="282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7991" name="Freeform 174"/>
              <p:cNvSpPr/>
              <p:nvPr/>
            </p:nvSpPr>
            <p:spPr bwMode="auto">
              <a:xfrm>
                <a:off x="4091" y="2592"/>
                <a:ext cx="72" cy="62"/>
              </a:xfrm>
              <a:custGeom>
                <a:avLst/>
                <a:gdLst>
                  <a:gd name="T0" fmla="*/ 72 w 72"/>
                  <a:gd name="T1" fmla="*/ 0 h 62"/>
                  <a:gd name="T2" fmla="*/ 0 w 72"/>
                  <a:gd name="T3" fmla="*/ 34 h 62"/>
                  <a:gd name="T4" fmla="*/ 72 w 72"/>
                  <a:gd name="T5" fmla="*/ 62 h 62"/>
                  <a:gd name="T6" fmla="*/ 48 w 72"/>
                  <a:gd name="T7" fmla="*/ 34 h 62"/>
                  <a:gd name="T8" fmla="*/ 72 w 72"/>
                  <a:gd name="T9" fmla="*/ 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"/>
                  <a:gd name="T16" fmla="*/ 0 h 62"/>
                  <a:gd name="T17" fmla="*/ 72 w 72"/>
                  <a:gd name="T18" fmla="*/ 62 h 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" h="62">
                    <a:moveTo>
                      <a:pt x="72" y="0"/>
                    </a:moveTo>
                    <a:lnTo>
                      <a:pt x="0" y="34"/>
                    </a:lnTo>
                    <a:lnTo>
                      <a:pt x="72" y="62"/>
                    </a:lnTo>
                    <a:lnTo>
                      <a:pt x="48" y="34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07958" name="Rectangle 175"/>
            <p:cNvSpPr>
              <a:spLocks noChangeArrowheads="1"/>
            </p:cNvSpPr>
            <p:nvPr/>
          </p:nvSpPr>
          <p:spPr bwMode="auto">
            <a:xfrm>
              <a:off x="4499" y="2304"/>
              <a:ext cx="733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/>
                <a:t>运动方向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07959" name="Line 176"/>
            <p:cNvSpPr>
              <a:spLocks noChangeShapeType="1"/>
            </p:cNvSpPr>
            <p:nvPr/>
          </p:nvSpPr>
          <p:spPr bwMode="auto">
            <a:xfrm>
              <a:off x="1248" y="2712"/>
              <a:ext cx="1316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60" name="Freeform 177"/>
            <p:cNvSpPr/>
            <p:nvPr/>
          </p:nvSpPr>
          <p:spPr bwMode="auto">
            <a:xfrm>
              <a:off x="1598" y="2712"/>
              <a:ext cx="469" cy="187"/>
            </a:xfrm>
            <a:custGeom>
              <a:avLst/>
              <a:gdLst>
                <a:gd name="T0" fmla="*/ 0 w 469"/>
                <a:gd name="T1" fmla="*/ 0 h 187"/>
                <a:gd name="T2" fmla="*/ 18 w 469"/>
                <a:gd name="T3" fmla="*/ 5 h 187"/>
                <a:gd name="T4" fmla="*/ 42 w 469"/>
                <a:gd name="T5" fmla="*/ 14 h 187"/>
                <a:gd name="T6" fmla="*/ 72 w 469"/>
                <a:gd name="T7" fmla="*/ 29 h 187"/>
                <a:gd name="T8" fmla="*/ 96 w 469"/>
                <a:gd name="T9" fmla="*/ 43 h 187"/>
                <a:gd name="T10" fmla="*/ 114 w 469"/>
                <a:gd name="T11" fmla="*/ 67 h 187"/>
                <a:gd name="T12" fmla="*/ 132 w 469"/>
                <a:gd name="T13" fmla="*/ 91 h 187"/>
                <a:gd name="T14" fmla="*/ 150 w 469"/>
                <a:gd name="T15" fmla="*/ 120 h 187"/>
                <a:gd name="T16" fmla="*/ 168 w 469"/>
                <a:gd name="T17" fmla="*/ 139 h 187"/>
                <a:gd name="T18" fmla="*/ 204 w 469"/>
                <a:gd name="T19" fmla="*/ 173 h 187"/>
                <a:gd name="T20" fmla="*/ 222 w 469"/>
                <a:gd name="T21" fmla="*/ 182 h 187"/>
                <a:gd name="T22" fmla="*/ 246 w 469"/>
                <a:gd name="T23" fmla="*/ 187 h 187"/>
                <a:gd name="T24" fmla="*/ 264 w 469"/>
                <a:gd name="T25" fmla="*/ 182 h 187"/>
                <a:gd name="T26" fmla="*/ 288 w 469"/>
                <a:gd name="T27" fmla="*/ 173 h 187"/>
                <a:gd name="T28" fmla="*/ 324 w 469"/>
                <a:gd name="T29" fmla="*/ 139 h 187"/>
                <a:gd name="T30" fmla="*/ 342 w 469"/>
                <a:gd name="T31" fmla="*/ 120 h 187"/>
                <a:gd name="T32" fmla="*/ 354 w 469"/>
                <a:gd name="T33" fmla="*/ 101 h 187"/>
                <a:gd name="T34" fmla="*/ 366 w 469"/>
                <a:gd name="T35" fmla="*/ 82 h 187"/>
                <a:gd name="T36" fmla="*/ 378 w 469"/>
                <a:gd name="T37" fmla="*/ 62 h 187"/>
                <a:gd name="T38" fmla="*/ 403 w 469"/>
                <a:gd name="T39" fmla="*/ 43 h 187"/>
                <a:gd name="T40" fmla="*/ 427 w 469"/>
                <a:gd name="T41" fmla="*/ 24 h 187"/>
                <a:gd name="T42" fmla="*/ 451 w 469"/>
                <a:gd name="T43" fmla="*/ 10 h 187"/>
                <a:gd name="T44" fmla="*/ 469 w 469"/>
                <a:gd name="T45" fmla="*/ 0 h 18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469"/>
                <a:gd name="T70" fmla="*/ 0 h 187"/>
                <a:gd name="T71" fmla="*/ 469 w 469"/>
                <a:gd name="T72" fmla="*/ 187 h 18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469" h="187">
                  <a:moveTo>
                    <a:pt x="0" y="0"/>
                  </a:moveTo>
                  <a:lnTo>
                    <a:pt x="18" y="5"/>
                  </a:lnTo>
                  <a:lnTo>
                    <a:pt x="42" y="14"/>
                  </a:lnTo>
                  <a:lnTo>
                    <a:pt x="72" y="29"/>
                  </a:lnTo>
                  <a:lnTo>
                    <a:pt x="96" y="43"/>
                  </a:lnTo>
                  <a:lnTo>
                    <a:pt x="114" y="67"/>
                  </a:lnTo>
                  <a:lnTo>
                    <a:pt x="132" y="91"/>
                  </a:lnTo>
                  <a:lnTo>
                    <a:pt x="150" y="120"/>
                  </a:lnTo>
                  <a:lnTo>
                    <a:pt x="168" y="139"/>
                  </a:lnTo>
                  <a:lnTo>
                    <a:pt x="204" y="173"/>
                  </a:lnTo>
                  <a:lnTo>
                    <a:pt x="222" y="182"/>
                  </a:lnTo>
                  <a:lnTo>
                    <a:pt x="246" y="187"/>
                  </a:lnTo>
                  <a:lnTo>
                    <a:pt x="264" y="182"/>
                  </a:lnTo>
                  <a:lnTo>
                    <a:pt x="288" y="173"/>
                  </a:lnTo>
                  <a:lnTo>
                    <a:pt x="324" y="139"/>
                  </a:lnTo>
                  <a:lnTo>
                    <a:pt x="342" y="120"/>
                  </a:lnTo>
                  <a:lnTo>
                    <a:pt x="354" y="101"/>
                  </a:lnTo>
                  <a:lnTo>
                    <a:pt x="366" y="82"/>
                  </a:lnTo>
                  <a:lnTo>
                    <a:pt x="378" y="62"/>
                  </a:lnTo>
                  <a:lnTo>
                    <a:pt x="403" y="43"/>
                  </a:lnTo>
                  <a:lnTo>
                    <a:pt x="427" y="24"/>
                  </a:lnTo>
                  <a:lnTo>
                    <a:pt x="451" y="10"/>
                  </a:lnTo>
                  <a:lnTo>
                    <a:pt x="469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61" name="Line 178"/>
            <p:cNvSpPr>
              <a:spLocks noChangeShapeType="1"/>
            </p:cNvSpPr>
            <p:nvPr/>
          </p:nvSpPr>
          <p:spPr bwMode="auto">
            <a:xfrm flipV="1">
              <a:off x="1236" y="2976"/>
              <a:ext cx="1" cy="50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62" name="Line 179"/>
            <p:cNvSpPr>
              <a:spLocks noChangeShapeType="1"/>
            </p:cNvSpPr>
            <p:nvPr/>
          </p:nvSpPr>
          <p:spPr bwMode="auto">
            <a:xfrm>
              <a:off x="1248" y="3240"/>
              <a:ext cx="1316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63" name="Freeform 180"/>
            <p:cNvSpPr/>
            <p:nvPr/>
          </p:nvSpPr>
          <p:spPr bwMode="auto">
            <a:xfrm>
              <a:off x="1584" y="3105"/>
              <a:ext cx="492" cy="255"/>
            </a:xfrm>
            <a:custGeom>
              <a:avLst/>
              <a:gdLst>
                <a:gd name="T0" fmla="*/ 0 w 492"/>
                <a:gd name="T1" fmla="*/ 118 h 255"/>
                <a:gd name="T2" fmla="*/ 31 w 492"/>
                <a:gd name="T3" fmla="*/ 125 h 255"/>
                <a:gd name="T4" fmla="*/ 49 w 492"/>
                <a:gd name="T5" fmla="*/ 116 h 255"/>
                <a:gd name="T6" fmla="*/ 79 w 492"/>
                <a:gd name="T7" fmla="*/ 92 h 255"/>
                <a:gd name="T8" fmla="*/ 91 w 492"/>
                <a:gd name="T9" fmla="*/ 68 h 255"/>
                <a:gd name="T10" fmla="*/ 103 w 492"/>
                <a:gd name="T11" fmla="*/ 39 h 255"/>
                <a:gd name="T12" fmla="*/ 115 w 492"/>
                <a:gd name="T13" fmla="*/ 10 h 255"/>
                <a:gd name="T14" fmla="*/ 121 w 492"/>
                <a:gd name="T15" fmla="*/ 5 h 255"/>
                <a:gd name="T16" fmla="*/ 127 w 492"/>
                <a:gd name="T17" fmla="*/ 0 h 255"/>
                <a:gd name="T18" fmla="*/ 133 w 492"/>
                <a:gd name="T19" fmla="*/ 5 h 255"/>
                <a:gd name="T20" fmla="*/ 139 w 492"/>
                <a:gd name="T21" fmla="*/ 10 h 255"/>
                <a:gd name="T22" fmla="*/ 151 w 492"/>
                <a:gd name="T23" fmla="*/ 39 h 255"/>
                <a:gd name="T24" fmla="*/ 163 w 492"/>
                <a:gd name="T25" fmla="*/ 68 h 255"/>
                <a:gd name="T26" fmla="*/ 169 w 492"/>
                <a:gd name="T27" fmla="*/ 82 h 255"/>
                <a:gd name="T28" fmla="*/ 175 w 492"/>
                <a:gd name="T29" fmla="*/ 92 h 255"/>
                <a:gd name="T30" fmla="*/ 187 w 492"/>
                <a:gd name="T31" fmla="*/ 106 h 255"/>
                <a:gd name="T32" fmla="*/ 205 w 492"/>
                <a:gd name="T33" fmla="*/ 116 h 255"/>
                <a:gd name="T34" fmla="*/ 235 w 492"/>
                <a:gd name="T35" fmla="*/ 130 h 255"/>
                <a:gd name="T36" fmla="*/ 253 w 492"/>
                <a:gd name="T37" fmla="*/ 135 h 255"/>
                <a:gd name="T38" fmla="*/ 271 w 492"/>
                <a:gd name="T39" fmla="*/ 140 h 255"/>
                <a:gd name="T40" fmla="*/ 289 w 492"/>
                <a:gd name="T41" fmla="*/ 140 h 255"/>
                <a:gd name="T42" fmla="*/ 307 w 492"/>
                <a:gd name="T43" fmla="*/ 149 h 255"/>
                <a:gd name="T44" fmla="*/ 319 w 492"/>
                <a:gd name="T45" fmla="*/ 159 h 255"/>
                <a:gd name="T46" fmla="*/ 325 w 492"/>
                <a:gd name="T47" fmla="*/ 178 h 255"/>
                <a:gd name="T48" fmla="*/ 331 w 492"/>
                <a:gd name="T49" fmla="*/ 197 h 255"/>
                <a:gd name="T50" fmla="*/ 337 w 492"/>
                <a:gd name="T51" fmla="*/ 212 h 255"/>
                <a:gd name="T52" fmla="*/ 361 w 492"/>
                <a:gd name="T53" fmla="*/ 240 h 255"/>
                <a:gd name="T54" fmla="*/ 373 w 492"/>
                <a:gd name="T55" fmla="*/ 250 h 255"/>
                <a:gd name="T56" fmla="*/ 385 w 492"/>
                <a:gd name="T57" fmla="*/ 255 h 255"/>
                <a:gd name="T58" fmla="*/ 397 w 492"/>
                <a:gd name="T59" fmla="*/ 250 h 255"/>
                <a:gd name="T60" fmla="*/ 403 w 492"/>
                <a:gd name="T61" fmla="*/ 236 h 255"/>
                <a:gd name="T62" fmla="*/ 415 w 492"/>
                <a:gd name="T63" fmla="*/ 216 h 255"/>
                <a:gd name="T64" fmla="*/ 422 w 492"/>
                <a:gd name="T65" fmla="*/ 202 h 255"/>
                <a:gd name="T66" fmla="*/ 428 w 492"/>
                <a:gd name="T67" fmla="*/ 183 h 255"/>
                <a:gd name="T68" fmla="*/ 428 w 492"/>
                <a:gd name="T69" fmla="*/ 173 h 255"/>
                <a:gd name="T70" fmla="*/ 434 w 492"/>
                <a:gd name="T71" fmla="*/ 164 h 255"/>
                <a:gd name="T72" fmla="*/ 440 w 492"/>
                <a:gd name="T73" fmla="*/ 154 h 255"/>
                <a:gd name="T74" fmla="*/ 492 w 492"/>
                <a:gd name="T75" fmla="*/ 136 h 255"/>
                <a:gd name="T76" fmla="*/ 464 w 492"/>
                <a:gd name="T77" fmla="*/ 140 h 255"/>
                <a:gd name="T78" fmla="*/ 470 w 492"/>
                <a:gd name="T79" fmla="*/ 130 h 25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92"/>
                <a:gd name="T121" fmla="*/ 0 h 255"/>
                <a:gd name="T122" fmla="*/ 492 w 492"/>
                <a:gd name="T123" fmla="*/ 255 h 25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92" h="255">
                  <a:moveTo>
                    <a:pt x="0" y="118"/>
                  </a:moveTo>
                  <a:lnTo>
                    <a:pt x="31" y="125"/>
                  </a:lnTo>
                  <a:lnTo>
                    <a:pt x="49" y="116"/>
                  </a:lnTo>
                  <a:lnTo>
                    <a:pt x="79" y="92"/>
                  </a:lnTo>
                  <a:lnTo>
                    <a:pt x="91" y="68"/>
                  </a:lnTo>
                  <a:lnTo>
                    <a:pt x="103" y="39"/>
                  </a:lnTo>
                  <a:lnTo>
                    <a:pt x="115" y="10"/>
                  </a:lnTo>
                  <a:lnTo>
                    <a:pt x="121" y="5"/>
                  </a:lnTo>
                  <a:lnTo>
                    <a:pt x="127" y="0"/>
                  </a:lnTo>
                  <a:lnTo>
                    <a:pt x="133" y="5"/>
                  </a:lnTo>
                  <a:lnTo>
                    <a:pt x="139" y="10"/>
                  </a:lnTo>
                  <a:lnTo>
                    <a:pt x="151" y="39"/>
                  </a:lnTo>
                  <a:lnTo>
                    <a:pt x="163" y="68"/>
                  </a:lnTo>
                  <a:lnTo>
                    <a:pt x="169" y="82"/>
                  </a:lnTo>
                  <a:lnTo>
                    <a:pt x="175" y="92"/>
                  </a:lnTo>
                  <a:lnTo>
                    <a:pt x="187" y="106"/>
                  </a:lnTo>
                  <a:lnTo>
                    <a:pt x="205" y="116"/>
                  </a:lnTo>
                  <a:lnTo>
                    <a:pt x="235" y="130"/>
                  </a:lnTo>
                  <a:lnTo>
                    <a:pt x="253" y="135"/>
                  </a:lnTo>
                  <a:lnTo>
                    <a:pt x="271" y="140"/>
                  </a:lnTo>
                  <a:lnTo>
                    <a:pt x="289" y="140"/>
                  </a:lnTo>
                  <a:lnTo>
                    <a:pt x="307" y="149"/>
                  </a:lnTo>
                  <a:lnTo>
                    <a:pt x="319" y="159"/>
                  </a:lnTo>
                  <a:lnTo>
                    <a:pt x="325" y="178"/>
                  </a:lnTo>
                  <a:lnTo>
                    <a:pt x="331" y="197"/>
                  </a:lnTo>
                  <a:lnTo>
                    <a:pt x="337" y="212"/>
                  </a:lnTo>
                  <a:lnTo>
                    <a:pt x="361" y="240"/>
                  </a:lnTo>
                  <a:lnTo>
                    <a:pt x="373" y="250"/>
                  </a:lnTo>
                  <a:lnTo>
                    <a:pt x="385" y="255"/>
                  </a:lnTo>
                  <a:lnTo>
                    <a:pt x="397" y="250"/>
                  </a:lnTo>
                  <a:lnTo>
                    <a:pt x="403" y="236"/>
                  </a:lnTo>
                  <a:lnTo>
                    <a:pt x="415" y="216"/>
                  </a:lnTo>
                  <a:lnTo>
                    <a:pt x="422" y="202"/>
                  </a:lnTo>
                  <a:lnTo>
                    <a:pt x="428" y="183"/>
                  </a:lnTo>
                  <a:lnTo>
                    <a:pt x="428" y="173"/>
                  </a:lnTo>
                  <a:lnTo>
                    <a:pt x="434" y="164"/>
                  </a:lnTo>
                  <a:lnTo>
                    <a:pt x="440" y="154"/>
                  </a:lnTo>
                  <a:lnTo>
                    <a:pt x="492" y="136"/>
                  </a:lnTo>
                  <a:lnTo>
                    <a:pt x="464" y="140"/>
                  </a:lnTo>
                  <a:lnTo>
                    <a:pt x="470" y="130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64" name="Freeform 181"/>
            <p:cNvSpPr/>
            <p:nvPr/>
          </p:nvSpPr>
          <p:spPr bwMode="auto">
            <a:xfrm>
              <a:off x="3262" y="2448"/>
              <a:ext cx="2" cy="506"/>
            </a:xfrm>
            <a:custGeom>
              <a:avLst/>
              <a:gdLst>
                <a:gd name="T0" fmla="*/ 2 w 2"/>
                <a:gd name="T1" fmla="*/ 2326 h 450"/>
                <a:gd name="T2" fmla="*/ 0 w 2"/>
                <a:gd name="T3" fmla="*/ 0 h 450"/>
                <a:gd name="T4" fmla="*/ 0 60000 65536"/>
                <a:gd name="T5" fmla="*/ 0 60000 65536"/>
                <a:gd name="T6" fmla="*/ 0 w 2"/>
                <a:gd name="T7" fmla="*/ 0 h 450"/>
                <a:gd name="T8" fmla="*/ 2 w 2"/>
                <a:gd name="T9" fmla="*/ 450 h 4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450">
                  <a:moveTo>
                    <a:pt x="2" y="45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28575">
              <a:solidFill>
                <a:schemeClr val="tx1"/>
              </a:solidFill>
              <a:round/>
              <a:headEnd type="none" w="med" len="med"/>
              <a:tailEnd type="stealth" w="med" len="med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65" name="Freeform 182"/>
            <p:cNvSpPr/>
            <p:nvPr/>
          </p:nvSpPr>
          <p:spPr bwMode="auto">
            <a:xfrm>
              <a:off x="3593" y="2525"/>
              <a:ext cx="475" cy="187"/>
            </a:xfrm>
            <a:custGeom>
              <a:avLst/>
              <a:gdLst>
                <a:gd name="T0" fmla="*/ 0 w 475"/>
                <a:gd name="T1" fmla="*/ 187 h 187"/>
                <a:gd name="T2" fmla="*/ 18 w 475"/>
                <a:gd name="T3" fmla="*/ 177 h 187"/>
                <a:gd name="T4" fmla="*/ 48 w 475"/>
                <a:gd name="T5" fmla="*/ 168 h 187"/>
                <a:gd name="T6" fmla="*/ 78 w 475"/>
                <a:gd name="T7" fmla="*/ 158 h 187"/>
                <a:gd name="T8" fmla="*/ 102 w 475"/>
                <a:gd name="T9" fmla="*/ 144 h 187"/>
                <a:gd name="T10" fmla="*/ 120 w 475"/>
                <a:gd name="T11" fmla="*/ 125 h 187"/>
                <a:gd name="T12" fmla="*/ 138 w 475"/>
                <a:gd name="T13" fmla="*/ 96 h 187"/>
                <a:gd name="T14" fmla="*/ 150 w 475"/>
                <a:gd name="T15" fmla="*/ 72 h 187"/>
                <a:gd name="T16" fmla="*/ 168 w 475"/>
                <a:gd name="T17" fmla="*/ 48 h 187"/>
                <a:gd name="T18" fmla="*/ 210 w 475"/>
                <a:gd name="T19" fmla="*/ 14 h 187"/>
                <a:gd name="T20" fmla="*/ 228 w 475"/>
                <a:gd name="T21" fmla="*/ 5 h 187"/>
                <a:gd name="T22" fmla="*/ 246 w 475"/>
                <a:gd name="T23" fmla="*/ 0 h 187"/>
                <a:gd name="T24" fmla="*/ 270 w 475"/>
                <a:gd name="T25" fmla="*/ 5 h 187"/>
                <a:gd name="T26" fmla="*/ 288 w 475"/>
                <a:gd name="T27" fmla="*/ 14 h 187"/>
                <a:gd name="T28" fmla="*/ 330 w 475"/>
                <a:gd name="T29" fmla="*/ 48 h 187"/>
                <a:gd name="T30" fmla="*/ 342 w 475"/>
                <a:gd name="T31" fmla="*/ 67 h 187"/>
                <a:gd name="T32" fmla="*/ 354 w 475"/>
                <a:gd name="T33" fmla="*/ 86 h 187"/>
                <a:gd name="T34" fmla="*/ 384 w 475"/>
                <a:gd name="T35" fmla="*/ 125 h 187"/>
                <a:gd name="T36" fmla="*/ 408 w 475"/>
                <a:gd name="T37" fmla="*/ 144 h 187"/>
                <a:gd name="T38" fmla="*/ 433 w 475"/>
                <a:gd name="T39" fmla="*/ 158 h 187"/>
                <a:gd name="T40" fmla="*/ 457 w 475"/>
                <a:gd name="T41" fmla="*/ 173 h 187"/>
                <a:gd name="T42" fmla="*/ 475 w 475"/>
                <a:gd name="T43" fmla="*/ 187 h 18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75"/>
                <a:gd name="T67" fmla="*/ 0 h 187"/>
                <a:gd name="T68" fmla="*/ 475 w 475"/>
                <a:gd name="T69" fmla="*/ 187 h 18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75" h="187">
                  <a:moveTo>
                    <a:pt x="0" y="187"/>
                  </a:moveTo>
                  <a:lnTo>
                    <a:pt x="18" y="177"/>
                  </a:lnTo>
                  <a:lnTo>
                    <a:pt x="48" y="168"/>
                  </a:lnTo>
                  <a:lnTo>
                    <a:pt x="78" y="158"/>
                  </a:lnTo>
                  <a:lnTo>
                    <a:pt x="102" y="144"/>
                  </a:lnTo>
                  <a:lnTo>
                    <a:pt x="120" y="125"/>
                  </a:lnTo>
                  <a:lnTo>
                    <a:pt x="138" y="96"/>
                  </a:lnTo>
                  <a:lnTo>
                    <a:pt x="150" y="72"/>
                  </a:lnTo>
                  <a:lnTo>
                    <a:pt x="168" y="48"/>
                  </a:lnTo>
                  <a:lnTo>
                    <a:pt x="210" y="14"/>
                  </a:lnTo>
                  <a:lnTo>
                    <a:pt x="228" y="5"/>
                  </a:lnTo>
                  <a:lnTo>
                    <a:pt x="246" y="0"/>
                  </a:lnTo>
                  <a:lnTo>
                    <a:pt x="270" y="5"/>
                  </a:lnTo>
                  <a:lnTo>
                    <a:pt x="288" y="14"/>
                  </a:lnTo>
                  <a:lnTo>
                    <a:pt x="330" y="48"/>
                  </a:lnTo>
                  <a:lnTo>
                    <a:pt x="342" y="67"/>
                  </a:lnTo>
                  <a:lnTo>
                    <a:pt x="354" y="86"/>
                  </a:lnTo>
                  <a:lnTo>
                    <a:pt x="384" y="125"/>
                  </a:lnTo>
                  <a:lnTo>
                    <a:pt x="408" y="144"/>
                  </a:lnTo>
                  <a:lnTo>
                    <a:pt x="433" y="158"/>
                  </a:lnTo>
                  <a:lnTo>
                    <a:pt x="457" y="173"/>
                  </a:lnTo>
                  <a:lnTo>
                    <a:pt x="475" y="18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66" name="Freeform 183"/>
            <p:cNvSpPr/>
            <p:nvPr/>
          </p:nvSpPr>
          <p:spPr bwMode="auto">
            <a:xfrm>
              <a:off x="3262" y="2976"/>
              <a:ext cx="2" cy="506"/>
            </a:xfrm>
            <a:custGeom>
              <a:avLst/>
              <a:gdLst>
                <a:gd name="T0" fmla="*/ 2 w 2"/>
                <a:gd name="T1" fmla="*/ 2326 h 450"/>
                <a:gd name="T2" fmla="*/ 0 w 2"/>
                <a:gd name="T3" fmla="*/ 0 h 450"/>
                <a:gd name="T4" fmla="*/ 0 60000 65536"/>
                <a:gd name="T5" fmla="*/ 0 60000 65536"/>
                <a:gd name="T6" fmla="*/ 0 w 2"/>
                <a:gd name="T7" fmla="*/ 0 h 450"/>
                <a:gd name="T8" fmla="*/ 2 w 2"/>
                <a:gd name="T9" fmla="*/ 450 h 4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450">
                  <a:moveTo>
                    <a:pt x="2" y="45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28575">
              <a:solidFill>
                <a:schemeClr val="tx1"/>
              </a:solidFill>
              <a:round/>
              <a:headEnd type="none" w="med" len="med"/>
              <a:tailEnd type="stealth" w="med" len="med"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67" name="Freeform 184"/>
            <p:cNvSpPr/>
            <p:nvPr/>
          </p:nvSpPr>
          <p:spPr bwMode="auto">
            <a:xfrm>
              <a:off x="3581" y="3114"/>
              <a:ext cx="461" cy="255"/>
            </a:xfrm>
            <a:custGeom>
              <a:avLst/>
              <a:gdLst>
                <a:gd name="T0" fmla="*/ 0 w 461"/>
                <a:gd name="T1" fmla="*/ 130 h 255"/>
                <a:gd name="T2" fmla="*/ 22 w 461"/>
                <a:gd name="T3" fmla="*/ 130 h 255"/>
                <a:gd name="T4" fmla="*/ 40 w 461"/>
                <a:gd name="T5" fmla="*/ 140 h 255"/>
                <a:gd name="T6" fmla="*/ 70 w 461"/>
                <a:gd name="T7" fmla="*/ 168 h 255"/>
                <a:gd name="T8" fmla="*/ 82 w 461"/>
                <a:gd name="T9" fmla="*/ 192 h 255"/>
                <a:gd name="T10" fmla="*/ 94 w 461"/>
                <a:gd name="T11" fmla="*/ 221 h 255"/>
                <a:gd name="T12" fmla="*/ 106 w 461"/>
                <a:gd name="T13" fmla="*/ 245 h 255"/>
                <a:gd name="T14" fmla="*/ 112 w 461"/>
                <a:gd name="T15" fmla="*/ 250 h 255"/>
                <a:gd name="T16" fmla="*/ 118 w 461"/>
                <a:gd name="T17" fmla="*/ 255 h 255"/>
                <a:gd name="T18" fmla="*/ 124 w 461"/>
                <a:gd name="T19" fmla="*/ 250 h 255"/>
                <a:gd name="T20" fmla="*/ 130 w 461"/>
                <a:gd name="T21" fmla="*/ 245 h 255"/>
                <a:gd name="T22" fmla="*/ 142 w 461"/>
                <a:gd name="T23" fmla="*/ 216 h 255"/>
                <a:gd name="T24" fmla="*/ 154 w 461"/>
                <a:gd name="T25" fmla="*/ 188 h 255"/>
                <a:gd name="T26" fmla="*/ 160 w 461"/>
                <a:gd name="T27" fmla="*/ 173 h 255"/>
                <a:gd name="T28" fmla="*/ 166 w 461"/>
                <a:gd name="T29" fmla="*/ 164 h 255"/>
                <a:gd name="T30" fmla="*/ 178 w 461"/>
                <a:gd name="T31" fmla="*/ 149 h 255"/>
                <a:gd name="T32" fmla="*/ 196 w 461"/>
                <a:gd name="T33" fmla="*/ 140 h 255"/>
                <a:gd name="T34" fmla="*/ 226 w 461"/>
                <a:gd name="T35" fmla="*/ 125 h 255"/>
                <a:gd name="T36" fmla="*/ 244 w 461"/>
                <a:gd name="T37" fmla="*/ 120 h 255"/>
                <a:gd name="T38" fmla="*/ 262 w 461"/>
                <a:gd name="T39" fmla="*/ 116 h 255"/>
                <a:gd name="T40" fmla="*/ 280 w 461"/>
                <a:gd name="T41" fmla="*/ 116 h 255"/>
                <a:gd name="T42" fmla="*/ 298 w 461"/>
                <a:gd name="T43" fmla="*/ 106 h 255"/>
                <a:gd name="T44" fmla="*/ 304 w 461"/>
                <a:gd name="T45" fmla="*/ 96 h 255"/>
                <a:gd name="T46" fmla="*/ 316 w 461"/>
                <a:gd name="T47" fmla="*/ 77 h 255"/>
                <a:gd name="T48" fmla="*/ 322 w 461"/>
                <a:gd name="T49" fmla="*/ 58 h 255"/>
                <a:gd name="T50" fmla="*/ 328 w 461"/>
                <a:gd name="T51" fmla="*/ 44 h 255"/>
                <a:gd name="T52" fmla="*/ 340 w 461"/>
                <a:gd name="T53" fmla="*/ 29 h 255"/>
                <a:gd name="T54" fmla="*/ 352 w 461"/>
                <a:gd name="T55" fmla="*/ 15 h 255"/>
                <a:gd name="T56" fmla="*/ 364 w 461"/>
                <a:gd name="T57" fmla="*/ 5 h 255"/>
                <a:gd name="T58" fmla="*/ 376 w 461"/>
                <a:gd name="T59" fmla="*/ 0 h 255"/>
                <a:gd name="T60" fmla="*/ 388 w 461"/>
                <a:gd name="T61" fmla="*/ 5 h 255"/>
                <a:gd name="T62" fmla="*/ 394 w 461"/>
                <a:gd name="T63" fmla="*/ 20 h 255"/>
                <a:gd name="T64" fmla="*/ 400 w 461"/>
                <a:gd name="T65" fmla="*/ 39 h 255"/>
                <a:gd name="T66" fmla="*/ 406 w 461"/>
                <a:gd name="T67" fmla="*/ 53 h 255"/>
                <a:gd name="T68" fmla="*/ 412 w 461"/>
                <a:gd name="T69" fmla="*/ 63 h 255"/>
                <a:gd name="T70" fmla="*/ 412 w 461"/>
                <a:gd name="T71" fmla="*/ 77 h 255"/>
                <a:gd name="T72" fmla="*/ 418 w 461"/>
                <a:gd name="T73" fmla="*/ 96 h 255"/>
                <a:gd name="T74" fmla="*/ 443 w 461"/>
                <a:gd name="T75" fmla="*/ 111 h 255"/>
                <a:gd name="T76" fmla="*/ 455 w 461"/>
                <a:gd name="T77" fmla="*/ 120 h 255"/>
                <a:gd name="T78" fmla="*/ 461 w 461"/>
                <a:gd name="T79" fmla="*/ 125 h 25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61"/>
                <a:gd name="T121" fmla="*/ 0 h 255"/>
                <a:gd name="T122" fmla="*/ 461 w 461"/>
                <a:gd name="T123" fmla="*/ 255 h 25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61" h="255">
                  <a:moveTo>
                    <a:pt x="0" y="130"/>
                  </a:moveTo>
                  <a:lnTo>
                    <a:pt x="22" y="130"/>
                  </a:lnTo>
                  <a:lnTo>
                    <a:pt x="40" y="140"/>
                  </a:lnTo>
                  <a:lnTo>
                    <a:pt x="70" y="168"/>
                  </a:lnTo>
                  <a:lnTo>
                    <a:pt x="82" y="192"/>
                  </a:lnTo>
                  <a:lnTo>
                    <a:pt x="94" y="221"/>
                  </a:lnTo>
                  <a:lnTo>
                    <a:pt x="106" y="245"/>
                  </a:lnTo>
                  <a:lnTo>
                    <a:pt x="112" y="250"/>
                  </a:lnTo>
                  <a:lnTo>
                    <a:pt x="118" y="255"/>
                  </a:lnTo>
                  <a:lnTo>
                    <a:pt x="124" y="250"/>
                  </a:lnTo>
                  <a:lnTo>
                    <a:pt x="130" y="245"/>
                  </a:lnTo>
                  <a:lnTo>
                    <a:pt x="142" y="216"/>
                  </a:lnTo>
                  <a:lnTo>
                    <a:pt x="154" y="188"/>
                  </a:lnTo>
                  <a:lnTo>
                    <a:pt x="160" y="173"/>
                  </a:lnTo>
                  <a:lnTo>
                    <a:pt x="166" y="164"/>
                  </a:lnTo>
                  <a:lnTo>
                    <a:pt x="178" y="149"/>
                  </a:lnTo>
                  <a:lnTo>
                    <a:pt x="196" y="140"/>
                  </a:lnTo>
                  <a:lnTo>
                    <a:pt x="226" y="125"/>
                  </a:lnTo>
                  <a:lnTo>
                    <a:pt x="244" y="120"/>
                  </a:lnTo>
                  <a:lnTo>
                    <a:pt x="262" y="116"/>
                  </a:lnTo>
                  <a:lnTo>
                    <a:pt x="280" y="116"/>
                  </a:lnTo>
                  <a:lnTo>
                    <a:pt x="298" y="106"/>
                  </a:lnTo>
                  <a:lnTo>
                    <a:pt x="304" y="96"/>
                  </a:lnTo>
                  <a:lnTo>
                    <a:pt x="316" y="77"/>
                  </a:lnTo>
                  <a:lnTo>
                    <a:pt x="322" y="58"/>
                  </a:lnTo>
                  <a:lnTo>
                    <a:pt x="328" y="44"/>
                  </a:lnTo>
                  <a:lnTo>
                    <a:pt x="340" y="29"/>
                  </a:lnTo>
                  <a:lnTo>
                    <a:pt x="352" y="15"/>
                  </a:lnTo>
                  <a:lnTo>
                    <a:pt x="364" y="5"/>
                  </a:lnTo>
                  <a:lnTo>
                    <a:pt x="376" y="0"/>
                  </a:lnTo>
                  <a:lnTo>
                    <a:pt x="388" y="5"/>
                  </a:lnTo>
                  <a:lnTo>
                    <a:pt x="394" y="20"/>
                  </a:lnTo>
                  <a:lnTo>
                    <a:pt x="400" y="39"/>
                  </a:lnTo>
                  <a:lnTo>
                    <a:pt x="406" y="53"/>
                  </a:lnTo>
                  <a:lnTo>
                    <a:pt x="412" y="63"/>
                  </a:lnTo>
                  <a:lnTo>
                    <a:pt x="412" y="77"/>
                  </a:lnTo>
                  <a:lnTo>
                    <a:pt x="418" y="96"/>
                  </a:lnTo>
                  <a:lnTo>
                    <a:pt x="443" y="111"/>
                  </a:lnTo>
                  <a:lnTo>
                    <a:pt x="455" y="120"/>
                  </a:lnTo>
                  <a:lnTo>
                    <a:pt x="461" y="125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68" name="Line 185"/>
            <p:cNvSpPr>
              <a:spLocks noChangeShapeType="1"/>
            </p:cNvSpPr>
            <p:nvPr/>
          </p:nvSpPr>
          <p:spPr bwMode="auto">
            <a:xfrm>
              <a:off x="3261" y="2712"/>
              <a:ext cx="1316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69" name="Line 186"/>
            <p:cNvSpPr>
              <a:spLocks noChangeShapeType="1"/>
            </p:cNvSpPr>
            <p:nvPr/>
          </p:nvSpPr>
          <p:spPr bwMode="auto">
            <a:xfrm>
              <a:off x="3261" y="3240"/>
              <a:ext cx="1316" cy="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70" name="Rectangle 187"/>
            <p:cNvSpPr>
              <a:spLocks noChangeArrowheads="1"/>
            </p:cNvSpPr>
            <p:nvPr/>
          </p:nvSpPr>
          <p:spPr bwMode="auto">
            <a:xfrm>
              <a:off x="2640" y="2659"/>
              <a:ext cx="75" cy="2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 b="0" i="1">
                  <a:latin typeface="Times New Roman" panose="02020603050405020304" pitchFamily="18" charset="0"/>
                </a:rPr>
                <a:t>s</a:t>
              </a:r>
              <a:endParaRPr lang="en-US" altLang="zh-CN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207971" name="Rectangle 188"/>
            <p:cNvSpPr>
              <a:spLocks noChangeArrowheads="1"/>
            </p:cNvSpPr>
            <p:nvPr/>
          </p:nvSpPr>
          <p:spPr bwMode="auto">
            <a:xfrm>
              <a:off x="4668" y="2659"/>
              <a:ext cx="75" cy="2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 b="0" i="1">
                  <a:latin typeface="Times New Roman" panose="02020603050405020304" pitchFamily="18" charset="0"/>
                </a:rPr>
                <a:t>s</a:t>
              </a:r>
              <a:endParaRPr lang="en-US" altLang="zh-CN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207972" name="Rectangle 189"/>
            <p:cNvSpPr>
              <a:spLocks noChangeArrowheads="1"/>
            </p:cNvSpPr>
            <p:nvPr/>
          </p:nvSpPr>
          <p:spPr bwMode="auto">
            <a:xfrm>
              <a:off x="2658" y="3192"/>
              <a:ext cx="53" cy="2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 b="0" i="1">
                  <a:latin typeface="Times New Roman" panose="02020603050405020304" pitchFamily="18" charset="0"/>
                </a:rPr>
                <a:t>t</a:t>
              </a:r>
              <a:endParaRPr lang="en-US" altLang="zh-CN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207973" name="Rectangle 190"/>
            <p:cNvSpPr>
              <a:spLocks noChangeArrowheads="1"/>
            </p:cNvSpPr>
            <p:nvPr/>
          </p:nvSpPr>
          <p:spPr bwMode="auto">
            <a:xfrm>
              <a:off x="4710" y="3192"/>
              <a:ext cx="53" cy="2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 b="0" i="1">
                  <a:latin typeface="Times New Roman" panose="02020603050405020304" pitchFamily="18" charset="0"/>
                </a:rPr>
                <a:t>t</a:t>
              </a:r>
              <a:endParaRPr lang="en-US" altLang="zh-CN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207974" name="Rectangle 191"/>
            <p:cNvSpPr>
              <a:spLocks noChangeArrowheads="1"/>
            </p:cNvSpPr>
            <p:nvPr/>
          </p:nvSpPr>
          <p:spPr bwMode="auto">
            <a:xfrm>
              <a:off x="3087" y="2400"/>
              <a:ext cx="100" cy="2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 b="0" i="1">
                  <a:latin typeface="Symbol" panose="05050102010706020507" pitchFamily="18" charset="2"/>
                </a:rPr>
                <a:t>f</a:t>
              </a:r>
              <a:endParaRPr lang="en-US" altLang="zh-CN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207975" name="Rectangle 192"/>
            <p:cNvSpPr>
              <a:spLocks noChangeArrowheads="1"/>
            </p:cNvSpPr>
            <p:nvPr/>
          </p:nvSpPr>
          <p:spPr bwMode="auto">
            <a:xfrm>
              <a:off x="1056" y="2400"/>
              <a:ext cx="100" cy="2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 b="0" i="1">
                  <a:latin typeface="Symbol" panose="05050102010706020507" pitchFamily="18" charset="2"/>
                </a:rPr>
                <a:t>f</a:t>
              </a:r>
              <a:endParaRPr lang="en-US" altLang="zh-CN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207976" name="Rectangle 193"/>
            <p:cNvSpPr>
              <a:spLocks noChangeArrowheads="1"/>
            </p:cNvSpPr>
            <p:nvPr/>
          </p:nvSpPr>
          <p:spPr bwMode="auto">
            <a:xfrm>
              <a:off x="1101" y="2938"/>
              <a:ext cx="85" cy="2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 b="0" i="1">
                  <a:latin typeface="Times New Roman" panose="02020603050405020304" pitchFamily="18" charset="0"/>
                </a:rPr>
                <a:t>e</a:t>
              </a:r>
              <a:endParaRPr lang="en-US" altLang="zh-CN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207977" name="Rectangle 194"/>
            <p:cNvSpPr>
              <a:spLocks noChangeArrowheads="1"/>
            </p:cNvSpPr>
            <p:nvPr/>
          </p:nvSpPr>
          <p:spPr bwMode="auto">
            <a:xfrm>
              <a:off x="3123" y="2938"/>
              <a:ext cx="85" cy="2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 b="0" i="1">
                  <a:latin typeface="Times New Roman" panose="02020603050405020304" pitchFamily="18" charset="0"/>
                </a:rPr>
                <a:t>e</a:t>
              </a:r>
              <a:endParaRPr lang="en-US" altLang="zh-CN" sz="2400" i="1">
                <a:latin typeface="Times New Roman" panose="02020603050405020304" pitchFamily="18" charset="0"/>
              </a:endParaRPr>
            </a:p>
          </p:txBody>
        </p:sp>
        <p:sp>
          <p:nvSpPr>
            <p:cNvPr id="207978" name="Line 195"/>
            <p:cNvSpPr>
              <a:spLocks noChangeShapeType="1"/>
            </p:cNvSpPr>
            <p:nvPr/>
          </p:nvSpPr>
          <p:spPr bwMode="auto">
            <a:xfrm>
              <a:off x="1657" y="1104"/>
              <a:ext cx="6" cy="1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79" name="Line 196"/>
            <p:cNvSpPr>
              <a:spLocks noChangeShapeType="1"/>
            </p:cNvSpPr>
            <p:nvPr/>
          </p:nvSpPr>
          <p:spPr bwMode="auto">
            <a:xfrm flipV="1">
              <a:off x="1236" y="2448"/>
              <a:ext cx="1" cy="50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980" name="Line 197"/>
            <p:cNvSpPr>
              <a:spLocks noChangeShapeType="1"/>
            </p:cNvSpPr>
            <p:nvPr/>
          </p:nvSpPr>
          <p:spPr bwMode="auto">
            <a:xfrm>
              <a:off x="1584" y="2208"/>
              <a:ext cx="0" cy="124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7981" name="Line 198"/>
            <p:cNvSpPr>
              <a:spLocks noChangeShapeType="1"/>
            </p:cNvSpPr>
            <p:nvPr/>
          </p:nvSpPr>
          <p:spPr bwMode="auto">
            <a:xfrm>
              <a:off x="1711" y="2208"/>
              <a:ext cx="0" cy="124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7982" name="Line 199"/>
            <p:cNvSpPr>
              <a:spLocks noChangeShapeType="1"/>
            </p:cNvSpPr>
            <p:nvPr/>
          </p:nvSpPr>
          <p:spPr bwMode="auto">
            <a:xfrm>
              <a:off x="1968" y="2208"/>
              <a:ext cx="0" cy="124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7983" name="Line 200"/>
            <p:cNvSpPr>
              <a:spLocks noChangeShapeType="1"/>
            </p:cNvSpPr>
            <p:nvPr/>
          </p:nvSpPr>
          <p:spPr bwMode="auto">
            <a:xfrm>
              <a:off x="2085" y="2208"/>
              <a:ext cx="0" cy="124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7984" name="Line 201"/>
            <p:cNvSpPr>
              <a:spLocks noChangeShapeType="1"/>
            </p:cNvSpPr>
            <p:nvPr/>
          </p:nvSpPr>
          <p:spPr bwMode="auto">
            <a:xfrm>
              <a:off x="3581" y="2256"/>
              <a:ext cx="0" cy="124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7985" name="Line 202"/>
            <p:cNvSpPr>
              <a:spLocks noChangeShapeType="1"/>
            </p:cNvSpPr>
            <p:nvPr/>
          </p:nvSpPr>
          <p:spPr bwMode="auto">
            <a:xfrm>
              <a:off x="3697" y="2256"/>
              <a:ext cx="0" cy="124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7986" name="Line 203"/>
            <p:cNvSpPr>
              <a:spLocks noChangeShapeType="1"/>
            </p:cNvSpPr>
            <p:nvPr/>
          </p:nvSpPr>
          <p:spPr bwMode="auto">
            <a:xfrm>
              <a:off x="3951" y="2256"/>
              <a:ext cx="0" cy="124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7987" name="Line 204"/>
            <p:cNvSpPr>
              <a:spLocks noChangeShapeType="1"/>
            </p:cNvSpPr>
            <p:nvPr/>
          </p:nvSpPr>
          <p:spPr bwMode="auto">
            <a:xfrm>
              <a:off x="4069" y="2256"/>
              <a:ext cx="0" cy="124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7988" name="Text Box 205"/>
            <p:cNvSpPr txBox="1">
              <a:spLocks noChangeArrowheads="1"/>
            </p:cNvSpPr>
            <p:nvPr/>
          </p:nvSpPr>
          <p:spPr bwMode="auto">
            <a:xfrm>
              <a:off x="1430" y="3729"/>
              <a:ext cx="84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读出</a:t>
              </a:r>
              <a:r>
                <a:rPr lang="en-US" altLang="zh-CN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 “0”</a:t>
              </a:r>
            </a:p>
          </p:txBody>
        </p:sp>
        <p:sp>
          <p:nvSpPr>
            <p:cNvPr id="207989" name="Text Box 206"/>
            <p:cNvSpPr txBox="1">
              <a:spLocks noChangeArrowheads="1"/>
            </p:cNvSpPr>
            <p:nvPr/>
          </p:nvSpPr>
          <p:spPr bwMode="auto">
            <a:xfrm>
              <a:off x="3408" y="3751"/>
              <a:ext cx="84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读出 “1”</a:t>
              </a:r>
            </a:p>
          </p:txBody>
        </p:sp>
      </p:grpSp>
      <p:sp>
        <p:nvSpPr>
          <p:cNvPr id="299215" name="Rectangle 207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4.4</a:t>
            </a:r>
          </a:p>
        </p:txBody>
      </p:sp>
      <p:sp>
        <p:nvSpPr>
          <p:cNvPr id="299216" name="Text Box 208"/>
          <p:cNvSpPr txBox="1">
            <a:spLocks noChangeArrowheads="1"/>
          </p:cNvSpPr>
          <p:nvPr/>
        </p:nvSpPr>
        <p:spPr bwMode="auto">
          <a:xfrm>
            <a:off x="931863" y="1042988"/>
            <a:ext cx="59213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solidFill>
                  <a:schemeClr val="folHlink"/>
                </a:solidFill>
                <a:latin typeface="Times New Roman" panose="02020603050405020304" pitchFamily="18" charset="0"/>
              </a:rPr>
              <a:t>读</a:t>
            </a:r>
          </a:p>
        </p:txBody>
      </p:sp>
      <p:sp>
        <p:nvSpPr>
          <p:cNvPr id="207877" name="Text Box 209"/>
          <p:cNvSpPr txBox="1">
            <a:spLocks noChangeArrowheads="1"/>
          </p:cNvSpPr>
          <p:nvPr/>
        </p:nvSpPr>
        <p:spPr bwMode="auto">
          <a:xfrm>
            <a:off x="468313" y="333375"/>
            <a:ext cx="263048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1. 磁记录原理</a:t>
            </a:r>
          </a:p>
        </p:txBody>
      </p:sp>
      <p:sp>
        <p:nvSpPr>
          <p:cNvPr id="207878" name="AutoShape 210">
            <a:hlinkClick r:id="rId4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99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9216" grpId="0" autoUpdateAnimBg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Text Box 2"/>
          <p:cNvSpPr txBox="1">
            <a:spLocks noChangeArrowheads="1"/>
          </p:cNvSpPr>
          <p:nvPr/>
        </p:nvSpPr>
        <p:spPr bwMode="auto">
          <a:xfrm>
            <a:off x="746125" y="228600"/>
            <a:ext cx="50784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2. 磁表面存储器的记录方式</a:t>
            </a:r>
          </a:p>
        </p:txBody>
      </p:sp>
      <p:grpSp>
        <p:nvGrpSpPr>
          <p:cNvPr id="208899" name="Group 4"/>
          <p:cNvGrpSpPr/>
          <p:nvPr/>
        </p:nvGrpSpPr>
        <p:grpSpPr bwMode="auto">
          <a:xfrm>
            <a:off x="212725" y="1143000"/>
            <a:ext cx="8169275" cy="5353050"/>
            <a:chOff x="134" y="720"/>
            <a:chExt cx="5146" cy="3372"/>
          </a:xfrm>
        </p:grpSpPr>
        <p:sp>
          <p:nvSpPr>
            <p:cNvPr id="208909" name="Line 5"/>
            <p:cNvSpPr>
              <a:spLocks noChangeShapeType="1"/>
            </p:cNvSpPr>
            <p:nvPr/>
          </p:nvSpPr>
          <p:spPr bwMode="auto">
            <a:xfrm>
              <a:off x="1008" y="897"/>
              <a:ext cx="0" cy="315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8910" name="Line 6"/>
            <p:cNvSpPr>
              <a:spLocks noChangeShapeType="1"/>
            </p:cNvSpPr>
            <p:nvPr/>
          </p:nvSpPr>
          <p:spPr bwMode="auto">
            <a:xfrm>
              <a:off x="1482" y="897"/>
              <a:ext cx="0" cy="315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8911" name="Line 7"/>
            <p:cNvSpPr>
              <a:spLocks noChangeShapeType="1"/>
            </p:cNvSpPr>
            <p:nvPr/>
          </p:nvSpPr>
          <p:spPr bwMode="auto">
            <a:xfrm>
              <a:off x="1957" y="897"/>
              <a:ext cx="0" cy="315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8912" name="Line 8"/>
            <p:cNvSpPr>
              <a:spLocks noChangeShapeType="1"/>
            </p:cNvSpPr>
            <p:nvPr/>
          </p:nvSpPr>
          <p:spPr bwMode="auto">
            <a:xfrm>
              <a:off x="2432" y="897"/>
              <a:ext cx="0" cy="315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8913" name="Line 9"/>
            <p:cNvSpPr>
              <a:spLocks noChangeShapeType="1"/>
            </p:cNvSpPr>
            <p:nvPr/>
          </p:nvSpPr>
          <p:spPr bwMode="auto">
            <a:xfrm>
              <a:off x="2906" y="897"/>
              <a:ext cx="0" cy="315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8914" name="Line 10"/>
            <p:cNvSpPr>
              <a:spLocks noChangeShapeType="1"/>
            </p:cNvSpPr>
            <p:nvPr/>
          </p:nvSpPr>
          <p:spPr bwMode="auto">
            <a:xfrm>
              <a:off x="3381" y="897"/>
              <a:ext cx="0" cy="315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8915" name="Line 11"/>
            <p:cNvSpPr>
              <a:spLocks noChangeShapeType="1"/>
            </p:cNvSpPr>
            <p:nvPr/>
          </p:nvSpPr>
          <p:spPr bwMode="auto">
            <a:xfrm>
              <a:off x="3856" y="897"/>
              <a:ext cx="0" cy="315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8916" name="Line 12"/>
            <p:cNvSpPr>
              <a:spLocks noChangeShapeType="1"/>
            </p:cNvSpPr>
            <p:nvPr/>
          </p:nvSpPr>
          <p:spPr bwMode="auto">
            <a:xfrm>
              <a:off x="4330" y="897"/>
              <a:ext cx="0" cy="315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8917" name="Line 13"/>
            <p:cNvSpPr>
              <a:spLocks noChangeShapeType="1"/>
            </p:cNvSpPr>
            <p:nvPr/>
          </p:nvSpPr>
          <p:spPr bwMode="auto">
            <a:xfrm>
              <a:off x="4805" y="897"/>
              <a:ext cx="0" cy="315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8918" name="Line 14"/>
            <p:cNvSpPr>
              <a:spLocks noChangeShapeType="1"/>
            </p:cNvSpPr>
            <p:nvPr/>
          </p:nvSpPr>
          <p:spPr bwMode="auto">
            <a:xfrm>
              <a:off x="5280" y="897"/>
              <a:ext cx="0" cy="315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208919" name="Group 15"/>
            <p:cNvGrpSpPr/>
            <p:nvPr/>
          </p:nvGrpSpPr>
          <p:grpSpPr bwMode="auto">
            <a:xfrm>
              <a:off x="1008" y="1255"/>
              <a:ext cx="4272" cy="399"/>
              <a:chOff x="1008" y="815"/>
              <a:chExt cx="4272" cy="481"/>
            </a:xfrm>
          </p:grpSpPr>
          <p:sp>
            <p:nvSpPr>
              <p:cNvPr id="208959" name="Freeform 16"/>
              <p:cNvSpPr/>
              <p:nvPr/>
            </p:nvSpPr>
            <p:spPr bwMode="auto">
              <a:xfrm>
                <a:off x="1008" y="1056"/>
                <a:ext cx="480" cy="240"/>
              </a:xfrm>
              <a:custGeom>
                <a:avLst/>
                <a:gdLst>
                  <a:gd name="T0" fmla="*/ 0 w 480"/>
                  <a:gd name="T1" fmla="*/ 0 h 240"/>
                  <a:gd name="T2" fmla="*/ 144 w 480"/>
                  <a:gd name="T3" fmla="*/ 0 h 240"/>
                  <a:gd name="T4" fmla="*/ 144 w 480"/>
                  <a:gd name="T5" fmla="*/ 240 h 240"/>
                  <a:gd name="T6" fmla="*/ 321 w 480"/>
                  <a:gd name="T7" fmla="*/ 240 h 240"/>
                  <a:gd name="T8" fmla="*/ 323 w 480"/>
                  <a:gd name="T9" fmla="*/ 0 h 240"/>
                  <a:gd name="T10" fmla="*/ 480 w 480"/>
                  <a:gd name="T11" fmla="*/ 0 h 2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80"/>
                  <a:gd name="T19" fmla="*/ 0 h 240"/>
                  <a:gd name="T20" fmla="*/ 480 w 480"/>
                  <a:gd name="T21" fmla="*/ 240 h 24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80" h="240">
                    <a:moveTo>
                      <a:pt x="0" y="0"/>
                    </a:moveTo>
                    <a:lnTo>
                      <a:pt x="144" y="0"/>
                    </a:lnTo>
                    <a:lnTo>
                      <a:pt x="144" y="240"/>
                    </a:lnTo>
                    <a:lnTo>
                      <a:pt x="321" y="240"/>
                    </a:lnTo>
                    <a:lnTo>
                      <a:pt x="323" y="0"/>
                    </a:lnTo>
                    <a:lnTo>
                      <a:pt x="48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08960" name="Freeform 17"/>
              <p:cNvSpPr/>
              <p:nvPr/>
            </p:nvSpPr>
            <p:spPr bwMode="auto">
              <a:xfrm rot="10800000">
                <a:off x="1968" y="816"/>
                <a:ext cx="480" cy="240"/>
              </a:xfrm>
              <a:custGeom>
                <a:avLst/>
                <a:gdLst>
                  <a:gd name="T0" fmla="*/ 0 w 480"/>
                  <a:gd name="T1" fmla="*/ 0 h 240"/>
                  <a:gd name="T2" fmla="*/ 144 w 480"/>
                  <a:gd name="T3" fmla="*/ 0 h 240"/>
                  <a:gd name="T4" fmla="*/ 144 w 480"/>
                  <a:gd name="T5" fmla="*/ 240 h 240"/>
                  <a:gd name="T6" fmla="*/ 321 w 480"/>
                  <a:gd name="T7" fmla="*/ 240 h 240"/>
                  <a:gd name="T8" fmla="*/ 323 w 480"/>
                  <a:gd name="T9" fmla="*/ 0 h 240"/>
                  <a:gd name="T10" fmla="*/ 480 w 480"/>
                  <a:gd name="T11" fmla="*/ 0 h 2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80"/>
                  <a:gd name="T19" fmla="*/ 0 h 240"/>
                  <a:gd name="T20" fmla="*/ 480 w 480"/>
                  <a:gd name="T21" fmla="*/ 240 h 24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80" h="240">
                    <a:moveTo>
                      <a:pt x="0" y="0"/>
                    </a:moveTo>
                    <a:lnTo>
                      <a:pt x="144" y="0"/>
                    </a:lnTo>
                    <a:lnTo>
                      <a:pt x="144" y="240"/>
                    </a:lnTo>
                    <a:lnTo>
                      <a:pt x="321" y="240"/>
                    </a:lnTo>
                    <a:lnTo>
                      <a:pt x="323" y="0"/>
                    </a:lnTo>
                    <a:lnTo>
                      <a:pt x="48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08961" name="Freeform 18"/>
              <p:cNvSpPr/>
              <p:nvPr/>
            </p:nvSpPr>
            <p:spPr bwMode="auto">
              <a:xfrm rot="10800000">
                <a:off x="2448" y="816"/>
                <a:ext cx="480" cy="240"/>
              </a:xfrm>
              <a:custGeom>
                <a:avLst/>
                <a:gdLst>
                  <a:gd name="T0" fmla="*/ 0 w 480"/>
                  <a:gd name="T1" fmla="*/ 0 h 240"/>
                  <a:gd name="T2" fmla="*/ 144 w 480"/>
                  <a:gd name="T3" fmla="*/ 0 h 240"/>
                  <a:gd name="T4" fmla="*/ 144 w 480"/>
                  <a:gd name="T5" fmla="*/ 240 h 240"/>
                  <a:gd name="T6" fmla="*/ 321 w 480"/>
                  <a:gd name="T7" fmla="*/ 240 h 240"/>
                  <a:gd name="T8" fmla="*/ 323 w 480"/>
                  <a:gd name="T9" fmla="*/ 0 h 240"/>
                  <a:gd name="T10" fmla="*/ 480 w 480"/>
                  <a:gd name="T11" fmla="*/ 0 h 2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80"/>
                  <a:gd name="T19" fmla="*/ 0 h 240"/>
                  <a:gd name="T20" fmla="*/ 480 w 480"/>
                  <a:gd name="T21" fmla="*/ 240 h 24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80" h="240">
                    <a:moveTo>
                      <a:pt x="0" y="0"/>
                    </a:moveTo>
                    <a:lnTo>
                      <a:pt x="144" y="0"/>
                    </a:lnTo>
                    <a:lnTo>
                      <a:pt x="144" y="240"/>
                    </a:lnTo>
                    <a:lnTo>
                      <a:pt x="321" y="240"/>
                    </a:lnTo>
                    <a:lnTo>
                      <a:pt x="323" y="0"/>
                    </a:lnTo>
                    <a:lnTo>
                      <a:pt x="48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08962" name="Freeform 19"/>
              <p:cNvSpPr/>
              <p:nvPr/>
            </p:nvSpPr>
            <p:spPr bwMode="auto">
              <a:xfrm rot="10800000">
                <a:off x="4320" y="816"/>
                <a:ext cx="480" cy="240"/>
              </a:xfrm>
              <a:custGeom>
                <a:avLst/>
                <a:gdLst>
                  <a:gd name="T0" fmla="*/ 0 w 480"/>
                  <a:gd name="T1" fmla="*/ 0 h 240"/>
                  <a:gd name="T2" fmla="*/ 144 w 480"/>
                  <a:gd name="T3" fmla="*/ 0 h 240"/>
                  <a:gd name="T4" fmla="*/ 144 w 480"/>
                  <a:gd name="T5" fmla="*/ 240 h 240"/>
                  <a:gd name="T6" fmla="*/ 321 w 480"/>
                  <a:gd name="T7" fmla="*/ 240 h 240"/>
                  <a:gd name="T8" fmla="*/ 323 w 480"/>
                  <a:gd name="T9" fmla="*/ 0 h 240"/>
                  <a:gd name="T10" fmla="*/ 480 w 480"/>
                  <a:gd name="T11" fmla="*/ 0 h 2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80"/>
                  <a:gd name="T19" fmla="*/ 0 h 240"/>
                  <a:gd name="T20" fmla="*/ 480 w 480"/>
                  <a:gd name="T21" fmla="*/ 240 h 24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80" h="240">
                    <a:moveTo>
                      <a:pt x="0" y="0"/>
                    </a:moveTo>
                    <a:lnTo>
                      <a:pt x="144" y="0"/>
                    </a:lnTo>
                    <a:lnTo>
                      <a:pt x="144" y="240"/>
                    </a:lnTo>
                    <a:lnTo>
                      <a:pt x="321" y="240"/>
                    </a:lnTo>
                    <a:lnTo>
                      <a:pt x="323" y="0"/>
                    </a:lnTo>
                    <a:lnTo>
                      <a:pt x="48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08963" name="Freeform 20"/>
              <p:cNvSpPr/>
              <p:nvPr/>
            </p:nvSpPr>
            <p:spPr bwMode="auto">
              <a:xfrm>
                <a:off x="1487" y="815"/>
                <a:ext cx="480" cy="240"/>
              </a:xfrm>
              <a:custGeom>
                <a:avLst/>
                <a:gdLst>
                  <a:gd name="T0" fmla="*/ 480 w 480"/>
                  <a:gd name="T1" fmla="*/ 240 h 240"/>
                  <a:gd name="T2" fmla="*/ 336 w 480"/>
                  <a:gd name="T3" fmla="*/ 240 h 240"/>
                  <a:gd name="T4" fmla="*/ 336 w 480"/>
                  <a:gd name="T5" fmla="*/ 0 h 240"/>
                  <a:gd name="T6" fmla="*/ 157 w 480"/>
                  <a:gd name="T7" fmla="*/ 1 h 240"/>
                  <a:gd name="T8" fmla="*/ 157 w 480"/>
                  <a:gd name="T9" fmla="*/ 240 h 240"/>
                  <a:gd name="T10" fmla="*/ 0 w 480"/>
                  <a:gd name="T11" fmla="*/ 240 h 2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80"/>
                  <a:gd name="T19" fmla="*/ 0 h 240"/>
                  <a:gd name="T20" fmla="*/ 480 w 480"/>
                  <a:gd name="T21" fmla="*/ 240 h 24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80" h="240">
                    <a:moveTo>
                      <a:pt x="480" y="240"/>
                    </a:moveTo>
                    <a:lnTo>
                      <a:pt x="336" y="240"/>
                    </a:lnTo>
                    <a:lnTo>
                      <a:pt x="336" y="0"/>
                    </a:lnTo>
                    <a:lnTo>
                      <a:pt x="157" y="1"/>
                    </a:lnTo>
                    <a:lnTo>
                      <a:pt x="157" y="240"/>
                    </a:lnTo>
                    <a:lnTo>
                      <a:pt x="0" y="24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08964" name="Freeform 21"/>
              <p:cNvSpPr/>
              <p:nvPr/>
            </p:nvSpPr>
            <p:spPr bwMode="auto">
              <a:xfrm>
                <a:off x="2928" y="1056"/>
                <a:ext cx="480" cy="240"/>
              </a:xfrm>
              <a:custGeom>
                <a:avLst/>
                <a:gdLst>
                  <a:gd name="T0" fmla="*/ 0 w 480"/>
                  <a:gd name="T1" fmla="*/ 0 h 240"/>
                  <a:gd name="T2" fmla="*/ 144 w 480"/>
                  <a:gd name="T3" fmla="*/ 0 h 240"/>
                  <a:gd name="T4" fmla="*/ 144 w 480"/>
                  <a:gd name="T5" fmla="*/ 240 h 240"/>
                  <a:gd name="T6" fmla="*/ 324 w 480"/>
                  <a:gd name="T7" fmla="*/ 240 h 240"/>
                  <a:gd name="T8" fmla="*/ 323 w 480"/>
                  <a:gd name="T9" fmla="*/ 0 h 240"/>
                  <a:gd name="T10" fmla="*/ 480 w 480"/>
                  <a:gd name="T11" fmla="*/ 0 h 2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80"/>
                  <a:gd name="T19" fmla="*/ 0 h 240"/>
                  <a:gd name="T20" fmla="*/ 480 w 480"/>
                  <a:gd name="T21" fmla="*/ 240 h 24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80" h="240">
                    <a:moveTo>
                      <a:pt x="0" y="0"/>
                    </a:moveTo>
                    <a:lnTo>
                      <a:pt x="144" y="0"/>
                    </a:lnTo>
                    <a:lnTo>
                      <a:pt x="144" y="240"/>
                    </a:lnTo>
                    <a:lnTo>
                      <a:pt x="324" y="240"/>
                    </a:lnTo>
                    <a:lnTo>
                      <a:pt x="323" y="0"/>
                    </a:lnTo>
                    <a:lnTo>
                      <a:pt x="48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08965" name="Freeform 22"/>
              <p:cNvSpPr/>
              <p:nvPr/>
            </p:nvSpPr>
            <p:spPr bwMode="auto">
              <a:xfrm>
                <a:off x="3408" y="1056"/>
                <a:ext cx="480" cy="240"/>
              </a:xfrm>
              <a:custGeom>
                <a:avLst/>
                <a:gdLst>
                  <a:gd name="T0" fmla="*/ 0 w 480"/>
                  <a:gd name="T1" fmla="*/ 0 h 240"/>
                  <a:gd name="T2" fmla="*/ 144 w 480"/>
                  <a:gd name="T3" fmla="*/ 0 h 240"/>
                  <a:gd name="T4" fmla="*/ 144 w 480"/>
                  <a:gd name="T5" fmla="*/ 240 h 240"/>
                  <a:gd name="T6" fmla="*/ 321 w 480"/>
                  <a:gd name="T7" fmla="*/ 240 h 240"/>
                  <a:gd name="T8" fmla="*/ 323 w 480"/>
                  <a:gd name="T9" fmla="*/ 0 h 240"/>
                  <a:gd name="T10" fmla="*/ 480 w 480"/>
                  <a:gd name="T11" fmla="*/ 0 h 2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80"/>
                  <a:gd name="T19" fmla="*/ 0 h 240"/>
                  <a:gd name="T20" fmla="*/ 480 w 480"/>
                  <a:gd name="T21" fmla="*/ 240 h 24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80" h="240">
                    <a:moveTo>
                      <a:pt x="0" y="0"/>
                    </a:moveTo>
                    <a:lnTo>
                      <a:pt x="144" y="0"/>
                    </a:lnTo>
                    <a:lnTo>
                      <a:pt x="144" y="240"/>
                    </a:lnTo>
                    <a:lnTo>
                      <a:pt x="321" y="240"/>
                    </a:lnTo>
                    <a:lnTo>
                      <a:pt x="323" y="0"/>
                    </a:lnTo>
                    <a:lnTo>
                      <a:pt x="48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08966" name="Freeform 23"/>
              <p:cNvSpPr/>
              <p:nvPr/>
            </p:nvSpPr>
            <p:spPr bwMode="auto">
              <a:xfrm>
                <a:off x="3888" y="1056"/>
                <a:ext cx="480" cy="240"/>
              </a:xfrm>
              <a:custGeom>
                <a:avLst/>
                <a:gdLst>
                  <a:gd name="T0" fmla="*/ 0 w 480"/>
                  <a:gd name="T1" fmla="*/ 0 h 240"/>
                  <a:gd name="T2" fmla="*/ 144 w 480"/>
                  <a:gd name="T3" fmla="*/ 0 h 240"/>
                  <a:gd name="T4" fmla="*/ 144 w 480"/>
                  <a:gd name="T5" fmla="*/ 240 h 240"/>
                  <a:gd name="T6" fmla="*/ 321 w 480"/>
                  <a:gd name="T7" fmla="*/ 240 h 240"/>
                  <a:gd name="T8" fmla="*/ 323 w 480"/>
                  <a:gd name="T9" fmla="*/ 0 h 240"/>
                  <a:gd name="T10" fmla="*/ 480 w 480"/>
                  <a:gd name="T11" fmla="*/ 0 h 2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80"/>
                  <a:gd name="T19" fmla="*/ 0 h 240"/>
                  <a:gd name="T20" fmla="*/ 480 w 480"/>
                  <a:gd name="T21" fmla="*/ 240 h 24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80" h="240">
                    <a:moveTo>
                      <a:pt x="0" y="0"/>
                    </a:moveTo>
                    <a:lnTo>
                      <a:pt x="144" y="0"/>
                    </a:lnTo>
                    <a:lnTo>
                      <a:pt x="144" y="240"/>
                    </a:lnTo>
                    <a:lnTo>
                      <a:pt x="321" y="240"/>
                    </a:lnTo>
                    <a:lnTo>
                      <a:pt x="323" y="0"/>
                    </a:lnTo>
                    <a:lnTo>
                      <a:pt x="48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08967" name="Freeform 24"/>
              <p:cNvSpPr/>
              <p:nvPr/>
            </p:nvSpPr>
            <p:spPr bwMode="auto">
              <a:xfrm>
                <a:off x="4800" y="1056"/>
                <a:ext cx="480" cy="240"/>
              </a:xfrm>
              <a:custGeom>
                <a:avLst/>
                <a:gdLst>
                  <a:gd name="T0" fmla="*/ 0 w 480"/>
                  <a:gd name="T1" fmla="*/ 0 h 240"/>
                  <a:gd name="T2" fmla="*/ 144 w 480"/>
                  <a:gd name="T3" fmla="*/ 0 h 240"/>
                  <a:gd name="T4" fmla="*/ 144 w 480"/>
                  <a:gd name="T5" fmla="*/ 240 h 240"/>
                  <a:gd name="T6" fmla="*/ 324 w 480"/>
                  <a:gd name="T7" fmla="*/ 240 h 240"/>
                  <a:gd name="T8" fmla="*/ 323 w 480"/>
                  <a:gd name="T9" fmla="*/ 0 h 240"/>
                  <a:gd name="T10" fmla="*/ 480 w 480"/>
                  <a:gd name="T11" fmla="*/ 0 h 2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80"/>
                  <a:gd name="T19" fmla="*/ 0 h 240"/>
                  <a:gd name="T20" fmla="*/ 480 w 480"/>
                  <a:gd name="T21" fmla="*/ 240 h 24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80" h="240">
                    <a:moveTo>
                      <a:pt x="0" y="0"/>
                    </a:moveTo>
                    <a:lnTo>
                      <a:pt x="144" y="0"/>
                    </a:lnTo>
                    <a:lnTo>
                      <a:pt x="144" y="240"/>
                    </a:lnTo>
                    <a:lnTo>
                      <a:pt x="324" y="240"/>
                    </a:lnTo>
                    <a:lnTo>
                      <a:pt x="323" y="0"/>
                    </a:lnTo>
                    <a:lnTo>
                      <a:pt x="48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208920" name="Freeform 25"/>
            <p:cNvSpPr/>
            <p:nvPr/>
          </p:nvSpPr>
          <p:spPr bwMode="auto">
            <a:xfrm>
              <a:off x="1008" y="1766"/>
              <a:ext cx="4272" cy="331"/>
            </a:xfrm>
            <a:custGeom>
              <a:avLst/>
              <a:gdLst>
                <a:gd name="T0" fmla="*/ 0 w 4272"/>
                <a:gd name="T1" fmla="*/ 321 h 331"/>
                <a:gd name="T2" fmla="*/ 474 w 4272"/>
                <a:gd name="T3" fmla="*/ 321 h 331"/>
                <a:gd name="T4" fmla="*/ 474 w 4272"/>
                <a:gd name="T5" fmla="*/ 2 h 331"/>
                <a:gd name="T6" fmla="*/ 1893 w 4272"/>
                <a:gd name="T7" fmla="*/ 2 h 331"/>
                <a:gd name="T8" fmla="*/ 1893 w 4272"/>
                <a:gd name="T9" fmla="*/ 326 h 331"/>
                <a:gd name="T10" fmla="*/ 3321 w 4272"/>
                <a:gd name="T11" fmla="*/ 331 h 331"/>
                <a:gd name="T12" fmla="*/ 3321 w 4272"/>
                <a:gd name="T13" fmla="*/ 0 h 331"/>
                <a:gd name="T14" fmla="*/ 3795 w 4272"/>
                <a:gd name="T15" fmla="*/ 0 h 331"/>
                <a:gd name="T16" fmla="*/ 3798 w 4272"/>
                <a:gd name="T17" fmla="*/ 321 h 331"/>
                <a:gd name="T18" fmla="*/ 4272 w 4272"/>
                <a:gd name="T19" fmla="*/ 321 h 3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272"/>
                <a:gd name="T31" fmla="*/ 0 h 331"/>
                <a:gd name="T32" fmla="*/ 4272 w 4272"/>
                <a:gd name="T33" fmla="*/ 331 h 3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272" h="331">
                  <a:moveTo>
                    <a:pt x="0" y="321"/>
                  </a:moveTo>
                  <a:lnTo>
                    <a:pt x="474" y="321"/>
                  </a:lnTo>
                  <a:lnTo>
                    <a:pt x="474" y="2"/>
                  </a:lnTo>
                  <a:lnTo>
                    <a:pt x="1893" y="2"/>
                  </a:lnTo>
                  <a:lnTo>
                    <a:pt x="1893" y="326"/>
                  </a:lnTo>
                  <a:lnTo>
                    <a:pt x="3321" y="331"/>
                  </a:lnTo>
                  <a:lnTo>
                    <a:pt x="3321" y="0"/>
                  </a:lnTo>
                  <a:lnTo>
                    <a:pt x="3795" y="0"/>
                  </a:lnTo>
                  <a:lnTo>
                    <a:pt x="3798" y="321"/>
                  </a:lnTo>
                  <a:lnTo>
                    <a:pt x="4272" y="32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8921" name="Freeform 26"/>
            <p:cNvSpPr/>
            <p:nvPr/>
          </p:nvSpPr>
          <p:spPr bwMode="auto">
            <a:xfrm>
              <a:off x="1008" y="2246"/>
              <a:ext cx="4272" cy="323"/>
            </a:xfrm>
            <a:custGeom>
              <a:avLst/>
              <a:gdLst>
                <a:gd name="T0" fmla="*/ 0 w 4272"/>
                <a:gd name="T1" fmla="*/ 28 h 390"/>
                <a:gd name="T2" fmla="*/ 471 w 4272"/>
                <a:gd name="T3" fmla="*/ 28 h 390"/>
                <a:gd name="T4" fmla="*/ 468 w 4272"/>
                <a:gd name="T5" fmla="*/ 2 h 390"/>
                <a:gd name="T6" fmla="*/ 945 w 4272"/>
                <a:gd name="T7" fmla="*/ 2 h 390"/>
                <a:gd name="T8" fmla="*/ 945 w 4272"/>
                <a:gd name="T9" fmla="*/ 28 h 390"/>
                <a:gd name="T10" fmla="*/ 1425 w 4272"/>
                <a:gd name="T11" fmla="*/ 28 h 390"/>
                <a:gd name="T12" fmla="*/ 1425 w 4272"/>
                <a:gd name="T13" fmla="*/ 0 h 390"/>
                <a:gd name="T14" fmla="*/ 3315 w 4272"/>
                <a:gd name="T15" fmla="*/ 2 h 390"/>
                <a:gd name="T16" fmla="*/ 3312 w 4272"/>
                <a:gd name="T17" fmla="*/ 28 h 390"/>
                <a:gd name="T18" fmla="*/ 4272 w 4272"/>
                <a:gd name="T19" fmla="*/ 28 h 3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272"/>
                <a:gd name="T31" fmla="*/ 0 h 390"/>
                <a:gd name="T32" fmla="*/ 4272 w 4272"/>
                <a:gd name="T33" fmla="*/ 390 h 39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272" h="390">
                  <a:moveTo>
                    <a:pt x="0" y="390"/>
                  </a:moveTo>
                  <a:lnTo>
                    <a:pt x="471" y="390"/>
                  </a:lnTo>
                  <a:lnTo>
                    <a:pt x="468" y="6"/>
                  </a:lnTo>
                  <a:lnTo>
                    <a:pt x="945" y="6"/>
                  </a:lnTo>
                  <a:lnTo>
                    <a:pt x="945" y="390"/>
                  </a:lnTo>
                  <a:lnTo>
                    <a:pt x="1425" y="390"/>
                  </a:lnTo>
                  <a:lnTo>
                    <a:pt x="1425" y="0"/>
                  </a:lnTo>
                  <a:lnTo>
                    <a:pt x="3315" y="3"/>
                  </a:lnTo>
                  <a:lnTo>
                    <a:pt x="3312" y="390"/>
                  </a:lnTo>
                  <a:lnTo>
                    <a:pt x="4272" y="39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208922" name="Group 27"/>
            <p:cNvGrpSpPr/>
            <p:nvPr/>
          </p:nvGrpSpPr>
          <p:grpSpPr bwMode="auto">
            <a:xfrm>
              <a:off x="1952" y="2743"/>
              <a:ext cx="2862" cy="364"/>
              <a:chOff x="1952" y="2592"/>
              <a:chExt cx="2862" cy="436"/>
            </a:xfrm>
          </p:grpSpPr>
          <p:sp>
            <p:nvSpPr>
              <p:cNvPr id="208956" name="Freeform 33"/>
              <p:cNvSpPr/>
              <p:nvPr/>
            </p:nvSpPr>
            <p:spPr bwMode="auto">
              <a:xfrm>
                <a:off x="1952" y="2592"/>
                <a:ext cx="474" cy="387"/>
              </a:xfrm>
              <a:custGeom>
                <a:avLst/>
                <a:gdLst>
                  <a:gd name="T0" fmla="*/ 0 w 474"/>
                  <a:gd name="T1" fmla="*/ 384 h 387"/>
                  <a:gd name="T2" fmla="*/ 249 w 474"/>
                  <a:gd name="T3" fmla="*/ 384 h 387"/>
                  <a:gd name="T4" fmla="*/ 246 w 474"/>
                  <a:gd name="T5" fmla="*/ 0 h 387"/>
                  <a:gd name="T6" fmla="*/ 474 w 474"/>
                  <a:gd name="T7" fmla="*/ 0 h 387"/>
                  <a:gd name="T8" fmla="*/ 474 w 474"/>
                  <a:gd name="T9" fmla="*/ 387 h 3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4"/>
                  <a:gd name="T16" fmla="*/ 0 h 387"/>
                  <a:gd name="T17" fmla="*/ 474 w 474"/>
                  <a:gd name="T18" fmla="*/ 387 h 3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4" h="387">
                    <a:moveTo>
                      <a:pt x="0" y="384"/>
                    </a:moveTo>
                    <a:lnTo>
                      <a:pt x="249" y="384"/>
                    </a:lnTo>
                    <a:lnTo>
                      <a:pt x="246" y="0"/>
                    </a:lnTo>
                    <a:lnTo>
                      <a:pt x="474" y="0"/>
                    </a:lnTo>
                    <a:lnTo>
                      <a:pt x="474" y="38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08957" name="Freeform 34"/>
              <p:cNvSpPr/>
              <p:nvPr/>
            </p:nvSpPr>
            <p:spPr bwMode="auto">
              <a:xfrm>
                <a:off x="2426" y="2597"/>
                <a:ext cx="483" cy="385"/>
              </a:xfrm>
              <a:custGeom>
                <a:avLst/>
                <a:gdLst>
                  <a:gd name="T0" fmla="*/ 0 w 483"/>
                  <a:gd name="T1" fmla="*/ 397 h 384"/>
                  <a:gd name="T2" fmla="*/ 252 w 483"/>
                  <a:gd name="T3" fmla="*/ 397 h 384"/>
                  <a:gd name="T4" fmla="*/ 252 w 483"/>
                  <a:gd name="T5" fmla="*/ 0 h 384"/>
                  <a:gd name="T6" fmla="*/ 483 w 483"/>
                  <a:gd name="T7" fmla="*/ 0 h 384"/>
                  <a:gd name="T8" fmla="*/ 483 w 483"/>
                  <a:gd name="T9" fmla="*/ 3 h 3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3"/>
                  <a:gd name="T16" fmla="*/ 0 h 384"/>
                  <a:gd name="T17" fmla="*/ 483 w 483"/>
                  <a:gd name="T18" fmla="*/ 384 h 3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3" h="384">
                    <a:moveTo>
                      <a:pt x="0" y="384"/>
                    </a:moveTo>
                    <a:lnTo>
                      <a:pt x="252" y="384"/>
                    </a:lnTo>
                    <a:lnTo>
                      <a:pt x="252" y="0"/>
                    </a:lnTo>
                    <a:lnTo>
                      <a:pt x="483" y="0"/>
                    </a:lnTo>
                    <a:lnTo>
                      <a:pt x="483" y="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08958" name="Freeform 36"/>
              <p:cNvSpPr/>
              <p:nvPr/>
            </p:nvSpPr>
            <p:spPr bwMode="auto">
              <a:xfrm>
                <a:off x="4331" y="2644"/>
                <a:ext cx="483" cy="384"/>
              </a:xfrm>
              <a:custGeom>
                <a:avLst/>
                <a:gdLst>
                  <a:gd name="T0" fmla="*/ 0 w 483"/>
                  <a:gd name="T1" fmla="*/ 384 h 384"/>
                  <a:gd name="T2" fmla="*/ 252 w 483"/>
                  <a:gd name="T3" fmla="*/ 384 h 384"/>
                  <a:gd name="T4" fmla="*/ 252 w 483"/>
                  <a:gd name="T5" fmla="*/ 0 h 384"/>
                  <a:gd name="T6" fmla="*/ 483 w 483"/>
                  <a:gd name="T7" fmla="*/ 0 h 384"/>
                  <a:gd name="T8" fmla="*/ 483 w 483"/>
                  <a:gd name="T9" fmla="*/ 3 h 3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3"/>
                  <a:gd name="T16" fmla="*/ 0 h 384"/>
                  <a:gd name="T17" fmla="*/ 483 w 483"/>
                  <a:gd name="T18" fmla="*/ 384 h 3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3" h="384">
                    <a:moveTo>
                      <a:pt x="0" y="384"/>
                    </a:moveTo>
                    <a:lnTo>
                      <a:pt x="252" y="384"/>
                    </a:lnTo>
                    <a:lnTo>
                      <a:pt x="252" y="0"/>
                    </a:lnTo>
                    <a:lnTo>
                      <a:pt x="483" y="0"/>
                    </a:lnTo>
                    <a:lnTo>
                      <a:pt x="483" y="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208923" name="Freeform 37"/>
            <p:cNvSpPr/>
            <p:nvPr/>
          </p:nvSpPr>
          <p:spPr bwMode="auto">
            <a:xfrm>
              <a:off x="1008" y="3207"/>
              <a:ext cx="474" cy="318"/>
            </a:xfrm>
            <a:custGeom>
              <a:avLst/>
              <a:gdLst>
                <a:gd name="T0" fmla="*/ 0 w 474"/>
                <a:gd name="T1" fmla="*/ 318 h 318"/>
                <a:gd name="T2" fmla="*/ 474 w 474"/>
                <a:gd name="T3" fmla="*/ 318 h 318"/>
                <a:gd name="T4" fmla="*/ 474 w 474"/>
                <a:gd name="T5" fmla="*/ 0 h 318"/>
                <a:gd name="T6" fmla="*/ 0 60000 65536"/>
                <a:gd name="T7" fmla="*/ 0 60000 65536"/>
                <a:gd name="T8" fmla="*/ 0 60000 65536"/>
                <a:gd name="T9" fmla="*/ 0 w 474"/>
                <a:gd name="T10" fmla="*/ 0 h 318"/>
                <a:gd name="T11" fmla="*/ 474 w 474"/>
                <a:gd name="T12" fmla="*/ 318 h 31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74" h="318">
                  <a:moveTo>
                    <a:pt x="0" y="318"/>
                  </a:moveTo>
                  <a:lnTo>
                    <a:pt x="474" y="318"/>
                  </a:lnTo>
                  <a:lnTo>
                    <a:pt x="474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8924" name="Freeform 38"/>
            <p:cNvSpPr/>
            <p:nvPr/>
          </p:nvSpPr>
          <p:spPr bwMode="auto">
            <a:xfrm>
              <a:off x="1488" y="3206"/>
              <a:ext cx="471" cy="319"/>
            </a:xfrm>
            <a:custGeom>
              <a:avLst/>
              <a:gdLst>
                <a:gd name="T0" fmla="*/ 0 w 471"/>
                <a:gd name="T1" fmla="*/ 0 h 319"/>
                <a:gd name="T2" fmla="*/ 240 w 471"/>
                <a:gd name="T3" fmla="*/ 0 h 319"/>
                <a:gd name="T4" fmla="*/ 240 w 471"/>
                <a:gd name="T5" fmla="*/ 319 h 319"/>
                <a:gd name="T6" fmla="*/ 471 w 471"/>
                <a:gd name="T7" fmla="*/ 319 h 319"/>
                <a:gd name="T8" fmla="*/ 468 w 471"/>
                <a:gd name="T9" fmla="*/ 4 h 3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1"/>
                <a:gd name="T16" fmla="*/ 0 h 319"/>
                <a:gd name="T17" fmla="*/ 471 w 471"/>
                <a:gd name="T18" fmla="*/ 319 h 31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1" h="319">
                  <a:moveTo>
                    <a:pt x="0" y="0"/>
                  </a:moveTo>
                  <a:lnTo>
                    <a:pt x="240" y="0"/>
                  </a:lnTo>
                  <a:lnTo>
                    <a:pt x="240" y="319"/>
                  </a:lnTo>
                  <a:lnTo>
                    <a:pt x="471" y="319"/>
                  </a:lnTo>
                  <a:lnTo>
                    <a:pt x="468" y="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8925" name="Freeform 39"/>
            <p:cNvSpPr/>
            <p:nvPr/>
          </p:nvSpPr>
          <p:spPr bwMode="auto">
            <a:xfrm>
              <a:off x="1956" y="3206"/>
              <a:ext cx="480" cy="319"/>
            </a:xfrm>
            <a:custGeom>
              <a:avLst/>
              <a:gdLst>
                <a:gd name="T0" fmla="*/ 0 w 480"/>
                <a:gd name="T1" fmla="*/ 0 h 384"/>
                <a:gd name="T2" fmla="*/ 240 w 480"/>
                <a:gd name="T3" fmla="*/ 0 h 384"/>
                <a:gd name="T4" fmla="*/ 240 w 480"/>
                <a:gd name="T5" fmla="*/ 29 h 384"/>
                <a:gd name="T6" fmla="*/ 480 w 480"/>
                <a:gd name="T7" fmla="*/ 29 h 384"/>
                <a:gd name="T8" fmla="*/ 480 w 480"/>
                <a:gd name="T9" fmla="*/ 0 h 3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0"/>
                <a:gd name="T16" fmla="*/ 0 h 384"/>
                <a:gd name="T17" fmla="*/ 480 w 480"/>
                <a:gd name="T18" fmla="*/ 384 h 3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0" h="384">
                  <a:moveTo>
                    <a:pt x="0" y="0"/>
                  </a:moveTo>
                  <a:lnTo>
                    <a:pt x="240" y="0"/>
                  </a:lnTo>
                  <a:lnTo>
                    <a:pt x="240" y="384"/>
                  </a:lnTo>
                  <a:lnTo>
                    <a:pt x="480" y="384"/>
                  </a:lnTo>
                  <a:lnTo>
                    <a:pt x="48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8926" name="Freeform 40"/>
            <p:cNvSpPr/>
            <p:nvPr/>
          </p:nvSpPr>
          <p:spPr bwMode="auto">
            <a:xfrm>
              <a:off x="2437" y="3206"/>
              <a:ext cx="470" cy="321"/>
            </a:xfrm>
            <a:custGeom>
              <a:avLst/>
              <a:gdLst>
                <a:gd name="T0" fmla="*/ 0 w 470"/>
                <a:gd name="T1" fmla="*/ 0 h 387"/>
                <a:gd name="T2" fmla="*/ 240 w 470"/>
                <a:gd name="T3" fmla="*/ 0 h 387"/>
                <a:gd name="T4" fmla="*/ 240 w 470"/>
                <a:gd name="T5" fmla="*/ 28 h 387"/>
                <a:gd name="T6" fmla="*/ 470 w 470"/>
                <a:gd name="T7" fmla="*/ 28 h 387"/>
                <a:gd name="T8" fmla="*/ 464 w 470"/>
                <a:gd name="T9" fmla="*/ 28 h 3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0"/>
                <a:gd name="T16" fmla="*/ 0 h 387"/>
                <a:gd name="T17" fmla="*/ 470 w 470"/>
                <a:gd name="T18" fmla="*/ 387 h 38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0" h="387">
                  <a:moveTo>
                    <a:pt x="0" y="0"/>
                  </a:moveTo>
                  <a:lnTo>
                    <a:pt x="240" y="0"/>
                  </a:lnTo>
                  <a:lnTo>
                    <a:pt x="240" y="384"/>
                  </a:lnTo>
                  <a:lnTo>
                    <a:pt x="470" y="384"/>
                  </a:lnTo>
                  <a:lnTo>
                    <a:pt x="464" y="38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8927" name="Freeform 41"/>
            <p:cNvSpPr/>
            <p:nvPr/>
          </p:nvSpPr>
          <p:spPr bwMode="auto">
            <a:xfrm>
              <a:off x="2907" y="3206"/>
              <a:ext cx="1422" cy="322"/>
            </a:xfrm>
            <a:custGeom>
              <a:avLst/>
              <a:gdLst>
                <a:gd name="T0" fmla="*/ 0 w 1422"/>
                <a:gd name="T1" fmla="*/ 319 h 322"/>
                <a:gd name="T2" fmla="*/ 0 w 1422"/>
                <a:gd name="T3" fmla="*/ 0 h 322"/>
                <a:gd name="T4" fmla="*/ 474 w 1422"/>
                <a:gd name="T5" fmla="*/ 0 h 322"/>
                <a:gd name="T6" fmla="*/ 474 w 1422"/>
                <a:gd name="T7" fmla="*/ 319 h 322"/>
                <a:gd name="T8" fmla="*/ 951 w 1422"/>
                <a:gd name="T9" fmla="*/ 322 h 322"/>
                <a:gd name="T10" fmla="*/ 951 w 1422"/>
                <a:gd name="T11" fmla="*/ 2 h 322"/>
                <a:gd name="T12" fmla="*/ 1422 w 1422"/>
                <a:gd name="T13" fmla="*/ 2 h 322"/>
                <a:gd name="T14" fmla="*/ 1422 w 1422"/>
                <a:gd name="T15" fmla="*/ 321 h 3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22"/>
                <a:gd name="T25" fmla="*/ 0 h 322"/>
                <a:gd name="T26" fmla="*/ 1422 w 1422"/>
                <a:gd name="T27" fmla="*/ 322 h 32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22" h="322">
                  <a:moveTo>
                    <a:pt x="0" y="319"/>
                  </a:moveTo>
                  <a:lnTo>
                    <a:pt x="0" y="0"/>
                  </a:lnTo>
                  <a:lnTo>
                    <a:pt x="474" y="0"/>
                  </a:lnTo>
                  <a:lnTo>
                    <a:pt x="474" y="319"/>
                  </a:lnTo>
                  <a:lnTo>
                    <a:pt x="951" y="322"/>
                  </a:lnTo>
                  <a:lnTo>
                    <a:pt x="951" y="2"/>
                  </a:lnTo>
                  <a:lnTo>
                    <a:pt x="1422" y="2"/>
                  </a:lnTo>
                  <a:lnTo>
                    <a:pt x="1422" y="32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8928" name="Freeform 42"/>
            <p:cNvSpPr/>
            <p:nvPr/>
          </p:nvSpPr>
          <p:spPr bwMode="auto">
            <a:xfrm>
              <a:off x="4326" y="3204"/>
              <a:ext cx="480" cy="321"/>
            </a:xfrm>
            <a:custGeom>
              <a:avLst/>
              <a:gdLst>
                <a:gd name="T0" fmla="*/ 0 w 480"/>
                <a:gd name="T1" fmla="*/ 28 h 387"/>
                <a:gd name="T2" fmla="*/ 249 w 480"/>
                <a:gd name="T3" fmla="*/ 28 h 387"/>
                <a:gd name="T4" fmla="*/ 249 w 480"/>
                <a:gd name="T5" fmla="*/ 0 h 387"/>
                <a:gd name="T6" fmla="*/ 480 w 480"/>
                <a:gd name="T7" fmla="*/ 0 h 387"/>
                <a:gd name="T8" fmla="*/ 480 w 480"/>
                <a:gd name="T9" fmla="*/ 28 h 3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0"/>
                <a:gd name="T16" fmla="*/ 0 h 387"/>
                <a:gd name="T17" fmla="*/ 480 w 480"/>
                <a:gd name="T18" fmla="*/ 387 h 38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0" h="387">
                  <a:moveTo>
                    <a:pt x="0" y="387"/>
                  </a:moveTo>
                  <a:lnTo>
                    <a:pt x="249" y="387"/>
                  </a:lnTo>
                  <a:lnTo>
                    <a:pt x="249" y="0"/>
                  </a:lnTo>
                  <a:lnTo>
                    <a:pt x="480" y="0"/>
                  </a:lnTo>
                  <a:lnTo>
                    <a:pt x="480" y="38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8929" name="Line 43"/>
            <p:cNvSpPr>
              <a:spLocks noChangeShapeType="1"/>
            </p:cNvSpPr>
            <p:nvPr/>
          </p:nvSpPr>
          <p:spPr bwMode="auto">
            <a:xfrm>
              <a:off x="4800" y="3525"/>
              <a:ext cx="48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208930" name="Group 44"/>
            <p:cNvGrpSpPr/>
            <p:nvPr/>
          </p:nvGrpSpPr>
          <p:grpSpPr bwMode="auto">
            <a:xfrm>
              <a:off x="1008" y="3681"/>
              <a:ext cx="4269" cy="325"/>
              <a:chOff x="1008" y="3789"/>
              <a:chExt cx="4269" cy="391"/>
            </a:xfrm>
          </p:grpSpPr>
          <p:sp>
            <p:nvSpPr>
              <p:cNvPr id="208949" name="Freeform 45"/>
              <p:cNvSpPr/>
              <p:nvPr/>
            </p:nvSpPr>
            <p:spPr bwMode="auto">
              <a:xfrm>
                <a:off x="1008" y="4179"/>
                <a:ext cx="480" cy="1"/>
              </a:xfrm>
              <a:custGeom>
                <a:avLst/>
                <a:gdLst>
                  <a:gd name="T0" fmla="*/ 0 w 480"/>
                  <a:gd name="T1" fmla="*/ 0 h 1"/>
                  <a:gd name="T2" fmla="*/ 480 w 480"/>
                  <a:gd name="T3" fmla="*/ 0 h 1"/>
                  <a:gd name="T4" fmla="*/ 0 60000 65536"/>
                  <a:gd name="T5" fmla="*/ 0 60000 65536"/>
                  <a:gd name="T6" fmla="*/ 0 w 480"/>
                  <a:gd name="T7" fmla="*/ 0 h 1"/>
                  <a:gd name="T8" fmla="*/ 480 w 480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80" h="1">
                    <a:moveTo>
                      <a:pt x="0" y="0"/>
                    </a:moveTo>
                    <a:lnTo>
                      <a:pt x="48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08950" name="Freeform 46"/>
              <p:cNvSpPr/>
              <p:nvPr/>
            </p:nvSpPr>
            <p:spPr bwMode="auto">
              <a:xfrm>
                <a:off x="1488" y="3792"/>
                <a:ext cx="480" cy="387"/>
              </a:xfrm>
              <a:custGeom>
                <a:avLst/>
                <a:gdLst>
                  <a:gd name="T0" fmla="*/ 0 w 480"/>
                  <a:gd name="T1" fmla="*/ 387 h 387"/>
                  <a:gd name="T2" fmla="*/ 249 w 480"/>
                  <a:gd name="T3" fmla="*/ 387 h 387"/>
                  <a:gd name="T4" fmla="*/ 249 w 480"/>
                  <a:gd name="T5" fmla="*/ 0 h 387"/>
                  <a:gd name="T6" fmla="*/ 480 w 480"/>
                  <a:gd name="T7" fmla="*/ 0 h 387"/>
                  <a:gd name="T8" fmla="*/ 477 w 480"/>
                  <a:gd name="T9" fmla="*/ 6 h 3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0"/>
                  <a:gd name="T16" fmla="*/ 0 h 387"/>
                  <a:gd name="T17" fmla="*/ 480 w 480"/>
                  <a:gd name="T18" fmla="*/ 387 h 3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0" h="387">
                    <a:moveTo>
                      <a:pt x="0" y="387"/>
                    </a:moveTo>
                    <a:lnTo>
                      <a:pt x="249" y="387"/>
                    </a:lnTo>
                    <a:lnTo>
                      <a:pt x="249" y="0"/>
                    </a:lnTo>
                    <a:lnTo>
                      <a:pt x="480" y="0"/>
                    </a:lnTo>
                    <a:lnTo>
                      <a:pt x="477" y="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08951" name="Freeform 47"/>
              <p:cNvSpPr/>
              <p:nvPr/>
            </p:nvSpPr>
            <p:spPr bwMode="auto">
              <a:xfrm>
                <a:off x="1968" y="3792"/>
                <a:ext cx="471" cy="387"/>
              </a:xfrm>
              <a:custGeom>
                <a:avLst/>
                <a:gdLst>
                  <a:gd name="T0" fmla="*/ 0 w 471"/>
                  <a:gd name="T1" fmla="*/ 0 h 387"/>
                  <a:gd name="T2" fmla="*/ 240 w 471"/>
                  <a:gd name="T3" fmla="*/ 0 h 387"/>
                  <a:gd name="T4" fmla="*/ 240 w 471"/>
                  <a:gd name="T5" fmla="*/ 384 h 387"/>
                  <a:gd name="T6" fmla="*/ 468 w 471"/>
                  <a:gd name="T7" fmla="*/ 384 h 387"/>
                  <a:gd name="T8" fmla="*/ 471 w 471"/>
                  <a:gd name="T9" fmla="*/ 387 h 3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1"/>
                  <a:gd name="T16" fmla="*/ 0 h 387"/>
                  <a:gd name="T17" fmla="*/ 471 w 471"/>
                  <a:gd name="T18" fmla="*/ 387 h 3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1" h="387">
                    <a:moveTo>
                      <a:pt x="0" y="0"/>
                    </a:moveTo>
                    <a:lnTo>
                      <a:pt x="240" y="0"/>
                    </a:lnTo>
                    <a:lnTo>
                      <a:pt x="240" y="384"/>
                    </a:lnTo>
                    <a:lnTo>
                      <a:pt x="468" y="384"/>
                    </a:lnTo>
                    <a:lnTo>
                      <a:pt x="471" y="38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08952" name="Freeform 48"/>
              <p:cNvSpPr/>
              <p:nvPr/>
            </p:nvSpPr>
            <p:spPr bwMode="auto">
              <a:xfrm>
                <a:off x="2423" y="3789"/>
                <a:ext cx="480" cy="387"/>
              </a:xfrm>
              <a:custGeom>
                <a:avLst/>
                <a:gdLst>
                  <a:gd name="T0" fmla="*/ 0 w 480"/>
                  <a:gd name="T1" fmla="*/ 387 h 387"/>
                  <a:gd name="T2" fmla="*/ 249 w 480"/>
                  <a:gd name="T3" fmla="*/ 387 h 387"/>
                  <a:gd name="T4" fmla="*/ 249 w 480"/>
                  <a:gd name="T5" fmla="*/ 0 h 387"/>
                  <a:gd name="T6" fmla="*/ 480 w 480"/>
                  <a:gd name="T7" fmla="*/ 0 h 387"/>
                  <a:gd name="T8" fmla="*/ 477 w 480"/>
                  <a:gd name="T9" fmla="*/ 6 h 3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0"/>
                  <a:gd name="T16" fmla="*/ 0 h 387"/>
                  <a:gd name="T17" fmla="*/ 480 w 480"/>
                  <a:gd name="T18" fmla="*/ 387 h 3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0" h="387">
                    <a:moveTo>
                      <a:pt x="0" y="387"/>
                    </a:moveTo>
                    <a:lnTo>
                      <a:pt x="249" y="387"/>
                    </a:lnTo>
                    <a:lnTo>
                      <a:pt x="249" y="0"/>
                    </a:lnTo>
                    <a:lnTo>
                      <a:pt x="480" y="0"/>
                    </a:lnTo>
                    <a:lnTo>
                      <a:pt x="477" y="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08953" name="Freeform 49"/>
              <p:cNvSpPr/>
              <p:nvPr/>
            </p:nvSpPr>
            <p:spPr bwMode="auto">
              <a:xfrm>
                <a:off x="2907" y="3789"/>
                <a:ext cx="703" cy="387"/>
              </a:xfrm>
              <a:custGeom>
                <a:avLst/>
                <a:gdLst>
                  <a:gd name="T0" fmla="*/ 0 w 703"/>
                  <a:gd name="T1" fmla="*/ 0 h 387"/>
                  <a:gd name="T2" fmla="*/ 472 w 703"/>
                  <a:gd name="T3" fmla="*/ 0 h 387"/>
                  <a:gd name="T4" fmla="*/ 472 w 703"/>
                  <a:gd name="T5" fmla="*/ 384 h 387"/>
                  <a:gd name="T6" fmla="*/ 700 w 703"/>
                  <a:gd name="T7" fmla="*/ 384 h 387"/>
                  <a:gd name="T8" fmla="*/ 703 w 703"/>
                  <a:gd name="T9" fmla="*/ 387 h 3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3"/>
                  <a:gd name="T16" fmla="*/ 0 h 387"/>
                  <a:gd name="T17" fmla="*/ 703 w 703"/>
                  <a:gd name="T18" fmla="*/ 387 h 3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3" h="387">
                    <a:moveTo>
                      <a:pt x="0" y="0"/>
                    </a:moveTo>
                    <a:lnTo>
                      <a:pt x="472" y="0"/>
                    </a:lnTo>
                    <a:lnTo>
                      <a:pt x="472" y="384"/>
                    </a:lnTo>
                    <a:lnTo>
                      <a:pt x="700" y="384"/>
                    </a:lnTo>
                    <a:lnTo>
                      <a:pt x="703" y="38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08954" name="Freeform 50"/>
              <p:cNvSpPr/>
              <p:nvPr/>
            </p:nvSpPr>
            <p:spPr bwMode="auto">
              <a:xfrm>
                <a:off x="3600" y="3789"/>
                <a:ext cx="480" cy="387"/>
              </a:xfrm>
              <a:custGeom>
                <a:avLst/>
                <a:gdLst>
                  <a:gd name="T0" fmla="*/ 0 w 480"/>
                  <a:gd name="T1" fmla="*/ 387 h 387"/>
                  <a:gd name="T2" fmla="*/ 249 w 480"/>
                  <a:gd name="T3" fmla="*/ 387 h 387"/>
                  <a:gd name="T4" fmla="*/ 249 w 480"/>
                  <a:gd name="T5" fmla="*/ 0 h 387"/>
                  <a:gd name="T6" fmla="*/ 480 w 480"/>
                  <a:gd name="T7" fmla="*/ 0 h 387"/>
                  <a:gd name="T8" fmla="*/ 477 w 480"/>
                  <a:gd name="T9" fmla="*/ 6 h 3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0"/>
                  <a:gd name="T16" fmla="*/ 0 h 387"/>
                  <a:gd name="T17" fmla="*/ 480 w 480"/>
                  <a:gd name="T18" fmla="*/ 387 h 3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0" h="387">
                    <a:moveTo>
                      <a:pt x="0" y="387"/>
                    </a:moveTo>
                    <a:lnTo>
                      <a:pt x="249" y="387"/>
                    </a:lnTo>
                    <a:lnTo>
                      <a:pt x="249" y="0"/>
                    </a:lnTo>
                    <a:lnTo>
                      <a:pt x="480" y="0"/>
                    </a:lnTo>
                    <a:lnTo>
                      <a:pt x="477" y="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08955" name="Freeform 51"/>
              <p:cNvSpPr/>
              <p:nvPr/>
            </p:nvSpPr>
            <p:spPr bwMode="auto">
              <a:xfrm>
                <a:off x="4074" y="3789"/>
                <a:ext cx="1203" cy="390"/>
              </a:xfrm>
              <a:custGeom>
                <a:avLst/>
                <a:gdLst>
                  <a:gd name="T0" fmla="*/ 0 w 1203"/>
                  <a:gd name="T1" fmla="*/ 0 h 390"/>
                  <a:gd name="T2" fmla="*/ 492 w 1203"/>
                  <a:gd name="T3" fmla="*/ 0 h 390"/>
                  <a:gd name="T4" fmla="*/ 492 w 1203"/>
                  <a:gd name="T5" fmla="*/ 390 h 390"/>
                  <a:gd name="T6" fmla="*/ 1203 w 1203"/>
                  <a:gd name="T7" fmla="*/ 390 h 390"/>
                  <a:gd name="T8" fmla="*/ 726 w 1203"/>
                  <a:gd name="T9" fmla="*/ 390 h 3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03"/>
                  <a:gd name="T16" fmla="*/ 0 h 390"/>
                  <a:gd name="T17" fmla="*/ 1203 w 1203"/>
                  <a:gd name="T18" fmla="*/ 390 h 3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03" h="390">
                    <a:moveTo>
                      <a:pt x="0" y="0"/>
                    </a:moveTo>
                    <a:lnTo>
                      <a:pt x="492" y="0"/>
                    </a:lnTo>
                    <a:lnTo>
                      <a:pt x="492" y="390"/>
                    </a:lnTo>
                    <a:lnTo>
                      <a:pt x="1203" y="390"/>
                    </a:lnTo>
                    <a:lnTo>
                      <a:pt x="726" y="39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208931" name="Text Box 52"/>
            <p:cNvSpPr txBox="1">
              <a:spLocks noChangeArrowheads="1"/>
            </p:cNvSpPr>
            <p:nvPr/>
          </p:nvSpPr>
          <p:spPr bwMode="auto">
            <a:xfrm>
              <a:off x="1142" y="999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208932" name="Text Box 53"/>
            <p:cNvSpPr txBox="1">
              <a:spLocks noChangeArrowheads="1"/>
            </p:cNvSpPr>
            <p:nvPr/>
          </p:nvSpPr>
          <p:spPr bwMode="auto">
            <a:xfrm>
              <a:off x="1620" y="999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208933" name="Text Box 54"/>
            <p:cNvSpPr txBox="1">
              <a:spLocks noChangeArrowheads="1"/>
            </p:cNvSpPr>
            <p:nvPr/>
          </p:nvSpPr>
          <p:spPr bwMode="auto">
            <a:xfrm>
              <a:off x="2099" y="999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208934" name="Text Box 55"/>
            <p:cNvSpPr txBox="1">
              <a:spLocks noChangeArrowheads="1"/>
            </p:cNvSpPr>
            <p:nvPr/>
          </p:nvSpPr>
          <p:spPr bwMode="auto">
            <a:xfrm>
              <a:off x="2578" y="999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208935" name="Text Box 56"/>
            <p:cNvSpPr txBox="1">
              <a:spLocks noChangeArrowheads="1"/>
            </p:cNvSpPr>
            <p:nvPr/>
          </p:nvSpPr>
          <p:spPr bwMode="auto">
            <a:xfrm>
              <a:off x="3057" y="999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208936" name="Text Box 57"/>
            <p:cNvSpPr txBox="1">
              <a:spLocks noChangeArrowheads="1"/>
            </p:cNvSpPr>
            <p:nvPr/>
          </p:nvSpPr>
          <p:spPr bwMode="auto">
            <a:xfrm>
              <a:off x="3535" y="999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208937" name="Text Box 58"/>
            <p:cNvSpPr txBox="1">
              <a:spLocks noChangeArrowheads="1"/>
            </p:cNvSpPr>
            <p:nvPr/>
          </p:nvSpPr>
          <p:spPr bwMode="auto">
            <a:xfrm>
              <a:off x="4014" y="999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208938" name="Text Box 59"/>
            <p:cNvSpPr txBox="1">
              <a:spLocks noChangeArrowheads="1"/>
            </p:cNvSpPr>
            <p:nvPr/>
          </p:nvSpPr>
          <p:spPr bwMode="auto">
            <a:xfrm>
              <a:off x="4493" y="999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208939" name="Text Box 60"/>
            <p:cNvSpPr txBox="1">
              <a:spLocks noChangeArrowheads="1"/>
            </p:cNvSpPr>
            <p:nvPr/>
          </p:nvSpPr>
          <p:spPr bwMode="auto">
            <a:xfrm>
              <a:off x="4972" y="999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208940" name="Line 61"/>
            <p:cNvSpPr>
              <a:spLocks noChangeShapeType="1"/>
            </p:cNvSpPr>
            <p:nvPr/>
          </p:nvSpPr>
          <p:spPr bwMode="auto">
            <a:xfrm>
              <a:off x="1008" y="977"/>
              <a:ext cx="48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8941" name="Text Box 62"/>
            <p:cNvSpPr txBox="1">
              <a:spLocks noChangeArrowheads="1"/>
            </p:cNvSpPr>
            <p:nvPr/>
          </p:nvSpPr>
          <p:spPr bwMode="auto">
            <a:xfrm>
              <a:off x="134" y="1055"/>
              <a:ext cx="751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数据序列</a:t>
              </a:r>
            </a:p>
          </p:txBody>
        </p:sp>
        <p:sp>
          <p:nvSpPr>
            <p:cNvPr id="208942" name="Text Box 63"/>
            <p:cNvSpPr txBox="1">
              <a:spLocks noChangeArrowheads="1"/>
            </p:cNvSpPr>
            <p:nvPr/>
          </p:nvSpPr>
          <p:spPr bwMode="auto">
            <a:xfrm>
              <a:off x="278" y="1476"/>
              <a:ext cx="38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RZ</a:t>
              </a:r>
            </a:p>
          </p:txBody>
        </p:sp>
        <p:sp>
          <p:nvSpPr>
            <p:cNvPr id="208943" name="Text Box 64"/>
            <p:cNvSpPr txBox="1">
              <a:spLocks noChangeArrowheads="1"/>
            </p:cNvSpPr>
            <p:nvPr/>
          </p:nvSpPr>
          <p:spPr bwMode="auto">
            <a:xfrm>
              <a:off x="278" y="1942"/>
              <a:ext cx="52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NRZ</a:t>
              </a:r>
            </a:p>
          </p:txBody>
        </p:sp>
        <p:sp>
          <p:nvSpPr>
            <p:cNvPr id="208944" name="Text Box 65"/>
            <p:cNvSpPr txBox="1">
              <a:spLocks noChangeArrowheads="1"/>
            </p:cNvSpPr>
            <p:nvPr/>
          </p:nvSpPr>
          <p:spPr bwMode="auto">
            <a:xfrm>
              <a:off x="278" y="2407"/>
              <a:ext cx="61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NRZ1</a:t>
              </a:r>
            </a:p>
          </p:txBody>
        </p:sp>
        <p:sp>
          <p:nvSpPr>
            <p:cNvPr id="208945" name="Text Box 66"/>
            <p:cNvSpPr txBox="1">
              <a:spLocks noChangeArrowheads="1"/>
            </p:cNvSpPr>
            <p:nvPr/>
          </p:nvSpPr>
          <p:spPr bwMode="auto">
            <a:xfrm>
              <a:off x="278" y="2872"/>
              <a:ext cx="41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PM</a:t>
              </a:r>
            </a:p>
          </p:txBody>
        </p:sp>
        <p:sp>
          <p:nvSpPr>
            <p:cNvPr id="208946" name="Text Box 67"/>
            <p:cNvSpPr txBox="1">
              <a:spLocks noChangeArrowheads="1"/>
            </p:cNvSpPr>
            <p:nvPr/>
          </p:nvSpPr>
          <p:spPr bwMode="auto">
            <a:xfrm>
              <a:off x="278" y="3337"/>
              <a:ext cx="41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FM</a:t>
              </a:r>
            </a:p>
          </p:txBody>
        </p:sp>
        <p:sp>
          <p:nvSpPr>
            <p:cNvPr id="208947" name="Text Box 68"/>
            <p:cNvSpPr txBox="1">
              <a:spLocks noChangeArrowheads="1"/>
            </p:cNvSpPr>
            <p:nvPr/>
          </p:nvSpPr>
          <p:spPr bwMode="auto">
            <a:xfrm>
              <a:off x="278" y="3804"/>
              <a:ext cx="59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>
                  <a:latin typeface="Times New Roman" panose="02020603050405020304" pitchFamily="18" charset="0"/>
                </a:rPr>
                <a:t>MFM</a:t>
              </a:r>
            </a:p>
          </p:txBody>
        </p:sp>
        <p:sp>
          <p:nvSpPr>
            <p:cNvPr id="208948" name="Text Box 69"/>
            <p:cNvSpPr txBox="1">
              <a:spLocks noChangeArrowheads="1"/>
            </p:cNvSpPr>
            <p:nvPr/>
          </p:nvSpPr>
          <p:spPr bwMode="auto">
            <a:xfrm>
              <a:off x="1122" y="720"/>
              <a:ext cx="23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zh-CN" sz="2400" i="1">
                  <a:latin typeface="Times New Roman" panose="02020603050405020304" pitchFamily="18" charset="0"/>
                </a:rPr>
                <a:t>T</a:t>
              </a:r>
            </a:p>
          </p:txBody>
        </p:sp>
      </p:grpSp>
      <p:sp>
        <p:nvSpPr>
          <p:cNvPr id="208900" name="Text Box 70"/>
          <p:cNvSpPr txBox="1">
            <a:spLocks noChangeArrowheads="1"/>
          </p:cNvSpPr>
          <p:nvPr/>
        </p:nvSpPr>
        <p:spPr bwMode="auto">
          <a:xfrm>
            <a:off x="1524000" y="838200"/>
            <a:ext cx="9509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000">
                <a:latin typeface="Times New Roman" panose="02020603050405020304" pitchFamily="18" charset="0"/>
              </a:rPr>
              <a:t>位周期</a:t>
            </a:r>
          </a:p>
        </p:txBody>
      </p:sp>
      <p:sp>
        <p:nvSpPr>
          <p:cNvPr id="300103" name="Rectangle 71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4.4</a:t>
            </a:r>
          </a:p>
        </p:txBody>
      </p:sp>
      <p:sp>
        <p:nvSpPr>
          <p:cNvPr id="208902" name="AutoShape 72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208903" name="Freeform 33"/>
          <p:cNvSpPr/>
          <p:nvPr/>
        </p:nvSpPr>
        <p:spPr bwMode="auto">
          <a:xfrm>
            <a:off x="2339975" y="4360863"/>
            <a:ext cx="752475" cy="508000"/>
          </a:xfrm>
          <a:custGeom>
            <a:avLst/>
            <a:gdLst>
              <a:gd name="T0" fmla="*/ 0 w 474"/>
              <a:gd name="T1" fmla="*/ 2147483647 h 387"/>
              <a:gd name="T2" fmla="*/ 2147483647 w 474"/>
              <a:gd name="T3" fmla="*/ 2147483647 h 387"/>
              <a:gd name="T4" fmla="*/ 2147483647 w 474"/>
              <a:gd name="T5" fmla="*/ 0 h 387"/>
              <a:gd name="T6" fmla="*/ 2147483647 w 474"/>
              <a:gd name="T7" fmla="*/ 0 h 387"/>
              <a:gd name="T8" fmla="*/ 2147483647 w 474"/>
              <a:gd name="T9" fmla="*/ 2147483647 h 38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74"/>
              <a:gd name="T16" fmla="*/ 0 h 387"/>
              <a:gd name="T17" fmla="*/ 474 w 474"/>
              <a:gd name="T18" fmla="*/ 387 h 38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74" h="387">
                <a:moveTo>
                  <a:pt x="0" y="384"/>
                </a:moveTo>
                <a:lnTo>
                  <a:pt x="249" y="384"/>
                </a:lnTo>
                <a:lnTo>
                  <a:pt x="246" y="0"/>
                </a:lnTo>
                <a:lnTo>
                  <a:pt x="474" y="0"/>
                </a:lnTo>
                <a:lnTo>
                  <a:pt x="474" y="387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08904" name="Freeform 28"/>
          <p:cNvSpPr/>
          <p:nvPr/>
        </p:nvSpPr>
        <p:spPr bwMode="auto">
          <a:xfrm>
            <a:off x="5364163" y="4437063"/>
            <a:ext cx="762000" cy="504825"/>
          </a:xfrm>
          <a:custGeom>
            <a:avLst/>
            <a:gdLst>
              <a:gd name="T0" fmla="*/ 0 w 480"/>
              <a:gd name="T1" fmla="*/ 0 h 384"/>
              <a:gd name="T2" fmla="*/ 2147483647 w 480"/>
              <a:gd name="T3" fmla="*/ 0 h 384"/>
              <a:gd name="T4" fmla="*/ 2147483647 w 480"/>
              <a:gd name="T5" fmla="*/ 2147483647 h 384"/>
              <a:gd name="T6" fmla="*/ 2147483647 w 480"/>
              <a:gd name="T7" fmla="*/ 2147483647 h 384"/>
              <a:gd name="T8" fmla="*/ 2147483647 w 480"/>
              <a:gd name="T9" fmla="*/ 0 h 3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80"/>
              <a:gd name="T16" fmla="*/ 0 h 384"/>
              <a:gd name="T17" fmla="*/ 480 w 480"/>
              <a:gd name="T18" fmla="*/ 384 h 3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80" h="384">
                <a:moveTo>
                  <a:pt x="0" y="0"/>
                </a:moveTo>
                <a:lnTo>
                  <a:pt x="240" y="0"/>
                </a:lnTo>
                <a:lnTo>
                  <a:pt x="240" y="384"/>
                </a:lnTo>
                <a:lnTo>
                  <a:pt x="480" y="384"/>
                </a:lnTo>
                <a:lnTo>
                  <a:pt x="480" y="0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08905" name="Freeform 28"/>
          <p:cNvSpPr/>
          <p:nvPr/>
        </p:nvSpPr>
        <p:spPr bwMode="auto">
          <a:xfrm>
            <a:off x="4602163" y="4365625"/>
            <a:ext cx="762000" cy="504825"/>
          </a:xfrm>
          <a:custGeom>
            <a:avLst/>
            <a:gdLst>
              <a:gd name="T0" fmla="*/ 0 w 480"/>
              <a:gd name="T1" fmla="*/ 0 h 384"/>
              <a:gd name="T2" fmla="*/ 2147483647 w 480"/>
              <a:gd name="T3" fmla="*/ 0 h 384"/>
              <a:gd name="T4" fmla="*/ 2147483647 w 480"/>
              <a:gd name="T5" fmla="*/ 2147483647 h 384"/>
              <a:gd name="T6" fmla="*/ 2147483647 w 480"/>
              <a:gd name="T7" fmla="*/ 2147483647 h 384"/>
              <a:gd name="T8" fmla="*/ 2147483647 w 480"/>
              <a:gd name="T9" fmla="*/ 0 h 3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80"/>
              <a:gd name="T16" fmla="*/ 0 h 384"/>
              <a:gd name="T17" fmla="*/ 480 w 480"/>
              <a:gd name="T18" fmla="*/ 384 h 3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80" h="384">
                <a:moveTo>
                  <a:pt x="0" y="0"/>
                </a:moveTo>
                <a:lnTo>
                  <a:pt x="240" y="0"/>
                </a:lnTo>
                <a:lnTo>
                  <a:pt x="240" y="384"/>
                </a:lnTo>
                <a:lnTo>
                  <a:pt x="480" y="384"/>
                </a:lnTo>
                <a:lnTo>
                  <a:pt x="480" y="0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08906" name="Freeform 47"/>
          <p:cNvSpPr/>
          <p:nvPr/>
        </p:nvSpPr>
        <p:spPr bwMode="auto">
          <a:xfrm>
            <a:off x="7640638" y="4430713"/>
            <a:ext cx="747712" cy="511175"/>
          </a:xfrm>
          <a:custGeom>
            <a:avLst/>
            <a:gdLst>
              <a:gd name="T0" fmla="*/ 0 w 471"/>
              <a:gd name="T1" fmla="*/ 0 h 387"/>
              <a:gd name="T2" fmla="*/ 2147483647 w 471"/>
              <a:gd name="T3" fmla="*/ 0 h 387"/>
              <a:gd name="T4" fmla="*/ 2147483647 w 471"/>
              <a:gd name="T5" fmla="*/ 2147483647 h 387"/>
              <a:gd name="T6" fmla="*/ 2147483647 w 471"/>
              <a:gd name="T7" fmla="*/ 2147483647 h 387"/>
              <a:gd name="T8" fmla="*/ 2147483647 w 471"/>
              <a:gd name="T9" fmla="*/ 2147483647 h 38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71"/>
              <a:gd name="T16" fmla="*/ 0 h 387"/>
              <a:gd name="T17" fmla="*/ 471 w 471"/>
              <a:gd name="T18" fmla="*/ 387 h 38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71" h="387">
                <a:moveTo>
                  <a:pt x="0" y="0"/>
                </a:moveTo>
                <a:lnTo>
                  <a:pt x="240" y="0"/>
                </a:lnTo>
                <a:lnTo>
                  <a:pt x="240" y="384"/>
                </a:lnTo>
                <a:lnTo>
                  <a:pt x="468" y="384"/>
                </a:lnTo>
                <a:lnTo>
                  <a:pt x="471" y="387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08907" name="Freeform 47"/>
          <p:cNvSpPr/>
          <p:nvPr/>
        </p:nvSpPr>
        <p:spPr bwMode="auto">
          <a:xfrm>
            <a:off x="6127750" y="4430713"/>
            <a:ext cx="747713" cy="511175"/>
          </a:xfrm>
          <a:custGeom>
            <a:avLst/>
            <a:gdLst>
              <a:gd name="T0" fmla="*/ 0 w 471"/>
              <a:gd name="T1" fmla="*/ 0 h 387"/>
              <a:gd name="T2" fmla="*/ 2147483647 w 471"/>
              <a:gd name="T3" fmla="*/ 0 h 387"/>
              <a:gd name="T4" fmla="*/ 2147483647 w 471"/>
              <a:gd name="T5" fmla="*/ 2147483647 h 387"/>
              <a:gd name="T6" fmla="*/ 2147483647 w 471"/>
              <a:gd name="T7" fmla="*/ 2147483647 h 387"/>
              <a:gd name="T8" fmla="*/ 2147483647 w 471"/>
              <a:gd name="T9" fmla="*/ 2147483647 h 38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71"/>
              <a:gd name="T16" fmla="*/ 0 h 387"/>
              <a:gd name="T17" fmla="*/ 471 w 471"/>
              <a:gd name="T18" fmla="*/ 387 h 38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71" h="387">
                <a:moveTo>
                  <a:pt x="0" y="0"/>
                </a:moveTo>
                <a:lnTo>
                  <a:pt x="240" y="0"/>
                </a:lnTo>
                <a:lnTo>
                  <a:pt x="240" y="384"/>
                </a:lnTo>
                <a:lnTo>
                  <a:pt x="468" y="384"/>
                </a:lnTo>
                <a:lnTo>
                  <a:pt x="471" y="387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208908" name="Freeform 47"/>
          <p:cNvSpPr/>
          <p:nvPr/>
        </p:nvSpPr>
        <p:spPr bwMode="auto">
          <a:xfrm>
            <a:off x="1592263" y="4359275"/>
            <a:ext cx="747712" cy="509588"/>
          </a:xfrm>
          <a:custGeom>
            <a:avLst/>
            <a:gdLst>
              <a:gd name="T0" fmla="*/ 0 w 471"/>
              <a:gd name="T1" fmla="*/ 0 h 387"/>
              <a:gd name="T2" fmla="*/ 2147483647 w 471"/>
              <a:gd name="T3" fmla="*/ 0 h 387"/>
              <a:gd name="T4" fmla="*/ 2147483647 w 471"/>
              <a:gd name="T5" fmla="*/ 2147483647 h 387"/>
              <a:gd name="T6" fmla="*/ 2147483647 w 471"/>
              <a:gd name="T7" fmla="*/ 2147483647 h 387"/>
              <a:gd name="T8" fmla="*/ 2147483647 w 471"/>
              <a:gd name="T9" fmla="*/ 2147483647 h 38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71"/>
              <a:gd name="T16" fmla="*/ 0 h 387"/>
              <a:gd name="T17" fmla="*/ 471 w 471"/>
              <a:gd name="T18" fmla="*/ 387 h 38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71" h="387">
                <a:moveTo>
                  <a:pt x="0" y="0"/>
                </a:moveTo>
                <a:lnTo>
                  <a:pt x="240" y="0"/>
                </a:lnTo>
                <a:lnTo>
                  <a:pt x="240" y="384"/>
                </a:lnTo>
                <a:lnTo>
                  <a:pt x="468" y="384"/>
                </a:lnTo>
                <a:lnTo>
                  <a:pt x="471" y="387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Text Box 2"/>
          <p:cNvSpPr txBox="1">
            <a:spLocks noChangeArrowheads="1"/>
          </p:cNvSpPr>
          <p:nvPr/>
        </p:nvSpPr>
        <p:spPr bwMode="auto">
          <a:xfrm>
            <a:off x="609600" y="457200"/>
            <a:ext cx="57150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例</a:t>
            </a:r>
            <a:r>
              <a:rPr lang="zh-CN" altLang="en-US" sz="3200">
                <a:latin typeface="Times New Roman" panose="02020603050405020304" pitchFamily="18" charset="0"/>
              </a:rPr>
              <a:t>  </a:t>
            </a:r>
            <a:r>
              <a:rPr lang="en-US" altLang="zh-CN" sz="3200">
                <a:latin typeface="Times New Roman" panose="02020603050405020304" pitchFamily="18" charset="0"/>
              </a:rPr>
              <a:t>NRZ1 </a:t>
            </a:r>
            <a:r>
              <a:rPr lang="zh-CN" altLang="en-US" sz="3200">
                <a:latin typeface="Times New Roman" panose="02020603050405020304" pitchFamily="18" charset="0"/>
              </a:rPr>
              <a:t>的读出代码波形</a:t>
            </a:r>
          </a:p>
        </p:txBody>
      </p:sp>
      <p:grpSp>
        <p:nvGrpSpPr>
          <p:cNvPr id="2" name="Group 3"/>
          <p:cNvGrpSpPr/>
          <p:nvPr/>
        </p:nvGrpSpPr>
        <p:grpSpPr bwMode="auto">
          <a:xfrm>
            <a:off x="1127125" y="1524000"/>
            <a:ext cx="6873875" cy="4648200"/>
            <a:chOff x="710" y="960"/>
            <a:chExt cx="4330" cy="2928"/>
          </a:xfrm>
        </p:grpSpPr>
        <p:sp>
          <p:nvSpPr>
            <p:cNvPr id="209969" name="Line 4"/>
            <p:cNvSpPr>
              <a:spLocks noChangeShapeType="1"/>
            </p:cNvSpPr>
            <p:nvPr/>
          </p:nvSpPr>
          <p:spPr bwMode="auto">
            <a:xfrm>
              <a:off x="1680" y="960"/>
              <a:ext cx="0" cy="29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9970" name="Line 5"/>
            <p:cNvSpPr>
              <a:spLocks noChangeShapeType="1"/>
            </p:cNvSpPr>
            <p:nvPr/>
          </p:nvSpPr>
          <p:spPr bwMode="auto">
            <a:xfrm>
              <a:off x="2160" y="960"/>
              <a:ext cx="0" cy="29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9971" name="Line 6"/>
            <p:cNvSpPr>
              <a:spLocks noChangeShapeType="1"/>
            </p:cNvSpPr>
            <p:nvPr/>
          </p:nvSpPr>
          <p:spPr bwMode="auto">
            <a:xfrm>
              <a:off x="2640" y="960"/>
              <a:ext cx="0" cy="29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9972" name="Line 7"/>
            <p:cNvSpPr>
              <a:spLocks noChangeShapeType="1"/>
            </p:cNvSpPr>
            <p:nvPr/>
          </p:nvSpPr>
          <p:spPr bwMode="auto">
            <a:xfrm>
              <a:off x="3120" y="960"/>
              <a:ext cx="0" cy="29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9973" name="Line 8"/>
            <p:cNvSpPr>
              <a:spLocks noChangeShapeType="1"/>
            </p:cNvSpPr>
            <p:nvPr/>
          </p:nvSpPr>
          <p:spPr bwMode="auto">
            <a:xfrm>
              <a:off x="3600" y="960"/>
              <a:ext cx="0" cy="29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9974" name="Line 9"/>
            <p:cNvSpPr>
              <a:spLocks noChangeShapeType="1"/>
            </p:cNvSpPr>
            <p:nvPr/>
          </p:nvSpPr>
          <p:spPr bwMode="auto">
            <a:xfrm>
              <a:off x="4080" y="960"/>
              <a:ext cx="0" cy="29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9975" name="Line 10"/>
            <p:cNvSpPr>
              <a:spLocks noChangeShapeType="1"/>
            </p:cNvSpPr>
            <p:nvPr/>
          </p:nvSpPr>
          <p:spPr bwMode="auto">
            <a:xfrm>
              <a:off x="4560" y="960"/>
              <a:ext cx="0" cy="29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9976" name="Line 11"/>
            <p:cNvSpPr>
              <a:spLocks noChangeShapeType="1"/>
            </p:cNvSpPr>
            <p:nvPr/>
          </p:nvSpPr>
          <p:spPr bwMode="auto">
            <a:xfrm>
              <a:off x="5040" y="960"/>
              <a:ext cx="0" cy="29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9977" name="Text Box 12"/>
            <p:cNvSpPr txBox="1">
              <a:spLocks noChangeArrowheads="1"/>
            </p:cNvSpPr>
            <p:nvPr/>
          </p:nvSpPr>
          <p:spPr bwMode="auto">
            <a:xfrm>
              <a:off x="1804" y="1008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209978" name="Text Box 13"/>
            <p:cNvSpPr txBox="1">
              <a:spLocks noChangeArrowheads="1"/>
            </p:cNvSpPr>
            <p:nvPr/>
          </p:nvSpPr>
          <p:spPr bwMode="auto">
            <a:xfrm>
              <a:off x="2287" y="1008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209979" name="Text Box 14"/>
            <p:cNvSpPr txBox="1">
              <a:spLocks noChangeArrowheads="1"/>
            </p:cNvSpPr>
            <p:nvPr/>
          </p:nvSpPr>
          <p:spPr bwMode="auto">
            <a:xfrm>
              <a:off x="2770" y="1008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209980" name="Text Box 15"/>
            <p:cNvSpPr txBox="1">
              <a:spLocks noChangeArrowheads="1"/>
            </p:cNvSpPr>
            <p:nvPr/>
          </p:nvSpPr>
          <p:spPr bwMode="auto">
            <a:xfrm>
              <a:off x="3254" y="1008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209981" name="Text Box 16"/>
            <p:cNvSpPr txBox="1">
              <a:spLocks noChangeArrowheads="1"/>
            </p:cNvSpPr>
            <p:nvPr/>
          </p:nvSpPr>
          <p:spPr bwMode="auto">
            <a:xfrm>
              <a:off x="3737" y="1008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209982" name="Text Box 17"/>
            <p:cNvSpPr txBox="1">
              <a:spLocks noChangeArrowheads="1"/>
            </p:cNvSpPr>
            <p:nvPr/>
          </p:nvSpPr>
          <p:spPr bwMode="auto">
            <a:xfrm>
              <a:off x="4220" y="1008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209983" name="Text Box 18"/>
            <p:cNvSpPr txBox="1">
              <a:spLocks noChangeArrowheads="1"/>
            </p:cNvSpPr>
            <p:nvPr/>
          </p:nvSpPr>
          <p:spPr bwMode="auto">
            <a:xfrm>
              <a:off x="4704" y="1008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209984" name="Text Box 19"/>
            <p:cNvSpPr txBox="1">
              <a:spLocks noChangeArrowheads="1"/>
            </p:cNvSpPr>
            <p:nvPr/>
          </p:nvSpPr>
          <p:spPr bwMode="auto">
            <a:xfrm>
              <a:off x="710" y="1008"/>
              <a:ext cx="88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数据序列</a:t>
              </a:r>
            </a:p>
          </p:txBody>
        </p:sp>
      </p:grpSp>
      <p:grpSp>
        <p:nvGrpSpPr>
          <p:cNvPr id="3" name="Group 20"/>
          <p:cNvGrpSpPr/>
          <p:nvPr/>
        </p:nvGrpSpPr>
        <p:grpSpPr bwMode="auto">
          <a:xfrm>
            <a:off x="1127125" y="2286000"/>
            <a:ext cx="6873875" cy="552450"/>
            <a:chOff x="710" y="1440"/>
            <a:chExt cx="4330" cy="348"/>
          </a:xfrm>
        </p:grpSpPr>
        <p:sp>
          <p:nvSpPr>
            <p:cNvPr id="209967" name="Freeform 21"/>
            <p:cNvSpPr/>
            <p:nvPr/>
          </p:nvSpPr>
          <p:spPr bwMode="auto">
            <a:xfrm>
              <a:off x="1680" y="1440"/>
              <a:ext cx="3360" cy="336"/>
            </a:xfrm>
            <a:custGeom>
              <a:avLst/>
              <a:gdLst>
                <a:gd name="T0" fmla="*/ 0 w 3360"/>
                <a:gd name="T1" fmla="*/ 336 h 336"/>
                <a:gd name="T2" fmla="*/ 480 w 3360"/>
                <a:gd name="T3" fmla="*/ 336 h 336"/>
                <a:gd name="T4" fmla="*/ 480 w 3360"/>
                <a:gd name="T5" fmla="*/ 0 h 336"/>
                <a:gd name="T6" fmla="*/ 960 w 3360"/>
                <a:gd name="T7" fmla="*/ 0 h 336"/>
                <a:gd name="T8" fmla="*/ 960 w 3360"/>
                <a:gd name="T9" fmla="*/ 336 h 336"/>
                <a:gd name="T10" fmla="*/ 2400 w 3360"/>
                <a:gd name="T11" fmla="*/ 336 h 336"/>
                <a:gd name="T12" fmla="*/ 2400 w 3360"/>
                <a:gd name="T13" fmla="*/ 0 h 336"/>
                <a:gd name="T14" fmla="*/ 3360 w 3360"/>
                <a:gd name="T15" fmla="*/ 0 h 3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360"/>
                <a:gd name="T25" fmla="*/ 0 h 336"/>
                <a:gd name="T26" fmla="*/ 3360 w 3360"/>
                <a:gd name="T27" fmla="*/ 336 h 3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360" h="336">
                  <a:moveTo>
                    <a:pt x="0" y="336"/>
                  </a:moveTo>
                  <a:lnTo>
                    <a:pt x="480" y="336"/>
                  </a:lnTo>
                  <a:lnTo>
                    <a:pt x="480" y="0"/>
                  </a:lnTo>
                  <a:lnTo>
                    <a:pt x="960" y="0"/>
                  </a:lnTo>
                  <a:lnTo>
                    <a:pt x="960" y="336"/>
                  </a:lnTo>
                  <a:lnTo>
                    <a:pt x="2400" y="336"/>
                  </a:lnTo>
                  <a:lnTo>
                    <a:pt x="2400" y="0"/>
                  </a:lnTo>
                  <a:lnTo>
                    <a:pt x="336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9968" name="Text Box 22"/>
            <p:cNvSpPr txBox="1">
              <a:spLocks noChangeArrowheads="1"/>
            </p:cNvSpPr>
            <p:nvPr/>
          </p:nvSpPr>
          <p:spPr bwMode="auto">
            <a:xfrm>
              <a:off x="710" y="1500"/>
              <a:ext cx="89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驱动电流</a:t>
              </a:r>
            </a:p>
          </p:txBody>
        </p:sp>
      </p:grpSp>
      <p:grpSp>
        <p:nvGrpSpPr>
          <p:cNvPr id="4" name="Group 23"/>
          <p:cNvGrpSpPr/>
          <p:nvPr/>
        </p:nvGrpSpPr>
        <p:grpSpPr bwMode="auto">
          <a:xfrm>
            <a:off x="1127125" y="3124200"/>
            <a:ext cx="6873875" cy="533400"/>
            <a:chOff x="710" y="1968"/>
            <a:chExt cx="4330" cy="336"/>
          </a:xfrm>
        </p:grpSpPr>
        <p:sp>
          <p:nvSpPr>
            <p:cNvPr id="209965" name="Freeform 24"/>
            <p:cNvSpPr/>
            <p:nvPr/>
          </p:nvSpPr>
          <p:spPr bwMode="auto">
            <a:xfrm>
              <a:off x="1680" y="1968"/>
              <a:ext cx="3360" cy="336"/>
            </a:xfrm>
            <a:custGeom>
              <a:avLst/>
              <a:gdLst>
                <a:gd name="T0" fmla="*/ 0 w 3360"/>
                <a:gd name="T1" fmla="*/ 336 h 336"/>
                <a:gd name="T2" fmla="*/ 480 w 3360"/>
                <a:gd name="T3" fmla="*/ 336 h 336"/>
                <a:gd name="T4" fmla="*/ 480 w 3360"/>
                <a:gd name="T5" fmla="*/ 0 h 336"/>
                <a:gd name="T6" fmla="*/ 960 w 3360"/>
                <a:gd name="T7" fmla="*/ 0 h 336"/>
                <a:gd name="T8" fmla="*/ 960 w 3360"/>
                <a:gd name="T9" fmla="*/ 336 h 336"/>
                <a:gd name="T10" fmla="*/ 2400 w 3360"/>
                <a:gd name="T11" fmla="*/ 336 h 336"/>
                <a:gd name="T12" fmla="*/ 2400 w 3360"/>
                <a:gd name="T13" fmla="*/ 0 h 336"/>
                <a:gd name="T14" fmla="*/ 3360 w 3360"/>
                <a:gd name="T15" fmla="*/ 0 h 3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360"/>
                <a:gd name="T25" fmla="*/ 0 h 336"/>
                <a:gd name="T26" fmla="*/ 3360 w 3360"/>
                <a:gd name="T27" fmla="*/ 336 h 3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360" h="336">
                  <a:moveTo>
                    <a:pt x="0" y="336"/>
                  </a:moveTo>
                  <a:lnTo>
                    <a:pt x="480" y="336"/>
                  </a:lnTo>
                  <a:lnTo>
                    <a:pt x="480" y="0"/>
                  </a:lnTo>
                  <a:lnTo>
                    <a:pt x="960" y="0"/>
                  </a:lnTo>
                  <a:lnTo>
                    <a:pt x="960" y="336"/>
                  </a:lnTo>
                  <a:lnTo>
                    <a:pt x="2400" y="336"/>
                  </a:lnTo>
                  <a:lnTo>
                    <a:pt x="2400" y="0"/>
                  </a:lnTo>
                  <a:lnTo>
                    <a:pt x="336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9966" name="Text Box 25"/>
            <p:cNvSpPr txBox="1">
              <a:spLocks noChangeArrowheads="1"/>
            </p:cNvSpPr>
            <p:nvPr/>
          </p:nvSpPr>
          <p:spPr bwMode="auto">
            <a:xfrm>
              <a:off x="710" y="1992"/>
              <a:ext cx="89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磁通变化</a:t>
              </a:r>
            </a:p>
          </p:txBody>
        </p:sp>
      </p:grpSp>
      <p:grpSp>
        <p:nvGrpSpPr>
          <p:cNvPr id="5" name="Group 26"/>
          <p:cNvGrpSpPr/>
          <p:nvPr/>
        </p:nvGrpSpPr>
        <p:grpSpPr bwMode="auto">
          <a:xfrm>
            <a:off x="1127125" y="3910013"/>
            <a:ext cx="6873875" cy="719137"/>
            <a:chOff x="710" y="2463"/>
            <a:chExt cx="4330" cy="453"/>
          </a:xfrm>
        </p:grpSpPr>
        <p:sp>
          <p:nvSpPr>
            <p:cNvPr id="209957" name="Line 27"/>
            <p:cNvSpPr>
              <a:spLocks noChangeShapeType="1"/>
            </p:cNvSpPr>
            <p:nvPr/>
          </p:nvSpPr>
          <p:spPr bwMode="auto">
            <a:xfrm>
              <a:off x="2400" y="2688"/>
              <a:ext cx="24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209958" name="Group 28"/>
            <p:cNvGrpSpPr/>
            <p:nvPr/>
          </p:nvGrpSpPr>
          <p:grpSpPr bwMode="auto">
            <a:xfrm>
              <a:off x="710" y="2463"/>
              <a:ext cx="4330" cy="453"/>
              <a:chOff x="710" y="2463"/>
              <a:chExt cx="4330" cy="453"/>
            </a:xfrm>
          </p:grpSpPr>
          <p:sp>
            <p:nvSpPr>
              <p:cNvPr id="209959" name="Line 29"/>
              <p:cNvSpPr>
                <a:spLocks noChangeShapeType="1"/>
              </p:cNvSpPr>
              <p:nvPr/>
            </p:nvSpPr>
            <p:spPr bwMode="auto">
              <a:xfrm>
                <a:off x="4320" y="2688"/>
                <a:ext cx="72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grpSp>
            <p:nvGrpSpPr>
              <p:cNvPr id="209960" name="Group 30"/>
              <p:cNvGrpSpPr/>
              <p:nvPr/>
            </p:nvGrpSpPr>
            <p:grpSpPr bwMode="auto">
              <a:xfrm>
                <a:off x="710" y="2463"/>
                <a:ext cx="3610" cy="453"/>
                <a:chOff x="710" y="2463"/>
                <a:chExt cx="3610" cy="453"/>
              </a:xfrm>
            </p:grpSpPr>
            <p:sp>
              <p:nvSpPr>
                <p:cNvPr id="209961" name="Freeform 31"/>
                <p:cNvSpPr/>
                <p:nvPr/>
              </p:nvSpPr>
              <p:spPr bwMode="auto">
                <a:xfrm>
                  <a:off x="2640" y="2463"/>
                  <a:ext cx="1209" cy="225"/>
                </a:xfrm>
                <a:custGeom>
                  <a:avLst/>
                  <a:gdLst>
                    <a:gd name="T0" fmla="*/ 0 w 1209"/>
                    <a:gd name="T1" fmla="*/ 225 h 225"/>
                    <a:gd name="T2" fmla="*/ 0 w 1209"/>
                    <a:gd name="T3" fmla="*/ 0 h 225"/>
                    <a:gd name="T4" fmla="*/ 237 w 1209"/>
                    <a:gd name="T5" fmla="*/ 0 h 225"/>
                    <a:gd name="T6" fmla="*/ 237 w 1209"/>
                    <a:gd name="T7" fmla="*/ 225 h 225"/>
                    <a:gd name="T8" fmla="*/ 1209 w 1209"/>
                    <a:gd name="T9" fmla="*/ 225 h 2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09"/>
                    <a:gd name="T16" fmla="*/ 0 h 225"/>
                    <a:gd name="T17" fmla="*/ 1209 w 1209"/>
                    <a:gd name="T18" fmla="*/ 225 h 2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09" h="225">
                      <a:moveTo>
                        <a:pt x="0" y="225"/>
                      </a:moveTo>
                      <a:lnTo>
                        <a:pt x="0" y="0"/>
                      </a:lnTo>
                      <a:lnTo>
                        <a:pt x="237" y="0"/>
                      </a:lnTo>
                      <a:lnTo>
                        <a:pt x="237" y="225"/>
                      </a:lnTo>
                      <a:lnTo>
                        <a:pt x="1209" y="225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9962" name="Freeform 32"/>
                <p:cNvSpPr/>
                <p:nvPr/>
              </p:nvSpPr>
              <p:spPr bwMode="auto">
                <a:xfrm>
                  <a:off x="1680" y="2687"/>
                  <a:ext cx="720" cy="229"/>
                </a:xfrm>
                <a:custGeom>
                  <a:avLst/>
                  <a:gdLst>
                    <a:gd name="T0" fmla="*/ 719 w 720"/>
                    <a:gd name="T1" fmla="*/ 0 h 229"/>
                    <a:gd name="T2" fmla="*/ 720 w 720"/>
                    <a:gd name="T3" fmla="*/ 229 h 229"/>
                    <a:gd name="T4" fmla="*/ 479 w 720"/>
                    <a:gd name="T5" fmla="*/ 228 h 229"/>
                    <a:gd name="T6" fmla="*/ 482 w 720"/>
                    <a:gd name="T7" fmla="*/ 3 h 229"/>
                    <a:gd name="T8" fmla="*/ 0 w 720"/>
                    <a:gd name="T9" fmla="*/ 4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0"/>
                    <a:gd name="T16" fmla="*/ 0 h 229"/>
                    <a:gd name="T17" fmla="*/ 720 w 720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0" h="229">
                      <a:moveTo>
                        <a:pt x="719" y="0"/>
                      </a:moveTo>
                      <a:lnTo>
                        <a:pt x="720" y="229"/>
                      </a:lnTo>
                      <a:lnTo>
                        <a:pt x="479" y="228"/>
                      </a:lnTo>
                      <a:lnTo>
                        <a:pt x="482" y="3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9963" name="Freeform 33"/>
                <p:cNvSpPr/>
                <p:nvPr/>
              </p:nvSpPr>
              <p:spPr bwMode="auto">
                <a:xfrm>
                  <a:off x="3839" y="2687"/>
                  <a:ext cx="481" cy="229"/>
                </a:xfrm>
                <a:custGeom>
                  <a:avLst/>
                  <a:gdLst>
                    <a:gd name="T0" fmla="*/ 480 w 481"/>
                    <a:gd name="T1" fmla="*/ 0 h 229"/>
                    <a:gd name="T2" fmla="*/ 481 w 481"/>
                    <a:gd name="T3" fmla="*/ 229 h 229"/>
                    <a:gd name="T4" fmla="*/ 240 w 481"/>
                    <a:gd name="T5" fmla="*/ 228 h 229"/>
                    <a:gd name="T6" fmla="*/ 241 w 481"/>
                    <a:gd name="T7" fmla="*/ 1 h 229"/>
                    <a:gd name="T8" fmla="*/ 0 w 481"/>
                    <a:gd name="T9" fmla="*/ 0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81"/>
                    <a:gd name="T16" fmla="*/ 0 h 229"/>
                    <a:gd name="T17" fmla="*/ 481 w 481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81" h="229">
                      <a:moveTo>
                        <a:pt x="480" y="0"/>
                      </a:moveTo>
                      <a:lnTo>
                        <a:pt x="481" y="229"/>
                      </a:lnTo>
                      <a:lnTo>
                        <a:pt x="240" y="228"/>
                      </a:lnTo>
                      <a:lnTo>
                        <a:pt x="241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/>
                </a:p>
              </p:txBody>
            </p:sp>
            <p:sp>
              <p:nvSpPr>
                <p:cNvPr id="209964" name="Text Box 34"/>
                <p:cNvSpPr txBox="1">
                  <a:spLocks noChangeArrowheads="1"/>
                </p:cNvSpPr>
                <p:nvPr/>
              </p:nvSpPr>
              <p:spPr bwMode="auto">
                <a:xfrm>
                  <a:off x="710" y="2484"/>
                  <a:ext cx="89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defRPr kumimoji="1" sz="800" b="1">
                      <a:solidFill>
                        <a:schemeClr val="tx1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</a:pPr>
                  <a:r>
                    <a:rPr lang="zh-CN" altLang="en-US" sz="2400">
                      <a:latin typeface="Times New Roman" panose="02020603050405020304" pitchFamily="18" charset="0"/>
                    </a:rPr>
                    <a:t>感应电势</a:t>
                  </a:r>
                </a:p>
              </p:txBody>
            </p:sp>
          </p:grpSp>
        </p:grpSp>
      </p:grpSp>
      <p:grpSp>
        <p:nvGrpSpPr>
          <p:cNvPr id="8" name="Group 35"/>
          <p:cNvGrpSpPr/>
          <p:nvPr/>
        </p:nvGrpSpPr>
        <p:grpSpPr bwMode="auto">
          <a:xfrm>
            <a:off x="1127125" y="4724400"/>
            <a:ext cx="6873875" cy="457200"/>
            <a:chOff x="710" y="2976"/>
            <a:chExt cx="4330" cy="288"/>
          </a:xfrm>
        </p:grpSpPr>
        <p:sp>
          <p:nvSpPr>
            <p:cNvPr id="209949" name="Freeform 36"/>
            <p:cNvSpPr/>
            <p:nvPr/>
          </p:nvSpPr>
          <p:spPr bwMode="auto">
            <a:xfrm>
              <a:off x="1680" y="3036"/>
              <a:ext cx="480" cy="228"/>
            </a:xfrm>
            <a:custGeom>
              <a:avLst/>
              <a:gdLst>
                <a:gd name="T0" fmla="*/ 0 w 480"/>
                <a:gd name="T1" fmla="*/ 228 h 228"/>
                <a:gd name="T2" fmla="*/ 0 w 480"/>
                <a:gd name="T3" fmla="*/ 3 h 228"/>
                <a:gd name="T4" fmla="*/ 240 w 480"/>
                <a:gd name="T5" fmla="*/ 0 h 228"/>
                <a:gd name="T6" fmla="*/ 240 w 480"/>
                <a:gd name="T7" fmla="*/ 225 h 228"/>
                <a:gd name="T8" fmla="*/ 480 w 480"/>
                <a:gd name="T9" fmla="*/ 228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0"/>
                <a:gd name="T16" fmla="*/ 0 h 228"/>
                <a:gd name="T17" fmla="*/ 480 w 480"/>
                <a:gd name="T18" fmla="*/ 228 h 2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0" h="228">
                  <a:moveTo>
                    <a:pt x="0" y="228"/>
                  </a:moveTo>
                  <a:lnTo>
                    <a:pt x="0" y="3"/>
                  </a:lnTo>
                  <a:lnTo>
                    <a:pt x="240" y="0"/>
                  </a:lnTo>
                  <a:lnTo>
                    <a:pt x="240" y="225"/>
                  </a:lnTo>
                  <a:lnTo>
                    <a:pt x="480" y="22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9950" name="Freeform 37"/>
            <p:cNvSpPr/>
            <p:nvPr/>
          </p:nvSpPr>
          <p:spPr bwMode="auto">
            <a:xfrm>
              <a:off x="2160" y="3036"/>
              <a:ext cx="480" cy="228"/>
            </a:xfrm>
            <a:custGeom>
              <a:avLst/>
              <a:gdLst>
                <a:gd name="T0" fmla="*/ 0 w 480"/>
                <a:gd name="T1" fmla="*/ 228 h 228"/>
                <a:gd name="T2" fmla="*/ 0 w 480"/>
                <a:gd name="T3" fmla="*/ 3 h 228"/>
                <a:gd name="T4" fmla="*/ 240 w 480"/>
                <a:gd name="T5" fmla="*/ 0 h 228"/>
                <a:gd name="T6" fmla="*/ 237 w 480"/>
                <a:gd name="T7" fmla="*/ 225 h 228"/>
                <a:gd name="T8" fmla="*/ 480 w 480"/>
                <a:gd name="T9" fmla="*/ 228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0"/>
                <a:gd name="T16" fmla="*/ 0 h 228"/>
                <a:gd name="T17" fmla="*/ 480 w 480"/>
                <a:gd name="T18" fmla="*/ 228 h 2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0" h="228">
                  <a:moveTo>
                    <a:pt x="0" y="228"/>
                  </a:moveTo>
                  <a:lnTo>
                    <a:pt x="0" y="3"/>
                  </a:lnTo>
                  <a:lnTo>
                    <a:pt x="240" y="0"/>
                  </a:lnTo>
                  <a:lnTo>
                    <a:pt x="237" y="225"/>
                  </a:lnTo>
                  <a:lnTo>
                    <a:pt x="480" y="22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9951" name="Freeform 38"/>
            <p:cNvSpPr/>
            <p:nvPr/>
          </p:nvSpPr>
          <p:spPr bwMode="auto">
            <a:xfrm>
              <a:off x="2640" y="3036"/>
              <a:ext cx="480" cy="228"/>
            </a:xfrm>
            <a:custGeom>
              <a:avLst/>
              <a:gdLst>
                <a:gd name="T0" fmla="*/ 0 w 480"/>
                <a:gd name="T1" fmla="*/ 228 h 228"/>
                <a:gd name="T2" fmla="*/ 0 w 480"/>
                <a:gd name="T3" fmla="*/ 3 h 228"/>
                <a:gd name="T4" fmla="*/ 240 w 480"/>
                <a:gd name="T5" fmla="*/ 0 h 228"/>
                <a:gd name="T6" fmla="*/ 240 w 480"/>
                <a:gd name="T7" fmla="*/ 228 h 228"/>
                <a:gd name="T8" fmla="*/ 480 w 480"/>
                <a:gd name="T9" fmla="*/ 228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0"/>
                <a:gd name="T16" fmla="*/ 0 h 228"/>
                <a:gd name="T17" fmla="*/ 480 w 480"/>
                <a:gd name="T18" fmla="*/ 228 h 2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0" h="228">
                  <a:moveTo>
                    <a:pt x="0" y="228"/>
                  </a:moveTo>
                  <a:lnTo>
                    <a:pt x="0" y="3"/>
                  </a:lnTo>
                  <a:lnTo>
                    <a:pt x="240" y="0"/>
                  </a:lnTo>
                  <a:lnTo>
                    <a:pt x="240" y="228"/>
                  </a:lnTo>
                  <a:lnTo>
                    <a:pt x="480" y="22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9952" name="Freeform 39"/>
            <p:cNvSpPr/>
            <p:nvPr/>
          </p:nvSpPr>
          <p:spPr bwMode="auto">
            <a:xfrm>
              <a:off x="3120" y="3036"/>
              <a:ext cx="480" cy="228"/>
            </a:xfrm>
            <a:custGeom>
              <a:avLst/>
              <a:gdLst>
                <a:gd name="T0" fmla="*/ 0 w 480"/>
                <a:gd name="T1" fmla="*/ 228 h 228"/>
                <a:gd name="T2" fmla="*/ 0 w 480"/>
                <a:gd name="T3" fmla="*/ 3 h 228"/>
                <a:gd name="T4" fmla="*/ 240 w 480"/>
                <a:gd name="T5" fmla="*/ 0 h 228"/>
                <a:gd name="T6" fmla="*/ 240 w 480"/>
                <a:gd name="T7" fmla="*/ 228 h 228"/>
                <a:gd name="T8" fmla="*/ 480 w 480"/>
                <a:gd name="T9" fmla="*/ 228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0"/>
                <a:gd name="T16" fmla="*/ 0 h 228"/>
                <a:gd name="T17" fmla="*/ 480 w 480"/>
                <a:gd name="T18" fmla="*/ 228 h 2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0" h="228">
                  <a:moveTo>
                    <a:pt x="0" y="228"/>
                  </a:moveTo>
                  <a:lnTo>
                    <a:pt x="0" y="3"/>
                  </a:lnTo>
                  <a:lnTo>
                    <a:pt x="240" y="0"/>
                  </a:lnTo>
                  <a:lnTo>
                    <a:pt x="240" y="228"/>
                  </a:lnTo>
                  <a:lnTo>
                    <a:pt x="480" y="22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9953" name="Freeform 40"/>
            <p:cNvSpPr/>
            <p:nvPr/>
          </p:nvSpPr>
          <p:spPr bwMode="auto">
            <a:xfrm>
              <a:off x="3600" y="3036"/>
              <a:ext cx="480" cy="228"/>
            </a:xfrm>
            <a:custGeom>
              <a:avLst/>
              <a:gdLst>
                <a:gd name="T0" fmla="*/ 0 w 480"/>
                <a:gd name="T1" fmla="*/ 228 h 228"/>
                <a:gd name="T2" fmla="*/ 0 w 480"/>
                <a:gd name="T3" fmla="*/ 3 h 228"/>
                <a:gd name="T4" fmla="*/ 240 w 480"/>
                <a:gd name="T5" fmla="*/ 0 h 228"/>
                <a:gd name="T6" fmla="*/ 237 w 480"/>
                <a:gd name="T7" fmla="*/ 225 h 228"/>
                <a:gd name="T8" fmla="*/ 480 w 480"/>
                <a:gd name="T9" fmla="*/ 228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0"/>
                <a:gd name="T16" fmla="*/ 0 h 228"/>
                <a:gd name="T17" fmla="*/ 480 w 480"/>
                <a:gd name="T18" fmla="*/ 228 h 2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0" h="228">
                  <a:moveTo>
                    <a:pt x="0" y="228"/>
                  </a:moveTo>
                  <a:lnTo>
                    <a:pt x="0" y="3"/>
                  </a:lnTo>
                  <a:lnTo>
                    <a:pt x="240" y="0"/>
                  </a:lnTo>
                  <a:lnTo>
                    <a:pt x="237" y="225"/>
                  </a:lnTo>
                  <a:lnTo>
                    <a:pt x="480" y="22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9954" name="Freeform 41"/>
            <p:cNvSpPr/>
            <p:nvPr/>
          </p:nvSpPr>
          <p:spPr bwMode="auto">
            <a:xfrm>
              <a:off x="4080" y="3039"/>
              <a:ext cx="480" cy="225"/>
            </a:xfrm>
            <a:custGeom>
              <a:avLst/>
              <a:gdLst>
                <a:gd name="T0" fmla="*/ 0 w 480"/>
                <a:gd name="T1" fmla="*/ 225 h 225"/>
                <a:gd name="T2" fmla="*/ 0 w 480"/>
                <a:gd name="T3" fmla="*/ 0 h 225"/>
                <a:gd name="T4" fmla="*/ 237 w 480"/>
                <a:gd name="T5" fmla="*/ 0 h 225"/>
                <a:gd name="T6" fmla="*/ 237 w 480"/>
                <a:gd name="T7" fmla="*/ 222 h 225"/>
                <a:gd name="T8" fmla="*/ 480 w 480"/>
                <a:gd name="T9" fmla="*/ 225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0"/>
                <a:gd name="T16" fmla="*/ 0 h 225"/>
                <a:gd name="T17" fmla="*/ 480 w 480"/>
                <a:gd name="T18" fmla="*/ 225 h 2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0" h="225">
                  <a:moveTo>
                    <a:pt x="0" y="225"/>
                  </a:moveTo>
                  <a:lnTo>
                    <a:pt x="0" y="0"/>
                  </a:lnTo>
                  <a:lnTo>
                    <a:pt x="237" y="0"/>
                  </a:lnTo>
                  <a:lnTo>
                    <a:pt x="237" y="222"/>
                  </a:lnTo>
                  <a:lnTo>
                    <a:pt x="480" y="22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9955" name="Freeform 42"/>
            <p:cNvSpPr/>
            <p:nvPr/>
          </p:nvSpPr>
          <p:spPr bwMode="auto">
            <a:xfrm>
              <a:off x="4560" y="3036"/>
              <a:ext cx="480" cy="228"/>
            </a:xfrm>
            <a:custGeom>
              <a:avLst/>
              <a:gdLst>
                <a:gd name="T0" fmla="*/ 0 w 480"/>
                <a:gd name="T1" fmla="*/ 228 h 228"/>
                <a:gd name="T2" fmla="*/ 0 w 480"/>
                <a:gd name="T3" fmla="*/ 3 h 228"/>
                <a:gd name="T4" fmla="*/ 240 w 480"/>
                <a:gd name="T5" fmla="*/ 0 h 228"/>
                <a:gd name="T6" fmla="*/ 240 w 480"/>
                <a:gd name="T7" fmla="*/ 225 h 228"/>
                <a:gd name="T8" fmla="*/ 480 w 480"/>
                <a:gd name="T9" fmla="*/ 228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0"/>
                <a:gd name="T16" fmla="*/ 0 h 228"/>
                <a:gd name="T17" fmla="*/ 480 w 480"/>
                <a:gd name="T18" fmla="*/ 228 h 2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0" h="228">
                  <a:moveTo>
                    <a:pt x="0" y="228"/>
                  </a:moveTo>
                  <a:lnTo>
                    <a:pt x="0" y="3"/>
                  </a:lnTo>
                  <a:lnTo>
                    <a:pt x="240" y="0"/>
                  </a:lnTo>
                  <a:lnTo>
                    <a:pt x="240" y="225"/>
                  </a:lnTo>
                  <a:lnTo>
                    <a:pt x="480" y="22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9956" name="Text Box 43"/>
            <p:cNvSpPr txBox="1">
              <a:spLocks noChangeArrowheads="1"/>
            </p:cNvSpPr>
            <p:nvPr/>
          </p:nvSpPr>
          <p:spPr bwMode="auto">
            <a:xfrm>
              <a:off x="710" y="2976"/>
              <a:ext cx="89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同步脉冲</a:t>
              </a:r>
            </a:p>
          </p:txBody>
        </p:sp>
      </p:grpSp>
      <p:grpSp>
        <p:nvGrpSpPr>
          <p:cNvPr id="9" name="Group 44"/>
          <p:cNvGrpSpPr/>
          <p:nvPr/>
        </p:nvGrpSpPr>
        <p:grpSpPr bwMode="auto">
          <a:xfrm>
            <a:off x="1127125" y="5505450"/>
            <a:ext cx="6873875" cy="458788"/>
            <a:chOff x="710" y="3468"/>
            <a:chExt cx="4330" cy="289"/>
          </a:xfrm>
        </p:grpSpPr>
        <p:sp>
          <p:nvSpPr>
            <p:cNvPr id="209943" name="Line 45"/>
            <p:cNvSpPr>
              <a:spLocks noChangeShapeType="1"/>
            </p:cNvSpPr>
            <p:nvPr/>
          </p:nvSpPr>
          <p:spPr bwMode="auto">
            <a:xfrm>
              <a:off x="1680" y="3696"/>
              <a:ext cx="48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pSp>
          <p:nvGrpSpPr>
            <p:cNvPr id="209944" name="Group 46"/>
            <p:cNvGrpSpPr/>
            <p:nvPr/>
          </p:nvGrpSpPr>
          <p:grpSpPr bwMode="auto">
            <a:xfrm>
              <a:off x="710" y="3468"/>
              <a:ext cx="4330" cy="289"/>
              <a:chOff x="710" y="3468"/>
              <a:chExt cx="4330" cy="289"/>
            </a:xfrm>
          </p:grpSpPr>
          <p:sp>
            <p:nvSpPr>
              <p:cNvPr id="209945" name="Freeform 47"/>
              <p:cNvSpPr/>
              <p:nvPr/>
            </p:nvSpPr>
            <p:spPr bwMode="auto">
              <a:xfrm>
                <a:off x="2160" y="3468"/>
                <a:ext cx="480" cy="228"/>
              </a:xfrm>
              <a:custGeom>
                <a:avLst/>
                <a:gdLst>
                  <a:gd name="T0" fmla="*/ 0 w 480"/>
                  <a:gd name="T1" fmla="*/ 228 h 228"/>
                  <a:gd name="T2" fmla="*/ 0 w 480"/>
                  <a:gd name="T3" fmla="*/ 3 h 228"/>
                  <a:gd name="T4" fmla="*/ 240 w 480"/>
                  <a:gd name="T5" fmla="*/ 0 h 228"/>
                  <a:gd name="T6" fmla="*/ 237 w 480"/>
                  <a:gd name="T7" fmla="*/ 225 h 228"/>
                  <a:gd name="T8" fmla="*/ 480 w 480"/>
                  <a:gd name="T9" fmla="*/ 228 h 2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0"/>
                  <a:gd name="T16" fmla="*/ 0 h 228"/>
                  <a:gd name="T17" fmla="*/ 480 w 480"/>
                  <a:gd name="T18" fmla="*/ 228 h 2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0" h="228">
                    <a:moveTo>
                      <a:pt x="0" y="228"/>
                    </a:moveTo>
                    <a:lnTo>
                      <a:pt x="0" y="3"/>
                    </a:lnTo>
                    <a:lnTo>
                      <a:pt x="240" y="0"/>
                    </a:lnTo>
                    <a:lnTo>
                      <a:pt x="237" y="225"/>
                    </a:lnTo>
                    <a:lnTo>
                      <a:pt x="480" y="228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09946" name="Freeform 48"/>
              <p:cNvSpPr/>
              <p:nvPr/>
            </p:nvSpPr>
            <p:spPr bwMode="auto">
              <a:xfrm>
                <a:off x="2640" y="3468"/>
                <a:ext cx="1445" cy="231"/>
              </a:xfrm>
              <a:custGeom>
                <a:avLst/>
                <a:gdLst>
                  <a:gd name="T0" fmla="*/ 0 w 1445"/>
                  <a:gd name="T1" fmla="*/ 228 h 231"/>
                  <a:gd name="T2" fmla="*/ 0 w 1445"/>
                  <a:gd name="T3" fmla="*/ 3 h 231"/>
                  <a:gd name="T4" fmla="*/ 240 w 1445"/>
                  <a:gd name="T5" fmla="*/ 0 h 231"/>
                  <a:gd name="T6" fmla="*/ 240 w 1445"/>
                  <a:gd name="T7" fmla="*/ 231 h 231"/>
                  <a:gd name="T8" fmla="*/ 1445 w 1445"/>
                  <a:gd name="T9" fmla="*/ 230 h 2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45"/>
                  <a:gd name="T16" fmla="*/ 0 h 231"/>
                  <a:gd name="T17" fmla="*/ 1445 w 1445"/>
                  <a:gd name="T18" fmla="*/ 231 h 2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45" h="231">
                    <a:moveTo>
                      <a:pt x="0" y="228"/>
                    </a:moveTo>
                    <a:lnTo>
                      <a:pt x="0" y="3"/>
                    </a:lnTo>
                    <a:lnTo>
                      <a:pt x="240" y="0"/>
                    </a:lnTo>
                    <a:lnTo>
                      <a:pt x="240" y="231"/>
                    </a:lnTo>
                    <a:lnTo>
                      <a:pt x="1445" y="23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09947" name="Freeform 49"/>
              <p:cNvSpPr/>
              <p:nvPr/>
            </p:nvSpPr>
            <p:spPr bwMode="auto">
              <a:xfrm>
                <a:off x="4080" y="3468"/>
                <a:ext cx="960" cy="228"/>
              </a:xfrm>
              <a:custGeom>
                <a:avLst/>
                <a:gdLst>
                  <a:gd name="T0" fmla="*/ 0 w 960"/>
                  <a:gd name="T1" fmla="*/ 228 h 228"/>
                  <a:gd name="T2" fmla="*/ 0 w 960"/>
                  <a:gd name="T3" fmla="*/ 3 h 228"/>
                  <a:gd name="T4" fmla="*/ 240 w 960"/>
                  <a:gd name="T5" fmla="*/ 0 h 228"/>
                  <a:gd name="T6" fmla="*/ 240 w 960"/>
                  <a:gd name="T7" fmla="*/ 225 h 228"/>
                  <a:gd name="T8" fmla="*/ 960 w 960"/>
                  <a:gd name="T9" fmla="*/ 228 h 2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0"/>
                  <a:gd name="T16" fmla="*/ 0 h 228"/>
                  <a:gd name="T17" fmla="*/ 960 w 960"/>
                  <a:gd name="T18" fmla="*/ 228 h 2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0" h="228">
                    <a:moveTo>
                      <a:pt x="0" y="228"/>
                    </a:moveTo>
                    <a:lnTo>
                      <a:pt x="0" y="3"/>
                    </a:lnTo>
                    <a:lnTo>
                      <a:pt x="240" y="0"/>
                    </a:lnTo>
                    <a:lnTo>
                      <a:pt x="240" y="225"/>
                    </a:lnTo>
                    <a:lnTo>
                      <a:pt x="960" y="228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09948" name="Text Box 50"/>
              <p:cNvSpPr txBox="1">
                <a:spLocks noChangeArrowheads="1"/>
              </p:cNvSpPr>
              <p:nvPr/>
            </p:nvSpPr>
            <p:spPr bwMode="auto">
              <a:xfrm>
                <a:off x="710" y="3469"/>
                <a:ext cx="88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读出代码</a:t>
                </a:r>
              </a:p>
            </p:txBody>
          </p:sp>
        </p:grpSp>
      </p:grpSp>
      <p:sp>
        <p:nvSpPr>
          <p:cNvPr id="301107" name="Freeform 51"/>
          <p:cNvSpPr/>
          <p:nvPr/>
        </p:nvSpPr>
        <p:spPr bwMode="auto">
          <a:xfrm>
            <a:off x="2676525" y="3124200"/>
            <a:ext cx="5410200" cy="538163"/>
          </a:xfrm>
          <a:custGeom>
            <a:avLst/>
            <a:gdLst>
              <a:gd name="T0" fmla="*/ 0 w 3408"/>
              <a:gd name="T1" fmla="*/ 2147483647 h 339"/>
              <a:gd name="T2" fmla="*/ 2147483647 w 3408"/>
              <a:gd name="T3" fmla="*/ 2147483647 h 339"/>
              <a:gd name="T4" fmla="*/ 2147483647 w 3408"/>
              <a:gd name="T5" fmla="*/ 2147483647 h 339"/>
              <a:gd name="T6" fmla="*/ 2147483647 w 3408"/>
              <a:gd name="T7" fmla="*/ 2147483647 h 339"/>
              <a:gd name="T8" fmla="*/ 2147483647 w 3408"/>
              <a:gd name="T9" fmla="*/ 2147483647 h 339"/>
              <a:gd name="T10" fmla="*/ 2147483647 w 3408"/>
              <a:gd name="T11" fmla="*/ 2147483647 h 339"/>
              <a:gd name="T12" fmla="*/ 2147483647 w 3408"/>
              <a:gd name="T13" fmla="*/ 0 h 339"/>
              <a:gd name="T14" fmla="*/ 2147483647 w 3408"/>
              <a:gd name="T15" fmla="*/ 0 h 339"/>
              <a:gd name="T16" fmla="*/ 2147483647 w 3408"/>
              <a:gd name="T17" fmla="*/ 0 h 339"/>
              <a:gd name="T18" fmla="*/ 2147483647 w 3408"/>
              <a:gd name="T19" fmla="*/ 0 h 339"/>
              <a:gd name="T20" fmla="*/ 2147483647 w 3408"/>
              <a:gd name="T21" fmla="*/ 0 h 339"/>
              <a:gd name="T22" fmla="*/ 2147483647 w 3408"/>
              <a:gd name="T23" fmla="*/ 2147483647 h 339"/>
              <a:gd name="T24" fmla="*/ 2147483647 w 3408"/>
              <a:gd name="T25" fmla="*/ 2147483647 h 339"/>
              <a:gd name="T26" fmla="*/ 2147483647 w 3408"/>
              <a:gd name="T27" fmla="*/ 2147483647 h 339"/>
              <a:gd name="T28" fmla="*/ 2147483647 w 3408"/>
              <a:gd name="T29" fmla="*/ 2147483647 h 339"/>
              <a:gd name="T30" fmla="*/ 2147483647 w 3408"/>
              <a:gd name="T31" fmla="*/ 2147483647 h 339"/>
              <a:gd name="T32" fmla="*/ 2147483647 w 3408"/>
              <a:gd name="T33" fmla="*/ 2147483647 h 339"/>
              <a:gd name="T34" fmla="*/ 2147483647 w 3408"/>
              <a:gd name="T35" fmla="*/ 2147483647 h 339"/>
              <a:gd name="T36" fmla="*/ 2147483647 w 3408"/>
              <a:gd name="T37" fmla="*/ 2147483647 h 339"/>
              <a:gd name="T38" fmla="*/ 2147483647 w 3408"/>
              <a:gd name="T39" fmla="*/ 2147483647 h 339"/>
              <a:gd name="T40" fmla="*/ 2147483647 w 3408"/>
              <a:gd name="T41" fmla="*/ 2147483647 h 339"/>
              <a:gd name="T42" fmla="*/ 2147483647 w 3408"/>
              <a:gd name="T43" fmla="*/ 2147483647 h 339"/>
              <a:gd name="T44" fmla="*/ 2147483647 w 3408"/>
              <a:gd name="T45" fmla="*/ 2147483647 h 339"/>
              <a:gd name="T46" fmla="*/ 2147483647 w 3408"/>
              <a:gd name="T47" fmla="*/ 2147483647 h 339"/>
              <a:gd name="T48" fmla="*/ 2147483647 w 3408"/>
              <a:gd name="T49" fmla="*/ 2147483647 h 339"/>
              <a:gd name="T50" fmla="*/ 2147483647 w 3408"/>
              <a:gd name="T51" fmla="*/ 2147483647 h 339"/>
              <a:gd name="T52" fmla="*/ 2147483647 w 3408"/>
              <a:gd name="T53" fmla="*/ 2147483647 h 339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w 3408"/>
              <a:gd name="T82" fmla="*/ 0 h 339"/>
              <a:gd name="T83" fmla="*/ 3408 w 3408"/>
              <a:gd name="T84" fmla="*/ 339 h 339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T81" t="T82" r="T83" b="T84"/>
            <a:pathLst>
              <a:path w="3408" h="339">
                <a:moveTo>
                  <a:pt x="0" y="336"/>
                </a:moveTo>
                <a:lnTo>
                  <a:pt x="459" y="336"/>
                </a:lnTo>
                <a:lnTo>
                  <a:pt x="501" y="330"/>
                </a:lnTo>
                <a:lnTo>
                  <a:pt x="516" y="309"/>
                </a:lnTo>
                <a:lnTo>
                  <a:pt x="552" y="54"/>
                </a:lnTo>
                <a:lnTo>
                  <a:pt x="573" y="24"/>
                </a:lnTo>
                <a:lnTo>
                  <a:pt x="597" y="0"/>
                </a:lnTo>
                <a:lnTo>
                  <a:pt x="759" y="0"/>
                </a:lnTo>
                <a:lnTo>
                  <a:pt x="873" y="0"/>
                </a:lnTo>
                <a:lnTo>
                  <a:pt x="930" y="0"/>
                </a:lnTo>
                <a:lnTo>
                  <a:pt x="954" y="0"/>
                </a:lnTo>
                <a:lnTo>
                  <a:pt x="966" y="15"/>
                </a:lnTo>
                <a:lnTo>
                  <a:pt x="978" y="33"/>
                </a:lnTo>
                <a:lnTo>
                  <a:pt x="1035" y="276"/>
                </a:lnTo>
                <a:lnTo>
                  <a:pt x="1059" y="303"/>
                </a:lnTo>
                <a:lnTo>
                  <a:pt x="1080" y="327"/>
                </a:lnTo>
                <a:lnTo>
                  <a:pt x="1131" y="339"/>
                </a:lnTo>
                <a:lnTo>
                  <a:pt x="2400" y="336"/>
                </a:lnTo>
                <a:lnTo>
                  <a:pt x="2439" y="327"/>
                </a:lnTo>
                <a:lnTo>
                  <a:pt x="2463" y="309"/>
                </a:lnTo>
                <a:lnTo>
                  <a:pt x="2466" y="303"/>
                </a:lnTo>
                <a:lnTo>
                  <a:pt x="2466" y="288"/>
                </a:lnTo>
                <a:lnTo>
                  <a:pt x="2499" y="45"/>
                </a:lnTo>
                <a:lnTo>
                  <a:pt x="2511" y="21"/>
                </a:lnTo>
                <a:lnTo>
                  <a:pt x="2544" y="9"/>
                </a:lnTo>
                <a:lnTo>
                  <a:pt x="2568" y="3"/>
                </a:lnTo>
                <a:lnTo>
                  <a:pt x="3408" y="3"/>
                </a:lnTo>
              </a:path>
            </a:pathLst>
          </a:custGeom>
          <a:noFill/>
          <a:ln w="38100" cmpd="sng">
            <a:solidFill>
              <a:schemeClr val="folHlink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301108" name="Rectangle 52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4.4</a:t>
            </a:r>
          </a:p>
        </p:txBody>
      </p:sp>
      <p:grpSp>
        <p:nvGrpSpPr>
          <p:cNvPr id="11" name="Group 53"/>
          <p:cNvGrpSpPr/>
          <p:nvPr/>
        </p:nvGrpSpPr>
        <p:grpSpPr bwMode="auto">
          <a:xfrm>
            <a:off x="2667000" y="5500688"/>
            <a:ext cx="5334000" cy="371475"/>
            <a:chOff x="1680" y="3465"/>
            <a:chExt cx="3360" cy="234"/>
          </a:xfrm>
        </p:grpSpPr>
        <p:sp>
          <p:nvSpPr>
            <p:cNvPr id="209939" name="Freeform 54"/>
            <p:cNvSpPr/>
            <p:nvPr/>
          </p:nvSpPr>
          <p:spPr bwMode="auto">
            <a:xfrm>
              <a:off x="1680" y="3691"/>
              <a:ext cx="480" cy="2"/>
            </a:xfrm>
            <a:custGeom>
              <a:avLst/>
              <a:gdLst>
                <a:gd name="T0" fmla="*/ 480 w 480"/>
                <a:gd name="T1" fmla="*/ 0 h 2"/>
                <a:gd name="T2" fmla="*/ 0 w 480"/>
                <a:gd name="T3" fmla="*/ 2 h 2"/>
                <a:gd name="T4" fmla="*/ 0 60000 65536"/>
                <a:gd name="T5" fmla="*/ 0 60000 65536"/>
                <a:gd name="T6" fmla="*/ 0 w 480"/>
                <a:gd name="T7" fmla="*/ 0 h 2"/>
                <a:gd name="T8" fmla="*/ 480 w 480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80" h="2">
                  <a:moveTo>
                    <a:pt x="480" y="0"/>
                  </a:moveTo>
                  <a:lnTo>
                    <a:pt x="0" y="2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9940" name="Freeform 55"/>
            <p:cNvSpPr/>
            <p:nvPr/>
          </p:nvSpPr>
          <p:spPr bwMode="auto">
            <a:xfrm>
              <a:off x="2532" y="3465"/>
              <a:ext cx="1542" cy="234"/>
            </a:xfrm>
            <a:custGeom>
              <a:avLst/>
              <a:gdLst>
                <a:gd name="T0" fmla="*/ 0 w 1542"/>
                <a:gd name="T1" fmla="*/ 231 h 234"/>
                <a:gd name="T2" fmla="*/ 60 w 1542"/>
                <a:gd name="T3" fmla="*/ 228 h 234"/>
                <a:gd name="T4" fmla="*/ 117 w 1542"/>
                <a:gd name="T5" fmla="*/ 222 h 234"/>
                <a:gd name="T6" fmla="*/ 135 w 1542"/>
                <a:gd name="T7" fmla="*/ 63 h 234"/>
                <a:gd name="T8" fmla="*/ 138 w 1542"/>
                <a:gd name="T9" fmla="*/ 45 h 234"/>
                <a:gd name="T10" fmla="*/ 147 w 1542"/>
                <a:gd name="T11" fmla="*/ 9 h 234"/>
                <a:gd name="T12" fmla="*/ 165 w 1542"/>
                <a:gd name="T13" fmla="*/ 0 h 234"/>
                <a:gd name="T14" fmla="*/ 177 w 1542"/>
                <a:gd name="T15" fmla="*/ 15 h 234"/>
                <a:gd name="T16" fmla="*/ 186 w 1542"/>
                <a:gd name="T17" fmla="*/ 42 h 234"/>
                <a:gd name="T18" fmla="*/ 213 w 1542"/>
                <a:gd name="T19" fmla="*/ 213 h 234"/>
                <a:gd name="T20" fmla="*/ 228 w 1542"/>
                <a:gd name="T21" fmla="*/ 225 h 234"/>
                <a:gd name="T22" fmla="*/ 255 w 1542"/>
                <a:gd name="T23" fmla="*/ 234 h 234"/>
                <a:gd name="T24" fmla="*/ 1542 w 1542"/>
                <a:gd name="T25" fmla="*/ 234 h 2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542"/>
                <a:gd name="T40" fmla="*/ 0 h 234"/>
                <a:gd name="T41" fmla="*/ 1542 w 1542"/>
                <a:gd name="T42" fmla="*/ 234 h 23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542" h="234">
                  <a:moveTo>
                    <a:pt x="0" y="231"/>
                  </a:moveTo>
                  <a:lnTo>
                    <a:pt x="60" y="228"/>
                  </a:lnTo>
                  <a:lnTo>
                    <a:pt x="117" y="222"/>
                  </a:lnTo>
                  <a:lnTo>
                    <a:pt x="135" y="63"/>
                  </a:lnTo>
                  <a:lnTo>
                    <a:pt x="138" y="45"/>
                  </a:lnTo>
                  <a:lnTo>
                    <a:pt x="147" y="9"/>
                  </a:lnTo>
                  <a:lnTo>
                    <a:pt x="165" y="0"/>
                  </a:lnTo>
                  <a:lnTo>
                    <a:pt x="177" y="15"/>
                  </a:lnTo>
                  <a:lnTo>
                    <a:pt x="186" y="42"/>
                  </a:lnTo>
                  <a:lnTo>
                    <a:pt x="213" y="213"/>
                  </a:lnTo>
                  <a:lnTo>
                    <a:pt x="228" y="225"/>
                  </a:lnTo>
                  <a:lnTo>
                    <a:pt x="255" y="234"/>
                  </a:lnTo>
                  <a:lnTo>
                    <a:pt x="1542" y="234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9941" name="Freeform 56"/>
            <p:cNvSpPr/>
            <p:nvPr/>
          </p:nvSpPr>
          <p:spPr bwMode="auto">
            <a:xfrm>
              <a:off x="2070" y="3465"/>
              <a:ext cx="471" cy="231"/>
            </a:xfrm>
            <a:custGeom>
              <a:avLst/>
              <a:gdLst>
                <a:gd name="T0" fmla="*/ 0 w 471"/>
                <a:gd name="T1" fmla="*/ 231 h 231"/>
                <a:gd name="T2" fmla="*/ 39 w 471"/>
                <a:gd name="T3" fmla="*/ 228 h 231"/>
                <a:gd name="T4" fmla="*/ 99 w 471"/>
                <a:gd name="T5" fmla="*/ 222 h 231"/>
                <a:gd name="T6" fmla="*/ 117 w 471"/>
                <a:gd name="T7" fmla="*/ 63 h 231"/>
                <a:gd name="T8" fmla="*/ 120 w 471"/>
                <a:gd name="T9" fmla="*/ 45 h 231"/>
                <a:gd name="T10" fmla="*/ 129 w 471"/>
                <a:gd name="T11" fmla="*/ 9 h 231"/>
                <a:gd name="T12" fmla="*/ 147 w 471"/>
                <a:gd name="T13" fmla="*/ 0 h 231"/>
                <a:gd name="T14" fmla="*/ 159 w 471"/>
                <a:gd name="T15" fmla="*/ 15 h 231"/>
                <a:gd name="T16" fmla="*/ 168 w 471"/>
                <a:gd name="T17" fmla="*/ 42 h 231"/>
                <a:gd name="T18" fmla="*/ 195 w 471"/>
                <a:gd name="T19" fmla="*/ 213 h 231"/>
                <a:gd name="T20" fmla="*/ 210 w 471"/>
                <a:gd name="T21" fmla="*/ 225 h 231"/>
                <a:gd name="T22" fmla="*/ 228 w 471"/>
                <a:gd name="T23" fmla="*/ 231 h 231"/>
                <a:gd name="T24" fmla="*/ 471 w 471"/>
                <a:gd name="T25" fmla="*/ 228 h 2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71"/>
                <a:gd name="T40" fmla="*/ 0 h 231"/>
                <a:gd name="T41" fmla="*/ 471 w 471"/>
                <a:gd name="T42" fmla="*/ 231 h 2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71" h="231">
                  <a:moveTo>
                    <a:pt x="0" y="231"/>
                  </a:moveTo>
                  <a:lnTo>
                    <a:pt x="39" y="228"/>
                  </a:lnTo>
                  <a:lnTo>
                    <a:pt x="99" y="222"/>
                  </a:lnTo>
                  <a:lnTo>
                    <a:pt x="117" y="63"/>
                  </a:lnTo>
                  <a:lnTo>
                    <a:pt x="120" y="45"/>
                  </a:lnTo>
                  <a:lnTo>
                    <a:pt x="129" y="9"/>
                  </a:lnTo>
                  <a:lnTo>
                    <a:pt x="147" y="0"/>
                  </a:lnTo>
                  <a:lnTo>
                    <a:pt x="159" y="15"/>
                  </a:lnTo>
                  <a:lnTo>
                    <a:pt x="168" y="42"/>
                  </a:lnTo>
                  <a:lnTo>
                    <a:pt x="195" y="213"/>
                  </a:lnTo>
                  <a:lnTo>
                    <a:pt x="210" y="225"/>
                  </a:lnTo>
                  <a:lnTo>
                    <a:pt x="228" y="231"/>
                  </a:lnTo>
                  <a:lnTo>
                    <a:pt x="471" y="228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9942" name="Freeform 57"/>
            <p:cNvSpPr/>
            <p:nvPr/>
          </p:nvSpPr>
          <p:spPr bwMode="auto">
            <a:xfrm>
              <a:off x="3984" y="3465"/>
              <a:ext cx="1056" cy="234"/>
            </a:xfrm>
            <a:custGeom>
              <a:avLst/>
              <a:gdLst>
                <a:gd name="T0" fmla="*/ 0 w 1056"/>
                <a:gd name="T1" fmla="*/ 234 h 234"/>
                <a:gd name="T2" fmla="*/ 42 w 1056"/>
                <a:gd name="T3" fmla="*/ 234 h 234"/>
                <a:gd name="T4" fmla="*/ 105 w 1056"/>
                <a:gd name="T5" fmla="*/ 222 h 234"/>
                <a:gd name="T6" fmla="*/ 123 w 1056"/>
                <a:gd name="T7" fmla="*/ 63 h 234"/>
                <a:gd name="T8" fmla="*/ 126 w 1056"/>
                <a:gd name="T9" fmla="*/ 45 h 234"/>
                <a:gd name="T10" fmla="*/ 135 w 1056"/>
                <a:gd name="T11" fmla="*/ 9 h 234"/>
                <a:gd name="T12" fmla="*/ 153 w 1056"/>
                <a:gd name="T13" fmla="*/ 0 h 234"/>
                <a:gd name="T14" fmla="*/ 165 w 1056"/>
                <a:gd name="T15" fmla="*/ 15 h 234"/>
                <a:gd name="T16" fmla="*/ 174 w 1056"/>
                <a:gd name="T17" fmla="*/ 42 h 234"/>
                <a:gd name="T18" fmla="*/ 201 w 1056"/>
                <a:gd name="T19" fmla="*/ 213 h 234"/>
                <a:gd name="T20" fmla="*/ 216 w 1056"/>
                <a:gd name="T21" fmla="*/ 225 h 234"/>
                <a:gd name="T22" fmla="*/ 234 w 1056"/>
                <a:gd name="T23" fmla="*/ 231 h 234"/>
                <a:gd name="T24" fmla="*/ 1056 w 1056"/>
                <a:gd name="T25" fmla="*/ 228 h 2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056"/>
                <a:gd name="T40" fmla="*/ 0 h 234"/>
                <a:gd name="T41" fmla="*/ 1056 w 1056"/>
                <a:gd name="T42" fmla="*/ 234 h 23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056" h="234">
                  <a:moveTo>
                    <a:pt x="0" y="234"/>
                  </a:moveTo>
                  <a:lnTo>
                    <a:pt x="42" y="234"/>
                  </a:lnTo>
                  <a:lnTo>
                    <a:pt x="105" y="222"/>
                  </a:lnTo>
                  <a:lnTo>
                    <a:pt x="123" y="63"/>
                  </a:lnTo>
                  <a:lnTo>
                    <a:pt x="126" y="45"/>
                  </a:lnTo>
                  <a:lnTo>
                    <a:pt x="135" y="9"/>
                  </a:lnTo>
                  <a:lnTo>
                    <a:pt x="153" y="0"/>
                  </a:lnTo>
                  <a:lnTo>
                    <a:pt x="165" y="15"/>
                  </a:lnTo>
                  <a:lnTo>
                    <a:pt x="174" y="42"/>
                  </a:lnTo>
                  <a:lnTo>
                    <a:pt x="201" y="213"/>
                  </a:lnTo>
                  <a:lnTo>
                    <a:pt x="216" y="225"/>
                  </a:lnTo>
                  <a:lnTo>
                    <a:pt x="234" y="231"/>
                  </a:lnTo>
                  <a:lnTo>
                    <a:pt x="1056" y="228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grpSp>
        <p:nvGrpSpPr>
          <p:cNvPr id="12" name="Group 58"/>
          <p:cNvGrpSpPr/>
          <p:nvPr/>
        </p:nvGrpSpPr>
        <p:grpSpPr bwMode="auto">
          <a:xfrm>
            <a:off x="2667000" y="3900488"/>
            <a:ext cx="5343525" cy="738187"/>
            <a:chOff x="1680" y="2457"/>
            <a:chExt cx="3366" cy="465"/>
          </a:xfrm>
        </p:grpSpPr>
        <p:sp>
          <p:nvSpPr>
            <p:cNvPr id="209934" name="Freeform 59"/>
            <p:cNvSpPr/>
            <p:nvPr/>
          </p:nvSpPr>
          <p:spPr bwMode="auto">
            <a:xfrm>
              <a:off x="2550" y="2457"/>
              <a:ext cx="1533" cy="231"/>
            </a:xfrm>
            <a:custGeom>
              <a:avLst/>
              <a:gdLst>
                <a:gd name="T0" fmla="*/ 0 w 1533"/>
                <a:gd name="T1" fmla="*/ 228 h 231"/>
                <a:gd name="T2" fmla="*/ 48 w 1533"/>
                <a:gd name="T3" fmla="*/ 228 h 231"/>
                <a:gd name="T4" fmla="*/ 105 w 1533"/>
                <a:gd name="T5" fmla="*/ 222 h 231"/>
                <a:gd name="T6" fmla="*/ 123 w 1533"/>
                <a:gd name="T7" fmla="*/ 63 h 231"/>
                <a:gd name="T8" fmla="*/ 126 w 1533"/>
                <a:gd name="T9" fmla="*/ 45 h 231"/>
                <a:gd name="T10" fmla="*/ 135 w 1533"/>
                <a:gd name="T11" fmla="*/ 9 h 231"/>
                <a:gd name="T12" fmla="*/ 153 w 1533"/>
                <a:gd name="T13" fmla="*/ 0 h 231"/>
                <a:gd name="T14" fmla="*/ 165 w 1533"/>
                <a:gd name="T15" fmla="*/ 15 h 231"/>
                <a:gd name="T16" fmla="*/ 174 w 1533"/>
                <a:gd name="T17" fmla="*/ 42 h 231"/>
                <a:gd name="T18" fmla="*/ 201 w 1533"/>
                <a:gd name="T19" fmla="*/ 213 h 231"/>
                <a:gd name="T20" fmla="*/ 216 w 1533"/>
                <a:gd name="T21" fmla="*/ 225 h 231"/>
                <a:gd name="T22" fmla="*/ 234 w 1533"/>
                <a:gd name="T23" fmla="*/ 231 h 231"/>
                <a:gd name="T24" fmla="*/ 1533 w 1533"/>
                <a:gd name="T25" fmla="*/ 231 h 2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533"/>
                <a:gd name="T40" fmla="*/ 0 h 231"/>
                <a:gd name="T41" fmla="*/ 1533 w 1533"/>
                <a:gd name="T42" fmla="*/ 231 h 2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533" h="231">
                  <a:moveTo>
                    <a:pt x="0" y="228"/>
                  </a:moveTo>
                  <a:lnTo>
                    <a:pt x="48" y="228"/>
                  </a:lnTo>
                  <a:lnTo>
                    <a:pt x="105" y="222"/>
                  </a:lnTo>
                  <a:lnTo>
                    <a:pt x="123" y="63"/>
                  </a:lnTo>
                  <a:lnTo>
                    <a:pt x="126" y="45"/>
                  </a:lnTo>
                  <a:lnTo>
                    <a:pt x="135" y="9"/>
                  </a:lnTo>
                  <a:lnTo>
                    <a:pt x="153" y="0"/>
                  </a:lnTo>
                  <a:lnTo>
                    <a:pt x="165" y="15"/>
                  </a:lnTo>
                  <a:lnTo>
                    <a:pt x="174" y="42"/>
                  </a:lnTo>
                  <a:lnTo>
                    <a:pt x="201" y="213"/>
                  </a:lnTo>
                  <a:lnTo>
                    <a:pt x="216" y="225"/>
                  </a:lnTo>
                  <a:lnTo>
                    <a:pt x="234" y="231"/>
                  </a:lnTo>
                  <a:lnTo>
                    <a:pt x="1533" y="231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9935" name="Freeform 60"/>
            <p:cNvSpPr/>
            <p:nvPr/>
          </p:nvSpPr>
          <p:spPr bwMode="auto">
            <a:xfrm>
              <a:off x="2265" y="2685"/>
              <a:ext cx="285" cy="1"/>
            </a:xfrm>
            <a:custGeom>
              <a:avLst/>
              <a:gdLst>
                <a:gd name="T0" fmla="*/ 0 w 285"/>
                <a:gd name="T1" fmla="*/ 0 h 1"/>
                <a:gd name="T2" fmla="*/ 285 w 285"/>
                <a:gd name="T3" fmla="*/ 0 h 1"/>
                <a:gd name="T4" fmla="*/ 0 60000 65536"/>
                <a:gd name="T5" fmla="*/ 0 60000 65536"/>
                <a:gd name="T6" fmla="*/ 0 w 285"/>
                <a:gd name="T7" fmla="*/ 0 h 1"/>
                <a:gd name="T8" fmla="*/ 285 w 28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85" h="1">
                  <a:moveTo>
                    <a:pt x="0" y="0"/>
                  </a:moveTo>
                  <a:lnTo>
                    <a:pt x="285" y="0"/>
                  </a:lnTo>
                </a:path>
              </a:pathLst>
            </a:custGeom>
            <a:noFill/>
            <a:ln w="381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9936" name="Freeform 61"/>
            <p:cNvSpPr/>
            <p:nvPr/>
          </p:nvSpPr>
          <p:spPr bwMode="auto">
            <a:xfrm>
              <a:off x="3823" y="2685"/>
              <a:ext cx="506" cy="234"/>
            </a:xfrm>
            <a:custGeom>
              <a:avLst/>
              <a:gdLst>
                <a:gd name="T0" fmla="*/ 506 w 506"/>
                <a:gd name="T1" fmla="*/ 3 h 234"/>
                <a:gd name="T2" fmla="*/ 420 w 506"/>
                <a:gd name="T3" fmla="*/ 0 h 234"/>
                <a:gd name="T4" fmla="*/ 378 w 506"/>
                <a:gd name="T5" fmla="*/ 9 h 234"/>
                <a:gd name="T6" fmla="*/ 363 w 506"/>
                <a:gd name="T7" fmla="*/ 30 h 234"/>
                <a:gd name="T8" fmla="*/ 363 w 506"/>
                <a:gd name="T9" fmla="*/ 21 h 234"/>
                <a:gd name="T10" fmla="*/ 342 w 506"/>
                <a:gd name="T11" fmla="*/ 171 h 234"/>
                <a:gd name="T12" fmla="*/ 339 w 506"/>
                <a:gd name="T13" fmla="*/ 189 h 234"/>
                <a:gd name="T14" fmla="*/ 330 w 506"/>
                <a:gd name="T15" fmla="*/ 225 h 234"/>
                <a:gd name="T16" fmla="*/ 312 w 506"/>
                <a:gd name="T17" fmla="*/ 234 h 234"/>
                <a:gd name="T18" fmla="*/ 300 w 506"/>
                <a:gd name="T19" fmla="*/ 219 h 234"/>
                <a:gd name="T20" fmla="*/ 291 w 506"/>
                <a:gd name="T21" fmla="*/ 192 h 234"/>
                <a:gd name="T22" fmla="*/ 264 w 506"/>
                <a:gd name="T23" fmla="*/ 21 h 234"/>
                <a:gd name="T24" fmla="*/ 249 w 506"/>
                <a:gd name="T25" fmla="*/ 9 h 234"/>
                <a:gd name="T26" fmla="*/ 231 w 506"/>
                <a:gd name="T27" fmla="*/ 3 h 234"/>
                <a:gd name="T28" fmla="*/ 0 w 506"/>
                <a:gd name="T29" fmla="*/ 3 h 2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506"/>
                <a:gd name="T46" fmla="*/ 0 h 234"/>
                <a:gd name="T47" fmla="*/ 506 w 506"/>
                <a:gd name="T48" fmla="*/ 234 h 234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506" h="234">
                  <a:moveTo>
                    <a:pt x="506" y="3"/>
                  </a:moveTo>
                  <a:lnTo>
                    <a:pt x="420" y="0"/>
                  </a:lnTo>
                  <a:lnTo>
                    <a:pt x="378" y="9"/>
                  </a:lnTo>
                  <a:lnTo>
                    <a:pt x="363" y="30"/>
                  </a:lnTo>
                  <a:lnTo>
                    <a:pt x="363" y="21"/>
                  </a:lnTo>
                  <a:lnTo>
                    <a:pt x="342" y="171"/>
                  </a:lnTo>
                  <a:lnTo>
                    <a:pt x="339" y="189"/>
                  </a:lnTo>
                  <a:lnTo>
                    <a:pt x="330" y="225"/>
                  </a:lnTo>
                  <a:lnTo>
                    <a:pt x="312" y="234"/>
                  </a:lnTo>
                  <a:lnTo>
                    <a:pt x="300" y="219"/>
                  </a:lnTo>
                  <a:lnTo>
                    <a:pt x="291" y="192"/>
                  </a:lnTo>
                  <a:lnTo>
                    <a:pt x="264" y="21"/>
                  </a:lnTo>
                  <a:lnTo>
                    <a:pt x="249" y="9"/>
                  </a:lnTo>
                  <a:lnTo>
                    <a:pt x="231" y="3"/>
                  </a:lnTo>
                  <a:lnTo>
                    <a:pt x="0" y="3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9937" name="Line 62"/>
            <p:cNvSpPr>
              <a:spLocks noChangeShapeType="1"/>
            </p:cNvSpPr>
            <p:nvPr/>
          </p:nvSpPr>
          <p:spPr bwMode="auto">
            <a:xfrm>
              <a:off x="4326" y="2688"/>
              <a:ext cx="720" cy="0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09938" name="Freeform 63"/>
            <p:cNvSpPr/>
            <p:nvPr/>
          </p:nvSpPr>
          <p:spPr bwMode="auto">
            <a:xfrm>
              <a:off x="1680" y="2682"/>
              <a:ext cx="678" cy="240"/>
            </a:xfrm>
            <a:custGeom>
              <a:avLst/>
              <a:gdLst>
                <a:gd name="T0" fmla="*/ 678 w 678"/>
                <a:gd name="T1" fmla="*/ 0 h 240"/>
                <a:gd name="T2" fmla="*/ 630 w 678"/>
                <a:gd name="T3" fmla="*/ 0 h 240"/>
                <a:gd name="T4" fmla="*/ 591 w 678"/>
                <a:gd name="T5" fmla="*/ 15 h 240"/>
                <a:gd name="T6" fmla="*/ 576 w 678"/>
                <a:gd name="T7" fmla="*/ 36 h 240"/>
                <a:gd name="T8" fmla="*/ 576 w 678"/>
                <a:gd name="T9" fmla="*/ 27 h 240"/>
                <a:gd name="T10" fmla="*/ 555 w 678"/>
                <a:gd name="T11" fmla="*/ 177 h 240"/>
                <a:gd name="T12" fmla="*/ 552 w 678"/>
                <a:gd name="T13" fmla="*/ 195 h 240"/>
                <a:gd name="T14" fmla="*/ 543 w 678"/>
                <a:gd name="T15" fmla="*/ 231 h 240"/>
                <a:gd name="T16" fmla="*/ 525 w 678"/>
                <a:gd name="T17" fmla="*/ 240 h 240"/>
                <a:gd name="T18" fmla="*/ 513 w 678"/>
                <a:gd name="T19" fmla="*/ 225 h 240"/>
                <a:gd name="T20" fmla="*/ 504 w 678"/>
                <a:gd name="T21" fmla="*/ 198 h 240"/>
                <a:gd name="T22" fmla="*/ 477 w 678"/>
                <a:gd name="T23" fmla="*/ 27 h 240"/>
                <a:gd name="T24" fmla="*/ 462 w 678"/>
                <a:gd name="T25" fmla="*/ 15 h 240"/>
                <a:gd name="T26" fmla="*/ 444 w 678"/>
                <a:gd name="T27" fmla="*/ 9 h 240"/>
                <a:gd name="T28" fmla="*/ 0 w 678"/>
                <a:gd name="T29" fmla="*/ 9 h 2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78"/>
                <a:gd name="T46" fmla="*/ 0 h 240"/>
                <a:gd name="T47" fmla="*/ 678 w 678"/>
                <a:gd name="T48" fmla="*/ 240 h 24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78" h="240">
                  <a:moveTo>
                    <a:pt x="678" y="0"/>
                  </a:moveTo>
                  <a:lnTo>
                    <a:pt x="630" y="0"/>
                  </a:lnTo>
                  <a:lnTo>
                    <a:pt x="591" y="15"/>
                  </a:lnTo>
                  <a:lnTo>
                    <a:pt x="576" y="36"/>
                  </a:lnTo>
                  <a:lnTo>
                    <a:pt x="576" y="27"/>
                  </a:lnTo>
                  <a:lnTo>
                    <a:pt x="555" y="177"/>
                  </a:lnTo>
                  <a:lnTo>
                    <a:pt x="552" y="195"/>
                  </a:lnTo>
                  <a:lnTo>
                    <a:pt x="543" y="231"/>
                  </a:lnTo>
                  <a:lnTo>
                    <a:pt x="525" y="240"/>
                  </a:lnTo>
                  <a:lnTo>
                    <a:pt x="513" y="225"/>
                  </a:lnTo>
                  <a:lnTo>
                    <a:pt x="504" y="198"/>
                  </a:lnTo>
                  <a:lnTo>
                    <a:pt x="477" y="27"/>
                  </a:lnTo>
                  <a:lnTo>
                    <a:pt x="462" y="15"/>
                  </a:lnTo>
                  <a:lnTo>
                    <a:pt x="444" y="9"/>
                  </a:lnTo>
                  <a:lnTo>
                    <a:pt x="0" y="9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209933" name="AutoShape 64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7" dur="500"/>
                                        <p:tgtEl>
                                          <p:spTgt spid="301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1107" grpId="0" animBg="1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6" name="Text Box 2"/>
          <p:cNvSpPr txBox="1">
            <a:spLocks noChangeArrowheads="1"/>
          </p:cNvSpPr>
          <p:nvPr/>
        </p:nvSpPr>
        <p:spPr bwMode="auto">
          <a:xfrm>
            <a:off x="365125" y="273050"/>
            <a:ext cx="3854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三、硬磁盘存储器</a:t>
            </a:r>
          </a:p>
        </p:txBody>
      </p:sp>
      <p:sp>
        <p:nvSpPr>
          <p:cNvPr id="302083" name="Text Box 3"/>
          <p:cNvSpPr txBox="1">
            <a:spLocks noChangeArrowheads="1"/>
          </p:cNvSpPr>
          <p:nvPr/>
        </p:nvSpPr>
        <p:spPr bwMode="auto">
          <a:xfrm>
            <a:off x="1127125" y="1085850"/>
            <a:ext cx="42624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1. 硬磁盘存储器的类型</a:t>
            </a:r>
          </a:p>
        </p:txBody>
      </p:sp>
      <p:sp>
        <p:nvSpPr>
          <p:cNvPr id="302084" name="Text Box 4"/>
          <p:cNvSpPr txBox="1">
            <a:spLocks noChangeArrowheads="1"/>
          </p:cNvSpPr>
          <p:nvPr/>
        </p:nvSpPr>
        <p:spPr bwMode="auto">
          <a:xfrm>
            <a:off x="1641475" y="1843088"/>
            <a:ext cx="49879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(1) 固定磁头和移动磁头</a:t>
            </a:r>
          </a:p>
        </p:txBody>
      </p:sp>
      <p:sp>
        <p:nvSpPr>
          <p:cNvPr id="302085" name="Text Box 5"/>
          <p:cNvSpPr txBox="1">
            <a:spLocks noChangeArrowheads="1"/>
          </p:cNvSpPr>
          <p:nvPr/>
        </p:nvSpPr>
        <p:spPr bwMode="auto">
          <a:xfrm>
            <a:off x="1641475" y="2681288"/>
            <a:ext cx="44545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(2) 可换盘和固定盘</a:t>
            </a:r>
          </a:p>
        </p:txBody>
      </p:sp>
      <p:sp>
        <p:nvSpPr>
          <p:cNvPr id="302086" name="Text Box 6"/>
          <p:cNvSpPr txBox="1">
            <a:spLocks noChangeArrowheads="1"/>
          </p:cNvSpPr>
          <p:nvPr/>
        </p:nvSpPr>
        <p:spPr bwMode="auto">
          <a:xfrm>
            <a:off x="1127125" y="3429000"/>
            <a:ext cx="38544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2. 硬磁盘存储器结构</a:t>
            </a:r>
          </a:p>
        </p:txBody>
      </p:sp>
      <p:grpSp>
        <p:nvGrpSpPr>
          <p:cNvPr id="2" name="Group 7"/>
          <p:cNvGrpSpPr/>
          <p:nvPr/>
        </p:nvGrpSpPr>
        <p:grpSpPr bwMode="auto">
          <a:xfrm>
            <a:off x="1905000" y="4191000"/>
            <a:ext cx="5257800" cy="2209800"/>
            <a:chOff x="1104" y="2544"/>
            <a:chExt cx="3312" cy="1392"/>
          </a:xfrm>
        </p:grpSpPr>
        <p:grpSp>
          <p:nvGrpSpPr>
            <p:cNvPr id="210954" name="Group 8"/>
            <p:cNvGrpSpPr/>
            <p:nvPr/>
          </p:nvGrpSpPr>
          <p:grpSpPr bwMode="auto">
            <a:xfrm>
              <a:off x="2048" y="2544"/>
              <a:ext cx="480" cy="1392"/>
              <a:chOff x="2448" y="1536"/>
              <a:chExt cx="480" cy="1392"/>
            </a:xfrm>
          </p:grpSpPr>
          <p:sp>
            <p:nvSpPr>
              <p:cNvPr id="210967" name="Text Box 9"/>
              <p:cNvSpPr txBox="1">
                <a:spLocks noChangeArrowheads="1"/>
              </p:cNvSpPr>
              <p:nvPr/>
            </p:nvSpPr>
            <p:spPr bwMode="auto">
              <a:xfrm>
                <a:off x="2537" y="1617"/>
                <a:ext cx="346" cy="12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磁 盘 控 制 器</a:t>
                </a:r>
              </a:p>
            </p:txBody>
          </p:sp>
          <p:sp>
            <p:nvSpPr>
              <p:cNvPr id="210968" name="Rectangle 10"/>
              <p:cNvSpPr>
                <a:spLocks noChangeArrowheads="1"/>
              </p:cNvSpPr>
              <p:nvPr/>
            </p:nvSpPr>
            <p:spPr bwMode="auto">
              <a:xfrm>
                <a:off x="2448" y="1536"/>
                <a:ext cx="480" cy="13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</p:grpSp>
        <p:grpSp>
          <p:nvGrpSpPr>
            <p:cNvPr id="210955" name="Group 11"/>
            <p:cNvGrpSpPr/>
            <p:nvPr/>
          </p:nvGrpSpPr>
          <p:grpSpPr bwMode="auto">
            <a:xfrm>
              <a:off x="2992" y="2544"/>
              <a:ext cx="480" cy="1392"/>
              <a:chOff x="3216" y="1536"/>
              <a:chExt cx="480" cy="1392"/>
            </a:xfrm>
          </p:grpSpPr>
          <p:sp>
            <p:nvSpPr>
              <p:cNvPr id="210965" name="Text Box 12"/>
              <p:cNvSpPr txBox="1">
                <a:spLocks noChangeArrowheads="1"/>
              </p:cNvSpPr>
              <p:nvPr/>
            </p:nvSpPr>
            <p:spPr bwMode="auto">
              <a:xfrm>
                <a:off x="3305" y="1617"/>
                <a:ext cx="346" cy="12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磁 盘 驱 动 器</a:t>
                </a:r>
              </a:p>
            </p:txBody>
          </p:sp>
          <p:sp>
            <p:nvSpPr>
              <p:cNvPr id="210966" name="Rectangle 13"/>
              <p:cNvSpPr>
                <a:spLocks noChangeArrowheads="1"/>
              </p:cNvSpPr>
              <p:nvPr/>
            </p:nvSpPr>
            <p:spPr bwMode="auto">
              <a:xfrm>
                <a:off x="3216" y="1536"/>
                <a:ext cx="480" cy="13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</p:grpSp>
        <p:grpSp>
          <p:nvGrpSpPr>
            <p:cNvPr id="210956" name="Group 14"/>
            <p:cNvGrpSpPr/>
            <p:nvPr/>
          </p:nvGrpSpPr>
          <p:grpSpPr bwMode="auto">
            <a:xfrm>
              <a:off x="3936" y="2544"/>
              <a:ext cx="480" cy="1392"/>
              <a:chOff x="3936" y="1536"/>
              <a:chExt cx="480" cy="1392"/>
            </a:xfrm>
          </p:grpSpPr>
          <p:sp>
            <p:nvSpPr>
              <p:cNvPr id="210963" name="Rectangle 15"/>
              <p:cNvSpPr>
                <a:spLocks noChangeArrowheads="1"/>
              </p:cNvSpPr>
              <p:nvPr/>
            </p:nvSpPr>
            <p:spPr bwMode="auto">
              <a:xfrm>
                <a:off x="3936" y="1536"/>
                <a:ext cx="480" cy="13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210964" name="Text Box 16"/>
              <p:cNvSpPr txBox="1">
                <a:spLocks noChangeArrowheads="1"/>
              </p:cNvSpPr>
              <p:nvPr/>
            </p:nvSpPr>
            <p:spPr bwMode="auto">
              <a:xfrm>
                <a:off x="3984" y="1824"/>
                <a:ext cx="346" cy="7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盘       片</a:t>
                </a:r>
              </a:p>
            </p:txBody>
          </p:sp>
        </p:grpSp>
        <p:grpSp>
          <p:nvGrpSpPr>
            <p:cNvPr id="210957" name="Group 17"/>
            <p:cNvGrpSpPr/>
            <p:nvPr/>
          </p:nvGrpSpPr>
          <p:grpSpPr bwMode="auto">
            <a:xfrm>
              <a:off x="1104" y="2544"/>
              <a:ext cx="480" cy="1392"/>
              <a:chOff x="1104" y="1536"/>
              <a:chExt cx="480" cy="1392"/>
            </a:xfrm>
          </p:grpSpPr>
          <p:sp>
            <p:nvSpPr>
              <p:cNvPr id="210961" name="Rectangle 18"/>
              <p:cNvSpPr>
                <a:spLocks noChangeArrowheads="1"/>
              </p:cNvSpPr>
              <p:nvPr/>
            </p:nvSpPr>
            <p:spPr bwMode="auto">
              <a:xfrm>
                <a:off x="1104" y="1536"/>
                <a:ext cx="480" cy="1392"/>
              </a:xfrm>
              <a:prstGeom prst="rect">
                <a:avLst/>
              </a:prstGeom>
              <a:noFill/>
              <a:ln w="3810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210962" name="Text Box 19"/>
              <p:cNvSpPr txBox="1">
                <a:spLocks noChangeArrowheads="1"/>
              </p:cNvSpPr>
              <p:nvPr/>
            </p:nvSpPr>
            <p:spPr bwMode="auto">
              <a:xfrm>
                <a:off x="1152" y="1824"/>
                <a:ext cx="346" cy="7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wrap="none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2400">
                    <a:latin typeface="Times New Roman" panose="02020603050405020304" pitchFamily="18" charset="0"/>
                  </a:rPr>
                  <a:t>主       机</a:t>
                </a:r>
              </a:p>
            </p:txBody>
          </p:sp>
        </p:grpSp>
        <p:sp>
          <p:nvSpPr>
            <p:cNvPr id="210958" name="AutoShape 20"/>
            <p:cNvSpPr>
              <a:spLocks noChangeArrowheads="1"/>
            </p:cNvSpPr>
            <p:nvPr/>
          </p:nvSpPr>
          <p:spPr bwMode="auto">
            <a:xfrm>
              <a:off x="1584" y="3120"/>
              <a:ext cx="458" cy="240"/>
            </a:xfrm>
            <a:prstGeom prst="leftRightArrow">
              <a:avLst>
                <a:gd name="adj1" fmla="val 40000"/>
                <a:gd name="adj2" fmla="val 38167"/>
              </a:avLst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10959" name="AutoShape 21"/>
            <p:cNvSpPr>
              <a:spLocks noChangeArrowheads="1"/>
            </p:cNvSpPr>
            <p:nvPr/>
          </p:nvSpPr>
          <p:spPr bwMode="auto">
            <a:xfrm>
              <a:off x="2518" y="3120"/>
              <a:ext cx="458" cy="240"/>
            </a:xfrm>
            <a:prstGeom prst="leftRightArrow">
              <a:avLst>
                <a:gd name="adj1" fmla="val 40000"/>
                <a:gd name="adj2" fmla="val 38167"/>
              </a:avLst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10960" name="AutoShape 22"/>
            <p:cNvSpPr>
              <a:spLocks noChangeArrowheads="1"/>
            </p:cNvSpPr>
            <p:nvPr/>
          </p:nvSpPr>
          <p:spPr bwMode="auto">
            <a:xfrm>
              <a:off x="3478" y="3120"/>
              <a:ext cx="458" cy="240"/>
            </a:xfrm>
            <a:prstGeom prst="leftRightArrow">
              <a:avLst>
                <a:gd name="adj1" fmla="val 40000"/>
                <a:gd name="adj2" fmla="val 38167"/>
              </a:avLst>
            </a:prstGeom>
            <a:noFill/>
            <a:ln w="381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</p:grpSp>
      <p:sp>
        <p:nvSpPr>
          <p:cNvPr id="302103" name="Rectangle 23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4.4</a:t>
            </a:r>
          </a:p>
        </p:txBody>
      </p:sp>
      <p:sp>
        <p:nvSpPr>
          <p:cNvPr id="210953" name="AutoShape 24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020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3020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3020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3020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2083" grpId="0" autoUpdateAnimBg="0"/>
      <p:bldP spid="302084" grpId="0" autoUpdateAnimBg="0"/>
      <p:bldP spid="302085" grpId="0" autoUpdateAnimBg="0"/>
      <p:bldP spid="302086" grpId="0" autoUpdateAnimBg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1439863" y="1905000"/>
            <a:ext cx="6677025" cy="4229100"/>
            <a:chOff x="907" y="1200"/>
            <a:chExt cx="4206" cy="2664"/>
          </a:xfrm>
        </p:grpSpPr>
        <p:sp>
          <p:nvSpPr>
            <p:cNvPr id="211996" name="Rectangle 3"/>
            <p:cNvSpPr>
              <a:spLocks noChangeArrowheads="1"/>
            </p:cNvSpPr>
            <p:nvPr/>
          </p:nvSpPr>
          <p:spPr bwMode="auto">
            <a:xfrm>
              <a:off x="2095" y="1578"/>
              <a:ext cx="113" cy="1062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11997" name="Rectangle 4"/>
            <p:cNvSpPr>
              <a:spLocks noChangeArrowheads="1"/>
            </p:cNvSpPr>
            <p:nvPr/>
          </p:nvSpPr>
          <p:spPr bwMode="auto">
            <a:xfrm>
              <a:off x="1238" y="1200"/>
              <a:ext cx="32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/>
                <a:t>磁盘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1998" name="Rectangle 5"/>
            <p:cNvSpPr>
              <a:spLocks noChangeArrowheads="1"/>
            </p:cNvSpPr>
            <p:nvPr/>
          </p:nvSpPr>
          <p:spPr bwMode="auto">
            <a:xfrm>
              <a:off x="1101" y="1817"/>
              <a:ext cx="161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/>
                <a:t>磁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1999" name="Rectangle 6"/>
            <p:cNvSpPr>
              <a:spLocks noChangeArrowheads="1"/>
            </p:cNvSpPr>
            <p:nvPr/>
          </p:nvSpPr>
          <p:spPr bwMode="auto">
            <a:xfrm>
              <a:off x="1101" y="2036"/>
              <a:ext cx="161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/>
                <a:t>盘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2000" name="Rectangle 7"/>
            <p:cNvSpPr>
              <a:spLocks noChangeArrowheads="1"/>
            </p:cNvSpPr>
            <p:nvPr/>
          </p:nvSpPr>
          <p:spPr bwMode="auto">
            <a:xfrm>
              <a:off x="1101" y="2252"/>
              <a:ext cx="161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/>
                <a:t>组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2001" name="Line 8"/>
            <p:cNvSpPr>
              <a:spLocks noChangeShapeType="1"/>
            </p:cNvSpPr>
            <p:nvPr/>
          </p:nvSpPr>
          <p:spPr bwMode="auto">
            <a:xfrm>
              <a:off x="1491" y="1652"/>
              <a:ext cx="1179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002" name="Rectangle 9"/>
            <p:cNvSpPr>
              <a:spLocks noChangeArrowheads="1"/>
            </p:cNvSpPr>
            <p:nvPr/>
          </p:nvSpPr>
          <p:spPr bwMode="auto">
            <a:xfrm>
              <a:off x="2674" y="1652"/>
              <a:ext cx="153" cy="57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grpSp>
          <p:nvGrpSpPr>
            <p:cNvPr id="212003" name="Group 10"/>
            <p:cNvGrpSpPr/>
            <p:nvPr/>
          </p:nvGrpSpPr>
          <p:grpSpPr bwMode="auto">
            <a:xfrm>
              <a:off x="1491" y="1787"/>
              <a:ext cx="1336" cy="94"/>
              <a:chOff x="1491" y="1883"/>
              <a:chExt cx="1336" cy="94"/>
            </a:xfrm>
          </p:grpSpPr>
          <p:sp>
            <p:nvSpPr>
              <p:cNvPr id="212097" name="Rectangle 11"/>
              <p:cNvSpPr>
                <a:spLocks noChangeArrowheads="1"/>
              </p:cNvSpPr>
              <p:nvPr/>
            </p:nvSpPr>
            <p:spPr bwMode="auto">
              <a:xfrm>
                <a:off x="2674" y="1883"/>
                <a:ext cx="153" cy="94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212098" name="Line 12"/>
              <p:cNvSpPr>
                <a:spLocks noChangeShapeType="1"/>
              </p:cNvSpPr>
              <p:nvPr/>
            </p:nvSpPr>
            <p:spPr bwMode="auto">
              <a:xfrm>
                <a:off x="1491" y="1930"/>
                <a:ext cx="1332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12004" name="Line 13"/>
            <p:cNvSpPr>
              <a:spLocks noChangeShapeType="1"/>
            </p:cNvSpPr>
            <p:nvPr/>
          </p:nvSpPr>
          <p:spPr bwMode="auto">
            <a:xfrm>
              <a:off x="2823" y="1706"/>
              <a:ext cx="100" cy="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005" name="Line 14"/>
            <p:cNvSpPr>
              <a:spLocks noChangeShapeType="1"/>
            </p:cNvSpPr>
            <p:nvPr/>
          </p:nvSpPr>
          <p:spPr bwMode="auto">
            <a:xfrm flipV="1">
              <a:off x="2823" y="1750"/>
              <a:ext cx="100" cy="3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006" name="Line 15"/>
            <p:cNvSpPr>
              <a:spLocks noChangeShapeType="1"/>
            </p:cNvSpPr>
            <p:nvPr/>
          </p:nvSpPr>
          <p:spPr bwMode="auto">
            <a:xfrm>
              <a:off x="2923" y="1750"/>
              <a:ext cx="503" cy="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007" name="Line 16"/>
            <p:cNvSpPr>
              <a:spLocks noChangeShapeType="1"/>
            </p:cNvSpPr>
            <p:nvPr/>
          </p:nvSpPr>
          <p:spPr bwMode="auto">
            <a:xfrm>
              <a:off x="1491" y="2544"/>
              <a:ext cx="1179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008" name="Rectangle 17"/>
            <p:cNvSpPr>
              <a:spLocks noChangeArrowheads="1"/>
            </p:cNvSpPr>
            <p:nvPr/>
          </p:nvSpPr>
          <p:spPr bwMode="auto">
            <a:xfrm>
              <a:off x="2674" y="2492"/>
              <a:ext cx="153" cy="57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12009" name="Line 18"/>
            <p:cNvSpPr>
              <a:spLocks noChangeShapeType="1"/>
            </p:cNvSpPr>
            <p:nvPr/>
          </p:nvSpPr>
          <p:spPr bwMode="auto">
            <a:xfrm>
              <a:off x="2823" y="2418"/>
              <a:ext cx="100" cy="5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010" name="Line 19"/>
            <p:cNvSpPr>
              <a:spLocks noChangeShapeType="1"/>
            </p:cNvSpPr>
            <p:nvPr/>
          </p:nvSpPr>
          <p:spPr bwMode="auto">
            <a:xfrm flipV="1">
              <a:off x="2823" y="2472"/>
              <a:ext cx="100" cy="3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011" name="Line 20"/>
            <p:cNvSpPr>
              <a:spLocks noChangeShapeType="1"/>
            </p:cNvSpPr>
            <p:nvPr/>
          </p:nvSpPr>
          <p:spPr bwMode="auto">
            <a:xfrm>
              <a:off x="2923" y="2472"/>
              <a:ext cx="503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012" name="Line 21"/>
            <p:cNvSpPr>
              <a:spLocks noChangeShapeType="1"/>
            </p:cNvSpPr>
            <p:nvPr/>
          </p:nvSpPr>
          <p:spPr bwMode="auto">
            <a:xfrm>
              <a:off x="2823" y="1878"/>
              <a:ext cx="100" cy="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013" name="Line 22"/>
            <p:cNvSpPr>
              <a:spLocks noChangeShapeType="1"/>
            </p:cNvSpPr>
            <p:nvPr/>
          </p:nvSpPr>
          <p:spPr bwMode="auto">
            <a:xfrm flipV="1">
              <a:off x="2823" y="1925"/>
              <a:ext cx="100" cy="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014" name="Line 23"/>
            <p:cNvSpPr>
              <a:spLocks noChangeShapeType="1"/>
            </p:cNvSpPr>
            <p:nvPr/>
          </p:nvSpPr>
          <p:spPr bwMode="auto">
            <a:xfrm>
              <a:off x="2923" y="1925"/>
              <a:ext cx="503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12015" name="Group 24"/>
            <p:cNvGrpSpPr/>
            <p:nvPr/>
          </p:nvGrpSpPr>
          <p:grpSpPr bwMode="auto">
            <a:xfrm>
              <a:off x="2823" y="2219"/>
              <a:ext cx="603" cy="91"/>
              <a:chOff x="2823" y="2315"/>
              <a:chExt cx="603" cy="91"/>
            </a:xfrm>
          </p:grpSpPr>
          <p:sp>
            <p:nvSpPr>
              <p:cNvPr id="212094" name="Line 25"/>
              <p:cNvSpPr>
                <a:spLocks noChangeShapeType="1"/>
              </p:cNvSpPr>
              <p:nvPr/>
            </p:nvSpPr>
            <p:spPr bwMode="auto">
              <a:xfrm>
                <a:off x="2823" y="2315"/>
                <a:ext cx="100" cy="5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2095" name="Line 26"/>
              <p:cNvSpPr>
                <a:spLocks noChangeShapeType="1"/>
              </p:cNvSpPr>
              <p:nvPr/>
            </p:nvSpPr>
            <p:spPr bwMode="auto">
              <a:xfrm flipV="1">
                <a:off x="2823" y="2369"/>
                <a:ext cx="100" cy="3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2096" name="Line 27"/>
              <p:cNvSpPr>
                <a:spLocks noChangeShapeType="1"/>
              </p:cNvSpPr>
              <p:nvPr/>
            </p:nvSpPr>
            <p:spPr bwMode="auto">
              <a:xfrm>
                <a:off x="2923" y="2369"/>
                <a:ext cx="503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12016" name="Rectangle 28"/>
            <p:cNvSpPr>
              <a:spLocks noChangeArrowheads="1"/>
            </p:cNvSpPr>
            <p:nvPr/>
          </p:nvSpPr>
          <p:spPr bwMode="auto">
            <a:xfrm>
              <a:off x="3426" y="1689"/>
              <a:ext cx="382" cy="88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12017" name="Oval 29"/>
            <p:cNvSpPr>
              <a:spLocks noChangeArrowheads="1"/>
            </p:cNvSpPr>
            <p:nvPr/>
          </p:nvSpPr>
          <p:spPr bwMode="auto">
            <a:xfrm>
              <a:off x="3479" y="2566"/>
              <a:ext cx="76" cy="67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/>
              </a:solidFill>
              <a:round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12018" name="Oval 30"/>
            <p:cNvSpPr>
              <a:spLocks noChangeArrowheads="1"/>
            </p:cNvSpPr>
            <p:nvPr/>
          </p:nvSpPr>
          <p:spPr bwMode="auto">
            <a:xfrm>
              <a:off x="3680" y="2566"/>
              <a:ext cx="76" cy="67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/>
              </a:solidFill>
              <a:round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12019" name="Oval 31"/>
            <p:cNvSpPr>
              <a:spLocks noChangeArrowheads="1"/>
            </p:cNvSpPr>
            <p:nvPr/>
          </p:nvSpPr>
          <p:spPr bwMode="auto">
            <a:xfrm>
              <a:off x="3479" y="1615"/>
              <a:ext cx="76" cy="67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/>
              </a:solidFill>
              <a:round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12020" name="Oval 32"/>
            <p:cNvSpPr>
              <a:spLocks noChangeArrowheads="1"/>
            </p:cNvSpPr>
            <p:nvPr/>
          </p:nvSpPr>
          <p:spPr bwMode="auto">
            <a:xfrm>
              <a:off x="3680" y="1615"/>
              <a:ext cx="76" cy="67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/>
              </a:solidFill>
              <a:round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12021" name="Line 33"/>
            <p:cNvSpPr>
              <a:spLocks noChangeShapeType="1"/>
            </p:cNvSpPr>
            <p:nvPr/>
          </p:nvSpPr>
          <p:spPr bwMode="auto">
            <a:xfrm>
              <a:off x="3350" y="1433"/>
              <a:ext cx="1" cy="18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022" name="Freeform 34"/>
            <p:cNvSpPr/>
            <p:nvPr/>
          </p:nvSpPr>
          <p:spPr bwMode="auto">
            <a:xfrm>
              <a:off x="3881" y="1431"/>
              <a:ext cx="1" cy="184"/>
            </a:xfrm>
            <a:custGeom>
              <a:avLst/>
              <a:gdLst>
                <a:gd name="T0" fmla="*/ 1 w 1"/>
                <a:gd name="T1" fmla="*/ 0 h 184"/>
                <a:gd name="T2" fmla="*/ 0 w 1"/>
                <a:gd name="T3" fmla="*/ 184 h 184"/>
                <a:gd name="T4" fmla="*/ 0 60000 65536"/>
                <a:gd name="T5" fmla="*/ 0 60000 65536"/>
                <a:gd name="T6" fmla="*/ 0 w 1"/>
                <a:gd name="T7" fmla="*/ 0 h 184"/>
                <a:gd name="T8" fmla="*/ 1 w 1"/>
                <a:gd name="T9" fmla="*/ 184 h 18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84">
                  <a:moveTo>
                    <a:pt x="1" y="0"/>
                  </a:moveTo>
                  <a:lnTo>
                    <a:pt x="0" y="184"/>
                  </a:lnTo>
                </a:path>
              </a:pathLst>
            </a:custGeom>
            <a:solidFill>
              <a:srgbClr val="FFFFFF"/>
            </a:solidFill>
            <a:ln w="19050">
              <a:solidFill>
                <a:schemeClr val="tx1"/>
              </a:solidFill>
              <a:prstDash val="solid"/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023" name="Line 35"/>
            <p:cNvSpPr>
              <a:spLocks noChangeShapeType="1"/>
            </p:cNvSpPr>
            <p:nvPr/>
          </p:nvSpPr>
          <p:spPr bwMode="auto">
            <a:xfrm>
              <a:off x="3350" y="1615"/>
              <a:ext cx="527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024" name="Line 36"/>
            <p:cNvSpPr>
              <a:spLocks noChangeShapeType="1"/>
            </p:cNvSpPr>
            <p:nvPr/>
          </p:nvSpPr>
          <p:spPr bwMode="auto">
            <a:xfrm flipV="1">
              <a:off x="3350" y="2637"/>
              <a:ext cx="1" cy="18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025" name="Freeform 37"/>
            <p:cNvSpPr/>
            <p:nvPr/>
          </p:nvSpPr>
          <p:spPr bwMode="auto">
            <a:xfrm>
              <a:off x="3879" y="2637"/>
              <a:ext cx="2" cy="180"/>
            </a:xfrm>
            <a:custGeom>
              <a:avLst/>
              <a:gdLst>
                <a:gd name="T0" fmla="*/ 0 w 2"/>
                <a:gd name="T1" fmla="*/ 180 h 180"/>
                <a:gd name="T2" fmla="*/ 2 w 2"/>
                <a:gd name="T3" fmla="*/ 0 h 180"/>
                <a:gd name="T4" fmla="*/ 0 60000 65536"/>
                <a:gd name="T5" fmla="*/ 0 60000 65536"/>
                <a:gd name="T6" fmla="*/ 0 w 2"/>
                <a:gd name="T7" fmla="*/ 0 h 180"/>
                <a:gd name="T8" fmla="*/ 2 w 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180">
                  <a:moveTo>
                    <a:pt x="0" y="180"/>
                  </a:moveTo>
                  <a:lnTo>
                    <a:pt x="2" y="0"/>
                  </a:lnTo>
                </a:path>
              </a:pathLst>
            </a:custGeom>
            <a:solidFill>
              <a:srgbClr val="FFFFFF"/>
            </a:solidFill>
            <a:ln w="19050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026" name="Line 38"/>
            <p:cNvSpPr>
              <a:spLocks noChangeShapeType="1"/>
            </p:cNvSpPr>
            <p:nvPr/>
          </p:nvSpPr>
          <p:spPr bwMode="auto">
            <a:xfrm>
              <a:off x="3350" y="2637"/>
              <a:ext cx="527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027" name="Rectangle 39"/>
            <p:cNvSpPr>
              <a:spLocks noChangeArrowheads="1"/>
            </p:cNvSpPr>
            <p:nvPr/>
          </p:nvSpPr>
          <p:spPr bwMode="auto">
            <a:xfrm>
              <a:off x="2042" y="2642"/>
              <a:ext cx="234" cy="12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12028" name="Rectangle 40"/>
            <p:cNvSpPr>
              <a:spLocks noChangeArrowheads="1"/>
            </p:cNvSpPr>
            <p:nvPr/>
          </p:nvSpPr>
          <p:spPr bwMode="auto">
            <a:xfrm>
              <a:off x="1467" y="2674"/>
              <a:ext cx="833" cy="57"/>
            </a:xfrm>
            <a:prstGeom prst="rect">
              <a:avLst/>
            </a:prstGeom>
            <a:solidFill>
              <a:schemeClr val="tx1"/>
            </a:solidFill>
            <a:ln w="19050">
              <a:solidFill>
                <a:schemeClr val="tx1"/>
              </a:solidFill>
              <a:miter lim="800000"/>
            </a:ln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12029" name="Freeform 41"/>
            <p:cNvSpPr/>
            <p:nvPr/>
          </p:nvSpPr>
          <p:spPr bwMode="auto">
            <a:xfrm>
              <a:off x="1363" y="1652"/>
              <a:ext cx="100" cy="894"/>
            </a:xfrm>
            <a:custGeom>
              <a:avLst/>
              <a:gdLst>
                <a:gd name="T0" fmla="*/ 100 w 100"/>
                <a:gd name="T1" fmla="*/ 0 h 894"/>
                <a:gd name="T2" fmla="*/ 84 w 100"/>
                <a:gd name="T3" fmla="*/ 7 h 894"/>
                <a:gd name="T4" fmla="*/ 68 w 100"/>
                <a:gd name="T5" fmla="*/ 24 h 894"/>
                <a:gd name="T6" fmla="*/ 56 w 100"/>
                <a:gd name="T7" fmla="*/ 47 h 894"/>
                <a:gd name="T8" fmla="*/ 52 w 100"/>
                <a:gd name="T9" fmla="*/ 74 h 894"/>
                <a:gd name="T10" fmla="*/ 52 w 100"/>
                <a:gd name="T11" fmla="*/ 371 h 894"/>
                <a:gd name="T12" fmla="*/ 48 w 100"/>
                <a:gd name="T13" fmla="*/ 401 h 894"/>
                <a:gd name="T14" fmla="*/ 36 w 100"/>
                <a:gd name="T15" fmla="*/ 425 h 894"/>
                <a:gd name="T16" fmla="*/ 20 w 100"/>
                <a:gd name="T17" fmla="*/ 438 h 894"/>
                <a:gd name="T18" fmla="*/ 0 w 100"/>
                <a:gd name="T19" fmla="*/ 445 h 894"/>
                <a:gd name="T20" fmla="*/ 20 w 100"/>
                <a:gd name="T21" fmla="*/ 452 h 894"/>
                <a:gd name="T22" fmla="*/ 36 w 100"/>
                <a:gd name="T23" fmla="*/ 469 h 894"/>
                <a:gd name="T24" fmla="*/ 48 w 100"/>
                <a:gd name="T25" fmla="*/ 492 h 894"/>
                <a:gd name="T26" fmla="*/ 52 w 100"/>
                <a:gd name="T27" fmla="*/ 523 h 894"/>
                <a:gd name="T28" fmla="*/ 52 w 100"/>
                <a:gd name="T29" fmla="*/ 820 h 894"/>
                <a:gd name="T30" fmla="*/ 56 w 100"/>
                <a:gd name="T31" fmla="*/ 850 h 894"/>
                <a:gd name="T32" fmla="*/ 68 w 100"/>
                <a:gd name="T33" fmla="*/ 873 h 894"/>
                <a:gd name="T34" fmla="*/ 84 w 100"/>
                <a:gd name="T35" fmla="*/ 887 h 894"/>
                <a:gd name="T36" fmla="*/ 100 w 100"/>
                <a:gd name="T37" fmla="*/ 894 h 8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00"/>
                <a:gd name="T58" fmla="*/ 0 h 894"/>
                <a:gd name="T59" fmla="*/ 100 w 100"/>
                <a:gd name="T60" fmla="*/ 894 h 89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00" h="894">
                  <a:moveTo>
                    <a:pt x="100" y="0"/>
                  </a:moveTo>
                  <a:lnTo>
                    <a:pt x="84" y="7"/>
                  </a:lnTo>
                  <a:lnTo>
                    <a:pt x="68" y="24"/>
                  </a:lnTo>
                  <a:lnTo>
                    <a:pt x="56" y="47"/>
                  </a:lnTo>
                  <a:lnTo>
                    <a:pt x="52" y="74"/>
                  </a:lnTo>
                  <a:lnTo>
                    <a:pt x="52" y="371"/>
                  </a:lnTo>
                  <a:lnTo>
                    <a:pt x="48" y="401"/>
                  </a:lnTo>
                  <a:lnTo>
                    <a:pt x="36" y="425"/>
                  </a:lnTo>
                  <a:lnTo>
                    <a:pt x="20" y="438"/>
                  </a:lnTo>
                  <a:lnTo>
                    <a:pt x="0" y="445"/>
                  </a:lnTo>
                  <a:lnTo>
                    <a:pt x="20" y="452"/>
                  </a:lnTo>
                  <a:lnTo>
                    <a:pt x="36" y="469"/>
                  </a:lnTo>
                  <a:lnTo>
                    <a:pt x="48" y="492"/>
                  </a:lnTo>
                  <a:lnTo>
                    <a:pt x="52" y="523"/>
                  </a:lnTo>
                  <a:lnTo>
                    <a:pt x="52" y="820"/>
                  </a:lnTo>
                  <a:lnTo>
                    <a:pt x="56" y="850"/>
                  </a:lnTo>
                  <a:lnTo>
                    <a:pt x="68" y="873"/>
                  </a:lnTo>
                  <a:lnTo>
                    <a:pt x="84" y="887"/>
                  </a:lnTo>
                  <a:lnTo>
                    <a:pt x="100" y="89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030" name="Line 42"/>
            <p:cNvSpPr>
              <a:spLocks noChangeShapeType="1"/>
            </p:cNvSpPr>
            <p:nvPr/>
          </p:nvSpPr>
          <p:spPr bwMode="auto">
            <a:xfrm flipH="1" flipV="1">
              <a:off x="1592" y="1450"/>
              <a:ext cx="249" cy="20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031" name="Line 43"/>
            <p:cNvSpPr>
              <a:spLocks noChangeShapeType="1"/>
            </p:cNvSpPr>
            <p:nvPr/>
          </p:nvSpPr>
          <p:spPr bwMode="auto">
            <a:xfrm flipH="1">
              <a:off x="1238" y="1439"/>
              <a:ext cx="354" cy="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032" name="Line 44"/>
            <p:cNvSpPr>
              <a:spLocks noChangeShapeType="1"/>
            </p:cNvSpPr>
            <p:nvPr/>
          </p:nvSpPr>
          <p:spPr bwMode="auto">
            <a:xfrm flipV="1">
              <a:off x="2746" y="1450"/>
              <a:ext cx="101" cy="219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033" name="Freeform 45"/>
            <p:cNvSpPr/>
            <p:nvPr/>
          </p:nvSpPr>
          <p:spPr bwMode="auto">
            <a:xfrm>
              <a:off x="2847" y="1449"/>
              <a:ext cx="303" cy="1"/>
            </a:xfrm>
            <a:custGeom>
              <a:avLst/>
              <a:gdLst>
                <a:gd name="T0" fmla="*/ 0 w 303"/>
                <a:gd name="T1" fmla="*/ 1 h 1"/>
                <a:gd name="T2" fmla="*/ 303 w 303"/>
                <a:gd name="T3" fmla="*/ 0 h 1"/>
                <a:gd name="T4" fmla="*/ 0 60000 65536"/>
                <a:gd name="T5" fmla="*/ 0 60000 65536"/>
                <a:gd name="T6" fmla="*/ 0 w 303"/>
                <a:gd name="T7" fmla="*/ 0 h 1"/>
                <a:gd name="T8" fmla="*/ 303 w 303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03" h="1">
                  <a:moveTo>
                    <a:pt x="0" y="1"/>
                  </a:moveTo>
                  <a:lnTo>
                    <a:pt x="303" y="0"/>
                  </a:lnTo>
                </a:path>
              </a:pathLst>
            </a:custGeom>
            <a:solidFill>
              <a:srgbClr val="FFFFFF"/>
            </a:solidFill>
            <a:ln w="12700">
              <a:solidFill>
                <a:schemeClr val="tx1"/>
              </a:solidFill>
              <a:prstDash val="solid"/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034" name="Line 46"/>
            <p:cNvSpPr>
              <a:spLocks noChangeShapeType="1"/>
            </p:cNvSpPr>
            <p:nvPr/>
          </p:nvSpPr>
          <p:spPr bwMode="auto">
            <a:xfrm flipV="1">
              <a:off x="2195" y="1433"/>
              <a:ext cx="125" cy="14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035" name="Line 47"/>
            <p:cNvSpPr>
              <a:spLocks noChangeShapeType="1"/>
            </p:cNvSpPr>
            <p:nvPr/>
          </p:nvSpPr>
          <p:spPr bwMode="auto">
            <a:xfrm>
              <a:off x="2320" y="1439"/>
              <a:ext cx="278" cy="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036" name="Rectangle 48"/>
            <p:cNvSpPr>
              <a:spLocks noChangeArrowheads="1"/>
            </p:cNvSpPr>
            <p:nvPr/>
          </p:nvSpPr>
          <p:spPr bwMode="auto">
            <a:xfrm>
              <a:off x="2344" y="1200"/>
              <a:ext cx="32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/>
                <a:t>主轴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2037" name="Rectangle 49"/>
            <p:cNvSpPr>
              <a:spLocks noChangeArrowheads="1"/>
            </p:cNvSpPr>
            <p:nvPr/>
          </p:nvSpPr>
          <p:spPr bwMode="auto">
            <a:xfrm>
              <a:off x="2847" y="1200"/>
              <a:ext cx="32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/>
                <a:t>磁头</a:t>
              </a:r>
              <a:endParaRPr lang="zh-CN" altLang="en-US" sz="2000">
                <a:latin typeface="Times New Roman" panose="02020603050405020304" pitchFamily="18" charset="0"/>
              </a:endParaRPr>
            </a:p>
          </p:txBody>
        </p:sp>
        <p:sp>
          <p:nvSpPr>
            <p:cNvPr id="212038" name="Line 50"/>
            <p:cNvSpPr>
              <a:spLocks noChangeShapeType="1"/>
            </p:cNvSpPr>
            <p:nvPr/>
          </p:nvSpPr>
          <p:spPr bwMode="auto">
            <a:xfrm>
              <a:off x="3804" y="2159"/>
              <a:ext cx="272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039" name="Rectangle 51"/>
            <p:cNvSpPr>
              <a:spLocks noChangeArrowheads="1"/>
            </p:cNvSpPr>
            <p:nvPr/>
          </p:nvSpPr>
          <p:spPr bwMode="auto">
            <a:xfrm>
              <a:off x="4155" y="1960"/>
              <a:ext cx="29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800"/>
                <a:t>音圈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12040" name="Rectangle 52"/>
            <p:cNvSpPr>
              <a:spLocks noChangeArrowheads="1"/>
            </p:cNvSpPr>
            <p:nvPr/>
          </p:nvSpPr>
          <p:spPr bwMode="auto">
            <a:xfrm>
              <a:off x="4155" y="2112"/>
              <a:ext cx="29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800"/>
                <a:t>电机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12041" name="Rectangle 53"/>
            <p:cNvSpPr>
              <a:spLocks noChangeArrowheads="1"/>
            </p:cNvSpPr>
            <p:nvPr/>
          </p:nvSpPr>
          <p:spPr bwMode="auto">
            <a:xfrm>
              <a:off x="1741" y="3095"/>
              <a:ext cx="2192" cy="769"/>
            </a:xfrm>
            <a:prstGeom prst="rect">
              <a:avLst/>
            </a:prstGeom>
            <a:noFill/>
            <a:ln w="2540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12042" name="Rectangle 54"/>
            <p:cNvSpPr>
              <a:spLocks noChangeArrowheads="1"/>
            </p:cNvSpPr>
            <p:nvPr/>
          </p:nvSpPr>
          <p:spPr bwMode="auto">
            <a:xfrm>
              <a:off x="1886" y="3264"/>
              <a:ext cx="58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800"/>
                <a:t>位置检测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12043" name="Rectangle 55"/>
            <p:cNvSpPr>
              <a:spLocks noChangeArrowheads="1"/>
            </p:cNvSpPr>
            <p:nvPr/>
          </p:nvSpPr>
          <p:spPr bwMode="auto">
            <a:xfrm>
              <a:off x="1886" y="3439"/>
              <a:ext cx="58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800"/>
                <a:t>定位驱动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12044" name="Rectangle 56"/>
            <p:cNvSpPr>
              <a:spLocks noChangeArrowheads="1"/>
            </p:cNvSpPr>
            <p:nvPr/>
          </p:nvSpPr>
          <p:spPr bwMode="auto">
            <a:xfrm>
              <a:off x="2725" y="3331"/>
              <a:ext cx="58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800"/>
                <a:t>模拟控制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grpSp>
          <p:nvGrpSpPr>
            <p:cNvPr id="212045" name="Group 57"/>
            <p:cNvGrpSpPr/>
            <p:nvPr/>
          </p:nvGrpSpPr>
          <p:grpSpPr bwMode="auto">
            <a:xfrm>
              <a:off x="3527" y="3311"/>
              <a:ext cx="144" cy="301"/>
              <a:chOff x="3511" y="3407"/>
              <a:chExt cx="144" cy="301"/>
            </a:xfrm>
          </p:grpSpPr>
          <p:sp>
            <p:nvSpPr>
              <p:cNvPr id="212092" name="Rectangle 58"/>
              <p:cNvSpPr>
                <a:spLocks noChangeArrowheads="1"/>
              </p:cNvSpPr>
              <p:nvPr/>
            </p:nvSpPr>
            <p:spPr bwMode="auto">
              <a:xfrm>
                <a:off x="3511" y="3407"/>
                <a:ext cx="144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1800"/>
                  <a:t>放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093" name="Rectangle 59"/>
              <p:cNvSpPr>
                <a:spLocks noChangeArrowheads="1"/>
              </p:cNvSpPr>
              <p:nvPr/>
            </p:nvSpPr>
            <p:spPr bwMode="auto">
              <a:xfrm>
                <a:off x="3511" y="3535"/>
                <a:ext cx="144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zh-CN" altLang="en-US" sz="1800"/>
                  <a:t>大</a:t>
                </a:r>
                <a:endParaRPr lang="zh-CN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212046" name="Group 60"/>
            <p:cNvGrpSpPr/>
            <p:nvPr/>
          </p:nvGrpSpPr>
          <p:grpSpPr bwMode="auto">
            <a:xfrm>
              <a:off x="2496" y="3409"/>
              <a:ext cx="184" cy="71"/>
              <a:chOff x="2521" y="3505"/>
              <a:chExt cx="149" cy="71"/>
            </a:xfrm>
          </p:grpSpPr>
          <p:sp>
            <p:nvSpPr>
              <p:cNvPr id="212090" name="Line 61"/>
              <p:cNvSpPr>
                <a:spLocks noChangeShapeType="1"/>
              </p:cNvSpPr>
              <p:nvPr/>
            </p:nvSpPr>
            <p:spPr bwMode="auto">
              <a:xfrm>
                <a:off x="2521" y="3539"/>
                <a:ext cx="101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2091" name="Freeform 62"/>
              <p:cNvSpPr/>
              <p:nvPr/>
            </p:nvSpPr>
            <p:spPr bwMode="auto">
              <a:xfrm>
                <a:off x="2586" y="3505"/>
                <a:ext cx="84" cy="71"/>
              </a:xfrm>
              <a:custGeom>
                <a:avLst/>
                <a:gdLst>
                  <a:gd name="T0" fmla="*/ 0 w 84"/>
                  <a:gd name="T1" fmla="*/ 71 h 71"/>
                  <a:gd name="T2" fmla="*/ 84 w 84"/>
                  <a:gd name="T3" fmla="*/ 34 h 71"/>
                  <a:gd name="T4" fmla="*/ 0 w 84"/>
                  <a:gd name="T5" fmla="*/ 0 h 71"/>
                  <a:gd name="T6" fmla="*/ 28 w 84"/>
                  <a:gd name="T7" fmla="*/ 34 h 71"/>
                  <a:gd name="T8" fmla="*/ 0 w 84"/>
                  <a:gd name="T9" fmla="*/ 71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4"/>
                  <a:gd name="T16" fmla="*/ 0 h 71"/>
                  <a:gd name="T17" fmla="*/ 84 w 84"/>
                  <a:gd name="T18" fmla="*/ 71 h 7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4" h="71">
                    <a:moveTo>
                      <a:pt x="0" y="71"/>
                    </a:moveTo>
                    <a:lnTo>
                      <a:pt x="84" y="34"/>
                    </a:lnTo>
                    <a:lnTo>
                      <a:pt x="0" y="0"/>
                    </a:lnTo>
                    <a:lnTo>
                      <a:pt x="28" y="34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12047" name="Group 63"/>
            <p:cNvGrpSpPr/>
            <p:nvPr/>
          </p:nvGrpSpPr>
          <p:grpSpPr bwMode="auto">
            <a:xfrm>
              <a:off x="3334" y="3409"/>
              <a:ext cx="170" cy="71"/>
              <a:chOff x="3302" y="3505"/>
              <a:chExt cx="148" cy="71"/>
            </a:xfrm>
          </p:grpSpPr>
          <p:sp>
            <p:nvSpPr>
              <p:cNvPr id="212088" name="Line 64"/>
              <p:cNvSpPr>
                <a:spLocks noChangeShapeType="1"/>
              </p:cNvSpPr>
              <p:nvPr/>
            </p:nvSpPr>
            <p:spPr bwMode="auto">
              <a:xfrm>
                <a:off x="3302" y="3539"/>
                <a:ext cx="10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2089" name="Freeform 65"/>
              <p:cNvSpPr/>
              <p:nvPr/>
            </p:nvSpPr>
            <p:spPr bwMode="auto">
              <a:xfrm>
                <a:off x="3366" y="3505"/>
                <a:ext cx="84" cy="71"/>
              </a:xfrm>
              <a:custGeom>
                <a:avLst/>
                <a:gdLst>
                  <a:gd name="T0" fmla="*/ 0 w 84"/>
                  <a:gd name="T1" fmla="*/ 71 h 71"/>
                  <a:gd name="T2" fmla="*/ 84 w 84"/>
                  <a:gd name="T3" fmla="*/ 34 h 71"/>
                  <a:gd name="T4" fmla="*/ 0 w 84"/>
                  <a:gd name="T5" fmla="*/ 0 h 71"/>
                  <a:gd name="T6" fmla="*/ 28 w 84"/>
                  <a:gd name="T7" fmla="*/ 34 h 71"/>
                  <a:gd name="T8" fmla="*/ 0 w 84"/>
                  <a:gd name="T9" fmla="*/ 71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4"/>
                  <a:gd name="T16" fmla="*/ 0 h 71"/>
                  <a:gd name="T17" fmla="*/ 84 w 84"/>
                  <a:gd name="T18" fmla="*/ 71 h 7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4" h="71">
                    <a:moveTo>
                      <a:pt x="0" y="71"/>
                    </a:moveTo>
                    <a:lnTo>
                      <a:pt x="84" y="34"/>
                    </a:lnTo>
                    <a:lnTo>
                      <a:pt x="0" y="0"/>
                    </a:lnTo>
                    <a:lnTo>
                      <a:pt x="28" y="34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12048" name="Rectangle 66"/>
            <p:cNvSpPr>
              <a:spLocks noChangeArrowheads="1"/>
            </p:cNvSpPr>
            <p:nvPr/>
          </p:nvSpPr>
          <p:spPr bwMode="auto">
            <a:xfrm>
              <a:off x="2296" y="3648"/>
              <a:ext cx="116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800"/>
                <a:t>闭环自动控制系统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grpSp>
          <p:nvGrpSpPr>
            <p:cNvPr id="212049" name="Group 67"/>
            <p:cNvGrpSpPr/>
            <p:nvPr/>
          </p:nvGrpSpPr>
          <p:grpSpPr bwMode="auto">
            <a:xfrm>
              <a:off x="1632" y="3409"/>
              <a:ext cx="240" cy="71"/>
              <a:chOff x="1540" y="3505"/>
              <a:chExt cx="354" cy="71"/>
            </a:xfrm>
          </p:grpSpPr>
          <p:sp>
            <p:nvSpPr>
              <p:cNvPr id="212086" name="Line 68"/>
              <p:cNvSpPr>
                <a:spLocks noChangeShapeType="1"/>
              </p:cNvSpPr>
              <p:nvPr/>
            </p:nvSpPr>
            <p:spPr bwMode="auto">
              <a:xfrm>
                <a:off x="1540" y="3539"/>
                <a:ext cx="305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2087" name="Freeform 69"/>
              <p:cNvSpPr/>
              <p:nvPr/>
            </p:nvSpPr>
            <p:spPr bwMode="auto">
              <a:xfrm>
                <a:off x="1809" y="3505"/>
                <a:ext cx="85" cy="71"/>
              </a:xfrm>
              <a:custGeom>
                <a:avLst/>
                <a:gdLst>
                  <a:gd name="T0" fmla="*/ 0 w 85"/>
                  <a:gd name="T1" fmla="*/ 71 h 71"/>
                  <a:gd name="T2" fmla="*/ 85 w 85"/>
                  <a:gd name="T3" fmla="*/ 34 h 71"/>
                  <a:gd name="T4" fmla="*/ 0 w 85"/>
                  <a:gd name="T5" fmla="*/ 0 h 71"/>
                  <a:gd name="T6" fmla="*/ 28 w 85"/>
                  <a:gd name="T7" fmla="*/ 34 h 71"/>
                  <a:gd name="T8" fmla="*/ 0 w 85"/>
                  <a:gd name="T9" fmla="*/ 71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5"/>
                  <a:gd name="T16" fmla="*/ 0 h 71"/>
                  <a:gd name="T17" fmla="*/ 85 w 85"/>
                  <a:gd name="T18" fmla="*/ 71 h 7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5" h="71">
                    <a:moveTo>
                      <a:pt x="0" y="71"/>
                    </a:moveTo>
                    <a:lnTo>
                      <a:pt x="85" y="34"/>
                    </a:lnTo>
                    <a:lnTo>
                      <a:pt x="0" y="0"/>
                    </a:lnTo>
                    <a:lnTo>
                      <a:pt x="28" y="34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12050" name="Rectangle 70"/>
            <p:cNvSpPr>
              <a:spLocks noChangeArrowheads="1"/>
            </p:cNvSpPr>
            <p:nvPr/>
          </p:nvSpPr>
          <p:spPr bwMode="auto">
            <a:xfrm>
              <a:off x="907" y="3168"/>
              <a:ext cx="7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800"/>
                <a:t>由磁盘控制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12051" name="Rectangle 71"/>
            <p:cNvSpPr>
              <a:spLocks noChangeArrowheads="1"/>
            </p:cNvSpPr>
            <p:nvPr/>
          </p:nvSpPr>
          <p:spPr bwMode="auto">
            <a:xfrm>
              <a:off x="908" y="3359"/>
              <a:ext cx="71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800"/>
                <a:t>器送来的目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12052" name="Rectangle 72"/>
            <p:cNvSpPr>
              <a:spLocks noChangeArrowheads="1"/>
            </p:cNvSpPr>
            <p:nvPr/>
          </p:nvSpPr>
          <p:spPr bwMode="auto">
            <a:xfrm>
              <a:off x="908" y="3571"/>
              <a:ext cx="7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800"/>
                <a:t>标磁道信号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12053" name="Rectangle 73"/>
            <p:cNvSpPr>
              <a:spLocks noChangeArrowheads="1"/>
            </p:cNvSpPr>
            <p:nvPr/>
          </p:nvSpPr>
          <p:spPr bwMode="auto">
            <a:xfrm>
              <a:off x="4752" y="2131"/>
              <a:ext cx="14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800"/>
                <a:t>测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12054" name="Rectangle 74"/>
            <p:cNvSpPr>
              <a:spLocks noChangeArrowheads="1"/>
            </p:cNvSpPr>
            <p:nvPr/>
          </p:nvSpPr>
          <p:spPr bwMode="auto">
            <a:xfrm>
              <a:off x="4752" y="2350"/>
              <a:ext cx="14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800"/>
                <a:t>速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12055" name="Rectangle 75"/>
            <p:cNvSpPr>
              <a:spLocks noChangeArrowheads="1"/>
            </p:cNvSpPr>
            <p:nvPr/>
          </p:nvSpPr>
          <p:spPr bwMode="auto">
            <a:xfrm>
              <a:off x="4752" y="2569"/>
              <a:ext cx="14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800"/>
                <a:t>输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12056" name="Rectangle 76"/>
            <p:cNvSpPr>
              <a:spLocks noChangeArrowheads="1"/>
            </p:cNvSpPr>
            <p:nvPr/>
          </p:nvSpPr>
          <p:spPr bwMode="auto">
            <a:xfrm>
              <a:off x="4752" y="2785"/>
              <a:ext cx="14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800"/>
                <a:t>出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12057" name="Line 77"/>
            <p:cNvSpPr>
              <a:spLocks noChangeShapeType="1"/>
            </p:cNvSpPr>
            <p:nvPr/>
          </p:nvSpPr>
          <p:spPr bwMode="auto">
            <a:xfrm flipH="1">
              <a:off x="2847" y="2472"/>
              <a:ext cx="201" cy="29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058" name="Rectangle 78"/>
            <p:cNvSpPr>
              <a:spLocks noChangeArrowheads="1"/>
            </p:cNvSpPr>
            <p:nvPr/>
          </p:nvSpPr>
          <p:spPr bwMode="auto">
            <a:xfrm>
              <a:off x="2907" y="2640"/>
              <a:ext cx="43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800"/>
                <a:t>读写臂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grpSp>
          <p:nvGrpSpPr>
            <p:cNvPr id="212059" name="Group 79"/>
            <p:cNvGrpSpPr/>
            <p:nvPr/>
          </p:nvGrpSpPr>
          <p:grpSpPr bwMode="auto">
            <a:xfrm>
              <a:off x="1491" y="1972"/>
              <a:ext cx="1336" cy="95"/>
              <a:chOff x="1491" y="2068"/>
              <a:chExt cx="1336" cy="95"/>
            </a:xfrm>
          </p:grpSpPr>
          <p:sp>
            <p:nvSpPr>
              <p:cNvPr id="212084" name="Rectangle 80"/>
              <p:cNvSpPr>
                <a:spLocks noChangeArrowheads="1"/>
              </p:cNvSpPr>
              <p:nvPr/>
            </p:nvSpPr>
            <p:spPr bwMode="auto">
              <a:xfrm>
                <a:off x="2674" y="2068"/>
                <a:ext cx="153" cy="95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212085" name="Line 81"/>
              <p:cNvSpPr>
                <a:spLocks noChangeShapeType="1"/>
              </p:cNvSpPr>
              <p:nvPr/>
            </p:nvSpPr>
            <p:spPr bwMode="auto">
              <a:xfrm>
                <a:off x="1491" y="2112"/>
                <a:ext cx="1332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12060" name="Group 82"/>
            <p:cNvGrpSpPr/>
            <p:nvPr/>
          </p:nvGrpSpPr>
          <p:grpSpPr bwMode="auto">
            <a:xfrm>
              <a:off x="1491" y="2128"/>
              <a:ext cx="1336" cy="94"/>
              <a:chOff x="1491" y="2224"/>
              <a:chExt cx="1336" cy="94"/>
            </a:xfrm>
          </p:grpSpPr>
          <p:sp>
            <p:nvSpPr>
              <p:cNvPr id="212082" name="Rectangle 83"/>
              <p:cNvSpPr>
                <a:spLocks noChangeArrowheads="1"/>
              </p:cNvSpPr>
              <p:nvPr/>
            </p:nvSpPr>
            <p:spPr bwMode="auto">
              <a:xfrm>
                <a:off x="2674" y="2224"/>
                <a:ext cx="153" cy="94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212083" name="Line 84"/>
              <p:cNvSpPr>
                <a:spLocks noChangeShapeType="1"/>
              </p:cNvSpPr>
              <p:nvPr/>
            </p:nvSpPr>
            <p:spPr bwMode="auto">
              <a:xfrm>
                <a:off x="1491" y="2267"/>
                <a:ext cx="1332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12061" name="Group 85"/>
            <p:cNvGrpSpPr/>
            <p:nvPr/>
          </p:nvGrpSpPr>
          <p:grpSpPr bwMode="auto">
            <a:xfrm>
              <a:off x="2823" y="2063"/>
              <a:ext cx="603" cy="65"/>
              <a:chOff x="2823" y="2159"/>
              <a:chExt cx="603" cy="65"/>
            </a:xfrm>
          </p:grpSpPr>
          <p:sp>
            <p:nvSpPr>
              <p:cNvPr id="212079" name="Line 86"/>
              <p:cNvSpPr>
                <a:spLocks noChangeShapeType="1"/>
              </p:cNvSpPr>
              <p:nvPr/>
            </p:nvSpPr>
            <p:spPr bwMode="auto">
              <a:xfrm>
                <a:off x="2823" y="2159"/>
                <a:ext cx="100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2080" name="Line 87"/>
              <p:cNvSpPr>
                <a:spLocks noChangeShapeType="1"/>
              </p:cNvSpPr>
              <p:nvPr/>
            </p:nvSpPr>
            <p:spPr bwMode="auto">
              <a:xfrm flipV="1">
                <a:off x="2823" y="2186"/>
                <a:ext cx="100" cy="3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2081" name="Line 88"/>
              <p:cNvSpPr>
                <a:spLocks noChangeShapeType="1"/>
              </p:cNvSpPr>
              <p:nvPr/>
            </p:nvSpPr>
            <p:spPr bwMode="auto">
              <a:xfrm>
                <a:off x="2923" y="2186"/>
                <a:ext cx="503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12062" name="Group 89"/>
            <p:cNvGrpSpPr/>
            <p:nvPr/>
          </p:nvGrpSpPr>
          <p:grpSpPr bwMode="auto">
            <a:xfrm>
              <a:off x="1491" y="2316"/>
              <a:ext cx="1336" cy="98"/>
              <a:chOff x="1491" y="2412"/>
              <a:chExt cx="1336" cy="98"/>
            </a:xfrm>
          </p:grpSpPr>
          <p:sp>
            <p:nvSpPr>
              <p:cNvPr id="212077" name="Rectangle 90"/>
              <p:cNvSpPr>
                <a:spLocks noChangeArrowheads="1"/>
              </p:cNvSpPr>
              <p:nvPr/>
            </p:nvSpPr>
            <p:spPr bwMode="auto">
              <a:xfrm>
                <a:off x="2674" y="2412"/>
                <a:ext cx="153" cy="98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kumimoji="1" sz="800" b="1">
                    <a:solidFill>
                      <a:schemeClr val="tx1"/>
                    </a:solidFill>
                    <a:latin typeface="宋体" panose="02010600030101010101" pitchFamily="2" charset="-122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212078" name="Line 91"/>
              <p:cNvSpPr>
                <a:spLocks noChangeShapeType="1"/>
              </p:cNvSpPr>
              <p:nvPr/>
            </p:nvSpPr>
            <p:spPr bwMode="auto">
              <a:xfrm>
                <a:off x="1491" y="2460"/>
                <a:ext cx="1332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12063" name="Rectangle 92"/>
            <p:cNvSpPr>
              <a:spLocks noChangeArrowheads="1"/>
            </p:cNvSpPr>
            <p:nvPr/>
          </p:nvSpPr>
          <p:spPr bwMode="auto">
            <a:xfrm>
              <a:off x="1101" y="2880"/>
              <a:ext cx="58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1800"/>
                <a:t>传动机构</a:t>
              </a:r>
              <a:endParaRPr lang="zh-CN" altLang="en-US" sz="1800">
                <a:latin typeface="Times New Roman" panose="02020603050405020304" pitchFamily="18" charset="0"/>
              </a:endParaRPr>
            </a:p>
          </p:txBody>
        </p:sp>
        <p:sp>
          <p:nvSpPr>
            <p:cNvPr id="212064" name="Line 93"/>
            <p:cNvSpPr>
              <a:spLocks noChangeShapeType="1"/>
            </p:cNvSpPr>
            <p:nvPr/>
          </p:nvSpPr>
          <p:spPr bwMode="auto">
            <a:xfrm flipV="1">
              <a:off x="1440" y="2735"/>
              <a:ext cx="249" cy="14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065" name="Rectangle 94"/>
            <p:cNvSpPr>
              <a:spLocks noChangeArrowheads="1"/>
            </p:cNvSpPr>
            <p:nvPr/>
          </p:nvSpPr>
          <p:spPr bwMode="auto">
            <a:xfrm>
              <a:off x="4080" y="1968"/>
              <a:ext cx="432" cy="336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12066" name="Rectangle 95"/>
            <p:cNvSpPr>
              <a:spLocks noChangeArrowheads="1"/>
            </p:cNvSpPr>
            <p:nvPr/>
          </p:nvSpPr>
          <p:spPr bwMode="auto">
            <a:xfrm>
              <a:off x="1872" y="3216"/>
              <a:ext cx="624" cy="432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12067" name="Rectangle 96"/>
            <p:cNvSpPr>
              <a:spLocks noChangeArrowheads="1"/>
            </p:cNvSpPr>
            <p:nvPr/>
          </p:nvSpPr>
          <p:spPr bwMode="auto">
            <a:xfrm>
              <a:off x="2693" y="3312"/>
              <a:ext cx="624" cy="240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sp>
          <p:nvSpPr>
            <p:cNvPr id="212068" name="Rectangle 97"/>
            <p:cNvSpPr>
              <a:spLocks noChangeArrowheads="1"/>
            </p:cNvSpPr>
            <p:nvPr/>
          </p:nvSpPr>
          <p:spPr bwMode="auto">
            <a:xfrm>
              <a:off x="3504" y="3264"/>
              <a:ext cx="192" cy="384"/>
            </a:xfrm>
            <a:prstGeom prst="rect">
              <a:avLst/>
            </a:prstGeom>
            <a:noFill/>
            <a:ln w="2857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/>
            </a:p>
          </p:txBody>
        </p:sp>
        <p:grpSp>
          <p:nvGrpSpPr>
            <p:cNvPr id="212069" name="Group 98"/>
            <p:cNvGrpSpPr/>
            <p:nvPr/>
          </p:nvGrpSpPr>
          <p:grpSpPr bwMode="auto">
            <a:xfrm>
              <a:off x="2160" y="2547"/>
              <a:ext cx="597" cy="669"/>
              <a:chOff x="2160" y="2547"/>
              <a:chExt cx="597" cy="669"/>
            </a:xfrm>
          </p:grpSpPr>
          <p:sp>
            <p:nvSpPr>
              <p:cNvPr id="212075" name="Freeform 99"/>
              <p:cNvSpPr/>
              <p:nvPr/>
            </p:nvSpPr>
            <p:spPr bwMode="auto">
              <a:xfrm>
                <a:off x="2160" y="2547"/>
                <a:ext cx="597" cy="669"/>
              </a:xfrm>
              <a:custGeom>
                <a:avLst/>
                <a:gdLst>
                  <a:gd name="T0" fmla="*/ 594 w 597"/>
                  <a:gd name="T1" fmla="*/ 0 h 669"/>
                  <a:gd name="T2" fmla="*/ 597 w 597"/>
                  <a:gd name="T3" fmla="*/ 318 h 669"/>
                  <a:gd name="T4" fmla="*/ 576 w 597"/>
                  <a:gd name="T5" fmla="*/ 333 h 669"/>
                  <a:gd name="T6" fmla="*/ 0 w 597"/>
                  <a:gd name="T7" fmla="*/ 333 h 669"/>
                  <a:gd name="T8" fmla="*/ 0 w 597"/>
                  <a:gd name="T9" fmla="*/ 669 h 6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97"/>
                  <a:gd name="T16" fmla="*/ 0 h 669"/>
                  <a:gd name="T17" fmla="*/ 597 w 597"/>
                  <a:gd name="T18" fmla="*/ 669 h 66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97" h="669">
                    <a:moveTo>
                      <a:pt x="594" y="0"/>
                    </a:moveTo>
                    <a:lnTo>
                      <a:pt x="597" y="318"/>
                    </a:lnTo>
                    <a:lnTo>
                      <a:pt x="576" y="333"/>
                    </a:lnTo>
                    <a:lnTo>
                      <a:pt x="0" y="333"/>
                    </a:lnTo>
                    <a:lnTo>
                      <a:pt x="0" y="669"/>
                    </a:lnTo>
                  </a:path>
                </a:pathLst>
              </a:custGeom>
              <a:noFill/>
              <a:ln w="38100" cap="flat" cmpd="sng">
                <a:solidFill>
                  <a:schemeClr val="tx1"/>
                </a:solidFill>
                <a:prstDash val="dash"/>
                <a:round/>
                <a:tailEnd type="stealth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12076" name="Line 100"/>
              <p:cNvSpPr>
                <a:spLocks noChangeShapeType="1"/>
              </p:cNvSpPr>
              <p:nvPr/>
            </p:nvSpPr>
            <p:spPr bwMode="auto">
              <a:xfrm flipV="1">
                <a:off x="2160" y="3120"/>
                <a:ext cx="0" cy="4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212070" name="Freeform 101"/>
            <p:cNvSpPr/>
            <p:nvPr/>
          </p:nvSpPr>
          <p:spPr bwMode="auto">
            <a:xfrm>
              <a:off x="3012" y="2160"/>
              <a:ext cx="1692" cy="1149"/>
            </a:xfrm>
            <a:custGeom>
              <a:avLst/>
              <a:gdLst>
                <a:gd name="T0" fmla="*/ 1500 w 1692"/>
                <a:gd name="T1" fmla="*/ 0 h 1149"/>
                <a:gd name="T2" fmla="*/ 1692 w 1692"/>
                <a:gd name="T3" fmla="*/ 0 h 1149"/>
                <a:gd name="T4" fmla="*/ 1692 w 1692"/>
                <a:gd name="T5" fmla="*/ 768 h 1149"/>
                <a:gd name="T6" fmla="*/ 0 w 1692"/>
                <a:gd name="T7" fmla="*/ 765 h 1149"/>
                <a:gd name="T8" fmla="*/ 0 w 1692"/>
                <a:gd name="T9" fmla="*/ 1149 h 1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92"/>
                <a:gd name="T16" fmla="*/ 0 h 1149"/>
                <a:gd name="T17" fmla="*/ 1692 w 1692"/>
                <a:gd name="T18" fmla="*/ 1149 h 114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92" h="1149">
                  <a:moveTo>
                    <a:pt x="1500" y="0"/>
                  </a:moveTo>
                  <a:lnTo>
                    <a:pt x="1692" y="0"/>
                  </a:lnTo>
                  <a:lnTo>
                    <a:pt x="1692" y="768"/>
                  </a:lnTo>
                  <a:lnTo>
                    <a:pt x="0" y="765"/>
                  </a:lnTo>
                  <a:lnTo>
                    <a:pt x="0" y="1149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dash"/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2071" name="Line 102"/>
            <p:cNvSpPr>
              <a:spLocks noChangeShapeType="1"/>
            </p:cNvSpPr>
            <p:nvPr/>
          </p:nvSpPr>
          <p:spPr bwMode="auto">
            <a:xfrm>
              <a:off x="3704" y="3443"/>
              <a:ext cx="1408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072" name="Line 103"/>
            <p:cNvSpPr>
              <a:spLocks noChangeShapeType="1"/>
            </p:cNvSpPr>
            <p:nvPr/>
          </p:nvSpPr>
          <p:spPr bwMode="auto">
            <a:xfrm flipV="1">
              <a:off x="5112" y="1780"/>
              <a:ext cx="1" cy="16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073" name="Line 104"/>
            <p:cNvSpPr>
              <a:spLocks noChangeShapeType="1"/>
            </p:cNvSpPr>
            <p:nvPr/>
          </p:nvSpPr>
          <p:spPr bwMode="auto">
            <a:xfrm flipH="1">
              <a:off x="4279" y="1780"/>
              <a:ext cx="833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074" name="Line 105"/>
            <p:cNvSpPr>
              <a:spLocks noChangeShapeType="1"/>
            </p:cNvSpPr>
            <p:nvPr/>
          </p:nvSpPr>
          <p:spPr bwMode="auto">
            <a:xfrm>
              <a:off x="4279" y="1768"/>
              <a:ext cx="1" cy="20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" name="Group 106"/>
          <p:cNvGrpSpPr/>
          <p:nvPr/>
        </p:nvGrpSpPr>
        <p:grpSpPr bwMode="auto">
          <a:xfrm>
            <a:off x="3429000" y="4043363"/>
            <a:ext cx="947738" cy="1062037"/>
            <a:chOff x="2160" y="2547"/>
            <a:chExt cx="597" cy="669"/>
          </a:xfrm>
        </p:grpSpPr>
        <p:sp>
          <p:nvSpPr>
            <p:cNvPr id="211994" name="Freeform 107"/>
            <p:cNvSpPr/>
            <p:nvPr/>
          </p:nvSpPr>
          <p:spPr bwMode="auto">
            <a:xfrm>
              <a:off x="2160" y="2547"/>
              <a:ext cx="597" cy="669"/>
            </a:xfrm>
            <a:custGeom>
              <a:avLst/>
              <a:gdLst>
                <a:gd name="T0" fmla="*/ 594 w 597"/>
                <a:gd name="T1" fmla="*/ 0 h 669"/>
                <a:gd name="T2" fmla="*/ 597 w 597"/>
                <a:gd name="T3" fmla="*/ 318 h 669"/>
                <a:gd name="T4" fmla="*/ 576 w 597"/>
                <a:gd name="T5" fmla="*/ 333 h 669"/>
                <a:gd name="T6" fmla="*/ 0 w 597"/>
                <a:gd name="T7" fmla="*/ 333 h 669"/>
                <a:gd name="T8" fmla="*/ 0 w 597"/>
                <a:gd name="T9" fmla="*/ 669 h 6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97"/>
                <a:gd name="T16" fmla="*/ 0 h 669"/>
                <a:gd name="T17" fmla="*/ 597 w 597"/>
                <a:gd name="T18" fmla="*/ 669 h 66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97" h="669">
                  <a:moveTo>
                    <a:pt x="594" y="0"/>
                  </a:moveTo>
                  <a:lnTo>
                    <a:pt x="597" y="318"/>
                  </a:lnTo>
                  <a:lnTo>
                    <a:pt x="576" y="333"/>
                  </a:lnTo>
                  <a:lnTo>
                    <a:pt x="0" y="333"/>
                  </a:lnTo>
                  <a:lnTo>
                    <a:pt x="0" y="669"/>
                  </a:lnTo>
                </a:path>
              </a:pathLst>
            </a:custGeom>
            <a:noFill/>
            <a:ln w="38100" cap="flat" cmpd="sng">
              <a:solidFill>
                <a:schemeClr val="folHlink"/>
              </a:solidFill>
              <a:prstDash val="dash"/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11995" name="Line 108"/>
            <p:cNvSpPr>
              <a:spLocks noChangeShapeType="1"/>
            </p:cNvSpPr>
            <p:nvPr/>
          </p:nvSpPr>
          <p:spPr bwMode="auto">
            <a:xfrm flipV="1">
              <a:off x="2160" y="3120"/>
              <a:ext cx="0" cy="48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303213" name="Freeform 109"/>
          <p:cNvSpPr/>
          <p:nvPr/>
        </p:nvSpPr>
        <p:spPr bwMode="auto">
          <a:xfrm>
            <a:off x="4781550" y="3429000"/>
            <a:ext cx="2686050" cy="1824038"/>
          </a:xfrm>
          <a:custGeom>
            <a:avLst/>
            <a:gdLst>
              <a:gd name="T0" fmla="*/ 2147483647 w 1692"/>
              <a:gd name="T1" fmla="*/ 0 h 1149"/>
              <a:gd name="T2" fmla="*/ 2147483647 w 1692"/>
              <a:gd name="T3" fmla="*/ 0 h 1149"/>
              <a:gd name="T4" fmla="*/ 2147483647 w 1692"/>
              <a:gd name="T5" fmla="*/ 2147483647 h 1149"/>
              <a:gd name="T6" fmla="*/ 0 w 1692"/>
              <a:gd name="T7" fmla="*/ 2147483647 h 1149"/>
              <a:gd name="T8" fmla="*/ 0 w 1692"/>
              <a:gd name="T9" fmla="*/ 2147483647 h 114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92"/>
              <a:gd name="T16" fmla="*/ 0 h 1149"/>
              <a:gd name="T17" fmla="*/ 1692 w 1692"/>
              <a:gd name="T18" fmla="*/ 1149 h 114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92" h="1149">
                <a:moveTo>
                  <a:pt x="1500" y="0"/>
                </a:moveTo>
                <a:lnTo>
                  <a:pt x="1692" y="0"/>
                </a:lnTo>
                <a:lnTo>
                  <a:pt x="1692" y="768"/>
                </a:lnTo>
                <a:lnTo>
                  <a:pt x="0" y="765"/>
                </a:lnTo>
                <a:lnTo>
                  <a:pt x="0" y="1149"/>
                </a:lnTo>
              </a:path>
            </a:pathLst>
          </a:custGeom>
          <a:noFill/>
          <a:ln w="38100" cap="flat" cmpd="sng">
            <a:solidFill>
              <a:schemeClr val="folHlink"/>
            </a:solidFill>
            <a:prstDash val="dash"/>
            <a:rou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grpSp>
        <p:nvGrpSpPr>
          <p:cNvPr id="15" name="Group 110"/>
          <p:cNvGrpSpPr/>
          <p:nvPr/>
        </p:nvGrpSpPr>
        <p:grpSpPr bwMode="auto">
          <a:xfrm>
            <a:off x="5880100" y="2806700"/>
            <a:ext cx="2236788" cy="2660650"/>
            <a:chOff x="3704" y="1768"/>
            <a:chExt cx="1409" cy="1676"/>
          </a:xfrm>
        </p:grpSpPr>
        <p:sp>
          <p:nvSpPr>
            <p:cNvPr id="211990" name="Line 111"/>
            <p:cNvSpPr>
              <a:spLocks noChangeShapeType="1"/>
            </p:cNvSpPr>
            <p:nvPr/>
          </p:nvSpPr>
          <p:spPr bwMode="auto">
            <a:xfrm>
              <a:off x="3704" y="3443"/>
              <a:ext cx="1408" cy="1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991" name="Line 112"/>
            <p:cNvSpPr>
              <a:spLocks noChangeShapeType="1"/>
            </p:cNvSpPr>
            <p:nvPr/>
          </p:nvSpPr>
          <p:spPr bwMode="auto">
            <a:xfrm flipV="1">
              <a:off x="5112" y="1780"/>
              <a:ext cx="1" cy="1663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992" name="Line 113"/>
            <p:cNvSpPr>
              <a:spLocks noChangeShapeType="1"/>
            </p:cNvSpPr>
            <p:nvPr/>
          </p:nvSpPr>
          <p:spPr bwMode="auto">
            <a:xfrm flipH="1">
              <a:off x="4279" y="1780"/>
              <a:ext cx="833" cy="1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993" name="Line 114"/>
            <p:cNvSpPr>
              <a:spLocks noChangeShapeType="1"/>
            </p:cNvSpPr>
            <p:nvPr/>
          </p:nvSpPr>
          <p:spPr bwMode="auto">
            <a:xfrm>
              <a:off x="4279" y="1768"/>
              <a:ext cx="1" cy="204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" name="Group 115"/>
          <p:cNvGrpSpPr/>
          <p:nvPr/>
        </p:nvGrpSpPr>
        <p:grpSpPr bwMode="auto">
          <a:xfrm>
            <a:off x="1584325" y="1295400"/>
            <a:ext cx="4533900" cy="457200"/>
            <a:chOff x="998" y="816"/>
            <a:chExt cx="2856" cy="288"/>
          </a:xfrm>
        </p:grpSpPr>
        <p:sp>
          <p:nvSpPr>
            <p:cNvPr id="211987" name="Text Box 116"/>
            <p:cNvSpPr txBox="1">
              <a:spLocks noChangeArrowheads="1"/>
            </p:cNvSpPr>
            <p:nvPr/>
          </p:nvSpPr>
          <p:spPr bwMode="auto">
            <a:xfrm>
              <a:off x="998" y="816"/>
              <a:ext cx="50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主轴</a:t>
              </a:r>
            </a:p>
          </p:txBody>
        </p:sp>
        <p:sp>
          <p:nvSpPr>
            <p:cNvPr id="211988" name="Text Box 117"/>
            <p:cNvSpPr txBox="1">
              <a:spLocks noChangeArrowheads="1"/>
            </p:cNvSpPr>
            <p:nvPr/>
          </p:nvSpPr>
          <p:spPr bwMode="auto">
            <a:xfrm>
              <a:off x="1766" y="816"/>
              <a:ext cx="88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定位驱动</a:t>
              </a:r>
            </a:p>
          </p:txBody>
        </p:sp>
        <p:sp>
          <p:nvSpPr>
            <p:cNvPr id="211989" name="Text Box 118"/>
            <p:cNvSpPr txBox="1">
              <a:spLocks noChangeArrowheads="1"/>
            </p:cNvSpPr>
            <p:nvPr/>
          </p:nvSpPr>
          <p:spPr bwMode="auto">
            <a:xfrm>
              <a:off x="2966" y="816"/>
              <a:ext cx="88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400">
                  <a:latin typeface="Times New Roman" panose="02020603050405020304" pitchFamily="18" charset="0"/>
                </a:rPr>
                <a:t>数据控制</a:t>
              </a:r>
            </a:p>
          </p:txBody>
        </p:sp>
      </p:grpSp>
      <p:sp>
        <p:nvSpPr>
          <p:cNvPr id="211975" name="Text Box 119"/>
          <p:cNvSpPr txBox="1">
            <a:spLocks noChangeArrowheads="1"/>
          </p:cNvSpPr>
          <p:nvPr/>
        </p:nvSpPr>
        <p:spPr bwMode="auto">
          <a:xfrm>
            <a:off x="685800" y="381000"/>
            <a:ext cx="3657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(1) 磁盘驱动器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303224" name="Rectangle 120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4.4</a:t>
            </a:r>
          </a:p>
        </p:txBody>
      </p:sp>
      <p:grpSp>
        <p:nvGrpSpPr>
          <p:cNvPr id="17" name="Group 121"/>
          <p:cNvGrpSpPr/>
          <p:nvPr/>
        </p:nvGrpSpPr>
        <p:grpSpPr bwMode="auto">
          <a:xfrm>
            <a:off x="3962400" y="5411788"/>
            <a:ext cx="292100" cy="112712"/>
            <a:chOff x="2521" y="3505"/>
            <a:chExt cx="149" cy="71"/>
          </a:xfrm>
        </p:grpSpPr>
        <p:sp>
          <p:nvSpPr>
            <p:cNvPr id="211985" name="Line 122"/>
            <p:cNvSpPr>
              <a:spLocks noChangeShapeType="1"/>
            </p:cNvSpPr>
            <p:nvPr/>
          </p:nvSpPr>
          <p:spPr bwMode="auto">
            <a:xfrm>
              <a:off x="2521" y="3539"/>
              <a:ext cx="101" cy="1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986" name="Freeform 123"/>
            <p:cNvSpPr/>
            <p:nvPr/>
          </p:nvSpPr>
          <p:spPr bwMode="auto">
            <a:xfrm>
              <a:off x="2586" y="3505"/>
              <a:ext cx="84" cy="71"/>
            </a:xfrm>
            <a:custGeom>
              <a:avLst/>
              <a:gdLst>
                <a:gd name="T0" fmla="*/ 0 w 84"/>
                <a:gd name="T1" fmla="*/ 71 h 71"/>
                <a:gd name="T2" fmla="*/ 84 w 84"/>
                <a:gd name="T3" fmla="*/ 34 h 71"/>
                <a:gd name="T4" fmla="*/ 0 w 84"/>
                <a:gd name="T5" fmla="*/ 0 h 71"/>
                <a:gd name="T6" fmla="*/ 28 w 84"/>
                <a:gd name="T7" fmla="*/ 34 h 71"/>
                <a:gd name="T8" fmla="*/ 0 w 84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4"/>
                <a:gd name="T16" fmla="*/ 0 h 71"/>
                <a:gd name="T17" fmla="*/ 84 w 84"/>
                <a:gd name="T18" fmla="*/ 71 h 7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4" h="71">
                  <a:moveTo>
                    <a:pt x="0" y="71"/>
                  </a:moveTo>
                  <a:lnTo>
                    <a:pt x="84" y="34"/>
                  </a:lnTo>
                  <a:lnTo>
                    <a:pt x="0" y="0"/>
                  </a:lnTo>
                  <a:lnTo>
                    <a:pt x="28" y="34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chemeClr val="folHlink"/>
            </a:solidFill>
            <a:ln w="9525">
              <a:solidFill>
                <a:schemeClr val="folHlink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" name="Group 124"/>
          <p:cNvGrpSpPr/>
          <p:nvPr/>
        </p:nvGrpSpPr>
        <p:grpSpPr bwMode="auto">
          <a:xfrm>
            <a:off x="5292725" y="5411788"/>
            <a:ext cx="269875" cy="112712"/>
            <a:chOff x="3302" y="3505"/>
            <a:chExt cx="148" cy="71"/>
          </a:xfrm>
        </p:grpSpPr>
        <p:sp>
          <p:nvSpPr>
            <p:cNvPr id="211983" name="Line 125"/>
            <p:cNvSpPr>
              <a:spLocks noChangeShapeType="1"/>
            </p:cNvSpPr>
            <p:nvPr/>
          </p:nvSpPr>
          <p:spPr bwMode="auto">
            <a:xfrm>
              <a:off x="3302" y="3539"/>
              <a:ext cx="100" cy="1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984" name="Freeform 126"/>
            <p:cNvSpPr/>
            <p:nvPr/>
          </p:nvSpPr>
          <p:spPr bwMode="auto">
            <a:xfrm>
              <a:off x="3366" y="3505"/>
              <a:ext cx="84" cy="71"/>
            </a:xfrm>
            <a:custGeom>
              <a:avLst/>
              <a:gdLst>
                <a:gd name="T0" fmla="*/ 0 w 84"/>
                <a:gd name="T1" fmla="*/ 71 h 71"/>
                <a:gd name="T2" fmla="*/ 84 w 84"/>
                <a:gd name="T3" fmla="*/ 34 h 71"/>
                <a:gd name="T4" fmla="*/ 0 w 84"/>
                <a:gd name="T5" fmla="*/ 0 h 71"/>
                <a:gd name="T6" fmla="*/ 28 w 84"/>
                <a:gd name="T7" fmla="*/ 34 h 71"/>
                <a:gd name="T8" fmla="*/ 0 w 84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4"/>
                <a:gd name="T16" fmla="*/ 0 h 71"/>
                <a:gd name="T17" fmla="*/ 84 w 84"/>
                <a:gd name="T18" fmla="*/ 71 h 7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4" h="71">
                  <a:moveTo>
                    <a:pt x="0" y="71"/>
                  </a:moveTo>
                  <a:lnTo>
                    <a:pt x="84" y="34"/>
                  </a:lnTo>
                  <a:lnTo>
                    <a:pt x="0" y="0"/>
                  </a:lnTo>
                  <a:lnTo>
                    <a:pt x="28" y="34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chemeClr val="folHlink"/>
            </a:solidFill>
            <a:ln w="9525">
              <a:solidFill>
                <a:schemeClr val="folHlink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" name="Group 127"/>
          <p:cNvGrpSpPr/>
          <p:nvPr/>
        </p:nvGrpSpPr>
        <p:grpSpPr bwMode="auto">
          <a:xfrm>
            <a:off x="2590800" y="5411788"/>
            <a:ext cx="381000" cy="112712"/>
            <a:chOff x="1540" y="3505"/>
            <a:chExt cx="354" cy="71"/>
          </a:xfrm>
        </p:grpSpPr>
        <p:sp>
          <p:nvSpPr>
            <p:cNvPr id="211981" name="Line 128"/>
            <p:cNvSpPr>
              <a:spLocks noChangeShapeType="1"/>
            </p:cNvSpPr>
            <p:nvPr/>
          </p:nvSpPr>
          <p:spPr bwMode="auto">
            <a:xfrm>
              <a:off x="1540" y="3539"/>
              <a:ext cx="305" cy="1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982" name="Freeform 129"/>
            <p:cNvSpPr/>
            <p:nvPr/>
          </p:nvSpPr>
          <p:spPr bwMode="auto">
            <a:xfrm>
              <a:off x="1809" y="3505"/>
              <a:ext cx="85" cy="71"/>
            </a:xfrm>
            <a:custGeom>
              <a:avLst/>
              <a:gdLst>
                <a:gd name="T0" fmla="*/ 0 w 85"/>
                <a:gd name="T1" fmla="*/ 71 h 71"/>
                <a:gd name="T2" fmla="*/ 85 w 85"/>
                <a:gd name="T3" fmla="*/ 34 h 71"/>
                <a:gd name="T4" fmla="*/ 0 w 85"/>
                <a:gd name="T5" fmla="*/ 0 h 71"/>
                <a:gd name="T6" fmla="*/ 28 w 85"/>
                <a:gd name="T7" fmla="*/ 34 h 71"/>
                <a:gd name="T8" fmla="*/ 0 w 85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5"/>
                <a:gd name="T16" fmla="*/ 0 h 71"/>
                <a:gd name="T17" fmla="*/ 85 w 85"/>
                <a:gd name="T18" fmla="*/ 71 h 7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5" h="71">
                  <a:moveTo>
                    <a:pt x="0" y="71"/>
                  </a:moveTo>
                  <a:lnTo>
                    <a:pt x="85" y="34"/>
                  </a:lnTo>
                  <a:lnTo>
                    <a:pt x="0" y="0"/>
                  </a:lnTo>
                  <a:lnTo>
                    <a:pt x="28" y="34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chemeClr val="folHlink"/>
            </a:solidFill>
            <a:ln w="9525">
              <a:solidFill>
                <a:schemeClr val="folHlink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11980" name="AutoShape 130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2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2" dur="500"/>
                                        <p:tgtEl>
                                          <p:spTgt spid="303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3213" grpId="0" animBg="1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4" name="Text Box 2"/>
          <p:cNvSpPr txBox="1">
            <a:spLocks noChangeArrowheads="1"/>
          </p:cNvSpPr>
          <p:nvPr/>
        </p:nvSpPr>
        <p:spPr bwMode="auto">
          <a:xfrm>
            <a:off x="152400" y="476250"/>
            <a:ext cx="36480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(2) 磁盘控制器</a:t>
            </a:r>
            <a:endParaRPr lang="en-US" altLang="zh-CN" sz="3200">
              <a:latin typeface="Times New Roman" panose="02020603050405020304" pitchFamily="18" charset="0"/>
            </a:endParaRPr>
          </a:p>
        </p:txBody>
      </p:sp>
      <p:sp>
        <p:nvSpPr>
          <p:cNvPr id="304131" name="Text Box 3"/>
          <p:cNvSpPr txBox="1">
            <a:spLocks noChangeArrowheads="1"/>
          </p:cNvSpPr>
          <p:nvPr/>
        </p:nvSpPr>
        <p:spPr bwMode="auto">
          <a:xfrm>
            <a:off x="523875" y="1371600"/>
            <a:ext cx="86121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Char char="•"/>
            </a:pPr>
            <a:r>
              <a:rPr lang="zh-CN" altLang="en-US" sz="2800">
                <a:latin typeface="Times New Roman" panose="02020603050405020304" pitchFamily="18" charset="0"/>
              </a:rPr>
              <a:t> 接收主机发来的命令，转换成磁盘驱动器的控制命令</a:t>
            </a:r>
          </a:p>
        </p:txBody>
      </p:sp>
      <p:sp>
        <p:nvSpPr>
          <p:cNvPr id="304132" name="Text Box 4"/>
          <p:cNvSpPr txBox="1">
            <a:spLocks noChangeArrowheads="1"/>
          </p:cNvSpPr>
          <p:nvPr/>
        </p:nvSpPr>
        <p:spPr bwMode="auto">
          <a:xfrm>
            <a:off x="523875" y="2090738"/>
            <a:ext cx="64960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Char char="•"/>
            </a:pPr>
            <a:r>
              <a:rPr lang="zh-CN" altLang="en-US" sz="2800">
                <a:latin typeface="Times New Roman" panose="02020603050405020304" pitchFamily="18" charset="0"/>
              </a:rPr>
              <a:t> 实现主机和驱动器之间的数据格式转换</a:t>
            </a:r>
          </a:p>
        </p:txBody>
      </p:sp>
      <p:sp>
        <p:nvSpPr>
          <p:cNvPr id="304133" name="Text Box 5"/>
          <p:cNvSpPr txBox="1">
            <a:spLocks noChangeArrowheads="1"/>
          </p:cNvSpPr>
          <p:nvPr/>
        </p:nvSpPr>
        <p:spPr bwMode="auto">
          <a:xfrm>
            <a:off x="523875" y="2811463"/>
            <a:ext cx="36258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Char char="•"/>
            </a:pPr>
            <a:r>
              <a:rPr lang="zh-CN" altLang="en-US" sz="2800">
                <a:latin typeface="Times New Roman" panose="02020603050405020304" pitchFamily="18" charset="0"/>
              </a:rPr>
              <a:t> 控制磁盘驱动器读写</a:t>
            </a:r>
          </a:p>
        </p:txBody>
      </p:sp>
      <p:sp>
        <p:nvSpPr>
          <p:cNvPr id="304134" name="Text Box 6"/>
          <p:cNvSpPr txBox="1">
            <a:spLocks noChangeArrowheads="1"/>
          </p:cNvSpPr>
          <p:nvPr/>
        </p:nvSpPr>
        <p:spPr bwMode="auto">
          <a:xfrm>
            <a:off x="7077075" y="4024313"/>
            <a:ext cx="16192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通过总线</a:t>
            </a:r>
          </a:p>
        </p:txBody>
      </p:sp>
      <p:sp>
        <p:nvSpPr>
          <p:cNvPr id="304135" name="Text Box 7"/>
          <p:cNvSpPr txBox="1">
            <a:spLocks noChangeArrowheads="1"/>
          </p:cNvSpPr>
          <p:nvPr/>
        </p:nvSpPr>
        <p:spPr bwMode="auto">
          <a:xfrm>
            <a:off x="152400" y="5080000"/>
            <a:ext cx="21240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(3) 盘片</a:t>
            </a:r>
          </a:p>
        </p:txBody>
      </p:sp>
      <p:grpSp>
        <p:nvGrpSpPr>
          <p:cNvPr id="2" name="Group 8"/>
          <p:cNvGrpSpPr/>
          <p:nvPr/>
        </p:nvGrpSpPr>
        <p:grpSpPr bwMode="auto">
          <a:xfrm>
            <a:off x="5821363" y="4032250"/>
            <a:ext cx="3008312" cy="968375"/>
            <a:chOff x="3721" y="2540"/>
            <a:chExt cx="1895" cy="610"/>
          </a:xfrm>
        </p:grpSpPr>
        <p:sp>
          <p:nvSpPr>
            <p:cNvPr id="213008" name="Text Box 9"/>
            <p:cNvSpPr txBox="1">
              <a:spLocks noChangeArrowheads="1"/>
            </p:cNvSpPr>
            <p:nvPr/>
          </p:nvSpPr>
          <p:spPr bwMode="auto">
            <a:xfrm>
              <a:off x="3721" y="2540"/>
              <a:ext cx="1223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对主机</a:t>
              </a:r>
            </a:p>
          </p:txBody>
        </p:sp>
        <p:sp>
          <p:nvSpPr>
            <p:cNvPr id="213009" name="Text Box 10"/>
            <p:cNvSpPr txBox="1">
              <a:spLocks noChangeArrowheads="1"/>
            </p:cNvSpPr>
            <p:nvPr/>
          </p:nvSpPr>
          <p:spPr bwMode="auto">
            <a:xfrm>
              <a:off x="3721" y="2823"/>
              <a:ext cx="189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对硬盘（设备）</a:t>
              </a:r>
            </a:p>
          </p:txBody>
        </p:sp>
      </p:grpSp>
      <p:sp>
        <p:nvSpPr>
          <p:cNvPr id="304139" name="AutoShape 11"/>
          <p:cNvSpPr/>
          <p:nvPr/>
        </p:nvSpPr>
        <p:spPr bwMode="auto">
          <a:xfrm>
            <a:off x="5668963" y="4184650"/>
            <a:ext cx="152400" cy="685800"/>
          </a:xfrm>
          <a:prstGeom prst="leftBrace">
            <a:avLst>
              <a:gd name="adj1" fmla="val 37500"/>
              <a:gd name="adj2" fmla="val 50000"/>
            </a:avLst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grpSp>
        <p:nvGrpSpPr>
          <p:cNvPr id="3" name="Group 12"/>
          <p:cNvGrpSpPr/>
          <p:nvPr/>
        </p:nvGrpSpPr>
        <p:grpSpPr bwMode="auto">
          <a:xfrm>
            <a:off x="752475" y="3554413"/>
            <a:ext cx="4937125" cy="1239837"/>
            <a:chOff x="528" y="2353"/>
            <a:chExt cx="3110" cy="781"/>
          </a:xfrm>
        </p:grpSpPr>
        <p:sp>
          <p:nvSpPr>
            <p:cNvPr id="213006" name="Text Box 13"/>
            <p:cNvSpPr txBox="1">
              <a:spLocks noChangeArrowheads="1"/>
            </p:cNvSpPr>
            <p:nvPr/>
          </p:nvSpPr>
          <p:spPr bwMode="auto">
            <a:xfrm>
              <a:off x="528" y="2353"/>
              <a:ext cx="152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磁盘控制器 </a:t>
              </a:r>
              <a:r>
                <a:rPr lang="zh-CN" altLang="en-US" sz="2800">
                  <a:latin typeface="Times New Roman" panose="02020603050405020304" pitchFamily="18" charset="0"/>
                </a:rPr>
                <a:t>是</a:t>
              </a:r>
            </a:p>
          </p:txBody>
        </p:sp>
        <p:sp>
          <p:nvSpPr>
            <p:cNvPr id="213007" name="Text Box 14"/>
            <p:cNvSpPr txBox="1">
              <a:spLocks noChangeArrowheads="1"/>
            </p:cNvSpPr>
            <p:nvPr/>
          </p:nvSpPr>
          <p:spPr bwMode="auto">
            <a:xfrm>
              <a:off x="528" y="2807"/>
              <a:ext cx="311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主机与磁盘驱动器之间的 </a:t>
              </a:r>
              <a:r>
                <a:rPr lang="zh-CN" altLang="en-US" sz="2800">
                  <a:solidFill>
                    <a:schemeClr val="folHlink"/>
                  </a:solidFill>
                  <a:latin typeface="Times New Roman" panose="02020603050405020304" pitchFamily="18" charset="0"/>
                </a:rPr>
                <a:t>接口</a:t>
              </a:r>
            </a:p>
          </p:txBody>
        </p:sp>
      </p:grpSp>
      <p:sp>
        <p:nvSpPr>
          <p:cNvPr id="304143" name="Text Box 15"/>
          <p:cNvSpPr txBox="1">
            <a:spLocks noChangeArrowheads="1"/>
          </p:cNvSpPr>
          <p:nvPr/>
        </p:nvSpPr>
        <p:spPr bwMode="auto">
          <a:xfrm>
            <a:off x="752475" y="5881688"/>
            <a:ext cx="37719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由硬质铝合金材料制成</a:t>
            </a:r>
          </a:p>
        </p:txBody>
      </p:sp>
      <p:sp>
        <p:nvSpPr>
          <p:cNvPr id="304144" name="Rectangle 16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4.4</a:t>
            </a:r>
          </a:p>
        </p:txBody>
      </p:sp>
      <p:sp>
        <p:nvSpPr>
          <p:cNvPr id="213005" name="AutoShape 17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04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304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304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4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27" dur="500"/>
                                        <p:tgtEl>
                                          <p:spTgt spid="304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304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304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304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4131" grpId="0" autoUpdateAnimBg="0"/>
      <p:bldP spid="304132" grpId="0" autoUpdateAnimBg="0"/>
      <p:bldP spid="304133" grpId="0" autoUpdateAnimBg="0"/>
      <p:bldP spid="304134" grpId="0" autoUpdateAnimBg="0"/>
      <p:bldP spid="304135" grpId="0" autoUpdateAnimBg="0"/>
      <p:bldP spid="304139" grpId="0" animBg="1"/>
      <p:bldP spid="304143" grpId="0" autoUpdateAnimBg="0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083" name="Text Box 3"/>
          <p:cNvSpPr txBox="1">
            <a:spLocks noChangeArrowheads="1"/>
          </p:cNvSpPr>
          <p:nvPr/>
        </p:nvSpPr>
        <p:spPr bwMode="auto">
          <a:xfrm>
            <a:off x="1127125" y="1085850"/>
            <a:ext cx="347883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3200" dirty="0">
                <a:latin typeface="Times New Roman" panose="02020603050405020304" pitchFamily="18" charset="0"/>
              </a:rPr>
              <a:t>3</a:t>
            </a:r>
            <a:r>
              <a:rPr lang="zh-CN" altLang="en-US" sz="3200" dirty="0">
                <a:latin typeface="Times New Roman" panose="02020603050405020304" pitchFamily="18" charset="0"/>
              </a:rPr>
              <a:t>. 硬磁盘发展方向</a:t>
            </a:r>
          </a:p>
        </p:txBody>
      </p:sp>
      <p:sp>
        <p:nvSpPr>
          <p:cNvPr id="302084" name="Text Box 4"/>
          <p:cNvSpPr txBox="1">
            <a:spLocks noChangeArrowheads="1"/>
          </p:cNvSpPr>
          <p:nvPr/>
        </p:nvSpPr>
        <p:spPr bwMode="auto">
          <a:xfrm>
            <a:off x="1690190" y="3409836"/>
            <a:ext cx="66262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 dirty="0">
                <a:latin typeface="Times New Roman" panose="02020603050405020304" pitchFamily="18" charset="0"/>
              </a:rPr>
              <a:t>(</a:t>
            </a:r>
            <a:r>
              <a:rPr lang="en-US" altLang="zh-CN" sz="2800" dirty="0">
                <a:latin typeface="Times New Roman" panose="02020603050405020304" pitchFamily="18" charset="0"/>
              </a:rPr>
              <a:t>4</a:t>
            </a:r>
            <a:r>
              <a:rPr lang="zh-CN" altLang="en-US" sz="2800" dirty="0">
                <a:latin typeface="Times New Roman" panose="02020603050405020304" pitchFamily="18" charset="0"/>
              </a:rPr>
              <a:t>)磁盘阵列 </a:t>
            </a:r>
            <a:r>
              <a:rPr lang="en-US" altLang="zh-CN" sz="2800" dirty="0">
                <a:latin typeface="Times New Roman" panose="02020603050405020304" pitchFamily="18" charset="0"/>
              </a:rPr>
              <a:t>RAID0</a:t>
            </a:r>
            <a:r>
              <a:rPr lang="zh-CN" altLang="en-US" sz="2800" dirty="0">
                <a:latin typeface="Times New Roman" panose="02020603050405020304" pitchFamily="18" charset="0"/>
              </a:rPr>
              <a:t>、</a:t>
            </a:r>
            <a:r>
              <a:rPr lang="en-US" altLang="zh-CN" sz="2800" dirty="0">
                <a:latin typeface="Times New Roman" panose="02020603050405020304" pitchFamily="18" charset="0"/>
              </a:rPr>
              <a:t>RAID1</a:t>
            </a:r>
            <a:r>
              <a:rPr lang="zh-CN" altLang="en-US" sz="2800" dirty="0">
                <a:latin typeface="Times New Roman" panose="02020603050405020304" pitchFamily="18" charset="0"/>
              </a:rPr>
              <a:t>、</a:t>
            </a:r>
            <a:r>
              <a:rPr lang="en-US" altLang="zh-CN" sz="2800" dirty="0">
                <a:latin typeface="Times New Roman" panose="02020603050405020304" pitchFamily="18" charset="0"/>
              </a:rPr>
              <a:t>RAID5</a:t>
            </a:r>
            <a:endParaRPr lang="zh-CN" altLang="en-US" sz="2800" dirty="0">
              <a:latin typeface="Times New Roman" panose="02020603050405020304" pitchFamily="18" charset="0"/>
            </a:endParaRPr>
          </a:p>
        </p:txBody>
      </p:sp>
      <p:sp>
        <p:nvSpPr>
          <p:cNvPr id="302103" name="Rectangle 23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4.4</a:t>
            </a:r>
          </a:p>
        </p:txBody>
      </p:sp>
      <p:sp>
        <p:nvSpPr>
          <p:cNvPr id="26" name="Text Box 4"/>
          <p:cNvSpPr txBox="1">
            <a:spLocks noChangeArrowheads="1"/>
          </p:cNvSpPr>
          <p:nvPr/>
        </p:nvSpPr>
        <p:spPr bwMode="auto">
          <a:xfrm>
            <a:off x="1671764" y="1689541"/>
            <a:ext cx="66262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 dirty="0">
                <a:latin typeface="Times New Roman" panose="02020603050405020304" pitchFamily="18" charset="0"/>
              </a:rPr>
              <a:t>(1)半导体盘</a:t>
            </a:r>
          </a:p>
        </p:txBody>
      </p:sp>
      <p:sp>
        <p:nvSpPr>
          <p:cNvPr id="27" name="Text Box 4"/>
          <p:cNvSpPr txBox="1">
            <a:spLocks noChangeArrowheads="1"/>
          </p:cNvSpPr>
          <p:nvPr/>
        </p:nvSpPr>
        <p:spPr bwMode="auto">
          <a:xfrm>
            <a:off x="1685850" y="2241122"/>
            <a:ext cx="66262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 dirty="0">
                <a:latin typeface="Times New Roman" panose="02020603050405020304" pitchFamily="18" charset="0"/>
              </a:rPr>
              <a:t>(</a:t>
            </a:r>
            <a:r>
              <a:rPr lang="en-US" altLang="zh-CN" sz="2800" dirty="0">
                <a:latin typeface="Times New Roman" panose="02020603050405020304" pitchFamily="18" charset="0"/>
              </a:rPr>
              <a:t>2</a:t>
            </a:r>
            <a:r>
              <a:rPr lang="zh-CN" altLang="en-US" sz="2800" dirty="0">
                <a:latin typeface="Times New Roman" panose="02020603050405020304" pitchFamily="18" charset="0"/>
              </a:rPr>
              <a:t>)提高磁记录密度</a:t>
            </a:r>
          </a:p>
        </p:txBody>
      </p:sp>
      <p:sp>
        <p:nvSpPr>
          <p:cNvPr id="28" name="Text Box 4"/>
          <p:cNvSpPr txBox="1">
            <a:spLocks noChangeArrowheads="1"/>
          </p:cNvSpPr>
          <p:nvPr/>
        </p:nvSpPr>
        <p:spPr bwMode="auto">
          <a:xfrm>
            <a:off x="1691680" y="2807255"/>
            <a:ext cx="66262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 dirty="0">
                <a:latin typeface="Times New Roman" panose="02020603050405020304" pitchFamily="18" charset="0"/>
              </a:rPr>
              <a:t>(</a:t>
            </a:r>
            <a:r>
              <a:rPr lang="en-US" altLang="zh-CN" sz="2800" dirty="0">
                <a:latin typeface="Times New Roman" panose="02020603050405020304" pitchFamily="18" charset="0"/>
              </a:rPr>
              <a:t>3</a:t>
            </a:r>
            <a:r>
              <a:rPr lang="zh-CN" altLang="en-US" sz="2800" dirty="0">
                <a:latin typeface="Times New Roman" panose="02020603050405020304" pitchFamily="18" charset="0"/>
              </a:rPr>
              <a:t>)缩短存取时间</a:t>
            </a:r>
          </a:p>
        </p:txBody>
      </p:sp>
      <p:sp>
        <p:nvSpPr>
          <p:cNvPr id="29" name="Text Box 3"/>
          <p:cNvSpPr txBox="1">
            <a:spLocks noChangeArrowheads="1"/>
          </p:cNvSpPr>
          <p:nvPr/>
        </p:nvSpPr>
        <p:spPr bwMode="auto">
          <a:xfrm>
            <a:off x="1279525" y="4293096"/>
            <a:ext cx="4714752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zh-CN" sz="3200" dirty="0">
                <a:latin typeface="Times New Roman" panose="02020603050405020304" pitchFamily="18" charset="0"/>
              </a:rPr>
              <a:t>4</a:t>
            </a:r>
            <a:r>
              <a:rPr lang="zh-CN" altLang="en-US" sz="3200" dirty="0">
                <a:latin typeface="Times New Roman" panose="02020603050405020304" pitchFamily="18" charset="0"/>
              </a:rPr>
              <a:t>. 硬磁盘的磁道记录格式</a:t>
            </a:r>
          </a:p>
        </p:txBody>
      </p:sp>
      <p:sp>
        <p:nvSpPr>
          <p:cNvPr id="30" name="Text Box 4"/>
          <p:cNvSpPr txBox="1">
            <a:spLocks noChangeArrowheads="1"/>
          </p:cNvSpPr>
          <p:nvPr/>
        </p:nvSpPr>
        <p:spPr bwMode="auto">
          <a:xfrm>
            <a:off x="1711128" y="5085184"/>
            <a:ext cx="66262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 dirty="0">
                <a:latin typeface="Times New Roman" panose="02020603050405020304" pitchFamily="18" charset="0"/>
              </a:rPr>
              <a:t>台号、磁道号、盘面号、扇段号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020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3020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2083" grpId="0" autoUpdateAnimBg="0"/>
      <p:bldP spid="302084" grpId="0" autoUpdateAnimBg="0"/>
      <p:bldP spid="26" grpId="0" autoUpdateAnimBg="0"/>
      <p:bldP spid="27" grpId="0" autoUpdateAnimBg="0"/>
      <p:bldP spid="28" grpId="0" autoUpdateAnimBg="0"/>
      <p:bldP spid="29" grpId="0" autoUpdateAnimBg="0"/>
      <p:bldP spid="30" grpId="0" autoUpdateAnimBg="0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Text Box 2"/>
          <p:cNvSpPr txBox="1">
            <a:spLocks noChangeArrowheads="1"/>
          </p:cNvSpPr>
          <p:nvPr/>
        </p:nvSpPr>
        <p:spPr bwMode="auto">
          <a:xfrm>
            <a:off x="593725" y="473075"/>
            <a:ext cx="38417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四、软磁盘存储器</a:t>
            </a:r>
          </a:p>
        </p:txBody>
      </p:sp>
      <p:sp>
        <p:nvSpPr>
          <p:cNvPr id="305155" name="Text Box 3"/>
          <p:cNvSpPr txBox="1">
            <a:spLocks noChangeArrowheads="1"/>
          </p:cNvSpPr>
          <p:nvPr/>
        </p:nvSpPr>
        <p:spPr bwMode="auto">
          <a:xfrm>
            <a:off x="1203325" y="1314450"/>
            <a:ext cx="20732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1. 概述</a:t>
            </a:r>
          </a:p>
        </p:txBody>
      </p:sp>
      <p:sp>
        <p:nvSpPr>
          <p:cNvPr id="305156" name="Text Box 4"/>
          <p:cNvSpPr txBox="1">
            <a:spLocks noChangeArrowheads="1"/>
          </p:cNvSpPr>
          <p:nvPr/>
        </p:nvSpPr>
        <p:spPr bwMode="auto">
          <a:xfrm>
            <a:off x="1676400" y="2262188"/>
            <a:ext cx="14478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速度</a:t>
            </a:r>
          </a:p>
        </p:txBody>
      </p:sp>
      <p:sp>
        <p:nvSpPr>
          <p:cNvPr id="305157" name="Text Box 5"/>
          <p:cNvSpPr txBox="1">
            <a:spLocks noChangeArrowheads="1"/>
          </p:cNvSpPr>
          <p:nvPr/>
        </p:nvSpPr>
        <p:spPr bwMode="auto">
          <a:xfrm>
            <a:off x="1676400" y="2924175"/>
            <a:ext cx="1219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磁头</a:t>
            </a:r>
          </a:p>
        </p:txBody>
      </p:sp>
      <p:sp>
        <p:nvSpPr>
          <p:cNvPr id="305158" name="Text Box 6"/>
          <p:cNvSpPr txBox="1">
            <a:spLocks noChangeArrowheads="1"/>
          </p:cNvSpPr>
          <p:nvPr/>
        </p:nvSpPr>
        <p:spPr bwMode="auto">
          <a:xfrm>
            <a:off x="1676400" y="4267200"/>
            <a:ext cx="1676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盘片</a:t>
            </a:r>
          </a:p>
        </p:txBody>
      </p:sp>
      <p:sp>
        <p:nvSpPr>
          <p:cNvPr id="305159" name="Text Box 7"/>
          <p:cNvSpPr txBox="1">
            <a:spLocks noChangeArrowheads="1"/>
          </p:cNvSpPr>
          <p:nvPr/>
        </p:nvSpPr>
        <p:spPr bwMode="auto">
          <a:xfrm>
            <a:off x="1676400" y="5294313"/>
            <a:ext cx="15240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价格</a:t>
            </a:r>
          </a:p>
        </p:txBody>
      </p:sp>
      <p:sp>
        <p:nvSpPr>
          <p:cNvPr id="305160" name="Text Box 8"/>
          <p:cNvSpPr txBox="1">
            <a:spLocks noChangeArrowheads="1"/>
          </p:cNvSpPr>
          <p:nvPr/>
        </p:nvSpPr>
        <p:spPr bwMode="auto">
          <a:xfrm>
            <a:off x="1676400" y="5957888"/>
            <a:ext cx="16764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环境</a:t>
            </a:r>
          </a:p>
        </p:txBody>
      </p:sp>
      <p:grpSp>
        <p:nvGrpSpPr>
          <p:cNvPr id="2" name="Group 9"/>
          <p:cNvGrpSpPr/>
          <p:nvPr/>
        </p:nvGrpSpPr>
        <p:grpSpPr bwMode="auto">
          <a:xfrm>
            <a:off x="3352800" y="1644650"/>
            <a:ext cx="3800475" cy="519113"/>
            <a:chOff x="2112" y="1036"/>
            <a:chExt cx="2394" cy="327"/>
          </a:xfrm>
        </p:grpSpPr>
        <p:sp>
          <p:nvSpPr>
            <p:cNvPr id="214044" name="Text Box 10"/>
            <p:cNvSpPr txBox="1">
              <a:spLocks noChangeArrowheads="1"/>
            </p:cNvSpPr>
            <p:nvPr/>
          </p:nvSpPr>
          <p:spPr bwMode="auto">
            <a:xfrm>
              <a:off x="2112" y="1036"/>
              <a:ext cx="56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硬盘</a:t>
              </a:r>
            </a:p>
          </p:txBody>
        </p:sp>
        <p:sp>
          <p:nvSpPr>
            <p:cNvPr id="214045" name="Text Box 11"/>
            <p:cNvSpPr txBox="1">
              <a:spLocks noChangeArrowheads="1"/>
            </p:cNvSpPr>
            <p:nvPr/>
          </p:nvSpPr>
          <p:spPr bwMode="auto">
            <a:xfrm>
              <a:off x="3938" y="1036"/>
              <a:ext cx="56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软盘</a:t>
              </a:r>
            </a:p>
          </p:txBody>
        </p:sp>
      </p:grpSp>
      <p:grpSp>
        <p:nvGrpSpPr>
          <p:cNvPr id="3" name="Group 12"/>
          <p:cNvGrpSpPr/>
          <p:nvPr/>
        </p:nvGrpSpPr>
        <p:grpSpPr bwMode="auto">
          <a:xfrm>
            <a:off x="3352800" y="2262188"/>
            <a:ext cx="3440113" cy="519112"/>
            <a:chOff x="2112" y="1425"/>
            <a:chExt cx="2167" cy="327"/>
          </a:xfrm>
        </p:grpSpPr>
        <p:sp>
          <p:nvSpPr>
            <p:cNvPr id="214042" name="Text Box 13"/>
            <p:cNvSpPr txBox="1">
              <a:spLocks noChangeArrowheads="1"/>
            </p:cNvSpPr>
            <p:nvPr/>
          </p:nvSpPr>
          <p:spPr bwMode="auto">
            <a:xfrm>
              <a:off x="2112" y="1425"/>
              <a:ext cx="34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高</a:t>
              </a:r>
            </a:p>
          </p:txBody>
        </p:sp>
        <p:sp>
          <p:nvSpPr>
            <p:cNvPr id="214043" name="Text Box 14"/>
            <p:cNvSpPr txBox="1">
              <a:spLocks noChangeArrowheads="1"/>
            </p:cNvSpPr>
            <p:nvPr/>
          </p:nvSpPr>
          <p:spPr bwMode="auto">
            <a:xfrm>
              <a:off x="3938" y="1425"/>
              <a:ext cx="34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低</a:t>
              </a:r>
            </a:p>
          </p:txBody>
        </p:sp>
      </p:grpSp>
      <p:grpSp>
        <p:nvGrpSpPr>
          <p:cNvPr id="4" name="Group 15"/>
          <p:cNvGrpSpPr/>
          <p:nvPr/>
        </p:nvGrpSpPr>
        <p:grpSpPr bwMode="auto">
          <a:xfrm>
            <a:off x="3352800" y="2924175"/>
            <a:ext cx="3800475" cy="519113"/>
            <a:chOff x="2112" y="1842"/>
            <a:chExt cx="2394" cy="327"/>
          </a:xfrm>
        </p:grpSpPr>
        <p:sp>
          <p:nvSpPr>
            <p:cNvPr id="214040" name="Text Box 16"/>
            <p:cNvSpPr txBox="1">
              <a:spLocks noChangeArrowheads="1"/>
            </p:cNvSpPr>
            <p:nvPr/>
          </p:nvSpPr>
          <p:spPr bwMode="auto">
            <a:xfrm>
              <a:off x="2112" y="1842"/>
              <a:ext cx="124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固定、活动</a:t>
              </a:r>
            </a:p>
          </p:txBody>
        </p:sp>
        <p:sp>
          <p:nvSpPr>
            <p:cNvPr id="214041" name="Text Box 17"/>
            <p:cNvSpPr txBox="1">
              <a:spLocks noChangeArrowheads="1"/>
            </p:cNvSpPr>
            <p:nvPr/>
          </p:nvSpPr>
          <p:spPr bwMode="auto">
            <a:xfrm>
              <a:off x="3938" y="1842"/>
              <a:ext cx="56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活动</a:t>
              </a:r>
            </a:p>
          </p:txBody>
        </p:sp>
      </p:grpSp>
      <p:grpSp>
        <p:nvGrpSpPr>
          <p:cNvPr id="5" name="Group 18"/>
          <p:cNvGrpSpPr/>
          <p:nvPr/>
        </p:nvGrpSpPr>
        <p:grpSpPr bwMode="auto">
          <a:xfrm>
            <a:off x="3352800" y="4267200"/>
            <a:ext cx="5257800" cy="946150"/>
            <a:chOff x="2112" y="2688"/>
            <a:chExt cx="3312" cy="596"/>
          </a:xfrm>
        </p:grpSpPr>
        <p:sp>
          <p:nvSpPr>
            <p:cNvPr id="214038" name="Text Box 19"/>
            <p:cNvSpPr txBox="1">
              <a:spLocks noChangeArrowheads="1"/>
            </p:cNvSpPr>
            <p:nvPr/>
          </p:nvSpPr>
          <p:spPr bwMode="auto">
            <a:xfrm>
              <a:off x="2112" y="2688"/>
              <a:ext cx="1968" cy="5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固定盘、盘组</a:t>
              </a:r>
            </a:p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大部分不可换</a:t>
              </a:r>
            </a:p>
          </p:txBody>
        </p:sp>
        <p:sp>
          <p:nvSpPr>
            <p:cNvPr id="214039" name="Text Box 20"/>
            <p:cNvSpPr txBox="1">
              <a:spLocks noChangeArrowheads="1"/>
            </p:cNvSpPr>
            <p:nvPr/>
          </p:nvSpPr>
          <p:spPr bwMode="auto">
            <a:xfrm>
              <a:off x="3938" y="2688"/>
              <a:ext cx="148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可换盘片</a:t>
              </a:r>
            </a:p>
          </p:txBody>
        </p:sp>
      </p:grpSp>
      <p:sp>
        <p:nvSpPr>
          <p:cNvPr id="305173" name="Text Box 21"/>
          <p:cNvSpPr txBox="1">
            <a:spLocks noChangeArrowheads="1"/>
          </p:cNvSpPr>
          <p:nvPr/>
        </p:nvSpPr>
        <p:spPr bwMode="auto">
          <a:xfrm>
            <a:off x="3352800" y="5957888"/>
            <a:ext cx="23622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苛刻</a:t>
            </a:r>
          </a:p>
        </p:txBody>
      </p:sp>
      <p:grpSp>
        <p:nvGrpSpPr>
          <p:cNvPr id="6" name="Group 22"/>
          <p:cNvGrpSpPr/>
          <p:nvPr/>
        </p:nvGrpSpPr>
        <p:grpSpPr bwMode="auto">
          <a:xfrm>
            <a:off x="3352800" y="3581400"/>
            <a:ext cx="4518025" cy="519113"/>
            <a:chOff x="2112" y="2256"/>
            <a:chExt cx="2846" cy="327"/>
          </a:xfrm>
        </p:grpSpPr>
        <p:sp>
          <p:nvSpPr>
            <p:cNvPr id="214036" name="Text Box 23"/>
            <p:cNvSpPr txBox="1">
              <a:spLocks noChangeArrowheads="1"/>
            </p:cNvSpPr>
            <p:nvPr/>
          </p:nvSpPr>
          <p:spPr bwMode="auto">
            <a:xfrm>
              <a:off x="2112" y="2256"/>
              <a:ext cx="56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浮动</a:t>
              </a:r>
            </a:p>
          </p:txBody>
        </p:sp>
        <p:sp>
          <p:nvSpPr>
            <p:cNvPr id="214037" name="Text Box 24"/>
            <p:cNvSpPr txBox="1">
              <a:spLocks noChangeArrowheads="1"/>
            </p:cNvSpPr>
            <p:nvPr/>
          </p:nvSpPr>
          <p:spPr bwMode="auto">
            <a:xfrm>
              <a:off x="3938" y="2256"/>
              <a:ext cx="102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接触盘片</a:t>
              </a:r>
            </a:p>
          </p:txBody>
        </p:sp>
      </p:grpSp>
      <p:grpSp>
        <p:nvGrpSpPr>
          <p:cNvPr id="7" name="Group 25"/>
          <p:cNvGrpSpPr/>
          <p:nvPr/>
        </p:nvGrpSpPr>
        <p:grpSpPr bwMode="auto">
          <a:xfrm>
            <a:off x="3352800" y="5294313"/>
            <a:ext cx="3440113" cy="519112"/>
            <a:chOff x="2112" y="3335"/>
            <a:chExt cx="2167" cy="327"/>
          </a:xfrm>
        </p:grpSpPr>
        <p:sp>
          <p:nvSpPr>
            <p:cNvPr id="214034" name="Text Box 26"/>
            <p:cNvSpPr txBox="1">
              <a:spLocks noChangeArrowheads="1"/>
            </p:cNvSpPr>
            <p:nvPr/>
          </p:nvSpPr>
          <p:spPr bwMode="auto">
            <a:xfrm>
              <a:off x="2112" y="3335"/>
              <a:ext cx="34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高</a:t>
              </a:r>
            </a:p>
          </p:txBody>
        </p:sp>
        <p:sp>
          <p:nvSpPr>
            <p:cNvPr id="214035" name="Text Box 27"/>
            <p:cNvSpPr txBox="1">
              <a:spLocks noChangeArrowheads="1"/>
            </p:cNvSpPr>
            <p:nvPr/>
          </p:nvSpPr>
          <p:spPr bwMode="auto">
            <a:xfrm>
              <a:off x="3938" y="3335"/>
              <a:ext cx="34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低</a:t>
              </a:r>
            </a:p>
          </p:txBody>
        </p:sp>
      </p:grpSp>
      <p:sp>
        <p:nvSpPr>
          <p:cNvPr id="305180" name="Rectangle 28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4.4</a:t>
            </a:r>
          </a:p>
        </p:txBody>
      </p:sp>
      <p:sp>
        <p:nvSpPr>
          <p:cNvPr id="214033" name="AutoShape 29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05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305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305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305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305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305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305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5155" grpId="0" autoUpdateAnimBg="0"/>
      <p:bldP spid="305156" grpId="0" autoUpdateAnimBg="0"/>
      <p:bldP spid="305157" grpId="0" autoUpdateAnimBg="0"/>
      <p:bldP spid="305158" grpId="0" autoUpdateAnimBg="0"/>
      <p:bldP spid="305159" grpId="0" autoUpdateAnimBg="0"/>
      <p:bldP spid="305160" grpId="0" autoUpdateAnimBg="0"/>
      <p:bldP spid="305173" grpId="0" autoUpdateAnimBg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0" name="Text Box 2"/>
          <p:cNvSpPr txBox="1">
            <a:spLocks noChangeArrowheads="1"/>
          </p:cNvSpPr>
          <p:nvPr/>
        </p:nvSpPr>
        <p:spPr bwMode="auto">
          <a:xfrm>
            <a:off x="746125" y="501650"/>
            <a:ext cx="2017713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>
                <a:latin typeface="Times New Roman" panose="02020603050405020304" pitchFamily="18" charset="0"/>
              </a:rPr>
              <a:t>2. 软盘片</a:t>
            </a:r>
            <a:endParaRPr lang="en-US" altLang="zh-CN" sz="3600">
              <a:latin typeface="Times New Roman" panose="02020603050405020304" pitchFamily="18" charset="0"/>
            </a:endParaRPr>
          </a:p>
        </p:txBody>
      </p:sp>
      <p:sp>
        <p:nvSpPr>
          <p:cNvPr id="306179" name="Text Box 3"/>
          <p:cNvSpPr txBox="1">
            <a:spLocks noChangeArrowheads="1"/>
          </p:cNvSpPr>
          <p:nvPr/>
        </p:nvSpPr>
        <p:spPr bwMode="auto">
          <a:xfrm>
            <a:off x="1965325" y="1363663"/>
            <a:ext cx="30400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由聚酯薄膜制成</a:t>
            </a:r>
          </a:p>
        </p:txBody>
      </p:sp>
      <p:grpSp>
        <p:nvGrpSpPr>
          <p:cNvPr id="2" name="Group 4"/>
          <p:cNvGrpSpPr/>
          <p:nvPr/>
        </p:nvGrpSpPr>
        <p:grpSpPr bwMode="auto">
          <a:xfrm>
            <a:off x="838200" y="1905000"/>
            <a:ext cx="7943850" cy="4267200"/>
            <a:chOff x="528" y="1200"/>
            <a:chExt cx="5004" cy="2688"/>
          </a:xfrm>
        </p:grpSpPr>
        <p:graphicFrame>
          <p:nvGraphicFramePr>
            <p:cNvPr id="4098" name="Object 5"/>
            <p:cNvGraphicFramePr>
              <a:graphicFrameLocks noChangeAspect="1"/>
            </p:cNvGraphicFramePr>
            <p:nvPr/>
          </p:nvGraphicFramePr>
          <p:xfrm>
            <a:off x="3072" y="1968"/>
            <a:ext cx="1920" cy="187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Image" r:id="rId2" imgW="3305175" imgH="3448050" progId="Photoshop.Image.7">
                    <p:embed/>
                  </p:oleObj>
                </mc:Choice>
                <mc:Fallback>
                  <p:oleObj name="Image" r:id="rId2" imgW="3305175" imgH="3448050" progId="Photoshop.Image.7">
                    <p:embed/>
                    <p:pic>
                      <p:nvPicPr>
                        <p:cNvPr id="0" name="图片 413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072" y="1968"/>
                          <a:ext cx="1920" cy="187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4099" name="Object 6"/>
            <p:cNvGraphicFramePr>
              <a:graphicFrameLocks noChangeAspect="1"/>
            </p:cNvGraphicFramePr>
            <p:nvPr/>
          </p:nvGraphicFramePr>
          <p:xfrm>
            <a:off x="576" y="1968"/>
            <a:ext cx="1872" cy="192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Image" r:id="rId4" imgW="3209925" imgH="3486150" progId="Photoshop.Image.7">
                    <p:embed/>
                  </p:oleObj>
                </mc:Choice>
                <mc:Fallback>
                  <p:oleObj name="Image" r:id="rId4" imgW="3209925" imgH="3486150" progId="Photoshop.Image.7">
                    <p:embed/>
                    <p:pic>
                      <p:nvPicPr>
                        <p:cNvPr id="0" name="图片 413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76" y="1968"/>
                          <a:ext cx="1872" cy="192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4105" name="Freeform 7"/>
            <p:cNvSpPr/>
            <p:nvPr/>
          </p:nvSpPr>
          <p:spPr bwMode="auto">
            <a:xfrm>
              <a:off x="1770" y="1752"/>
              <a:ext cx="183" cy="432"/>
            </a:xfrm>
            <a:custGeom>
              <a:avLst/>
              <a:gdLst>
                <a:gd name="T0" fmla="*/ 0 w 183"/>
                <a:gd name="T1" fmla="*/ 432 h 432"/>
                <a:gd name="T2" fmla="*/ 183 w 183"/>
                <a:gd name="T3" fmla="*/ 0 h 432"/>
                <a:gd name="T4" fmla="*/ 0 60000 65536"/>
                <a:gd name="T5" fmla="*/ 0 60000 65536"/>
                <a:gd name="T6" fmla="*/ 0 w 183"/>
                <a:gd name="T7" fmla="*/ 0 h 432"/>
                <a:gd name="T8" fmla="*/ 183 w 183"/>
                <a:gd name="T9" fmla="*/ 432 h 43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83" h="432">
                  <a:moveTo>
                    <a:pt x="0" y="432"/>
                  </a:moveTo>
                  <a:lnTo>
                    <a:pt x="183" y="0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106" name="Freeform 8"/>
            <p:cNvSpPr/>
            <p:nvPr/>
          </p:nvSpPr>
          <p:spPr bwMode="auto">
            <a:xfrm>
              <a:off x="1488" y="1713"/>
              <a:ext cx="3" cy="1197"/>
            </a:xfrm>
            <a:custGeom>
              <a:avLst/>
              <a:gdLst>
                <a:gd name="T0" fmla="*/ 0 w 3"/>
                <a:gd name="T1" fmla="*/ 1197 h 1197"/>
                <a:gd name="T2" fmla="*/ 3 w 3"/>
                <a:gd name="T3" fmla="*/ 0 h 1197"/>
                <a:gd name="T4" fmla="*/ 0 60000 65536"/>
                <a:gd name="T5" fmla="*/ 0 60000 65536"/>
                <a:gd name="T6" fmla="*/ 0 w 3"/>
                <a:gd name="T7" fmla="*/ 0 h 1197"/>
                <a:gd name="T8" fmla="*/ 3 w 3"/>
                <a:gd name="T9" fmla="*/ 1197 h 119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" h="1197">
                  <a:moveTo>
                    <a:pt x="0" y="1197"/>
                  </a:moveTo>
                  <a:lnTo>
                    <a:pt x="3" y="0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107" name="Line 9"/>
            <p:cNvSpPr>
              <a:spLocks noChangeShapeType="1"/>
            </p:cNvSpPr>
            <p:nvPr/>
          </p:nvSpPr>
          <p:spPr bwMode="auto">
            <a:xfrm flipV="1">
              <a:off x="864" y="1728"/>
              <a:ext cx="0" cy="336"/>
            </a:xfrm>
            <a:prstGeom prst="line">
              <a:avLst/>
            </a:prstGeom>
            <a:noFill/>
            <a:ln w="38100">
              <a:solidFill>
                <a:schemeClr val="folHlink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108" name="Text Box 10"/>
            <p:cNvSpPr txBox="1">
              <a:spLocks noChangeArrowheads="1"/>
            </p:cNvSpPr>
            <p:nvPr/>
          </p:nvSpPr>
          <p:spPr bwMode="auto">
            <a:xfrm>
              <a:off x="528" y="1486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保护套</a:t>
              </a:r>
            </a:p>
          </p:txBody>
        </p:sp>
        <p:sp>
          <p:nvSpPr>
            <p:cNvPr id="4109" name="Text Box 11"/>
            <p:cNvSpPr txBox="1">
              <a:spLocks noChangeArrowheads="1"/>
            </p:cNvSpPr>
            <p:nvPr/>
          </p:nvSpPr>
          <p:spPr bwMode="auto">
            <a:xfrm>
              <a:off x="1152" y="1438"/>
              <a:ext cx="5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主轴孔</a:t>
              </a:r>
            </a:p>
          </p:txBody>
        </p:sp>
        <p:sp>
          <p:nvSpPr>
            <p:cNvPr id="4110" name="Text Box 12"/>
            <p:cNvSpPr txBox="1">
              <a:spLocks noChangeArrowheads="1"/>
            </p:cNvSpPr>
            <p:nvPr/>
          </p:nvSpPr>
          <p:spPr bwMode="auto">
            <a:xfrm>
              <a:off x="1814" y="1534"/>
              <a:ext cx="108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实际的软盘片</a:t>
              </a:r>
            </a:p>
          </p:txBody>
        </p:sp>
        <p:sp>
          <p:nvSpPr>
            <p:cNvPr id="4111" name="Freeform 13"/>
            <p:cNvSpPr/>
            <p:nvPr/>
          </p:nvSpPr>
          <p:spPr bwMode="auto">
            <a:xfrm>
              <a:off x="3198" y="1737"/>
              <a:ext cx="330" cy="561"/>
            </a:xfrm>
            <a:custGeom>
              <a:avLst/>
              <a:gdLst>
                <a:gd name="T0" fmla="*/ 0 w 330"/>
                <a:gd name="T1" fmla="*/ 561 h 561"/>
                <a:gd name="T2" fmla="*/ 330 w 330"/>
                <a:gd name="T3" fmla="*/ 0 h 561"/>
                <a:gd name="T4" fmla="*/ 0 60000 65536"/>
                <a:gd name="T5" fmla="*/ 0 60000 65536"/>
                <a:gd name="T6" fmla="*/ 0 w 330"/>
                <a:gd name="T7" fmla="*/ 0 h 561"/>
                <a:gd name="T8" fmla="*/ 330 w 330"/>
                <a:gd name="T9" fmla="*/ 561 h 56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30" h="561">
                  <a:moveTo>
                    <a:pt x="0" y="561"/>
                  </a:moveTo>
                  <a:lnTo>
                    <a:pt x="330" y="0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112" name="Freeform 14"/>
            <p:cNvSpPr/>
            <p:nvPr/>
          </p:nvSpPr>
          <p:spPr bwMode="auto">
            <a:xfrm>
              <a:off x="4044" y="1419"/>
              <a:ext cx="3" cy="840"/>
            </a:xfrm>
            <a:custGeom>
              <a:avLst/>
              <a:gdLst>
                <a:gd name="T0" fmla="*/ 3 w 3"/>
                <a:gd name="T1" fmla="*/ 840 h 840"/>
                <a:gd name="T2" fmla="*/ 0 w 3"/>
                <a:gd name="T3" fmla="*/ 0 h 840"/>
                <a:gd name="T4" fmla="*/ 0 60000 65536"/>
                <a:gd name="T5" fmla="*/ 0 60000 65536"/>
                <a:gd name="T6" fmla="*/ 0 w 3"/>
                <a:gd name="T7" fmla="*/ 0 h 840"/>
                <a:gd name="T8" fmla="*/ 3 w 3"/>
                <a:gd name="T9" fmla="*/ 840 h 84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" h="840">
                  <a:moveTo>
                    <a:pt x="3" y="840"/>
                  </a:move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113" name="Freeform 15"/>
            <p:cNvSpPr/>
            <p:nvPr/>
          </p:nvSpPr>
          <p:spPr bwMode="auto">
            <a:xfrm>
              <a:off x="4677" y="1716"/>
              <a:ext cx="3" cy="732"/>
            </a:xfrm>
            <a:custGeom>
              <a:avLst/>
              <a:gdLst>
                <a:gd name="T0" fmla="*/ 3 w 3"/>
                <a:gd name="T1" fmla="*/ 732 h 732"/>
                <a:gd name="T2" fmla="*/ 0 w 3"/>
                <a:gd name="T3" fmla="*/ 0 h 732"/>
                <a:gd name="T4" fmla="*/ 0 60000 65536"/>
                <a:gd name="T5" fmla="*/ 0 60000 65536"/>
                <a:gd name="T6" fmla="*/ 0 w 3"/>
                <a:gd name="T7" fmla="*/ 0 h 732"/>
                <a:gd name="T8" fmla="*/ 3 w 3"/>
                <a:gd name="T9" fmla="*/ 732 h 73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" h="732">
                  <a:moveTo>
                    <a:pt x="3" y="732"/>
                  </a:move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4114" name="Text Box 16"/>
            <p:cNvSpPr txBox="1">
              <a:spLocks noChangeArrowheads="1"/>
            </p:cNvSpPr>
            <p:nvPr/>
          </p:nvSpPr>
          <p:spPr bwMode="auto">
            <a:xfrm>
              <a:off x="3158" y="1438"/>
              <a:ext cx="7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写保护口</a:t>
              </a:r>
            </a:p>
          </p:txBody>
        </p:sp>
        <p:sp>
          <p:nvSpPr>
            <p:cNvPr id="4115" name="Text Box 17"/>
            <p:cNvSpPr txBox="1">
              <a:spLocks noChangeArrowheads="1"/>
            </p:cNvSpPr>
            <p:nvPr/>
          </p:nvSpPr>
          <p:spPr bwMode="auto">
            <a:xfrm>
              <a:off x="3648" y="1200"/>
              <a:ext cx="128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读/写磁头访问槽</a:t>
              </a:r>
            </a:p>
          </p:txBody>
        </p:sp>
        <p:sp>
          <p:nvSpPr>
            <p:cNvPr id="4116" name="Text Box 18"/>
            <p:cNvSpPr txBox="1">
              <a:spLocks noChangeArrowheads="1"/>
            </p:cNvSpPr>
            <p:nvPr/>
          </p:nvSpPr>
          <p:spPr bwMode="auto">
            <a:xfrm>
              <a:off x="4406" y="1497"/>
              <a:ext cx="112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000">
                  <a:latin typeface="Times New Roman" panose="02020603050405020304" pitchFamily="18" charset="0"/>
                </a:rPr>
                <a:t>衬里/清洁材料</a:t>
              </a:r>
            </a:p>
          </p:txBody>
        </p:sp>
      </p:grpSp>
      <p:sp>
        <p:nvSpPr>
          <p:cNvPr id="306195" name="Rectangle 19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4.4</a:t>
            </a:r>
          </a:p>
        </p:txBody>
      </p:sp>
      <p:sp>
        <p:nvSpPr>
          <p:cNvPr id="4104" name="AutoShape 20">
            <a:hlinkClick r:id="rId6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306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6179" grpId="0" autoUpdateAnimBg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Text Box 2"/>
          <p:cNvSpPr txBox="1">
            <a:spLocks noChangeArrowheads="1"/>
          </p:cNvSpPr>
          <p:nvPr/>
        </p:nvSpPr>
        <p:spPr bwMode="auto">
          <a:xfrm>
            <a:off x="381000" y="1143000"/>
            <a:ext cx="8305800" cy="42657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just"/>
            <a:r>
              <a:rPr lang="zh-CN" altLang="en-US" sz="3600" dirty="0"/>
              <a:t>五、循环校验码       </a:t>
            </a:r>
          </a:p>
          <a:p>
            <a:pPr lvl="1" algn="just"/>
            <a:r>
              <a:rPr lang="en-US" altLang="zh-CN" sz="2800" dirty="0"/>
              <a:t>  </a:t>
            </a:r>
            <a:r>
              <a:rPr lang="zh-CN" altLang="en-US" sz="2800" b="1" dirty="0"/>
              <a:t>模</a:t>
            </a:r>
            <a:r>
              <a:rPr lang="en-US" altLang="zh-CN" sz="2800" b="1" dirty="0"/>
              <a:t>2</a:t>
            </a:r>
            <a:r>
              <a:rPr lang="zh-CN" altLang="en-US" sz="2800" b="1" dirty="0"/>
              <a:t>加：</a:t>
            </a:r>
          </a:p>
          <a:p>
            <a:pPr lvl="4" algn="just"/>
            <a:r>
              <a:rPr lang="en-US" altLang="zh-CN" sz="2800" b="1" dirty="0"/>
              <a:t>0</a:t>
            </a:r>
            <a:r>
              <a:rPr lang="zh-CN" altLang="en-US" sz="2800" b="1" dirty="0"/>
              <a:t>＋</a:t>
            </a:r>
            <a:r>
              <a:rPr lang="en-US" altLang="zh-CN" sz="2800" b="1" dirty="0"/>
              <a:t>0=0                    0</a:t>
            </a:r>
            <a:r>
              <a:rPr lang="zh-CN" altLang="en-US" sz="2800" b="1" dirty="0"/>
              <a:t>＋</a:t>
            </a:r>
            <a:r>
              <a:rPr lang="en-US" altLang="zh-CN" sz="2800" b="1" dirty="0"/>
              <a:t>1=1 </a:t>
            </a:r>
          </a:p>
          <a:p>
            <a:pPr lvl="4" algn="just"/>
            <a:r>
              <a:rPr lang="en-US" altLang="zh-CN" sz="2800" b="1" dirty="0"/>
              <a:t>1</a:t>
            </a:r>
            <a:r>
              <a:rPr lang="zh-CN" altLang="en-US" sz="2800" b="1" dirty="0"/>
              <a:t>＋</a:t>
            </a:r>
            <a:r>
              <a:rPr lang="en-US" altLang="zh-CN" sz="2800" b="1" dirty="0"/>
              <a:t>0=1                    1</a:t>
            </a:r>
            <a:r>
              <a:rPr lang="zh-CN" altLang="en-US" sz="2800" b="1" dirty="0"/>
              <a:t>＋</a:t>
            </a:r>
            <a:r>
              <a:rPr lang="en-US" altLang="zh-CN" sz="2800" b="1" dirty="0"/>
              <a:t>1=0</a:t>
            </a:r>
          </a:p>
          <a:p>
            <a:pPr lvl="1" algn="just"/>
            <a:endParaRPr lang="en-US" altLang="zh-CN" sz="2800" b="1" dirty="0"/>
          </a:p>
          <a:p>
            <a:pPr lvl="1" algn="just"/>
            <a:r>
              <a:rPr lang="en-US" altLang="zh-CN" sz="2800" b="1" dirty="0"/>
              <a:t>  </a:t>
            </a:r>
            <a:r>
              <a:rPr lang="zh-CN" altLang="en-US" sz="2800" b="1" dirty="0"/>
              <a:t>模</a:t>
            </a:r>
            <a:r>
              <a:rPr lang="en-US" altLang="zh-CN" sz="2800" b="1" dirty="0"/>
              <a:t>2</a:t>
            </a:r>
            <a:r>
              <a:rPr lang="zh-CN" altLang="en-US" sz="2800" b="1" dirty="0"/>
              <a:t>减：</a:t>
            </a:r>
          </a:p>
          <a:p>
            <a:pPr lvl="4" algn="just"/>
            <a:r>
              <a:rPr lang="en-US" altLang="zh-CN" sz="2800" b="1" dirty="0"/>
              <a:t>0</a:t>
            </a:r>
            <a:r>
              <a:rPr lang="zh-CN" altLang="en-US" sz="2800" b="1" dirty="0"/>
              <a:t>－</a:t>
            </a:r>
            <a:r>
              <a:rPr lang="en-US" altLang="zh-CN" sz="2800" b="1" dirty="0"/>
              <a:t>0=0                    0</a:t>
            </a:r>
            <a:r>
              <a:rPr lang="zh-CN" altLang="en-US" sz="2800" b="1" dirty="0"/>
              <a:t>－</a:t>
            </a:r>
            <a:r>
              <a:rPr lang="en-US" altLang="zh-CN" sz="2800" b="1" dirty="0"/>
              <a:t>1=1 </a:t>
            </a:r>
          </a:p>
          <a:p>
            <a:pPr lvl="4" algn="just"/>
            <a:r>
              <a:rPr lang="en-US" altLang="zh-CN" sz="2800" b="1" dirty="0"/>
              <a:t>1</a:t>
            </a:r>
            <a:r>
              <a:rPr lang="zh-CN" altLang="en-US" sz="2800" b="1" dirty="0"/>
              <a:t>－</a:t>
            </a:r>
            <a:r>
              <a:rPr lang="en-US" altLang="zh-CN" sz="2800" b="1" dirty="0"/>
              <a:t>0=1                    1</a:t>
            </a:r>
            <a:r>
              <a:rPr lang="zh-CN" altLang="en-US" sz="2800" b="1" dirty="0"/>
              <a:t>－</a:t>
            </a:r>
            <a:r>
              <a:rPr lang="en-US" altLang="zh-CN" sz="2800" b="1" dirty="0"/>
              <a:t>1=0</a:t>
            </a: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>
        <mc:Choice xmlns:a14="http://schemas.microsoft.com/office/drawing/2010/main" Requires="a14">
          <p:sp>
            <p:nvSpPr>
              <p:cNvPr id="56322" name="Text Box 2"/>
              <p:cNvSpPr txBox="1">
                <a:spLocks noChangeArrowheads="1"/>
              </p:cNvSpPr>
              <p:nvPr/>
            </p:nvSpPr>
            <p:spPr bwMode="auto">
              <a:xfrm>
                <a:off x="391435" y="332656"/>
                <a:ext cx="8305800" cy="54353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algn="just"/>
                <a:r>
                  <a:rPr lang="zh-CN" altLang="en-US" sz="2800" b="1" dirty="0"/>
                  <a:t>设待编码的有效信息以多项式</a:t>
                </a:r>
                <a:r>
                  <a:rPr lang="en-US" altLang="zh-CN" sz="2800" b="1" dirty="0"/>
                  <a:t>M(x)</a:t>
                </a:r>
                <a:r>
                  <a:rPr lang="zh-CN" altLang="en-US" sz="2800" b="1" dirty="0"/>
                  <a:t>表示，</a:t>
                </a:r>
                <a:r>
                  <a:rPr lang="en-US" altLang="zh-CN" sz="2800" b="1" dirty="0"/>
                  <a:t>M(x)</a:t>
                </a:r>
                <a:r>
                  <a:rPr lang="zh-CN" altLang="en-US" sz="2800" b="1" dirty="0"/>
                  <a:t>左移</a:t>
                </a:r>
                <a:r>
                  <a:rPr lang="en-US" altLang="zh-CN" sz="2800" b="1" dirty="0"/>
                  <a:t>r</a:t>
                </a:r>
                <a:r>
                  <a:rPr lang="zh-CN" altLang="en-US" sz="2800" b="1" dirty="0"/>
                  <a:t>位后用约定的一个多项式</a:t>
                </a:r>
                <a:r>
                  <a:rPr lang="en-US" altLang="zh-CN" sz="2800" b="1" dirty="0"/>
                  <a:t>G(x)</a:t>
                </a:r>
                <a:r>
                  <a:rPr lang="zh-CN" altLang="en-US" sz="2800" b="1" dirty="0"/>
                  <a:t>去除，一般情况下得到一个商</a:t>
                </a:r>
                <a:r>
                  <a:rPr lang="en-US" altLang="zh-CN" sz="2800" b="1" dirty="0"/>
                  <a:t>Q(x)</a:t>
                </a:r>
                <a:r>
                  <a:rPr lang="zh-CN" altLang="en-US" sz="2800" b="1" dirty="0"/>
                  <a:t>和余数</a:t>
                </a:r>
                <a:r>
                  <a:rPr lang="en-US" altLang="zh-CN" sz="2800" b="1" dirty="0"/>
                  <a:t>R(x)</a:t>
                </a:r>
                <a:r>
                  <a:rPr lang="zh-CN" altLang="en-US" sz="2800" b="1" dirty="0"/>
                  <a:t>：</a:t>
                </a:r>
                <a:endParaRPr lang="en-US" altLang="zh-CN" sz="2800" b="1" dirty="0"/>
              </a:p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altLang="zh-CN" sz="2800" b="1" i="1" smtClean="0">
                          <a:latin typeface="Cambria Math" panose="02040503050406030204" pitchFamily="18" charset="0"/>
                        </a:rPr>
                        <m:t>𝑴</m:t>
                      </m:r>
                      <m:d>
                        <m:dPr>
                          <m:ctrlPr>
                            <a:rPr lang="en-US" altLang="zh-CN" sz="2800" b="1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altLang="zh-CN" sz="2800" b="1" i="1" smtClean="0">
                              <a:latin typeface="Cambria Math" panose="02040503050406030204" pitchFamily="18" charset="0"/>
                            </a:rPr>
                            <m:t>𝒙</m:t>
                          </m:r>
                        </m:e>
                      </m:d>
                      <m:r>
                        <a:rPr lang="en-US" altLang="zh-CN" sz="2800" b="1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∙</m:t>
                      </m:r>
                      <m:sSup>
                        <m:sSupPr>
                          <m:ctrlPr>
                            <a:rPr lang="en-US" altLang="zh-CN" sz="2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altLang="zh-CN" sz="2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𝒙</m:t>
                          </m:r>
                        </m:e>
                        <m:sup>
                          <m:r>
                            <a:rPr lang="en-US" altLang="zh-CN" sz="2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𝒓</m:t>
                          </m:r>
                        </m:sup>
                      </m:sSup>
                      <m:r>
                        <a:rPr lang="en-US" altLang="zh-CN" sz="2800" b="1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altLang="zh-CN" sz="2800" b="1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𝑸</m:t>
                      </m:r>
                      <m:d>
                        <m:dPr>
                          <m:ctrlPr>
                            <a:rPr lang="en-US" altLang="zh-CN" sz="2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altLang="zh-CN" sz="2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𝒙</m:t>
                          </m:r>
                        </m:e>
                      </m:d>
                      <m:r>
                        <a:rPr lang="en-US" altLang="zh-CN" sz="2800" b="1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∙</m:t>
                      </m:r>
                      <m:r>
                        <a:rPr lang="en-US" altLang="zh-CN" sz="2800" b="1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𝑮</m:t>
                      </m:r>
                      <m:d>
                        <m:dPr>
                          <m:ctrlPr>
                            <a:rPr lang="en-US" altLang="zh-CN" sz="2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altLang="zh-CN" sz="2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𝒙</m:t>
                          </m:r>
                        </m:e>
                      </m:d>
                      <m:r>
                        <a:rPr lang="en-US" altLang="zh-CN" sz="2800" b="1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+</m:t>
                      </m:r>
                      <m:r>
                        <a:rPr lang="en-US" altLang="zh-CN" sz="2800" b="1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𝑹</m:t>
                      </m:r>
                      <m:d>
                        <m:dPr>
                          <m:ctrlPr>
                            <a:rPr lang="en-US" altLang="zh-CN" sz="2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altLang="zh-CN" sz="2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𝒙</m:t>
                          </m:r>
                        </m:e>
                      </m:d>
                    </m:oMath>
                  </m:oMathPara>
                </a14:m>
                <a:endParaRPr lang="en-US" altLang="zh-CN" sz="2800" b="1" dirty="0">
                  <a:ea typeface="Cambria Math" panose="02040503050406030204" pitchFamily="18" charset="0"/>
                </a:endParaRPr>
              </a:p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altLang="zh-CN" sz="2800" i="1">
                          <a:latin typeface="Cambria Math" panose="02040503050406030204" pitchFamily="18" charset="0"/>
                        </a:rPr>
                        <m:t>𝑴</m:t>
                      </m:r>
                      <m:d>
                        <m:dPr>
                          <m:ctrlPr>
                            <a:rPr lang="en-US" altLang="zh-CN" sz="28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altLang="zh-CN" sz="2800" i="1">
                              <a:latin typeface="Cambria Math" panose="02040503050406030204" pitchFamily="18" charset="0"/>
                            </a:rPr>
                            <m:t>𝒙</m:t>
                          </m:r>
                        </m:e>
                      </m:d>
                      <m:r>
                        <a:rPr lang="en-US" altLang="zh-CN" sz="28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∙</m:t>
                      </m:r>
                      <m:sSup>
                        <m:sSupPr>
                          <m:ctrlPr>
                            <a:rPr lang="en-US" altLang="zh-CN" sz="2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altLang="zh-CN" sz="2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𝒙</m:t>
                          </m:r>
                        </m:e>
                        <m:sup>
                          <m:r>
                            <a:rPr lang="en-US" altLang="zh-CN" sz="2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𝒓</m:t>
                          </m:r>
                        </m:sup>
                      </m:sSup>
                      <m:r>
                        <a:rPr lang="en-US" altLang="zh-CN" sz="2800" b="1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+</m:t>
                      </m:r>
                      <m:r>
                        <a:rPr lang="en-US" altLang="zh-CN" sz="2800" b="1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𝑹</m:t>
                      </m:r>
                      <m:d>
                        <m:dPr>
                          <m:ctrlPr>
                            <a:rPr lang="en-US" altLang="zh-CN" sz="2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altLang="zh-CN" sz="2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𝒙</m:t>
                          </m:r>
                        </m:e>
                      </m:d>
                      <m:r>
                        <a:rPr lang="en-US" altLang="zh-CN" sz="28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altLang="zh-CN" sz="2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altLang="zh-CN" sz="2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𝑸</m:t>
                          </m:r>
                          <m:d>
                            <m:dPr>
                              <m:ctrlPr>
                                <a:rPr lang="en-US" altLang="zh-CN" sz="2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altLang="zh-CN" sz="2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𝒙</m:t>
                              </m:r>
                            </m:e>
                          </m:d>
                          <m:r>
                            <a:rPr lang="en-US" altLang="zh-CN" sz="2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∙</m:t>
                          </m:r>
                          <m:r>
                            <a:rPr lang="en-US" altLang="zh-CN" sz="2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𝑮</m:t>
                          </m:r>
                          <m:d>
                            <m:dPr>
                              <m:ctrlPr>
                                <a:rPr lang="en-US" altLang="zh-CN" sz="2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altLang="zh-CN" sz="2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𝒙</m:t>
                              </m:r>
                            </m:e>
                          </m:d>
                          <m:r>
                            <a:rPr lang="en-US" altLang="zh-CN" sz="2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+</m:t>
                          </m:r>
                          <m:r>
                            <a:rPr lang="en-US" altLang="zh-CN" sz="2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𝑹</m:t>
                          </m:r>
                          <m:d>
                            <m:dPr>
                              <m:ctrlPr>
                                <a:rPr lang="en-US" altLang="zh-CN" sz="2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altLang="zh-CN" sz="28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𝒙</m:t>
                              </m:r>
                            </m:e>
                          </m:d>
                        </m:e>
                      </m:d>
                      <m:r>
                        <a:rPr lang="en-US" altLang="zh-CN" sz="2800" b="1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+</m:t>
                      </m:r>
                      <m:r>
                        <a:rPr lang="en-US" altLang="zh-CN" sz="2800" b="1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𝑹</m:t>
                      </m:r>
                      <m:d>
                        <m:dPr>
                          <m:ctrlPr>
                            <a:rPr lang="en-US" altLang="zh-CN" sz="2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altLang="zh-CN" sz="28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𝒙</m:t>
                          </m:r>
                        </m:e>
                      </m:d>
                    </m:oMath>
                  </m:oMathPara>
                </a14:m>
                <a:endParaRPr lang="en-US" altLang="zh-CN" sz="2800" b="1" dirty="0">
                  <a:ea typeface="Cambria Math" panose="02040503050406030204" pitchFamily="18" charset="0"/>
                </a:endParaRPr>
              </a:p>
              <a:p>
                <a:pPr algn="just"/>
                <a:r>
                  <a:rPr lang="en-US" altLang="zh-CN" sz="2800" dirty="0">
                    <a:ea typeface="Cambria Math" panose="02040503050406030204" pitchFamily="18" charset="0"/>
                  </a:rPr>
                  <a:t>                 =</a:t>
                </a:r>
                <a:r>
                  <a:rPr lang="en-US" altLang="zh-CN" sz="2800" b="1" dirty="0">
                    <a:ea typeface="Cambria Math" panose="02040503050406030204" pitchFamily="18" charset="0"/>
                  </a:rPr>
                  <a:t> </a:t>
                </a:r>
                <a14:m>
                  <m:oMath xmlns:m="http://schemas.openxmlformats.org/officeDocument/2006/math">
                    <m:r>
                      <a:rPr lang="en-US" altLang="zh-CN" sz="2800" b="1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𝑸</m:t>
                    </m:r>
                    <m:d>
                      <m:dPr>
                        <m:ctrlPr>
                          <a:rPr lang="en-US" altLang="zh-CN" sz="2800" b="1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altLang="zh-CN" sz="2800" b="1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𝒙</m:t>
                        </m:r>
                      </m:e>
                    </m:d>
                    <m:r>
                      <a:rPr lang="en-US" altLang="zh-CN" sz="2800" b="1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∙</m:t>
                    </m:r>
                    <m:r>
                      <a:rPr lang="en-US" altLang="zh-CN" sz="2800" b="1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𝑮</m:t>
                    </m:r>
                    <m:d>
                      <m:dPr>
                        <m:ctrlPr>
                          <a:rPr lang="en-US" altLang="zh-CN" sz="2800" b="1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altLang="zh-CN" sz="2800" b="1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𝒙</m:t>
                        </m:r>
                      </m:e>
                    </m:d>
                  </m:oMath>
                </a14:m>
                <a:endParaRPr lang="en-US" altLang="zh-CN" sz="2800" dirty="0">
                  <a:ea typeface="Cambria Math" panose="02040503050406030204" pitchFamily="18" charset="0"/>
                </a:endParaRPr>
              </a:p>
              <a:p>
                <a:pPr algn="just"/>
                <a:r>
                  <a:rPr lang="zh-CN" altLang="en-US" sz="2800" b="1" dirty="0"/>
                  <a:t>显然，将</a:t>
                </a:r>
                <a14:m>
                  <m:oMath xmlns:m="http://schemas.openxmlformats.org/officeDocument/2006/math">
                    <m:r>
                      <a:rPr lang="en-US" altLang="zh-CN" sz="2800" b="1" i="1" smtClean="0">
                        <a:latin typeface="Cambria Math" panose="02040503050406030204" pitchFamily="18" charset="0"/>
                      </a:rPr>
                      <m:t>𝑴</m:t>
                    </m:r>
                    <m:d>
                      <m:dPr>
                        <m:ctrlPr>
                          <a:rPr lang="en-US" altLang="zh-CN" sz="2800" b="1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altLang="zh-CN" sz="2800" b="1" i="1" smtClean="0">
                            <a:latin typeface="Cambria Math" panose="02040503050406030204" pitchFamily="18" charset="0"/>
                          </a:rPr>
                          <m:t>𝒙</m:t>
                        </m:r>
                      </m:e>
                    </m:d>
                    <m:r>
                      <a:rPr lang="en-US" altLang="zh-CN" sz="2800" b="1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∙</m:t>
                    </m:r>
                    <m:sSup>
                      <m:sSupPr>
                        <m:ctrlPr>
                          <a:rPr lang="en-US" altLang="zh-CN" sz="2800" b="1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altLang="zh-CN" sz="2800" b="1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𝒙</m:t>
                        </m:r>
                      </m:e>
                      <m:sup>
                        <m:r>
                          <a:rPr lang="en-US" altLang="zh-CN" sz="2800" b="1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𝒓</m:t>
                        </m:r>
                      </m:sup>
                    </m:sSup>
                    <m:r>
                      <a:rPr lang="zh-CN" altLang="en-US" sz="28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加</m:t>
                    </m:r>
                  </m:oMath>
                </a14:m>
                <a:r>
                  <a:rPr lang="zh-CN" altLang="en-US" sz="2800" dirty="0"/>
                  <a:t>去</a:t>
                </a:r>
                <a:r>
                  <a:rPr lang="zh-CN" altLang="en-US" sz="2800" b="1" dirty="0"/>
                  <a:t>余数</a:t>
                </a:r>
                <a:r>
                  <a:rPr lang="en-US" altLang="zh-CN" sz="2800" b="1" dirty="0"/>
                  <a:t>R</a:t>
                </a:r>
                <a:r>
                  <a:rPr lang="zh-CN" altLang="en-US" sz="2800" b="1" dirty="0"/>
                  <a:t>（</a:t>
                </a:r>
                <a:r>
                  <a:rPr lang="en-US" altLang="zh-CN" sz="2800" b="1" dirty="0"/>
                  <a:t>x</a:t>
                </a:r>
                <a:r>
                  <a:rPr lang="zh-CN" altLang="en-US" sz="2800" b="1" dirty="0"/>
                  <a:t>）就必定能为</a:t>
                </a:r>
                <a:r>
                  <a:rPr lang="en-US" altLang="zh-CN" sz="2800" b="1" dirty="0"/>
                  <a:t>G</a:t>
                </a:r>
                <a:r>
                  <a:rPr lang="zh-CN" altLang="en-US" sz="2800" b="1" dirty="0"/>
                  <a:t>（</a:t>
                </a:r>
                <a:r>
                  <a:rPr lang="en-US" altLang="zh-CN" sz="2800" b="1" dirty="0"/>
                  <a:t>x</a:t>
                </a:r>
                <a:r>
                  <a:rPr lang="zh-CN" altLang="en-US" sz="2800" b="1" dirty="0"/>
                  <a:t>）所除尽。因而可以设想让</a:t>
                </a:r>
                <a14:m>
                  <m:oMath xmlns:m="http://schemas.openxmlformats.org/officeDocument/2006/math">
                    <m:r>
                      <a:rPr lang="en-US" altLang="zh-CN" sz="2800" i="1">
                        <a:latin typeface="Cambria Math" panose="02040503050406030204" pitchFamily="18" charset="0"/>
                      </a:rPr>
                      <m:t>𝑴</m:t>
                    </m:r>
                    <m:d>
                      <m:dPr>
                        <m:ctrlPr>
                          <a:rPr lang="en-US" altLang="zh-CN" sz="28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altLang="zh-CN" sz="2800" i="1">
                            <a:latin typeface="Cambria Math" panose="02040503050406030204" pitchFamily="18" charset="0"/>
                          </a:rPr>
                          <m:t>𝒙</m:t>
                        </m:r>
                      </m:e>
                    </m:d>
                    <m:r>
                      <a:rPr lang="en-US" altLang="zh-CN" sz="28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∙</m:t>
                    </m:r>
                    <m:sSup>
                      <m:sSupPr>
                        <m:ctrlPr>
                          <a:rPr lang="en-US" altLang="zh-CN" sz="28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altLang="zh-CN" sz="28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𝒙</m:t>
                        </m:r>
                      </m:e>
                      <m:sup>
                        <m:r>
                          <a:rPr lang="en-US" altLang="zh-CN" sz="28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𝒓</m:t>
                        </m:r>
                      </m:sup>
                    </m:sSup>
                    <m:r>
                      <a:rPr lang="en-US" altLang="zh-CN" sz="28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US" altLang="zh-CN" sz="2800" b="1" dirty="0"/>
                  <a:t>+R</a:t>
                </a:r>
                <a:r>
                  <a:rPr lang="zh-CN" altLang="en-US" sz="2800" b="1" dirty="0"/>
                  <a:t>（</a:t>
                </a:r>
                <a:r>
                  <a:rPr lang="en-US" altLang="zh-CN" sz="2800" b="1" dirty="0"/>
                  <a:t>x</a:t>
                </a:r>
                <a:r>
                  <a:rPr lang="zh-CN" altLang="en-US" sz="2800" b="1" dirty="0"/>
                  <a:t>）作为编好的校验码送往目标部件，当从目标部件取得校验码时，仍用约定的多项式</a:t>
                </a:r>
                <a:r>
                  <a:rPr lang="en-US" altLang="zh-CN" sz="2800" b="1" dirty="0"/>
                  <a:t>G</a:t>
                </a:r>
                <a:r>
                  <a:rPr lang="zh-CN" altLang="en-US" sz="2800" b="1" dirty="0"/>
                  <a:t>（</a:t>
                </a:r>
                <a:r>
                  <a:rPr lang="en-US" altLang="zh-CN" sz="2800" b="1" dirty="0"/>
                  <a:t>x</a:t>
                </a:r>
                <a:r>
                  <a:rPr lang="zh-CN" altLang="en-US" sz="2800" b="1" dirty="0"/>
                  <a:t>）去除，若余数为</a:t>
                </a:r>
                <a:r>
                  <a:rPr lang="en-US" altLang="zh-CN" sz="2800" b="1" dirty="0"/>
                  <a:t>0</a:t>
                </a:r>
                <a:r>
                  <a:rPr lang="zh-CN" altLang="en-US" sz="2800" b="1" dirty="0"/>
                  <a:t>，则表明该校验码正确；若余数不为</a:t>
                </a:r>
                <a:r>
                  <a:rPr lang="en-US" altLang="zh-CN" sz="2800" b="1" dirty="0"/>
                  <a:t>0</a:t>
                </a:r>
                <a:r>
                  <a:rPr lang="zh-CN" altLang="en-US" sz="2800" b="1" dirty="0"/>
                  <a:t>，则表明有错，在进一步由余数值确定哪一位出错，从而加以纠正。</a:t>
                </a:r>
              </a:p>
            </p:txBody>
          </p:sp>
        </mc:Choice>
        <mc:Fallback>
          <p:sp>
            <p:nvSpPr>
              <p:cNvPr id="56322" name="Text Box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391435" y="332656"/>
                <a:ext cx="8305800" cy="5435334"/>
              </a:xfrm>
              <a:prstGeom prst="rect">
                <a:avLst/>
              </a:prstGeom>
              <a:blipFill>
                <a:blip r:embed="rId2"/>
                <a:stretch>
                  <a:fillRect l="-1467" t="-1235" r="-5723" b="-2245"/>
                </a:stretch>
              </a:blipFill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Text Box 2"/>
          <p:cNvSpPr txBox="1">
            <a:spLocks noChangeArrowheads="1"/>
          </p:cNvSpPr>
          <p:nvPr/>
        </p:nvSpPr>
        <p:spPr bwMode="auto">
          <a:xfrm>
            <a:off x="76200" y="332656"/>
            <a:ext cx="8915400" cy="57800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just"/>
            <a:r>
              <a:rPr lang="zh-CN" altLang="en-US" sz="2800" b="1" dirty="0"/>
              <a:t>例  对四位有效信息（</a:t>
            </a:r>
            <a:r>
              <a:rPr lang="en-US" altLang="zh-CN" sz="2800" b="1" dirty="0"/>
              <a:t>1100</a:t>
            </a:r>
            <a:r>
              <a:rPr lang="zh-CN" altLang="en-US" sz="2800" b="1" dirty="0"/>
              <a:t>）作循环校验编码，选择的生成多项式</a:t>
            </a:r>
            <a:r>
              <a:rPr lang="en-US" altLang="zh-CN" sz="2800" b="1" dirty="0"/>
              <a:t>G</a:t>
            </a:r>
            <a:r>
              <a:rPr lang="zh-CN" altLang="en-US" sz="2800" b="1" dirty="0"/>
              <a:t>（</a:t>
            </a:r>
            <a:r>
              <a:rPr lang="en-US" altLang="zh-CN" sz="2800" b="1" dirty="0"/>
              <a:t>x</a:t>
            </a:r>
            <a:r>
              <a:rPr lang="zh-CN" altLang="en-US" sz="2800" b="1" dirty="0"/>
              <a:t>）</a:t>
            </a:r>
            <a:r>
              <a:rPr lang="en-US" altLang="zh-CN" sz="2800" b="1" dirty="0"/>
              <a:t>=1011</a:t>
            </a:r>
            <a:r>
              <a:rPr lang="zh-CN" altLang="en-US" sz="2800" b="1" dirty="0"/>
              <a:t>。</a:t>
            </a:r>
          </a:p>
          <a:p>
            <a:pPr algn="just"/>
            <a:r>
              <a:rPr lang="zh-CN" altLang="en-US" sz="2800" b="1" dirty="0"/>
              <a:t>解：① 将待编码</a:t>
            </a:r>
            <a:r>
              <a:rPr lang="en-US" altLang="zh-CN" sz="2800" b="1" dirty="0"/>
              <a:t>n</a:t>
            </a:r>
            <a:r>
              <a:rPr lang="zh-CN" altLang="en-US" sz="2800" b="1" dirty="0"/>
              <a:t>位信息码组表示为多项式</a:t>
            </a:r>
            <a:r>
              <a:rPr lang="en-US" altLang="zh-CN" sz="2800" b="1" dirty="0"/>
              <a:t>M</a:t>
            </a:r>
            <a:r>
              <a:rPr lang="zh-CN" altLang="en-US" sz="2800" b="1" dirty="0"/>
              <a:t>（</a:t>
            </a:r>
            <a:r>
              <a:rPr lang="en-US" altLang="zh-CN" sz="2800" b="1" dirty="0"/>
              <a:t>x</a:t>
            </a:r>
            <a:r>
              <a:rPr lang="zh-CN" altLang="en-US" sz="2800" b="1" dirty="0"/>
              <a:t>）：</a:t>
            </a:r>
          </a:p>
          <a:p>
            <a:pPr lvl="2" algn="just"/>
            <a:r>
              <a:rPr lang="zh-CN" altLang="en-US" sz="2800" b="1" dirty="0"/>
              <a:t>  </a:t>
            </a:r>
            <a:r>
              <a:rPr lang="en-US" altLang="zh-CN" sz="2800" b="1" dirty="0"/>
              <a:t>M</a:t>
            </a:r>
            <a:r>
              <a:rPr lang="zh-CN" altLang="en-US" sz="2800" b="1" dirty="0"/>
              <a:t>（</a:t>
            </a:r>
            <a:r>
              <a:rPr lang="en-US" altLang="zh-CN" sz="2800" b="1" dirty="0"/>
              <a:t>x</a:t>
            </a:r>
            <a:r>
              <a:rPr lang="zh-CN" altLang="en-US" sz="2800" b="1" dirty="0"/>
              <a:t>）</a:t>
            </a:r>
            <a:r>
              <a:rPr lang="en-US" altLang="zh-CN" sz="2800" b="1" dirty="0"/>
              <a:t>= x</a:t>
            </a:r>
            <a:r>
              <a:rPr lang="en-US" altLang="zh-CN" sz="2800" b="1" baseline="42000" dirty="0"/>
              <a:t>3</a:t>
            </a:r>
            <a:r>
              <a:rPr lang="en-US" altLang="zh-CN" sz="2800" b="1" dirty="0"/>
              <a:t>+x</a:t>
            </a:r>
            <a:r>
              <a:rPr lang="en-US" altLang="zh-CN" sz="2800" b="1" baseline="42000" dirty="0"/>
              <a:t>2</a:t>
            </a:r>
            <a:r>
              <a:rPr lang="en-US" altLang="zh-CN" sz="2800" b="1" dirty="0"/>
              <a:t>=1100</a:t>
            </a:r>
          </a:p>
          <a:p>
            <a:pPr marL="914400" lvl="1" indent="-457200" algn="just">
              <a:buAutoNum type="circleNumDbPlain" startAt="2"/>
            </a:pPr>
            <a:r>
              <a:rPr lang="zh-CN" altLang="en-US" sz="2800" b="1" dirty="0"/>
              <a:t>将</a:t>
            </a:r>
            <a:r>
              <a:rPr lang="en-US" altLang="zh-CN" sz="2800" b="1" dirty="0"/>
              <a:t>M</a:t>
            </a:r>
            <a:r>
              <a:rPr lang="zh-CN" altLang="en-US" sz="2800" b="1" dirty="0"/>
              <a:t>（</a:t>
            </a:r>
            <a:r>
              <a:rPr lang="en-US" altLang="zh-CN" sz="2800" b="1" dirty="0"/>
              <a:t>x</a:t>
            </a:r>
            <a:r>
              <a:rPr lang="zh-CN" altLang="en-US" sz="2800" b="1" dirty="0"/>
              <a:t>）左移</a:t>
            </a:r>
            <a:r>
              <a:rPr lang="en-US" altLang="zh-CN" sz="2800" b="1" dirty="0"/>
              <a:t>r</a:t>
            </a:r>
            <a:r>
              <a:rPr lang="zh-CN" altLang="en-US" sz="2800" b="1" dirty="0"/>
              <a:t>位，得</a:t>
            </a:r>
            <a:r>
              <a:rPr lang="en-US" altLang="zh-CN" sz="2800" b="1" dirty="0"/>
              <a:t>M</a:t>
            </a:r>
            <a:r>
              <a:rPr lang="zh-CN" altLang="en-US" sz="2800" b="1" dirty="0"/>
              <a:t>（</a:t>
            </a:r>
            <a:r>
              <a:rPr lang="en-US" altLang="zh-CN" sz="2800" b="1" dirty="0"/>
              <a:t>x</a:t>
            </a:r>
            <a:r>
              <a:rPr lang="zh-CN" altLang="en-US" sz="2800" b="1" dirty="0"/>
              <a:t>）</a:t>
            </a:r>
            <a:r>
              <a:rPr lang="en-US" altLang="zh-CN" sz="2800" b="1" dirty="0"/>
              <a:t>·</a:t>
            </a:r>
            <a:r>
              <a:rPr lang="en-US" altLang="zh-CN" sz="2800" b="1" dirty="0" err="1"/>
              <a:t>x</a:t>
            </a:r>
            <a:r>
              <a:rPr lang="en-US" altLang="zh-CN" sz="2800" b="1" baseline="42000" dirty="0" err="1"/>
              <a:t>r</a:t>
            </a:r>
            <a:r>
              <a:rPr lang="zh-CN" altLang="en-US" sz="2800" b="1" dirty="0"/>
              <a:t>，其目的是空出</a:t>
            </a:r>
            <a:r>
              <a:rPr lang="en-US" altLang="zh-CN" sz="2800" b="1" dirty="0"/>
              <a:t>r</a:t>
            </a:r>
            <a:r>
              <a:rPr lang="zh-CN" altLang="en-US" sz="2800" b="1" dirty="0"/>
              <a:t>位，以便拼装</a:t>
            </a:r>
            <a:r>
              <a:rPr lang="en-US" altLang="zh-CN" sz="2800" b="1" dirty="0"/>
              <a:t>r</a:t>
            </a:r>
            <a:r>
              <a:rPr lang="zh-CN" altLang="en-US" sz="2800" b="1" dirty="0"/>
              <a:t>位余数（校验位）：</a:t>
            </a:r>
            <a:endParaRPr lang="en-US" altLang="zh-CN" sz="2800" b="1" dirty="0"/>
          </a:p>
          <a:p>
            <a:pPr lvl="1" algn="just"/>
            <a:r>
              <a:rPr lang="en-US" altLang="zh-CN" sz="2800" dirty="0"/>
              <a:t>   </a:t>
            </a:r>
            <a:r>
              <a:rPr lang="en-US" altLang="zh-CN" sz="2800" b="1" dirty="0"/>
              <a:t>M(x) · x </a:t>
            </a:r>
            <a:r>
              <a:rPr lang="en-US" altLang="zh-CN" sz="2800" b="1" baseline="30000" dirty="0"/>
              <a:t>3 </a:t>
            </a:r>
            <a:r>
              <a:rPr lang="en-US" altLang="zh-CN" sz="2800" b="1" dirty="0"/>
              <a:t>= x</a:t>
            </a:r>
            <a:r>
              <a:rPr lang="en-US" altLang="zh-CN" sz="2800" b="1" baseline="30000" dirty="0"/>
              <a:t>6</a:t>
            </a:r>
            <a:r>
              <a:rPr lang="en-US" altLang="zh-CN" sz="2800" b="1" dirty="0"/>
              <a:t> + x</a:t>
            </a:r>
            <a:r>
              <a:rPr lang="en-US" altLang="zh-CN" sz="2800" b="1" baseline="30000" dirty="0"/>
              <a:t>5</a:t>
            </a:r>
            <a:r>
              <a:rPr lang="en-US" altLang="zh-CN" sz="2800" b="1" dirty="0"/>
              <a:t> = 1100000</a:t>
            </a:r>
            <a:r>
              <a:rPr lang="zh-CN" altLang="en-US" sz="2800" b="1" dirty="0"/>
              <a:t>（左移</a:t>
            </a:r>
            <a:r>
              <a:rPr lang="en-US" altLang="zh-CN" sz="2800" b="1" dirty="0"/>
              <a:t>r=3</a:t>
            </a:r>
            <a:r>
              <a:rPr lang="zh-CN" altLang="en-US" sz="2800" b="1" dirty="0"/>
              <a:t>位）</a:t>
            </a:r>
          </a:p>
          <a:p>
            <a:pPr marL="914400" lvl="1" indent="-457200" algn="just">
              <a:buAutoNum type="circleNumDbPlain" startAt="3"/>
            </a:pPr>
            <a:r>
              <a:rPr lang="zh-CN" altLang="en-US" sz="2800" b="1" dirty="0"/>
              <a:t>用</a:t>
            </a:r>
            <a:r>
              <a:rPr lang="en-US" altLang="zh-CN" sz="2800" b="1" dirty="0"/>
              <a:t>r+1</a:t>
            </a:r>
            <a:r>
              <a:rPr lang="zh-CN" altLang="en-US" sz="2800" b="1" dirty="0"/>
              <a:t>位的生成多项式</a:t>
            </a:r>
            <a:r>
              <a:rPr lang="en-US" altLang="zh-CN" sz="2800" b="1" dirty="0"/>
              <a:t>G</a:t>
            </a:r>
            <a:r>
              <a:rPr lang="zh-CN" altLang="en-US" sz="2800" b="1" dirty="0"/>
              <a:t>（</a:t>
            </a:r>
            <a:r>
              <a:rPr lang="en-US" altLang="zh-CN" sz="2800" b="1" dirty="0"/>
              <a:t>x</a:t>
            </a:r>
            <a:r>
              <a:rPr lang="zh-CN" altLang="en-US" sz="2800" b="1" dirty="0"/>
              <a:t>），对</a:t>
            </a:r>
            <a:r>
              <a:rPr lang="en-US" altLang="zh-CN" sz="2800" b="1" dirty="0"/>
              <a:t>M(x) · x </a:t>
            </a:r>
            <a:r>
              <a:rPr lang="en-US" altLang="zh-CN" sz="2800" b="1" baseline="42000" dirty="0"/>
              <a:t>r</a:t>
            </a:r>
            <a:r>
              <a:rPr lang="zh-CN" altLang="en-US" sz="2800" b="1" dirty="0"/>
              <a:t>作模</a:t>
            </a:r>
            <a:r>
              <a:rPr lang="en-US" altLang="zh-CN" sz="2800" b="1" dirty="0"/>
              <a:t>2 </a:t>
            </a:r>
            <a:r>
              <a:rPr lang="zh-CN" altLang="en-US" sz="2800" b="1" dirty="0"/>
              <a:t>除：</a:t>
            </a:r>
            <a:r>
              <a:rPr lang="en-US" altLang="zh-CN" sz="2800" b="1" dirty="0"/>
              <a:t>G</a:t>
            </a:r>
            <a:r>
              <a:rPr lang="zh-CN" altLang="en-US" sz="2800" b="1" dirty="0"/>
              <a:t>（</a:t>
            </a:r>
            <a:r>
              <a:rPr lang="en-US" altLang="zh-CN" sz="2800" b="1" dirty="0"/>
              <a:t>x</a:t>
            </a:r>
            <a:r>
              <a:rPr lang="zh-CN" altLang="en-US" sz="2800" b="1" dirty="0"/>
              <a:t>）</a:t>
            </a:r>
            <a:r>
              <a:rPr lang="en-US" altLang="zh-CN" sz="2800" b="1" dirty="0"/>
              <a:t>= x</a:t>
            </a:r>
            <a:r>
              <a:rPr lang="en-US" altLang="zh-CN" sz="2800" b="1" baseline="42000" dirty="0"/>
              <a:t>3</a:t>
            </a:r>
            <a:r>
              <a:rPr lang="en-US" altLang="zh-CN" sz="2800" b="1" dirty="0"/>
              <a:t>+ x + 1=1011   </a:t>
            </a:r>
            <a:r>
              <a:rPr lang="zh-CN" altLang="en-US" sz="2800" b="1" dirty="0"/>
              <a:t>（</a:t>
            </a:r>
            <a:r>
              <a:rPr lang="en-US" altLang="zh-CN" sz="2800" b="1" dirty="0"/>
              <a:t>r +1=4</a:t>
            </a:r>
            <a:r>
              <a:rPr lang="zh-CN" altLang="en-US" sz="2800" b="1" dirty="0"/>
              <a:t>位）</a:t>
            </a:r>
            <a:endParaRPr lang="en-US" altLang="zh-CN" sz="2800" dirty="0"/>
          </a:p>
          <a:p>
            <a:pPr lvl="1" algn="just"/>
            <a:r>
              <a:rPr lang="en-US" altLang="zh-CN" sz="2800" b="1" dirty="0"/>
              <a:t>G</a:t>
            </a:r>
            <a:r>
              <a:rPr lang="zh-CN" altLang="en-US" sz="2800" b="1" dirty="0"/>
              <a:t>（</a:t>
            </a:r>
            <a:r>
              <a:rPr lang="en-US" altLang="zh-CN" sz="2800" b="1" dirty="0"/>
              <a:t>x</a:t>
            </a:r>
            <a:r>
              <a:rPr lang="zh-CN" altLang="en-US" sz="2800" b="1" dirty="0"/>
              <a:t>）是约定的除数，因为它是用来产生校验码的，故称为生成多项式。由于最后余数的位数应比除数少一位，所以</a:t>
            </a:r>
            <a:r>
              <a:rPr lang="en-US" altLang="zh-CN" sz="2800" b="1" dirty="0"/>
              <a:t>G</a:t>
            </a:r>
            <a:r>
              <a:rPr lang="zh-CN" altLang="en-US" sz="2800" b="1" dirty="0"/>
              <a:t>（</a:t>
            </a:r>
            <a:r>
              <a:rPr lang="en-US" altLang="zh-CN" sz="2800" b="1" dirty="0"/>
              <a:t>x</a:t>
            </a:r>
            <a:r>
              <a:rPr lang="zh-CN" altLang="en-US" sz="2800" b="1" dirty="0"/>
              <a:t>）应取</a:t>
            </a:r>
            <a:r>
              <a:rPr lang="en-US" altLang="zh-CN" sz="2800" b="1" dirty="0"/>
              <a:t>r+1</a:t>
            </a:r>
            <a:r>
              <a:rPr lang="zh-CN" altLang="en-US" sz="2800" b="1" dirty="0"/>
              <a:t>位</a:t>
            </a:r>
            <a:r>
              <a:rPr lang="zh-CN" altLang="en-US" sz="2800" dirty="0"/>
              <a:t>。</a:t>
            </a:r>
            <a:endParaRPr lang="zh-CN" altLang="en-US" sz="2800" b="1" dirty="0"/>
          </a:p>
        </p:txBody>
      </p:sp>
      <p:sp>
        <p:nvSpPr>
          <p:cNvPr id="57347" name="Line 3"/>
          <p:cNvSpPr>
            <a:spLocks noChangeShapeType="1"/>
          </p:cNvSpPr>
          <p:nvPr/>
        </p:nvSpPr>
        <p:spPr bwMode="auto">
          <a:xfrm>
            <a:off x="2124075" y="3357563"/>
            <a:ext cx="990600" cy="0"/>
          </a:xfrm>
          <a:prstGeom prst="line">
            <a:avLst/>
          </a:prstGeom>
          <a:noFill/>
          <a:ln w="9525">
            <a:solidFill>
              <a:schemeClr val="bg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7348" name="Line 4"/>
          <p:cNvSpPr>
            <a:spLocks noChangeShapeType="1"/>
          </p:cNvSpPr>
          <p:nvPr/>
        </p:nvSpPr>
        <p:spPr bwMode="auto">
          <a:xfrm>
            <a:off x="3419475" y="3357563"/>
            <a:ext cx="990600" cy="0"/>
          </a:xfrm>
          <a:prstGeom prst="line">
            <a:avLst/>
          </a:prstGeom>
          <a:noFill/>
          <a:ln w="9525">
            <a:solidFill>
              <a:schemeClr val="bg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7349" name="Line 5"/>
          <p:cNvSpPr>
            <a:spLocks noChangeShapeType="1"/>
          </p:cNvSpPr>
          <p:nvPr/>
        </p:nvSpPr>
        <p:spPr bwMode="auto">
          <a:xfrm>
            <a:off x="5364163" y="3357563"/>
            <a:ext cx="609600" cy="0"/>
          </a:xfrm>
          <a:prstGeom prst="line">
            <a:avLst/>
          </a:prstGeom>
          <a:noFill/>
          <a:ln w="9525">
            <a:solidFill>
              <a:schemeClr val="bg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Text Box 2"/>
          <p:cNvSpPr txBox="1">
            <a:spLocks noChangeArrowheads="1"/>
          </p:cNvSpPr>
          <p:nvPr/>
        </p:nvSpPr>
        <p:spPr bwMode="auto">
          <a:xfrm>
            <a:off x="76200" y="332656"/>
            <a:ext cx="8915400" cy="32685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lvl="1" algn="just"/>
            <a:r>
              <a:rPr lang="zh-CN" altLang="en-US" sz="2800" b="1" dirty="0"/>
              <a:t>④  将左移</a:t>
            </a:r>
            <a:r>
              <a:rPr lang="en-US" altLang="zh-CN" sz="2800" b="1" dirty="0"/>
              <a:t>r</a:t>
            </a:r>
            <a:r>
              <a:rPr lang="zh-CN" altLang="en-US" sz="2800" b="1" dirty="0"/>
              <a:t>位后的待编有效信息与余数</a:t>
            </a:r>
            <a:r>
              <a:rPr lang="en-US" altLang="zh-CN" sz="2800" b="1" dirty="0"/>
              <a:t>R</a:t>
            </a:r>
            <a:r>
              <a:rPr lang="zh-CN" altLang="en-US" sz="2800" b="1" dirty="0"/>
              <a:t>（</a:t>
            </a:r>
            <a:r>
              <a:rPr lang="en-US" altLang="zh-CN" sz="2800" b="1" dirty="0"/>
              <a:t>x</a:t>
            </a:r>
            <a:r>
              <a:rPr lang="zh-CN" altLang="en-US" sz="2800" b="1" dirty="0"/>
              <a:t>）作模</a:t>
            </a:r>
            <a:r>
              <a:rPr lang="en-US" altLang="zh-CN" sz="2800" b="1" dirty="0"/>
              <a:t>2</a:t>
            </a:r>
            <a:r>
              <a:rPr lang="zh-CN" altLang="en-US" sz="2800" b="1" dirty="0"/>
              <a:t>加，即形成循环校验码：</a:t>
            </a:r>
          </a:p>
          <a:p>
            <a:pPr algn="ctr"/>
            <a:r>
              <a:rPr lang="en-US" altLang="zh-CN" sz="2800" b="1" dirty="0"/>
              <a:t>M</a:t>
            </a:r>
            <a:r>
              <a:rPr lang="zh-CN" altLang="en-US" sz="2800" b="1" dirty="0"/>
              <a:t>（</a:t>
            </a:r>
            <a:r>
              <a:rPr lang="en-US" altLang="zh-CN" sz="2800" b="1" dirty="0"/>
              <a:t>x</a:t>
            </a:r>
            <a:r>
              <a:rPr lang="zh-CN" altLang="en-US" sz="2800" b="1" dirty="0"/>
              <a:t>）</a:t>
            </a:r>
            <a:r>
              <a:rPr lang="en-US" altLang="zh-CN" sz="2800" b="1" dirty="0"/>
              <a:t>·x</a:t>
            </a:r>
            <a:r>
              <a:rPr lang="en-US" altLang="zh-CN" sz="2800" b="1" baseline="42000" dirty="0"/>
              <a:t>3</a:t>
            </a:r>
            <a:r>
              <a:rPr lang="en-US" altLang="zh-CN" sz="2800" b="1" dirty="0"/>
              <a:t>+ R</a:t>
            </a:r>
            <a:r>
              <a:rPr lang="zh-CN" altLang="en-US" sz="2800" b="1" dirty="0"/>
              <a:t>（</a:t>
            </a:r>
            <a:r>
              <a:rPr lang="en-US" altLang="zh-CN" sz="2800" b="1" dirty="0"/>
              <a:t>x</a:t>
            </a:r>
            <a:r>
              <a:rPr lang="zh-CN" altLang="en-US" sz="2800" b="1" dirty="0"/>
              <a:t>）</a:t>
            </a:r>
            <a:r>
              <a:rPr lang="en-US" altLang="zh-CN" sz="2800" b="1" dirty="0"/>
              <a:t>=1100000+010=1100010   </a:t>
            </a:r>
            <a:r>
              <a:rPr lang="zh-CN" altLang="en-US" sz="2800" b="1" dirty="0"/>
              <a:t>（模</a:t>
            </a:r>
            <a:r>
              <a:rPr lang="en-US" altLang="zh-CN" sz="2800" b="1" dirty="0"/>
              <a:t>2</a:t>
            </a:r>
            <a:r>
              <a:rPr lang="zh-CN" altLang="en-US" sz="2800" b="1" dirty="0"/>
              <a:t>加）</a:t>
            </a:r>
          </a:p>
          <a:p>
            <a:pPr lvl="3" algn="just"/>
            <a:r>
              <a:rPr lang="zh-CN" altLang="en-US" sz="2800" b="1" dirty="0"/>
              <a:t>此处编好的循环校验码称为（</a:t>
            </a:r>
            <a:r>
              <a:rPr lang="en-US" altLang="zh-CN" sz="2800" b="1" dirty="0"/>
              <a:t>7</a:t>
            </a:r>
            <a:r>
              <a:rPr lang="zh-CN" altLang="en-US" sz="2800" b="1" dirty="0"/>
              <a:t>，</a:t>
            </a:r>
            <a:r>
              <a:rPr lang="en-US" altLang="zh-CN" sz="2800" b="1" dirty="0"/>
              <a:t>4</a:t>
            </a:r>
            <a:r>
              <a:rPr lang="zh-CN" altLang="en-US" sz="2800" b="1" dirty="0"/>
              <a:t>）码，即</a:t>
            </a:r>
            <a:r>
              <a:rPr lang="en-US" altLang="zh-CN" sz="2800" b="1" dirty="0"/>
              <a:t>K = 7</a:t>
            </a:r>
            <a:r>
              <a:rPr lang="zh-CN" altLang="en-US" sz="2800" b="1" dirty="0"/>
              <a:t>，</a:t>
            </a:r>
            <a:r>
              <a:rPr lang="en-US" altLang="zh-CN" sz="2800" b="1" dirty="0"/>
              <a:t>N = 4 </a:t>
            </a:r>
            <a:r>
              <a:rPr lang="zh-CN" altLang="en-US" sz="2800" b="1" dirty="0"/>
              <a:t>，可向目标部件发送。</a:t>
            </a:r>
          </a:p>
          <a:p>
            <a:pPr lvl="1" algn="just"/>
            <a:r>
              <a:rPr lang="zh-CN" altLang="en-US" sz="2800" b="1" dirty="0"/>
              <a:t>⑤  循环码的译码与纠错</a:t>
            </a:r>
          </a:p>
          <a:p>
            <a:pPr lvl="1" algn="just"/>
            <a:r>
              <a:rPr lang="zh-CN" altLang="en-US" sz="1800" dirty="0"/>
              <a:t>      </a:t>
            </a:r>
          </a:p>
        </p:txBody>
      </p:sp>
      <p:sp>
        <p:nvSpPr>
          <p:cNvPr id="57347" name="Line 3"/>
          <p:cNvSpPr>
            <a:spLocks noChangeShapeType="1"/>
          </p:cNvSpPr>
          <p:nvPr/>
        </p:nvSpPr>
        <p:spPr bwMode="auto">
          <a:xfrm>
            <a:off x="2124075" y="3357563"/>
            <a:ext cx="990600" cy="0"/>
          </a:xfrm>
          <a:prstGeom prst="line">
            <a:avLst/>
          </a:prstGeom>
          <a:noFill/>
          <a:ln w="9525">
            <a:solidFill>
              <a:schemeClr val="bg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7348" name="Line 4"/>
          <p:cNvSpPr>
            <a:spLocks noChangeShapeType="1"/>
          </p:cNvSpPr>
          <p:nvPr/>
        </p:nvSpPr>
        <p:spPr bwMode="auto">
          <a:xfrm>
            <a:off x="3419475" y="3357563"/>
            <a:ext cx="990600" cy="0"/>
          </a:xfrm>
          <a:prstGeom prst="line">
            <a:avLst/>
          </a:prstGeom>
          <a:noFill/>
          <a:ln w="9525">
            <a:solidFill>
              <a:schemeClr val="bg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7349" name="Line 5"/>
          <p:cNvSpPr>
            <a:spLocks noChangeShapeType="1"/>
          </p:cNvSpPr>
          <p:nvPr/>
        </p:nvSpPr>
        <p:spPr bwMode="auto">
          <a:xfrm>
            <a:off x="5364163" y="3357563"/>
            <a:ext cx="609600" cy="0"/>
          </a:xfrm>
          <a:prstGeom prst="line">
            <a:avLst/>
          </a:prstGeom>
          <a:noFill/>
          <a:ln w="9525">
            <a:solidFill>
              <a:schemeClr val="bg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42" name="Text Box 2"/>
          <p:cNvSpPr txBox="1">
            <a:spLocks noChangeArrowheads="1"/>
          </p:cNvSpPr>
          <p:nvPr/>
        </p:nvSpPr>
        <p:spPr bwMode="auto">
          <a:xfrm>
            <a:off x="69850" y="473075"/>
            <a:ext cx="56546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600" dirty="0">
                <a:latin typeface="Times New Roman" panose="02020603050405020304" pitchFamily="18" charset="0"/>
              </a:rPr>
              <a:t>六、光盘存储器</a:t>
            </a:r>
          </a:p>
        </p:txBody>
      </p:sp>
      <p:sp>
        <p:nvSpPr>
          <p:cNvPr id="307203" name="Text Box 3"/>
          <p:cNvSpPr txBox="1">
            <a:spLocks noChangeArrowheads="1"/>
          </p:cNvSpPr>
          <p:nvPr/>
        </p:nvSpPr>
        <p:spPr bwMode="auto">
          <a:xfrm>
            <a:off x="527050" y="1314450"/>
            <a:ext cx="26844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1. 概述</a:t>
            </a:r>
          </a:p>
        </p:txBody>
      </p:sp>
      <p:sp>
        <p:nvSpPr>
          <p:cNvPr id="307204" name="Text Box 4"/>
          <p:cNvSpPr txBox="1">
            <a:spLocks noChangeArrowheads="1"/>
          </p:cNvSpPr>
          <p:nvPr/>
        </p:nvSpPr>
        <p:spPr bwMode="auto">
          <a:xfrm>
            <a:off x="925513" y="2101850"/>
            <a:ext cx="3886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采用光存储技术</a:t>
            </a:r>
          </a:p>
        </p:txBody>
      </p:sp>
      <p:sp>
        <p:nvSpPr>
          <p:cNvPr id="307205" name="Text Box 5"/>
          <p:cNvSpPr txBox="1">
            <a:spLocks noChangeArrowheads="1"/>
          </p:cNvSpPr>
          <p:nvPr/>
        </p:nvSpPr>
        <p:spPr bwMode="auto">
          <a:xfrm>
            <a:off x="4337050" y="2863850"/>
            <a:ext cx="2895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采用非磁性介质</a:t>
            </a:r>
          </a:p>
        </p:txBody>
      </p:sp>
      <p:sp>
        <p:nvSpPr>
          <p:cNvPr id="307206" name="Text Box 6"/>
          <p:cNvSpPr txBox="1">
            <a:spLocks noChangeArrowheads="1"/>
          </p:cNvSpPr>
          <p:nvPr/>
        </p:nvSpPr>
        <p:spPr bwMode="auto">
          <a:xfrm>
            <a:off x="4337050" y="3625850"/>
            <a:ext cx="2895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采用磁性介质</a:t>
            </a:r>
          </a:p>
        </p:txBody>
      </p:sp>
      <p:grpSp>
        <p:nvGrpSpPr>
          <p:cNvPr id="2" name="Group 7"/>
          <p:cNvGrpSpPr/>
          <p:nvPr/>
        </p:nvGrpSpPr>
        <p:grpSpPr bwMode="auto">
          <a:xfrm>
            <a:off x="925513" y="2863850"/>
            <a:ext cx="5038725" cy="1281113"/>
            <a:chOff x="539" y="1804"/>
            <a:chExt cx="3174" cy="807"/>
          </a:xfrm>
        </p:grpSpPr>
        <p:sp>
          <p:nvSpPr>
            <p:cNvPr id="215059" name="Text Box 8"/>
            <p:cNvSpPr txBox="1">
              <a:spLocks noChangeArrowheads="1"/>
            </p:cNvSpPr>
            <p:nvPr/>
          </p:nvSpPr>
          <p:spPr bwMode="auto">
            <a:xfrm>
              <a:off x="539" y="1804"/>
              <a:ext cx="317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第一代光存储技术</a:t>
              </a:r>
            </a:p>
          </p:txBody>
        </p:sp>
        <p:sp>
          <p:nvSpPr>
            <p:cNvPr id="215060" name="Text Box 9"/>
            <p:cNvSpPr txBox="1">
              <a:spLocks noChangeArrowheads="1"/>
            </p:cNvSpPr>
            <p:nvPr/>
          </p:nvSpPr>
          <p:spPr bwMode="auto">
            <a:xfrm>
              <a:off x="539" y="2284"/>
              <a:ext cx="2437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kumimoji="1" sz="800" b="1">
                  <a:solidFill>
                    <a:schemeClr val="tx1"/>
                  </a:solidFill>
                  <a:latin typeface="宋体" panose="02010600030101010101" pitchFamily="2" charset="-122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zh-CN" altLang="en-US" sz="2800">
                  <a:latin typeface="Times New Roman" panose="02020603050405020304" pitchFamily="18" charset="0"/>
                </a:rPr>
                <a:t>第二代光存储技术</a:t>
              </a:r>
            </a:p>
          </p:txBody>
        </p:sp>
      </p:grpSp>
      <p:sp>
        <p:nvSpPr>
          <p:cNvPr id="307210" name="Text Box 10"/>
          <p:cNvSpPr txBox="1">
            <a:spLocks noChangeArrowheads="1"/>
          </p:cNvSpPr>
          <p:nvPr/>
        </p:nvSpPr>
        <p:spPr bwMode="auto">
          <a:xfrm>
            <a:off x="7308850" y="2863850"/>
            <a:ext cx="16065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不可擦写</a:t>
            </a:r>
          </a:p>
        </p:txBody>
      </p:sp>
      <p:sp>
        <p:nvSpPr>
          <p:cNvPr id="307211" name="Text Box 11"/>
          <p:cNvSpPr txBox="1">
            <a:spLocks noChangeArrowheads="1"/>
          </p:cNvSpPr>
          <p:nvPr/>
        </p:nvSpPr>
        <p:spPr bwMode="auto">
          <a:xfrm>
            <a:off x="7308850" y="3625850"/>
            <a:ext cx="12509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可擦写</a:t>
            </a:r>
          </a:p>
        </p:txBody>
      </p:sp>
      <p:sp>
        <p:nvSpPr>
          <p:cNvPr id="307212" name="Text Box 12"/>
          <p:cNvSpPr txBox="1">
            <a:spLocks noChangeArrowheads="1"/>
          </p:cNvSpPr>
          <p:nvPr/>
        </p:nvSpPr>
        <p:spPr bwMode="auto">
          <a:xfrm>
            <a:off x="527050" y="4332288"/>
            <a:ext cx="58293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3200">
                <a:latin typeface="Times New Roman" panose="02020603050405020304" pitchFamily="18" charset="0"/>
              </a:rPr>
              <a:t>2. 光盘的存储原理</a:t>
            </a:r>
          </a:p>
        </p:txBody>
      </p:sp>
      <p:sp>
        <p:nvSpPr>
          <p:cNvPr id="307213" name="Text Box 13"/>
          <p:cNvSpPr txBox="1">
            <a:spLocks noChangeArrowheads="1"/>
          </p:cNvSpPr>
          <p:nvPr/>
        </p:nvSpPr>
        <p:spPr bwMode="auto">
          <a:xfrm>
            <a:off x="925513" y="5119688"/>
            <a:ext cx="5741987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只读型和只写一次型</a:t>
            </a:r>
          </a:p>
        </p:txBody>
      </p:sp>
      <p:sp>
        <p:nvSpPr>
          <p:cNvPr id="307214" name="Text Box 14"/>
          <p:cNvSpPr txBox="1">
            <a:spLocks noChangeArrowheads="1"/>
          </p:cNvSpPr>
          <p:nvPr/>
        </p:nvSpPr>
        <p:spPr bwMode="auto">
          <a:xfrm>
            <a:off x="925513" y="5881688"/>
            <a:ext cx="3328987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latin typeface="Times New Roman" panose="02020603050405020304" pitchFamily="18" charset="0"/>
              </a:rPr>
              <a:t>可擦写光盘</a:t>
            </a:r>
          </a:p>
        </p:txBody>
      </p:sp>
      <p:sp>
        <p:nvSpPr>
          <p:cNvPr id="307215" name="Text Box 15"/>
          <p:cNvSpPr txBox="1">
            <a:spLocks noChangeArrowheads="1"/>
          </p:cNvSpPr>
          <p:nvPr/>
        </p:nvSpPr>
        <p:spPr bwMode="auto">
          <a:xfrm>
            <a:off x="4337050" y="5119688"/>
            <a:ext cx="48069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热作用</a:t>
            </a:r>
            <a:r>
              <a:rPr lang="zh-CN" altLang="en-US" sz="2800">
                <a:latin typeface="Times New Roman" panose="02020603050405020304" pitchFamily="18" charset="0"/>
              </a:rPr>
              <a:t>（物理或化学变化）</a:t>
            </a:r>
          </a:p>
        </p:txBody>
      </p:sp>
      <p:sp>
        <p:nvSpPr>
          <p:cNvPr id="307216" name="Text Box 16"/>
          <p:cNvSpPr txBox="1">
            <a:spLocks noChangeArrowheads="1"/>
          </p:cNvSpPr>
          <p:nvPr/>
        </p:nvSpPr>
        <p:spPr bwMode="auto">
          <a:xfrm>
            <a:off x="4337050" y="5881688"/>
            <a:ext cx="272573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热磁效应</a:t>
            </a:r>
          </a:p>
        </p:txBody>
      </p:sp>
      <p:sp>
        <p:nvSpPr>
          <p:cNvPr id="307217" name="Rectangle 17"/>
          <p:cNvSpPr>
            <a:spLocks noChangeArrowheads="1"/>
          </p:cNvSpPr>
          <p:nvPr/>
        </p:nvSpPr>
        <p:spPr bwMode="auto">
          <a:xfrm>
            <a:off x="7696200" y="152400"/>
            <a:ext cx="1143000" cy="838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92075" tIns="46038" rIns="92075" bIns="46038" anchor="ctr"/>
          <a:lstStyle/>
          <a:p>
            <a:pPr algn="ctr">
              <a:spcBef>
                <a:spcPct val="0"/>
              </a:spcBef>
              <a:defRPr/>
            </a:pPr>
            <a:r>
              <a:rPr lang="zh-CN" alt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</a:rPr>
              <a:t>4.4</a:t>
            </a:r>
          </a:p>
        </p:txBody>
      </p:sp>
      <p:sp>
        <p:nvSpPr>
          <p:cNvPr id="307218" name="Text Box 18"/>
          <p:cNvSpPr txBox="1">
            <a:spLocks noChangeArrowheads="1"/>
          </p:cNvSpPr>
          <p:nvPr/>
        </p:nvSpPr>
        <p:spPr bwMode="auto">
          <a:xfrm>
            <a:off x="4337050" y="2101850"/>
            <a:ext cx="6248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CN" altLang="en-US" sz="2800">
                <a:solidFill>
                  <a:schemeClr val="folHlink"/>
                </a:solidFill>
                <a:latin typeface="Times New Roman" panose="02020603050405020304" pitchFamily="18" charset="0"/>
              </a:rPr>
              <a:t>利用激光写入和读出</a:t>
            </a:r>
          </a:p>
        </p:txBody>
      </p:sp>
      <p:sp>
        <p:nvSpPr>
          <p:cNvPr id="307219" name="AutoShape 19"/>
          <p:cNvSpPr/>
          <p:nvPr/>
        </p:nvSpPr>
        <p:spPr bwMode="auto">
          <a:xfrm>
            <a:off x="755650" y="3048000"/>
            <a:ext cx="228600" cy="990600"/>
          </a:xfrm>
          <a:prstGeom prst="leftBrace">
            <a:avLst>
              <a:gd name="adj1" fmla="val 36111"/>
              <a:gd name="adj2" fmla="val 50000"/>
            </a:avLst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  <p:sp>
        <p:nvSpPr>
          <p:cNvPr id="215058" name="AutoShape 21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89963" y="6516688"/>
            <a:ext cx="539750" cy="333375"/>
          </a:xfrm>
          <a:prstGeom prst="actionButtonEnd">
            <a:avLst/>
          </a:prstGeom>
          <a:solidFill>
            <a:srgbClr val="33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kumimoji="1" sz="800" b="1"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07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307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307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4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22" dur="500"/>
                                        <p:tgtEl>
                                          <p:spTgt spid="307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307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307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307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307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307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307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307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307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307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7203" grpId="0" autoUpdateAnimBg="0"/>
      <p:bldP spid="307204" grpId="0" autoUpdateAnimBg="0"/>
      <p:bldP spid="307205" grpId="0" autoUpdateAnimBg="0"/>
      <p:bldP spid="307206" grpId="0" autoUpdateAnimBg="0"/>
      <p:bldP spid="307210" grpId="0" autoUpdateAnimBg="0"/>
      <p:bldP spid="307211" grpId="0" autoUpdateAnimBg="0"/>
      <p:bldP spid="307212" grpId="0" autoUpdateAnimBg="0"/>
      <p:bldP spid="307213" grpId="0" autoUpdateAnimBg="0"/>
      <p:bldP spid="307214" grpId="0" autoUpdateAnimBg="0"/>
      <p:bldP spid="307215" grpId="0" autoUpdateAnimBg="0"/>
      <p:bldP spid="307216" grpId="0" autoUpdateAnimBg="0"/>
      <p:bldP spid="307218" grpId="0" autoUpdateAnimBg="0"/>
      <p:bldP spid="307219" grpId="0" animBg="1"/>
    </p:bldLst>
  </p:timing>
</p:sld>
</file>

<file path=ppt/theme/theme1.xml><?xml version="1.0" encoding="utf-8"?>
<a:theme xmlns:a="http://schemas.openxmlformats.org/drawingml/2006/main" name="Soaring">
  <a:themeElements>
    <a:clrScheme name="Soaring 6">
      <a:dk1>
        <a:srgbClr val="000000"/>
      </a:dk1>
      <a:lt1>
        <a:srgbClr val="FFFFFF"/>
      </a:lt1>
      <a:dk2>
        <a:srgbClr val="0000FF"/>
      </a:dk2>
      <a:lt2>
        <a:srgbClr val="FFCC66"/>
      </a:lt2>
      <a:accent1>
        <a:srgbClr val="00FFFF"/>
      </a:accent1>
      <a:accent2>
        <a:srgbClr val="3366FF"/>
      </a:accent2>
      <a:accent3>
        <a:srgbClr val="AAAAFF"/>
      </a:accent3>
      <a:accent4>
        <a:srgbClr val="DADADA"/>
      </a:accent4>
      <a:accent5>
        <a:srgbClr val="AAFFFF"/>
      </a:accent5>
      <a:accent6>
        <a:srgbClr val="2D5CE7"/>
      </a:accent6>
      <a:hlink>
        <a:srgbClr val="FFFFFF"/>
      </a:hlink>
      <a:folHlink>
        <a:srgbClr val="FFFF00"/>
      </a:folHlink>
    </a:clrScheme>
    <a:fontScheme name="Soaring">
      <a:majorFont>
        <a:latin typeface="Arial"/>
        <a:ea typeface="宋体"/>
        <a:cs typeface=""/>
      </a:majorFont>
      <a:minorFont>
        <a:latin typeface="Times New Roman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</a:spPr>
      <a:bodyPr vert="horz" wrap="none" lIns="91440" tIns="45720" rIns="91440" bIns="45720" numCol="1" anchor="t" anchorCtr="0" compatLnSpc="1">
        <a:spAutoFit/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20000"/>
          </a:spcBef>
          <a:spcAft>
            <a:spcPct val="0"/>
          </a:spcAft>
          <a:buClrTx/>
          <a:buSzTx/>
          <a:buFontTx/>
          <a:buNone/>
          <a:defRPr kumimoji="1" lang="en-US" sz="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宋体" panose="02010600030101010101" pitchFamily="2" charset="-122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</a:spPr>
      <a:bodyPr vert="horz" wrap="none" lIns="91440" tIns="45720" rIns="91440" bIns="45720" numCol="1" anchor="t" anchorCtr="0" compatLnSpc="1">
        <a:spAutoFit/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20000"/>
          </a:spcBef>
          <a:spcAft>
            <a:spcPct val="0"/>
          </a:spcAft>
          <a:buClrTx/>
          <a:buSzTx/>
          <a:buFontTx/>
          <a:buNone/>
          <a:defRPr kumimoji="1" lang="en-US" sz="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宋体" panose="02010600030101010101" pitchFamily="2" charset="-122"/>
            <a:ea typeface="宋体" panose="02010600030101010101" pitchFamily="2" charset="-122"/>
          </a:defRPr>
        </a:defPPr>
      </a:lstStyle>
    </a:lnDef>
  </a:objectDefaults>
  <a:extraClrSchemeLst>
    <a:extraClrScheme>
      <a:clrScheme name="Soaring 1">
        <a:dk1>
          <a:srgbClr val="000000"/>
        </a:dk1>
        <a:lt1>
          <a:srgbClr val="FFFFFF"/>
        </a:lt1>
        <a:dk2>
          <a:srgbClr val="0000FF"/>
        </a:dk2>
        <a:lt2>
          <a:srgbClr val="FFCC66"/>
        </a:lt2>
        <a:accent1>
          <a:srgbClr val="00FFFF"/>
        </a:accent1>
        <a:accent2>
          <a:srgbClr val="3366FF"/>
        </a:accent2>
        <a:accent3>
          <a:srgbClr val="AAAAFF"/>
        </a:accent3>
        <a:accent4>
          <a:srgbClr val="DADADA"/>
        </a:accent4>
        <a:accent5>
          <a:srgbClr val="AAFFFF"/>
        </a:accent5>
        <a:accent6>
          <a:srgbClr val="2D5CE7"/>
        </a:accent6>
        <a:hlink>
          <a:srgbClr val="FF0033"/>
        </a:hlink>
        <a:folHlink>
          <a:srgbClr val="FF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oaring 2">
        <a:dk1>
          <a:srgbClr val="000000"/>
        </a:dk1>
        <a:lt1>
          <a:srgbClr val="FFFFFF"/>
        </a:lt1>
        <a:dk2>
          <a:srgbClr val="000000"/>
        </a:dk2>
        <a:lt2>
          <a:srgbClr val="CCECFF"/>
        </a:lt2>
        <a:accent1>
          <a:srgbClr val="6699FF"/>
        </a:accent1>
        <a:accent2>
          <a:srgbClr val="66CCFF"/>
        </a:accent2>
        <a:accent3>
          <a:srgbClr val="FFFFFF"/>
        </a:accent3>
        <a:accent4>
          <a:srgbClr val="000000"/>
        </a:accent4>
        <a:accent5>
          <a:srgbClr val="B8CAFF"/>
        </a:accent5>
        <a:accent6>
          <a:srgbClr val="5CB9E7"/>
        </a:accent6>
        <a:hlink>
          <a:srgbClr val="CC99FF"/>
        </a:hlink>
        <a:folHlink>
          <a:srgbClr val="00CC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oaring 3">
        <a:dk1>
          <a:srgbClr val="000000"/>
        </a:dk1>
        <a:lt1>
          <a:srgbClr val="FFFFFF"/>
        </a:lt1>
        <a:dk2>
          <a:srgbClr val="000000"/>
        </a:dk2>
        <a:lt2>
          <a:srgbClr val="FFFFFF"/>
        </a:lt2>
        <a:accent1>
          <a:srgbClr val="CBCBCB"/>
        </a:accent1>
        <a:accent2>
          <a:srgbClr val="EAEAEA"/>
        </a:accent2>
        <a:accent3>
          <a:srgbClr val="FFFFFF"/>
        </a:accent3>
        <a:accent4>
          <a:srgbClr val="000000"/>
        </a:accent4>
        <a:accent5>
          <a:srgbClr val="E2E2E2"/>
        </a:accent5>
        <a:accent6>
          <a:srgbClr val="D4D4D4"/>
        </a:accent6>
        <a:hlink>
          <a:srgbClr val="5F5F5F"/>
        </a:hlink>
        <a:folHlink>
          <a:srgbClr val="96969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oaring 4">
        <a:dk1>
          <a:srgbClr val="000000"/>
        </a:dk1>
        <a:lt1>
          <a:srgbClr val="FFFFFF"/>
        </a:lt1>
        <a:dk2>
          <a:srgbClr val="008080"/>
        </a:dk2>
        <a:lt2>
          <a:srgbClr val="FFCC66"/>
        </a:lt2>
        <a:accent1>
          <a:srgbClr val="0099CC"/>
        </a:accent1>
        <a:accent2>
          <a:srgbClr val="009999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8A8A"/>
        </a:accent6>
        <a:hlink>
          <a:srgbClr val="6600CC"/>
        </a:hlink>
        <a:folHlink>
          <a:srgbClr val="FF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oaring 5">
        <a:dk1>
          <a:srgbClr val="000000"/>
        </a:dk1>
        <a:lt1>
          <a:srgbClr val="FFFFFF"/>
        </a:lt1>
        <a:dk2>
          <a:srgbClr val="993300"/>
        </a:dk2>
        <a:lt2>
          <a:srgbClr val="FFCC66"/>
        </a:lt2>
        <a:accent1>
          <a:srgbClr val="FF6633"/>
        </a:accent1>
        <a:accent2>
          <a:srgbClr val="CC6600"/>
        </a:accent2>
        <a:accent3>
          <a:srgbClr val="CAADAA"/>
        </a:accent3>
        <a:accent4>
          <a:srgbClr val="DADADA"/>
        </a:accent4>
        <a:accent5>
          <a:srgbClr val="FFB8AD"/>
        </a:accent5>
        <a:accent6>
          <a:srgbClr val="B95C00"/>
        </a:accent6>
        <a:hlink>
          <a:srgbClr val="CC0000"/>
        </a:hlink>
        <a:folHlink>
          <a:srgbClr val="FF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oaring 6">
        <a:dk1>
          <a:srgbClr val="000000"/>
        </a:dk1>
        <a:lt1>
          <a:srgbClr val="FFFFFF"/>
        </a:lt1>
        <a:dk2>
          <a:srgbClr val="0000FF"/>
        </a:dk2>
        <a:lt2>
          <a:srgbClr val="FFCC66"/>
        </a:lt2>
        <a:accent1>
          <a:srgbClr val="00FFFF"/>
        </a:accent1>
        <a:accent2>
          <a:srgbClr val="3366FF"/>
        </a:accent2>
        <a:accent3>
          <a:srgbClr val="AAAAFF"/>
        </a:accent3>
        <a:accent4>
          <a:srgbClr val="DADADA"/>
        </a:accent4>
        <a:accent5>
          <a:srgbClr val="AAFFFF"/>
        </a:accent5>
        <a:accent6>
          <a:srgbClr val="2D5CE7"/>
        </a:accent6>
        <a:hlink>
          <a:srgbClr val="FFFFFF"/>
        </a:hlink>
        <a:folHlink>
          <a:srgbClr val="FFFF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C:\Program Files\Microsoft Office\Templates\Presentation Designs\Soaring.pot</Template>
  <TotalTime>74</TotalTime>
  <Words>9990</Words>
  <Application>Microsoft Office PowerPoint</Application>
  <PresentationFormat>全屏显示(4:3)</PresentationFormat>
  <Paragraphs>4414</Paragraphs>
  <Slides>122</Slides>
  <Notes>0</Notes>
  <HiddenSlides>0</HiddenSlides>
  <MMClips>0</MMClips>
  <ScaleCrop>false</ScaleCrop>
  <HeadingPairs>
    <vt:vector size="8" baseType="variant">
      <vt:variant>
        <vt:lpstr>已用的字体</vt:lpstr>
      </vt:variant>
      <vt:variant>
        <vt:i4>6</vt:i4>
      </vt:variant>
      <vt:variant>
        <vt:lpstr>主题</vt:lpstr>
      </vt:variant>
      <vt:variant>
        <vt:i4>1</vt:i4>
      </vt:variant>
      <vt:variant>
        <vt:lpstr>嵌入 OLE 服务器</vt:lpstr>
      </vt:variant>
      <vt:variant>
        <vt:i4>2</vt:i4>
      </vt:variant>
      <vt:variant>
        <vt:lpstr>幻灯片标题</vt:lpstr>
      </vt:variant>
      <vt:variant>
        <vt:i4>122</vt:i4>
      </vt:variant>
    </vt:vector>
  </HeadingPairs>
  <TitlesOfParts>
    <vt:vector size="131" baseType="lpstr">
      <vt:lpstr>宋体</vt:lpstr>
      <vt:lpstr>Arial</vt:lpstr>
      <vt:lpstr>Cambria Math</vt:lpstr>
      <vt:lpstr>Symbol</vt:lpstr>
      <vt:lpstr>Times New Roman</vt:lpstr>
      <vt:lpstr>Wingdings</vt:lpstr>
      <vt:lpstr>Soaring</vt:lpstr>
      <vt:lpstr>Visio</vt:lpstr>
      <vt:lpstr>Image</vt:lpstr>
      <vt:lpstr>第４章  存 储 器</vt:lpstr>
      <vt:lpstr>4.1  概  述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4.2 主存储器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4.3   高速缓冲存储器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4.4   辅助存储器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Administrator</dc:creator>
  <cp:lastModifiedBy>建军 陈</cp:lastModifiedBy>
  <cp:revision>1606</cp:revision>
  <dcterms:created xsi:type="dcterms:W3CDTF">2113-01-01T00:00:00Z</dcterms:created>
  <dcterms:modified xsi:type="dcterms:W3CDTF">2023-04-02T05:03:41Z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2052-11.1.0.10314</vt:lpwstr>
  </property>
</Properties>
</file>