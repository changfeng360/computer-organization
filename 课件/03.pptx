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98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fontAlgn="base">
      <a:spcBef>
        <a:spcPct val="2000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3366FF"/>
    <a:srgbClr val="00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69" autoAdjust="0"/>
  </p:normalViewPr>
  <p:slideViewPr>
    <p:cSldViewPr>
      <p:cViewPr>
        <p:scale>
          <a:sx n="66" d="100"/>
          <a:sy n="66" d="100"/>
        </p:scale>
        <p:origin x="-1692" y="-4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1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1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30550649-FC3D-4FAC-BB2F-54F55FFCF68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B98692AE-62EC-4E1B-8159-27DF0A21A227}" type="slidenum">
              <a:rPr lang="zh-CN" altLang="en-US" sz="1200" smtClean="0"/>
            </a:fld>
            <a:endParaRPr lang="en-US" altLang="zh-CN" sz="1200" smtClean="0"/>
          </a:p>
        </p:txBody>
      </p:sp>
      <p:sp>
        <p:nvSpPr>
          <p:cNvPr id="572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2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B48AD083-4D9D-40F0-A224-A8BBCC1B9264}" type="slidenum">
              <a:rPr lang="zh-CN" altLang="en-US" sz="1200" smtClean="0"/>
            </a:fld>
            <a:endParaRPr lang="en-US" altLang="zh-CN" sz="1200" smtClean="0"/>
          </a:p>
        </p:txBody>
      </p:sp>
      <p:sp>
        <p:nvSpPr>
          <p:cNvPr id="573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B48AD083-4D9D-40F0-A224-A8BBCC1B9264}" type="slidenum">
              <a:rPr lang="zh-CN" altLang="en-US" sz="1200" smtClean="0"/>
            </a:fld>
            <a:endParaRPr lang="en-US" altLang="zh-CN" sz="1200" smtClean="0"/>
          </a:p>
        </p:txBody>
      </p:sp>
      <p:sp>
        <p:nvSpPr>
          <p:cNvPr id="573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5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024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57D9F-2C5B-48C1-BCBC-773FD3384E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6E577-465E-4E12-B30A-BF255CC9195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326F6-2E5F-4FE5-B483-9061D400BE7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44D0F-02FA-440D-A81A-E623C3BAEC7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E95A1E-E181-4687-A685-12B2E68C811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7A551-B9DB-42E4-80F4-07C97BEA302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5D4DA-973C-433F-9B32-C23BE42A2E0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63D7B-4F01-40B5-9AB0-8D00382E3C9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1571C-9CF3-4301-8F68-B96C5CC209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22EBF-3BA7-47E0-B421-D14782701C6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3DABC-C187-4421-883B-C860F0B5AF3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49AD7-8C08-48B5-9FB4-670039697B2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/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9219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220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spcBef>
                <a:spcPct val="0"/>
              </a:spcBef>
              <a:defRPr kumimoji="0"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spcBef>
                <a:spcPct val="0"/>
              </a:spcBef>
              <a:defRPr kumimoji="0"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spcBef>
                <a:spcPct val="0"/>
              </a:spcBef>
              <a:defRPr kumimoji="0" sz="1400" b="0">
                <a:latin typeface="+mn-lt"/>
              </a:defRPr>
            </a:lvl1pPr>
          </a:lstStyle>
          <a:p>
            <a:pPr>
              <a:defRPr/>
            </a:pPr>
            <a:fld id="{609450D5-E6C3-4252-A487-353504D44C20}" type="slidenum">
              <a:rPr lang="zh-CN" altLang="en-US"/>
            </a:fld>
            <a:endParaRPr lang="en-US" altLang="zh-CN"/>
          </a:p>
        </p:txBody>
      </p:sp>
      <p:sp>
        <p:nvSpPr>
          <p:cNvPr id="615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smtClean="0"/>
              <a:t>第３章  系统总线</a:t>
            </a:r>
            <a:endParaRPr lang="zh-CN" altLang="en-US" b="1" smtClean="0"/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2620963" y="1981200"/>
            <a:ext cx="36496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  <a:hlinkClick r:id="" action="ppaction://noaction"/>
              </a:rPr>
              <a:t>3.1 总线的基本概念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2620963" y="2819400"/>
            <a:ext cx="28336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  <a:hlinkClick r:id="" action="ppaction://noaction"/>
              </a:rPr>
              <a:t>3.2 总线的分类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2620963" y="3657600"/>
            <a:ext cx="44656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  <a:hlinkClick r:id="" action="ppaction://noaction"/>
              </a:rPr>
              <a:t>3.3 总线特性及性能指标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2620963" y="4495800"/>
            <a:ext cx="2425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  <a:hlinkClick r:id="" action="ppaction://noaction"/>
              </a:rPr>
              <a:t>3.4 总线结构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2620963" y="5334000"/>
            <a:ext cx="2425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  <a:hlinkClick r:id="" action="ppaction://noaction"/>
              </a:rPr>
              <a:t>3.5 总线控制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68616" name="AutoShape 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89963" y="6502400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239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smtClean="0"/>
              <a:t>3.1  总线的基本概念</a:t>
            </a:r>
            <a:endParaRPr lang="en-US" altLang="zh-CN" b="1" smtClean="0"/>
          </a:p>
        </p:txBody>
      </p:sp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593725" y="1163638"/>
            <a:ext cx="38560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一、为什么要用总线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593725" y="1905000"/>
            <a:ext cx="3040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二、什么是总线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593725" y="3962400"/>
            <a:ext cx="4264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三、总线上信息的传送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1392238" y="2643188"/>
            <a:ext cx="6761162" cy="1158875"/>
            <a:chOff x="877" y="1665"/>
            <a:chExt cx="4259" cy="730"/>
          </a:xfrm>
        </p:grpSpPr>
        <p:sp>
          <p:nvSpPr>
            <p:cNvPr id="69742" name="Text Box 7"/>
            <p:cNvSpPr txBox="1">
              <a:spLocks noChangeArrowheads="1"/>
            </p:cNvSpPr>
            <p:nvPr/>
          </p:nvSpPr>
          <p:spPr bwMode="auto">
            <a:xfrm>
              <a:off x="877" y="1665"/>
              <a:ext cx="42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总线是连接各个部件的信息传输线，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9743" name="Text Box 8"/>
            <p:cNvSpPr txBox="1">
              <a:spLocks noChangeArrowheads="1"/>
            </p:cNvSpPr>
            <p:nvPr/>
          </p:nvSpPr>
          <p:spPr bwMode="auto">
            <a:xfrm>
              <a:off x="893" y="2068"/>
              <a:ext cx="395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是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各个部件共享的传输介质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56681" name="Line 9"/>
          <p:cNvSpPr>
            <a:spLocks noChangeShapeType="1"/>
          </p:cNvSpPr>
          <p:nvPr/>
        </p:nvSpPr>
        <p:spPr bwMode="auto">
          <a:xfrm>
            <a:off x="3505200" y="4876800"/>
            <a:ext cx="228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6682" name="Line 10"/>
          <p:cNvSpPr>
            <a:spLocks noChangeShapeType="1"/>
          </p:cNvSpPr>
          <p:nvPr/>
        </p:nvSpPr>
        <p:spPr bwMode="auto">
          <a:xfrm>
            <a:off x="3810000" y="4876800"/>
            <a:ext cx="228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6683" name="Line 11"/>
          <p:cNvSpPr>
            <a:spLocks noChangeShapeType="1"/>
          </p:cNvSpPr>
          <p:nvPr/>
        </p:nvSpPr>
        <p:spPr bwMode="auto">
          <a:xfrm>
            <a:off x="4114800" y="4876800"/>
            <a:ext cx="228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6684" name="Line 12"/>
          <p:cNvSpPr>
            <a:spLocks noChangeShapeType="1"/>
          </p:cNvSpPr>
          <p:nvPr/>
        </p:nvSpPr>
        <p:spPr bwMode="auto">
          <a:xfrm>
            <a:off x="4419600" y="4876800"/>
            <a:ext cx="228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6685" name="Line 13"/>
          <p:cNvSpPr>
            <a:spLocks noChangeShapeType="1"/>
          </p:cNvSpPr>
          <p:nvPr/>
        </p:nvSpPr>
        <p:spPr bwMode="auto">
          <a:xfrm>
            <a:off x="4724400" y="4876800"/>
            <a:ext cx="228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6686" name="Line 14"/>
          <p:cNvSpPr>
            <a:spLocks noChangeShapeType="1"/>
          </p:cNvSpPr>
          <p:nvPr/>
        </p:nvSpPr>
        <p:spPr bwMode="auto">
          <a:xfrm>
            <a:off x="5029200" y="4876800"/>
            <a:ext cx="228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6687" name="Line 15"/>
          <p:cNvSpPr>
            <a:spLocks noChangeShapeType="1"/>
          </p:cNvSpPr>
          <p:nvPr/>
        </p:nvSpPr>
        <p:spPr bwMode="auto">
          <a:xfrm>
            <a:off x="5334000" y="4876800"/>
            <a:ext cx="228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6688" name="Line 16"/>
          <p:cNvSpPr>
            <a:spLocks noChangeShapeType="1"/>
          </p:cNvSpPr>
          <p:nvPr/>
        </p:nvSpPr>
        <p:spPr bwMode="auto">
          <a:xfrm>
            <a:off x="5638800" y="4876800"/>
            <a:ext cx="228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6689" name="Line 17"/>
          <p:cNvSpPr>
            <a:spLocks noChangeShapeType="1"/>
          </p:cNvSpPr>
          <p:nvPr/>
        </p:nvSpPr>
        <p:spPr bwMode="auto">
          <a:xfrm>
            <a:off x="5943600" y="4876800"/>
            <a:ext cx="228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6690" name="Line 18"/>
          <p:cNvSpPr>
            <a:spLocks noChangeShapeType="1"/>
          </p:cNvSpPr>
          <p:nvPr/>
        </p:nvSpPr>
        <p:spPr bwMode="auto">
          <a:xfrm>
            <a:off x="6248400" y="4876800"/>
            <a:ext cx="2286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6691" name="Text Box 19"/>
          <p:cNvSpPr txBox="1">
            <a:spLocks noChangeArrowheads="1"/>
          </p:cNvSpPr>
          <p:nvPr/>
        </p:nvSpPr>
        <p:spPr bwMode="auto">
          <a:xfrm>
            <a:off x="2076450" y="466248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串行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" name="Group 20"/>
          <p:cNvGrpSpPr/>
          <p:nvPr/>
        </p:nvGrpSpPr>
        <p:grpSpPr bwMode="auto">
          <a:xfrm>
            <a:off x="3505200" y="5334000"/>
            <a:ext cx="228600" cy="990600"/>
            <a:chOff x="2016" y="1824"/>
            <a:chExt cx="144" cy="624"/>
          </a:xfrm>
        </p:grpSpPr>
        <p:sp>
          <p:nvSpPr>
            <p:cNvPr id="69734" name="Line 21"/>
            <p:cNvSpPr>
              <a:spLocks noChangeShapeType="1"/>
            </p:cNvSpPr>
            <p:nvPr/>
          </p:nvSpPr>
          <p:spPr bwMode="auto">
            <a:xfrm>
              <a:off x="2016" y="235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35" name="Line 22"/>
            <p:cNvSpPr>
              <a:spLocks noChangeShapeType="1"/>
            </p:cNvSpPr>
            <p:nvPr/>
          </p:nvSpPr>
          <p:spPr bwMode="auto">
            <a:xfrm>
              <a:off x="2016" y="244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36" name="Line 23"/>
            <p:cNvSpPr>
              <a:spLocks noChangeShapeType="1"/>
            </p:cNvSpPr>
            <p:nvPr/>
          </p:nvSpPr>
          <p:spPr bwMode="auto">
            <a:xfrm>
              <a:off x="2016" y="2269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37" name="Line 24"/>
            <p:cNvSpPr>
              <a:spLocks noChangeShapeType="1"/>
            </p:cNvSpPr>
            <p:nvPr/>
          </p:nvSpPr>
          <p:spPr bwMode="auto">
            <a:xfrm>
              <a:off x="2016" y="2180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38" name="Line 25"/>
            <p:cNvSpPr>
              <a:spLocks noChangeShapeType="1"/>
            </p:cNvSpPr>
            <p:nvPr/>
          </p:nvSpPr>
          <p:spPr bwMode="auto">
            <a:xfrm>
              <a:off x="2016" y="2002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39" name="Line 26"/>
            <p:cNvSpPr>
              <a:spLocks noChangeShapeType="1"/>
            </p:cNvSpPr>
            <p:nvPr/>
          </p:nvSpPr>
          <p:spPr bwMode="auto">
            <a:xfrm>
              <a:off x="2016" y="2091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40" name="Line 27"/>
            <p:cNvSpPr>
              <a:spLocks noChangeShapeType="1"/>
            </p:cNvSpPr>
            <p:nvPr/>
          </p:nvSpPr>
          <p:spPr bwMode="auto">
            <a:xfrm>
              <a:off x="2016" y="1913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41" name="Line 28"/>
            <p:cNvSpPr>
              <a:spLocks noChangeShapeType="1"/>
            </p:cNvSpPr>
            <p:nvPr/>
          </p:nvSpPr>
          <p:spPr bwMode="auto">
            <a:xfrm>
              <a:off x="2016" y="1824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29"/>
          <p:cNvGrpSpPr/>
          <p:nvPr/>
        </p:nvGrpSpPr>
        <p:grpSpPr bwMode="auto">
          <a:xfrm>
            <a:off x="3810000" y="5334000"/>
            <a:ext cx="228600" cy="990600"/>
            <a:chOff x="2016" y="1824"/>
            <a:chExt cx="144" cy="624"/>
          </a:xfrm>
        </p:grpSpPr>
        <p:sp>
          <p:nvSpPr>
            <p:cNvPr id="69726" name="Line 30"/>
            <p:cNvSpPr>
              <a:spLocks noChangeShapeType="1"/>
            </p:cNvSpPr>
            <p:nvPr/>
          </p:nvSpPr>
          <p:spPr bwMode="auto">
            <a:xfrm>
              <a:off x="2016" y="235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27" name="Line 31"/>
            <p:cNvSpPr>
              <a:spLocks noChangeShapeType="1"/>
            </p:cNvSpPr>
            <p:nvPr/>
          </p:nvSpPr>
          <p:spPr bwMode="auto">
            <a:xfrm>
              <a:off x="2016" y="244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28" name="Line 32"/>
            <p:cNvSpPr>
              <a:spLocks noChangeShapeType="1"/>
            </p:cNvSpPr>
            <p:nvPr/>
          </p:nvSpPr>
          <p:spPr bwMode="auto">
            <a:xfrm>
              <a:off x="2016" y="2269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29" name="Line 33"/>
            <p:cNvSpPr>
              <a:spLocks noChangeShapeType="1"/>
            </p:cNvSpPr>
            <p:nvPr/>
          </p:nvSpPr>
          <p:spPr bwMode="auto">
            <a:xfrm>
              <a:off x="2016" y="2180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30" name="Line 34"/>
            <p:cNvSpPr>
              <a:spLocks noChangeShapeType="1"/>
            </p:cNvSpPr>
            <p:nvPr/>
          </p:nvSpPr>
          <p:spPr bwMode="auto">
            <a:xfrm>
              <a:off x="2016" y="2002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31" name="Line 35"/>
            <p:cNvSpPr>
              <a:spLocks noChangeShapeType="1"/>
            </p:cNvSpPr>
            <p:nvPr/>
          </p:nvSpPr>
          <p:spPr bwMode="auto">
            <a:xfrm>
              <a:off x="2016" y="2091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32" name="Line 36"/>
            <p:cNvSpPr>
              <a:spLocks noChangeShapeType="1"/>
            </p:cNvSpPr>
            <p:nvPr/>
          </p:nvSpPr>
          <p:spPr bwMode="auto">
            <a:xfrm>
              <a:off x="2016" y="1913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33" name="Line 37"/>
            <p:cNvSpPr>
              <a:spLocks noChangeShapeType="1"/>
            </p:cNvSpPr>
            <p:nvPr/>
          </p:nvSpPr>
          <p:spPr bwMode="auto">
            <a:xfrm>
              <a:off x="2016" y="1824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38"/>
          <p:cNvGrpSpPr/>
          <p:nvPr/>
        </p:nvGrpSpPr>
        <p:grpSpPr bwMode="auto">
          <a:xfrm>
            <a:off x="4114800" y="5334000"/>
            <a:ext cx="228600" cy="990600"/>
            <a:chOff x="2016" y="1824"/>
            <a:chExt cx="144" cy="624"/>
          </a:xfrm>
        </p:grpSpPr>
        <p:sp>
          <p:nvSpPr>
            <p:cNvPr id="69718" name="Line 39"/>
            <p:cNvSpPr>
              <a:spLocks noChangeShapeType="1"/>
            </p:cNvSpPr>
            <p:nvPr/>
          </p:nvSpPr>
          <p:spPr bwMode="auto">
            <a:xfrm>
              <a:off x="2016" y="235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19" name="Line 40"/>
            <p:cNvSpPr>
              <a:spLocks noChangeShapeType="1"/>
            </p:cNvSpPr>
            <p:nvPr/>
          </p:nvSpPr>
          <p:spPr bwMode="auto">
            <a:xfrm>
              <a:off x="2016" y="244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20" name="Line 41"/>
            <p:cNvSpPr>
              <a:spLocks noChangeShapeType="1"/>
            </p:cNvSpPr>
            <p:nvPr/>
          </p:nvSpPr>
          <p:spPr bwMode="auto">
            <a:xfrm>
              <a:off x="2016" y="2269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21" name="Line 42"/>
            <p:cNvSpPr>
              <a:spLocks noChangeShapeType="1"/>
            </p:cNvSpPr>
            <p:nvPr/>
          </p:nvSpPr>
          <p:spPr bwMode="auto">
            <a:xfrm>
              <a:off x="2016" y="2180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22" name="Line 43"/>
            <p:cNvSpPr>
              <a:spLocks noChangeShapeType="1"/>
            </p:cNvSpPr>
            <p:nvPr/>
          </p:nvSpPr>
          <p:spPr bwMode="auto">
            <a:xfrm>
              <a:off x="2016" y="2002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23" name="Line 44"/>
            <p:cNvSpPr>
              <a:spLocks noChangeShapeType="1"/>
            </p:cNvSpPr>
            <p:nvPr/>
          </p:nvSpPr>
          <p:spPr bwMode="auto">
            <a:xfrm>
              <a:off x="2016" y="2091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24" name="Line 45"/>
            <p:cNvSpPr>
              <a:spLocks noChangeShapeType="1"/>
            </p:cNvSpPr>
            <p:nvPr/>
          </p:nvSpPr>
          <p:spPr bwMode="auto">
            <a:xfrm>
              <a:off x="2016" y="1913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25" name="Line 46"/>
            <p:cNvSpPr>
              <a:spLocks noChangeShapeType="1"/>
            </p:cNvSpPr>
            <p:nvPr/>
          </p:nvSpPr>
          <p:spPr bwMode="auto">
            <a:xfrm>
              <a:off x="2016" y="1824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47"/>
          <p:cNvGrpSpPr/>
          <p:nvPr/>
        </p:nvGrpSpPr>
        <p:grpSpPr bwMode="auto">
          <a:xfrm>
            <a:off x="4419600" y="5334000"/>
            <a:ext cx="228600" cy="990600"/>
            <a:chOff x="2016" y="1824"/>
            <a:chExt cx="144" cy="624"/>
          </a:xfrm>
        </p:grpSpPr>
        <p:sp>
          <p:nvSpPr>
            <p:cNvPr id="69710" name="Line 48"/>
            <p:cNvSpPr>
              <a:spLocks noChangeShapeType="1"/>
            </p:cNvSpPr>
            <p:nvPr/>
          </p:nvSpPr>
          <p:spPr bwMode="auto">
            <a:xfrm>
              <a:off x="2016" y="235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11" name="Line 49"/>
            <p:cNvSpPr>
              <a:spLocks noChangeShapeType="1"/>
            </p:cNvSpPr>
            <p:nvPr/>
          </p:nvSpPr>
          <p:spPr bwMode="auto">
            <a:xfrm>
              <a:off x="2016" y="244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12" name="Line 50"/>
            <p:cNvSpPr>
              <a:spLocks noChangeShapeType="1"/>
            </p:cNvSpPr>
            <p:nvPr/>
          </p:nvSpPr>
          <p:spPr bwMode="auto">
            <a:xfrm>
              <a:off x="2016" y="2269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13" name="Line 51"/>
            <p:cNvSpPr>
              <a:spLocks noChangeShapeType="1"/>
            </p:cNvSpPr>
            <p:nvPr/>
          </p:nvSpPr>
          <p:spPr bwMode="auto">
            <a:xfrm>
              <a:off x="2016" y="2180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14" name="Line 52"/>
            <p:cNvSpPr>
              <a:spLocks noChangeShapeType="1"/>
            </p:cNvSpPr>
            <p:nvPr/>
          </p:nvSpPr>
          <p:spPr bwMode="auto">
            <a:xfrm>
              <a:off x="2016" y="2002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15" name="Line 53"/>
            <p:cNvSpPr>
              <a:spLocks noChangeShapeType="1"/>
            </p:cNvSpPr>
            <p:nvPr/>
          </p:nvSpPr>
          <p:spPr bwMode="auto">
            <a:xfrm>
              <a:off x="2016" y="2091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16" name="Line 54"/>
            <p:cNvSpPr>
              <a:spLocks noChangeShapeType="1"/>
            </p:cNvSpPr>
            <p:nvPr/>
          </p:nvSpPr>
          <p:spPr bwMode="auto">
            <a:xfrm>
              <a:off x="2016" y="1913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17" name="Line 55"/>
            <p:cNvSpPr>
              <a:spLocks noChangeShapeType="1"/>
            </p:cNvSpPr>
            <p:nvPr/>
          </p:nvSpPr>
          <p:spPr bwMode="auto">
            <a:xfrm>
              <a:off x="2016" y="1824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" name="Group 56"/>
          <p:cNvGrpSpPr/>
          <p:nvPr/>
        </p:nvGrpSpPr>
        <p:grpSpPr bwMode="auto">
          <a:xfrm>
            <a:off x="4724400" y="5334000"/>
            <a:ext cx="228600" cy="990600"/>
            <a:chOff x="2016" y="1824"/>
            <a:chExt cx="144" cy="624"/>
          </a:xfrm>
        </p:grpSpPr>
        <p:sp>
          <p:nvSpPr>
            <p:cNvPr id="69702" name="Line 57"/>
            <p:cNvSpPr>
              <a:spLocks noChangeShapeType="1"/>
            </p:cNvSpPr>
            <p:nvPr/>
          </p:nvSpPr>
          <p:spPr bwMode="auto">
            <a:xfrm>
              <a:off x="2016" y="235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03" name="Line 58"/>
            <p:cNvSpPr>
              <a:spLocks noChangeShapeType="1"/>
            </p:cNvSpPr>
            <p:nvPr/>
          </p:nvSpPr>
          <p:spPr bwMode="auto">
            <a:xfrm>
              <a:off x="2016" y="244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04" name="Line 59"/>
            <p:cNvSpPr>
              <a:spLocks noChangeShapeType="1"/>
            </p:cNvSpPr>
            <p:nvPr/>
          </p:nvSpPr>
          <p:spPr bwMode="auto">
            <a:xfrm>
              <a:off x="2016" y="2269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05" name="Line 60"/>
            <p:cNvSpPr>
              <a:spLocks noChangeShapeType="1"/>
            </p:cNvSpPr>
            <p:nvPr/>
          </p:nvSpPr>
          <p:spPr bwMode="auto">
            <a:xfrm>
              <a:off x="2016" y="2180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06" name="Line 61"/>
            <p:cNvSpPr>
              <a:spLocks noChangeShapeType="1"/>
            </p:cNvSpPr>
            <p:nvPr/>
          </p:nvSpPr>
          <p:spPr bwMode="auto">
            <a:xfrm>
              <a:off x="2016" y="2002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07" name="Line 62"/>
            <p:cNvSpPr>
              <a:spLocks noChangeShapeType="1"/>
            </p:cNvSpPr>
            <p:nvPr/>
          </p:nvSpPr>
          <p:spPr bwMode="auto">
            <a:xfrm>
              <a:off x="2016" y="2091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08" name="Line 63"/>
            <p:cNvSpPr>
              <a:spLocks noChangeShapeType="1"/>
            </p:cNvSpPr>
            <p:nvPr/>
          </p:nvSpPr>
          <p:spPr bwMode="auto">
            <a:xfrm>
              <a:off x="2016" y="1913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09" name="Line 64"/>
            <p:cNvSpPr>
              <a:spLocks noChangeShapeType="1"/>
            </p:cNvSpPr>
            <p:nvPr/>
          </p:nvSpPr>
          <p:spPr bwMode="auto">
            <a:xfrm>
              <a:off x="2016" y="1824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" name="Group 65"/>
          <p:cNvGrpSpPr/>
          <p:nvPr/>
        </p:nvGrpSpPr>
        <p:grpSpPr bwMode="auto">
          <a:xfrm>
            <a:off x="5029200" y="5334000"/>
            <a:ext cx="228600" cy="990600"/>
            <a:chOff x="2016" y="1824"/>
            <a:chExt cx="144" cy="624"/>
          </a:xfrm>
        </p:grpSpPr>
        <p:sp>
          <p:nvSpPr>
            <p:cNvPr id="69694" name="Line 66"/>
            <p:cNvSpPr>
              <a:spLocks noChangeShapeType="1"/>
            </p:cNvSpPr>
            <p:nvPr/>
          </p:nvSpPr>
          <p:spPr bwMode="auto">
            <a:xfrm>
              <a:off x="2016" y="235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95" name="Line 67"/>
            <p:cNvSpPr>
              <a:spLocks noChangeShapeType="1"/>
            </p:cNvSpPr>
            <p:nvPr/>
          </p:nvSpPr>
          <p:spPr bwMode="auto">
            <a:xfrm>
              <a:off x="2016" y="244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96" name="Line 68"/>
            <p:cNvSpPr>
              <a:spLocks noChangeShapeType="1"/>
            </p:cNvSpPr>
            <p:nvPr/>
          </p:nvSpPr>
          <p:spPr bwMode="auto">
            <a:xfrm>
              <a:off x="2016" y="2269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97" name="Line 69"/>
            <p:cNvSpPr>
              <a:spLocks noChangeShapeType="1"/>
            </p:cNvSpPr>
            <p:nvPr/>
          </p:nvSpPr>
          <p:spPr bwMode="auto">
            <a:xfrm>
              <a:off x="2016" y="2180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98" name="Line 70"/>
            <p:cNvSpPr>
              <a:spLocks noChangeShapeType="1"/>
            </p:cNvSpPr>
            <p:nvPr/>
          </p:nvSpPr>
          <p:spPr bwMode="auto">
            <a:xfrm>
              <a:off x="2016" y="2002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99" name="Line 71"/>
            <p:cNvSpPr>
              <a:spLocks noChangeShapeType="1"/>
            </p:cNvSpPr>
            <p:nvPr/>
          </p:nvSpPr>
          <p:spPr bwMode="auto">
            <a:xfrm>
              <a:off x="2016" y="2091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00" name="Line 72"/>
            <p:cNvSpPr>
              <a:spLocks noChangeShapeType="1"/>
            </p:cNvSpPr>
            <p:nvPr/>
          </p:nvSpPr>
          <p:spPr bwMode="auto">
            <a:xfrm>
              <a:off x="2016" y="1913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701" name="Line 73"/>
            <p:cNvSpPr>
              <a:spLocks noChangeShapeType="1"/>
            </p:cNvSpPr>
            <p:nvPr/>
          </p:nvSpPr>
          <p:spPr bwMode="auto">
            <a:xfrm>
              <a:off x="2016" y="1824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" name="Group 74"/>
          <p:cNvGrpSpPr/>
          <p:nvPr/>
        </p:nvGrpSpPr>
        <p:grpSpPr bwMode="auto">
          <a:xfrm>
            <a:off x="5334000" y="5334000"/>
            <a:ext cx="228600" cy="990600"/>
            <a:chOff x="2016" y="1824"/>
            <a:chExt cx="144" cy="624"/>
          </a:xfrm>
        </p:grpSpPr>
        <p:sp>
          <p:nvSpPr>
            <p:cNvPr id="69686" name="Line 75"/>
            <p:cNvSpPr>
              <a:spLocks noChangeShapeType="1"/>
            </p:cNvSpPr>
            <p:nvPr/>
          </p:nvSpPr>
          <p:spPr bwMode="auto">
            <a:xfrm>
              <a:off x="2016" y="235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87" name="Line 76"/>
            <p:cNvSpPr>
              <a:spLocks noChangeShapeType="1"/>
            </p:cNvSpPr>
            <p:nvPr/>
          </p:nvSpPr>
          <p:spPr bwMode="auto">
            <a:xfrm>
              <a:off x="2016" y="244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88" name="Line 77"/>
            <p:cNvSpPr>
              <a:spLocks noChangeShapeType="1"/>
            </p:cNvSpPr>
            <p:nvPr/>
          </p:nvSpPr>
          <p:spPr bwMode="auto">
            <a:xfrm>
              <a:off x="2016" y="2269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89" name="Line 78"/>
            <p:cNvSpPr>
              <a:spLocks noChangeShapeType="1"/>
            </p:cNvSpPr>
            <p:nvPr/>
          </p:nvSpPr>
          <p:spPr bwMode="auto">
            <a:xfrm>
              <a:off x="2016" y="2180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90" name="Line 79"/>
            <p:cNvSpPr>
              <a:spLocks noChangeShapeType="1"/>
            </p:cNvSpPr>
            <p:nvPr/>
          </p:nvSpPr>
          <p:spPr bwMode="auto">
            <a:xfrm>
              <a:off x="2016" y="2002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91" name="Line 80"/>
            <p:cNvSpPr>
              <a:spLocks noChangeShapeType="1"/>
            </p:cNvSpPr>
            <p:nvPr/>
          </p:nvSpPr>
          <p:spPr bwMode="auto">
            <a:xfrm>
              <a:off x="2016" y="2091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92" name="Line 81"/>
            <p:cNvSpPr>
              <a:spLocks noChangeShapeType="1"/>
            </p:cNvSpPr>
            <p:nvPr/>
          </p:nvSpPr>
          <p:spPr bwMode="auto">
            <a:xfrm>
              <a:off x="2016" y="1913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93" name="Line 82"/>
            <p:cNvSpPr>
              <a:spLocks noChangeShapeType="1"/>
            </p:cNvSpPr>
            <p:nvPr/>
          </p:nvSpPr>
          <p:spPr bwMode="auto">
            <a:xfrm>
              <a:off x="2016" y="1824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" name="Group 83"/>
          <p:cNvGrpSpPr/>
          <p:nvPr/>
        </p:nvGrpSpPr>
        <p:grpSpPr bwMode="auto">
          <a:xfrm>
            <a:off x="5638800" y="5334000"/>
            <a:ext cx="228600" cy="990600"/>
            <a:chOff x="2016" y="1824"/>
            <a:chExt cx="144" cy="624"/>
          </a:xfrm>
        </p:grpSpPr>
        <p:sp>
          <p:nvSpPr>
            <p:cNvPr id="69678" name="Line 84"/>
            <p:cNvSpPr>
              <a:spLocks noChangeShapeType="1"/>
            </p:cNvSpPr>
            <p:nvPr/>
          </p:nvSpPr>
          <p:spPr bwMode="auto">
            <a:xfrm>
              <a:off x="2016" y="235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79" name="Line 85"/>
            <p:cNvSpPr>
              <a:spLocks noChangeShapeType="1"/>
            </p:cNvSpPr>
            <p:nvPr/>
          </p:nvSpPr>
          <p:spPr bwMode="auto">
            <a:xfrm>
              <a:off x="2016" y="244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80" name="Line 86"/>
            <p:cNvSpPr>
              <a:spLocks noChangeShapeType="1"/>
            </p:cNvSpPr>
            <p:nvPr/>
          </p:nvSpPr>
          <p:spPr bwMode="auto">
            <a:xfrm>
              <a:off x="2016" y="2269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81" name="Line 87"/>
            <p:cNvSpPr>
              <a:spLocks noChangeShapeType="1"/>
            </p:cNvSpPr>
            <p:nvPr/>
          </p:nvSpPr>
          <p:spPr bwMode="auto">
            <a:xfrm>
              <a:off x="2016" y="2180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82" name="Line 88"/>
            <p:cNvSpPr>
              <a:spLocks noChangeShapeType="1"/>
            </p:cNvSpPr>
            <p:nvPr/>
          </p:nvSpPr>
          <p:spPr bwMode="auto">
            <a:xfrm>
              <a:off x="2016" y="2002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83" name="Line 89"/>
            <p:cNvSpPr>
              <a:spLocks noChangeShapeType="1"/>
            </p:cNvSpPr>
            <p:nvPr/>
          </p:nvSpPr>
          <p:spPr bwMode="auto">
            <a:xfrm>
              <a:off x="2016" y="2091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84" name="Line 90"/>
            <p:cNvSpPr>
              <a:spLocks noChangeShapeType="1"/>
            </p:cNvSpPr>
            <p:nvPr/>
          </p:nvSpPr>
          <p:spPr bwMode="auto">
            <a:xfrm>
              <a:off x="2016" y="1913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85" name="Line 91"/>
            <p:cNvSpPr>
              <a:spLocks noChangeShapeType="1"/>
            </p:cNvSpPr>
            <p:nvPr/>
          </p:nvSpPr>
          <p:spPr bwMode="auto">
            <a:xfrm>
              <a:off x="2016" y="1824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1" name="Group 92"/>
          <p:cNvGrpSpPr/>
          <p:nvPr/>
        </p:nvGrpSpPr>
        <p:grpSpPr bwMode="auto">
          <a:xfrm>
            <a:off x="5943600" y="5334000"/>
            <a:ext cx="228600" cy="990600"/>
            <a:chOff x="2016" y="1824"/>
            <a:chExt cx="144" cy="624"/>
          </a:xfrm>
        </p:grpSpPr>
        <p:sp>
          <p:nvSpPr>
            <p:cNvPr id="69670" name="Line 93"/>
            <p:cNvSpPr>
              <a:spLocks noChangeShapeType="1"/>
            </p:cNvSpPr>
            <p:nvPr/>
          </p:nvSpPr>
          <p:spPr bwMode="auto">
            <a:xfrm>
              <a:off x="2016" y="235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71" name="Line 94"/>
            <p:cNvSpPr>
              <a:spLocks noChangeShapeType="1"/>
            </p:cNvSpPr>
            <p:nvPr/>
          </p:nvSpPr>
          <p:spPr bwMode="auto">
            <a:xfrm>
              <a:off x="2016" y="244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72" name="Line 95"/>
            <p:cNvSpPr>
              <a:spLocks noChangeShapeType="1"/>
            </p:cNvSpPr>
            <p:nvPr/>
          </p:nvSpPr>
          <p:spPr bwMode="auto">
            <a:xfrm>
              <a:off x="2016" y="2269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73" name="Line 96"/>
            <p:cNvSpPr>
              <a:spLocks noChangeShapeType="1"/>
            </p:cNvSpPr>
            <p:nvPr/>
          </p:nvSpPr>
          <p:spPr bwMode="auto">
            <a:xfrm>
              <a:off x="2016" y="2180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74" name="Line 97"/>
            <p:cNvSpPr>
              <a:spLocks noChangeShapeType="1"/>
            </p:cNvSpPr>
            <p:nvPr/>
          </p:nvSpPr>
          <p:spPr bwMode="auto">
            <a:xfrm>
              <a:off x="2016" y="2002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75" name="Line 98"/>
            <p:cNvSpPr>
              <a:spLocks noChangeShapeType="1"/>
            </p:cNvSpPr>
            <p:nvPr/>
          </p:nvSpPr>
          <p:spPr bwMode="auto">
            <a:xfrm>
              <a:off x="2016" y="2091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76" name="Line 99"/>
            <p:cNvSpPr>
              <a:spLocks noChangeShapeType="1"/>
            </p:cNvSpPr>
            <p:nvPr/>
          </p:nvSpPr>
          <p:spPr bwMode="auto">
            <a:xfrm>
              <a:off x="2016" y="1913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77" name="Line 100"/>
            <p:cNvSpPr>
              <a:spLocks noChangeShapeType="1"/>
            </p:cNvSpPr>
            <p:nvPr/>
          </p:nvSpPr>
          <p:spPr bwMode="auto">
            <a:xfrm>
              <a:off x="2016" y="1824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2" name="Group 101"/>
          <p:cNvGrpSpPr/>
          <p:nvPr/>
        </p:nvGrpSpPr>
        <p:grpSpPr bwMode="auto">
          <a:xfrm>
            <a:off x="6248400" y="5334000"/>
            <a:ext cx="228600" cy="990600"/>
            <a:chOff x="2016" y="1824"/>
            <a:chExt cx="144" cy="624"/>
          </a:xfrm>
        </p:grpSpPr>
        <p:sp>
          <p:nvSpPr>
            <p:cNvPr id="69662" name="Line 102"/>
            <p:cNvSpPr>
              <a:spLocks noChangeShapeType="1"/>
            </p:cNvSpPr>
            <p:nvPr/>
          </p:nvSpPr>
          <p:spPr bwMode="auto">
            <a:xfrm>
              <a:off x="2016" y="235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63" name="Line 103"/>
            <p:cNvSpPr>
              <a:spLocks noChangeShapeType="1"/>
            </p:cNvSpPr>
            <p:nvPr/>
          </p:nvSpPr>
          <p:spPr bwMode="auto">
            <a:xfrm>
              <a:off x="2016" y="2448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64" name="Line 104"/>
            <p:cNvSpPr>
              <a:spLocks noChangeShapeType="1"/>
            </p:cNvSpPr>
            <p:nvPr/>
          </p:nvSpPr>
          <p:spPr bwMode="auto">
            <a:xfrm>
              <a:off x="2016" y="2269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65" name="Line 105"/>
            <p:cNvSpPr>
              <a:spLocks noChangeShapeType="1"/>
            </p:cNvSpPr>
            <p:nvPr/>
          </p:nvSpPr>
          <p:spPr bwMode="auto">
            <a:xfrm>
              <a:off x="2016" y="2180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66" name="Line 106"/>
            <p:cNvSpPr>
              <a:spLocks noChangeShapeType="1"/>
            </p:cNvSpPr>
            <p:nvPr/>
          </p:nvSpPr>
          <p:spPr bwMode="auto">
            <a:xfrm>
              <a:off x="2016" y="2002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67" name="Line 107"/>
            <p:cNvSpPr>
              <a:spLocks noChangeShapeType="1"/>
            </p:cNvSpPr>
            <p:nvPr/>
          </p:nvSpPr>
          <p:spPr bwMode="auto">
            <a:xfrm>
              <a:off x="2016" y="2091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68" name="Line 108"/>
            <p:cNvSpPr>
              <a:spLocks noChangeShapeType="1"/>
            </p:cNvSpPr>
            <p:nvPr/>
          </p:nvSpPr>
          <p:spPr bwMode="auto">
            <a:xfrm>
              <a:off x="2016" y="1913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69" name="Line 109"/>
            <p:cNvSpPr>
              <a:spLocks noChangeShapeType="1"/>
            </p:cNvSpPr>
            <p:nvPr/>
          </p:nvSpPr>
          <p:spPr bwMode="auto">
            <a:xfrm>
              <a:off x="2016" y="1824"/>
              <a:ext cx="144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6782" name="Text Box 110"/>
          <p:cNvSpPr txBox="1">
            <a:spLocks noChangeArrowheads="1"/>
          </p:cNvSpPr>
          <p:nvPr/>
        </p:nvSpPr>
        <p:spPr bwMode="auto">
          <a:xfrm>
            <a:off x="2076450" y="565308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并行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9661" name="AutoShape 112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15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15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15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15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15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15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15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5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500"/>
                            </p:stCondLst>
                            <p:childTnLst>
                              <p:par>
                                <p:cTn id="9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500"/>
                            </p:stCondLst>
                            <p:childTnLst>
                              <p:par>
                                <p:cTn id="11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autoUpdateAnimBg="0"/>
      <p:bldP spid="156676" grpId="0" autoUpdateAnimBg="0"/>
      <p:bldP spid="156677" grpId="0" autoUpdateAnimBg="0"/>
      <p:bldP spid="156681" grpId="0" animBg="1"/>
      <p:bldP spid="156682" grpId="0" animBg="1"/>
      <p:bldP spid="156683" grpId="0" animBg="1"/>
      <p:bldP spid="156684" grpId="0" animBg="1"/>
      <p:bldP spid="156685" grpId="0" animBg="1"/>
      <p:bldP spid="156686" grpId="0" animBg="1"/>
      <p:bldP spid="156687" grpId="0" animBg="1"/>
      <p:bldP spid="156688" grpId="0" animBg="1"/>
      <p:bldP spid="156689" grpId="0" animBg="1"/>
      <p:bldP spid="156690" grpId="0" animBg="1"/>
      <p:bldP spid="156691" grpId="0" autoUpdateAnimBg="0"/>
      <p:bldP spid="15678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593725" y="228600"/>
            <a:ext cx="63547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四、总线结构的计算机举例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57699" name="Text Box 3"/>
          <p:cNvSpPr txBox="1">
            <a:spLocks noChangeArrowheads="1"/>
          </p:cNvSpPr>
          <p:nvPr/>
        </p:nvSpPr>
        <p:spPr bwMode="auto">
          <a:xfrm>
            <a:off x="1176338" y="1068388"/>
            <a:ext cx="63674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1. 面向 </a:t>
            </a:r>
            <a:r>
              <a:rPr lang="en-US" altLang="zh-CN" sz="3200">
                <a:latin typeface="Times New Roman" panose="02020603050405020304" pitchFamily="18" charset="0"/>
              </a:rPr>
              <a:t>CPU </a:t>
            </a:r>
            <a:r>
              <a:rPr lang="zh-CN" altLang="en-US" sz="3200">
                <a:latin typeface="Times New Roman" panose="02020603050405020304" pitchFamily="18" charset="0"/>
              </a:rPr>
              <a:t>的双总线结构框图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762000" y="2303463"/>
            <a:ext cx="1854200" cy="1125537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anchor="ctr" anchorCtr="1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>
                <a:latin typeface="Times New Roman" panose="02020603050405020304" pitchFamily="18" charset="0"/>
              </a:rPr>
              <a:t>  </a:t>
            </a:r>
            <a:r>
              <a:rPr lang="zh-CN" altLang="en-US" sz="2400">
                <a:latin typeface="Times New Roman" panose="02020603050405020304" pitchFamily="18" charset="0"/>
              </a:rPr>
              <a:t>中央处理器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       </a:t>
            </a:r>
            <a:r>
              <a:rPr lang="en-US" altLang="zh-CN" sz="2400">
                <a:latin typeface="Times New Roman" panose="02020603050405020304" pitchFamily="18" charset="0"/>
              </a:rPr>
              <a:t>CPU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2651125" y="2238375"/>
            <a:ext cx="5715000" cy="609600"/>
            <a:chOff x="1670" y="1410"/>
            <a:chExt cx="3600" cy="384"/>
          </a:xfrm>
        </p:grpSpPr>
        <p:sp>
          <p:nvSpPr>
            <p:cNvPr id="70684" name="Rectangle 6"/>
            <p:cNvSpPr>
              <a:spLocks noChangeArrowheads="1"/>
            </p:cNvSpPr>
            <p:nvPr/>
          </p:nvSpPr>
          <p:spPr bwMode="auto">
            <a:xfrm>
              <a:off x="2941" y="1410"/>
              <a:ext cx="113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I/O</a:t>
              </a:r>
              <a:r>
                <a:rPr lang="zh-CN" altLang="en-US" sz="2800">
                  <a:solidFill>
                    <a:schemeClr val="folHlink"/>
                  </a:solidFill>
                </a:rPr>
                <a:t>总线</a:t>
              </a:r>
              <a:endPara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85" name="AutoShape 7"/>
            <p:cNvSpPr>
              <a:spLocks noChangeArrowheads="1"/>
            </p:cNvSpPr>
            <p:nvPr/>
          </p:nvSpPr>
          <p:spPr bwMode="auto">
            <a:xfrm>
              <a:off x="1670" y="1657"/>
              <a:ext cx="3600" cy="137"/>
            </a:xfrm>
            <a:prstGeom prst="leftRightArrow">
              <a:avLst>
                <a:gd name="adj1" fmla="val 50000"/>
                <a:gd name="adj2" fmla="val 77251"/>
              </a:avLst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1090613" y="3429000"/>
            <a:ext cx="661987" cy="1905000"/>
            <a:chOff x="687" y="2160"/>
            <a:chExt cx="417" cy="1200"/>
          </a:xfrm>
        </p:grpSpPr>
        <p:sp>
          <p:nvSpPr>
            <p:cNvPr id="70682" name="Rectangle 9"/>
            <p:cNvSpPr>
              <a:spLocks noChangeArrowheads="1"/>
            </p:cNvSpPr>
            <p:nvPr/>
          </p:nvSpPr>
          <p:spPr bwMode="auto">
            <a:xfrm>
              <a:off x="687" y="2313"/>
              <a:ext cx="273" cy="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总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线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83" name="AutoShape 10"/>
            <p:cNvSpPr>
              <a:spLocks noChangeArrowheads="1"/>
            </p:cNvSpPr>
            <p:nvPr/>
          </p:nvSpPr>
          <p:spPr bwMode="auto">
            <a:xfrm>
              <a:off x="960" y="2160"/>
              <a:ext cx="144" cy="1200"/>
            </a:xfrm>
            <a:prstGeom prst="upDownArrow">
              <a:avLst>
                <a:gd name="adj1" fmla="val 50000"/>
                <a:gd name="adj2" fmla="val 97955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7707" name="Rectangle 11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3.1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4" name="Group 32"/>
          <p:cNvGrpSpPr/>
          <p:nvPr/>
        </p:nvGrpSpPr>
        <p:grpSpPr bwMode="auto">
          <a:xfrm>
            <a:off x="849313" y="2819400"/>
            <a:ext cx="7532687" cy="3459163"/>
            <a:chOff x="535" y="1776"/>
            <a:chExt cx="4745" cy="2179"/>
          </a:xfrm>
        </p:grpSpPr>
        <p:grpSp>
          <p:nvGrpSpPr>
            <p:cNvPr id="70666" name="Group 31"/>
            <p:cNvGrpSpPr/>
            <p:nvPr/>
          </p:nvGrpSpPr>
          <p:grpSpPr bwMode="auto">
            <a:xfrm>
              <a:off x="535" y="1776"/>
              <a:ext cx="4745" cy="2179"/>
              <a:chOff x="535" y="1776"/>
              <a:chExt cx="4745" cy="2179"/>
            </a:xfrm>
          </p:grpSpPr>
          <p:sp>
            <p:nvSpPr>
              <p:cNvPr id="70668" name="Rectangle 14"/>
              <p:cNvSpPr>
                <a:spLocks noChangeArrowheads="1"/>
              </p:cNvSpPr>
              <p:nvPr/>
            </p:nvSpPr>
            <p:spPr bwMode="auto">
              <a:xfrm>
                <a:off x="535" y="3360"/>
                <a:ext cx="1059" cy="595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262800" anchorCtr="1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主存 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   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69" name="Rectangle 15"/>
              <p:cNvSpPr>
                <a:spLocks noChangeArrowheads="1"/>
              </p:cNvSpPr>
              <p:nvPr/>
            </p:nvSpPr>
            <p:spPr bwMode="auto">
              <a:xfrm>
                <a:off x="1779" y="2448"/>
                <a:ext cx="934" cy="320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Ctr="1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接口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70" name="Freeform 16"/>
              <p:cNvSpPr/>
              <p:nvPr/>
            </p:nvSpPr>
            <p:spPr bwMode="auto">
              <a:xfrm>
                <a:off x="2205" y="1776"/>
                <a:ext cx="147" cy="672"/>
              </a:xfrm>
              <a:custGeom>
                <a:avLst/>
                <a:gdLst>
                  <a:gd name="T0" fmla="*/ 155 w 139"/>
                  <a:gd name="T1" fmla="*/ 0 h 495"/>
                  <a:gd name="T2" fmla="*/ 304 w 139"/>
                  <a:gd name="T3" fmla="*/ 7130 h 495"/>
                  <a:gd name="T4" fmla="*/ 226 w 139"/>
                  <a:gd name="T5" fmla="*/ 7130 h 495"/>
                  <a:gd name="T6" fmla="*/ 226 w 139"/>
                  <a:gd name="T7" fmla="*/ 28592 h 495"/>
                  <a:gd name="T8" fmla="*/ 304 w 139"/>
                  <a:gd name="T9" fmla="*/ 28592 h 495"/>
                  <a:gd name="T10" fmla="*/ 155 w 139"/>
                  <a:gd name="T11" fmla="*/ 35748 h 495"/>
                  <a:gd name="T12" fmla="*/ 0 w 139"/>
                  <a:gd name="T13" fmla="*/ 28592 h 495"/>
                  <a:gd name="T14" fmla="*/ 75 w 139"/>
                  <a:gd name="T15" fmla="*/ 28592 h 495"/>
                  <a:gd name="T16" fmla="*/ 75 w 139"/>
                  <a:gd name="T17" fmla="*/ 7130 h 495"/>
                  <a:gd name="T18" fmla="*/ 0 w 139"/>
                  <a:gd name="T19" fmla="*/ 7130 h 495"/>
                  <a:gd name="T20" fmla="*/ 155 w 139"/>
                  <a:gd name="T21" fmla="*/ 0 h 49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9"/>
                  <a:gd name="T34" fmla="*/ 0 h 495"/>
                  <a:gd name="T35" fmla="*/ 139 w 139"/>
                  <a:gd name="T36" fmla="*/ 495 h 49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9" h="495">
                    <a:moveTo>
                      <a:pt x="71" y="0"/>
                    </a:moveTo>
                    <a:lnTo>
                      <a:pt x="139" y="99"/>
                    </a:lnTo>
                    <a:lnTo>
                      <a:pt x="104" y="99"/>
                    </a:lnTo>
                    <a:lnTo>
                      <a:pt x="104" y="396"/>
                    </a:lnTo>
                    <a:lnTo>
                      <a:pt x="139" y="396"/>
                    </a:lnTo>
                    <a:lnTo>
                      <a:pt x="71" y="495"/>
                    </a:lnTo>
                    <a:lnTo>
                      <a:pt x="0" y="396"/>
                    </a:lnTo>
                    <a:lnTo>
                      <a:pt x="35" y="396"/>
                    </a:lnTo>
                    <a:lnTo>
                      <a:pt x="35" y="99"/>
                    </a:lnTo>
                    <a:lnTo>
                      <a:pt x="0" y="99"/>
                    </a:lnTo>
                    <a:lnTo>
                      <a:pt x="71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71" name="Freeform 17"/>
              <p:cNvSpPr/>
              <p:nvPr/>
            </p:nvSpPr>
            <p:spPr bwMode="auto">
              <a:xfrm>
                <a:off x="2205" y="2784"/>
                <a:ext cx="147" cy="576"/>
              </a:xfrm>
              <a:custGeom>
                <a:avLst/>
                <a:gdLst>
                  <a:gd name="T0" fmla="*/ 155 w 139"/>
                  <a:gd name="T1" fmla="*/ 0 h 467"/>
                  <a:gd name="T2" fmla="*/ 304 w 139"/>
                  <a:gd name="T3" fmla="*/ 1771 h 467"/>
                  <a:gd name="T4" fmla="*/ 226 w 139"/>
                  <a:gd name="T5" fmla="*/ 1771 h 467"/>
                  <a:gd name="T6" fmla="*/ 226 w 139"/>
                  <a:gd name="T7" fmla="*/ 7053 h 467"/>
                  <a:gd name="T8" fmla="*/ 304 w 139"/>
                  <a:gd name="T9" fmla="*/ 7053 h 467"/>
                  <a:gd name="T10" fmla="*/ 155 w 139"/>
                  <a:gd name="T11" fmla="*/ 8797 h 467"/>
                  <a:gd name="T12" fmla="*/ 0 w 139"/>
                  <a:gd name="T13" fmla="*/ 7053 h 467"/>
                  <a:gd name="T14" fmla="*/ 75 w 139"/>
                  <a:gd name="T15" fmla="*/ 7053 h 467"/>
                  <a:gd name="T16" fmla="*/ 75 w 139"/>
                  <a:gd name="T17" fmla="*/ 1771 h 467"/>
                  <a:gd name="T18" fmla="*/ 0 w 139"/>
                  <a:gd name="T19" fmla="*/ 1771 h 467"/>
                  <a:gd name="T20" fmla="*/ 155 w 139"/>
                  <a:gd name="T21" fmla="*/ 0 h 46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9"/>
                  <a:gd name="T34" fmla="*/ 0 h 467"/>
                  <a:gd name="T35" fmla="*/ 139 w 139"/>
                  <a:gd name="T36" fmla="*/ 467 h 46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9" h="467">
                    <a:moveTo>
                      <a:pt x="71" y="0"/>
                    </a:moveTo>
                    <a:lnTo>
                      <a:pt x="139" y="94"/>
                    </a:lnTo>
                    <a:lnTo>
                      <a:pt x="104" y="94"/>
                    </a:lnTo>
                    <a:lnTo>
                      <a:pt x="104" y="374"/>
                    </a:lnTo>
                    <a:lnTo>
                      <a:pt x="139" y="374"/>
                    </a:lnTo>
                    <a:lnTo>
                      <a:pt x="71" y="467"/>
                    </a:lnTo>
                    <a:lnTo>
                      <a:pt x="0" y="374"/>
                    </a:lnTo>
                    <a:lnTo>
                      <a:pt x="35" y="374"/>
                    </a:lnTo>
                    <a:lnTo>
                      <a:pt x="35" y="94"/>
                    </a:lnTo>
                    <a:lnTo>
                      <a:pt x="0" y="94"/>
                    </a:lnTo>
                    <a:lnTo>
                      <a:pt x="71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72" name="Rectangle 18"/>
              <p:cNvSpPr>
                <a:spLocks noChangeArrowheads="1"/>
              </p:cNvSpPr>
              <p:nvPr/>
            </p:nvSpPr>
            <p:spPr bwMode="auto">
              <a:xfrm>
                <a:off x="1779" y="3360"/>
                <a:ext cx="934" cy="595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Ctr="1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80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1000"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I/O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设备1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73" name="Rectangle 19"/>
              <p:cNvSpPr>
                <a:spLocks noChangeArrowheads="1"/>
              </p:cNvSpPr>
              <p:nvPr/>
            </p:nvSpPr>
            <p:spPr bwMode="auto">
              <a:xfrm>
                <a:off x="2954" y="3360"/>
                <a:ext cx="934" cy="595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Ctr="1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80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1000">
                    <a:latin typeface="Times New Roman" panose="02020603050405020304" pitchFamily="18" charset="0"/>
                  </a:rPr>
                  <a:t>    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I/O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设备2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74" name="Freeform 20"/>
              <p:cNvSpPr/>
              <p:nvPr/>
            </p:nvSpPr>
            <p:spPr bwMode="auto">
              <a:xfrm>
                <a:off x="3357" y="1776"/>
                <a:ext cx="147" cy="672"/>
              </a:xfrm>
              <a:custGeom>
                <a:avLst/>
                <a:gdLst>
                  <a:gd name="T0" fmla="*/ 155 w 139"/>
                  <a:gd name="T1" fmla="*/ 0 h 495"/>
                  <a:gd name="T2" fmla="*/ 304 w 139"/>
                  <a:gd name="T3" fmla="*/ 7130 h 495"/>
                  <a:gd name="T4" fmla="*/ 226 w 139"/>
                  <a:gd name="T5" fmla="*/ 7130 h 495"/>
                  <a:gd name="T6" fmla="*/ 226 w 139"/>
                  <a:gd name="T7" fmla="*/ 28592 h 495"/>
                  <a:gd name="T8" fmla="*/ 304 w 139"/>
                  <a:gd name="T9" fmla="*/ 28592 h 495"/>
                  <a:gd name="T10" fmla="*/ 155 w 139"/>
                  <a:gd name="T11" fmla="*/ 35748 h 495"/>
                  <a:gd name="T12" fmla="*/ 0 w 139"/>
                  <a:gd name="T13" fmla="*/ 28592 h 495"/>
                  <a:gd name="T14" fmla="*/ 75 w 139"/>
                  <a:gd name="T15" fmla="*/ 28592 h 495"/>
                  <a:gd name="T16" fmla="*/ 75 w 139"/>
                  <a:gd name="T17" fmla="*/ 7130 h 495"/>
                  <a:gd name="T18" fmla="*/ 0 w 139"/>
                  <a:gd name="T19" fmla="*/ 7130 h 495"/>
                  <a:gd name="T20" fmla="*/ 155 w 139"/>
                  <a:gd name="T21" fmla="*/ 0 h 49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9"/>
                  <a:gd name="T34" fmla="*/ 0 h 495"/>
                  <a:gd name="T35" fmla="*/ 139 w 139"/>
                  <a:gd name="T36" fmla="*/ 495 h 49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9" h="495">
                    <a:moveTo>
                      <a:pt x="71" y="0"/>
                    </a:moveTo>
                    <a:lnTo>
                      <a:pt x="139" y="99"/>
                    </a:lnTo>
                    <a:lnTo>
                      <a:pt x="104" y="99"/>
                    </a:lnTo>
                    <a:lnTo>
                      <a:pt x="104" y="396"/>
                    </a:lnTo>
                    <a:lnTo>
                      <a:pt x="139" y="396"/>
                    </a:lnTo>
                    <a:lnTo>
                      <a:pt x="71" y="495"/>
                    </a:lnTo>
                    <a:lnTo>
                      <a:pt x="0" y="396"/>
                    </a:lnTo>
                    <a:lnTo>
                      <a:pt x="35" y="396"/>
                    </a:lnTo>
                    <a:lnTo>
                      <a:pt x="35" y="99"/>
                    </a:lnTo>
                    <a:lnTo>
                      <a:pt x="0" y="99"/>
                    </a:lnTo>
                    <a:lnTo>
                      <a:pt x="71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75" name="Freeform 21"/>
              <p:cNvSpPr/>
              <p:nvPr/>
            </p:nvSpPr>
            <p:spPr bwMode="auto">
              <a:xfrm>
                <a:off x="3357" y="2784"/>
                <a:ext cx="147" cy="576"/>
              </a:xfrm>
              <a:custGeom>
                <a:avLst/>
                <a:gdLst>
                  <a:gd name="T0" fmla="*/ 155 w 139"/>
                  <a:gd name="T1" fmla="*/ 0 h 467"/>
                  <a:gd name="T2" fmla="*/ 304 w 139"/>
                  <a:gd name="T3" fmla="*/ 1771 h 467"/>
                  <a:gd name="T4" fmla="*/ 226 w 139"/>
                  <a:gd name="T5" fmla="*/ 1771 h 467"/>
                  <a:gd name="T6" fmla="*/ 226 w 139"/>
                  <a:gd name="T7" fmla="*/ 7053 h 467"/>
                  <a:gd name="T8" fmla="*/ 304 w 139"/>
                  <a:gd name="T9" fmla="*/ 7053 h 467"/>
                  <a:gd name="T10" fmla="*/ 155 w 139"/>
                  <a:gd name="T11" fmla="*/ 8797 h 467"/>
                  <a:gd name="T12" fmla="*/ 0 w 139"/>
                  <a:gd name="T13" fmla="*/ 7053 h 467"/>
                  <a:gd name="T14" fmla="*/ 75 w 139"/>
                  <a:gd name="T15" fmla="*/ 7053 h 467"/>
                  <a:gd name="T16" fmla="*/ 75 w 139"/>
                  <a:gd name="T17" fmla="*/ 1771 h 467"/>
                  <a:gd name="T18" fmla="*/ 0 w 139"/>
                  <a:gd name="T19" fmla="*/ 1771 h 467"/>
                  <a:gd name="T20" fmla="*/ 155 w 139"/>
                  <a:gd name="T21" fmla="*/ 0 h 46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9"/>
                  <a:gd name="T34" fmla="*/ 0 h 467"/>
                  <a:gd name="T35" fmla="*/ 139 w 139"/>
                  <a:gd name="T36" fmla="*/ 467 h 46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9" h="467">
                    <a:moveTo>
                      <a:pt x="71" y="0"/>
                    </a:moveTo>
                    <a:lnTo>
                      <a:pt x="139" y="94"/>
                    </a:lnTo>
                    <a:lnTo>
                      <a:pt x="104" y="94"/>
                    </a:lnTo>
                    <a:lnTo>
                      <a:pt x="104" y="374"/>
                    </a:lnTo>
                    <a:lnTo>
                      <a:pt x="139" y="374"/>
                    </a:lnTo>
                    <a:lnTo>
                      <a:pt x="71" y="467"/>
                    </a:lnTo>
                    <a:lnTo>
                      <a:pt x="0" y="374"/>
                    </a:lnTo>
                    <a:lnTo>
                      <a:pt x="35" y="374"/>
                    </a:lnTo>
                    <a:lnTo>
                      <a:pt x="35" y="94"/>
                    </a:lnTo>
                    <a:lnTo>
                      <a:pt x="0" y="94"/>
                    </a:lnTo>
                    <a:lnTo>
                      <a:pt x="71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76" name="Rectangle 22"/>
              <p:cNvSpPr>
                <a:spLocks noChangeArrowheads="1"/>
              </p:cNvSpPr>
              <p:nvPr/>
            </p:nvSpPr>
            <p:spPr bwMode="auto">
              <a:xfrm>
                <a:off x="4035" y="2448"/>
                <a:ext cx="23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77" name="Freeform 23"/>
              <p:cNvSpPr/>
              <p:nvPr/>
            </p:nvSpPr>
            <p:spPr bwMode="auto">
              <a:xfrm>
                <a:off x="4749" y="1776"/>
                <a:ext cx="147" cy="672"/>
              </a:xfrm>
              <a:custGeom>
                <a:avLst/>
                <a:gdLst>
                  <a:gd name="T0" fmla="*/ 155 w 139"/>
                  <a:gd name="T1" fmla="*/ 0 h 495"/>
                  <a:gd name="T2" fmla="*/ 304 w 139"/>
                  <a:gd name="T3" fmla="*/ 7130 h 495"/>
                  <a:gd name="T4" fmla="*/ 226 w 139"/>
                  <a:gd name="T5" fmla="*/ 7130 h 495"/>
                  <a:gd name="T6" fmla="*/ 226 w 139"/>
                  <a:gd name="T7" fmla="*/ 28592 h 495"/>
                  <a:gd name="T8" fmla="*/ 304 w 139"/>
                  <a:gd name="T9" fmla="*/ 28592 h 495"/>
                  <a:gd name="T10" fmla="*/ 155 w 139"/>
                  <a:gd name="T11" fmla="*/ 35748 h 495"/>
                  <a:gd name="T12" fmla="*/ 0 w 139"/>
                  <a:gd name="T13" fmla="*/ 28592 h 495"/>
                  <a:gd name="T14" fmla="*/ 75 w 139"/>
                  <a:gd name="T15" fmla="*/ 28592 h 495"/>
                  <a:gd name="T16" fmla="*/ 75 w 139"/>
                  <a:gd name="T17" fmla="*/ 7130 h 495"/>
                  <a:gd name="T18" fmla="*/ 0 w 139"/>
                  <a:gd name="T19" fmla="*/ 7130 h 495"/>
                  <a:gd name="T20" fmla="*/ 155 w 139"/>
                  <a:gd name="T21" fmla="*/ 0 h 49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9"/>
                  <a:gd name="T34" fmla="*/ 0 h 495"/>
                  <a:gd name="T35" fmla="*/ 139 w 139"/>
                  <a:gd name="T36" fmla="*/ 495 h 49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9" h="495">
                    <a:moveTo>
                      <a:pt x="71" y="0"/>
                    </a:moveTo>
                    <a:lnTo>
                      <a:pt x="139" y="99"/>
                    </a:lnTo>
                    <a:lnTo>
                      <a:pt x="104" y="99"/>
                    </a:lnTo>
                    <a:lnTo>
                      <a:pt x="104" y="396"/>
                    </a:lnTo>
                    <a:lnTo>
                      <a:pt x="139" y="396"/>
                    </a:lnTo>
                    <a:lnTo>
                      <a:pt x="71" y="495"/>
                    </a:lnTo>
                    <a:lnTo>
                      <a:pt x="0" y="396"/>
                    </a:lnTo>
                    <a:lnTo>
                      <a:pt x="35" y="396"/>
                    </a:lnTo>
                    <a:lnTo>
                      <a:pt x="35" y="99"/>
                    </a:lnTo>
                    <a:lnTo>
                      <a:pt x="0" y="99"/>
                    </a:lnTo>
                    <a:lnTo>
                      <a:pt x="71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78" name="Freeform 24"/>
              <p:cNvSpPr/>
              <p:nvPr/>
            </p:nvSpPr>
            <p:spPr bwMode="auto">
              <a:xfrm>
                <a:off x="4749" y="2784"/>
                <a:ext cx="147" cy="576"/>
              </a:xfrm>
              <a:custGeom>
                <a:avLst/>
                <a:gdLst>
                  <a:gd name="T0" fmla="*/ 155 w 139"/>
                  <a:gd name="T1" fmla="*/ 0 h 467"/>
                  <a:gd name="T2" fmla="*/ 304 w 139"/>
                  <a:gd name="T3" fmla="*/ 1771 h 467"/>
                  <a:gd name="T4" fmla="*/ 226 w 139"/>
                  <a:gd name="T5" fmla="*/ 1771 h 467"/>
                  <a:gd name="T6" fmla="*/ 226 w 139"/>
                  <a:gd name="T7" fmla="*/ 7053 h 467"/>
                  <a:gd name="T8" fmla="*/ 304 w 139"/>
                  <a:gd name="T9" fmla="*/ 7053 h 467"/>
                  <a:gd name="T10" fmla="*/ 155 w 139"/>
                  <a:gd name="T11" fmla="*/ 8797 h 467"/>
                  <a:gd name="T12" fmla="*/ 0 w 139"/>
                  <a:gd name="T13" fmla="*/ 7053 h 467"/>
                  <a:gd name="T14" fmla="*/ 75 w 139"/>
                  <a:gd name="T15" fmla="*/ 7053 h 467"/>
                  <a:gd name="T16" fmla="*/ 75 w 139"/>
                  <a:gd name="T17" fmla="*/ 1771 h 467"/>
                  <a:gd name="T18" fmla="*/ 0 w 139"/>
                  <a:gd name="T19" fmla="*/ 1771 h 467"/>
                  <a:gd name="T20" fmla="*/ 155 w 139"/>
                  <a:gd name="T21" fmla="*/ 0 h 46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9"/>
                  <a:gd name="T34" fmla="*/ 0 h 467"/>
                  <a:gd name="T35" fmla="*/ 139 w 139"/>
                  <a:gd name="T36" fmla="*/ 467 h 46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9" h="467">
                    <a:moveTo>
                      <a:pt x="71" y="0"/>
                    </a:moveTo>
                    <a:lnTo>
                      <a:pt x="139" y="94"/>
                    </a:lnTo>
                    <a:lnTo>
                      <a:pt x="104" y="94"/>
                    </a:lnTo>
                    <a:lnTo>
                      <a:pt x="104" y="374"/>
                    </a:lnTo>
                    <a:lnTo>
                      <a:pt x="139" y="374"/>
                    </a:lnTo>
                    <a:lnTo>
                      <a:pt x="71" y="467"/>
                    </a:lnTo>
                    <a:lnTo>
                      <a:pt x="0" y="374"/>
                    </a:lnTo>
                    <a:lnTo>
                      <a:pt x="35" y="374"/>
                    </a:lnTo>
                    <a:lnTo>
                      <a:pt x="35" y="94"/>
                    </a:lnTo>
                    <a:lnTo>
                      <a:pt x="0" y="94"/>
                    </a:lnTo>
                    <a:lnTo>
                      <a:pt x="71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79" name="Rectangle 25"/>
              <p:cNvSpPr>
                <a:spLocks noChangeArrowheads="1"/>
              </p:cNvSpPr>
              <p:nvPr/>
            </p:nvSpPr>
            <p:spPr bwMode="auto">
              <a:xfrm>
                <a:off x="4035" y="3523"/>
                <a:ext cx="23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80" name="Rectangle 26"/>
              <p:cNvSpPr>
                <a:spLocks noChangeArrowheads="1"/>
              </p:cNvSpPr>
              <p:nvPr/>
            </p:nvSpPr>
            <p:spPr bwMode="auto">
              <a:xfrm>
                <a:off x="2954" y="2448"/>
                <a:ext cx="934" cy="320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Ctr="1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接口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81" name="Rectangle 27"/>
              <p:cNvSpPr>
                <a:spLocks noChangeArrowheads="1"/>
              </p:cNvSpPr>
              <p:nvPr/>
            </p:nvSpPr>
            <p:spPr bwMode="auto">
              <a:xfrm>
                <a:off x="4346" y="2448"/>
                <a:ext cx="934" cy="320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Ctr="1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接口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0667" name="Rectangle 28"/>
            <p:cNvSpPr>
              <a:spLocks noChangeArrowheads="1"/>
            </p:cNvSpPr>
            <p:nvPr/>
          </p:nvSpPr>
          <p:spPr bwMode="auto">
            <a:xfrm>
              <a:off x="4346" y="3360"/>
              <a:ext cx="934" cy="595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 </a:t>
              </a:r>
              <a:r>
                <a:rPr lang="zh-CN" altLang="en-US" sz="1000"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设备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70665" name="AutoShape 30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autoUpdateAnimBg="0"/>
      <p:bldP spid="157700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609600" y="1524000"/>
            <a:ext cx="8229600" cy="695325"/>
            <a:chOff x="384" y="1056"/>
            <a:chExt cx="5184" cy="438"/>
          </a:xfrm>
        </p:grpSpPr>
        <p:sp>
          <p:nvSpPr>
            <p:cNvPr id="71707" name="Rectangle 3"/>
            <p:cNvSpPr>
              <a:spLocks noChangeArrowheads="1"/>
            </p:cNvSpPr>
            <p:nvPr/>
          </p:nvSpPr>
          <p:spPr bwMode="auto">
            <a:xfrm>
              <a:off x="2046" y="1056"/>
              <a:ext cx="20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</a:rPr>
                <a:t>单总线（系统总线）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708" name="Freeform 4"/>
            <p:cNvSpPr/>
            <p:nvPr/>
          </p:nvSpPr>
          <p:spPr bwMode="auto">
            <a:xfrm>
              <a:off x="384" y="1350"/>
              <a:ext cx="5184" cy="144"/>
            </a:xfrm>
            <a:custGeom>
              <a:avLst/>
              <a:gdLst>
                <a:gd name="T0" fmla="*/ 0 w 4569"/>
                <a:gd name="T1" fmla="*/ 50 h 148"/>
                <a:gd name="T2" fmla="*/ 1219 w 4569"/>
                <a:gd name="T3" fmla="*/ 101 h 148"/>
                <a:gd name="T4" fmla="*/ 1219 w 4569"/>
                <a:gd name="T5" fmla="*/ 85 h 148"/>
                <a:gd name="T6" fmla="*/ 25564 w 4569"/>
                <a:gd name="T7" fmla="*/ 85 h 148"/>
                <a:gd name="T8" fmla="*/ 25564 w 4569"/>
                <a:gd name="T9" fmla="*/ 101 h 148"/>
                <a:gd name="T10" fmla="*/ 26769 w 4569"/>
                <a:gd name="T11" fmla="*/ 50 h 148"/>
                <a:gd name="T12" fmla="*/ 25564 w 4569"/>
                <a:gd name="T13" fmla="*/ 0 h 148"/>
                <a:gd name="T14" fmla="*/ 25564 w 4569"/>
                <a:gd name="T15" fmla="*/ 18 h 148"/>
                <a:gd name="T16" fmla="*/ 1219 w 4569"/>
                <a:gd name="T17" fmla="*/ 18 h 148"/>
                <a:gd name="T18" fmla="*/ 1219 w 4569"/>
                <a:gd name="T19" fmla="*/ 0 h 148"/>
                <a:gd name="T20" fmla="*/ 0 w 4569"/>
                <a:gd name="T21" fmla="*/ 50 h 1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569"/>
                <a:gd name="T34" fmla="*/ 0 h 148"/>
                <a:gd name="T35" fmla="*/ 4569 w 4569"/>
                <a:gd name="T36" fmla="*/ 148 h 1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569" h="148">
                  <a:moveTo>
                    <a:pt x="0" y="74"/>
                  </a:moveTo>
                  <a:lnTo>
                    <a:pt x="208" y="148"/>
                  </a:lnTo>
                  <a:lnTo>
                    <a:pt x="208" y="124"/>
                  </a:lnTo>
                  <a:lnTo>
                    <a:pt x="4364" y="124"/>
                  </a:lnTo>
                  <a:lnTo>
                    <a:pt x="4364" y="148"/>
                  </a:lnTo>
                  <a:lnTo>
                    <a:pt x="4569" y="74"/>
                  </a:lnTo>
                  <a:lnTo>
                    <a:pt x="4364" y="0"/>
                  </a:lnTo>
                  <a:lnTo>
                    <a:pt x="4364" y="25"/>
                  </a:lnTo>
                  <a:lnTo>
                    <a:pt x="208" y="25"/>
                  </a:lnTo>
                  <a:lnTo>
                    <a:pt x="208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chemeClr val="folHlink"/>
            </a:solidFill>
            <a:ln w="17463">
              <a:solidFill>
                <a:schemeClr val="folHlink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593725" y="304800"/>
            <a:ext cx="384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2. 单总线结构框图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3" name="Group 6"/>
          <p:cNvGrpSpPr/>
          <p:nvPr/>
        </p:nvGrpSpPr>
        <p:grpSpPr bwMode="auto">
          <a:xfrm>
            <a:off x="838200" y="2171700"/>
            <a:ext cx="7959725" cy="3819525"/>
            <a:chOff x="528" y="1368"/>
            <a:chExt cx="5014" cy="2406"/>
          </a:xfrm>
        </p:grpSpPr>
        <p:grpSp>
          <p:nvGrpSpPr>
            <p:cNvPr id="71687" name="Group 7"/>
            <p:cNvGrpSpPr/>
            <p:nvPr/>
          </p:nvGrpSpPr>
          <p:grpSpPr bwMode="auto">
            <a:xfrm>
              <a:off x="528" y="1368"/>
              <a:ext cx="719" cy="2389"/>
              <a:chOff x="528" y="1615"/>
              <a:chExt cx="719" cy="2389"/>
            </a:xfrm>
          </p:grpSpPr>
          <p:sp>
            <p:nvSpPr>
              <p:cNvPr id="71705" name="Rectangle 8"/>
              <p:cNvSpPr>
                <a:spLocks noChangeArrowheads="1"/>
              </p:cNvSpPr>
              <p:nvPr/>
            </p:nvSpPr>
            <p:spPr bwMode="auto">
              <a:xfrm>
                <a:off x="528" y="2352"/>
                <a:ext cx="719" cy="1652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32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endParaRPr lang="zh-CN" altLang="en-US" sz="32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 CPU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706" name="Freeform 9"/>
              <p:cNvSpPr/>
              <p:nvPr/>
            </p:nvSpPr>
            <p:spPr bwMode="auto">
              <a:xfrm>
                <a:off x="802" y="1615"/>
                <a:ext cx="206" cy="737"/>
              </a:xfrm>
              <a:custGeom>
                <a:avLst/>
                <a:gdLst>
                  <a:gd name="T0" fmla="*/ 14011 w 141"/>
                  <a:gd name="T1" fmla="*/ 0 h 482"/>
                  <a:gd name="T2" fmla="*/ 28475 w 141"/>
                  <a:gd name="T3" fmla="*/ 35914 h 482"/>
                  <a:gd name="T4" fmla="*/ 21355 w 141"/>
                  <a:gd name="T5" fmla="*/ 35914 h 482"/>
                  <a:gd name="T6" fmla="*/ 21355 w 141"/>
                  <a:gd name="T7" fmla="*/ 147788 h 482"/>
                  <a:gd name="T8" fmla="*/ 28475 w 141"/>
                  <a:gd name="T9" fmla="*/ 147788 h 482"/>
                  <a:gd name="T10" fmla="*/ 14011 w 141"/>
                  <a:gd name="T11" fmla="*/ 184079 h 482"/>
                  <a:gd name="T12" fmla="*/ 0 w 141"/>
                  <a:gd name="T13" fmla="*/ 147788 h 482"/>
                  <a:gd name="T14" fmla="*/ 6921 w 141"/>
                  <a:gd name="T15" fmla="*/ 147788 h 482"/>
                  <a:gd name="T16" fmla="*/ 6921 w 141"/>
                  <a:gd name="T17" fmla="*/ 35914 h 482"/>
                  <a:gd name="T18" fmla="*/ 0 w 141"/>
                  <a:gd name="T19" fmla="*/ 35914 h 482"/>
                  <a:gd name="T20" fmla="*/ 14011 w 141"/>
                  <a:gd name="T21" fmla="*/ 0 h 4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1"/>
                  <a:gd name="T34" fmla="*/ 0 h 482"/>
                  <a:gd name="T35" fmla="*/ 141 w 141"/>
                  <a:gd name="T36" fmla="*/ 482 h 48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1" h="482">
                    <a:moveTo>
                      <a:pt x="69" y="0"/>
                    </a:moveTo>
                    <a:lnTo>
                      <a:pt x="141" y="94"/>
                    </a:lnTo>
                    <a:lnTo>
                      <a:pt x="106" y="94"/>
                    </a:lnTo>
                    <a:lnTo>
                      <a:pt x="106" y="387"/>
                    </a:lnTo>
                    <a:lnTo>
                      <a:pt x="141" y="387"/>
                    </a:lnTo>
                    <a:lnTo>
                      <a:pt x="69" y="482"/>
                    </a:lnTo>
                    <a:lnTo>
                      <a:pt x="0" y="387"/>
                    </a:lnTo>
                    <a:lnTo>
                      <a:pt x="34" y="387"/>
                    </a:lnTo>
                    <a:lnTo>
                      <a:pt x="34" y="94"/>
                    </a:lnTo>
                    <a:lnTo>
                      <a:pt x="0" y="94"/>
                    </a:lnTo>
                    <a:lnTo>
                      <a:pt x="69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688" name="Group 10"/>
            <p:cNvGrpSpPr/>
            <p:nvPr/>
          </p:nvGrpSpPr>
          <p:grpSpPr bwMode="auto">
            <a:xfrm>
              <a:off x="1392" y="1385"/>
              <a:ext cx="720" cy="2389"/>
              <a:chOff x="1392" y="1632"/>
              <a:chExt cx="720" cy="2389"/>
            </a:xfrm>
          </p:grpSpPr>
          <p:sp>
            <p:nvSpPr>
              <p:cNvPr id="71703" name="Rectangle 11"/>
              <p:cNvSpPr>
                <a:spLocks noChangeArrowheads="1"/>
              </p:cNvSpPr>
              <p:nvPr/>
            </p:nvSpPr>
            <p:spPr bwMode="auto">
              <a:xfrm>
                <a:off x="1392" y="2369"/>
                <a:ext cx="720" cy="1652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32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endParaRPr lang="en-US" altLang="zh-CN" sz="32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>
                    <a:latin typeface="Times New Roman" panose="02020603050405020304" pitchFamily="18" charset="0"/>
                  </a:rPr>
                  <a:t>    </a:t>
                </a:r>
                <a:r>
                  <a:rPr lang="zh-CN" altLang="en-US" sz="2800">
                    <a:latin typeface="Times New Roman" panose="02020603050405020304" pitchFamily="18" charset="0"/>
                  </a:rPr>
                  <a:t>主存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704" name="Freeform 12"/>
              <p:cNvSpPr/>
              <p:nvPr/>
            </p:nvSpPr>
            <p:spPr bwMode="auto">
              <a:xfrm>
                <a:off x="1619" y="1632"/>
                <a:ext cx="206" cy="737"/>
              </a:xfrm>
              <a:custGeom>
                <a:avLst/>
                <a:gdLst>
                  <a:gd name="T0" fmla="*/ 14011 w 141"/>
                  <a:gd name="T1" fmla="*/ 0 h 482"/>
                  <a:gd name="T2" fmla="*/ 28475 w 141"/>
                  <a:gd name="T3" fmla="*/ 35914 h 482"/>
                  <a:gd name="T4" fmla="*/ 21355 w 141"/>
                  <a:gd name="T5" fmla="*/ 35914 h 482"/>
                  <a:gd name="T6" fmla="*/ 21355 w 141"/>
                  <a:gd name="T7" fmla="*/ 147788 h 482"/>
                  <a:gd name="T8" fmla="*/ 28475 w 141"/>
                  <a:gd name="T9" fmla="*/ 147788 h 482"/>
                  <a:gd name="T10" fmla="*/ 14011 w 141"/>
                  <a:gd name="T11" fmla="*/ 184079 h 482"/>
                  <a:gd name="T12" fmla="*/ 0 w 141"/>
                  <a:gd name="T13" fmla="*/ 147788 h 482"/>
                  <a:gd name="T14" fmla="*/ 6921 w 141"/>
                  <a:gd name="T15" fmla="*/ 147788 h 482"/>
                  <a:gd name="T16" fmla="*/ 6921 w 141"/>
                  <a:gd name="T17" fmla="*/ 35914 h 482"/>
                  <a:gd name="T18" fmla="*/ 0 w 141"/>
                  <a:gd name="T19" fmla="*/ 35914 h 482"/>
                  <a:gd name="T20" fmla="*/ 14011 w 141"/>
                  <a:gd name="T21" fmla="*/ 0 h 4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1"/>
                  <a:gd name="T34" fmla="*/ 0 h 482"/>
                  <a:gd name="T35" fmla="*/ 141 w 141"/>
                  <a:gd name="T36" fmla="*/ 482 h 48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1" h="482">
                    <a:moveTo>
                      <a:pt x="69" y="0"/>
                    </a:moveTo>
                    <a:lnTo>
                      <a:pt x="141" y="94"/>
                    </a:lnTo>
                    <a:lnTo>
                      <a:pt x="106" y="94"/>
                    </a:lnTo>
                    <a:lnTo>
                      <a:pt x="106" y="387"/>
                    </a:lnTo>
                    <a:lnTo>
                      <a:pt x="141" y="387"/>
                    </a:lnTo>
                    <a:lnTo>
                      <a:pt x="69" y="482"/>
                    </a:lnTo>
                    <a:lnTo>
                      <a:pt x="0" y="387"/>
                    </a:lnTo>
                    <a:lnTo>
                      <a:pt x="34" y="387"/>
                    </a:lnTo>
                    <a:lnTo>
                      <a:pt x="34" y="94"/>
                    </a:lnTo>
                    <a:lnTo>
                      <a:pt x="0" y="94"/>
                    </a:lnTo>
                    <a:lnTo>
                      <a:pt x="69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689" name="Rectangle 13"/>
            <p:cNvSpPr>
              <a:spLocks noChangeArrowheads="1"/>
            </p:cNvSpPr>
            <p:nvPr/>
          </p:nvSpPr>
          <p:spPr bwMode="auto">
            <a:xfrm>
              <a:off x="2208" y="2116"/>
              <a:ext cx="934" cy="32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 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690" name="Freeform 14"/>
            <p:cNvSpPr/>
            <p:nvPr/>
          </p:nvSpPr>
          <p:spPr bwMode="auto">
            <a:xfrm>
              <a:off x="2592" y="1391"/>
              <a:ext cx="192" cy="725"/>
            </a:xfrm>
            <a:custGeom>
              <a:avLst/>
              <a:gdLst>
                <a:gd name="T0" fmla="*/ 6499 w 139"/>
                <a:gd name="T1" fmla="*/ 0 h 495"/>
                <a:gd name="T2" fmla="*/ 12802 w 139"/>
                <a:gd name="T3" fmla="*/ 20698 h 495"/>
                <a:gd name="T4" fmla="*/ 9603 w 139"/>
                <a:gd name="T5" fmla="*/ 20698 h 495"/>
                <a:gd name="T6" fmla="*/ 9603 w 139"/>
                <a:gd name="T7" fmla="*/ 82714 h 495"/>
                <a:gd name="T8" fmla="*/ 12802 w 139"/>
                <a:gd name="T9" fmla="*/ 82714 h 495"/>
                <a:gd name="T10" fmla="*/ 6499 w 139"/>
                <a:gd name="T11" fmla="*/ 103467 h 495"/>
                <a:gd name="T12" fmla="*/ 0 w 139"/>
                <a:gd name="T13" fmla="*/ 82714 h 495"/>
                <a:gd name="T14" fmla="*/ 3188 w 139"/>
                <a:gd name="T15" fmla="*/ 82714 h 495"/>
                <a:gd name="T16" fmla="*/ 3188 w 139"/>
                <a:gd name="T17" fmla="*/ 20698 h 495"/>
                <a:gd name="T18" fmla="*/ 0 w 139"/>
                <a:gd name="T19" fmla="*/ 20698 h 495"/>
                <a:gd name="T20" fmla="*/ 6499 w 139"/>
                <a:gd name="T21" fmla="*/ 0 h 4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95"/>
                <a:gd name="T35" fmla="*/ 139 w 139"/>
                <a:gd name="T36" fmla="*/ 495 h 49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95">
                  <a:moveTo>
                    <a:pt x="71" y="0"/>
                  </a:moveTo>
                  <a:lnTo>
                    <a:pt x="139" y="99"/>
                  </a:lnTo>
                  <a:lnTo>
                    <a:pt x="104" y="99"/>
                  </a:lnTo>
                  <a:lnTo>
                    <a:pt x="104" y="396"/>
                  </a:lnTo>
                  <a:lnTo>
                    <a:pt x="139" y="396"/>
                  </a:lnTo>
                  <a:lnTo>
                    <a:pt x="71" y="495"/>
                  </a:lnTo>
                  <a:lnTo>
                    <a:pt x="0" y="396"/>
                  </a:lnTo>
                  <a:lnTo>
                    <a:pt x="35" y="396"/>
                  </a:lnTo>
                  <a:lnTo>
                    <a:pt x="35" y="99"/>
                  </a:lnTo>
                  <a:lnTo>
                    <a:pt x="0" y="99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1" name="Freeform 15"/>
            <p:cNvSpPr/>
            <p:nvPr/>
          </p:nvSpPr>
          <p:spPr bwMode="auto">
            <a:xfrm>
              <a:off x="2609" y="2479"/>
              <a:ext cx="175" cy="671"/>
            </a:xfrm>
            <a:custGeom>
              <a:avLst/>
              <a:gdLst>
                <a:gd name="T0" fmla="*/ 1781 w 139"/>
                <a:gd name="T1" fmla="*/ 0 h 467"/>
                <a:gd name="T2" fmla="*/ 3490 w 139"/>
                <a:gd name="T3" fmla="*/ 15046 h 467"/>
                <a:gd name="T4" fmla="*/ 2617 w 139"/>
                <a:gd name="T5" fmla="*/ 15046 h 467"/>
                <a:gd name="T6" fmla="*/ 2617 w 139"/>
                <a:gd name="T7" fmla="*/ 59743 h 467"/>
                <a:gd name="T8" fmla="*/ 3490 w 139"/>
                <a:gd name="T9" fmla="*/ 59743 h 467"/>
                <a:gd name="T10" fmla="*/ 1781 w 139"/>
                <a:gd name="T11" fmla="*/ 74633 h 467"/>
                <a:gd name="T12" fmla="*/ 0 w 139"/>
                <a:gd name="T13" fmla="*/ 59743 h 467"/>
                <a:gd name="T14" fmla="*/ 871 w 139"/>
                <a:gd name="T15" fmla="*/ 59743 h 467"/>
                <a:gd name="T16" fmla="*/ 871 w 139"/>
                <a:gd name="T17" fmla="*/ 15046 h 467"/>
                <a:gd name="T18" fmla="*/ 0 w 139"/>
                <a:gd name="T19" fmla="*/ 15046 h 467"/>
                <a:gd name="T20" fmla="*/ 1781 w 139"/>
                <a:gd name="T21" fmla="*/ 0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67"/>
                <a:gd name="T35" fmla="*/ 139 w 139"/>
                <a:gd name="T36" fmla="*/ 467 h 4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67">
                  <a:moveTo>
                    <a:pt x="71" y="0"/>
                  </a:moveTo>
                  <a:lnTo>
                    <a:pt x="139" y="94"/>
                  </a:lnTo>
                  <a:lnTo>
                    <a:pt x="104" y="94"/>
                  </a:lnTo>
                  <a:lnTo>
                    <a:pt x="104" y="374"/>
                  </a:lnTo>
                  <a:lnTo>
                    <a:pt x="139" y="374"/>
                  </a:lnTo>
                  <a:lnTo>
                    <a:pt x="71" y="467"/>
                  </a:lnTo>
                  <a:lnTo>
                    <a:pt x="0" y="374"/>
                  </a:lnTo>
                  <a:lnTo>
                    <a:pt x="35" y="374"/>
                  </a:lnTo>
                  <a:lnTo>
                    <a:pt x="35" y="94"/>
                  </a:lnTo>
                  <a:lnTo>
                    <a:pt x="0" y="94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2" name="Rectangle 16"/>
            <p:cNvSpPr>
              <a:spLocks noChangeArrowheads="1"/>
            </p:cNvSpPr>
            <p:nvPr/>
          </p:nvSpPr>
          <p:spPr bwMode="auto">
            <a:xfrm>
              <a:off x="2208" y="3150"/>
              <a:ext cx="934" cy="59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   </a:t>
              </a:r>
              <a:r>
                <a:rPr lang="zh-CN" altLang="en-US" sz="1000">
                  <a:latin typeface="Times New Roman" panose="02020603050405020304" pitchFamily="18" charset="0"/>
                </a:rPr>
                <a:t>    </a:t>
              </a: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  设备1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693" name="Rectangle 17"/>
            <p:cNvSpPr>
              <a:spLocks noChangeArrowheads="1"/>
            </p:cNvSpPr>
            <p:nvPr/>
          </p:nvSpPr>
          <p:spPr bwMode="auto">
            <a:xfrm>
              <a:off x="3360" y="3150"/>
              <a:ext cx="934" cy="59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   </a:t>
              </a:r>
              <a:r>
                <a:rPr lang="zh-CN" altLang="en-US" sz="1000">
                  <a:latin typeface="Times New Roman" panose="02020603050405020304" pitchFamily="18" charset="0"/>
                </a:rPr>
                <a:t>    </a:t>
              </a: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  设备2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694" name="Rectangle 18"/>
            <p:cNvSpPr>
              <a:spLocks noChangeArrowheads="1"/>
            </p:cNvSpPr>
            <p:nvPr/>
          </p:nvSpPr>
          <p:spPr bwMode="auto">
            <a:xfrm>
              <a:off x="3360" y="2116"/>
              <a:ext cx="934" cy="32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 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695" name="Freeform 19"/>
            <p:cNvSpPr/>
            <p:nvPr/>
          </p:nvSpPr>
          <p:spPr bwMode="auto">
            <a:xfrm>
              <a:off x="3696" y="1391"/>
              <a:ext cx="192" cy="725"/>
            </a:xfrm>
            <a:custGeom>
              <a:avLst/>
              <a:gdLst>
                <a:gd name="T0" fmla="*/ 6499 w 139"/>
                <a:gd name="T1" fmla="*/ 0 h 495"/>
                <a:gd name="T2" fmla="*/ 12802 w 139"/>
                <a:gd name="T3" fmla="*/ 20698 h 495"/>
                <a:gd name="T4" fmla="*/ 9603 w 139"/>
                <a:gd name="T5" fmla="*/ 20698 h 495"/>
                <a:gd name="T6" fmla="*/ 9603 w 139"/>
                <a:gd name="T7" fmla="*/ 82714 h 495"/>
                <a:gd name="T8" fmla="*/ 12802 w 139"/>
                <a:gd name="T9" fmla="*/ 82714 h 495"/>
                <a:gd name="T10" fmla="*/ 6499 w 139"/>
                <a:gd name="T11" fmla="*/ 103467 h 495"/>
                <a:gd name="T12" fmla="*/ 0 w 139"/>
                <a:gd name="T13" fmla="*/ 82714 h 495"/>
                <a:gd name="T14" fmla="*/ 3188 w 139"/>
                <a:gd name="T15" fmla="*/ 82714 h 495"/>
                <a:gd name="T16" fmla="*/ 3188 w 139"/>
                <a:gd name="T17" fmla="*/ 20698 h 495"/>
                <a:gd name="T18" fmla="*/ 0 w 139"/>
                <a:gd name="T19" fmla="*/ 20698 h 495"/>
                <a:gd name="T20" fmla="*/ 6499 w 139"/>
                <a:gd name="T21" fmla="*/ 0 h 4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95"/>
                <a:gd name="T35" fmla="*/ 139 w 139"/>
                <a:gd name="T36" fmla="*/ 495 h 49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95">
                  <a:moveTo>
                    <a:pt x="71" y="0"/>
                  </a:moveTo>
                  <a:lnTo>
                    <a:pt x="139" y="99"/>
                  </a:lnTo>
                  <a:lnTo>
                    <a:pt x="104" y="99"/>
                  </a:lnTo>
                  <a:lnTo>
                    <a:pt x="104" y="396"/>
                  </a:lnTo>
                  <a:lnTo>
                    <a:pt x="139" y="396"/>
                  </a:lnTo>
                  <a:lnTo>
                    <a:pt x="71" y="495"/>
                  </a:lnTo>
                  <a:lnTo>
                    <a:pt x="0" y="396"/>
                  </a:lnTo>
                  <a:lnTo>
                    <a:pt x="35" y="396"/>
                  </a:lnTo>
                  <a:lnTo>
                    <a:pt x="35" y="99"/>
                  </a:lnTo>
                  <a:lnTo>
                    <a:pt x="0" y="99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Freeform 20"/>
            <p:cNvSpPr/>
            <p:nvPr/>
          </p:nvSpPr>
          <p:spPr bwMode="auto">
            <a:xfrm>
              <a:off x="3696" y="2479"/>
              <a:ext cx="192" cy="671"/>
            </a:xfrm>
            <a:custGeom>
              <a:avLst/>
              <a:gdLst>
                <a:gd name="T0" fmla="*/ 6499 w 139"/>
                <a:gd name="T1" fmla="*/ 0 h 467"/>
                <a:gd name="T2" fmla="*/ 12802 w 139"/>
                <a:gd name="T3" fmla="*/ 15046 h 467"/>
                <a:gd name="T4" fmla="*/ 9603 w 139"/>
                <a:gd name="T5" fmla="*/ 15046 h 467"/>
                <a:gd name="T6" fmla="*/ 9603 w 139"/>
                <a:gd name="T7" fmla="*/ 59743 h 467"/>
                <a:gd name="T8" fmla="*/ 12802 w 139"/>
                <a:gd name="T9" fmla="*/ 59743 h 467"/>
                <a:gd name="T10" fmla="*/ 6499 w 139"/>
                <a:gd name="T11" fmla="*/ 74633 h 467"/>
                <a:gd name="T12" fmla="*/ 0 w 139"/>
                <a:gd name="T13" fmla="*/ 59743 h 467"/>
                <a:gd name="T14" fmla="*/ 3188 w 139"/>
                <a:gd name="T15" fmla="*/ 59743 h 467"/>
                <a:gd name="T16" fmla="*/ 3188 w 139"/>
                <a:gd name="T17" fmla="*/ 15046 h 467"/>
                <a:gd name="T18" fmla="*/ 0 w 139"/>
                <a:gd name="T19" fmla="*/ 15046 h 467"/>
                <a:gd name="T20" fmla="*/ 6499 w 139"/>
                <a:gd name="T21" fmla="*/ 0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67"/>
                <a:gd name="T35" fmla="*/ 139 w 139"/>
                <a:gd name="T36" fmla="*/ 467 h 4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67">
                  <a:moveTo>
                    <a:pt x="71" y="0"/>
                  </a:moveTo>
                  <a:lnTo>
                    <a:pt x="139" y="94"/>
                  </a:lnTo>
                  <a:lnTo>
                    <a:pt x="104" y="94"/>
                  </a:lnTo>
                  <a:lnTo>
                    <a:pt x="104" y="374"/>
                  </a:lnTo>
                  <a:lnTo>
                    <a:pt x="139" y="374"/>
                  </a:lnTo>
                  <a:lnTo>
                    <a:pt x="71" y="467"/>
                  </a:lnTo>
                  <a:lnTo>
                    <a:pt x="0" y="374"/>
                  </a:lnTo>
                  <a:lnTo>
                    <a:pt x="35" y="374"/>
                  </a:lnTo>
                  <a:lnTo>
                    <a:pt x="35" y="94"/>
                  </a:lnTo>
                  <a:lnTo>
                    <a:pt x="0" y="94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7" name="Rectangle 21"/>
            <p:cNvSpPr>
              <a:spLocks noChangeArrowheads="1"/>
            </p:cNvSpPr>
            <p:nvPr/>
          </p:nvSpPr>
          <p:spPr bwMode="auto">
            <a:xfrm>
              <a:off x="4368" y="2116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698" name="Rectangle 22"/>
            <p:cNvSpPr>
              <a:spLocks noChangeArrowheads="1"/>
            </p:cNvSpPr>
            <p:nvPr/>
          </p:nvSpPr>
          <p:spPr bwMode="auto">
            <a:xfrm>
              <a:off x="4608" y="3150"/>
              <a:ext cx="934" cy="59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   </a:t>
              </a:r>
              <a:r>
                <a:rPr lang="zh-CN" altLang="en-US" sz="1000">
                  <a:latin typeface="Times New Roman" panose="02020603050405020304" pitchFamily="18" charset="0"/>
                </a:rPr>
                <a:t>    </a:t>
              </a: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  设备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71699" name="Rectangle 23"/>
            <p:cNvSpPr>
              <a:spLocks noChangeArrowheads="1"/>
            </p:cNvSpPr>
            <p:nvPr/>
          </p:nvSpPr>
          <p:spPr bwMode="auto">
            <a:xfrm>
              <a:off x="4608" y="2116"/>
              <a:ext cx="934" cy="32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 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700" name="Freeform 24"/>
            <p:cNvSpPr/>
            <p:nvPr/>
          </p:nvSpPr>
          <p:spPr bwMode="auto">
            <a:xfrm>
              <a:off x="4992" y="1374"/>
              <a:ext cx="192" cy="740"/>
            </a:xfrm>
            <a:custGeom>
              <a:avLst/>
              <a:gdLst>
                <a:gd name="T0" fmla="*/ 6499 w 139"/>
                <a:gd name="T1" fmla="*/ 0 h 495"/>
                <a:gd name="T2" fmla="*/ 12802 w 139"/>
                <a:gd name="T3" fmla="*/ 27486 h 495"/>
                <a:gd name="T4" fmla="*/ 9603 w 139"/>
                <a:gd name="T5" fmla="*/ 27486 h 495"/>
                <a:gd name="T6" fmla="*/ 9603 w 139"/>
                <a:gd name="T7" fmla="*/ 110279 h 495"/>
                <a:gd name="T8" fmla="*/ 12802 w 139"/>
                <a:gd name="T9" fmla="*/ 110279 h 495"/>
                <a:gd name="T10" fmla="*/ 6499 w 139"/>
                <a:gd name="T11" fmla="*/ 137754 h 495"/>
                <a:gd name="T12" fmla="*/ 0 w 139"/>
                <a:gd name="T13" fmla="*/ 110279 h 495"/>
                <a:gd name="T14" fmla="*/ 3188 w 139"/>
                <a:gd name="T15" fmla="*/ 110279 h 495"/>
                <a:gd name="T16" fmla="*/ 3188 w 139"/>
                <a:gd name="T17" fmla="*/ 27486 h 495"/>
                <a:gd name="T18" fmla="*/ 0 w 139"/>
                <a:gd name="T19" fmla="*/ 27486 h 495"/>
                <a:gd name="T20" fmla="*/ 6499 w 139"/>
                <a:gd name="T21" fmla="*/ 0 h 4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95"/>
                <a:gd name="T35" fmla="*/ 139 w 139"/>
                <a:gd name="T36" fmla="*/ 495 h 49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95">
                  <a:moveTo>
                    <a:pt x="71" y="0"/>
                  </a:moveTo>
                  <a:lnTo>
                    <a:pt x="139" y="99"/>
                  </a:lnTo>
                  <a:lnTo>
                    <a:pt x="104" y="99"/>
                  </a:lnTo>
                  <a:lnTo>
                    <a:pt x="104" y="396"/>
                  </a:lnTo>
                  <a:lnTo>
                    <a:pt x="139" y="396"/>
                  </a:lnTo>
                  <a:lnTo>
                    <a:pt x="71" y="495"/>
                  </a:lnTo>
                  <a:lnTo>
                    <a:pt x="0" y="396"/>
                  </a:lnTo>
                  <a:lnTo>
                    <a:pt x="35" y="396"/>
                  </a:lnTo>
                  <a:lnTo>
                    <a:pt x="35" y="99"/>
                  </a:lnTo>
                  <a:lnTo>
                    <a:pt x="0" y="99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Freeform 25"/>
            <p:cNvSpPr/>
            <p:nvPr/>
          </p:nvSpPr>
          <p:spPr bwMode="auto">
            <a:xfrm>
              <a:off x="4993" y="2478"/>
              <a:ext cx="191" cy="672"/>
            </a:xfrm>
            <a:custGeom>
              <a:avLst/>
              <a:gdLst>
                <a:gd name="T0" fmla="*/ 6153 w 139"/>
                <a:gd name="T1" fmla="*/ 0 h 467"/>
                <a:gd name="T2" fmla="*/ 11867 w 139"/>
                <a:gd name="T3" fmla="*/ 15250 h 467"/>
                <a:gd name="T4" fmla="*/ 8871 w 139"/>
                <a:gd name="T5" fmla="*/ 15250 h 467"/>
                <a:gd name="T6" fmla="*/ 8871 w 139"/>
                <a:gd name="T7" fmla="*/ 61025 h 467"/>
                <a:gd name="T8" fmla="*/ 11867 w 139"/>
                <a:gd name="T9" fmla="*/ 61025 h 467"/>
                <a:gd name="T10" fmla="*/ 6153 w 139"/>
                <a:gd name="T11" fmla="*/ 76221 h 467"/>
                <a:gd name="T12" fmla="*/ 0 w 139"/>
                <a:gd name="T13" fmla="*/ 61025 h 467"/>
                <a:gd name="T14" fmla="*/ 2994 w 139"/>
                <a:gd name="T15" fmla="*/ 61025 h 467"/>
                <a:gd name="T16" fmla="*/ 2994 w 139"/>
                <a:gd name="T17" fmla="*/ 15250 h 467"/>
                <a:gd name="T18" fmla="*/ 0 w 139"/>
                <a:gd name="T19" fmla="*/ 15250 h 467"/>
                <a:gd name="T20" fmla="*/ 6153 w 139"/>
                <a:gd name="T21" fmla="*/ 0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67"/>
                <a:gd name="T35" fmla="*/ 139 w 139"/>
                <a:gd name="T36" fmla="*/ 467 h 4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67">
                  <a:moveTo>
                    <a:pt x="71" y="0"/>
                  </a:moveTo>
                  <a:lnTo>
                    <a:pt x="139" y="94"/>
                  </a:lnTo>
                  <a:lnTo>
                    <a:pt x="104" y="94"/>
                  </a:lnTo>
                  <a:lnTo>
                    <a:pt x="104" y="374"/>
                  </a:lnTo>
                  <a:lnTo>
                    <a:pt x="139" y="374"/>
                  </a:lnTo>
                  <a:lnTo>
                    <a:pt x="71" y="467"/>
                  </a:lnTo>
                  <a:lnTo>
                    <a:pt x="0" y="374"/>
                  </a:lnTo>
                  <a:lnTo>
                    <a:pt x="35" y="374"/>
                  </a:lnTo>
                  <a:lnTo>
                    <a:pt x="35" y="94"/>
                  </a:lnTo>
                  <a:lnTo>
                    <a:pt x="0" y="94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2" name="Rectangle 26"/>
            <p:cNvSpPr>
              <a:spLocks noChangeArrowheads="1"/>
            </p:cNvSpPr>
            <p:nvPr/>
          </p:nvSpPr>
          <p:spPr bwMode="auto">
            <a:xfrm>
              <a:off x="4368" y="3294"/>
              <a:ext cx="33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58747" name="Rectangle 27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3.1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1686" name="AutoShape 29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52400" y="577850"/>
            <a:ext cx="7924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3. 以存储器为中心的双总线结构框图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381000" y="1752600"/>
            <a:ext cx="8382000" cy="685800"/>
            <a:chOff x="288" y="1200"/>
            <a:chExt cx="5280" cy="432"/>
          </a:xfrm>
        </p:grpSpPr>
        <p:sp>
          <p:nvSpPr>
            <p:cNvPr id="72729" name="Rectangle 4"/>
            <p:cNvSpPr>
              <a:spLocks noChangeArrowheads="1"/>
            </p:cNvSpPr>
            <p:nvPr/>
          </p:nvSpPr>
          <p:spPr bwMode="auto">
            <a:xfrm>
              <a:off x="2526" y="1200"/>
              <a:ext cx="14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</a:rPr>
                <a:t>系统总线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0" name="Freeform 5"/>
            <p:cNvSpPr/>
            <p:nvPr/>
          </p:nvSpPr>
          <p:spPr bwMode="auto">
            <a:xfrm>
              <a:off x="288" y="1488"/>
              <a:ext cx="5280" cy="144"/>
            </a:xfrm>
            <a:custGeom>
              <a:avLst/>
              <a:gdLst>
                <a:gd name="T0" fmla="*/ 0 w 4569"/>
                <a:gd name="T1" fmla="*/ 50 h 148"/>
                <a:gd name="T2" fmla="*/ 1574 w 4569"/>
                <a:gd name="T3" fmla="*/ 101 h 148"/>
                <a:gd name="T4" fmla="*/ 1574 w 4569"/>
                <a:gd name="T5" fmla="*/ 85 h 148"/>
                <a:gd name="T6" fmla="*/ 33056 w 4569"/>
                <a:gd name="T7" fmla="*/ 85 h 148"/>
                <a:gd name="T8" fmla="*/ 33056 w 4569"/>
                <a:gd name="T9" fmla="*/ 101 h 148"/>
                <a:gd name="T10" fmla="*/ 34609 w 4569"/>
                <a:gd name="T11" fmla="*/ 50 h 148"/>
                <a:gd name="T12" fmla="*/ 33056 w 4569"/>
                <a:gd name="T13" fmla="*/ 0 h 148"/>
                <a:gd name="T14" fmla="*/ 33056 w 4569"/>
                <a:gd name="T15" fmla="*/ 18 h 148"/>
                <a:gd name="T16" fmla="*/ 1574 w 4569"/>
                <a:gd name="T17" fmla="*/ 18 h 148"/>
                <a:gd name="T18" fmla="*/ 1574 w 4569"/>
                <a:gd name="T19" fmla="*/ 0 h 148"/>
                <a:gd name="T20" fmla="*/ 0 w 4569"/>
                <a:gd name="T21" fmla="*/ 50 h 1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569"/>
                <a:gd name="T34" fmla="*/ 0 h 148"/>
                <a:gd name="T35" fmla="*/ 4569 w 4569"/>
                <a:gd name="T36" fmla="*/ 148 h 1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569" h="148">
                  <a:moveTo>
                    <a:pt x="0" y="74"/>
                  </a:moveTo>
                  <a:lnTo>
                    <a:pt x="208" y="148"/>
                  </a:lnTo>
                  <a:lnTo>
                    <a:pt x="208" y="124"/>
                  </a:lnTo>
                  <a:lnTo>
                    <a:pt x="4364" y="124"/>
                  </a:lnTo>
                  <a:lnTo>
                    <a:pt x="4364" y="148"/>
                  </a:lnTo>
                  <a:lnTo>
                    <a:pt x="4569" y="74"/>
                  </a:lnTo>
                  <a:lnTo>
                    <a:pt x="4364" y="0"/>
                  </a:lnTo>
                  <a:lnTo>
                    <a:pt x="4364" y="25"/>
                  </a:lnTo>
                  <a:lnTo>
                    <a:pt x="208" y="25"/>
                  </a:lnTo>
                  <a:lnTo>
                    <a:pt x="208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chemeClr val="folHlink"/>
            </a:solidFill>
            <a:ln w="17463">
              <a:solidFill>
                <a:schemeClr val="folHlink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9750" name="Rectangle 6"/>
          <p:cNvSpPr>
            <a:spLocks noChangeArrowheads="1"/>
          </p:cNvSpPr>
          <p:nvPr/>
        </p:nvSpPr>
        <p:spPr bwMode="auto">
          <a:xfrm>
            <a:off x="3886200" y="3608388"/>
            <a:ext cx="1143000" cy="262255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CN" altLang="en-US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主存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59751" name="Freeform 7"/>
          <p:cNvSpPr/>
          <p:nvPr/>
        </p:nvSpPr>
        <p:spPr bwMode="auto">
          <a:xfrm>
            <a:off x="4267200" y="2411413"/>
            <a:ext cx="327025" cy="1169987"/>
          </a:xfrm>
          <a:custGeom>
            <a:avLst/>
            <a:gdLst>
              <a:gd name="T0" fmla="*/ 2147483647 w 141"/>
              <a:gd name="T1" fmla="*/ 0 h 482"/>
              <a:gd name="T2" fmla="*/ 2147483647 w 141"/>
              <a:gd name="T3" fmla="*/ 2147483647 h 482"/>
              <a:gd name="T4" fmla="*/ 2147483647 w 141"/>
              <a:gd name="T5" fmla="*/ 2147483647 h 482"/>
              <a:gd name="T6" fmla="*/ 2147483647 w 141"/>
              <a:gd name="T7" fmla="*/ 2147483647 h 482"/>
              <a:gd name="T8" fmla="*/ 2147483647 w 141"/>
              <a:gd name="T9" fmla="*/ 2147483647 h 482"/>
              <a:gd name="T10" fmla="*/ 2147483647 w 141"/>
              <a:gd name="T11" fmla="*/ 2147483647 h 482"/>
              <a:gd name="T12" fmla="*/ 0 w 141"/>
              <a:gd name="T13" fmla="*/ 2147483647 h 482"/>
              <a:gd name="T14" fmla="*/ 2147483647 w 141"/>
              <a:gd name="T15" fmla="*/ 2147483647 h 482"/>
              <a:gd name="T16" fmla="*/ 2147483647 w 141"/>
              <a:gd name="T17" fmla="*/ 2147483647 h 482"/>
              <a:gd name="T18" fmla="*/ 0 w 141"/>
              <a:gd name="T19" fmla="*/ 2147483647 h 482"/>
              <a:gd name="T20" fmla="*/ 2147483647 w 141"/>
              <a:gd name="T21" fmla="*/ 0 h 48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41"/>
              <a:gd name="T34" fmla="*/ 0 h 482"/>
              <a:gd name="T35" fmla="*/ 141 w 141"/>
              <a:gd name="T36" fmla="*/ 482 h 48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41" h="482">
                <a:moveTo>
                  <a:pt x="69" y="0"/>
                </a:moveTo>
                <a:lnTo>
                  <a:pt x="141" y="94"/>
                </a:lnTo>
                <a:lnTo>
                  <a:pt x="106" y="94"/>
                </a:lnTo>
                <a:lnTo>
                  <a:pt x="106" y="387"/>
                </a:lnTo>
                <a:lnTo>
                  <a:pt x="141" y="387"/>
                </a:lnTo>
                <a:lnTo>
                  <a:pt x="69" y="482"/>
                </a:lnTo>
                <a:lnTo>
                  <a:pt x="0" y="387"/>
                </a:lnTo>
                <a:lnTo>
                  <a:pt x="34" y="387"/>
                </a:lnTo>
                <a:lnTo>
                  <a:pt x="34" y="94"/>
                </a:lnTo>
                <a:lnTo>
                  <a:pt x="0" y="94"/>
                </a:lnTo>
                <a:lnTo>
                  <a:pt x="69" y="0"/>
                </a:lnTo>
                <a:close/>
              </a:path>
            </a:pathLst>
          </a:custGeom>
          <a:noFill/>
          <a:ln w="38100" cmpd="sng">
            <a:solidFill>
              <a:schemeClr val="folHlink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8"/>
          <p:cNvGrpSpPr/>
          <p:nvPr/>
        </p:nvGrpSpPr>
        <p:grpSpPr bwMode="auto">
          <a:xfrm>
            <a:off x="609600" y="2438400"/>
            <a:ext cx="8229600" cy="3792538"/>
            <a:chOff x="384" y="1536"/>
            <a:chExt cx="5184" cy="2389"/>
          </a:xfrm>
        </p:grpSpPr>
        <p:grpSp>
          <p:nvGrpSpPr>
            <p:cNvPr id="72716" name="Group 9"/>
            <p:cNvGrpSpPr/>
            <p:nvPr/>
          </p:nvGrpSpPr>
          <p:grpSpPr bwMode="auto">
            <a:xfrm>
              <a:off x="384" y="1536"/>
              <a:ext cx="719" cy="2389"/>
              <a:chOff x="432" y="1632"/>
              <a:chExt cx="719" cy="2389"/>
            </a:xfrm>
          </p:grpSpPr>
          <p:sp>
            <p:nvSpPr>
              <p:cNvPr id="72727" name="Rectangle 10"/>
              <p:cNvSpPr>
                <a:spLocks noChangeArrowheads="1"/>
              </p:cNvSpPr>
              <p:nvPr/>
            </p:nvSpPr>
            <p:spPr bwMode="auto">
              <a:xfrm>
                <a:off x="432" y="2369"/>
                <a:ext cx="719" cy="1652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32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endParaRPr lang="zh-CN" altLang="en-US" sz="32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 CPU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28" name="Freeform 11"/>
              <p:cNvSpPr/>
              <p:nvPr/>
            </p:nvSpPr>
            <p:spPr bwMode="auto">
              <a:xfrm>
                <a:off x="672" y="1632"/>
                <a:ext cx="206" cy="737"/>
              </a:xfrm>
              <a:custGeom>
                <a:avLst/>
                <a:gdLst>
                  <a:gd name="T0" fmla="*/ 14011 w 141"/>
                  <a:gd name="T1" fmla="*/ 0 h 482"/>
                  <a:gd name="T2" fmla="*/ 28475 w 141"/>
                  <a:gd name="T3" fmla="*/ 35914 h 482"/>
                  <a:gd name="T4" fmla="*/ 21355 w 141"/>
                  <a:gd name="T5" fmla="*/ 35914 h 482"/>
                  <a:gd name="T6" fmla="*/ 21355 w 141"/>
                  <a:gd name="T7" fmla="*/ 147788 h 482"/>
                  <a:gd name="T8" fmla="*/ 28475 w 141"/>
                  <a:gd name="T9" fmla="*/ 147788 h 482"/>
                  <a:gd name="T10" fmla="*/ 14011 w 141"/>
                  <a:gd name="T11" fmla="*/ 184079 h 482"/>
                  <a:gd name="T12" fmla="*/ 0 w 141"/>
                  <a:gd name="T13" fmla="*/ 147788 h 482"/>
                  <a:gd name="T14" fmla="*/ 6921 w 141"/>
                  <a:gd name="T15" fmla="*/ 147788 h 482"/>
                  <a:gd name="T16" fmla="*/ 6921 w 141"/>
                  <a:gd name="T17" fmla="*/ 35914 h 482"/>
                  <a:gd name="T18" fmla="*/ 0 w 141"/>
                  <a:gd name="T19" fmla="*/ 35914 h 482"/>
                  <a:gd name="T20" fmla="*/ 14011 w 141"/>
                  <a:gd name="T21" fmla="*/ 0 h 4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1"/>
                  <a:gd name="T34" fmla="*/ 0 h 482"/>
                  <a:gd name="T35" fmla="*/ 141 w 141"/>
                  <a:gd name="T36" fmla="*/ 482 h 48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1" h="482">
                    <a:moveTo>
                      <a:pt x="69" y="0"/>
                    </a:moveTo>
                    <a:lnTo>
                      <a:pt x="141" y="94"/>
                    </a:lnTo>
                    <a:lnTo>
                      <a:pt x="106" y="94"/>
                    </a:lnTo>
                    <a:lnTo>
                      <a:pt x="106" y="387"/>
                    </a:lnTo>
                    <a:lnTo>
                      <a:pt x="141" y="387"/>
                    </a:lnTo>
                    <a:lnTo>
                      <a:pt x="69" y="482"/>
                    </a:lnTo>
                    <a:lnTo>
                      <a:pt x="0" y="387"/>
                    </a:lnTo>
                    <a:lnTo>
                      <a:pt x="34" y="387"/>
                    </a:lnTo>
                    <a:lnTo>
                      <a:pt x="34" y="94"/>
                    </a:lnTo>
                    <a:lnTo>
                      <a:pt x="0" y="94"/>
                    </a:lnTo>
                    <a:lnTo>
                      <a:pt x="69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717" name="Rectangle 12"/>
            <p:cNvSpPr>
              <a:spLocks noChangeArrowheads="1"/>
            </p:cNvSpPr>
            <p:nvPr/>
          </p:nvSpPr>
          <p:spPr bwMode="auto">
            <a:xfrm>
              <a:off x="3360" y="2266"/>
              <a:ext cx="934" cy="32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 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2718" name="Freeform 13"/>
            <p:cNvSpPr/>
            <p:nvPr/>
          </p:nvSpPr>
          <p:spPr bwMode="auto">
            <a:xfrm>
              <a:off x="3744" y="1536"/>
              <a:ext cx="192" cy="730"/>
            </a:xfrm>
            <a:custGeom>
              <a:avLst/>
              <a:gdLst>
                <a:gd name="T0" fmla="*/ 6499 w 139"/>
                <a:gd name="T1" fmla="*/ 0 h 495"/>
                <a:gd name="T2" fmla="*/ 12802 w 139"/>
                <a:gd name="T3" fmla="*/ 22727 h 495"/>
                <a:gd name="T4" fmla="*/ 9603 w 139"/>
                <a:gd name="T5" fmla="*/ 22727 h 495"/>
                <a:gd name="T6" fmla="*/ 9603 w 139"/>
                <a:gd name="T7" fmla="*/ 91138 h 495"/>
                <a:gd name="T8" fmla="*/ 12802 w 139"/>
                <a:gd name="T9" fmla="*/ 91138 h 495"/>
                <a:gd name="T10" fmla="*/ 6499 w 139"/>
                <a:gd name="T11" fmla="*/ 113961 h 495"/>
                <a:gd name="T12" fmla="*/ 0 w 139"/>
                <a:gd name="T13" fmla="*/ 91138 h 495"/>
                <a:gd name="T14" fmla="*/ 3188 w 139"/>
                <a:gd name="T15" fmla="*/ 91138 h 495"/>
                <a:gd name="T16" fmla="*/ 3188 w 139"/>
                <a:gd name="T17" fmla="*/ 22727 h 495"/>
                <a:gd name="T18" fmla="*/ 0 w 139"/>
                <a:gd name="T19" fmla="*/ 22727 h 495"/>
                <a:gd name="T20" fmla="*/ 6499 w 139"/>
                <a:gd name="T21" fmla="*/ 0 h 4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95"/>
                <a:gd name="T35" fmla="*/ 139 w 139"/>
                <a:gd name="T36" fmla="*/ 495 h 49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95">
                  <a:moveTo>
                    <a:pt x="71" y="0"/>
                  </a:moveTo>
                  <a:lnTo>
                    <a:pt x="139" y="99"/>
                  </a:lnTo>
                  <a:lnTo>
                    <a:pt x="104" y="99"/>
                  </a:lnTo>
                  <a:lnTo>
                    <a:pt x="104" y="396"/>
                  </a:lnTo>
                  <a:lnTo>
                    <a:pt x="139" y="396"/>
                  </a:lnTo>
                  <a:lnTo>
                    <a:pt x="71" y="495"/>
                  </a:lnTo>
                  <a:lnTo>
                    <a:pt x="0" y="396"/>
                  </a:lnTo>
                  <a:lnTo>
                    <a:pt x="35" y="396"/>
                  </a:lnTo>
                  <a:lnTo>
                    <a:pt x="35" y="99"/>
                  </a:lnTo>
                  <a:lnTo>
                    <a:pt x="0" y="99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9" name="Freeform 14"/>
            <p:cNvSpPr/>
            <p:nvPr/>
          </p:nvSpPr>
          <p:spPr bwMode="auto">
            <a:xfrm>
              <a:off x="3761" y="2632"/>
              <a:ext cx="175" cy="626"/>
            </a:xfrm>
            <a:custGeom>
              <a:avLst/>
              <a:gdLst>
                <a:gd name="T0" fmla="*/ 1781 w 139"/>
                <a:gd name="T1" fmla="*/ 0 h 467"/>
                <a:gd name="T2" fmla="*/ 3490 w 139"/>
                <a:gd name="T3" fmla="*/ 5706 h 467"/>
                <a:gd name="T4" fmla="*/ 2617 w 139"/>
                <a:gd name="T5" fmla="*/ 5706 h 467"/>
                <a:gd name="T6" fmla="*/ 2617 w 139"/>
                <a:gd name="T7" fmla="*/ 22618 h 467"/>
                <a:gd name="T8" fmla="*/ 3490 w 139"/>
                <a:gd name="T9" fmla="*/ 22618 h 467"/>
                <a:gd name="T10" fmla="*/ 1781 w 139"/>
                <a:gd name="T11" fmla="*/ 28234 h 467"/>
                <a:gd name="T12" fmla="*/ 0 w 139"/>
                <a:gd name="T13" fmla="*/ 22618 h 467"/>
                <a:gd name="T14" fmla="*/ 871 w 139"/>
                <a:gd name="T15" fmla="*/ 22618 h 467"/>
                <a:gd name="T16" fmla="*/ 871 w 139"/>
                <a:gd name="T17" fmla="*/ 5706 h 467"/>
                <a:gd name="T18" fmla="*/ 0 w 139"/>
                <a:gd name="T19" fmla="*/ 5706 h 467"/>
                <a:gd name="T20" fmla="*/ 1781 w 139"/>
                <a:gd name="T21" fmla="*/ 0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67"/>
                <a:gd name="T35" fmla="*/ 139 w 139"/>
                <a:gd name="T36" fmla="*/ 467 h 4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67">
                  <a:moveTo>
                    <a:pt x="71" y="0"/>
                  </a:moveTo>
                  <a:lnTo>
                    <a:pt x="139" y="94"/>
                  </a:lnTo>
                  <a:lnTo>
                    <a:pt x="104" y="94"/>
                  </a:lnTo>
                  <a:lnTo>
                    <a:pt x="104" y="374"/>
                  </a:lnTo>
                  <a:lnTo>
                    <a:pt x="139" y="374"/>
                  </a:lnTo>
                  <a:lnTo>
                    <a:pt x="71" y="467"/>
                  </a:lnTo>
                  <a:lnTo>
                    <a:pt x="0" y="374"/>
                  </a:lnTo>
                  <a:lnTo>
                    <a:pt x="35" y="374"/>
                  </a:lnTo>
                  <a:lnTo>
                    <a:pt x="35" y="94"/>
                  </a:lnTo>
                  <a:lnTo>
                    <a:pt x="0" y="94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0" name="Rectangle 15"/>
            <p:cNvSpPr>
              <a:spLocks noChangeArrowheads="1"/>
            </p:cNvSpPr>
            <p:nvPr/>
          </p:nvSpPr>
          <p:spPr bwMode="auto">
            <a:xfrm>
              <a:off x="3360" y="3289"/>
              <a:ext cx="934" cy="59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   </a:t>
              </a:r>
              <a:r>
                <a:rPr lang="zh-CN" altLang="en-US" sz="1000">
                  <a:latin typeface="Times New Roman" panose="02020603050405020304" pitchFamily="18" charset="0"/>
                </a:rPr>
                <a:t>    </a:t>
              </a: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  设备1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2721" name="Rectangle 16"/>
            <p:cNvSpPr>
              <a:spLocks noChangeArrowheads="1"/>
            </p:cNvSpPr>
            <p:nvPr/>
          </p:nvSpPr>
          <p:spPr bwMode="auto">
            <a:xfrm>
              <a:off x="4368" y="226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22" name="Rectangle 17"/>
            <p:cNvSpPr>
              <a:spLocks noChangeArrowheads="1"/>
            </p:cNvSpPr>
            <p:nvPr/>
          </p:nvSpPr>
          <p:spPr bwMode="auto">
            <a:xfrm>
              <a:off x="4634" y="3289"/>
              <a:ext cx="934" cy="59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   </a:t>
              </a:r>
              <a:r>
                <a:rPr lang="zh-CN" altLang="en-US" sz="1000">
                  <a:latin typeface="Times New Roman" panose="02020603050405020304" pitchFamily="18" charset="0"/>
                </a:rPr>
                <a:t>    </a:t>
              </a: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  设备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72723" name="Rectangle 18"/>
            <p:cNvSpPr>
              <a:spLocks noChangeArrowheads="1"/>
            </p:cNvSpPr>
            <p:nvPr/>
          </p:nvSpPr>
          <p:spPr bwMode="auto">
            <a:xfrm>
              <a:off x="4634" y="2266"/>
              <a:ext cx="934" cy="32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 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2724" name="Freeform 19"/>
            <p:cNvSpPr/>
            <p:nvPr/>
          </p:nvSpPr>
          <p:spPr bwMode="auto">
            <a:xfrm>
              <a:off x="4987" y="1536"/>
              <a:ext cx="197" cy="730"/>
            </a:xfrm>
            <a:custGeom>
              <a:avLst/>
              <a:gdLst>
                <a:gd name="T0" fmla="*/ 9406 w 139"/>
                <a:gd name="T1" fmla="*/ 0 h 495"/>
                <a:gd name="T2" fmla="*/ 18311 w 139"/>
                <a:gd name="T3" fmla="*/ 22727 h 495"/>
                <a:gd name="T4" fmla="*/ 13653 w 139"/>
                <a:gd name="T5" fmla="*/ 22727 h 495"/>
                <a:gd name="T6" fmla="*/ 13653 w 139"/>
                <a:gd name="T7" fmla="*/ 91138 h 495"/>
                <a:gd name="T8" fmla="*/ 18311 w 139"/>
                <a:gd name="T9" fmla="*/ 91138 h 495"/>
                <a:gd name="T10" fmla="*/ 9406 w 139"/>
                <a:gd name="T11" fmla="*/ 113961 h 495"/>
                <a:gd name="T12" fmla="*/ 0 w 139"/>
                <a:gd name="T13" fmla="*/ 91138 h 495"/>
                <a:gd name="T14" fmla="*/ 4683 w 139"/>
                <a:gd name="T15" fmla="*/ 91138 h 495"/>
                <a:gd name="T16" fmla="*/ 4683 w 139"/>
                <a:gd name="T17" fmla="*/ 22727 h 495"/>
                <a:gd name="T18" fmla="*/ 0 w 139"/>
                <a:gd name="T19" fmla="*/ 22727 h 495"/>
                <a:gd name="T20" fmla="*/ 9406 w 139"/>
                <a:gd name="T21" fmla="*/ 0 h 4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95"/>
                <a:gd name="T35" fmla="*/ 139 w 139"/>
                <a:gd name="T36" fmla="*/ 495 h 49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95">
                  <a:moveTo>
                    <a:pt x="71" y="0"/>
                  </a:moveTo>
                  <a:lnTo>
                    <a:pt x="139" y="99"/>
                  </a:lnTo>
                  <a:lnTo>
                    <a:pt x="104" y="99"/>
                  </a:lnTo>
                  <a:lnTo>
                    <a:pt x="104" y="396"/>
                  </a:lnTo>
                  <a:lnTo>
                    <a:pt x="139" y="396"/>
                  </a:lnTo>
                  <a:lnTo>
                    <a:pt x="71" y="495"/>
                  </a:lnTo>
                  <a:lnTo>
                    <a:pt x="0" y="396"/>
                  </a:lnTo>
                  <a:lnTo>
                    <a:pt x="35" y="396"/>
                  </a:lnTo>
                  <a:lnTo>
                    <a:pt x="35" y="99"/>
                  </a:lnTo>
                  <a:lnTo>
                    <a:pt x="0" y="99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5" name="Freeform 20"/>
            <p:cNvSpPr/>
            <p:nvPr/>
          </p:nvSpPr>
          <p:spPr bwMode="auto">
            <a:xfrm>
              <a:off x="5004" y="2632"/>
              <a:ext cx="180" cy="626"/>
            </a:xfrm>
            <a:custGeom>
              <a:avLst/>
              <a:gdLst>
                <a:gd name="T0" fmla="*/ 2643 w 139"/>
                <a:gd name="T1" fmla="*/ 0 h 467"/>
                <a:gd name="T2" fmla="*/ 5177 w 139"/>
                <a:gd name="T3" fmla="*/ 5706 h 467"/>
                <a:gd name="T4" fmla="*/ 3897 w 139"/>
                <a:gd name="T5" fmla="*/ 5706 h 467"/>
                <a:gd name="T6" fmla="*/ 3897 w 139"/>
                <a:gd name="T7" fmla="*/ 22618 h 467"/>
                <a:gd name="T8" fmla="*/ 5177 w 139"/>
                <a:gd name="T9" fmla="*/ 22618 h 467"/>
                <a:gd name="T10" fmla="*/ 2643 w 139"/>
                <a:gd name="T11" fmla="*/ 28234 h 467"/>
                <a:gd name="T12" fmla="*/ 0 w 139"/>
                <a:gd name="T13" fmla="*/ 22618 h 467"/>
                <a:gd name="T14" fmla="*/ 1288 w 139"/>
                <a:gd name="T15" fmla="*/ 22618 h 467"/>
                <a:gd name="T16" fmla="*/ 1288 w 139"/>
                <a:gd name="T17" fmla="*/ 5706 h 467"/>
                <a:gd name="T18" fmla="*/ 0 w 139"/>
                <a:gd name="T19" fmla="*/ 5706 h 467"/>
                <a:gd name="T20" fmla="*/ 2643 w 139"/>
                <a:gd name="T21" fmla="*/ 0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67"/>
                <a:gd name="T35" fmla="*/ 139 w 139"/>
                <a:gd name="T36" fmla="*/ 467 h 4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67">
                  <a:moveTo>
                    <a:pt x="71" y="0"/>
                  </a:moveTo>
                  <a:lnTo>
                    <a:pt x="139" y="94"/>
                  </a:lnTo>
                  <a:lnTo>
                    <a:pt x="104" y="94"/>
                  </a:lnTo>
                  <a:lnTo>
                    <a:pt x="104" y="374"/>
                  </a:lnTo>
                  <a:lnTo>
                    <a:pt x="139" y="374"/>
                  </a:lnTo>
                  <a:lnTo>
                    <a:pt x="71" y="467"/>
                  </a:lnTo>
                  <a:lnTo>
                    <a:pt x="0" y="374"/>
                  </a:lnTo>
                  <a:lnTo>
                    <a:pt x="35" y="374"/>
                  </a:lnTo>
                  <a:lnTo>
                    <a:pt x="35" y="94"/>
                  </a:lnTo>
                  <a:lnTo>
                    <a:pt x="0" y="94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6" name="Rectangle 21"/>
            <p:cNvSpPr>
              <a:spLocks noChangeArrowheads="1"/>
            </p:cNvSpPr>
            <p:nvPr/>
          </p:nvSpPr>
          <p:spPr bwMode="auto">
            <a:xfrm>
              <a:off x="4368" y="346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22"/>
          <p:cNvGrpSpPr/>
          <p:nvPr/>
        </p:nvGrpSpPr>
        <p:grpSpPr bwMode="auto">
          <a:xfrm>
            <a:off x="1752600" y="4267200"/>
            <a:ext cx="2133600" cy="785813"/>
            <a:chOff x="1152" y="2625"/>
            <a:chExt cx="1344" cy="495"/>
          </a:xfrm>
        </p:grpSpPr>
        <p:sp>
          <p:nvSpPr>
            <p:cNvPr id="72714" name="AutoShape 23"/>
            <p:cNvSpPr>
              <a:spLocks noChangeArrowheads="1"/>
            </p:cNvSpPr>
            <p:nvPr/>
          </p:nvSpPr>
          <p:spPr bwMode="auto">
            <a:xfrm>
              <a:off x="1152" y="2957"/>
              <a:ext cx="1344" cy="163"/>
            </a:xfrm>
            <a:prstGeom prst="leftRightArrow">
              <a:avLst>
                <a:gd name="adj1" fmla="val 49759"/>
                <a:gd name="adj2" fmla="val 114100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5" name="Text Box 24"/>
            <p:cNvSpPr txBox="1">
              <a:spLocks noChangeArrowheads="1"/>
            </p:cNvSpPr>
            <p:nvPr/>
          </p:nvSpPr>
          <p:spPr bwMode="auto">
            <a:xfrm>
              <a:off x="1316" y="2625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存储总线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59769" name="Rectangle 25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3.1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2713" name="AutoShape 28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0" grpId="0" animBg="1" autoUpdateAnimBg="0"/>
      <p:bldP spid="1597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smtClean="0"/>
              <a:t>3.2 总线的分类</a:t>
            </a:r>
            <a:endParaRPr lang="en-US" altLang="zh-CN" b="1" smtClean="0"/>
          </a:p>
        </p:txBody>
      </p:sp>
      <p:sp>
        <p:nvSpPr>
          <p:cNvPr id="160771" name="Text Box 3"/>
          <p:cNvSpPr txBox="1">
            <a:spLocks noChangeArrowheads="1"/>
          </p:cNvSpPr>
          <p:nvPr/>
        </p:nvSpPr>
        <p:spPr bwMode="auto">
          <a:xfrm>
            <a:off x="304800" y="1492250"/>
            <a:ext cx="3352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1</a:t>
            </a:r>
            <a:r>
              <a:rPr lang="zh-CN" altLang="en-US" sz="3600"/>
              <a:t>.</a:t>
            </a:r>
            <a:r>
              <a:rPr lang="zh-CN" altLang="en-US" sz="3600">
                <a:latin typeface="Times New Roman" panose="02020603050405020304" pitchFamily="18" charset="0"/>
              </a:rPr>
              <a:t>片内总线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60772" name="Text Box 4"/>
          <p:cNvSpPr txBox="1">
            <a:spLocks noChangeArrowheads="1"/>
          </p:cNvSpPr>
          <p:nvPr/>
        </p:nvSpPr>
        <p:spPr bwMode="auto">
          <a:xfrm>
            <a:off x="304800" y="2425700"/>
            <a:ext cx="3352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2</a:t>
            </a:r>
            <a:r>
              <a:rPr lang="zh-CN" altLang="en-US" sz="3600"/>
              <a:t>.</a:t>
            </a:r>
            <a:r>
              <a:rPr lang="zh-CN" altLang="en-US" sz="3600">
                <a:latin typeface="Times New Roman" panose="02020603050405020304" pitchFamily="18" charset="0"/>
              </a:rPr>
              <a:t>系统总线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60773" name="Text Box 5"/>
          <p:cNvSpPr txBox="1">
            <a:spLocks noChangeArrowheads="1"/>
          </p:cNvSpPr>
          <p:nvPr/>
        </p:nvSpPr>
        <p:spPr bwMode="auto">
          <a:xfrm>
            <a:off x="3048000" y="1552575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芯片内部 </a:t>
            </a:r>
            <a:r>
              <a:rPr lang="zh-CN" altLang="en-US" sz="2800">
                <a:latin typeface="Times New Roman" panose="02020603050405020304" pitchFamily="18" charset="0"/>
              </a:rPr>
              <a:t>的总线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914400" y="3228975"/>
            <a:ext cx="1606550" cy="2119313"/>
            <a:chOff x="576" y="2034"/>
            <a:chExt cx="1012" cy="1335"/>
          </a:xfrm>
        </p:grpSpPr>
        <p:sp>
          <p:nvSpPr>
            <p:cNvPr id="73743" name="Text Box 7"/>
            <p:cNvSpPr txBox="1">
              <a:spLocks noChangeArrowheads="1"/>
            </p:cNvSpPr>
            <p:nvPr/>
          </p:nvSpPr>
          <p:spPr bwMode="auto">
            <a:xfrm>
              <a:off x="576" y="2034"/>
              <a:ext cx="10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数据总线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73744" name="Text Box 8"/>
            <p:cNvSpPr txBox="1">
              <a:spLocks noChangeArrowheads="1"/>
            </p:cNvSpPr>
            <p:nvPr/>
          </p:nvSpPr>
          <p:spPr bwMode="auto">
            <a:xfrm>
              <a:off x="576" y="2538"/>
              <a:ext cx="10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地址总线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73745" name="Text Box 9"/>
            <p:cNvSpPr txBox="1">
              <a:spLocks noChangeArrowheads="1"/>
            </p:cNvSpPr>
            <p:nvPr/>
          </p:nvSpPr>
          <p:spPr bwMode="auto">
            <a:xfrm>
              <a:off x="576" y="3042"/>
              <a:ext cx="10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控制总线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60778" name="AutoShape 10"/>
          <p:cNvSpPr/>
          <p:nvPr/>
        </p:nvSpPr>
        <p:spPr bwMode="auto">
          <a:xfrm>
            <a:off x="762000" y="3505200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0779" name="Text Box 11"/>
          <p:cNvSpPr txBox="1">
            <a:spLocks noChangeArrowheads="1"/>
          </p:cNvSpPr>
          <p:nvPr/>
        </p:nvSpPr>
        <p:spPr bwMode="auto">
          <a:xfrm>
            <a:off x="3048000" y="3228975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双向</a:t>
            </a:r>
            <a:r>
              <a:rPr lang="zh-CN" altLang="en-US" sz="2800">
                <a:latin typeface="Times New Roman" panose="02020603050405020304" pitchFamily="18" charset="0"/>
              </a:rPr>
              <a:t>  与机器字长、存储字长有关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60780" name="Text Box 12"/>
          <p:cNvSpPr txBox="1">
            <a:spLocks noChangeArrowheads="1"/>
          </p:cNvSpPr>
          <p:nvPr/>
        </p:nvSpPr>
        <p:spPr bwMode="auto">
          <a:xfrm>
            <a:off x="3048000" y="4048125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单向</a:t>
            </a:r>
            <a:r>
              <a:rPr lang="zh-CN" altLang="en-US" sz="2800">
                <a:latin typeface="Times New Roman" panose="02020603050405020304" pitchFamily="18" charset="0"/>
              </a:rPr>
              <a:t>  与存储地址、 </a:t>
            </a:r>
            <a:r>
              <a:rPr lang="en-US" altLang="zh-CN" sz="2800">
                <a:latin typeface="Times New Roman" panose="02020603050405020304" pitchFamily="18" charset="0"/>
              </a:rPr>
              <a:t>I/O</a:t>
            </a:r>
            <a:r>
              <a:rPr lang="zh-CN" altLang="en-US" sz="2800">
                <a:latin typeface="Times New Roman" panose="02020603050405020304" pitchFamily="18" charset="0"/>
              </a:rPr>
              <a:t>地址有关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60781" name="Text Box 13"/>
          <p:cNvSpPr txBox="1">
            <a:spLocks noChangeArrowheads="1"/>
          </p:cNvSpPr>
          <p:nvPr/>
        </p:nvSpPr>
        <p:spPr bwMode="auto">
          <a:xfrm>
            <a:off x="3048000" y="4876800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有出  有入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0782" name="Text Box 14"/>
          <p:cNvSpPr txBox="1">
            <a:spLocks noChangeArrowheads="1"/>
          </p:cNvSpPr>
          <p:nvPr/>
        </p:nvSpPr>
        <p:spPr bwMode="auto">
          <a:xfrm>
            <a:off x="3048000" y="2487613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计算机各部件之间 </a:t>
            </a:r>
            <a:r>
              <a:rPr lang="zh-CN" altLang="en-US" sz="2800">
                <a:latin typeface="Times New Roman" panose="02020603050405020304" pitchFamily="18" charset="0"/>
              </a:rPr>
              <a:t>的信息传输线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60783" name="AutoShape 15"/>
          <p:cNvSpPr>
            <a:spLocks noChangeArrowheads="1"/>
          </p:cNvSpPr>
          <p:nvPr/>
        </p:nvSpPr>
        <p:spPr bwMode="auto">
          <a:xfrm>
            <a:off x="4343400" y="5641975"/>
            <a:ext cx="3175000" cy="911225"/>
          </a:xfrm>
          <a:prstGeom prst="wedgeRoundRectCallout">
            <a:avLst>
              <a:gd name="adj1" fmla="val -65546"/>
              <a:gd name="adj2" fmla="val -81889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存储器读、存储器写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总线允许、中断确认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0784" name="AutoShape 16"/>
          <p:cNvSpPr>
            <a:spLocks noChangeArrowheads="1"/>
          </p:cNvSpPr>
          <p:nvPr/>
        </p:nvSpPr>
        <p:spPr bwMode="auto">
          <a:xfrm>
            <a:off x="685800" y="5883275"/>
            <a:ext cx="3175000" cy="517525"/>
          </a:xfrm>
          <a:prstGeom prst="wedgeRoundRectCallout">
            <a:avLst>
              <a:gd name="adj1" fmla="val 54236"/>
              <a:gd name="adj2" fmla="val -170065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中断请求、总线请求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3742" name="AutoShape 18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6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07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607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autoUpdateAnimBg="0"/>
      <p:bldP spid="160772" grpId="0" autoUpdateAnimBg="0"/>
      <p:bldP spid="160773" grpId="0" autoUpdateAnimBg="0"/>
      <p:bldP spid="160778" grpId="0" animBg="1"/>
      <p:bldP spid="160779" grpId="0" autoUpdateAnimBg="0"/>
      <p:bldP spid="160780" grpId="0" autoUpdateAnimBg="0"/>
      <p:bldP spid="160781" grpId="0" autoUpdateAnimBg="0"/>
      <p:bldP spid="160782" grpId="0" autoUpdateAnimBg="0"/>
      <p:bldP spid="160783" grpId="0" animBg="1" autoUpdateAnimBg="0"/>
      <p:bldP spid="160784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569913" y="685800"/>
            <a:ext cx="31638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3</a:t>
            </a:r>
            <a:r>
              <a:rPr lang="zh-CN" altLang="en-US" sz="3600"/>
              <a:t>.</a:t>
            </a:r>
            <a:r>
              <a:rPr lang="zh-CN" altLang="en-US" sz="3600">
                <a:latin typeface="Times New Roman" panose="02020603050405020304" pitchFamily="18" charset="0"/>
              </a:rPr>
              <a:t>通信总线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61795" name="Text Box 3"/>
          <p:cNvSpPr txBox="1">
            <a:spLocks noChangeArrowheads="1"/>
          </p:cNvSpPr>
          <p:nvPr/>
        </p:nvSpPr>
        <p:spPr bwMode="auto">
          <a:xfrm>
            <a:off x="3549650" y="4095750"/>
            <a:ext cx="231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串行通信总线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3549650" y="5453063"/>
            <a:ext cx="2317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并行通信总线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61797" name="Text Box 5"/>
          <p:cNvSpPr txBox="1">
            <a:spLocks noChangeArrowheads="1"/>
          </p:cNvSpPr>
          <p:nvPr/>
        </p:nvSpPr>
        <p:spPr bwMode="auto">
          <a:xfrm>
            <a:off x="1371600" y="4697413"/>
            <a:ext cx="1809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传输方式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61798" name="AutoShape 6"/>
          <p:cNvSpPr/>
          <p:nvPr/>
        </p:nvSpPr>
        <p:spPr bwMode="auto">
          <a:xfrm>
            <a:off x="3244850" y="4295775"/>
            <a:ext cx="3048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1799" name="Rectangle 7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3.2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1371600" y="1581150"/>
            <a:ext cx="7772400" cy="2062163"/>
            <a:chOff x="864" y="996"/>
            <a:chExt cx="4896" cy="1299"/>
          </a:xfrm>
        </p:grpSpPr>
        <p:sp>
          <p:nvSpPr>
            <p:cNvPr id="74762" name="Text Box 9"/>
            <p:cNvSpPr txBox="1">
              <a:spLocks noChangeArrowheads="1"/>
            </p:cNvSpPr>
            <p:nvPr/>
          </p:nvSpPr>
          <p:spPr bwMode="auto">
            <a:xfrm>
              <a:off x="864" y="996"/>
              <a:ext cx="48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        用于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计算机系统之间</a:t>
              </a:r>
              <a:r>
                <a:rPr lang="zh-CN" altLang="en-US" sz="2800">
                  <a:latin typeface="Times New Roman" panose="02020603050405020304" pitchFamily="18" charset="0"/>
                </a:rPr>
                <a:t> 或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计算机系统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63" name="Text Box 10"/>
            <p:cNvSpPr txBox="1">
              <a:spLocks noChangeArrowheads="1"/>
            </p:cNvSpPr>
            <p:nvPr/>
          </p:nvSpPr>
          <p:spPr bwMode="auto">
            <a:xfrm>
              <a:off x="864" y="1490"/>
              <a:ext cx="47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与其他系统</a:t>
              </a:r>
              <a:r>
                <a:rPr lang="zh-CN" altLang="en-US" sz="2800">
                  <a:latin typeface="Times New Roman" panose="02020603050405020304" pitchFamily="18" charset="0"/>
                </a:rPr>
                <a:t>（如控制仪表、移动通信等）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74764" name="Text Box 11"/>
            <p:cNvSpPr txBox="1">
              <a:spLocks noChangeArrowheads="1"/>
            </p:cNvSpPr>
            <p:nvPr/>
          </p:nvSpPr>
          <p:spPr bwMode="auto">
            <a:xfrm>
              <a:off x="864" y="1968"/>
              <a:ext cx="36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之间的通信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74761" name="AutoShape 1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autoUpdateAnimBg="0"/>
      <p:bldP spid="161796" grpId="0" autoUpdateAnimBg="0"/>
      <p:bldP spid="161797" grpId="0" autoUpdateAnimBg="0"/>
      <p:bldP spid="16179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smtClean="0"/>
              <a:t>3.3 总线特性及性能指标</a:t>
            </a:r>
            <a:endParaRPr lang="zh-CN" altLang="en-US" b="1" smtClean="0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1604963" y="2322513"/>
            <a:ext cx="1768475" cy="3602037"/>
            <a:chOff x="528" y="1392"/>
            <a:chExt cx="773" cy="2269"/>
          </a:xfrm>
        </p:grpSpPr>
        <p:sp>
          <p:nvSpPr>
            <p:cNvPr id="75808" name="Rectangle 4"/>
            <p:cNvSpPr>
              <a:spLocks noChangeArrowheads="1"/>
            </p:cNvSpPr>
            <p:nvPr/>
          </p:nvSpPr>
          <p:spPr bwMode="auto">
            <a:xfrm>
              <a:off x="711" y="1659"/>
              <a:ext cx="406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5809" name="Rectangle 5"/>
            <p:cNvSpPr>
              <a:spLocks noChangeArrowheads="1"/>
            </p:cNvSpPr>
            <p:nvPr/>
          </p:nvSpPr>
          <p:spPr bwMode="auto">
            <a:xfrm>
              <a:off x="672" y="1392"/>
              <a:ext cx="3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800">
                  <a:solidFill>
                    <a:srgbClr val="EBF010"/>
                  </a:solidFill>
                  <a:latin typeface="Times New Roman" panose="02020603050405020304" pitchFamily="18" charset="0"/>
                </a:rPr>
                <a:t>CPU</a:t>
              </a:r>
              <a:endParaRPr lang="en-US" altLang="zh-CN" sz="2800">
                <a:solidFill>
                  <a:srgbClr val="EBF01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10" name="Rectangle 6"/>
            <p:cNvSpPr>
              <a:spLocks noChangeArrowheads="1"/>
            </p:cNvSpPr>
            <p:nvPr/>
          </p:nvSpPr>
          <p:spPr bwMode="auto">
            <a:xfrm>
              <a:off x="528" y="1680"/>
              <a:ext cx="46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rgbClr val="EBF010"/>
                  </a:solidFill>
                </a:rPr>
                <a:t>  插板</a:t>
              </a:r>
              <a:endParaRPr lang="zh-CN" altLang="en-US" sz="2800">
                <a:solidFill>
                  <a:srgbClr val="EBF01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5811" name="Group 7"/>
            <p:cNvGrpSpPr/>
            <p:nvPr/>
          </p:nvGrpSpPr>
          <p:grpSpPr bwMode="auto">
            <a:xfrm>
              <a:off x="843" y="2040"/>
              <a:ext cx="458" cy="1621"/>
              <a:chOff x="843" y="2040"/>
              <a:chExt cx="458" cy="1621"/>
            </a:xfrm>
          </p:grpSpPr>
          <p:sp>
            <p:nvSpPr>
              <p:cNvPr id="75813" name="Freeform 8"/>
              <p:cNvSpPr/>
              <p:nvPr/>
            </p:nvSpPr>
            <p:spPr bwMode="auto">
              <a:xfrm>
                <a:off x="843" y="2040"/>
                <a:ext cx="458" cy="1621"/>
              </a:xfrm>
              <a:custGeom>
                <a:avLst/>
                <a:gdLst>
                  <a:gd name="T0" fmla="*/ 0 w 458"/>
                  <a:gd name="T1" fmla="*/ 551 h 1621"/>
                  <a:gd name="T2" fmla="*/ 458 w 458"/>
                  <a:gd name="T3" fmla="*/ 0 h 1621"/>
                  <a:gd name="T4" fmla="*/ 458 w 458"/>
                  <a:gd name="T5" fmla="*/ 1071 h 1621"/>
                  <a:gd name="T6" fmla="*/ 0 w 458"/>
                  <a:gd name="T7" fmla="*/ 1621 h 1621"/>
                  <a:gd name="T8" fmla="*/ 0 w 458"/>
                  <a:gd name="T9" fmla="*/ 551 h 16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8"/>
                  <a:gd name="T16" fmla="*/ 0 h 1621"/>
                  <a:gd name="T17" fmla="*/ 458 w 458"/>
                  <a:gd name="T18" fmla="*/ 1621 h 16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8" h="1621">
                    <a:moveTo>
                      <a:pt x="0" y="551"/>
                    </a:moveTo>
                    <a:lnTo>
                      <a:pt x="458" y="0"/>
                    </a:lnTo>
                    <a:lnTo>
                      <a:pt x="458" y="1071"/>
                    </a:lnTo>
                    <a:lnTo>
                      <a:pt x="0" y="1621"/>
                    </a:lnTo>
                    <a:lnTo>
                      <a:pt x="0" y="551"/>
                    </a:lnTo>
                    <a:close/>
                  </a:path>
                </a:pathLst>
              </a:custGeom>
              <a:solidFill>
                <a:srgbClr val="EBF0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4" name="Freeform 9"/>
              <p:cNvSpPr/>
              <p:nvPr/>
            </p:nvSpPr>
            <p:spPr bwMode="auto">
              <a:xfrm>
                <a:off x="843" y="2040"/>
                <a:ext cx="458" cy="1621"/>
              </a:xfrm>
              <a:custGeom>
                <a:avLst/>
                <a:gdLst>
                  <a:gd name="T0" fmla="*/ 0 w 458"/>
                  <a:gd name="T1" fmla="*/ 551 h 1621"/>
                  <a:gd name="T2" fmla="*/ 458 w 458"/>
                  <a:gd name="T3" fmla="*/ 0 h 1621"/>
                  <a:gd name="T4" fmla="*/ 458 w 458"/>
                  <a:gd name="T5" fmla="*/ 1071 h 1621"/>
                  <a:gd name="T6" fmla="*/ 0 w 458"/>
                  <a:gd name="T7" fmla="*/ 1621 h 1621"/>
                  <a:gd name="T8" fmla="*/ 0 w 458"/>
                  <a:gd name="T9" fmla="*/ 551 h 16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8"/>
                  <a:gd name="T16" fmla="*/ 0 h 1621"/>
                  <a:gd name="T17" fmla="*/ 458 w 458"/>
                  <a:gd name="T18" fmla="*/ 1621 h 16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8" h="1621">
                    <a:moveTo>
                      <a:pt x="0" y="551"/>
                    </a:moveTo>
                    <a:lnTo>
                      <a:pt x="458" y="0"/>
                    </a:lnTo>
                    <a:lnTo>
                      <a:pt x="458" y="1071"/>
                    </a:lnTo>
                    <a:lnTo>
                      <a:pt x="0" y="1621"/>
                    </a:lnTo>
                    <a:lnTo>
                      <a:pt x="0" y="551"/>
                    </a:lnTo>
                    <a:close/>
                  </a:path>
                </a:pathLst>
              </a:custGeom>
              <a:solidFill>
                <a:srgbClr val="EBF010"/>
              </a:solidFill>
              <a:ln w="206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812" name="Line 10"/>
            <p:cNvSpPr>
              <a:spLocks noChangeShapeType="1"/>
            </p:cNvSpPr>
            <p:nvPr/>
          </p:nvSpPr>
          <p:spPr bwMode="auto">
            <a:xfrm>
              <a:off x="843" y="2064"/>
              <a:ext cx="161" cy="288"/>
            </a:xfrm>
            <a:prstGeom prst="line">
              <a:avLst/>
            </a:prstGeom>
            <a:noFill/>
            <a:ln w="15875">
              <a:solidFill>
                <a:srgbClr val="EBF01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1"/>
          <p:cNvGrpSpPr/>
          <p:nvPr/>
        </p:nvGrpSpPr>
        <p:grpSpPr bwMode="auto">
          <a:xfrm>
            <a:off x="3692525" y="2225675"/>
            <a:ext cx="1509713" cy="3678238"/>
            <a:chOff x="1440" y="1344"/>
            <a:chExt cx="660" cy="2317"/>
          </a:xfrm>
        </p:grpSpPr>
        <p:grpSp>
          <p:nvGrpSpPr>
            <p:cNvPr id="75801" name="Group 12"/>
            <p:cNvGrpSpPr/>
            <p:nvPr/>
          </p:nvGrpSpPr>
          <p:grpSpPr bwMode="auto">
            <a:xfrm>
              <a:off x="1642" y="2040"/>
              <a:ext cx="458" cy="1621"/>
              <a:chOff x="1642" y="2040"/>
              <a:chExt cx="458" cy="1621"/>
            </a:xfrm>
          </p:grpSpPr>
          <p:sp>
            <p:nvSpPr>
              <p:cNvPr id="75806" name="Freeform 13"/>
              <p:cNvSpPr/>
              <p:nvPr/>
            </p:nvSpPr>
            <p:spPr bwMode="auto">
              <a:xfrm>
                <a:off x="1642" y="2040"/>
                <a:ext cx="458" cy="1621"/>
              </a:xfrm>
              <a:custGeom>
                <a:avLst/>
                <a:gdLst>
                  <a:gd name="T0" fmla="*/ 0 w 458"/>
                  <a:gd name="T1" fmla="*/ 551 h 1621"/>
                  <a:gd name="T2" fmla="*/ 458 w 458"/>
                  <a:gd name="T3" fmla="*/ 0 h 1621"/>
                  <a:gd name="T4" fmla="*/ 458 w 458"/>
                  <a:gd name="T5" fmla="*/ 1071 h 1621"/>
                  <a:gd name="T6" fmla="*/ 0 w 458"/>
                  <a:gd name="T7" fmla="*/ 1621 h 1621"/>
                  <a:gd name="T8" fmla="*/ 0 w 458"/>
                  <a:gd name="T9" fmla="*/ 551 h 16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8"/>
                  <a:gd name="T16" fmla="*/ 0 h 1621"/>
                  <a:gd name="T17" fmla="*/ 458 w 458"/>
                  <a:gd name="T18" fmla="*/ 1621 h 16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8" h="1621">
                    <a:moveTo>
                      <a:pt x="0" y="551"/>
                    </a:moveTo>
                    <a:lnTo>
                      <a:pt x="458" y="0"/>
                    </a:lnTo>
                    <a:lnTo>
                      <a:pt x="458" y="1071"/>
                    </a:lnTo>
                    <a:lnTo>
                      <a:pt x="0" y="1621"/>
                    </a:lnTo>
                    <a:lnTo>
                      <a:pt x="0" y="551"/>
                    </a:lnTo>
                    <a:close/>
                  </a:path>
                </a:pathLst>
              </a:custGeom>
              <a:solidFill>
                <a:srgbClr val="EBF0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7" name="Freeform 14"/>
              <p:cNvSpPr/>
              <p:nvPr/>
            </p:nvSpPr>
            <p:spPr bwMode="auto">
              <a:xfrm>
                <a:off x="1642" y="2040"/>
                <a:ext cx="458" cy="1621"/>
              </a:xfrm>
              <a:custGeom>
                <a:avLst/>
                <a:gdLst>
                  <a:gd name="T0" fmla="*/ 0 w 458"/>
                  <a:gd name="T1" fmla="*/ 551 h 1621"/>
                  <a:gd name="T2" fmla="*/ 458 w 458"/>
                  <a:gd name="T3" fmla="*/ 0 h 1621"/>
                  <a:gd name="T4" fmla="*/ 458 w 458"/>
                  <a:gd name="T5" fmla="*/ 1071 h 1621"/>
                  <a:gd name="T6" fmla="*/ 0 w 458"/>
                  <a:gd name="T7" fmla="*/ 1621 h 1621"/>
                  <a:gd name="T8" fmla="*/ 0 w 458"/>
                  <a:gd name="T9" fmla="*/ 551 h 16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8"/>
                  <a:gd name="T16" fmla="*/ 0 h 1621"/>
                  <a:gd name="T17" fmla="*/ 458 w 458"/>
                  <a:gd name="T18" fmla="*/ 1621 h 16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8" h="1621">
                    <a:moveTo>
                      <a:pt x="0" y="551"/>
                    </a:moveTo>
                    <a:lnTo>
                      <a:pt x="458" y="0"/>
                    </a:lnTo>
                    <a:lnTo>
                      <a:pt x="458" y="1071"/>
                    </a:lnTo>
                    <a:lnTo>
                      <a:pt x="0" y="1621"/>
                    </a:lnTo>
                    <a:lnTo>
                      <a:pt x="0" y="551"/>
                    </a:lnTo>
                    <a:close/>
                  </a:path>
                </a:pathLst>
              </a:custGeom>
              <a:solidFill>
                <a:srgbClr val="EBF010"/>
              </a:solidFill>
              <a:ln w="206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802" name="Rectangle 15"/>
            <p:cNvSpPr>
              <a:spLocks noChangeArrowheads="1"/>
            </p:cNvSpPr>
            <p:nvPr/>
          </p:nvSpPr>
          <p:spPr bwMode="auto">
            <a:xfrm>
              <a:off x="1584" y="1679"/>
              <a:ext cx="406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5803" name="Rectangle 16"/>
            <p:cNvSpPr>
              <a:spLocks noChangeArrowheads="1"/>
            </p:cNvSpPr>
            <p:nvPr/>
          </p:nvSpPr>
          <p:spPr bwMode="auto">
            <a:xfrm>
              <a:off x="1584" y="1344"/>
              <a:ext cx="3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rgbClr val="EBF010"/>
                  </a:solidFill>
                  <a:latin typeface="Times New Roman" panose="02020603050405020304" pitchFamily="18" charset="0"/>
                </a:rPr>
                <a:t>主存</a:t>
              </a:r>
              <a:endParaRPr lang="zh-CN" altLang="en-US" sz="2800">
                <a:solidFill>
                  <a:srgbClr val="EBF01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04" name="Rectangle 17"/>
            <p:cNvSpPr>
              <a:spLocks noChangeArrowheads="1"/>
            </p:cNvSpPr>
            <p:nvPr/>
          </p:nvSpPr>
          <p:spPr bwMode="auto">
            <a:xfrm>
              <a:off x="1440" y="1661"/>
              <a:ext cx="46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rgbClr val="EBF010"/>
                  </a:solidFill>
                </a:rPr>
                <a:t>  插板</a:t>
              </a:r>
              <a:endParaRPr lang="zh-CN" altLang="en-US" sz="2800">
                <a:solidFill>
                  <a:srgbClr val="EBF01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05" name="Line 18"/>
            <p:cNvSpPr>
              <a:spLocks noChangeShapeType="1"/>
            </p:cNvSpPr>
            <p:nvPr/>
          </p:nvSpPr>
          <p:spPr bwMode="auto">
            <a:xfrm>
              <a:off x="1649" y="2067"/>
              <a:ext cx="161" cy="289"/>
            </a:xfrm>
            <a:prstGeom prst="line">
              <a:avLst/>
            </a:prstGeom>
            <a:noFill/>
            <a:ln w="15875">
              <a:solidFill>
                <a:srgbClr val="EBF01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9"/>
          <p:cNvGrpSpPr/>
          <p:nvPr/>
        </p:nvGrpSpPr>
        <p:grpSpPr bwMode="auto">
          <a:xfrm>
            <a:off x="5668963" y="2195513"/>
            <a:ext cx="1360487" cy="3708400"/>
            <a:chOff x="3571" y="1383"/>
            <a:chExt cx="857" cy="2336"/>
          </a:xfrm>
        </p:grpSpPr>
        <p:grpSp>
          <p:nvGrpSpPr>
            <p:cNvPr id="75794" name="Group 20"/>
            <p:cNvGrpSpPr/>
            <p:nvPr/>
          </p:nvGrpSpPr>
          <p:grpSpPr bwMode="auto">
            <a:xfrm>
              <a:off x="3769" y="2098"/>
              <a:ext cx="659" cy="1621"/>
              <a:chOff x="2441" y="2040"/>
              <a:chExt cx="457" cy="1621"/>
            </a:xfrm>
          </p:grpSpPr>
          <p:sp>
            <p:nvSpPr>
              <p:cNvPr id="75799" name="Freeform 21"/>
              <p:cNvSpPr/>
              <p:nvPr/>
            </p:nvSpPr>
            <p:spPr bwMode="auto">
              <a:xfrm>
                <a:off x="2441" y="2040"/>
                <a:ext cx="457" cy="1621"/>
              </a:xfrm>
              <a:custGeom>
                <a:avLst/>
                <a:gdLst>
                  <a:gd name="T0" fmla="*/ 0 w 457"/>
                  <a:gd name="T1" fmla="*/ 551 h 1621"/>
                  <a:gd name="T2" fmla="*/ 457 w 457"/>
                  <a:gd name="T3" fmla="*/ 0 h 1621"/>
                  <a:gd name="T4" fmla="*/ 457 w 457"/>
                  <a:gd name="T5" fmla="*/ 1071 h 1621"/>
                  <a:gd name="T6" fmla="*/ 0 w 457"/>
                  <a:gd name="T7" fmla="*/ 1621 h 1621"/>
                  <a:gd name="T8" fmla="*/ 0 w 457"/>
                  <a:gd name="T9" fmla="*/ 551 h 16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7"/>
                  <a:gd name="T16" fmla="*/ 0 h 1621"/>
                  <a:gd name="T17" fmla="*/ 457 w 457"/>
                  <a:gd name="T18" fmla="*/ 1621 h 16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7" h="1621">
                    <a:moveTo>
                      <a:pt x="0" y="551"/>
                    </a:moveTo>
                    <a:lnTo>
                      <a:pt x="457" y="0"/>
                    </a:lnTo>
                    <a:lnTo>
                      <a:pt x="457" y="1071"/>
                    </a:lnTo>
                    <a:lnTo>
                      <a:pt x="0" y="1621"/>
                    </a:lnTo>
                    <a:lnTo>
                      <a:pt x="0" y="551"/>
                    </a:lnTo>
                    <a:close/>
                  </a:path>
                </a:pathLst>
              </a:custGeom>
              <a:solidFill>
                <a:srgbClr val="EBF0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0" name="Freeform 22"/>
              <p:cNvSpPr/>
              <p:nvPr/>
            </p:nvSpPr>
            <p:spPr bwMode="auto">
              <a:xfrm>
                <a:off x="2441" y="2040"/>
                <a:ext cx="457" cy="1621"/>
              </a:xfrm>
              <a:custGeom>
                <a:avLst/>
                <a:gdLst>
                  <a:gd name="T0" fmla="*/ 0 w 457"/>
                  <a:gd name="T1" fmla="*/ 551 h 1621"/>
                  <a:gd name="T2" fmla="*/ 457 w 457"/>
                  <a:gd name="T3" fmla="*/ 0 h 1621"/>
                  <a:gd name="T4" fmla="*/ 457 w 457"/>
                  <a:gd name="T5" fmla="*/ 1071 h 1621"/>
                  <a:gd name="T6" fmla="*/ 0 w 457"/>
                  <a:gd name="T7" fmla="*/ 1621 h 1621"/>
                  <a:gd name="T8" fmla="*/ 0 w 457"/>
                  <a:gd name="T9" fmla="*/ 551 h 16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7"/>
                  <a:gd name="T16" fmla="*/ 0 h 1621"/>
                  <a:gd name="T17" fmla="*/ 457 w 457"/>
                  <a:gd name="T18" fmla="*/ 1621 h 16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7" h="1621">
                    <a:moveTo>
                      <a:pt x="0" y="551"/>
                    </a:moveTo>
                    <a:lnTo>
                      <a:pt x="457" y="0"/>
                    </a:lnTo>
                    <a:lnTo>
                      <a:pt x="457" y="1071"/>
                    </a:lnTo>
                    <a:lnTo>
                      <a:pt x="0" y="1621"/>
                    </a:lnTo>
                    <a:lnTo>
                      <a:pt x="0" y="551"/>
                    </a:lnTo>
                    <a:close/>
                  </a:path>
                </a:pathLst>
              </a:custGeom>
              <a:solidFill>
                <a:srgbClr val="EBF010"/>
              </a:solidFill>
              <a:ln w="206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795" name="Rectangle 23"/>
            <p:cNvSpPr>
              <a:spLocks noChangeArrowheads="1"/>
            </p:cNvSpPr>
            <p:nvPr/>
          </p:nvSpPr>
          <p:spPr bwMode="auto">
            <a:xfrm>
              <a:off x="3731" y="1740"/>
              <a:ext cx="586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5796" name="Rectangle 24"/>
            <p:cNvSpPr>
              <a:spLocks noChangeArrowheads="1"/>
            </p:cNvSpPr>
            <p:nvPr/>
          </p:nvSpPr>
          <p:spPr bwMode="auto">
            <a:xfrm>
              <a:off x="3696" y="1383"/>
              <a:ext cx="3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800">
                  <a:solidFill>
                    <a:srgbClr val="EBF010"/>
                  </a:solidFill>
                  <a:latin typeface="Times New Roman" panose="02020603050405020304" pitchFamily="18" charset="0"/>
                </a:rPr>
                <a:t>I/O</a:t>
              </a:r>
              <a:endParaRPr lang="en-US" altLang="zh-CN" sz="2800">
                <a:solidFill>
                  <a:srgbClr val="EBF01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797" name="Rectangle 25"/>
            <p:cNvSpPr>
              <a:spLocks noChangeArrowheads="1"/>
            </p:cNvSpPr>
            <p:nvPr/>
          </p:nvSpPr>
          <p:spPr bwMode="auto">
            <a:xfrm>
              <a:off x="3571" y="1690"/>
              <a:ext cx="56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rgbClr val="EBF010"/>
                  </a:solidFill>
                </a:rPr>
                <a:t> 插板</a:t>
              </a:r>
              <a:endParaRPr lang="zh-CN" altLang="en-US" sz="2800">
                <a:solidFill>
                  <a:srgbClr val="EBF01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798" name="Line 26"/>
            <p:cNvSpPr>
              <a:spLocks noChangeShapeType="1"/>
            </p:cNvSpPr>
            <p:nvPr/>
          </p:nvSpPr>
          <p:spPr bwMode="auto">
            <a:xfrm>
              <a:off x="3787" y="2125"/>
              <a:ext cx="233" cy="289"/>
            </a:xfrm>
            <a:prstGeom prst="line">
              <a:avLst/>
            </a:prstGeom>
            <a:noFill/>
            <a:ln w="15875">
              <a:solidFill>
                <a:srgbClr val="EBF01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2843" name="Text Box 27"/>
          <p:cNvSpPr txBox="1">
            <a:spLocks noChangeArrowheads="1"/>
          </p:cNvSpPr>
          <p:nvPr/>
        </p:nvSpPr>
        <p:spPr bwMode="auto">
          <a:xfrm>
            <a:off x="593725" y="1235075"/>
            <a:ext cx="3854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一、总线物理实现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5783" name="AutoShape 37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8" name="Group 50"/>
          <p:cNvGrpSpPr/>
          <p:nvPr/>
        </p:nvGrpSpPr>
        <p:grpSpPr bwMode="auto">
          <a:xfrm>
            <a:off x="539750" y="4981575"/>
            <a:ext cx="8213725" cy="944563"/>
            <a:chOff x="340" y="3138"/>
            <a:chExt cx="5174" cy="595"/>
          </a:xfrm>
        </p:grpSpPr>
        <p:grpSp>
          <p:nvGrpSpPr>
            <p:cNvPr id="75785" name="Group 49"/>
            <p:cNvGrpSpPr/>
            <p:nvPr/>
          </p:nvGrpSpPr>
          <p:grpSpPr bwMode="auto">
            <a:xfrm>
              <a:off x="340" y="3138"/>
              <a:ext cx="4879" cy="595"/>
              <a:chOff x="340" y="3138"/>
              <a:chExt cx="4879" cy="595"/>
            </a:xfrm>
          </p:grpSpPr>
          <p:sp>
            <p:nvSpPr>
              <p:cNvPr id="75787" name="Line 29"/>
              <p:cNvSpPr>
                <a:spLocks noChangeShapeType="1"/>
              </p:cNvSpPr>
              <p:nvPr/>
            </p:nvSpPr>
            <p:spPr bwMode="auto">
              <a:xfrm>
                <a:off x="499" y="3732"/>
                <a:ext cx="4050" cy="1"/>
              </a:xfrm>
              <a:prstGeom prst="line">
                <a:avLst/>
              </a:prstGeom>
              <a:noFill/>
              <a:ln w="20638">
                <a:solidFill>
                  <a:srgbClr val="EBF01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88" name="Text Box 30"/>
              <p:cNvSpPr txBox="1">
                <a:spLocks noChangeArrowheads="1"/>
              </p:cNvSpPr>
              <p:nvPr/>
            </p:nvSpPr>
            <p:spPr bwMode="auto">
              <a:xfrm>
                <a:off x="340" y="3155"/>
                <a:ext cx="49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solidFill>
                      <a:srgbClr val="EBF010"/>
                    </a:solidFill>
                    <a:latin typeface="Times New Roman" panose="02020603050405020304" pitchFamily="18" charset="0"/>
                  </a:rPr>
                  <a:t>BUS</a:t>
                </a:r>
                <a:endParaRPr lang="en-US" altLang="zh-CN" sz="2400">
                  <a:solidFill>
                    <a:srgbClr val="EBF01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789" name="Line 31"/>
              <p:cNvSpPr>
                <a:spLocks noChangeShapeType="1"/>
              </p:cNvSpPr>
              <p:nvPr/>
            </p:nvSpPr>
            <p:spPr bwMode="auto">
              <a:xfrm>
                <a:off x="1150" y="3143"/>
                <a:ext cx="4069" cy="0"/>
              </a:xfrm>
              <a:prstGeom prst="line">
                <a:avLst/>
              </a:prstGeom>
              <a:noFill/>
              <a:ln w="9525">
                <a:solidFill>
                  <a:srgbClr val="EBF01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5790" name="Line 32"/>
              <p:cNvSpPr>
                <a:spLocks noChangeShapeType="1"/>
              </p:cNvSpPr>
              <p:nvPr/>
            </p:nvSpPr>
            <p:spPr bwMode="auto">
              <a:xfrm>
                <a:off x="942" y="3335"/>
                <a:ext cx="4056" cy="0"/>
              </a:xfrm>
              <a:prstGeom prst="line">
                <a:avLst/>
              </a:prstGeom>
              <a:noFill/>
              <a:ln w="9525">
                <a:solidFill>
                  <a:srgbClr val="EBF01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5791" name="Line 33"/>
              <p:cNvSpPr>
                <a:spLocks noChangeShapeType="1"/>
              </p:cNvSpPr>
              <p:nvPr/>
            </p:nvSpPr>
            <p:spPr bwMode="auto">
              <a:xfrm>
                <a:off x="734" y="3527"/>
                <a:ext cx="4047" cy="0"/>
              </a:xfrm>
              <a:prstGeom prst="line">
                <a:avLst/>
              </a:prstGeom>
              <a:noFill/>
              <a:ln w="9525">
                <a:solidFill>
                  <a:srgbClr val="EBF01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5792" name="Line 34"/>
              <p:cNvSpPr>
                <a:spLocks noChangeShapeType="1"/>
              </p:cNvSpPr>
              <p:nvPr/>
            </p:nvSpPr>
            <p:spPr bwMode="auto">
              <a:xfrm flipH="1">
                <a:off x="489" y="3138"/>
                <a:ext cx="672" cy="594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5793" name="Line 35"/>
              <p:cNvSpPr>
                <a:spLocks noChangeShapeType="1"/>
              </p:cNvSpPr>
              <p:nvPr/>
            </p:nvSpPr>
            <p:spPr bwMode="auto">
              <a:xfrm flipH="1">
                <a:off x="4542" y="3138"/>
                <a:ext cx="672" cy="594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5786" name="Text Box 46"/>
            <p:cNvSpPr txBox="1">
              <a:spLocks noChangeArrowheads="1"/>
            </p:cNvSpPr>
            <p:nvPr/>
          </p:nvSpPr>
          <p:spPr bwMode="auto">
            <a:xfrm>
              <a:off x="5012" y="3278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rgbClr val="EBF010"/>
                  </a:solidFill>
                  <a:latin typeface="Times New Roman" panose="02020603050405020304" pitchFamily="18" charset="0"/>
                </a:rPr>
                <a:t>主板</a:t>
              </a:r>
              <a:endParaRPr lang="zh-CN" altLang="en-US" sz="2400">
                <a:solidFill>
                  <a:srgbClr val="EBF01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4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758825" y="1771650"/>
            <a:ext cx="2222500" cy="4389438"/>
            <a:chOff x="384" y="1116"/>
            <a:chExt cx="1400" cy="2765"/>
          </a:xfrm>
        </p:grpSpPr>
        <p:sp>
          <p:nvSpPr>
            <p:cNvPr id="76812" name="Text Box 3"/>
            <p:cNvSpPr txBox="1">
              <a:spLocks noChangeArrowheads="1"/>
            </p:cNvSpPr>
            <p:nvPr/>
          </p:nvSpPr>
          <p:spPr bwMode="auto">
            <a:xfrm>
              <a:off x="384" y="1116"/>
              <a:ext cx="14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1. 机械特性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76813" name="Text Box 4"/>
            <p:cNvSpPr txBox="1">
              <a:spLocks noChangeArrowheads="1"/>
            </p:cNvSpPr>
            <p:nvPr/>
          </p:nvSpPr>
          <p:spPr bwMode="auto">
            <a:xfrm>
              <a:off x="384" y="1916"/>
              <a:ext cx="14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2. 电气特性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76814" name="Text Box 5"/>
            <p:cNvSpPr txBox="1">
              <a:spLocks noChangeArrowheads="1"/>
            </p:cNvSpPr>
            <p:nvPr/>
          </p:nvSpPr>
          <p:spPr bwMode="auto">
            <a:xfrm>
              <a:off x="384" y="2716"/>
              <a:ext cx="14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3. 功能特性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76815" name="Text Box 6"/>
            <p:cNvSpPr txBox="1">
              <a:spLocks noChangeArrowheads="1"/>
            </p:cNvSpPr>
            <p:nvPr/>
          </p:nvSpPr>
          <p:spPr bwMode="auto">
            <a:xfrm>
              <a:off x="384" y="3516"/>
              <a:ext cx="14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4. 时间特性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</p:grpSp>
      <p:sp>
        <p:nvSpPr>
          <p:cNvPr id="76803" name="Text Box 7"/>
          <p:cNvSpPr txBox="1">
            <a:spLocks noChangeArrowheads="1"/>
          </p:cNvSpPr>
          <p:nvPr/>
        </p:nvSpPr>
        <p:spPr bwMode="auto">
          <a:xfrm>
            <a:off x="395288" y="457200"/>
            <a:ext cx="2936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二、总线特性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63848" name="Text Box 8"/>
          <p:cNvSpPr txBox="1">
            <a:spLocks noChangeArrowheads="1"/>
          </p:cNvSpPr>
          <p:nvPr/>
        </p:nvSpPr>
        <p:spPr bwMode="auto">
          <a:xfrm>
            <a:off x="3406775" y="1795463"/>
            <a:ext cx="5934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尺寸</a:t>
            </a:r>
            <a:r>
              <a:rPr lang="zh-CN" altLang="en-US" sz="2800">
                <a:latin typeface="Times New Roman" panose="02020603050405020304" pitchFamily="18" charset="0"/>
              </a:rPr>
              <a:t>、形状、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管脚数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2800">
                <a:latin typeface="Times New Roman" panose="02020603050405020304" pitchFamily="18" charset="0"/>
              </a:rPr>
              <a:t>及</a:t>
            </a:r>
            <a:r>
              <a:rPr lang="zh-CN" altLang="en-US">
                <a:latin typeface="Times New Roman" panose="02020603050405020304" pitchFamily="18" charset="0"/>
              </a:rPr>
              <a:t>　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排列顺序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9" name="Text Box 9"/>
          <p:cNvSpPr txBox="1">
            <a:spLocks noChangeArrowheads="1"/>
          </p:cNvSpPr>
          <p:nvPr/>
        </p:nvSpPr>
        <p:spPr bwMode="auto">
          <a:xfrm>
            <a:off x="3406775" y="3062288"/>
            <a:ext cx="508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传输方向 </a:t>
            </a:r>
            <a:r>
              <a:rPr lang="zh-CN" altLang="en-US" sz="2800">
                <a:latin typeface="Times New Roman" panose="02020603050405020304" pitchFamily="18" charset="0"/>
              </a:rPr>
              <a:t>和有效的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电平</a:t>
            </a:r>
            <a:r>
              <a:rPr lang="zh-CN" altLang="en-US" sz="2800">
                <a:latin typeface="Times New Roman" panose="02020603050405020304" pitchFamily="18" charset="0"/>
              </a:rPr>
              <a:t> 范围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63850" name="Text Box 10"/>
          <p:cNvSpPr txBox="1">
            <a:spLocks noChangeArrowheads="1"/>
          </p:cNvSpPr>
          <p:nvPr/>
        </p:nvSpPr>
        <p:spPr bwMode="auto">
          <a:xfrm>
            <a:off x="3406775" y="4337050"/>
            <a:ext cx="355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每根传输线的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功能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1" name="Text Box 11"/>
          <p:cNvSpPr txBox="1">
            <a:spLocks noChangeArrowheads="1"/>
          </p:cNvSpPr>
          <p:nvPr/>
        </p:nvSpPr>
        <p:spPr bwMode="auto">
          <a:xfrm>
            <a:off x="3406775" y="5638800"/>
            <a:ext cx="340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信号的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时序 </a:t>
            </a:r>
            <a:r>
              <a:rPr lang="zh-CN" altLang="en-US" sz="2800">
                <a:latin typeface="Times New Roman" panose="02020603050405020304" pitchFamily="18" charset="0"/>
              </a:rPr>
              <a:t>关系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63852" name="Rectangle 12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3.3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63853" name="Text Box 13"/>
          <p:cNvSpPr txBox="1">
            <a:spLocks noChangeArrowheads="1"/>
          </p:cNvSpPr>
          <p:nvPr/>
        </p:nvSpPr>
        <p:spPr bwMode="auto">
          <a:xfrm>
            <a:off x="6854825" y="3733800"/>
            <a:ext cx="1820863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地址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数据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控制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63854" name="AutoShape 14"/>
          <p:cNvSpPr/>
          <p:nvPr/>
        </p:nvSpPr>
        <p:spPr bwMode="auto">
          <a:xfrm>
            <a:off x="6657975" y="4051300"/>
            <a:ext cx="152400" cy="1066800"/>
          </a:xfrm>
          <a:prstGeom prst="leftBrace">
            <a:avLst>
              <a:gd name="adj1" fmla="val 58333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6811" name="AutoShape 16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16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8" grpId="0" autoUpdateAnimBg="0"/>
      <p:bldP spid="163849" grpId="0" autoUpdateAnimBg="0"/>
      <p:bldP spid="163850" grpId="0" autoUpdateAnimBg="0"/>
      <p:bldP spid="163851" grpId="0" autoUpdateAnimBg="0"/>
      <p:bldP spid="163853" grpId="0" autoUpdateAnimBg="0"/>
      <p:bldP spid="1638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43132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三、总线的性能指标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7837" name="Text Box 4"/>
          <p:cNvSpPr txBox="1">
            <a:spLocks noChangeArrowheads="1"/>
          </p:cNvSpPr>
          <p:nvPr/>
        </p:nvSpPr>
        <p:spPr bwMode="auto">
          <a:xfrm>
            <a:off x="379413" y="1371601"/>
            <a:ext cx="228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1. 总线宽度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7838" name="Text Box 5"/>
          <p:cNvSpPr txBox="1">
            <a:spLocks noChangeArrowheads="1"/>
          </p:cNvSpPr>
          <p:nvPr/>
        </p:nvSpPr>
        <p:spPr bwMode="auto">
          <a:xfrm>
            <a:off x="379413" y="2420888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2. 标准传输率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7839" name="Text Box 6"/>
          <p:cNvSpPr txBox="1">
            <a:spLocks noChangeArrowheads="1"/>
          </p:cNvSpPr>
          <p:nvPr/>
        </p:nvSpPr>
        <p:spPr bwMode="auto">
          <a:xfrm>
            <a:off x="379413" y="2996952"/>
            <a:ext cx="3141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3. 时钟同步/异步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7840" name="Text Box 7"/>
          <p:cNvSpPr txBox="1">
            <a:spLocks noChangeArrowheads="1"/>
          </p:cNvSpPr>
          <p:nvPr/>
        </p:nvSpPr>
        <p:spPr bwMode="auto">
          <a:xfrm>
            <a:off x="323528" y="4437112"/>
            <a:ext cx="2216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dist" eaLnBrk="1" hangingPunct="1">
              <a:spcBef>
                <a:spcPct val="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4. 总线复用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64875" name="Text Box 11"/>
          <p:cNvSpPr txBox="1">
            <a:spLocks noChangeArrowheads="1"/>
          </p:cNvSpPr>
          <p:nvPr/>
        </p:nvSpPr>
        <p:spPr bwMode="auto">
          <a:xfrm>
            <a:off x="2750344" y="1403350"/>
            <a:ext cx="592611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数据线</a:t>
            </a:r>
            <a:r>
              <a:rPr lang="zh-CN" altLang="en-US" sz="2800" dirty="0">
                <a:latin typeface="Times New Roman" panose="02020603050405020304" pitchFamily="18" charset="0"/>
              </a:rPr>
              <a:t> 的根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数，决定一次传输数据的位数。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64876" name="Text Box 12"/>
          <p:cNvSpPr txBox="1">
            <a:spLocks noChangeArrowheads="1"/>
          </p:cNvSpPr>
          <p:nvPr/>
        </p:nvSpPr>
        <p:spPr bwMode="auto">
          <a:xfrm>
            <a:off x="3454400" y="2428824"/>
            <a:ext cx="5378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每秒传输的最大字节数（</a:t>
            </a:r>
            <a:r>
              <a:rPr lang="en-US" altLang="zh-CN" sz="2800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MBps</a:t>
            </a:r>
            <a:r>
              <a:rPr lang="en-US" altLang="zh-CN" sz="2800" dirty="0">
                <a:latin typeface="Times New Roman" panose="02020603050405020304" pitchFamily="18" charset="0"/>
              </a:rPr>
              <a:t>）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164877" name="Text Box 13"/>
          <p:cNvSpPr txBox="1">
            <a:spLocks noChangeArrowheads="1"/>
          </p:cNvSpPr>
          <p:nvPr/>
        </p:nvSpPr>
        <p:spPr bwMode="auto">
          <a:xfrm>
            <a:off x="3491880" y="3045546"/>
            <a:ext cx="332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同步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、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异步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78" name="Text Box 14"/>
          <p:cNvSpPr txBox="1">
            <a:spLocks noChangeArrowheads="1"/>
          </p:cNvSpPr>
          <p:nvPr/>
        </p:nvSpPr>
        <p:spPr bwMode="auto">
          <a:xfrm>
            <a:off x="3398515" y="4443459"/>
            <a:ext cx="462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地址线 </a:t>
            </a:r>
            <a:r>
              <a:rPr lang="zh-CN" altLang="en-US" sz="2800">
                <a:latin typeface="Times New Roman" panose="02020603050405020304" pitchFamily="18" charset="0"/>
              </a:rPr>
              <a:t>与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数据线 </a:t>
            </a:r>
            <a:r>
              <a:rPr lang="zh-CN" altLang="en-US" sz="2800">
                <a:latin typeface="Times New Roman" panose="02020603050405020304" pitchFamily="18" charset="0"/>
              </a:rPr>
              <a:t>复用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64882" name="Rectangle 18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3.3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755576" y="3501008"/>
            <a:ext cx="7128792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同步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：由时钟控制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当前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事件的发生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</a:rPr>
              <a:t>异步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式：当前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事件的发生取决于前一事件。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755577" y="5013176"/>
            <a:ext cx="777686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</a:rPr>
              <a:t>复用：布线少，节省空间成本，但需要更复杂的控制电路，由于共享总线，可能导致性能降低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5" grpId="0" autoUpdateAnimBg="0"/>
      <p:bldP spid="164876" grpId="0" autoUpdateAnimBg="0"/>
      <p:bldP spid="164877" grpId="0" autoUpdateAnimBg="0"/>
      <p:bldP spid="164878" grpId="0" autoUpdateAnimBg="0"/>
      <p:bldP spid="20" grpId="0" autoUpdateAnimBg="0"/>
      <p:bldP spid="2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43132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三、总线的性能指标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7841" name="Text Box 8"/>
          <p:cNvSpPr txBox="1">
            <a:spLocks noChangeArrowheads="1"/>
          </p:cNvSpPr>
          <p:nvPr/>
        </p:nvSpPr>
        <p:spPr bwMode="auto">
          <a:xfrm>
            <a:off x="379413" y="1340768"/>
            <a:ext cx="2216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5. 信号线数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7842" name="Text Box 9"/>
          <p:cNvSpPr txBox="1">
            <a:spLocks noChangeArrowheads="1"/>
          </p:cNvSpPr>
          <p:nvPr/>
        </p:nvSpPr>
        <p:spPr bwMode="auto">
          <a:xfrm>
            <a:off x="379413" y="2067843"/>
            <a:ext cx="302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6. 总线控制方式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77843" name="Text Box 10"/>
          <p:cNvSpPr txBox="1">
            <a:spLocks noChangeArrowheads="1"/>
          </p:cNvSpPr>
          <p:nvPr/>
        </p:nvSpPr>
        <p:spPr bwMode="auto">
          <a:xfrm>
            <a:off x="379413" y="4433738"/>
            <a:ext cx="2216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7. 其他指标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64879" name="Text Box 15"/>
          <p:cNvSpPr txBox="1">
            <a:spLocks noChangeArrowheads="1"/>
          </p:cNvSpPr>
          <p:nvPr/>
        </p:nvSpPr>
        <p:spPr bwMode="auto">
          <a:xfrm>
            <a:off x="3454400" y="1351881"/>
            <a:ext cx="599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地址线、数据线和控制线的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总和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80" name="Text Box 16"/>
          <p:cNvSpPr txBox="1">
            <a:spLocks noChangeArrowheads="1"/>
          </p:cNvSpPr>
          <p:nvPr/>
        </p:nvSpPr>
        <p:spPr bwMode="auto">
          <a:xfrm>
            <a:off x="3454400" y="4467076"/>
            <a:ext cx="233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负载能力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82" name="Rectangle 18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3.3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7836" name="AutoShape 20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3501356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740498" y="2741852"/>
            <a:ext cx="777686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</a:rPr>
              <a:t>集中式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：由总线控制器负责分配总线使用权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</a:rPr>
              <a:t>分布式：每个模块包含控制逻辑，模块共同决定总线使用权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4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9" grpId="0" autoUpdateAnimBg="0"/>
      <p:bldP spid="164880" grpId="0" autoUpdateAnimBg="0"/>
      <p:bldP spid="2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2"/>
          <p:cNvSpPr txBox="1">
            <a:spLocks noChangeArrowheads="1"/>
          </p:cNvSpPr>
          <p:nvPr/>
        </p:nvSpPr>
        <p:spPr bwMode="auto">
          <a:xfrm>
            <a:off x="6361113" y="2060575"/>
            <a:ext cx="3195637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ISA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EISA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VESA(LV-BUS)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PCI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AGP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RS-232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USB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539750" y="2286000"/>
            <a:ext cx="1143000" cy="1143000"/>
            <a:chOff x="636" y="1440"/>
            <a:chExt cx="720" cy="720"/>
          </a:xfrm>
        </p:grpSpPr>
        <p:sp>
          <p:nvSpPr>
            <p:cNvPr id="78869" name="Oval 4"/>
            <p:cNvSpPr>
              <a:spLocks noChangeArrowheads="1"/>
            </p:cNvSpPr>
            <p:nvPr/>
          </p:nvSpPr>
          <p:spPr bwMode="auto">
            <a:xfrm>
              <a:off x="636" y="1440"/>
              <a:ext cx="720" cy="720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70" name="Text Box 5"/>
            <p:cNvSpPr txBox="1">
              <a:spLocks noChangeArrowheads="1"/>
            </p:cNvSpPr>
            <p:nvPr/>
          </p:nvSpPr>
          <p:spPr bwMode="auto">
            <a:xfrm>
              <a:off x="672" y="1617"/>
              <a:ext cx="6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solidFill>
                    <a:schemeClr val="bg2"/>
                  </a:solidFill>
                  <a:latin typeface="Times New Roman" panose="02020603050405020304" pitchFamily="18" charset="0"/>
                </a:rPr>
                <a:t>模块</a:t>
              </a:r>
              <a:endParaRPr lang="zh-CN" altLang="en-US" sz="32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"/>
          <p:cNvGrpSpPr/>
          <p:nvPr/>
        </p:nvGrpSpPr>
        <p:grpSpPr bwMode="auto">
          <a:xfrm>
            <a:off x="3708400" y="4191000"/>
            <a:ext cx="1143000" cy="1143000"/>
            <a:chOff x="2412" y="2640"/>
            <a:chExt cx="720" cy="720"/>
          </a:xfrm>
        </p:grpSpPr>
        <p:sp>
          <p:nvSpPr>
            <p:cNvPr id="78867" name="Oval 7"/>
            <p:cNvSpPr>
              <a:spLocks noChangeArrowheads="1"/>
            </p:cNvSpPr>
            <p:nvPr/>
          </p:nvSpPr>
          <p:spPr bwMode="auto">
            <a:xfrm>
              <a:off x="2412" y="2640"/>
              <a:ext cx="720" cy="720"/>
            </a:xfrm>
            <a:prstGeom prst="ellipse">
              <a:avLst/>
            </a:prstGeom>
            <a:solidFill>
              <a:srgbClr val="EBF010"/>
            </a:solidFill>
            <a:ln w="9525">
              <a:solidFill>
                <a:srgbClr val="EBF010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32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868" name="Text Box 8"/>
            <p:cNvSpPr txBox="1">
              <a:spLocks noChangeArrowheads="1"/>
            </p:cNvSpPr>
            <p:nvPr/>
          </p:nvSpPr>
          <p:spPr bwMode="auto">
            <a:xfrm>
              <a:off x="2448" y="2797"/>
              <a:ext cx="6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solidFill>
                    <a:schemeClr val="bg2"/>
                  </a:solidFill>
                  <a:latin typeface="Times New Roman" panose="02020603050405020304" pitchFamily="18" charset="0"/>
                </a:rPr>
                <a:t>系统</a:t>
              </a:r>
              <a:endParaRPr lang="zh-CN" altLang="en-US" sz="32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66921" name="AutoShape 9"/>
          <p:cNvSpPr/>
          <p:nvPr/>
        </p:nvSpPr>
        <p:spPr bwMode="auto">
          <a:xfrm>
            <a:off x="5980113" y="2371725"/>
            <a:ext cx="320675" cy="3275013"/>
          </a:xfrm>
          <a:prstGeom prst="leftBrace">
            <a:avLst>
              <a:gd name="adj1" fmla="val 85107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zh-CN" altLang="en-US" sz="3200" b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922" name="Text Box 10"/>
          <p:cNvSpPr txBox="1">
            <a:spLocks noChangeArrowheads="1"/>
          </p:cNvSpPr>
          <p:nvPr/>
        </p:nvSpPr>
        <p:spPr bwMode="auto">
          <a:xfrm>
            <a:off x="5364163" y="2986088"/>
            <a:ext cx="541337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总</a:t>
            </a:r>
            <a:endParaRPr lang="zh-CN" altLang="en-US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线</a:t>
            </a:r>
            <a:endParaRPr lang="zh-CN" altLang="en-US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标</a:t>
            </a:r>
            <a:endParaRPr lang="zh-CN" altLang="en-US" sz="3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准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8855" name="Text Box 11"/>
          <p:cNvSpPr txBox="1">
            <a:spLocks noChangeArrowheads="1"/>
          </p:cNvSpPr>
          <p:nvPr/>
        </p:nvSpPr>
        <p:spPr bwMode="auto">
          <a:xfrm>
            <a:off x="593725" y="485775"/>
            <a:ext cx="78667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 dirty="0">
                <a:latin typeface="Times New Roman" panose="02020603050405020304" pitchFamily="18" charset="0"/>
              </a:rPr>
              <a:t> 四、总线</a:t>
            </a:r>
            <a:r>
              <a:rPr lang="zh-CN" altLang="en-US" sz="3600" dirty="0" smtClean="0">
                <a:latin typeface="Times New Roman" panose="02020603050405020304" pitchFamily="18" charset="0"/>
              </a:rPr>
              <a:t>标准</a:t>
            </a:r>
            <a:endParaRPr lang="en-US" altLang="zh-CN" sz="3600" dirty="0" smtClean="0">
              <a:latin typeface="Times New Roman" panose="02020603050405020304" pitchFamily="18" charset="0"/>
            </a:endParaRPr>
          </a:p>
        </p:txBody>
      </p:sp>
      <p:grpSp>
        <p:nvGrpSpPr>
          <p:cNvPr id="4" name="Group 12"/>
          <p:cNvGrpSpPr/>
          <p:nvPr/>
        </p:nvGrpSpPr>
        <p:grpSpPr bwMode="auto">
          <a:xfrm>
            <a:off x="323850" y="4343400"/>
            <a:ext cx="1676400" cy="914400"/>
            <a:chOff x="396" y="2736"/>
            <a:chExt cx="1056" cy="576"/>
          </a:xfrm>
        </p:grpSpPr>
        <p:sp>
          <p:nvSpPr>
            <p:cNvPr id="78865" name="AutoShape 13"/>
            <p:cNvSpPr>
              <a:spLocks noChangeArrowheads="1"/>
            </p:cNvSpPr>
            <p:nvPr/>
          </p:nvSpPr>
          <p:spPr bwMode="auto">
            <a:xfrm>
              <a:off x="396" y="2736"/>
              <a:ext cx="1056" cy="576"/>
            </a:xfrm>
            <a:prstGeom prst="diamond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6" name="Text Box 14"/>
            <p:cNvSpPr txBox="1">
              <a:spLocks noChangeArrowheads="1"/>
            </p:cNvSpPr>
            <p:nvPr/>
          </p:nvSpPr>
          <p:spPr bwMode="auto">
            <a:xfrm>
              <a:off x="618" y="2845"/>
              <a:ext cx="6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solidFill>
                    <a:schemeClr val="bg2"/>
                  </a:solidFill>
                  <a:latin typeface="Times New Roman" panose="02020603050405020304" pitchFamily="18" charset="0"/>
                </a:rPr>
                <a:t>系统</a:t>
              </a:r>
              <a:endParaRPr lang="zh-CN" altLang="en-US" sz="32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5"/>
          <p:cNvGrpSpPr/>
          <p:nvPr/>
        </p:nvGrpSpPr>
        <p:grpSpPr bwMode="auto">
          <a:xfrm>
            <a:off x="3371850" y="2362200"/>
            <a:ext cx="1676400" cy="914400"/>
            <a:chOff x="288" y="3504"/>
            <a:chExt cx="1056" cy="576"/>
          </a:xfrm>
        </p:grpSpPr>
        <p:sp>
          <p:nvSpPr>
            <p:cNvPr id="78863" name="AutoShape 16"/>
            <p:cNvSpPr>
              <a:spLocks noChangeArrowheads="1"/>
            </p:cNvSpPr>
            <p:nvPr/>
          </p:nvSpPr>
          <p:spPr bwMode="auto">
            <a:xfrm>
              <a:off x="288" y="3504"/>
              <a:ext cx="1056" cy="576"/>
            </a:xfrm>
            <a:prstGeom prst="diamond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4" name="Text Box 17"/>
            <p:cNvSpPr txBox="1">
              <a:spLocks noChangeArrowheads="1"/>
            </p:cNvSpPr>
            <p:nvPr/>
          </p:nvSpPr>
          <p:spPr bwMode="auto">
            <a:xfrm>
              <a:off x="480" y="3613"/>
              <a:ext cx="6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solidFill>
                    <a:schemeClr val="bg2"/>
                  </a:solidFill>
                  <a:latin typeface="Times New Roman" panose="02020603050405020304" pitchFamily="18" charset="0"/>
                </a:rPr>
                <a:t>模块</a:t>
              </a:r>
              <a:endParaRPr lang="zh-CN" altLang="en-US" sz="32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66930" name="Rectangle 18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3.3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6" name="Group 19"/>
          <p:cNvGrpSpPr/>
          <p:nvPr/>
        </p:nvGrpSpPr>
        <p:grpSpPr bwMode="auto">
          <a:xfrm>
            <a:off x="2152650" y="1981200"/>
            <a:ext cx="1066800" cy="3886200"/>
            <a:chOff x="1548" y="1248"/>
            <a:chExt cx="672" cy="2448"/>
          </a:xfrm>
        </p:grpSpPr>
        <p:sp>
          <p:nvSpPr>
            <p:cNvPr id="78861" name="Rectangle 20"/>
            <p:cNvSpPr>
              <a:spLocks noChangeArrowheads="1"/>
            </p:cNvSpPr>
            <p:nvPr/>
          </p:nvSpPr>
          <p:spPr bwMode="auto">
            <a:xfrm>
              <a:off x="1548" y="1248"/>
              <a:ext cx="672" cy="2352"/>
            </a:xfrm>
            <a:prstGeom prst="rect">
              <a:avLst/>
            </a:prstGeom>
            <a:noFill/>
            <a:ln w="38100">
              <a:solidFill>
                <a:srgbClr val="EBF01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2" name="Text Box 21"/>
            <p:cNvSpPr txBox="1">
              <a:spLocks noChangeArrowheads="1"/>
            </p:cNvSpPr>
            <p:nvPr/>
          </p:nvSpPr>
          <p:spPr bwMode="auto">
            <a:xfrm>
              <a:off x="1650" y="1680"/>
              <a:ext cx="462" cy="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600">
                  <a:latin typeface="Times New Roman" panose="02020603050405020304" pitchFamily="18" charset="0"/>
                </a:rPr>
                <a:t>标 准 界 面</a:t>
              </a:r>
              <a:endParaRPr lang="zh-CN" altLang="en-US" sz="3600">
                <a:latin typeface="Times New Roman" panose="02020603050405020304" pitchFamily="18" charset="0"/>
              </a:endParaRPr>
            </a:p>
          </p:txBody>
        </p:sp>
      </p:grpSp>
      <p:sp>
        <p:nvSpPr>
          <p:cNvPr id="78860" name="AutoShape 23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 autoUpdateAnimBg="0"/>
      <p:bldP spid="166921" grpId="0" animBg="1" autoUpdateAnimBg="0"/>
      <p:bldP spid="16692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038" name="Group 102"/>
          <p:cNvGraphicFramePr>
            <a:graphicFrameLocks noGrp="1"/>
          </p:cNvGraphicFramePr>
          <p:nvPr>
            <p:ph/>
          </p:nvPr>
        </p:nvGraphicFramePr>
        <p:xfrm>
          <a:off x="454025" y="1111250"/>
          <a:ext cx="8134350" cy="5378452"/>
        </p:xfrm>
        <a:graphic>
          <a:graphicData uri="http://schemas.openxmlformats.org/drawingml/2006/table">
            <a:tbl>
              <a:tblPr/>
              <a:tblGrid>
                <a:gridCol w="1798638"/>
                <a:gridCol w="1798637"/>
                <a:gridCol w="2268538"/>
                <a:gridCol w="2268537"/>
              </a:tblGrid>
              <a:tr h="503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总线标准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数据线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总线时钟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带宽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0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ISA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MHz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（独立）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33 MBps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0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EISA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MHz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（独立）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33 MBps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7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VESA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(VL-BUS)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 MHz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CPU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133 MBps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7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PCI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64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33 MHz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（独立）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64 MHz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（独立）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132 MBps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528 MBps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7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AGP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66.7 MHz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（独立）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133 MHz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（独立）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266 MBps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533 MBps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7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RS-232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串行通信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总线标准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数据终端设备（计算机）和数据通信设备（调制解调器）之间的标准接口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1026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USB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串行接口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总线标准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普通无屏蔽双绞线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带屏蔽双绞线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最高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 Mbps (USB1.0)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 Mbps (USB1.0)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480 Mbps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(USB2.0)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7992" name="Rectangle 5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3.3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9922" name="Text Box 57"/>
          <p:cNvSpPr txBox="1">
            <a:spLocks noChangeArrowheads="1"/>
          </p:cNvSpPr>
          <p:nvPr/>
        </p:nvSpPr>
        <p:spPr bwMode="auto">
          <a:xfrm>
            <a:off x="593725" y="260350"/>
            <a:ext cx="5045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 四、总线标准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9923" name="AutoShape 10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smtClean="0"/>
              <a:t>3.4  总线结构</a:t>
            </a:r>
            <a:endParaRPr lang="zh-CN" altLang="en-US" b="1" smtClean="0"/>
          </a:p>
        </p:txBody>
      </p:sp>
      <p:sp>
        <p:nvSpPr>
          <p:cNvPr id="168963" name="Text Box 3"/>
          <p:cNvSpPr txBox="1">
            <a:spLocks noChangeArrowheads="1"/>
          </p:cNvSpPr>
          <p:nvPr/>
        </p:nvSpPr>
        <p:spPr bwMode="auto">
          <a:xfrm>
            <a:off x="669925" y="1006475"/>
            <a:ext cx="4587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一、单总线结构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609600" y="1781175"/>
            <a:ext cx="8229600" cy="695325"/>
            <a:chOff x="384" y="1056"/>
            <a:chExt cx="5184" cy="438"/>
          </a:xfrm>
        </p:grpSpPr>
        <p:sp>
          <p:nvSpPr>
            <p:cNvPr id="80923" name="Rectangle 5"/>
            <p:cNvSpPr>
              <a:spLocks noChangeArrowheads="1"/>
            </p:cNvSpPr>
            <p:nvPr/>
          </p:nvSpPr>
          <p:spPr bwMode="auto">
            <a:xfrm>
              <a:off x="2046" y="1056"/>
              <a:ext cx="20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</a:rPr>
                <a:t>单总线（系统总线）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924" name="Freeform 6"/>
            <p:cNvSpPr/>
            <p:nvPr/>
          </p:nvSpPr>
          <p:spPr bwMode="auto">
            <a:xfrm>
              <a:off x="384" y="1350"/>
              <a:ext cx="5184" cy="144"/>
            </a:xfrm>
            <a:custGeom>
              <a:avLst/>
              <a:gdLst>
                <a:gd name="T0" fmla="*/ 0 w 4569"/>
                <a:gd name="T1" fmla="*/ 50 h 148"/>
                <a:gd name="T2" fmla="*/ 1219 w 4569"/>
                <a:gd name="T3" fmla="*/ 101 h 148"/>
                <a:gd name="T4" fmla="*/ 1219 w 4569"/>
                <a:gd name="T5" fmla="*/ 85 h 148"/>
                <a:gd name="T6" fmla="*/ 25564 w 4569"/>
                <a:gd name="T7" fmla="*/ 85 h 148"/>
                <a:gd name="T8" fmla="*/ 25564 w 4569"/>
                <a:gd name="T9" fmla="*/ 101 h 148"/>
                <a:gd name="T10" fmla="*/ 26769 w 4569"/>
                <a:gd name="T11" fmla="*/ 50 h 148"/>
                <a:gd name="T12" fmla="*/ 25564 w 4569"/>
                <a:gd name="T13" fmla="*/ 0 h 148"/>
                <a:gd name="T14" fmla="*/ 25564 w 4569"/>
                <a:gd name="T15" fmla="*/ 18 h 148"/>
                <a:gd name="T16" fmla="*/ 1219 w 4569"/>
                <a:gd name="T17" fmla="*/ 18 h 148"/>
                <a:gd name="T18" fmla="*/ 1219 w 4569"/>
                <a:gd name="T19" fmla="*/ 0 h 148"/>
                <a:gd name="T20" fmla="*/ 0 w 4569"/>
                <a:gd name="T21" fmla="*/ 50 h 1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569"/>
                <a:gd name="T34" fmla="*/ 0 h 148"/>
                <a:gd name="T35" fmla="*/ 4569 w 4569"/>
                <a:gd name="T36" fmla="*/ 148 h 1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569" h="148">
                  <a:moveTo>
                    <a:pt x="0" y="74"/>
                  </a:moveTo>
                  <a:lnTo>
                    <a:pt x="208" y="148"/>
                  </a:lnTo>
                  <a:lnTo>
                    <a:pt x="208" y="124"/>
                  </a:lnTo>
                  <a:lnTo>
                    <a:pt x="4364" y="124"/>
                  </a:lnTo>
                  <a:lnTo>
                    <a:pt x="4364" y="148"/>
                  </a:lnTo>
                  <a:lnTo>
                    <a:pt x="4569" y="74"/>
                  </a:lnTo>
                  <a:lnTo>
                    <a:pt x="4364" y="0"/>
                  </a:lnTo>
                  <a:lnTo>
                    <a:pt x="4364" y="25"/>
                  </a:lnTo>
                  <a:lnTo>
                    <a:pt x="208" y="25"/>
                  </a:lnTo>
                  <a:lnTo>
                    <a:pt x="208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chemeClr val="folHlink"/>
            </a:solidFill>
            <a:ln w="17463">
              <a:solidFill>
                <a:schemeClr val="folHlink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838200" y="2428875"/>
            <a:ext cx="7959725" cy="3819525"/>
            <a:chOff x="528" y="1368"/>
            <a:chExt cx="5014" cy="2406"/>
          </a:xfrm>
        </p:grpSpPr>
        <p:grpSp>
          <p:nvGrpSpPr>
            <p:cNvPr id="80903" name="Group 8"/>
            <p:cNvGrpSpPr/>
            <p:nvPr/>
          </p:nvGrpSpPr>
          <p:grpSpPr bwMode="auto">
            <a:xfrm>
              <a:off x="528" y="1368"/>
              <a:ext cx="719" cy="2389"/>
              <a:chOff x="528" y="1615"/>
              <a:chExt cx="719" cy="2389"/>
            </a:xfrm>
          </p:grpSpPr>
          <p:sp>
            <p:nvSpPr>
              <p:cNvPr id="80921" name="Rectangle 9"/>
              <p:cNvSpPr>
                <a:spLocks noChangeArrowheads="1"/>
              </p:cNvSpPr>
              <p:nvPr/>
            </p:nvSpPr>
            <p:spPr bwMode="auto">
              <a:xfrm>
                <a:off x="528" y="2352"/>
                <a:ext cx="719" cy="1652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32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endParaRPr lang="zh-CN" altLang="en-US" sz="32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 CPU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22" name="Freeform 10"/>
              <p:cNvSpPr/>
              <p:nvPr/>
            </p:nvSpPr>
            <p:spPr bwMode="auto">
              <a:xfrm>
                <a:off x="802" y="1615"/>
                <a:ext cx="206" cy="737"/>
              </a:xfrm>
              <a:custGeom>
                <a:avLst/>
                <a:gdLst>
                  <a:gd name="T0" fmla="*/ 14011 w 141"/>
                  <a:gd name="T1" fmla="*/ 0 h 482"/>
                  <a:gd name="T2" fmla="*/ 28475 w 141"/>
                  <a:gd name="T3" fmla="*/ 35914 h 482"/>
                  <a:gd name="T4" fmla="*/ 21355 w 141"/>
                  <a:gd name="T5" fmla="*/ 35914 h 482"/>
                  <a:gd name="T6" fmla="*/ 21355 w 141"/>
                  <a:gd name="T7" fmla="*/ 147788 h 482"/>
                  <a:gd name="T8" fmla="*/ 28475 w 141"/>
                  <a:gd name="T9" fmla="*/ 147788 h 482"/>
                  <a:gd name="T10" fmla="*/ 14011 w 141"/>
                  <a:gd name="T11" fmla="*/ 184079 h 482"/>
                  <a:gd name="T12" fmla="*/ 0 w 141"/>
                  <a:gd name="T13" fmla="*/ 147788 h 482"/>
                  <a:gd name="T14" fmla="*/ 6921 w 141"/>
                  <a:gd name="T15" fmla="*/ 147788 h 482"/>
                  <a:gd name="T16" fmla="*/ 6921 w 141"/>
                  <a:gd name="T17" fmla="*/ 35914 h 482"/>
                  <a:gd name="T18" fmla="*/ 0 w 141"/>
                  <a:gd name="T19" fmla="*/ 35914 h 482"/>
                  <a:gd name="T20" fmla="*/ 14011 w 141"/>
                  <a:gd name="T21" fmla="*/ 0 h 4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1"/>
                  <a:gd name="T34" fmla="*/ 0 h 482"/>
                  <a:gd name="T35" fmla="*/ 141 w 141"/>
                  <a:gd name="T36" fmla="*/ 482 h 48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1" h="482">
                    <a:moveTo>
                      <a:pt x="69" y="0"/>
                    </a:moveTo>
                    <a:lnTo>
                      <a:pt x="141" y="94"/>
                    </a:lnTo>
                    <a:lnTo>
                      <a:pt x="106" y="94"/>
                    </a:lnTo>
                    <a:lnTo>
                      <a:pt x="106" y="387"/>
                    </a:lnTo>
                    <a:lnTo>
                      <a:pt x="141" y="387"/>
                    </a:lnTo>
                    <a:lnTo>
                      <a:pt x="69" y="482"/>
                    </a:lnTo>
                    <a:lnTo>
                      <a:pt x="0" y="387"/>
                    </a:lnTo>
                    <a:lnTo>
                      <a:pt x="34" y="387"/>
                    </a:lnTo>
                    <a:lnTo>
                      <a:pt x="34" y="94"/>
                    </a:lnTo>
                    <a:lnTo>
                      <a:pt x="0" y="94"/>
                    </a:lnTo>
                    <a:lnTo>
                      <a:pt x="69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0904" name="Group 11"/>
            <p:cNvGrpSpPr/>
            <p:nvPr/>
          </p:nvGrpSpPr>
          <p:grpSpPr bwMode="auto">
            <a:xfrm>
              <a:off x="1392" y="1385"/>
              <a:ext cx="720" cy="2389"/>
              <a:chOff x="1392" y="1632"/>
              <a:chExt cx="720" cy="2389"/>
            </a:xfrm>
          </p:grpSpPr>
          <p:sp>
            <p:nvSpPr>
              <p:cNvPr id="80919" name="Rectangle 12"/>
              <p:cNvSpPr>
                <a:spLocks noChangeArrowheads="1"/>
              </p:cNvSpPr>
              <p:nvPr/>
            </p:nvSpPr>
            <p:spPr bwMode="auto">
              <a:xfrm>
                <a:off x="1392" y="2369"/>
                <a:ext cx="720" cy="1652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32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endParaRPr lang="en-US" altLang="zh-CN" sz="32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800">
                    <a:latin typeface="Times New Roman" panose="02020603050405020304" pitchFamily="18" charset="0"/>
                  </a:rPr>
                  <a:t>主存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20" name="Freeform 13"/>
              <p:cNvSpPr/>
              <p:nvPr/>
            </p:nvSpPr>
            <p:spPr bwMode="auto">
              <a:xfrm>
                <a:off x="1619" y="1632"/>
                <a:ext cx="206" cy="737"/>
              </a:xfrm>
              <a:custGeom>
                <a:avLst/>
                <a:gdLst>
                  <a:gd name="T0" fmla="*/ 14011 w 141"/>
                  <a:gd name="T1" fmla="*/ 0 h 482"/>
                  <a:gd name="T2" fmla="*/ 28475 w 141"/>
                  <a:gd name="T3" fmla="*/ 35914 h 482"/>
                  <a:gd name="T4" fmla="*/ 21355 w 141"/>
                  <a:gd name="T5" fmla="*/ 35914 h 482"/>
                  <a:gd name="T6" fmla="*/ 21355 w 141"/>
                  <a:gd name="T7" fmla="*/ 147788 h 482"/>
                  <a:gd name="T8" fmla="*/ 28475 w 141"/>
                  <a:gd name="T9" fmla="*/ 147788 h 482"/>
                  <a:gd name="T10" fmla="*/ 14011 w 141"/>
                  <a:gd name="T11" fmla="*/ 184079 h 482"/>
                  <a:gd name="T12" fmla="*/ 0 w 141"/>
                  <a:gd name="T13" fmla="*/ 147788 h 482"/>
                  <a:gd name="T14" fmla="*/ 6921 w 141"/>
                  <a:gd name="T15" fmla="*/ 147788 h 482"/>
                  <a:gd name="T16" fmla="*/ 6921 w 141"/>
                  <a:gd name="T17" fmla="*/ 35914 h 482"/>
                  <a:gd name="T18" fmla="*/ 0 w 141"/>
                  <a:gd name="T19" fmla="*/ 35914 h 482"/>
                  <a:gd name="T20" fmla="*/ 14011 w 141"/>
                  <a:gd name="T21" fmla="*/ 0 h 4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1"/>
                  <a:gd name="T34" fmla="*/ 0 h 482"/>
                  <a:gd name="T35" fmla="*/ 141 w 141"/>
                  <a:gd name="T36" fmla="*/ 482 h 48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1" h="482">
                    <a:moveTo>
                      <a:pt x="69" y="0"/>
                    </a:moveTo>
                    <a:lnTo>
                      <a:pt x="141" y="94"/>
                    </a:lnTo>
                    <a:lnTo>
                      <a:pt x="106" y="94"/>
                    </a:lnTo>
                    <a:lnTo>
                      <a:pt x="106" y="387"/>
                    </a:lnTo>
                    <a:lnTo>
                      <a:pt x="141" y="387"/>
                    </a:lnTo>
                    <a:lnTo>
                      <a:pt x="69" y="482"/>
                    </a:lnTo>
                    <a:lnTo>
                      <a:pt x="0" y="387"/>
                    </a:lnTo>
                    <a:lnTo>
                      <a:pt x="34" y="387"/>
                    </a:lnTo>
                    <a:lnTo>
                      <a:pt x="34" y="94"/>
                    </a:lnTo>
                    <a:lnTo>
                      <a:pt x="0" y="94"/>
                    </a:lnTo>
                    <a:lnTo>
                      <a:pt x="69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0905" name="Rectangle 14"/>
            <p:cNvSpPr>
              <a:spLocks noChangeArrowheads="1"/>
            </p:cNvSpPr>
            <p:nvPr/>
          </p:nvSpPr>
          <p:spPr bwMode="auto">
            <a:xfrm>
              <a:off x="2208" y="2116"/>
              <a:ext cx="934" cy="32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 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0906" name="Freeform 15"/>
            <p:cNvSpPr/>
            <p:nvPr/>
          </p:nvSpPr>
          <p:spPr bwMode="auto">
            <a:xfrm>
              <a:off x="2592" y="1391"/>
              <a:ext cx="192" cy="725"/>
            </a:xfrm>
            <a:custGeom>
              <a:avLst/>
              <a:gdLst>
                <a:gd name="T0" fmla="*/ 6499 w 139"/>
                <a:gd name="T1" fmla="*/ 0 h 495"/>
                <a:gd name="T2" fmla="*/ 12802 w 139"/>
                <a:gd name="T3" fmla="*/ 20698 h 495"/>
                <a:gd name="T4" fmla="*/ 9603 w 139"/>
                <a:gd name="T5" fmla="*/ 20698 h 495"/>
                <a:gd name="T6" fmla="*/ 9603 w 139"/>
                <a:gd name="T7" fmla="*/ 82714 h 495"/>
                <a:gd name="T8" fmla="*/ 12802 w 139"/>
                <a:gd name="T9" fmla="*/ 82714 h 495"/>
                <a:gd name="T10" fmla="*/ 6499 w 139"/>
                <a:gd name="T11" fmla="*/ 103467 h 495"/>
                <a:gd name="T12" fmla="*/ 0 w 139"/>
                <a:gd name="T13" fmla="*/ 82714 h 495"/>
                <a:gd name="T14" fmla="*/ 3188 w 139"/>
                <a:gd name="T15" fmla="*/ 82714 h 495"/>
                <a:gd name="T16" fmla="*/ 3188 w 139"/>
                <a:gd name="T17" fmla="*/ 20698 h 495"/>
                <a:gd name="T18" fmla="*/ 0 w 139"/>
                <a:gd name="T19" fmla="*/ 20698 h 495"/>
                <a:gd name="T20" fmla="*/ 6499 w 139"/>
                <a:gd name="T21" fmla="*/ 0 h 4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95"/>
                <a:gd name="T35" fmla="*/ 139 w 139"/>
                <a:gd name="T36" fmla="*/ 495 h 49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95">
                  <a:moveTo>
                    <a:pt x="71" y="0"/>
                  </a:moveTo>
                  <a:lnTo>
                    <a:pt x="139" y="99"/>
                  </a:lnTo>
                  <a:lnTo>
                    <a:pt x="104" y="99"/>
                  </a:lnTo>
                  <a:lnTo>
                    <a:pt x="104" y="396"/>
                  </a:lnTo>
                  <a:lnTo>
                    <a:pt x="139" y="396"/>
                  </a:lnTo>
                  <a:lnTo>
                    <a:pt x="71" y="495"/>
                  </a:lnTo>
                  <a:lnTo>
                    <a:pt x="0" y="396"/>
                  </a:lnTo>
                  <a:lnTo>
                    <a:pt x="35" y="396"/>
                  </a:lnTo>
                  <a:lnTo>
                    <a:pt x="35" y="99"/>
                  </a:lnTo>
                  <a:lnTo>
                    <a:pt x="0" y="99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7" name="Freeform 16"/>
            <p:cNvSpPr/>
            <p:nvPr/>
          </p:nvSpPr>
          <p:spPr bwMode="auto">
            <a:xfrm>
              <a:off x="2609" y="2479"/>
              <a:ext cx="175" cy="671"/>
            </a:xfrm>
            <a:custGeom>
              <a:avLst/>
              <a:gdLst>
                <a:gd name="T0" fmla="*/ 1781 w 139"/>
                <a:gd name="T1" fmla="*/ 0 h 467"/>
                <a:gd name="T2" fmla="*/ 3490 w 139"/>
                <a:gd name="T3" fmla="*/ 15046 h 467"/>
                <a:gd name="T4" fmla="*/ 2617 w 139"/>
                <a:gd name="T5" fmla="*/ 15046 h 467"/>
                <a:gd name="T6" fmla="*/ 2617 w 139"/>
                <a:gd name="T7" fmla="*/ 59743 h 467"/>
                <a:gd name="T8" fmla="*/ 3490 w 139"/>
                <a:gd name="T9" fmla="*/ 59743 h 467"/>
                <a:gd name="T10" fmla="*/ 1781 w 139"/>
                <a:gd name="T11" fmla="*/ 74633 h 467"/>
                <a:gd name="T12" fmla="*/ 0 w 139"/>
                <a:gd name="T13" fmla="*/ 59743 h 467"/>
                <a:gd name="T14" fmla="*/ 871 w 139"/>
                <a:gd name="T15" fmla="*/ 59743 h 467"/>
                <a:gd name="T16" fmla="*/ 871 w 139"/>
                <a:gd name="T17" fmla="*/ 15046 h 467"/>
                <a:gd name="T18" fmla="*/ 0 w 139"/>
                <a:gd name="T19" fmla="*/ 15046 h 467"/>
                <a:gd name="T20" fmla="*/ 1781 w 139"/>
                <a:gd name="T21" fmla="*/ 0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67"/>
                <a:gd name="T35" fmla="*/ 139 w 139"/>
                <a:gd name="T36" fmla="*/ 467 h 4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67">
                  <a:moveTo>
                    <a:pt x="71" y="0"/>
                  </a:moveTo>
                  <a:lnTo>
                    <a:pt x="139" y="94"/>
                  </a:lnTo>
                  <a:lnTo>
                    <a:pt x="104" y="94"/>
                  </a:lnTo>
                  <a:lnTo>
                    <a:pt x="104" y="374"/>
                  </a:lnTo>
                  <a:lnTo>
                    <a:pt x="139" y="374"/>
                  </a:lnTo>
                  <a:lnTo>
                    <a:pt x="71" y="467"/>
                  </a:lnTo>
                  <a:lnTo>
                    <a:pt x="0" y="374"/>
                  </a:lnTo>
                  <a:lnTo>
                    <a:pt x="35" y="374"/>
                  </a:lnTo>
                  <a:lnTo>
                    <a:pt x="35" y="94"/>
                  </a:lnTo>
                  <a:lnTo>
                    <a:pt x="0" y="94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8" name="Rectangle 17"/>
            <p:cNvSpPr>
              <a:spLocks noChangeArrowheads="1"/>
            </p:cNvSpPr>
            <p:nvPr/>
          </p:nvSpPr>
          <p:spPr bwMode="auto">
            <a:xfrm>
              <a:off x="2208" y="3150"/>
              <a:ext cx="934" cy="59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   </a:t>
              </a:r>
              <a:r>
                <a:rPr lang="zh-CN" altLang="en-US" sz="1000">
                  <a:latin typeface="Times New Roman" panose="02020603050405020304" pitchFamily="18" charset="0"/>
                </a:rPr>
                <a:t>    </a:t>
              </a: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  设备1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0909" name="Rectangle 18"/>
            <p:cNvSpPr>
              <a:spLocks noChangeArrowheads="1"/>
            </p:cNvSpPr>
            <p:nvPr/>
          </p:nvSpPr>
          <p:spPr bwMode="auto">
            <a:xfrm>
              <a:off x="3360" y="3150"/>
              <a:ext cx="934" cy="59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   </a:t>
              </a:r>
              <a:r>
                <a:rPr lang="zh-CN" altLang="en-US" sz="1000">
                  <a:latin typeface="Times New Roman" panose="02020603050405020304" pitchFamily="18" charset="0"/>
                </a:rPr>
                <a:t>    </a:t>
              </a: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  设备2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0910" name="Rectangle 19"/>
            <p:cNvSpPr>
              <a:spLocks noChangeArrowheads="1"/>
            </p:cNvSpPr>
            <p:nvPr/>
          </p:nvSpPr>
          <p:spPr bwMode="auto">
            <a:xfrm>
              <a:off x="3360" y="2116"/>
              <a:ext cx="934" cy="32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 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0911" name="Freeform 20"/>
            <p:cNvSpPr/>
            <p:nvPr/>
          </p:nvSpPr>
          <p:spPr bwMode="auto">
            <a:xfrm>
              <a:off x="3696" y="1391"/>
              <a:ext cx="192" cy="725"/>
            </a:xfrm>
            <a:custGeom>
              <a:avLst/>
              <a:gdLst>
                <a:gd name="T0" fmla="*/ 6499 w 139"/>
                <a:gd name="T1" fmla="*/ 0 h 495"/>
                <a:gd name="T2" fmla="*/ 12802 w 139"/>
                <a:gd name="T3" fmla="*/ 20698 h 495"/>
                <a:gd name="T4" fmla="*/ 9603 w 139"/>
                <a:gd name="T5" fmla="*/ 20698 h 495"/>
                <a:gd name="T6" fmla="*/ 9603 w 139"/>
                <a:gd name="T7" fmla="*/ 82714 h 495"/>
                <a:gd name="T8" fmla="*/ 12802 w 139"/>
                <a:gd name="T9" fmla="*/ 82714 h 495"/>
                <a:gd name="T10" fmla="*/ 6499 w 139"/>
                <a:gd name="T11" fmla="*/ 103467 h 495"/>
                <a:gd name="T12" fmla="*/ 0 w 139"/>
                <a:gd name="T13" fmla="*/ 82714 h 495"/>
                <a:gd name="T14" fmla="*/ 3188 w 139"/>
                <a:gd name="T15" fmla="*/ 82714 h 495"/>
                <a:gd name="T16" fmla="*/ 3188 w 139"/>
                <a:gd name="T17" fmla="*/ 20698 h 495"/>
                <a:gd name="T18" fmla="*/ 0 w 139"/>
                <a:gd name="T19" fmla="*/ 20698 h 495"/>
                <a:gd name="T20" fmla="*/ 6499 w 139"/>
                <a:gd name="T21" fmla="*/ 0 h 4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95"/>
                <a:gd name="T35" fmla="*/ 139 w 139"/>
                <a:gd name="T36" fmla="*/ 495 h 49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95">
                  <a:moveTo>
                    <a:pt x="71" y="0"/>
                  </a:moveTo>
                  <a:lnTo>
                    <a:pt x="139" y="99"/>
                  </a:lnTo>
                  <a:lnTo>
                    <a:pt x="104" y="99"/>
                  </a:lnTo>
                  <a:lnTo>
                    <a:pt x="104" y="396"/>
                  </a:lnTo>
                  <a:lnTo>
                    <a:pt x="139" y="396"/>
                  </a:lnTo>
                  <a:lnTo>
                    <a:pt x="71" y="495"/>
                  </a:lnTo>
                  <a:lnTo>
                    <a:pt x="0" y="396"/>
                  </a:lnTo>
                  <a:lnTo>
                    <a:pt x="35" y="396"/>
                  </a:lnTo>
                  <a:lnTo>
                    <a:pt x="35" y="99"/>
                  </a:lnTo>
                  <a:lnTo>
                    <a:pt x="0" y="99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2" name="Freeform 21"/>
            <p:cNvSpPr/>
            <p:nvPr/>
          </p:nvSpPr>
          <p:spPr bwMode="auto">
            <a:xfrm>
              <a:off x="3696" y="2479"/>
              <a:ext cx="192" cy="671"/>
            </a:xfrm>
            <a:custGeom>
              <a:avLst/>
              <a:gdLst>
                <a:gd name="T0" fmla="*/ 6499 w 139"/>
                <a:gd name="T1" fmla="*/ 0 h 467"/>
                <a:gd name="T2" fmla="*/ 12802 w 139"/>
                <a:gd name="T3" fmla="*/ 15046 h 467"/>
                <a:gd name="T4" fmla="*/ 9603 w 139"/>
                <a:gd name="T5" fmla="*/ 15046 h 467"/>
                <a:gd name="T6" fmla="*/ 9603 w 139"/>
                <a:gd name="T7" fmla="*/ 59743 h 467"/>
                <a:gd name="T8" fmla="*/ 12802 w 139"/>
                <a:gd name="T9" fmla="*/ 59743 h 467"/>
                <a:gd name="T10" fmla="*/ 6499 w 139"/>
                <a:gd name="T11" fmla="*/ 74633 h 467"/>
                <a:gd name="T12" fmla="*/ 0 w 139"/>
                <a:gd name="T13" fmla="*/ 59743 h 467"/>
                <a:gd name="T14" fmla="*/ 3188 w 139"/>
                <a:gd name="T15" fmla="*/ 59743 h 467"/>
                <a:gd name="T16" fmla="*/ 3188 w 139"/>
                <a:gd name="T17" fmla="*/ 15046 h 467"/>
                <a:gd name="T18" fmla="*/ 0 w 139"/>
                <a:gd name="T19" fmla="*/ 15046 h 467"/>
                <a:gd name="T20" fmla="*/ 6499 w 139"/>
                <a:gd name="T21" fmla="*/ 0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67"/>
                <a:gd name="T35" fmla="*/ 139 w 139"/>
                <a:gd name="T36" fmla="*/ 467 h 4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67">
                  <a:moveTo>
                    <a:pt x="71" y="0"/>
                  </a:moveTo>
                  <a:lnTo>
                    <a:pt x="139" y="94"/>
                  </a:lnTo>
                  <a:lnTo>
                    <a:pt x="104" y="94"/>
                  </a:lnTo>
                  <a:lnTo>
                    <a:pt x="104" y="374"/>
                  </a:lnTo>
                  <a:lnTo>
                    <a:pt x="139" y="374"/>
                  </a:lnTo>
                  <a:lnTo>
                    <a:pt x="71" y="467"/>
                  </a:lnTo>
                  <a:lnTo>
                    <a:pt x="0" y="374"/>
                  </a:lnTo>
                  <a:lnTo>
                    <a:pt x="35" y="374"/>
                  </a:lnTo>
                  <a:lnTo>
                    <a:pt x="35" y="94"/>
                  </a:lnTo>
                  <a:lnTo>
                    <a:pt x="0" y="94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3" name="Rectangle 22"/>
            <p:cNvSpPr>
              <a:spLocks noChangeArrowheads="1"/>
            </p:cNvSpPr>
            <p:nvPr/>
          </p:nvSpPr>
          <p:spPr bwMode="auto">
            <a:xfrm>
              <a:off x="4368" y="2116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914" name="Rectangle 23"/>
            <p:cNvSpPr>
              <a:spLocks noChangeArrowheads="1"/>
            </p:cNvSpPr>
            <p:nvPr/>
          </p:nvSpPr>
          <p:spPr bwMode="auto">
            <a:xfrm>
              <a:off x="4608" y="3150"/>
              <a:ext cx="934" cy="59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   </a:t>
              </a:r>
              <a:r>
                <a:rPr lang="zh-CN" altLang="en-US" sz="1000">
                  <a:latin typeface="Times New Roman" panose="02020603050405020304" pitchFamily="18" charset="0"/>
                </a:rPr>
                <a:t>    </a:t>
              </a: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  设备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80915" name="Rectangle 24"/>
            <p:cNvSpPr>
              <a:spLocks noChangeArrowheads="1"/>
            </p:cNvSpPr>
            <p:nvPr/>
          </p:nvSpPr>
          <p:spPr bwMode="auto">
            <a:xfrm>
              <a:off x="4608" y="2116"/>
              <a:ext cx="934" cy="32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 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0916" name="Freeform 25"/>
            <p:cNvSpPr/>
            <p:nvPr/>
          </p:nvSpPr>
          <p:spPr bwMode="auto">
            <a:xfrm>
              <a:off x="4992" y="1374"/>
              <a:ext cx="192" cy="740"/>
            </a:xfrm>
            <a:custGeom>
              <a:avLst/>
              <a:gdLst>
                <a:gd name="T0" fmla="*/ 6499 w 139"/>
                <a:gd name="T1" fmla="*/ 0 h 495"/>
                <a:gd name="T2" fmla="*/ 12802 w 139"/>
                <a:gd name="T3" fmla="*/ 27486 h 495"/>
                <a:gd name="T4" fmla="*/ 9603 w 139"/>
                <a:gd name="T5" fmla="*/ 27486 h 495"/>
                <a:gd name="T6" fmla="*/ 9603 w 139"/>
                <a:gd name="T7" fmla="*/ 110279 h 495"/>
                <a:gd name="T8" fmla="*/ 12802 w 139"/>
                <a:gd name="T9" fmla="*/ 110279 h 495"/>
                <a:gd name="T10" fmla="*/ 6499 w 139"/>
                <a:gd name="T11" fmla="*/ 137754 h 495"/>
                <a:gd name="T12" fmla="*/ 0 w 139"/>
                <a:gd name="T13" fmla="*/ 110279 h 495"/>
                <a:gd name="T14" fmla="*/ 3188 w 139"/>
                <a:gd name="T15" fmla="*/ 110279 h 495"/>
                <a:gd name="T16" fmla="*/ 3188 w 139"/>
                <a:gd name="T17" fmla="*/ 27486 h 495"/>
                <a:gd name="T18" fmla="*/ 0 w 139"/>
                <a:gd name="T19" fmla="*/ 27486 h 495"/>
                <a:gd name="T20" fmla="*/ 6499 w 139"/>
                <a:gd name="T21" fmla="*/ 0 h 4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95"/>
                <a:gd name="T35" fmla="*/ 139 w 139"/>
                <a:gd name="T36" fmla="*/ 495 h 49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95">
                  <a:moveTo>
                    <a:pt x="71" y="0"/>
                  </a:moveTo>
                  <a:lnTo>
                    <a:pt x="139" y="99"/>
                  </a:lnTo>
                  <a:lnTo>
                    <a:pt x="104" y="99"/>
                  </a:lnTo>
                  <a:lnTo>
                    <a:pt x="104" y="396"/>
                  </a:lnTo>
                  <a:lnTo>
                    <a:pt x="139" y="396"/>
                  </a:lnTo>
                  <a:lnTo>
                    <a:pt x="71" y="495"/>
                  </a:lnTo>
                  <a:lnTo>
                    <a:pt x="0" y="396"/>
                  </a:lnTo>
                  <a:lnTo>
                    <a:pt x="35" y="396"/>
                  </a:lnTo>
                  <a:lnTo>
                    <a:pt x="35" y="99"/>
                  </a:lnTo>
                  <a:lnTo>
                    <a:pt x="0" y="99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7" name="Freeform 26"/>
            <p:cNvSpPr/>
            <p:nvPr/>
          </p:nvSpPr>
          <p:spPr bwMode="auto">
            <a:xfrm>
              <a:off x="4993" y="2478"/>
              <a:ext cx="191" cy="672"/>
            </a:xfrm>
            <a:custGeom>
              <a:avLst/>
              <a:gdLst>
                <a:gd name="T0" fmla="*/ 6153 w 139"/>
                <a:gd name="T1" fmla="*/ 0 h 467"/>
                <a:gd name="T2" fmla="*/ 11867 w 139"/>
                <a:gd name="T3" fmla="*/ 15250 h 467"/>
                <a:gd name="T4" fmla="*/ 8871 w 139"/>
                <a:gd name="T5" fmla="*/ 15250 h 467"/>
                <a:gd name="T6" fmla="*/ 8871 w 139"/>
                <a:gd name="T7" fmla="*/ 61025 h 467"/>
                <a:gd name="T8" fmla="*/ 11867 w 139"/>
                <a:gd name="T9" fmla="*/ 61025 h 467"/>
                <a:gd name="T10" fmla="*/ 6153 w 139"/>
                <a:gd name="T11" fmla="*/ 76221 h 467"/>
                <a:gd name="T12" fmla="*/ 0 w 139"/>
                <a:gd name="T13" fmla="*/ 61025 h 467"/>
                <a:gd name="T14" fmla="*/ 2994 w 139"/>
                <a:gd name="T15" fmla="*/ 61025 h 467"/>
                <a:gd name="T16" fmla="*/ 2994 w 139"/>
                <a:gd name="T17" fmla="*/ 15250 h 467"/>
                <a:gd name="T18" fmla="*/ 0 w 139"/>
                <a:gd name="T19" fmla="*/ 15250 h 467"/>
                <a:gd name="T20" fmla="*/ 6153 w 139"/>
                <a:gd name="T21" fmla="*/ 0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9"/>
                <a:gd name="T34" fmla="*/ 0 h 467"/>
                <a:gd name="T35" fmla="*/ 139 w 139"/>
                <a:gd name="T36" fmla="*/ 467 h 46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9" h="467">
                  <a:moveTo>
                    <a:pt x="71" y="0"/>
                  </a:moveTo>
                  <a:lnTo>
                    <a:pt x="139" y="94"/>
                  </a:lnTo>
                  <a:lnTo>
                    <a:pt x="104" y="94"/>
                  </a:lnTo>
                  <a:lnTo>
                    <a:pt x="104" y="374"/>
                  </a:lnTo>
                  <a:lnTo>
                    <a:pt x="139" y="374"/>
                  </a:lnTo>
                  <a:lnTo>
                    <a:pt x="71" y="467"/>
                  </a:lnTo>
                  <a:lnTo>
                    <a:pt x="0" y="374"/>
                  </a:lnTo>
                  <a:lnTo>
                    <a:pt x="35" y="374"/>
                  </a:lnTo>
                  <a:lnTo>
                    <a:pt x="35" y="94"/>
                  </a:lnTo>
                  <a:lnTo>
                    <a:pt x="0" y="94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8" name="Rectangle 27"/>
            <p:cNvSpPr>
              <a:spLocks noChangeArrowheads="1"/>
            </p:cNvSpPr>
            <p:nvPr/>
          </p:nvSpPr>
          <p:spPr bwMode="auto">
            <a:xfrm>
              <a:off x="4368" y="3294"/>
              <a:ext cx="33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0902" name="AutoShape 29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2"/>
          <p:cNvSpPr txBox="1">
            <a:spLocks noChangeArrowheads="1"/>
          </p:cNvSpPr>
          <p:nvPr/>
        </p:nvSpPr>
        <p:spPr bwMode="auto">
          <a:xfrm>
            <a:off x="1027113" y="1390650"/>
            <a:ext cx="26304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1. </a:t>
            </a:r>
            <a:r>
              <a:rPr kumimoji="0" lang="zh-CN" altLang="en-US" sz="3200">
                <a:latin typeface="Times New Roman" panose="02020603050405020304" pitchFamily="18" charset="0"/>
              </a:rPr>
              <a:t>双总线结构</a:t>
            </a:r>
            <a:endParaRPr kumimoji="0"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69987" name="AutoShape 3"/>
          <p:cNvSpPr>
            <a:spLocks noChangeArrowheads="1"/>
          </p:cNvSpPr>
          <p:nvPr/>
        </p:nvSpPr>
        <p:spPr bwMode="auto">
          <a:xfrm>
            <a:off x="395288" y="4581525"/>
            <a:ext cx="3246437" cy="777875"/>
          </a:xfrm>
          <a:prstGeom prst="wedgeRoundRectCallout">
            <a:avLst>
              <a:gd name="adj1" fmla="val 74162"/>
              <a:gd name="adj2" fmla="val -167083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具有特殊功能的处理器，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由通道对</a:t>
            </a:r>
            <a:r>
              <a:rPr lang="en-US" altLang="zh-CN" sz="2000" dirty="0">
                <a:latin typeface="Times New Roman" panose="02020603050405020304" pitchFamily="18" charset="0"/>
              </a:rPr>
              <a:t>I/O</a:t>
            </a:r>
            <a:r>
              <a:rPr lang="zh-CN" altLang="en-US" sz="2000" dirty="0">
                <a:latin typeface="Times New Roman" panose="02020603050405020304" pitchFamily="18" charset="0"/>
              </a:rPr>
              <a:t>统一管理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335463" y="2589213"/>
            <a:ext cx="1379537" cy="1525587"/>
            <a:chOff x="2731" y="1631"/>
            <a:chExt cx="869" cy="961"/>
          </a:xfrm>
        </p:grpSpPr>
        <p:sp>
          <p:nvSpPr>
            <p:cNvPr id="81957" name="Rectangle 5"/>
            <p:cNvSpPr>
              <a:spLocks noChangeArrowheads="1"/>
            </p:cNvSpPr>
            <p:nvPr/>
          </p:nvSpPr>
          <p:spPr bwMode="auto">
            <a:xfrm>
              <a:off x="2974" y="1978"/>
              <a:ext cx="38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/>
                <a:t>通道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1958" name="Freeform 6"/>
            <p:cNvSpPr/>
            <p:nvPr/>
          </p:nvSpPr>
          <p:spPr bwMode="auto">
            <a:xfrm>
              <a:off x="3094" y="1631"/>
              <a:ext cx="142" cy="289"/>
            </a:xfrm>
            <a:custGeom>
              <a:avLst/>
              <a:gdLst>
                <a:gd name="T0" fmla="*/ 69 w 142"/>
                <a:gd name="T1" fmla="*/ 0 h 289"/>
                <a:gd name="T2" fmla="*/ 142 w 142"/>
                <a:gd name="T3" fmla="*/ 55 h 289"/>
                <a:gd name="T4" fmla="*/ 107 w 142"/>
                <a:gd name="T5" fmla="*/ 55 h 289"/>
                <a:gd name="T6" fmla="*/ 107 w 142"/>
                <a:gd name="T7" fmla="*/ 230 h 289"/>
                <a:gd name="T8" fmla="*/ 142 w 142"/>
                <a:gd name="T9" fmla="*/ 230 h 289"/>
                <a:gd name="T10" fmla="*/ 69 w 142"/>
                <a:gd name="T11" fmla="*/ 289 h 289"/>
                <a:gd name="T12" fmla="*/ 0 w 142"/>
                <a:gd name="T13" fmla="*/ 230 h 289"/>
                <a:gd name="T14" fmla="*/ 34 w 142"/>
                <a:gd name="T15" fmla="*/ 230 h 289"/>
                <a:gd name="T16" fmla="*/ 34 w 142"/>
                <a:gd name="T17" fmla="*/ 55 h 289"/>
                <a:gd name="T18" fmla="*/ 0 w 142"/>
                <a:gd name="T19" fmla="*/ 55 h 289"/>
                <a:gd name="T20" fmla="*/ 69 w 142"/>
                <a:gd name="T21" fmla="*/ 0 h 2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2"/>
                <a:gd name="T34" fmla="*/ 0 h 289"/>
                <a:gd name="T35" fmla="*/ 142 w 142"/>
                <a:gd name="T36" fmla="*/ 289 h 28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2" h="289">
                  <a:moveTo>
                    <a:pt x="69" y="0"/>
                  </a:moveTo>
                  <a:lnTo>
                    <a:pt x="142" y="55"/>
                  </a:lnTo>
                  <a:lnTo>
                    <a:pt x="107" y="55"/>
                  </a:lnTo>
                  <a:lnTo>
                    <a:pt x="107" y="230"/>
                  </a:lnTo>
                  <a:lnTo>
                    <a:pt x="142" y="230"/>
                  </a:lnTo>
                  <a:lnTo>
                    <a:pt x="69" y="289"/>
                  </a:lnTo>
                  <a:lnTo>
                    <a:pt x="0" y="230"/>
                  </a:lnTo>
                  <a:lnTo>
                    <a:pt x="34" y="230"/>
                  </a:lnTo>
                  <a:lnTo>
                    <a:pt x="34" y="55"/>
                  </a:lnTo>
                  <a:lnTo>
                    <a:pt x="0" y="55"/>
                  </a:lnTo>
                  <a:lnTo>
                    <a:pt x="69" y="0"/>
                  </a:lnTo>
                  <a:close/>
                </a:path>
              </a:pathLst>
            </a:custGeom>
            <a:noFill/>
            <a:ln w="28575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9" name="Freeform 7"/>
            <p:cNvSpPr/>
            <p:nvPr/>
          </p:nvSpPr>
          <p:spPr bwMode="auto">
            <a:xfrm>
              <a:off x="3094" y="2282"/>
              <a:ext cx="142" cy="310"/>
            </a:xfrm>
            <a:custGeom>
              <a:avLst/>
              <a:gdLst>
                <a:gd name="T0" fmla="*/ 73 w 142"/>
                <a:gd name="T1" fmla="*/ 0 h 310"/>
                <a:gd name="T2" fmla="*/ 142 w 142"/>
                <a:gd name="T3" fmla="*/ 63 h 310"/>
                <a:gd name="T4" fmla="*/ 107 w 142"/>
                <a:gd name="T5" fmla="*/ 63 h 310"/>
                <a:gd name="T6" fmla="*/ 107 w 142"/>
                <a:gd name="T7" fmla="*/ 248 h 310"/>
                <a:gd name="T8" fmla="*/ 142 w 142"/>
                <a:gd name="T9" fmla="*/ 248 h 310"/>
                <a:gd name="T10" fmla="*/ 73 w 142"/>
                <a:gd name="T11" fmla="*/ 310 h 310"/>
                <a:gd name="T12" fmla="*/ 0 w 142"/>
                <a:gd name="T13" fmla="*/ 248 h 310"/>
                <a:gd name="T14" fmla="*/ 34 w 142"/>
                <a:gd name="T15" fmla="*/ 248 h 310"/>
                <a:gd name="T16" fmla="*/ 34 w 142"/>
                <a:gd name="T17" fmla="*/ 63 h 310"/>
                <a:gd name="T18" fmla="*/ 0 w 142"/>
                <a:gd name="T19" fmla="*/ 63 h 310"/>
                <a:gd name="T20" fmla="*/ 73 w 142"/>
                <a:gd name="T21" fmla="*/ 0 h 3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2"/>
                <a:gd name="T34" fmla="*/ 0 h 310"/>
                <a:gd name="T35" fmla="*/ 142 w 142"/>
                <a:gd name="T36" fmla="*/ 310 h 31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2" h="310">
                  <a:moveTo>
                    <a:pt x="73" y="0"/>
                  </a:moveTo>
                  <a:lnTo>
                    <a:pt x="142" y="63"/>
                  </a:lnTo>
                  <a:lnTo>
                    <a:pt x="107" y="63"/>
                  </a:lnTo>
                  <a:lnTo>
                    <a:pt x="107" y="248"/>
                  </a:lnTo>
                  <a:lnTo>
                    <a:pt x="142" y="248"/>
                  </a:lnTo>
                  <a:lnTo>
                    <a:pt x="73" y="310"/>
                  </a:lnTo>
                  <a:lnTo>
                    <a:pt x="0" y="248"/>
                  </a:lnTo>
                  <a:lnTo>
                    <a:pt x="34" y="248"/>
                  </a:lnTo>
                  <a:lnTo>
                    <a:pt x="34" y="63"/>
                  </a:lnTo>
                  <a:lnTo>
                    <a:pt x="0" y="63"/>
                  </a:lnTo>
                  <a:lnTo>
                    <a:pt x="73" y="0"/>
                  </a:lnTo>
                  <a:close/>
                </a:path>
              </a:pathLst>
            </a:custGeom>
            <a:noFill/>
            <a:ln w="28575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0" name="Rectangle 8"/>
            <p:cNvSpPr>
              <a:spLocks noChangeArrowheads="1"/>
            </p:cNvSpPr>
            <p:nvPr/>
          </p:nvSpPr>
          <p:spPr bwMode="auto">
            <a:xfrm>
              <a:off x="2731" y="1920"/>
              <a:ext cx="869" cy="349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9"/>
          <p:cNvGrpSpPr/>
          <p:nvPr/>
        </p:nvGrpSpPr>
        <p:grpSpPr bwMode="auto">
          <a:xfrm>
            <a:off x="677863" y="2590800"/>
            <a:ext cx="7345362" cy="3698875"/>
            <a:chOff x="427" y="1632"/>
            <a:chExt cx="4627" cy="2330"/>
          </a:xfrm>
        </p:grpSpPr>
        <p:grpSp>
          <p:nvGrpSpPr>
            <p:cNvPr id="81935" name="Group 10"/>
            <p:cNvGrpSpPr/>
            <p:nvPr/>
          </p:nvGrpSpPr>
          <p:grpSpPr bwMode="auto">
            <a:xfrm>
              <a:off x="2731" y="2664"/>
              <a:ext cx="2323" cy="1298"/>
              <a:chOff x="2731" y="2664"/>
              <a:chExt cx="2323" cy="1298"/>
            </a:xfrm>
          </p:grpSpPr>
          <p:sp>
            <p:nvSpPr>
              <p:cNvPr id="81943" name="Freeform 11"/>
              <p:cNvSpPr/>
              <p:nvPr/>
            </p:nvSpPr>
            <p:spPr bwMode="auto">
              <a:xfrm>
                <a:off x="4534" y="2664"/>
                <a:ext cx="142" cy="289"/>
              </a:xfrm>
              <a:custGeom>
                <a:avLst/>
                <a:gdLst>
                  <a:gd name="T0" fmla="*/ 73 w 142"/>
                  <a:gd name="T1" fmla="*/ 0 h 289"/>
                  <a:gd name="T2" fmla="*/ 142 w 142"/>
                  <a:gd name="T3" fmla="*/ 59 h 289"/>
                  <a:gd name="T4" fmla="*/ 107 w 142"/>
                  <a:gd name="T5" fmla="*/ 59 h 289"/>
                  <a:gd name="T6" fmla="*/ 107 w 142"/>
                  <a:gd name="T7" fmla="*/ 230 h 289"/>
                  <a:gd name="T8" fmla="*/ 142 w 142"/>
                  <a:gd name="T9" fmla="*/ 230 h 289"/>
                  <a:gd name="T10" fmla="*/ 73 w 142"/>
                  <a:gd name="T11" fmla="*/ 289 h 289"/>
                  <a:gd name="T12" fmla="*/ 0 w 142"/>
                  <a:gd name="T13" fmla="*/ 230 h 289"/>
                  <a:gd name="T14" fmla="*/ 34 w 142"/>
                  <a:gd name="T15" fmla="*/ 230 h 289"/>
                  <a:gd name="T16" fmla="*/ 34 w 142"/>
                  <a:gd name="T17" fmla="*/ 59 h 289"/>
                  <a:gd name="T18" fmla="*/ 0 w 142"/>
                  <a:gd name="T19" fmla="*/ 59 h 289"/>
                  <a:gd name="T20" fmla="*/ 73 w 142"/>
                  <a:gd name="T21" fmla="*/ 0 h 2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2"/>
                  <a:gd name="T34" fmla="*/ 0 h 289"/>
                  <a:gd name="T35" fmla="*/ 142 w 142"/>
                  <a:gd name="T36" fmla="*/ 289 h 2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2" h="289">
                    <a:moveTo>
                      <a:pt x="73" y="0"/>
                    </a:moveTo>
                    <a:lnTo>
                      <a:pt x="142" y="59"/>
                    </a:lnTo>
                    <a:lnTo>
                      <a:pt x="107" y="59"/>
                    </a:lnTo>
                    <a:lnTo>
                      <a:pt x="107" y="230"/>
                    </a:lnTo>
                    <a:lnTo>
                      <a:pt x="142" y="230"/>
                    </a:lnTo>
                    <a:lnTo>
                      <a:pt x="73" y="289"/>
                    </a:lnTo>
                    <a:lnTo>
                      <a:pt x="0" y="230"/>
                    </a:lnTo>
                    <a:lnTo>
                      <a:pt x="34" y="230"/>
                    </a:lnTo>
                    <a:lnTo>
                      <a:pt x="34" y="59"/>
                    </a:lnTo>
                    <a:lnTo>
                      <a:pt x="0" y="59"/>
                    </a:lnTo>
                    <a:lnTo>
                      <a:pt x="73" y="0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44" name="Rectangle 12"/>
              <p:cNvSpPr>
                <a:spLocks noChangeArrowheads="1"/>
              </p:cNvSpPr>
              <p:nvPr/>
            </p:nvSpPr>
            <p:spPr bwMode="auto">
              <a:xfrm>
                <a:off x="4171" y="3601"/>
                <a:ext cx="869" cy="34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945" name="Freeform 13"/>
              <p:cNvSpPr/>
              <p:nvPr/>
            </p:nvSpPr>
            <p:spPr bwMode="auto">
              <a:xfrm>
                <a:off x="4534" y="3312"/>
                <a:ext cx="142" cy="289"/>
              </a:xfrm>
              <a:custGeom>
                <a:avLst/>
                <a:gdLst>
                  <a:gd name="T0" fmla="*/ 73 w 142"/>
                  <a:gd name="T1" fmla="*/ 0 h 289"/>
                  <a:gd name="T2" fmla="*/ 142 w 142"/>
                  <a:gd name="T3" fmla="*/ 59 h 289"/>
                  <a:gd name="T4" fmla="*/ 108 w 142"/>
                  <a:gd name="T5" fmla="*/ 59 h 289"/>
                  <a:gd name="T6" fmla="*/ 108 w 142"/>
                  <a:gd name="T7" fmla="*/ 230 h 289"/>
                  <a:gd name="T8" fmla="*/ 142 w 142"/>
                  <a:gd name="T9" fmla="*/ 230 h 289"/>
                  <a:gd name="T10" fmla="*/ 73 w 142"/>
                  <a:gd name="T11" fmla="*/ 289 h 289"/>
                  <a:gd name="T12" fmla="*/ 0 w 142"/>
                  <a:gd name="T13" fmla="*/ 230 h 289"/>
                  <a:gd name="T14" fmla="*/ 35 w 142"/>
                  <a:gd name="T15" fmla="*/ 230 h 289"/>
                  <a:gd name="T16" fmla="*/ 35 w 142"/>
                  <a:gd name="T17" fmla="*/ 59 h 289"/>
                  <a:gd name="T18" fmla="*/ 0 w 142"/>
                  <a:gd name="T19" fmla="*/ 59 h 289"/>
                  <a:gd name="T20" fmla="*/ 73 w 142"/>
                  <a:gd name="T21" fmla="*/ 0 h 2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2"/>
                  <a:gd name="T34" fmla="*/ 0 h 289"/>
                  <a:gd name="T35" fmla="*/ 142 w 142"/>
                  <a:gd name="T36" fmla="*/ 289 h 2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2" h="289">
                    <a:moveTo>
                      <a:pt x="73" y="0"/>
                    </a:moveTo>
                    <a:lnTo>
                      <a:pt x="142" y="59"/>
                    </a:lnTo>
                    <a:lnTo>
                      <a:pt x="108" y="59"/>
                    </a:lnTo>
                    <a:lnTo>
                      <a:pt x="108" y="230"/>
                    </a:lnTo>
                    <a:lnTo>
                      <a:pt x="142" y="230"/>
                    </a:lnTo>
                    <a:lnTo>
                      <a:pt x="73" y="289"/>
                    </a:lnTo>
                    <a:lnTo>
                      <a:pt x="0" y="230"/>
                    </a:lnTo>
                    <a:lnTo>
                      <a:pt x="35" y="230"/>
                    </a:lnTo>
                    <a:lnTo>
                      <a:pt x="35" y="59"/>
                    </a:lnTo>
                    <a:lnTo>
                      <a:pt x="0" y="59"/>
                    </a:lnTo>
                    <a:lnTo>
                      <a:pt x="73" y="0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46" name="Text Box 14"/>
              <p:cNvSpPr txBox="1">
                <a:spLocks noChangeArrowheads="1"/>
              </p:cNvSpPr>
              <p:nvPr/>
            </p:nvSpPr>
            <p:spPr bwMode="auto">
              <a:xfrm>
                <a:off x="4171" y="2994"/>
                <a:ext cx="8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I/O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接口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947" name="Text Box 15"/>
              <p:cNvSpPr txBox="1">
                <a:spLocks noChangeArrowheads="1"/>
              </p:cNvSpPr>
              <p:nvPr/>
            </p:nvSpPr>
            <p:spPr bwMode="auto">
              <a:xfrm>
                <a:off x="4239" y="3610"/>
                <a:ext cx="81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 设备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  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948" name="Text Box 16"/>
              <p:cNvSpPr txBox="1">
                <a:spLocks noChangeArrowheads="1"/>
              </p:cNvSpPr>
              <p:nvPr/>
            </p:nvSpPr>
            <p:spPr bwMode="auto">
              <a:xfrm>
                <a:off x="3724" y="3505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949" name="Text Box 17"/>
              <p:cNvSpPr txBox="1">
                <a:spLocks noChangeArrowheads="1"/>
              </p:cNvSpPr>
              <p:nvPr/>
            </p:nvSpPr>
            <p:spPr bwMode="auto">
              <a:xfrm>
                <a:off x="3724" y="2953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950" name="Rectangle 18"/>
              <p:cNvSpPr>
                <a:spLocks noChangeArrowheads="1"/>
              </p:cNvSpPr>
              <p:nvPr/>
            </p:nvSpPr>
            <p:spPr bwMode="auto">
              <a:xfrm>
                <a:off x="4171" y="2953"/>
                <a:ext cx="869" cy="34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951" name="Freeform 19"/>
              <p:cNvSpPr/>
              <p:nvPr/>
            </p:nvSpPr>
            <p:spPr bwMode="auto">
              <a:xfrm>
                <a:off x="3094" y="2665"/>
                <a:ext cx="142" cy="289"/>
              </a:xfrm>
              <a:custGeom>
                <a:avLst/>
                <a:gdLst>
                  <a:gd name="T0" fmla="*/ 73 w 142"/>
                  <a:gd name="T1" fmla="*/ 0 h 289"/>
                  <a:gd name="T2" fmla="*/ 142 w 142"/>
                  <a:gd name="T3" fmla="*/ 59 h 289"/>
                  <a:gd name="T4" fmla="*/ 107 w 142"/>
                  <a:gd name="T5" fmla="*/ 59 h 289"/>
                  <a:gd name="T6" fmla="*/ 107 w 142"/>
                  <a:gd name="T7" fmla="*/ 230 h 289"/>
                  <a:gd name="T8" fmla="*/ 142 w 142"/>
                  <a:gd name="T9" fmla="*/ 230 h 289"/>
                  <a:gd name="T10" fmla="*/ 73 w 142"/>
                  <a:gd name="T11" fmla="*/ 289 h 289"/>
                  <a:gd name="T12" fmla="*/ 0 w 142"/>
                  <a:gd name="T13" fmla="*/ 230 h 289"/>
                  <a:gd name="T14" fmla="*/ 34 w 142"/>
                  <a:gd name="T15" fmla="*/ 230 h 289"/>
                  <a:gd name="T16" fmla="*/ 34 w 142"/>
                  <a:gd name="T17" fmla="*/ 59 h 289"/>
                  <a:gd name="T18" fmla="*/ 0 w 142"/>
                  <a:gd name="T19" fmla="*/ 59 h 289"/>
                  <a:gd name="T20" fmla="*/ 73 w 142"/>
                  <a:gd name="T21" fmla="*/ 0 h 2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2"/>
                  <a:gd name="T34" fmla="*/ 0 h 289"/>
                  <a:gd name="T35" fmla="*/ 142 w 142"/>
                  <a:gd name="T36" fmla="*/ 289 h 2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2" h="289">
                    <a:moveTo>
                      <a:pt x="73" y="0"/>
                    </a:moveTo>
                    <a:lnTo>
                      <a:pt x="142" y="59"/>
                    </a:lnTo>
                    <a:lnTo>
                      <a:pt x="107" y="59"/>
                    </a:lnTo>
                    <a:lnTo>
                      <a:pt x="107" y="230"/>
                    </a:lnTo>
                    <a:lnTo>
                      <a:pt x="142" y="230"/>
                    </a:lnTo>
                    <a:lnTo>
                      <a:pt x="73" y="289"/>
                    </a:lnTo>
                    <a:lnTo>
                      <a:pt x="0" y="230"/>
                    </a:lnTo>
                    <a:lnTo>
                      <a:pt x="34" y="230"/>
                    </a:lnTo>
                    <a:lnTo>
                      <a:pt x="34" y="59"/>
                    </a:lnTo>
                    <a:lnTo>
                      <a:pt x="0" y="59"/>
                    </a:lnTo>
                    <a:lnTo>
                      <a:pt x="73" y="0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2" name="Rectangle 20"/>
              <p:cNvSpPr>
                <a:spLocks noChangeArrowheads="1"/>
              </p:cNvSpPr>
              <p:nvPr/>
            </p:nvSpPr>
            <p:spPr bwMode="auto">
              <a:xfrm>
                <a:off x="2731" y="3613"/>
                <a:ext cx="869" cy="34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953" name="Freeform 21"/>
              <p:cNvSpPr/>
              <p:nvPr/>
            </p:nvSpPr>
            <p:spPr bwMode="auto">
              <a:xfrm>
                <a:off x="3094" y="3324"/>
                <a:ext cx="142" cy="289"/>
              </a:xfrm>
              <a:custGeom>
                <a:avLst/>
                <a:gdLst>
                  <a:gd name="T0" fmla="*/ 73 w 142"/>
                  <a:gd name="T1" fmla="*/ 0 h 289"/>
                  <a:gd name="T2" fmla="*/ 142 w 142"/>
                  <a:gd name="T3" fmla="*/ 59 h 289"/>
                  <a:gd name="T4" fmla="*/ 108 w 142"/>
                  <a:gd name="T5" fmla="*/ 59 h 289"/>
                  <a:gd name="T6" fmla="*/ 108 w 142"/>
                  <a:gd name="T7" fmla="*/ 230 h 289"/>
                  <a:gd name="T8" fmla="*/ 142 w 142"/>
                  <a:gd name="T9" fmla="*/ 230 h 289"/>
                  <a:gd name="T10" fmla="*/ 73 w 142"/>
                  <a:gd name="T11" fmla="*/ 289 h 289"/>
                  <a:gd name="T12" fmla="*/ 0 w 142"/>
                  <a:gd name="T13" fmla="*/ 230 h 289"/>
                  <a:gd name="T14" fmla="*/ 35 w 142"/>
                  <a:gd name="T15" fmla="*/ 230 h 289"/>
                  <a:gd name="T16" fmla="*/ 35 w 142"/>
                  <a:gd name="T17" fmla="*/ 59 h 289"/>
                  <a:gd name="T18" fmla="*/ 0 w 142"/>
                  <a:gd name="T19" fmla="*/ 59 h 289"/>
                  <a:gd name="T20" fmla="*/ 73 w 142"/>
                  <a:gd name="T21" fmla="*/ 0 h 2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2"/>
                  <a:gd name="T34" fmla="*/ 0 h 289"/>
                  <a:gd name="T35" fmla="*/ 142 w 142"/>
                  <a:gd name="T36" fmla="*/ 289 h 2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2" h="289">
                    <a:moveTo>
                      <a:pt x="73" y="0"/>
                    </a:moveTo>
                    <a:lnTo>
                      <a:pt x="142" y="59"/>
                    </a:lnTo>
                    <a:lnTo>
                      <a:pt x="108" y="59"/>
                    </a:lnTo>
                    <a:lnTo>
                      <a:pt x="108" y="230"/>
                    </a:lnTo>
                    <a:lnTo>
                      <a:pt x="142" y="230"/>
                    </a:lnTo>
                    <a:lnTo>
                      <a:pt x="73" y="289"/>
                    </a:lnTo>
                    <a:lnTo>
                      <a:pt x="0" y="230"/>
                    </a:lnTo>
                    <a:lnTo>
                      <a:pt x="35" y="230"/>
                    </a:lnTo>
                    <a:lnTo>
                      <a:pt x="35" y="59"/>
                    </a:lnTo>
                    <a:lnTo>
                      <a:pt x="0" y="59"/>
                    </a:lnTo>
                    <a:lnTo>
                      <a:pt x="73" y="0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4" name="Text Box 22"/>
              <p:cNvSpPr txBox="1">
                <a:spLocks noChangeArrowheads="1"/>
              </p:cNvSpPr>
              <p:nvPr/>
            </p:nvSpPr>
            <p:spPr bwMode="auto">
              <a:xfrm>
                <a:off x="2731" y="3011"/>
                <a:ext cx="8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I/O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接口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955" name="Text Box 23"/>
              <p:cNvSpPr txBox="1">
                <a:spLocks noChangeArrowheads="1"/>
              </p:cNvSpPr>
              <p:nvPr/>
            </p:nvSpPr>
            <p:spPr bwMode="auto">
              <a:xfrm>
                <a:off x="2832" y="3622"/>
                <a:ext cx="75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设备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  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956" name="Rectangle 24"/>
              <p:cNvSpPr>
                <a:spLocks noChangeArrowheads="1"/>
              </p:cNvSpPr>
              <p:nvPr/>
            </p:nvSpPr>
            <p:spPr bwMode="auto">
              <a:xfrm>
                <a:off x="2731" y="2970"/>
                <a:ext cx="869" cy="34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81936" name="Group 25"/>
            <p:cNvGrpSpPr/>
            <p:nvPr/>
          </p:nvGrpSpPr>
          <p:grpSpPr bwMode="auto">
            <a:xfrm>
              <a:off x="427" y="1632"/>
              <a:ext cx="2021" cy="637"/>
              <a:chOff x="427" y="1632"/>
              <a:chExt cx="2021" cy="637"/>
            </a:xfrm>
          </p:grpSpPr>
          <p:sp>
            <p:nvSpPr>
              <p:cNvPr id="81937" name="Rectangle 26"/>
              <p:cNvSpPr>
                <a:spLocks noChangeArrowheads="1"/>
              </p:cNvSpPr>
              <p:nvPr/>
            </p:nvSpPr>
            <p:spPr bwMode="auto">
              <a:xfrm>
                <a:off x="672" y="1978"/>
                <a:ext cx="39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CPU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938" name="Freeform 27"/>
              <p:cNvSpPr/>
              <p:nvPr/>
            </p:nvSpPr>
            <p:spPr bwMode="auto">
              <a:xfrm>
                <a:off x="791" y="1632"/>
                <a:ext cx="142" cy="289"/>
              </a:xfrm>
              <a:custGeom>
                <a:avLst/>
                <a:gdLst>
                  <a:gd name="T0" fmla="*/ 73 w 142"/>
                  <a:gd name="T1" fmla="*/ 0 h 289"/>
                  <a:gd name="T2" fmla="*/ 142 w 142"/>
                  <a:gd name="T3" fmla="*/ 55 h 289"/>
                  <a:gd name="T4" fmla="*/ 107 w 142"/>
                  <a:gd name="T5" fmla="*/ 55 h 289"/>
                  <a:gd name="T6" fmla="*/ 107 w 142"/>
                  <a:gd name="T7" fmla="*/ 230 h 289"/>
                  <a:gd name="T8" fmla="*/ 142 w 142"/>
                  <a:gd name="T9" fmla="*/ 230 h 289"/>
                  <a:gd name="T10" fmla="*/ 73 w 142"/>
                  <a:gd name="T11" fmla="*/ 289 h 289"/>
                  <a:gd name="T12" fmla="*/ 0 w 142"/>
                  <a:gd name="T13" fmla="*/ 230 h 289"/>
                  <a:gd name="T14" fmla="*/ 34 w 142"/>
                  <a:gd name="T15" fmla="*/ 230 h 289"/>
                  <a:gd name="T16" fmla="*/ 34 w 142"/>
                  <a:gd name="T17" fmla="*/ 55 h 289"/>
                  <a:gd name="T18" fmla="*/ 0 w 142"/>
                  <a:gd name="T19" fmla="*/ 55 h 289"/>
                  <a:gd name="T20" fmla="*/ 73 w 142"/>
                  <a:gd name="T21" fmla="*/ 0 h 2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2"/>
                  <a:gd name="T34" fmla="*/ 0 h 289"/>
                  <a:gd name="T35" fmla="*/ 142 w 142"/>
                  <a:gd name="T36" fmla="*/ 289 h 2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2" h="289">
                    <a:moveTo>
                      <a:pt x="73" y="0"/>
                    </a:moveTo>
                    <a:lnTo>
                      <a:pt x="142" y="55"/>
                    </a:lnTo>
                    <a:lnTo>
                      <a:pt x="107" y="55"/>
                    </a:lnTo>
                    <a:lnTo>
                      <a:pt x="107" y="230"/>
                    </a:lnTo>
                    <a:lnTo>
                      <a:pt x="142" y="230"/>
                    </a:lnTo>
                    <a:lnTo>
                      <a:pt x="73" y="289"/>
                    </a:lnTo>
                    <a:lnTo>
                      <a:pt x="0" y="230"/>
                    </a:lnTo>
                    <a:lnTo>
                      <a:pt x="34" y="230"/>
                    </a:lnTo>
                    <a:lnTo>
                      <a:pt x="34" y="55"/>
                    </a:lnTo>
                    <a:lnTo>
                      <a:pt x="0" y="55"/>
                    </a:lnTo>
                    <a:lnTo>
                      <a:pt x="73" y="0"/>
                    </a:lnTo>
                    <a:close/>
                  </a:path>
                </a:pathLst>
              </a:custGeom>
              <a:noFill/>
              <a:ln w="28575" cmpd="sng">
                <a:solidFill>
                  <a:srgbClr val="EBF01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39" name="Rectangle 28"/>
              <p:cNvSpPr>
                <a:spLocks noChangeArrowheads="1"/>
              </p:cNvSpPr>
              <p:nvPr/>
            </p:nvSpPr>
            <p:spPr bwMode="auto">
              <a:xfrm>
                <a:off x="1822" y="1978"/>
                <a:ext cx="386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/>
                  <a:t>主存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940" name="Freeform 29"/>
              <p:cNvSpPr/>
              <p:nvPr/>
            </p:nvSpPr>
            <p:spPr bwMode="auto">
              <a:xfrm>
                <a:off x="1941" y="1632"/>
                <a:ext cx="146" cy="289"/>
              </a:xfrm>
              <a:custGeom>
                <a:avLst/>
                <a:gdLst>
                  <a:gd name="T0" fmla="*/ 73 w 146"/>
                  <a:gd name="T1" fmla="*/ 0 h 289"/>
                  <a:gd name="T2" fmla="*/ 146 w 146"/>
                  <a:gd name="T3" fmla="*/ 55 h 289"/>
                  <a:gd name="T4" fmla="*/ 108 w 146"/>
                  <a:gd name="T5" fmla="*/ 55 h 289"/>
                  <a:gd name="T6" fmla="*/ 108 w 146"/>
                  <a:gd name="T7" fmla="*/ 230 h 289"/>
                  <a:gd name="T8" fmla="*/ 146 w 146"/>
                  <a:gd name="T9" fmla="*/ 230 h 289"/>
                  <a:gd name="T10" fmla="*/ 73 w 146"/>
                  <a:gd name="T11" fmla="*/ 289 h 289"/>
                  <a:gd name="T12" fmla="*/ 0 w 146"/>
                  <a:gd name="T13" fmla="*/ 230 h 289"/>
                  <a:gd name="T14" fmla="*/ 39 w 146"/>
                  <a:gd name="T15" fmla="*/ 230 h 289"/>
                  <a:gd name="T16" fmla="*/ 39 w 146"/>
                  <a:gd name="T17" fmla="*/ 55 h 289"/>
                  <a:gd name="T18" fmla="*/ 0 w 146"/>
                  <a:gd name="T19" fmla="*/ 55 h 289"/>
                  <a:gd name="T20" fmla="*/ 73 w 146"/>
                  <a:gd name="T21" fmla="*/ 0 h 2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6"/>
                  <a:gd name="T34" fmla="*/ 0 h 289"/>
                  <a:gd name="T35" fmla="*/ 146 w 146"/>
                  <a:gd name="T36" fmla="*/ 289 h 2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6" h="289">
                    <a:moveTo>
                      <a:pt x="73" y="0"/>
                    </a:moveTo>
                    <a:lnTo>
                      <a:pt x="146" y="55"/>
                    </a:lnTo>
                    <a:lnTo>
                      <a:pt x="108" y="55"/>
                    </a:lnTo>
                    <a:lnTo>
                      <a:pt x="108" y="230"/>
                    </a:lnTo>
                    <a:lnTo>
                      <a:pt x="146" y="230"/>
                    </a:lnTo>
                    <a:lnTo>
                      <a:pt x="73" y="289"/>
                    </a:lnTo>
                    <a:lnTo>
                      <a:pt x="0" y="230"/>
                    </a:lnTo>
                    <a:lnTo>
                      <a:pt x="39" y="230"/>
                    </a:lnTo>
                    <a:lnTo>
                      <a:pt x="39" y="55"/>
                    </a:lnTo>
                    <a:lnTo>
                      <a:pt x="0" y="55"/>
                    </a:lnTo>
                    <a:lnTo>
                      <a:pt x="73" y="0"/>
                    </a:lnTo>
                    <a:close/>
                  </a:path>
                </a:pathLst>
              </a:custGeom>
              <a:noFill/>
              <a:ln w="28575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41" name="Rectangle 30"/>
              <p:cNvSpPr>
                <a:spLocks noChangeArrowheads="1"/>
              </p:cNvSpPr>
              <p:nvPr/>
            </p:nvSpPr>
            <p:spPr bwMode="auto">
              <a:xfrm>
                <a:off x="1579" y="1920"/>
                <a:ext cx="869" cy="34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942" name="Rectangle 31"/>
              <p:cNvSpPr>
                <a:spLocks noChangeArrowheads="1"/>
              </p:cNvSpPr>
              <p:nvPr/>
            </p:nvSpPr>
            <p:spPr bwMode="auto">
              <a:xfrm>
                <a:off x="427" y="1920"/>
                <a:ext cx="869" cy="34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6" name="Group 32"/>
          <p:cNvGrpSpPr/>
          <p:nvPr/>
        </p:nvGrpSpPr>
        <p:grpSpPr bwMode="auto">
          <a:xfrm>
            <a:off x="533400" y="1962150"/>
            <a:ext cx="8610600" cy="2305050"/>
            <a:chOff x="336" y="1236"/>
            <a:chExt cx="5424" cy="1452"/>
          </a:xfrm>
        </p:grpSpPr>
        <p:sp>
          <p:nvSpPr>
            <p:cNvPr id="81930" name="Rectangle 33"/>
            <p:cNvSpPr>
              <a:spLocks noChangeArrowheads="1"/>
            </p:cNvSpPr>
            <p:nvPr/>
          </p:nvSpPr>
          <p:spPr bwMode="auto">
            <a:xfrm>
              <a:off x="2598" y="1236"/>
              <a:ext cx="153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</a:rPr>
                <a:t>主存总线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31" name="Rectangle 34"/>
            <p:cNvSpPr>
              <a:spLocks noChangeArrowheads="1"/>
            </p:cNvSpPr>
            <p:nvPr/>
          </p:nvSpPr>
          <p:spPr bwMode="auto">
            <a:xfrm>
              <a:off x="4024" y="2395"/>
              <a:ext cx="676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1932" name="Rectangle 35"/>
            <p:cNvSpPr>
              <a:spLocks noChangeArrowheads="1"/>
            </p:cNvSpPr>
            <p:nvPr/>
          </p:nvSpPr>
          <p:spPr bwMode="auto">
            <a:xfrm>
              <a:off x="3622" y="2304"/>
              <a:ext cx="12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I/O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总线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33" name="AutoShape 36"/>
            <p:cNvSpPr>
              <a:spLocks noChangeArrowheads="1"/>
            </p:cNvSpPr>
            <p:nvPr/>
          </p:nvSpPr>
          <p:spPr bwMode="auto">
            <a:xfrm>
              <a:off x="336" y="1500"/>
              <a:ext cx="5424" cy="156"/>
            </a:xfrm>
            <a:prstGeom prst="leftRightArrow">
              <a:avLst>
                <a:gd name="adj1" fmla="val 45833"/>
                <a:gd name="adj2" fmla="val 192358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1934" name="AutoShape 37"/>
            <p:cNvSpPr>
              <a:spLocks noChangeArrowheads="1"/>
            </p:cNvSpPr>
            <p:nvPr/>
          </p:nvSpPr>
          <p:spPr bwMode="auto">
            <a:xfrm>
              <a:off x="2448" y="2532"/>
              <a:ext cx="3120" cy="156"/>
            </a:xfrm>
            <a:prstGeom prst="leftRightArrow">
              <a:avLst>
                <a:gd name="adj1" fmla="val 50000"/>
                <a:gd name="adj2" fmla="val 181389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81927" name="Text Box 38"/>
          <p:cNvSpPr txBox="1">
            <a:spLocks noChangeArrowheads="1"/>
          </p:cNvSpPr>
          <p:nvPr/>
        </p:nvSpPr>
        <p:spPr bwMode="auto">
          <a:xfrm>
            <a:off x="517525" y="396875"/>
            <a:ext cx="3384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二、多总线结构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70023" name="Rectangle 39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3.4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1929" name="AutoShape 4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utoUpdateAnimBg="0"/>
      <p:bldP spid="169987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457200" y="533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2. 三总线结构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2" name="Group 47"/>
          <p:cNvGrpSpPr/>
          <p:nvPr/>
        </p:nvGrpSpPr>
        <p:grpSpPr bwMode="auto">
          <a:xfrm>
            <a:off x="133350" y="2209800"/>
            <a:ext cx="8848725" cy="2514600"/>
            <a:chOff x="84" y="1392"/>
            <a:chExt cx="5574" cy="1584"/>
          </a:xfrm>
        </p:grpSpPr>
        <p:grpSp>
          <p:nvGrpSpPr>
            <p:cNvPr id="82978" name="Group 4"/>
            <p:cNvGrpSpPr/>
            <p:nvPr/>
          </p:nvGrpSpPr>
          <p:grpSpPr bwMode="auto">
            <a:xfrm>
              <a:off x="84" y="1922"/>
              <a:ext cx="1020" cy="343"/>
              <a:chOff x="84" y="1968"/>
              <a:chExt cx="1020" cy="343"/>
            </a:xfrm>
          </p:grpSpPr>
          <p:sp>
            <p:nvSpPr>
              <p:cNvPr id="82985" name="Rectangle 5"/>
              <p:cNvSpPr>
                <a:spLocks noChangeArrowheads="1"/>
              </p:cNvSpPr>
              <p:nvPr/>
            </p:nvSpPr>
            <p:spPr bwMode="auto">
              <a:xfrm>
                <a:off x="84" y="2002"/>
                <a:ext cx="8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600">
                    <a:solidFill>
                      <a:schemeClr val="folHlink"/>
                    </a:solidFill>
                  </a:rPr>
                  <a:t>主存总线</a:t>
                </a:r>
                <a:endParaRPr lang="zh-CN" altLang="en-US" sz="26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986" name="Freeform 6"/>
              <p:cNvSpPr/>
              <p:nvPr/>
            </p:nvSpPr>
            <p:spPr bwMode="auto">
              <a:xfrm>
                <a:off x="949" y="1968"/>
                <a:ext cx="155" cy="343"/>
              </a:xfrm>
              <a:custGeom>
                <a:avLst/>
                <a:gdLst>
                  <a:gd name="T0" fmla="*/ 1454 w 124"/>
                  <a:gd name="T1" fmla="*/ 0 h 362"/>
                  <a:gd name="T2" fmla="*/ 2835 w 124"/>
                  <a:gd name="T3" fmla="*/ 33 h 362"/>
                  <a:gd name="T4" fmla="*/ 2150 w 124"/>
                  <a:gd name="T5" fmla="*/ 33 h 362"/>
                  <a:gd name="T6" fmla="*/ 2150 w 124"/>
                  <a:gd name="T7" fmla="*/ 137 h 362"/>
                  <a:gd name="T8" fmla="*/ 2835 w 124"/>
                  <a:gd name="T9" fmla="*/ 137 h 362"/>
                  <a:gd name="T10" fmla="*/ 1454 w 124"/>
                  <a:gd name="T11" fmla="*/ 171 h 362"/>
                  <a:gd name="T12" fmla="*/ 0 w 124"/>
                  <a:gd name="T13" fmla="*/ 137 h 362"/>
                  <a:gd name="T14" fmla="*/ 705 w 124"/>
                  <a:gd name="T15" fmla="*/ 137 h 362"/>
                  <a:gd name="T16" fmla="*/ 705 w 124"/>
                  <a:gd name="T17" fmla="*/ 33 h 362"/>
                  <a:gd name="T18" fmla="*/ 0 w 124"/>
                  <a:gd name="T19" fmla="*/ 33 h 362"/>
                  <a:gd name="T20" fmla="*/ 1454 w 124"/>
                  <a:gd name="T21" fmla="*/ 0 h 36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4"/>
                  <a:gd name="T34" fmla="*/ 0 h 362"/>
                  <a:gd name="T35" fmla="*/ 124 w 124"/>
                  <a:gd name="T36" fmla="*/ 362 h 36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4" h="362">
                    <a:moveTo>
                      <a:pt x="64" y="0"/>
                    </a:moveTo>
                    <a:lnTo>
                      <a:pt x="124" y="71"/>
                    </a:lnTo>
                    <a:lnTo>
                      <a:pt x="94" y="71"/>
                    </a:lnTo>
                    <a:lnTo>
                      <a:pt x="94" y="291"/>
                    </a:lnTo>
                    <a:lnTo>
                      <a:pt x="124" y="291"/>
                    </a:lnTo>
                    <a:lnTo>
                      <a:pt x="64" y="362"/>
                    </a:lnTo>
                    <a:lnTo>
                      <a:pt x="0" y="291"/>
                    </a:lnTo>
                    <a:lnTo>
                      <a:pt x="30" y="291"/>
                    </a:lnTo>
                    <a:lnTo>
                      <a:pt x="30" y="71"/>
                    </a:lnTo>
                    <a:lnTo>
                      <a:pt x="0" y="71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7463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979" name="Group 46"/>
            <p:cNvGrpSpPr/>
            <p:nvPr/>
          </p:nvGrpSpPr>
          <p:grpSpPr bwMode="auto">
            <a:xfrm>
              <a:off x="1292" y="2426"/>
              <a:ext cx="914" cy="550"/>
              <a:chOff x="1292" y="2426"/>
              <a:chExt cx="914" cy="550"/>
            </a:xfrm>
          </p:grpSpPr>
          <p:sp>
            <p:nvSpPr>
              <p:cNvPr id="82983" name="Freeform 8"/>
              <p:cNvSpPr/>
              <p:nvPr/>
            </p:nvSpPr>
            <p:spPr bwMode="auto">
              <a:xfrm>
                <a:off x="1466" y="2426"/>
                <a:ext cx="447" cy="125"/>
              </a:xfrm>
              <a:custGeom>
                <a:avLst/>
                <a:gdLst>
                  <a:gd name="T0" fmla="*/ 0 w 424"/>
                  <a:gd name="T1" fmla="*/ 1 h 184"/>
                  <a:gd name="T2" fmla="*/ 179 w 424"/>
                  <a:gd name="T3" fmla="*/ 1 h 184"/>
                  <a:gd name="T4" fmla="*/ 179 w 424"/>
                  <a:gd name="T5" fmla="*/ 1 h 184"/>
                  <a:gd name="T6" fmla="*/ 705 w 424"/>
                  <a:gd name="T7" fmla="*/ 1 h 184"/>
                  <a:gd name="T8" fmla="*/ 705 w 424"/>
                  <a:gd name="T9" fmla="*/ 1 h 184"/>
                  <a:gd name="T10" fmla="*/ 888 w 424"/>
                  <a:gd name="T11" fmla="*/ 1 h 184"/>
                  <a:gd name="T12" fmla="*/ 705 w 424"/>
                  <a:gd name="T13" fmla="*/ 0 h 184"/>
                  <a:gd name="T14" fmla="*/ 705 w 424"/>
                  <a:gd name="T15" fmla="*/ 1 h 184"/>
                  <a:gd name="T16" fmla="*/ 179 w 424"/>
                  <a:gd name="T17" fmla="*/ 1 h 184"/>
                  <a:gd name="T18" fmla="*/ 179 w 424"/>
                  <a:gd name="T19" fmla="*/ 0 h 184"/>
                  <a:gd name="T20" fmla="*/ 0 w 424"/>
                  <a:gd name="T21" fmla="*/ 1 h 18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24"/>
                  <a:gd name="T34" fmla="*/ 0 h 184"/>
                  <a:gd name="T35" fmla="*/ 424 w 424"/>
                  <a:gd name="T36" fmla="*/ 184 h 18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24" h="184">
                    <a:moveTo>
                      <a:pt x="0" y="92"/>
                    </a:moveTo>
                    <a:lnTo>
                      <a:pt x="86" y="184"/>
                    </a:lnTo>
                    <a:lnTo>
                      <a:pt x="86" y="138"/>
                    </a:lnTo>
                    <a:lnTo>
                      <a:pt x="338" y="138"/>
                    </a:lnTo>
                    <a:lnTo>
                      <a:pt x="338" y="184"/>
                    </a:lnTo>
                    <a:lnTo>
                      <a:pt x="424" y="92"/>
                    </a:lnTo>
                    <a:lnTo>
                      <a:pt x="338" y="0"/>
                    </a:lnTo>
                    <a:lnTo>
                      <a:pt x="338" y="46"/>
                    </a:lnTo>
                    <a:lnTo>
                      <a:pt x="86" y="46"/>
                    </a:lnTo>
                    <a:lnTo>
                      <a:pt x="86" y="0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7463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84" name="Rectangle 9"/>
              <p:cNvSpPr>
                <a:spLocks noChangeArrowheads="1"/>
              </p:cNvSpPr>
              <p:nvPr/>
            </p:nvSpPr>
            <p:spPr bwMode="auto">
              <a:xfrm>
                <a:off x="1292" y="2726"/>
                <a:ext cx="91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6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DMA</a:t>
                </a:r>
                <a:r>
                  <a:rPr lang="zh-CN" altLang="en-US" sz="2600">
                    <a:solidFill>
                      <a:schemeClr val="folHlink"/>
                    </a:solidFill>
                  </a:rPr>
                  <a:t>总线</a:t>
                </a:r>
                <a:endParaRPr lang="zh-CN" altLang="en-US" sz="26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2980" name="Group 10"/>
            <p:cNvGrpSpPr/>
            <p:nvPr/>
          </p:nvGrpSpPr>
          <p:grpSpPr bwMode="auto">
            <a:xfrm>
              <a:off x="1464" y="1392"/>
              <a:ext cx="4194" cy="406"/>
              <a:chOff x="1464" y="1438"/>
              <a:chExt cx="4194" cy="406"/>
            </a:xfrm>
          </p:grpSpPr>
          <p:sp>
            <p:nvSpPr>
              <p:cNvPr id="82981" name="Text Box 11"/>
              <p:cNvSpPr txBox="1">
                <a:spLocks noChangeArrowheads="1"/>
              </p:cNvSpPr>
              <p:nvPr/>
            </p:nvSpPr>
            <p:spPr bwMode="auto">
              <a:xfrm>
                <a:off x="3143" y="1438"/>
                <a:ext cx="835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6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6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总线</a:t>
                </a:r>
                <a:endParaRPr lang="zh-CN" altLang="en-US" sz="26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982" name="AutoShape 12"/>
              <p:cNvSpPr>
                <a:spLocks noChangeArrowheads="1"/>
              </p:cNvSpPr>
              <p:nvPr/>
            </p:nvSpPr>
            <p:spPr bwMode="auto">
              <a:xfrm>
                <a:off x="1464" y="1688"/>
                <a:ext cx="4194" cy="156"/>
              </a:xfrm>
              <a:prstGeom prst="leftRightArrow">
                <a:avLst>
                  <a:gd name="adj1" fmla="val 50000"/>
                  <a:gd name="adj2" fmla="val 144256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6" name="Group 13"/>
          <p:cNvGrpSpPr/>
          <p:nvPr/>
        </p:nvGrpSpPr>
        <p:grpSpPr bwMode="auto">
          <a:xfrm>
            <a:off x="914400" y="2390775"/>
            <a:ext cx="7848600" cy="3379788"/>
            <a:chOff x="576" y="1552"/>
            <a:chExt cx="4944" cy="2129"/>
          </a:xfrm>
        </p:grpSpPr>
        <p:grpSp>
          <p:nvGrpSpPr>
            <p:cNvPr id="82951" name="Group 14"/>
            <p:cNvGrpSpPr/>
            <p:nvPr/>
          </p:nvGrpSpPr>
          <p:grpSpPr bwMode="auto">
            <a:xfrm>
              <a:off x="576" y="1552"/>
              <a:ext cx="1008" cy="1197"/>
              <a:chOff x="576" y="1552"/>
              <a:chExt cx="1008" cy="1197"/>
            </a:xfrm>
          </p:grpSpPr>
          <p:sp>
            <p:nvSpPr>
              <p:cNvPr id="82974" name="Rectangle 15"/>
              <p:cNvSpPr>
                <a:spLocks noChangeArrowheads="1"/>
              </p:cNvSpPr>
              <p:nvPr/>
            </p:nvSpPr>
            <p:spPr bwMode="auto">
              <a:xfrm>
                <a:off x="576" y="1552"/>
                <a:ext cx="889" cy="428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975" name="Rectangle 16"/>
              <p:cNvSpPr>
                <a:spLocks noChangeArrowheads="1"/>
              </p:cNvSpPr>
              <p:nvPr/>
            </p:nvSpPr>
            <p:spPr bwMode="auto">
              <a:xfrm>
                <a:off x="805" y="1642"/>
                <a:ext cx="63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CPU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976" name="Rectangle 17"/>
              <p:cNvSpPr>
                <a:spLocks noChangeArrowheads="1"/>
              </p:cNvSpPr>
              <p:nvPr/>
            </p:nvSpPr>
            <p:spPr bwMode="auto">
              <a:xfrm>
                <a:off x="576" y="2320"/>
                <a:ext cx="889" cy="42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977" name="Rectangle 18"/>
              <p:cNvSpPr>
                <a:spLocks noChangeArrowheads="1"/>
              </p:cNvSpPr>
              <p:nvPr/>
            </p:nvSpPr>
            <p:spPr bwMode="auto">
              <a:xfrm>
                <a:off x="701" y="2368"/>
                <a:ext cx="883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800"/>
                  <a:t> </a:t>
                </a:r>
                <a:r>
                  <a:rPr lang="zh-CN" altLang="en-US" sz="2400"/>
                  <a:t>主存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2952" name="Group 19"/>
            <p:cNvGrpSpPr/>
            <p:nvPr/>
          </p:nvGrpSpPr>
          <p:grpSpPr bwMode="auto">
            <a:xfrm>
              <a:off x="1918" y="1824"/>
              <a:ext cx="3602" cy="1857"/>
              <a:chOff x="1918" y="1824"/>
              <a:chExt cx="3602" cy="1857"/>
            </a:xfrm>
          </p:grpSpPr>
          <p:sp>
            <p:nvSpPr>
              <p:cNvPr id="82953" name="Rectangle 20"/>
              <p:cNvSpPr>
                <a:spLocks noChangeArrowheads="1"/>
              </p:cNvSpPr>
              <p:nvPr/>
            </p:nvSpPr>
            <p:spPr bwMode="auto">
              <a:xfrm>
                <a:off x="3160" y="3252"/>
                <a:ext cx="890" cy="42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954" name="Rectangle 21"/>
              <p:cNvSpPr>
                <a:spLocks noChangeArrowheads="1"/>
              </p:cNvSpPr>
              <p:nvPr/>
            </p:nvSpPr>
            <p:spPr bwMode="auto">
              <a:xfrm>
                <a:off x="3358" y="3360"/>
                <a:ext cx="674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/>
                  <a:t>设备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955" name="Freeform 22"/>
              <p:cNvSpPr/>
              <p:nvPr/>
            </p:nvSpPr>
            <p:spPr bwMode="auto">
              <a:xfrm>
                <a:off x="3542" y="2753"/>
                <a:ext cx="125" cy="481"/>
              </a:xfrm>
              <a:custGeom>
                <a:avLst/>
                <a:gdLst>
                  <a:gd name="T0" fmla="*/ 77 w 123"/>
                  <a:gd name="T1" fmla="*/ 0 h 485"/>
                  <a:gd name="T2" fmla="*/ 151 w 123"/>
                  <a:gd name="T3" fmla="*/ 83 h 485"/>
                  <a:gd name="T4" fmla="*/ 121 w 123"/>
                  <a:gd name="T5" fmla="*/ 83 h 485"/>
                  <a:gd name="T6" fmla="*/ 121 w 123"/>
                  <a:gd name="T7" fmla="*/ 346 h 485"/>
                  <a:gd name="T8" fmla="*/ 151 w 123"/>
                  <a:gd name="T9" fmla="*/ 346 h 485"/>
                  <a:gd name="T10" fmla="*/ 77 w 123"/>
                  <a:gd name="T11" fmla="*/ 429 h 485"/>
                  <a:gd name="T12" fmla="*/ 0 w 123"/>
                  <a:gd name="T13" fmla="*/ 346 h 485"/>
                  <a:gd name="T14" fmla="*/ 30 w 123"/>
                  <a:gd name="T15" fmla="*/ 346 h 485"/>
                  <a:gd name="T16" fmla="*/ 30 w 123"/>
                  <a:gd name="T17" fmla="*/ 83 h 485"/>
                  <a:gd name="T18" fmla="*/ 0 w 123"/>
                  <a:gd name="T19" fmla="*/ 83 h 485"/>
                  <a:gd name="T20" fmla="*/ 77 w 123"/>
                  <a:gd name="T21" fmla="*/ 0 h 48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3"/>
                  <a:gd name="T34" fmla="*/ 0 h 485"/>
                  <a:gd name="T35" fmla="*/ 123 w 123"/>
                  <a:gd name="T36" fmla="*/ 485 h 48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3" h="485">
                    <a:moveTo>
                      <a:pt x="63" y="0"/>
                    </a:moveTo>
                    <a:lnTo>
                      <a:pt x="123" y="97"/>
                    </a:lnTo>
                    <a:lnTo>
                      <a:pt x="93" y="97"/>
                    </a:lnTo>
                    <a:lnTo>
                      <a:pt x="93" y="388"/>
                    </a:lnTo>
                    <a:lnTo>
                      <a:pt x="123" y="388"/>
                    </a:lnTo>
                    <a:lnTo>
                      <a:pt x="63" y="485"/>
                    </a:lnTo>
                    <a:lnTo>
                      <a:pt x="0" y="388"/>
                    </a:lnTo>
                    <a:lnTo>
                      <a:pt x="30" y="388"/>
                    </a:lnTo>
                    <a:lnTo>
                      <a:pt x="30" y="97"/>
                    </a:lnTo>
                    <a:lnTo>
                      <a:pt x="0" y="97"/>
                    </a:lnTo>
                    <a:lnTo>
                      <a:pt x="63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2956" name="Group 23"/>
              <p:cNvGrpSpPr/>
              <p:nvPr/>
            </p:nvGrpSpPr>
            <p:grpSpPr bwMode="auto">
              <a:xfrm>
                <a:off x="4556" y="2753"/>
                <a:ext cx="916" cy="928"/>
                <a:chOff x="4556" y="2753"/>
                <a:chExt cx="916" cy="928"/>
              </a:xfrm>
            </p:grpSpPr>
            <p:sp>
              <p:nvSpPr>
                <p:cNvPr id="82971" name="Rectangle 24"/>
                <p:cNvSpPr>
                  <a:spLocks noChangeArrowheads="1"/>
                </p:cNvSpPr>
                <p:nvPr/>
              </p:nvSpPr>
              <p:spPr bwMode="auto">
                <a:xfrm>
                  <a:off x="4556" y="3252"/>
                  <a:ext cx="890" cy="429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72" name="Rectangle 25"/>
                <p:cNvSpPr>
                  <a:spLocks noChangeArrowheads="1"/>
                </p:cNvSpPr>
                <p:nvPr/>
              </p:nvSpPr>
              <p:spPr bwMode="auto">
                <a:xfrm>
                  <a:off x="4739" y="3360"/>
                  <a:ext cx="733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zh-CN" altLang="en-US" sz="2400"/>
                    <a:t>设备</a:t>
                  </a:r>
                  <a:r>
                    <a:rPr lang="en-US" altLang="zh-CN" sz="2400" i="1">
                      <a:latin typeface="Times New Roman" panose="02020603050405020304" pitchFamily="18" charset="0"/>
                    </a:rPr>
                    <a:t>n</a:t>
                  </a:r>
                  <a:endParaRPr lang="zh-CN" altLang="en-US" sz="2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973" name="Freeform 26"/>
                <p:cNvSpPr/>
                <p:nvPr/>
              </p:nvSpPr>
              <p:spPr bwMode="auto">
                <a:xfrm>
                  <a:off x="4939" y="2753"/>
                  <a:ext cx="124" cy="487"/>
                </a:xfrm>
                <a:custGeom>
                  <a:avLst/>
                  <a:gdLst>
                    <a:gd name="T0" fmla="*/ 64 w 124"/>
                    <a:gd name="T1" fmla="*/ 0 h 485"/>
                    <a:gd name="T2" fmla="*/ 124 w 124"/>
                    <a:gd name="T3" fmla="*/ 97 h 485"/>
                    <a:gd name="T4" fmla="*/ 94 w 124"/>
                    <a:gd name="T5" fmla="*/ 97 h 485"/>
                    <a:gd name="T6" fmla="*/ 94 w 124"/>
                    <a:gd name="T7" fmla="*/ 416 h 485"/>
                    <a:gd name="T8" fmla="*/ 124 w 124"/>
                    <a:gd name="T9" fmla="*/ 416 h 485"/>
                    <a:gd name="T10" fmla="*/ 64 w 124"/>
                    <a:gd name="T11" fmla="*/ 513 h 485"/>
                    <a:gd name="T12" fmla="*/ 0 w 124"/>
                    <a:gd name="T13" fmla="*/ 416 h 485"/>
                    <a:gd name="T14" fmla="*/ 30 w 124"/>
                    <a:gd name="T15" fmla="*/ 416 h 485"/>
                    <a:gd name="T16" fmla="*/ 30 w 124"/>
                    <a:gd name="T17" fmla="*/ 97 h 485"/>
                    <a:gd name="T18" fmla="*/ 0 w 124"/>
                    <a:gd name="T19" fmla="*/ 97 h 485"/>
                    <a:gd name="T20" fmla="*/ 64 w 124"/>
                    <a:gd name="T21" fmla="*/ 0 h 48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4"/>
                    <a:gd name="T34" fmla="*/ 0 h 485"/>
                    <a:gd name="T35" fmla="*/ 124 w 124"/>
                    <a:gd name="T36" fmla="*/ 485 h 48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4" h="485">
                      <a:moveTo>
                        <a:pt x="64" y="0"/>
                      </a:moveTo>
                      <a:lnTo>
                        <a:pt x="124" y="97"/>
                      </a:lnTo>
                      <a:lnTo>
                        <a:pt x="94" y="97"/>
                      </a:lnTo>
                      <a:lnTo>
                        <a:pt x="94" y="388"/>
                      </a:lnTo>
                      <a:lnTo>
                        <a:pt x="124" y="388"/>
                      </a:lnTo>
                      <a:lnTo>
                        <a:pt x="64" y="485"/>
                      </a:lnTo>
                      <a:lnTo>
                        <a:pt x="0" y="388"/>
                      </a:lnTo>
                      <a:lnTo>
                        <a:pt x="30" y="388"/>
                      </a:lnTo>
                      <a:lnTo>
                        <a:pt x="30" y="97"/>
                      </a:lnTo>
                      <a:lnTo>
                        <a:pt x="0" y="97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folHlink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957" name="Rectangle 27"/>
              <p:cNvSpPr>
                <a:spLocks noChangeArrowheads="1"/>
              </p:cNvSpPr>
              <p:nvPr/>
            </p:nvSpPr>
            <p:spPr bwMode="auto">
              <a:xfrm>
                <a:off x="1925" y="3252"/>
                <a:ext cx="889" cy="42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958" name="Rectangle 28"/>
              <p:cNvSpPr>
                <a:spLocks noChangeArrowheads="1"/>
              </p:cNvSpPr>
              <p:nvPr/>
            </p:nvSpPr>
            <p:spPr bwMode="auto">
              <a:xfrm>
                <a:off x="1968" y="3360"/>
                <a:ext cx="10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/>
                  <a:t>高速外设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959" name="Freeform 29"/>
              <p:cNvSpPr/>
              <p:nvPr/>
            </p:nvSpPr>
            <p:spPr bwMode="auto">
              <a:xfrm>
                <a:off x="2301" y="2754"/>
                <a:ext cx="124" cy="480"/>
              </a:xfrm>
              <a:custGeom>
                <a:avLst/>
                <a:gdLst>
                  <a:gd name="T0" fmla="*/ 64 w 124"/>
                  <a:gd name="T1" fmla="*/ 0 h 480"/>
                  <a:gd name="T2" fmla="*/ 124 w 124"/>
                  <a:gd name="T3" fmla="*/ 97 h 480"/>
                  <a:gd name="T4" fmla="*/ 94 w 124"/>
                  <a:gd name="T5" fmla="*/ 97 h 480"/>
                  <a:gd name="T6" fmla="*/ 94 w 124"/>
                  <a:gd name="T7" fmla="*/ 383 h 480"/>
                  <a:gd name="T8" fmla="*/ 124 w 124"/>
                  <a:gd name="T9" fmla="*/ 383 h 480"/>
                  <a:gd name="T10" fmla="*/ 64 w 124"/>
                  <a:gd name="T11" fmla="*/ 480 h 480"/>
                  <a:gd name="T12" fmla="*/ 0 w 124"/>
                  <a:gd name="T13" fmla="*/ 383 h 480"/>
                  <a:gd name="T14" fmla="*/ 30 w 124"/>
                  <a:gd name="T15" fmla="*/ 383 h 480"/>
                  <a:gd name="T16" fmla="*/ 30 w 124"/>
                  <a:gd name="T17" fmla="*/ 97 h 480"/>
                  <a:gd name="T18" fmla="*/ 0 w 124"/>
                  <a:gd name="T19" fmla="*/ 97 h 480"/>
                  <a:gd name="T20" fmla="*/ 64 w 124"/>
                  <a:gd name="T21" fmla="*/ 0 h 4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4"/>
                  <a:gd name="T34" fmla="*/ 0 h 480"/>
                  <a:gd name="T35" fmla="*/ 124 w 124"/>
                  <a:gd name="T36" fmla="*/ 480 h 4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4" h="480">
                    <a:moveTo>
                      <a:pt x="64" y="0"/>
                    </a:moveTo>
                    <a:lnTo>
                      <a:pt x="124" y="97"/>
                    </a:lnTo>
                    <a:lnTo>
                      <a:pt x="94" y="97"/>
                    </a:lnTo>
                    <a:lnTo>
                      <a:pt x="94" y="383"/>
                    </a:lnTo>
                    <a:lnTo>
                      <a:pt x="124" y="383"/>
                    </a:lnTo>
                    <a:lnTo>
                      <a:pt x="64" y="480"/>
                    </a:lnTo>
                    <a:lnTo>
                      <a:pt x="0" y="383"/>
                    </a:lnTo>
                    <a:lnTo>
                      <a:pt x="30" y="383"/>
                    </a:lnTo>
                    <a:lnTo>
                      <a:pt x="30" y="97"/>
                    </a:lnTo>
                    <a:lnTo>
                      <a:pt x="0" y="97"/>
                    </a:lnTo>
                    <a:lnTo>
                      <a:pt x="64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0" name="Rectangle 30"/>
              <p:cNvSpPr>
                <a:spLocks noChangeArrowheads="1"/>
              </p:cNvSpPr>
              <p:nvPr/>
            </p:nvSpPr>
            <p:spPr bwMode="auto">
              <a:xfrm>
                <a:off x="1918" y="2320"/>
                <a:ext cx="890" cy="42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961" name="Freeform 31"/>
              <p:cNvSpPr/>
              <p:nvPr/>
            </p:nvSpPr>
            <p:spPr bwMode="auto">
              <a:xfrm>
                <a:off x="2301" y="1839"/>
                <a:ext cx="124" cy="480"/>
              </a:xfrm>
              <a:custGeom>
                <a:avLst/>
                <a:gdLst>
                  <a:gd name="T0" fmla="*/ 64 w 124"/>
                  <a:gd name="T1" fmla="*/ 0 h 480"/>
                  <a:gd name="T2" fmla="*/ 124 w 124"/>
                  <a:gd name="T3" fmla="*/ 97 h 480"/>
                  <a:gd name="T4" fmla="*/ 94 w 124"/>
                  <a:gd name="T5" fmla="*/ 97 h 480"/>
                  <a:gd name="T6" fmla="*/ 94 w 124"/>
                  <a:gd name="T7" fmla="*/ 383 h 480"/>
                  <a:gd name="T8" fmla="*/ 124 w 124"/>
                  <a:gd name="T9" fmla="*/ 383 h 480"/>
                  <a:gd name="T10" fmla="*/ 64 w 124"/>
                  <a:gd name="T11" fmla="*/ 480 h 480"/>
                  <a:gd name="T12" fmla="*/ 0 w 124"/>
                  <a:gd name="T13" fmla="*/ 383 h 480"/>
                  <a:gd name="T14" fmla="*/ 30 w 124"/>
                  <a:gd name="T15" fmla="*/ 383 h 480"/>
                  <a:gd name="T16" fmla="*/ 30 w 124"/>
                  <a:gd name="T17" fmla="*/ 97 h 480"/>
                  <a:gd name="T18" fmla="*/ 0 w 124"/>
                  <a:gd name="T19" fmla="*/ 97 h 480"/>
                  <a:gd name="T20" fmla="*/ 64 w 124"/>
                  <a:gd name="T21" fmla="*/ 0 h 4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4"/>
                  <a:gd name="T34" fmla="*/ 0 h 480"/>
                  <a:gd name="T35" fmla="*/ 124 w 124"/>
                  <a:gd name="T36" fmla="*/ 480 h 4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4" h="480">
                    <a:moveTo>
                      <a:pt x="64" y="0"/>
                    </a:moveTo>
                    <a:lnTo>
                      <a:pt x="124" y="97"/>
                    </a:lnTo>
                    <a:lnTo>
                      <a:pt x="94" y="97"/>
                    </a:lnTo>
                    <a:lnTo>
                      <a:pt x="94" y="383"/>
                    </a:lnTo>
                    <a:lnTo>
                      <a:pt x="124" y="383"/>
                    </a:lnTo>
                    <a:lnTo>
                      <a:pt x="64" y="480"/>
                    </a:lnTo>
                    <a:lnTo>
                      <a:pt x="0" y="383"/>
                    </a:lnTo>
                    <a:lnTo>
                      <a:pt x="30" y="383"/>
                    </a:lnTo>
                    <a:lnTo>
                      <a:pt x="30" y="97"/>
                    </a:lnTo>
                    <a:lnTo>
                      <a:pt x="0" y="97"/>
                    </a:lnTo>
                    <a:lnTo>
                      <a:pt x="64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2" name="Text Box 32"/>
              <p:cNvSpPr txBox="1">
                <a:spLocks noChangeArrowheads="1"/>
              </p:cNvSpPr>
              <p:nvPr/>
            </p:nvSpPr>
            <p:spPr bwMode="auto">
              <a:xfrm>
                <a:off x="1955" y="2400"/>
                <a:ext cx="9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接口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963" name="Rectangle 33"/>
              <p:cNvSpPr>
                <a:spLocks noChangeArrowheads="1"/>
              </p:cNvSpPr>
              <p:nvPr/>
            </p:nvSpPr>
            <p:spPr bwMode="auto">
              <a:xfrm>
                <a:off x="3159" y="2320"/>
                <a:ext cx="890" cy="42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964" name="Freeform 34"/>
              <p:cNvSpPr/>
              <p:nvPr/>
            </p:nvSpPr>
            <p:spPr bwMode="auto">
              <a:xfrm>
                <a:off x="3543" y="1831"/>
                <a:ext cx="123" cy="480"/>
              </a:xfrm>
              <a:custGeom>
                <a:avLst/>
                <a:gdLst>
                  <a:gd name="T0" fmla="*/ 63 w 123"/>
                  <a:gd name="T1" fmla="*/ 0 h 480"/>
                  <a:gd name="T2" fmla="*/ 123 w 123"/>
                  <a:gd name="T3" fmla="*/ 97 h 480"/>
                  <a:gd name="T4" fmla="*/ 93 w 123"/>
                  <a:gd name="T5" fmla="*/ 97 h 480"/>
                  <a:gd name="T6" fmla="*/ 93 w 123"/>
                  <a:gd name="T7" fmla="*/ 383 h 480"/>
                  <a:gd name="T8" fmla="*/ 123 w 123"/>
                  <a:gd name="T9" fmla="*/ 383 h 480"/>
                  <a:gd name="T10" fmla="*/ 63 w 123"/>
                  <a:gd name="T11" fmla="*/ 480 h 480"/>
                  <a:gd name="T12" fmla="*/ 0 w 123"/>
                  <a:gd name="T13" fmla="*/ 383 h 480"/>
                  <a:gd name="T14" fmla="*/ 30 w 123"/>
                  <a:gd name="T15" fmla="*/ 383 h 480"/>
                  <a:gd name="T16" fmla="*/ 30 w 123"/>
                  <a:gd name="T17" fmla="*/ 97 h 480"/>
                  <a:gd name="T18" fmla="*/ 0 w 123"/>
                  <a:gd name="T19" fmla="*/ 97 h 480"/>
                  <a:gd name="T20" fmla="*/ 63 w 123"/>
                  <a:gd name="T21" fmla="*/ 0 h 4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3"/>
                  <a:gd name="T34" fmla="*/ 0 h 480"/>
                  <a:gd name="T35" fmla="*/ 123 w 123"/>
                  <a:gd name="T36" fmla="*/ 480 h 4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3" h="480">
                    <a:moveTo>
                      <a:pt x="63" y="0"/>
                    </a:moveTo>
                    <a:lnTo>
                      <a:pt x="123" y="97"/>
                    </a:lnTo>
                    <a:lnTo>
                      <a:pt x="93" y="97"/>
                    </a:lnTo>
                    <a:lnTo>
                      <a:pt x="93" y="383"/>
                    </a:lnTo>
                    <a:lnTo>
                      <a:pt x="123" y="383"/>
                    </a:lnTo>
                    <a:lnTo>
                      <a:pt x="63" y="480"/>
                    </a:lnTo>
                    <a:lnTo>
                      <a:pt x="0" y="383"/>
                    </a:lnTo>
                    <a:lnTo>
                      <a:pt x="30" y="383"/>
                    </a:lnTo>
                    <a:lnTo>
                      <a:pt x="30" y="97"/>
                    </a:lnTo>
                    <a:lnTo>
                      <a:pt x="0" y="97"/>
                    </a:lnTo>
                    <a:lnTo>
                      <a:pt x="63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5" name="Text Box 35"/>
              <p:cNvSpPr txBox="1">
                <a:spLocks noChangeArrowheads="1"/>
              </p:cNvSpPr>
              <p:nvPr/>
            </p:nvSpPr>
            <p:spPr bwMode="auto">
              <a:xfrm>
                <a:off x="3205" y="2400"/>
                <a:ext cx="10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接口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966" name="Rectangle 36"/>
              <p:cNvSpPr>
                <a:spLocks noChangeArrowheads="1"/>
              </p:cNvSpPr>
              <p:nvPr/>
            </p:nvSpPr>
            <p:spPr bwMode="auto">
              <a:xfrm>
                <a:off x="4555" y="2320"/>
                <a:ext cx="890" cy="42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967" name="Freeform 37"/>
              <p:cNvSpPr/>
              <p:nvPr/>
            </p:nvSpPr>
            <p:spPr bwMode="auto">
              <a:xfrm>
                <a:off x="4939" y="1824"/>
                <a:ext cx="123" cy="480"/>
              </a:xfrm>
              <a:custGeom>
                <a:avLst/>
                <a:gdLst>
                  <a:gd name="T0" fmla="*/ 63 w 123"/>
                  <a:gd name="T1" fmla="*/ 0 h 480"/>
                  <a:gd name="T2" fmla="*/ 123 w 123"/>
                  <a:gd name="T3" fmla="*/ 97 h 480"/>
                  <a:gd name="T4" fmla="*/ 93 w 123"/>
                  <a:gd name="T5" fmla="*/ 97 h 480"/>
                  <a:gd name="T6" fmla="*/ 93 w 123"/>
                  <a:gd name="T7" fmla="*/ 383 h 480"/>
                  <a:gd name="T8" fmla="*/ 123 w 123"/>
                  <a:gd name="T9" fmla="*/ 383 h 480"/>
                  <a:gd name="T10" fmla="*/ 63 w 123"/>
                  <a:gd name="T11" fmla="*/ 480 h 480"/>
                  <a:gd name="T12" fmla="*/ 0 w 123"/>
                  <a:gd name="T13" fmla="*/ 383 h 480"/>
                  <a:gd name="T14" fmla="*/ 30 w 123"/>
                  <a:gd name="T15" fmla="*/ 383 h 480"/>
                  <a:gd name="T16" fmla="*/ 30 w 123"/>
                  <a:gd name="T17" fmla="*/ 97 h 480"/>
                  <a:gd name="T18" fmla="*/ 0 w 123"/>
                  <a:gd name="T19" fmla="*/ 97 h 480"/>
                  <a:gd name="T20" fmla="*/ 63 w 123"/>
                  <a:gd name="T21" fmla="*/ 0 h 4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3"/>
                  <a:gd name="T34" fmla="*/ 0 h 480"/>
                  <a:gd name="T35" fmla="*/ 123 w 123"/>
                  <a:gd name="T36" fmla="*/ 480 h 4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3" h="480">
                    <a:moveTo>
                      <a:pt x="63" y="0"/>
                    </a:moveTo>
                    <a:lnTo>
                      <a:pt x="123" y="97"/>
                    </a:lnTo>
                    <a:lnTo>
                      <a:pt x="93" y="97"/>
                    </a:lnTo>
                    <a:lnTo>
                      <a:pt x="93" y="383"/>
                    </a:lnTo>
                    <a:lnTo>
                      <a:pt x="123" y="383"/>
                    </a:lnTo>
                    <a:lnTo>
                      <a:pt x="63" y="480"/>
                    </a:lnTo>
                    <a:lnTo>
                      <a:pt x="0" y="383"/>
                    </a:lnTo>
                    <a:lnTo>
                      <a:pt x="30" y="383"/>
                    </a:lnTo>
                    <a:lnTo>
                      <a:pt x="30" y="97"/>
                    </a:lnTo>
                    <a:lnTo>
                      <a:pt x="0" y="97"/>
                    </a:lnTo>
                    <a:lnTo>
                      <a:pt x="63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8" name="Text Box 38"/>
              <p:cNvSpPr txBox="1">
                <a:spLocks noChangeArrowheads="1"/>
              </p:cNvSpPr>
              <p:nvPr/>
            </p:nvSpPr>
            <p:spPr bwMode="auto">
              <a:xfrm>
                <a:off x="4597" y="2400"/>
                <a:ext cx="9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接口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969" name="Text Box 39"/>
              <p:cNvSpPr txBox="1">
                <a:spLocks noChangeArrowheads="1"/>
              </p:cNvSpPr>
              <p:nvPr/>
            </p:nvSpPr>
            <p:spPr bwMode="auto">
              <a:xfrm>
                <a:off x="4166" y="331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970" name="Text Box 40"/>
              <p:cNvSpPr txBox="1">
                <a:spLocks noChangeArrowheads="1"/>
              </p:cNvSpPr>
              <p:nvPr/>
            </p:nvSpPr>
            <p:spPr bwMode="auto">
              <a:xfrm>
                <a:off x="4176" y="235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71049" name="Rectangle 41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3.4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2950" name="AutoShape 43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593725" y="577850"/>
            <a:ext cx="5213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3. 三总线结构的又一形式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3.4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57200" y="1752600"/>
            <a:ext cx="8763000" cy="4572000"/>
            <a:chOff x="288" y="1104"/>
            <a:chExt cx="5520" cy="2880"/>
          </a:xfrm>
        </p:grpSpPr>
        <p:sp>
          <p:nvSpPr>
            <p:cNvPr id="83974" name="Line 5"/>
            <p:cNvSpPr>
              <a:spLocks noChangeShapeType="1"/>
            </p:cNvSpPr>
            <p:nvPr/>
          </p:nvSpPr>
          <p:spPr bwMode="auto">
            <a:xfrm>
              <a:off x="807" y="3539"/>
              <a:ext cx="1" cy="40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5" name="Rectangle 6"/>
            <p:cNvSpPr>
              <a:spLocks noChangeArrowheads="1"/>
            </p:cNvSpPr>
            <p:nvPr/>
          </p:nvSpPr>
          <p:spPr bwMode="auto">
            <a:xfrm>
              <a:off x="432" y="3183"/>
              <a:ext cx="751" cy="35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976" name="Rectangle 7"/>
            <p:cNvSpPr>
              <a:spLocks noChangeArrowheads="1"/>
            </p:cNvSpPr>
            <p:nvPr/>
          </p:nvSpPr>
          <p:spPr bwMode="auto">
            <a:xfrm>
              <a:off x="518" y="3222"/>
              <a:ext cx="87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/>
                <a:t>局域网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3977" name="Rectangle 8"/>
            <p:cNvSpPr>
              <a:spLocks noChangeArrowheads="1"/>
            </p:cNvSpPr>
            <p:nvPr/>
          </p:nvSpPr>
          <p:spPr bwMode="auto">
            <a:xfrm>
              <a:off x="2538" y="2400"/>
              <a:ext cx="90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</a:rPr>
                <a:t>系统总线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78" name="Freeform 9"/>
            <p:cNvSpPr/>
            <p:nvPr/>
          </p:nvSpPr>
          <p:spPr bwMode="auto">
            <a:xfrm>
              <a:off x="641" y="2677"/>
              <a:ext cx="4695" cy="107"/>
            </a:xfrm>
            <a:custGeom>
              <a:avLst/>
              <a:gdLst>
                <a:gd name="T0" fmla="*/ 0 w 4695"/>
                <a:gd name="T1" fmla="*/ 0 h 224"/>
                <a:gd name="T2" fmla="*/ 149 w 4695"/>
                <a:gd name="T3" fmla="*/ 0 h 224"/>
                <a:gd name="T4" fmla="*/ 149 w 4695"/>
                <a:gd name="T5" fmla="*/ 0 h 224"/>
                <a:gd name="T6" fmla="*/ 4544 w 4695"/>
                <a:gd name="T7" fmla="*/ 0 h 224"/>
                <a:gd name="T8" fmla="*/ 4544 w 4695"/>
                <a:gd name="T9" fmla="*/ 0 h 224"/>
                <a:gd name="T10" fmla="*/ 4695 w 4695"/>
                <a:gd name="T11" fmla="*/ 0 h 224"/>
                <a:gd name="T12" fmla="*/ 4544 w 4695"/>
                <a:gd name="T13" fmla="*/ 0 h 224"/>
                <a:gd name="T14" fmla="*/ 4544 w 4695"/>
                <a:gd name="T15" fmla="*/ 0 h 224"/>
                <a:gd name="T16" fmla="*/ 149 w 4695"/>
                <a:gd name="T17" fmla="*/ 0 h 224"/>
                <a:gd name="T18" fmla="*/ 149 w 4695"/>
                <a:gd name="T19" fmla="*/ 0 h 224"/>
                <a:gd name="T20" fmla="*/ 0 w 4695"/>
                <a:gd name="T21" fmla="*/ 0 h 2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695"/>
                <a:gd name="T34" fmla="*/ 0 h 224"/>
                <a:gd name="T35" fmla="*/ 4695 w 4695"/>
                <a:gd name="T36" fmla="*/ 224 h 2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695" h="224">
                  <a:moveTo>
                    <a:pt x="0" y="113"/>
                  </a:moveTo>
                  <a:lnTo>
                    <a:pt x="149" y="224"/>
                  </a:lnTo>
                  <a:lnTo>
                    <a:pt x="149" y="178"/>
                  </a:lnTo>
                  <a:lnTo>
                    <a:pt x="4544" y="178"/>
                  </a:lnTo>
                  <a:lnTo>
                    <a:pt x="4544" y="224"/>
                  </a:lnTo>
                  <a:lnTo>
                    <a:pt x="4695" y="113"/>
                  </a:lnTo>
                  <a:lnTo>
                    <a:pt x="4544" y="0"/>
                  </a:lnTo>
                  <a:lnTo>
                    <a:pt x="4544" y="46"/>
                  </a:lnTo>
                  <a:lnTo>
                    <a:pt x="149" y="46"/>
                  </a:lnTo>
                  <a:lnTo>
                    <a:pt x="149" y="0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chemeClr val="folHlink"/>
            </a:solidFill>
            <a:ln w="19050">
              <a:solidFill>
                <a:schemeClr val="folHlink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9" name="Rectangle 10"/>
            <p:cNvSpPr>
              <a:spLocks noChangeArrowheads="1"/>
            </p:cNvSpPr>
            <p:nvPr/>
          </p:nvSpPr>
          <p:spPr bwMode="auto">
            <a:xfrm>
              <a:off x="1211" y="1296"/>
              <a:ext cx="847" cy="347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980" name="Rectangle 11"/>
            <p:cNvSpPr>
              <a:spLocks noChangeArrowheads="1"/>
            </p:cNvSpPr>
            <p:nvPr/>
          </p:nvSpPr>
          <p:spPr bwMode="auto">
            <a:xfrm>
              <a:off x="1452" y="1354"/>
              <a:ext cx="7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CPU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3981" name="Rectangle 12"/>
            <p:cNvSpPr>
              <a:spLocks noChangeArrowheads="1"/>
            </p:cNvSpPr>
            <p:nvPr/>
          </p:nvSpPr>
          <p:spPr bwMode="auto">
            <a:xfrm>
              <a:off x="3569" y="1296"/>
              <a:ext cx="847" cy="347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982" name="Rectangle 13"/>
            <p:cNvSpPr>
              <a:spLocks noChangeArrowheads="1"/>
            </p:cNvSpPr>
            <p:nvPr/>
          </p:nvSpPr>
          <p:spPr bwMode="auto">
            <a:xfrm>
              <a:off x="3742" y="1354"/>
              <a:ext cx="8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Cache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3983" name="Rectangle 14"/>
            <p:cNvSpPr>
              <a:spLocks noChangeArrowheads="1"/>
            </p:cNvSpPr>
            <p:nvPr/>
          </p:nvSpPr>
          <p:spPr bwMode="auto">
            <a:xfrm>
              <a:off x="2517" y="1296"/>
              <a:ext cx="60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984" name="Rectangle 15"/>
            <p:cNvSpPr>
              <a:spLocks noChangeArrowheads="1"/>
            </p:cNvSpPr>
            <p:nvPr/>
          </p:nvSpPr>
          <p:spPr bwMode="auto">
            <a:xfrm>
              <a:off x="2367" y="1104"/>
              <a:ext cx="90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</a:rPr>
                <a:t>局部总线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85" name="Freeform 16"/>
            <p:cNvSpPr/>
            <p:nvPr/>
          </p:nvSpPr>
          <p:spPr bwMode="auto">
            <a:xfrm>
              <a:off x="2064" y="1392"/>
              <a:ext cx="1507" cy="96"/>
            </a:xfrm>
            <a:custGeom>
              <a:avLst/>
              <a:gdLst>
                <a:gd name="T0" fmla="*/ 0 w 1409"/>
                <a:gd name="T1" fmla="*/ 1 h 149"/>
                <a:gd name="T2" fmla="*/ 371 w 1409"/>
                <a:gd name="T3" fmla="*/ 1 h 149"/>
                <a:gd name="T4" fmla="*/ 371 w 1409"/>
                <a:gd name="T5" fmla="*/ 1 h 149"/>
                <a:gd name="T6" fmla="*/ 3242 w 1409"/>
                <a:gd name="T7" fmla="*/ 1 h 149"/>
                <a:gd name="T8" fmla="*/ 3242 w 1409"/>
                <a:gd name="T9" fmla="*/ 1 h 149"/>
                <a:gd name="T10" fmla="*/ 3613 w 1409"/>
                <a:gd name="T11" fmla="*/ 1 h 149"/>
                <a:gd name="T12" fmla="*/ 3242 w 1409"/>
                <a:gd name="T13" fmla="*/ 0 h 149"/>
                <a:gd name="T14" fmla="*/ 3242 w 1409"/>
                <a:gd name="T15" fmla="*/ 1 h 149"/>
                <a:gd name="T16" fmla="*/ 371 w 1409"/>
                <a:gd name="T17" fmla="*/ 1 h 149"/>
                <a:gd name="T18" fmla="*/ 371 w 1409"/>
                <a:gd name="T19" fmla="*/ 0 h 149"/>
                <a:gd name="T20" fmla="*/ 0 w 1409"/>
                <a:gd name="T21" fmla="*/ 1 h 1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409"/>
                <a:gd name="T34" fmla="*/ 0 h 149"/>
                <a:gd name="T35" fmla="*/ 1409 w 1409"/>
                <a:gd name="T36" fmla="*/ 149 h 14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409" h="149">
                  <a:moveTo>
                    <a:pt x="0" y="74"/>
                  </a:moveTo>
                  <a:lnTo>
                    <a:pt x="145" y="149"/>
                  </a:lnTo>
                  <a:lnTo>
                    <a:pt x="145" y="111"/>
                  </a:lnTo>
                  <a:lnTo>
                    <a:pt x="1264" y="111"/>
                  </a:lnTo>
                  <a:lnTo>
                    <a:pt x="1264" y="149"/>
                  </a:lnTo>
                  <a:lnTo>
                    <a:pt x="1409" y="74"/>
                  </a:lnTo>
                  <a:lnTo>
                    <a:pt x="1264" y="0"/>
                  </a:lnTo>
                  <a:lnTo>
                    <a:pt x="1264" y="38"/>
                  </a:lnTo>
                  <a:lnTo>
                    <a:pt x="145" y="38"/>
                  </a:lnTo>
                  <a:lnTo>
                    <a:pt x="145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chemeClr val="folHlink"/>
            </a:solidFill>
            <a:ln w="19050">
              <a:solidFill>
                <a:schemeClr val="folHlink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6" name="Rectangle 17"/>
            <p:cNvSpPr>
              <a:spLocks noChangeArrowheads="1"/>
            </p:cNvSpPr>
            <p:nvPr/>
          </p:nvSpPr>
          <p:spPr bwMode="auto">
            <a:xfrm>
              <a:off x="2177" y="3180"/>
              <a:ext cx="1248" cy="353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987" name="Rectangle 18"/>
            <p:cNvSpPr>
              <a:spLocks noChangeArrowheads="1"/>
            </p:cNvSpPr>
            <p:nvPr/>
          </p:nvSpPr>
          <p:spPr bwMode="auto">
            <a:xfrm>
              <a:off x="2222" y="3222"/>
              <a:ext cx="16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/>
                <a:t>扩展总线接口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3988" name="Line 19"/>
            <p:cNvSpPr>
              <a:spLocks noChangeShapeType="1"/>
            </p:cNvSpPr>
            <p:nvPr/>
          </p:nvSpPr>
          <p:spPr bwMode="auto">
            <a:xfrm>
              <a:off x="2801" y="3537"/>
              <a:ext cx="1" cy="40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9" name="Freeform 20"/>
            <p:cNvSpPr/>
            <p:nvPr/>
          </p:nvSpPr>
          <p:spPr bwMode="auto">
            <a:xfrm>
              <a:off x="2798" y="2739"/>
              <a:ext cx="1" cy="447"/>
            </a:xfrm>
            <a:custGeom>
              <a:avLst/>
              <a:gdLst>
                <a:gd name="T0" fmla="*/ 0 w 1"/>
                <a:gd name="T1" fmla="*/ 0 h 447"/>
                <a:gd name="T2" fmla="*/ 0 w 1"/>
                <a:gd name="T3" fmla="*/ 447 h 447"/>
                <a:gd name="T4" fmla="*/ 0 60000 65536"/>
                <a:gd name="T5" fmla="*/ 0 60000 65536"/>
                <a:gd name="T6" fmla="*/ 0 w 1"/>
                <a:gd name="T7" fmla="*/ 0 h 447"/>
                <a:gd name="T8" fmla="*/ 1 w 1"/>
                <a:gd name="T9" fmla="*/ 447 h 44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47">
                  <a:moveTo>
                    <a:pt x="0" y="0"/>
                  </a:moveTo>
                  <a:lnTo>
                    <a:pt x="0" y="447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0" name="Rectangle 21"/>
            <p:cNvSpPr>
              <a:spLocks noChangeArrowheads="1"/>
            </p:cNvSpPr>
            <p:nvPr/>
          </p:nvSpPr>
          <p:spPr bwMode="auto">
            <a:xfrm>
              <a:off x="2992" y="3640"/>
              <a:ext cx="71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991" name="Rectangle 22"/>
            <p:cNvSpPr>
              <a:spLocks noChangeArrowheads="1"/>
            </p:cNvSpPr>
            <p:nvPr/>
          </p:nvSpPr>
          <p:spPr bwMode="auto">
            <a:xfrm>
              <a:off x="2897" y="3612"/>
              <a:ext cx="90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</a:rPr>
                <a:t>扩展总线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92" name="Freeform 23"/>
            <p:cNvSpPr/>
            <p:nvPr/>
          </p:nvSpPr>
          <p:spPr bwMode="auto">
            <a:xfrm>
              <a:off x="288" y="3888"/>
              <a:ext cx="5280" cy="96"/>
            </a:xfrm>
            <a:custGeom>
              <a:avLst/>
              <a:gdLst>
                <a:gd name="T0" fmla="*/ 0 w 4695"/>
                <a:gd name="T1" fmla="*/ 0 h 222"/>
                <a:gd name="T2" fmla="*/ 779 w 4695"/>
                <a:gd name="T3" fmla="*/ 0 h 222"/>
                <a:gd name="T4" fmla="*/ 779 w 4695"/>
                <a:gd name="T5" fmla="*/ 0 h 222"/>
                <a:gd name="T6" fmla="*/ 23529 w 4695"/>
                <a:gd name="T7" fmla="*/ 0 h 222"/>
                <a:gd name="T8" fmla="*/ 23529 w 4695"/>
                <a:gd name="T9" fmla="*/ 0 h 222"/>
                <a:gd name="T10" fmla="*/ 24300 w 4695"/>
                <a:gd name="T11" fmla="*/ 0 h 222"/>
                <a:gd name="T12" fmla="*/ 23529 w 4695"/>
                <a:gd name="T13" fmla="*/ 0 h 222"/>
                <a:gd name="T14" fmla="*/ 23529 w 4695"/>
                <a:gd name="T15" fmla="*/ 0 h 222"/>
                <a:gd name="T16" fmla="*/ 779 w 4695"/>
                <a:gd name="T17" fmla="*/ 0 h 222"/>
                <a:gd name="T18" fmla="*/ 779 w 4695"/>
                <a:gd name="T19" fmla="*/ 0 h 222"/>
                <a:gd name="T20" fmla="*/ 0 w 4695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695"/>
                <a:gd name="T34" fmla="*/ 0 h 222"/>
                <a:gd name="T35" fmla="*/ 4695 w 4695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695" h="222">
                  <a:moveTo>
                    <a:pt x="0" y="111"/>
                  </a:moveTo>
                  <a:lnTo>
                    <a:pt x="149" y="222"/>
                  </a:lnTo>
                  <a:lnTo>
                    <a:pt x="149" y="178"/>
                  </a:lnTo>
                  <a:lnTo>
                    <a:pt x="4546" y="178"/>
                  </a:lnTo>
                  <a:lnTo>
                    <a:pt x="4546" y="222"/>
                  </a:lnTo>
                  <a:lnTo>
                    <a:pt x="4695" y="111"/>
                  </a:lnTo>
                  <a:lnTo>
                    <a:pt x="4546" y="0"/>
                  </a:lnTo>
                  <a:lnTo>
                    <a:pt x="4546" y="44"/>
                  </a:lnTo>
                  <a:lnTo>
                    <a:pt x="149" y="44"/>
                  </a:lnTo>
                  <a:lnTo>
                    <a:pt x="149" y="0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chemeClr val="folHlink"/>
            </a:solidFill>
            <a:ln w="19050">
              <a:solidFill>
                <a:schemeClr val="folHlink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3" name="Line 24"/>
            <p:cNvSpPr>
              <a:spLocks noChangeShapeType="1"/>
            </p:cNvSpPr>
            <p:nvPr/>
          </p:nvSpPr>
          <p:spPr bwMode="auto">
            <a:xfrm>
              <a:off x="3977" y="3527"/>
              <a:ext cx="1" cy="40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4" name="Rectangle 25"/>
            <p:cNvSpPr>
              <a:spLocks noChangeArrowheads="1"/>
            </p:cNvSpPr>
            <p:nvPr/>
          </p:nvSpPr>
          <p:spPr bwMode="auto">
            <a:xfrm>
              <a:off x="3569" y="3183"/>
              <a:ext cx="816" cy="35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995" name="Rectangle 26"/>
            <p:cNvSpPr>
              <a:spLocks noChangeArrowheads="1"/>
            </p:cNvSpPr>
            <p:nvPr/>
          </p:nvSpPr>
          <p:spPr bwMode="auto">
            <a:xfrm>
              <a:off x="3658" y="3222"/>
              <a:ext cx="104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Modem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3996" name="Line 27"/>
            <p:cNvSpPr>
              <a:spLocks noChangeShapeType="1"/>
            </p:cNvSpPr>
            <p:nvPr/>
          </p:nvSpPr>
          <p:spPr bwMode="auto">
            <a:xfrm>
              <a:off x="4960" y="3537"/>
              <a:ext cx="1" cy="4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7" name="Rectangle 28"/>
            <p:cNvSpPr>
              <a:spLocks noChangeArrowheads="1"/>
            </p:cNvSpPr>
            <p:nvPr/>
          </p:nvSpPr>
          <p:spPr bwMode="auto">
            <a:xfrm>
              <a:off x="4481" y="3180"/>
              <a:ext cx="960" cy="353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998" name="Rectangle 29"/>
            <p:cNvSpPr>
              <a:spLocks noChangeArrowheads="1"/>
            </p:cNvSpPr>
            <p:nvPr/>
          </p:nvSpPr>
          <p:spPr bwMode="auto">
            <a:xfrm>
              <a:off x="4559" y="3222"/>
              <a:ext cx="124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/>
                <a:t>串行接口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3999" name="Freeform 30"/>
            <p:cNvSpPr/>
            <p:nvPr/>
          </p:nvSpPr>
          <p:spPr bwMode="auto">
            <a:xfrm>
              <a:off x="1682" y="3537"/>
              <a:ext cx="1" cy="403"/>
            </a:xfrm>
            <a:custGeom>
              <a:avLst/>
              <a:gdLst>
                <a:gd name="T0" fmla="*/ 0 w 1"/>
                <a:gd name="T1" fmla="*/ 0 h 403"/>
                <a:gd name="T2" fmla="*/ 0 w 1"/>
                <a:gd name="T3" fmla="*/ 403 h 403"/>
                <a:gd name="T4" fmla="*/ 0 60000 65536"/>
                <a:gd name="T5" fmla="*/ 0 60000 65536"/>
                <a:gd name="T6" fmla="*/ 0 w 1"/>
                <a:gd name="T7" fmla="*/ 0 h 403"/>
                <a:gd name="T8" fmla="*/ 1 w 1"/>
                <a:gd name="T9" fmla="*/ 403 h 40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03">
                  <a:moveTo>
                    <a:pt x="0" y="0"/>
                  </a:moveTo>
                  <a:lnTo>
                    <a:pt x="0" y="403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fol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0" name="Rectangle 31"/>
            <p:cNvSpPr>
              <a:spLocks noChangeArrowheads="1"/>
            </p:cNvSpPr>
            <p:nvPr/>
          </p:nvSpPr>
          <p:spPr bwMode="auto">
            <a:xfrm>
              <a:off x="1305" y="3183"/>
              <a:ext cx="753" cy="35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4001" name="Rectangle 32"/>
            <p:cNvSpPr>
              <a:spLocks noChangeArrowheads="1"/>
            </p:cNvSpPr>
            <p:nvPr/>
          </p:nvSpPr>
          <p:spPr bwMode="auto">
            <a:xfrm>
              <a:off x="1480" y="3222"/>
              <a:ext cx="68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SCSI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4002" name="Rectangle 33"/>
            <p:cNvSpPr>
              <a:spLocks noChangeArrowheads="1"/>
            </p:cNvSpPr>
            <p:nvPr/>
          </p:nvSpPr>
          <p:spPr bwMode="auto">
            <a:xfrm>
              <a:off x="2169" y="1776"/>
              <a:ext cx="1584" cy="35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4003" name="Text Box 34"/>
            <p:cNvSpPr txBox="1">
              <a:spLocks noChangeArrowheads="1"/>
            </p:cNvSpPr>
            <p:nvPr/>
          </p:nvSpPr>
          <p:spPr bwMode="auto">
            <a:xfrm>
              <a:off x="2274" y="1824"/>
              <a:ext cx="20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局部</a:t>
              </a: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r>
                <a:rPr lang="zh-CN" altLang="en-US" sz="2400">
                  <a:latin typeface="Times New Roman" panose="02020603050405020304" pitchFamily="18" charset="0"/>
                </a:rPr>
                <a:t>控制器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4004" name="Rectangle 35"/>
            <p:cNvSpPr>
              <a:spLocks noChangeArrowheads="1"/>
            </p:cNvSpPr>
            <p:nvPr/>
          </p:nvSpPr>
          <p:spPr bwMode="auto">
            <a:xfrm>
              <a:off x="1211" y="1776"/>
              <a:ext cx="847" cy="35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4005" name="Rectangle 36"/>
            <p:cNvSpPr>
              <a:spLocks noChangeArrowheads="1"/>
            </p:cNvSpPr>
            <p:nvPr/>
          </p:nvSpPr>
          <p:spPr bwMode="auto">
            <a:xfrm>
              <a:off x="1457" y="1824"/>
              <a:ext cx="79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/>
                <a:t>主存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4006" name="Line 37"/>
            <p:cNvSpPr>
              <a:spLocks noChangeShapeType="1"/>
            </p:cNvSpPr>
            <p:nvPr/>
          </p:nvSpPr>
          <p:spPr bwMode="auto">
            <a:xfrm>
              <a:off x="1697" y="2119"/>
              <a:ext cx="0" cy="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4007" name="Line 38"/>
            <p:cNvSpPr>
              <a:spLocks noChangeShapeType="1"/>
            </p:cNvSpPr>
            <p:nvPr/>
          </p:nvSpPr>
          <p:spPr bwMode="auto">
            <a:xfrm>
              <a:off x="4039" y="1632"/>
              <a:ext cx="0" cy="110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4008" name="Line 39"/>
            <p:cNvSpPr>
              <a:spLocks noChangeShapeType="1"/>
            </p:cNvSpPr>
            <p:nvPr/>
          </p:nvSpPr>
          <p:spPr bwMode="auto">
            <a:xfrm>
              <a:off x="2832" y="1440"/>
              <a:ext cx="0" cy="33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973" name="AutoShape 4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669925" y="425450"/>
            <a:ext cx="2927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4. 四总线结构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2" name="Group 52"/>
          <p:cNvGrpSpPr/>
          <p:nvPr/>
        </p:nvGrpSpPr>
        <p:grpSpPr bwMode="auto">
          <a:xfrm>
            <a:off x="228600" y="1295400"/>
            <a:ext cx="8704263" cy="5029200"/>
            <a:chOff x="144" y="816"/>
            <a:chExt cx="5483" cy="3168"/>
          </a:xfrm>
        </p:grpSpPr>
        <p:grpSp>
          <p:nvGrpSpPr>
            <p:cNvPr id="84998" name="Group 49"/>
            <p:cNvGrpSpPr/>
            <p:nvPr/>
          </p:nvGrpSpPr>
          <p:grpSpPr bwMode="auto">
            <a:xfrm>
              <a:off x="3151" y="2010"/>
              <a:ext cx="846" cy="304"/>
              <a:chOff x="3151" y="2010"/>
              <a:chExt cx="846" cy="304"/>
            </a:xfrm>
          </p:grpSpPr>
          <p:sp>
            <p:nvSpPr>
              <p:cNvPr id="85040" name="Rectangle 13"/>
              <p:cNvSpPr>
                <a:spLocks noChangeArrowheads="1"/>
              </p:cNvSpPr>
              <p:nvPr/>
            </p:nvSpPr>
            <p:spPr bwMode="auto">
              <a:xfrm>
                <a:off x="3151" y="2010"/>
                <a:ext cx="846" cy="30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41" name="Rectangle 14"/>
              <p:cNvSpPr>
                <a:spLocks noChangeArrowheads="1"/>
              </p:cNvSpPr>
              <p:nvPr/>
            </p:nvSpPr>
            <p:spPr bwMode="auto">
              <a:xfrm>
                <a:off x="3276" y="2046"/>
                <a:ext cx="579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/>
                  <a:t>多媒体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4999" name="Group 48"/>
            <p:cNvGrpSpPr/>
            <p:nvPr/>
          </p:nvGrpSpPr>
          <p:grpSpPr bwMode="auto">
            <a:xfrm>
              <a:off x="3151" y="3149"/>
              <a:ext cx="846" cy="303"/>
              <a:chOff x="3151" y="3149"/>
              <a:chExt cx="846" cy="303"/>
            </a:xfrm>
          </p:grpSpPr>
          <p:sp>
            <p:nvSpPr>
              <p:cNvPr id="85038" name="Rectangle 31"/>
              <p:cNvSpPr>
                <a:spLocks noChangeArrowheads="1"/>
              </p:cNvSpPr>
              <p:nvPr/>
            </p:nvSpPr>
            <p:spPr bwMode="auto">
              <a:xfrm>
                <a:off x="3162" y="3185"/>
                <a:ext cx="72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 Modem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39" name="Rectangle 41"/>
              <p:cNvSpPr>
                <a:spLocks noChangeArrowheads="1"/>
              </p:cNvSpPr>
              <p:nvPr/>
            </p:nvSpPr>
            <p:spPr bwMode="auto">
              <a:xfrm>
                <a:off x="3151" y="3149"/>
                <a:ext cx="846" cy="303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85000" name="Group 51"/>
            <p:cNvGrpSpPr/>
            <p:nvPr/>
          </p:nvGrpSpPr>
          <p:grpSpPr bwMode="auto">
            <a:xfrm>
              <a:off x="144" y="816"/>
              <a:ext cx="5483" cy="3168"/>
              <a:chOff x="144" y="816"/>
              <a:chExt cx="5483" cy="3168"/>
            </a:xfrm>
          </p:grpSpPr>
          <p:sp>
            <p:nvSpPr>
              <p:cNvPr id="85001" name="Rectangle 4"/>
              <p:cNvSpPr>
                <a:spLocks noChangeArrowheads="1"/>
              </p:cNvSpPr>
              <p:nvPr/>
            </p:nvSpPr>
            <p:spPr bwMode="auto">
              <a:xfrm>
                <a:off x="2326" y="1378"/>
                <a:ext cx="1034" cy="30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02" name="Rectangle 5"/>
              <p:cNvSpPr>
                <a:spLocks noChangeArrowheads="1"/>
              </p:cNvSpPr>
              <p:nvPr/>
            </p:nvSpPr>
            <p:spPr bwMode="auto">
              <a:xfrm>
                <a:off x="4433" y="816"/>
                <a:ext cx="847" cy="30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03" name="Rectangle 6"/>
              <p:cNvSpPr>
                <a:spLocks noChangeArrowheads="1"/>
              </p:cNvSpPr>
              <p:nvPr/>
            </p:nvSpPr>
            <p:spPr bwMode="auto">
              <a:xfrm>
                <a:off x="4632" y="833"/>
                <a:ext cx="4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800"/>
                  <a:t>主存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04" name="Rectangle 7"/>
              <p:cNvSpPr>
                <a:spLocks noChangeArrowheads="1"/>
              </p:cNvSpPr>
              <p:nvPr/>
            </p:nvSpPr>
            <p:spPr bwMode="auto">
              <a:xfrm>
                <a:off x="1488" y="3151"/>
                <a:ext cx="1248" cy="303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05" name="Rectangle 8"/>
              <p:cNvSpPr>
                <a:spLocks noChangeArrowheads="1"/>
              </p:cNvSpPr>
              <p:nvPr/>
            </p:nvSpPr>
            <p:spPr bwMode="auto">
              <a:xfrm>
                <a:off x="1533" y="3187"/>
                <a:ext cx="115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/>
                  <a:t>扩展总线接口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06" name="Rectangle 9"/>
              <p:cNvSpPr>
                <a:spLocks noChangeArrowheads="1"/>
              </p:cNvSpPr>
              <p:nvPr/>
            </p:nvSpPr>
            <p:spPr bwMode="auto">
              <a:xfrm>
                <a:off x="4433" y="2010"/>
                <a:ext cx="847" cy="30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07" name="Rectangle 10"/>
              <p:cNvSpPr>
                <a:spLocks noChangeArrowheads="1"/>
              </p:cNvSpPr>
              <p:nvPr/>
            </p:nvSpPr>
            <p:spPr bwMode="auto">
              <a:xfrm>
                <a:off x="4567" y="2046"/>
                <a:ext cx="579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/>
                  <a:t>局域网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08" name="Rectangle 11"/>
              <p:cNvSpPr>
                <a:spLocks noChangeArrowheads="1"/>
              </p:cNvSpPr>
              <p:nvPr/>
            </p:nvSpPr>
            <p:spPr bwMode="auto">
              <a:xfrm>
                <a:off x="384" y="2016"/>
                <a:ext cx="846" cy="30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09" name="Rectangle 12"/>
              <p:cNvSpPr>
                <a:spLocks noChangeArrowheads="1"/>
              </p:cNvSpPr>
              <p:nvPr/>
            </p:nvSpPr>
            <p:spPr bwMode="auto">
              <a:xfrm>
                <a:off x="593" y="2053"/>
                <a:ext cx="42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SCSI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10" name="Freeform 15"/>
              <p:cNvSpPr/>
              <p:nvPr/>
            </p:nvSpPr>
            <p:spPr bwMode="auto">
              <a:xfrm>
                <a:off x="4854" y="1117"/>
                <a:ext cx="47" cy="419"/>
              </a:xfrm>
              <a:custGeom>
                <a:avLst/>
                <a:gdLst>
                  <a:gd name="T0" fmla="*/ 0 w 1"/>
                  <a:gd name="T1" fmla="*/ 0 h 435"/>
                  <a:gd name="T2" fmla="*/ 0 w 1"/>
                  <a:gd name="T3" fmla="*/ 258 h 435"/>
                  <a:gd name="T4" fmla="*/ 0 60000 65536"/>
                  <a:gd name="T5" fmla="*/ 0 60000 65536"/>
                  <a:gd name="T6" fmla="*/ 0 w 1"/>
                  <a:gd name="T7" fmla="*/ 0 h 435"/>
                  <a:gd name="T8" fmla="*/ 1 w 1"/>
                  <a:gd name="T9" fmla="*/ 435 h 4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35">
                    <a:moveTo>
                      <a:pt x="0" y="0"/>
                    </a:moveTo>
                    <a:lnTo>
                      <a:pt x="0" y="435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1" name="Freeform 16"/>
              <p:cNvSpPr/>
              <p:nvPr/>
            </p:nvSpPr>
            <p:spPr bwMode="auto">
              <a:xfrm>
                <a:off x="144" y="2496"/>
                <a:ext cx="5467" cy="118"/>
              </a:xfrm>
              <a:custGeom>
                <a:avLst/>
                <a:gdLst>
                  <a:gd name="T0" fmla="*/ 0 w 5163"/>
                  <a:gd name="T1" fmla="*/ 1 h 189"/>
                  <a:gd name="T2" fmla="*/ 278 w 5163"/>
                  <a:gd name="T3" fmla="*/ 1 h 189"/>
                  <a:gd name="T4" fmla="*/ 278 w 5163"/>
                  <a:gd name="T5" fmla="*/ 1 h 189"/>
                  <a:gd name="T6" fmla="*/ 11216 w 5163"/>
                  <a:gd name="T7" fmla="*/ 1 h 189"/>
                  <a:gd name="T8" fmla="*/ 11216 w 5163"/>
                  <a:gd name="T9" fmla="*/ 1 h 189"/>
                  <a:gd name="T10" fmla="*/ 11505 w 5163"/>
                  <a:gd name="T11" fmla="*/ 1 h 189"/>
                  <a:gd name="T12" fmla="*/ 11216 w 5163"/>
                  <a:gd name="T13" fmla="*/ 0 h 189"/>
                  <a:gd name="T14" fmla="*/ 11216 w 5163"/>
                  <a:gd name="T15" fmla="*/ 1 h 189"/>
                  <a:gd name="T16" fmla="*/ 278 w 5163"/>
                  <a:gd name="T17" fmla="*/ 1 h 189"/>
                  <a:gd name="T18" fmla="*/ 278 w 5163"/>
                  <a:gd name="T19" fmla="*/ 0 h 189"/>
                  <a:gd name="T20" fmla="*/ 0 w 5163"/>
                  <a:gd name="T21" fmla="*/ 1 h 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163"/>
                  <a:gd name="T34" fmla="*/ 0 h 189"/>
                  <a:gd name="T35" fmla="*/ 5163 w 5163"/>
                  <a:gd name="T36" fmla="*/ 189 h 1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163" h="189">
                    <a:moveTo>
                      <a:pt x="0" y="94"/>
                    </a:moveTo>
                    <a:lnTo>
                      <a:pt x="125" y="189"/>
                    </a:lnTo>
                    <a:lnTo>
                      <a:pt x="125" y="146"/>
                    </a:lnTo>
                    <a:lnTo>
                      <a:pt x="5035" y="146"/>
                    </a:lnTo>
                    <a:lnTo>
                      <a:pt x="5035" y="189"/>
                    </a:lnTo>
                    <a:lnTo>
                      <a:pt x="5163" y="94"/>
                    </a:lnTo>
                    <a:lnTo>
                      <a:pt x="5035" y="0"/>
                    </a:lnTo>
                    <a:lnTo>
                      <a:pt x="5035" y="43"/>
                    </a:lnTo>
                    <a:lnTo>
                      <a:pt x="125" y="43"/>
                    </a:lnTo>
                    <a:lnTo>
                      <a:pt x="125" y="0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chemeClr val="folHlink"/>
              </a:solidFill>
              <a:ln w="38100" cmpd="sng">
                <a:solidFill>
                  <a:schemeClr val="folHlink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2" name="Line 17"/>
              <p:cNvSpPr>
                <a:spLocks noChangeShapeType="1"/>
              </p:cNvSpPr>
              <p:nvPr/>
            </p:nvSpPr>
            <p:spPr bwMode="auto">
              <a:xfrm>
                <a:off x="815" y="3463"/>
                <a:ext cx="1" cy="228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3" name="Freeform 18"/>
              <p:cNvSpPr/>
              <p:nvPr/>
            </p:nvSpPr>
            <p:spPr bwMode="auto">
              <a:xfrm>
                <a:off x="2112" y="2312"/>
                <a:ext cx="1" cy="229"/>
              </a:xfrm>
              <a:custGeom>
                <a:avLst/>
                <a:gdLst>
                  <a:gd name="T0" fmla="*/ 0 w 1"/>
                  <a:gd name="T1" fmla="*/ 0 h 229"/>
                  <a:gd name="T2" fmla="*/ 1 w 1"/>
                  <a:gd name="T3" fmla="*/ 229 h 229"/>
                  <a:gd name="T4" fmla="*/ 0 60000 65536"/>
                  <a:gd name="T5" fmla="*/ 0 60000 65536"/>
                  <a:gd name="T6" fmla="*/ 0 w 1"/>
                  <a:gd name="T7" fmla="*/ 0 h 229"/>
                  <a:gd name="T8" fmla="*/ 1 w 1"/>
                  <a:gd name="T9" fmla="*/ 229 h 22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29">
                    <a:moveTo>
                      <a:pt x="0" y="0"/>
                    </a:moveTo>
                    <a:lnTo>
                      <a:pt x="1" y="229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4" name="Line 19"/>
              <p:cNvSpPr>
                <a:spLocks noChangeShapeType="1"/>
              </p:cNvSpPr>
              <p:nvPr/>
            </p:nvSpPr>
            <p:spPr bwMode="auto">
              <a:xfrm>
                <a:off x="3578" y="2311"/>
                <a:ext cx="1" cy="23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5" name="Line 20"/>
              <p:cNvSpPr>
                <a:spLocks noChangeShapeType="1"/>
              </p:cNvSpPr>
              <p:nvPr/>
            </p:nvSpPr>
            <p:spPr bwMode="auto">
              <a:xfrm>
                <a:off x="4895" y="2311"/>
                <a:ext cx="1" cy="23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6" name="Line 21"/>
              <p:cNvSpPr>
                <a:spLocks noChangeShapeType="1"/>
              </p:cNvSpPr>
              <p:nvPr/>
            </p:nvSpPr>
            <p:spPr bwMode="auto">
              <a:xfrm>
                <a:off x="2880" y="1683"/>
                <a:ext cx="0" cy="909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7" name="Line 22"/>
              <p:cNvSpPr>
                <a:spLocks noChangeShapeType="1"/>
              </p:cNvSpPr>
              <p:nvPr/>
            </p:nvSpPr>
            <p:spPr bwMode="auto">
              <a:xfrm>
                <a:off x="816" y="2314"/>
                <a:ext cx="1" cy="23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8" name="Line 23"/>
              <p:cNvSpPr>
                <a:spLocks noChangeShapeType="1"/>
              </p:cNvSpPr>
              <p:nvPr/>
            </p:nvSpPr>
            <p:spPr bwMode="auto">
              <a:xfrm>
                <a:off x="2112" y="3463"/>
                <a:ext cx="1" cy="228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19" name="Line 24"/>
              <p:cNvSpPr>
                <a:spLocks noChangeShapeType="1"/>
              </p:cNvSpPr>
              <p:nvPr/>
            </p:nvSpPr>
            <p:spPr bwMode="auto">
              <a:xfrm>
                <a:off x="3578" y="3452"/>
                <a:ext cx="1" cy="25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20" name="Freeform 25"/>
              <p:cNvSpPr/>
              <p:nvPr/>
            </p:nvSpPr>
            <p:spPr bwMode="auto">
              <a:xfrm>
                <a:off x="4896" y="3456"/>
                <a:ext cx="5" cy="246"/>
              </a:xfrm>
              <a:custGeom>
                <a:avLst/>
                <a:gdLst>
                  <a:gd name="T0" fmla="*/ 5 w 5"/>
                  <a:gd name="T1" fmla="*/ 0 h 246"/>
                  <a:gd name="T2" fmla="*/ 0 w 5"/>
                  <a:gd name="T3" fmla="*/ 246 h 246"/>
                  <a:gd name="T4" fmla="*/ 0 60000 65536"/>
                  <a:gd name="T5" fmla="*/ 0 60000 65536"/>
                  <a:gd name="T6" fmla="*/ 0 w 5"/>
                  <a:gd name="T7" fmla="*/ 0 h 246"/>
                  <a:gd name="T8" fmla="*/ 5 w 5"/>
                  <a:gd name="T9" fmla="*/ 246 h 24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" h="246">
                    <a:moveTo>
                      <a:pt x="5" y="0"/>
                    </a:moveTo>
                    <a:lnTo>
                      <a:pt x="0" y="246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21" name="Freeform 26"/>
              <p:cNvSpPr/>
              <p:nvPr/>
            </p:nvSpPr>
            <p:spPr bwMode="auto">
              <a:xfrm>
                <a:off x="2112" y="2574"/>
                <a:ext cx="1" cy="576"/>
              </a:xfrm>
              <a:custGeom>
                <a:avLst/>
                <a:gdLst>
                  <a:gd name="T0" fmla="*/ 0 w 1"/>
                  <a:gd name="T1" fmla="*/ 0 h 576"/>
                  <a:gd name="T2" fmla="*/ 0 w 1"/>
                  <a:gd name="T3" fmla="*/ 576 h 576"/>
                  <a:gd name="T4" fmla="*/ 0 60000 65536"/>
                  <a:gd name="T5" fmla="*/ 0 60000 65536"/>
                  <a:gd name="T6" fmla="*/ 0 w 1"/>
                  <a:gd name="T7" fmla="*/ 0 h 576"/>
                  <a:gd name="T8" fmla="*/ 1 w 1"/>
                  <a:gd name="T9" fmla="*/ 576 h 57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76">
                    <a:moveTo>
                      <a:pt x="0" y="0"/>
                    </a:moveTo>
                    <a:lnTo>
                      <a:pt x="0" y="576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fol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22" name="Freeform 27"/>
              <p:cNvSpPr/>
              <p:nvPr/>
            </p:nvSpPr>
            <p:spPr bwMode="auto">
              <a:xfrm>
                <a:off x="3360" y="1486"/>
                <a:ext cx="2267" cy="116"/>
              </a:xfrm>
              <a:custGeom>
                <a:avLst/>
                <a:gdLst>
                  <a:gd name="T0" fmla="*/ 0 w 2267"/>
                  <a:gd name="T1" fmla="*/ 1 h 189"/>
                  <a:gd name="T2" fmla="*/ 127 w 2267"/>
                  <a:gd name="T3" fmla="*/ 1 h 189"/>
                  <a:gd name="T4" fmla="*/ 127 w 2267"/>
                  <a:gd name="T5" fmla="*/ 1 h 189"/>
                  <a:gd name="T6" fmla="*/ 2140 w 2267"/>
                  <a:gd name="T7" fmla="*/ 1 h 189"/>
                  <a:gd name="T8" fmla="*/ 2140 w 2267"/>
                  <a:gd name="T9" fmla="*/ 1 h 189"/>
                  <a:gd name="T10" fmla="*/ 2267 w 2267"/>
                  <a:gd name="T11" fmla="*/ 1 h 189"/>
                  <a:gd name="T12" fmla="*/ 2140 w 2267"/>
                  <a:gd name="T13" fmla="*/ 0 h 189"/>
                  <a:gd name="T14" fmla="*/ 2140 w 2267"/>
                  <a:gd name="T15" fmla="*/ 1 h 189"/>
                  <a:gd name="T16" fmla="*/ 127 w 2267"/>
                  <a:gd name="T17" fmla="*/ 1 h 189"/>
                  <a:gd name="T18" fmla="*/ 127 w 2267"/>
                  <a:gd name="T19" fmla="*/ 0 h 189"/>
                  <a:gd name="T20" fmla="*/ 0 w 2267"/>
                  <a:gd name="T21" fmla="*/ 1 h 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67"/>
                  <a:gd name="T34" fmla="*/ 0 h 189"/>
                  <a:gd name="T35" fmla="*/ 2267 w 2267"/>
                  <a:gd name="T36" fmla="*/ 189 h 1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67" h="189">
                    <a:moveTo>
                      <a:pt x="0" y="95"/>
                    </a:moveTo>
                    <a:lnTo>
                      <a:pt x="127" y="189"/>
                    </a:lnTo>
                    <a:lnTo>
                      <a:pt x="127" y="140"/>
                    </a:lnTo>
                    <a:lnTo>
                      <a:pt x="2140" y="140"/>
                    </a:lnTo>
                    <a:lnTo>
                      <a:pt x="2140" y="189"/>
                    </a:lnTo>
                    <a:lnTo>
                      <a:pt x="2267" y="95"/>
                    </a:lnTo>
                    <a:lnTo>
                      <a:pt x="2140" y="0"/>
                    </a:lnTo>
                    <a:lnTo>
                      <a:pt x="2140" y="50"/>
                    </a:lnTo>
                    <a:lnTo>
                      <a:pt x="127" y="50"/>
                    </a:lnTo>
                    <a:lnTo>
                      <a:pt x="127" y="0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folHlink"/>
              </a:solidFill>
              <a:ln w="38100" cmpd="sng">
                <a:solidFill>
                  <a:schemeClr val="folHlink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23" name="Rectangle 28"/>
              <p:cNvSpPr>
                <a:spLocks noChangeArrowheads="1"/>
              </p:cNvSpPr>
              <p:nvPr/>
            </p:nvSpPr>
            <p:spPr bwMode="auto">
              <a:xfrm>
                <a:off x="384" y="1392"/>
                <a:ext cx="846" cy="30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24" name="Rectangle 29"/>
              <p:cNvSpPr>
                <a:spLocks noChangeArrowheads="1"/>
              </p:cNvSpPr>
              <p:nvPr/>
            </p:nvSpPr>
            <p:spPr bwMode="auto">
              <a:xfrm>
                <a:off x="609" y="1429"/>
                <a:ext cx="39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CPU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25" name="Freeform 30"/>
              <p:cNvSpPr/>
              <p:nvPr/>
            </p:nvSpPr>
            <p:spPr bwMode="auto">
              <a:xfrm>
                <a:off x="144" y="3600"/>
                <a:ext cx="5451" cy="118"/>
              </a:xfrm>
              <a:custGeom>
                <a:avLst/>
                <a:gdLst>
                  <a:gd name="T0" fmla="*/ 0 w 5165"/>
                  <a:gd name="T1" fmla="*/ 1 h 189"/>
                  <a:gd name="T2" fmla="*/ 269 w 5165"/>
                  <a:gd name="T3" fmla="*/ 1 h 189"/>
                  <a:gd name="T4" fmla="*/ 269 w 5165"/>
                  <a:gd name="T5" fmla="*/ 1 h 189"/>
                  <a:gd name="T6" fmla="*/ 10713 w 5165"/>
                  <a:gd name="T7" fmla="*/ 1 h 189"/>
                  <a:gd name="T8" fmla="*/ 10713 w 5165"/>
                  <a:gd name="T9" fmla="*/ 1 h 189"/>
                  <a:gd name="T10" fmla="*/ 10983 w 5165"/>
                  <a:gd name="T11" fmla="*/ 1 h 189"/>
                  <a:gd name="T12" fmla="*/ 10713 w 5165"/>
                  <a:gd name="T13" fmla="*/ 0 h 189"/>
                  <a:gd name="T14" fmla="*/ 10713 w 5165"/>
                  <a:gd name="T15" fmla="*/ 1 h 189"/>
                  <a:gd name="T16" fmla="*/ 269 w 5165"/>
                  <a:gd name="T17" fmla="*/ 1 h 189"/>
                  <a:gd name="T18" fmla="*/ 269 w 5165"/>
                  <a:gd name="T19" fmla="*/ 0 h 189"/>
                  <a:gd name="T20" fmla="*/ 0 w 5165"/>
                  <a:gd name="T21" fmla="*/ 1 h 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165"/>
                  <a:gd name="T34" fmla="*/ 0 h 189"/>
                  <a:gd name="T35" fmla="*/ 5165 w 5165"/>
                  <a:gd name="T36" fmla="*/ 189 h 1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165" h="189">
                    <a:moveTo>
                      <a:pt x="0" y="95"/>
                    </a:moveTo>
                    <a:lnTo>
                      <a:pt x="127" y="189"/>
                    </a:lnTo>
                    <a:lnTo>
                      <a:pt x="127" y="146"/>
                    </a:lnTo>
                    <a:lnTo>
                      <a:pt x="5038" y="146"/>
                    </a:lnTo>
                    <a:lnTo>
                      <a:pt x="5038" y="189"/>
                    </a:lnTo>
                    <a:lnTo>
                      <a:pt x="5165" y="95"/>
                    </a:lnTo>
                    <a:lnTo>
                      <a:pt x="5038" y="0"/>
                    </a:lnTo>
                    <a:lnTo>
                      <a:pt x="5038" y="44"/>
                    </a:lnTo>
                    <a:lnTo>
                      <a:pt x="127" y="44"/>
                    </a:lnTo>
                    <a:lnTo>
                      <a:pt x="127" y="0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chemeClr val="folHlink"/>
              </a:solidFill>
              <a:ln w="38100" cmpd="sng">
                <a:solidFill>
                  <a:schemeClr val="folHlink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26" name="Rectangle 32"/>
              <p:cNvSpPr>
                <a:spLocks noChangeArrowheads="1"/>
              </p:cNvSpPr>
              <p:nvPr/>
            </p:nvSpPr>
            <p:spPr bwMode="auto">
              <a:xfrm>
                <a:off x="4558" y="3185"/>
                <a:ext cx="772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/>
                  <a:t>串行接口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27" name="Rectangle 33"/>
              <p:cNvSpPr>
                <a:spLocks noChangeArrowheads="1"/>
              </p:cNvSpPr>
              <p:nvPr/>
            </p:nvSpPr>
            <p:spPr bwMode="auto">
              <a:xfrm>
                <a:off x="384" y="3151"/>
                <a:ext cx="846" cy="30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28" name="Rectangle 34"/>
              <p:cNvSpPr>
                <a:spLocks noChangeArrowheads="1"/>
              </p:cNvSpPr>
              <p:nvPr/>
            </p:nvSpPr>
            <p:spPr bwMode="auto">
              <a:xfrm>
                <a:off x="609" y="3188"/>
                <a:ext cx="39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FAX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29" name="Rectangle 35"/>
              <p:cNvSpPr>
                <a:spLocks noChangeArrowheads="1"/>
              </p:cNvSpPr>
              <p:nvPr/>
            </p:nvSpPr>
            <p:spPr bwMode="auto">
              <a:xfrm>
                <a:off x="4044" y="1603"/>
                <a:ext cx="90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800">
                    <a:solidFill>
                      <a:schemeClr val="folHlink"/>
                    </a:solidFill>
                  </a:rPr>
                  <a:t>系统总线</a:t>
                </a:r>
                <a:endPara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30" name="Rectangle 36"/>
              <p:cNvSpPr>
                <a:spLocks noChangeArrowheads="1"/>
              </p:cNvSpPr>
              <p:nvPr/>
            </p:nvSpPr>
            <p:spPr bwMode="auto">
              <a:xfrm>
                <a:off x="1296" y="1603"/>
                <a:ext cx="90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800">
                    <a:solidFill>
                      <a:schemeClr val="folHlink"/>
                    </a:solidFill>
                  </a:rPr>
                  <a:t>局部总线</a:t>
                </a:r>
                <a:endPara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31" name="Rectangle 37"/>
              <p:cNvSpPr>
                <a:spLocks noChangeArrowheads="1"/>
              </p:cNvSpPr>
              <p:nvPr/>
            </p:nvSpPr>
            <p:spPr bwMode="auto">
              <a:xfrm>
                <a:off x="2428" y="2611"/>
                <a:ext cx="90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800">
                    <a:solidFill>
                      <a:schemeClr val="folHlink"/>
                    </a:solidFill>
                  </a:rPr>
                  <a:t>高速总线</a:t>
                </a:r>
                <a:endPara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32" name="Rectangle 38"/>
              <p:cNvSpPr>
                <a:spLocks noChangeArrowheads="1"/>
              </p:cNvSpPr>
              <p:nvPr/>
            </p:nvSpPr>
            <p:spPr bwMode="auto">
              <a:xfrm>
                <a:off x="2420" y="3715"/>
                <a:ext cx="90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800">
                    <a:solidFill>
                      <a:schemeClr val="folHlink"/>
                    </a:solidFill>
                  </a:rPr>
                  <a:t>扩展总线</a:t>
                </a:r>
                <a:endPara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33" name="Rectangle 39"/>
              <p:cNvSpPr>
                <a:spLocks noChangeArrowheads="1"/>
              </p:cNvSpPr>
              <p:nvPr/>
            </p:nvSpPr>
            <p:spPr bwMode="auto">
              <a:xfrm>
                <a:off x="1910" y="2046"/>
                <a:ext cx="386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/>
                  <a:t>图形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34" name="Rectangle 40"/>
              <p:cNvSpPr>
                <a:spLocks noChangeArrowheads="1"/>
              </p:cNvSpPr>
              <p:nvPr/>
            </p:nvSpPr>
            <p:spPr bwMode="auto">
              <a:xfrm>
                <a:off x="1680" y="2010"/>
                <a:ext cx="846" cy="30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35" name="Rectangle 42"/>
              <p:cNvSpPr>
                <a:spLocks noChangeArrowheads="1"/>
              </p:cNvSpPr>
              <p:nvPr/>
            </p:nvSpPr>
            <p:spPr bwMode="auto">
              <a:xfrm>
                <a:off x="4320" y="3149"/>
                <a:ext cx="1248" cy="303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36" name="Text Box 43"/>
              <p:cNvSpPr txBox="1">
                <a:spLocks noChangeArrowheads="1"/>
              </p:cNvSpPr>
              <p:nvPr/>
            </p:nvSpPr>
            <p:spPr bwMode="auto">
              <a:xfrm>
                <a:off x="2406" y="1386"/>
                <a:ext cx="87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Cache/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桥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37" name="AutoShape 44"/>
              <p:cNvSpPr>
                <a:spLocks noChangeArrowheads="1"/>
              </p:cNvSpPr>
              <p:nvPr/>
            </p:nvSpPr>
            <p:spPr bwMode="auto">
              <a:xfrm>
                <a:off x="1260" y="1472"/>
                <a:ext cx="1031" cy="144"/>
              </a:xfrm>
              <a:prstGeom prst="leftRightArrow">
                <a:avLst>
                  <a:gd name="adj1" fmla="val 37500"/>
                  <a:gd name="adj2" fmla="val 82370"/>
                </a:avLst>
              </a:prstGeom>
              <a:solidFill>
                <a:schemeClr val="folHlink"/>
              </a:solidFill>
              <a:ln w="38100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173101" name="Rectangle 45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3.4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4997" name="AutoShape 47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ext Box 2"/>
          <p:cNvSpPr txBox="1">
            <a:spLocks noChangeArrowheads="1"/>
          </p:cNvSpPr>
          <p:nvPr/>
        </p:nvSpPr>
        <p:spPr bwMode="auto">
          <a:xfrm>
            <a:off x="685800" y="1219200"/>
            <a:ext cx="4364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1.  </a:t>
            </a:r>
            <a:r>
              <a:rPr kumimoji="0" lang="zh-CN" altLang="en-US" sz="3200">
                <a:latin typeface="Times New Roman" panose="02020603050405020304" pitchFamily="18" charset="0"/>
              </a:rPr>
              <a:t>传</a:t>
            </a:r>
            <a:r>
              <a:rPr lang="zh-CN" altLang="en-US" sz="3200">
                <a:latin typeface="Times New Roman" panose="02020603050405020304" pitchFamily="18" charset="0"/>
              </a:rPr>
              <a:t>统微型机总线结构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441325" y="320675"/>
            <a:ext cx="384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三、总线结构举例</a:t>
            </a:r>
            <a:endParaRPr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74113" name="Rectangle 33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3.4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6021" name="AutoShape 3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47"/>
          <p:cNvGrpSpPr/>
          <p:nvPr/>
        </p:nvGrpSpPr>
        <p:grpSpPr bwMode="auto">
          <a:xfrm>
            <a:off x="153988" y="2057400"/>
            <a:ext cx="8723312" cy="3729038"/>
            <a:chOff x="97" y="1296"/>
            <a:chExt cx="5495" cy="2349"/>
          </a:xfrm>
        </p:grpSpPr>
        <p:grpSp>
          <p:nvGrpSpPr>
            <p:cNvPr id="86023" name="Group 46"/>
            <p:cNvGrpSpPr/>
            <p:nvPr/>
          </p:nvGrpSpPr>
          <p:grpSpPr bwMode="auto">
            <a:xfrm>
              <a:off x="97" y="1296"/>
              <a:ext cx="5495" cy="2349"/>
              <a:chOff x="97" y="1296"/>
              <a:chExt cx="5495" cy="2349"/>
            </a:xfrm>
          </p:grpSpPr>
          <p:grpSp>
            <p:nvGrpSpPr>
              <p:cNvPr id="86027" name="Group 45"/>
              <p:cNvGrpSpPr/>
              <p:nvPr/>
            </p:nvGrpSpPr>
            <p:grpSpPr bwMode="auto">
              <a:xfrm>
                <a:off x="97" y="1296"/>
                <a:ext cx="5495" cy="2349"/>
                <a:chOff x="97" y="1296"/>
                <a:chExt cx="5495" cy="2349"/>
              </a:xfrm>
            </p:grpSpPr>
            <p:sp>
              <p:nvSpPr>
                <p:cNvPr id="86029" name="Freeform 5"/>
                <p:cNvSpPr/>
                <p:nvPr/>
              </p:nvSpPr>
              <p:spPr bwMode="auto">
                <a:xfrm>
                  <a:off x="2867" y="2513"/>
                  <a:ext cx="109" cy="348"/>
                </a:xfrm>
                <a:custGeom>
                  <a:avLst/>
                  <a:gdLst>
                    <a:gd name="T0" fmla="*/ 0 w 276"/>
                    <a:gd name="T1" fmla="*/ 8 h 464"/>
                    <a:gd name="T2" fmla="*/ 0 w 276"/>
                    <a:gd name="T3" fmla="*/ 8 h 464"/>
                    <a:gd name="T4" fmla="*/ 0 w 276"/>
                    <a:gd name="T5" fmla="*/ 0 h 464"/>
                    <a:gd name="T6" fmla="*/ 0 w 276"/>
                    <a:gd name="T7" fmla="*/ 0 h 464"/>
                    <a:gd name="T8" fmla="*/ 0 w 276"/>
                    <a:gd name="T9" fmla="*/ 8 h 464"/>
                    <a:gd name="T10" fmla="*/ 0 w 276"/>
                    <a:gd name="T11" fmla="*/ 8 h 464"/>
                    <a:gd name="T12" fmla="*/ 0 w 276"/>
                    <a:gd name="T13" fmla="*/ 8 h 464"/>
                    <a:gd name="T14" fmla="*/ 0 w 276"/>
                    <a:gd name="T15" fmla="*/ 8 h 46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76"/>
                    <a:gd name="T25" fmla="*/ 0 h 464"/>
                    <a:gd name="T26" fmla="*/ 276 w 276"/>
                    <a:gd name="T27" fmla="*/ 464 h 46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76" h="464">
                      <a:moveTo>
                        <a:pt x="0" y="406"/>
                      </a:moveTo>
                      <a:lnTo>
                        <a:pt x="51" y="406"/>
                      </a:lnTo>
                      <a:lnTo>
                        <a:pt x="51" y="0"/>
                      </a:lnTo>
                      <a:lnTo>
                        <a:pt x="225" y="0"/>
                      </a:lnTo>
                      <a:lnTo>
                        <a:pt x="225" y="406"/>
                      </a:lnTo>
                      <a:lnTo>
                        <a:pt x="276" y="406"/>
                      </a:lnTo>
                      <a:lnTo>
                        <a:pt x="138" y="464"/>
                      </a:lnTo>
                      <a:lnTo>
                        <a:pt x="0" y="40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19050">
                  <a:solidFill>
                    <a:schemeClr val="folHlink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030" name="Rectangle 6"/>
                <p:cNvSpPr>
                  <a:spLocks noChangeArrowheads="1"/>
                </p:cNvSpPr>
                <p:nvPr/>
              </p:nvSpPr>
              <p:spPr bwMode="auto">
                <a:xfrm>
                  <a:off x="4512" y="1809"/>
                  <a:ext cx="1080" cy="298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6031" name="Rectangle 7"/>
                <p:cNvSpPr>
                  <a:spLocks noChangeArrowheads="1"/>
                </p:cNvSpPr>
                <p:nvPr/>
              </p:nvSpPr>
              <p:spPr bwMode="auto">
                <a:xfrm>
                  <a:off x="4763" y="1843"/>
                  <a:ext cx="579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zh-CN" altLang="en-US" sz="2400"/>
                    <a:t>存储器</a:t>
                  </a: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32" name="Rectangle 8"/>
                <p:cNvSpPr>
                  <a:spLocks noChangeArrowheads="1"/>
                </p:cNvSpPr>
                <p:nvPr/>
              </p:nvSpPr>
              <p:spPr bwMode="auto">
                <a:xfrm>
                  <a:off x="97" y="2683"/>
                  <a:ext cx="708" cy="543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6033" name="Rectangle 9"/>
                <p:cNvSpPr>
                  <a:spLocks noChangeArrowheads="1"/>
                </p:cNvSpPr>
                <p:nvPr/>
              </p:nvSpPr>
              <p:spPr bwMode="auto">
                <a:xfrm>
                  <a:off x="138" y="2724"/>
                  <a:ext cx="669" cy="4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zh-CN" sz="2400">
                      <a:latin typeface="Times New Roman" panose="02020603050405020304" pitchFamily="18" charset="0"/>
                    </a:rPr>
                    <a:t>SCSI </a:t>
                  </a:r>
                  <a:r>
                    <a:rPr lang="en-US" altLang="en-US" sz="2400">
                      <a:latin typeface="Times New Roman" panose="02020603050405020304" pitchFamily="18" charset="0"/>
                    </a:rPr>
                    <a:t>Ⅱ</a:t>
                  </a:r>
                  <a:endParaRPr lang="zh-CN" altLang="en-US" sz="2400">
                    <a:latin typeface="Times New Roman" panose="02020603050405020304" pitchFamily="18" charset="0"/>
                  </a:endParaRPr>
                </a:p>
                <a:p>
                  <a:pPr eaLnBrk="1" hangingPunct="1">
                    <a:spcBef>
                      <a:spcPct val="0"/>
                    </a:spcBef>
                  </a:pPr>
                  <a:r>
                    <a:rPr lang="zh-CN" altLang="en-US" sz="2400"/>
                    <a:t>控制器</a:t>
                  </a:r>
                  <a:endParaRPr lang="zh-CN" altLang="en-US" sz="2400"/>
                </a:p>
              </p:txBody>
            </p:sp>
            <p:sp>
              <p:nvSpPr>
                <p:cNvPr id="86034" name="Freeform 10"/>
                <p:cNvSpPr/>
                <p:nvPr/>
              </p:nvSpPr>
              <p:spPr bwMode="auto">
                <a:xfrm>
                  <a:off x="2867" y="1640"/>
                  <a:ext cx="96" cy="576"/>
                </a:xfrm>
                <a:custGeom>
                  <a:avLst/>
                  <a:gdLst>
                    <a:gd name="T0" fmla="*/ 0 w 276"/>
                    <a:gd name="T1" fmla="*/ 8388 h 464"/>
                    <a:gd name="T2" fmla="*/ 0 w 276"/>
                    <a:gd name="T3" fmla="*/ 8388 h 464"/>
                    <a:gd name="T4" fmla="*/ 0 w 276"/>
                    <a:gd name="T5" fmla="*/ 0 h 464"/>
                    <a:gd name="T6" fmla="*/ 0 w 276"/>
                    <a:gd name="T7" fmla="*/ 0 h 464"/>
                    <a:gd name="T8" fmla="*/ 0 w 276"/>
                    <a:gd name="T9" fmla="*/ 8388 h 464"/>
                    <a:gd name="T10" fmla="*/ 0 w 276"/>
                    <a:gd name="T11" fmla="*/ 8388 h 464"/>
                    <a:gd name="T12" fmla="*/ 0 w 276"/>
                    <a:gd name="T13" fmla="*/ 9576 h 464"/>
                    <a:gd name="T14" fmla="*/ 0 w 276"/>
                    <a:gd name="T15" fmla="*/ 8388 h 46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76"/>
                    <a:gd name="T25" fmla="*/ 0 h 464"/>
                    <a:gd name="T26" fmla="*/ 276 w 276"/>
                    <a:gd name="T27" fmla="*/ 464 h 46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76" h="464">
                      <a:moveTo>
                        <a:pt x="0" y="406"/>
                      </a:moveTo>
                      <a:lnTo>
                        <a:pt x="51" y="406"/>
                      </a:lnTo>
                      <a:lnTo>
                        <a:pt x="51" y="0"/>
                      </a:lnTo>
                      <a:lnTo>
                        <a:pt x="225" y="0"/>
                      </a:lnTo>
                      <a:lnTo>
                        <a:pt x="225" y="406"/>
                      </a:lnTo>
                      <a:lnTo>
                        <a:pt x="276" y="406"/>
                      </a:lnTo>
                      <a:lnTo>
                        <a:pt x="138" y="464"/>
                      </a:lnTo>
                      <a:lnTo>
                        <a:pt x="0" y="40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19050">
                  <a:solidFill>
                    <a:schemeClr val="folHlink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035" name="Freeform 11"/>
                <p:cNvSpPr/>
                <p:nvPr/>
              </p:nvSpPr>
              <p:spPr bwMode="auto">
                <a:xfrm>
                  <a:off x="864" y="1579"/>
                  <a:ext cx="3648" cy="118"/>
                </a:xfrm>
                <a:custGeom>
                  <a:avLst/>
                  <a:gdLst>
                    <a:gd name="T0" fmla="*/ 0 w 3180"/>
                    <a:gd name="T1" fmla="*/ 0 h 365"/>
                    <a:gd name="T2" fmla="*/ 618 w 3180"/>
                    <a:gd name="T3" fmla="*/ 0 h 365"/>
                    <a:gd name="T4" fmla="*/ 618 w 3180"/>
                    <a:gd name="T5" fmla="*/ 0 h 365"/>
                    <a:gd name="T6" fmla="*/ 21115 w 3180"/>
                    <a:gd name="T7" fmla="*/ 0 h 365"/>
                    <a:gd name="T8" fmla="*/ 21115 w 3180"/>
                    <a:gd name="T9" fmla="*/ 0 h 365"/>
                    <a:gd name="T10" fmla="*/ 21745 w 3180"/>
                    <a:gd name="T11" fmla="*/ 0 h 365"/>
                    <a:gd name="T12" fmla="*/ 21115 w 3180"/>
                    <a:gd name="T13" fmla="*/ 0 h 365"/>
                    <a:gd name="T14" fmla="*/ 21115 w 3180"/>
                    <a:gd name="T15" fmla="*/ 0 h 365"/>
                    <a:gd name="T16" fmla="*/ 618 w 3180"/>
                    <a:gd name="T17" fmla="*/ 0 h 365"/>
                    <a:gd name="T18" fmla="*/ 618 w 3180"/>
                    <a:gd name="T19" fmla="*/ 0 h 365"/>
                    <a:gd name="T20" fmla="*/ 0 w 3180"/>
                    <a:gd name="T21" fmla="*/ 0 h 36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180"/>
                    <a:gd name="T34" fmla="*/ 0 h 365"/>
                    <a:gd name="T35" fmla="*/ 3180 w 3180"/>
                    <a:gd name="T36" fmla="*/ 365 h 365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180" h="365">
                      <a:moveTo>
                        <a:pt x="0" y="182"/>
                      </a:moveTo>
                      <a:lnTo>
                        <a:pt x="91" y="365"/>
                      </a:lnTo>
                      <a:lnTo>
                        <a:pt x="91" y="282"/>
                      </a:lnTo>
                      <a:lnTo>
                        <a:pt x="3089" y="282"/>
                      </a:lnTo>
                      <a:lnTo>
                        <a:pt x="3089" y="365"/>
                      </a:lnTo>
                      <a:lnTo>
                        <a:pt x="3180" y="182"/>
                      </a:lnTo>
                      <a:lnTo>
                        <a:pt x="3089" y="0"/>
                      </a:lnTo>
                      <a:lnTo>
                        <a:pt x="3089" y="83"/>
                      </a:lnTo>
                      <a:lnTo>
                        <a:pt x="91" y="83"/>
                      </a:lnTo>
                      <a:lnTo>
                        <a:pt x="91" y="0"/>
                      </a:lnTo>
                      <a:lnTo>
                        <a:pt x="0" y="182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19050">
                  <a:solidFill>
                    <a:schemeClr val="folHlink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036" name="Freeform 12"/>
                <p:cNvSpPr/>
                <p:nvPr/>
              </p:nvSpPr>
              <p:spPr bwMode="auto">
                <a:xfrm>
                  <a:off x="816" y="2827"/>
                  <a:ext cx="4752" cy="118"/>
                </a:xfrm>
                <a:custGeom>
                  <a:avLst/>
                  <a:gdLst>
                    <a:gd name="T0" fmla="*/ 0 w 4114"/>
                    <a:gd name="T1" fmla="*/ 0 h 344"/>
                    <a:gd name="T2" fmla="*/ 655 w 4114"/>
                    <a:gd name="T3" fmla="*/ 0 h 344"/>
                    <a:gd name="T4" fmla="*/ 655 w 4114"/>
                    <a:gd name="T5" fmla="*/ 0 h 344"/>
                    <a:gd name="T6" fmla="*/ 30307 w 4114"/>
                    <a:gd name="T7" fmla="*/ 0 h 344"/>
                    <a:gd name="T8" fmla="*/ 30307 w 4114"/>
                    <a:gd name="T9" fmla="*/ 0 h 344"/>
                    <a:gd name="T10" fmla="*/ 30962 w 4114"/>
                    <a:gd name="T11" fmla="*/ 0 h 344"/>
                    <a:gd name="T12" fmla="*/ 30307 w 4114"/>
                    <a:gd name="T13" fmla="*/ 0 h 344"/>
                    <a:gd name="T14" fmla="*/ 30307 w 4114"/>
                    <a:gd name="T15" fmla="*/ 0 h 344"/>
                    <a:gd name="T16" fmla="*/ 655 w 4114"/>
                    <a:gd name="T17" fmla="*/ 0 h 344"/>
                    <a:gd name="T18" fmla="*/ 655 w 4114"/>
                    <a:gd name="T19" fmla="*/ 0 h 344"/>
                    <a:gd name="T20" fmla="*/ 0 w 4114"/>
                    <a:gd name="T21" fmla="*/ 0 h 34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114"/>
                    <a:gd name="T34" fmla="*/ 0 h 344"/>
                    <a:gd name="T35" fmla="*/ 4114 w 4114"/>
                    <a:gd name="T36" fmla="*/ 344 h 344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114" h="344">
                      <a:moveTo>
                        <a:pt x="0" y="174"/>
                      </a:moveTo>
                      <a:lnTo>
                        <a:pt x="87" y="344"/>
                      </a:lnTo>
                      <a:lnTo>
                        <a:pt x="87" y="261"/>
                      </a:lnTo>
                      <a:lnTo>
                        <a:pt x="4027" y="261"/>
                      </a:lnTo>
                      <a:lnTo>
                        <a:pt x="4027" y="344"/>
                      </a:lnTo>
                      <a:lnTo>
                        <a:pt x="4114" y="174"/>
                      </a:lnTo>
                      <a:lnTo>
                        <a:pt x="4027" y="0"/>
                      </a:lnTo>
                      <a:lnTo>
                        <a:pt x="4027" y="83"/>
                      </a:lnTo>
                      <a:lnTo>
                        <a:pt x="87" y="83"/>
                      </a:lnTo>
                      <a:lnTo>
                        <a:pt x="87" y="0"/>
                      </a:lnTo>
                      <a:lnTo>
                        <a:pt x="0" y="17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19050">
                  <a:solidFill>
                    <a:schemeClr val="folHlink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037" name="Rectangle 13"/>
                <p:cNvSpPr>
                  <a:spLocks noChangeArrowheads="1"/>
                </p:cNvSpPr>
                <p:nvPr/>
              </p:nvSpPr>
              <p:spPr bwMode="auto">
                <a:xfrm>
                  <a:off x="4512" y="1514"/>
                  <a:ext cx="1080" cy="299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6038" name="Rectangle 14"/>
                <p:cNvSpPr>
                  <a:spLocks noChangeArrowheads="1"/>
                </p:cNvSpPr>
                <p:nvPr/>
              </p:nvSpPr>
              <p:spPr bwMode="auto">
                <a:xfrm>
                  <a:off x="4569" y="1549"/>
                  <a:ext cx="965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zh-CN" altLang="en-US" sz="2400"/>
                    <a:t>主存控制器</a:t>
                  </a: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39" name="Rectangle 15"/>
                <p:cNvSpPr>
                  <a:spLocks noChangeArrowheads="1"/>
                </p:cNvSpPr>
                <p:nvPr/>
              </p:nvSpPr>
              <p:spPr bwMode="auto">
                <a:xfrm>
                  <a:off x="3456" y="2592"/>
                  <a:ext cx="117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zh-CN" sz="28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ISA</a:t>
                  </a:r>
                  <a:r>
                    <a:rPr lang="zh-CN" altLang="en-US" sz="28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、</a:t>
                  </a:r>
                  <a:r>
                    <a:rPr lang="en-US" altLang="zh-CN" sz="28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EISA </a:t>
                  </a:r>
                  <a:endParaRPr lang="en-US" altLang="zh-CN" sz="28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40" name="Rectangle 16"/>
                <p:cNvSpPr>
                  <a:spLocks noChangeArrowheads="1"/>
                </p:cNvSpPr>
                <p:nvPr/>
              </p:nvSpPr>
              <p:spPr bwMode="auto">
                <a:xfrm>
                  <a:off x="2404" y="2805"/>
                  <a:ext cx="1167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6041" name="Rectangle 17"/>
                <p:cNvSpPr>
                  <a:spLocks noChangeArrowheads="1"/>
                </p:cNvSpPr>
                <p:nvPr/>
              </p:nvSpPr>
              <p:spPr bwMode="auto">
                <a:xfrm>
                  <a:off x="1008" y="2640"/>
                  <a:ext cx="1593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8 MHz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的</a:t>
                  </a:r>
                  <a:r>
                    <a:rPr lang="en-US" altLang="zh-CN" sz="2000">
                      <a:latin typeface="Times New Roman" panose="02020603050405020304" pitchFamily="18" charset="0"/>
                    </a:rPr>
                    <a:t>1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6</a:t>
                  </a:r>
                  <a:r>
                    <a:rPr lang="zh-CN" altLang="en-US" sz="2000"/>
                    <a:t>位数据通路</a:t>
                  </a:r>
                  <a:endParaRPr lang="zh-CN" altLang="en-US" sz="2000"/>
                </a:p>
              </p:txBody>
            </p:sp>
            <p:sp>
              <p:nvSpPr>
                <p:cNvPr id="86042" name="Rectangle 18"/>
                <p:cNvSpPr>
                  <a:spLocks noChangeArrowheads="1"/>
                </p:cNvSpPr>
                <p:nvPr/>
              </p:nvSpPr>
              <p:spPr bwMode="auto">
                <a:xfrm>
                  <a:off x="2064" y="2221"/>
                  <a:ext cx="1723" cy="294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6043" name="Rectangle 19"/>
                <p:cNvSpPr>
                  <a:spLocks noChangeArrowheads="1"/>
                </p:cNvSpPr>
                <p:nvPr/>
              </p:nvSpPr>
              <p:spPr bwMode="auto">
                <a:xfrm>
                  <a:off x="2256" y="2246"/>
                  <a:ext cx="1351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zh-CN" altLang="en-US" sz="2400"/>
                    <a:t>标准总线控制器</a:t>
                  </a: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44" name="Rectangle 20"/>
                <p:cNvSpPr>
                  <a:spLocks noChangeArrowheads="1"/>
                </p:cNvSpPr>
                <p:nvPr/>
              </p:nvSpPr>
              <p:spPr bwMode="auto">
                <a:xfrm>
                  <a:off x="1104" y="1392"/>
                  <a:ext cx="1672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33 MHz</a:t>
                  </a:r>
                  <a:r>
                    <a:rPr lang="zh-CN" altLang="en-US" sz="2000">
                      <a:latin typeface="Times New Roman" panose="02020603050405020304" pitchFamily="18" charset="0"/>
                    </a:rPr>
                    <a:t>的</a:t>
                  </a:r>
                  <a:r>
                    <a:rPr lang="en-US" altLang="zh-CN" sz="2000">
                      <a:latin typeface="Times New Roman" panose="02020603050405020304" pitchFamily="18" charset="0"/>
                    </a:rPr>
                    <a:t>32</a:t>
                  </a:r>
                  <a:r>
                    <a:rPr lang="zh-CN" altLang="en-US" sz="2000"/>
                    <a:t>位数据通路</a:t>
                  </a:r>
                  <a:endParaRPr lang="zh-CN" altLang="en-US" sz="2000"/>
                </a:p>
              </p:txBody>
            </p:sp>
            <p:sp>
              <p:nvSpPr>
                <p:cNvPr id="86045" name="Rectangle 21"/>
                <p:cNvSpPr>
                  <a:spLocks noChangeArrowheads="1"/>
                </p:cNvSpPr>
                <p:nvPr/>
              </p:nvSpPr>
              <p:spPr bwMode="auto">
                <a:xfrm>
                  <a:off x="2625" y="1296"/>
                  <a:ext cx="669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6046" name="Rectangle 22"/>
                <p:cNvSpPr>
                  <a:spLocks noChangeArrowheads="1"/>
                </p:cNvSpPr>
                <p:nvPr/>
              </p:nvSpPr>
              <p:spPr bwMode="auto">
                <a:xfrm>
                  <a:off x="3120" y="1296"/>
                  <a:ext cx="90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zh-CN" altLang="en-US" sz="2800">
                      <a:solidFill>
                        <a:schemeClr val="folHlink"/>
                      </a:solidFill>
                    </a:rPr>
                    <a:t>系统总线</a:t>
                  </a:r>
                  <a:endParaRPr lang="zh-CN" altLang="en-US" sz="28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47" name="Freeform 23"/>
                <p:cNvSpPr/>
                <p:nvPr/>
              </p:nvSpPr>
              <p:spPr bwMode="auto">
                <a:xfrm>
                  <a:off x="4497" y="2922"/>
                  <a:ext cx="159" cy="411"/>
                </a:xfrm>
                <a:custGeom>
                  <a:avLst/>
                  <a:gdLst>
                    <a:gd name="T0" fmla="*/ 77 w 159"/>
                    <a:gd name="T1" fmla="*/ 0 h 411"/>
                    <a:gd name="T2" fmla="*/ 159 w 159"/>
                    <a:gd name="T3" fmla="*/ 82 h 411"/>
                    <a:gd name="T4" fmla="*/ 120 w 159"/>
                    <a:gd name="T5" fmla="*/ 82 h 411"/>
                    <a:gd name="T6" fmla="*/ 120 w 159"/>
                    <a:gd name="T7" fmla="*/ 329 h 411"/>
                    <a:gd name="T8" fmla="*/ 159 w 159"/>
                    <a:gd name="T9" fmla="*/ 329 h 411"/>
                    <a:gd name="T10" fmla="*/ 77 w 159"/>
                    <a:gd name="T11" fmla="*/ 411 h 411"/>
                    <a:gd name="T12" fmla="*/ 0 w 159"/>
                    <a:gd name="T13" fmla="*/ 329 h 411"/>
                    <a:gd name="T14" fmla="*/ 39 w 159"/>
                    <a:gd name="T15" fmla="*/ 329 h 411"/>
                    <a:gd name="T16" fmla="*/ 39 w 159"/>
                    <a:gd name="T17" fmla="*/ 82 h 411"/>
                    <a:gd name="T18" fmla="*/ 0 w 159"/>
                    <a:gd name="T19" fmla="*/ 82 h 411"/>
                    <a:gd name="T20" fmla="*/ 77 w 159"/>
                    <a:gd name="T21" fmla="*/ 0 h 4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59"/>
                    <a:gd name="T34" fmla="*/ 0 h 411"/>
                    <a:gd name="T35" fmla="*/ 159 w 159"/>
                    <a:gd name="T36" fmla="*/ 411 h 41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59" h="411">
                      <a:moveTo>
                        <a:pt x="77" y="0"/>
                      </a:moveTo>
                      <a:lnTo>
                        <a:pt x="159" y="82"/>
                      </a:lnTo>
                      <a:lnTo>
                        <a:pt x="120" y="82"/>
                      </a:lnTo>
                      <a:lnTo>
                        <a:pt x="120" y="329"/>
                      </a:lnTo>
                      <a:lnTo>
                        <a:pt x="159" y="329"/>
                      </a:lnTo>
                      <a:lnTo>
                        <a:pt x="77" y="411"/>
                      </a:lnTo>
                      <a:lnTo>
                        <a:pt x="0" y="329"/>
                      </a:lnTo>
                      <a:lnTo>
                        <a:pt x="39" y="329"/>
                      </a:lnTo>
                      <a:lnTo>
                        <a:pt x="39" y="82"/>
                      </a:lnTo>
                      <a:lnTo>
                        <a:pt x="0" y="82"/>
                      </a:lnTo>
                      <a:lnTo>
                        <a:pt x="77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folHlink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048" name="Rectangle 24"/>
                <p:cNvSpPr>
                  <a:spLocks noChangeArrowheads="1"/>
                </p:cNvSpPr>
                <p:nvPr/>
              </p:nvSpPr>
              <p:spPr bwMode="auto">
                <a:xfrm>
                  <a:off x="4032" y="3331"/>
                  <a:ext cx="1114" cy="3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49" name="Rectangle 25"/>
                <p:cNvSpPr>
                  <a:spLocks noChangeArrowheads="1"/>
                </p:cNvSpPr>
                <p:nvPr/>
              </p:nvSpPr>
              <p:spPr bwMode="auto">
                <a:xfrm>
                  <a:off x="816" y="3331"/>
                  <a:ext cx="736" cy="310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zh-CN" altLang="en-US" sz="2400">
                      <a:latin typeface="Times New Roman" panose="02020603050405020304" pitchFamily="18" charset="0"/>
                    </a:rPr>
                    <a:t>多媒体</a:t>
                  </a: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50" name="Freeform 26"/>
                <p:cNvSpPr/>
                <p:nvPr/>
              </p:nvSpPr>
              <p:spPr bwMode="auto">
                <a:xfrm>
                  <a:off x="3312" y="2927"/>
                  <a:ext cx="163" cy="396"/>
                </a:xfrm>
                <a:custGeom>
                  <a:avLst/>
                  <a:gdLst>
                    <a:gd name="T0" fmla="*/ 82 w 163"/>
                    <a:gd name="T1" fmla="*/ 0 h 396"/>
                    <a:gd name="T2" fmla="*/ 163 w 163"/>
                    <a:gd name="T3" fmla="*/ 78 h 396"/>
                    <a:gd name="T4" fmla="*/ 121 w 163"/>
                    <a:gd name="T5" fmla="*/ 78 h 396"/>
                    <a:gd name="T6" fmla="*/ 121 w 163"/>
                    <a:gd name="T7" fmla="*/ 318 h 396"/>
                    <a:gd name="T8" fmla="*/ 163 w 163"/>
                    <a:gd name="T9" fmla="*/ 318 h 396"/>
                    <a:gd name="T10" fmla="*/ 82 w 163"/>
                    <a:gd name="T11" fmla="*/ 396 h 396"/>
                    <a:gd name="T12" fmla="*/ 0 w 163"/>
                    <a:gd name="T13" fmla="*/ 318 h 396"/>
                    <a:gd name="T14" fmla="*/ 43 w 163"/>
                    <a:gd name="T15" fmla="*/ 318 h 396"/>
                    <a:gd name="T16" fmla="*/ 43 w 163"/>
                    <a:gd name="T17" fmla="*/ 78 h 396"/>
                    <a:gd name="T18" fmla="*/ 0 w 163"/>
                    <a:gd name="T19" fmla="*/ 78 h 396"/>
                    <a:gd name="T20" fmla="*/ 82 w 163"/>
                    <a:gd name="T21" fmla="*/ 0 h 3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63"/>
                    <a:gd name="T34" fmla="*/ 0 h 396"/>
                    <a:gd name="T35" fmla="*/ 163 w 163"/>
                    <a:gd name="T36" fmla="*/ 396 h 3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63" h="396">
                      <a:moveTo>
                        <a:pt x="82" y="0"/>
                      </a:moveTo>
                      <a:lnTo>
                        <a:pt x="163" y="78"/>
                      </a:lnTo>
                      <a:lnTo>
                        <a:pt x="121" y="78"/>
                      </a:lnTo>
                      <a:lnTo>
                        <a:pt x="121" y="318"/>
                      </a:lnTo>
                      <a:lnTo>
                        <a:pt x="163" y="318"/>
                      </a:lnTo>
                      <a:lnTo>
                        <a:pt x="82" y="396"/>
                      </a:lnTo>
                      <a:lnTo>
                        <a:pt x="0" y="318"/>
                      </a:lnTo>
                      <a:lnTo>
                        <a:pt x="43" y="318"/>
                      </a:lnTo>
                      <a:lnTo>
                        <a:pt x="43" y="78"/>
                      </a:lnTo>
                      <a:lnTo>
                        <a:pt x="0" y="78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folHlink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051" name="Freeform 27"/>
                <p:cNvSpPr/>
                <p:nvPr/>
              </p:nvSpPr>
              <p:spPr bwMode="auto">
                <a:xfrm>
                  <a:off x="1104" y="2927"/>
                  <a:ext cx="163" cy="396"/>
                </a:xfrm>
                <a:custGeom>
                  <a:avLst/>
                  <a:gdLst>
                    <a:gd name="T0" fmla="*/ 81 w 163"/>
                    <a:gd name="T1" fmla="*/ 0 h 396"/>
                    <a:gd name="T2" fmla="*/ 163 w 163"/>
                    <a:gd name="T3" fmla="*/ 78 h 396"/>
                    <a:gd name="T4" fmla="*/ 120 w 163"/>
                    <a:gd name="T5" fmla="*/ 78 h 396"/>
                    <a:gd name="T6" fmla="*/ 120 w 163"/>
                    <a:gd name="T7" fmla="*/ 318 h 396"/>
                    <a:gd name="T8" fmla="*/ 163 w 163"/>
                    <a:gd name="T9" fmla="*/ 318 h 396"/>
                    <a:gd name="T10" fmla="*/ 81 w 163"/>
                    <a:gd name="T11" fmla="*/ 396 h 396"/>
                    <a:gd name="T12" fmla="*/ 0 w 163"/>
                    <a:gd name="T13" fmla="*/ 318 h 396"/>
                    <a:gd name="T14" fmla="*/ 43 w 163"/>
                    <a:gd name="T15" fmla="*/ 318 h 396"/>
                    <a:gd name="T16" fmla="*/ 43 w 163"/>
                    <a:gd name="T17" fmla="*/ 78 h 396"/>
                    <a:gd name="T18" fmla="*/ 0 w 163"/>
                    <a:gd name="T19" fmla="*/ 78 h 396"/>
                    <a:gd name="T20" fmla="*/ 81 w 163"/>
                    <a:gd name="T21" fmla="*/ 0 h 3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63"/>
                    <a:gd name="T34" fmla="*/ 0 h 396"/>
                    <a:gd name="T35" fmla="*/ 163 w 163"/>
                    <a:gd name="T36" fmla="*/ 396 h 3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63" h="396">
                      <a:moveTo>
                        <a:pt x="81" y="0"/>
                      </a:moveTo>
                      <a:lnTo>
                        <a:pt x="163" y="78"/>
                      </a:lnTo>
                      <a:lnTo>
                        <a:pt x="120" y="78"/>
                      </a:lnTo>
                      <a:lnTo>
                        <a:pt x="120" y="318"/>
                      </a:lnTo>
                      <a:lnTo>
                        <a:pt x="163" y="318"/>
                      </a:lnTo>
                      <a:lnTo>
                        <a:pt x="81" y="396"/>
                      </a:lnTo>
                      <a:lnTo>
                        <a:pt x="0" y="318"/>
                      </a:lnTo>
                      <a:lnTo>
                        <a:pt x="43" y="318"/>
                      </a:lnTo>
                      <a:lnTo>
                        <a:pt x="43" y="78"/>
                      </a:lnTo>
                      <a:lnTo>
                        <a:pt x="0" y="78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folHlink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052" name="Freeform 28"/>
                <p:cNvSpPr/>
                <p:nvPr/>
              </p:nvSpPr>
              <p:spPr bwMode="auto">
                <a:xfrm>
                  <a:off x="2112" y="2927"/>
                  <a:ext cx="158" cy="396"/>
                </a:xfrm>
                <a:custGeom>
                  <a:avLst/>
                  <a:gdLst>
                    <a:gd name="T0" fmla="*/ 81 w 158"/>
                    <a:gd name="T1" fmla="*/ 0 h 396"/>
                    <a:gd name="T2" fmla="*/ 158 w 158"/>
                    <a:gd name="T3" fmla="*/ 78 h 396"/>
                    <a:gd name="T4" fmla="*/ 120 w 158"/>
                    <a:gd name="T5" fmla="*/ 78 h 396"/>
                    <a:gd name="T6" fmla="*/ 120 w 158"/>
                    <a:gd name="T7" fmla="*/ 318 h 396"/>
                    <a:gd name="T8" fmla="*/ 158 w 158"/>
                    <a:gd name="T9" fmla="*/ 318 h 396"/>
                    <a:gd name="T10" fmla="*/ 81 w 158"/>
                    <a:gd name="T11" fmla="*/ 396 h 396"/>
                    <a:gd name="T12" fmla="*/ 0 w 158"/>
                    <a:gd name="T13" fmla="*/ 318 h 396"/>
                    <a:gd name="T14" fmla="*/ 38 w 158"/>
                    <a:gd name="T15" fmla="*/ 318 h 396"/>
                    <a:gd name="T16" fmla="*/ 38 w 158"/>
                    <a:gd name="T17" fmla="*/ 78 h 396"/>
                    <a:gd name="T18" fmla="*/ 0 w 158"/>
                    <a:gd name="T19" fmla="*/ 78 h 396"/>
                    <a:gd name="T20" fmla="*/ 81 w 158"/>
                    <a:gd name="T21" fmla="*/ 0 h 3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58"/>
                    <a:gd name="T34" fmla="*/ 0 h 396"/>
                    <a:gd name="T35" fmla="*/ 158 w 158"/>
                    <a:gd name="T36" fmla="*/ 396 h 3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58" h="396">
                      <a:moveTo>
                        <a:pt x="81" y="0"/>
                      </a:moveTo>
                      <a:lnTo>
                        <a:pt x="158" y="78"/>
                      </a:lnTo>
                      <a:lnTo>
                        <a:pt x="120" y="78"/>
                      </a:lnTo>
                      <a:lnTo>
                        <a:pt x="120" y="318"/>
                      </a:lnTo>
                      <a:lnTo>
                        <a:pt x="158" y="318"/>
                      </a:lnTo>
                      <a:lnTo>
                        <a:pt x="81" y="396"/>
                      </a:lnTo>
                      <a:lnTo>
                        <a:pt x="0" y="318"/>
                      </a:lnTo>
                      <a:lnTo>
                        <a:pt x="38" y="318"/>
                      </a:lnTo>
                      <a:lnTo>
                        <a:pt x="38" y="78"/>
                      </a:lnTo>
                      <a:lnTo>
                        <a:pt x="0" y="78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folHlink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053" name="Rectangle 29"/>
                <p:cNvSpPr>
                  <a:spLocks noChangeArrowheads="1"/>
                </p:cNvSpPr>
                <p:nvPr/>
              </p:nvSpPr>
              <p:spPr bwMode="auto">
                <a:xfrm>
                  <a:off x="1625" y="3331"/>
                  <a:ext cx="1127" cy="310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zh-CN" altLang="en-US" sz="2400">
                      <a:latin typeface="Times New Roman" panose="02020603050405020304" pitchFamily="18" charset="0"/>
                    </a:rPr>
                    <a:t>高速局域网</a:t>
                  </a: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54" name="Rectangle 30"/>
                <p:cNvSpPr>
                  <a:spLocks noChangeArrowheads="1"/>
                </p:cNvSpPr>
                <p:nvPr/>
              </p:nvSpPr>
              <p:spPr bwMode="auto">
                <a:xfrm>
                  <a:off x="2837" y="3331"/>
                  <a:ext cx="1147" cy="310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zh-CN" altLang="en-US" sz="2400">
                      <a:latin typeface="Times New Roman" panose="02020603050405020304" pitchFamily="18" charset="0"/>
                    </a:rPr>
                    <a:t>高性能图形</a:t>
                  </a: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55" name="Rectangle 31"/>
                <p:cNvSpPr>
                  <a:spLocks noChangeArrowheads="1"/>
                </p:cNvSpPr>
                <p:nvPr/>
              </p:nvSpPr>
              <p:spPr bwMode="auto">
                <a:xfrm>
                  <a:off x="192" y="1531"/>
                  <a:ext cx="660" cy="288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zh-CN" sz="2400">
                      <a:latin typeface="Times New Roman" panose="02020603050405020304" pitchFamily="18" charset="0"/>
                    </a:rPr>
                    <a:t> CPU</a:t>
                  </a: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5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5075" y="3281"/>
                  <a:ext cx="34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zh-CN" altLang="en-US" sz="28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zh-CN" altLang="en-US" sz="28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6028" name="Text Box 36"/>
              <p:cNvSpPr txBox="1">
                <a:spLocks noChangeArrowheads="1"/>
              </p:cNvSpPr>
              <p:nvPr/>
            </p:nvSpPr>
            <p:spPr bwMode="auto">
              <a:xfrm>
                <a:off x="4558" y="2505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8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6024" name="Group 41"/>
            <p:cNvGrpSpPr/>
            <p:nvPr/>
          </p:nvGrpSpPr>
          <p:grpSpPr bwMode="auto">
            <a:xfrm>
              <a:off x="4166" y="3338"/>
              <a:ext cx="846" cy="303"/>
              <a:chOff x="3151" y="3149"/>
              <a:chExt cx="846" cy="303"/>
            </a:xfrm>
          </p:grpSpPr>
          <p:sp>
            <p:nvSpPr>
              <p:cNvPr id="86025" name="Rectangle 42"/>
              <p:cNvSpPr>
                <a:spLocks noChangeArrowheads="1"/>
              </p:cNvSpPr>
              <p:nvPr/>
            </p:nvSpPr>
            <p:spPr bwMode="auto">
              <a:xfrm>
                <a:off x="3162" y="3185"/>
                <a:ext cx="72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 Modem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26" name="Rectangle 43"/>
              <p:cNvSpPr>
                <a:spLocks noChangeArrowheads="1"/>
              </p:cNvSpPr>
              <p:nvPr/>
            </p:nvSpPr>
            <p:spPr bwMode="auto">
              <a:xfrm>
                <a:off x="3151" y="3149"/>
                <a:ext cx="846" cy="303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746125" y="273050"/>
            <a:ext cx="5060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3600">
                <a:latin typeface="Times New Roman" panose="02020603050405020304" pitchFamily="18" charset="0"/>
              </a:rPr>
              <a:t>2. VL-BUS</a:t>
            </a:r>
            <a:r>
              <a:rPr lang="zh-CN" altLang="en-US" sz="3600">
                <a:latin typeface="Times New Roman" panose="02020603050405020304" pitchFamily="18" charset="0"/>
              </a:rPr>
              <a:t>局部总线结构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75145" name="Rectangle 41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3.4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7044" name="AutoShape 43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54"/>
          <p:cNvGrpSpPr/>
          <p:nvPr/>
        </p:nvGrpSpPr>
        <p:grpSpPr bwMode="auto">
          <a:xfrm>
            <a:off x="123825" y="1265238"/>
            <a:ext cx="8791575" cy="4997450"/>
            <a:chOff x="78" y="797"/>
            <a:chExt cx="5538" cy="3148"/>
          </a:xfrm>
        </p:grpSpPr>
        <p:sp>
          <p:nvSpPr>
            <p:cNvPr id="87046" name="Rectangle 4"/>
            <p:cNvSpPr>
              <a:spLocks noChangeArrowheads="1"/>
            </p:cNvSpPr>
            <p:nvPr/>
          </p:nvSpPr>
          <p:spPr bwMode="auto">
            <a:xfrm>
              <a:off x="2736" y="2208"/>
              <a:ext cx="18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33 MHz</a:t>
              </a:r>
              <a:r>
                <a:rPr lang="zh-CN" altLang="en-US" sz="2000"/>
                <a:t>的</a:t>
              </a:r>
              <a:r>
                <a:rPr lang="zh-CN" altLang="en-US" sz="2000">
                  <a:latin typeface="Times New Roman" panose="02020603050405020304" pitchFamily="18" charset="0"/>
                </a:rPr>
                <a:t>32</a:t>
              </a:r>
              <a:r>
                <a:rPr lang="zh-CN" altLang="en-US" sz="2000"/>
                <a:t>位数据通路</a:t>
              </a:r>
              <a:endParaRPr lang="zh-CN" altLang="en-US" sz="2000"/>
            </a:p>
          </p:txBody>
        </p:sp>
        <p:sp>
          <p:nvSpPr>
            <p:cNvPr id="87047" name="Rectangle 5"/>
            <p:cNvSpPr>
              <a:spLocks noChangeArrowheads="1"/>
            </p:cNvSpPr>
            <p:nvPr/>
          </p:nvSpPr>
          <p:spPr bwMode="auto">
            <a:xfrm>
              <a:off x="2496" y="797"/>
              <a:ext cx="90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</a:rPr>
                <a:t>系统总线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48" name="Rectangle 6"/>
            <p:cNvSpPr>
              <a:spLocks noChangeArrowheads="1"/>
            </p:cNvSpPr>
            <p:nvPr/>
          </p:nvSpPr>
          <p:spPr bwMode="auto">
            <a:xfrm>
              <a:off x="672" y="2869"/>
              <a:ext cx="125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ISA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EISA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49" name="Freeform 7"/>
            <p:cNvSpPr/>
            <p:nvPr/>
          </p:nvSpPr>
          <p:spPr bwMode="auto">
            <a:xfrm>
              <a:off x="474" y="2740"/>
              <a:ext cx="150" cy="392"/>
            </a:xfrm>
            <a:custGeom>
              <a:avLst/>
              <a:gdLst>
                <a:gd name="T0" fmla="*/ 76 w 150"/>
                <a:gd name="T1" fmla="*/ 0 h 440"/>
                <a:gd name="T2" fmla="*/ 150 w 150"/>
                <a:gd name="T3" fmla="*/ 17 h 440"/>
                <a:gd name="T4" fmla="*/ 114 w 150"/>
                <a:gd name="T5" fmla="*/ 17 h 440"/>
                <a:gd name="T6" fmla="*/ 114 w 150"/>
                <a:gd name="T7" fmla="*/ 69 h 440"/>
                <a:gd name="T8" fmla="*/ 150 w 150"/>
                <a:gd name="T9" fmla="*/ 69 h 440"/>
                <a:gd name="T10" fmla="*/ 76 w 150"/>
                <a:gd name="T11" fmla="*/ 87 h 440"/>
                <a:gd name="T12" fmla="*/ 0 w 150"/>
                <a:gd name="T13" fmla="*/ 69 h 440"/>
                <a:gd name="T14" fmla="*/ 38 w 150"/>
                <a:gd name="T15" fmla="*/ 69 h 440"/>
                <a:gd name="T16" fmla="*/ 38 w 150"/>
                <a:gd name="T17" fmla="*/ 17 h 440"/>
                <a:gd name="T18" fmla="*/ 0 w 150"/>
                <a:gd name="T19" fmla="*/ 17 h 440"/>
                <a:gd name="T20" fmla="*/ 76 w 150"/>
                <a:gd name="T21" fmla="*/ 0 h 4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50"/>
                <a:gd name="T34" fmla="*/ 0 h 440"/>
                <a:gd name="T35" fmla="*/ 150 w 150"/>
                <a:gd name="T36" fmla="*/ 440 h 4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50" h="440">
                  <a:moveTo>
                    <a:pt x="76" y="0"/>
                  </a:moveTo>
                  <a:lnTo>
                    <a:pt x="150" y="87"/>
                  </a:lnTo>
                  <a:lnTo>
                    <a:pt x="114" y="87"/>
                  </a:lnTo>
                  <a:lnTo>
                    <a:pt x="114" y="352"/>
                  </a:lnTo>
                  <a:lnTo>
                    <a:pt x="150" y="352"/>
                  </a:lnTo>
                  <a:lnTo>
                    <a:pt x="76" y="440"/>
                  </a:lnTo>
                  <a:lnTo>
                    <a:pt x="0" y="352"/>
                  </a:lnTo>
                  <a:lnTo>
                    <a:pt x="38" y="352"/>
                  </a:lnTo>
                  <a:lnTo>
                    <a:pt x="38" y="87"/>
                  </a:lnTo>
                  <a:lnTo>
                    <a:pt x="0" y="87"/>
                  </a:lnTo>
                  <a:lnTo>
                    <a:pt x="76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0" name="Rectangle 8"/>
            <p:cNvSpPr>
              <a:spLocks noChangeArrowheads="1"/>
            </p:cNvSpPr>
            <p:nvPr/>
          </p:nvSpPr>
          <p:spPr bwMode="auto">
            <a:xfrm>
              <a:off x="2000" y="3018"/>
              <a:ext cx="736" cy="31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多媒体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51" name="Freeform 9"/>
            <p:cNvSpPr/>
            <p:nvPr/>
          </p:nvSpPr>
          <p:spPr bwMode="auto">
            <a:xfrm>
              <a:off x="2286" y="2544"/>
              <a:ext cx="163" cy="462"/>
            </a:xfrm>
            <a:custGeom>
              <a:avLst/>
              <a:gdLst>
                <a:gd name="T0" fmla="*/ 81 w 163"/>
                <a:gd name="T1" fmla="*/ 0 h 396"/>
                <a:gd name="T2" fmla="*/ 163 w 163"/>
                <a:gd name="T3" fmla="*/ 677 h 396"/>
                <a:gd name="T4" fmla="*/ 120 w 163"/>
                <a:gd name="T5" fmla="*/ 677 h 396"/>
                <a:gd name="T6" fmla="*/ 120 w 163"/>
                <a:gd name="T7" fmla="*/ 2753 h 396"/>
                <a:gd name="T8" fmla="*/ 163 w 163"/>
                <a:gd name="T9" fmla="*/ 2753 h 396"/>
                <a:gd name="T10" fmla="*/ 81 w 163"/>
                <a:gd name="T11" fmla="*/ 3428 h 396"/>
                <a:gd name="T12" fmla="*/ 0 w 163"/>
                <a:gd name="T13" fmla="*/ 2753 h 396"/>
                <a:gd name="T14" fmla="*/ 43 w 163"/>
                <a:gd name="T15" fmla="*/ 2753 h 396"/>
                <a:gd name="T16" fmla="*/ 43 w 163"/>
                <a:gd name="T17" fmla="*/ 677 h 396"/>
                <a:gd name="T18" fmla="*/ 0 w 163"/>
                <a:gd name="T19" fmla="*/ 677 h 396"/>
                <a:gd name="T20" fmla="*/ 81 w 163"/>
                <a:gd name="T21" fmla="*/ 0 h 3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3"/>
                <a:gd name="T34" fmla="*/ 0 h 396"/>
                <a:gd name="T35" fmla="*/ 163 w 163"/>
                <a:gd name="T36" fmla="*/ 396 h 3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3" h="396">
                  <a:moveTo>
                    <a:pt x="81" y="0"/>
                  </a:moveTo>
                  <a:lnTo>
                    <a:pt x="163" y="78"/>
                  </a:lnTo>
                  <a:lnTo>
                    <a:pt x="120" y="78"/>
                  </a:lnTo>
                  <a:lnTo>
                    <a:pt x="120" y="318"/>
                  </a:lnTo>
                  <a:lnTo>
                    <a:pt x="163" y="318"/>
                  </a:lnTo>
                  <a:lnTo>
                    <a:pt x="81" y="396"/>
                  </a:lnTo>
                  <a:lnTo>
                    <a:pt x="0" y="318"/>
                  </a:lnTo>
                  <a:lnTo>
                    <a:pt x="43" y="318"/>
                  </a:lnTo>
                  <a:lnTo>
                    <a:pt x="43" y="78"/>
                  </a:lnTo>
                  <a:lnTo>
                    <a:pt x="0" y="78"/>
                  </a:lnTo>
                  <a:lnTo>
                    <a:pt x="8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2" name="Rectangle 10"/>
            <p:cNvSpPr>
              <a:spLocks noChangeArrowheads="1"/>
            </p:cNvSpPr>
            <p:nvPr/>
          </p:nvSpPr>
          <p:spPr bwMode="auto">
            <a:xfrm>
              <a:off x="2809" y="3018"/>
              <a:ext cx="1127" cy="31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高速局域网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53" name="Rectangle 11"/>
            <p:cNvSpPr>
              <a:spLocks noChangeArrowheads="1"/>
            </p:cNvSpPr>
            <p:nvPr/>
          </p:nvSpPr>
          <p:spPr bwMode="auto">
            <a:xfrm>
              <a:off x="4032" y="3018"/>
              <a:ext cx="1152" cy="31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高性能图形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54" name="Freeform 12"/>
            <p:cNvSpPr/>
            <p:nvPr/>
          </p:nvSpPr>
          <p:spPr bwMode="auto">
            <a:xfrm>
              <a:off x="465" y="3216"/>
              <a:ext cx="159" cy="411"/>
            </a:xfrm>
            <a:custGeom>
              <a:avLst/>
              <a:gdLst>
                <a:gd name="T0" fmla="*/ 82 w 159"/>
                <a:gd name="T1" fmla="*/ 0 h 411"/>
                <a:gd name="T2" fmla="*/ 159 w 159"/>
                <a:gd name="T3" fmla="*/ 82 h 411"/>
                <a:gd name="T4" fmla="*/ 121 w 159"/>
                <a:gd name="T5" fmla="*/ 82 h 411"/>
                <a:gd name="T6" fmla="*/ 121 w 159"/>
                <a:gd name="T7" fmla="*/ 329 h 411"/>
                <a:gd name="T8" fmla="*/ 159 w 159"/>
                <a:gd name="T9" fmla="*/ 329 h 411"/>
                <a:gd name="T10" fmla="*/ 82 w 159"/>
                <a:gd name="T11" fmla="*/ 411 h 411"/>
                <a:gd name="T12" fmla="*/ 0 w 159"/>
                <a:gd name="T13" fmla="*/ 329 h 411"/>
                <a:gd name="T14" fmla="*/ 39 w 159"/>
                <a:gd name="T15" fmla="*/ 329 h 411"/>
                <a:gd name="T16" fmla="*/ 39 w 159"/>
                <a:gd name="T17" fmla="*/ 82 h 411"/>
                <a:gd name="T18" fmla="*/ 0 w 159"/>
                <a:gd name="T19" fmla="*/ 82 h 411"/>
                <a:gd name="T20" fmla="*/ 82 w 159"/>
                <a:gd name="T21" fmla="*/ 0 h 4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59"/>
                <a:gd name="T34" fmla="*/ 0 h 411"/>
                <a:gd name="T35" fmla="*/ 159 w 159"/>
                <a:gd name="T36" fmla="*/ 411 h 41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59" h="411">
                  <a:moveTo>
                    <a:pt x="82" y="0"/>
                  </a:moveTo>
                  <a:lnTo>
                    <a:pt x="159" y="82"/>
                  </a:lnTo>
                  <a:lnTo>
                    <a:pt x="121" y="82"/>
                  </a:lnTo>
                  <a:lnTo>
                    <a:pt x="121" y="329"/>
                  </a:lnTo>
                  <a:lnTo>
                    <a:pt x="159" y="329"/>
                  </a:lnTo>
                  <a:lnTo>
                    <a:pt x="82" y="411"/>
                  </a:lnTo>
                  <a:lnTo>
                    <a:pt x="0" y="329"/>
                  </a:lnTo>
                  <a:lnTo>
                    <a:pt x="39" y="329"/>
                  </a:lnTo>
                  <a:lnTo>
                    <a:pt x="39" y="82"/>
                  </a:lnTo>
                  <a:lnTo>
                    <a:pt x="0" y="82"/>
                  </a:lnTo>
                  <a:lnTo>
                    <a:pt x="82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5" name="Freeform 13"/>
            <p:cNvSpPr/>
            <p:nvPr/>
          </p:nvSpPr>
          <p:spPr bwMode="auto">
            <a:xfrm>
              <a:off x="1452" y="3216"/>
              <a:ext cx="159" cy="411"/>
            </a:xfrm>
            <a:custGeom>
              <a:avLst/>
              <a:gdLst>
                <a:gd name="T0" fmla="*/ 77 w 159"/>
                <a:gd name="T1" fmla="*/ 0 h 411"/>
                <a:gd name="T2" fmla="*/ 159 w 159"/>
                <a:gd name="T3" fmla="*/ 82 h 411"/>
                <a:gd name="T4" fmla="*/ 120 w 159"/>
                <a:gd name="T5" fmla="*/ 82 h 411"/>
                <a:gd name="T6" fmla="*/ 120 w 159"/>
                <a:gd name="T7" fmla="*/ 329 h 411"/>
                <a:gd name="T8" fmla="*/ 159 w 159"/>
                <a:gd name="T9" fmla="*/ 329 h 411"/>
                <a:gd name="T10" fmla="*/ 77 w 159"/>
                <a:gd name="T11" fmla="*/ 411 h 411"/>
                <a:gd name="T12" fmla="*/ 0 w 159"/>
                <a:gd name="T13" fmla="*/ 329 h 411"/>
                <a:gd name="T14" fmla="*/ 39 w 159"/>
                <a:gd name="T15" fmla="*/ 329 h 411"/>
                <a:gd name="T16" fmla="*/ 39 w 159"/>
                <a:gd name="T17" fmla="*/ 82 h 411"/>
                <a:gd name="T18" fmla="*/ 0 w 159"/>
                <a:gd name="T19" fmla="*/ 82 h 411"/>
                <a:gd name="T20" fmla="*/ 77 w 159"/>
                <a:gd name="T21" fmla="*/ 0 h 4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59"/>
                <a:gd name="T34" fmla="*/ 0 h 411"/>
                <a:gd name="T35" fmla="*/ 159 w 159"/>
                <a:gd name="T36" fmla="*/ 411 h 41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59" h="411">
                  <a:moveTo>
                    <a:pt x="77" y="0"/>
                  </a:moveTo>
                  <a:lnTo>
                    <a:pt x="159" y="82"/>
                  </a:lnTo>
                  <a:lnTo>
                    <a:pt x="120" y="82"/>
                  </a:lnTo>
                  <a:lnTo>
                    <a:pt x="120" y="329"/>
                  </a:lnTo>
                  <a:lnTo>
                    <a:pt x="159" y="329"/>
                  </a:lnTo>
                  <a:lnTo>
                    <a:pt x="77" y="411"/>
                  </a:lnTo>
                  <a:lnTo>
                    <a:pt x="0" y="329"/>
                  </a:lnTo>
                  <a:lnTo>
                    <a:pt x="39" y="329"/>
                  </a:lnTo>
                  <a:lnTo>
                    <a:pt x="39" y="82"/>
                  </a:lnTo>
                  <a:lnTo>
                    <a:pt x="0" y="82"/>
                  </a:lnTo>
                  <a:lnTo>
                    <a:pt x="77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6" name="Rectangle 14"/>
            <p:cNvSpPr>
              <a:spLocks noChangeArrowheads="1"/>
            </p:cNvSpPr>
            <p:nvPr/>
          </p:nvSpPr>
          <p:spPr bwMode="auto">
            <a:xfrm>
              <a:off x="1142" y="3631"/>
              <a:ext cx="1114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57" name="Rectangle 15"/>
            <p:cNvSpPr>
              <a:spLocks noChangeArrowheads="1"/>
            </p:cNvSpPr>
            <p:nvPr/>
          </p:nvSpPr>
          <p:spPr bwMode="auto">
            <a:xfrm>
              <a:off x="78" y="3631"/>
              <a:ext cx="971" cy="31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图文传真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58" name="Text Box 16"/>
            <p:cNvSpPr txBox="1">
              <a:spLocks noChangeArrowheads="1"/>
            </p:cNvSpPr>
            <p:nvPr/>
          </p:nvSpPr>
          <p:spPr bwMode="auto">
            <a:xfrm>
              <a:off x="1584" y="3350"/>
              <a:ext cx="17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8 MHz</a:t>
              </a:r>
              <a:r>
                <a:rPr lang="zh-CN" altLang="en-US" sz="2000"/>
                <a:t>的</a:t>
              </a:r>
              <a:r>
                <a:rPr lang="zh-CN" altLang="en-US" sz="2000">
                  <a:latin typeface="Times New Roman" panose="02020603050405020304" pitchFamily="18" charset="0"/>
                </a:rPr>
                <a:t>16</a:t>
              </a:r>
              <a:r>
                <a:rPr lang="zh-CN" altLang="en-US" sz="2000"/>
                <a:t>位数据通路</a:t>
              </a:r>
              <a:endParaRPr lang="zh-CN" altLang="en-US" sz="2000"/>
            </a:p>
          </p:txBody>
        </p:sp>
        <p:sp>
          <p:nvSpPr>
            <p:cNvPr id="87059" name="Rectangle 17"/>
            <p:cNvSpPr>
              <a:spLocks noChangeArrowheads="1"/>
            </p:cNvSpPr>
            <p:nvPr/>
          </p:nvSpPr>
          <p:spPr bwMode="auto">
            <a:xfrm>
              <a:off x="144" y="2232"/>
              <a:ext cx="904" cy="50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60" name="Text Box 18"/>
            <p:cNvSpPr txBox="1">
              <a:spLocks noChangeArrowheads="1"/>
            </p:cNvSpPr>
            <p:nvPr/>
          </p:nvSpPr>
          <p:spPr bwMode="auto">
            <a:xfrm>
              <a:off x="144" y="2242"/>
              <a:ext cx="88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标准总线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 控制器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61" name="Rectangle 19"/>
            <p:cNvSpPr>
              <a:spLocks noChangeArrowheads="1"/>
            </p:cNvSpPr>
            <p:nvPr/>
          </p:nvSpPr>
          <p:spPr bwMode="auto">
            <a:xfrm>
              <a:off x="144" y="998"/>
              <a:ext cx="680" cy="35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7062" name="Text Box 20"/>
            <p:cNvSpPr txBox="1">
              <a:spLocks noChangeArrowheads="1"/>
            </p:cNvSpPr>
            <p:nvPr/>
          </p:nvSpPr>
          <p:spPr bwMode="auto">
            <a:xfrm>
              <a:off x="228" y="1033"/>
              <a:ext cx="5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CPU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7063" name="Rectangle 21"/>
            <p:cNvSpPr>
              <a:spLocks noChangeArrowheads="1"/>
            </p:cNvSpPr>
            <p:nvPr/>
          </p:nvSpPr>
          <p:spPr bwMode="auto">
            <a:xfrm>
              <a:off x="4526" y="1152"/>
              <a:ext cx="1090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87064" name="Text Box 22"/>
            <p:cNvSpPr txBox="1">
              <a:spLocks noChangeArrowheads="1"/>
            </p:cNvSpPr>
            <p:nvPr/>
          </p:nvSpPr>
          <p:spPr bwMode="auto">
            <a:xfrm>
              <a:off x="4535" y="864"/>
              <a:ext cx="1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主存控制器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65" name="Text Box 23"/>
            <p:cNvSpPr txBox="1">
              <a:spLocks noChangeArrowheads="1"/>
            </p:cNvSpPr>
            <p:nvPr/>
          </p:nvSpPr>
          <p:spPr bwMode="auto">
            <a:xfrm>
              <a:off x="4723" y="1152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存储器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66" name="Rectangle 24"/>
            <p:cNvSpPr>
              <a:spLocks noChangeArrowheads="1"/>
            </p:cNvSpPr>
            <p:nvPr/>
          </p:nvSpPr>
          <p:spPr bwMode="auto">
            <a:xfrm>
              <a:off x="4526" y="1581"/>
              <a:ext cx="1090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87067" name="Text Box 25"/>
            <p:cNvSpPr txBox="1">
              <a:spLocks noChangeArrowheads="1"/>
            </p:cNvSpPr>
            <p:nvPr/>
          </p:nvSpPr>
          <p:spPr bwMode="auto">
            <a:xfrm>
              <a:off x="4620" y="1594"/>
              <a:ext cx="88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局部总线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 控制器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68" name="Rectangle 26"/>
            <p:cNvSpPr>
              <a:spLocks noChangeArrowheads="1"/>
            </p:cNvSpPr>
            <p:nvPr/>
          </p:nvSpPr>
          <p:spPr bwMode="auto">
            <a:xfrm>
              <a:off x="4848" y="2208"/>
              <a:ext cx="720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69" name="Text Box 27"/>
            <p:cNvSpPr txBox="1">
              <a:spLocks noChangeArrowheads="1"/>
            </p:cNvSpPr>
            <p:nvPr/>
          </p:nvSpPr>
          <p:spPr bwMode="auto">
            <a:xfrm>
              <a:off x="4848" y="2213"/>
              <a:ext cx="73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SCSIⅡ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控制器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7070" name="Rectangle 28"/>
            <p:cNvSpPr>
              <a:spLocks noChangeArrowheads="1"/>
            </p:cNvSpPr>
            <p:nvPr/>
          </p:nvSpPr>
          <p:spPr bwMode="auto">
            <a:xfrm>
              <a:off x="4526" y="864"/>
              <a:ext cx="1090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87071" name="Text Box 30"/>
            <p:cNvSpPr txBox="1">
              <a:spLocks noChangeArrowheads="1"/>
            </p:cNvSpPr>
            <p:nvPr/>
          </p:nvSpPr>
          <p:spPr bwMode="auto">
            <a:xfrm>
              <a:off x="1296" y="2153"/>
              <a:ext cx="11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VL   BUS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2" name="AutoShape 32"/>
            <p:cNvSpPr>
              <a:spLocks noChangeArrowheads="1"/>
            </p:cNvSpPr>
            <p:nvPr/>
          </p:nvSpPr>
          <p:spPr bwMode="auto">
            <a:xfrm>
              <a:off x="828" y="1104"/>
              <a:ext cx="3673" cy="118"/>
            </a:xfrm>
            <a:prstGeom prst="leftRightArrow">
              <a:avLst>
                <a:gd name="adj1" fmla="val 50000"/>
                <a:gd name="adj2" fmla="val 78394"/>
              </a:avLst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7073" name="AutoShape 33"/>
            <p:cNvSpPr>
              <a:spLocks noChangeArrowheads="1"/>
            </p:cNvSpPr>
            <p:nvPr/>
          </p:nvSpPr>
          <p:spPr bwMode="auto">
            <a:xfrm>
              <a:off x="1067" y="2413"/>
              <a:ext cx="3769" cy="131"/>
            </a:xfrm>
            <a:prstGeom prst="leftRightArrow">
              <a:avLst>
                <a:gd name="adj1" fmla="val 50000"/>
                <a:gd name="adj2" fmla="val 72460"/>
              </a:avLst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7074" name="Rectangle 34"/>
            <p:cNvSpPr>
              <a:spLocks noChangeArrowheads="1"/>
            </p:cNvSpPr>
            <p:nvPr/>
          </p:nvSpPr>
          <p:spPr bwMode="auto">
            <a:xfrm>
              <a:off x="2496" y="1200"/>
              <a:ext cx="96" cy="124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7075" name="AutoShape 35"/>
            <p:cNvSpPr>
              <a:spLocks noChangeArrowheads="1"/>
            </p:cNvSpPr>
            <p:nvPr/>
          </p:nvSpPr>
          <p:spPr bwMode="auto">
            <a:xfrm>
              <a:off x="2592" y="1758"/>
              <a:ext cx="1920" cy="118"/>
            </a:xfrm>
            <a:prstGeom prst="rightArrow">
              <a:avLst>
                <a:gd name="adj1" fmla="val 60000"/>
                <a:gd name="adj2" fmla="val 117815"/>
              </a:avLst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7076" name="AutoShape 36"/>
            <p:cNvSpPr>
              <a:spLocks noChangeArrowheads="1"/>
            </p:cNvSpPr>
            <p:nvPr/>
          </p:nvSpPr>
          <p:spPr bwMode="auto">
            <a:xfrm>
              <a:off x="124" y="3120"/>
              <a:ext cx="1768" cy="131"/>
            </a:xfrm>
            <a:prstGeom prst="leftRightArrow">
              <a:avLst>
                <a:gd name="adj1" fmla="val 50000"/>
                <a:gd name="adj2" fmla="val 92286"/>
              </a:avLst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7077" name="Text Box 37"/>
            <p:cNvSpPr txBox="1">
              <a:spLocks noChangeArrowheads="1"/>
            </p:cNvSpPr>
            <p:nvPr/>
          </p:nvSpPr>
          <p:spPr bwMode="auto">
            <a:xfrm>
              <a:off x="2066" y="3573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8" name="Text Box 38"/>
            <p:cNvSpPr txBox="1">
              <a:spLocks noChangeArrowheads="1"/>
            </p:cNvSpPr>
            <p:nvPr/>
          </p:nvSpPr>
          <p:spPr bwMode="auto">
            <a:xfrm>
              <a:off x="1632" y="2793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9" name="Freeform 39"/>
            <p:cNvSpPr/>
            <p:nvPr/>
          </p:nvSpPr>
          <p:spPr bwMode="auto">
            <a:xfrm>
              <a:off x="3291" y="2544"/>
              <a:ext cx="163" cy="462"/>
            </a:xfrm>
            <a:custGeom>
              <a:avLst/>
              <a:gdLst>
                <a:gd name="T0" fmla="*/ 81 w 163"/>
                <a:gd name="T1" fmla="*/ 0 h 396"/>
                <a:gd name="T2" fmla="*/ 163 w 163"/>
                <a:gd name="T3" fmla="*/ 677 h 396"/>
                <a:gd name="T4" fmla="*/ 120 w 163"/>
                <a:gd name="T5" fmla="*/ 677 h 396"/>
                <a:gd name="T6" fmla="*/ 120 w 163"/>
                <a:gd name="T7" fmla="*/ 2753 h 396"/>
                <a:gd name="T8" fmla="*/ 163 w 163"/>
                <a:gd name="T9" fmla="*/ 2753 h 396"/>
                <a:gd name="T10" fmla="*/ 81 w 163"/>
                <a:gd name="T11" fmla="*/ 3428 h 396"/>
                <a:gd name="T12" fmla="*/ 0 w 163"/>
                <a:gd name="T13" fmla="*/ 2753 h 396"/>
                <a:gd name="T14" fmla="*/ 43 w 163"/>
                <a:gd name="T15" fmla="*/ 2753 h 396"/>
                <a:gd name="T16" fmla="*/ 43 w 163"/>
                <a:gd name="T17" fmla="*/ 677 h 396"/>
                <a:gd name="T18" fmla="*/ 0 w 163"/>
                <a:gd name="T19" fmla="*/ 677 h 396"/>
                <a:gd name="T20" fmla="*/ 81 w 163"/>
                <a:gd name="T21" fmla="*/ 0 h 3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3"/>
                <a:gd name="T34" fmla="*/ 0 h 396"/>
                <a:gd name="T35" fmla="*/ 163 w 163"/>
                <a:gd name="T36" fmla="*/ 396 h 3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3" h="396">
                  <a:moveTo>
                    <a:pt x="81" y="0"/>
                  </a:moveTo>
                  <a:lnTo>
                    <a:pt x="163" y="78"/>
                  </a:lnTo>
                  <a:lnTo>
                    <a:pt x="120" y="78"/>
                  </a:lnTo>
                  <a:lnTo>
                    <a:pt x="120" y="318"/>
                  </a:lnTo>
                  <a:lnTo>
                    <a:pt x="163" y="318"/>
                  </a:lnTo>
                  <a:lnTo>
                    <a:pt x="81" y="396"/>
                  </a:lnTo>
                  <a:lnTo>
                    <a:pt x="0" y="318"/>
                  </a:lnTo>
                  <a:lnTo>
                    <a:pt x="43" y="318"/>
                  </a:lnTo>
                  <a:lnTo>
                    <a:pt x="43" y="78"/>
                  </a:lnTo>
                  <a:lnTo>
                    <a:pt x="0" y="78"/>
                  </a:lnTo>
                  <a:lnTo>
                    <a:pt x="8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0" name="Freeform 40"/>
            <p:cNvSpPr/>
            <p:nvPr/>
          </p:nvSpPr>
          <p:spPr bwMode="auto">
            <a:xfrm>
              <a:off x="4526" y="2544"/>
              <a:ext cx="163" cy="462"/>
            </a:xfrm>
            <a:custGeom>
              <a:avLst/>
              <a:gdLst>
                <a:gd name="T0" fmla="*/ 81 w 163"/>
                <a:gd name="T1" fmla="*/ 0 h 396"/>
                <a:gd name="T2" fmla="*/ 163 w 163"/>
                <a:gd name="T3" fmla="*/ 677 h 396"/>
                <a:gd name="T4" fmla="*/ 120 w 163"/>
                <a:gd name="T5" fmla="*/ 677 h 396"/>
                <a:gd name="T6" fmla="*/ 120 w 163"/>
                <a:gd name="T7" fmla="*/ 2753 h 396"/>
                <a:gd name="T8" fmla="*/ 163 w 163"/>
                <a:gd name="T9" fmla="*/ 2753 h 396"/>
                <a:gd name="T10" fmla="*/ 81 w 163"/>
                <a:gd name="T11" fmla="*/ 3428 h 396"/>
                <a:gd name="T12" fmla="*/ 0 w 163"/>
                <a:gd name="T13" fmla="*/ 2753 h 396"/>
                <a:gd name="T14" fmla="*/ 43 w 163"/>
                <a:gd name="T15" fmla="*/ 2753 h 396"/>
                <a:gd name="T16" fmla="*/ 43 w 163"/>
                <a:gd name="T17" fmla="*/ 677 h 396"/>
                <a:gd name="T18" fmla="*/ 0 w 163"/>
                <a:gd name="T19" fmla="*/ 677 h 396"/>
                <a:gd name="T20" fmla="*/ 81 w 163"/>
                <a:gd name="T21" fmla="*/ 0 h 3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3"/>
                <a:gd name="T34" fmla="*/ 0 h 396"/>
                <a:gd name="T35" fmla="*/ 163 w 163"/>
                <a:gd name="T36" fmla="*/ 396 h 3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3" h="396">
                  <a:moveTo>
                    <a:pt x="81" y="0"/>
                  </a:moveTo>
                  <a:lnTo>
                    <a:pt x="163" y="78"/>
                  </a:lnTo>
                  <a:lnTo>
                    <a:pt x="120" y="78"/>
                  </a:lnTo>
                  <a:lnTo>
                    <a:pt x="120" y="318"/>
                  </a:lnTo>
                  <a:lnTo>
                    <a:pt x="163" y="318"/>
                  </a:lnTo>
                  <a:lnTo>
                    <a:pt x="81" y="396"/>
                  </a:lnTo>
                  <a:lnTo>
                    <a:pt x="0" y="318"/>
                  </a:lnTo>
                  <a:lnTo>
                    <a:pt x="43" y="318"/>
                  </a:lnTo>
                  <a:lnTo>
                    <a:pt x="43" y="78"/>
                  </a:lnTo>
                  <a:lnTo>
                    <a:pt x="0" y="78"/>
                  </a:lnTo>
                  <a:lnTo>
                    <a:pt x="81" y="0"/>
                  </a:lnTo>
                  <a:close/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7081" name="Group 45"/>
            <p:cNvGrpSpPr/>
            <p:nvPr/>
          </p:nvGrpSpPr>
          <p:grpSpPr bwMode="auto">
            <a:xfrm>
              <a:off x="1130" y="3642"/>
              <a:ext cx="846" cy="303"/>
              <a:chOff x="3151" y="3149"/>
              <a:chExt cx="846" cy="303"/>
            </a:xfrm>
          </p:grpSpPr>
          <p:sp>
            <p:nvSpPr>
              <p:cNvPr id="87083" name="Rectangle 46"/>
              <p:cNvSpPr>
                <a:spLocks noChangeArrowheads="1"/>
              </p:cNvSpPr>
              <p:nvPr/>
            </p:nvSpPr>
            <p:spPr bwMode="auto">
              <a:xfrm>
                <a:off x="3162" y="3185"/>
                <a:ext cx="72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 Modem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084" name="Rectangle 47"/>
              <p:cNvSpPr>
                <a:spLocks noChangeArrowheads="1"/>
              </p:cNvSpPr>
              <p:nvPr/>
            </p:nvSpPr>
            <p:spPr bwMode="auto">
              <a:xfrm>
                <a:off x="3151" y="3149"/>
                <a:ext cx="846" cy="303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87082" name="Line 52"/>
            <p:cNvSpPr>
              <a:spLocks noChangeShapeType="1"/>
            </p:cNvSpPr>
            <p:nvPr/>
          </p:nvSpPr>
          <p:spPr bwMode="auto">
            <a:xfrm>
              <a:off x="1629" y="2296"/>
              <a:ext cx="10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669925" y="381000"/>
            <a:ext cx="3384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3600">
                <a:latin typeface="Times New Roman" panose="02020603050405020304" pitchFamily="18" charset="0"/>
              </a:rPr>
              <a:t>3. PCI </a:t>
            </a:r>
            <a:r>
              <a:rPr lang="zh-CN" altLang="en-US" sz="3600">
                <a:latin typeface="Times New Roman" panose="02020603050405020304" pitchFamily="18" charset="0"/>
              </a:rPr>
              <a:t>总线结构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76169" name="Rectangle 41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3.4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8068" name="AutoShape 4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53"/>
          <p:cNvGrpSpPr/>
          <p:nvPr/>
        </p:nvGrpSpPr>
        <p:grpSpPr bwMode="auto">
          <a:xfrm>
            <a:off x="152400" y="1447800"/>
            <a:ext cx="8789988" cy="4770438"/>
            <a:chOff x="96" y="912"/>
            <a:chExt cx="5537" cy="3005"/>
          </a:xfrm>
        </p:grpSpPr>
        <p:grpSp>
          <p:nvGrpSpPr>
            <p:cNvPr id="88070" name="Group 52"/>
            <p:cNvGrpSpPr/>
            <p:nvPr/>
          </p:nvGrpSpPr>
          <p:grpSpPr bwMode="auto">
            <a:xfrm>
              <a:off x="96" y="912"/>
              <a:ext cx="5537" cy="3005"/>
              <a:chOff x="96" y="912"/>
              <a:chExt cx="5537" cy="3005"/>
            </a:xfrm>
          </p:grpSpPr>
          <p:sp>
            <p:nvSpPr>
              <p:cNvPr id="88074" name="Rectangle 4"/>
              <p:cNvSpPr>
                <a:spLocks noChangeArrowheads="1"/>
              </p:cNvSpPr>
              <p:nvPr/>
            </p:nvSpPr>
            <p:spPr bwMode="auto">
              <a:xfrm>
                <a:off x="96" y="1121"/>
                <a:ext cx="736" cy="362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1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CPU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75" name="Rectangle 5"/>
              <p:cNvSpPr>
                <a:spLocks noChangeArrowheads="1"/>
              </p:cNvSpPr>
              <p:nvPr/>
            </p:nvSpPr>
            <p:spPr bwMode="auto">
              <a:xfrm>
                <a:off x="2288" y="2905"/>
                <a:ext cx="736" cy="33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多媒体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76" name="Rectangle 6"/>
              <p:cNvSpPr>
                <a:spLocks noChangeArrowheads="1"/>
              </p:cNvSpPr>
              <p:nvPr/>
            </p:nvSpPr>
            <p:spPr bwMode="auto">
              <a:xfrm>
                <a:off x="2419" y="1729"/>
                <a:ext cx="832" cy="340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PCI </a:t>
                </a:r>
                <a:r>
                  <a:rPr lang="zh-CN" altLang="en-US" sz="2800">
                    <a:latin typeface="Times New Roman" panose="02020603050405020304" pitchFamily="18" charset="0"/>
                  </a:rPr>
                  <a:t>桥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77" name="Freeform 7"/>
              <p:cNvSpPr/>
              <p:nvPr/>
            </p:nvSpPr>
            <p:spPr bwMode="auto">
              <a:xfrm>
                <a:off x="4589" y="2472"/>
                <a:ext cx="163" cy="427"/>
              </a:xfrm>
              <a:custGeom>
                <a:avLst/>
                <a:gdLst>
                  <a:gd name="T0" fmla="*/ 82 w 163"/>
                  <a:gd name="T1" fmla="*/ 0 h 396"/>
                  <a:gd name="T2" fmla="*/ 163 w 163"/>
                  <a:gd name="T3" fmla="*/ 224 h 396"/>
                  <a:gd name="T4" fmla="*/ 121 w 163"/>
                  <a:gd name="T5" fmla="*/ 224 h 396"/>
                  <a:gd name="T6" fmla="*/ 121 w 163"/>
                  <a:gd name="T7" fmla="*/ 912 h 396"/>
                  <a:gd name="T8" fmla="*/ 163 w 163"/>
                  <a:gd name="T9" fmla="*/ 912 h 396"/>
                  <a:gd name="T10" fmla="*/ 82 w 163"/>
                  <a:gd name="T11" fmla="*/ 1139 h 396"/>
                  <a:gd name="T12" fmla="*/ 0 w 163"/>
                  <a:gd name="T13" fmla="*/ 912 h 396"/>
                  <a:gd name="T14" fmla="*/ 43 w 163"/>
                  <a:gd name="T15" fmla="*/ 912 h 396"/>
                  <a:gd name="T16" fmla="*/ 43 w 163"/>
                  <a:gd name="T17" fmla="*/ 224 h 396"/>
                  <a:gd name="T18" fmla="*/ 0 w 163"/>
                  <a:gd name="T19" fmla="*/ 224 h 396"/>
                  <a:gd name="T20" fmla="*/ 82 w 163"/>
                  <a:gd name="T21" fmla="*/ 0 h 3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63"/>
                  <a:gd name="T34" fmla="*/ 0 h 396"/>
                  <a:gd name="T35" fmla="*/ 163 w 163"/>
                  <a:gd name="T36" fmla="*/ 396 h 3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63" h="396">
                    <a:moveTo>
                      <a:pt x="82" y="0"/>
                    </a:moveTo>
                    <a:lnTo>
                      <a:pt x="163" y="78"/>
                    </a:lnTo>
                    <a:lnTo>
                      <a:pt x="121" y="78"/>
                    </a:lnTo>
                    <a:lnTo>
                      <a:pt x="121" y="318"/>
                    </a:lnTo>
                    <a:lnTo>
                      <a:pt x="163" y="318"/>
                    </a:lnTo>
                    <a:lnTo>
                      <a:pt x="82" y="396"/>
                    </a:lnTo>
                    <a:lnTo>
                      <a:pt x="0" y="318"/>
                    </a:lnTo>
                    <a:lnTo>
                      <a:pt x="43" y="318"/>
                    </a:lnTo>
                    <a:lnTo>
                      <a:pt x="43" y="78"/>
                    </a:lnTo>
                    <a:lnTo>
                      <a:pt x="0" y="78"/>
                    </a:lnTo>
                    <a:lnTo>
                      <a:pt x="82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78" name="Freeform 8"/>
              <p:cNvSpPr/>
              <p:nvPr/>
            </p:nvSpPr>
            <p:spPr bwMode="auto">
              <a:xfrm>
                <a:off x="2621" y="2472"/>
                <a:ext cx="163" cy="427"/>
              </a:xfrm>
              <a:custGeom>
                <a:avLst/>
                <a:gdLst>
                  <a:gd name="T0" fmla="*/ 81 w 163"/>
                  <a:gd name="T1" fmla="*/ 0 h 396"/>
                  <a:gd name="T2" fmla="*/ 163 w 163"/>
                  <a:gd name="T3" fmla="*/ 224 h 396"/>
                  <a:gd name="T4" fmla="*/ 120 w 163"/>
                  <a:gd name="T5" fmla="*/ 224 h 396"/>
                  <a:gd name="T6" fmla="*/ 120 w 163"/>
                  <a:gd name="T7" fmla="*/ 912 h 396"/>
                  <a:gd name="T8" fmla="*/ 163 w 163"/>
                  <a:gd name="T9" fmla="*/ 912 h 396"/>
                  <a:gd name="T10" fmla="*/ 81 w 163"/>
                  <a:gd name="T11" fmla="*/ 1139 h 396"/>
                  <a:gd name="T12" fmla="*/ 0 w 163"/>
                  <a:gd name="T13" fmla="*/ 912 h 396"/>
                  <a:gd name="T14" fmla="*/ 43 w 163"/>
                  <a:gd name="T15" fmla="*/ 912 h 396"/>
                  <a:gd name="T16" fmla="*/ 43 w 163"/>
                  <a:gd name="T17" fmla="*/ 224 h 396"/>
                  <a:gd name="T18" fmla="*/ 0 w 163"/>
                  <a:gd name="T19" fmla="*/ 224 h 396"/>
                  <a:gd name="T20" fmla="*/ 81 w 163"/>
                  <a:gd name="T21" fmla="*/ 0 h 3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63"/>
                  <a:gd name="T34" fmla="*/ 0 h 396"/>
                  <a:gd name="T35" fmla="*/ 163 w 163"/>
                  <a:gd name="T36" fmla="*/ 396 h 3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63" h="396">
                    <a:moveTo>
                      <a:pt x="81" y="0"/>
                    </a:moveTo>
                    <a:lnTo>
                      <a:pt x="163" y="78"/>
                    </a:lnTo>
                    <a:lnTo>
                      <a:pt x="120" y="78"/>
                    </a:lnTo>
                    <a:lnTo>
                      <a:pt x="120" y="318"/>
                    </a:lnTo>
                    <a:lnTo>
                      <a:pt x="163" y="318"/>
                    </a:lnTo>
                    <a:lnTo>
                      <a:pt x="81" y="396"/>
                    </a:lnTo>
                    <a:lnTo>
                      <a:pt x="0" y="318"/>
                    </a:lnTo>
                    <a:lnTo>
                      <a:pt x="43" y="318"/>
                    </a:lnTo>
                    <a:lnTo>
                      <a:pt x="43" y="78"/>
                    </a:lnTo>
                    <a:lnTo>
                      <a:pt x="0" y="78"/>
                    </a:lnTo>
                    <a:lnTo>
                      <a:pt x="81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79" name="Freeform 9"/>
              <p:cNvSpPr/>
              <p:nvPr/>
            </p:nvSpPr>
            <p:spPr bwMode="auto">
              <a:xfrm>
                <a:off x="3600" y="2472"/>
                <a:ext cx="158" cy="427"/>
              </a:xfrm>
              <a:custGeom>
                <a:avLst/>
                <a:gdLst>
                  <a:gd name="T0" fmla="*/ 81 w 158"/>
                  <a:gd name="T1" fmla="*/ 0 h 396"/>
                  <a:gd name="T2" fmla="*/ 158 w 158"/>
                  <a:gd name="T3" fmla="*/ 224 h 396"/>
                  <a:gd name="T4" fmla="*/ 120 w 158"/>
                  <a:gd name="T5" fmla="*/ 224 h 396"/>
                  <a:gd name="T6" fmla="*/ 120 w 158"/>
                  <a:gd name="T7" fmla="*/ 912 h 396"/>
                  <a:gd name="T8" fmla="*/ 158 w 158"/>
                  <a:gd name="T9" fmla="*/ 912 h 396"/>
                  <a:gd name="T10" fmla="*/ 81 w 158"/>
                  <a:gd name="T11" fmla="*/ 1139 h 396"/>
                  <a:gd name="T12" fmla="*/ 0 w 158"/>
                  <a:gd name="T13" fmla="*/ 912 h 396"/>
                  <a:gd name="T14" fmla="*/ 38 w 158"/>
                  <a:gd name="T15" fmla="*/ 912 h 396"/>
                  <a:gd name="T16" fmla="*/ 38 w 158"/>
                  <a:gd name="T17" fmla="*/ 224 h 396"/>
                  <a:gd name="T18" fmla="*/ 0 w 158"/>
                  <a:gd name="T19" fmla="*/ 224 h 396"/>
                  <a:gd name="T20" fmla="*/ 81 w 158"/>
                  <a:gd name="T21" fmla="*/ 0 h 3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58"/>
                  <a:gd name="T34" fmla="*/ 0 h 396"/>
                  <a:gd name="T35" fmla="*/ 158 w 158"/>
                  <a:gd name="T36" fmla="*/ 396 h 3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58" h="396">
                    <a:moveTo>
                      <a:pt x="81" y="0"/>
                    </a:moveTo>
                    <a:lnTo>
                      <a:pt x="158" y="78"/>
                    </a:lnTo>
                    <a:lnTo>
                      <a:pt x="120" y="78"/>
                    </a:lnTo>
                    <a:lnTo>
                      <a:pt x="120" y="318"/>
                    </a:lnTo>
                    <a:lnTo>
                      <a:pt x="158" y="318"/>
                    </a:lnTo>
                    <a:lnTo>
                      <a:pt x="81" y="396"/>
                    </a:lnTo>
                    <a:lnTo>
                      <a:pt x="0" y="318"/>
                    </a:lnTo>
                    <a:lnTo>
                      <a:pt x="38" y="318"/>
                    </a:lnTo>
                    <a:lnTo>
                      <a:pt x="38" y="78"/>
                    </a:lnTo>
                    <a:lnTo>
                      <a:pt x="0" y="78"/>
                    </a:lnTo>
                    <a:lnTo>
                      <a:pt x="81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80" name="Freeform 10"/>
              <p:cNvSpPr/>
              <p:nvPr/>
            </p:nvSpPr>
            <p:spPr bwMode="auto">
              <a:xfrm>
                <a:off x="513" y="3132"/>
                <a:ext cx="159" cy="442"/>
              </a:xfrm>
              <a:custGeom>
                <a:avLst/>
                <a:gdLst>
                  <a:gd name="T0" fmla="*/ 82 w 159"/>
                  <a:gd name="T1" fmla="*/ 0 h 411"/>
                  <a:gd name="T2" fmla="*/ 159 w 159"/>
                  <a:gd name="T3" fmla="*/ 228 h 411"/>
                  <a:gd name="T4" fmla="*/ 121 w 159"/>
                  <a:gd name="T5" fmla="*/ 228 h 411"/>
                  <a:gd name="T6" fmla="*/ 121 w 159"/>
                  <a:gd name="T7" fmla="*/ 910 h 411"/>
                  <a:gd name="T8" fmla="*/ 159 w 159"/>
                  <a:gd name="T9" fmla="*/ 910 h 411"/>
                  <a:gd name="T10" fmla="*/ 82 w 159"/>
                  <a:gd name="T11" fmla="*/ 1139 h 411"/>
                  <a:gd name="T12" fmla="*/ 0 w 159"/>
                  <a:gd name="T13" fmla="*/ 910 h 411"/>
                  <a:gd name="T14" fmla="*/ 39 w 159"/>
                  <a:gd name="T15" fmla="*/ 910 h 411"/>
                  <a:gd name="T16" fmla="*/ 39 w 159"/>
                  <a:gd name="T17" fmla="*/ 228 h 411"/>
                  <a:gd name="T18" fmla="*/ 0 w 159"/>
                  <a:gd name="T19" fmla="*/ 228 h 411"/>
                  <a:gd name="T20" fmla="*/ 82 w 159"/>
                  <a:gd name="T21" fmla="*/ 0 h 4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59"/>
                  <a:gd name="T34" fmla="*/ 0 h 411"/>
                  <a:gd name="T35" fmla="*/ 159 w 159"/>
                  <a:gd name="T36" fmla="*/ 411 h 41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59" h="411">
                    <a:moveTo>
                      <a:pt x="82" y="0"/>
                    </a:moveTo>
                    <a:lnTo>
                      <a:pt x="159" y="82"/>
                    </a:lnTo>
                    <a:lnTo>
                      <a:pt x="121" y="82"/>
                    </a:lnTo>
                    <a:lnTo>
                      <a:pt x="121" y="329"/>
                    </a:lnTo>
                    <a:lnTo>
                      <a:pt x="159" y="329"/>
                    </a:lnTo>
                    <a:lnTo>
                      <a:pt x="82" y="411"/>
                    </a:lnTo>
                    <a:lnTo>
                      <a:pt x="0" y="329"/>
                    </a:lnTo>
                    <a:lnTo>
                      <a:pt x="39" y="329"/>
                    </a:lnTo>
                    <a:lnTo>
                      <a:pt x="39" y="82"/>
                    </a:lnTo>
                    <a:lnTo>
                      <a:pt x="0" y="82"/>
                    </a:lnTo>
                    <a:lnTo>
                      <a:pt x="82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81" name="Freeform 11"/>
              <p:cNvSpPr/>
              <p:nvPr/>
            </p:nvSpPr>
            <p:spPr bwMode="auto">
              <a:xfrm>
                <a:off x="1761" y="3132"/>
                <a:ext cx="159" cy="442"/>
              </a:xfrm>
              <a:custGeom>
                <a:avLst/>
                <a:gdLst>
                  <a:gd name="T0" fmla="*/ 77 w 159"/>
                  <a:gd name="T1" fmla="*/ 0 h 411"/>
                  <a:gd name="T2" fmla="*/ 159 w 159"/>
                  <a:gd name="T3" fmla="*/ 228 h 411"/>
                  <a:gd name="T4" fmla="*/ 120 w 159"/>
                  <a:gd name="T5" fmla="*/ 228 h 411"/>
                  <a:gd name="T6" fmla="*/ 120 w 159"/>
                  <a:gd name="T7" fmla="*/ 910 h 411"/>
                  <a:gd name="T8" fmla="*/ 159 w 159"/>
                  <a:gd name="T9" fmla="*/ 910 h 411"/>
                  <a:gd name="T10" fmla="*/ 77 w 159"/>
                  <a:gd name="T11" fmla="*/ 1139 h 411"/>
                  <a:gd name="T12" fmla="*/ 0 w 159"/>
                  <a:gd name="T13" fmla="*/ 910 h 411"/>
                  <a:gd name="T14" fmla="*/ 39 w 159"/>
                  <a:gd name="T15" fmla="*/ 910 h 411"/>
                  <a:gd name="T16" fmla="*/ 39 w 159"/>
                  <a:gd name="T17" fmla="*/ 228 h 411"/>
                  <a:gd name="T18" fmla="*/ 0 w 159"/>
                  <a:gd name="T19" fmla="*/ 228 h 411"/>
                  <a:gd name="T20" fmla="*/ 77 w 159"/>
                  <a:gd name="T21" fmla="*/ 0 h 4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59"/>
                  <a:gd name="T34" fmla="*/ 0 h 411"/>
                  <a:gd name="T35" fmla="*/ 159 w 159"/>
                  <a:gd name="T36" fmla="*/ 411 h 41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59" h="411">
                    <a:moveTo>
                      <a:pt x="77" y="0"/>
                    </a:moveTo>
                    <a:lnTo>
                      <a:pt x="159" y="82"/>
                    </a:lnTo>
                    <a:lnTo>
                      <a:pt x="120" y="82"/>
                    </a:lnTo>
                    <a:lnTo>
                      <a:pt x="120" y="329"/>
                    </a:lnTo>
                    <a:lnTo>
                      <a:pt x="159" y="329"/>
                    </a:lnTo>
                    <a:lnTo>
                      <a:pt x="77" y="411"/>
                    </a:lnTo>
                    <a:lnTo>
                      <a:pt x="0" y="329"/>
                    </a:lnTo>
                    <a:lnTo>
                      <a:pt x="39" y="329"/>
                    </a:lnTo>
                    <a:lnTo>
                      <a:pt x="39" y="82"/>
                    </a:lnTo>
                    <a:lnTo>
                      <a:pt x="0" y="82"/>
                    </a:lnTo>
                    <a:lnTo>
                      <a:pt x="77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82" name="Freeform 12"/>
              <p:cNvSpPr/>
              <p:nvPr/>
            </p:nvSpPr>
            <p:spPr bwMode="auto">
              <a:xfrm>
                <a:off x="513" y="2705"/>
                <a:ext cx="159" cy="314"/>
              </a:xfrm>
              <a:custGeom>
                <a:avLst/>
                <a:gdLst>
                  <a:gd name="T0" fmla="*/ 78 w 159"/>
                  <a:gd name="T1" fmla="*/ 0 h 292"/>
                  <a:gd name="T2" fmla="*/ 159 w 159"/>
                  <a:gd name="T3" fmla="*/ 168 h 292"/>
                  <a:gd name="T4" fmla="*/ 120 w 159"/>
                  <a:gd name="T5" fmla="*/ 168 h 292"/>
                  <a:gd name="T6" fmla="*/ 120 w 159"/>
                  <a:gd name="T7" fmla="*/ 648 h 292"/>
                  <a:gd name="T8" fmla="*/ 159 w 159"/>
                  <a:gd name="T9" fmla="*/ 648 h 292"/>
                  <a:gd name="T10" fmla="*/ 78 w 159"/>
                  <a:gd name="T11" fmla="*/ 807 h 292"/>
                  <a:gd name="T12" fmla="*/ 0 w 159"/>
                  <a:gd name="T13" fmla="*/ 648 h 292"/>
                  <a:gd name="T14" fmla="*/ 39 w 159"/>
                  <a:gd name="T15" fmla="*/ 648 h 292"/>
                  <a:gd name="T16" fmla="*/ 39 w 159"/>
                  <a:gd name="T17" fmla="*/ 168 h 292"/>
                  <a:gd name="T18" fmla="*/ 0 w 159"/>
                  <a:gd name="T19" fmla="*/ 168 h 292"/>
                  <a:gd name="T20" fmla="*/ 78 w 159"/>
                  <a:gd name="T21" fmla="*/ 0 h 29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59"/>
                  <a:gd name="T34" fmla="*/ 0 h 292"/>
                  <a:gd name="T35" fmla="*/ 159 w 159"/>
                  <a:gd name="T36" fmla="*/ 292 h 29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59" h="292">
                    <a:moveTo>
                      <a:pt x="78" y="0"/>
                    </a:moveTo>
                    <a:lnTo>
                      <a:pt x="159" y="60"/>
                    </a:lnTo>
                    <a:lnTo>
                      <a:pt x="120" y="60"/>
                    </a:lnTo>
                    <a:lnTo>
                      <a:pt x="120" y="235"/>
                    </a:lnTo>
                    <a:lnTo>
                      <a:pt x="159" y="235"/>
                    </a:lnTo>
                    <a:lnTo>
                      <a:pt x="78" y="292"/>
                    </a:lnTo>
                    <a:lnTo>
                      <a:pt x="0" y="235"/>
                    </a:lnTo>
                    <a:lnTo>
                      <a:pt x="39" y="235"/>
                    </a:lnTo>
                    <a:lnTo>
                      <a:pt x="39" y="60"/>
                    </a:lnTo>
                    <a:lnTo>
                      <a:pt x="0" y="60"/>
                    </a:lnTo>
                    <a:lnTo>
                      <a:pt x="78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folHlink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83" name="Rectangle 13"/>
              <p:cNvSpPr>
                <a:spLocks noChangeArrowheads="1"/>
              </p:cNvSpPr>
              <p:nvPr/>
            </p:nvSpPr>
            <p:spPr bwMode="auto">
              <a:xfrm>
                <a:off x="3097" y="2905"/>
                <a:ext cx="1127" cy="33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高速局域网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84" name="Rectangle 14"/>
              <p:cNvSpPr>
                <a:spLocks noChangeArrowheads="1"/>
              </p:cNvSpPr>
              <p:nvPr/>
            </p:nvSpPr>
            <p:spPr bwMode="auto">
              <a:xfrm>
                <a:off x="4346" y="2905"/>
                <a:ext cx="1174" cy="33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40400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高性能图形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85" name="Rectangle 15"/>
              <p:cNvSpPr>
                <a:spLocks noChangeArrowheads="1"/>
              </p:cNvSpPr>
              <p:nvPr/>
            </p:nvSpPr>
            <p:spPr bwMode="auto">
              <a:xfrm>
                <a:off x="1142" y="3579"/>
                <a:ext cx="1114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86" name="Rectangle 16"/>
              <p:cNvSpPr>
                <a:spLocks noChangeArrowheads="1"/>
              </p:cNvSpPr>
              <p:nvPr/>
            </p:nvSpPr>
            <p:spPr bwMode="auto">
              <a:xfrm>
                <a:off x="96" y="3579"/>
                <a:ext cx="971" cy="338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9600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图文传真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8087" name="Group 17"/>
              <p:cNvGrpSpPr/>
              <p:nvPr/>
            </p:nvGrpSpPr>
            <p:grpSpPr bwMode="auto">
              <a:xfrm>
                <a:off x="2448" y="3735"/>
                <a:ext cx="170" cy="36"/>
                <a:chOff x="2216" y="4009"/>
                <a:chExt cx="170" cy="34"/>
              </a:xfrm>
            </p:grpSpPr>
            <p:sp>
              <p:nvSpPr>
                <p:cNvPr id="88108" name="Freeform 18"/>
                <p:cNvSpPr/>
                <p:nvPr/>
              </p:nvSpPr>
              <p:spPr bwMode="auto">
                <a:xfrm>
                  <a:off x="2216" y="4009"/>
                  <a:ext cx="31" cy="34"/>
                </a:xfrm>
                <a:custGeom>
                  <a:avLst/>
                  <a:gdLst>
                    <a:gd name="T0" fmla="*/ 15 w 31"/>
                    <a:gd name="T1" fmla="*/ 0 h 34"/>
                    <a:gd name="T2" fmla="*/ 4 w 31"/>
                    <a:gd name="T3" fmla="*/ 4 h 34"/>
                    <a:gd name="T4" fmla="*/ 0 w 31"/>
                    <a:gd name="T5" fmla="*/ 15 h 34"/>
                    <a:gd name="T6" fmla="*/ 4 w 31"/>
                    <a:gd name="T7" fmla="*/ 26 h 34"/>
                    <a:gd name="T8" fmla="*/ 15 w 31"/>
                    <a:gd name="T9" fmla="*/ 34 h 34"/>
                    <a:gd name="T10" fmla="*/ 15 w 31"/>
                    <a:gd name="T11" fmla="*/ 34 h 34"/>
                    <a:gd name="T12" fmla="*/ 27 w 31"/>
                    <a:gd name="T13" fmla="*/ 26 h 34"/>
                    <a:gd name="T14" fmla="*/ 31 w 31"/>
                    <a:gd name="T15" fmla="*/ 15 h 34"/>
                    <a:gd name="T16" fmla="*/ 27 w 31"/>
                    <a:gd name="T17" fmla="*/ 4 h 34"/>
                    <a:gd name="T18" fmla="*/ 15 w 31"/>
                    <a:gd name="T19" fmla="*/ 0 h 3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1"/>
                    <a:gd name="T31" fmla="*/ 0 h 34"/>
                    <a:gd name="T32" fmla="*/ 31 w 31"/>
                    <a:gd name="T33" fmla="*/ 34 h 3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1" h="34">
                      <a:moveTo>
                        <a:pt x="15" y="0"/>
                      </a:moveTo>
                      <a:lnTo>
                        <a:pt x="4" y="4"/>
                      </a:lnTo>
                      <a:lnTo>
                        <a:pt x="0" y="15"/>
                      </a:lnTo>
                      <a:lnTo>
                        <a:pt x="4" y="26"/>
                      </a:lnTo>
                      <a:lnTo>
                        <a:pt x="15" y="34"/>
                      </a:lnTo>
                      <a:lnTo>
                        <a:pt x="27" y="26"/>
                      </a:lnTo>
                      <a:lnTo>
                        <a:pt x="31" y="15"/>
                      </a:lnTo>
                      <a:lnTo>
                        <a:pt x="27" y="4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solidFill>
                    <a:schemeClr val="folHlink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109" name="Freeform 19"/>
                <p:cNvSpPr/>
                <p:nvPr/>
              </p:nvSpPr>
              <p:spPr bwMode="auto">
                <a:xfrm>
                  <a:off x="2281" y="4009"/>
                  <a:ext cx="35" cy="34"/>
                </a:xfrm>
                <a:custGeom>
                  <a:avLst/>
                  <a:gdLst>
                    <a:gd name="T0" fmla="*/ 20 w 35"/>
                    <a:gd name="T1" fmla="*/ 0 h 34"/>
                    <a:gd name="T2" fmla="*/ 8 w 35"/>
                    <a:gd name="T3" fmla="*/ 4 h 34"/>
                    <a:gd name="T4" fmla="*/ 0 w 35"/>
                    <a:gd name="T5" fmla="*/ 15 h 34"/>
                    <a:gd name="T6" fmla="*/ 8 w 35"/>
                    <a:gd name="T7" fmla="*/ 26 h 34"/>
                    <a:gd name="T8" fmla="*/ 20 w 35"/>
                    <a:gd name="T9" fmla="*/ 34 h 34"/>
                    <a:gd name="T10" fmla="*/ 20 w 35"/>
                    <a:gd name="T11" fmla="*/ 34 h 34"/>
                    <a:gd name="T12" fmla="*/ 31 w 35"/>
                    <a:gd name="T13" fmla="*/ 26 h 34"/>
                    <a:gd name="T14" fmla="*/ 35 w 35"/>
                    <a:gd name="T15" fmla="*/ 15 h 34"/>
                    <a:gd name="T16" fmla="*/ 31 w 35"/>
                    <a:gd name="T17" fmla="*/ 4 h 34"/>
                    <a:gd name="T18" fmla="*/ 20 w 35"/>
                    <a:gd name="T19" fmla="*/ 0 h 3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5"/>
                    <a:gd name="T31" fmla="*/ 0 h 34"/>
                    <a:gd name="T32" fmla="*/ 35 w 35"/>
                    <a:gd name="T33" fmla="*/ 34 h 3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5" h="34">
                      <a:moveTo>
                        <a:pt x="20" y="0"/>
                      </a:moveTo>
                      <a:lnTo>
                        <a:pt x="8" y="4"/>
                      </a:lnTo>
                      <a:lnTo>
                        <a:pt x="0" y="15"/>
                      </a:lnTo>
                      <a:lnTo>
                        <a:pt x="8" y="26"/>
                      </a:lnTo>
                      <a:lnTo>
                        <a:pt x="20" y="34"/>
                      </a:lnTo>
                      <a:lnTo>
                        <a:pt x="31" y="26"/>
                      </a:lnTo>
                      <a:lnTo>
                        <a:pt x="35" y="15"/>
                      </a:lnTo>
                      <a:lnTo>
                        <a:pt x="31" y="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solidFill>
                    <a:schemeClr val="folHlink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110" name="Freeform 20"/>
                <p:cNvSpPr/>
                <p:nvPr/>
              </p:nvSpPr>
              <p:spPr bwMode="auto">
                <a:xfrm>
                  <a:off x="2351" y="4009"/>
                  <a:ext cx="35" cy="34"/>
                </a:xfrm>
                <a:custGeom>
                  <a:avLst/>
                  <a:gdLst>
                    <a:gd name="T0" fmla="*/ 20 w 35"/>
                    <a:gd name="T1" fmla="*/ 0 h 34"/>
                    <a:gd name="T2" fmla="*/ 8 w 35"/>
                    <a:gd name="T3" fmla="*/ 4 h 34"/>
                    <a:gd name="T4" fmla="*/ 0 w 35"/>
                    <a:gd name="T5" fmla="*/ 15 h 34"/>
                    <a:gd name="T6" fmla="*/ 8 w 35"/>
                    <a:gd name="T7" fmla="*/ 26 h 34"/>
                    <a:gd name="T8" fmla="*/ 20 w 35"/>
                    <a:gd name="T9" fmla="*/ 34 h 34"/>
                    <a:gd name="T10" fmla="*/ 20 w 35"/>
                    <a:gd name="T11" fmla="*/ 34 h 34"/>
                    <a:gd name="T12" fmla="*/ 31 w 35"/>
                    <a:gd name="T13" fmla="*/ 26 h 34"/>
                    <a:gd name="T14" fmla="*/ 35 w 35"/>
                    <a:gd name="T15" fmla="*/ 15 h 34"/>
                    <a:gd name="T16" fmla="*/ 31 w 35"/>
                    <a:gd name="T17" fmla="*/ 4 h 34"/>
                    <a:gd name="T18" fmla="*/ 20 w 35"/>
                    <a:gd name="T19" fmla="*/ 0 h 3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5"/>
                    <a:gd name="T31" fmla="*/ 0 h 34"/>
                    <a:gd name="T32" fmla="*/ 35 w 35"/>
                    <a:gd name="T33" fmla="*/ 34 h 3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5" h="34">
                      <a:moveTo>
                        <a:pt x="20" y="0"/>
                      </a:moveTo>
                      <a:lnTo>
                        <a:pt x="8" y="4"/>
                      </a:lnTo>
                      <a:lnTo>
                        <a:pt x="0" y="15"/>
                      </a:lnTo>
                      <a:lnTo>
                        <a:pt x="8" y="26"/>
                      </a:lnTo>
                      <a:lnTo>
                        <a:pt x="20" y="34"/>
                      </a:lnTo>
                      <a:lnTo>
                        <a:pt x="31" y="26"/>
                      </a:lnTo>
                      <a:lnTo>
                        <a:pt x="35" y="15"/>
                      </a:lnTo>
                      <a:lnTo>
                        <a:pt x="31" y="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solidFill>
                    <a:schemeClr val="folHlink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8088" name="Text Box 21"/>
              <p:cNvSpPr txBox="1">
                <a:spLocks noChangeArrowheads="1"/>
              </p:cNvSpPr>
              <p:nvPr/>
            </p:nvSpPr>
            <p:spPr bwMode="auto">
              <a:xfrm>
                <a:off x="3408" y="2073"/>
                <a:ext cx="100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8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PCI </a:t>
                </a:r>
                <a:r>
                  <a:rPr lang="zh-CN" altLang="en-US" sz="28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总线</a:t>
                </a:r>
                <a:endPara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89" name="Text Box 22"/>
              <p:cNvSpPr txBox="1">
                <a:spLocks noChangeArrowheads="1"/>
              </p:cNvSpPr>
              <p:nvPr/>
            </p:nvSpPr>
            <p:spPr bwMode="auto">
              <a:xfrm>
                <a:off x="2327" y="912"/>
                <a:ext cx="10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8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系统总线</a:t>
                </a:r>
                <a:endPara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0" name="Text Box 23"/>
              <p:cNvSpPr txBox="1">
                <a:spLocks noChangeArrowheads="1"/>
              </p:cNvSpPr>
              <p:nvPr/>
            </p:nvSpPr>
            <p:spPr bwMode="auto">
              <a:xfrm>
                <a:off x="1041" y="2160"/>
                <a:ext cx="17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33 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MHz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的32位数据通路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1" name="Text Box 24"/>
              <p:cNvSpPr txBox="1">
                <a:spLocks noChangeArrowheads="1"/>
              </p:cNvSpPr>
              <p:nvPr/>
            </p:nvSpPr>
            <p:spPr bwMode="auto">
              <a:xfrm>
                <a:off x="624" y="2774"/>
                <a:ext cx="17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8 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MHz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的16位数据通路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2" name="Text Box 25"/>
              <p:cNvSpPr txBox="1">
                <a:spLocks noChangeArrowheads="1"/>
              </p:cNvSpPr>
              <p:nvPr/>
            </p:nvSpPr>
            <p:spPr bwMode="auto">
              <a:xfrm>
                <a:off x="659" y="3113"/>
                <a:ext cx="10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ISA</a:t>
                </a: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EISA</a:t>
                </a:r>
                <a:endPara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3" name="Rectangle 26"/>
              <p:cNvSpPr>
                <a:spLocks noChangeArrowheads="1"/>
              </p:cNvSpPr>
              <p:nvPr/>
            </p:nvSpPr>
            <p:spPr bwMode="auto">
              <a:xfrm>
                <a:off x="96" y="2160"/>
                <a:ext cx="912" cy="547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4" name="Text Box 27"/>
              <p:cNvSpPr txBox="1">
                <a:spLocks noChangeArrowheads="1"/>
              </p:cNvSpPr>
              <p:nvPr/>
            </p:nvSpPr>
            <p:spPr bwMode="auto">
              <a:xfrm>
                <a:off x="120" y="2165"/>
                <a:ext cx="888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标准总线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 控制器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5" name="Rectangle 28"/>
              <p:cNvSpPr>
                <a:spLocks noChangeArrowheads="1"/>
              </p:cNvSpPr>
              <p:nvPr/>
            </p:nvSpPr>
            <p:spPr bwMode="auto">
              <a:xfrm>
                <a:off x="4896" y="2165"/>
                <a:ext cx="720" cy="569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6" name="Text Box 29"/>
              <p:cNvSpPr txBox="1">
                <a:spLocks noChangeArrowheads="1"/>
              </p:cNvSpPr>
              <p:nvPr/>
            </p:nvSpPr>
            <p:spPr bwMode="auto">
              <a:xfrm>
                <a:off x="4848" y="2165"/>
                <a:ext cx="785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SCSIⅡ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控制器</a:t>
                </a:r>
                <a:endParaRPr lang="zh-CN" altLang="en-US" sz="3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7" name="Rectangle 30"/>
              <p:cNvSpPr>
                <a:spLocks noChangeArrowheads="1"/>
              </p:cNvSpPr>
              <p:nvPr/>
            </p:nvSpPr>
            <p:spPr bwMode="auto">
              <a:xfrm>
                <a:off x="4848" y="1129"/>
                <a:ext cx="768" cy="334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8" name="Text Box 31"/>
              <p:cNvSpPr txBox="1">
                <a:spLocks noChangeArrowheads="1"/>
              </p:cNvSpPr>
              <p:nvPr/>
            </p:nvSpPr>
            <p:spPr bwMode="auto">
              <a:xfrm>
                <a:off x="4860" y="1141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存储器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8099" name="Group 32"/>
              <p:cNvGrpSpPr/>
              <p:nvPr/>
            </p:nvGrpSpPr>
            <p:grpSpPr bwMode="auto">
              <a:xfrm>
                <a:off x="1968" y="3228"/>
                <a:ext cx="170" cy="36"/>
                <a:chOff x="2216" y="4009"/>
                <a:chExt cx="170" cy="34"/>
              </a:xfrm>
            </p:grpSpPr>
            <p:sp>
              <p:nvSpPr>
                <p:cNvPr id="88105" name="Freeform 33"/>
                <p:cNvSpPr/>
                <p:nvPr/>
              </p:nvSpPr>
              <p:spPr bwMode="auto">
                <a:xfrm>
                  <a:off x="2216" y="4009"/>
                  <a:ext cx="31" cy="34"/>
                </a:xfrm>
                <a:custGeom>
                  <a:avLst/>
                  <a:gdLst>
                    <a:gd name="T0" fmla="*/ 15 w 31"/>
                    <a:gd name="T1" fmla="*/ 0 h 34"/>
                    <a:gd name="T2" fmla="*/ 4 w 31"/>
                    <a:gd name="T3" fmla="*/ 4 h 34"/>
                    <a:gd name="T4" fmla="*/ 0 w 31"/>
                    <a:gd name="T5" fmla="*/ 15 h 34"/>
                    <a:gd name="T6" fmla="*/ 4 w 31"/>
                    <a:gd name="T7" fmla="*/ 26 h 34"/>
                    <a:gd name="T8" fmla="*/ 15 w 31"/>
                    <a:gd name="T9" fmla="*/ 34 h 34"/>
                    <a:gd name="T10" fmla="*/ 15 w 31"/>
                    <a:gd name="T11" fmla="*/ 34 h 34"/>
                    <a:gd name="T12" fmla="*/ 27 w 31"/>
                    <a:gd name="T13" fmla="*/ 26 h 34"/>
                    <a:gd name="T14" fmla="*/ 31 w 31"/>
                    <a:gd name="T15" fmla="*/ 15 h 34"/>
                    <a:gd name="T16" fmla="*/ 27 w 31"/>
                    <a:gd name="T17" fmla="*/ 4 h 34"/>
                    <a:gd name="T18" fmla="*/ 15 w 31"/>
                    <a:gd name="T19" fmla="*/ 0 h 3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1"/>
                    <a:gd name="T31" fmla="*/ 0 h 34"/>
                    <a:gd name="T32" fmla="*/ 31 w 31"/>
                    <a:gd name="T33" fmla="*/ 34 h 3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1" h="34">
                      <a:moveTo>
                        <a:pt x="15" y="0"/>
                      </a:moveTo>
                      <a:lnTo>
                        <a:pt x="4" y="4"/>
                      </a:lnTo>
                      <a:lnTo>
                        <a:pt x="0" y="15"/>
                      </a:lnTo>
                      <a:lnTo>
                        <a:pt x="4" y="26"/>
                      </a:lnTo>
                      <a:lnTo>
                        <a:pt x="15" y="34"/>
                      </a:lnTo>
                      <a:lnTo>
                        <a:pt x="27" y="26"/>
                      </a:lnTo>
                      <a:lnTo>
                        <a:pt x="31" y="15"/>
                      </a:lnTo>
                      <a:lnTo>
                        <a:pt x="27" y="4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solidFill>
                    <a:schemeClr val="folHlink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106" name="Freeform 34"/>
                <p:cNvSpPr/>
                <p:nvPr/>
              </p:nvSpPr>
              <p:spPr bwMode="auto">
                <a:xfrm>
                  <a:off x="2281" y="4009"/>
                  <a:ext cx="35" cy="34"/>
                </a:xfrm>
                <a:custGeom>
                  <a:avLst/>
                  <a:gdLst>
                    <a:gd name="T0" fmla="*/ 20 w 35"/>
                    <a:gd name="T1" fmla="*/ 0 h 34"/>
                    <a:gd name="T2" fmla="*/ 8 w 35"/>
                    <a:gd name="T3" fmla="*/ 4 h 34"/>
                    <a:gd name="T4" fmla="*/ 0 w 35"/>
                    <a:gd name="T5" fmla="*/ 15 h 34"/>
                    <a:gd name="T6" fmla="*/ 8 w 35"/>
                    <a:gd name="T7" fmla="*/ 26 h 34"/>
                    <a:gd name="T8" fmla="*/ 20 w 35"/>
                    <a:gd name="T9" fmla="*/ 34 h 34"/>
                    <a:gd name="T10" fmla="*/ 20 w 35"/>
                    <a:gd name="T11" fmla="*/ 34 h 34"/>
                    <a:gd name="T12" fmla="*/ 31 w 35"/>
                    <a:gd name="T13" fmla="*/ 26 h 34"/>
                    <a:gd name="T14" fmla="*/ 35 w 35"/>
                    <a:gd name="T15" fmla="*/ 15 h 34"/>
                    <a:gd name="T16" fmla="*/ 31 w 35"/>
                    <a:gd name="T17" fmla="*/ 4 h 34"/>
                    <a:gd name="T18" fmla="*/ 20 w 35"/>
                    <a:gd name="T19" fmla="*/ 0 h 3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5"/>
                    <a:gd name="T31" fmla="*/ 0 h 34"/>
                    <a:gd name="T32" fmla="*/ 35 w 35"/>
                    <a:gd name="T33" fmla="*/ 34 h 3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5" h="34">
                      <a:moveTo>
                        <a:pt x="20" y="0"/>
                      </a:moveTo>
                      <a:lnTo>
                        <a:pt x="8" y="4"/>
                      </a:lnTo>
                      <a:lnTo>
                        <a:pt x="0" y="15"/>
                      </a:lnTo>
                      <a:lnTo>
                        <a:pt x="8" y="26"/>
                      </a:lnTo>
                      <a:lnTo>
                        <a:pt x="20" y="34"/>
                      </a:lnTo>
                      <a:lnTo>
                        <a:pt x="31" y="26"/>
                      </a:lnTo>
                      <a:lnTo>
                        <a:pt x="35" y="15"/>
                      </a:lnTo>
                      <a:lnTo>
                        <a:pt x="31" y="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solidFill>
                    <a:schemeClr val="folHlink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107" name="Freeform 35"/>
                <p:cNvSpPr/>
                <p:nvPr/>
              </p:nvSpPr>
              <p:spPr bwMode="auto">
                <a:xfrm>
                  <a:off x="2351" y="4009"/>
                  <a:ext cx="35" cy="34"/>
                </a:xfrm>
                <a:custGeom>
                  <a:avLst/>
                  <a:gdLst>
                    <a:gd name="T0" fmla="*/ 20 w 35"/>
                    <a:gd name="T1" fmla="*/ 0 h 34"/>
                    <a:gd name="T2" fmla="*/ 8 w 35"/>
                    <a:gd name="T3" fmla="*/ 4 h 34"/>
                    <a:gd name="T4" fmla="*/ 0 w 35"/>
                    <a:gd name="T5" fmla="*/ 15 h 34"/>
                    <a:gd name="T6" fmla="*/ 8 w 35"/>
                    <a:gd name="T7" fmla="*/ 26 h 34"/>
                    <a:gd name="T8" fmla="*/ 20 w 35"/>
                    <a:gd name="T9" fmla="*/ 34 h 34"/>
                    <a:gd name="T10" fmla="*/ 20 w 35"/>
                    <a:gd name="T11" fmla="*/ 34 h 34"/>
                    <a:gd name="T12" fmla="*/ 31 w 35"/>
                    <a:gd name="T13" fmla="*/ 26 h 34"/>
                    <a:gd name="T14" fmla="*/ 35 w 35"/>
                    <a:gd name="T15" fmla="*/ 15 h 34"/>
                    <a:gd name="T16" fmla="*/ 31 w 35"/>
                    <a:gd name="T17" fmla="*/ 4 h 34"/>
                    <a:gd name="T18" fmla="*/ 20 w 35"/>
                    <a:gd name="T19" fmla="*/ 0 h 3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5"/>
                    <a:gd name="T31" fmla="*/ 0 h 34"/>
                    <a:gd name="T32" fmla="*/ 35 w 35"/>
                    <a:gd name="T33" fmla="*/ 34 h 3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5" h="34">
                      <a:moveTo>
                        <a:pt x="20" y="0"/>
                      </a:moveTo>
                      <a:lnTo>
                        <a:pt x="8" y="4"/>
                      </a:lnTo>
                      <a:lnTo>
                        <a:pt x="0" y="15"/>
                      </a:lnTo>
                      <a:lnTo>
                        <a:pt x="8" y="26"/>
                      </a:lnTo>
                      <a:lnTo>
                        <a:pt x="20" y="34"/>
                      </a:lnTo>
                      <a:lnTo>
                        <a:pt x="31" y="26"/>
                      </a:lnTo>
                      <a:lnTo>
                        <a:pt x="35" y="15"/>
                      </a:lnTo>
                      <a:lnTo>
                        <a:pt x="31" y="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solidFill>
                    <a:schemeClr val="folHlink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8100" name="AutoShape 36"/>
              <p:cNvSpPr>
                <a:spLocks noChangeArrowheads="1"/>
              </p:cNvSpPr>
              <p:nvPr/>
            </p:nvSpPr>
            <p:spPr bwMode="auto">
              <a:xfrm>
                <a:off x="852" y="1248"/>
                <a:ext cx="3965" cy="118"/>
              </a:xfrm>
              <a:prstGeom prst="leftRightArrow">
                <a:avLst>
                  <a:gd name="adj1" fmla="val 40000"/>
                  <a:gd name="adj2" fmla="val 83382"/>
                </a:avLst>
              </a:prstGeom>
              <a:solidFill>
                <a:schemeClr val="folHlink"/>
              </a:solidFill>
              <a:ln w="38100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8101" name="AutoShape 37"/>
              <p:cNvSpPr>
                <a:spLocks noChangeArrowheads="1"/>
              </p:cNvSpPr>
              <p:nvPr/>
            </p:nvSpPr>
            <p:spPr bwMode="auto">
              <a:xfrm>
                <a:off x="2775" y="1293"/>
                <a:ext cx="118" cy="408"/>
              </a:xfrm>
              <a:prstGeom prst="downArrow">
                <a:avLst>
                  <a:gd name="adj1" fmla="val 50000"/>
                  <a:gd name="adj2" fmla="val 86441"/>
                </a:avLst>
              </a:prstGeom>
              <a:solidFill>
                <a:schemeClr val="folHlink"/>
              </a:solidFill>
              <a:ln w="38100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8102" name="AutoShape 38"/>
              <p:cNvSpPr>
                <a:spLocks noChangeArrowheads="1"/>
              </p:cNvSpPr>
              <p:nvPr/>
            </p:nvSpPr>
            <p:spPr bwMode="auto">
              <a:xfrm>
                <a:off x="1023" y="2378"/>
                <a:ext cx="3852" cy="118"/>
              </a:xfrm>
              <a:prstGeom prst="leftRightArrow">
                <a:avLst>
                  <a:gd name="adj1" fmla="val 40000"/>
                  <a:gd name="adj2" fmla="val 81006"/>
                </a:avLst>
              </a:prstGeom>
              <a:solidFill>
                <a:schemeClr val="folHlink"/>
              </a:solidFill>
              <a:ln w="38100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8103" name="Rectangle 39"/>
              <p:cNvSpPr>
                <a:spLocks noChangeArrowheads="1"/>
              </p:cNvSpPr>
              <p:nvPr/>
            </p:nvSpPr>
            <p:spPr bwMode="auto">
              <a:xfrm>
                <a:off x="2798" y="2080"/>
                <a:ext cx="73" cy="317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8104" name="AutoShape 40"/>
              <p:cNvSpPr>
                <a:spLocks noChangeArrowheads="1"/>
              </p:cNvSpPr>
              <p:nvPr/>
            </p:nvSpPr>
            <p:spPr bwMode="auto">
              <a:xfrm>
                <a:off x="144" y="3000"/>
                <a:ext cx="1995" cy="131"/>
              </a:xfrm>
              <a:prstGeom prst="leftRightArrow">
                <a:avLst>
                  <a:gd name="adj1" fmla="val 50000"/>
                  <a:gd name="adj2" fmla="val 114077"/>
                </a:avLst>
              </a:prstGeom>
              <a:solidFill>
                <a:schemeClr val="folHlink"/>
              </a:solidFill>
              <a:ln w="38100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88071" name="Group 46"/>
            <p:cNvGrpSpPr/>
            <p:nvPr/>
          </p:nvGrpSpPr>
          <p:grpSpPr bwMode="auto">
            <a:xfrm>
              <a:off x="1430" y="3594"/>
              <a:ext cx="846" cy="303"/>
              <a:chOff x="3151" y="3149"/>
              <a:chExt cx="846" cy="303"/>
            </a:xfrm>
          </p:grpSpPr>
          <p:sp>
            <p:nvSpPr>
              <p:cNvPr id="88072" name="Rectangle 47"/>
              <p:cNvSpPr>
                <a:spLocks noChangeArrowheads="1"/>
              </p:cNvSpPr>
              <p:nvPr/>
            </p:nvSpPr>
            <p:spPr bwMode="auto">
              <a:xfrm>
                <a:off x="3162" y="3185"/>
                <a:ext cx="72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  Modem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73" name="Rectangle 48"/>
              <p:cNvSpPr>
                <a:spLocks noChangeArrowheads="1"/>
              </p:cNvSpPr>
              <p:nvPr/>
            </p:nvSpPr>
            <p:spPr bwMode="auto">
              <a:xfrm>
                <a:off x="3151" y="3149"/>
                <a:ext cx="846" cy="303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746125" y="349250"/>
            <a:ext cx="4419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4. 多层 </a:t>
            </a:r>
            <a:r>
              <a:rPr lang="en-US" altLang="zh-CN" sz="3600">
                <a:latin typeface="Times New Roman" panose="02020603050405020304" pitchFamily="18" charset="0"/>
              </a:rPr>
              <a:t>PCI </a:t>
            </a:r>
            <a:r>
              <a:rPr lang="zh-CN" altLang="en-US" sz="3600">
                <a:latin typeface="Times New Roman" panose="02020603050405020304" pitchFamily="18" charset="0"/>
              </a:rPr>
              <a:t>总线结构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grpSp>
        <p:nvGrpSpPr>
          <p:cNvPr id="2" name="Group 52"/>
          <p:cNvGrpSpPr/>
          <p:nvPr/>
        </p:nvGrpSpPr>
        <p:grpSpPr bwMode="auto">
          <a:xfrm>
            <a:off x="304800" y="1020763"/>
            <a:ext cx="8408988" cy="5684837"/>
            <a:chOff x="192" y="643"/>
            <a:chExt cx="5297" cy="3581"/>
          </a:xfrm>
        </p:grpSpPr>
        <p:sp>
          <p:nvSpPr>
            <p:cNvPr id="89094" name="Text Box 4"/>
            <p:cNvSpPr txBox="1">
              <a:spLocks noChangeArrowheads="1"/>
            </p:cNvSpPr>
            <p:nvPr/>
          </p:nvSpPr>
          <p:spPr bwMode="auto">
            <a:xfrm>
              <a:off x="4560" y="3936"/>
              <a:ext cx="9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PCI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总线2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095" name="Line 5"/>
            <p:cNvSpPr>
              <a:spLocks noChangeShapeType="1"/>
            </p:cNvSpPr>
            <p:nvPr/>
          </p:nvSpPr>
          <p:spPr bwMode="auto">
            <a:xfrm>
              <a:off x="1665" y="1026"/>
              <a:ext cx="1" cy="318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6" name="Line 6"/>
            <p:cNvSpPr>
              <a:spLocks noChangeShapeType="1"/>
            </p:cNvSpPr>
            <p:nvPr/>
          </p:nvSpPr>
          <p:spPr bwMode="auto">
            <a:xfrm>
              <a:off x="2448" y="1008"/>
              <a:ext cx="0" cy="336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7" name="Line 7"/>
            <p:cNvSpPr>
              <a:spLocks noChangeShapeType="1"/>
            </p:cNvSpPr>
            <p:nvPr/>
          </p:nvSpPr>
          <p:spPr bwMode="auto">
            <a:xfrm>
              <a:off x="3861" y="1792"/>
              <a:ext cx="1" cy="224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8" name="Freeform 8"/>
            <p:cNvSpPr/>
            <p:nvPr/>
          </p:nvSpPr>
          <p:spPr bwMode="auto">
            <a:xfrm>
              <a:off x="1296" y="2016"/>
              <a:ext cx="240" cy="1200"/>
            </a:xfrm>
            <a:custGeom>
              <a:avLst/>
              <a:gdLst>
                <a:gd name="T0" fmla="*/ 140606 w 147"/>
                <a:gd name="T1" fmla="*/ 0 h 1344"/>
                <a:gd name="T2" fmla="*/ 125304 w 147"/>
                <a:gd name="T3" fmla="*/ 3 h 1344"/>
                <a:gd name="T4" fmla="*/ 110762 w 147"/>
                <a:gd name="T5" fmla="*/ 4 h 1344"/>
                <a:gd name="T6" fmla="*/ 99750 w 147"/>
                <a:gd name="T7" fmla="*/ 4 h 1344"/>
                <a:gd name="T8" fmla="*/ 88963 w 147"/>
                <a:gd name="T9" fmla="*/ 7 h 1344"/>
                <a:gd name="T10" fmla="*/ 73858 w 147"/>
                <a:gd name="T11" fmla="*/ 14 h 1344"/>
                <a:gd name="T12" fmla="*/ 69731 w 147"/>
                <a:gd name="T13" fmla="*/ 23 h 1344"/>
                <a:gd name="T14" fmla="*/ 69731 w 147"/>
                <a:gd name="T15" fmla="*/ 115 h 1344"/>
                <a:gd name="T16" fmla="*/ 63141 w 147"/>
                <a:gd name="T17" fmla="*/ 124 h 1344"/>
                <a:gd name="T18" fmla="*/ 48111 w 147"/>
                <a:gd name="T19" fmla="*/ 130 h 1344"/>
                <a:gd name="T20" fmla="*/ 37422 w 147"/>
                <a:gd name="T21" fmla="*/ 134 h 1344"/>
                <a:gd name="T22" fmla="*/ 25946 w 147"/>
                <a:gd name="T23" fmla="*/ 137 h 1344"/>
                <a:gd name="T24" fmla="*/ 14039 w 147"/>
                <a:gd name="T25" fmla="*/ 137 h 1344"/>
                <a:gd name="T26" fmla="*/ 0 w 147"/>
                <a:gd name="T27" fmla="*/ 138 h 1344"/>
                <a:gd name="T28" fmla="*/ 14039 w 147"/>
                <a:gd name="T29" fmla="*/ 138 h 1344"/>
                <a:gd name="T30" fmla="*/ 25946 w 147"/>
                <a:gd name="T31" fmla="*/ 139 h 1344"/>
                <a:gd name="T32" fmla="*/ 37422 w 147"/>
                <a:gd name="T33" fmla="*/ 142 h 1344"/>
                <a:gd name="T34" fmla="*/ 48111 w 147"/>
                <a:gd name="T35" fmla="*/ 145 h 1344"/>
                <a:gd name="T36" fmla="*/ 63141 w 147"/>
                <a:gd name="T37" fmla="*/ 152 h 1344"/>
                <a:gd name="T38" fmla="*/ 69731 w 147"/>
                <a:gd name="T39" fmla="*/ 161 h 1344"/>
                <a:gd name="T40" fmla="*/ 69731 w 147"/>
                <a:gd name="T41" fmla="*/ 253 h 1344"/>
                <a:gd name="T42" fmla="*/ 73858 w 147"/>
                <a:gd name="T43" fmla="*/ 263 h 1344"/>
                <a:gd name="T44" fmla="*/ 88963 w 147"/>
                <a:gd name="T45" fmla="*/ 269 h 1344"/>
                <a:gd name="T46" fmla="*/ 99750 w 147"/>
                <a:gd name="T47" fmla="*/ 271 h 1344"/>
                <a:gd name="T48" fmla="*/ 110762 w 147"/>
                <a:gd name="T49" fmla="*/ 273 h 1344"/>
                <a:gd name="T50" fmla="*/ 125304 w 147"/>
                <a:gd name="T51" fmla="*/ 274 h 1344"/>
                <a:gd name="T52" fmla="*/ 140606 w 147"/>
                <a:gd name="T53" fmla="*/ 275 h 134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7"/>
                <a:gd name="T82" fmla="*/ 0 h 1344"/>
                <a:gd name="T83" fmla="*/ 147 w 147"/>
                <a:gd name="T84" fmla="*/ 1344 h 134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7" h="1344">
                  <a:moveTo>
                    <a:pt x="147" y="0"/>
                  </a:moveTo>
                  <a:lnTo>
                    <a:pt x="131" y="3"/>
                  </a:lnTo>
                  <a:lnTo>
                    <a:pt x="116" y="10"/>
                  </a:lnTo>
                  <a:lnTo>
                    <a:pt x="104" y="20"/>
                  </a:lnTo>
                  <a:lnTo>
                    <a:pt x="93" y="34"/>
                  </a:lnTo>
                  <a:lnTo>
                    <a:pt x="77" y="69"/>
                  </a:lnTo>
                  <a:lnTo>
                    <a:pt x="73" y="114"/>
                  </a:lnTo>
                  <a:lnTo>
                    <a:pt x="73" y="562"/>
                  </a:lnTo>
                  <a:lnTo>
                    <a:pt x="66" y="606"/>
                  </a:lnTo>
                  <a:lnTo>
                    <a:pt x="50" y="641"/>
                  </a:lnTo>
                  <a:lnTo>
                    <a:pt x="39" y="655"/>
                  </a:lnTo>
                  <a:lnTo>
                    <a:pt x="27" y="665"/>
                  </a:lnTo>
                  <a:lnTo>
                    <a:pt x="15" y="668"/>
                  </a:lnTo>
                  <a:lnTo>
                    <a:pt x="0" y="672"/>
                  </a:lnTo>
                  <a:lnTo>
                    <a:pt x="15" y="675"/>
                  </a:lnTo>
                  <a:lnTo>
                    <a:pt x="27" y="682"/>
                  </a:lnTo>
                  <a:lnTo>
                    <a:pt x="39" y="693"/>
                  </a:lnTo>
                  <a:lnTo>
                    <a:pt x="50" y="706"/>
                  </a:lnTo>
                  <a:lnTo>
                    <a:pt x="66" y="741"/>
                  </a:lnTo>
                  <a:lnTo>
                    <a:pt x="73" y="786"/>
                  </a:lnTo>
                  <a:lnTo>
                    <a:pt x="73" y="1234"/>
                  </a:lnTo>
                  <a:lnTo>
                    <a:pt x="77" y="1278"/>
                  </a:lnTo>
                  <a:lnTo>
                    <a:pt x="93" y="1313"/>
                  </a:lnTo>
                  <a:lnTo>
                    <a:pt x="104" y="1327"/>
                  </a:lnTo>
                  <a:lnTo>
                    <a:pt x="116" y="1337"/>
                  </a:lnTo>
                  <a:lnTo>
                    <a:pt x="131" y="1340"/>
                  </a:lnTo>
                  <a:lnTo>
                    <a:pt x="147" y="1344"/>
                  </a:lnTo>
                </a:path>
              </a:pathLst>
            </a:custGeom>
            <a:noFill/>
            <a:ln w="38100" cmpd="sng">
              <a:solidFill>
                <a:schemeClr val="folHlink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9" name="Line 9"/>
            <p:cNvSpPr>
              <a:spLocks noChangeShapeType="1"/>
            </p:cNvSpPr>
            <p:nvPr/>
          </p:nvSpPr>
          <p:spPr bwMode="auto">
            <a:xfrm>
              <a:off x="3594" y="3480"/>
              <a:ext cx="1" cy="1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0" name="Line 10"/>
            <p:cNvSpPr>
              <a:spLocks noChangeShapeType="1"/>
            </p:cNvSpPr>
            <p:nvPr/>
          </p:nvSpPr>
          <p:spPr bwMode="auto">
            <a:xfrm>
              <a:off x="3594" y="3480"/>
              <a:ext cx="1" cy="1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1" name="Oval 11"/>
            <p:cNvSpPr>
              <a:spLocks noChangeArrowheads="1"/>
            </p:cNvSpPr>
            <p:nvPr/>
          </p:nvSpPr>
          <p:spPr bwMode="auto">
            <a:xfrm>
              <a:off x="1654" y="1009"/>
              <a:ext cx="27" cy="24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folHlink"/>
              </a:solidFill>
              <a:round/>
            </a:ln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9102" name="Oval 12"/>
            <p:cNvSpPr>
              <a:spLocks noChangeArrowheads="1"/>
            </p:cNvSpPr>
            <p:nvPr/>
          </p:nvSpPr>
          <p:spPr bwMode="auto">
            <a:xfrm>
              <a:off x="2425" y="1009"/>
              <a:ext cx="27" cy="24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folHlink"/>
              </a:solidFill>
              <a:round/>
            </a:ln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9103" name="Rectangle 13"/>
            <p:cNvSpPr>
              <a:spLocks noChangeArrowheads="1"/>
            </p:cNvSpPr>
            <p:nvPr/>
          </p:nvSpPr>
          <p:spPr bwMode="auto">
            <a:xfrm>
              <a:off x="4512" y="816"/>
              <a:ext cx="864" cy="336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存储器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9104" name="Rectangle 14"/>
            <p:cNvSpPr>
              <a:spLocks noChangeArrowheads="1"/>
            </p:cNvSpPr>
            <p:nvPr/>
          </p:nvSpPr>
          <p:spPr bwMode="auto">
            <a:xfrm>
              <a:off x="1296" y="1344"/>
              <a:ext cx="672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桥0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9105" name="Rectangle 15"/>
            <p:cNvSpPr>
              <a:spLocks noChangeArrowheads="1"/>
            </p:cNvSpPr>
            <p:nvPr/>
          </p:nvSpPr>
          <p:spPr bwMode="auto">
            <a:xfrm>
              <a:off x="2112" y="1344"/>
              <a:ext cx="672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桥4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9106" name="Rectangle 16"/>
            <p:cNvSpPr>
              <a:spLocks noChangeArrowheads="1"/>
            </p:cNvSpPr>
            <p:nvPr/>
          </p:nvSpPr>
          <p:spPr bwMode="auto">
            <a:xfrm>
              <a:off x="2496" y="2016"/>
              <a:ext cx="960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PCI</a:t>
              </a:r>
              <a:r>
                <a:rPr lang="zh-CN" altLang="en-US" sz="2400">
                  <a:latin typeface="Times New Roman" panose="02020603050405020304" pitchFamily="18" charset="0"/>
                </a:rPr>
                <a:t>设备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9107" name="Rectangle 17"/>
            <p:cNvSpPr>
              <a:spLocks noChangeArrowheads="1"/>
            </p:cNvSpPr>
            <p:nvPr/>
          </p:nvSpPr>
          <p:spPr bwMode="auto">
            <a:xfrm>
              <a:off x="3552" y="2016"/>
              <a:ext cx="672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桥5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9108" name="Rectangle 18"/>
            <p:cNvSpPr>
              <a:spLocks noChangeArrowheads="1"/>
            </p:cNvSpPr>
            <p:nvPr/>
          </p:nvSpPr>
          <p:spPr bwMode="auto">
            <a:xfrm>
              <a:off x="1584" y="2880"/>
              <a:ext cx="768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7200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总线桥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9109" name="Rectangle 19"/>
            <p:cNvSpPr>
              <a:spLocks noChangeArrowheads="1"/>
            </p:cNvSpPr>
            <p:nvPr/>
          </p:nvSpPr>
          <p:spPr bwMode="auto">
            <a:xfrm>
              <a:off x="3216" y="2880"/>
              <a:ext cx="672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桥3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9110" name="Rectangle 20"/>
            <p:cNvSpPr>
              <a:spLocks noChangeArrowheads="1"/>
            </p:cNvSpPr>
            <p:nvPr/>
          </p:nvSpPr>
          <p:spPr bwMode="auto">
            <a:xfrm>
              <a:off x="2448" y="2880"/>
              <a:ext cx="672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桥1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9111" name="Freeform 21"/>
            <p:cNvSpPr/>
            <p:nvPr/>
          </p:nvSpPr>
          <p:spPr bwMode="auto">
            <a:xfrm>
              <a:off x="2784" y="3168"/>
              <a:ext cx="1728" cy="336"/>
            </a:xfrm>
            <a:custGeom>
              <a:avLst/>
              <a:gdLst>
                <a:gd name="T0" fmla="*/ 0 w 2112"/>
                <a:gd name="T1" fmla="*/ 0 h 336"/>
                <a:gd name="T2" fmla="*/ 0 w 2112"/>
                <a:gd name="T3" fmla="*/ 336 h 336"/>
                <a:gd name="T4" fmla="*/ 128 w 2112"/>
                <a:gd name="T5" fmla="*/ 336 h 336"/>
                <a:gd name="T6" fmla="*/ 0 60000 65536"/>
                <a:gd name="T7" fmla="*/ 0 60000 65536"/>
                <a:gd name="T8" fmla="*/ 0 60000 65536"/>
                <a:gd name="T9" fmla="*/ 0 w 2112"/>
                <a:gd name="T10" fmla="*/ 0 h 336"/>
                <a:gd name="T11" fmla="*/ 2112 w 2112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2" h="336">
                  <a:moveTo>
                    <a:pt x="0" y="0"/>
                  </a:moveTo>
                  <a:lnTo>
                    <a:pt x="0" y="336"/>
                  </a:lnTo>
                  <a:lnTo>
                    <a:pt x="2112" y="336"/>
                  </a:lnTo>
                </a:path>
              </a:pathLst>
            </a:custGeom>
            <a:noFill/>
            <a:ln w="762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12" name="Freeform 22"/>
            <p:cNvSpPr/>
            <p:nvPr/>
          </p:nvSpPr>
          <p:spPr bwMode="auto">
            <a:xfrm>
              <a:off x="3552" y="3168"/>
              <a:ext cx="960" cy="192"/>
            </a:xfrm>
            <a:custGeom>
              <a:avLst/>
              <a:gdLst>
                <a:gd name="T0" fmla="*/ 0 w 1296"/>
                <a:gd name="T1" fmla="*/ 0 h 192"/>
                <a:gd name="T2" fmla="*/ 0 w 1296"/>
                <a:gd name="T3" fmla="*/ 192 h 192"/>
                <a:gd name="T4" fmla="*/ 19 w 1296"/>
                <a:gd name="T5" fmla="*/ 192 h 192"/>
                <a:gd name="T6" fmla="*/ 0 60000 65536"/>
                <a:gd name="T7" fmla="*/ 0 60000 65536"/>
                <a:gd name="T8" fmla="*/ 0 60000 65536"/>
                <a:gd name="T9" fmla="*/ 0 w 1296"/>
                <a:gd name="T10" fmla="*/ 0 h 192"/>
                <a:gd name="T11" fmla="*/ 1296 w 1296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192">
                  <a:moveTo>
                    <a:pt x="0" y="0"/>
                  </a:moveTo>
                  <a:lnTo>
                    <a:pt x="0" y="192"/>
                  </a:lnTo>
                  <a:lnTo>
                    <a:pt x="1296" y="192"/>
                  </a:lnTo>
                </a:path>
              </a:pathLst>
            </a:custGeom>
            <a:noFill/>
            <a:ln w="762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13" name="Freeform 23"/>
            <p:cNvSpPr/>
            <p:nvPr/>
          </p:nvSpPr>
          <p:spPr bwMode="auto">
            <a:xfrm>
              <a:off x="1968" y="3168"/>
              <a:ext cx="1488" cy="816"/>
            </a:xfrm>
            <a:custGeom>
              <a:avLst/>
              <a:gdLst>
                <a:gd name="T0" fmla="*/ 0 w 2832"/>
                <a:gd name="T1" fmla="*/ 0 h 528"/>
                <a:gd name="T2" fmla="*/ 0 w 2832"/>
                <a:gd name="T3" fmla="*/ 234104 h 528"/>
                <a:gd name="T4" fmla="*/ 1 w 2832"/>
                <a:gd name="T5" fmla="*/ 234104 h 528"/>
                <a:gd name="T6" fmla="*/ 0 60000 65536"/>
                <a:gd name="T7" fmla="*/ 0 60000 65536"/>
                <a:gd name="T8" fmla="*/ 0 60000 65536"/>
                <a:gd name="T9" fmla="*/ 0 w 2832"/>
                <a:gd name="T10" fmla="*/ 0 h 528"/>
                <a:gd name="T11" fmla="*/ 2832 w 2832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2" h="528">
                  <a:moveTo>
                    <a:pt x="0" y="0"/>
                  </a:moveTo>
                  <a:lnTo>
                    <a:pt x="0" y="528"/>
                  </a:lnTo>
                  <a:lnTo>
                    <a:pt x="2832" y="528"/>
                  </a:lnTo>
                </a:path>
              </a:pathLst>
            </a:custGeom>
            <a:noFill/>
            <a:ln w="762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14" name="Rectangle 24"/>
            <p:cNvSpPr>
              <a:spLocks noChangeArrowheads="1"/>
            </p:cNvSpPr>
            <p:nvPr/>
          </p:nvSpPr>
          <p:spPr bwMode="auto">
            <a:xfrm>
              <a:off x="3984" y="2880"/>
              <a:ext cx="528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7200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设备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9115" name="Rectangle 25"/>
            <p:cNvSpPr>
              <a:spLocks noChangeArrowheads="1"/>
            </p:cNvSpPr>
            <p:nvPr/>
          </p:nvSpPr>
          <p:spPr bwMode="auto">
            <a:xfrm>
              <a:off x="3600" y="3648"/>
              <a:ext cx="672" cy="2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桥2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9116" name="Line 26"/>
            <p:cNvSpPr>
              <a:spLocks noChangeShapeType="1"/>
            </p:cNvSpPr>
            <p:nvPr/>
          </p:nvSpPr>
          <p:spPr bwMode="auto">
            <a:xfrm>
              <a:off x="3888" y="3504"/>
              <a:ext cx="0" cy="144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17" name="Freeform 27"/>
            <p:cNvSpPr/>
            <p:nvPr/>
          </p:nvSpPr>
          <p:spPr bwMode="auto">
            <a:xfrm>
              <a:off x="3888" y="3936"/>
              <a:ext cx="624" cy="144"/>
            </a:xfrm>
            <a:custGeom>
              <a:avLst/>
              <a:gdLst>
                <a:gd name="T0" fmla="*/ 0 w 1104"/>
                <a:gd name="T1" fmla="*/ 0 h 240"/>
                <a:gd name="T2" fmla="*/ 0 w 1104"/>
                <a:gd name="T3" fmla="*/ 1 h 240"/>
                <a:gd name="T4" fmla="*/ 1 w 1104"/>
                <a:gd name="T5" fmla="*/ 1 h 240"/>
                <a:gd name="T6" fmla="*/ 0 60000 65536"/>
                <a:gd name="T7" fmla="*/ 0 60000 65536"/>
                <a:gd name="T8" fmla="*/ 0 60000 65536"/>
                <a:gd name="T9" fmla="*/ 0 w 1104"/>
                <a:gd name="T10" fmla="*/ 0 h 240"/>
                <a:gd name="T11" fmla="*/ 1104 w 1104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240">
                  <a:moveTo>
                    <a:pt x="0" y="0"/>
                  </a:moveTo>
                  <a:lnTo>
                    <a:pt x="0" y="240"/>
                  </a:lnTo>
                  <a:lnTo>
                    <a:pt x="1104" y="240"/>
                  </a:lnTo>
                </a:path>
              </a:pathLst>
            </a:custGeom>
            <a:noFill/>
            <a:ln w="762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18" name="Text Box 28"/>
            <p:cNvSpPr txBox="1">
              <a:spLocks noChangeArrowheads="1"/>
            </p:cNvSpPr>
            <p:nvPr/>
          </p:nvSpPr>
          <p:spPr bwMode="auto">
            <a:xfrm>
              <a:off x="280" y="1405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第一级桥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19" name="Text Box 29"/>
            <p:cNvSpPr txBox="1">
              <a:spLocks noChangeArrowheads="1"/>
            </p:cNvSpPr>
            <p:nvPr/>
          </p:nvSpPr>
          <p:spPr bwMode="auto">
            <a:xfrm>
              <a:off x="280" y="2495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第二级桥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20" name="Text Box 30"/>
            <p:cNvSpPr txBox="1">
              <a:spLocks noChangeArrowheads="1"/>
            </p:cNvSpPr>
            <p:nvPr/>
          </p:nvSpPr>
          <p:spPr bwMode="auto">
            <a:xfrm>
              <a:off x="280" y="3585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第三级桥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21" name="Text Box 31"/>
            <p:cNvSpPr txBox="1">
              <a:spLocks noChangeArrowheads="1"/>
            </p:cNvSpPr>
            <p:nvPr/>
          </p:nvSpPr>
          <p:spPr bwMode="auto">
            <a:xfrm>
              <a:off x="4560" y="1632"/>
              <a:ext cx="9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PCI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总线4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22" name="Text Box 32"/>
            <p:cNvSpPr txBox="1">
              <a:spLocks noChangeArrowheads="1"/>
            </p:cNvSpPr>
            <p:nvPr/>
          </p:nvSpPr>
          <p:spPr bwMode="auto">
            <a:xfrm>
              <a:off x="4560" y="2280"/>
              <a:ext cx="9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PCI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总线5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23" name="Text Box 33"/>
            <p:cNvSpPr txBox="1">
              <a:spLocks noChangeArrowheads="1"/>
            </p:cNvSpPr>
            <p:nvPr/>
          </p:nvSpPr>
          <p:spPr bwMode="auto">
            <a:xfrm>
              <a:off x="4560" y="3168"/>
              <a:ext cx="9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PCI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总线3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24" name="Text Box 34"/>
            <p:cNvSpPr txBox="1">
              <a:spLocks noChangeArrowheads="1"/>
            </p:cNvSpPr>
            <p:nvPr/>
          </p:nvSpPr>
          <p:spPr bwMode="auto">
            <a:xfrm>
              <a:off x="4560" y="3408"/>
              <a:ext cx="9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PCI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总线1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25" name="Freeform 35"/>
            <p:cNvSpPr/>
            <p:nvPr/>
          </p:nvSpPr>
          <p:spPr bwMode="auto">
            <a:xfrm>
              <a:off x="2448" y="1632"/>
              <a:ext cx="2064" cy="144"/>
            </a:xfrm>
            <a:custGeom>
              <a:avLst/>
              <a:gdLst>
                <a:gd name="T0" fmla="*/ 0 w 2016"/>
                <a:gd name="T1" fmla="*/ 0 h 144"/>
                <a:gd name="T2" fmla="*/ 0 w 2016"/>
                <a:gd name="T3" fmla="*/ 144 h 144"/>
                <a:gd name="T4" fmla="*/ 2803 w 2016"/>
                <a:gd name="T5" fmla="*/ 144 h 144"/>
                <a:gd name="T6" fmla="*/ 0 60000 65536"/>
                <a:gd name="T7" fmla="*/ 0 60000 65536"/>
                <a:gd name="T8" fmla="*/ 0 60000 65536"/>
                <a:gd name="T9" fmla="*/ 0 w 2016"/>
                <a:gd name="T10" fmla="*/ 0 h 144"/>
                <a:gd name="T11" fmla="*/ 2016 w 201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6" h="144">
                  <a:moveTo>
                    <a:pt x="0" y="0"/>
                  </a:moveTo>
                  <a:lnTo>
                    <a:pt x="0" y="144"/>
                  </a:lnTo>
                  <a:lnTo>
                    <a:pt x="2016" y="144"/>
                  </a:lnTo>
                </a:path>
              </a:pathLst>
            </a:custGeom>
            <a:noFill/>
            <a:ln w="762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26" name="Text Box 36"/>
            <p:cNvSpPr txBox="1">
              <a:spLocks noChangeArrowheads="1"/>
            </p:cNvSpPr>
            <p:nvPr/>
          </p:nvSpPr>
          <p:spPr bwMode="auto">
            <a:xfrm>
              <a:off x="4560" y="2543"/>
              <a:ext cx="9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PCI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总线0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27" name="Text Box 37"/>
            <p:cNvSpPr txBox="1">
              <a:spLocks noChangeArrowheads="1"/>
            </p:cNvSpPr>
            <p:nvPr/>
          </p:nvSpPr>
          <p:spPr bwMode="auto">
            <a:xfrm>
              <a:off x="2112" y="643"/>
              <a:ext cx="114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存储器总线</a:t>
              </a:r>
              <a:r>
                <a:rPr lang="zh-CN" altLang="en-US" sz="3200">
                  <a:latin typeface="Times New Roman" panose="02020603050405020304" pitchFamily="18" charset="0"/>
                </a:rPr>
                <a:t> 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89128" name="Line 38"/>
            <p:cNvSpPr>
              <a:spLocks noChangeShapeType="1"/>
            </p:cNvSpPr>
            <p:nvPr/>
          </p:nvSpPr>
          <p:spPr bwMode="auto">
            <a:xfrm>
              <a:off x="1056" y="1008"/>
              <a:ext cx="3456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29" name="Line 39"/>
            <p:cNvSpPr>
              <a:spLocks noChangeShapeType="1"/>
            </p:cNvSpPr>
            <p:nvPr/>
          </p:nvSpPr>
          <p:spPr bwMode="auto">
            <a:xfrm>
              <a:off x="2928" y="1776"/>
              <a:ext cx="0" cy="24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30" name="Freeform 40"/>
            <p:cNvSpPr/>
            <p:nvPr/>
          </p:nvSpPr>
          <p:spPr bwMode="auto">
            <a:xfrm>
              <a:off x="3888" y="2304"/>
              <a:ext cx="624" cy="144"/>
            </a:xfrm>
            <a:custGeom>
              <a:avLst/>
              <a:gdLst>
                <a:gd name="T0" fmla="*/ 0 w 672"/>
                <a:gd name="T1" fmla="*/ 0 h 144"/>
                <a:gd name="T2" fmla="*/ 0 w 672"/>
                <a:gd name="T3" fmla="*/ 144 h 144"/>
                <a:gd name="T4" fmla="*/ 237 w 672"/>
                <a:gd name="T5" fmla="*/ 144 h 144"/>
                <a:gd name="T6" fmla="*/ 0 60000 65536"/>
                <a:gd name="T7" fmla="*/ 0 60000 65536"/>
                <a:gd name="T8" fmla="*/ 0 60000 65536"/>
                <a:gd name="T9" fmla="*/ 0 w 672"/>
                <a:gd name="T10" fmla="*/ 0 h 144"/>
                <a:gd name="T11" fmla="*/ 672 w 672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144">
                  <a:moveTo>
                    <a:pt x="0" y="0"/>
                  </a:moveTo>
                  <a:lnTo>
                    <a:pt x="0" y="144"/>
                  </a:lnTo>
                  <a:lnTo>
                    <a:pt x="672" y="144"/>
                  </a:lnTo>
                </a:path>
              </a:pathLst>
            </a:custGeom>
            <a:noFill/>
            <a:ln w="762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31" name="Freeform 41"/>
            <p:cNvSpPr/>
            <p:nvPr/>
          </p:nvSpPr>
          <p:spPr bwMode="auto">
            <a:xfrm>
              <a:off x="1632" y="1632"/>
              <a:ext cx="2880" cy="1008"/>
            </a:xfrm>
            <a:custGeom>
              <a:avLst/>
              <a:gdLst>
                <a:gd name="T0" fmla="*/ 0 w 2976"/>
                <a:gd name="T1" fmla="*/ 0 h 1008"/>
                <a:gd name="T2" fmla="*/ 0 w 2976"/>
                <a:gd name="T3" fmla="*/ 1008 h 1008"/>
                <a:gd name="T4" fmla="*/ 1881 w 2976"/>
                <a:gd name="T5" fmla="*/ 1008 h 1008"/>
                <a:gd name="T6" fmla="*/ 0 60000 65536"/>
                <a:gd name="T7" fmla="*/ 0 60000 65536"/>
                <a:gd name="T8" fmla="*/ 0 60000 65536"/>
                <a:gd name="T9" fmla="*/ 0 w 2976"/>
                <a:gd name="T10" fmla="*/ 0 h 1008"/>
                <a:gd name="T11" fmla="*/ 2976 w 2976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76" h="1008">
                  <a:moveTo>
                    <a:pt x="0" y="0"/>
                  </a:moveTo>
                  <a:lnTo>
                    <a:pt x="0" y="1008"/>
                  </a:lnTo>
                  <a:lnTo>
                    <a:pt x="2976" y="1008"/>
                  </a:lnTo>
                </a:path>
              </a:pathLst>
            </a:custGeom>
            <a:noFill/>
            <a:ln w="762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32" name="Line 42"/>
            <p:cNvSpPr>
              <a:spLocks noChangeShapeType="1"/>
            </p:cNvSpPr>
            <p:nvPr/>
          </p:nvSpPr>
          <p:spPr bwMode="auto">
            <a:xfrm flipV="1">
              <a:off x="3552" y="2640"/>
              <a:ext cx="0" cy="24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33" name="Line 43"/>
            <p:cNvSpPr>
              <a:spLocks noChangeShapeType="1"/>
            </p:cNvSpPr>
            <p:nvPr/>
          </p:nvSpPr>
          <p:spPr bwMode="auto">
            <a:xfrm flipV="1">
              <a:off x="1968" y="2640"/>
              <a:ext cx="0" cy="24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34" name="Line 44"/>
            <p:cNvSpPr>
              <a:spLocks noChangeShapeType="1"/>
            </p:cNvSpPr>
            <p:nvPr/>
          </p:nvSpPr>
          <p:spPr bwMode="auto">
            <a:xfrm flipV="1">
              <a:off x="2784" y="2640"/>
              <a:ext cx="0" cy="24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35" name="Line 45"/>
            <p:cNvSpPr>
              <a:spLocks noChangeShapeType="1"/>
            </p:cNvSpPr>
            <p:nvPr/>
          </p:nvSpPr>
          <p:spPr bwMode="auto">
            <a:xfrm flipV="1">
              <a:off x="4272" y="2640"/>
              <a:ext cx="0" cy="24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136" name="Text Box 46"/>
            <p:cNvSpPr txBox="1">
              <a:spLocks noChangeArrowheads="1"/>
            </p:cNvSpPr>
            <p:nvPr/>
          </p:nvSpPr>
          <p:spPr bwMode="auto">
            <a:xfrm>
              <a:off x="2156" y="3681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标准总线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137" name="Rectangle 47"/>
            <p:cNvSpPr>
              <a:spLocks noChangeArrowheads="1"/>
            </p:cNvSpPr>
            <p:nvPr/>
          </p:nvSpPr>
          <p:spPr bwMode="auto">
            <a:xfrm>
              <a:off x="192" y="816"/>
              <a:ext cx="864" cy="336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CPU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77200" name="Rectangle 48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3.4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9093" name="AutoShape 5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smtClean="0"/>
              <a:t>3.5  总线控制</a:t>
            </a:r>
            <a:endParaRPr lang="zh-CN" altLang="en-US" b="1" smtClean="0"/>
          </a:p>
        </p:txBody>
      </p:sp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381000" y="990600"/>
            <a:ext cx="384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一、总线判优控制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78180" name="Text Box 4"/>
          <p:cNvSpPr txBox="1">
            <a:spLocks noChangeArrowheads="1"/>
          </p:cNvSpPr>
          <p:nvPr/>
        </p:nvSpPr>
        <p:spPr bwMode="auto">
          <a:xfrm>
            <a:off x="890588" y="5135563"/>
            <a:ext cx="3673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总线判优控制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78181" name="Text Box 5"/>
          <p:cNvSpPr txBox="1">
            <a:spLocks noChangeArrowheads="1"/>
          </p:cNvSpPr>
          <p:nvPr/>
        </p:nvSpPr>
        <p:spPr bwMode="auto">
          <a:xfrm>
            <a:off x="3935413" y="5715000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分布式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8182" name="Text Box 6"/>
          <p:cNvSpPr txBox="1">
            <a:spLocks noChangeArrowheads="1"/>
          </p:cNvSpPr>
          <p:nvPr/>
        </p:nvSpPr>
        <p:spPr bwMode="auto">
          <a:xfrm>
            <a:off x="3935413" y="4572000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集中式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8183" name="AutoShape 7"/>
          <p:cNvSpPr/>
          <p:nvPr/>
        </p:nvSpPr>
        <p:spPr bwMode="auto">
          <a:xfrm>
            <a:off x="3733800" y="4772025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8"/>
          <p:cNvGrpSpPr/>
          <p:nvPr/>
        </p:nvGrpSpPr>
        <p:grpSpPr bwMode="auto">
          <a:xfrm>
            <a:off x="890588" y="2579688"/>
            <a:ext cx="7312025" cy="519112"/>
            <a:chOff x="384" y="1577"/>
            <a:chExt cx="4606" cy="327"/>
          </a:xfrm>
        </p:grpSpPr>
        <p:sp>
          <p:nvSpPr>
            <p:cNvPr id="90130" name="Text Box 9"/>
            <p:cNvSpPr txBox="1">
              <a:spLocks noChangeArrowheads="1"/>
            </p:cNvSpPr>
            <p:nvPr/>
          </p:nvSpPr>
          <p:spPr bwMode="auto">
            <a:xfrm>
              <a:off x="384" y="1577"/>
              <a:ext cx="21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zh-CN" altLang="en-US" sz="2800">
                  <a:latin typeface="Times New Roman" panose="02020603050405020304" pitchFamily="18" charset="0"/>
                </a:rPr>
                <a:t> 主设备(模块)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90131" name="Text Box 10"/>
            <p:cNvSpPr txBox="1">
              <a:spLocks noChangeArrowheads="1"/>
            </p:cNvSpPr>
            <p:nvPr/>
          </p:nvSpPr>
          <p:spPr bwMode="auto">
            <a:xfrm>
              <a:off x="2158" y="1577"/>
              <a:ext cx="28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对总线有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控制权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1"/>
          <p:cNvGrpSpPr/>
          <p:nvPr/>
        </p:nvGrpSpPr>
        <p:grpSpPr bwMode="auto">
          <a:xfrm>
            <a:off x="890588" y="3351213"/>
            <a:ext cx="7712075" cy="546100"/>
            <a:chOff x="384" y="2063"/>
            <a:chExt cx="4858" cy="344"/>
          </a:xfrm>
        </p:grpSpPr>
        <p:sp>
          <p:nvSpPr>
            <p:cNvPr id="90128" name="Text Box 12"/>
            <p:cNvSpPr txBox="1">
              <a:spLocks noChangeArrowheads="1"/>
            </p:cNvSpPr>
            <p:nvPr/>
          </p:nvSpPr>
          <p:spPr bwMode="auto">
            <a:xfrm>
              <a:off x="384" y="2063"/>
              <a:ext cx="15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zh-CN" altLang="en-US" sz="2800">
                  <a:latin typeface="Times New Roman" panose="02020603050405020304" pitchFamily="18" charset="0"/>
                </a:rPr>
                <a:t> 从设备(模块)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0129" name="Text Box 13"/>
            <p:cNvSpPr txBox="1">
              <a:spLocks noChangeArrowheads="1"/>
            </p:cNvSpPr>
            <p:nvPr/>
          </p:nvSpPr>
          <p:spPr bwMode="auto">
            <a:xfrm>
              <a:off x="2158" y="2080"/>
              <a:ext cx="30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响应 </a:t>
              </a:r>
              <a:r>
                <a:rPr lang="zh-CN" altLang="en-US" sz="2800">
                  <a:latin typeface="Times New Roman" panose="02020603050405020304" pitchFamily="18" charset="0"/>
                </a:rPr>
                <a:t>从主设备发来的总线命令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78190" name="Text Box 14"/>
          <p:cNvSpPr txBox="1">
            <a:spLocks noChangeArrowheads="1"/>
          </p:cNvSpPr>
          <p:nvPr/>
        </p:nvSpPr>
        <p:spPr bwMode="auto">
          <a:xfrm>
            <a:off x="890588" y="1752600"/>
            <a:ext cx="457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1.  </a:t>
            </a:r>
            <a:r>
              <a:rPr lang="zh-CN" altLang="en-US" sz="3200"/>
              <a:t>基本概念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78191" name="Text Box 15"/>
          <p:cNvSpPr txBox="1">
            <a:spLocks noChangeArrowheads="1"/>
          </p:cNvSpPr>
          <p:nvPr/>
        </p:nvSpPr>
        <p:spPr bwMode="auto">
          <a:xfrm>
            <a:off x="5611813" y="4038600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链式查询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8192" name="Text Box 16"/>
          <p:cNvSpPr txBox="1">
            <a:spLocks noChangeArrowheads="1"/>
          </p:cNvSpPr>
          <p:nvPr/>
        </p:nvSpPr>
        <p:spPr bwMode="auto">
          <a:xfrm>
            <a:off x="5611813" y="4632325"/>
            <a:ext cx="2328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计数器定时查询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8193" name="Text Box 17"/>
          <p:cNvSpPr txBox="1">
            <a:spLocks noChangeArrowheads="1"/>
          </p:cNvSpPr>
          <p:nvPr/>
        </p:nvSpPr>
        <p:spPr bwMode="auto">
          <a:xfrm>
            <a:off x="5611813" y="5227638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独立请求方式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8194" name="AutoShape 18"/>
          <p:cNvSpPr/>
          <p:nvPr/>
        </p:nvSpPr>
        <p:spPr bwMode="auto">
          <a:xfrm>
            <a:off x="5383213" y="4208463"/>
            <a:ext cx="228600" cy="1295400"/>
          </a:xfrm>
          <a:prstGeom prst="leftBrace">
            <a:avLst>
              <a:gd name="adj1" fmla="val 47222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27" name="AutoShape 20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17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autoUpdateAnimBg="0"/>
      <p:bldP spid="178180" grpId="0" autoUpdateAnimBg="0"/>
      <p:bldP spid="178181" grpId="0" autoUpdateAnimBg="0"/>
      <p:bldP spid="178182" grpId="0" autoUpdateAnimBg="0"/>
      <p:bldP spid="178183" grpId="0" animBg="1"/>
      <p:bldP spid="178190" grpId="0" autoUpdateAnimBg="0"/>
      <p:bldP spid="178191" grpId="0" autoUpdateAnimBg="0"/>
      <p:bldP spid="178192" grpId="0" autoUpdateAnimBg="0"/>
      <p:bldP spid="178193" grpId="0" autoUpdateAnimBg="0"/>
      <p:bldP spid="17819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2"/>
          <p:cNvSpPr txBox="1">
            <a:spLocks noChangeArrowheads="1"/>
          </p:cNvSpPr>
          <p:nvPr/>
        </p:nvSpPr>
        <p:spPr bwMode="auto">
          <a:xfrm>
            <a:off x="593725" y="501650"/>
            <a:ext cx="4410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2. 链式查询方式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2" name="Group 62"/>
          <p:cNvGrpSpPr/>
          <p:nvPr/>
        </p:nvGrpSpPr>
        <p:grpSpPr bwMode="auto">
          <a:xfrm>
            <a:off x="457200" y="639763"/>
            <a:ext cx="8686800" cy="5608637"/>
            <a:chOff x="288" y="403"/>
            <a:chExt cx="5472" cy="3533"/>
          </a:xfrm>
        </p:grpSpPr>
        <p:sp>
          <p:nvSpPr>
            <p:cNvPr id="91155" name="Rectangle 4"/>
            <p:cNvSpPr>
              <a:spLocks noChangeArrowheads="1"/>
            </p:cNvSpPr>
            <p:nvPr/>
          </p:nvSpPr>
          <p:spPr bwMode="auto">
            <a:xfrm>
              <a:off x="288" y="1152"/>
              <a:ext cx="624" cy="2784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总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线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控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制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部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件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91156" name="Line 5"/>
            <p:cNvSpPr>
              <a:spLocks noChangeShapeType="1"/>
            </p:cNvSpPr>
            <p:nvPr/>
          </p:nvSpPr>
          <p:spPr bwMode="auto">
            <a:xfrm>
              <a:off x="912" y="1440"/>
              <a:ext cx="403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57" name="Line 6"/>
            <p:cNvSpPr>
              <a:spLocks noChangeShapeType="1"/>
            </p:cNvSpPr>
            <p:nvPr/>
          </p:nvSpPr>
          <p:spPr bwMode="auto">
            <a:xfrm>
              <a:off x="912" y="1776"/>
              <a:ext cx="403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58" name="Line 7"/>
            <p:cNvSpPr>
              <a:spLocks noChangeShapeType="1"/>
            </p:cNvSpPr>
            <p:nvPr/>
          </p:nvSpPr>
          <p:spPr bwMode="auto">
            <a:xfrm>
              <a:off x="912" y="2112"/>
              <a:ext cx="40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59" name="Line 8"/>
            <p:cNvSpPr>
              <a:spLocks noChangeShapeType="1"/>
            </p:cNvSpPr>
            <p:nvPr/>
          </p:nvSpPr>
          <p:spPr bwMode="auto">
            <a:xfrm>
              <a:off x="912" y="2448"/>
              <a:ext cx="40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60" name="Rectangle 9"/>
            <p:cNvSpPr>
              <a:spLocks noChangeArrowheads="1"/>
            </p:cNvSpPr>
            <p:nvPr/>
          </p:nvSpPr>
          <p:spPr bwMode="auto">
            <a:xfrm>
              <a:off x="1440" y="2832"/>
              <a:ext cx="1056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1161" name="Text Box 10"/>
            <p:cNvSpPr txBox="1">
              <a:spLocks noChangeArrowheads="1"/>
            </p:cNvSpPr>
            <p:nvPr/>
          </p:nvSpPr>
          <p:spPr bwMode="auto">
            <a:xfrm>
              <a:off x="3708" y="2880"/>
              <a:ext cx="3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62" name="Line 11"/>
            <p:cNvSpPr>
              <a:spLocks noChangeShapeType="1"/>
            </p:cNvSpPr>
            <p:nvPr/>
          </p:nvSpPr>
          <p:spPr bwMode="auto">
            <a:xfrm flipV="1">
              <a:off x="1584" y="2448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63" name="Line 12"/>
            <p:cNvSpPr>
              <a:spLocks noChangeShapeType="1"/>
            </p:cNvSpPr>
            <p:nvPr/>
          </p:nvSpPr>
          <p:spPr bwMode="auto">
            <a:xfrm flipV="1">
              <a:off x="1824" y="2112"/>
              <a:ext cx="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64" name="Line 13"/>
            <p:cNvSpPr>
              <a:spLocks noChangeShapeType="1"/>
            </p:cNvSpPr>
            <p:nvPr/>
          </p:nvSpPr>
          <p:spPr bwMode="auto">
            <a:xfrm>
              <a:off x="2064" y="1776"/>
              <a:ext cx="0" cy="1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65" name="Line 14"/>
            <p:cNvSpPr>
              <a:spLocks noChangeShapeType="1"/>
            </p:cNvSpPr>
            <p:nvPr/>
          </p:nvSpPr>
          <p:spPr bwMode="auto">
            <a:xfrm>
              <a:off x="2304" y="1440"/>
              <a:ext cx="0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66" name="Line 15"/>
            <p:cNvSpPr>
              <a:spLocks noChangeShapeType="1"/>
            </p:cNvSpPr>
            <p:nvPr/>
          </p:nvSpPr>
          <p:spPr bwMode="auto">
            <a:xfrm flipV="1">
              <a:off x="2736" y="2448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67" name="Line 16"/>
            <p:cNvSpPr>
              <a:spLocks noChangeShapeType="1"/>
            </p:cNvSpPr>
            <p:nvPr/>
          </p:nvSpPr>
          <p:spPr bwMode="auto">
            <a:xfrm flipV="1">
              <a:off x="2976" y="2112"/>
              <a:ext cx="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68" name="Line 17"/>
            <p:cNvSpPr>
              <a:spLocks noChangeShapeType="1"/>
            </p:cNvSpPr>
            <p:nvPr/>
          </p:nvSpPr>
          <p:spPr bwMode="auto">
            <a:xfrm>
              <a:off x="3216" y="1776"/>
              <a:ext cx="0" cy="1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69" name="Line 18"/>
            <p:cNvSpPr>
              <a:spLocks noChangeShapeType="1"/>
            </p:cNvSpPr>
            <p:nvPr/>
          </p:nvSpPr>
          <p:spPr bwMode="auto">
            <a:xfrm>
              <a:off x="3456" y="1440"/>
              <a:ext cx="0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70" name="Line 19"/>
            <p:cNvSpPr>
              <a:spLocks noChangeShapeType="1"/>
            </p:cNvSpPr>
            <p:nvPr/>
          </p:nvSpPr>
          <p:spPr bwMode="auto">
            <a:xfrm flipV="1">
              <a:off x="4128" y="2448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71" name="Line 20"/>
            <p:cNvSpPr>
              <a:spLocks noChangeShapeType="1"/>
            </p:cNvSpPr>
            <p:nvPr/>
          </p:nvSpPr>
          <p:spPr bwMode="auto">
            <a:xfrm flipV="1">
              <a:off x="4368" y="2112"/>
              <a:ext cx="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72" name="Line 21"/>
            <p:cNvSpPr>
              <a:spLocks noChangeShapeType="1"/>
            </p:cNvSpPr>
            <p:nvPr/>
          </p:nvSpPr>
          <p:spPr bwMode="auto">
            <a:xfrm>
              <a:off x="4608" y="1776"/>
              <a:ext cx="0" cy="1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73" name="Line 22"/>
            <p:cNvSpPr>
              <a:spLocks noChangeShapeType="1"/>
            </p:cNvSpPr>
            <p:nvPr/>
          </p:nvSpPr>
          <p:spPr bwMode="auto">
            <a:xfrm>
              <a:off x="4848" y="1440"/>
              <a:ext cx="0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74" name="Text Box 23"/>
            <p:cNvSpPr txBox="1">
              <a:spLocks noChangeArrowheads="1"/>
            </p:cNvSpPr>
            <p:nvPr/>
          </p:nvSpPr>
          <p:spPr bwMode="auto">
            <a:xfrm>
              <a:off x="1110" y="1817"/>
              <a:ext cx="3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BS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1175" name="Text Box 24"/>
            <p:cNvSpPr txBox="1">
              <a:spLocks noChangeArrowheads="1"/>
            </p:cNvSpPr>
            <p:nvPr/>
          </p:nvSpPr>
          <p:spPr bwMode="auto">
            <a:xfrm>
              <a:off x="1110" y="2153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BR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1176" name="Freeform 25"/>
            <p:cNvSpPr/>
            <p:nvPr/>
          </p:nvSpPr>
          <p:spPr bwMode="auto">
            <a:xfrm>
              <a:off x="912" y="3360"/>
              <a:ext cx="720" cy="432"/>
            </a:xfrm>
            <a:custGeom>
              <a:avLst/>
              <a:gdLst>
                <a:gd name="T0" fmla="*/ 0 w 720"/>
                <a:gd name="T1" fmla="*/ 899789 h 240"/>
                <a:gd name="T2" fmla="*/ 720 w 720"/>
                <a:gd name="T3" fmla="*/ 899789 h 240"/>
                <a:gd name="T4" fmla="*/ 720 w 720"/>
                <a:gd name="T5" fmla="*/ 0 h 240"/>
                <a:gd name="T6" fmla="*/ 0 60000 65536"/>
                <a:gd name="T7" fmla="*/ 0 60000 65536"/>
                <a:gd name="T8" fmla="*/ 0 60000 65536"/>
                <a:gd name="T9" fmla="*/ 0 w 720"/>
                <a:gd name="T10" fmla="*/ 0 h 240"/>
                <a:gd name="T11" fmla="*/ 720 w 72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40">
                  <a:moveTo>
                    <a:pt x="0" y="240"/>
                  </a:moveTo>
                  <a:lnTo>
                    <a:pt x="720" y="240"/>
                  </a:lnTo>
                  <a:lnTo>
                    <a:pt x="72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77" name="Rectangle 26"/>
            <p:cNvSpPr>
              <a:spLocks noChangeArrowheads="1"/>
            </p:cNvSpPr>
            <p:nvPr/>
          </p:nvSpPr>
          <p:spPr bwMode="auto">
            <a:xfrm>
              <a:off x="2640" y="2832"/>
              <a:ext cx="1056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1178" name="Rectangle 27"/>
            <p:cNvSpPr>
              <a:spLocks noChangeArrowheads="1"/>
            </p:cNvSpPr>
            <p:nvPr/>
          </p:nvSpPr>
          <p:spPr bwMode="auto">
            <a:xfrm>
              <a:off x="4032" y="2832"/>
              <a:ext cx="1056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91179" name="Freeform 28"/>
            <p:cNvSpPr/>
            <p:nvPr/>
          </p:nvSpPr>
          <p:spPr bwMode="auto">
            <a:xfrm>
              <a:off x="1632" y="3216"/>
              <a:ext cx="672" cy="144"/>
            </a:xfrm>
            <a:custGeom>
              <a:avLst/>
              <a:gdLst>
                <a:gd name="T0" fmla="*/ 0 w 528"/>
                <a:gd name="T1" fmla="*/ 144 h 144"/>
                <a:gd name="T2" fmla="*/ 1406 w 528"/>
                <a:gd name="T3" fmla="*/ 48 h 144"/>
                <a:gd name="T4" fmla="*/ 8428 w 528"/>
                <a:gd name="T5" fmla="*/ 0 h 144"/>
                <a:gd name="T6" fmla="*/ 14055 w 528"/>
                <a:gd name="T7" fmla="*/ 48 h 144"/>
                <a:gd name="T8" fmla="*/ 15450 w 528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44"/>
                <a:gd name="T17" fmla="*/ 528 w 528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44">
                  <a:moveTo>
                    <a:pt x="0" y="144"/>
                  </a:moveTo>
                  <a:cubicBezTo>
                    <a:pt x="0" y="108"/>
                    <a:pt x="0" y="72"/>
                    <a:pt x="48" y="48"/>
                  </a:cubicBezTo>
                  <a:cubicBezTo>
                    <a:pt x="96" y="24"/>
                    <a:pt x="216" y="0"/>
                    <a:pt x="288" y="0"/>
                  </a:cubicBezTo>
                  <a:cubicBezTo>
                    <a:pt x="360" y="0"/>
                    <a:pt x="440" y="24"/>
                    <a:pt x="480" y="48"/>
                  </a:cubicBezTo>
                  <a:cubicBezTo>
                    <a:pt x="520" y="72"/>
                    <a:pt x="520" y="128"/>
                    <a:pt x="528" y="144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80" name="Freeform 29"/>
            <p:cNvSpPr/>
            <p:nvPr/>
          </p:nvSpPr>
          <p:spPr bwMode="auto">
            <a:xfrm>
              <a:off x="2304" y="3360"/>
              <a:ext cx="528" cy="432"/>
            </a:xfrm>
            <a:custGeom>
              <a:avLst/>
              <a:gdLst>
                <a:gd name="T0" fmla="*/ 0 w 720"/>
                <a:gd name="T1" fmla="*/ 899789 h 240"/>
                <a:gd name="T2" fmla="*/ 9 w 720"/>
                <a:gd name="T3" fmla="*/ 899789 h 240"/>
                <a:gd name="T4" fmla="*/ 9 w 720"/>
                <a:gd name="T5" fmla="*/ 0 h 240"/>
                <a:gd name="T6" fmla="*/ 0 60000 65536"/>
                <a:gd name="T7" fmla="*/ 0 60000 65536"/>
                <a:gd name="T8" fmla="*/ 0 60000 65536"/>
                <a:gd name="T9" fmla="*/ 0 w 720"/>
                <a:gd name="T10" fmla="*/ 0 h 240"/>
                <a:gd name="T11" fmla="*/ 720 w 72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40">
                  <a:moveTo>
                    <a:pt x="0" y="240"/>
                  </a:moveTo>
                  <a:lnTo>
                    <a:pt x="720" y="240"/>
                  </a:lnTo>
                  <a:lnTo>
                    <a:pt x="72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81" name="Line 30"/>
            <p:cNvSpPr>
              <a:spLocks noChangeShapeType="1"/>
            </p:cNvSpPr>
            <p:nvPr/>
          </p:nvSpPr>
          <p:spPr bwMode="auto">
            <a:xfrm>
              <a:off x="2304" y="336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82" name="Freeform 31"/>
            <p:cNvSpPr/>
            <p:nvPr/>
          </p:nvSpPr>
          <p:spPr bwMode="auto">
            <a:xfrm>
              <a:off x="2832" y="3216"/>
              <a:ext cx="672" cy="144"/>
            </a:xfrm>
            <a:custGeom>
              <a:avLst/>
              <a:gdLst>
                <a:gd name="T0" fmla="*/ 0 w 528"/>
                <a:gd name="T1" fmla="*/ 144 h 144"/>
                <a:gd name="T2" fmla="*/ 1406 w 528"/>
                <a:gd name="T3" fmla="*/ 48 h 144"/>
                <a:gd name="T4" fmla="*/ 8428 w 528"/>
                <a:gd name="T5" fmla="*/ 0 h 144"/>
                <a:gd name="T6" fmla="*/ 14055 w 528"/>
                <a:gd name="T7" fmla="*/ 48 h 144"/>
                <a:gd name="T8" fmla="*/ 15450 w 528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44"/>
                <a:gd name="T17" fmla="*/ 528 w 528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44">
                  <a:moveTo>
                    <a:pt x="0" y="144"/>
                  </a:moveTo>
                  <a:cubicBezTo>
                    <a:pt x="0" y="108"/>
                    <a:pt x="0" y="72"/>
                    <a:pt x="48" y="48"/>
                  </a:cubicBezTo>
                  <a:cubicBezTo>
                    <a:pt x="96" y="24"/>
                    <a:pt x="216" y="0"/>
                    <a:pt x="288" y="0"/>
                  </a:cubicBezTo>
                  <a:cubicBezTo>
                    <a:pt x="360" y="0"/>
                    <a:pt x="440" y="24"/>
                    <a:pt x="480" y="48"/>
                  </a:cubicBezTo>
                  <a:cubicBezTo>
                    <a:pt x="520" y="72"/>
                    <a:pt x="520" y="128"/>
                    <a:pt x="528" y="144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83" name="Freeform 32"/>
            <p:cNvSpPr/>
            <p:nvPr/>
          </p:nvSpPr>
          <p:spPr bwMode="auto">
            <a:xfrm>
              <a:off x="4224" y="3216"/>
              <a:ext cx="672" cy="144"/>
            </a:xfrm>
            <a:custGeom>
              <a:avLst/>
              <a:gdLst>
                <a:gd name="T0" fmla="*/ 0 w 528"/>
                <a:gd name="T1" fmla="*/ 144 h 144"/>
                <a:gd name="T2" fmla="*/ 1406 w 528"/>
                <a:gd name="T3" fmla="*/ 48 h 144"/>
                <a:gd name="T4" fmla="*/ 8428 w 528"/>
                <a:gd name="T5" fmla="*/ 0 h 144"/>
                <a:gd name="T6" fmla="*/ 14055 w 528"/>
                <a:gd name="T7" fmla="*/ 48 h 144"/>
                <a:gd name="T8" fmla="*/ 15450 w 528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44"/>
                <a:gd name="T17" fmla="*/ 528 w 528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44">
                  <a:moveTo>
                    <a:pt x="0" y="144"/>
                  </a:moveTo>
                  <a:cubicBezTo>
                    <a:pt x="0" y="108"/>
                    <a:pt x="0" y="72"/>
                    <a:pt x="48" y="48"/>
                  </a:cubicBezTo>
                  <a:cubicBezTo>
                    <a:pt x="96" y="24"/>
                    <a:pt x="216" y="0"/>
                    <a:pt x="288" y="0"/>
                  </a:cubicBezTo>
                  <a:cubicBezTo>
                    <a:pt x="360" y="0"/>
                    <a:pt x="440" y="24"/>
                    <a:pt x="480" y="48"/>
                  </a:cubicBezTo>
                  <a:cubicBezTo>
                    <a:pt x="520" y="72"/>
                    <a:pt x="520" y="128"/>
                    <a:pt x="528" y="144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84" name="Line 33"/>
            <p:cNvSpPr>
              <a:spLocks noChangeShapeType="1"/>
            </p:cNvSpPr>
            <p:nvPr/>
          </p:nvSpPr>
          <p:spPr bwMode="auto">
            <a:xfrm>
              <a:off x="3504" y="336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85" name="Line 34"/>
            <p:cNvSpPr>
              <a:spLocks noChangeShapeType="1"/>
            </p:cNvSpPr>
            <p:nvPr/>
          </p:nvSpPr>
          <p:spPr bwMode="auto">
            <a:xfrm>
              <a:off x="4896" y="336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86" name="Line 35"/>
            <p:cNvSpPr>
              <a:spLocks noChangeShapeType="1"/>
            </p:cNvSpPr>
            <p:nvPr/>
          </p:nvSpPr>
          <p:spPr bwMode="auto">
            <a:xfrm>
              <a:off x="4896" y="3792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87" name="Text Box 36"/>
            <p:cNvSpPr txBox="1">
              <a:spLocks noChangeArrowheads="1"/>
            </p:cNvSpPr>
            <p:nvPr/>
          </p:nvSpPr>
          <p:spPr bwMode="auto">
            <a:xfrm>
              <a:off x="5388" y="3552"/>
              <a:ext cx="3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…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91188" name="Text Box 37"/>
            <p:cNvSpPr txBox="1">
              <a:spLocks noChangeArrowheads="1"/>
            </p:cNvSpPr>
            <p:nvPr/>
          </p:nvSpPr>
          <p:spPr bwMode="auto">
            <a:xfrm>
              <a:off x="1110" y="3509"/>
              <a:ext cx="3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BG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1189" name="Line 38"/>
            <p:cNvSpPr>
              <a:spLocks noChangeShapeType="1"/>
            </p:cNvSpPr>
            <p:nvPr/>
          </p:nvSpPr>
          <p:spPr bwMode="auto">
            <a:xfrm>
              <a:off x="3504" y="3792"/>
              <a:ext cx="7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90" name="Line 39"/>
            <p:cNvSpPr>
              <a:spLocks noChangeShapeType="1"/>
            </p:cNvSpPr>
            <p:nvPr/>
          </p:nvSpPr>
          <p:spPr bwMode="auto">
            <a:xfrm flipV="1">
              <a:off x="4224" y="336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91191" name="Group 60"/>
            <p:cNvGrpSpPr/>
            <p:nvPr/>
          </p:nvGrpSpPr>
          <p:grpSpPr bwMode="auto">
            <a:xfrm>
              <a:off x="3168" y="403"/>
              <a:ext cx="2471" cy="1493"/>
              <a:chOff x="3168" y="403"/>
              <a:chExt cx="2471" cy="1493"/>
            </a:xfrm>
          </p:grpSpPr>
          <p:sp>
            <p:nvSpPr>
              <p:cNvPr id="91192" name="Text Box 41"/>
              <p:cNvSpPr txBox="1">
                <a:spLocks noChangeArrowheads="1"/>
              </p:cNvSpPr>
              <p:nvPr/>
            </p:nvSpPr>
            <p:spPr bwMode="auto">
              <a:xfrm>
                <a:off x="4944" y="1272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数据线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193" name="Text Box 42"/>
              <p:cNvSpPr txBox="1">
                <a:spLocks noChangeArrowheads="1"/>
              </p:cNvSpPr>
              <p:nvPr/>
            </p:nvSpPr>
            <p:spPr bwMode="auto">
              <a:xfrm>
                <a:off x="4944" y="1608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地址线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194" name="Text Box 43"/>
              <p:cNvSpPr txBox="1">
                <a:spLocks noChangeArrowheads="1"/>
              </p:cNvSpPr>
              <p:nvPr/>
            </p:nvSpPr>
            <p:spPr bwMode="auto">
              <a:xfrm>
                <a:off x="3168" y="403"/>
                <a:ext cx="1708" cy="9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US" altLang="zh-CN" sz="24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BS</a:t>
                </a:r>
                <a:r>
                  <a:rPr lang="en-US" altLang="zh-CN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－总线忙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BR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－总线请求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BG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－总线同意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79244" name="Line 44"/>
          <p:cNvSpPr>
            <a:spLocks noChangeShapeType="1"/>
          </p:cNvSpPr>
          <p:nvPr/>
        </p:nvSpPr>
        <p:spPr bwMode="auto">
          <a:xfrm flipH="1">
            <a:off x="1447800" y="3352800"/>
            <a:ext cx="3276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9245" name="Line 45"/>
          <p:cNvSpPr>
            <a:spLocks noChangeShapeType="1"/>
          </p:cNvSpPr>
          <p:nvPr/>
        </p:nvSpPr>
        <p:spPr bwMode="auto">
          <a:xfrm>
            <a:off x="1447800" y="3886200"/>
            <a:ext cx="51054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4" name="Group 46"/>
          <p:cNvGrpSpPr/>
          <p:nvPr/>
        </p:nvGrpSpPr>
        <p:grpSpPr bwMode="auto">
          <a:xfrm>
            <a:off x="4343400" y="3886200"/>
            <a:ext cx="2209800" cy="609600"/>
            <a:chOff x="2736" y="1296"/>
            <a:chExt cx="1392" cy="384"/>
          </a:xfrm>
        </p:grpSpPr>
        <p:sp>
          <p:nvSpPr>
            <p:cNvPr id="91153" name="Line 47"/>
            <p:cNvSpPr>
              <a:spLocks noChangeShapeType="1"/>
            </p:cNvSpPr>
            <p:nvPr/>
          </p:nvSpPr>
          <p:spPr bwMode="auto">
            <a:xfrm flipV="1">
              <a:off x="2736" y="1296"/>
              <a:ext cx="0" cy="384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154" name="Line 48"/>
            <p:cNvSpPr>
              <a:spLocks noChangeShapeType="1"/>
            </p:cNvSpPr>
            <p:nvPr/>
          </p:nvSpPr>
          <p:spPr bwMode="auto">
            <a:xfrm flipV="1">
              <a:off x="4128" y="1296"/>
              <a:ext cx="0" cy="384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79249" name="Line 49"/>
          <p:cNvSpPr>
            <a:spLocks noChangeShapeType="1"/>
          </p:cNvSpPr>
          <p:nvPr/>
        </p:nvSpPr>
        <p:spPr bwMode="auto">
          <a:xfrm flipV="1">
            <a:off x="2590800" y="5334000"/>
            <a:ext cx="0" cy="6858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9250" name="Line 50"/>
          <p:cNvSpPr>
            <a:spLocks noChangeShapeType="1"/>
          </p:cNvSpPr>
          <p:nvPr/>
        </p:nvSpPr>
        <p:spPr bwMode="auto">
          <a:xfrm>
            <a:off x="1447800" y="6019800"/>
            <a:ext cx="11430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9251" name="Freeform 51"/>
          <p:cNvSpPr/>
          <p:nvPr/>
        </p:nvSpPr>
        <p:spPr bwMode="auto">
          <a:xfrm>
            <a:off x="2590800" y="5105400"/>
            <a:ext cx="1066800" cy="228600"/>
          </a:xfrm>
          <a:custGeom>
            <a:avLst/>
            <a:gdLst>
              <a:gd name="T0" fmla="*/ 0 w 528"/>
              <a:gd name="T1" fmla="*/ 2147483647 h 144"/>
              <a:gd name="T2" fmla="*/ 2147483647 w 528"/>
              <a:gd name="T3" fmla="*/ 2147483647 h 144"/>
              <a:gd name="T4" fmla="*/ 2147483647 w 528"/>
              <a:gd name="T5" fmla="*/ 0 h 144"/>
              <a:gd name="T6" fmla="*/ 2147483647 w 528"/>
              <a:gd name="T7" fmla="*/ 2147483647 h 144"/>
              <a:gd name="T8" fmla="*/ 2147483647 w 528"/>
              <a:gd name="T9" fmla="*/ 2147483647 h 1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8"/>
              <a:gd name="T16" fmla="*/ 0 h 144"/>
              <a:gd name="T17" fmla="*/ 528 w 528"/>
              <a:gd name="T18" fmla="*/ 144 h 1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8" h="144">
                <a:moveTo>
                  <a:pt x="0" y="144"/>
                </a:moveTo>
                <a:cubicBezTo>
                  <a:pt x="0" y="108"/>
                  <a:pt x="0" y="72"/>
                  <a:pt x="48" y="48"/>
                </a:cubicBezTo>
                <a:cubicBezTo>
                  <a:pt x="96" y="24"/>
                  <a:pt x="216" y="0"/>
                  <a:pt x="288" y="0"/>
                </a:cubicBezTo>
                <a:cubicBezTo>
                  <a:pt x="360" y="0"/>
                  <a:pt x="440" y="24"/>
                  <a:pt x="480" y="48"/>
                </a:cubicBezTo>
                <a:cubicBezTo>
                  <a:pt x="520" y="72"/>
                  <a:pt x="520" y="128"/>
                  <a:pt x="528" y="144"/>
                </a:cubicBezTo>
              </a:path>
            </a:pathLst>
          </a:custGeom>
          <a:noFill/>
          <a:ln w="76200" cmpd="sng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9252" name="Line 52"/>
          <p:cNvSpPr>
            <a:spLocks noChangeShapeType="1"/>
          </p:cNvSpPr>
          <p:nvPr/>
        </p:nvSpPr>
        <p:spPr bwMode="auto">
          <a:xfrm>
            <a:off x="3657600" y="5334000"/>
            <a:ext cx="0" cy="6858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9253" name="Line 53"/>
          <p:cNvSpPr>
            <a:spLocks noChangeShapeType="1"/>
          </p:cNvSpPr>
          <p:nvPr/>
        </p:nvSpPr>
        <p:spPr bwMode="auto">
          <a:xfrm>
            <a:off x="3657600" y="6019800"/>
            <a:ext cx="8382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9254" name="Line 54"/>
          <p:cNvSpPr>
            <a:spLocks noChangeShapeType="1"/>
          </p:cNvSpPr>
          <p:nvPr/>
        </p:nvSpPr>
        <p:spPr bwMode="auto">
          <a:xfrm flipV="1">
            <a:off x="4495800" y="5334000"/>
            <a:ext cx="0" cy="6858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9255" name="Line 55"/>
          <p:cNvSpPr>
            <a:spLocks noChangeShapeType="1"/>
          </p:cNvSpPr>
          <p:nvPr/>
        </p:nvSpPr>
        <p:spPr bwMode="auto">
          <a:xfrm flipV="1">
            <a:off x="4724400" y="3352800"/>
            <a:ext cx="0" cy="11430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9256" name="Rectangle 5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79257" name="Rectangle 57"/>
          <p:cNvSpPr>
            <a:spLocks noChangeArrowheads="1"/>
          </p:cNvSpPr>
          <p:nvPr/>
        </p:nvSpPr>
        <p:spPr bwMode="auto">
          <a:xfrm>
            <a:off x="4191000" y="4495800"/>
            <a:ext cx="1676400" cy="838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接口1</a:t>
            </a:r>
            <a:endParaRPr lang="zh-CN" altLang="en-US" sz="240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52" name="AutoShape 59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17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7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7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7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7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9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9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9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9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7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7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7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8" dur="500"/>
                                        <p:tgtEl>
                                          <p:spTgt spid="17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44" grpId="0" animBg="1"/>
      <p:bldP spid="179245" grpId="0" animBg="1"/>
      <p:bldP spid="179249" grpId="0" animBg="1"/>
      <p:bldP spid="179250" grpId="0" animBg="1"/>
      <p:bldP spid="179251" grpId="0" animBg="1"/>
      <p:bldP spid="179252" grpId="0" animBg="1"/>
      <p:bldP spid="179253" grpId="0" animBg="1"/>
      <p:bldP spid="179254" grpId="0" animBg="1"/>
      <p:bldP spid="179255" grpId="0" animBg="1"/>
      <p:bldP spid="179257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304800" y="3733800"/>
            <a:ext cx="685800" cy="762000"/>
            <a:chOff x="1536" y="3888"/>
            <a:chExt cx="432" cy="480"/>
          </a:xfrm>
        </p:grpSpPr>
        <p:sp>
          <p:nvSpPr>
            <p:cNvPr id="92232" name="Rectangle 3"/>
            <p:cNvSpPr>
              <a:spLocks noChangeArrowheads="1"/>
            </p:cNvSpPr>
            <p:nvPr/>
          </p:nvSpPr>
          <p:spPr bwMode="auto">
            <a:xfrm>
              <a:off x="1536" y="3888"/>
              <a:ext cx="384" cy="480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92233" name="Text Box 4"/>
            <p:cNvSpPr txBox="1">
              <a:spLocks noChangeArrowheads="1"/>
            </p:cNvSpPr>
            <p:nvPr/>
          </p:nvSpPr>
          <p:spPr bwMode="auto">
            <a:xfrm>
              <a:off x="1536" y="3936"/>
              <a:ext cx="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solidFill>
                    <a:schemeClr val="bg2"/>
                  </a:solidFill>
                  <a:latin typeface="Times New Roman" panose="02020603050405020304" pitchFamily="18" charset="0"/>
                </a:rPr>
                <a:t> 0</a:t>
              </a:r>
              <a:endParaRPr lang="zh-CN" altLang="en-US" sz="32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75"/>
          <p:cNvGrpSpPr/>
          <p:nvPr/>
        </p:nvGrpSpPr>
        <p:grpSpPr bwMode="auto">
          <a:xfrm>
            <a:off x="1295400" y="639763"/>
            <a:ext cx="7848600" cy="5761037"/>
            <a:chOff x="816" y="403"/>
            <a:chExt cx="4944" cy="3629"/>
          </a:xfrm>
        </p:grpSpPr>
        <p:sp>
          <p:nvSpPr>
            <p:cNvPr id="92201" name="Text Box 6"/>
            <p:cNvSpPr txBox="1">
              <a:spLocks noChangeArrowheads="1"/>
            </p:cNvSpPr>
            <p:nvPr/>
          </p:nvSpPr>
          <p:spPr bwMode="auto">
            <a:xfrm>
              <a:off x="3152" y="403"/>
              <a:ext cx="1497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zh-CN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BS</a:t>
              </a:r>
              <a:r>
                <a:rPr lang="en-US" altLang="zh-CN">
                  <a:latin typeface="Times New Roman" panose="02020603050405020304" pitchFamily="18" charset="0"/>
                </a:rPr>
                <a:t>  </a:t>
              </a:r>
              <a:r>
                <a:rPr lang="zh-CN" altLang="en-US" sz="2400">
                  <a:latin typeface="Times New Roman" panose="02020603050405020304" pitchFamily="18" charset="0"/>
                </a:rPr>
                <a:t>－总线忙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BR</a:t>
              </a:r>
              <a:r>
                <a:rPr lang="zh-CN" altLang="en-US" sz="2400">
                  <a:latin typeface="Times New Roman" panose="02020603050405020304" pitchFamily="18" charset="0"/>
                </a:rPr>
                <a:t>－总线请求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202" name="Rectangle 7"/>
            <p:cNvSpPr>
              <a:spLocks noChangeArrowheads="1"/>
            </p:cNvSpPr>
            <p:nvPr/>
          </p:nvSpPr>
          <p:spPr bwMode="auto">
            <a:xfrm>
              <a:off x="816" y="864"/>
              <a:ext cx="576" cy="316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总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线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控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制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部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件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92203" name="Line 8"/>
            <p:cNvSpPr>
              <a:spLocks noChangeShapeType="1"/>
            </p:cNvSpPr>
            <p:nvPr/>
          </p:nvSpPr>
          <p:spPr bwMode="auto">
            <a:xfrm>
              <a:off x="1392" y="1536"/>
              <a:ext cx="43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04" name="Text Box 9"/>
            <p:cNvSpPr txBox="1">
              <a:spLocks noChangeArrowheads="1"/>
            </p:cNvSpPr>
            <p:nvPr/>
          </p:nvSpPr>
          <p:spPr bwMode="auto">
            <a:xfrm>
              <a:off x="4608" y="866"/>
              <a:ext cx="64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200">
                  <a:latin typeface="Times New Roman" panose="02020603050405020304" pitchFamily="18" charset="0"/>
                </a:rPr>
                <a:t>数据线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  <p:sp>
          <p:nvSpPr>
            <p:cNvPr id="92205" name="Line 10"/>
            <p:cNvSpPr>
              <a:spLocks noChangeShapeType="1"/>
            </p:cNvSpPr>
            <p:nvPr/>
          </p:nvSpPr>
          <p:spPr bwMode="auto">
            <a:xfrm>
              <a:off x="1392" y="1920"/>
              <a:ext cx="43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06" name="Text Box 11"/>
            <p:cNvSpPr txBox="1">
              <a:spLocks noChangeArrowheads="1"/>
            </p:cNvSpPr>
            <p:nvPr/>
          </p:nvSpPr>
          <p:spPr bwMode="auto">
            <a:xfrm>
              <a:off x="4608" y="1250"/>
              <a:ext cx="64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200">
                  <a:latin typeface="Times New Roman" panose="02020603050405020304" pitchFamily="18" charset="0"/>
                </a:rPr>
                <a:t>地址线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  <p:sp>
          <p:nvSpPr>
            <p:cNvPr id="92207" name="Line 12"/>
            <p:cNvSpPr>
              <a:spLocks noChangeShapeType="1"/>
            </p:cNvSpPr>
            <p:nvPr/>
          </p:nvSpPr>
          <p:spPr bwMode="auto">
            <a:xfrm>
              <a:off x="1392" y="2304"/>
              <a:ext cx="43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08" name="Line 13"/>
            <p:cNvSpPr>
              <a:spLocks noChangeShapeType="1"/>
            </p:cNvSpPr>
            <p:nvPr/>
          </p:nvSpPr>
          <p:spPr bwMode="auto">
            <a:xfrm>
              <a:off x="1392" y="2688"/>
              <a:ext cx="43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09" name="Rectangle 14"/>
            <p:cNvSpPr>
              <a:spLocks noChangeArrowheads="1"/>
            </p:cNvSpPr>
            <p:nvPr/>
          </p:nvSpPr>
          <p:spPr bwMode="auto">
            <a:xfrm>
              <a:off x="1920" y="3264"/>
              <a:ext cx="1056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210" name="Text Box 15"/>
            <p:cNvSpPr txBox="1">
              <a:spLocks noChangeArrowheads="1"/>
            </p:cNvSpPr>
            <p:nvPr/>
          </p:nvSpPr>
          <p:spPr bwMode="auto">
            <a:xfrm>
              <a:off x="4188" y="3312"/>
              <a:ext cx="3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211" name="Text Box 16"/>
            <p:cNvSpPr txBox="1">
              <a:spLocks noChangeArrowheads="1"/>
            </p:cNvSpPr>
            <p:nvPr/>
          </p:nvSpPr>
          <p:spPr bwMode="auto">
            <a:xfrm>
              <a:off x="1626" y="2048"/>
              <a:ext cx="3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BS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212" name="Text Box 17"/>
            <p:cNvSpPr txBox="1">
              <a:spLocks noChangeArrowheads="1"/>
            </p:cNvSpPr>
            <p:nvPr/>
          </p:nvSpPr>
          <p:spPr bwMode="auto">
            <a:xfrm>
              <a:off x="1637" y="2432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BR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2213" name="Rectangle 18"/>
            <p:cNvSpPr>
              <a:spLocks noChangeArrowheads="1"/>
            </p:cNvSpPr>
            <p:nvPr/>
          </p:nvSpPr>
          <p:spPr bwMode="auto">
            <a:xfrm>
              <a:off x="3120" y="3264"/>
              <a:ext cx="1056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214" name="Rectangle 19"/>
            <p:cNvSpPr>
              <a:spLocks noChangeArrowheads="1"/>
            </p:cNvSpPr>
            <p:nvPr/>
          </p:nvSpPr>
          <p:spPr bwMode="auto">
            <a:xfrm>
              <a:off x="4512" y="3264"/>
              <a:ext cx="1056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I/O</a:t>
              </a:r>
              <a:r>
                <a:rPr lang="zh-CN" altLang="en-US" sz="2400">
                  <a:latin typeface="Times New Roman" panose="02020603050405020304" pitchFamily="18" charset="0"/>
                </a:rPr>
                <a:t>接口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92215" name="Line 20"/>
            <p:cNvSpPr>
              <a:spLocks noChangeShapeType="1"/>
            </p:cNvSpPr>
            <p:nvPr/>
          </p:nvSpPr>
          <p:spPr bwMode="auto">
            <a:xfrm>
              <a:off x="1392" y="1152"/>
              <a:ext cx="43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16" name="Text Box 21"/>
            <p:cNvSpPr txBox="1">
              <a:spLocks noChangeArrowheads="1"/>
            </p:cNvSpPr>
            <p:nvPr/>
          </p:nvSpPr>
          <p:spPr bwMode="auto">
            <a:xfrm>
              <a:off x="4220" y="1634"/>
              <a:ext cx="8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200">
                  <a:latin typeface="Times New Roman" panose="02020603050405020304" pitchFamily="18" charset="0"/>
                </a:rPr>
                <a:t>设备地址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  <p:sp>
          <p:nvSpPr>
            <p:cNvPr id="92217" name="Line 22"/>
            <p:cNvSpPr>
              <a:spLocks noChangeShapeType="1"/>
            </p:cNvSpPr>
            <p:nvPr/>
          </p:nvSpPr>
          <p:spPr bwMode="auto">
            <a:xfrm flipV="1">
              <a:off x="2064" y="2688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18" name="Line 23"/>
            <p:cNvSpPr>
              <a:spLocks noChangeShapeType="1"/>
            </p:cNvSpPr>
            <p:nvPr/>
          </p:nvSpPr>
          <p:spPr bwMode="auto">
            <a:xfrm flipV="1">
              <a:off x="2256" y="2304"/>
              <a:ext cx="0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19" name="Line 24"/>
            <p:cNvSpPr>
              <a:spLocks noChangeShapeType="1"/>
            </p:cNvSpPr>
            <p:nvPr/>
          </p:nvSpPr>
          <p:spPr bwMode="auto">
            <a:xfrm>
              <a:off x="2448" y="1920"/>
              <a:ext cx="0" cy="1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20" name="Line 25"/>
            <p:cNvSpPr>
              <a:spLocks noChangeShapeType="1"/>
            </p:cNvSpPr>
            <p:nvPr/>
          </p:nvSpPr>
          <p:spPr bwMode="auto">
            <a:xfrm>
              <a:off x="2640" y="1536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21" name="Line 26"/>
            <p:cNvSpPr>
              <a:spLocks noChangeShapeType="1"/>
            </p:cNvSpPr>
            <p:nvPr/>
          </p:nvSpPr>
          <p:spPr bwMode="auto">
            <a:xfrm>
              <a:off x="2832" y="1152"/>
              <a:ext cx="0" cy="21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22" name="Line 27"/>
            <p:cNvSpPr>
              <a:spLocks noChangeShapeType="1"/>
            </p:cNvSpPr>
            <p:nvPr/>
          </p:nvSpPr>
          <p:spPr bwMode="auto">
            <a:xfrm flipV="1">
              <a:off x="3264" y="2688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23" name="Line 28"/>
            <p:cNvSpPr>
              <a:spLocks noChangeShapeType="1"/>
            </p:cNvSpPr>
            <p:nvPr/>
          </p:nvSpPr>
          <p:spPr bwMode="auto">
            <a:xfrm flipV="1">
              <a:off x="3456" y="2304"/>
              <a:ext cx="0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24" name="Line 29"/>
            <p:cNvSpPr>
              <a:spLocks noChangeShapeType="1"/>
            </p:cNvSpPr>
            <p:nvPr/>
          </p:nvSpPr>
          <p:spPr bwMode="auto">
            <a:xfrm>
              <a:off x="3648" y="1920"/>
              <a:ext cx="0" cy="1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25" name="Line 30"/>
            <p:cNvSpPr>
              <a:spLocks noChangeShapeType="1"/>
            </p:cNvSpPr>
            <p:nvPr/>
          </p:nvSpPr>
          <p:spPr bwMode="auto">
            <a:xfrm>
              <a:off x="3840" y="1536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26" name="Line 31"/>
            <p:cNvSpPr>
              <a:spLocks noChangeShapeType="1"/>
            </p:cNvSpPr>
            <p:nvPr/>
          </p:nvSpPr>
          <p:spPr bwMode="auto">
            <a:xfrm>
              <a:off x="4032" y="1152"/>
              <a:ext cx="0" cy="21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27" name="Line 32"/>
            <p:cNvSpPr>
              <a:spLocks noChangeShapeType="1"/>
            </p:cNvSpPr>
            <p:nvPr/>
          </p:nvSpPr>
          <p:spPr bwMode="auto">
            <a:xfrm flipV="1">
              <a:off x="4608" y="2688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28" name="Line 33"/>
            <p:cNvSpPr>
              <a:spLocks noChangeShapeType="1"/>
            </p:cNvSpPr>
            <p:nvPr/>
          </p:nvSpPr>
          <p:spPr bwMode="auto">
            <a:xfrm flipV="1">
              <a:off x="4800" y="2304"/>
              <a:ext cx="0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29" name="Line 34"/>
            <p:cNvSpPr>
              <a:spLocks noChangeShapeType="1"/>
            </p:cNvSpPr>
            <p:nvPr/>
          </p:nvSpPr>
          <p:spPr bwMode="auto">
            <a:xfrm>
              <a:off x="4992" y="1920"/>
              <a:ext cx="0" cy="1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30" name="Line 35"/>
            <p:cNvSpPr>
              <a:spLocks noChangeShapeType="1"/>
            </p:cNvSpPr>
            <p:nvPr/>
          </p:nvSpPr>
          <p:spPr bwMode="auto">
            <a:xfrm>
              <a:off x="5184" y="1536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31" name="Line 36"/>
            <p:cNvSpPr>
              <a:spLocks noChangeShapeType="1"/>
            </p:cNvSpPr>
            <p:nvPr/>
          </p:nvSpPr>
          <p:spPr bwMode="auto">
            <a:xfrm>
              <a:off x="5376" y="1152"/>
              <a:ext cx="0" cy="21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92164" name="Text Box 37"/>
          <p:cNvSpPr txBox="1">
            <a:spLocks noChangeArrowheads="1"/>
          </p:cNvSpPr>
          <p:nvPr/>
        </p:nvSpPr>
        <p:spPr bwMode="auto">
          <a:xfrm>
            <a:off x="228600" y="425450"/>
            <a:ext cx="5495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3. 计数器定时查询方式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4" name="Group 38"/>
          <p:cNvGrpSpPr/>
          <p:nvPr/>
        </p:nvGrpSpPr>
        <p:grpSpPr bwMode="auto">
          <a:xfrm>
            <a:off x="2209800" y="3048000"/>
            <a:ext cx="6934200" cy="2133600"/>
            <a:chOff x="1680" y="2160"/>
            <a:chExt cx="4368" cy="1344"/>
          </a:xfrm>
        </p:grpSpPr>
        <p:grpSp>
          <p:nvGrpSpPr>
            <p:cNvPr id="92196" name="Group 39"/>
            <p:cNvGrpSpPr/>
            <p:nvPr/>
          </p:nvGrpSpPr>
          <p:grpSpPr bwMode="auto">
            <a:xfrm>
              <a:off x="2736" y="2160"/>
              <a:ext cx="2544" cy="1344"/>
              <a:chOff x="2736" y="2160"/>
              <a:chExt cx="2544" cy="1344"/>
            </a:xfrm>
          </p:grpSpPr>
          <p:sp>
            <p:nvSpPr>
              <p:cNvPr id="92198" name="Line 40"/>
              <p:cNvSpPr>
                <a:spLocks noChangeShapeType="1"/>
              </p:cNvSpPr>
              <p:nvPr/>
            </p:nvSpPr>
            <p:spPr bwMode="auto">
              <a:xfrm>
                <a:off x="2736" y="2160"/>
                <a:ext cx="0" cy="1344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 type="oval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199" name="Line 41"/>
              <p:cNvSpPr>
                <a:spLocks noChangeShapeType="1"/>
              </p:cNvSpPr>
              <p:nvPr/>
            </p:nvSpPr>
            <p:spPr bwMode="auto">
              <a:xfrm>
                <a:off x="3936" y="2160"/>
                <a:ext cx="0" cy="1344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 type="oval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200" name="Line 42"/>
              <p:cNvSpPr>
                <a:spLocks noChangeShapeType="1"/>
              </p:cNvSpPr>
              <p:nvPr/>
            </p:nvSpPr>
            <p:spPr bwMode="auto">
              <a:xfrm>
                <a:off x="5280" y="2160"/>
                <a:ext cx="0" cy="1344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 type="oval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2197" name="Line 43"/>
            <p:cNvSpPr>
              <a:spLocks noChangeShapeType="1"/>
            </p:cNvSpPr>
            <p:nvPr/>
          </p:nvSpPr>
          <p:spPr bwMode="auto">
            <a:xfrm>
              <a:off x="1680" y="2160"/>
              <a:ext cx="436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44"/>
          <p:cNvGrpSpPr/>
          <p:nvPr/>
        </p:nvGrpSpPr>
        <p:grpSpPr bwMode="auto">
          <a:xfrm>
            <a:off x="2209800" y="3048000"/>
            <a:ext cx="6934200" cy="2133600"/>
            <a:chOff x="1392" y="1920"/>
            <a:chExt cx="4368" cy="1344"/>
          </a:xfrm>
        </p:grpSpPr>
        <p:grpSp>
          <p:nvGrpSpPr>
            <p:cNvPr id="92191" name="Group 45"/>
            <p:cNvGrpSpPr/>
            <p:nvPr/>
          </p:nvGrpSpPr>
          <p:grpSpPr bwMode="auto">
            <a:xfrm>
              <a:off x="2448" y="1920"/>
              <a:ext cx="2544" cy="1344"/>
              <a:chOff x="2448" y="1920"/>
              <a:chExt cx="2544" cy="1344"/>
            </a:xfrm>
          </p:grpSpPr>
          <p:sp>
            <p:nvSpPr>
              <p:cNvPr id="92193" name="Line 46"/>
              <p:cNvSpPr>
                <a:spLocks noChangeShapeType="1"/>
              </p:cNvSpPr>
              <p:nvPr/>
            </p:nvSpPr>
            <p:spPr bwMode="auto">
              <a:xfrm>
                <a:off x="2448" y="1920"/>
                <a:ext cx="0" cy="1344"/>
              </a:xfrm>
              <a:prstGeom prst="line">
                <a:avLst/>
              </a:prstGeom>
              <a:noFill/>
              <a:ln w="76200">
                <a:solidFill>
                  <a:srgbClr val="C28F00"/>
                </a:solidFill>
                <a:round/>
                <a:headEnd type="oval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194" name="Line 47"/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0" cy="1344"/>
              </a:xfrm>
              <a:prstGeom prst="line">
                <a:avLst/>
              </a:prstGeom>
              <a:noFill/>
              <a:ln w="76200">
                <a:solidFill>
                  <a:srgbClr val="C28F00"/>
                </a:solidFill>
                <a:round/>
                <a:headEnd type="oval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195" name="Line 48"/>
              <p:cNvSpPr>
                <a:spLocks noChangeShapeType="1"/>
              </p:cNvSpPr>
              <p:nvPr/>
            </p:nvSpPr>
            <p:spPr bwMode="auto">
              <a:xfrm>
                <a:off x="4992" y="1920"/>
                <a:ext cx="0" cy="1344"/>
              </a:xfrm>
              <a:prstGeom prst="line">
                <a:avLst/>
              </a:prstGeom>
              <a:noFill/>
              <a:ln w="76200">
                <a:solidFill>
                  <a:srgbClr val="C28F00"/>
                </a:solidFill>
                <a:round/>
                <a:headEnd type="oval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2192" name="Line 49"/>
            <p:cNvSpPr>
              <a:spLocks noChangeShapeType="1"/>
            </p:cNvSpPr>
            <p:nvPr/>
          </p:nvSpPr>
          <p:spPr bwMode="auto">
            <a:xfrm>
              <a:off x="1392" y="1920"/>
              <a:ext cx="4368" cy="0"/>
            </a:xfrm>
            <a:prstGeom prst="line">
              <a:avLst/>
            </a:prstGeom>
            <a:noFill/>
            <a:ln w="76200">
              <a:solidFill>
                <a:srgbClr val="C28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0274" name="Line 50"/>
          <p:cNvSpPr>
            <a:spLocks noChangeShapeType="1"/>
          </p:cNvSpPr>
          <p:nvPr/>
        </p:nvSpPr>
        <p:spPr bwMode="auto">
          <a:xfrm flipV="1">
            <a:off x="5486400" y="3657600"/>
            <a:ext cx="0" cy="15240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8" name="Group 51"/>
          <p:cNvGrpSpPr/>
          <p:nvPr/>
        </p:nvGrpSpPr>
        <p:grpSpPr bwMode="auto">
          <a:xfrm>
            <a:off x="5181600" y="4267200"/>
            <a:ext cx="2133600" cy="914400"/>
            <a:chOff x="3264" y="2688"/>
            <a:chExt cx="1344" cy="576"/>
          </a:xfrm>
        </p:grpSpPr>
        <p:sp>
          <p:nvSpPr>
            <p:cNvPr id="92189" name="Line 52"/>
            <p:cNvSpPr>
              <a:spLocks noChangeShapeType="1"/>
            </p:cNvSpPr>
            <p:nvPr/>
          </p:nvSpPr>
          <p:spPr bwMode="auto">
            <a:xfrm flipV="1">
              <a:off x="4608" y="2688"/>
              <a:ext cx="0" cy="576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190" name="Line 53"/>
            <p:cNvSpPr>
              <a:spLocks noChangeShapeType="1"/>
            </p:cNvSpPr>
            <p:nvPr/>
          </p:nvSpPr>
          <p:spPr bwMode="auto">
            <a:xfrm flipV="1">
              <a:off x="3264" y="2688"/>
              <a:ext cx="0" cy="576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0278" name="Line 54"/>
          <p:cNvSpPr>
            <a:spLocks noChangeShapeType="1"/>
          </p:cNvSpPr>
          <p:nvPr/>
        </p:nvSpPr>
        <p:spPr bwMode="auto">
          <a:xfrm>
            <a:off x="2209800" y="4267200"/>
            <a:ext cx="51054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9" name="Group 55"/>
          <p:cNvGrpSpPr/>
          <p:nvPr/>
        </p:nvGrpSpPr>
        <p:grpSpPr bwMode="auto">
          <a:xfrm>
            <a:off x="2209800" y="3048000"/>
            <a:ext cx="6934200" cy="2133600"/>
            <a:chOff x="1392" y="1920"/>
            <a:chExt cx="4368" cy="1344"/>
          </a:xfrm>
        </p:grpSpPr>
        <p:grpSp>
          <p:nvGrpSpPr>
            <p:cNvPr id="92184" name="Group 56"/>
            <p:cNvGrpSpPr/>
            <p:nvPr/>
          </p:nvGrpSpPr>
          <p:grpSpPr bwMode="auto">
            <a:xfrm>
              <a:off x="2448" y="1920"/>
              <a:ext cx="2544" cy="1344"/>
              <a:chOff x="2448" y="1920"/>
              <a:chExt cx="2544" cy="1344"/>
            </a:xfrm>
          </p:grpSpPr>
          <p:sp>
            <p:nvSpPr>
              <p:cNvPr id="92186" name="Line 57"/>
              <p:cNvSpPr>
                <a:spLocks noChangeShapeType="1"/>
              </p:cNvSpPr>
              <p:nvPr/>
            </p:nvSpPr>
            <p:spPr bwMode="auto">
              <a:xfrm>
                <a:off x="2448" y="1920"/>
                <a:ext cx="0" cy="1344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 type="oval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187" name="Line 58"/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0" cy="1344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 type="oval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188" name="Line 59"/>
              <p:cNvSpPr>
                <a:spLocks noChangeShapeType="1"/>
              </p:cNvSpPr>
              <p:nvPr/>
            </p:nvSpPr>
            <p:spPr bwMode="auto">
              <a:xfrm>
                <a:off x="4992" y="1920"/>
                <a:ext cx="0" cy="1344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 type="oval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2185" name="Line 60"/>
            <p:cNvSpPr>
              <a:spLocks noChangeShapeType="1"/>
            </p:cNvSpPr>
            <p:nvPr/>
          </p:nvSpPr>
          <p:spPr bwMode="auto">
            <a:xfrm>
              <a:off x="1392" y="1920"/>
              <a:ext cx="436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0285" name="Line 61"/>
          <p:cNvSpPr>
            <a:spLocks noChangeShapeType="1"/>
          </p:cNvSpPr>
          <p:nvPr/>
        </p:nvSpPr>
        <p:spPr bwMode="auto">
          <a:xfrm>
            <a:off x="2209800" y="3657600"/>
            <a:ext cx="3276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0286" name="Rectangle 62"/>
          <p:cNvSpPr>
            <a:spLocks noChangeArrowheads="1"/>
          </p:cNvSpPr>
          <p:nvPr/>
        </p:nvSpPr>
        <p:spPr bwMode="auto">
          <a:xfrm>
            <a:off x="4953000" y="5181600"/>
            <a:ext cx="1676400" cy="838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2400">
                <a:solidFill>
                  <a:schemeClr val="bg2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接口1</a:t>
            </a:r>
            <a:endParaRPr lang="zh-CN" altLang="en-US" sz="240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287" name="Rectangle 63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11" name="Group 64"/>
          <p:cNvGrpSpPr/>
          <p:nvPr/>
        </p:nvGrpSpPr>
        <p:grpSpPr bwMode="auto">
          <a:xfrm>
            <a:off x="39688" y="3733800"/>
            <a:ext cx="1143000" cy="1600200"/>
            <a:chOff x="25" y="2352"/>
            <a:chExt cx="720" cy="1008"/>
          </a:xfrm>
        </p:grpSpPr>
        <p:sp>
          <p:nvSpPr>
            <p:cNvPr id="92180" name="Rectangle 65"/>
            <p:cNvSpPr>
              <a:spLocks noChangeArrowheads="1"/>
            </p:cNvSpPr>
            <p:nvPr/>
          </p:nvSpPr>
          <p:spPr bwMode="auto">
            <a:xfrm>
              <a:off x="192" y="2352"/>
              <a:ext cx="384" cy="480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grpSp>
          <p:nvGrpSpPr>
            <p:cNvPr id="92181" name="Group 66"/>
            <p:cNvGrpSpPr/>
            <p:nvPr/>
          </p:nvGrpSpPr>
          <p:grpSpPr bwMode="auto">
            <a:xfrm>
              <a:off x="25" y="2976"/>
              <a:ext cx="720" cy="384"/>
              <a:chOff x="25" y="2976"/>
              <a:chExt cx="720" cy="384"/>
            </a:xfrm>
          </p:grpSpPr>
          <p:sp>
            <p:nvSpPr>
              <p:cNvPr id="92182" name="Text Box 67"/>
              <p:cNvSpPr txBox="1">
                <a:spLocks noChangeArrowheads="1"/>
              </p:cNvSpPr>
              <p:nvPr/>
            </p:nvSpPr>
            <p:spPr bwMode="auto">
              <a:xfrm>
                <a:off x="45" y="3053"/>
                <a:ext cx="62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4680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计数器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183" name="AutoShape 68"/>
              <p:cNvSpPr>
                <a:spLocks noChangeArrowheads="1"/>
              </p:cNvSpPr>
              <p:nvPr/>
            </p:nvSpPr>
            <p:spPr bwMode="auto">
              <a:xfrm>
                <a:off x="25" y="2976"/>
                <a:ext cx="720" cy="384"/>
              </a:xfrm>
              <a:prstGeom prst="wedgeRoundRectCallout">
                <a:avLst>
                  <a:gd name="adj1" fmla="val 73194"/>
                  <a:gd name="adj2" fmla="val 97398"/>
                  <a:gd name="adj3" fmla="val 16667"/>
                </a:avLst>
              </a:prstGeom>
              <a:noFill/>
              <a:ln w="9525">
                <a:solidFill>
                  <a:schemeClr val="folHlink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en-US" sz="2400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0293" name="Text Box 69"/>
          <p:cNvSpPr txBox="1">
            <a:spLocks noChangeArrowheads="1"/>
          </p:cNvSpPr>
          <p:nvPr/>
        </p:nvSpPr>
        <p:spPr bwMode="auto">
          <a:xfrm>
            <a:off x="6705600" y="2590800"/>
            <a:ext cx="161131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rPr>
              <a:t>设备地址</a:t>
            </a:r>
            <a:endParaRPr lang="zh-CN" altLang="en-US" sz="2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" name="Group 70"/>
          <p:cNvGrpSpPr/>
          <p:nvPr/>
        </p:nvGrpSpPr>
        <p:grpSpPr bwMode="auto">
          <a:xfrm>
            <a:off x="304800" y="3730625"/>
            <a:ext cx="685800" cy="762000"/>
            <a:chOff x="2592" y="3840"/>
            <a:chExt cx="432" cy="480"/>
          </a:xfrm>
        </p:grpSpPr>
        <p:sp>
          <p:nvSpPr>
            <p:cNvPr id="92178" name="Rectangle 71"/>
            <p:cNvSpPr>
              <a:spLocks noChangeArrowheads="1"/>
            </p:cNvSpPr>
            <p:nvPr/>
          </p:nvSpPr>
          <p:spPr bwMode="auto">
            <a:xfrm>
              <a:off x="2592" y="3840"/>
              <a:ext cx="384" cy="480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92179" name="Text Box 72"/>
            <p:cNvSpPr txBox="1">
              <a:spLocks noChangeArrowheads="1"/>
            </p:cNvSpPr>
            <p:nvPr/>
          </p:nvSpPr>
          <p:spPr bwMode="auto">
            <a:xfrm>
              <a:off x="2592" y="3888"/>
              <a:ext cx="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solidFill>
                    <a:schemeClr val="bg2"/>
                  </a:solidFill>
                  <a:latin typeface="Times New Roman" panose="02020603050405020304" pitchFamily="18" charset="0"/>
                </a:rPr>
                <a:t> 1</a:t>
              </a:r>
              <a:endParaRPr lang="zh-CN" altLang="en-US" sz="32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2177" name="AutoShape 7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18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8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18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18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74" grpId="0" animBg="1"/>
      <p:bldP spid="180278" grpId="0" animBg="1"/>
      <p:bldP spid="180285" grpId="0" animBg="1"/>
      <p:bldP spid="180286" grpId="0" animBg="1" autoUpdateAnimBg="0"/>
      <p:bldP spid="18029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381000" y="5943600"/>
            <a:ext cx="1103313" cy="609600"/>
            <a:chOff x="240" y="3744"/>
            <a:chExt cx="695" cy="384"/>
          </a:xfrm>
        </p:grpSpPr>
        <p:sp>
          <p:nvSpPr>
            <p:cNvPr id="93227" name="Text Box 3"/>
            <p:cNvSpPr txBox="1">
              <a:spLocks noChangeArrowheads="1"/>
            </p:cNvSpPr>
            <p:nvPr/>
          </p:nvSpPr>
          <p:spPr bwMode="auto">
            <a:xfrm>
              <a:off x="240" y="3792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排队器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3228" name="AutoShape 4"/>
            <p:cNvSpPr>
              <a:spLocks noChangeArrowheads="1"/>
            </p:cNvSpPr>
            <p:nvPr/>
          </p:nvSpPr>
          <p:spPr bwMode="auto">
            <a:xfrm>
              <a:off x="240" y="3744"/>
              <a:ext cx="672" cy="384"/>
            </a:xfrm>
            <a:prstGeom prst="wedgeRoundRectCallout">
              <a:avLst>
                <a:gd name="adj1" fmla="val -21727"/>
                <a:gd name="adj2" fmla="val -142190"/>
                <a:gd name="adj3" fmla="val 16667"/>
              </a:avLst>
            </a:prstGeom>
            <a:noFill/>
            <a:ln w="952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5"/>
          <p:cNvGrpSpPr/>
          <p:nvPr/>
        </p:nvGrpSpPr>
        <p:grpSpPr bwMode="auto">
          <a:xfrm>
            <a:off x="381000" y="5943600"/>
            <a:ext cx="1098550" cy="609600"/>
            <a:chOff x="1296" y="3744"/>
            <a:chExt cx="692" cy="384"/>
          </a:xfrm>
        </p:grpSpPr>
        <p:sp>
          <p:nvSpPr>
            <p:cNvPr id="93225" name="AutoShape 6"/>
            <p:cNvSpPr>
              <a:spLocks noChangeArrowheads="1"/>
            </p:cNvSpPr>
            <p:nvPr/>
          </p:nvSpPr>
          <p:spPr bwMode="auto">
            <a:xfrm>
              <a:off x="1296" y="3744"/>
              <a:ext cx="672" cy="384"/>
            </a:xfrm>
            <a:prstGeom prst="wedgeRoundRectCallout">
              <a:avLst>
                <a:gd name="adj1" fmla="val -21727"/>
                <a:gd name="adj2" fmla="val -142190"/>
                <a:gd name="adj3" fmla="val 16667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2400" b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26" name="Text Box 7"/>
            <p:cNvSpPr txBox="1">
              <a:spLocks noChangeArrowheads="1"/>
            </p:cNvSpPr>
            <p:nvPr/>
          </p:nvSpPr>
          <p:spPr bwMode="auto">
            <a:xfrm>
              <a:off x="1296" y="3792"/>
              <a:ext cx="692" cy="28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solidFill>
                    <a:schemeClr val="bg2"/>
                  </a:solidFill>
                  <a:latin typeface="Times New Roman" panose="02020603050405020304" pitchFamily="18" charset="0"/>
                </a:rPr>
                <a:t>排队器</a:t>
              </a:r>
              <a:endParaRPr lang="zh-CN" altLang="en-US" sz="24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3188" name="Text Box 8"/>
          <p:cNvSpPr txBox="1">
            <a:spLocks noChangeArrowheads="1"/>
          </p:cNvSpPr>
          <p:nvPr/>
        </p:nvSpPr>
        <p:spPr bwMode="auto">
          <a:xfrm>
            <a:off x="365125" y="349250"/>
            <a:ext cx="4206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4. 独立请求方式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4" name="Group 9"/>
          <p:cNvGrpSpPr/>
          <p:nvPr/>
        </p:nvGrpSpPr>
        <p:grpSpPr bwMode="auto">
          <a:xfrm>
            <a:off x="292100" y="442913"/>
            <a:ext cx="8699500" cy="5348287"/>
            <a:chOff x="184" y="279"/>
            <a:chExt cx="5480" cy="3369"/>
          </a:xfrm>
        </p:grpSpPr>
        <p:sp>
          <p:nvSpPr>
            <p:cNvPr id="93197" name="Rectangle 10"/>
            <p:cNvSpPr>
              <a:spLocks noChangeArrowheads="1"/>
            </p:cNvSpPr>
            <p:nvPr/>
          </p:nvSpPr>
          <p:spPr bwMode="auto">
            <a:xfrm>
              <a:off x="184" y="912"/>
              <a:ext cx="528" cy="2640"/>
            </a:xfrm>
            <a:prstGeom prst="rect">
              <a:avLst/>
            </a:prstGeom>
            <a:noFill/>
            <a:ln w="5715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总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线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控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制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部</a:t>
              </a:r>
              <a:endParaRPr lang="zh-CN" altLang="en-US" sz="320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件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93198" name="Line 11"/>
            <p:cNvSpPr>
              <a:spLocks noChangeShapeType="1"/>
            </p:cNvSpPr>
            <p:nvPr/>
          </p:nvSpPr>
          <p:spPr bwMode="auto">
            <a:xfrm>
              <a:off x="712" y="1296"/>
              <a:ext cx="428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199" name="Text Box 12"/>
            <p:cNvSpPr txBox="1">
              <a:spLocks noChangeArrowheads="1"/>
            </p:cNvSpPr>
            <p:nvPr/>
          </p:nvSpPr>
          <p:spPr bwMode="auto">
            <a:xfrm>
              <a:off x="4969" y="885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数据线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3200" name="Text Box 13"/>
            <p:cNvSpPr txBox="1">
              <a:spLocks noChangeArrowheads="1"/>
            </p:cNvSpPr>
            <p:nvPr/>
          </p:nvSpPr>
          <p:spPr bwMode="auto">
            <a:xfrm>
              <a:off x="4969" y="1151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地址线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3201" name="Rectangle 14"/>
            <p:cNvSpPr>
              <a:spLocks noChangeArrowheads="1"/>
            </p:cNvSpPr>
            <p:nvPr/>
          </p:nvSpPr>
          <p:spPr bwMode="auto">
            <a:xfrm>
              <a:off x="1240" y="3120"/>
              <a:ext cx="1056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800">
                  <a:latin typeface="Times New Roman" panose="02020603050405020304" pitchFamily="18" charset="0"/>
                </a:rPr>
                <a:t>I/O</a:t>
              </a:r>
              <a:r>
                <a:rPr lang="zh-CN" altLang="en-US" sz="2800">
                  <a:latin typeface="Times New Roman" panose="02020603050405020304" pitchFamily="18" charset="0"/>
                </a:rPr>
                <a:t>接口0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3202" name="Rectangle 15"/>
            <p:cNvSpPr>
              <a:spLocks noChangeArrowheads="1"/>
            </p:cNvSpPr>
            <p:nvPr/>
          </p:nvSpPr>
          <p:spPr bwMode="auto">
            <a:xfrm>
              <a:off x="2440" y="3120"/>
              <a:ext cx="1056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800">
                  <a:latin typeface="Times New Roman" panose="02020603050405020304" pitchFamily="18" charset="0"/>
                </a:rPr>
                <a:t>I/O</a:t>
              </a:r>
              <a:r>
                <a:rPr lang="zh-CN" altLang="en-US" sz="2800">
                  <a:latin typeface="Times New Roman" panose="02020603050405020304" pitchFamily="18" charset="0"/>
                </a:rPr>
                <a:t>接口1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3203" name="Rectangle 16"/>
            <p:cNvSpPr>
              <a:spLocks noChangeArrowheads="1"/>
            </p:cNvSpPr>
            <p:nvPr/>
          </p:nvSpPr>
          <p:spPr bwMode="auto">
            <a:xfrm>
              <a:off x="3888" y="3120"/>
              <a:ext cx="1056" cy="52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2800">
                  <a:latin typeface="Times New Roman" panose="02020603050405020304" pitchFamily="18" charset="0"/>
                </a:rPr>
                <a:t>I/O</a:t>
              </a:r>
              <a:r>
                <a:rPr lang="zh-CN" altLang="en-US" sz="2800">
                  <a:latin typeface="Times New Roman" panose="02020603050405020304" pitchFamily="18" charset="0"/>
                </a:rPr>
                <a:t>接口</a:t>
              </a: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93204" name="Line 17"/>
            <p:cNvSpPr>
              <a:spLocks noChangeShapeType="1"/>
            </p:cNvSpPr>
            <p:nvPr/>
          </p:nvSpPr>
          <p:spPr bwMode="auto">
            <a:xfrm>
              <a:off x="712" y="1056"/>
              <a:ext cx="428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05" name="Freeform 18"/>
            <p:cNvSpPr/>
            <p:nvPr/>
          </p:nvSpPr>
          <p:spPr bwMode="auto">
            <a:xfrm>
              <a:off x="720" y="1536"/>
              <a:ext cx="3552" cy="1584"/>
            </a:xfrm>
            <a:custGeom>
              <a:avLst/>
              <a:gdLst>
                <a:gd name="T0" fmla="*/ 0 w 3552"/>
                <a:gd name="T1" fmla="*/ 0 h 1152"/>
                <a:gd name="T2" fmla="*/ 3552 w 3552"/>
                <a:gd name="T3" fmla="*/ 0 h 1152"/>
                <a:gd name="T4" fmla="*/ 3552 w 3552"/>
                <a:gd name="T5" fmla="*/ 99463 h 1152"/>
                <a:gd name="T6" fmla="*/ 0 60000 65536"/>
                <a:gd name="T7" fmla="*/ 0 60000 65536"/>
                <a:gd name="T8" fmla="*/ 0 60000 65536"/>
                <a:gd name="T9" fmla="*/ 0 w 3552"/>
                <a:gd name="T10" fmla="*/ 0 h 1152"/>
                <a:gd name="T11" fmla="*/ 3552 w 3552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52" h="1152">
                  <a:moveTo>
                    <a:pt x="0" y="0"/>
                  </a:moveTo>
                  <a:lnTo>
                    <a:pt x="3552" y="0"/>
                  </a:lnTo>
                  <a:lnTo>
                    <a:pt x="3552" y="115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06" name="Freeform 19"/>
            <p:cNvSpPr/>
            <p:nvPr/>
          </p:nvSpPr>
          <p:spPr bwMode="auto">
            <a:xfrm>
              <a:off x="720" y="1776"/>
              <a:ext cx="3312" cy="1344"/>
            </a:xfrm>
            <a:custGeom>
              <a:avLst/>
              <a:gdLst>
                <a:gd name="T0" fmla="*/ 0 w 3552"/>
                <a:gd name="T1" fmla="*/ 0 h 1152"/>
                <a:gd name="T2" fmla="*/ 1333 w 3552"/>
                <a:gd name="T3" fmla="*/ 0 h 1152"/>
                <a:gd name="T4" fmla="*/ 1333 w 3552"/>
                <a:gd name="T5" fmla="*/ 9970 h 1152"/>
                <a:gd name="T6" fmla="*/ 0 60000 65536"/>
                <a:gd name="T7" fmla="*/ 0 60000 65536"/>
                <a:gd name="T8" fmla="*/ 0 60000 65536"/>
                <a:gd name="T9" fmla="*/ 0 w 3552"/>
                <a:gd name="T10" fmla="*/ 0 h 1152"/>
                <a:gd name="T11" fmla="*/ 3552 w 3552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52" h="1152">
                  <a:moveTo>
                    <a:pt x="0" y="0"/>
                  </a:moveTo>
                  <a:lnTo>
                    <a:pt x="3552" y="0"/>
                  </a:lnTo>
                  <a:lnTo>
                    <a:pt x="3552" y="115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07" name="Freeform 20"/>
            <p:cNvSpPr/>
            <p:nvPr/>
          </p:nvSpPr>
          <p:spPr bwMode="auto">
            <a:xfrm>
              <a:off x="720" y="2736"/>
              <a:ext cx="672" cy="384"/>
            </a:xfrm>
            <a:custGeom>
              <a:avLst/>
              <a:gdLst>
                <a:gd name="T0" fmla="*/ 0 w 3552"/>
                <a:gd name="T1" fmla="*/ 0 h 1152"/>
                <a:gd name="T2" fmla="*/ 0 w 3552"/>
                <a:gd name="T3" fmla="*/ 0 h 1152"/>
                <a:gd name="T4" fmla="*/ 0 w 3552"/>
                <a:gd name="T5" fmla="*/ 0 h 1152"/>
                <a:gd name="T6" fmla="*/ 0 60000 65536"/>
                <a:gd name="T7" fmla="*/ 0 60000 65536"/>
                <a:gd name="T8" fmla="*/ 0 60000 65536"/>
                <a:gd name="T9" fmla="*/ 0 w 3552"/>
                <a:gd name="T10" fmla="*/ 0 h 1152"/>
                <a:gd name="T11" fmla="*/ 3552 w 3552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52" h="1152">
                  <a:moveTo>
                    <a:pt x="0" y="0"/>
                  </a:moveTo>
                  <a:lnTo>
                    <a:pt x="3552" y="0"/>
                  </a:lnTo>
                  <a:lnTo>
                    <a:pt x="3552" y="115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08" name="Freeform 21"/>
            <p:cNvSpPr/>
            <p:nvPr/>
          </p:nvSpPr>
          <p:spPr bwMode="auto">
            <a:xfrm>
              <a:off x="720" y="2256"/>
              <a:ext cx="1968" cy="864"/>
            </a:xfrm>
            <a:custGeom>
              <a:avLst/>
              <a:gdLst>
                <a:gd name="T0" fmla="*/ 0 w 3552"/>
                <a:gd name="T1" fmla="*/ 0 h 1152"/>
                <a:gd name="T2" fmla="*/ 1 w 3552"/>
                <a:gd name="T3" fmla="*/ 0 h 1152"/>
                <a:gd name="T4" fmla="*/ 1 w 3552"/>
                <a:gd name="T5" fmla="*/ 20 h 1152"/>
                <a:gd name="T6" fmla="*/ 0 60000 65536"/>
                <a:gd name="T7" fmla="*/ 0 60000 65536"/>
                <a:gd name="T8" fmla="*/ 0 60000 65536"/>
                <a:gd name="T9" fmla="*/ 0 w 3552"/>
                <a:gd name="T10" fmla="*/ 0 h 1152"/>
                <a:gd name="T11" fmla="*/ 3552 w 3552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52" h="1152">
                  <a:moveTo>
                    <a:pt x="0" y="0"/>
                  </a:moveTo>
                  <a:lnTo>
                    <a:pt x="3552" y="0"/>
                  </a:lnTo>
                  <a:lnTo>
                    <a:pt x="3552" y="115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09" name="Freeform 22"/>
            <p:cNvSpPr/>
            <p:nvPr/>
          </p:nvSpPr>
          <p:spPr bwMode="auto">
            <a:xfrm>
              <a:off x="720" y="2016"/>
              <a:ext cx="2160" cy="1104"/>
            </a:xfrm>
            <a:custGeom>
              <a:avLst/>
              <a:gdLst>
                <a:gd name="T0" fmla="*/ 0 w 3552"/>
                <a:gd name="T1" fmla="*/ 0 h 1152"/>
                <a:gd name="T2" fmla="*/ 3 w 3552"/>
                <a:gd name="T3" fmla="*/ 0 h 1152"/>
                <a:gd name="T4" fmla="*/ 3 w 3552"/>
                <a:gd name="T5" fmla="*/ 634 h 1152"/>
                <a:gd name="T6" fmla="*/ 0 60000 65536"/>
                <a:gd name="T7" fmla="*/ 0 60000 65536"/>
                <a:gd name="T8" fmla="*/ 0 60000 65536"/>
                <a:gd name="T9" fmla="*/ 0 w 3552"/>
                <a:gd name="T10" fmla="*/ 0 h 1152"/>
                <a:gd name="T11" fmla="*/ 3552 w 3552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52" h="1152">
                  <a:moveTo>
                    <a:pt x="0" y="0"/>
                  </a:moveTo>
                  <a:lnTo>
                    <a:pt x="3552" y="0"/>
                  </a:lnTo>
                  <a:lnTo>
                    <a:pt x="3552" y="115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10" name="Freeform 23"/>
            <p:cNvSpPr/>
            <p:nvPr/>
          </p:nvSpPr>
          <p:spPr bwMode="auto">
            <a:xfrm>
              <a:off x="720" y="2496"/>
              <a:ext cx="864" cy="624"/>
            </a:xfrm>
            <a:custGeom>
              <a:avLst/>
              <a:gdLst>
                <a:gd name="T0" fmla="*/ 0 w 3552"/>
                <a:gd name="T1" fmla="*/ 0 h 1152"/>
                <a:gd name="T2" fmla="*/ 0 w 3552"/>
                <a:gd name="T3" fmla="*/ 0 h 1152"/>
                <a:gd name="T4" fmla="*/ 0 w 3552"/>
                <a:gd name="T5" fmla="*/ 1 h 1152"/>
                <a:gd name="T6" fmla="*/ 0 60000 65536"/>
                <a:gd name="T7" fmla="*/ 0 60000 65536"/>
                <a:gd name="T8" fmla="*/ 0 60000 65536"/>
                <a:gd name="T9" fmla="*/ 0 w 3552"/>
                <a:gd name="T10" fmla="*/ 0 h 1152"/>
                <a:gd name="T11" fmla="*/ 3552 w 3552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52" h="1152">
                  <a:moveTo>
                    <a:pt x="0" y="0"/>
                  </a:moveTo>
                  <a:lnTo>
                    <a:pt x="3552" y="0"/>
                  </a:lnTo>
                  <a:lnTo>
                    <a:pt x="3552" y="115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11" name="Text Box 24"/>
            <p:cNvSpPr txBox="1">
              <a:spLocks noChangeArrowheads="1"/>
            </p:cNvSpPr>
            <p:nvPr/>
          </p:nvSpPr>
          <p:spPr bwMode="auto">
            <a:xfrm>
              <a:off x="3504" y="3120"/>
              <a:ext cx="3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12" name="Text Box 25"/>
            <p:cNvSpPr txBox="1">
              <a:spLocks noChangeArrowheads="1"/>
            </p:cNvSpPr>
            <p:nvPr/>
          </p:nvSpPr>
          <p:spPr bwMode="auto">
            <a:xfrm>
              <a:off x="1020" y="2527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BR</a:t>
              </a:r>
              <a:r>
                <a:rPr lang="en-US" altLang="zh-CN" sz="2000" baseline="-20000">
                  <a:latin typeface="Times New Roman" panose="02020603050405020304" pitchFamily="18" charset="0"/>
                </a:rPr>
                <a:t>0</a:t>
              </a:r>
              <a:endParaRPr lang="en-US" altLang="zh-CN" sz="2000" baseline="-20000">
                <a:latin typeface="Times New Roman" panose="02020603050405020304" pitchFamily="18" charset="0"/>
              </a:endParaRPr>
            </a:p>
          </p:txBody>
        </p:sp>
        <p:sp>
          <p:nvSpPr>
            <p:cNvPr id="93213" name="Text Box 26"/>
            <p:cNvSpPr txBox="1">
              <a:spLocks noChangeArrowheads="1"/>
            </p:cNvSpPr>
            <p:nvPr/>
          </p:nvSpPr>
          <p:spPr bwMode="auto">
            <a:xfrm>
              <a:off x="1152" y="229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   BG</a:t>
              </a:r>
              <a:r>
                <a:rPr lang="en-US" altLang="zh-CN" sz="2000" baseline="-20000">
                  <a:latin typeface="Times New Roman" panose="02020603050405020304" pitchFamily="18" charset="0"/>
                </a:rPr>
                <a:t>0</a:t>
              </a:r>
              <a:endParaRPr lang="en-US" altLang="zh-CN" sz="2000" baseline="-20000">
                <a:latin typeface="Times New Roman" panose="02020603050405020304" pitchFamily="18" charset="0"/>
              </a:endParaRPr>
            </a:p>
          </p:txBody>
        </p:sp>
        <p:sp>
          <p:nvSpPr>
            <p:cNvPr id="93214" name="Text Box 27"/>
            <p:cNvSpPr txBox="1">
              <a:spLocks noChangeArrowheads="1"/>
            </p:cNvSpPr>
            <p:nvPr/>
          </p:nvSpPr>
          <p:spPr bwMode="auto">
            <a:xfrm>
              <a:off x="2208" y="2035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BR</a:t>
              </a:r>
              <a:r>
                <a:rPr lang="en-US" altLang="zh-CN" sz="2000" baseline="-20000">
                  <a:latin typeface="Times New Roman" panose="02020603050405020304" pitchFamily="18" charset="0"/>
                </a:rPr>
                <a:t>1</a:t>
              </a:r>
              <a:endParaRPr lang="en-US" altLang="zh-CN" sz="2000" baseline="-20000">
                <a:latin typeface="Times New Roman" panose="02020603050405020304" pitchFamily="18" charset="0"/>
              </a:endParaRPr>
            </a:p>
          </p:txBody>
        </p:sp>
        <p:sp>
          <p:nvSpPr>
            <p:cNvPr id="93215" name="Text Box 28"/>
            <p:cNvSpPr txBox="1">
              <a:spLocks noChangeArrowheads="1"/>
            </p:cNvSpPr>
            <p:nvPr/>
          </p:nvSpPr>
          <p:spPr bwMode="auto">
            <a:xfrm>
              <a:off x="2448" y="1795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BG</a:t>
              </a:r>
              <a:r>
                <a:rPr lang="en-US" altLang="zh-CN" sz="2000" baseline="-20000">
                  <a:latin typeface="Times New Roman" panose="02020603050405020304" pitchFamily="18" charset="0"/>
                </a:rPr>
                <a:t>1</a:t>
              </a:r>
              <a:endParaRPr lang="en-US" altLang="zh-CN" sz="2000" baseline="-20000">
                <a:latin typeface="Times New Roman" panose="02020603050405020304" pitchFamily="18" charset="0"/>
              </a:endParaRPr>
            </a:p>
          </p:txBody>
        </p:sp>
        <p:sp>
          <p:nvSpPr>
            <p:cNvPr id="93216" name="Text Box 29"/>
            <p:cNvSpPr txBox="1">
              <a:spLocks noChangeArrowheads="1"/>
            </p:cNvSpPr>
            <p:nvPr/>
          </p:nvSpPr>
          <p:spPr bwMode="auto">
            <a:xfrm>
              <a:off x="3600" y="1568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BR</a:t>
              </a:r>
              <a:r>
                <a:rPr lang="en-US" altLang="zh-CN" sz="2000" i="1" baseline="-20000">
                  <a:latin typeface="Times New Roman" panose="02020603050405020304" pitchFamily="18" charset="0"/>
                </a:rPr>
                <a:t>n</a:t>
              </a:r>
              <a:endParaRPr lang="en-US" altLang="zh-CN" sz="2000" i="1" baseline="-20000">
                <a:latin typeface="Times New Roman" panose="02020603050405020304" pitchFamily="18" charset="0"/>
              </a:endParaRPr>
            </a:p>
          </p:txBody>
        </p:sp>
        <p:sp>
          <p:nvSpPr>
            <p:cNvPr id="93217" name="Text Box 30"/>
            <p:cNvSpPr txBox="1">
              <a:spLocks noChangeArrowheads="1"/>
            </p:cNvSpPr>
            <p:nvPr/>
          </p:nvSpPr>
          <p:spPr bwMode="auto">
            <a:xfrm>
              <a:off x="3840" y="1321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</a:rPr>
                <a:t>BG</a:t>
              </a:r>
              <a:r>
                <a:rPr lang="en-US" altLang="zh-CN" sz="2000" i="1" baseline="-20000">
                  <a:latin typeface="Times New Roman" panose="02020603050405020304" pitchFamily="18" charset="0"/>
                </a:rPr>
                <a:t>n</a:t>
              </a:r>
              <a:endParaRPr lang="en-US" altLang="zh-CN" sz="2000" i="1" baseline="-20000">
                <a:latin typeface="Times New Roman" panose="02020603050405020304" pitchFamily="18" charset="0"/>
              </a:endParaRPr>
            </a:p>
          </p:txBody>
        </p:sp>
        <p:sp>
          <p:nvSpPr>
            <p:cNvPr id="93218" name="Line 31"/>
            <p:cNvSpPr>
              <a:spLocks noChangeShapeType="1"/>
            </p:cNvSpPr>
            <p:nvPr/>
          </p:nvSpPr>
          <p:spPr bwMode="auto">
            <a:xfrm>
              <a:off x="1824" y="1296"/>
              <a:ext cx="0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19" name="Line 32"/>
            <p:cNvSpPr>
              <a:spLocks noChangeShapeType="1"/>
            </p:cNvSpPr>
            <p:nvPr/>
          </p:nvSpPr>
          <p:spPr bwMode="auto">
            <a:xfrm>
              <a:off x="2064" y="1056"/>
              <a:ext cx="0" cy="2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20" name="Line 33"/>
            <p:cNvSpPr>
              <a:spLocks noChangeShapeType="1"/>
            </p:cNvSpPr>
            <p:nvPr/>
          </p:nvSpPr>
          <p:spPr bwMode="auto">
            <a:xfrm>
              <a:off x="3120" y="1296"/>
              <a:ext cx="0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21" name="Line 34"/>
            <p:cNvSpPr>
              <a:spLocks noChangeShapeType="1"/>
            </p:cNvSpPr>
            <p:nvPr/>
          </p:nvSpPr>
          <p:spPr bwMode="auto">
            <a:xfrm>
              <a:off x="4512" y="1296"/>
              <a:ext cx="0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22" name="Line 35"/>
            <p:cNvSpPr>
              <a:spLocks noChangeShapeType="1"/>
            </p:cNvSpPr>
            <p:nvPr/>
          </p:nvSpPr>
          <p:spPr bwMode="auto">
            <a:xfrm>
              <a:off x="3360" y="1056"/>
              <a:ext cx="0" cy="2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23" name="Line 36"/>
            <p:cNvSpPr>
              <a:spLocks noChangeShapeType="1"/>
            </p:cNvSpPr>
            <p:nvPr/>
          </p:nvSpPr>
          <p:spPr bwMode="auto">
            <a:xfrm>
              <a:off x="4752" y="1056"/>
              <a:ext cx="0" cy="2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224" name="Text Box 37"/>
            <p:cNvSpPr txBox="1">
              <a:spLocks noChangeArrowheads="1"/>
            </p:cNvSpPr>
            <p:nvPr/>
          </p:nvSpPr>
          <p:spPr bwMode="auto">
            <a:xfrm>
              <a:off x="3072" y="279"/>
              <a:ext cx="1488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zh-CN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BG</a:t>
              </a:r>
              <a:r>
                <a:rPr lang="zh-CN" altLang="en-US" sz="2400">
                  <a:latin typeface="Times New Roman" panose="02020603050405020304" pitchFamily="18" charset="0"/>
                </a:rPr>
                <a:t>－总线同意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BR</a:t>
              </a:r>
              <a:r>
                <a:rPr lang="zh-CN" altLang="en-US" sz="2400">
                  <a:latin typeface="Times New Roman" panose="02020603050405020304" pitchFamily="18" charset="0"/>
                </a:rPr>
                <a:t>－总线请求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8"/>
          <p:cNvGrpSpPr/>
          <p:nvPr/>
        </p:nvGrpSpPr>
        <p:grpSpPr bwMode="auto">
          <a:xfrm>
            <a:off x="1143000" y="2819400"/>
            <a:ext cx="5257800" cy="2133600"/>
            <a:chOff x="720" y="1776"/>
            <a:chExt cx="3312" cy="1344"/>
          </a:xfrm>
        </p:grpSpPr>
        <p:sp>
          <p:nvSpPr>
            <p:cNvPr id="93194" name="Freeform 39"/>
            <p:cNvSpPr/>
            <p:nvPr/>
          </p:nvSpPr>
          <p:spPr bwMode="auto">
            <a:xfrm>
              <a:off x="720" y="1776"/>
              <a:ext cx="3312" cy="1344"/>
            </a:xfrm>
            <a:custGeom>
              <a:avLst/>
              <a:gdLst>
                <a:gd name="T0" fmla="*/ 0 w 3552"/>
                <a:gd name="T1" fmla="*/ 0 h 1152"/>
                <a:gd name="T2" fmla="*/ 1333 w 3552"/>
                <a:gd name="T3" fmla="*/ 0 h 1152"/>
                <a:gd name="T4" fmla="*/ 1333 w 3552"/>
                <a:gd name="T5" fmla="*/ 9970 h 1152"/>
                <a:gd name="T6" fmla="*/ 0 60000 65536"/>
                <a:gd name="T7" fmla="*/ 0 60000 65536"/>
                <a:gd name="T8" fmla="*/ 0 60000 65536"/>
                <a:gd name="T9" fmla="*/ 0 w 3552"/>
                <a:gd name="T10" fmla="*/ 0 h 1152"/>
                <a:gd name="T11" fmla="*/ 3552 w 3552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52" h="1152">
                  <a:moveTo>
                    <a:pt x="0" y="0"/>
                  </a:moveTo>
                  <a:lnTo>
                    <a:pt x="3552" y="0"/>
                  </a:lnTo>
                  <a:lnTo>
                    <a:pt x="3552" y="1152"/>
                  </a:lnTo>
                </a:path>
              </a:pathLst>
            </a:custGeom>
            <a:noFill/>
            <a:ln w="76200" cmpd="sng">
              <a:solidFill>
                <a:schemeClr val="folHlink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195" name="Freeform 40"/>
            <p:cNvSpPr/>
            <p:nvPr/>
          </p:nvSpPr>
          <p:spPr bwMode="auto">
            <a:xfrm>
              <a:off x="720" y="2256"/>
              <a:ext cx="1968" cy="864"/>
            </a:xfrm>
            <a:custGeom>
              <a:avLst/>
              <a:gdLst>
                <a:gd name="T0" fmla="*/ 0 w 3552"/>
                <a:gd name="T1" fmla="*/ 0 h 1152"/>
                <a:gd name="T2" fmla="*/ 1 w 3552"/>
                <a:gd name="T3" fmla="*/ 0 h 1152"/>
                <a:gd name="T4" fmla="*/ 1 w 3552"/>
                <a:gd name="T5" fmla="*/ 20 h 1152"/>
                <a:gd name="T6" fmla="*/ 0 60000 65536"/>
                <a:gd name="T7" fmla="*/ 0 60000 65536"/>
                <a:gd name="T8" fmla="*/ 0 60000 65536"/>
                <a:gd name="T9" fmla="*/ 0 w 3552"/>
                <a:gd name="T10" fmla="*/ 0 h 1152"/>
                <a:gd name="T11" fmla="*/ 3552 w 3552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52" h="1152">
                  <a:moveTo>
                    <a:pt x="0" y="0"/>
                  </a:moveTo>
                  <a:lnTo>
                    <a:pt x="3552" y="0"/>
                  </a:lnTo>
                  <a:lnTo>
                    <a:pt x="3552" y="1152"/>
                  </a:lnTo>
                </a:path>
              </a:pathLst>
            </a:custGeom>
            <a:noFill/>
            <a:ln w="76200" cmpd="sng">
              <a:solidFill>
                <a:schemeClr val="folHlink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3196" name="Freeform 41"/>
            <p:cNvSpPr/>
            <p:nvPr/>
          </p:nvSpPr>
          <p:spPr bwMode="auto">
            <a:xfrm>
              <a:off x="720" y="2736"/>
              <a:ext cx="672" cy="384"/>
            </a:xfrm>
            <a:custGeom>
              <a:avLst/>
              <a:gdLst>
                <a:gd name="T0" fmla="*/ 0 w 3552"/>
                <a:gd name="T1" fmla="*/ 0 h 1152"/>
                <a:gd name="T2" fmla="*/ 0 w 3552"/>
                <a:gd name="T3" fmla="*/ 0 h 1152"/>
                <a:gd name="T4" fmla="*/ 0 w 3552"/>
                <a:gd name="T5" fmla="*/ 0 h 1152"/>
                <a:gd name="T6" fmla="*/ 0 60000 65536"/>
                <a:gd name="T7" fmla="*/ 0 60000 65536"/>
                <a:gd name="T8" fmla="*/ 0 60000 65536"/>
                <a:gd name="T9" fmla="*/ 0 w 3552"/>
                <a:gd name="T10" fmla="*/ 0 h 1152"/>
                <a:gd name="T11" fmla="*/ 3552 w 3552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52" h="1152">
                  <a:moveTo>
                    <a:pt x="0" y="0"/>
                  </a:moveTo>
                  <a:lnTo>
                    <a:pt x="3552" y="0"/>
                  </a:lnTo>
                  <a:lnTo>
                    <a:pt x="3552" y="1152"/>
                  </a:lnTo>
                </a:path>
              </a:pathLst>
            </a:custGeom>
            <a:noFill/>
            <a:ln w="76200" cmpd="sng">
              <a:solidFill>
                <a:schemeClr val="folHlink"/>
              </a:solidFill>
              <a:round/>
              <a:headEnd type="stealth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1290" name="Freeform 42"/>
          <p:cNvSpPr/>
          <p:nvPr/>
        </p:nvSpPr>
        <p:spPr bwMode="auto">
          <a:xfrm>
            <a:off x="1143000" y="2438400"/>
            <a:ext cx="5638800" cy="2514600"/>
          </a:xfrm>
          <a:custGeom>
            <a:avLst/>
            <a:gdLst>
              <a:gd name="T0" fmla="*/ 0 w 3552"/>
              <a:gd name="T1" fmla="*/ 0 h 1152"/>
              <a:gd name="T2" fmla="*/ 2147483647 w 3552"/>
              <a:gd name="T3" fmla="*/ 0 h 1152"/>
              <a:gd name="T4" fmla="*/ 2147483647 w 3552"/>
              <a:gd name="T5" fmla="*/ 2147483647 h 1152"/>
              <a:gd name="T6" fmla="*/ 0 60000 65536"/>
              <a:gd name="T7" fmla="*/ 0 60000 65536"/>
              <a:gd name="T8" fmla="*/ 0 60000 65536"/>
              <a:gd name="T9" fmla="*/ 0 w 3552"/>
              <a:gd name="T10" fmla="*/ 0 h 1152"/>
              <a:gd name="T11" fmla="*/ 3552 w 3552"/>
              <a:gd name="T12" fmla="*/ 1152 h 11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52" h="1152">
                <a:moveTo>
                  <a:pt x="0" y="0"/>
                </a:moveTo>
                <a:lnTo>
                  <a:pt x="3552" y="0"/>
                </a:lnTo>
                <a:lnTo>
                  <a:pt x="3552" y="1152"/>
                </a:lnTo>
              </a:path>
            </a:pathLst>
          </a:custGeom>
          <a:noFill/>
          <a:ln w="76200" cmpd="sng">
            <a:solidFill>
              <a:schemeClr val="folHlink"/>
            </a:solidFill>
            <a:round/>
            <a:headEnd type="none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1291" name="Rectangle 43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3193" name="AutoShape 4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8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9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/>
          <p:cNvSpPr txBox="1">
            <a:spLocks noChangeArrowheads="1"/>
          </p:cNvSpPr>
          <p:nvPr/>
        </p:nvSpPr>
        <p:spPr bwMode="auto">
          <a:xfrm>
            <a:off x="381000" y="533400"/>
            <a:ext cx="3778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二、总线通信控制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666750" y="1398588"/>
            <a:ext cx="14065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1. 目的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666750" y="2316163"/>
            <a:ext cx="3038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2. 总线传输周期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82277" name="Text Box 5"/>
          <p:cNvSpPr txBox="1">
            <a:spLocks noChangeArrowheads="1"/>
          </p:cNvSpPr>
          <p:nvPr/>
        </p:nvSpPr>
        <p:spPr bwMode="auto">
          <a:xfrm>
            <a:off x="3505200" y="3138488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主模块申请</a:t>
            </a:r>
            <a:r>
              <a:rPr lang="zh-CN" altLang="en-US" sz="2800">
                <a:latin typeface="Times New Roman" panose="02020603050405020304" pitchFamily="18" charset="0"/>
              </a:rPr>
              <a:t>，总线仲裁决定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82278" name="Text Box 6"/>
          <p:cNvSpPr txBox="1">
            <a:spLocks noChangeArrowheads="1"/>
          </p:cNvSpPr>
          <p:nvPr/>
        </p:nvSpPr>
        <p:spPr bwMode="auto">
          <a:xfrm>
            <a:off x="3505200" y="3994150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主模块向从模块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给出地址 </a:t>
            </a:r>
            <a:r>
              <a:rPr lang="zh-CN" altLang="en-US" sz="2800">
                <a:latin typeface="Times New Roman" panose="02020603050405020304" pitchFamily="18" charset="0"/>
              </a:rPr>
              <a:t>和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命令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2279" name="Text Box 7"/>
          <p:cNvSpPr txBox="1">
            <a:spLocks noChangeArrowheads="1"/>
          </p:cNvSpPr>
          <p:nvPr/>
        </p:nvSpPr>
        <p:spPr bwMode="auto">
          <a:xfrm>
            <a:off x="3505200" y="4843463"/>
            <a:ext cx="655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主模块和从模块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交换数据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2280" name="Text Box 8"/>
          <p:cNvSpPr txBox="1">
            <a:spLocks noChangeArrowheads="1"/>
          </p:cNvSpPr>
          <p:nvPr/>
        </p:nvSpPr>
        <p:spPr bwMode="auto">
          <a:xfrm>
            <a:off x="3505200" y="5681663"/>
            <a:ext cx="655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主模块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撤消有关信息 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9"/>
          <p:cNvGrpSpPr/>
          <p:nvPr/>
        </p:nvGrpSpPr>
        <p:grpSpPr bwMode="auto">
          <a:xfrm>
            <a:off x="990600" y="3138488"/>
            <a:ext cx="3200400" cy="3033712"/>
            <a:chOff x="624" y="1977"/>
            <a:chExt cx="2016" cy="1911"/>
          </a:xfrm>
        </p:grpSpPr>
        <p:sp>
          <p:nvSpPr>
            <p:cNvPr id="94222" name="Text Box 10"/>
            <p:cNvSpPr txBox="1">
              <a:spLocks noChangeArrowheads="1"/>
            </p:cNvSpPr>
            <p:nvPr/>
          </p:nvSpPr>
          <p:spPr bwMode="auto">
            <a:xfrm>
              <a:off x="624" y="1977"/>
              <a:ext cx="2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申请分配阶段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94223" name="Text Box 11"/>
            <p:cNvSpPr txBox="1">
              <a:spLocks noChangeArrowheads="1"/>
            </p:cNvSpPr>
            <p:nvPr/>
          </p:nvSpPr>
          <p:spPr bwMode="auto">
            <a:xfrm>
              <a:off x="624" y="2505"/>
              <a:ext cx="17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寻址阶段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4224" name="Text Box 12"/>
            <p:cNvSpPr txBox="1">
              <a:spLocks noChangeArrowheads="1"/>
            </p:cNvSpPr>
            <p:nvPr/>
          </p:nvSpPr>
          <p:spPr bwMode="auto">
            <a:xfrm>
              <a:off x="624" y="3033"/>
              <a:ext cx="14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传数阶段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4225" name="Text Box 13"/>
            <p:cNvSpPr txBox="1">
              <a:spLocks noChangeArrowheads="1"/>
            </p:cNvSpPr>
            <p:nvPr/>
          </p:nvSpPr>
          <p:spPr bwMode="auto">
            <a:xfrm>
              <a:off x="624" y="3561"/>
              <a:ext cx="1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结束阶段</a:t>
              </a:r>
              <a:endParaRPr lang="zh-CN" altLang="en-US" sz="28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2286" name="AutoShape 14"/>
          <p:cNvSpPr/>
          <p:nvPr/>
        </p:nvSpPr>
        <p:spPr bwMode="auto">
          <a:xfrm>
            <a:off x="685800" y="3429000"/>
            <a:ext cx="228600" cy="2590800"/>
          </a:xfrm>
          <a:prstGeom prst="leftBrace">
            <a:avLst>
              <a:gd name="adj1" fmla="val 94444"/>
              <a:gd name="adj2" fmla="val 49264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2287" name="Text Box 15"/>
          <p:cNvSpPr txBox="1">
            <a:spLocks noChangeArrowheads="1"/>
          </p:cNvSpPr>
          <p:nvPr/>
        </p:nvSpPr>
        <p:spPr bwMode="auto">
          <a:xfrm>
            <a:off x="2209800" y="1428750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解决通信双方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协调配合 </a:t>
            </a:r>
            <a:r>
              <a:rPr lang="zh-CN" altLang="en-US" sz="2800">
                <a:latin typeface="Times New Roman" panose="02020603050405020304" pitchFamily="18" charset="0"/>
              </a:rPr>
              <a:t>问题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82288" name="Rectangle 1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4221" name="AutoShape 18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8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autoUpdateAnimBg="0"/>
      <p:bldP spid="182276" grpId="0" autoUpdateAnimBg="0"/>
      <p:bldP spid="182277" grpId="0" autoUpdateAnimBg="0"/>
      <p:bldP spid="182278" grpId="0" autoUpdateAnimBg="0"/>
      <p:bldP spid="182279" grpId="0" autoUpdateAnimBg="0"/>
      <p:bldP spid="182280" grpId="0" autoUpdateAnimBg="0"/>
      <p:bldP spid="182286" grpId="0" animBg="1"/>
      <p:bldP spid="18228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2"/>
          <p:cNvSpPr txBox="1">
            <a:spLocks noChangeArrowheads="1"/>
          </p:cNvSpPr>
          <p:nvPr/>
        </p:nvSpPr>
        <p:spPr bwMode="auto">
          <a:xfrm>
            <a:off x="3119438" y="19319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由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统一时标 </a:t>
            </a:r>
            <a:r>
              <a:rPr lang="zh-CN" altLang="en-US" sz="2800">
                <a:latin typeface="Times New Roman" panose="02020603050405020304" pitchFamily="18" charset="0"/>
              </a:rPr>
              <a:t>控制数据传送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83299" name="Text Box 3"/>
          <p:cNvSpPr txBox="1">
            <a:spLocks noChangeArrowheads="1"/>
          </p:cNvSpPr>
          <p:nvPr/>
        </p:nvSpPr>
        <p:spPr bwMode="auto">
          <a:xfrm>
            <a:off x="3119438" y="4967288"/>
            <a:ext cx="624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充分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挖掘 </a:t>
            </a:r>
            <a:r>
              <a:rPr lang="zh-CN" altLang="en-US" sz="2800">
                <a:latin typeface="Times New Roman" panose="02020603050405020304" pitchFamily="18" charset="0"/>
              </a:rPr>
              <a:t>系统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总线每个瞬间 </a:t>
            </a:r>
            <a:r>
              <a:rPr lang="zh-CN" altLang="en-US" sz="2800">
                <a:latin typeface="Times New Roman" panose="02020603050405020304" pitchFamily="18" charset="0"/>
              </a:rPr>
              <a:t>的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潜力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814388" y="1931988"/>
            <a:ext cx="3900487" cy="3592512"/>
            <a:chOff x="567" y="1217"/>
            <a:chExt cx="2457" cy="2263"/>
          </a:xfrm>
        </p:grpSpPr>
        <p:sp>
          <p:nvSpPr>
            <p:cNvPr id="95243" name="Text Box 5"/>
            <p:cNvSpPr txBox="1">
              <a:spLocks noChangeArrowheads="1"/>
            </p:cNvSpPr>
            <p:nvPr/>
          </p:nvSpPr>
          <p:spPr bwMode="auto">
            <a:xfrm>
              <a:off x="567" y="1217"/>
              <a:ext cx="149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同步通信 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95244" name="Text Box 6"/>
            <p:cNvSpPr txBox="1">
              <a:spLocks noChangeArrowheads="1"/>
            </p:cNvSpPr>
            <p:nvPr/>
          </p:nvSpPr>
          <p:spPr bwMode="auto">
            <a:xfrm>
              <a:off x="567" y="1810"/>
              <a:ext cx="1641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异步通信</a:t>
              </a:r>
              <a:r>
                <a:rPr lang="zh-CN" altLang="en-US" sz="36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36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5245" name="Text Box 7"/>
            <p:cNvSpPr txBox="1">
              <a:spLocks noChangeArrowheads="1"/>
            </p:cNvSpPr>
            <p:nvPr/>
          </p:nvSpPr>
          <p:spPr bwMode="auto">
            <a:xfrm>
              <a:off x="567" y="2443"/>
              <a:ext cx="183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半同步通信</a:t>
              </a:r>
              <a:r>
                <a:rPr lang="zh-CN" altLang="en-US" sz="36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36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5246" name="Text Box 8"/>
            <p:cNvSpPr txBox="1">
              <a:spLocks noChangeArrowheads="1"/>
            </p:cNvSpPr>
            <p:nvPr/>
          </p:nvSpPr>
          <p:spPr bwMode="auto">
            <a:xfrm>
              <a:off x="567" y="3076"/>
              <a:ext cx="2457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分离式通信</a:t>
              </a:r>
              <a:r>
                <a:rPr lang="zh-CN" altLang="en-US" sz="36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36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3305" name="AutoShape 9"/>
          <p:cNvSpPr/>
          <p:nvPr/>
        </p:nvSpPr>
        <p:spPr bwMode="auto">
          <a:xfrm>
            <a:off x="523875" y="2133600"/>
            <a:ext cx="304800" cy="3200400"/>
          </a:xfrm>
          <a:prstGeom prst="leftBrace">
            <a:avLst>
              <a:gd name="adj1" fmla="val 87500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38" name="Text Box 10"/>
          <p:cNvSpPr txBox="1">
            <a:spLocks noChangeArrowheads="1"/>
          </p:cNvSpPr>
          <p:nvPr/>
        </p:nvSpPr>
        <p:spPr bwMode="auto">
          <a:xfrm>
            <a:off x="266700" y="533400"/>
            <a:ext cx="6338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3. 总线通信的四种方式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83307" name="Text Box 11"/>
          <p:cNvSpPr txBox="1">
            <a:spLocks noChangeArrowheads="1"/>
          </p:cNvSpPr>
          <p:nvPr/>
        </p:nvSpPr>
        <p:spPr bwMode="auto">
          <a:xfrm>
            <a:off x="3119438" y="2971800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采用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应答方式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，没有公共时钟标准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83308" name="Text Box 12"/>
          <p:cNvSpPr txBox="1">
            <a:spLocks noChangeArrowheads="1"/>
          </p:cNvSpPr>
          <p:nvPr/>
        </p:nvSpPr>
        <p:spPr bwMode="auto">
          <a:xfrm>
            <a:off x="3119438" y="39258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同步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异步结合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3309" name="Rectangle 13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5242" name="AutoShape 1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8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utoUpdateAnimBg="0"/>
      <p:bldP spid="183299" grpId="0" autoUpdateAnimBg="0"/>
      <p:bldP spid="183305" grpId="0" animBg="1"/>
      <p:bldP spid="183307" grpId="0" autoUpdateAnimBg="0"/>
      <p:bldP spid="18330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177800" y="4098925"/>
            <a:ext cx="8847138" cy="1143000"/>
            <a:chOff x="96" y="2592"/>
            <a:chExt cx="5573" cy="720"/>
          </a:xfrm>
        </p:grpSpPr>
        <p:grpSp>
          <p:nvGrpSpPr>
            <p:cNvPr id="96375" name="Group 3"/>
            <p:cNvGrpSpPr/>
            <p:nvPr/>
          </p:nvGrpSpPr>
          <p:grpSpPr bwMode="auto">
            <a:xfrm>
              <a:off x="468" y="2745"/>
              <a:ext cx="5201" cy="567"/>
              <a:chOff x="468" y="2745"/>
              <a:chExt cx="5201" cy="567"/>
            </a:xfrm>
          </p:grpSpPr>
          <p:sp>
            <p:nvSpPr>
              <p:cNvPr id="96377" name="Freeform 4"/>
              <p:cNvSpPr/>
              <p:nvPr/>
            </p:nvSpPr>
            <p:spPr bwMode="auto">
              <a:xfrm>
                <a:off x="468" y="2831"/>
                <a:ext cx="1115" cy="1"/>
              </a:xfrm>
              <a:custGeom>
                <a:avLst/>
                <a:gdLst>
                  <a:gd name="T0" fmla="*/ 0 w 1174"/>
                  <a:gd name="T1" fmla="*/ 1 h 1"/>
                  <a:gd name="T2" fmla="*/ 571 w 1174"/>
                  <a:gd name="T3" fmla="*/ 0 h 1"/>
                  <a:gd name="T4" fmla="*/ 0 60000 65536"/>
                  <a:gd name="T5" fmla="*/ 0 60000 65536"/>
                  <a:gd name="T6" fmla="*/ 0 w 1174"/>
                  <a:gd name="T7" fmla="*/ 0 h 1"/>
                  <a:gd name="T8" fmla="*/ 1174 w 1174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74" h="1">
                    <a:moveTo>
                      <a:pt x="0" y="1"/>
                    </a:moveTo>
                    <a:lnTo>
                      <a:pt x="1174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78" name="Line 5"/>
              <p:cNvSpPr>
                <a:spLocks noChangeShapeType="1"/>
              </p:cNvSpPr>
              <p:nvPr/>
            </p:nvSpPr>
            <p:spPr bwMode="auto">
              <a:xfrm rot="8100000">
                <a:off x="1776" y="2745"/>
                <a:ext cx="0" cy="5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79" name="Line 6"/>
              <p:cNvSpPr>
                <a:spLocks noChangeShapeType="1"/>
              </p:cNvSpPr>
              <p:nvPr/>
            </p:nvSpPr>
            <p:spPr bwMode="auto">
              <a:xfrm rot="2700000">
                <a:off x="3647" y="2740"/>
                <a:ext cx="0" cy="55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80" name="Line 7"/>
              <p:cNvSpPr>
                <a:spLocks noChangeShapeType="1"/>
              </p:cNvSpPr>
              <p:nvPr/>
            </p:nvSpPr>
            <p:spPr bwMode="auto">
              <a:xfrm>
                <a:off x="1968" y="3216"/>
                <a:ext cx="14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81" name="Line 8"/>
              <p:cNvSpPr>
                <a:spLocks noChangeShapeType="1"/>
              </p:cNvSpPr>
              <p:nvPr/>
            </p:nvSpPr>
            <p:spPr bwMode="auto">
              <a:xfrm>
                <a:off x="3840" y="2832"/>
                <a:ext cx="182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6376" name="Text Box 9"/>
            <p:cNvSpPr txBox="1">
              <a:spLocks noChangeArrowheads="1"/>
            </p:cNvSpPr>
            <p:nvPr/>
          </p:nvSpPr>
          <p:spPr bwMode="auto">
            <a:xfrm>
              <a:off x="96" y="2592"/>
              <a:ext cx="576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0">
                  <a:latin typeface="Times New Roman" panose="02020603050405020304" pitchFamily="18" charset="0"/>
                </a:rPr>
                <a:t>  </a:t>
              </a:r>
              <a:r>
                <a:rPr lang="zh-CN" altLang="en-US" sz="2400">
                  <a:latin typeface="Times New Roman" panose="02020603050405020304" pitchFamily="18" charset="0"/>
                </a:rPr>
                <a:t>读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命令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96259" name="Text Box 10"/>
          <p:cNvSpPr txBox="1">
            <a:spLocks noChangeArrowheads="1"/>
          </p:cNvSpPr>
          <p:nvPr/>
        </p:nvSpPr>
        <p:spPr bwMode="auto">
          <a:xfrm>
            <a:off x="685800" y="425450"/>
            <a:ext cx="472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(1) 同步式数据输入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4" name="Group 11"/>
          <p:cNvGrpSpPr/>
          <p:nvPr/>
        </p:nvGrpSpPr>
        <p:grpSpPr bwMode="auto">
          <a:xfrm>
            <a:off x="76200" y="1493838"/>
            <a:ext cx="8915400" cy="1633537"/>
            <a:chOff x="48" y="941"/>
            <a:chExt cx="5616" cy="1029"/>
          </a:xfrm>
        </p:grpSpPr>
        <p:grpSp>
          <p:nvGrpSpPr>
            <p:cNvPr id="96344" name="Group 12"/>
            <p:cNvGrpSpPr/>
            <p:nvPr/>
          </p:nvGrpSpPr>
          <p:grpSpPr bwMode="auto">
            <a:xfrm>
              <a:off x="480" y="941"/>
              <a:ext cx="5184" cy="1029"/>
              <a:chOff x="480" y="941"/>
              <a:chExt cx="5184" cy="1029"/>
            </a:xfrm>
          </p:grpSpPr>
          <p:sp>
            <p:nvSpPr>
              <p:cNvPr id="96346" name="Rectangle 13"/>
              <p:cNvSpPr>
                <a:spLocks noChangeArrowheads="1"/>
              </p:cNvSpPr>
              <p:nvPr/>
            </p:nvSpPr>
            <p:spPr bwMode="auto">
              <a:xfrm>
                <a:off x="1505" y="1768"/>
                <a:ext cx="15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100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1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100" baseline="-25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47" name="Line 14"/>
              <p:cNvSpPr>
                <a:spLocks noChangeShapeType="1"/>
              </p:cNvSpPr>
              <p:nvPr/>
            </p:nvSpPr>
            <p:spPr bwMode="auto">
              <a:xfrm>
                <a:off x="2938" y="1779"/>
                <a:ext cx="1" cy="18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48" name="Line 15"/>
              <p:cNvSpPr>
                <a:spLocks noChangeShapeType="1"/>
              </p:cNvSpPr>
              <p:nvPr/>
            </p:nvSpPr>
            <p:spPr bwMode="auto">
              <a:xfrm>
                <a:off x="3850" y="1779"/>
                <a:ext cx="2" cy="18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49" name="Line 16"/>
              <p:cNvSpPr>
                <a:spLocks noChangeShapeType="1"/>
              </p:cNvSpPr>
              <p:nvPr/>
            </p:nvSpPr>
            <p:spPr bwMode="auto">
              <a:xfrm>
                <a:off x="4751" y="1779"/>
                <a:ext cx="1" cy="18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50" name="Rectangle 17"/>
              <p:cNvSpPr>
                <a:spLocks noChangeArrowheads="1"/>
              </p:cNvSpPr>
              <p:nvPr/>
            </p:nvSpPr>
            <p:spPr bwMode="auto">
              <a:xfrm>
                <a:off x="2508" y="1008"/>
                <a:ext cx="1365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6351" name="Line 18"/>
              <p:cNvSpPr>
                <a:spLocks noChangeShapeType="1"/>
              </p:cNvSpPr>
              <p:nvPr/>
            </p:nvSpPr>
            <p:spPr bwMode="auto">
              <a:xfrm>
                <a:off x="4749" y="1008"/>
                <a:ext cx="1" cy="18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52" name="Rectangle 19"/>
              <p:cNvSpPr>
                <a:spLocks noChangeArrowheads="1"/>
              </p:cNvSpPr>
              <p:nvPr/>
            </p:nvSpPr>
            <p:spPr bwMode="auto">
              <a:xfrm>
                <a:off x="2250" y="941"/>
                <a:ext cx="1542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3200">
                    <a:solidFill>
                      <a:schemeClr val="folHlink"/>
                    </a:solidFill>
                  </a:rPr>
                  <a:t>总线传输周期</a:t>
                </a:r>
                <a:endParaRPr lang="zh-CN" altLang="en-US" sz="32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53" name="Line 20"/>
              <p:cNvSpPr>
                <a:spLocks noChangeShapeType="1"/>
              </p:cNvSpPr>
              <p:nvPr/>
            </p:nvSpPr>
            <p:spPr bwMode="auto">
              <a:xfrm>
                <a:off x="1094" y="1776"/>
                <a:ext cx="2" cy="18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54" name="Freeform 21"/>
              <p:cNvSpPr/>
              <p:nvPr/>
            </p:nvSpPr>
            <p:spPr bwMode="auto">
              <a:xfrm>
                <a:off x="1104" y="1344"/>
                <a:ext cx="912" cy="384"/>
              </a:xfrm>
              <a:custGeom>
                <a:avLst/>
                <a:gdLst>
                  <a:gd name="T0" fmla="*/ 0 w 912"/>
                  <a:gd name="T1" fmla="*/ 384 h 384"/>
                  <a:gd name="T2" fmla="*/ 0 w 912"/>
                  <a:gd name="T3" fmla="*/ 0 h 384"/>
                  <a:gd name="T4" fmla="*/ 432 w 912"/>
                  <a:gd name="T5" fmla="*/ 0 h 384"/>
                  <a:gd name="T6" fmla="*/ 432 w 912"/>
                  <a:gd name="T7" fmla="*/ 384 h 384"/>
                  <a:gd name="T8" fmla="*/ 912 w 912"/>
                  <a:gd name="T9" fmla="*/ 38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55" name="Freeform 22"/>
              <p:cNvSpPr/>
              <p:nvPr/>
            </p:nvSpPr>
            <p:spPr bwMode="auto">
              <a:xfrm>
                <a:off x="2928" y="1344"/>
                <a:ext cx="912" cy="384"/>
              </a:xfrm>
              <a:custGeom>
                <a:avLst/>
                <a:gdLst>
                  <a:gd name="T0" fmla="*/ 0 w 912"/>
                  <a:gd name="T1" fmla="*/ 384 h 384"/>
                  <a:gd name="T2" fmla="*/ 0 w 912"/>
                  <a:gd name="T3" fmla="*/ 0 h 384"/>
                  <a:gd name="T4" fmla="*/ 432 w 912"/>
                  <a:gd name="T5" fmla="*/ 0 h 384"/>
                  <a:gd name="T6" fmla="*/ 432 w 912"/>
                  <a:gd name="T7" fmla="*/ 384 h 384"/>
                  <a:gd name="T8" fmla="*/ 912 w 912"/>
                  <a:gd name="T9" fmla="*/ 38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56" name="Freeform 23"/>
              <p:cNvSpPr/>
              <p:nvPr/>
            </p:nvSpPr>
            <p:spPr bwMode="auto">
              <a:xfrm>
                <a:off x="3840" y="1344"/>
                <a:ext cx="912" cy="384"/>
              </a:xfrm>
              <a:custGeom>
                <a:avLst/>
                <a:gdLst>
                  <a:gd name="T0" fmla="*/ 0 w 912"/>
                  <a:gd name="T1" fmla="*/ 384 h 384"/>
                  <a:gd name="T2" fmla="*/ 0 w 912"/>
                  <a:gd name="T3" fmla="*/ 0 h 384"/>
                  <a:gd name="T4" fmla="*/ 432 w 912"/>
                  <a:gd name="T5" fmla="*/ 0 h 384"/>
                  <a:gd name="T6" fmla="*/ 432 w 912"/>
                  <a:gd name="T7" fmla="*/ 384 h 384"/>
                  <a:gd name="T8" fmla="*/ 912 w 912"/>
                  <a:gd name="T9" fmla="*/ 38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cxnSp>
            <p:nvCxnSpPr>
              <p:cNvPr id="96357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80" y="1728"/>
                <a:ext cx="624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6358" name="Freeform 25"/>
              <p:cNvSpPr/>
              <p:nvPr/>
            </p:nvSpPr>
            <p:spPr bwMode="auto">
              <a:xfrm>
                <a:off x="4752" y="1344"/>
                <a:ext cx="912" cy="384"/>
              </a:xfrm>
              <a:custGeom>
                <a:avLst/>
                <a:gdLst>
                  <a:gd name="T0" fmla="*/ 0 w 912"/>
                  <a:gd name="T1" fmla="*/ 384 h 384"/>
                  <a:gd name="T2" fmla="*/ 0 w 912"/>
                  <a:gd name="T3" fmla="*/ 0 h 384"/>
                  <a:gd name="T4" fmla="*/ 432 w 912"/>
                  <a:gd name="T5" fmla="*/ 0 h 384"/>
                  <a:gd name="T6" fmla="*/ 432 w 912"/>
                  <a:gd name="T7" fmla="*/ 384 h 384"/>
                  <a:gd name="T8" fmla="*/ 912 w 912"/>
                  <a:gd name="T9" fmla="*/ 38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59" name="Freeform 26"/>
              <p:cNvSpPr/>
              <p:nvPr/>
            </p:nvSpPr>
            <p:spPr bwMode="auto">
              <a:xfrm>
                <a:off x="2016" y="1344"/>
                <a:ext cx="912" cy="384"/>
              </a:xfrm>
              <a:custGeom>
                <a:avLst/>
                <a:gdLst>
                  <a:gd name="T0" fmla="*/ 0 w 912"/>
                  <a:gd name="T1" fmla="*/ 384 h 384"/>
                  <a:gd name="T2" fmla="*/ 0 w 912"/>
                  <a:gd name="T3" fmla="*/ 0 h 384"/>
                  <a:gd name="T4" fmla="*/ 432 w 912"/>
                  <a:gd name="T5" fmla="*/ 0 h 384"/>
                  <a:gd name="T6" fmla="*/ 432 w 912"/>
                  <a:gd name="T7" fmla="*/ 384 h 384"/>
                  <a:gd name="T8" fmla="*/ 912 w 912"/>
                  <a:gd name="T9" fmla="*/ 38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60" name="Rectangle 27"/>
              <p:cNvSpPr>
                <a:spLocks noChangeArrowheads="1"/>
              </p:cNvSpPr>
              <p:nvPr/>
            </p:nvSpPr>
            <p:spPr bwMode="auto">
              <a:xfrm>
                <a:off x="2385" y="1768"/>
                <a:ext cx="15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100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1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100" baseline="-25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61" name="Rectangle 28"/>
              <p:cNvSpPr>
                <a:spLocks noChangeArrowheads="1"/>
              </p:cNvSpPr>
              <p:nvPr/>
            </p:nvSpPr>
            <p:spPr bwMode="auto">
              <a:xfrm>
                <a:off x="3345" y="1768"/>
                <a:ext cx="15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100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1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100" baseline="-25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62" name="Rectangle 29"/>
              <p:cNvSpPr>
                <a:spLocks noChangeArrowheads="1"/>
              </p:cNvSpPr>
              <p:nvPr/>
            </p:nvSpPr>
            <p:spPr bwMode="auto">
              <a:xfrm>
                <a:off x="4224" y="1768"/>
                <a:ext cx="15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100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1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2100" baseline="-25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363" name="Line 30"/>
              <p:cNvSpPr>
                <a:spLocks noChangeShapeType="1"/>
              </p:cNvSpPr>
              <p:nvPr/>
            </p:nvSpPr>
            <p:spPr bwMode="auto">
              <a:xfrm>
                <a:off x="1104" y="1104"/>
                <a:ext cx="11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64" name="Line 31"/>
              <p:cNvSpPr>
                <a:spLocks noChangeShapeType="1"/>
              </p:cNvSpPr>
              <p:nvPr/>
            </p:nvSpPr>
            <p:spPr bwMode="auto">
              <a:xfrm>
                <a:off x="1103" y="1008"/>
                <a:ext cx="1" cy="18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65" name="Line 32"/>
              <p:cNvSpPr>
                <a:spLocks noChangeShapeType="1"/>
              </p:cNvSpPr>
              <p:nvPr/>
            </p:nvSpPr>
            <p:spPr bwMode="auto">
              <a:xfrm>
                <a:off x="3840" y="1104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66" name="Line 33"/>
              <p:cNvSpPr>
                <a:spLocks noChangeShapeType="1"/>
              </p:cNvSpPr>
              <p:nvPr/>
            </p:nvSpPr>
            <p:spPr bwMode="auto">
              <a:xfrm>
                <a:off x="1680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67" name="Line 34"/>
              <p:cNvSpPr>
                <a:spLocks noChangeShapeType="1"/>
              </p:cNvSpPr>
              <p:nvPr/>
            </p:nvSpPr>
            <p:spPr bwMode="auto">
              <a:xfrm>
                <a:off x="2016" y="1781"/>
                <a:ext cx="1" cy="18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68" name="Line 35"/>
              <p:cNvSpPr>
                <a:spLocks noChangeShapeType="1"/>
              </p:cNvSpPr>
              <p:nvPr/>
            </p:nvSpPr>
            <p:spPr bwMode="auto">
              <a:xfrm>
                <a:off x="2592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69" name="Line 36"/>
              <p:cNvSpPr>
                <a:spLocks noChangeShapeType="1"/>
              </p:cNvSpPr>
              <p:nvPr/>
            </p:nvSpPr>
            <p:spPr bwMode="auto">
              <a:xfrm>
                <a:off x="3504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70" name="Line 37"/>
              <p:cNvSpPr>
                <a:spLocks noChangeShapeType="1"/>
              </p:cNvSpPr>
              <p:nvPr/>
            </p:nvSpPr>
            <p:spPr bwMode="auto">
              <a:xfrm>
                <a:off x="4416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71" name="Line 38"/>
              <p:cNvSpPr>
                <a:spLocks noChangeShapeType="1"/>
              </p:cNvSpPr>
              <p:nvPr/>
            </p:nvSpPr>
            <p:spPr bwMode="auto">
              <a:xfrm>
                <a:off x="1104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72" name="Line 39"/>
              <p:cNvSpPr>
                <a:spLocks noChangeShapeType="1"/>
              </p:cNvSpPr>
              <p:nvPr/>
            </p:nvSpPr>
            <p:spPr bwMode="auto">
              <a:xfrm>
                <a:off x="2016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73" name="Line 40"/>
              <p:cNvSpPr>
                <a:spLocks noChangeShapeType="1"/>
              </p:cNvSpPr>
              <p:nvPr/>
            </p:nvSpPr>
            <p:spPr bwMode="auto">
              <a:xfrm>
                <a:off x="2928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74" name="Line 41"/>
              <p:cNvSpPr>
                <a:spLocks noChangeShapeType="1"/>
              </p:cNvSpPr>
              <p:nvPr/>
            </p:nvSpPr>
            <p:spPr bwMode="auto">
              <a:xfrm>
                <a:off x="3840" y="187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6345" name="Text Box 42"/>
            <p:cNvSpPr txBox="1">
              <a:spLocks noChangeArrowheads="1"/>
            </p:cNvSpPr>
            <p:nvPr/>
          </p:nvSpPr>
          <p:spPr bwMode="auto">
            <a:xfrm>
              <a:off x="48" y="1440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0"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时钟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43"/>
          <p:cNvGrpSpPr/>
          <p:nvPr/>
        </p:nvGrpSpPr>
        <p:grpSpPr bwMode="auto">
          <a:xfrm>
            <a:off x="76200" y="3276600"/>
            <a:ext cx="8921750" cy="773113"/>
            <a:chOff x="48" y="2064"/>
            <a:chExt cx="5620" cy="487"/>
          </a:xfrm>
        </p:grpSpPr>
        <p:sp>
          <p:nvSpPr>
            <p:cNvPr id="96340" name="Freeform 44"/>
            <p:cNvSpPr/>
            <p:nvPr/>
          </p:nvSpPr>
          <p:spPr bwMode="auto">
            <a:xfrm>
              <a:off x="931" y="2208"/>
              <a:ext cx="3857" cy="343"/>
            </a:xfrm>
            <a:custGeom>
              <a:avLst/>
              <a:gdLst>
                <a:gd name="T0" fmla="*/ 170 w 3857"/>
                <a:gd name="T1" fmla="*/ 0 h 343"/>
                <a:gd name="T2" fmla="*/ 0 w 3857"/>
                <a:gd name="T3" fmla="*/ 170 h 343"/>
                <a:gd name="T4" fmla="*/ 173 w 3857"/>
                <a:gd name="T5" fmla="*/ 342 h 343"/>
                <a:gd name="T6" fmla="*/ 1343 w 3857"/>
                <a:gd name="T7" fmla="*/ 343 h 343"/>
                <a:gd name="T8" fmla="*/ 3686 w 3857"/>
                <a:gd name="T9" fmla="*/ 342 h 343"/>
                <a:gd name="T10" fmla="*/ 3857 w 3857"/>
                <a:gd name="T11" fmla="*/ 171 h 343"/>
                <a:gd name="T12" fmla="*/ 3686 w 3857"/>
                <a:gd name="T13" fmla="*/ 0 h 343"/>
                <a:gd name="T14" fmla="*/ 170 w 3857"/>
                <a:gd name="T15" fmla="*/ 0 h 3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857"/>
                <a:gd name="T25" fmla="*/ 0 h 343"/>
                <a:gd name="T26" fmla="*/ 3857 w 3857"/>
                <a:gd name="T27" fmla="*/ 343 h 34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857" h="343">
                  <a:moveTo>
                    <a:pt x="170" y="0"/>
                  </a:moveTo>
                  <a:lnTo>
                    <a:pt x="0" y="170"/>
                  </a:lnTo>
                  <a:lnTo>
                    <a:pt x="173" y="342"/>
                  </a:lnTo>
                  <a:lnTo>
                    <a:pt x="1343" y="343"/>
                  </a:lnTo>
                  <a:lnTo>
                    <a:pt x="3686" y="342"/>
                  </a:lnTo>
                  <a:lnTo>
                    <a:pt x="3857" y="171"/>
                  </a:lnTo>
                  <a:lnTo>
                    <a:pt x="3686" y="0"/>
                  </a:lnTo>
                  <a:lnTo>
                    <a:pt x="170" y="0"/>
                  </a:lnTo>
                  <a:close/>
                </a:path>
              </a:pathLst>
            </a:custGeom>
            <a:noFill/>
            <a:ln w="31750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41" name="Line 45"/>
            <p:cNvSpPr>
              <a:spLocks noChangeShapeType="1"/>
            </p:cNvSpPr>
            <p:nvPr/>
          </p:nvSpPr>
          <p:spPr bwMode="auto">
            <a:xfrm flipH="1">
              <a:off x="482" y="2378"/>
              <a:ext cx="4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42" name="Line 46"/>
            <p:cNvSpPr>
              <a:spLocks noChangeShapeType="1"/>
            </p:cNvSpPr>
            <p:nvPr/>
          </p:nvSpPr>
          <p:spPr bwMode="auto">
            <a:xfrm>
              <a:off x="4800" y="2378"/>
              <a:ext cx="8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43" name="Text Box 47"/>
            <p:cNvSpPr txBox="1">
              <a:spLocks noChangeArrowheads="1"/>
            </p:cNvSpPr>
            <p:nvPr/>
          </p:nvSpPr>
          <p:spPr bwMode="auto">
            <a:xfrm>
              <a:off x="48" y="2064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0"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地址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48"/>
          <p:cNvGrpSpPr/>
          <p:nvPr/>
        </p:nvGrpSpPr>
        <p:grpSpPr bwMode="auto">
          <a:xfrm>
            <a:off x="76200" y="5334000"/>
            <a:ext cx="8991600" cy="833438"/>
            <a:chOff x="48" y="3360"/>
            <a:chExt cx="5664" cy="525"/>
          </a:xfrm>
        </p:grpSpPr>
        <p:sp>
          <p:nvSpPr>
            <p:cNvPr id="96336" name="Line 49"/>
            <p:cNvSpPr>
              <a:spLocks noChangeShapeType="1"/>
            </p:cNvSpPr>
            <p:nvPr/>
          </p:nvSpPr>
          <p:spPr bwMode="auto">
            <a:xfrm>
              <a:off x="480" y="3696"/>
              <a:ext cx="22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7" name="Line 50"/>
            <p:cNvSpPr>
              <a:spLocks noChangeShapeType="1"/>
            </p:cNvSpPr>
            <p:nvPr/>
          </p:nvSpPr>
          <p:spPr bwMode="auto">
            <a:xfrm>
              <a:off x="3809" y="3695"/>
              <a:ext cx="190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38" name="Freeform 51"/>
            <p:cNvSpPr/>
            <p:nvPr/>
          </p:nvSpPr>
          <p:spPr bwMode="auto">
            <a:xfrm>
              <a:off x="2763" y="3552"/>
              <a:ext cx="1046" cy="333"/>
            </a:xfrm>
            <a:custGeom>
              <a:avLst/>
              <a:gdLst>
                <a:gd name="T0" fmla="*/ 0 w 1056"/>
                <a:gd name="T1" fmla="*/ 144 h 333"/>
                <a:gd name="T2" fmla="*/ 130 w 1056"/>
                <a:gd name="T3" fmla="*/ 0 h 333"/>
                <a:gd name="T4" fmla="*/ 798 w 1056"/>
                <a:gd name="T5" fmla="*/ 0 h 333"/>
                <a:gd name="T6" fmla="*/ 924 w 1056"/>
                <a:gd name="T7" fmla="*/ 144 h 333"/>
                <a:gd name="T8" fmla="*/ 770 w 1056"/>
                <a:gd name="T9" fmla="*/ 333 h 333"/>
                <a:gd name="T10" fmla="*/ 150 w 1056"/>
                <a:gd name="T11" fmla="*/ 333 h 333"/>
                <a:gd name="T12" fmla="*/ 0 w 1056"/>
                <a:gd name="T13" fmla="*/ 144 h 3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56"/>
                <a:gd name="T22" fmla="*/ 0 h 333"/>
                <a:gd name="T23" fmla="*/ 1056 w 1056"/>
                <a:gd name="T24" fmla="*/ 333 h 3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56" h="333">
                  <a:moveTo>
                    <a:pt x="0" y="144"/>
                  </a:moveTo>
                  <a:lnTo>
                    <a:pt x="144" y="0"/>
                  </a:lnTo>
                  <a:lnTo>
                    <a:pt x="912" y="0"/>
                  </a:lnTo>
                  <a:lnTo>
                    <a:pt x="1056" y="144"/>
                  </a:lnTo>
                  <a:lnTo>
                    <a:pt x="880" y="333"/>
                  </a:lnTo>
                  <a:lnTo>
                    <a:pt x="170" y="333"/>
                  </a:lnTo>
                  <a:lnTo>
                    <a:pt x="0" y="144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39" name="Text Box 52"/>
            <p:cNvSpPr txBox="1">
              <a:spLocks noChangeArrowheads="1"/>
            </p:cNvSpPr>
            <p:nvPr/>
          </p:nvSpPr>
          <p:spPr bwMode="auto">
            <a:xfrm>
              <a:off x="48" y="3360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数据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53"/>
          <p:cNvGrpSpPr/>
          <p:nvPr/>
        </p:nvGrpSpPr>
        <p:grpSpPr bwMode="auto">
          <a:xfrm>
            <a:off x="762000" y="3505200"/>
            <a:ext cx="1030288" cy="2663825"/>
            <a:chOff x="480" y="2208"/>
            <a:chExt cx="649" cy="1678"/>
          </a:xfrm>
        </p:grpSpPr>
        <p:sp>
          <p:nvSpPr>
            <p:cNvPr id="96326" name="Rectangle 54"/>
            <p:cNvSpPr>
              <a:spLocks noChangeArrowheads="1"/>
            </p:cNvSpPr>
            <p:nvPr/>
          </p:nvSpPr>
          <p:spPr bwMode="auto">
            <a:xfrm>
              <a:off x="480" y="2832"/>
              <a:ext cx="624" cy="408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6327" name="Rectangle 55"/>
            <p:cNvSpPr>
              <a:spLocks noChangeArrowheads="1"/>
            </p:cNvSpPr>
            <p:nvPr/>
          </p:nvSpPr>
          <p:spPr bwMode="auto">
            <a:xfrm>
              <a:off x="480" y="3528"/>
              <a:ext cx="624" cy="358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6328" name="Line 56"/>
            <p:cNvSpPr>
              <a:spLocks noChangeShapeType="1"/>
            </p:cNvSpPr>
            <p:nvPr/>
          </p:nvSpPr>
          <p:spPr bwMode="auto">
            <a:xfrm>
              <a:off x="480" y="2832"/>
              <a:ext cx="62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29" name="Line 57"/>
            <p:cNvSpPr>
              <a:spLocks noChangeShapeType="1"/>
            </p:cNvSpPr>
            <p:nvPr/>
          </p:nvSpPr>
          <p:spPr bwMode="auto">
            <a:xfrm>
              <a:off x="480" y="3696"/>
              <a:ext cx="62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96330" name="Group 58"/>
            <p:cNvGrpSpPr/>
            <p:nvPr/>
          </p:nvGrpSpPr>
          <p:grpSpPr bwMode="auto">
            <a:xfrm>
              <a:off x="480" y="2208"/>
              <a:ext cx="649" cy="386"/>
              <a:chOff x="478" y="2206"/>
              <a:chExt cx="649" cy="386"/>
            </a:xfrm>
          </p:grpSpPr>
          <p:sp>
            <p:nvSpPr>
              <p:cNvPr id="96331" name="Freeform 59"/>
              <p:cNvSpPr/>
              <p:nvPr/>
            </p:nvSpPr>
            <p:spPr bwMode="auto">
              <a:xfrm>
                <a:off x="478" y="2206"/>
                <a:ext cx="613" cy="355"/>
              </a:xfrm>
              <a:custGeom>
                <a:avLst/>
                <a:gdLst>
                  <a:gd name="T0" fmla="*/ 453 w 613"/>
                  <a:gd name="T1" fmla="*/ 196 h 355"/>
                  <a:gd name="T2" fmla="*/ 581 w 613"/>
                  <a:gd name="T3" fmla="*/ 2 h 355"/>
                  <a:gd name="T4" fmla="*/ 0 w 613"/>
                  <a:gd name="T5" fmla="*/ 0 h 355"/>
                  <a:gd name="T6" fmla="*/ 0 w 613"/>
                  <a:gd name="T7" fmla="*/ 355 h 355"/>
                  <a:gd name="T8" fmla="*/ 613 w 613"/>
                  <a:gd name="T9" fmla="*/ 355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3"/>
                  <a:gd name="T16" fmla="*/ 0 h 355"/>
                  <a:gd name="T17" fmla="*/ 613 w 613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3" h="355">
                    <a:moveTo>
                      <a:pt x="453" y="196"/>
                    </a:moveTo>
                    <a:lnTo>
                      <a:pt x="581" y="2"/>
                    </a:lnTo>
                    <a:lnTo>
                      <a:pt x="0" y="0"/>
                    </a:lnTo>
                    <a:lnTo>
                      <a:pt x="0" y="355"/>
                    </a:lnTo>
                    <a:lnTo>
                      <a:pt x="613" y="355"/>
                    </a:lnTo>
                  </a:path>
                </a:pathLst>
              </a:cu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32" name="Line 60"/>
              <p:cNvSpPr>
                <a:spLocks noChangeShapeType="1"/>
              </p:cNvSpPr>
              <p:nvPr/>
            </p:nvSpPr>
            <p:spPr bwMode="auto">
              <a:xfrm>
                <a:off x="480" y="2208"/>
                <a:ext cx="624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33" name="Line 61"/>
              <p:cNvSpPr>
                <a:spLocks noChangeShapeType="1"/>
              </p:cNvSpPr>
              <p:nvPr/>
            </p:nvSpPr>
            <p:spPr bwMode="auto">
              <a:xfrm>
                <a:off x="480" y="2544"/>
                <a:ext cx="624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34" name="Line 62"/>
              <p:cNvSpPr>
                <a:spLocks noChangeShapeType="1"/>
              </p:cNvSpPr>
              <p:nvPr/>
            </p:nvSpPr>
            <p:spPr bwMode="auto">
              <a:xfrm rot="8100000">
                <a:off x="1008" y="2329"/>
                <a:ext cx="0" cy="263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35" name="Line 63"/>
              <p:cNvSpPr>
                <a:spLocks noChangeShapeType="1"/>
              </p:cNvSpPr>
              <p:nvPr/>
            </p:nvSpPr>
            <p:spPr bwMode="auto">
              <a:xfrm rot="2700000">
                <a:off x="996" y="2172"/>
                <a:ext cx="0" cy="263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184384" name="Line 64"/>
          <p:cNvSpPr>
            <a:spLocks noChangeShapeType="1"/>
          </p:cNvSpPr>
          <p:nvPr/>
        </p:nvSpPr>
        <p:spPr bwMode="auto">
          <a:xfrm>
            <a:off x="1752600" y="3048000"/>
            <a:ext cx="0" cy="3703638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" name="Group 65"/>
          <p:cNvGrpSpPr/>
          <p:nvPr/>
        </p:nvGrpSpPr>
        <p:grpSpPr bwMode="auto">
          <a:xfrm>
            <a:off x="1731963" y="3505200"/>
            <a:ext cx="1481137" cy="2667000"/>
            <a:chOff x="1091" y="2208"/>
            <a:chExt cx="933" cy="1680"/>
          </a:xfrm>
        </p:grpSpPr>
        <p:sp>
          <p:nvSpPr>
            <p:cNvPr id="96318" name="Freeform 66"/>
            <p:cNvSpPr/>
            <p:nvPr/>
          </p:nvSpPr>
          <p:spPr bwMode="auto">
            <a:xfrm>
              <a:off x="1091" y="2835"/>
              <a:ext cx="893" cy="406"/>
            </a:xfrm>
            <a:custGeom>
              <a:avLst/>
              <a:gdLst>
                <a:gd name="T0" fmla="*/ 0 w 894"/>
                <a:gd name="T1" fmla="*/ 198 h 429"/>
                <a:gd name="T2" fmla="*/ 880 w 894"/>
                <a:gd name="T3" fmla="*/ 198 h 429"/>
                <a:gd name="T4" fmla="*/ 488 w 894"/>
                <a:gd name="T5" fmla="*/ 0 h 429"/>
                <a:gd name="T6" fmla="*/ 23 w 894"/>
                <a:gd name="T7" fmla="*/ 9 h 4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4"/>
                <a:gd name="T13" fmla="*/ 0 h 429"/>
                <a:gd name="T14" fmla="*/ 894 w 894"/>
                <a:gd name="T15" fmla="*/ 429 h 4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4" h="429">
                  <a:moveTo>
                    <a:pt x="0" y="429"/>
                  </a:moveTo>
                  <a:lnTo>
                    <a:pt x="894" y="429"/>
                  </a:lnTo>
                  <a:lnTo>
                    <a:pt x="502" y="0"/>
                  </a:lnTo>
                  <a:lnTo>
                    <a:pt x="23" y="13"/>
                  </a:lnTo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19" name="Line 67"/>
            <p:cNvSpPr>
              <a:spLocks noChangeShapeType="1"/>
            </p:cNvSpPr>
            <p:nvPr/>
          </p:nvSpPr>
          <p:spPr bwMode="auto">
            <a:xfrm>
              <a:off x="1104" y="2219"/>
              <a:ext cx="920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20" name="Rectangle 68"/>
            <p:cNvSpPr>
              <a:spLocks noChangeArrowheads="1"/>
            </p:cNvSpPr>
            <p:nvPr/>
          </p:nvSpPr>
          <p:spPr bwMode="auto">
            <a:xfrm>
              <a:off x="1104" y="3530"/>
              <a:ext cx="912" cy="358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6321" name="Line 69"/>
            <p:cNvSpPr>
              <a:spLocks noChangeShapeType="1"/>
            </p:cNvSpPr>
            <p:nvPr/>
          </p:nvSpPr>
          <p:spPr bwMode="auto">
            <a:xfrm>
              <a:off x="1104" y="2566"/>
              <a:ext cx="920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22" name="Line 70"/>
            <p:cNvSpPr>
              <a:spLocks noChangeShapeType="1"/>
            </p:cNvSpPr>
            <p:nvPr/>
          </p:nvSpPr>
          <p:spPr bwMode="auto">
            <a:xfrm>
              <a:off x="1104" y="2832"/>
              <a:ext cx="4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23" name="Line 71"/>
            <p:cNvSpPr>
              <a:spLocks noChangeShapeType="1"/>
            </p:cNvSpPr>
            <p:nvPr/>
          </p:nvSpPr>
          <p:spPr bwMode="auto">
            <a:xfrm>
              <a:off x="1104" y="2208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24" name="Line 72"/>
            <p:cNvSpPr>
              <a:spLocks noChangeShapeType="1"/>
            </p:cNvSpPr>
            <p:nvPr/>
          </p:nvSpPr>
          <p:spPr bwMode="auto">
            <a:xfrm>
              <a:off x="1104" y="2544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25" name="Line 73"/>
            <p:cNvSpPr>
              <a:spLocks noChangeShapeType="1"/>
            </p:cNvSpPr>
            <p:nvPr/>
          </p:nvSpPr>
          <p:spPr bwMode="auto">
            <a:xfrm>
              <a:off x="1104" y="3696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4394" name="Line 74"/>
          <p:cNvSpPr>
            <a:spLocks noChangeShapeType="1"/>
          </p:cNvSpPr>
          <p:nvPr/>
        </p:nvSpPr>
        <p:spPr bwMode="auto">
          <a:xfrm rot="8100000">
            <a:off x="2819400" y="4343400"/>
            <a:ext cx="0" cy="900113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395" name="Line 75"/>
          <p:cNvSpPr>
            <a:spLocks noChangeShapeType="1"/>
          </p:cNvSpPr>
          <p:nvPr/>
        </p:nvSpPr>
        <p:spPr bwMode="auto">
          <a:xfrm>
            <a:off x="3200400" y="3048000"/>
            <a:ext cx="0" cy="37338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1" name="Group 76"/>
          <p:cNvGrpSpPr/>
          <p:nvPr/>
        </p:nvGrpSpPr>
        <p:grpSpPr bwMode="auto">
          <a:xfrm>
            <a:off x="3124200" y="3505200"/>
            <a:ext cx="1600200" cy="2667000"/>
            <a:chOff x="1968" y="2208"/>
            <a:chExt cx="1008" cy="1680"/>
          </a:xfrm>
        </p:grpSpPr>
        <p:grpSp>
          <p:nvGrpSpPr>
            <p:cNvPr id="96308" name="Group 77"/>
            <p:cNvGrpSpPr/>
            <p:nvPr/>
          </p:nvGrpSpPr>
          <p:grpSpPr bwMode="auto">
            <a:xfrm>
              <a:off x="2008" y="2219"/>
              <a:ext cx="920" cy="347"/>
              <a:chOff x="2008" y="2219"/>
              <a:chExt cx="920" cy="347"/>
            </a:xfrm>
          </p:grpSpPr>
          <p:sp>
            <p:nvSpPr>
              <p:cNvPr id="96316" name="Line 78"/>
              <p:cNvSpPr>
                <a:spLocks noChangeShapeType="1"/>
              </p:cNvSpPr>
              <p:nvPr/>
            </p:nvSpPr>
            <p:spPr bwMode="auto">
              <a:xfrm>
                <a:off x="2008" y="2219"/>
                <a:ext cx="920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317" name="Line 79"/>
              <p:cNvSpPr>
                <a:spLocks noChangeShapeType="1"/>
              </p:cNvSpPr>
              <p:nvPr/>
            </p:nvSpPr>
            <p:spPr bwMode="auto">
              <a:xfrm>
                <a:off x="2008" y="2566"/>
                <a:ext cx="920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6309" name="Line 80"/>
            <p:cNvSpPr>
              <a:spLocks noChangeShapeType="1"/>
            </p:cNvSpPr>
            <p:nvPr/>
          </p:nvSpPr>
          <p:spPr bwMode="auto">
            <a:xfrm>
              <a:off x="2016" y="3696"/>
              <a:ext cx="816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10" name="Line 81"/>
            <p:cNvSpPr>
              <a:spLocks noChangeShapeType="1"/>
            </p:cNvSpPr>
            <p:nvPr/>
          </p:nvSpPr>
          <p:spPr bwMode="auto">
            <a:xfrm>
              <a:off x="2016" y="2208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11" name="Line 82"/>
            <p:cNvSpPr>
              <a:spLocks noChangeShapeType="1"/>
            </p:cNvSpPr>
            <p:nvPr/>
          </p:nvSpPr>
          <p:spPr bwMode="auto">
            <a:xfrm>
              <a:off x="2016" y="2544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12" name="Line 83"/>
            <p:cNvSpPr>
              <a:spLocks noChangeShapeType="1"/>
            </p:cNvSpPr>
            <p:nvPr/>
          </p:nvSpPr>
          <p:spPr bwMode="auto">
            <a:xfrm>
              <a:off x="1968" y="3216"/>
              <a:ext cx="986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13" name="Freeform 84"/>
            <p:cNvSpPr/>
            <p:nvPr/>
          </p:nvSpPr>
          <p:spPr bwMode="auto">
            <a:xfrm>
              <a:off x="2010" y="3530"/>
              <a:ext cx="931" cy="358"/>
            </a:xfrm>
            <a:custGeom>
              <a:avLst/>
              <a:gdLst>
                <a:gd name="T0" fmla="*/ 0 w 931"/>
                <a:gd name="T1" fmla="*/ 0 h 358"/>
                <a:gd name="T2" fmla="*/ 931 w 931"/>
                <a:gd name="T3" fmla="*/ 0 h 358"/>
                <a:gd name="T4" fmla="*/ 774 w 931"/>
                <a:gd name="T5" fmla="*/ 166 h 358"/>
                <a:gd name="T6" fmla="*/ 931 w 931"/>
                <a:gd name="T7" fmla="*/ 355 h 358"/>
                <a:gd name="T8" fmla="*/ 6 w 931"/>
                <a:gd name="T9" fmla="*/ 358 h 3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1"/>
                <a:gd name="T16" fmla="*/ 0 h 358"/>
                <a:gd name="T17" fmla="*/ 931 w 931"/>
                <a:gd name="T18" fmla="*/ 358 h 3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1" h="358">
                  <a:moveTo>
                    <a:pt x="0" y="0"/>
                  </a:moveTo>
                  <a:lnTo>
                    <a:pt x="931" y="0"/>
                  </a:lnTo>
                  <a:lnTo>
                    <a:pt x="774" y="166"/>
                  </a:lnTo>
                  <a:lnTo>
                    <a:pt x="931" y="355"/>
                  </a:lnTo>
                  <a:lnTo>
                    <a:pt x="6" y="358"/>
                  </a:lnTo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14" name="Line 85"/>
            <p:cNvSpPr>
              <a:spLocks noChangeShapeType="1"/>
            </p:cNvSpPr>
            <p:nvPr/>
          </p:nvSpPr>
          <p:spPr bwMode="auto">
            <a:xfrm flipV="1">
              <a:off x="2784" y="3552"/>
              <a:ext cx="144" cy="144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15" name="Line 86"/>
            <p:cNvSpPr>
              <a:spLocks noChangeShapeType="1"/>
            </p:cNvSpPr>
            <p:nvPr/>
          </p:nvSpPr>
          <p:spPr bwMode="auto">
            <a:xfrm rot="5400000" flipV="1">
              <a:off x="2784" y="3696"/>
              <a:ext cx="192" cy="192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4407" name="Line 87"/>
          <p:cNvSpPr>
            <a:spLocks noChangeShapeType="1"/>
          </p:cNvSpPr>
          <p:nvPr/>
        </p:nvSpPr>
        <p:spPr bwMode="auto">
          <a:xfrm>
            <a:off x="4648200" y="3048000"/>
            <a:ext cx="0" cy="37338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3" name="Group 88"/>
          <p:cNvGrpSpPr/>
          <p:nvPr/>
        </p:nvGrpSpPr>
        <p:grpSpPr bwMode="auto">
          <a:xfrm>
            <a:off x="4648200" y="3505200"/>
            <a:ext cx="838200" cy="2667000"/>
            <a:chOff x="2928" y="2208"/>
            <a:chExt cx="528" cy="1680"/>
          </a:xfrm>
        </p:grpSpPr>
        <p:sp>
          <p:nvSpPr>
            <p:cNvPr id="96303" name="Line 89"/>
            <p:cNvSpPr>
              <a:spLocks noChangeShapeType="1"/>
            </p:cNvSpPr>
            <p:nvPr/>
          </p:nvSpPr>
          <p:spPr bwMode="auto">
            <a:xfrm>
              <a:off x="2928" y="3216"/>
              <a:ext cx="52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04" name="Line 90"/>
            <p:cNvSpPr>
              <a:spLocks noChangeShapeType="1"/>
            </p:cNvSpPr>
            <p:nvPr/>
          </p:nvSpPr>
          <p:spPr bwMode="auto">
            <a:xfrm>
              <a:off x="2928" y="3552"/>
              <a:ext cx="52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05" name="Line 91"/>
            <p:cNvSpPr>
              <a:spLocks noChangeShapeType="1"/>
            </p:cNvSpPr>
            <p:nvPr/>
          </p:nvSpPr>
          <p:spPr bwMode="auto">
            <a:xfrm>
              <a:off x="2928" y="2208"/>
              <a:ext cx="52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06" name="Line 92"/>
            <p:cNvSpPr>
              <a:spLocks noChangeShapeType="1"/>
            </p:cNvSpPr>
            <p:nvPr/>
          </p:nvSpPr>
          <p:spPr bwMode="auto">
            <a:xfrm>
              <a:off x="2928" y="2544"/>
              <a:ext cx="52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07" name="Line 93"/>
            <p:cNvSpPr>
              <a:spLocks noChangeShapeType="1"/>
            </p:cNvSpPr>
            <p:nvPr/>
          </p:nvSpPr>
          <p:spPr bwMode="auto">
            <a:xfrm>
              <a:off x="2928" y="3888"/>
              <a:ext cx="52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4414" name="Line 94"/>
          <p:cNvSpPr>
            <a:spLocks noChangeShapeType="1"/>
          </p:cNvSpPr>
          <p:nvPr/>
        </p:nvSpPr>
        <p:spPr bwMode="auto">
          <a:xfrm rot="2700000">
            <a:off x="5798344" y="4350544"/>
            <a:ext cx="0" cy="900112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4" name="Group 95"/>
          <p:cNvGrpSpPr/>
          <p:nvPr/>
        </p:nvGrpSpPr>
        <p:grpSpPr bwMode="auto">
          <a:xfrm>
            <a:off x="5410200" y="3505200"/>
            <a:ext cx="698500" cy="2700338"/>
            <a:chOff x="3408" y="2208"/>
            <a:chExt cx="440" cy="1701"/>
          </a:xfrm>
        </p:grpSpPr>
        <p:sp>
          <p:nvSpPr>
            <p:cNvPr id="96295" name="Line 96"/>
            <p:cNvSpPr>
              <a:spLocks noChangeShapeType="1"/>
            </p:cNvSpPr>
            <p:nvPr/>
          </p:nvSpPr>
          <p:spPr bwMode="auto">
            <a:xfrm>
              <a:off x="3456" y="2208"/>
              <a:ext cx="38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296" name="Line 97"/>
            <p:cNvSpPr>
              <a:spLocks noChangeShapeType="1"/>
            </p:cNvSpPr>
            <p:nvPr/>
          </p:nvSpPr>
          <p:spPr bwMode="auto">
            <a:xfrm flipV="1">
              <a:off x="3648" y="3696"/>
              <a:ext cx="192" cy="192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297" name="Line 98"/>
            <p:cNvSpPr>
              <a:spLocks noChangeShapeType="1"/>
            </p:cNvSpPr>
            <p:nvPr/>
          </p:nvSpPr>
          <p:spPr bwMode="auto">
            <a:xfrm rot="5400000" flipV="1">
              <a:off x="3696" y="3552"/>
              <a:ext cx="144" cy="144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298" name="Freeform 99"/>
            <p:cNvSpPr/>
            <p:nvPr/>
          </p:nvSpPr>
          <p:spPr bwMode="auto">
            <a:xfrm>
              <a:off x="3423" y="2806"/>
              <a:ext cx="417" cy="431"/>
            </a:xfrm>
            <a:custGeom>
              <a:avLst/>
              <a:gdLst>
                <a:gd name="T0" fmla="*/ 0 w 417"/>
                <a:gd name="T1" fmla="*/ 311 h 442"/>
                <a:gd name="T2" fmla="*/ 417 w 417"/>
                <a:gd name="T3" fmla="*/ 311 h 442"/>
                <a:gd name="T4" fmla="*/ 417 w 417"/>
                <a:gd name="T5" fmla="*/ 0 h 442"/>
                <a:gd name="T6" fmla="*/ 0 w 417"/>
                <a:gd name="T7" fmla="*/ 311 h 4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442"/>
                <a:gd name="T14" fmla="*/ 417 w 417"/>
                <a:gd name="T15" fmla="*/ 442 h 4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442">
                  <a:moveTo>
                    <a:pt x="0" y="442"/>
                  </a:moveTo>
                  <a:lnTo>
                    <a:pt x="417" y="442"/>
                  </a:lnTo>
                  <a:lnTo>
                    <a:pt x="417" y="0"/>
                  </a:lnTo>
                  <a:lnTo>
                    <a:pt x="0" y="442"/>
                  </a:ln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299" name="Line 100"/>
            <p:cNvSpPr>
              <a:spLocks noChangeShapeType="1"/>
            </p:cNvSpPr>
            <p:nvPr/>
          </p:nvSpPr>
          <p:spPr bwMode="auto">
            <a:xfrm>
              <a:off x="3456" y="2544"/>
              <a:ext cx="38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00" name="Line 101"/>
            <p:cNvSpPr>
              <a:spLocks noChangeShapeType="1"/>
            </p:cNvSpPr>
            <p:nvPr/>
          </p:nvSpPr>
          <p:spPr bwMode="auto">
            <a:xfrm>
              <a:off x="3456" y="3552"/>
              <a:ext cx="24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01" name="Line 102"/>
            <p:cNvSpPr>
              <a:spLocks noChangeShapeType="1"/>
            </p:cNvSpPr>
            <p:nvPr/>
          </p:nvSpPr>
          <p:spPr bwMode="auto">
            <a:xfrm>
              <a:off x="3408" y="3888"/>
              <a:ext cx="24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302" name="Freeform 103"/>
            <p:cNvSpPr/>
            <p:nvPr/>
          </p:nvSpPr>
          <p:spPr bwMode="auto">
            <a:xfrm>
              <a:off x="3591" y="3530"/>
              <a:ext cx="257" cy="379"/>
            </a:xfrm>
            <a:custGeom>
              <a:avLst/>
              <a:gdLst>
                <a:gd name="T0" fmla="*/ 249 w 257"/>
                <a:gd name="T1" fmla="*/ 166 h 379"/>
                <a:gd name="T2" fmla="*/ 0 w 257"/>
                <a:gd name="T3" fmla="*/ 0 h 379"/>
                <a:gd name="T4" fmla="*/ 245 w 257"/>
                <a:gd name="T5" fmla="*/ 0 h 379"/>
                <a:gd name="T6" fmla="*/ 257 w 257"/>
                <a:gd name="T7" fmla="*/ 379 h 379"/>
                <a:gd name="T8" fmla="*/ 61 w 257"/>
                <a:gd name="T9" fmla="*/ 379 h 3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7"/>
                <a:gd name="T16" fmla="*/ 0 h 379"/>
                <a:gd name="T17" fmla="*/ 257 w 257"/>
                <a:gd name="T18" fmla="*/ 379 h 3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7" h="379">
                  <a:moveTo>
                    <a:pt x="249" y="166"/>
                  </a:moveTo>
                  <a:lnTo>
                    <a:pt x="0" y="0"/>
                  </a:lnTo>
                  <a:lnTo>
                    <a:pt x="245" y="0"/>
                  </a:lnTo>
                  <a:lnTo>
                    <a:pt x="257" y="379"/>
                  </a:lnTo>
                  <a:lnTo>
                    <a:pt x="61" y="379"/>
                  </a:lnTo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4424" name="Line 104"/>
          <p:cNvSpPr>
            <a:spLocks noChangeShapeType="1"/>
          </p:cNvSpPr>
          <p:nvPr/>
        </p:nvSpPr>
        <p:spPr bwMode="auto">
          <a:xfrm>
            <a:off x="6096000" y="3048000"/>
            <a:ext cx="0" cy="37338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5" name="Group 105"/>
          <p:cNvGrpSpPr/>
          <p:nvPr/>
        </p:nvGrpSpPr>
        <p:grpSpPr bwMode="auto">
          <a:xfrm>
            <a:off x="6096000" y="3487738"/>
            <a:ext cx="1600200" cy="2724150"/>
            <a:chOff x="3840" y="2197"/>
            <a:chExt cx="1008" cy="1716"/>
          </a:xfrm>
        </p:grpSpPr>
        <p:grpSp>
          <p:nvGrpSpPr>
            <p:cNvPr id="96286" name="Group 106"/>
            <p:cNvGrpSpPr/>
            <p:nvPr/>
          </p:nvGrpSpPr>
          <p:grpSpPr bwMode="auto">
            <a:xfrm>
              <a:off x="3840" y="2208"/>
              <a:ext cx="912" cy="1488"/>
              <a:chOff x="3840" y="2208"/>
              <a:chExt cx="912" cy="1488"/>
            </a:xfrm>
          </p:grpSpPr>
          <p:sp>
            <p:nvSpPr>
              <p:cNvPr id="96291" name="Line 107"/>
              <p:cNvSpPr>
                <a:spLocks noChangeShapeType="1"/>
              </p:cNvSpPr>
              <p:nvPr/>
            </p:nvSpPr>
            <p:spPr bwMode="auto">
              <a:xfrm>
                <a:off x="3840" y="2832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292" name="Line 108"/>
              <p:cNvSpPr>
                <a:spLocks noChangeShapeType="1"/>
              </p:cNvSpPr>
              <p:nvPr/>
            </p:nvSpPr>
            <p:spPr bwMode="auto">
              <a:xfrm>
                <a:off x="3840" y="3696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293" name="Line 109"/>
              <p:cNvSpPr>
                <a:spLocks noChangeShapeType="1"/>
              </p:cNvSpPr>
              <p:nvPr/>
            </p:nvSpPr>
            <p:spPr bwMode="auto">
              <a:xfrm>
                <a:off x="3840" y="2208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294" name="Line 110"/>
              <p:cNvSpPr>
                <a:spLocks noChangeShapeType="1"/>
              </p:cNvSpPr>
              <p:nvPr/>
            </p:nvSpPr>
            <p:spPr bwMode="auto">
              <a:xfrm>
                <a:off x="3840" y="2544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6287" name="Line 111"/>
            <p:cNvSpPr>
              <a:spLocks noChangeShapeType="1"/>
            </p:cNvSpPr>
            <p:nvPr/>
          </p:nvSpPr>
          <p:spPr bwMode="auto">
            <a:xfrm rot="2700000">
              <a:off x="4717" y="2316"/>
              <a:ext cx="0" cy="263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288" name="Line 112"/>
            <p:cNvSpPr>
              <a:spLocks noChangeShapeType="1"/>
            </p:cNvSpPr>
            <p:nvPr/>
          </p:nvSpPr>
          <p:spPr bwMode="auto">
            <a:xfrm rot="8100000">
              <a:off x="4728" y="2197"/>
              <a:ext cx="0" cy="192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289" name="Rectangle 113"/>
            <p:cNvSpPr>
              <a:spLocks noChangeArrowheads="1"/>
            </p:cNvSpPr>
            <p:nvPr/>
          </p:nvSpPr>
          <p:spPr bwMode="auto">
            <a:xfrm>
              <a:off x="3840" y="2832"/>
              <a:ext cx="912" cy="40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6290" name="Rectangle 114"/>
            <p:cNvSpPr>
              <a:spLocks noChangeArrowheads="1"/>
            </p:cNvSpPr>
            <p:nvPr/>
          </p:nvSpPr>
          <p:spPr bwMode="auto">
            <a:xfrm>
              <a:off x="3840" y="3530"/>
              <a:ext cx="912" cy="383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7" name="Group 115"/>
          <p:cNvGrpSpPr/>
          <p:nvPr/>
        </p:nvGrpSpPr>
        <p:grpSpPr bwMode="auto">
          <a:xfrm>
            <a:off x="7239000" y="3505200"/>
            <a:ext cx="1816100" cy="2706688"/>
            <a:chOff x="4571" y="2208"/>
            <a:chExt cx="1144" cy="1705"/>
          </a:xfrm>
        </p:grpSpPr>
        <p:grpSp>
          <p:nvGrpSpPr>
            <p:cNvPr id="96278" name="Group 116"/>
            <p:cNvGrpSpPr/>
            <p:nvPr/>
          </p:nvGrpSpPr>
          <p:grpSpPr bwMode="auto">
            <a:xfrm>
              <a:off x="4752" y="2208"/>
              <a:ext cx="957" cy="1488"/>
              <a:chOff x="4752" y="2208"/>
              <a:chExt cx="912" cy="1488"/>
            </a:xfrm>
          </p:grpSpPr>
          <p:sp>
            <p:nvSpPr>
              <p:cNvPr id="96282" name="Line 117"/>
              <p:cNvSpPr>
                <a:spLocks noChangeShapeType="1"/>
              </p:cNvSpPr>
              <p:nvPr/>
            </p:nvSpPr>
            <p:spPr bwMode="auto">
              <a:xfrm>
                <a:off x="4752" y="3696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283" name="Line 118"/>
              <p:cNvSpPr>
                <a:spLocks noChangeShapeType="1"/>
              </p:cNvSpPr>
              <p:nvPr/>
            </p:nvSpPr>
            <p:spPr bwMode="auto">
              <a:xfrm>
                <a:off x="4752" y="2832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284" name="Line 119"/>
              <p:cNvSpPr>
                <a:spLocks noChangeShapeType="1"/>
              </p:cNvSpPr>
              <p:nvPr/>
            </p:nvSpPr>
            <p:spPr bwMode="auto">
              <a:xfrm>
                <a:off x="4752" y="2208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285" name="Line 120"/>
              <p:cNvSpPr>
                <a:spLocks noChangeShapeType="1"/>
              </p:cNvSpPr>
              <p:nvPr/>
            </p:nvSpPr>
            <p:spPr bwMode="auto">
              <a:xfrm>
                <a:off x="4752" y="2544"/>
                <a:ext cx="912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6279" name="Freeform 121"/>
            <p:cNvSpPr/>
            <p:nvPr/>
          </p:nvSpPr>
          <p:spPr bwMode="auto">
            <a:xfrm>
              <a:off x="4571" y="2208"/>
              <a:ext cx="1140" cy="353"/>
            </a:xfrm>
            <a:custGeom>
              <a:avLst/>
              <a:gdLst>
                <a:gd name="T0" fmla="*/ 85 w 1140"/>
                <a:gd name="T1" fmla="*/ 0 h 353"/>
                <a:gd name="T2" fmla="*/ 1140 w 1140"/>
                <a:gd name="T3" fmla="*/ 10 h 353"/>
                <a:gd name="T4" fmla="*/ 1140 w 1140"/>
                <a:gd name="T5" fmla="*/ 353 h 353"/>
                <a:gd name="T6" fmla="*/ 0 w 1140"/>
                <a:gd name="T7" fmla="*/ 353 h 353"/>
                <a:gd name="T8" fmla="*/ 229 w 1140"/>
                <a:gd name="T9" fmla="*/ 144 h 3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40"/>
                <a:gd name="T16" fmla="*/ 0 h 353"/>
                <a:gd name="T17" fmla="*/ 1140 w 1140"/>
                <a:gd name="T18" fmla="*/ 353 h 3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40" h="353">
                  <a:moveTo>
                    <a:pt x="85" y="0"/>
                  </a:moveTo>
                  <a:lnTo>
                    <a:pt x="1140" y="10"/>
                  </a:lnTo>
                  <a:lnTo>
                    <a:pt x="1140" y="353"/>
                  </a:lnTo>
                  <a:lnTo>
                    <a:pt x="0" y="353"/>
                  </a:lnTo>
                  <a:lnTo>
                    <a:pt x="229" y="144"/>
                  </a:lnTo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280" name="Rectangle 122"/>
            <p:cNvSpPr>
              <a:spLocks noChangeArrowheads="1"/>
            </p:cNvSpPr>
            <p:nvPr/>
          </p:nvSpPr>
          <p:spPr bwMode="auto">
            <a:xfrm>
              <a:off x="4752" y="2829"/>
              <a:ext cx="963" cy="410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6281" name="Rectangle 123"/>
            <p:cNvSpPr>
              <a:spLocks noChangeArrowheads="1"/>
            </p:cNvSpPr>
            <p:nvPr/>
          </p:nvSpPr>
          <p:spPr bwMode="auto">
            <a:xfrm>
              <a:off x="4752" y="3529"/>
              <a:ext cx="963" cy="384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84444" name="Rectangle 124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6277" name="AutoShape 126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18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8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18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18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18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18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4" grpId="0" animBg="1"/>
      <p:bldP spid="184394" grpId="0" animBg="1"/>
      <p:bldP spid="184395" grpId="0" animBg="1"/>
      <p:bldP spid="184407" grpId="0" animBg="1"/>
      <p:bldP spid="184414" grpId="0" animBg="1"/>
      <p:bldP spid="1844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28600" y="4419600"/>
            <a:ext cx="8458200" cy="835025"/>
            <a:chOff x="144" y="2784"/>
            <a:chExt cx="5328" cy="526"/>
          </a:xfrm>
        </p:grpSpPr>
        <p:grpSp>
          <p:nvGrpSpPr>
            <p:cNvPr id="97411" name="Group 3"/>
            <p:cNvGrpSpPr/>
            <p:nvPr/>
          </p:nvGrpSpPr>
          <p:grpSpPr bwMode="auto">
            <a:xfrm>
              <a:off x="1230" y="2832"/>
              <a:ext cx="2658" cy="478"/>
              <a:chOff x="1230" y="2832"/>
              <a:chExt cx="2658" cy="478"/>
            </a:xfrm>
          </p:grpSpPr>
          <p:sp>
            <p:nvSpPr>
              <p:cNvPr id="97416" name="Line 4"/>
              <p:cNvSpPr>
                <a:spLocks noChangeShapeType="1"/>
              </p:cNvSpPr>
              <p:nvPr/>
            </p:nvSpPr>
            <p:spPr bwMode="auto">
              <a:xfrm>
                <a:off x="1449" y="3264"/>
                <a:ext cx="21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417" name="Line 5"/>
              <p:cNvSpPr>
                <a:spLocks noChangeShapeType="1"/>
              </p:cNvSpPr>
              <p:nvPr/>
            </p:nvSpPr>
            <p:spPr bwMode="auto">
              <a:xfrm>
                <a:off x="1449" y="2880"/>
                <a:ext cx="21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418" name="Line 6"/>
              <p:cNvSpPr>
                <a:spLocks noChangeShapeType="1"/>
              </p:cNvSpPr>
              <p:nvPr/>
            </p:nvSpPr>
            <p:spPr bwMode="auto">
              <a:xfrm rot="2700000">
                <a:off x="1366" y="2835"/>
                <a:ext cx="0" cy="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419" name="Line 7"/>
              <p:cNvSpPr>
                <a:spLocks noChangeShapeType="1"/>
              </p:cNvSpPr>
              <p:nvPr/>
            </p:nvSpPr>
            <p:spPr bwMode="auto">
              <a:xfrm rot="8100000">
                <a:off x="1365" y="3015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420" name="Line 8"/>
              <p:cNvSpPr>
                <a:spLocks noChangeShapeType="1"/>
              </p:cNvSpPr>
              <p:nvPr/>
            </p:nvSpPr>
            <p:spPr bwMode="auto">
              <a:xfrm rot="8100000">
                <a:off x="3739" y="2832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421" name="Line 9"/>
              <p:cNvSpPr>
                <a:spLocks noChangeShapeType="1"/>
              </p:cNvSpPr>
              <p:nvPr/>
            </p:nvSpPr>
            <p:spPr bwMode="auto">
              <a:xfrm rot="2700000">
                <a:off x="3740" y="3019"/>
                <a:ext cx="0" cy="2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7412" name="Rectangle 10"/>
            <p:cNvSpPr>
              <a:spLocks noChangeArrowheads="1"/>
            </p:cNvSpPr>
            <p:nvPr/>
          </p:nvSpPr>
          <p:spPr bwMode="auto">
            <a:xfrm>
              <a:off x="732" y="2878"/>
              <a:ext cx="474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413" name="Line 11"/>
            <p:cNvSpPr>
              <a:spLocks noChangeShapeType="1"/>
            </p:cNvSpPr>
            <p:nvPr/>
          </p:nvSpPr>
          <p:spPr bwMode="auto">
            <a:xfrm>
              <a:off x="624" y="3060"/>
              <a:ext cx="64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414" name="Line 12"/>
            <p:cNvSpPr>
              <a:spLocks noChangeShapeType="1"/>
            </p:cNvSpPr>
            <p:nvPr/>
          </p:nvSpPr>
          <p:spPr bwMode="auto">
            <a:xfrm>
              <a:off x="3824" y="3071"/>
              <a:ext cx="1642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415" name="Text Box 13"/>
            <p:cNvSpPr txBox="1">
              <a:spLocks noChangeArrowheads="1"/>
            </p:cNvSpPr>
            <p:nvPr/>
          </p:nvSpPr>
          <p:spPr bwMode="auto">
            <a:xfrm>
              <a:off x="144" y="2784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kumimoji="0" lang="zh-CN" altLang="en-US" sz="2400">
                  <a:latin typeface="Times New Roman" panose="02020603050405020304" pitchFamily="18" charset="0"/>
                </a:rPr>
                <a:t> 数据</a:t>
              </a:r>
              <a:endParaRPr kumimoji="0"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97283" name="Text Box 14"/>
          <p:cNvSpPr txBox="1">
            <a:spLocks noChangeArrowheads="1"/>
          </p:cNvSpPr>
          <p:nvPr/>
        </p:nvSpPr>
        <p:spPr bwMode="auto">
          <a:xfrm>
            <a:off x="685800" y="425450"/>
            <a:ext cx="40433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(2) 同步式数据输出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grpSp>
        <p:nvGrpSpPr>
          <p:cNvPr id="4" name="Group 15"/>
          <p:cNvGrpSpPr/>
          <p:nvPr/>
        </p:nvGrpSpPr>
        <p:grpSpPr bwMode="auto">
          <a:xfrm>
            <a:off x="228600" y="1493838"/>
            <a:ext cx="8763000" cy="1633537"/>
            <a:chOff x="144" y="941"/>
            <a:chExt cx="5520" cy="1029"/>
          </a:xfrm>
        </p:grpSpPr>
        <p:sp>
          <p:nvSpPr>
            <p:cNvPr id="97381" name="Rectangle 16"/>
            <p:cNvSpPr>
              <a:spLocks noChangeArrowheads="1"/>
            </p:cNvSpPr>
            <p:nvPr/>
          </p:nvSpPr>
          <p:spPr bwMode="auto">
            <a:xfrm>
              <a:off x="1505" y="1768"/>
              <a:ext cx="15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1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1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1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382" name="Line 17"/>
            <p:cNvSpPr>
              <a:spLocks noChangeShapeType="1"/>
            </p:cNvSpPr>
            <p:nvPr/>
          </p:nvSpPr>
          <p:spPr bwMode="auto">
            <a:xfrm>
              <a:off x="2938" y="1779"/>
              <a:ext cx="1" cy="18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83" name="Line 18"/>
            <p:cNvSpPr>
              <a:spLocks noChangeShapeType="1"/>
            </p:cNvSpPr>
            <p:nvPr/>
          </p:nvSpPr>
          <p:spPr bwMode="auto">
            <a:xfrm>
              <a:off x="3850" y="1779"/>
              <a:ext cx="2" cy="18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84" name="Line 19"/>
            <p:cNvSpPr>
              <a:spLocks noChangeShapeType="1"/>
            </p:cNvSpPr>
            <p:nvPr/>
          </p:nvSpPr>
          <p:spPr bwMode="auto">
            <a:xfrm>
              <a:off x="4751" y="1779"/>
              <a:ext cx="1" cy="18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85" name="Rectangle 20"/>
            <p:cNvSpPr>
              <a:spLocks noChangeArrowheads="1"/>
            </p:cNvSpPr>
            <p:nvPr/>
          </p:nvSpPr>
          <p:spPr bwMode="auto">
            <a:xfrm>
              <a:off x="2508" y="1008"/>
              <a:ext cx="136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6" name="Line 21"/>
            <p:cNvSpPr>
              <a:spLocks noChangeShapeType="1"/>
            </p:cNvSpPr>
            <p:nvPr/>
          </p:nvSpPr>
          <p:spPr bwMode="auto">
            <a:xfrm>
              <a:off x="4749" y="1008"/>
              <a:ext cx="1" cy="18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87" name="Rectangle 22"/>
            <p:cNvSpPr>
              <a:spLocks noChangeArrowheads="1"/>
            </p:cNvSpPr>
            <p:nvPr/>
          </p:nvSpPr>
          <p:spPr bwMode="auto">
            <a:xfrm>
              <a:off x="2250" y="941"/>
              <a:ext cx="154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solidFill>
                    <a:schemeClr val="folHlink"/>
                  </a:solidFill>
                </a:rPr>
                <a:t>总线传输周期</a:t>
              </a:r>
              <a:endPara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388" name="Line 23"/>
            <p:cNvSpPr>
              <a:spLocks noChangeShapeType="1"/>
            </p:cNvSpPr>
            <p:nvPr/>
          </p:nvSpPr>
          <p:spPr bwMode="auto">
            <a:xfrm>
              <a:off x="1094" y="1776"/>
              <a:ext cx="2" cy="18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89" name="Freeform 24"/>
            <p:cNvSpPr/>
            <p:nvPr/>
          </p:nvSpPr>
          <p:spPr bwMode="auto">
            <a:xfrm>
              <a:off x="1104" y="1344"/>
              <a:ext cx="912" cy="384"/>
            </a:xfrm>
            <a:custGeom>
              <a:avLst/>
              <a:gdLst>
                <a:gd name="T0" fmla="*/ 0 w 912"/>
                <a:gd name="T1" fmla="*/ 384 h 384"/>
                <a:gd name="T2" fmla="*/ 0 w 912"/>
                <a:gd name="T3" fmla="*/ 0 h 384"/>
                <a:gd name="T4" fmla="*/ 432 w 912"/>
                <a:gd name="T5" fmla="*/ 0 h 384"/>
                <a:gd name="T6" fmla="*/ 432 w 912"/>
                <a:gd name="T7" fmla="*/ 384 h 384"/>
                <a:gd name="T8" fmla="*/ 912 w 912"/>
                <a:gd name="T9" fmla="*/ 384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2"/>
                <a:gd name="T16" fmla="*/ 0 h 384"/>
                <a:gd name="T17" fmla="*/ 912 w 91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2" h="384">
                  <a:moveTo>
                    <a:pt x="0" y="384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432" y="384"/>
                  </a:lnTo>
                  <a:lnTo>
                    <a:pt x="912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90" name="Freeform 25"/>
            <p:cNvSpPr/>
            <p:nvPr/>
          </p:nvSpPr>
          <p:spPr bwMode="auto">
            <a:xfrm>
              <a:off x="2928" y="1344"/>
              <a:ext cx="912" cy="384"/>
            </a:xfrm>
            <a:custGeom>
              <a:avLst/>
              <a:gdLst>
                <a:gd name="T0" fmla="*/ 0 w 912"/>
                <a:gd name="T1" fmla="*/ 384 h 384"/>
                <a:gd name="T2" fmla="*/ 0 w 912"/>
                <a:gd name="T3" fmla="*/ 0 h 384"/>
                <a:gd name="T4" fmla="*/ 432 w 912"/>
                <a:gd name="T5" fmla="*/ 0 h 384"/>
                <a:gd name="T6" fmla="*/ 432 w 912"/>
                <a:gd name="T7" fmla="*/ 384 h 384"/>
                <a:gd name="T8" fmla="*/ 912 w 912"/>
                <a:gd name="T9" fmla="*/ 384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2"/>
                <a:gd name="T16" fmla="*/ 0 h 384"/>
                <a:gd name="T17" fmla="*/ 912 w 91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2" h="384">
                  <a:moveTo>
                    <a:pt x="0" y="384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432" y="384"/>
                  </a:lnTo>
                  <a:lnTo>
                    <a:pt x="912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91" name="Freeform 26"/>
            <p:cNvSpPr/>
            <p:nvPr/>
          </p:nvSpPr>
          <p:spPr bwMode="auto">
            <a:xfrm>
              <a:off x="3840" y="1344"/>
              <a:ext cx="912" cy="384"/>
            </a:xfrm>
            <a:custGeom>
              <a:avLst/>
              <a:gdLst>
                <a:gd name="T0" fmla="*/ 0 w 912"/>
                <a:gd name="T1" fmla="*/ 384 h 384"/>
                <a:gd name="T2" fmla="*/ 0 w 912"/>
                <a:gd name="T3" fmla="*/ 0 h 384"/>
                <a:gd name="T4" fmla="*/ 432 w 912"/>
                <a:gd name="T5" fmla="*/ 0 h 384"/>
                <a:gd name="T6" fmla="*/ 432 w 912"/>
                <a:gd name="T7" fmla="*/ 384 h 384"/>
                <a:gd name="T8" fmla="*/ 912 w 912"/>
                <a:gd name="T9" fmla="*/ 384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2"/>
                <a:gd name="T16" fmla="*/ 0 h 384"/>
                <a:gd name="T17" fmla="*/ 912 w 91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2" h="384">
                  <a:moveTo>
                    <a:pt x="0" y="384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432" y="384"/>
                  </a:lnTo>
                  <a:lnTo>
                    <a:pt x="912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97392" name="AutoShape 27"/>
            <p:cNvCxnSpPr>
              <a:cxnSpLocks noChangeShapeType="1"/>
            </p:cNvCxnSpPr>
            <p:nvPr/>
          </p:nvCxnSpPr>
          <p:spPr bwMode="auto">
            <a:xfrm flipH="1">
              <a:off x="624" y="1728"/>
              <a:ext cx="48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7393" name="Freeform 28"/>
            <p:cNvSpPr/>
            <p:nvPr/>
          </p:nvSpPr>
          <p:spPr bwMode="auto">
            <a:xfrm>
              <a:off x="4752" y="1344"/>
              <a:ext cx="912" cy="384"/>
            </a:xfrm>
            <a:custGeom>
              <a:avLst/>
              <a:gdLst>
                <a:gd name="T0" fmla="*/ 0 w 912"/>
                <a:gd name="T1" fmla="*/ 384 h 384"/>
                <a:gd name="T2" fmla="*/ 0 w 912"/>
                <a:gd name="T3" fmla="*/ 0 h 384"/>
                <a:gd name="T4" fmla="*/ 432 w 912"/>
                <a:gd name="T5" fmla="*/ 0 h 384"/>
                <a:gd name="T6" fmla="*/ 432 w 912"/>
                <a:gd name="T7" fmla="*/ 384 h 384"/>
                <a:gd name="T8" fmla="*/ 912 w 912"/>
                <a:gd name="T9" fmla="*/ 384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2"/>
                <a:gd name="T16" fmla="*/ 0 h 384"/>
                <a:gd name="T17" fmla="*/ 912 w 91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2" h="384">
                  <a:moveTo>
                    <a:pt x="0" y="384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432" y="384"/>
                  </a:lnTo>
                  <a:lnTo>
                    <a:pt x="912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94" name="Freeform 29"/>
            <p:cNvSpPr/>
            <p:nvPr/>
          </p:nvSpPr>
          <p:spPr bwMode="auto">
            <a:xfrm>
              <a:off x="2016" y="1344"/>
              <a:ext cx="912" cy="384"/>
            </a:xfrm>
            <a:custGeom>
              <a:avLst/>
              <a:gdLst>
                <a:gd name="T0" fmla="*/ 0 w 912"/>
                <a:gd name="T1" fmla="*/ 384 h 384"/>
                <a:gd name="T2" fmla="*/ 0 w 912"/>
                <a:gd name="T3" fmla="*/ 0 h 384"/>
                <a:gd name="T4" fmla="*/ 432 w 912"/>
                <a:gd name="T5" fmla="*/ 0 h 384"/>
                <a:gd name="T6" fmla="*/ 432 w 912"/>
                <a:gd name="T7" fmla="*/ 384 h 384"/>
                <a:gd name="T8" fmla="*/ 912 w 912"/>
                <a:gd name="T9" fmla="*/ 384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2"/>
                <a:gd name="T16" fmla="*/ 0 h 384"/>
                <a:gd name="T17" fmla="*/ 912 w 91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2" h="384">
                  <a:moveTo>
                    <a:pt x="0" y="384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432" y="384"/>
                  </a:lnTo>
                  <a:lnTo>
                    <a:pt x="912" y="38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95" name="Rectangle 30"/>
            <p:cNvSpPr>
              <a:spLocks noChangeArrowheads="1"/>
            </p:cNvSpPr>
            <p:nvPr/>
          </p:nvSpPr>
          <p:spPr bwMode="auto">
            <a:xfrm>
              <a:off x="2385" y="1768"/>
              <a:ext cx="15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1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1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1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396" name="Rectangle 31"/>
            <p:cNvSpPr>
              <a:spLocks noChangeArrowheads="1"/>
            </p:cNvSpPr>
            <p:nvPr/>
          </p:nvSpPr>
          <p:spPr bwMode="auto">
            <a:xfrm>
              <a:off x="3345" y="1768"/>
              <a:ext cx="15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1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1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1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397" name="Rectangle 32"/>
            <p:cNvSpPr>
              <a:spLocks noChangeArrowheads="1"/>
            </p:cNvSpPr>
            <p:nvPr/>
          </p:nvSpPr>
          <p:spPr bwMode="auto">
            <a:xfrm>
              <a:off x="4224" y="1768"/>
              <a:ext cx="15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21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1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1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398" name="Line 33"/>
            <p:cNvSpPr>
              <a:spLocks noChangeShapeType="1"/>
            </p:cNvSpPr>
            <p:nvPr/>
          </p:nvSpPr>
          <p:spPr bwMode="auto">
            <a:xfrm>
              <a:off x="1104" y="1104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99" name="Line 34"/>
            <p:cNvSpPr>
              <a:spLocks noChangeShapeType="1"/>
            </p:cNvSpPr>
            <p:nvPr/>
          </p:nvSpPr>
          <p:spPr bwMode="auto">
            <a:xfrm>
              <a:off x="1103" y="1008"/>
              <a:ext cx="1" cy="18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400" name="Line 35"/>
            <p:cNvSpPr>
              <a:spLocks noChangeShapeType="1"/>
            </p:cNvSpPr>
            <p:nvPr/>
          </p:nvSpPr>
          <p:spPr bwMode="auto">
            <a:xfrm>
              <a:off x="3840" y="1104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401" name="Line 36"/>
            <p:cNvSpPr>
              <a:spLocks noChangeShapeType="1"/>
            </p:cNvSpPr>
            <p:nvPr/>
          </p:nvSpPr>
          <p:spPr bwMode="auto">
            <a:xfrm>
              <a:off x="1680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402" name="Line 37"/>
            <p:cNvSpPr>
              <a:spLocks noChangeShapeType="1"/>
            </p:cNvSpPr>
            <p:nvPr/>
          </p:nvSpPr>
          <p:spPr bwMode="auto">
            <a:xfrm>
              <a:off x="2016" y="1781"/>
              <a:ext cx="1" cy="18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403" name="Line 38"/>
            <p:cNvSpPr>
              <a:spLocks noChangeShapeType="1"/>
            </p:cNvSpPr>
            <p:nvPr/>
          </p:nvSpPr>
          <p:spPr bwMode="auto">
            <a:xfrm>
              <a:off x="2592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404" name="Line 39"/>
            <p:cNvSpPr>
              <a:spLocks noChangeShapeType="1"/>
            </p:cNvSpPr>
            <p:nvPr/>
          </p:nvSpPr>
          <p:spPr bwMode="auto">
            <a:xfrm>
              <a:off x="3504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405" name="Line 40"/>
            <p:cNvSpPr>
              <a:spLocks noChangeShapeType="1"/>
            </p:cNvSpPr>
            <p:nvPr/>
          </p:nvSpPr>
          <p:spPr bwMode="auto">
            <a:xfrm>
              <a:off x="4416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406" name="Line 41"/>
            <p:cNvSpPr>
              <a:spLocks noChangeShapeType="1"/>
            </p:cNvSpPr>
            <p:nvPr/>
          </p:nvSpPr>
          <p:spPr bwMode="auto">
            <a:xfrm>
              <a:off x="1104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407" name="Line 42"/>
            <p:cNvSpPr>
              <a:spLocks noChangeShapeType="1"/>
            </p:cNvSpPr>
            <p:nvPr/>
          </p:nvSpPr>
          <p:spPr bwMode="auto">
            <a:xfrm>
              <a:off x="2016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408" name="Line 43"/>
            <p:cNvSpPr>
              <a:spLocks noChangeShapeType="1"/>
            </p:cNvSpPr>
            <p:nvPr/>
          </p:nvSpPr>
          <p:spPr bwMode="auto">
            <a:xfrm>
              <a:off x="2928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409" name="Line 44"/>
            <p:cNvSpPr>
              <a:spLocks noChangeShapeType="1"/>
            </p:cNvSpPr>
            <p:nvPr/>
          </p:nvSpPr>
          <p:spPr bwMode="auto">
            <a:xfrm>
              <a:off x="3840" y="187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410" name="Text Box 45"/>
            <p:cNvSpPr txBox="1">
              <a:spLocks noChangeArrowheads="1"/>
            </p:cNvSpPr>
            <p:nvPr/>
          </p:nvSpPr>
          <p:spPr bwMode="auto">
            <a:xfrm>
              <a:off x="144" y="1488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kumimoji="0" lang="zh-CN" altLang="en-US" sz="2400" b="0">
                  <a:latin typeface="Times New Roman" panose="02020603050405020304" pitchFamily="18" charset="0"/>
                </a:rPr>
                <a:t> </a:t>
              </a:r>
              <a:r>
                <a:rPr kumimoji="0" lang="zh-CN" altLang="en-US" sz="2400">
                  <a:latin typeface="Times New Roman" panose="02020603050405020304" pitchFamily="18" charset="0"/>
                </a:rPr>
                <a:t>时钟</a:t>
              </a:r>
              <a:endParaRPr kumimoji="0"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46"/>
          <p:cNvGrpSpPr/>
          <p:nvPr/>
        </p:nvGrpSpPr>
        <p:grpSpPr bwMode="auto">
          <a:xfrm>
            <a:off x="228600" y="3352800"/>
            <a:ext cx="8534400" cy="685800"/>
            <a:chOff x="144" y="2112"/>
            <a:chExt cx="5376" cy="432"/>
          </a:xfrm>
        </p:grpSpPr>
        <p:grpSp>
          <p:nvGrpSpPr>
            <p:cNvPr id="97376" name="Group 47"/>
            <p:cNvGrpSpPr/>
            <p:nvPr/>
          </p:nvGrpSpPr>
          <p:grpSpPr bwMode="auto">
            <a:xfrm>
              <a:off x="624" y="2208"/>
              <a:ext cx="4896" cy="336"/>
              <a:chOff x="672" y="2208"/>
              <a:chExt cx="4725" cy="336"/>
            </a:xfrm>
          </p:grpSpPr>
          <p:sp>
            <p:nvSpPr>
              <p:cNvPr id="97378" name="Line 48"/>
              <p:cNvSpPr>
                <a:spLocks noChangeShapeType="1"/>
              </p:cNvSpPr>
              <p:nvPr/>
            </p:nvSpPr>
            <p:spPr bwMode="auto">
              <a:xfrm>
                <a:off x="4656" y="2375"/>
                <a:ext cx="741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79" name="Line 49"/>
              <p:cNvSpPr>
                <a:spLocks noChangeShapeType="1"/>
              </p:cNvSpPr>
              <p:nvPr/>
            </p:nvSpPr>
            <p:spPr bwMode="auto">
              <a:xfrm>
                <a:off x="672" y="2373"/>
                <a:ext cx="239" cy="2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80" name="Freeform 50"/>
              <p:cNvSpPr/>
              <p:nvPr/>
            </p:nvSpPr>
            <p:spPr bwMode="auto">
              <a:xfrm>
                <a:off x="912" y="2208"/>
                <a:ext cx="3744" cy="336"/>
              </a:xfrm>
              <a:custGeom>
                <a:avLst/>
                <a:gdLst>
                  <a:gd name="T0" fmla="*/ 1 w 5328"/>
                  <a:gd name="T1" fmla="*/ 0 h 977"/>
                  <a:gd name="T2" fmla="*/ 0 w 5328"/>
                  <a:gd name="T3" fmla="*/ 0 h 977"/>
                  <a:gd name="T4" fmla="*/ 1 w 5328"/>
                  <a:gd name="T5" fmla="*/ 0 h 977"/>
                  <a:gd name="T6" fmla="*/ 37 w 5328"/>
                  <a:gd name="T7" fmla="*/ 0 h 977"/>
                  <a:gd name="T8" fmla="*/ 38 w 5328"/>
                  <a:gd name="T9" fmla="*/ 0 h 977"/>
                  <a:gd name="T10" fmla="*/ 37 w 5328"/>
                  <a:gd name="T11" fmla="*/ 0 h 977"/>
                  <a:gd name="T12" fmla="*/ 1 w 5328"/>
                  <a:gd name="T13" fmla="*/ 0 h 9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28"/>
                  <a:gd name="T22" fmla="*/ 0 h 977"/>
                  <a:gd name="T23" fmla="*/ 5328 w 5328"/>
                  <a:gd name="T24" fmla="*/ 977 h 9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28" h="977">
                    <a:moveTo>
                      <a:pt x="206" y="0"/>
                    </a:moveTo>
                    <a:lnTo>
                      <a:pt x="0" y="486"/>
                    </a:lnTo>
                    <a:lnTo>
                      <a:pt x="196" y="964"/>
                    </a:lnTo>
                    <a:lnTo>
                      <a:pt x="5132" y="977"/>
                    </a:lnTo>
                    <a:lnTo>
                      <a:pt x="5328" y="486"/>
                    </a:lnTo>
                    <a:lnTo>
                      <a:pt x="5126" y="0"/>
                    </a:lnTo>
                    <a:lnTo>
                      <a:pt x="206" y="0"/>
                    </a:lnTo>
                    <a:close/>
                  </a:path>
                </a:pathLst>
              </a:custGeom>
              <a:noFill/>
              <a:ln w="31750">
                <a:solidFill>
                  <a:schemeClr val="tx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7377" name="Text Box 51"/>
            <p:cNvSpPr txBox="1">
              <a:spLocks noChangeArrowheads="1"/>
            </p:cNvSpPr>
            <p:nvPr/>
          </p:nvSpPr>
          <p:spPr bwMode="auto">
            <a:xfrm>
              <a:off x="144" y="2112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kumimoji="0" lang="zh-CN" altLang="en-US" sz="2400" b="0">
                  <a:latin typeface="Times New Roman" panose="02020603050405020304" pitchFamily="18" charset="0"/>
                </a:rPr>
                <a:t> </a:t>
              </a:r>
              <a:r>
                <a:rPr kumimoji="0" lang="zh-CN" altLang="en-US" sz="2400">
                  <a:latin typeface="Times New Roman" panose="02020603050405020304" pitchFamily="18" charset="0"/>
                </a:rPr>
                <a:t>地址</a:t>
              </a:r>
              <a:endParaRPr kumimoji="0"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52"/>
          <p:cNvGrpSpPr/>
          <p:nvPr/>
        </p:nvGrpSpPr>
        <p:grpSpPr bwMode="auto">
          <a:xfrm>
            <a:off x="304800" y="5257800"/>
            <a:ext cx="8382000" cy="838200"/>
            <a:chOff x="192" y="3312"/>
            <a:chExt cx="5280" cy="528"/>
          </a:xfrm>
        </p:grpSpPr>
        <p:sp>
          <p:nvSpPr>
            <p:cNvPr id="97374" name="Freeform 53"/>
            <p:cNvSpPr/>
            <p:nvPr/>
          </p:nvSpPr>
          <p:spPr bwMode="auto">
            <a:xfrm>
              <a:off x="624" y="3600"/>
              <a:ext cx="4848" cy="240"/>
            </a:xfrm>
            <a:custGeom>
              <a:avLst/>
              <a:gdLst>
                <a:gd name="T0" fmla="*/ 0 w 4848"/>
                <a:gd name="T1" fmla="*/ 0 h 240"/>
                <a:gd name="T2" fmla="*/ 1152 w 4848"/>
                <a:gd name="T3" fmla="*/ 0 h 240"/>
                <a:gd name="T4" fmla="*/ 1392 w 4848"/>
                <a:gd name="T5" fmla="*/ 240 h 240"/>
                <a:gd name="T6" fmla="*/ 2976 w 4848"/>
                <a:gd name="T7" fmla="*/ 240 h 240"/>
                <a:gd name="T8" fmla="*/ 3216 w 4848"/>
                <a:gd name="T9" fmla="*/ 0 h 240"/>
                <a:gd name="T10" fmla="*/ 4848 w 4848"/>
                <a:gd name="T11" fmla="*/ 0 h 2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48"/>
                <a:gd name="T19" fmla="*/ 0 h 240"/>
                <a:gd name="T20" fmla="*/ 4848 w 4848"/>
                <a:gd name="T21" fmla="*/ 240 h 2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48" h="240">
                  <a:moveTo>
                    <a:pt x="0" y="0"/>
                  </a:moveTo>
                  <a:lnTo>
                    <a:pt x="1152" y="0"/>
                  </a:lnTo>
                  <a:lnTo>
                    <a:pt x="1392" y="240"/>
                  </a:lnTo>
                  <a:lnTo>
                    <a:pt x="2976" y="240"/>
                  </a:lnTo>
                  <a:lnTo>
                    <a:pt x="3216" y="0"/>
                  </a:lnTo>
                  <a:lnTo>
                    <a:pt x="484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75" name="Text Box 54"/>
            <p:cNvSpPr txBox="1">
              <a:spLocks noChangeArrowheads="1"/>
            </p:cNvSpPr>
            <p:nvPr/>
          </p:nvSpPr>
          <p:spPr bwMode="auto">
            <a:xfrm>
              <a:off x="192" y="3312"/>
              <a:ext cx="576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kumimoji="0" lang="zh-CN" altLang="en-US" sz="2400" b="0">
                  <a:latin typeface="Times New Roman" panose="02020603050405020304" pitchFamily="18" charset="0"/>
                </a:rPr>
                <a:t>  </a:t>
              </a:r>
              <a:r>
                <a:rPr kumimoji="0" lang="zh-CN" altLang="en-US" sz="2400">
                  <a:latin typeface="Times New Roman" panose="02020603050405020304" pitchFamily="18" charset="0"/>
                </a:rPr>
                <a:t>写</a:t>
              </a:r>
              <a:endParaRPr kumimoji="0" lang="zh-CN" altLang="en-US" sz="24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</a:pPr>
              <a:r>
                <a:rPr kumimoji="0" lang="zh-CN" altLang="en-US" sz="2400">
                  <a:latin typeface="Times New Roman" panose="02020603050405020304" pitchFamily="18" charset="0"/>
                </a:rPr>
                <a:t>命令</a:t>
              </a:r>
              <a:endParaRPr kumimoji="0"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55"/>
          <p:cNvGrpSpPr/>
          <p:nvPr/>
        </p:nvGrpSpPr>
        <p:grpSpPr bwMode="auto">
          <a:xfrm>
            <a:off x="976313" y="3505200"/>
            <a:ext cx="806450" cy="2590800"/>
            <a:chOff x="615" y="2208"/>
            <a:chExt cx="508" cy="1632"/>
          </a:xfrm>
        </p:grpSpPr>
        <p:grpSp>
          <p:nvGrpSpPr>
            <p:cNvPr id="97363" name="Group 56"/>
            <p:cNvGrpSpPr/>
            <p:nvPr/>
          </p:nvGrpSpPr>
          <p:grpSpPr bwMode="auto">
            <a:xfrm>
              <a:off x="615" y="2208"/>
              <a:ext cx="489" cy="384"/>
              <a:chOff x="615" y="2208"/>
              <a:chExt cx="489" cy="384"/>
            </a:xfrm>
          </p:grpSpPr>
          <p:sp>
            <p:nvSpPr>
              <p:cNvPr id="97369" name="Freeform 57"/>
              <p:cNvSpPr/>
              <p:nvPr/>
            </p:nvSpPr>
            <p:spPr bwMode="auto">
              <a:xfrm>
                <a:off x="616" y="2208"/>
                <a:ext cx="437" cy="358"/>
              </a:xfrm>
              <a:custGeom>
                <a:avLst/>
                <a:gdLst>
                  <a:gd name="T0" fmla="*/ 245 w 437"/>
                  <a:gd name="T1" fmla="*/ 167 h 358"/>
                  <a:gd name="T2" fmla="*/ 435 w 437"/>
                  <a:gd name="T3" fmla="*/ 0 h 358"/>
                  <a:gd name="T4" fmla="*/ 0 w 437"/>
                  <a:gd name="T5" fmla="*/ 1 h 358"/>
                  <a:gd name="T6" fmla="*/ 0 w 437"/>
                  <a:gd name="T7" fmla="*/ 358 h 358"/>
                  <a:gd name="T8" fmla="*/ 437 w 437"/>
                  <a:gd name="T9" fmla="*/ 358 h 3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7"/>
                  <a:gd name="T16" fmla="*/ 0 h 358"/>
                  <a:gd name="T17" fmla="*/ 437 w 437"/>
                  <a:gd name="T18" fmla="*/ 358 h 3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7" h="358">
                    <a:moveTo>
                      <a:pt x="245" y="167"/>
                    </a:moveTo>
                    <a:lnTo>
                      <a:pt x="435" y="0"/>
                    </a:lnTo>
                    <a:lnTo>
                      <a:pt x="0" y="1"/>
                    </a:lnTo>
                    <a:lnTo>
                      <a:pt x="0" y="358"/>
                    </a:lnTo>
                    <a:lnTo>
                      <a:pt x="437" y="358"/>
                    </a:lnTo>
                  </a:path>
                </a:pathLst>
              </a:cu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370" name="Line 58"/>
              <p:cNvSpPr>
                <a:spLocks noChangeShapeType="1"/>
              </p:cNvSpPr>
              <p:nvPr/>
            </p:nvSpPr>
            <p:spPr bwMode="auto">
              <a:xfrm rot="2700000">
                <a:off x="946" y="2177"/>
                <a:ext cx="0" cy="24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371" name="Line 59"/>
              <p:cNvSpPr>
                <a:spLocks noChangeShapeType="1"/>
              </p:cNvSpPr>
              <p:nvPr/>
            </p:nvSpPr>
            <p:spPr bwMode="auto">
              <a:xfrm rot="8100000">
                <a:off x="944" y="2329"/>
                <a:ext cx="0" cy="263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372" name="Line 60"/>
              <p:cNvSpPr>
                <a:spLocks noChangeShapeType="1"/>
              </p:cNvSpPr>
              <p:nvPr/>
            </p:nvSpPr>
            <p:spPr bwMode="auto">
              <a:xfrm>
                <a:off x="615" y="2208"/>
                <a:ext cx="489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373" name="Line 61"/>
              <p:cNvSpPr>
                <a:spLocks noChangeShapeType="1"/>
              </p:cNvSpPr>
              <p:nvPr/>
            </p:nvSpPr>
            <p:spPr bwMode="auto">
              <a:xfrm>
                <a:off x="615" y="2544"/>
                <a:ext cx="489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7364" name="Rectangle 62"/>
            <p:cNvSpPr>
              <a:spLocks noChangeArrowheads="1"/>
            </p:cNvSpPr>
            <p:nvPr/>
          </p:nvSpPr>
          <p:spPr bwMode="auto">
            <a:xfrm>
              <a:off x="624" y="2863"/>
              <a:ext cx="480" cy="42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65" name="Line 63"/>
            <p:cNvSpPr>
              <a:spLocks noChangeShapeType="1"/>
            </p:cNvSpPr>
            <p:nvPr/>
          </p:nvSpPr>
          <p:spPr bwMode="auto">
            <a:xfrm>
              <a:off x="624" y="3072"/>
              <a:ext cx="49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97366" name="Group 64"/>
            <p:cNvGrpSpPr/>
            <p:nvPr/>
          </p:nvGrpSpPr>
          <p:grpSpPr bwMode="auto">
            <a:xfrm>
              <a:off x="624" y="3600"/>
              <a:ext cx="499" cy="240"/>
              <a:chOff x="624" y="3600"/>
              <a:chExt cx="499" cy="384"/>
            </a:xfrm>
          </p:grpSpPr>
          <p:sp>
            <p:nvSpPr>
              <p:cNvPr id="97367" name="Rectangle 65"/>
              <p:cNvSpPr>
                <a:spLocks noChangeArrowheads="1"/>
              </p:cNvSpPr>
              <p:nvPr/>
            </p:nvSpPr>
            <p:spPr bwMode="auto">
              <a:xfrm>
                <a:off x="624" y="3600"/>
                <a:ext cx="480" cy="384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7368" name="Line 66"/>
              <p:cNvSpPr>
                <a:spLocks noChangeShapeType="1"/>
              </p:cNvSpPr>
              <p:nvPr/>
            </p:nvSpPr>
            <p:spPr bwMode="auto">
              <a:xfrm>
                <a:off x="624" y="3600"/>
                <a:ext cx="499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1" name="Group 67"/>
          <p:cNvGrpSpPr/>
          <p:nvPr/>
        </p:nvGrpSpPr>
        <p:grpSpPr bwMode="auto">
          <a:xfrm>
            <a:off x="1752600" y="3505200"/>
            <a:ext cx="723900" cy="2590800"/>
            <a:chOff x="1104" y="2208"/>
            <a:chExt cx="456" cy="1632"/>
          </a:xfrm>
        </p:grpSpPr>
        <p:grpSp>
          <p:nvGrpSpPr>
            <p:cNvPr id="97352" name="Group 68"/>
            <p:cNvGrpSpPr/>
            <p:nvPr/>
          </p:nvGrpSpPr>
          <p:grpSpPr bwMode="auto">
            <a:xfrm>
              <a:off x="1104" y="3600"/>
              <a:ext cx="456" cy="240"/>
              <a:chOff x="624" y="3600"/>
              <a:chExt cx="499" cy="384"/>
            </a:xfrm>
          </p:grpSpPr>
          <p:sp>
            <p:nvSpPr>
              <p:cNvPr id="97361" name="Rectangle 69"/>
              <p:cNvSpPr>
                <a:spLocks noChangeArrowheads="1"/>
              </p:cNvSpPr>
              <p:nvPr/>
            </p:nvSpPr>
            <p:spPr bwMode="auto">
              <a:xfrm>
                <a:off x="624" y="3600"/>
                <a:ext cx="480" cy="384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7362" name="Line 70"/>
              <p:cNvSpPr>
                <a:spLocks noChangeShapeType="1"/>
              </p:cNvSpPr>
              <p:nvPr/>
            </p:nvSpPr>
            <p:spPr bwMode="auto">
              <a:xfrm>
                <a:off x="624" y="3600"/>
                <a:ext cx="499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7353" name="Line 71"/>
            <p:cNvSpPr>
              <a:spLocks noChangeShapeType="1"/>
            </p:cNvSpPr>
            <p:nvPr/>
          </p:nvSpPr>
          <p:spPr bwMode="auto">
            <a:xfrm>
              <a:off x="1104" y="2208"/>
              <a:ext cx="4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54" name="Line 72"/>
            <p:cNvSpPr>
              <a:spLocks noChangeShapeType="1"/>
            </p:cNvSpPr>
            <p:nvPr/>
          </p:nvSpPr>
          <p:spPr bwMode="auto">
            <a:xfrm>
              <a:off x="1104" y="2544"/>
              <a:ext cx="4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55" name="Freeform 73"/>
            <p:cNvSpPr/>
            <p:nvPr/>
          </p:nvSpPr>
          <p:spPr bwMode="auto">
            <a:xfrm>
              <a:off x="1104" y="2863"/>
              <a:ext cx="367" cy="422"/>
            </a:xfrm>
            <a:custGeom>
              <a:avLst/>
              <a:gdLst>
                <a:gd name="T0" fmla="*/ 367 w 367"/>
                <a:gd name="T1" fmla="*/ 0 h 384"/>
                <a:gd name="T2" fmla="*/ 0 w 367"/>
                <a:gd name="T3" fmla="*/ 0 h 384"/>
                <a:gd name="T4" fmla="*/ 0 w 367"/>
                <a:gd name="T5" fmla="*/ 1440 h 384"/>
                <a:gd name="T6" fmla="*/ 336 w 367"/>
                <a:gd name="T7" fmla="*/ 1440 h 384"/>
                <a:gd name="T8" fmla="*/ 134 w 367"/>
                <a:gd name="T9" fmla="*/ 69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7"/>
                <a:gd name="T16" fmla="*/ 0 h 384"/>
                <a:gd name="T17" fmla="*/ 367 w 367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7" h="384">
                  <a:moveTo>
                    <a:pt x="367" y="0"/>
                  </a:moveTo>
                  <a:lnTo>
                    <a:pt x="0" y="0"/>
                  </a:lnTo>
                  <a:lnTo>
                    <a:pt x="0" y="384"/>
                  </a:lnTo>
                  <a:lnTo>
                    <a:pt x="336" y="384"/>
                  </a:lnTo>
                  <a:lnTo>
                    <a:pt x="134" y="184"/>
                  </a:lnTo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56" name="Line 74"/>
            <p:cNvSpPr>
              <a:spLocks noChangeShapeType="1"/>
            </p:cNvSpPr>
            <p:nvPr/>
          </p:nvSpPr>
          <p:spPr bwMode="auto">
            <a:xfrm>
              <a:off x="1104" y="3072"/>
              <a:ext cx="14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57" name="Line 75"/>
            <p:cNvSpPr>
              <a:spLocks noChangeShapeType="1"/>
            </p:cNvSpPr>
            <p:nvPr/>
          </p:nvSpPr>
          <p:spPr bwMode="auto">
            <a:xfrm rot="2700000">
              <a:off x="1345" y="2833"/>
              <a:ext cx="0" cy="286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58" name="Line 76"/>
            <p:cNvSpPr>
              <a:spLocks noChangeShapeType="1"/>
            </p:cNvSpPr>
            <p:nvPr/>
          </p:nvSpPr>
          <p:spPr bwMode="auto">
            <a:xfrm rot="8100000">
              <a:off x="1344" y="3017"/>
              <a:ext cx="0" cy="295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59" name="Line 77"/>
            <p:cNvSpPr>
              <a:spLocks noChangeShapeType="1"/>
            </p:cNvSpPr>
            <p:nvPr/>
          </p:nvSpPr>
          <p:spPr bwMode="auto">
            <a:xfrm>
              <a:off x="1414" y="3264"/>
              <a:ext cx="12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60" name="Line 78"/>
            <p:cNvSpPr>
              <a:spLocks noChangeShapeType="1"/>
            </p:cNvSpPr>
            <p:nvPr/>
          </p:nvSpPr>
          <p:spPr bwMode="auto">
            <a:xfrm>
              <a:off x="1414" y="2880"/>
              <a:ext cx="12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5423" name="Line 79"/>
          <p:cNvSpPr>
            <a:spLocks noChangeShapeType="1"/>
          </p:cNvSpPr>
          <p:nvPr/>
        </p:nvSpPr>
        <p:spPr bwMode="auto">
          <a:xfrm>
            <a:off x="2438400" y="2819400"/>
            <a:ext cx="0" cy="395922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3" name="Group 80"/>
          <p:cNvGrpSpPr/>
          <p:nvPr/>
        </p:nvGrpSpPr>
        <p:grpSpPr bwMode="auto">
          <a:xfrm>
            <a:off x="2438400" y="3505200"/>
            <a:ext cx="762000" cy="2590800"/>
            <a:chOff x="1536" y="2208"/>
            <a:chExt cx="480" cy="1632"/>
          </a:xfrm>
        </p:grpSpPr>
        <p:sp>
          <p:nvSpPr>
            <p:cNvPr id="97346" name="Line 81"/>
            <p:cNvSpPr>
              <a:spLocks noChangeShapeType="1"/>
            </p:cNvSpPr>
            <p:nvPr/>
          </p:nvSpPr>
          <p:spPr bwMode="auto">
            <a:xfrm>
              <a:off x="1536" y="2208"/>
              <a:ext cx="4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47" name="Line 82"/>
            <p:cNvSpPr>
              <a:spLocks noChangeShapeType="1"/>
            </p:cNvSpPr>
            <p:nvPr/>
          </p:nvSpPr>
          <p:spPr bwMode="auto">
            <a:xfrm>
              <a:off x="1536" y="2544"/>
              <a:ext cx="4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48" name="Line 83"/>
            <p:cNvSpPr>
              <a:spLocks noChangeShapeType="1"/>
            </p:cNvSpPr>
            <p:nvPr/>
          </p:nvSpPr>
          <p:spPr bwMode="auto">
            <a:xfrm>
              <a:off x="1536" y="2880"/>
              <a:ext cx="4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49" name="Line 84"/>
            <p:cNvSpPr>
              <a:spLocks noChangeShapeType="1"/>
            </p:cNvSpPr>
            <p:nvPr/>
          </p:nvSpPr>
          <p:spPr bwMode="auto">
            <a:xfrm>
              <a:off x="1536" y="3264"/>
              <a:ext cx="4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50" name="Freeform 85"/>
            <p:cNvSpPr/>
            <p:nvPr/>
          </p:nvSpPr>
          <p:spPr bwMode="auto">
            <a:xfrm>
              <a:off x="1536" y="3600"/>
              <a:ext cx="480" cy="240"/>
            </a:xfrm>
            <a:custGeom>
              <a:avLst/>
              <a:gdLst>
                <a:gd name="T0" fmla="*/ 0 w 480"/>
                <a:gd name="T1" fmla="*/ 0 h 384"/>
                <a:gd name="T2" fmla="*/ 240 w 480"/>
                <a:gd name="T3" fmla="*/ 0 h 384"/>
                <a:gd name="T4" fmla="*/ 480 w 480"/>
                <a:gd name="T5" fmla="*/ 1 h 384"/>
                <a:gd name="T6" fmla="*/ 0 w 480"/>
                <a:gd name="T7" fmla="*/ 1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0"/>
                  </a:moveTo>
                  <a:lnTo>
                    <a:pt x="240" y="0"/>
                  </a:lnTo>
                  <a:lnTo>
                    <a:pt x="480" y="384"/>
                  </a:lnTo>
                  <a:lnTo>
                    <a:pt x="0" y="384"/>
                  </a:lnTo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51" name="Line 86"/>
            <p:cNvSpPr>
              <a:spLocks noChangeShapeType="1"/>
            </p:cNvSpPr>
            <p:nvPr/>
          </p:nvSpPr>
          <p:spPr bwMode="auto">
            <a:xfrm>
              <a:off x="1536" y="3600"/>
              <a:ext cx="263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5431" name="Line 87"/>
          <p:cNvSpPr>
            <a:spLocks noChangeShapeType="1"/>
          </p:cNvSpPr>
          <p:nvPr/>
        </p:nvSpPr>
        <p:spPr bwMode="auto">
          <a:xfrm>
            <a:off x="2819400" y="5715000"/>
            <a:ext cx="381000" cy="3810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5432" name="Line 88"/>
          <p:cNvSpPr>
            <a:spLocks noChangeShapeType="1"/>
          </p:cNvSpPr>
          <p:nvPr/>
        </p:nvSpPr>
        <p:spPr bwMode="auto">
          <a:xfrm>
            <a:off x="3200400" y="2819400"/>
            <a:ext cx="0" cy="395922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4" name="Group 89"/>
          <p:cNvGrpSpPr/>
          <p:nvPr/>
        </p:nvGrpSpPr>
        <p:grpSpPr bwMode="auto">
          <a:xfrm>
            <a:off x="3200400" y="3505200"/>
            <a:ext cx="1447800" cy="2590800"/>
            <a:chOff x="2016" y="2208"/>
            <a:chExt cx="912" cy="1632"/>
          </a:xfrm>
        </p:grpSpPr>
        <p:sp>
          <p:nvSpPr>
            <p:cNvPr id="97341" name="Line 90"/>
            <p:cNvSpPr>
              <a:spLocks noChangeShapeType="1"/>
            </p:cNvSpPr>
            <p:nvPr/>
          </p:nvSpPr>
          <p:spPr bwMode="auto">
            <a:xfrm>
              <a:off x="2016" y="2208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42" name="Line 91"/>
            <p:cNvSpPr>
              <a:spLocks noChangeShapeType="1"/>
            </p:cNvSpPr>
            <p:nvPr/>
          </p:nvSpPr>
          <p:spPr bwMode="auto">
            <a:xfrm>
              <a:off x="2016" y="2544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43" name="Line 92"/>
            <p:cNvSpPr>
              <a:spLocks noChangeShapeType="1"/>
            </p:cNvSpPr>
            <p:nvPr/>
          </p:nvSpPr>
          <p:spPr bwMode="auto">
            <a:xfrm>
              <a:off x="2016" y="2880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44" name="Line 93"/>
            <p:cNvSpPr>
              <a:spLocks noChangeShapeType="1"/>
            </p:cNvSpPr>
            <p:nvPr/>
          </p:nvSpPr>
          <p:spPr bwMode="auto">
            <a:xfrm>
              <a:off x="2016" y="3264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45" name="Line 94"/>
            <p:cNvSpPr>
              <a:spLocks noChangeShapeType="1"/>
            </p:cNvSpPr>
            <p:nvPr/>
          </p:nvSpPr>
          <p:spPr bwMode="auto">
            <a:xfrm>
              <a:off x="2016" y="3840"/>
              <a:ext cx="91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" name="Group 95"/>
          <p:cNvGrpSpPr/>
          <p:nvPr/>
        </p:nvGrpSpPr>
        <p:grpSpPr bwMode="auto">
          <a:xfrm>
            <a:off x="4648200" y="3505200"/>
            <a:ext cx="1143000" cy="2590800"/>
            <a:chOff x="2928" y="2208"/>
            <a:chExt cx="720" cy="1632"/>
          </a:xfrm>
        </p:grpSpPr>
        <p:sp>
          <p:nvSpPr>
            <p:cNvPr id="97336" name="Line 96"/>
            <p:cNvSpPr>
              <a:spLocks noChangeShapeType="1"/>
            </p:cNvSpPr>
            <p:nvPr/>
          </p:nvSpPr>
          <p:spPr bwMode="auto">
            <a:xfrm>
              <a:off x="2928" y="2880"/>
              <a:ext cx="7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37" name="Line 97"/>
            <p:cNvSpPr>
              <a:spLocks noChangeShapeType="1"/>
            </p:cNvSpPr>
            <p:nvPr/>
          </p:nvSpPr>
          <p:spPr bwMode="auto">
            <a:xfrm>
              <a:off x="2928" y="3264"/>
              <a:ext cx="7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38" name="Line 98"/>
            <p:cNvSpPr>
              <a:spLocks noChangeShapeType="1"/>
            </p:cNvSpPr>
            <p:nvPr/>
          </p:nvSpPr>
          <p:spPr bwMode="auto">
            <a:xfrm>
              <a:off x="2928" y="3840"/>
              <a:ext cx="7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39" name="Line 99"/>
            <p:cNvSpPr>
              <a:spLocks noChangeShapeType="1"/>
            </p:cNvSpPr>
            <p:nvPr/>
          </p:nvSpPr>
          <p:spPr bwMode="auto">
            <a:xfrm>
              <a:off x="2928" y="2208"/>
              <a:ext cx="7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40" name="Line 100"/>
            <p:cNvSpPr>
              <a:spLocks noChangeShapeType="1"/>
            </p:cNvSpPr>
            <p:nvPr/>
          </p:nvSpPr>
          <p:spPr bwMode="auto">
            <a:xfrm>
              <a:off x="2928" y="2544"/>
              <a:ext cx="7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6" name="Group 101"/>
          <p:cNvGrpSpPr/>
          <p:nvPr/>
        </p:nvGrpSpPr>
        <p:grpSpPr bwMode="auto">
          <a:xfrm>
            <a:off x="5638800" y="4532313"/>
            <a:ext cx="466725" cy="1595437"/>
            <a:chOff x="3552" y="2855"/>
            <a:chExt cx="294" cy="1005"/>
          </a:xfrm>
        </p:grpSpPr>
        <p:sp>
          <p:nvSpPr>
            <p:cNvPr id="97334" name="Freeform 102"/>
            <p:cNvSpPr/>
            <p:nvPr/>
          </p:nvSpPr>
          <p:spPr bwMode="auto">
            <a:xfrm>
              <a:off x="3600" y="2855"/>
              <a:ext cx="245" cy="429"/>
            </a:xfrm>
            <a:custGeom>
              <a:avLst/>
              <a:gdLst>
                <a:gd name="T0" fmla="*/ 0 w 245"/>
                <a:gd name="T1" fmla="*/ 0 h 429"/>
                <a:gd name="T2" fmla="*/ 245 w 245"/>
                <a:gd name="T3" fmla="*/ 0 h 429"/>
                <a:gd name="T4" fmla="*/ 233 w 245"/>
                <a:gd name="T5" fmla="*/ 429 h 429"/>
                <a:gd name="T6" fmla="*/ 25 w 245"/>
                <a:gd name="T7" fmla="*/ 429 h 429"/>
                <a:gd name="T8" fmla="*/ 237 w 245"/>
                <a:gd name="T9" fmla="*/ 202 h 429"/>
                <a:gd name="T10" fmla="*/ 0 w 245"/>
                <a:gd name="T11" fmla="*/ 0 h 4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5"/>
                <a:gd name="T19" fmla="*/ 0 h 429"/>
                <a:gd name="T20" fmla="*/ 245 w 245"/>
                <a:gd name="T21" fmla="*/ 429 h 4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5" h="429">
                  <a:moveTo>
                    <a:pt x="0" y="0"/>
                  </a:moveTo>
                  <a:lnTo>
                    <a:pt x="245" y="0"/>
                  </a:lnTo>
                  <a:lnTo>
                    <a:pt x="233" y="429"/>
                  </a:lnTo>
                  <a:lnTo>
                    <a:pt x="25" y="429"/>
                  </a:lnTo>
                  <a:lnTo>
                    <a:pt x="237" y="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35" name="Freeform 103"/>
            <p:cNvSpPr/>
            <p:nvPr/>
          </p:nvSpPr>
          <p:spPr bwMode="auto">
            <a:xfrm>
              <a:off x="3552" y="3591"/>
              <a:ext cx="294" cy="269"/>
            </a:xfrm>
            <a:custGeom>
              <a:avLst/>
              <a:gdLst>
                <a:gd name="T0" fmla="*/ 282 w 294"/>
                <a:gd name="T1" fmla="*/ 0 h 269"/>
                <a:gd name="T2" fmla="*/ 0 w 294"/>
                <a:gd name="T3" fmla="*/ 269 h 269"/>
                <a:gd name="T4" fmla="*/ 294 w 294"/>
                <a:gd name="T5" fmla="*/ 269 h 269"/>
                <a:gd name="T6" fmla="*/ 0 60000 65536"/>
                <a:gd name="T7" fmla="*/ 0 60000 65536"/>
                <a:gd name="T8" fmla="*/ 0 60000 65536"/>
                <a:gd name="T9" fmla="*/ 0 w 294"/>
                <a:gd name="T10" fmla="*/ 0 h 269"/>
                <a:gd name="T11" fmla="*/ 294 w 294"/>
                <a:gd name="T12" fmla="*/ 269 h 2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4" h="269">
                  <a:moveTo>
                    <a:pt x="282" y="0"/>
                  </a:moveTo>
                  <a:lnTo>
                    <a:pt x="0" y="269"/>
                  </a:lnTo>
                  <a:lnTo>
                    <a:pt x="294" y="269"/>
                  </a:lnTo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7" name="Group 104"/>
          <p:cNvGrpSpPr/>
          <p:nvPr/>
        </p:nvGrpSpPr>
        <p:grpSpPr bwMode="auto">
          <a:xfrm>
            <a:off x="5715000" y="3505200"/>
            <a:ext cx="454025" cy="2590800"/>
            <a:chOff x="3600" y="2208"/>
            <a:chExt cx="286" cy="1632"/>
          </a:xfrm>
        </p:grpSpPr>
        <p:sp>
          <p:nvSpPr>
            <p:cNvPr id="97329" name="Line 105"/>
            <p:cNvSpPr>
              <a:spLocks noChangeShapeType="1"/>
            </p:cNvSpPr>
            <p:nvPr/>
          </p:nvSpPr>
          <p:spPr bwMode="auto">
            <a:xfrm>
              <a:off x="3646" y="2208"/>
              <a:ext cx="19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30" name="Line 106"/>
            <p:cNvSpPr>
              <a:spLocks noChangeShapeType="1"/>
            </p:cNvSpPr>
            <p:nvPr/>
          </p:nvSpPr>
          <p:spPr bwMode="auto">
            <a:xfrm>
              <a:off x="3646" y="2544"/>
              <a:ext cx="19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31" name="Line 107"/>
            <p:cNvSpPr>
              <a:spLocks noChangeShapeType="1"/>
            </p:cNvSpPr>
            <p:nvPr/>
          </p:nvSpPr>
          <p:spPr bwMode="auto">
            <a:xfrm rot="8100000">
              <a:off x="3742" y="2832"/>
              <a:ext cx="0" cy="295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32" name="Line 108"/>
            <p:cNvSpPr>
              <a:spLocks noChangeShapeType="1"/>
            </p:cNvSpPr>
            <p:nvPr/>
          </p:nvSpPr>
          <p:spPr bwMode="auto">
            <a:xfrm rot="2700000">
              <a:off x="3743" y="3025"/>
              <a:ext cx="0" cy="286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33" name="Line 109"/>
            <p:cNvSpPr>
              <a:spLocks noChangeShapeType="1"/>
            </p:cNvSpPr>
            <p:nvPr/>
          </p:nvSpPr>
          <p:spPr bwMode="auto">
            <a:xfrm rot="5400000">
              <a:off x="3600" y="3600"/>
              <a:ext cx="240" cy="24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8" name="Group 110"/>
          <p:cNvGrpSpPr/>
          <p:nvPr/>
        </p:nvGrpSpPr>
        <p:grpSpPr bwMode="auto">
          <a:xfrm>
            <a:off x="6094413" y="3505200"/>
            <a:ext cx="1220787" cy="2630488"/>
            <a:chOff x="3840" y="2208"/>
            <a:chExt cx="769" cy="1657"/>
          </a:xfrm>
        </p:grpSpPr>
        <p:sp>
          <p:nvSpPr>
            <p:cNvPr id="97323" name="Line 111"/>
            <p:cNvSpPr>
              <a:spLocks noChangeShapeType="1"/>
            </p:cNvSpPr>
            <p:nvPr/>
          </p:nvSpPr>
          <p:spPr bwMode="auto">
            <a:xfrm>
              <a:off x="3840" y="2208"/>
              <a:ext cx="76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24" name="Line 112"/>
            <p:cNvSpPr>
              <a:spLocks noChangeShapeType="1"/>
            </p:cNvSpPr>
            <p:nvPr/>
          </p:nvSpPr>
          <p:spPr bwMode="auto">
            <a:xfrm>
              <a:off x="3840" y="3600"/>
              <a:ext cx="76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25" name="Rectangle 113"/>
            <p:cNvSpPr>
              <a:spLocks noChangeArrowheads="1"/>
            </p:cNvSpPr>
            <p:nvPr/>
          </p:nvSpPr>
          <p:spPr bwMode="auto">
            <a:xfrm>
              <a:off x="3840" y="2854"/>
              <a:ext cx="768" cy="428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26" name="Rectangle 114"/>
            <p:cNvSpPr>
              <a:spLocks noChangeArrowheads="1"/>
            </p:cNvSpPr>
            <p:nvPr/>
          </p:nvSpPr>
          <p:spPr bwMode="auto">
            <a:xfrm>
              <a:off x="3840" y="3600"/>
              <a:ext cx="769" cy="265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27" name="Line 115"/>
            <p:cNvSpPr>
              <a:spLocks noChangeShapeType="1"/>
            </p:cNvSpPr>
            <p:nvPr/>
          </p:nvSpPr>
          <p:spPr bwMode="auto">
            <a:xfrm>
              <a:off x="3840" y="2544"/>
              <a:ext cx="76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28" name="Line 116"/>
            <p:cNvSpPr>
              <a:spLocks noChangeShapeType="1"/>
            </p:cNvSpPr>
            <p:nvPr/>
          </p:nvSpPr>
          <p:spPr bwMode="auto">
            <a:xfrm>
              <a:off x="3840" y="3072"/>
              <a:ext cx="768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9" name="Group 117"/>
          <p:cNvGrpSpPr/>
          <p:nvPr/>
        </p:nvGrpSpPr>
        <p:grpSpPr bwMode="auto">
          <a:xfrm>
            <a:off x="7212013" y="3429000"/>
            <a:ext cx="407987" cy="2706688"/>
            <a:chOff x="4543" y="2160"/>
            <a:chExt cx="257" cy="1705"/>
          </a:xfrm>
        </p:grpSpPr>
        <p:sp>
          <p:nvSpPr>
            <p:cNvPr id="97314" name="Line 118"/>
            <p:cNvSpPr>
              <a:spLocks noChangeShapeType="1"/>
            </p:cNvSpPr>
            <p:nvPr/>
          </p:nvSpPr>
          <p:spPr bwMode="auto">
            <a:xfrm>
              <a:off x="4543" y="2208"/>
              <a:ext cx="2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15" name="Freeform 119"/>
            <p:cNvSpPr/>
            <p:nvPr/>
          </p:nvSpPr>
          <p:spPr bwMode="auto">
            <a:xfrm>
              <a:off x="4559" y="2197"/>
              <a:ext cx="208" cy="347"/>
            </a:xfrm>
            <a:custGeom>
              <a:avLst/>
              <a:gdLst>
                <a:gd name="T0" fmla="*/ 37 w 208"/>
                <a:gd name="T1" fmla="*/ 0 h 393"/>
                <a:gd name="T2" fmla="*/ 196 w 208"/>
                <a:gd name="T3" fmla="*/ 0 h 393"/>
                <a:gd name="T4" fmla="*/ 196 w 208"/>
                <a:gd name="T5" fmla="*/ 68 h 393"/>
                <a:gd name="T6" fmla="*/ 0 w 208"/>
                <a:gd name="T7" fmla="*/ 68 h 393"/>
                <a:gd name="T8" fmla="*/ 208 w 208"/>
                <a:gd name="T9" fmla="*/ 36 h 3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8"/>
                <a:gd name="T16" fmla="*/ 0 h 393"/>
                <a:gd name="T17" fmla="*/ 208 w 208"/>
                <a:gd name="T18" fmla="*/ 393 h 3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8" h="393">
                  <a:moveTo>
                    <a:pt x="37" y="0"/>
                  </a:moveTo>
                  <a:lnTo>
                    <a:pt x="196" y="0"/>
                  </a:lnTo>
                  <a:lnTo>
                    <a:pt x="196" y="393"/>
                  </a:lnTo>
                  <a:lnTo>
                    <a:pt x="0" y="393"/>
                  </a:lnTo>
                  <a:lnTo>
                    <a:pt x="208" y="209"/>
                  </a:lnTo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16" name="Rectangle 120"/>
            <p:cNvSpPr>
              <a:spLocks noChangeArrowheads="1"/>
            </p:cNvSpPr>
            <p:nvPr/>
          </p:nvSpPr>
          <p:spPr bwMode="auto">
            <a:xfrm>
              <a:off x="4608" y="2854"/>
              <a:ext cx="144" cy="428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17" name="Line 121"/>
            <p:cNvSpPr>
              <a:spLocks noChangeShapeType="1"/>
            </p:cNvSpPr>
            <p:nvPr/>
          </p:nvSpPr>
          <p:spPr bwMode="auto">
            <a:xfrm>
              <a:off x="4608" y="3072"/>
              <a:ext cx="14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18" name="Line 122"/>
            <p:cNvSpPr>
              <a:spLocks noChangeShapeType="1"/>
            </p:cNvSpPr>
            <p:nvPr/>
          </p:nvSpPr>
          <p:spPr bwMode="auto">
            <a:xfrm>
              <a:off x="4608" y="3600"/>
              <a:ext cx="14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19" name="Rectangle 123"/>
            <p:cNvSpPr>
              <a:spLocks noChangeArrowheads="1"/>
            </p:cNvSpPr>
            <p:nvPr/>
          </p:nvSpPr>
          <p:spPr bwMode="auto">
            <a:xfrm>
              <a:off x="4608" y="3600"/>
              <a:ext cx="144" cy="265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20" name="Line 124"/>
            <p:cNvSpPr>
              <a:spLocks noChangeShapeType="1"/>
            </p:cNvSpPr>
            <p:nvPr/>
          </p:nvSpPr>
          <p:spPr bwMode="auto">
            <a:xfrm rot="2700000">
              <a:off x="4680" y="2328"/>
              <a:ext cx="0" cy="24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21" name="Line 125"/>
            <p:cNvSpPr>
              <a:spLocks noChangeShapeType="1"/>
            </p:cNvSpPr>
            <p:nvPr/>
          </p:nvSpPr>
          <p:spPr bwMode="auto">
            <a:xfrm rot="8100000">
              <a:off x="4656" y="2160"/>
              <a:ext cx="0" cy="263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22" name="Line 126"/>
            <p:cNvSpPr>
              <a:spLocks noChangeShapeType="1"/>
            </p:cNvSpPr>
            <p:nvPr/>
          </p:nvSpPr>
          <p:spPr bwMode="auto">
            <a:xfrm>
              <a:off x="4560" y="2544"/>
              <a:ext cx="2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0" name="Group 127"/>
          <p:cNvGrpSpPr/>
          <p:nvPr/>
        </p:nvGrpSpPr>
        <p:grpSpPr bwMode="auto">
          <a:xfrm>
            <a:off x="7543800" y="3505200"/>
            <a:ext cx="1447800" cy="2625725"/>
            <a:chOff x="4752" y="2208"/>
            <a:chExt cx="912" cy="1654"/>
          </a:xfrm>
        </p:grpSpPr>
        <p:sp>
          <p:nvSpPr>
            <p:cNvPr id="97304" name="Rectangle 128"/>
            <p:cNvSpPr>
              <a:spLocks noChangeArrowheads="1"/>
            </p:cNvSpPr>
            <p:nvPr/>
          </p:nvSpPr>
          <p:spPr bwMode="auto">
            <a:xfrm>
              <a:off x="4752" y="2233"/>
              <a:ext cx="909" cy="311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05" name="Line 129"/>
            <p:cNvSpPr>
              <a:spLocks noChangeShapeType="1"/>
            </p:cNvSpPr>
            <p:nvPr/>
          </p:nvSpPr>
          <p:spPr bwMode="auto">
            <a:xfrm>
              <a:off x="5376" y="36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06" name="Line 130"/>
            <p:cNvSpPr>
              <a:spLocks noChangeShapeType="1"/>
            </p:cNvSpPr>
            <p:nvPr/>
          </p:nvSpPr>
          <p:spPr bwMode="auto">
            <a:xfrm>
              <a:off x="5376" y="307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07" name="Line 131"/>
            <p:cNvSpPr>
              <a:spLocks noChangeShapeType="1"/>
            </p:cNvSpPr>
            <p:nvPr/>
          </p:nvSpPr>
          <p:spPr bwMode="auto">
            <a:xfrm>
              <a:off x="5424" y="2375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08" name="Line 132"/>
            <p:cNvSpPr>
              <a:spLocks noChangeShapeType="1"/>
            </p:cNvSpPr>
            <p:nvPr/>
          </p:nvSpPr>
          <p:spPr bwMode="auto">
            <a:xfrm>
              <a:off x="4752" y="2544"/>
              <a:ext cx="9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09" name="Line 133"/>
            <p:cNvSpPr>
              <a:spLocks noChangeShapeType="1"/>
            </p:cNvSpPr>
            <p:nvPr/>
          </p:nvSpPr>
          <p:spPr bwMode="auto">
            <a:xfrm>
              <a:off x="4752" y="2208"/>
              <a:ext cx="9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10" name="Line 134"/>
            <p:cNvSpPr>
              <a:spLocks noChangeShapeType="1"/>
            </p:cNvSpPr>
            <p:nvPr/>
          </p:nvSpPr>
          <p:spPr bwMode="auto">
            <a:xfrm>
              <a:off x="4752" y="3072"/>
              <a:ext cx="9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11" name="Line 135"/>
            <p:cNvSpPr>
              <a:spLocks noChangeShapeType="1"/>
            </p:cNvSpPr>
            <p:nvPr/>
          </p:nvSpPr>
          <p:spPr bwMode="auto">
            <a:xfrm>
              <a:off x="4752" y="3600"/>
              <a:ext cx="909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312" name="Rectangle 136"/>
            <p:cNvSpPr>
              <a:spLocks noChangeArrowheads="1"/>
            </p:cNvSpPr>
            <p:nvPr/>
          </p:nvSpPr>
          <p:spPr bwMode="auto">
            <a:xfrm>
              <a:off x="4752" y="2854"/>
              <a:ext cx="909" cy="428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13" name="Rectangle 137"/>
            <p:cNvSpPr>
              <a:spLocks noChangeArrowheads="1"/>
            </p:cNvSpPr>
            <p:nvPr/>
          </p:nvSpPr>
          <p:spPr bwMode="auto">
            <a:xfrm>
              <a:off x="4752" y="3622"/>
              <a:ext cx="909" cy="240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85482" name="Line 138"/>
          <p:cNvSpPr>
            <a:spLocks noChangeShapeType="1"/>
          </p:cNvSpPr>
          <p:nvPr/>
        </p:nvSpPr>
        <p:spPr bwMode="auto">
          <a:xfrm>
            <a:off x="1752600" y="2819400"/>
            <a:ext cx="0" cy="395922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5483" name="Line 139"/>
          <p:cNvSpPr>
            <a:spLocks noChangeShapeType="1"/>
          </p:cNvSpPr>
          <p:nvPr/>
        </p:nvSpPr>
        <p:spPr bwMode="auto">
          <a:xfrm>
            <a:off x="6096000" y="2819400"/>
            <a:ext cx="0" cy="395922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5484" name="Rectangle 140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7303" name="AutoShape 142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18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85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8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18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0" dur="500"/>
                                        <p:tgtEl>
                                          <p:spTgt spid="18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423" grpId="0" animBg="1"/>
      <p:bldP spid="185431" grpId="0" animBg="1"/>
      <p:bldP spid="185432" grpId="0" animBg="1"/>
      <p:bldP spid="185482" grpId="0" animBg="1"/>
      <p:bldP spid="18548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2"/>
          <p:cNvSpPr txBox="1">
            <a:spLocks noChangeArrowheads="1"/>
          </p:cNvSpPr>
          <p:nvPr/>
        </p:nvSpPr>
        <p:spPr bwMode="auto">
          <a:xfrm>
            <a:off x="1219200" y="565308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不互锁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86371" name="Text Box 3"/>
          <p:cNvSpPr txBox="1">
            <a:spLocks noChangeArrowheads="1"/>
          </p:cNvSpPr>
          <p:nvPr/>
        </p:nvSpPr>
        <p:spPr bwMode="auto">
          <a:xfrm>
            <a:off x="4006850" y="5653088"/>
            <a:ext cx="216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半互锁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6858000" y="56530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全互锁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685800" y="423863"/>
            <a:ext cx="2667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(3) 异步通信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 bwMode="auto">
          <a:xfrm>
            <a:off x="4006850" y="1752600"/>
            <a:ext cx="2698750" cy="3657600"/>
            <a:chOff x="2524" y="1104"/>
            <a:chExt cx="1700" cy="2304"/>
          </a:xfrm>
        </p:grpSpPr>
        <p:sp>
          <p:nvSpPr>
            <p:cNvPr id="98359" name="Text Box 8"/>
            <p:cNvSpPr txBox="1">
              <a:spLocks noChangeArrowheads="1"/>
            </p:cNvSpPr>
            <p:nvPr/>
          </p:nvSpPr>
          <p:spPr bwMode="auto">
            <a:xfrm>
              <a:off x="2524" y="1104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主设备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8360" name="Text Box 9"/>
            <p:cNvSpPr txBox="1">
              <a:spLocks noChangeArrowheads="1"/>
            </p:cNvSpPr>
            <p:nvPr/>
          </p:nvSpPr>
          <p:spPr bwMode="auto">
            <a:xfrm>
              <a:off x="2524" y="3081"/>
              <a:ext cx="17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从设备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0"/>
          <p:cNvGrpSpPr/>
          <p:nvPr/>
        </p:nvGrpSpPr>
        <p:grpSpPr bwMode="auto">
          <a:xfrm>
            <a:off x="163513" y="2871788"/>
            <a:ext cx="547687" cy="2157412"/>
            <a:chOff x="103" y="1809"/>
            <a:chExt cx="345" cy="1359"/>
          </a:xfrm>
        </p:grpSpPr>
        <p:sp>
          <p:nvSpPr>
            <p:cNvPr id="98357" name="Text Box 11"/>
            <p:cNvSpPr txBox="1">
              <a:spLocks noChangeArrowheads="1"/>
            </p:cNvSpPr>
            <p:nvPr/>
          </p:nvSpPr>
          <p:spPr bwMode="auto">
            <a:xfrm>
              <a:off x="107" y="1809"/>
              <a:ext cx="341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请</a:t>
              </a:r>
              <a:endParaRPr lang="zh-CN" altLang="en-US" sz="28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求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8358" name="Text Box 12"/>
            <p:cNvSpPr txBox="1">
              <a:spLocks noChangeArrowheads="1"/>
            </p:cNvSpPr>
            <p:nvPr/>
          </p:nvSpPr>
          <p:spPr bwMode="auto">
            <a:xfrm>
              <a:off x="103" y="2572"/>
              <a:ext cx="341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回</a:t>
              </a:r>
              <a:endParaRPr lang="zh-CN" altLang="en-US" sz="28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答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86381" name="Freeform 13"/>
          <p:cNvSpPr/>
          <p:nvPr/>
        </p:nvSpPr>
        <p:spPr bwMode="auto">
          <a:xfrm>
            <a:off x="1295400" y="2643188"/>
            <a:ext cx="1588" cy="904875"/>
          </a:xfrm>
          <a:custGeom>
            <a:avLst/>
            <a:gdLst>
              <a:gd name="T0" fmla="*/ 0 w 1"/>
              <a:gd name="T1" fmla="*/ 0 h 570"/>
              <a:gd name="T2" fmla="*/ 0 w 1"/>
              <a:gd name="T3" fmla="*/ 2147483647 h 570"/>
              <a:gd name="T4" fmla="*/ 0 60000 65536"/>
              <a:gd name="T5" fmla="*/ 0 60000 65536"/>
              <a:gd name="T6" fmla="*/ 0 w 1"/>
              <a:gd name="T7" fmla="*/ 0 h 570"/>
              <a:gd name="T8" fmla="*/ 1 w 1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70">
                <a:moveTo>
                  <a:pt x="0" y="0"/>
                </a:moveTo>
                <a:lnTo>
                  <a:pt x="0" y="570"/>
                </a:lnTo>
              </a:path>
            </a:pathLst>
          </a:custGeom>
          <a:noFill/>
          <a:ln w="114300" cmpd="sng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382" name="Freeform 14"/>
          <p:cNvSpPr/>
          <p:nvPr/>
        </p:nvSpPr>
        <p:spPr bwMode="auto">
          <a:xfrm>
            <a:off x="4176713" y="2590800"/>
            <a:ext cx="1587" cy="966788"/>
          </a:xfrm>
          <a:custGeom>
            <a:avLst/>
            <a:gdLst>
              <a:gd name="T0" fmla="*/ 0 w 1"/>
              <a:gd name="T1" fmla="*/ 0 h 609"/>
              <a:gd name="T2" fmla="*/ 2147483647 w 1"/>
              <a:gd name="T3" fmla="*/ 2147483647 h 609"/>
              <a:gd name="T4" fmla="*/ 0 60000 65536"/>
              <a:gd name="T5" fmla="*/ 0 60000 65536"/>
              <a:gd name="T6" fmla="*/ 0 w 1"/>
              <a:gd name="T7" fmla="*/ 0 h 609"/>
              <a:gd name="T8" fmla="*/ 1 w 1"/>
              <a:gd name="T9" fmla="*/ 609 h 60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609">
                <a:moveTo>
                  <a:pt x="0" y="0"/>
                </a:moveTo>
                <a:lnTo>
                  <a:pt x="1" y="609"/>
                </a:lnTo>
              </a:path>
            </a:pathLst>
          </a:custGeom>
          <a:noFill/>
          <a:ln w="1143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4" name="Group 15"/>
          <p:cNvGrpSpPr/>
          <p:nvPr/>
        </p:nvGrpSpPr>
        <p:grpSpPr bwMode="auto">
          <a:xfrm>
            <a:off x="4122738" y="2641600"/>
            <a:ext cx="1169987" cy="1460500"/>
            <a:chOff x="2597" y="1664"/>
            <a:chExt cx="737" cy="920"/>
          </a:xfrm>
        </p:grpSpPr>
        <p:sp>
          <p:nvSpPr>
            <p:cNvPr id="98355" name="Freeform 16"/>
            <p:cNvSpPr/>
            <p:nvPr/>
          </p:nvSpPr>
          <p:spPr bwMode="auto">
            <a:xfrm>
              <a:off x="2601" y="1997"/>
              <a:ext cx="300" cy="587"/>
            </a:xfrm>
            <a:custGeom>
              <a:avLst/>
              <a:gdLst>
                <a:gd name="T0" fmla="*/ 0 w 300"/>
                <a:gd name="T1" fmla="*/ 89 h 587"/>
                <a:gd name="T2" fmla="*/ 48 w 300"/>
                <a:gd name="T3" fmla="*/ 58 h 587"/>
                <a:gd name="T4" fmla="*/ 15 w 300"/>
                <a:gd name="T5" fmla="*/ 64 h 587"/>
                <a:gd name="T6" fmla="*/ 117 w 300"/>
                <a:gd name="T7" fmla="*/ 73 h 587"/>
                <a:gd name="T8" fmla="*/ 180 w 300"/>
                <a:gd name="T9" fmla="*/ 502 h 587"/>
                <a:gd name="T10" fmla="*/ 300 w 300"/>
                <a:gd name="T11" fmla="*/ 585 h 5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0"/>
                <a:gd name="T19" fmla="*/ 0 h 587"/>
                <a:gd name="T20" fmla="*/ 300 w 300"/>
                <a:gd name="T21" fmla="*/ 587 h 5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0" h="587">
                  <a:moveTo>
                    <a:pt x="0" y="89"/>
                  </a:moveTo>
                  <a:cubicBezTo>
                    <a:pt x="8" y="84"/>
                    <a:pt x="45" y="62"/>
                    <a:pt x="48" y="58"/>
                  </a:cubicBezTo>
                  <a:cubicBezTo>
                    <a:pt x="51" y="54"/>
                    <a:pt x="4" y="62"/>
                    <a:pt x="15" y="64"/>
                  </a:cubicBezTo>
                  <a:cubicBezTo>
                    <a:pt x="26" y="66"/>
                    <a:pt x="90" y="0"/>
                    <a:pt x="117" y="73"/>
                  </a:cubicBezTo>
                  <a:cubicBezTo>
                    <a:pt x="144" y="146"/>
                    <a:pt x="149" y="417"/>
                    <a:pt x="180" y="502"/>
                  </a:cubicBezTo>
                  <a:cubicBezTo>
                    <a:pt x="211" y="587"/>
                    <a:pt x="280" y="571"/>
                    <a:pt x="300" y="585"/>
                  </a:cubicBez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56" name="Freeform 17"/>
            <p:cNvSpPr/>
            <p:nvPr/>
          </p:nvSpPr>
          <p:spPr bwMode="auto">
            <a:xfrm>
              <a:off x="2597" y="1664"/>
              <a:ext cx="737" cy="1"/>
            </a:xfrm>
            <a:custGeom>
              <a:avLst/>
              <a:gdLst>
                <a:gd name="T0" fmla="*/ 0 w 737"/>
                <a:gd name="T1" fmla="*/ 1 h 1"/>
                <a:gd name="T2" fmla="*/ 737 w 737"/>
                <a:gd name="T3" fmla="*/ 0 h 1"/>
                <a:gd name="T4" fmla="*/ 0 60000 65536"/>
                <a:gd name="T5" fmla="*/ 0 60000 65536"/>
                <a:gd name="T6" fmla="*/ 0 w 737"/>
                <a:gd name="T7" fmla="*/ 0 h 1"/>
                <a:gd name="T8" fmla="*/ 737 w 73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7" h="1">
                  <a:moveTo>
                    <a:pt x="0" y="1"/>
                  </a:moveTo>
                  <a:lnTo>
                    <a:pt x="737" y="0"/>
                  </a:lnTo>
                </a:path>
              </a:pathLst>
            </a:custGeom>
            <a:noFill/>
            <a:ln w="1143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6386" name="Freeform 18"/>
          <p:cNvSpPr/>
          <p:nvPr/>
        </p:nvSpPr>
        <p:spPr bwMode="auto">
          <a:xfrm>
            <a:off x="5241925" y="2586038"/>
            <a:ext cx="1588" cy="950912"/>
          </a:xfrm>
          <a:custGeom>
            <a:avLst/>
            <a:gdLst>
              <a:gd name="T0" fmla="*/ 0 w 1"/>
              <a:gd name="T1" fmla="*/ 0 h 599"/>
              <a:gd name="T2" fmla="*/ 0 w 1"/>
              <a:gd name="T3" fmla="*/ 2147483647 h 599"/>
              <a:gd name="T4" fmla="*/ 0 60000 65536"/>
              <a:gd name="T5" fmla="*/ 0 60000 65536"/>
              <a:gd name="T6" fmla="*/ 0 w 1"/>
              <a:gd name="T7" fmla="*/ 0 h 599"/>
              <a:gd name="T8" fmla="*/ 1 w 1"/>
              <a:gd name="T9" fmla="*/ 599 h 5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99">
                <a:moveTo>
                  <a:pt x="0" y="0"/>
                </a:moveTo>
                <a:lnTo>
                  <a:pt x="0" y="599"/>
                </a:lnTo>
              </a:path>
            </a:pathLst>
          </a:custGeom>
          <a:noFill/>
          <a:ln w="1143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387" name="Freeform 19"/>
          <p:cNvSpPr/>
          <p:nvPr/>
        </p:nvSpPr>
        <p:spPr bwMode="auto">
          <a:xfrm>
            <a:off x="5184775" y="3479800"/>
            <a:ext cx="785813" cy="1588"/>
          </a:xfrm>
          <a:custGeom>
            <a:avLst/>
            <a:gdLst>
              <a:gd name="T0" fmla="*/ 0 w 495"/>
              <a:gd name="T1" fmla="*/ 0 h 1"/>
              <a:gd name="T2" fmla="*/ 2147483647 w 495"/>
              <a:gd name="T3" fmla="*/ 2147483647 h 1"/>
              <a:gd name="T4" fmla="*/ 0 60000 65536"/>
              <a:gd name="T5" fmla="*/ 0 60000 65536"/>
              <a:gd name="T6" fmla="*/ 0 w 495"/>
              <a:gd name="T7" fmla="*/ 0 h 1"/>
              <a:gd name="T8" fmla="*/ 495 w 49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95" h="1">
                <a:moveTo>
                  <a:pt x="0" y="0"/>
                </a:moveTo>
                <a:lnTo>
                  <a:pt x="495" y="1"/>
                </a:lnTo>
              </a:path>
            </a:pathLst>
          </a:custGeom>
          <a:noFill/>
          <a:ln w="1143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" name="Group 20"/>
          <p:cNvGrpSpPr/>
          <p:nvPr/>
        </p:nvGrpSpPr>
        <p:grpSpPr bwMode="auto">
          <a:xfrm>
            <a:off x="1235075" y="2660650"/>
            <a:ext cx="1162050" cy="1427163"/>
            <a:chOff x="778" y="1676"/>
            <a:chExt cx="732" cy="899"/>
          </a:xfrm>
        </p:grpSpPr>
        <p:sp>
          <p:nvSpPr>
            <p:cNvPr id="98353" name="Freeform 21"/>
            <p:cNvSpPr/>
            <p:nvPr/>
          </p:nvSpPr>
          <p:spPr bwMode="auto">
            <a:xfrm>
              <a:off x="831" y="1995"/>
              <a:ext cx="299" cy="580"/>
            </a:xfrm>
            <a:custGeom>
              <a:avLst/>
              <a:gdLst>
                <a:gd name="T0" fmla="*/ 0 w 299"/>
                <a:gd name="T1" fmla="*/ 71 h 580"/>
                <a:gd name="T2" fmla="*/ 101 w 299"/>
                <a:gd name="T3" fmla="*/ 71 h 580"/>
                <a:gd name="T4" fmla="*/ 170 w 299"/>
                <a:gd name="T5" fmla="*/ 495 h 580"/>
                <a:gd name="T6" fmla="*/ 299 w 299"/>
                <a:gd name="T7" fmla="*/ 580 h 5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9"/>
                <a:gd name="T13" fmla="*/ 0 h 580"/>
                <a:gd name="T14" fmla="*/ 299 w 299"/>
                <a:gd name="T15" fmla="*/ 580 h 5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9" h="580">
                  <a:moveTo>
                    <a:pt x="0" y="71"/>
                  </a:moveTo>
                  <a:cubicBezTo>
                    <a:pt x="17" y="71"/>
                    <a:pt x="73" y="0"/>
                    <a:pt x="101" y="71"/>
                  </a:cubicBezTo>
                  <a:cubicBezTo>
                    <a:pt x="129" y="142"/>
                    <a:pt x="137" y="410"/>
                    <a:pt x="170" y="495"/>
                  </a:cubicBezTo>
                  <a:cubicBezTo>
                    <a:pt x="203" y="580"/>
                    <a:pt x="272" y="562"/>
                    <a:pt x="299" y="580"/>
                  </a:cubicBez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54" name="Freeform 22"/>
            <p:cNvSpPr/>
            <p:nvPr/>
          </p:nvSpPr>
          <p:spPr bwMode="auto">
            <a:xfrm>
              <a:off x="778" y="1676"/>
              <a:ext cx="732" cy="1"/>
            </a:xfrm>
            <a:custGeom>
              <a:avLst/>
              <a:gdLst>
                <a:gd name="T0" fmla="*/ 0 w 732"/>
                <a:gd name="T1" fmla="*/ 0 h 1"/>
                <a:gd name="T2" fmla="*/ 732 w 732"/>
                <a:gd name="T3" fmla="*/ 1 h 1"/>
                <a:gd name="T4" fmla="*/ 0 60000 65536"/>
                <a:gd name="T5" fmla="*/ 0 60000 65536"/>
                <a:gd name="T6" fmla="*/ 0 w 732"/>
                <a:gd name="T7" fmla="*/ 0 h 1"/>
                <a:gd name="T8" fmla="*/ 732 w 7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2" h="1">
                  <a:moveTo>
                    <a:pt x="0" y="0"/>
                  </a:moveTo>
                  <a:lnTo>
                    <a:pt x="732" y="1"/>
                  </a:lnTo>
                </a:path>
              </a:pathLst>
            </a:custGeom>
            <a:noFill/>
            <a:ln w="1143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6391" name="Freeform 23"/>
          <p:cNvSpPr/>
          <p:nvPr/>
        </p:nvSpPr>
        <p:spPr bwMode="auto">
          <a:xfrm>
            <a:off x="2293938" y="3505200"/>
            <a:ext cx="830262" cy="1588"/>
          </a:xfrm>
          <a:custGeom>
            <a:avLst/>
            <a:gdLst>
              <a:gd name="T0" fmla="*/ 0 w 523"/>
              <a:gd name="T1" fmla="*/ 0 h 1"/>
              <a:gd name="T2" fmla="*/ 2147483647 w 523"/>
              <a:gd name="T3" fmla="*/ 0 h 1"/>
              <a:gd name="T4" fmla="*/ 0 60000 65536"/>
              <a:gd name="T5" fmla="*/ 0 60000 65536"/>
              <a:gd name="T6" fmla="*/ 0 w 523"/>
              <a:gd name="T7" fmla="*/ 0 h 1"/>
              <a:gd name="T8" fmla="*/ 523 w 52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23" h="1">
                <a:moveTo>
                  <a:pt x="0" y="0"/>
                </a:moveTo>
                <a:lnTo>
                  <a:pt x="523" y="0"/>
                </a:lnTo>
              </a:path>
            </a:pathLst>
          </a:custGeom>
          <a:noFill/>
          <a:ln w="114300" cmpd="sng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392" name="Freeform 24"/>
          <p:cNvSpPr/>
          <p:nvPr/>
        </p:nvSpPr>
        <p:spPr bwMode="auto">
          <a:xfrm>
            <a:off x="2347913" y="2608263"/>
            <a:ext cx="3175" cy="925512"/>
          </a:xfrm>
          <a:custGeom>
            <a:avLst/>
            <a:gdLst>
              <a:gd name="T0" fmla="*/ 0 w 2"/>
              <a:gd name="T1" fmla="*/ 0 h 583"/>
              <a:gd name="T2" fmla="*/ 2147483647 w 2"/>
              <a:gd name="T3" fmla="*/ 2147483647 h 583"/>
              <a:gd name="T4" fmla="*/ 0 60000 65536"/>
              <a:gd name="T5" fmla="*/ 0 60000 65536"/>
              <a:gd name="T6" fmla="*/ 0 w 2"/>
              <a:gd name="T7" fmla="*/ 0 h 583"/>
              <a:gd name="T8" fmla="*/ 2 w 2"/>
              <a:gd name="T9" fmla="*/ 583 h 58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83">
                <a:moveTo>
                  <a:pt x="0" y="0"/>
                </a:moveTo>
                <a:lnTo>
                  <a:pt x="2" y="583"/>
                </a:lnTo>
              </a:path>
            </a:pathLst>
          </a:custGeom>
          <a:noFill/>
          <a:ln w="114300" cmpd="sng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393" name="Freeform 25"/>
          <p:cNvSpPr/>
          <p:nvPr/>
        </p:nvSpPr>
        <p:spPr bwMode="auto">
          <a:xfrm>
            <a:off x="1770063" y="3775075"/>
            <a:ext cx="1162050" cy="1588"/>
          </a:xfrm>
          <a:custGeom>
            <a:avLst/>
            <a:gdLst>
              <a:gd name="T0" fmla="*/ 0 w 732"/>
              <a:gd name="T1" fmla="*/ 0 h 1"/>
              <a:gd name="T2" fmla="*/ 2147483647 w 732"/>
              <a:gd name="T3" fmla="*/ 2147483647 h 1"/>
              <a:gd name="T4" fmla="*/ 0 60000 65536"/>
              <a:gd name="T5" fmla="*/ 0 60000 65536"/>
              <a:gd name="T6" fmla="*/ 0 w 732"/>
              <a:gd name="T7" fmla="*/ 0 h 1"/>
              <a:gd name="T8" fmla="*/ 732 w 73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2" h="1">
                <a:moveTo>
                  <a:pt x="0" y="0"/>
                </a:moveTo>
                <a:lnTo>
                  <a:pt x="732" y="1"/>
                </a:lnTo>
              </a:path>
            </a:pathLst>
          </a:custGeom>
          <a:noFill/>
          <a:ln w="114300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394" name="Freeform 26"/>
          <p:cNvSpPr/>
          <p:nvPr/>
        </p:nvSpPr>
        <p:spPr bwMode="auto">
          <a:xfrm>
            <a:off x="2874963" y="3722688"/>
            <a:ext cx="3175" cy="925512"/>
          </a:xfrm>
          <a:custGeom>
            <a:avLst/>
            <a:gdLst>
              <a:gd name="T0" fmla="*/ 0 w 2"/>
              <a:gd name="T1" fmla="*/ 0 h 583"/>
              <a:gd name="T2" fmla="*/ 2147483647 w 2"/>
              <a:gd name="T3" fmla="*/ 2147483647 h 583"/>
              <a:gd name="T4" fmla="*/ 0 60000 65536"/>
              <a:gd name="T5" fmla="*/ 0 60000 65536"/>
              <a:gd name="T6" fmla="*/ 0 w 2"/>
              <a:gd name="T7" fmla="*/ 0 h 583"/>
              <a:gd name="T8" fmla="*/ 2 w 2"/>
              <a:gd name="T9" fmla="*/ 583 h 58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83">
                <a:moveTo>
                  <a:pt x="0" y="0"/>
                </a:moveTo>
                <a:lnTo>
                  <a:pt x="2" y="583"/>
                </a:lnTo>
              </a:path>
            </a:pathLst>
          </a:custGeom>
          <a:noFill/>
          <a:ln w="114300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395" name="Freeform 27"/>
          <p:cNvSpPr/>
          <p:nvPr/>
        </p:nvSpPr>
        <p:spPr bwMode="auto">
          <a:xfrm>
            <a:off x="1820863" y="3743325"/>
            <a:ext cx="1587" cy="904875"/>
          </a:xfrm>
          <a:custGeom>
            <a:avLst/>
            <a:gdLst>
              <a:gd name="T0" fmla="*/ 0 w 1"/>
              <a:gd name="T1" fmla="*/ 0 h 570"/>
              <a:gd name="T2" fmla="*/ 0 w 1"/>
              <a:gd name="T3" fmla="*/ 2147483647 h 570"/>
              <a:gd name="T4" fmla="*/ 0 60000 65536"/>
              <a:gd name="T5" fmla="*/ 0 60000 65536"/>
              <a:gd name="T6" fmla="*/ 0 w 1"/>
              <a:gd name="T7" fmla="*/ 0 h 570"/>
              <a:gd name="T8" fmla="*/ 1 w 1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70">
                <a:moveTo>
                  <a:pt x="0" y="0"/>
                </a:moveTo>
                <a:lnTo>
                  <a:pt x="0" y="570"/>
                </a:lnTo>
              </a:path>
            </a:pathLst>
          </a:custGeom>
          <a:noFill/>
          <a:ln w="114300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6" name="Group 28"/>
          <p:cNvGrpSpPr/>
          <p:nvPr/>
        </p:nvGrpSpPr>
        <p:grpSpPr bwMode="auto">
          <a:xfrm>
            <a:off x="857250" y="3489325"/>
            <a:ext cx="990600" cy="1108075"/>
            <a:chOff x="540" y="2198"/>
            <a:chExt cx="624" cy="698"/>
          </a:xfrm>
        </p:grpSpPr>
        <p:sp>
          <p:nvSpPr>
            <p:cNvPr id="98351" name="Freeform 29"/>
            <p:cNvSpPr/>
            <p:nvPr/>
          </p:nvSpPr>
          <p:spPr bwMode="auto">
            <a:xfrm>
              <a:off x="540" y="2198"/>
              <a:ext cx="311" cy="1"/>
            </a:xfrm>
            <a:custGeom>
              <a:avLst/>
              <a:gdLst>
                <a:gd name="T0" fmla="*/ 311 w 311"/>
                <a:gd name="T1" fmla="*/ 0 h 1"/>
                <a:gd name="T2" fmla="*/ 0 w 311"/>
                <a:gd name="T3" fmla="*/ 1 h 1"/>
                <a:gd name="T4" fmla="*/ 0 60000 65536"/>
                <a:gd name="T5" fmla="*/ 0 60000 65536"/>
                <a:gd name="T6" fmla="*/ 0 w 311"/>
                <a:gd name="T7" fmla="*/ 0 h 1"/>
                <a:gd name="T8" fmla="*/ 311 w 31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1" h="1">
                  <a:moveTo>
                    <a:pt x="311" y="0"/>
                  </a:moveTo>
                  <a:lnTo>
                    <a:pt x="0" y="1"/>
                  </a:lnTo>
                </a:path>
              </a:pathLst>
            </a:custGeom>
            <a:noFill/>
            <a:ln w="1143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52" name="Line 30"/>
            <p:cNvSpPr>
              <a:spLocks noChangeShapeType="1"/>
            </p:cNvSpPr>
            <p:nvPr/>
          </p:nvSpPr>
          <p:spPr bwMode="auto">
            <a:xfrm>
              <a:off x="563" y="2896"/>
              <a:ext cx="601" cy="0"/>
            </a:xfrm>
            <a:prstGeom prst="line">
              <a:avLst/>
            </a:prstGeom>
            <a:noFill/>
            <a:ln w="1143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" name="Group 31"/>
          <p:cNvGrpSpPr/>
          <p:nvPr/>
        </p:nvGrpSpPr>
        <p:grpSpPr bwMode="auto">
          <a:xfrm>
            <a:off x="3703638" y="3498850"/>
            <a:ext cx="992187" cy="1098550"/>
            <a:chOff x="2333" y="2204"/>
            <a:chExt cx="625" cy="692"/>
          </a:xfrm>
        </p:grpSpPr>
        <p:sp>
          <p:nvSpPr>
            <p:cNvPr id="98349" name="Freeform 32"/>
            <p:cNvSpPr/>
            <p:nvPr/>
          </p:nvSpPr>
          <p:spPr bwMode="auto">
            <a:xfrm>
              <a:off x="2333" y="2204"/>
              <a:ext cx="332" cy="1"/>
            </a:xfrm>
            <a:custGeom>
              <a:avLst/>
              <a:gdLst>
                <a:gd name="T0" fmla="*/ 332 w 332"/>
                <a:gd name="T1" fmla="*/ 0 h 1"/>
                <a:gd name="T2" fmla="*/ 0 w 332"/>
                <a:gd name="T3" fmla="*/ 1 h 1"/>
                <a:gd name="T4" fmla="*/ 0 60000 65536"/>
                <a:gd name="T5" fmla="*/ 0 60000 65536"/>
                <a:gd name="T6" fmla="*/ 0 w 332"/>
                <a:gd name="T7" fmla="*/ 0 h 1"/>
                <a:gd name="T8" fmla="*/ 332 w 3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2" h="1">
                  <a:moveTo>
                    <a:pt x="332" y="0"/>
                  </a:moveTo>
                  <a:lnTo>
                    <a:pt x="0" y="1"/>
                  </a:lnTo>
                </a:path>
              </a:pathLst>
            </a:custGeom>
            <a:noFill/>
            <a:ln w="1143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50" name="Line 33"/>
            <p:cNvSpPr>
              <a:spLocks noChangeShapeType="1"/>
            </p:cNvSpPr>
            <p:nvPr/>
          </p:nvSpPr>
          <p:spPr bwMode="auto">
            <a:xfrm>
              <a:off x="2357" y="2896"/>
              <a:ext cx="601" cy="0"/>
            </a:xfrm>
            <a:prstGeom prst="line">
              <a:avLst/>
            </a:prstGeom>
            <a:noFill/>
            <a:ln w="1143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6402" name="Line 34"/>
          <p:cNvSpPr>
            <a:spLocks noChangeShapeType="1"/>
          </p:cNvSpPr>
          <p:nvPr/>
        </p:nvSpPr>
        <p:spPr bwMode="auto">
          <a:xfrm>
            <a:off x="2824163" y="4597400"/>
            <a:ext cx="539750" cy="0"/>
          </a:xfrm>
          <a:prstGeom prst="line">
            <a:avLst/>
          </a:prstGeom>
          <a:noFill/>
          <a:ln w="1143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403" name="Freeform 35"/>
          <p:cNvSpPr/>
          <p:nvPr/>
        </p:nvSpPr>
        <p:spPr bwMode="auto">
          <a:xfrm>
            <a:off x="4584700" y="3775075"/>
            <a:ext cx="1162050" cy="1588"/>
          </a:xfrm>
          <a:custGeom>
            <a:avLst/>
            <a:gdLst>
              <a:gd name="T0" fmla="*/ 0 w 732"/>
              <a:gd name="T1" fmla="*/ 0 h 1"/>
              <a:gd name="T2" fmla="*/ 2147483647 w 732"/>
              <a:gd name="T3" fmla="*/ 2147483647 h 1"/>
              <a:gd name="T4" fmla="*/ 0 60000 65536"/>
              <a:gd name="T5" fmla="*/ 0 60000 65536"/>
              <a:gd name="T6" fmla="*/ 0 w 732"/>
              <a:gd name="T7" fmla="*/ 0 h 1"/>
              <a:gd name="T8" fmla="*/ 732 w 73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2" h="1">
                <a:moveTo>
                  <a:pt x="0" y="0"/>
                </a:moveTo>
                <a:lnTo>
                  <a:pt x="732" y="1"/>
                </a:lnTo>
              </a:path>
            </a:pathLst>
          </a:custGeom>
          <a:noFill/>
          <a:ln w="114300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404" name="Freeform 36"/>
          <p:cNvSpPr/>
          <p:nvPr/>
        </p:nvSpPr>
        <p:spPr bwMode="auto">
          <a:xfrm>
            <a:off x="5694363" y="3722688"/>
            <a:ext cx="3175" cy="925512"/>
          </a:xfrm>
          <a:custGeom>
            <a:avLst/>
            <a:gdLst>
              <a:gd name="T0" fmla="*/ 0 w 2"/>
              <a:gd name="T1" fmla="*/ 0 h 583"/>
              <a:gd name="T2" fmla="*/ 2147483647 w 2"/>
              <a:gd name="T3" fmla="*/ 2147483647 h 583"/>
              <a:gd name="T4" fmla="*/ 0 60000 65536"/>
              <a:gd name="T5" fmla="*/ 0 60000 65536"/>
              <a:gd name="T6" fmla="*/ 0 w 2"/>
              <a:gd name="T7" fmla="*/ 0 h 583"/>
              <a:gd name="T8" fmla="*/ 2 w 2"/>
              <a:gd name="T9" fmla="*/ 583 h 58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83">
                <a:moveTo>
                  <a:pt x="0" y="0"/>
                </a:moveTo>
                <a:lnTo>
                  <a:pt x="2" y="583"/>
                </a:lnTo>
              </a:path>
            </a:pathLst>
          </a:custGeom>
          <a:noFill/>
          <a:ln w="114300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405" name="Freeform 37"/>
          <p:cNvSpPr/>
          <p:nvPr/>
        </p:nvSpPr>
        <p:spPr bwMode="auto">
          <a:xfrm>
            <a:off x="4640263" y="3733800"/>
            <a:ext cx="1587" cy="904875"/>
          </a:xfrm>
          <a:custGeom>
            <a:avLst/>
            <a:gdLst>
              <a:gd name="T0" fmla="*/ 0 w 1"/>
              <a:gd name="T1" fmla="*/ 0 h 570"/>
              <a:gd name="T2" fmla="*/ 0 w 1"/>
              <a:gd name="T3" fmla="*/ 2147483647 h 570"/>
              <a:gd name="T4" fmla="*/ 0 60000 65536"/>
              <a:gd name="T5" fmla="*/ 0 60000 65536"/>
              <a:gd name="T6" fmla="*/ 0 w 1"/>
              <a:gd name="T7" fmla="*/ 0 h 570"/>
              <a:gd name="T8" fmla="*/ 1 w 1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70">
                <a:moveTo>
                  <a:pt x="0" y="0"/>
                </a:moveTo>
                <a:lnTo>
                  <a:pt x="0" y="570"/>
                </a:lnTo>
              </a:path>
            </a:pathLst>
          </a:custGeom>
          <a:noFill/>
          <a:ln w="114300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406" name="Line 38"/>
          <p:cNvSpPr>
            <a:spLocks noChangeShapeType="1"/>
          </p:cNvSpPr>
          <p:nvPr/>
        </p:nvSpPr>
        <p:spPr bwMode="auto">
          <a:xfrm>
            <a:off x="5645150" y="4597400"/>
            <a:ext cx="539750" cy="0"/>
          </a:xfrm>
          <a:prstGeom prst="line">
            <a:avLst/>
          </a:prstGeom>
          <a:noFill/>
          <a:ln w="1143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407" name="Freeform 39"/>
          <p:cNvSpPr/>
          <p:nvPr/>
        </p:nvSpPr>
        <p:spPr bwMode="auto">
          <a:xfrm>
            <a:off x="6908800" y="2643188"/>
            <a:ext cx="1588" cy="904875"/>
          </a:xfrm>
          <a:custGeom>
            <a:avLst/>
            <a:gdLst>
              <a:gd name="T0" fmla="*/ 0 w 1"/>
              <a:gd name="T1" fmla="*/ 0 h 570"/>
              <a:gd name="T2" fmla="*/ 0 w 1"/>
              <a:gd name="T3" fmla="*/ 2147483647 h 570"/>
              <a:gd name="T4" fmla="*/ 0 60000 65536"/>
              <a:gd name="T5" fmla="*/ 0 60000 65536"/>
              <a:gd name="T6" fmla="*/ 0 w 1"/>
              <a:gd name="T7" fmla="*/ 0 h 570"/>
              <a:gd name="T8" fmla="*/ 1 w 1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70">
                <a:moveTo>
                  <a:pt x="0" y="0"/>
                </a:moveTo>
                <a:lnTo>
                  <a:pt x="0" y="570"/>
                </a:lnTo>
              </a:path>
            </a:pathLst>
          </a:custGeom>
          <a:noFill/>
          <a:ln w="114300" cmpd="sng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8" name="Group 40"/>
          <p:cNvGrpSpPr/>
          <p:nvPr/>
        </p:nvGrpSpPr>
        <p:grpSpPr bwMode="auto">
          <a:xfrm>
            <a:off x="6851650" y="2660650"/>
            <a:ext cx="1162050" cy="1427163"/>
            <a:chOff x="4314" y="1676"/>
            <a:chExt cx="732" cy="899"/>
          </a:xfrm>
        </p:grpSpPr>
        <p:sp>
          <p:nvSpPr>
            <p:cNvPr id="98347" name="Freeform 41"/>
            <p:cNvSpPr/>
            <p:nvPr/>
          </p:nvSpPr>
          <p:spPr bwMode="auto">
            <a:xfrm>
              <a:off x="4379" y="1995"/>
              <a:ext cx="299" cy="580"/>
            </a:xfrm>
            <a:custGeom>
              <a:avLst/>
              <a:gdLst>
                <a:gd name="T0" fmla="*/ 0 w 299"/>
                <a:gd name="T1" fmla="*/ 71 h 580"/>
                <a:gd name="T2" fmla="*/ 101 w 299"/>
                <a:gd name="T3" fmla="*/ 71 h 580"/>
                <a:gd name="T4" fmla="*/ 170 w 299"/>
                <a:gd name="T5" fmla="*/ 495 h 580"/>
                <a:gd name="T6" fmla="*/ 299 w 299"/>
                <a:gd name="T7" fmla="*/ 580 h 5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9"/>
                <a:gd name="T13" fmla="*/ 0 h 580"/>
                <a:gd name="T14" fmla="*/ 299 w 299"/>
                <a:gd name="T15" fmla="*/ 580 h 5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9" h="580">
                  <a:moveTo>
                    <a:pt x="0" y="71"/>
                  </a:moveTo>
                  <a:cubicBezTo>
                    <a:pt x="17" y="71"/>
                    <a:pt x="73" y="0"/>
                    <a:pt x="101" y="71"/>
                  </a:cubicBezTo>
                  <a:cubicBezTo>
                    <a:pt x="129" y="142"/>
                    <a:pt x="137" y="410"/>
                    <a:pt x="170" y="495"/>
                  </a:cubicBezTo>
                  <a:cubicBezTo>
                    <a:pt x="203" y="580"/>
                    <a:pt x="272" y="562"/>
                    <a:pt x="299" y="580"/>
                  </a:cubicBez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48" name="Freeform 42"/>
            <p:cNvSpPr/>
            <p:nvPr/>
          </p:nvSpPr>
          <p:spPr bwMode="auto">
            <a:xfrm>
              <a:off x="4314" y="1676"/>
              <a:ext cx="732" cy="1"/>
            </a:xfrm>
            <a:custGeom>
              <a:avLst/>
              <a:gdLst>
                <a:gd name="T0" fmla="*/ 0 w 732"/>
                <a:gd name="T1" fmla="*/ 0 h 1"/>
                <a:gd name="T2" fmla="*/ 732 w 732"/>
                <a:gd name="T3" fmla="*/ 1 h 1"/>
                <a:gd name="T4" fmla="*/ 0 60000 65536"/>
                <a:gd name="T5" fmla="*/ 0 60000 65536"/>
                <a:gd name="T6" fmla="*/ 0 w 732"/>
                <a:gd name="T7" fmla="*/ 0 h 1"/>
                <a:gd name="T8" fmla="*/ 732 w 7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2" h="1">
                  <a:moveTo>
                    <a:pt x="0" y="0"/>
                  </a:moveTo>
                  <a:lnTo>
                    <a:pt x="732" y="1"/>
                  </a:lnTo>
                </a:path>
              </a:pathLst>
            </a:custGeom>
            <a:noFill/>
            <a:ln w="1143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6411" name="Freeform 43"/>
          <p:cNvSpPr/>
          <p:nvPr/>
        </p:nvSpPr>
        <p:spPr bwMode="auto">
          <a:xfrm>
            <a:off x="7980363" y="2608263"/>
            <a:ext cx="3175" cy="925512"/>
          </a:xfrm>
          <a:custGeom>
            <a:avLst/>
            <a:gdLst>
              <a:gd name="T0" fmla="*/ 0 w 2"/>
              <a:gd name="T1" fmla="*/ 0 h 583"/>
              <a:gd name="T2" fmla="*/ 2147483647 w 2"/>
              <a:gd name="T3" fmla="*/ 2147483647 h 583"/>
              <a:gd name="T4" fmla="*/ 0 60000 65536"/>
              <a:gd name="T5" fmla="*/ 0 60000 65536"/>
              <a:gd name="T6" fmla="*/ 0 w 2"/>
              <a:gd name="T7" fmla="*/ 0 h 583"/>
              <a:gd name="T8" fmla="*/ 2 w 2"/>
              <a:gd name="T9" fmla="*/ 583 h 58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83">
                <a:moveTo>
                  <a:pt x="0" y="0"/>
                </a:moveTo>
                <a:lnTo>
                  <a:pt x="2" y="583"/>
                </a:lnTo>
              </a:path>
            </a:pathLst>
          </a:custGeom>
          <a:noFill/>
          <a:ln w="114300" cmpd="sng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412" name="Freeform 44"/>
          <p:cNvSpPr/>
          <p:nvPr/>
        </p:nvSpPr>
        <p:spPr bwMode="auto">
          <a:xfrm>
            <a:off x="7391400" y="3775075"/>
            <a:ext cx="1162050" cy="1588"/>
          </a:xfrm>
          <a:custGeom>
            <a:avLst/>
            <a:gdLst>
              <a:gd name="T0" fmla="*/ 0 w 732"/>
              <a:gd name="T1" fmla="*/ 0 h 1"/>
              <a:gd name="T2" fmla="*/ 2147483647 w 732"/>
              <a:gd name="T3" fmla="*/ 2147483647 h 1"/>
              <a:gd name="T4" fmla="*/ 0 60000 65536"/>
              <a:gd name="T5" fmla="*/ 0 60000 65536"/>
              <a:gd name="T6" fmla="*/ 0 w 732"/>
              <a:gd name="T7" fmla="*/ 0 h 1"/>
              <a:gd name="T8" fmla="*/ 732 w 73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2" h="1">
                <a:moveTo>
                  <a:pt x="0" y="0"/>
                </a:moveTo>
                <a:lnTo>
                  <a:pt x="732" y="1"/>
                </a:lnTo>
              </a:path>
            </a:pathLst>
          </a:custGeom>
          <a:noFill/>
          <a:ln w="114300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413" name="Freeform 45"/>
          <p:cNvSpPr/>
          <p:nvPr/>
        </p:nvSpPr>
        <p:spPr bwMode="auto">
          <a:xfrm>
            <a:off x="8513763" y="3722688"/>
            <a:ext cx="3175" cy="925512"/>
          </a:xfrm>
          <a:custGeom>
            <a:avLst/>
            <a:gdLst>
              <a:gd name="T0" fmla="*/ 0 w 2"/>
              <a:gd name="T1" fmla="*/ 0 h 583"/>
              <a:gd name="T2" fmla="*/ 2147483647 w 2"/>
              <a:gd name="T3" fmla="*/ 2147483647 h 583"/>
              <a:gd name="T4" fmla="*/ 0 60000 65536"/>
              <a:gd name="T5" fmla="*/ 0 60000 65536"/>
              <a:gd name="T6" fmla="*/ 0 w 2"/>
              <a:gd name="T7" fmla="*/ 0 h 583"/>
              <a:gd name="T8" fmla="*/ 2 w 2"/>
              <a:gd name="T9" fmla="*/ 583 h 58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583">
                <a:moveTo>
                  <a:pt x="0" y="0"/>
                </a:moveTo>
                <a:lnTo>
                  <a:pt x="2" y="583"/>
                </a:lnTo>
              </a:path>
            </a:pathLst>
          </a:custGeom>
          <a:noFill/>
          <a:ln w="114300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414" name="Freeform 46"/>
          <p:cNvSpPr/>
          <p:nvPr/>
        </p:nvSpPr>
        <p:spPr bwMode="auto">
          <a:xfrm>
            <a:off x="7442200" y="3743325"/>
            <a:ext cx="1588" cy="904875"/>
          </a:xfrm>
          <a:custGeom>
            <a:avLst/>
            <a:gdLst>
              <a:gd name="T0" fmla="*/ 0 w 1"/>
              <a:gd name="T1" fmla="*/ 0 h 570"/>
              <a:gd name="T2" fmla="*/ 0 w 1"/>
              <a:gd name="T3" fmla="*/ 2147483647 h 570"/>
              <a:gd name="T4" fmla="*/ 0 60000 65536"/>
              <a:gd name="T5" fmla="*/ 0 60000 65536"/>
              <a:gd name="T6" fmla="*/ 0 w 1"/>
              <a:gd name="T7" fmla="*/ 0 h 570"/>
              <a:gd name="T8" fmla="*/ 1 w 1"/>
              <a:gd name="T9" fmla="*/ 570 h 5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70">
                <a:moveTo>
                  <a:pt x="0" y="0"/>
                </a:moveTo>
                <a:lnTo>
                  <a:pt x="0" y="570"/>
                </a:lnTo>
              </a:path>
            </a:pathLst>
          </a:custGeom>
          <a:noFill/>
          <a:ln w="114300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9" name="Group 47"/>
          <p:cNvGrpSpPr/>
          <p:nvPr/>
        </p:nvGrpSpPr>
        <p:grpSpPr bwMode="auto">
          <a:xfrm>
            <a:off x="6470650" y="3489325"/>
            <a:ext cx="996950" cy="1108075"/>
            <a:chOff x="4076" y="2198"/>
            <a:chExt cx="628" cy="698"/>
          </a:xfrm>
        </p:grpSpPr>
        <p:sp>
          <p:nvSpPr>
            <p:cNvPr id="98345" name="Freeform 48"/>
            <p:cNvSpPr/>
            <p:nvPr/>
          </p:nvSpPr>
          <p:spPr bwMode="auto">
            <a:xfrm>
              <a:off x="4076" y="2198"/>
              <a:ext cx="311" cy="1"/>
            </a:xfrm>
            <a:custGeom>
              <a:avLst/>
              <a:gdLst>
                <a:gd name="T0" fmla="*/ 311 w 311"/>
                <a:gd name="T1" fmla="*/ 0 h 1"/>
                <a:gd name="T2" fmla="*/ 0 w 311"/>
                <a:gd name="T3" fmla="*/ 1 h 1"/>
                <a:gd name="T4" fmla="*/ 0 60000 65536"/>
                <a:gd name="T5" fmla="*/ 0 60000 65536"/>
                <a:gd name="T6" fmla="*/ 0 w 311"/>
                <a:gd name="T7" fmla="*/ 0 h 1"/>
                <a:gd name="T8" fmla="*/ 311 w 31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1" h="1">
                  <a:moveTo>
                    <a:pt x="311" y="0"/>
                  </a:moveTo>
                  <a:lnTo>
                    <a:pt x="0" y="1"/>
                  </a:lnTo>
                </a:path>
              </a:pathLst>
            </a:custGeom>
            <a:noFill/>
            <a:ln w="114300" cmpd="sng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46" name="Line 49"/>
            <p:cNvSpPr>
              <a:spLocks noChangeShapeType="1"/>
            </p:cNvSpPr>
            <p:nvPr/>
          </p:nvSpPr>
          <p:spPr bwMode="auto">
            <a:xfrm>
              <a:off x="4103" y="2896"/>
              <a:ext cx="601" cy="0"/>
            </a:xfrm>
            <a:prstGeom prst="line">
              <a:avLst/>
            </a:prstGeom>
            <a:noFill/>
            <a:ln w="1143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6418" name="Line 50"/>
          <p:cNvSpPr>
            <a:spLocks noChangeShapeType="1"/>
          </p:cNvSpPr>
          <p:nvPr/>
        </p:nvSpPr>
        <p:spPr bwMode="auto">
          <a:xfrm>
            <a:off x="8462963" y="4597400"/>
            <a:ext cx="539750" cy="0"/>
          </a:xfrm>
          <a:prstGeom prst="line">
            <a:avLst/>
          </a:prstGeom>
          <a:noFill/>
          <a:ln w="1143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6419" name="Freeform 51"/>
          <p:cNvSpPr/>
          <p:nvPr/>
        </p:nvSpPr>
        <p:spPr bwMode="auto">
          <a:xfrm>
            <a:off x="7493000" y="2898775"/>
            <a:ext cx="508000" cy="1365250"/>
          </a:xfrm>
          <a:custGeom>
            <a:avLst/>
            <a:gdLst>
              <a:gd name="T0" fmla="*/ 0 w 320"/>
              <a:gd name="T1" fmla="*/ 2147483647 h 860"/>
              <a:gd name="T2" fmla="*/ 2147483647 w 320"/>
              <a:gd name="T3" fmla="*/ 2147483647 h 860"/>
              <a:gd name="T4" fmla="*/ 2147483647 w 320"/>
              <a:gd name="T5" fmla="*/ 2147483647 h 860"/>
              <a:gd name="T6" fmla="*/ 2147483647 w 320"/>
              <a:gd name="T7" fmla="*/ 2147483647 h 860"/>
              <a:gd name="T8" fmla="*/ 0 60000 65536"/>
              <a:gd name="T9" fmla="*/ 0 60000 65536"/>
              <a:gd name="T10" fmla="*/ 0 60000 65536"/>
              <a:gd name="T11" fmla="*/ 0 60000 65536"/>
              <a:gd name="T12" fmla="*/ 0 w 320"/>
              <a:gd name="T13" fmla="*/ 0 h 860"/>
              <a:gd name="T14" fmla="*/ 320 w 320"/>
              <a:gd name="T15" fmla="*/ 860 h 8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0" h="860">
                <a:moveTo>
                  <a:pt x="0" y="754"/>
                </a:moveTo>
                <a:cubicBezTo>
                  <a:pt x="16" y="754"/>
                  <a:pt x="53" y="860"/>
                  <a:pt x="91" y="752"/>
                </a:cubicBezTo>
                <a:cubicBezTo>
                  <a:pt x="129" y="644"/>
                  <a:pt x="192" y="212"/>
                  <a:pt x="230" y="106"/>
                </a:cubicBezTo>
                <a:cubicBezTo>
                  <a:pt x="268" y="0"/>
                  <a:pt x="301" y="112"/>
                  <a:pt x="320" y="114"/>
                </a:cubicBezTo>
              </a:path>
            </a:pathLst>
          </a:custGeom>
          <a:noFill/>
          <a:ln w="57150" cmpd="sng">
            <a:solidFill>
              <a:schemeClr val="folHlink"/>
            </a:solidFill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" name="Group 52"/>
          <p:cNvGrpSpPr/>
          <p:nvPr/>
        </p:nvGrpSpPr>
        <p:grpSpPr bwMode="auto">
          <a:xfrm>
            <a:off x="8012113" y="2997200"/>
            <a:ext cx="827087" cy="1193800"/>
            <a:chOff x="4960" y="1888"/>
            <a:chExt cx="521" cy="752"/>
          </a:xfrm>
        </p:grpSpPr>
        <p:sp>
          <p:nvSpPr>
            <p:cNvPr id="98343" name="Freeform 53"/>
            <p:cNvSpPr/>
            <p:nvPr/>
          </p:nvSpPr>
          <p:spPr bwMode="auto">
            <a:xfrm>
              <a:off x="4960" y="2188"/>
              <a:ext cx="521" cy="2"/>
            </a:xfrm>
            <a:custGeom>
              <a:avLst/>
              <a:gdLst>
                <a:gd name="T0" fmla="*/ 0 w 521"/>
                <a:gd name="T1" fmla="*/ 2 h 2"/>
                <a:gd name="T2" fmla="*/ 521 w 521"/>
                <a:gd name="T3" fmla="*/ 0 h 2"/>
                <a:gd name="T4" fmla="*/ 0 60000 65536"/>
                <a:gd name="T5" fmla="*/ 0 60000 65536"/>
                <a:gd name="T6" fmla="*/ 0 w 521"/>
                <a:gd name="T7" fmla="*/ 0 h 2"/>
                <a:gd name="T8" fmla="*/ 521 w 521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1" h="2">
                  <a:moveTo>
                    <a:pt x="0" y="2"/>
                  </a:moveTo>
                  <a:lnTo>
                    <a:pt x="521" y="0"/>
                  </a:lnTo>
                </a:path>
              </a:pathLst>
            </a:custGeom>
            <a:noFill/>
            <a:ln w="1143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344" name="Freeform 54"/>
            <p:cNvSpPr/>
            <p:nvPr/>
          </p:nvSpPr>
          <p:spPr bwMode="auto">
            <a:xfrm>
              <a:off x="4976" y="1888"/>
              <a:ext cx="313" cy="752"/>
            </a:xfrm>
            <a:custGeom>
              <a:avLst/>
              <a:gdLst>
                <a:gd name="T0" fmla="*/ 0 w 313"/>
                <a:gd name="T1" fmla="*/ 111 h 752"/>
                <a:gd name="T2" fmla="*/ 118 w 313"/>
                <a:gd name="T3" fmla="*/ 89 h 752"/>
                <a:gd name="T4" fmla="*/ 180 w 313"/>
                <a:gd name="T5" fmla="*/ 645 h 752"/>
                <a:gd name="T6" fmla="*/ 294 w 313"/>
                <a:gd name="T7" fmla="*/ 729 h 752"/>
                <a:gd name="T8" fmla="*/ 295 w 313"/>
                <a:gd name="T9" fmla="*/ 750 h 7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3"/>
                <a:gd name="T16" fmla="*/ 0 h 752"/>
                <a:gd name="T17" fmla="*/ 313 w 313"/>
                <a:gd name="T18" fmla="*/ 752 h 7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3" h="752">
                  <a:moveTo>
                    <a:pt x="0" y="111"/>
                  </a:moveTo>
                  <a:cubicBezTo>
                    <a:pt x="19" y="107"/>
                    <a:pt x="88" y="0"/>
                    <a:pt x="118" y="89"/>
                  </a:cubicBezTo>
                  <a:cubicBezTo>
                    <a:pt x="148" y="178"/>
                    <a:pt x="151" y="538"/>
                    <a:pt x="180" y="645"/>
                  </a:cubicBezTo>
                  <a:cubicBezTo>
                    <a:pt x="209" y="752"/>
                    <a:pt x="275" y="711"/>
                    <a:pt x="294" y="729"/>
                  </a:cubicBezTo>
                  <a:cubicBezTo>
                    <a:pt x="313" y="747"/>
                    <a:pt x="295" y="746"/>
                    <a:pt x="295" y="750"/>
                  </a:cubicBez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6423" name="Freeform 55"/>
          <p:cNvSpPr/>
          <p:nvPr/>
        </p:nvSpPr>
        <p:spPr bwMode="auto">
          <a:xfrm>
            <a:off x="4692650" y="2895600"/>
            <a:ext cx="550863" cy="1301750"/>
          </a:xfrm>
          <a:custGeom>
            <a:avLst/>
            <a:gdLst>
              <a:gd name="T0" fmla="*/ 0 w 347"/>
              <a:gd name="T1" fmla="*/ 2147483647 h 820"/>
              <a:gd name="T2" fmla="*/ 2147483647 w 347"/>
              <a:gd name="T3" fmla="*/ 2147483647 h 820"/>
              <a:gd name="T4" fmla="*/ 2147483647 w 347"/>
              <a:gd name="T5" fmla="*/ 2147483647 h 820"/>
              <a:gd name="T6" fmla="*/ 2147483647 w 347"/>
              <a:gd name="T7" fmla="*/ 2147483647 h 820"/>
              <a:gd name="T8" fmla="*/ 0 60000 65536"/>
              <a:gd name="T9" fmla="*/ 0 60000 65536"/>
              <a:gd name="T10" fmla="*/ 0 60000 65536"/>
              <a:gd name="T11" fmla="*/ 0 60000 65536"/>
              <a:gd name="T12" fmla="*/ 0 w 347"/>
              <a:gd name="T13" fmla="*/ 0 h 820"/>
              <a:gd name="T14" fmla="*/ 347 w 347"/>
              <a:gd name="T15" fmla="*/ 820 h 8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7" h="820">
                <a:moveTo>
                  <a:pt x="0" y="740"/>
                </a:moveTo>
                <a:cubicBezTo>
                  <a:pt x="16" y="736"/>
                  <a:pt x="55" y="820"/>
                  <a:pt x="91" y="714"/>
                </a:cubicBezTo>
                <a:cubicBezTo>
                  <a:pt x="127" y="608"/>
                  <a:pt x="176" y="204"/>
                  <a:pt x="219" y="102"/>
                </a:cubicBezTo>
                <a:cubicBezTo>
                  <a:pt x="262" y="0"/>
                  <a:pt x="326" y="102"/>
                  <a:pt x="347" y="102"/>
                </a:cubicBezTo>
              </a:path>
            </a:pathLst>
          </a:custGeom>
          <a:noFill/>
          <a:ln w="57150" cmpd="sng">
            <a:solidFill>
              <a:schemeClr val="folHlink"/>
            </a:solidFill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8342" name="AutoShape 57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6" dur="500"/>
                                        <p:tgtEl>
                                          <p:spTgt spid="18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5" dur="500"/>
                                        <p:tgtEl>
                                          <p:spTgt spid="18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18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8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8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8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8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9" dur="500"/>
                                        <p:tgtEl>
                                          <p:spTgt spid="18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8" dur="500"/>
                                        <p:tgtEl>
                                          <p:spTgt spid="18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3" dur="500"/>
                                        <p:tgtEl>
                                          <p:spTgt spid="18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18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18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18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18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3" dur="500"/>
                                        <p:tgtEl>
                                          <p:spTgt spid="18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7" dur="500"/>
                                        <p:tgtEl>
                                          <p:spTgt spid="1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6" dur="500"/>
                                        <p:tgtEl>
                                          <p:spTgt spid="18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1" dur="500"/>
                                        <p:tgtEl>
                                          <p:spTgt spid="18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5" dur="500"/>
                                        <p:tgtEl>
                                          <p:spTgt spid="18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9" dur="500"/>
                                        <p:tgtEl>
                                          <p:spTgt spid="18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8" dur="500"/>
                                        <p:tgtEl>
                                          <p:spTgt spid="18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2" dur="500"/>
                                        <p:tgtEl>
                                          <p:spTgt spid="18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 autoUpdateAnimBg="0"/>
      <p:bldP spid="186371" grpId="0" autoUpdateAnimBg="0"/>
      <p:bldP spid="186372" grpId="0" autoUpdateAnimBg="0"/>
      <p:bldP spid="186381" grpId="0" animBg="1"/>
      <p:bldP spid="186382" grpId="0" animBg="1"/>
      <p:bldP spid="186386" grpId="0" animBg="1"/>
      <p:bldP spid="186387" grpId="0" animBg="1"/>
      <p:bldP spid="186391" grpId="0" animBg="1"/>
      <p:bldP spid="186392" grpId="0" animBg="1"/>
      <p:bldP spid="186393" grpId="0" animBg="1"/>
      <p:bldP spid="186394" grpId="0" animBg="1"/>
      <p:bldP spid="186395" grpId="0" animBg="1"/>
      <p:bldP spid="186402" grpId="0" animBg="1"/>
      <p:bldP spid="186403" grpId="0" animBg="1"/>
      <p:bldP spid="186404" grpId="0" animBg="1"/>
      <p:bldP spid="186405" grpId="0" animBg="1"/>
      <p:bldP spid="186406" grpId="0" animBg="1"/>
      <p:bldP spid="186407" grpId="0" animBg="1"/>
      <p:bldP spid="186411" grpId="0" animBg="1"/>
      <p:bldP spid="186412" grpId="0" animBg="1"/>
      <p:bldP spid="186413" grpId="0" animBg="1"/>
      <p:bldP spid="186414" grpId="0" animBg="1"/>
      <p:bldP spid="186418" grpId="0" animBg="1"/>
      <p:bldP spid="186419" grpId="0" animBg="1"/>
      <p:bldP spid="1864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91" y="1268760"/>
            <a:ext cx="8234173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514291" y="207407"/>
            <a:ext cx="4390861" cy="783193"/>
          </a:xfrm>
          <a:prstGeom prst="wedgeRoundRectCallout">
            <a:avLst>
              <a:gd name="adj1" fmla="val -7551"/>
              <a:gd name="adj2" fmla="val 269474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发地址信号及状态信号到总线</a:t>
            </a:r>
            <a:endParaRPr lang="en-US" altLang="zh-CN" sz="2000" dirty="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信号稳定后发出读命令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235580" y="3140968"/>
            <a:ext cx="4390861" cy="783193"/>
          </a:xfrm>
          <a:prstGeom prst="wedgeRoundRectCallout">
            <a:avLst>
              <a:gd name="adj1" fmla="val 46000"/>
              <a:gd name="adj2" fmla="val 217584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存储器收到读命令，将数据放到数据总线，待数据稳定后发确认信号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6372200" y="2636912"/>
            <a:ext cx="2408110" cy="1464231"/>
          </a:xfrm>
          <a:prstGeom prst="wedgeRoundRectCallout">
            <a:avLst>
              <a:gd name="adj1" fmla="val -23998"/>
              <a:gd name="adj2" fmla="val 139868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读取完成，撤销读信号，这会引起存储器撤除数据及确认信号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  <p:bldP spid="7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52" y="1268760"/>
            <a:ext cx="8521431" cy="5084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304800" y="423863"/>
            <a:ext cx="7391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(4) 半同步通信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838200" y="1676400"/>
            <a:ext cx="8229600" cy="1479550"/>
            <a:chOff x="672" y="1257"/>
            <a:chExt cx="5184" cy="932"/>
          </a:xfrm>
        </p:grpSpPr>
        <p:sp>
          <p:nvSpPr>
            <p:cNvPr id="99340" name="Text Box 4"/>
            <p:cNvSpPr txBox="1">
              <a:spLocks noChangeArrowheads="1"/>
            </p:cNvSpPr>
            <p:nvPr/>
          </p:nvSpPr>
          <p:spPr bwMode="auto">
            <a:xfrm>
              <a:off x="672" y="1257"/>
              <a:ext cx="470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同步  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发送方</a:t>
              </a:r>
              <a:r>
                <a:rPr lang="zh-CN" altLang="en-US" sz="2800">
                  <a:latin typeface="Times New Roman" panose="02020603050405020304" pitchFamily="18" charset="0"/>
                </a:rPr>
                <a:t> 用系统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时钟前沿 </a:t>
              </a:r>
              <a:r>
                <a:rPr lang="zh-CN" altLang="en-US" sz="2800">
                  <a:latin typeface="Times New Roman" panose="02020603050405020304" pitchFamily="18" charset="0"/>
                </a:rPr>
                <a:t>发信号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99341" name="Text Box 5"/>
            <p:cNvSpPr txBox="1">
              <a:spLocks noChangeArrowheads="1"/>
            </p:cNvSpPr>
            <p:nvPr/>
          </p:nvSpPr>
          <p:spPr bwMode="auto">
            <a:xfrm>
              <a:off x="1344" y="1824"/>
              <a:ext cx="451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接收方 </a:t>
              </a:r>
              <a:r>
                <a:rPr lang="zh-CN" altLang="en-US" sz="2800">
                  <a:latin typeface="Times New Roman" panose="02020603050405020304" pitchFamily="18" charset="0"/>
                </a:rPr>
                <a:t>用系统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时钟后沿 </a:t>
              </a:r>
              <a:r>
                <a:rPr lang="zh-CN" altLang="en-US" sz="2800">
                  <a:latin typeface="Times New Roman" panose="02020603050405020304" pitchFamily="18" charset="0"/>
                </a:rPr>
                <a:t>判断、识别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87398" name="Rectangle 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87399" name="Text Box 7"/>
          <p:cNvSpPr txBox="1">
            <a:spLocks noChangeArrowheads="1"/>
          </p:cNvSpPr>
          <p:nvPr/>
        </p:nvSpPr>
        <p:spPr bwMode="auto">
          <a:xfrm>
            <a:off x="3124200" y="423863"/>
            <a:ext cx="47609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（</a:t>
            </a:r>
            <a:r>
              <a:rPr lang="zh-CN" altLang="en-US" sz="3600">
                <a:solidFill>
                  <a:schemeClr val="folHlink"/>
                </a:solidFill>
                <a:latin typeface="Times New Roman" panose="02020603050405020304" pitchFamily="18" charset="0"/>
              </a:rPr>
              <a:t>同步</a:t>
            </a:r>
            <a:r>
              <a:rPr lang="zh-CN" altLang="en-US" sz="3600">
                <a:latin typeface="Times New Roman" panose="02020603050405020304" pitchFamily="18" charset="0"/>
              </a:rPr>
              <a:t>、</a:t>
            </a:r>
            <a:r>
              <a:rPr lang="zh-CN" altLang="en-US" sz="3600">
                <a:solidFill>
                  <a:schemeClr val="folHlink"/>
                </a:solidFill>
                <a:latin typeface="Times New Roman" panose="02020603050405020304" pitchFamily="18" charset="0"/>
              </a:rPr>
              <a:t>异步 </a:t>
            </a:r>
            <a:r>
              <a:rPr lang="zh-CN" altLang="en-US" sz="3600">
                <a:latin typeface="Times New Roman" panose="02020603050405020304" pitchFamily="18" charset="0"/>
              </a:rPr>
              <a:t>结合）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3" name="Group 8"/>
          <p:cNvGrpSpPr/>
          <p:nvPr/>
        </p:nvGrpSpPr>
        <p:grpSpPr bwMode="auto">
          <a:xfrm>
            <a:off x="838200" y="3795713"/>
            <a:ext cx="8229600" cy="1508125"/>
            <a:chOff x="528" y="2391"/>
            <a:chExt cx="5184" cy="950"/>
          </a:xfrm>
        </p:grpSpPr>
        <p:sp>
          <p:nvSpPr>
            <p:cNvPr id="99336" name="Text Box 9"/>
            <p:cNvSpPr txBox="1">
              <a:spLocks noChangeArrowheads="1"/>
            </p:cNvSpPr>
            <p:nvPr/>
          </p:nvSpPr>
          <p:spPr bwMode="auto">
            <a:xfrm>
              <a:off x="528" y="2391"/>
              <a:ext cx="46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异步   </a:t>
              </a:r>
              <a:r>
                <a:rPr lang="zh-CN" altLang="en-US" sz="2800">
                  <a:latin typeface="Times New Roman" panose="02020603050405020304" pitchFamily="18" charset="0"/>
                </a:rPr>
                <a:t>允许不同速度的模块和谐工作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99337" name="Text Box 10"/>
            <p:cNvSpPr txBox="1">
              <a:spLocks noChangeArrowheads="1"/>
            </p:cNvSpPr>
            <p:nvPr/>
          </p:nvSpPr>
          <p:spPr bwMode="auto">
            <a:xfrm>
              <a:off x="1200" y="2967"/>
              <a:ext cx="451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2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增加一条 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“等待”响应信号</a:t>
              </a:r>
              <a:r>
                <a:rPr lang="zh-CN" altLang="en-US" sz="2800">
                  <a:latin typeface="Times New Roman" panose="02020603050405020304" pitchFamily="18" charset="0"/>
                </a:rPr>
                <a:t>             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9338" name="Text Box 11"/>
            <p:cNvSpPr txBox="1">
              <a:spLocks noChangeArrowheads="1"/>
            </p:cNvSpPr>
            <p:nvPr/>
          </p:nvSpPr>
          <p:spPr bwMode="auto">
            <a:xfrm>
              <a:off x="3936" y="2976"/>
              <a:ext cx="106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sz="3200">
                  <a:latin typeface="Times New Roman" panose="02020603050405020304" pitchFamily="18" charset="0"/>
                </a:rPr>
                <a:t>WAIT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99339" name="Line 12"/>
            <p:cNvSpPr>
              <a:spLocks noChangeShapeType="1"/>
            </p:cNvSpPr>
            <p:nvPr/>
          </p:nvSpPr>
          <p:spPr bwMode="auto">
            <a:xfrm>
              <a:off x="3936" y="3015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99335" name="AutoShape 1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2"/>
          <p:cNvSpPr txBox="1">
            <a:spLocks noChangeArrowheads="1"/>
          </p:cNvSpPr>
          <p:nvPr/>
        </p:nvSpPr>
        <p:spPr bwMode="auto">
          <a:xfrm>
            <a:off x="304800" y="457200"/>
            <a:ext cx="7391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以输入数据为例的半同步通信时序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188419" name="Text Box 3"/>
          <p:cNvSpPr txBox="1">
            <a:spLocks noChangeArrowheads="1"/>
          </p:cNvSpPr>
          <p:nvPr/>
        </p:nvSpPr>
        <p:spPr bwMode="auto">
          <a:xfrm>
            <a:off x="830263" y="1447800"/>
            <a:ext cx="762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i="1">
                <a:latin typeface="Times New Roman" panose="02020603050405020304" pitchFamily="18" charset="0"/>
              </a:rPr>
              <a:t>T</a:t>
            </a:r>
            <a:r>
              <a:rPr lang="en-US" altLang="zh-CN" sz="3200" baseline="-25000">
                <a:latin typeface="Times New Roman" panose="02020603050405020304" pitchFamily="18" charset="0"/>
              </a:rPr>
              <a:t>1     </a:t>
            </a:r>
            <a:r>
              <a:rPr lang="zh-CN" altLang="en-US" sz="2800">
                <a:latin typeface="Times New Roman" panose="02020603050405020304" pitchFamily="18" charset="0"/>
              </a:rPr>
              <a:t>主模块发地址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830263" y="2219325"/>
            <a:ext cx="762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i="1">
                <a:latin typeface="Times New Roman" panose="02020603050405020304" pitchFamily="18" charset="0"/>
              </a:rPr>
              <a:t>T</a:t>
            </a:r>
            <a:r>
              <a:rPr lang="en-US" altLang="zh-CN" sz="3200" baseline="-25000">
                <a:latin typeface="Times New Roman" panose="02020603050405020304" pitchFamily="18" charset="0"/>
              </a:rPr>
              <a:t>2     </a:t>
            </a:r>
            <a:r>
              <a:rPr lang="zh-CN" altLang="en-US" sz="2800">
                <a:latin typeface="Times New Roman" panose="02020603050405020304" pitchFamily="18" charset="0"/>
              </a:rPr>
              <a:t>主模块发命令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88421" name="Text Box 5"/>
          <p:cNvSpPr txBox="1">
            <a:spLocks noChangeArrowheads="1"/>
          </p:cNvSpPr>
          <p:nvPr/>
        </p:nvSpPr>
        <p:spPr bwMode="auto">
          <a:xfrm>
            <a:off x="912813" y="4572000"/>
            <a:ext cx="91598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b="0">
                <a:latin typeface="Times New Roman" panose="02020603050405020304" pitchFamily="18" charset="0"/>
              </a:rPr>
              <a:t>…</a:t>
            </a:r>
            <a:endParaRPr lang="zh-CN" altLang="en-US" sz="4800" b="0">
              <a:latin typeface="Times New Roman" panose="02020603050405020304" pitchFamily="18" charset="0"/>
            </a:endParaRPr>
          </a:p>
        </p:txBody>
      </p:sp>
      <p:sp>
        <p:nvSpPr>
          <p:cNvPr id="188422" name="Text Box 6"/>
          <p:cNvSpPr txBox="1">
            <a:spLocks noChangeArrowheads="1"/>
          </p:cNvSpPr>
          <p:nvPr/>
        </p:nvSpPr>
        <p:spPr bwMode="auto">
          <a:xfrm>
            <a:off x="830263" y="5257800"/>
            <a:ext cx="762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i="1">
                <a:latin typeface="Times New Roman" panose="02020603050405020304" pitchFamily="18" charset="0"/>
              </a:rPr>
              <a:t>T</a:t>
            </a:r>
            <a:r>
              <a:rPr lang="en-US" altLang="zh-CN" sz="3200" baseline="-25000">
                <a:latin typeface="Times New Roman" panose="02020603050405020304" pitchFamily="18" charset="0"/>
              </a:rPr>
              <a:t>3     </a:t>
            </a:r>
            <a:r>
              <a:rPr lang="zh-CN" altLang="en-US" sz="2800">
                <a:latin typeface="Times New Roman" panose="02020603050405020304" pitchFamily="18" charset="0"/>
              </a:rPr>
              <a:t>从模块提供数据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88423" name="Text Box 7"/>
          <p:cNvSpPr txBox="1">
            <a:spLocks noChangeArrowheads="1"/>
          </p:cNvSpPr>
          <p:nvPr/>
        </p:nvSpPr>
        <p:spPr bwMode="auto">
          <a:xfrm>
            <a:off x="830263" y="6019800"/>
            <a:ext cx="762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i="1">
                <a:latin typeface="Times New Roman" panose="02020603050405020304" pitchFamily="18" charset="0"/>
              </a:rPr>
              <a:t>T</a:t>
            </a:r>
            <a:r>
              <a:rPr lang="en-US" altLang="zh-CN" sz="3200" baseline="-25000">
                <a:latin typeface="Times New Roman" panose="02020603050405020304" pitchFamily="18" charset="0"/>
              </a:rPr>
              <a:t>4     </a:t>
            </a:r>
            <a:r>
              <a:rPr lang="zh-CN" altLang="en-US" sz="2800">
                <a:latin typeface="Times New Roman" panose="02020603050405020304" pitchFamily="18" charset="0"/>
              </a:rPr>
              <a:t>从模块撤销数据，主模块撤销命令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830263" y="2990850"/>
            <a:ext cx="8466137" cy="579438"/>
            <a:chOff x="523" y="1884"/>
            <a:chExt cx="5333" cy="365"/>
          </a:xfrm>
        </p:grpSpPr>
        <p:sp>
          <p:nvSpPr>
            <p:cNvPr id="100368" name="Text Box 9"/>
            <p:cNvSpPr txBox="1">
              <a:spLocks noChangeArrowheads="1"/>
            </p:cNvSpPr>
            <p:nvPr/>
          </p:nvSpPr>
          <p:spPr bwMode="auto">
            <a:xfrm>
              <a:off x="523" y="1884"/>
              <a:ext cx="533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32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</a:t>
              </a:r>
              <a:r>
                <a:rPr lang="en-US" altLang="zh-CN" sz="3200" baseline="-25000">
                  <a:latin typeface="Times New Roman" panose="02020603050405020304" pitchFamily="18" charset="0"/>
                </a:rPr>
                <a:t>     </a:t>
              </a:r>
              <a:r>
                <a:rPr lang="zh-CN" altLang="en-US" sz="2800">
                  <a:latin typeface="Times New Roman" panose="02020603050405020304" pitchFamily="18" charset="0"/>
                </a:rPr>
                <a:t>当             为低电平时，等待一个 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grpSp>
          <p:nvGrpSpPr>
            <p:cNvPr id="100369" name="Group 10"/>
            <p:cNvGrpSpPr/>
            <p:nvPr/>
          </p:nvGrpSpPr>
          <p:grpSpPr bwMode="auto">
            <a:xfrm>
              <a:off x="1296" y="1920"/>
              <a:ext cx="1066" cy="327"/>
              <a:chOff x="1296" y="1920"/>
              <a:chExt cx="1066" cy="327"/>
            </a:xfrm>
          </p:grpSpPr>
          <p:sp>
            <p:nvSpPr>
              <p:cNvPr id="100370" name="Text Box 11"/>
              <p:cNvSpPr txBox="1">
                <a:spLocks noChangeArrowheads="1"/>
              </p:cNvSpPr>
              <p:nvPr/>
            </p:nvSpPr>
            <p:spPr bwMode="auto">
              <a:xfrm>
                <a:off x="1296" y="1920"/>
                <a:ext cx="106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WAIT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371" name="Line 12"/>
              <p:cNvSpPr>
                <a:spLocks noChangeShapeType="1"/>
              </p:cNvSpPr>
              <p:nvPr/>
            </p:nvSpPr>
            <p:spPr bwMode="auto">
              <a:xfrm>
                <a:off x="1344" y="196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3"/>
          <p:cNvGrpSpPr/>
          <p:nvPr/>
        </p:nvGrpSpPr>
        <p:grpSpPr bwMode="auto">
          <a:xfrm>
            <a:off x="830263" y="3763963"/>
            <a:ext cx="8466137" cy="579437"/>
            <a:chOff x="523" y="2371"/>
            <a:chExt cx="5333" cy="365"/>
          </a:xfrm>
        </p:grpSpPr>
        <p:sp>
          <p:nvSpPr>
            <p:cNvPr id="100364" name="Text Box 14"/>
            <p:cNvSpPr txBox="1">
              <a:spLocks noChangeArrowheads="1"/>
            </p:cNvSpPr>
            <p:nvPr/>
          </p:nvSpPr>
          <p:spPr bwMode="auto">
            <a:xfrm>
              <a:off x="523" y="2371"/>
              <a:ext cx="533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32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</a:t>
              </a:r>
              <a:r>
                <a:rPr lang="en-US" altLang="zh-CN" sz="3200" baseline="-25000">
                  <a:latin typeface="Times New Roman" panose="02020603050405020304" pitchFamily="18" charset="0"/>
                </a:rPr>
                <a:t>     </a:t>
              </a:r>
              <a:r>
                <a:rPr lang="zh-CN" altLang="en-US" sz="2800">
                  <a:latin typeface="Times New Roman" panose="02020603050405020304" pitchFamily="18" charset="0"/>
                </a:rPr>
                <a:t>当             为低电平时，等待一个 </a:t>
              </a:r>
              <a:r>
                <a:rPr lang="en-US" altLang="zh-CN" sz="2800" i="1">
                  <a:latin typeface="Times New Roman" panose="02020603050405020304" pitchFamily="18" charset="0"/>
                </a:rPr>
                <a:t>T</a:t>
              </a:r>
              <a:endParaRPr lang="en-US" altLang="zh-CN" sz="2800" i="1">
                <a:latin typeface="Times New Roman" panose="02020603050405020304" pitchFamily="18" charset="0"/>
              </a:endParaRPr>
            </a:p>
          </p:txBody>
        </p:sp>
        <p:grpSp>
          <p:nvGrpSpPr>
            <p:cNvPr id="100365" name="Group 15"/>
            <p:cNvGrpSpPr/>
            <p:nvPr/>
          </p:nvGrpSpPr>
          <p:grpSpPr bwMode="auto">
            <a:xfrm>
              <a:off x="1296" y="2400"/>
              <a:ext cx="1066" cy="327"/>
              <a:chOff x="1296" y="2400"/>
              <a:chExt cx="1066" cy="327"/>
            </a:xfrm>
          </p:grpSpPr>
          <p:sp>
            <p:nvSpPr>
              <p:cNvPr id="100366" name="Text Box 16"/>
              <p:cNvSpPr txBox="1">
                <a:spLocks noChangeArrowheads="1"/>
              </p:cNvSpPr>
              <p:nvPr/>
            </p:nvSpPr>
            <p:spPr bwMode="auto">
              <a:xfrm>
                <a:off x="1296" y="2400"/>
                <a:ext cx="106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WAIT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367" name="Line 17"/>
              <p:cNvSpPr>
                <a:spLocks noChangeShapeType="1"/>
              </p:cNvSpPr>
              <p:nvPr/>
            </p:nvSpPr>
            <p:spPr bwMode="auto">
              <a:xfrm>
                <a:off x="1344" y="2448"/>
                <a:ext cx="6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188434" name="Rectangle 18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0363" name="AutoShape 20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autoUpdateAnimBg="0"/>
      <p:bldP spid="188420" grpId="0" autoUpdateAnimBg="0"/>
      <p:bldP spid="188421" grpId="0" autoUpdateAnimBg="0"/>
      <p:bldP spid="188422" grpId="0" autoUpdateAnimBg="0"/>
      <p:bldP spid="18842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Freeform 100"/>
          <p:cNvSpPr/>
          <p:nvPr/>
        </p:nvSpPr>
        <p:spPr bwMode="auto">
          <a:xfrm>
            <a:off x="6396038" y="3897313"/>
            <a:ext cx="504825" cy="555625"/>
          </a:xfrm>
          <a:custGeom>
            <a:avLst/>
            <a:gdLst>
              <a:gd name="T0" fmla="*/ 0 w 417"/>
              <a:gd name="T1" fmla="*/ 2147483647 h 442"/>
              <a:gd name="T2" fmla="*/ 2147483647 w 417"/>
              <a:gd name="T3" fmla="*/ 2147483647 h 442"/>
              <a:gd name="T4" fmla="*/ 2147483647 w 417"/>
              <a:gd name="T5" fmla="*/ 0 h 442"/>
              <a:gd name="T6" fmla="*/ 0 w 417"/>
              <a:gd name="T7" fmla="*/ 2147483647 h 442"/>
              <a:gd name="T8" fmla="*/ 0 60000 65536"/>
              <a:gd name="T9" fmla="*/ 0 60000 65536"/>
              <a:gd name="T10" fmla="*/ 0 60000 65536"/>
              <a:gd name="T11" fmla="*/ 0 60000 65536"/>
              <a:gd name="T12" fmla="*/ 0 w 417"/>
              <a:gd name="T13" fmla="*/ 0 h 442"/>
              <a:gd name="T14" fmla="*/ 417 w 417"/>
              <a:gd name="T15" fmla="*/ 442 h 4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7" h="442">
                <a:moveTo>
                  <a:pt x="0" y="442"/>
                </a:moveTo>
                <a:lnTo>
                  <a:pt x="417" y="442"/>
                </a:lnTo>
                <a:lnTo>
                  <a:pt x="417" y="0"/>
                </a:lnTo>
                <a:lnTo>
                  <a:pt x="0" y="442"/>
                </a:lnTo>
                <a:close/>
              </a:path>
            </a:pathLst>
          </a:custGeom>
          <a:solidFill>
            <a:schemeClr val="folHlink">
              <a:alpha val="50195"/>
            </a:schemeClr>
          </a:solidFill>
          <a:ln w="9525">
            <a:solidFill>
              <a:schemeClr val="folHlink"/>
            </a:solidFill>
            <a:rou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-53975" y="3786188"/>
            <a:ext cx="9197975" cy="763587"/>
            <a:chOff x="-34" y="2385"/>
            <a:chExt cx="5794" cy="481"/>
          </a:xfrm>
        </p:grpSpPr>
        <p:grpSp>
          <p:nvGrpSpPr>
            <p:cNvPr id="101561" name="Group 4"/>
            <p:cNvGrpSpPr/>
            <p:nvPr/>
          </p:nvGrpSpPr>
          <p:grpSpPr bwMode="auto">
            <a:xfrm>
              <a:off x="396" y="2405"/>
              <a:ext cx="5364" cy="461"/>
              <a:chOff x="396" y="2405"/>
              <a:chExt cx="5364" cy="461"/>
            </a:xfrm>
          </p:grpSpPr>
          <p:grpSp>
            <p:nvGrpSpPr>
              <p:cNvPr id="101565" name="Group 5"/>
              <p:cNvGrpSpPr/>
              <p:nvPr/>
            </p:nvGrpSpPr>
            <p:grpSpPr bwMode="auto">
              <a:xfrm>
                <a:off x="396" y="2405"/>
                <a:ext cx="982" cy="461"/>
                <a:chOff x="396" y="2405"/>
                <a:chExt cx="982" cy="461"/>
              </a:xfrm>
            </p:grpSpPr>
            <p:sp>
              <p:nvSpPr>
                <p:cNvPr id="101570" name="Freeform 43"/>
                <p:cNvSpPr/>
                <p:nvPr/>
              </p:nvSpPr>
              <p:spPr bwMode="auto">
                <a:xfrm>
                  <a:off x="396" y="2475"/>
                  <a:ext cx="827" cy="0"/>
                </a:xfrm>
                <a:custGeom>
                  <a:avLst/>
                  <a:gdLst>
                    <a:gd name="T0" fmla="*/ 0 w 1174"/>
                    <a:gd name="T1" fmla="*/ 0 h 1"/>
                    <a:gd name="T2" fmla="*/ 6 w 1174"/>
                    <a:gd name="T3" fmla="*/ 0 h 1"/>
                    <a:gd name="T4" fmla="*/ 0 60000 65536"/>
                    <a:gd name="T5" fmla="*/ 0 60000 65536"/>
                    <a:gd name="T6" fmla="*/ 0 w 1174"/>
                    <a:gd name="T7" fmla="*/ 0 h 1"/>
                    <a:gd name="T8" fmla="*/ 1174 w 1174"/>
                    <a:gd name="T9" fmla="*/ 0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174" h="1">
                      <a:moveTo>
                        <a:pt x="0" y="1"/>
                      </a:moveTo>
                      <a:lnTo>
                        <a:pt x="1174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1571" name="Line 44"/>
                <p:cNvSpPr>
                  <a:spLocks noChangeShapeType="1"/>
                </p:cNvSpPr>
                <p:nvPr/>
              </p:nvSpPr>
              <p:spPr bwMode="auto">
                <a:xfrm rot="8100000">
                  <a:off x="1378" y="2405"/>
                  <a:ext cx="0" cy="46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01566" name="Line 46"/>
              <p:cNvSpPr>
                <a:spLocks noChangeShapeType="1"/>
              </p:cNvSpPr>
              <p:nvPr/>
            </p:nvSpPr>
            <p:spPr bwMode="auto">
              <a:xfrm>
                <a:off x="1530" y="2788"/>
                <a:ext cx="25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01567" name="组合 252"/>
              <p:cNvGrpSpPr/>
              <p:nvPr/>
            </p:nvGrpSpPr>
            <p:grpSpPr bwMode="auto">
              <a:xfrm>
                <a:off x="3978" y="2476"/>
                <a:ext cx="1782" cy="156"/>
                <a:chOff x="6314895" y="3930745"/>
                <a:chExt cx="2829137" cy="247648"/>
              </a:xfrm>
            </p:grpSpPr>
            <p:sp>
              <p:nvSpPr>
                <p:cNvPr id="101568" name="Line 45"/>
                <p:cNvSpPr>
                  <a:spLocks noChangeShapeType="1"/>
                </p:cNvSpPr>
                <p:nvPr/>
              </p:nvSpPr>
              <p:spPr bwMode="auto">
                <a:xfrm rot="2700000">
                  <a:off x="6674895" y="3818393"/>
                  <a:ext cx="0" cy="7200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1569" name="Line 47"/>
                <p:cNvSpPr>
                  <a:spLocks noChangeShapeType="1"/>
                </p:cNvSpPr>
                <p:nvPr/>
              </p:nvSpPr>
              <p:spPr bwMode="auto">
                <a:xfrm>
                  <a:off x="6912032" y="3930745"/>
                  <a:ext cx="223200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1562" name="Group 12"/>
            <p:cNvGrpSpPr/>
            <p:nvPr/>
          </p:nvGrpSpPr>
          <p:grpSpPr bwMode="auto">
            <a:xfrm>
              <a:off x="-34" y="2385"/>
              <a:ext cx="439" cy="468"/>
              <a:chOff x="-34" y="2385"/>
              <a:chExt cx="439" cy="468"/>
            </a:xfrm>
          </p:grpSpPr>
          <p:sp>
            <p:nvSpPr>
              <p:cNvPr id="101563" name="Text Box 35"/>
              <p:cNvSpPr txBox="1">
                <a:spLocks noChangeArrowheads="1"/>
              </p:cNvSpPr>
              <p:nvPr/>
            </p:nvSpPr>
            <p:spPr bwMode="auto">
              <a:xfrm>
                <a:off x="-34" y="2385"/>
                <a:ext cx="43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2400" b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读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564" name="Text Box 35"/>
              <p:cNvSpPr txBox="1">
                <a:spLocks noChangeArrowheads="1"/>
              </p:cNvSpPr>
              <p:nvPr/>
            </p:nvSpPr>
            <p:spPr bwMode="auto">
              <a:xfrm>
                <a:off x="-34" y="2565"/>
                <a:ext cx="43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命令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" name="Group 15"/>
          <p:cNvGrpSpPr/>
          <p:nvPr/>
        </p:nvGrpSpPr>
        <p:grpSpPr bwMode="auto">
          <a:xfrm>
            <a:off x="17463" y="4714875"/>
            <a:ext cx="9070975" cy="730250"/>
            <a:chOff x="11" y="2970"/>
            <a:chExt cx="5714" cy="460"/>
          </a:xfrm>
        </p:grpSpPr>
        <p:grpSp>
          <p:nvGrpSpPr>
            <p:cNvPr id="101553" name="Group 16"/>
            <p:cNvGrpSpPr/>
            <p:nvPr/>
          </p:nvGrpSpPr>
          <p:grpSpPr bwMode="auto">
            <a:xfrm>
              <a:off x="11" y="3093"/>
              <a:ext cx="484" cy="213"/>
              <a:chOff x="11" y="3093"/>
              <a:chExt cx="484" cy="213"/>
            </a:xfrm>
          </p:grpSpPr>
          <p:sp>
            <p:nvSpPr>
              <p:cNvPr id="101559" name="Text Box 35"/>
              <p:cNvSpPr txBox="1">
                <a:spLocks noChangeArrowheads="1"/>
              </p:cNvSpPr>
              <p:nvPr/>
            </p:nvSpPr>
            <p:spPr bwMode="auto">
              <a:xfrm>
                <a:off x="11" y="3093"/>
                <a:ext cx="48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WAIT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  <p:cxnSp>
            <p:nvCxnSpPr>
              <p:cNvPr id="101560" name="AutoShape 17"/>
              <p:cNvCxnSpPr>
                <a:cxnSpLocks noChangeShapeType="1"/>
              </p:cNvCxnSpPr>
              <p:nvPr/>
            </p:nvCxnSpPr>
            <p:spPr bwMode="auto">
              <a:xfrm flipH="1">
                <a:off x="11" y="3105"/>
                <a:ext cx="358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1554" name="Freeform 43"/>
            <p:cNvSpPr/>
            <p:nvPr/>
          </p:nvSpPr>
          <p:spPr bwMode="auto">
            <a:xfrm>
              <a:off x="396" y="3040"/>
              <a:ext cx="1542" cy="0"/>
            </a:xfrm>
            <a:custGeom>
              <a:avLst/>
              <a:gdLst>
                <a:gd name="T0" fmla="*/ 0 w 1174"/>
                <a:gd name="T1" fmla="*/ 0 h 1"/>
                <a:gd name="T2" fmla="*/ 70120 w 1174"/>
                <a:gd name="T3" fmla="*/ 0 h 1"/>
                <a:gd name="T4" fmla="*/ 0 60000 65536"/>
                <a:gd name="T5" fmla="*/ 0 60000 65536"/>
                <a:gd name="T6" fmla="*/ 0 w 1174"/>
                <a:gd name="T7" fmla="*/ 0 h 1"/>
                <a:gd name="T8" fmla="*/ 1174 w 1174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74" h="1">
                  <a:moveTo>
                    <a:pt x="0" y="1"/>
                  </a:moveTo>
                  <a:lnTo>
                    <a:pt x="1174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555" name="Line 44"/>
            <p:cNvSpPr>
              <a:spLocks noChangeShapeType="1"/>
            </p:cNvSpPr>
            <p:nvPr/>
          </p:nvSpPr>
          <p:spPr bwMode="auto">
            <a:xfrm rot="8100000">
              <a:off x="2097" y="2970"/>
              <a:ext cx="0" cy="4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556" name="Line 46"/>
            <p:cNvSpPr>
              <a:spLocks noChangeShapeType="1"/>
            </p:cNvSpPr>
            <p:nvPr/>
          </p:nvSpPr>
          <p:spPr bwMode="auto">
            <a:xfrm>
              <a:off x="2253" y="3352"/>
              <a:ext cx="1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557" name="Line 45"/>
            <p:cNvSpPr>
              <a:spLocks noChangeShapeType="1"/>
            </p:cNvSpPr>
            <p:nvPr/>
          </p:nvSpPr>
          <p:spPr bwMode="auto">
            <a:xfrm rot="2700000">
              <a:off x="3467" y="2969"/>
              <a:ext cx="0" cy="4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558" name="Line 47"/>
            <p:cNvSpPr>
              <a:spLocks noChangeShapeType="1"/>
            </p:cNvSpPr>
            <p:nvPr/>
          </p:nvSpPr>
          <p:spPr bwMode="auto">
            <a:xfrm>
              <a:off x="3616" y="3041"/>
              <a:ext cx="2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" name="组合 381"/>
          <p:cNvGrpSpPr/>
          <p:nvPr/>
        </p:nvGrpSpPr>
        <p:grpSpPr bwMode="auto">
          <a:xfrm>
            <a:off x="0" y="3071813"/>
            <a:ext cx="9120188" cy="500062"/>
            <a:chOff x="-32" y="3071810"/>
            <a:chExt cx="9119767" cy="500066"/>
          </a:xfrm>
        </p:grpSpPr>
        <p:sp>
          <p:nvSpPr>
            <p:cNvPr id="101549" name="Freeform 37"/>
            <p:cNvSpPr/>
            <p:nvPr/>
          </p:nvSpPr>
          <p:spPr bwMode="auto">
            <a:xfrm>
              <a:off x="1067574" y="3129856"/>
              <a:ext cx="6953050" cy="442020"/>
            </a:xfrm>
            <a:custGeom>
              <a:avLst/>
              <a:gdLst>
                <a:gd name="T0" fmla="*/ 2147483647 w 3857"/>
                <a:gd name="T1" fmla="*/ 0 h 343"/>
                <a:gd name="T2" fmla="*/ 0 w 3857"/>
                <a:gd name="T3" fmla="*/ 2147483647 h 343"/>
                <a:gd name="T4" fmla="*/ 2147483647 w 3857"/>
                <a:gd name="T5" fmla="*/ 2147483647 h 343"/>
                <a:gd name="T6" fmla="*/ 2147483647 w 3857"/>
                <a:gd name="T7" fmla="*/ 2147483647 h 343"/>
                <a:gd name="T8" fmla="*/ 2147483647 w 3857"/>
                <a:gd name="T9" fmla="*/ 2147483647 h 343"/>
                <a:gd name="T10" fmla="*/ 2147483647 w 3857"/>
                <a:gd name="T11" fmla="*/ 2147483647 h 343"/>
                <a:gd name="T12" fmla="*/ 2147483647 w 3857"/>
                <a:gd name="T13" fmla="*/ 0 h 343"/>
                <a:gd name="T14" fmla="*/ 2147483647 w 3857"/>
                <a:gd name="T15" fmla="*/ 0 h 3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857"/>
                <a:gd name="T25" fmla="*/ 0 h 343"/>
                <a:gd name="T26" fmla="*/ 3857 w 3857"/>
                <a:gd name="T27" fmla="*/ 343 h 34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857" h="343">
                  <a:moveTo>
                    <a:pt x="170" y="0"/>
                  </a:moveTo>
                  <a:lnTo>
                    <a:pt x="0" y="170"/>
                  </a:lnTo>
                  <a:lnTo>
                    <a:pt x="173" y="342"/>
                  </a:lnTo>
                  <a:lnTo>
                    <a:pt x="1343" y="343"/>
                  </a:lnTo>
                  <a:lnTo>
                    <a:pt x="3686" y="342"/>
                  </a:lnTo>
                  <a:lnTo>
                    <a:pt x="3857" y="171"/>
                  </a:lnTo>
                  <a:lnTo>
                    <a:pt x="3686" y="0"/>
                  </a:lnTo>
                  <a:lnTo>
                    <a:pt x="170" y="0"/>
                  </a:lnTo>
                  <a:close/>
                </a:path>
              </a:pathLst>
            </a:cu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550" name="Line 38"/>
            <p:cNvSpPr>
              <a:spLocks noChangeShapeType="1"/>
            </p:cNvSpPr>
            <p:nvPr/>
          </p:nvSpPr>
          <p:spPr bwMode="auto">
            <a:xfrm flipH="1">
              <a:off x="602966" y="3351600"/>
              <a:ext cx="486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551" name="Line 39"/>
            <p:cNvSpPr>
              <a:spLocks noChangeShapeType="1"/>
            </p:cNvSpPr>
            <p:nvPr/>
          </p:nvSpPr>
          <p:spPr bwMode="auto">
            <a:xfrm>
              <a:off x="8039715" y="3348000"/>
              <a:ext cx="10800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552" name="Text Box 35"/>
            <p:cNvSpPr txBox="1">
              <a:spLocks noChangeArrowheads="1"/>
            </p:cNvSpPr>
            <p:nvPr/>
          </p:nvSpPr>
          <p:spPr bwMode="auto">
            <a:xfrm>
              <a:off x="-32" y="3071810"/>
              <a:ext cx="696880" cy="457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地址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组合 399"/>
          <p:cNvGrpSpPr/>
          <p:nvPr/>
        </p:nvGrpSpPr>
        <p:grpSpPr bwMode="auto">
          <a:xfrm>
            <a:off x="-36513" y="5786438"/>
            <a:ext cx="9144001" cy="561975"/>
            <a:chOff x="-54031" y="5786454"/>
            <a:chExt cx="9144047" cy="561972"/>
          </a:xfrm>
        </p:grpSpPr>
        <p:sp>
          <p:nvSpPr>
            <p:cNvPr id="101544" name="Text Box 35"/>
            <p:cNvSpPr txBox="1">
              <a:spLocks noChangeArrowheads="1"/>
            </p:cNvSpPr>
            <p:nvPr/>
          </p:nvSpPr>
          <p:spPr bwMode="auto">
            <a:xfrm>
              <a:off x="-54031" y="5786454"/>
              <a:ext cx="696916" cy="457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数据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101545" name="组合 395"/>
            <p:cNvGrpSpPr/>
            <p:nvPr/>
          </p:nvGrpSpPr>
          <p:grpSpPr bwMode="auto">
            <a:xfrm>
              <a:off x="642909" y="5819788"/>
              <a:ext cx="8447107" cy="528638"/>
              <a:chOff x="642909" y="5819788"/>
              <a:chExt cx="8447107" cy="528638"/>
            </a:xfrm>
          </p:grpSpPr>
          <p:sp>
            <p:nvSpPr>
              <p:cNvPr id="101546" name="Line 50"/>
              <p:cNvSpPr>
                <a:spLocks noChangeShapeType="1"/>
              </p:cNvSpPr>
              <p:nvPr/>
            </p:nvSpPr>
            <p:spPr bwMode="auto">
              <a:xfrm>
                <a:off x="642909" y="6048388"/>
                <a:ext cx="4896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547" name="Line 51"/>
              <p:cNvSpPr>
                <a:spLocks noChangeShapeType="1"/>
              </p:cNvSpPr>
              <p:nvPr/>
            </p:nvSpPr>
            <p:spPr bwMode="auto">
              <a:xfrm>
                <a:off x="6858016" y="6046801"/>
                <a:ext cx="2232000" cy="15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548" name="Freeform 52"/>
              <p:cNvSpPr/>
              <p:nvPr/>
            </p:nvSpPr>
            <p:spPr bwMode="auto">
              <a:xfrm>
                <a:off x="5500692" y="5819788"/>
                <a:ext cx="1357324" cy="528638"/>
              </a:xfrm>
              <a:custGeom>
                <a:avLst/>
                <a:gdLst>
                  <a:gd name="T0" fmla="*/ 0 w 1056"/>
                  <a:gd name="T1" fmla="*/ 2147483647 h 333"/>
                  <a:gd name="T2" fmla="*/ 2147483647 w 1056"/>
                  <a:gd name="T3" fmla="*/ 0 h 333"/>
                  <a:gd name="T4" fmla="*/ 2147483647 w 1056"/>
                  <a:gd name="T5" fmla="*/ 0 h 333"/>
                  <a:gd name="T6" fmla="*/ 2147483647 w 1056"/>
                  <a:gd name="T7" fmla="*/ 2147483647 h 333"/>
                  <a:gd name="T8" fmla="*/ 2147483647 w 1056"/>
                  <a:gd name="T9" fmla="*/ 2147483647 h 333"/>
                  <a:gd name="T10" fmla="*/ 2147483647 w 1056"/>
                  <a:gd name="T11" fmla="*/ 2147483647 h 333"/>
                  <a:gd name="T12" fmla="*/ 0 w 1056"/>
                  <a:gd name="T13" fmla="*/ 2147483647 h 3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56"/>
                  <a:gd name="T22" fmla="*/ 0 h 333"/>
                  <a:gd name="T23" fmla="*/ 1056 w 1056"/>
                  <a:gd name="T24" fmla="*/ 333 h 3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56" h="333">
                    <a:moveTo>
                      <a:pt x="0" y="144"/>
                    </a:moveTo>
                    <a:lnTo>
                      <a:pt x="144" y="0"/>
                    </a:lnTo>
                    <a:lnTo>
                      <a:pt x="912" y="0"/>
                    </a:lnTo>
                    <a:lnTo>
                      <a:pt x="1056" y="144"/>
                    </a:lnTo>
                    <a:lnTo>
                      <a:pt x="880" y="333"/>
                    </a:lnTo>
                    <a:lnTo>
                      <a:pt x="170" y="333"/>
                    </a:lnTo>
                    <a:lnTo>
                      <a:pt x="0" y="14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110717" name="Rectangle 125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 b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 b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12" name="Group 36"/>
          <p:cNvGrpSpPr/>
          <p:nvPr/>
        </p:nvGrpSpPr>
        <p:grpSpPr bwMode="auto">
          <a:xfrm>
            <a:off x="0" y="1412875"/>
            <a:ext cx="9104313" cy="1466850"/>
            <a:chOff x="0" y="890"/>
            <a:chExt cx="5735" cy="924"/>
          </a:xfrm>
        </p:grpSpPr>
        <p:sp>
          <p:nvSpPr>
            <p:cNvPr id="101500" name="Text Box 35"/>
            <p:cNvSpPr txBox="1">
              <a:spLocks noChangeArrowheads="1"/>
            </p:cNvSpPr>
            <p:nvPr/>
          </p:nvSpPr>
          <p:spPr bwMode="auto">
            <a:xfrm>
              <a:off x="0" y="1419"/>
              <a:ext cx="4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0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Times New Roman" panose="02020603050405020304" pitchFamily="18" charset="0"/>
                </a:rPr>
                <a:t>时钟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101501" name="Group 38"/>
            <p:cNvGrpSpPr/>
            <p:nvPr/>
          </p:nvGrpSpPr>
          <p:grpSpPr bwMode="auto">
            <a:xfrm>
              <a:off x="377" y="890"/>
              <a:ext cx="5358" cy="924"/>
              <a:chOff x="377" y="890"/>
              <a:chExt cx="5358" cy="924"/>
            </a:xfrm>
          </p:grpSpPr>
          <p:sp>
            <p:nvSpPr>
              <p:cNvPr id="101502" name="Rectangle 10"/>
              <p:cNvSpPr>
                <a:spLocks noChangeArrowheads="1"/>
              </p:cNvSpPr>
              <p:nvPr/>
            </p:nvSpPr>
            <p:spPr bwMode="auto">
              <a:xfrm>
                <a:off x="1923" y="995"/>
                <a:ext cx="104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503" name="Line 11"/>
              <p:cNvSpPr>
                <a:spLocks noChangeShapeType="1"/>
              </p:cNvSpPr>
              <p:nvPr/>
            </p:nvSpPr>
            <p:spPr bwMode="auto">
              <a:xfrm>
                <a:off x="5038" y="995"/>
                <a:ext cx="0" cy="15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504" name="Rectangle 12"/>
              <p:cNvSpPr>
                <a:spLocks noChangeArrowheads="1"/>
              </p:cNvSpPr>
              <p:nvPr/>
            </p:nvSpPr>
            <p:spPr bwMode="auto">
              <a:xfrm>
                <a:off x="2160" y="890"/>
                <a:ext cx="14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3000">
                    <a:solidFill>
                      <a:schemeClr val="folHlink"/>
                    </a:solidFill>
                  </a:rPr>
                  <a:t>总线传输周期</a:t>
                </a:r>
                <a:endParaRPr lang="zh-CN" altLang="en-US" sz="3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505" name="Freeform 14"/>
              <p:cNvSpPr/>
              <p:nvPr/>
            </p:nvSpPr>
            <p:spPr bwMode="auto">
              <a:xfrm>
                <a:off x="853" y="1268"/>
                <a:ext cx="695" cy="312"/>
              </a:xfrm>
              <a:custGeom>
                <a:avLst/>
                <a:gdLst>
                  <a:gd name="T0" fmla="*/ 0 w 912"/>
                  <a:gd name="T1" fmla="*/ 17 h 384"/>
                  <a:gd name="T2" fmla="*/ 0 w 912"/>
                  <a:gd name="T3" fmla="*/ 0 h 384"/>
                  <a:gd name="T4" fmla="*/ 8 w 912"/>
                  <a:gd name="T5" fmla="*/ 0 h 384"/>
                  <a:gd name="T6" fmla="*/ 8 w 912"/>
                  <a:gd name="T7" fmla="*/ 17 h 384"/>
                  <a:gd name="T8" fmla="*/ 16 w 912"/>
                  <a:gd name="T9" fmla="*/ 17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06" name="Freeform 15"/>
              <p:cNvSpPr/>
              <p:nvPr/>
            </p:nvSpPr>
            <p:spPr bwMode="auto">
              <a:xfrm>
                <a:off x="2243" y="1268"/>
                <a:ext cx="695" cy="312"/>
              </a:xfrm>
              <a:custGeom>
                <a:avLst/>
                <a:gdLst>
                  <a:gd name="T0" fmla="*/ 0 w 912"/>
                  <a:gd name="T1" fmla="*/ 17 h 384"/>
                  <a:gd name="T2" fmla="*/ 0 w 912"/>
                  <a:gd name="T3" fmla="*/ 0 h 384"/>
                  <a:gd name="T4" fmla="*/ 8 w 912"/>
                  <a:gd name="T5" fmla="*/ 0 h 384"/>
                  <a:gd name="T6" fmla="*/ 8 w 912"/>
                  <a:gd name="T7" fmla="*/ 17 h 384"/>
                  <a:gd name="T8" fmla="*/ 16 w 912"/>
                  <a:gd name="T9" fmla="*/ 17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07" name="Freeform 16"/>
              <p:cNvSpPr/>
              <p:nvPr/>
            </p:nvSpPr>
            <p:spPr bwMode="auto">
              <a:xfrm>
                <a:off x="2938" y="1268"/>
                <a:ext cx="695" cy="312"/>
              </a:xfrm>
              <a:custGeom>
                <a:avLst/>
                <a:gdLst>
                  <a:gd name="T0" fmla="*/ 0 w 912"/>
                  <a:gd name="T1" fmla="*/ 17 h 384"/>
                  <a:gd name="T2" fmla="*/ 0 w 912"/>
                  <a:gd name="T3" fmla="*/ 0 h 384"/>
                  <a:gd name="T4" fmla="*/ 8 w 912"/>
                  <a:gd name="T5" fmla="*/ 0 h 384"/>
                  <a:gd name="T6" fmla="*/ 8 w 912"/>
                  <a:gd name="T7" fmla="*/ 17 h 384"/>
                  <a:gd name="T8" fmla="*/ 16 w 912"/>
                  <a:gd name="T9" fmla="*/ 17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cxnSp>
            <p:nvCxnSpPr>
              <p:cNvPr id="101508" name="AutoShape 17"/>
              <p:cNvCxnSpPr>
                <a:cxnSpLocks noChangeShapeType="1"/>
              </p:cNvCxnSpPr>
              <p:nvPr/>
            </p:nvCxnSpPr>
            <p:spPr bwMode="auto">
              <a:xfrm flipH="1">
                <a:off x="377" y="1580"/>
                <a:ext cx="476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1509" name="Freeform 18"/>
              <p:cNvSpPr/>
              <p:nvPr/>
            </p:nvSpPr>
            <p:spPr bwMode="auto">
              <a:xfrm>
                <a:off x="3645" y="1268"/>
                <a:ext cx="695" cy="312"/>
              </a:xfrm>
              <a:custGeom>
                <a:avLst/>
                <a:gdLst>
                  <a:gd name="T0" fmla="*/ 0 w 912"/>
                  <a:gd name="T1" fmla="*/ 17 h 384"/>
                  <a:gd name="T2" fmla="*/ 0 w 912"/>
                  <a:gd name="T3" fmla="*/ 0 h 384"/>
                  <a:gd name="T4" fmla="*/ 8 w 912"/>
                  <a:gd name="T5" fmla="*/ 0 h 384"/>
                  <a:gd name="T6" fmla="*/ 8 w 912"/>
                  <a:gd name="T7" fmla="*/ 17 h 384"/>
                  <a:gd name="T8" fmla="*/ 16 w 912"/>
                  <a:gd name="T9" fmla="*/ 17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10" name="Freeform 19"/>
              <p:cNvSpPr/>
              <p:nvPr/>
            </p:nvSpPr>
            <p:spPr bwMode="auto">
              <a:xfrm>
                <a:off x="1548" y="1268"/>
                <a:ext cx="695" cy="312"/>
              </a:xfrm>
              <a:custGeom>
                <a:avLst/>
                <a:gdLst>
                  <a:gd name="T0" fmla="*/ 0 w 912"/>
                  <a:gd name="T1" fmla="*/ 17 h 384"/>
                  <a:gd name="T2" fmla="*/ 0 w 912"/>
                  <a:gd name="T3" fmla="*/ 0 h 384"/>
                  <a:gd name="T4" fmla="*/ 8 w 912"/>
                  <a:gd name="T5" fmla="*/ 0 h 384"/>
                  <a:gd name="T6" fmla="*/ 8 w 912"/>
                  <a:gd name="T7" fmla="*/ 17 h 384"/>
                  <a:gd name="T8" fmla="*/ 16 w 912"/>
                  <a:gd name="T9" fmla="*/ 17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11" name="Line 23"/>
              <p:cNvSpPr>
                <a:spLocks noChangeShapeType="1"/>
              </p:cNvSpPr>
              <p:nvPr/>
            </p:nvSpPr>
            <p:spPr bwMode="auto">
              <a:xfrm>
                <a:off x="853" y="1073"/>
                <a:ext cx="11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12" name="Line 24"/>
              <p:cNvSpPr>
                <a:spLocks noChangeShapeType="1"/>
              </p:cNvSpPr>
              <p:nvPr/>
            </p:nvSpPr>
            <p:spPr bwMode="auto">
              <a:xfrm>
                <a:off x="852" y="995"/>
                <a:ext cx="1" cy="15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513" name="Line 25"/>
              <p:cNvSpPr>
                <a:spLocks noChangeShapeType="1"/>
              </p:cNvSpPr>
              <p:nvPr/>
            </p:nvSpPr>
            <p:spPr bwMode="auto">
              <a:xfrm>
                <a:off x="3787" y="1073"/>
                <a:ext cx="124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14" name="Freeform 16"/>
              <p:cNvSpPr/>
              <p:nvPr/>
            </p:nvSpPr>
            <p:spPr bwMode="auto">
              <a:xfrm>
                <a:off x="5040" y="1260"/>
                <a:ext cx="695" cy="312"/>
              </a:xfrm>
              <a:custGeom>
                <a:avLst/>
                <a:gdLst>
                  <a:gd name="T0" fmla="*/ 0 w 912"/>
                  <a:gd name="T1" fmla="*/ 17 h 384"/>
                  <a:gd name="T2" fmla="*/ 0 w 912"/>
                  <a:gd name="T3" fmla="*/ 0 h 384"/>
                  <a:gd name="T4" fmla="*/ 8 w 912"/>
                  <a:gd name="T5" fmla="*/ 0 h 384"/>
                  <a:gd name="T6" fmla="*/ 8 w 912"/>
                  <a:gd name="T7" fmla="*/ 17 h 384"/>
                  <a:gd name="T8" fmla="*/ 16 w 912"/>
                  <a:gd name="T9" fmla="*/ 17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15" name="Freeform 16"/>
              <p:cNvSpPr/>
              <p:nvPr/>
            </p:nvSpPr>
            <p:spPr bwMode="auto">
              <a:xfrm>
                <a:off x="4345" y="1263"/>
                <a:ext cx="695" cy="312"/>
              </a:xfrm>
              <a:custGeom>
                <a:avLst/>
                <a:gdLst>
                  <a:gd name="T0" fmla="*/ 0 w 912"/>
                  <a:gd name="T1" fmla="*/ 17 h 384"/>
                  <a:gd name="T2" fmla="*/ 0 w 912"/>
                  <a:gd name="T3" fmla="*/ 0 h 384"/>
                  <a:gd name="T4" fmla="*/ 8 w 912"/>
                  <a:gd name="T5" fmla="*/ 0 h 384"/>
                  <a:gd name="T6" fmla="*/ 8 w 912"/>
                  <a:gd name="T7" fmla="*/ 17 h 384"/>
                  <a:gd name="T8" fmla="*/ 16 w 912"/>
                  <a:gd name="T9" fmla="*/ 17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2"/>
                  <a:gd name="T16" fmla="*/ 0 h 384"/>
                  <a:gd name="T17" fmla="*/ 912 w 91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2" h="384">
                    <a:moveTo>
                      <a:pt x="0" y="384"/>
                    </a:moveTo>
                    <a:lnTo>
                      <a:pt x="0" y="0"/>
                    </a:lnTo>
                    <a:lnTo>
                      <a:pt x="432" y="0"/>
                    </a:lnTo>
                    <a:lnTo>
                      <a:pt x="432" y="384"/>
                    </a:lnTo>
                    <a:lnTo>
                      <a:pt x="912" y="38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01516" name="组合 196"/>
              <p:cNvGrpSpPr/>
              <p:nvPr/>
            </p:nvGrpSpPr>
            <p:grpSpPr bwMode="auto">
              <a:xfrm>
                <a:off x="853" y="1612"/>
                <a:ext cx="1398" cy="202"/>
                <a:chOff x="1353926" y="2559582"/>
                <a:chExt cx="2219530" cy="320486"/>
              </a:xfrm>
            </p:grpSpPr>
            <p:sp>
              <p:nvSpPr>
                <p:cNvPr id="101535" name="Rectangle 6"/>
                <p:cNvSpPr>
                  <a:spLocks noChangeArrowheads="1"/>
                </p:cNvSpPr>
                <p:nvPr/>
              </p:nvSpPr>
              <p:spPr bwMode="auto">
                <a:xfrm>
                  <a:off x="1839746" y="2559582"/>
                  <a:ext cx="252436" cy="3204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zh-CN" sz="2100" i="1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100" baseline="-25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21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1536" name="Rectangle 20"/>
                <p:cNvSpPr>
                  <a:spLocks noChangeArrowheads="1"/>
                </p:cNvSpPr>
                <p:nvPr/>
              </p:nvSpPr>
              <p:spPr bwMode="auto">
                <a:xfrm>
                  <a:off x="2903469" y="2559582"/>
                  <a:ext cx="252436" cy="3204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r>
                    <a:rPr lang="en-US" altLang="zh-CN" sz="2100" i="1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100" baseline="-2500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21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1537" name="Line 26"/>
                <p:cNvSpPr>
                  <a:spLocks noChangeShapeType="1"/>
                </p:cNvSpPr>
                <p:nvPr/>
              </p:nvSpPr>
              <p:spPr bwMode="auto">
                <a:xfrm>
                  <a:off x="2050867" y="2693606"/>
                  <a:ext cx="40654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1538" name="Line 28"/>
                <p:cNvSpPr>
                  <a:spLocks noChangeShapeType="1"/>
                </p:cNvSpPr>
                <p:nvPr/>
              </p:nvSpPr>
              <p:spPr bwMode="auto">
                <a:xfrm>
                  <a:off x="3154357" y="2693606"/>
                  <a:ext cx="40654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1539" name="Line 31"/>
                <p:cNvSpPr>
                  <a:spLocks noChangeShapeType="1"/>
                </p:cNvSpPr>
                <p:nvPr/>
              </p:nvSpPr>
              <p:spPr bwMode="auto">
                <a:xfrm>
                  <a:off x="1353926" y="2693606"/>
                  <a:ext cx="40654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stealth" w="lg" len="lg"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1540" name="Line 32"/>
                <p:cNvSpPr>
                  <a:spLocks noChangeShapeType="1"/>
                </p:cNvSpPr>
                <p:nvPr/>
              </p:nvSpPr>
              <p:spPr bwMode="auto">
                <a:xfrm>
                  <a:off x="2457416" y="2693606"/>
                  <a:ext cx="40654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stealth" w="lg" len="lg"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cxnSp>
              <p:nvCxnSpPr>
                <p:cNvPr id="101541" name="直接连接符 193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232084" y="2697744"/>
                  <a:ext cx="252000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1542" name="直接连接符 194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336400" y="2696400"/>
                  <a:ext cx="252000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1543" name="直接连接符 19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3446662" y="2696950"/>
                  <a:ext cx="252000" cy="1588"/>
                </a:xfrm>
                <a:prstGeom prst="line">
                  <a:avLst/>
                </a:prstGeom>
                <a:noFill/>
                <a:ln w="19050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01517" name="Rectangle 6"/>
              <p:cNvSpPr>
                <a:spLocks noChangeArrowheads="1"/>
              </p:cNvSpPr>
              <p:nvPr/>
            </p:nvSpPr>
            <p:spPr bwMode="auto">
              <a:xfrm>
                <a:off x="2555" y="1612"/>
                <a:ext cx="20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100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W</a:t>
                </a:r>
                <a:endParaRPr lang="en-US" altLang="zh-CN" sz="2000" baseline="-25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518" name="Rectangle 20"/>
              <p:cNvSpPr>
                <a:spLocks noChangeArrowheads="1"/>
              </p:cNvSpPr>
              <p:nvPr/>
            </p:nvSpPr>
            <p:spPr bwMode="auto">
              <a:xfrm>
                <a:off x="3226" y="1612"/>
                <a:ext cx="20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100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W</a:t>
                </a:r>
                <a:endParaRPr lang="en-US" altLang="zh-CN" sz="2000" baseline="-25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519" name="Line 26"/>
              <p:cNvSpPr>
                <a:spLocks noChangeShapeType="1"/>
              </p:cNvSpPr>
              <p:nvPr/>
            </p:nvSpPr>
            <p:spPr bwMode="auto">
              <a:xfrm>
                <a:off x="2689" y="1697"/>
                <a:ext cx="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20" name="Line 28"/>
              <p:cNvSpPr>
                <a:spLocks noChangeShapeType="1"/>
              </p:cNvSpPr>
              <p:nvPr/>
            </p:nvSpPr>
            <p:spPr bwMode="auto">
              <a:xfrm>
                <a:off x="3384" y="1697"/>
                <a:ext cx="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21" name="Line 31"/>
              <p:cNvSpPr>
                <a:spLocks noChangeShapeType="1"/>
              </p:cNvSpPr>
              <p:nvPr/>
            </p:nvSpPr>
            <p:spPr bwMode="auto">
              <a:xfrm>
                <a:off x="2250" y="1697"/>
                <a:ext cx="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22" name="Line 32"/>
              <p:cNvSpPr>
                <a:spLocks noChangeShapeType="1"/>
              </p:cNvSpPr>
              <p:nvPr/>
            </p:nvSpPr>
            <p:spPr bwMode="auto">
              <a:xfrm>
                <a:off x="2945" y="1697"/>
                <a:ext cx="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cxnSp>
            <p:nvCxnSpPr>
              <p:cNvPr id="101523" name="直接连接符 205"/>
              <p:cNvCxnSpPr>
                <a:cxnSpLocks noChangeShapeType="1"/>
              </p:cNvCxnSpPr>
              <p:nvPr/>
            </p:nvCxnSpPr>
            <p:spPr bwMode="auto">
              <a:xfrm rot="5400000">
                <a:off x="2173" y="1699"/>
                <a:ext cx="159" cy="1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524" name="直接连接符 206"/>
              <p:cNvCxnSpPr>
                <a:cxnSpLocks noChangeShapeType="1"/>
              </p:cNvCxnSpPr>
              <p:nvPr/>
            </p:nvCxnSpPr>
            <p:spPr bwMode="auto">
              <a:xfrm rot="5400000">
                <a:off x="2869" y="1698"/>
                <a:ext cx="159" cy="1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525" name="直接连接符 207"/>
              <p:cNvCxnSpPr>
                <a:cxnSpLocks noChangeShapeType="1"/>
              </p:cNvCxnSpPr>
              <p:nvPr/>
            </p:nvCxnSpPr>
            <p:spPr bwMode="auto">
              <a:xfrm rot="5400000">
                <a:off x="3568" y="1699"/>
                <a:ext cx="159" cy="1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1526" name="Rectangle 6"/>
              <p:cNvSpPr>
                <a:spLocks noChangeArrowheads="1"/>
              </p:cNvSpPr>
              <p:nvPr/>
            </p:nvSpPr>
            <p:spPr bwMode="auto">
              <a:xfrm>
                <a:off x="3947" y="1612"/>
                <a:ext cx="15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100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1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100" baseline="-25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527" name="Rectangle 20"/>
              <p:cNvSpPr>
                <a:spLocks noChangeArrowheads="1"/>
              </p:cNvSpPr>
              <p:nvPr/>
            </p:nvSpPr>
            <p:spPr bwMode="auto">
              <a:xfrm>
                <a:off x="4618" y="1612"/>
                <a:ext cx="15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100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1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2100" baseline="-25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528" name="Line 26"/>
              <p:cNvSpPr>
                <a:spLocks noChangeShapeType="1"/>
              </p:cNvSpPr>
              <p:nvPr/>
            </p:nvSpPr>
            <p:spPr bwMode="auto">
              <a:xfrm>
                <a:off x="4081" y="1697"/>
                <a:ext cx="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29" name="Line 28"/>
              <p:cNvSpPr>
                <a:spLocks noChangeShapeType="1"/>
              </p:cNvSpPr>
              <p:nvPr/>
            </p:nvSpPr>
            <p:spPr bwMode="auto">
              <a:xfrm>
                <a:off x="4776" y="1697"/>
                <a:ext cx="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30" name="Line 31"/>
              <p:cNvSpPr>
                <a:spLocks noChangeShapeType="1"/>
              </p:cNvSpPr>
              <p:nvPr/>
            </p:nvSpPr>
            <p:spPr bwMode="auto">
              <a:xfrm>
                <a:off x="3642" y="1697"/>
                <a:ext cx="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531" name="Line 32"/>
              <p:cNvSpPr>
                <a:spLocks noChangeShapeType="1"/>
              </p:cNvSpPr>
              <p:nvPr/>
            </p:nvSpPr>
            <p:spPr bwMode="auto">
              <a:xfrm>
                <a:off x="4337" y="1697"/>
                <a:ext cx="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cxnSp>
            <p:nvCxnSpPr>
              <p:cNvPr id="101532" name="直接连接符 215"/>
              <p:cNvCxnSpPr>
                <a:cxnSpLocks noChangeShapeType="1"/>
              </p:cNvCxnSpPr>
              <p:nvPr/>
            </p:nvCxnSpPr>
            <p:spPr bwMode="auto">
              <a:xfrm rot="5400000">
                <a:off x="3565" y="1699"/>
                <a:ext cx="159" cy="1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533" name="直接连接符 216"/>
              <p:cNvCxnSpPr>
                <a:cxnSpLocks noChangeShapeType="1"/>
              </p:cNvCxnSpPr>
              <p:nvPr/>
            </p:nvCxnSpPr>
            <p:spPr bwMode="auto">
              <a:xfrm rot="5400000">
                <a:off x="4260" y="1698"/>
                <a:ext cx="159" cy="1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534" name="直接连接符 217"/>
              <p:cNvCxnSpPr>
                <a:cxnSpLocks noChangeShapeType="1"/>
              </p:cNvCxnSpPr>
              <p:nvPr/>
            </p:nvCxnSpPr>
            <p:spPr bwMode="auto">
              <a:xfrm rot="5400000">
                <a:off x="4960" y="1699"/>
                <a:ext cx="159" cy="1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15" name="组合 380"/>
          <p:cNvGrpSpPr/>
          <p:nvPr/>
        </p:nvGrpSpPr>
        <p:grpSpPr bwMode="auto">
          <a:xfrm>
            <a:off x="598488" y="3121025"/>
            <a:ext cx="785812" cy="3236913"/>
            <a:chOff x="598906" y="3121200"/>
            <a:chExt cx="785873" cy="3236758"/>
          </a:xfrm>
        </p:grpSpPr>
        <p:sp>
          <p:nvSpPr>
            <p:cNvPr id="101488" name="Rectangle 55"/>
            <p:cNvSpPr>
              <a:spLocks noChangeArrowheads="1"/>
            </p:cNvSpPr>
            <p:nvPr/>
          </p:nvSpPr>
          <p:spPr bwMode="auto">
            <a:xfrm>
              <a:off x="598906" y="3933924"/>
              <a:ext cx="755020" cy="525784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1489" name="Line 57"/>
            <p:cNvSpPr>
              <a:spLocks noChangeShapeType="1"/>
            </p:cNvSpPr>
            <p:nvPr/>
          </p:nvSpPr>
          <p:spPr bwMode="auto">
            <a:xfrm>
              <a:off x="598906" y="3932245"/>
              <a:ext cx="7550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1490" name="组合 379"/>
            <p:cNvGrpSpPr/>
            <p:nvPr/>
          </p:nvGrpSpPr>
          <p:grpSpPr bwMode="auto">
            <a:xfrm>
              <a:off x="598906" y="3121200"/>
              <a:ext cx="785873" cy="504000"/>
              <a:chOff x="598906" y="3108353"/>
              <a:chExt cx="785873" cy="504000"/>
            </a:xfrm>
          </p:grpSpPr>
          <p:sp>
            <p:nvSpPr>
              <p:cNvPr id="101495" name="Freeform 60"/>
              <p:cNvSpPr/>
              <p:nvPr/>
            </p:nvSpPr>
            <p:spPr bwMode="auto">
              <a:xfrm>
                <a:off x="598906" y="3108353"/>
                <a:ext cx="741710" cy="463523"/>
              </a:xfrm>
              <a:custGeom>
                <a:avLst/>
                <a:gdLst>
                  <a:gd name="T0" fmla="*/ 2147483647 w 613"/>
                  <a:gd name="T1" fmla="*/ 2147483647 h 355"/>
                  <a:gd name="T2" fmla="*/ 2147483647 w 613"/>
                  <a:gd name="T3" fmla="*/ 2147483647 h 355"/>
                  <a:gd name="T4" fmla="*/ 0 w 613"/>
                  <a:gd name="T5" fmla="*/ 0 h 355"/>
                  <a:gd name="T6" fmla="*/ 0 w 613"/>
                  <a:gd name="T7" fmla="*/ 2147483647 h 355"/>
                  <a:gd name="T8" fmla="*/ 2147483647 w 613"/>
                  <a:gd name="T9" fmla="*/ 2147483647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3"/>
                  <a:gd name="T16" fmla="*/ 0 h 355"/>
                  <a:gd name="T17" fmla="*/ 613 w 613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3" h="355">
                    <a:moveTo>
                      <a:pt x="453" y="196"/>
                    </a:moveTo>
                    <a:lnTo>
                      <a:pt x="581" y="2"/>
                    </a:lnTo>
                    <a:lnTo>
                      <a:pt x="0" y="0"/>
                    </a:lnTo>
                    <a:lnTo>
                      <a:pt x="0" y="355"/>
                    </a:lnTo>
                    <a:lnTo>
                      <a:pt x="613" y="355"/>
                    </a:lnTo>
                  </a:path>
                </a:pathLst>
              </a:cu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96" name="Line 61"/>
              <p:cNvSpPr>
                <a:spLocks noChangeShapeType="1"/>
              </p:cNvSpPr>
              <p:nvPr/>
            </p:nvSpPr>
            <p:spPr bwMode="auto">
              <a:xfrm>
                <a:off x="601326" y="3110964"/>
                <a:ext cx="755020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97" name="Line 62"/>
              <p:cNvSpPr>
                <a:spLocks noChangeShapeType="1"/>
              </p:cNvSpPr>
              <p:nvPr/>
            </p:nvSpPr>
            <p:spPr bwMode="auto">
              <a:xfrm>
                <a:off x="601326" y="3549679"/>
                <a:ext cx="755020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98" name="Line 63"/>
              <p:cNvSpPr>
                <a:spLocks noChangeShapeType="1"/>
              </p:cNvSpPr>
              <p:nvPr/>
            </p:nvSpPr>
            <p:spPr bwMode="auto">
              <a:xfrm rot="8100000">
                <a:off x="1240189" y="3268954"/>
                <a:ext cx="0" cy="343399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99" name="Line 64"/>
              <p:cNvSpPr>
                <a:spLocks noChangeShapeType="1"/>
              </p:cNvSpPr>
              <p:nvPr/>
            </p:nvSpPr>
            <p:spPr bwMode="auto">
              <a:xfrm rot="2700000">
                <a:off x="1225669" y="3076548"/>
                <a:ext cx="0" cy="318221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01491" name="Rectangle 55"/>
            <p:cNvSpPr>
              <a:spLocks noChangeArrowheads="1"/>
            </p:cNvSpPr>
            <p:nvPr/>
          </p:nvSpPr>
          <p:spPr bwMode="auto">
            <a:xfrm>
              <a:off x="601290" y="4833932"/>
              <a:ext cx="748800" cy="525784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1492" name="Line 57"/>
            <p:cNvSpPr>
              <a:spLocks noChangeShapeType="1"/>
            </p:cNvSpPr>
            <p:nvPr/>
          </p:nvSpPr>
          <p:spPr bwMode="auto">
            <a:xfrm>
              <a:off x="602270" y="4833932"/>
              <a:ext cx="75502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93" name="Rectangle 56"/>
            <p:cNvSpPr>
              <a:spLocks noChangeArrowheads="1"/>
            </p:cNvSpPr>
            <p:nvPr/>
          </p:nvSpPr>
          <p:spPr bwMode="auto">
            <a:xfrm>
              <a:off x="612000" y="5789633"/>
              <a:ext cx="756000" cy="568325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1494" name="Line 58"/>
            <p:cNvSpPr>
              <a:spLocks noChangeShapeType="1"/>
            </p:cNvSpPr>
            <p:nvPr/>
          </p:nvSpPr>
          <p:spPr bwMode="auto">
            <a:xfrm>
              <a:off x="612000" y="6051567"/>
              <a:ext cx="72000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9534" name="Line 95"/>
          <p:cNvSpPr>
            <a:spLocks noChangeShapeType="1"/>
          </p:cNvSpPr>
          <p:nvPr/>
        </p:nvSpPr>
        <p:spPr bwMode="auto">
          <a:xfrm rot="2700000">
            <a:off x="6657975" y="3835400"/>
            <a:ext cx="0" cy="6858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7" name="组合 360"/>
          <p:cNvGrpSpPr/>
          <p:nvPr/>
        </p:nvGrpSpPr>
        <p:grpSpPr bwMode="auto">
          <a:xfrm>
            <a:off x="6786563" y="3127375"/>
            <a:ext cx="1214437" cy="3265488"/>
            <a:chOff x="6786578" y="3126605"/>
            <a:chExt cx="1214446" cy="3266272"/>
          </a:xfrm>
        </p:grpSpPr>
        <p:sp>
          <p:nvSpPr>
            <p:cNvPr id="101478" name="Line 110"/>
            <p:cNvSpPr>
              <a:spLocks noChangeShapeType="1"/>
            </p:cNvSpPr>
            <p:nvPr/>
          </p:nvSpPr>
          <p:spPr bwMode="auto">
            <a:xfrm>
              <a:off x="6786578" y="3126605"/>
              <a:ext cx="97200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1479" name="组合 258"/>
            <p:cNvGrpSpPr/>
            <p:nvPr/>
          </p:nvGrpSpPr>
          <p:grpSpPr bwMode="auto">
            <a:xfrm>
              <a:off x="6897534" y="3930745"/>
              <a:ext cx="1103490" cy="523207"/>
              <a:chOff x="6897534" y="3930745"/>
              <a:chExt cx="1103490" cy="523207"/>
            </a:xfrm>
          </p:grpSpPr>
          <p:sp>
            <p:nvSpPr>
              <p:cNvPr id="101486" name="Line 108"/>
              <p:cNvSpPr>
                <a:spLocks noChangeShapeType="1"/>
              </p:cNvSpPr>
              <p:nvPr/>
            </p:nvSpPr>
            <p:spPr bwMode="auto">
              <a:xfrm>
                <a:off x="6897534" y="3930746"/>
                <a:ext cx="1103490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87" name="Rectangle 114"/>
              <p:cNvSpPr>
                <a:spLocks noChangeArrowheads="1"/>
              </p:cNvSpPr>
              <p:nvPr/>
            </p:nvSpPr>
            <p:spPr bwMode="auto">
              <a:xfrm>
                <a:off x="6897534" y="3930745"/>
                <a:ext cx="1103490" cy="523207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1480" name="组合 261"/>
            <p:cNvGrpSpPr/>
            <p:nvPr/>
          </p:nvGrpSpPr>
          <p:grpSpPr bwMode="auto">
            <a:xfrm>
              <a:off x="6897534" y="4830754"/>
              <a:ext cx="1098000" cy="527072"/>
              <a:chOff x="4567205" y="4830754"/>
              <a:chExt cx="1103490" cy="527072"/>
            </a:xfrm>
          </p:grpSpPr>
          <p:sp>
            <p:nvSpPr>
              <p:cNvPr id="101484" name="Line 108"/>
              <p:cNvSpPr>
                <a:spLocks noChangeShapeType="1"/>
              </p:cNvSpPr>
              <p:nvPr/>
            </p:nvSpPr>
            <p:spPr bwMode="auto">
              <a:xfrm>
                <a:off x="4567205" y="4830754"/>
                <a:ext cx="1103490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85" name="Rectangle 114"/>
              <p:cNvSpPr>
                <a:spLocks noChangeArrowheads="1"/>
              </p:cNvSpPr>
              <p:nvPr/>
            </p:nvSpPr>
            <p:spPr bwMode="auto">
              <a:xfrm>
                <a:off x="4567205" y="4834619"/>
                <a:ext cx="1103490" cy="523207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1481" name="Line 110"/>
            <p:cNvSpPr>
              <a:spLocks noChangeShapeType="1"/>
            </p:cNvSpPr>
            <p:nvPr/>
          </p:nvSpPr>
          <p:spPr bwMode="auto">
            <a:xfrm>
              <a:off x="6797542" y="3560400"/>
              <a:ext cx="97200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82" name="Line 84"/>
            <p:cNvSpPr>
              <a:spLocks noChangeShapeType="1"/>
            </p:cNvSpPr>
            <p:nvPr/>
          </p:nvSpPr>
          <p:spPr bwMode="auto">
            <a:xfrm>
              <a:off x="6858016" y="6072206"/>
              <a:ext cx="111600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83" name="Rectangle 115"/>
            <p:cNvSpPr>
              <a:spLocks noChangeArrowheads="1"/>
            </p:cNvSpPr>
            <p:nvPr/>
          </p:nvSpPr>
          <p:spPr bwMode="auto">
            <a:xfrm>
              <a:off x="6885024" y="5784864"/>
              <a:ext cx="1116000" cy="608013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" name="Group 106"/>
          <p:cNvGrpSpPr/>
          <p:nvPr/>
        </p:nvGrpSpPr>
        <p:grpSpPr bwMode="auto">
          <a:xfrm>
            <a:off x="1338263" y="3127375"/>
            <a:ext cx="1133475" cy="3227388"/>
            <a:chOff x="843" y="1970"/>
            <a:chExt cx="714" cy="2033"/>
          </a:xfrm>
        </p:grpSpPr>
        <p:sp>
          <p:nvSpPr>
            <p:cNvPr id="101466" name="Freeform 67"/>
            <p:cNvSpPr/>
            <p:nvPr/>
          </p:nvSpPr>
          <p:spPr bwMode="auto">
            <a:xfrm>
              <a:off x="843" y="2479"/>
              <a:ext cx="681" cy="329"/>
            </a:xfrm>
            <a:custGeom>
              <a:avLst/>
              <a:gdLst>
                <a:gd name="T0" fmla="*/ 0 w 894"/>
                <a:gd name="T1" fmla="*/ 8 h 429"/>
                <a:gd name="T2" fmla="*/ 15 w 894"/>
                <a:gd name="T3" fmla="*/ 8 h 429"/>
                <a:gd name="T4" fmla="*/ 8 w 894"/>
                <a:gd name="T5" fmla="*/ 0 h 429"/>
                <a:gd name="T6" fmla="*/ 2 w 894"/>
                <a:gd name="T7" fmla="*/ 2 h 4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4"/>
                <a:gd name="T13" fmla="*/ 0 h 429"/>
                <a:gd name="T14" fmla="*/ 894 w 894"/>
                <a:gd name="T15" fmla="*/ 429 h 4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4" h="429">
                  <a:moveTo>
                    <a:pt x="0" y="429"/>
                  </a:moveTo>
                  <a:lnTo>
                    <a:pt x="894" y="429"/>
                  </a:lnTo>
                  <a:lnTo>
                    <a:pt x="502" y="0"/>
                  </a:lnTo>
                  <a:lnTo>
                    <a:pt x="23" y="13"/>
                  </a:lnTo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67" name="Line 68"/>
            <p:cNvSpPr>
              <a:spLocks noChangeShapeType="1"/>
            </p:cNvSpPr>
            <p:nvPr/>
          </p:nvSpPr>
          <p:spPr bwMode="auto">
            <a:xfrm>
              <a:off x="853" y="1979"/>
              <a:ext cx="701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68" name="Line 70"/>
            <p:cNvSpPr>
              <a:spLocks noChangeShapeType="1"/>
            </p:cNvSpPr>
            <p:nvPr/>
          </p:nvSpPr>
          <p:spPr bwMode="auto">
            <a:xfrm>
              <a:off x="853" y="2261"/>
              <a:ext cx="701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69" name="Line 71"/>
            <p:cNvSpPr>
              <a:spLocks noChangeShapeType="1"/>
            </p:cNvSpPr>
            <p:nvPr/>
          </p:nvSpPr>
          <p:spPr bwMode="auto">
            <a:xfrm>
              <a:off x="853" y="2475"/>
              <a:ext cx="366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70" name="Line 72"/>
            <p:cNvSpPr>
              <a:spLocks noChangeShapeType="1"/>
            </p:cNvSpPr>
            <p:nvPr/>
          </p:nvSpPr>
          <p:spPr bwMode="auto">
            <a:xfrm>
              <a:off x="853" y="1970"/>
              <a:ext cx="695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71" name="Line 73"/>
            <p:cNvSpPr>
              <a:spLocks noChangeShapeType="1"/>
            </p:cNvSpPr>
            <p:nvPr/>
          </p:nvSpPr>
          <p:spPr bwMode="auto">
            <a:xfrm>
              <a:off x="853" y="2243"/>
              <a:ext cx="695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1472" name="组合 269"/>
            <p:cNvGrpSpPr/>
            <p:nvPr/>
          </p:nvGrpSpPr>
          <p:grpSpPr bwMode="auto">
            <a:xfrm>
              <a:off x="854" y="3043"/>
              <a:ext cx="703" cy="332"/>
              <a:chOff x="4567205" y="4830754"/>
              <a:chExt cx="1103490" cy="527072"/>
            </a:xfrm>
          </p:grpSpPr>
          <p:sp>
            <p:nvSpPr>
              <p:cNvPr id="101476" name="Line 108"/>
              <p:cNvSpPr>
                <a:spLocks noChangeShapeType="1"/>
              </p:cNvSpPr>
              <p:nvPr/>
            </p:nvSpPr>
            <p:spPr bwMode="auto">
              <a:xfrm>
                <a:off x="4567205" y="4830754"/>
                <a:ext cx="1103490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77" name="Rectangle 114"/>
              <p:cNvSpPr>
                <a:spLocks noChangeArrowheads="1"/>
              </p:cNvSpPr>
              <p:nvPr/>
            </p:nvSpPr>
            <p:spPr bwMode="auto">
              <a:xfrm>
                <a:off x="4567205" y="4834619"/>
                <a:ext cx="1103490" cy="523207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1473" name="组合 351"/>
            <p:cNvGrpSpPr/>
            <p:nvPr/>
          </p:nvGrpSpPr>
          <p:grpSpPr bwMode="auto">
            <a:xfrm>
              <a:off x="853" y="3645"/>
              <a:ext cx="703" cy="358"/>
              <a:chOff x="857224" y="5786454"/>
              <a:chExt cx="1027043" cy="568325"/>
            </a:xfrm>
          </p:grpSpPr>
          <p:sp>
            <p:nvSpPr>
              <p:cNvPr id="101474" name="Rectangle 56"/>
              <p:cNvSpPr>
                <a:spLocks noChangeArrowheads="1"/>
              </p:cNvSpPr>
              <p:nvPr/>
            </p:nvSpPr>
            <p:spPr bwMode="auto">
              <a:xfrm>
                <a:off x="857224" y="5786454"/>
                <a:ext cx="1027043" cy="568325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475" name="Line 58"/>
              <p:cNvSpPr>
                <a:spLocks noChangeShapeType="1"/>
              </p:cNvSpPr>
              <p:nvPr/>
            </p:nvSpPr>
            <p:spPr bwMode="auto">
              <a:xfrm>
                <a:off x="857224" y="6048388"/>
                <a:ext cx="990600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23" name="Group 119"/>
          <p:cNvGrpSpPr/>
          <p:nvPr/>
        </p:nvGrpSpPr>
        <p:grpSpPr bwMode="auto">
          <a:xfrm>
            <a:off x="2428875" y="3127375"/>
            <a:ext cx="1152525" cy="3227388"/>
            <a:chOff x="1530" y="1970"/>
            <a:chExt cx="726" cy="2033"/>
          </a:xfrm>
        </p:grpSpPr>
        <p:grpSp>
          <p:nvGrpSpPr>
            <p:cNvPr id="101455" name="Group 120"/>
            <p:cNvGrpSpPr/>
            <p:nvPr/>
          </p:nvGrpSpPr>
          <p:grpSpPr bwMode="auto">
            <a:xfrm>
              <a:off x="1530" y="1970"/>
              <a:ext cx="726" cy="2033"/>
              <a:chOff x="1530" y="1970"/>
              <a:chExt cx="726" cy="2033"/>
            </a:xfrm>
          </p:grpSpPr>
          <p:grpSp>
            <p:nvGrpSpPr>
              <p:cNvPr id="101457" name="Group 121"/>
              <p:cNvGrpSpPr/>
              <p:nvPr/>
            </p:nvGrpSpPr>
            <p:grpSpPr bwMode="auto">
              <a:xfrm>
                <a:off x="1530" y="1970"/>
                <a:ext cx="726" cy="2033"/>
                <a:chOff x="1530" y="1970"/>
                <a:chExt cx="726" cy="2033"/>
              </a:xfrm>
            </p:grpSpPr>
            <p:sp>
              <p:nvSpPr>
                <p:cNvPr id="101460" name="Line 82"/>
                <p:cNvSpPr>
                  <a:spLocks noChangeShapeType="1"/>
                </p:cNvSpPr>
                <p:nvPr/>
              </p:nvSpPr>
              <p:spPr bwMode="auto">
                <a:xfrm>
                  <a:off x="1548" y="1970"/>
                  <a:ext cx="695" cy="0"/>
                </a:xfrm>
                <a:prstGeom prst="line">
                  <a:avLst/>
                </a:prstGeom>
                <a:noFill/>
                <a:ln w="76200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1461" name="Line 83"/>
                <p:cNvSpPr>
                  <a:spLocks noChangeShapeType="1"/>
                </p:cNvSpPr>
                <p:nvPr/>
              </p:nvSpPr>
              <p:spPr bwMode="auto">
                <a:xfrm>
                  <a:off x="1548" y="2243"/>
                  <a:ext cx="695" cy="0"/>
                </a:xfrm>
                <a:prstGeom prst="line">
                  <a:avLst/>
                </a:prstGeom>
                <a:noFill/>
                <a:ln w="76200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1462" name="Line 84"/>
                <p:cNvSpPr>
                  <a:spLocks noChangeShapeType="1"/>
                </p:cNvSpPr>
                <p:nvPr/>
              </p:nvSpPr>
              <p:spPr bwMode="auto">
                <a:xfrm>
                  <a:off x="1530" y="2790"/>
                  <a:ext cx="715" cy="0"/>
                </a:xfrm>
                <a:prstGeom prst="line">
                  <a:avLst/>
                </a:prstGeom>
                <a:noFill/>
                <a:ln w="76200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1463" name="Freeform 67"/>
                <p:cNvSpPr/>
                <p:nvPr/>
              </p:nvSpPr>
              <p:spPr bwMode="auto">
                <a:xfrm>
                  <a:off x="1530" y="3045"/>
                  <a:ext cx="726" cy="330"/>
                </a:xfrm>
                <a:custGeom>
                  <a:avLst/>
                  <a:gdLst>
                    <a:gd name="T0" fmla="*/ 0 w 894"/>
                    <a:gd name="T1" fmla="*/ 8 h 429"/>
                    <a:gd name="T2" fmla="*/ 40 w 894"/>
                    <a:gd name="T3" fmla="*/ 8 h 429"/>
                    <a:gd name="T4" fmla="*/ 22 w 894"/>
                    <a:gd name="T5" fmla="*/ 0 h 429"/>
                    <a:gd name="T6" fmla="*/ 2 w 894"/>
                    <a:gd name="T7" fmla="*/ 2 h 42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94"/>
                    <a:gd name="T13" fmla="*/ 0 h 429"/>
                    <a:gd name="T14" fmla="*/ 894 w 894"/>
                    <a:gd name="T15" fmla="*/ 429 h 42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94" h="429">
                      <a:moveTo>
                        <a:pt x="0" y="429"/>
                      </a:moveTo>
                      <a:lnTo>
                        <a:pt x="894" y="429"/>
                      </a:lnTo>
                      <a:lnTo>
                        <a:pt x="502" y="0"/>
                      </a:lnTo>
                      <a:lnTo>
                        <a:pt x="23" y="13"/>
                      </a:lnTo>
                    </a:path>
                  </a:pathLst>
                </a:custGeom>
                <a:solidFill>
                  <a:schemeClr val="folHlink">
                    <a:alpha val="50195"/>
                  </a:schemeClr>
                </a:solidFill>
                <a:ln w="9525">
                  <a:solidFill>
                    <a:schemeClr val="folHlink"/>
                  </a:solidFill>
                  <a:rou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1464" name="Line 71"/>
                <p:cNvSpPr>
                  <a:spLocks noChangeShapeType="1"/>
                </p:cNvSpPr>
                <p:nvPr/>
              </p:nvSpPr>
              <p:spPr bwMode="auto">
                <a:xfrm>
                  <a:off x="1541" y="3043"/>
                  <a:ext cx="390" cy="0"/>
                </a:xfrm>
                <a:prstGeom prst="line">
                  <a:avLst/>
                </a:prstGeom>
                <a:noFill/>
                <a:ln w="76200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01465" name="Rectangle 56"/>
                <p:cNvSpPr>
                  <a:spLocks noChangeArrowheads="1"/>
                </p:cNvSpPr>
                <p:nvPr/>
              </p:nvSpPr>
              <p:spPr bwMode="auto">
                <a:xfrm>
                  <a:off x="1540" y="3645"/>
                  <a:ext cx="696" cy="358"/>
                </a:xfrm>
                <a:prstGeom prst="rect">
                  <a:avLst/>
                </a:prstGeom>
                <a:solidFill>
                  <a:schemeClr val="folHlink">
                    <a:alpha val="50195"/>
                  </a:schemeClr>
                </a:solidFill>
                <a:ln w="9525">
                  <a:solidFill>
                    <a:schemeClr val="folHlink"/>
                  </a:solidFill>
                  <a:miter lim="800000"/>
                </a:ln>
              </p:spPr>
              <p:txBody>
                <a:bodyPr wrap="none" anchor="ctr"/>
                <a:lstStyle>
                  <a:lvl1pPr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kumimoji="1" sz="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</a:pPr>
                  <a:endParaRPr lang="zh-CN" altLang="en-US" sz="2400" b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1458" name="Line 58"/>
              <p:cNvSpPr>
                <a:spLocks noChangeShapeType="1"/>
              </p:cNvSpPr>
              <p:nvPr/>
            </p:nvSpPr>
            <p:spPr bwMode="auto">
              <a:xfrm>
                <a:off x="1540" y="3810"/>
                <a:ext cx="696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59" name="Line 80"/>
              <p:cNvSpPr>
                <a:spLocks noChangeShapeType="1"/>
              </p:cNvSpPr>
              <p:nvPr/>
            </p:nvSpPr>
            <p:spPr bwMode="auto">
              <a:xfrm>
                <a:off x="1542" y="2261"/>
                <a:ext cx="701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01456" name="Line 79"/>
            <p:cNvSpPr>
              <a:spLocks noChangeShapeType="1"/>
            </p:cNvSpPr>
            <p:nvPr/>
          </p:nvSpPr>
          <p:spPr bwMode="auto">
            <a:xfrm>
              <a:off x="1542" y="1979"/>
              <a:ext cx="701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" name="组合 363"/>
          <p:cNvGrpSpPr/>
          <p:nvPr/>
        </p:nvGrpSpPr>
        <p:grpSpPr bwMode="auto">
          <a:xfrm>
            <a:off x="3544888" y="3127375"/>
            <a:ext cx="1143000" cy="3225800"/>
            <a:chOff x="3544876" y="3126604"/>
            <a:chExt cx="1142992" cy="3226584"/>
          </a:xfrm>
        </p:grpSpPr>
        <p:sp>
          <p:nvSpPr>
            <p:cNvPr id="101448" name="Line 92"/>
            <p:cNvSpPr>
              <a:spLocks noChangeShapeType="1"/>
            </p:cNvSpPr>
            <p:nvPr/>
          </p:nvSpPr>
          <p:spPr bwMode="auto">
            <a:xfrm>
              <a:off x="3560904" y="3126604"/>
              <a:ext cx="111600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49" name="Line 92"/>
            <p:cNvSpPr>
              <a:spLocks noChangeShapeType="1"/>
            </p:cNvSpPr>
            <p:nvPr/>
          </p:nvSpPr>
          <p:spPr bwMode="auto">
            <a:xfrm>
              <a:off x="3571868" y="3560400"/>
              <a:ext cx="111600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50" name="Line 84"/>
            <p:cNvSpPr>
              <a:spLocks noChangeShapeType="1"/>
            </p:cNvSpPr>
            <p:nvPr/>
          </p:nvSpPr>
          <p:spPr bwMode="auto">
            <a:xfrm>
              <a:off x="3544876" y="4429132"/>
              <a:ext cx="111600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1451" name="组合 349"/>
            <p:cNvGrpSpPr/>
            <p:nvPr/>
          </p:nvGrpSpPr>
          <p:grpSpPr bwMode="auto">
            <a:xfrm>
              <a:off x="3552828" y="5784863"/>
              <a:ext cx="1130400" cy="568325"/>
              <a:chOff x="1847824" y="5784863"/>
              <a:chExt cx="1447800" cy="568325"/>
            </a:xfrm>
          </p:grpSpPr>
          <p:sp>
            <p:nvSpPr>
              <p:cNvPr id="101453" name="Rectangle 69"/>
              <p:cNvSpPr>
                <a:spLocks noChangeArrowheads="1"/>
              </p:cNvSpPr>
              <p:nvPr/>
            </p:nvSpPr>
            <p:spPr bwMode="auto">
              <a:xfrm>
                <a:off x="1847824" y="5784863"/>
                <a:ext cx="1447800" cy="568325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454" name="Line 74"/>
              <p:cNvSpPr>
                <a:spLocks noChangeShapeType="1"/>
              </p:cNvSpPr>
              <p:nvPr/>
            </p:nvSpPr>
            <p:spPr bwMode="auto">
              <a:xfrm>
                <a:off x="1847824" y="6048388"/>
                <a:ext cx="1447800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01452" name="Line 84"/>
            <p:cNvSpPr>
              <a:spLocks noChangeShapeType="1"/>
            </p:cNvSpPr>
            <p:nvPr/>
          </p:nvSpPr>
          <p:spPr bwMode="auto">
            <a:xfrm>
              <a:off x="3564000" y="5328000"/>
              <a:ext cx="111600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9579" name="Line 95"/>
          <p:cNvSpPr>
            <a:spLocks noChangeShapeType="1"/>
          </p:cNvSpPr>
          <p:nvPr/>
        </p:nvSpPr>
        <p:spPr bwMode="auto">
          <a:xfrm rot="2700000">
            <a:off x="5514975" y="4735513"/>
            <a:ext cx="0" cy="6858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8" name="Group 140"/>
          <p:cNvGrpSpPr/>
          <p:nvPr/>
        </p:nvGrpSpPr>
        <p:grpSpPr bwMode="auto">
          <a:xfrm>
            <a:off x="4643438" y="3128963"/>
            <a:ext cx="1163637" cy="3224212"/>
            <a:chOff x="2925" y="1971"/>
            <a:chExt cx="733" cy="2031"/>
          </a:xfrm>
        </p:grpSpPr>
        <p:grpSp>
          <p:nvGrpSpPr>
            <p:cNvPr id="101441" name="Group 141"/>
            <p:cNvGrpSpPr/>
            <p:nvPr/>
          </p:nvGrpSpPr>
          <p:grpSpPr bwMode="auto">
            <a:xfrm>
              <a:off x="2925" y="1971"/>
              <a:ext cx="733" cy="2031"/>
              <a:chOff x="2925" y="1971"/>
              <a:chExt cx="733" cy="2031"/>
            </a:xfrm>
          </p:grpSpPr>
          <p:sp>
            <p:nvSpPr>
              <p:cNvPr id="101443" name="Line 92"/>
              <p:cNvSpPr>
                <a:spLocks noChangeShapeType="1"/>
              </p:cNvSpPr>
              <p:nvPr/>
            </p:nvSpPr>
            <p:spPr bwMode="auto">
              <a:xfrm>
                <a:off x="2925" y="1971"/>
                <a:ext cx="726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44" name="Line 92"/>
              <p:cNvSpPr>
                <a:spLocks noChangeShapeType="1"/>
              </p:cNvSpPr>
              <p:nvPr/>
            </p:nvSpPr>
            <p:spPr bwMode="auto">
              <a:xfrm>
                <a:off x="2932" y="2243"/>
                <a:ext cx="726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45" name="Line 84"/>
              <p:cNvSpPr>
                <a:spLocks noChangeShapeType="1"/>
              </p:cNvSpPr>
              <p:nvPr/>
            </p:nvSpPr>
            <p:spPr bwMode="auto">
              <a:xfrm>
                <a:off x="2931" y="2790"/>
                <a:ext cx="714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46" name="Freeform 85"/>
              <p:cNvSpPr/>
              <p:nvPr/>
            </p:nvSpPr>
            <p:spPr bwMode="auto">
              <a:xfrm>
                <a:off x="2942" y="3644"/>
                <a:ext cx="658" cy="358"/>
              </a:xfrm>
              <a:custGeom>
                <a:avLst/>
                <a:gdLst>
                  <a:gd name="T0" fmla="*/ 0 w 931"/>
                  <a:gd name="T1" fmla="*/ 0 h 358"/>
                  <a:gd name="T2" fmla="*/ 6 w 931"/>
                  <a:gd name="T3" fmla="*/ 0 h 358"/>
                  <a:gd name="T4" fmla="*/ 4 w 931"/>
                  <a:gd name="T5" fmla="*/ 166 h 358"/>
                  <a:gd name="T6" fmla="*/ 6 w 931"/>
                  <a:gd name="T7" fmla="*/ 355 h 358"/>
                  <a:gd name="T8" fmla="*/ 1 w 931"/>
                  <a:gd name="T9" fmla="*/ 358 h 3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31"/>
                  <a:gd name="T16" fmla="*/ 0 h 358"/>
                  <a:gd name="T17" fmla="*/ 931 w 931"/>
                  <a:gd name="T18" fmla="*/ 358 h 3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31" h="358">
                    <a:moveTo>
                      <a:pt x="0" y="0"/>
                    </a:moveTo>
                    <a:lnTo>
                      <a:pt x="931" y="0"/>
                    </a:lnTo>
                    <a:lnTo>
                      <a:pt x="774" y="166"/>
                    </a:lnTo>
                    <a:lnTo>
                      <a:pt x="931" y="355"/>
                    </a:lnTo>
                    <a:lnTo>
                      <a:pt x="6" y="358"/>
                    </a:lnTo>
                  </a:path>
                </a:pathLst>
              </a:cu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47" name="Line 84"/>
              <p:cNvSpPr>
                <a:spLocks noChangeShapeType="1"/>
              </p:cNvSpPr>
              <p:nvPr/>
            </p:nvSpPr>
            <p:spPr bwMode="auto">
              <a:xfrm>
                <a:off x="2942" y="3356"/>
                <a:ext cx="386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01442" name="Line 81"/>
            <p:cNvSpPr>
              <a:spLocks noChangeShapeType="1"/>
            </p:cNvSpPr>
            <p:nvPr/>
          </p:nvSpPr>
          <p:spPr bwMode="auto">
            <a:xfrm>
              <a:off x="2946" y="3810"/>
              <a:ext cx="577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1393" name="Group 148"/>
          <p:cNvGrpSpPr/>
          <p:nvPr/>
        </p:nvGrpSpPr>
        <p:grpSpPr bwMode="auto">
          <a:xfrm>
            <a:off x="304800" y="423863"/>
            <a:ext cx="7580313" cy="641350"/>
            <a:chOff x="192" y="267"/>
            <a:chExt cx="4775" cy="404"/>
          </a:xfrm>
        </p:grpSpPr>
        <p:sp>
          <p:nvSpPr>
            <p:cNvPr id="101439" name="Text Box 149"/>
            <p:cNvSpPr txBox="1">
              <a:spLocks noChangeArrowheads="1"/>
            </p:cNvSpPr>
            <p:nvPr/>
          </p:nvSpPr>
          <p:spPr bwMode="auto">
            <a:xfrm>
              <a:off x="192" y="267"/>
              <a:ext cx="465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3600">
                  <a:latin typeface="Times New Roman" panose="02020603050405020304" pitchFamily="18" charset="0"/>
                </a:rPr>
                <a:t>(4) 半同步通信</a:t>
              </a:r>
              <a:endParaRPr lang="en-US" altLang="zh-CN" sz="3600">
                <a:latin typeface="Times New Roman" panose="02020603050405020304" pitchFamily="18" charset="0"/>
              </a:endParaRPr>
            </a:p>
          </p:txBody>
        </p:sp>
        <p:sp>
          <p:nvSpPr>
            <p:cNvPr id="101440" name="Text Box 150"/>
            <p:cNvSpPr txBox="1">
              <a:spLocks noChangeArrowheads="1"/>
            </p:cNvSpPr>
            <p:nvPr/>
          </p:nvSpPr>
          <p:spPr bwMode="auto">
            <a:xfrm>
              <a:off x="1968" y="267"/>
              <a:ext cx="299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600">
                  <a:latin typeface="Times New Roman" panose="02020603050405020304" pitchFamily="18" charset="0"/>
                </a:rPr>
                <a:t>（</a:t>
              </a:r>
              <a:r>
                <a:rPr lang="zh-CN" altLang="en-US" sz="36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同步</a:t>
              </a:r>
              <a:r>
                <a:rPr lang="zh-CN" altLang="en-US" sz="3600">
                  <a:latin typeface="Times New Roman" panose="02020603050405020304" pitchFamily="18" charset="0"/>
                </a:rPr>
                <a:t>、</a:t>
              </a:r>
              <a:r>
                <a:rPr lang="zh-CN" altLang="en-US" sz="36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异步 </a:t>
              </a:r>
              <a:r>
                <a:rPr lang="zh-CN" altLang="en-US" sz="3600">
                  <a:latin typeface="Times New Roman" panose="02020603050405020304" pitchFamily="18" charset="0"/>
                </a:rPr>
                <a:t>结合）</a:t>
              </a:r>
              <a:endParaRPr lang="zh-CN" altLang="en-US" sz="3600">
                <a:latin typeface="Times New Roman" panose="02020603050405020304" pitchFamily="18" charset="0"/>
              </a:endParaRPr>
            </a:p>
          </p:txBody>
        </p:sp>
      </p:grpSp>
      <p:sp>
        <p:nvSpPr>
          <p:cNvPr id="189591" name="Line 75"/>
          <p:cNvSpPr>
            <a:spLocks noChangeShapeType="1"/>
          </p:cNvSpPr>
          <p:nvPr/>
        </p:nvSpPr>
        <p:spPr bwMode="auto">
          <a:xfrm rot="8100000">
            <a:off x="2166938" y="3822700"/>
            <a:ext cx="0" cy="73025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9592" name="Line 75"/>
          <p:cNvSpPr>
            <a:spLocks noChangeShapeType="1"/>
          </p:cNvSpPr>
          <p:nvPr/>
        </p:nvSpPr>
        <p:spPr bwMode="auto">
          <a:xfrm rot="8100000">
            <a:off x="3313113" y="4706938"/>
            <a:ext cx="0" cy="73025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0657" name="Line 65"/>
          <p:cNvSpPr>
            <a:spLocks noChangeShapeType="1"/>
          </p:cNvSpPr>
          <p:nvPr/>
        </p:nvSpPr>
        <p:spPr bwMode="auto">
          <a:xfrm>
            <a:off x="1354138" y="2755900"/>
            <a:ext cx="0" cy="39243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0668" name="Line 76"/>
          <p:cNvSpPr>
            <a:spLocks noChangeShapeType="1"/>
          </p:cNvSpPr>
          <p:nvPr/>
        </p:nvSpPr>
        <p:spPr bwMode="auto">
          <a:xfrm>
            <a:off x="2457450" y="2755900"/>
            <a:ext cx="0" cy="39243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0680" name="Line 88"/>
          <p:cNvSpPr>
            <a:spLocks noChangeShapeType="1"/>
          </p:cNvSpPr>
          <p:nvPr/>
        </p:nvSpPr>
        <p:spPr bwMode="auto">
          <a:xfrm>
            <a:off x="3560763" y="2755900"/>
            <a:ext cx="0" cy="39243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4" name="Line 88"/>
          <p:cNvSpPr>
            <a:spLocks noChangeShapeType="1"/>
          </p:cNvSpPr>
          <p:nvPr/>
        </p:nvSpPr>
        <p:spPr bwMode="auto">
          <a:xfrm>
            <a:off x="4679950" y="2755900"/>
            <a:ext cx="0" cy="39243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5" name="Line 88"/>
          <p:cNvSpPr>
            <a:spLocks noChangeShapeType="1"/>
          </p:cNvSpPr>
          <p:nvPr/>
        </p:nvSpPr>
        <p:spPr bwMode="auto">
          <a:xfrm>
            <a:off x="5786438" y="2755900"/>
            <a:ext cx="0" cy="39243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6" name="Line 88"/>
          <p:cNvSpPr>
            <a:spLocks noChangeShapeType="1"/>
          </p:cNvSpPr>
          <p:nvPr/>
        </p:nvSpPr>
        <p:spPr bwMode="auto">
          <a:xfrm>
            <a:off x="6894513" y="2755900"/>
            <a:ext cx="0" cy="39243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9599" name="Freeform 104"/>
          <p:cNvSpPr/>
          <p:nvPr/>
        </p:nvSpPr>
        <p:spPr bwMode="auto">
          <a:xfrm>
            <a:off x="6584950" y="5784850"/>
            <a:ext cx="331788" cy="601663"/>
          </a:xfrm>
          <a:custGeom>
            <a:avLst/>
            <a:gdLst>
              <a:gd name="T0" fmla="*/ 2147483647 w 257"/>
              <a:gd name="T1" fmla="*/ 2147483647 h 379"/>
              <a:gd name="T2" fmla="*/ 0 w 257"/>
              <a:gd name="T3" fmla="*/ 0 h 379"/>
              <a:gd name="T4" fmla="*/ 2147483647 w 257"/>
              <a:gd name="T5" fmla="*/ 0 h 379"/>
              <a:gd name="T6" fmla="*/ 2147483647 w 257"/>
              <a:gd name="T7" fmla="*/ 2147483647 h 379"/>
              <a:gd name="T8" fmla="*/ 2147483647 w 257"/>
              <a:gd name="T9" fmla="*/ 2147483647 h 3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7"/>
              <a:gd name="T16" fmla="*/ 0 h 379"/>
              <a:gd name="T17" fmla="*/ 257 w 257"/>
              <a:gd name="T18" fmla="*/ 379 h 3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7" h="379">
                <a:moveTo>
                  <a:pt x="249" y="166"/>
                </a:moveTo>
                <a:lnTo>
                  <a:pt x="0" y="0"/>
                </a:lnTo>
                <a:lnTo>
                  <a:pt x="245" y="0"/>
                </a:lnTo>
                <a:lnTo>
                  <a:pt x="257" y="379"/>
                </a:lnTo>
                <a:lnTo>
                  <a:pt x="61" y="379"/>
                </a:lnTo>
              </a:path>
            </a:pathLst>
          </a:custGeom>
          <a:solidFill>
            <a:schemeClr val="folHlink">
              <a:alpha val="50195"/>
            </a:schemeClr>
          </a:solidFill>
          <a:ln w="9525">
            <a:solidFill>
              <a:schemeClr val="folHlink"/>
            </a:solidFill>
            <a:rou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1" name="Group 160"/>
          <p:cNvGrpSpPr/>
          <p:nvPr/>
        </p:nvGrpSpPr>
        <p:grpSpPr bwMode="auto">
          <a:xfrm>
            <a:off x="5257800" y="4797425"/>
            <a:ext cx="517525" cy="1568450"/>
            <a:chOff x="3312" y="3022"/>
            <a:chExt cx="326" cy="988"/>
          </a:xfrm>
        </p:grpSpPr>
        <p:sp>
          <p:nvSpPr>
            <p:cNvPr id="101435" name="Freeform 100"/>
            <p:cNvSpPr/>
            <p:nvPr/>
          </p:nvSpPr>
          <p:spPr bwMode="auto">
            <a:xfrm>
              <a:off x="3312" y="3022"/>
              <a:ext cx="317" cy="350"/>
            </a:xfrm>
            <a:custGeom>
              <a:avLst/>
              <a:gdLst>
                <a:gd name="T0" fmla="*/ 0 w 417"/>
                <a:gd name="T1" fmla="*/ 13 h 442"/>
                <a:gd name="T2" fmla="*/ 7 w 417"/>
                <a:gd name="T3" fmla="*/ 13 h 442"/>
                <a:gd name="T4" fmla="*/ 7 w 417"/>
                <a:gd name="T5" fmla="*/ 0 h 442"/>
                <a:gd name="T6" fmla="*/ 0 w 417"/>
                <a:gd name="T7" fmla="*/ 13 h 4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442"/>
                <a:gd name="T14" fmla="*/ 417 w 417"/>
                <a:gd name="T15" fmla="*/ 442 h 4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442">
                  <a:moveTo>
                    <a:pt x="0" y="442"/>
                  </a:moveTo>
                  <a:lnTo>
                    <a:pt x="417" y="442"/>
                  </a:lnTo>
                  <a:lnTo>
                    <a:pt x="417" y="0"/>
                  </a:lnTo>
                  <a:lnTo>
                    <a:pt x="0" y="442"/>
                  </a:ln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1436" name="Group 162"/>
            <p:cNvGrpSpPr/>
            <p:nvPr/>
          </p:nvGrpSpPr>
          <p:grpSpPr bwMode="auto">
            <a:xfrm>
              <a:off x="3463" y="3655"/>
              <a:ext cx="175" cy="355"/>
              <a:chOff x="3447" y="3655"/>
              <a:chExt cx="175" cy="355"/>
            </a:xfrm>
          </p:grpSpPr>
          <p:sp>
            <p:nvSpPr>
              <p:cNvPr id="101437" name="Line 86"/>
              <p:cNvSpPr>
                <a:spLocks noChangeShapeType="1"/>
              </p:cNvSpPr>
              <p:nvPr/>
            </p:nvSpPr>
            <p:spPr bwMode="auto">
              <a:xfrm rot="21287122" flipV="1">
                <a:off x="3447" y="3655"/>
                <a:ext cx="168" cy="175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38" name="Line 87"/>
              <p:cNvSpPr>
                <a:spLocks noChangeShapeType="1"/>
              </p:cNvSpPr>
              <p:nvPr/>
            </p:nvSpPr>
            <p:spPr bwMode="auto">
              <a:xfrm rot="5400000" flipV="1">
                <a:off x="3448" y="3835"/>
                <a:ext cx="192" cy="157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01573" name="Group 165"/>
          <p:cNvGrpSpPr/>
          <p:nvPr/>
        </p:nvGrpSpPr>
        <p:grpSpPr bwMode="auto">
          <a:xfrm>
            <a:off x="6624638" y="5803900"/>
            <a:ext cx="284162" cy="566738"/>
            <a:chOff x="4173" y="3656"/>
            <a:chExt cx="179" cy="357"/>
          </a:xfrm>
        </p:grpSpPr>
        <p:sp>
          <p:nvSpPr>
            <p:cNvPr id="101433" name="Line 98"/>
            <p:cNvSpPr>
              <a:spLocks noChangeShapeType="1"/>
            </p:cNvSpPr>
            <p:nvPr/>
          </p:nvSpPr>
          <p:spPr bwMode="auto">
            <a:xfrm rot="2835" flipV="1">
              <a:off x="4173" y="3816"/>
              <a:ext cx="179" cy="197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34" name="Line 99"/>
            <p:cNvSpPr>
              <a:spLocks noChangeShapeType="1"/>
            </p:cNvSpPr>
            <p:nvPr/>
          </p:nvSpPr>
          <p:spPr bwMode="auto">
            <a:xfrm rot="5400000" flipV="1">
              <a:off x="4174" y="3667"/>
              <a:ext cx="170" cy="147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1574" name="Group 168"/>
          <p:cNvGrpSpPr/>
          <p:nvPr/>
        </p:nvGrpSpPr>
        <p:grpSpPr bwMode="auto">
          <a:xfrm>
            <a:off x="5700713" y="3127375"/>
            <a:ext cx="1203325" cy="3225800"/>
            <a:chOff x="3591" y="1970"/>
            <a:chExt cx="758" cy="2032"/>
          </a:xfrm>
        </p:grpSpPr>
        <p:sp>
          <p:nvSpPr>
            <p:cNvPr id="101421" name="Line 90"/>
            <p:cNvSpPr>
              <a:spLocks noChangeShapeType="1"/>
            </p:cNvSpPr>
            <p:nvPr/>
          </p:nvSpPr>
          <p:spPr bwMode="auto">
            <a:xfrm>
              <a:off x="3648" y="2790"/>
              <a:ext cx="39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22" name="Line 97"/>
            <p:cNvSpPr>
              <a:spLocks noChangeShapeType="1"/>
            </p:cNvSpPr>
            <p:nvPr/>
          </p:nvSpPr>
          <p:spPr bwMode="auto">
            <a:xfrm>
              <a:off x="3645" y="1970"/>
              <a:ext cx="6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23" name="Line 97"/>
            <p:cNvSpPr>
              <a:spLocks noChangeShapeType="1"/>
            </p:cNvSpPr>
            <p:nvPr/>
          </p:nvSpPr>
          <p:spPr bwMode="auto">
            <a:xfrm>
              <a:off x="3652" y="2243"/>
              <a:ext cx="6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1424" name="组合 263"/>
            <p:cNvGrpSpPr/>
            <p:nvPr/>
          </p:nvGrpSpPr>
          <p:grpSpPr bwMode="auto">
            <a:xfrm>
              <a:off x="3628" y="3043"/>
              <a:ext cx="721" cy="332"/>
              <a:chOff x="4567205" y="4830754"/>
              <a:chExt cx="1103490" cy="527072"/>
            </a:xfrm>
          </p:grpSpPr>
          <p:sp>
            <p:nvSpPr>
              <p:cNvPr id="101431" name="Line 108"/>
              <p:cNvSpPr>
                <a:spLocks noChangeShapeType="1"/>
              </p:cNvSpPr>
              <p:nvPr/>
            </p:nvSpPr>
            <p:spPr bwMode="auto">
              <a:xfrm>
                <a:off x="4567205" y="4830754"/>
                <a:ext cx="1103490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32" name="Rectangle 114"/>
              <p:cNvSpPr>
                <a:spLocks noChangeArrowheads="1"/>
              </p:cNvSpPr>
              <p:nvPr/>
            </p:nvSpPr>
            <p:spPr bwMode="auto">
              <a:xfrm>
                <a:off x="4567205" y="4834619"/>
                <a:ext cx="1103490" cy="523207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kumimoji="1" sz="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zh-CN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1425" name="Group 175"/>
            <p:cNvGrpSpPr/>
            <p:nvPr/>
          </p:nvGrpSpPr>
          <p:grpSpPr bwMode="auto">
            <a:xfrm>
              <a:off x="3591" y="3658"/>
              <a:ext cx="447" cy="344"/>
              <a:chOff x="3591" y="3658"/>
              <a:chExt cx="447" cy="344"/>
            </a:xfrm>
          </p:grpSpPr>
          <p:sp>
            <p:nvSpPr>
              <p:cNvPr id="101429" name="Line 91"/>
              <p:cNvSpPr>
                <a:spLocks noChangeShapeType="1"/>
              </p:cNvSpPr>
              <p:nvPr/>
            </p:nvSpPr>
            <p:spPr bwMode="auto">
              <a:xfrm>
                <a:off x="3591" y="3658"/>
                <a:ext cx="431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30" name="Line 94"/>
              <p:cNvSpPr>
                <a:spLocks noChangeShapeType="1"/>
              </p:cNvSpPr>
              <p:nvPr/>
            </p:nvSpPr>
            <p:spPr bwMode="auto">
              <a:xfrm>
                <a:off x="3607" y="4002"/>
                <a:ext cx="431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01426" name="Group 178"/>
            <p:cNvGrpSpPr/>
            <p:nvPr/>
          </p:nvGrpSpPr>
          <p:grpSpPr bwMode="auto">
            <a:xfrm>
              <a:off x="3991" y="3658"/>
              <a:ext cx="218" cy="344"/>
              <a:chOff x="3991" y="3658"/>
              <a:chExt cx="218" cy="344"/>
            </a:xfrm>
          </p:grpSpPr>
          <p:sp>
            <p:nvSpPr>
              <p:cNvPr id="101427" name="Line 102"/>
              <p:cNvSpPr>
                <a:spLocks noChangeShapeType="1"/>
              </p:cNvSpPr>
              <p:nvPr/>
            </p:nvSpPr>
            <p:spPr bwMode="auto">
              <a:xfrm>
                <a:off x="4014" y="3658"/>
                <a:ext cx="195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428" name="Line 103"/>
              <p:cNvSpPr>
                <a:spLocks noChangeShapeType="1"/>
              </p:cNvSpPr>
              <p:nvPr/>
            </p:nvSpPr>
            <p:spPr bwMode="auto">
              <a:xfrm>
                <a:off x="3991" y="4002"/>
                <a:ext cx="195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01578" name="Group 181"/>
          <p:cNvGrpSpPr/>
          <p:nvPr/>
        </p:nvGrpSpPr>
        <p:grpSpPr bwMode="auto">
          <a:xfrm>
            <a:off x="7678738" y="3235325"/>
            <a:ext cx="360362" cy="217488"/>
            <a:chOff x="4837" y="2038"/>
            <a:chExt cx="227" cy="137"/>
          </a:xfrm>
        </p:grpSpPr>
        <p:sp>
          <p:nvSpPr>
            <p:cNvPr id="101419" name="Line 112"/>
            <p:cNvSpPr>
              <a:spLocks noChangeShapeType="1"/>
            </p:cNvSpPr>
            <p:nvPr/>
          </p:nvSpPr>
          <p:spPr bwMode="auto">
            <a:xfrm rot="2700000">
              <a:off x="4951" y="2061"/>
              <a:ext cx="0" cy="227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20" name="Line 113"/>
            <p:cNvSpPr>
              <a:spLocks noChangeShapeType="1"/>
            </p:cNvSpPr>
            <p:nvPr/>
          </p:nvSpPr>
          <p:spPr bwMode="auto">
            <a:xfrm rot="8070797">
              <a:off x="4946" y="1931"/>
              <a:ext cx="1" cy="215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1579" name="Group 184"/>
          <p:cNvGrpSpPr/>
          <p:nvPr/>
        </p:nvGrpSpPr>
        <p:grpSpPr bwMode="auto">
          <a:xfrm>
            <a:off x="7643813" y="3128963"/>
            <a:ext cx="1492250" cy="3259137"/>
            <a:chOff x="4815" y="1971"/>
            <a:chExt cx="940" cy="2053"/>
          </a:xfrm>
        </p:grpSpPr>
        <p:sp>
          <p:nvSpPr>
            <p:cNvPr id="101410" name="Rectangle 123"/>
            <p:cNvSpPr>
              <a:spLocks noChangeArrowheads="1"/>
            </p:cNvSpPr>
            <p:nvPr/>
          </p:nvSpPr>
          <p:spPr bwMode="auto">
            <a:xfrm>
              <a:off x="5021" y="2474"/>
              <a:ext cx="726" cy="333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1411" name="Rectangle 124"/>
            <p:cNvSpPr>
              <a:spLocks noChangeArrowheads="1"/>
            </p:cNvSpPr>
            <p:nvPr/>
          </p:nvSpPr>
          <p:spPr bwMode="auto">
            <a:xfrm>
              <a:off x="5034" y="3645"/>
              <a:ext cx="703" cy="379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1412" name="Rectangle 123"/>
            <p:cNvSpPr>
              <a:spLocks noChangeArrowheads="1"/>
            </p:cNvSpPr>
            <p:nvPr/>
          </p:nvSpPr>
          <p:spPr bwMode="auto">
            <a:xfrm>
              <a:off x="5035" y="3043"/>
              <a:ext cx="699" cy="332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1413" name="Line 90"/>
            <p:cNvSpPr>
              <a:spLocks noChangeShapeType="1"/>
            </p:cNvSpPr>
            <p:nvPr/>
          </p:nvSpPr>
          <p:spPr bwMode="auto">
            <a:xfrm>
              <a:off x="5052" y="3825"/>
              <a:ext cx="680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14" name="Freeform 122"/>
            <p:cNvSpPr/>
            <p:nvPr/>
          </p:nvSpPr>
          <p:spPr bwMode="auto">
            <a:xfrm>
              <a:off x="4815" y="1973"/>
              <a:ext cx="930" cy="287"/>
            </a:xfrm>
            <a:custGeom>
              <a:avLst/>
              <a:gdLst>
                <a:gd name="T0" fmla="*/ 4 w 1140"/>
                <a:gd name="T1" fmla="*/ 0 h 353"/>
                <a:gd name="T2" fmla="*/ 55 w 1140"/>
                <a:gd name="T3" fmla="*/ 2 h 353"/>
                <a:gd name="T4" fmla="*/ 55 w 1140"/>
                <a:gd name="T5" fmla="*/ 16 h 353"/>
                <a:gd name="T6" fmla="*/ 0 w 1140"/>
                <a:gd name="T7" fmla="*/ 16 h 353"/>
                <a:gd name="T8" fmla="*/ 11 w 1140"/>
                <a:gd name="T9" fmla="*/ 7 h 3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40"/>
                <a:gd name="T16" fmla="*/ 0 h 353"/>
                <a:gd name="T17" fmla="*/ 1140 w 1140"/>
                <a:gd name="T18" fmla="*/ 353 h 3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40" h="353">
                  <a:moveTo>
                    <a:pt x="85" y="0"/>
                  </a:moveTo>
                  <a:lnTo>
                    <a:pt x="1140" y="10"/>
                  </a:lnTo>
                  <a:lnTo>
                    <a:pt x="1140" y="353"/>
                  </a:lnTo>
                  <a:lnTo>
                    <a:pt x="0" y="353"/>
                  </a:lnTo>
                  <a:lnTo>
                    <a:pt x="229" y="144"/>
                  </a:lnTo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15" name="Line 120"/>
            <p:cNvSpPr>
              <a:spLocks noChangeShapeType="1"/>
            </p:cNvSpPr>
            <p:nvPr/>
          </p:nvSpPr>
          <p:spPr bwMode="auto">
            <a:xfrm>
              <a:off x="4871" y="1971"/>
              <a:ext cx="88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16" name="Line 121"/>
            <p:cNvSpPr>
              <a:spLocks noChangeShapeType="1"/>
            </p:cNvSpPr>
            <p:nvPr/>
          </p:nvSpPr>
          <p:spPr bwMode="auto">
            <a:xfrm>
              <a:off x="4871" y="2244"/>
              <a:ext cx="88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17" name="Line 119"/>
            <p:cNvSpPr>
              <a:spLocks noChangeShapeType="1"/>
            </p:cNvSpPr>
            <p:nvPr/>
          </p:nvSpPr>
          <p:spPr bwMode="auto">
            <a:xfrm>
              <a:off x="5021" y="2476"/>
              <a:ext cx="721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418" name="Line 119"/>
            <p:cNvSpPr>
              <a:spLocks noChangeShapeType="1"/>
            </p:cNvSpPr>
            <p:nvPr/>
          </p:nvSpPr>
          <p:spPr bwMode="auto">
            <a:xfrm>
              <a:off x="5031" y="3044"/>
              <a:ext cx="703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10697" name="Line 105"/>
          <p:cNvSpPr>
            <a:spLocks noChangeShapeType="1"/>
          </p:cNvSpPr>
          <p:nvPr/>
        </p:nvSpPr>
        <p:spPr bwMode="auto">
          <a:xfrm>
            <a:off x="7996238" y="2755900"/>
            <a:ext cx="0" cy="39243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1409" name="AutoShape 196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1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8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1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18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11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18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9" dur="500"/>
                                        <p:tgtEl>
                                          <p:spTgt spid="10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3" dur="500"/>
                                        <p:tgtEl>
                                          <p:spTgt spid="18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7" dur="5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1" dur="500"/>
                                        <p:tgtEl>
                                          <p:spTgt spid="10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5" dur="500"/>
                                        <p:tgtEl>
                                          <p:spTgt spid="189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0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9" dur="500"/>
                                        <p:tgtEl>
                                          <p:spTgt spid="10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4" dur="500"/>
                                        <p:tgtEl>
                                          <p:spTgt spid="11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9" dur="500"/>
                                        <p:tgtEl>
                                          <p:spTgt spid="10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2" grpId="0" animBg="1"/>
      <p:bldP spid="189534" grpId="0" animBg="1"/>
      <p:bldP spid="189579" grpId="0" animBg="1"/>
      <p:bldP spid="189591" grpId="0" animBg="1"/>
      <p:bldP spid="189592" grpId="0" animBg="1"/>
      <p:bldP spid="110657" grpId="0" animBg="1"/>
      <p:bldP spid="110668" grpId="0" animBg="1"/>
      <p:bldP spid="110680" grpId="0" animBg="1"/>
      <p:bldP spid="244" grpId="0" animBg="1"/>
      <p:bldP spid="245" grpId="0" animBg="1"/>
      <p:bldP spid="246" grpId="0" animBg="1"/>
      <p:bldP spid="189599" grpId="0" animBg="1"/>
      <p:bldP spid="11069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"/>
          <p:cNvSpPr txBox="1">
            <a:spLocks noChangeArrowheads="1"/>
          </p:cNvSpPr>
          <p:nvPr/>
        </p:nvSpPr>
        <p:spPr bwMode="auto">
          <a:xfrm>
            <a:off x="441325" y="777875"/>
            <a:ext cx="4787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上述三种通信的共同点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533400" y="1905000"/>
            <a:ext cx="822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一个总线传输周期（以输入数据为例）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90468" name="Text Box 4"/>
          <p:cNvSpPr txBox="1">
            <a:spLocks noChangeArrowheads="1"/>
          </p:cNvSpPr>
          <p:nvPr/>
        </p:nvSpPr>
        <p:spPr bwMode="auto">
          <a:xfrm>
            <a:off x="990600" y="3171825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主模块发地址 、命令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990600" y="4086225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从模块准备数据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990600" y="5000625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zh-CN" altLang="en-US" sz="2800">
                <a:latin typeface="Times New Roman" panose="02020603050405020304" pitchFamily="18" charset="0"/>
              </a:rPr>
              <a:t> 从模块向主模块发数据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71" name="Text Box 7"/>
          <p:cNvSpPr txBox="1">
            <a:spLocks noChangeArrowheads="1"/>
          </p:cNvSpPr>
          <p:nvPr/>
        </p:nvSpPr>
        <p:spPr bwMode="auto">
          <a:xfrm>
            <a:off x="6934200" y="4086225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总线空闲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90472" name="Rectangle 8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90473" name="Text Box 9"/>
          <p:cNvSpPr txBox="1">
            <a:spLocks noChangeArrowheads="1"/>
          </p:cNvSpPr>
          <p:nvPr/>
        </p:nvSpPr>
        <p:spPr bwMode="auto">
          <a:xfrm>
            <a:off x="4953000" y="3171825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占用总线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74" name="Text Box 10"/>
          <p:cNvSpPr txBox="1">
            <a:spLocks noChangeArrowheads="1"/>
          </p:cNvSpPr>
          <p:nvPr/>
        </p:nvSpPr>
        <p:spPr bwMode="auto">
          <a:xfrm>
            <a:off x="4953000" y="4086225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不占用总线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75" name="Text Box 11"/>
          <p:cNvSpPr txBox="1">
            <a:spLocks noChangeArrowheads="1"/>
          </p:cNvSpPr>
          <p:nvPr/>
        </p:nvSpPr>
        <p:spPr bwMode="auto">
          <a:xfrm>
            <a:off x="4953000" y="5000625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rPr>
              <a:t>占用总线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12" name="AutoShape 13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autoUpdateAnimBg="0"/>
      <p:bldP spid="190468" grpId="0" autoUpdateAnimBg="0"/>
      <p:bldP spid="190469" grpId="0" autoUpdateAnimBg="0"/>
      <p:bldP spid="190470" grpId="0" autoUpdateAnimBg="0"/>
      <p:bldP spid="190471" grpId="0" autoUpdateAnimBg="0"/>
      <p:bldP spid="190473" grpId="0" autoUpdateAnimBg="0"/>
      <p:bldP spid="190474" grpId="0" autoUpdateAnimBg="0"/>
      <p:bldP spid="19047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/>
          <p:cNvSpPr txBox="1">
            <a:spLocks noChangeArrowheads="1"/>
          </p:cNvSpPr>
          <p:nvPr/>
        </p:nvSpPr>
        <p:spPr bwMode="auto">
          <a:xfrm>
            <a:off x="441325" y="533400"/>
            <a:ext cx="31257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(5) 分离式通信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91491" name="Text Box 3"/>
          <p:cNvSpPr txBox="1">
            <a:spLocks noChangeArrowheads="1"/>
          </p:cNvSpPr>
          <p:nvPr/>
        </p:nvSpPr>
        <p:spPr bwMode="auto">
          <a:xfrm>
            <a:off x="939800" y="1447800"/>
            <a:ext cx="7213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充分挖掘系统总线每个瞬间的潜力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2819400" y="3124200"/>
            <a:ext cx="6324600" cy="1281113"/>
            <a:chOff x="1776" y="2112"/>
            <a:chExt cx="3984" cy="807"/>
          </a:xfrm>
        </p:grpSpPr>
        <p:sp>
          <p:nvSpPr>
            <p:cNvPr id="103441" name="Text Box 5"/>
            <p:cNvSpPr txBox="1">
              <a:spLocks noChangeArrowheads="1"/>
            </p:cNvSpPr>
            <p:nvPr/>
          </p:nvSpPr>
          <p:spPr bwMode="auto">
            <a:xfrm>
              <a:off x="1776" y="2112"/>
              <a:ext cx="39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主模块 </a:t>
              </a:r>
              <a:r>
                <a:rPr lang="zh-CN" altLang="en-US" sz="2800">
                  <a:latin typeface="Times New Roman" panose="02020603050405020304" pitchFamily="18" charset="0"/>
                </a:rPr>
                <a:t>申请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占用总线</a:t>
              </a:r>
              <a:r>
                <a:rPr lang="zh-CN" altLang="en-US" sz="2800">
                  <a:latin typeface="Times New Roman" panose="02020603050405020304" pitchFamily="18" charset="0"/>
                </a:rPr>
                <a:t>，使用完后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03442" name="Text Box 6"/>
            <p:cNvSpPr txBox="1">
              <a:spLocks noChangeArrowheads="1"/>
            </p:cNvSpPr>
            <p:nvPr/>
          </p:nvSpPr>
          <p:spPr bwMode="auto">
            <a:xfrm>
              <a:off x="1776" y="2592"/>
              <a:ext cx="39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即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放弃总线 </a:t>
              </a:r>
              <a:r>
                <a:rPr lang="zh-CN" altLang="en-US" sz="2800">
                  <a:latin typeface="Times New Roman" panose="02020603050405020304" pitchFamily="18" charset="0"/>
                </a:rPr>
                <a:t>的使用权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2819400" y="4786313"/>
            <a:ext cx="6324600" cy="1204912"/>
            <a:chOff x="1776" y="3120"/>
            <a:chExt cx="3984" cy="759"/>
          </a:xfrm>
        </p:grpSpPr>
        <p:sp>
          <p:nvSpPr>
            <p:cNvPr id="103439" name="Text Box 8"/>
            <p:cNvSpPr txBox="1">
              <a:spLocks noChangeArrowheads="1"/>
            </p:cNvSpPr>
            <p:nvPr/>
          </p:nvSpPr>
          <p:spPr bwMode="auto">
            <a:xfrm>
              <a:off x="1776" y="3120"/>
              <a:ext cx="38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从模块 </a:t>
              </a:r>
              <a:r>
                <a:rPr lang="zh-CN" altLang="en-US" sz="2800">
                  <a:latin typeface="Times New Roman" panose="02020603050405020304" pitchFamily="18" charset="0"/>
                </a:rPr>
                <a:t>申请 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占用总线</a:t>
              </a:r>
              <a:r>
                <a:rPr lang="zh-CN" altLang="en-US" sz="2800">
                  <a:latin typeface="Times New Roman" panose="02020603050405020304" pitchFamily="18" charset="0"/>
                </a:rPr>
                <a:t>，将各种信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03440" name="Text Box 9"/>
            <p:cNvSpPr txBox="1">
              <a:spLocks noChangeArrowheads="1"/>
            </p:cNvSpPr>
            <p:nvPr/>
          </p:nvSpPr>
          <p:spPr bwMode="auto">
            <a:xfrm>
              <a:off x="1776" y="3552"/>
              <a:ext cx="39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latin typeface="Times New Roman" panose="02020603050405020304" pitchFamily="18" charset="0"/>
                </a:rPr>
                <a:t>息送至总线上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91498" name="Text Box 10"/>
          <p:cNvSpPr txBox="1">
            <a:spLocks noChangeArrowheads="1"/>
          </p:cNvSpPr>
          <p:nvPr/>
        </p:nvSpPr>
        <p:spPr bwMode="auto">
          <a:xfrm>
            <a:off x="939800" y="2286000"/>
            <a:ext cx="4267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一个总线传输周期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91499" name="Text Box 11"/>
          <p:cNvSpPr txBox="1">
            <a:spLocks noChangeArrowheads="1"/>
          </p:cNvSpPr>
          <p:nvPr/>
        </p:nvSpPr>
        <p:spPr bwMode="auto">
          <a:xfrm>
            <a:off x="939800" y="3124200"/>
            <a:ext cx="187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子周期1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91500" name="Text Box 12"/>
          <p:cNvSpPr txBox="1">
            <a:spLocks noChangeArrowheads="1"/>
          </p:cNvSpPr>
          <p:nvPr/>
        </p:nvSpPr>
        <p:spPr bwMode="auto">
          <a:xfrm>
            <a:off x="939800" y="4772025"/>
            <a:ext cx="195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子周期2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91501" name="AutoShape 13"/>
          <p:cNvSpPr/>
          <p:nvPr/>
        </p:nvSpPr>
        <p:spPr bwMode="auto">
          <a:xfrm>
            <a:off x="685800" y="3429000"/>
            <a:ext cx="228600" cy="1600200"/>
          </a:xfrm>
          <a:prstGeom prst="leftBrace">
            <a:avLst>
              <a:gd name="adj1" fmla="val 58333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1502" name="Rectangle 14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4" name="Group 15"/>
          <p:cNvGrpSpPr/>
          <p:nvPr/>
        </p:nvGrpSpPr>
        <p:grpSpPr bwMode="auto">
          <a:xfrm>
            <a:off x="1411288" y="4791075"/>
            <a:ext cx="2627312" cy="1457325"/>
            <a:chOff x="889" y="2976"/>
            <a:chExt cx="1655" cy="918"/>
          </a:xfrm>
        </p:grpSpPr>
        <p:sp>
          <p:nvSpPr>
            <p:cNvPr id="103437" name="Text Box 16"/>
            <p:cNvSpPr txBox="1">
              <a:spLocks noChangeArrowheads="1"/>
            </p:cNvSpPr>
            <p:nvPr/>
          </p:nvSpPr>
          <p:spPr bwMode="auto">
            <a:xfrm>
              <a:off x="889" y="3567"/>
              <a:ext cx="103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主模块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438" name="AutoShape 17"/>
            <p:cNvSpPr>
              <a:spLocks noChangeArrowheads="1"/>
            </p:cNvSpPr>
            <p:nvPr/>
          </p:nvSpPr>
          <p:spPr bwMode="auto">
            <a:xfrm>
              <a:off x="1824" y="2976"/>
              <a:ext cx="720" cy="336"/>
            </a:xfrm>
            <a:prstGeom prst="wedgeRoundRectCallout">
              <a:avLst>
                <a:gd name="adj1" fmla="val -105000"/>
                <a:gd name="adj2" fmla="val 145833"/>
                <a:gd name="adj3" fmla="val 16667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03436" name="AutoShape 19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9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autoUpdateAnimBg="0"/>
      <p:bldP spid="191498" grpId="0" autoUpdateAnimBg="0"/>
      <p:bldP spid="191499" grpId="0" autoUpdateAnimBg="0"/>
      <p:bldP spid="191500" grpId="0" autoUpdateAnimBg="0"/>
      <p:bldP spid="19150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Text Box 2"/>
          <p:cNvSpPr txBox="1">
            <a:spLocks noChangeArrowheads="1"/>
          </p:cNvSpPr>
          <p:nvPr/>
        </p:nvSpPr>
        <p:spPr bwMode="auto">
          <a:xfrm>
            <a:off x="1219200" y="16764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1. 各模块有权申请占用总线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669925" y="577850"/>
            <a:ext cx="5121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600">
                <a:latin typeface="Times New Roman" panose="02020603050405020304" pitchFamily="18" charset="0"/>
              </a:rPr>
              <a:t>分离式通信特点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1219200" y="5257800"/>
            <a:ext cx="739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充分提高了总线的有效占用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2517" name="Text Box 5"/>
          <p:cNvSpPr txBox="1">
            <a:spLocks noChangeArrowheads="1"/>
          </p:cNvSpPr>
          <p:nvPr/>
        </p:nvSpPr>
        <p:spPr bwMode="auto">
          <a:xfrm>
            <a:off x="1219200" y="2571750"/>
            <a:ext cx="754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2. 采用同步方式通信，不等对方回答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92518" name="Text Box 6"/>
          <p:cNvSpPr txBox="1">
            <a:spLocks noChangeArrowheads="1"/>
          </p:cNvSpPr>
          <p:nvPr/>
        </p:nvSpPr>
        <p:spPr bwMode="auto">
          <a:xfrm>
            <a:off x="1219200" y="3467100"/>
            <a:ext cx="754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3. 各模块准备数据时，不占用总线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92519" name="Text Box 7"/>
          <p:cNvSpPr txBox="1">
            <a:spLocks noChangeArrowheads="1"/>
          </p:cNvSpPr>
          <p:nvPr/>
        </p:nvSpPr>
        <p:spPr bwMode="auto">
          <a:xfrm>
            <a:off x="1219200" y="4362450"/>
            <a:ext cx="754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3200">
                <a:latin typeface="Times New Roman" panose="02020603050405020304" pitchFamily="18" charset="0"/>
              </a:rPr>
              <a:t>4. 总线被占用时，无空闲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192520" name="Rectangle 8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3.5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4457" name="AutoShape 1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4" grpId="0" autoUpdateAnimBg="0"/>
      <p:bldP spid="192516" grpId="0" autoUpdateAnimBg="0"/>
      <p:bldP spid="192517" grpId="0" autoUpdateAnimBg="0"/>
      <p:bldP spid="192518" grpId="0" autoUpdateAnimBg="0"/>
      <p:bldP spid="192519" grpId="0" autoUpdateAnimBg="0"/>
    </p:bldLst>
  </p:timing>
</p:sld>
</file>

<file path=ppt/theme/theme1.xml><?xml version="1.0" encoding="utf-8"?>
<a:theme xmlns:a="http://schemas.openxmlformats.org/drawingml/2006/main" name="Soaring">
  <a:themeElements>
    <a:clrScheme name="Soaring 6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FFFF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6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3632</Words>
  <Application>WPS 演示</Application>
  <PresentationFormat>全屏显示(4:3)</PresentationFormat>
  <Paragraphs>1076</Paragraphs>
  <Slides>39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6" baseType="lpstr">
      <vt:lpstr>Arial</vt:lpstr>
      <vt:lpstr>宋体</vt:lpstr>
      <vt:lpstr>Wingdings</vt:lpstr>
      <vt:lpstr>Times New Roman</vt:lpstr>
      <vt:lpstr>微软雅黑</vt:lpstr>
      <vt:lpstr>Arial Unicode MS</vt:lpstr>
      <vt:lpstr>Soaring</vt:lpstr>
      <vt:lpstr>第３章  系统总线</vt:lpstr>
      <vt:lpstr>3.1  总线的基本概念</vt:lpstr>
      <vt:lpstr>PowerPoint 演示文稿</vt:lpstr>
      <vt:lpstr>PowerPoint 演示文稿</vt:lpstr>
      <vt:lpstr>PowerPoint 演示文稿</vt:lpstr>
      <vt:lpstr>3.2 总线的分类</vt:lpstr>
      <vt:lpstr>PowerPoint 演示文稿</vt:lpstr>
      <vt:lpstr>3.3 总线特性及性能指标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  总线结构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3.5  总线控制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陈建军</cp:lastModifiedBy>
  <cp:revision>1596</cp:revision>
  <dcterms:created xsi:type="dcterms:W3CDTF">2113-01-01T00:00:00Z</dcterms:created>
  <dcterms:modified xsi:type="dcterms:W3CDTF">2020-03-24T12:57:12Z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